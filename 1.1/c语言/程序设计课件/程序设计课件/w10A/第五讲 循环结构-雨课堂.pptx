
<file path=[Content_Types].xml><?xml version="1.0" encoding="utf-8"?>
<Types xmlns="http://schemas.openxmlformats.org/package/2006/content-types">
  <Default Extension="png" ContentType="image/png"/>
  <Default Extension="tmp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3.xml" ContentType="application/vnd.openxmlformats-officedocument.presentationml.notesSlide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notesSlides/notesSlide4.xml" ContentType="application/vnd.openxmlformats-officedocument.presentationml.notesSlide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notesSlides/notesSlide16.xml" ContentType="application/vnd.openxmlformats-officedocument.presentationml.notesSlide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notesSlides/notesSlide28.xml" ContentType="application/vnd.openxmlformats-officedocument.presentationml.notesSlide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7"/>
  </p:notesMasterIdLst>
  <p:sldIdLst>
    <p:sldId id="257" r:id="rId2"/>
    <p:sldId id="314" r:id="rId3"/>
    <p:sldId id="400" r:id="rId4"/>
    <p:sldId id="401" r:id="rId5"/>
    <p:sldId id="402" r:id="rId6"/>
    <p:sldId id="258" r:id="rId7"/>
    <p:sldId id="343" r:id="rId8"/>
    <p:sldId id="260" r:id="rId9"/>
    <p:sldId id="261" r:id="rId10"/>
    <p:sldId id="264" r:id="rId11"/>
    <p:sldId id="262" r:id="rId12"/>
    <p:sldId id="279" r:id="rId13"/>
    <p:sldId id="344" r:id="rId14"/>
    <p:sldId id="265" r:id="rId15"/>
    <p:sldId id="266" r:id="rId16"/>
    <p:sldId id="280" r:id="rId17"/>
    <p:sldId id="351" r:id="rId18"/>
    <p:sldId id="394" r:id="rId19"/>
    <p:sldId id="395" r:id="rId20"/>
    <p:sldId id="267" r:id="rId21"/>
    <p:sldId id="270" r:id="rId22"/>
    <p:sldId id="268" r:id="rId23"/>
    <p:sldId id="396" r:id="rId24"/>
    <p:sldId id="397" r:id="rId25"/>
    <p:sldId id="269" r:id="rId26"/>
    <p:sldId id="352" r:id="rId27"/>
    <p:sldId id="353" r:id="rId28"/>
    <p:sldId id="271" r:id="rId29"/>
    <p:sldId id="272" r:id="rId30"/>
    <p:sldId id="281" r:id="rId31"/>
    <p:sldId id="282" r:id="rId32"/>
    <p:sldId id="283" r:id="rId33"/>
    <p:sldId id="284" r:id="rId34"/>
    <p:sldId id="273" r:id="rId35"/>
    <p:sldId id="274" r:id="rId36"/>
    <p:sldId id="285" r:id="rId37"/>
    <p:sldId id="286" r:id="rId38"/>
    <p:sldId id="287" r:id="rId39"/>
    <p:sldId id="288" r:id="rId40"/>
    <p:sldId id="275" r:id="rId41"/>
    <p:sldId id="276" r:id="rId42"/>
    <p:sldId id="398" r:id="rId43"/>
    <p:sldId id="399" r:id="rId44"/>
    <p:sldId id="355" r:id="rId45"/>
    <p:sldId id="354" r:id="rId4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2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4723"/>
    <a:srgbClr val="FF5D5D"/>
    <a:srgbClr val="C00000"/>
    <a:srgbClr val="CC3300"/>
    <a:srgbClr val="3A6695"/>
    <a:srgbClr val="9CC5FD"/>
    <a:srgbClr val="134263"/>
    <a:srgbClr val="1E2B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2649" autoAdjust="0"/>
  </p:normalViewPr>
  <p:slideViewPr>
    <p:cSldViewPr snapToGrid="0">
      <p:cViewPr varScale="1">
        <p:scale>
          <a:sx n="81" d="100"/>
          <a:sy n="81" d="100"/>
        </p:scale>
        <p:origin x="708" y="55"/>
      </p:cViewPr>
      <p:guideLst>
        <p:guide orient="horz" pos="2160"/>
        <p:guide pos="382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CE4261-0CDD-45A3-84C2-311859DE5B03}" type="datetimeFigureOut">
              <a:rPr lang="zh-CN" altLang="en-US" smtClean="0"/>
              <a:t>2023/10/29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F711DA-82CB-44C8-99EC-9CE596A896F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baike.baidu.com/item/%E6%8B%9C%E4%BC%A6/224909?fromModule=lemma_inlink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baike.baidu.com/item/%E5%AD%90%E7%A8%8B%E5%BA%8F/3941697?fromModule=lemma_inlink" TargetMode="External"/><Relationship Id="rId5" Type="http://schemas.openxmlformats.org/officeDocument/2006/relationships/hyperlink" Target="https://baike.baidu.com/item/%E5%BE%AA%E7%8E%AF/607158?fromModule=lemma_inlink" TargetMode="External"/><Relationship Id="rId4" Type="http://schemas.openxmlformats.org/officeDocument/2006/relationships/hyperlink" Target="https://baike.baidu.com/item/%E8%AE%A1%E7%AE%97%E6%9C%BA%E7%A8%8B%E5%BA%8F/3220205?fromModule=lemma_inlink" TargetMode="Externa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altLang="zh-CN" dirty="0"/>
              <a:t>a=0,b=0</a:t>
            </a:r>
          </a:p>
          <a:p>
            <a:pPr marL="228600" indent="-228600">
              <a:buAutoNum type="arabicPeriod"/>
            </a:pPr>
            <a:r>
              <a:rPr lang="en-US" altLang="zh-CN" dirty="0"/>
              <a:t>a=0,b!=0</a:t>
            </a:r>
          </a:p>
          <a:p>
            <a:pPr marL="228600" indent="-228600">
              <a:buAutoNum type="arabicPeriod"/>
            </a:pPr>
            <a:r>
              <a:rPr lang="en-US" altLang="zh-CN" dirty="0"/>
              <a:t>a!=0,delta&lt;0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altLang="zh-CN" dirty="0"/>
              <a:t>a!=0,delta=0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altLang="zh-CN" dirty="0"/>
              <a:t>a!=0,delta&gt;0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8580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输出为 </a:t>
            </a:r>
            <a:r>
              <a:rPr lang="en-US" altLang="zh-CN" sz="12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None,</a:t>
            </a:r>
            <a:r>
              <a:rPr lang="zh-CN" altLang="en-US" sz="12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，无实根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22562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1815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年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日－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1852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年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27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，是著名英国诗人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拜伦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之女，数学家。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计算机程序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创始人，建立了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/>
              </a:rPr>
              <a:t>循环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和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6"/>
              </a:rPr>
              <a:t>子程序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概念。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44018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44943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输入一个数，如 </a:t>
            </a:r>
            <a:r>
              <a:rPr lang="en-US" altLang="zh-CN" dirty="0"/>
              <a:t>10q </a:t>
            </a:r>
            <a:r>
              <a:rPr lang="zh-CN" altLang="en-US" dirty="0"/>
              <a:t>正常结束</a:t>
            </a:r>
            <a:endParaRPr lang="en-US" altLang="zh-CN" dirty="0"/>
          </a:p>
          <a:p>
            <a:r>
              <a:rPr lang="en-US" altLang="zh-CN" dirty="0"/>
              <a:t>q </a:t>
            </a:r>
            <a:r>
              <a:rPr lang="zh-CN" altLang="en-US" dirty="0"/>
              <a:t>也会结束， 但 </a:t>
            </a:r>
            <a:r>
              <a:rPr lang="en-US" altLang="zh-CN" dirty="0" err="1"/>
              <a:t>scanf</a:t>
            </a:r>
            <a:r>
              <a:rPr lang="en-US" altLang="zh-CN" dirty="0"/>
              <a:t> </a:t>
            </a:r>
            <a:r>
              <a:rPr lang="zh-CN" altLang="en-US" dirty="0"/>
              <a:t>会读到 </a:t>
            </a:r>
            <a:r>
              <a:rPr lang="en-US" altLang="zh-CN" dirty="0"/>
              <a:t>q </a:t>
            </a:r>
            <a:r>
              <a:rPr lang="zh-CN" altLang="en-US" dirty="0"/>
              <a:t>而中止 </a:t>
            </a:r>
            <a:r>
              <a:rPr lang="en-US" altLang="zh-CN" dirty="0"/>
              <a:t>sum </a:t>
            </a:r>
            <a:r>
              <a:rPr lang="zh-CN" altLang="en-US" dirty="0"/>
              <a:t>读入，变量保持不变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58982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05463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877695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缺少分号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949464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20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21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22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25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770264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582123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28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29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447466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905167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446608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851041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34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35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298788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624032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842520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996888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40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41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447527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45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  <a:t>2023/10/29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  <a:t>2023/10/29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  <a:t>2023/10/29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  <a:t>2023/10/29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  <a:t>2023/10/29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  <a:t>2023/10/29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  <a:t>2023/10/29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  <a:t>2023/10/29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  <a:t>2023/10/29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  <a:t>2023/10/29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  <a:t>2023/10/29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4536CA-A6C4-4358-AF93-5CCBD70D248C}" type="datetimeFigureOut">
              <a:rPr lang="zh-CN" altLang="en-US" smtClean="0"/>
              <a:t>2023/10/29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3.xml"/><Relationship Id="rId21" Type="http://schemas.openxmlformats.org/officeDocument/2006/relationships/image" Target="../media/image3.png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notesSlide" Target="../notesSlides/notesSlide3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image" Target="../media/image3.tmp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13" Type="http://schemas.openxmlformats.org/officeDocument/2006/relationships/tags" Target="../tags/tag30.xml"/><Relationship Id="rId18" Type="http://schemas.openxmlformats.org/officeDocument/2006/relationships/tags" Target="../tags/tag19.xml"/><Relationship Id="rId3" Type="http://schemas.openxmlformats.org/officeDocument/2006/relationships/tags" Target="../tags/tag20.xml"/><Relationship Id="rId7" Type="http://schemas.openxmlformats.org/officeDocument/2006/relationships/tags" Target="../tags/tag24.xml"/><Relationship Id="rId12" Type="http://schemas.openxmlformats.org/officeDocument/2006/relationships/tags" Target="../tags/tag29.xml"/><Relationship Id="rId17" Type="http://schemas.openxmlformats.org/officeDocument/2006/relationships/notesSlide" Target="../notesSlides/notesSlide4.xml"/><Relationship Id="rId2" Type="http://schemas.openxmlformats.org/officeDocument/2006/relationships/tags" Target="../tags/tag19.xml"/><Relationship Id="rId16" Type="http://schemas.openxmlformats.org/officeDocument/2006/relationships/slideLayout" Target="../slideLayouts/slideLayout7.xml"/><Relationship Id="rId20" Type="http://schemas.openxmlformats.org/officeDocument/2006/relationships/image" Target="../media/image3.tmp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11" Type="http://schemas.openxmlformats.org/officeDocument/2006/relationships/tags" Target="../tags/tag28.xml"/><Relationship Id="rId5" Type="http://schemas.openxmlformats.org/officeDocument/2006/relationships/tags" Target="../tags/tag22.xml"/><Relationship Id="rId15" Type="http://schemas.openxmlformats.org/officeDocument/2006/relationships/tags" Target="../tags/tag32.xml"/><Relationship Id="rId10" Type="http://schemas.openxmlformats.org/officeDocument/2006/relationships/tags" Target="../tags/tag27.xml"/><Relationship Id="rId19" Type="http://schemas.openxmlformats.org/officeDocument/2006/relationships/image" Target="../media/image5.png"/><Relationship Id="rId4" Type="http://schemas.openxmlformats.org/officeDocument/2006/relationships/tags" Target="../tags/tag21.xml"/><Relationship Id="rId9" Type="http://schemas.openxmlformats.org/officeDocument/2006/relationships/tags" Target="../tags/tag26.xml"/><Relationship Id="rId14" Type="http://schemas.openxmlformats.org/officeDocument/2006/relationships/tags" Target="../tags/tag3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40.xml"/><Relationship Id="rId13" Type="http://schemas.openxmlformats.org/officeDocument/2006/relationships/tags" Target="../tags/tag45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35.xml"/><Relationship Id="rId21" Type="http://schemas.openxmlformats.org/officeDocument/2006/relationships/image" Target="../media/image3.tmp"/><Relationship Id="rId7" Type="http://schemas.openxmlformats.org/officeDocument/2006/relationships/tags" Target="../tags/tag39.xml"/><Relationship Id="rId12" Type="http://schemas.openxmlformats.org/officeDocument/2006/relationships/tags" Target="../tags/tag44.xml"/><Relationship Id="rId17" Type="http://schemas.openxmlformats.org/officeDocument/2006/relationships/tags" Target="../tags/tag49.xml"/><Relationship Id="rId2" Type="http://schemas.openxmlformats.org/officeDocument/2006/relationships/tags" Target="../tags/tag34.xml"/><Relationship Id="rId16" Type="http://schemas.openxmlformats.org/officeDocument/2006/relationships/tags" Target="../tags/tag48.xml"/><Relationship Id="rId20" Type="http://schemas.openxmlformats.org/officeDocument/2006/relationships/image" Target="../media/image6.png"/><Relationship Id="rId1" Type="http://schemas.openxmlformats.org/officeDocument/2006/relationships/tags" Target="../tags/tag33.xml"/><Relationship Id="rId6" Type="http://schemas.openxmlformats.org/officeDocument/2006/relationships/tags" Target="../tags/tag38.xml"/><Relationship Id="rId11" Type="http://schemas.openxmlformats.org/officeDocument/2006/relationships/tags" Target="../tags/tag43.xml"/><Relationship Id="rId5" Type="http://schemas.openxmlformats.org/officeDocument/2006/relationships/tags" Target="../tags/tag37.xml"/><Relationship Id="rId15" Type="http://schemas.openxmlformats.org/officeDocument/2006/relationships/tags" Target="../tags/tag47.xml"/><Relationship Id="rId10" Type="http://schemas.openxmlformats.org/officeDocument/2006/relationships/tags" Target="../tags/tag42.xml"/><Relationship Id="rId19" Type="http://schemas.openxmlformats.org/officeDocument/2006/relationships/tags" Target="../tags/tag34.xml"/><Relationship Id="rId4" Type="http://schemas.openxmlformats.org/officeDocument/2006/relationships/tags" Target="../tags/tag36.xml"/><Relationship Id="rId9" Type="http://schemas.openxmlformats.org/officeDocument/2006/relationships/tags" Target="../tags/tag41.xml"/><Relationship Id="rId14" Type="http://schemas.openxmlformats.org/officeDocument/2006/relationships/tags" Target="../tags/tag4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8.e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9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53.xml"/><Relationship Id="rId1" Type="http://schemas.openxmlformats.org/officeDocument/2006/relationships/tags" Target="../tags/tag52.xml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16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tags" Target="../tags/tag61.xml"/><Relationship Id="rId13" Type="http://schemas.openxmlformats.org/officeDocument/2006/relationships/tags" Target="../tags/tag66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56.xml"/><Relationship Id="rId7" Type="http://schemas.openxmlformats.org/officeDocument/2006/relationships/tags" Target="../tags/tag60.xml"/><Relationship Id="rId12" Type="http://schemas.openxmlformats.org/officeDocument/2006/relationships/tags" Target="../tags/tag65.xml"/><Relationship Id="rId17" Type="http://schemas.openxmlformats.org/officeDocument/2006/relationships/tags" Target="../tags/tag70.xml"/><Relationship Id="rId2" Type="http://schemas.openxmlformats.org/officeDocument/2006/relationships/tags" Target="../tags/tag55.xml"/><Relationship Id="rId16" Type="http://schemas.openxmlformats.org/officeDocument/2006/relationships/tags" Target="../tags/tag69.xml"/><Relationship Id="rId1" Type="http://schemas.openxmlformats.org/officeDocument/2006/relationships/tags" Target="../tags/tag54.xml"/><Relationship Id="rId6" Type="http://schemas.openxmlformats.org/officeDocument/2006/relationships/tags" Target="../tags/tag59.xml"/><Relationship Id="rId11" Type="http://schemas.openxmlformats.org/officeDocument/2006/relationships/tags" Target="../tags/tag64.xml"/><Relationship Id="rId5" Type="http://schemas.openxmlformats.org/officeDocument/2006/relationships/tags" Target="../tags/tag58.xml"/><Relationship Id="rId15" Type="http://schemas.openxmlformats.org/officeDocument/2006/relationships/tags" Target="../tags/tag68.xml"/><Relationship Id="rId10" Type="http://schemas.openxmlformats.org/officeDocument/2006/relationships/tags" Target="../tags/tag63.xml"/><Relationship Id="rId19" Type="http://schemas.openxmlformats.org/officeDocument/2006/relationships/image" Target="../media/image3.tmp"/><Relationship Id="rId4" Type="http://schemas.openxmlformats.org/officeDocument/2006/relationships/tags" Target="../tags/tag57.xml"/><Relationship Id="rId9" Type="http://schemas.openxmlformats.org/officeDocument/2006/relationships/tags" Target="../tags/tag62.xml"/><Relationship Id="rId14" Type="http://schemas.openxmlformats.org/officeDocument/2006/relationships/tags" Target="../tags/tag67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tags" Target="../tags/tag78.xml"/><Relationship Id="rId13" Type="http://schemas.openxmlformats.org/officeDocument/2006/relationships/tags" Target="../tags/tag83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73.xml"/><Relationship Id="rId7" Type="http://schemas.openxmlformats.org/officeDocument/2006/relationships/tags" Target="../tags/tag77.xml"/><Relationship Id="rId12" Type="http://schemas.openxmlformats.org/officeDocument/2006/relationships/tags" Target="../tags/tag82.xml"/><Relationship Id="rId17" Type="http://schemas.openxmlformats.org/officeDocument/2006/relationships/tags" Target="../tags/tag87.xml"/><Relationship Id="rId2" Type="http://schemas.openxmlformats.org/officeDocument/2006/relationships/tags" Target="../tags/tag72.xml"/><Relationship Id="rId16" Type="http://schemas.openxmlformats.org/officeDocument/2006/relationships/tags" Target="../tags/tag86.xml"/><Relationship Id="rId20" Type="http://schemas.openxmlformats.org/officeDocument/2006/relationships/image" Target="../media/image3.tmp"/><Relationship Id="rId1" Type="http://schemas.openxmlformats.org/officeDocument/2006/relationships/tags" Target="../tags/tag71.xml"/><Relationship Id="rId6" Type="http://schemas.openxmlformats.org/officeDocument/2006/relationships/tags" Target="../tags/tag76.xml"/><Relationship Id="rId11" Type="http://schemas.openxmlformats.org/officeDocument/2006/relationships/tags" Target="../tags/tag81.xml"/><Relationship Id="rId5" Type="http://schemas.openxmlformats.org/officeDocument/2006/relationships/tags" Target="../tags/tag75.xml"/><Relationship Id="rId15" Type="http://schemas.openxmlformats.org/officeDocument/2006/relationships/tags" Target="../tags/tag85.xml"/><Relationship Id="rId10" Type="http://schemas.openxmlformats.org/officeDocument/2006/relationships/tags" Target="../tags/tag80.xml"/><Relationship Id="rId19" Type="http://schemas.openxmlformats.org/officeDocument/2006/relationships/notesSlide" Target="../notesSlides/notesSlide17.xml"/><Relationship Id="rId4" Type="http://schemas.openxmlformats.org/officeDocument/2006/relationships/tags" Target="../tags/tag74.xml"/><Relationship Id="rId9" Type="http://schemas.openxmlformats.org/officeDocument/2006/relationships/tags" Target="../tags/tag79.xml"/><Relationship Id="rId14" Type="http://schemas.openxmlformats.org/officeDocument/2006/relationships/tags" Target="../tags/tag8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tags" Target="../tags/tag95.xml"/><Relationship Id="rId13" Type="http://schemas.openxmlformats.org/officeDocument/2006/relationships/tags" Target="../tags/tag100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90.xml"/><Relationship Id="rId7" Type="http://schemas.openxmlformats.org/officeDocument/2006/relationships/tags" Target="../tags/tag94.xml"/><Relationship Id="rId12" Type="http://schemas.openxmlformats.org/officeDocument/2006/relationships/tags" Target="../tags/tag99.xml"/><Relationship Id="rId17" Type="http://schemas.openxmlformats.org/officeDocument/2006/relationships/tags" Target="../tags/tag104.xml"/><Relationship Id="rId2" Type="http://schemas.openxmlformats.org/officeDocument/2006/relationships/tags" Target="../tags/tag89.xml"/><Relationship Id="rId16" Type="http://schemas.openxmlformats.org/officeDocument/2006/relationships/tags" Target="../tags/tag103.xml"/><Relationship Id="rId1" Type="http://schemas.openxmlformats.org/officeDocument/2006/relationships/tags" Target="../tags/tag88.xml"/><Relationship Id="rId6" Type="http://schemas.openxmlformats.org/officeDocument/2006/relationships/tags" Target="../tags/tag93.xml"/><Relationship Id="rId11" Type="http://schemas.openxmlformats.org/officeDocument/2006/relationships/tags" Target="../tags/tag98.xml"/><Relationship Id="rId5" Type="http://schemas.openxmlformats.org/officeDocument/2006/relationships/tags" Target="../tags/tag92.xml"/><Relationship Id="rId15" Type="http://schemas.openxmlformats.org/officeDocument/2006/relationships/tags" Target="../tags/tag102.xml"/><Relationship Id="rId10" Type="http://schemas.openxmlformats.org/officeDocument/2006/relationships/tags" Target="../tags/tag97.xml"/><Relationship Id="rId19" Type="http://schemas.openxmlformats.org/officeDocument/2006/relationships/image" Target="../media/image3.tmp"/><Relationship Id="rId4" Type="http://schemas.openxmlformats.org/officeDocument/2006/relationships/tags" Target="../tags/tag91.xml"/><Relationship Id="rId9" Type="http://schemas.openxmlformats.org/officeDocument/2006/relationships/tags" Target="../tags/tag96.xml"/><Relationship Id="rId14" Type="http://schemas.openxmlformats.org/officeDocument/2006/relationships/tags" Target="../tags/tag101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tags" Target="../tags/tag112.xml"/><Relationship Id="rId13" Type="http://schemas.openxmlformats.org/officeDocument/2006/relationships/tags" Target="../tags/tag117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107.xml"/><Relationship Id="rId7" Type="http://schemas.openxmlformats.org/officeDocument/2006/relationships/tags" Target="../tags/tag111.xml"/><Relationship Id="rId12" Type="http://schemas.openxmlformats.org/officeDocument/2006/relationships/tags" Target="../tags/tag116.xml"/><Relationship Id="rId17" Type="http://schemas.openxmlformats.org/officeDocument/2006/relationships/tags" Target="../tags/tag121.xml"/><Relationship Id="rId2" Type="http://schemas.openxmlformats.org/officeDocument/2006/relationships/tags" Target="../tags/tag106.xml"/><Relationship Id="rId16" Type="http://schemas.openxmlformats.org/officeDocument/2006/relationships/tags" Target="../tags/tag120.xml"/><Relationship Id="rId1" Type="http://schemas.openxmlformats.org/officeDocument/2006/relationships/tags" Target="../tags/tag105.xml"/><Relationship Id="rId6" Type="http://schemas.openxmlformats.org/officeDocument/2006/relationships/tags" Target="../tags/tag110.xml"/><Relationship Id="rId11" Type="http://schemas.openxmlformats.org/officeDocument/2006/relationships/tags" Target="../tags/tag115.xml"/><Relationship Id="rId5" Type="http://schemas.openxmlformats.org/officeDocument/2006/relationships/tags" Target="../tags/tag109.xml"/><Relationship Id="rId15" Type="http://schemas.openxmlformats.org/officeDocument/2006/relationships/tags" Target="../tags/tag119.xml"/><Relationship Id="rId10" Type="http://schemas.openxmlformats.org/officeDocument/2006/relationships/tags" Target="../tags/tag114.xml"/><Relationship Id="rId19" Type="http://schemas.openxmlformats.org/officeDocument/2006/relationships/image" Target="../media/image3.tmp"/><Relationship Id="rId4" Type="http://schemas.openxmlformats.org/officeDocument/2006/relationships/tags" Target="../tags/tag108.xml"/><Relationship Id="rId9" Type="http://schemas.openxmlformats.org/officeDocument/2006/relationships/tags" Target="../tags/tag113.xml"/><Relationship Id="rId14" Type="http://schemas.openxmlformats.org/officeDocument/2006/relationships/tags" Target="../tags/tag11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23.xml"/><Relationship Id="rId1" Type="http://schemas.openxmlformats.org/officeDocument/2006/relationships/tags" Target="../tags/tag122.xml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2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25.xml"/><Relationship Id="rId1" Type="http://schemas.openxmlformats.org/officeDocument/2006/relationships/tags" Target="../tags/tag124.xml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29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tags" Target="../tags/tag133.xml"/><Relationship Id="rId13" Type="http://schemas.openxmlformats.org/officeDocument/2006/relationships/tags" Target="../tags/tag138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128.xml"/><Relationship Id="rId7" Type="http://schemas.openxmlformats.org/officeDocument/2006/relationships/tags" Target="../tags/tag132.xml"/><Relationship Id="rId12" Type="http://schemas.openxmlformats.org/officeDocument/2006/relationships/tags" Target="../tags/tag137.xml"/><Relationship Id="rId17" Type="http://schemas.openxmlformats.org/officeDocument/2006/relationships/tags" Target="../tags/tag142.xml"/><Relationship Id="rId2" Type="http://schemas.openxmlformats.org/officeDocument/2006/relationships/tags" Target="../tags/tag127.xml"/><Relationship Id="rId16" Type="http://schemas.openxmlformats.org/officeDocument/2006/relationships/tags" Target="../tags/tag141.xml"/><Relationship Id="rId1" Type="http://schemas.openxmlformats.org/officeDocument/2006/relationships/tags" Target="../tags/tag126.xml"/><Relationship Id="rId6" Type="http://schemas.openxmlformats.org/officeDocument/2006/relationships/tags" Target="../tags/tag131.xml"/><Relationship Id="rId11" Type="http://schemas.openxmlformats.org/officeDocument/2006/relationships/tags" Target="../tags/tag136.xml"/><Relationship Id="rId5" Type="http://schemas.openxmlformats.org/officeDocument/2006/relationships/tags" Target="../tags/tag130.xml"/><Relationship Id="rId15" Type="http://schemas.openxmlformats.org/officeDocument/2006/relationships/tags" Target="../tags/tag140.xml"/><Relationship Id="rId10" Type="http://schemas.openxmlformats.org/officeDocument/2006/relationships/tags" Target="../tags/tag135.xml"/><Relationship Id="rId19" Type="http://schemas.openxmlformats.org/officeDocument/2006/relationships/image" Target="../media/image3.tmp"/><Relationship Id="rId4" Type="http://schemas.openxmlformats.org/officeDocument/2006/relationships/tags" Target="../tags/tag129.xml"/><Relationship Id="rId9" Type="http://schemas.openxmlformats.org/officeDocument/2006/relationships/tags" Target="../tags/tag134.xml"/><Relationship Id="rId14" Type="http://schemas.openxmlformats.org/officeDocument/2006/relationships/tags" Target="../tags/tag139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tags" Target="../tags/tag150.xml"/><Relationship Id="rId13" Type="http://schemas.openxmlformats.org/officeDocument/2006/relationships/tags" Target="../tags/tag155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145.xml"/><Relationship Id="rId7" Type="http://schemas.openxmlformats.org/officeDocument/2006/relationships/tags" Target="../tags/tag149.xml"/><Relationship Id="rId12" Type="http://schemas.openxmlformats.org/officeDocument/2006/relationships/tags" Target="../tags/tag154.xml"/><Relationship Id="rId17" Type="http://schemas.openxmlformats.org/officeDocument/2006/relationships/tags" Target="../tags/tag159.xml"/><Relationship Id="rId2" Type="http://schemas.openxmlformats.org/officeDocument/2006/relationships/tags" Target="../tags/tag144.xml"/><Relationship Id="rId16" Type="http://schemas.openxmlformats.org/officeDocument/2006/relationships/tags" Target="../tags/tag158.xml"/><Relationship Id="rId1" Type="http://schemas.openxmlformats.org/officeDocument/2006/relationships/tags" Target="../tags/tag143.xml"/><Relationship Id="rId6" Type="http://schemas.openxmlformats.org/officeDocument/2006/relationships/tags" Target="../tags/tag148.xml"/><Relationship Id="rId11" Type="http://schemas.openxmlformats.org/officeDocument/2006/relationships/tags" Target="../tags/tag153.xml"/><Relationship Id="rId5" Type="http://schemas.openxmlformats.org/officeDocument/2006/relationships/tags" Target="../tags/tag147.xml"/><Relationship Id="rId15" Type="http://schemas.openxmlformats.org/officeDocument/2006/relationships/tags" Target="../tags/tag157.xml"/><Relationship Id="rId10" Type="http://schemas.openxmlformats.org/officeDocument/2006/relationships/tags" Target="../tags/tag152.xml"/><Relationship Id="rId19" Type="http://schemas.openxmlformats.org/officeDocument/2006/relationships/image" Target="../media/image3.tmp"/><Relationship Id="rId4" Type="http://schemas.openxmlformats.org/officeDocument/2006/relationships/tags" Target="../tags/tag146.xml"/><Relationship Id="rId9" Type="http://schemas.openxmlformats.org/officeDocument/2006/relationships/tags" Target="../tags/tag151.xml"/><Relationship Id="rId14" Type="http://schemas.openxmlformats.org/officeDocument/2006/relationships/tags" Target="../tags/tag156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604" b="46967"/>
          <a:stretch>
            <a:fillRect/>
          </a:stretch>
        </p:blipFill>
        <p:spPr>
          <a:xfrm>
            <a:off x="0" y="2176476"/>
            <a:ext cx="12209296" cy="2877923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0" y="2176477"/>
            <a:ext cx="12192000" cy="2877922"/>
          </a:xfrm>
          <a:prstGeom prst="rect">
            <a:avLst/>
          </a:prstGeom>
          <a:gradFill>
            <a:gsLst>
              <a:gs pos="0">
                <a:srgbClr val="014723"/>
              </a:gs>
              <a:gs pos="59000">
                <a:srgbClr val="014723">
                  <a:alpha val="60000"/>
                </a:srgbClr>
              </a:gs>
              <a:gs pos="100000">
                <a:srgbClr val="014723">
                  <a:alpha val="1000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1223683" y="2729511"/>
            <a:ext cx="974463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循环结构</a:t>
            </a:r>
          </a:p>
        </p:txBody>
      </p:sp>
      <p:sp>
        <p:nvSpPr>
          <p:cNvPr id="16" name="TextBox 10"/>
          <p:cNvSpPr txBox="1"/>
          <p:nvPr/>
        </p:nvSpPr>
        <p:spPr>
          <a:xfrm>
            <a:off x="2565806" y="3990096"/>
            <a:ext cx="7060388" cy="520700"/>
          </a:xfrm>
          <a:prstGeom prst="rect">
            <a:avLst/>
          </a:prstGeom>
          <a:noFill/>
        </p:spPr>
        <p:txBody>
          <a:bodyPr wrap="square" lIns="91416" tIns="45708" rIns="91416" bIns="45708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/>
            <a:r>
              <a:rPr lang="zh-CN" altLang="en-US" sz="28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中山大学计算机学院</a:t>
            </a:r>
            <a:endParaRPr lang="en-US" altLang="zh-CN" sz="2800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200" r="2284" b="11992"/>
          <a:stretch>
            <a:fillRect/>
          </a:stretch>
        </p:blipFill>
        <p:spPr>
          <a:xfrm>
            <a:off x="4339400" y="923192"/>
            <a:ext cx="3433000" cy="1072662"/>
          </a:xfrm>
          <a:prstGeom prst="rect">
            <a:avLst/>
          </a:prstGeom>
        </p:spPr>
      </p:pic>
      <p:sp>
        <p:nvSpPr>
          <p:cNvPr id="17" name="TextBox 6"/>
          <p:cNvSpPr txBox="1"/>
          <p:nvPr/>
        </p:nvSpPr>
        <p:spPr>
          <a:xfrm>
            <a:off x="5398606" y="5644929"/>
            <a:ext cx="1723500" cy="400085"/>
          </a:xfrm>
          <a:prstGeom prst="rect">
            <a:avLst/>
          </a:prstGeom>
          <a:noFill/>
        </p:spPr>
        <p:txBody>
          <a:bodyPr wrap="none" lIns="91416" tIns="45708" rIns="91416" bIns="45708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schemeClr val="accent2"/>
                </a:solidFill>
                <a:latin typeface="+mn-ea"/>
                <a:ea typeface="+mn-ea"/>
              </a:defRPr>
            </a:lvl1pPr>
          </a:lstStyle>
          <a:p>
            <a:pPr algn="ctr"/>
            <a:r>
              <a:rPr lang="zh-CN" altLang="en-US" b="1" dirty="0">
                <a:solidFill>
                  <a:srgbClr val="0147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讲课人</a:t>
            </a:r>
            <a:r>
              <a:rPr lang="zh-CN" altLang="en-US" dirty="0">
                <a:solidFill>
                  <a:srgbClr val="0147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：陆勇</a:t>
            </a:r>
            <a:endParaRPr lang="en-US" altLang="zh-CN" dirty="0">
              <a:solidFill>
                <a:srgbClr val="01472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Freeform 7"/>
          <p:cNvSpPr>
            <a:spLocks noChangeAspect="1" noEditPoints="1"/>
          </p:cNvSpPr>
          <p:nvPr/>
        </p:nvSpPr>
        <p:spPr bwMode="auto">
          <a:xfrm>
            <a:off x="4549092" y="5611849"/>
            <a:ext cx="462900" cy="466244"/>
          </a:xfrm>
          <a:custGeom>
            <a:avLst/>
            <a:gdLst>
              <a:gd name="T0" fmla="*/ 661 w 904"/>
              <a:gd name="T1" fmla="*/ 461 h 905"/>
              <a:gd name="T2" fmla="*/ 661 w 904"/>
              <a:gd name="T3" fmla="*/ 339 h 905"/>
              <a:gd name="T4" fmla="*/ 605 w 904"/>
              <a:gd name="T5" fmla="*/ 339 h 905"/>
              <a:gd name="T6" fmla="*/ 605 w 904"/>
              <a:gd name="T7" fmla="*/ 461 h 905"/>
              <a:gd name="T8" fmla="*/ 456 w 904"/>
              <a:gd name="T9" fmla="*/ 610 h 905"/>
              <a:gd name="T10" fmla="*/ 453 w 904"/>
              <a:gd name="T11" fmla="*/ 610 h 905"/>
              <a:gd name="T12" fmla="*/ 452 w 904"/>
              <a:gd name="T13" fmla="*/ 610 h 905"/>
              <a:gd name="T14" fmla="*/ 451 w 904"/>
              <a:gd name="T15" fmla="*/ 610 h 905"/>
              <a:gd name="T16" fmla="*/ 448 w 904"/>
              <a:gd name="T17" fmla="*/ 610 h 905"/>
              <a:gd name="T18" fmla="*/ 299 w 904"/>
              <a:gd name="T19" fmla="*/ 461 h 905"/>
              <a:gd name="T20" fmla="*/ 299 w 904"/>
              <a:gd name="T21" fmla="*/ 339 h 905"/>
              <a:gd name="T22" fmla="*/ 244 w 904"/>
              <a:gd name="T23" fmla="*/ 339 h 905"/>
              <a:gd name="T24" fmla="*/ 244 w 904"/>
              <a:gd name="T25" fmla="*/ 461 h 905"/>
              <a:gd name="T26" fmla="*/ 419 w 904"/>
              <a:gd name="T27" fmla="*/ 664 h 905"/>
              <a:gd name="T28" fmla="*/ 419 w 904"/>
              <a:gd name="T29" fmla="*/ 752 h 905"/>
              <a:gd name="T30" fmla="*/ 295 w 904"/>
              <a:gd name="T31" fmla="*/ 787 h 905"/>
              <a:gd name="T32" fmla="*/ 610 w 904"/>
              <a:gd name="T33" fmla="*/ 787 h 905"/>
              <a:gd name="T34" fmla="*/ 484 w 904"/>
              <a:gd name="T35" fmla="*/ 751 h 905"/>
              <a:gd name="T36" fmla="*/ 484 w 904"/>
              <a:gd name="T37" fmla="*/ 664 h 905"/>
              <a:gd name="T38" fmla="*/ 661 w 904"/>
              <a:gd name="T39" fmla="*/ 461 h 905"/>
              <a:gd name="T40" fmla="*/ 450 w 904"/>
              <a:gd name="T41" fmla="*/ 558 h 905"/>
              <a:gd name="T42" fmla="*/ 452 w 904"/>
              <a:gd name="T43" fmla="*/ 558 h 905"/>
              <a:gd name="T44" fmla="*/ 454 w 904"/>
              <a:gd name="T45" fmla="*/ 558 h 905"/>
              <a:gd name="T46" fmla="*/ 554 w 904"/>
              <a:gd name="T47" fmla="*/ 459 h 905"/>
              <a:gd name="T48" fmla="*/ 554 w 904"/>
              <a:gd name="T49" fmla="*/ 218 h 905"/>
              <a:gd name="T50" fmla="*/ 454 w 904"/>
              <a:gd name="T51" fmla="*/ 118 h 905"/>
              <a:gd name="T52" fmla="*/ 452 w 904"/>
              <a:gd name="T53" fmla="*/ 118 h 905"/>
              <a:gd name="T54" fmla="*/ 450 w 904"/>
              <a:gd name="T55" fmla="*/ 118 h 905"/>
              <a:gd name="T56" fmla="*/ 351 w 904"/>
              <a:gd name="T57" fmla="*/ 218 h 905"/>
              <a:gd name="T58" fmla="*/ 351 w 904"/>
              <a:gd name="T59" fmla="*/ 459 h 905"/>
              <a:gd name="T60" fmla="*/ 450 w 904"/>
              <a:gd name="T61" fmla="*/ 558 h 905"/>
              <a:gd name="T62" fmla="*/ 452 w 904"/>
              <a:gd name="T63" fmla="*/ 0 h 905"/>
              <a:gd name="T64" fmla="*/ 904 w 904"/>
              <a:gd name="T65" fmla="*/ 453 h 905"/>
              <a:gd name="T66" fmla="*/ 452 w 904"/>
              <a:gd name="T67" fmla="*/ 905 h 905"/>
              <a:gd name="T68" fmla="*/ 0 w 904"/>
              <a:gd name="T69" fmla="*/ 453 h 905"/>
              <a:gd name="T70" fmla="*/ 452 w 904"/>
              <a:gd name="T71" fmla="*/ 0 h 9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904" h="905">
                <a:moveTo>
                  <a:pt x="661" y="461"/>
                </a:moveTo>
                <a:lnTo>
                  <a:pt x="661" y="339"/>
                </a:lnTo>
                <a:cubicBezTo>
                  <a:pt x="661" y="304"/>
                  <a:pt x="605" y="304"/>
                  <a:pt x="605" y="339"/>
                </a:cubicBezTo>
                <a:lnTo>
                  <a:pt x="605" y="461"/>
                </a:lnTo>
                <a:cubicBezTo>
                  <a:pt x="605" y="543"/>
                  <a:pt x="538" y="610"/>
                  <a:pt x="456" y="610"/>
                </a:cubicBezTo>
                <a:cubicBezTo>
                  <a:pt x="455" y="610"/>
                  <a:pt x="454" y="610"/>
                  <a:pt x="453" y="610"/>
                </a:cubicBezTo>
                <a:lnTo>
                  <a:pt x="452" y="610"/>
                </a:lnTo>
                <a:lnTo>
                  <a:pt x="451" y="610"/>
                </a:lnTo>
                <a:cubicBezTo>
                  <a:pt x="450" y="610"/>
                  <a:pt x="449" y="610"/>
                  <a:pt x="448" y="610"/>
                </a:cubicBezTo>
                <a:cubicBezTo>
                  <a:pt x="366" y="610"/>
                  <a:pt x="299" y="543"/>
                  <a:pt x="299" y="461"/>
                </a:cubicBezTo>
                <a:lnTo>
                  <a:pt x="299" y="339"/>
                </a:lnTo>
                <a:cubicBezTo>
                  <a:pt x="299" y="304"/>
                  <a:pt x="244" y="304"/>
                  <a:pt x="244" y="339"/>
                </a:cubicBezTo>
                <a:cubicBezTo>
                  <a:pt x="244" y="355"/>
                  <a:pt x="244" y="461"/>
                  <a:pt x="244" y="461"/>
                </a:cubicBezTo>
                <a:cubicBezTo>
                  <a:pt x="244" y="564"/>
                  <a:pt x="320" y="650"/>
                  <a:pt x="419" y="664"/>
                </a:cubicBezTo>
                <a:lnTo>
                  <a:pt x="419" y="752"/>
                </a:lnTo>
                <a:lnTo>
                  <a:pt x="295" y="787"/>
                </a:lnTo>
                <a:lnTo>
                  <a:pt x="610" y="787"/>
                </a:lnTo>
                <a:lnTo>
                  <a:pt x="484" y="751"/>
                </a:lnTo>
                <a:lnTo>
                  <a:pt x="484" y="664"/>
                </a:lnTo>
                <a:cubicBezTo>
                  <a:pt x="584" y="650"/>
                  <a:pt x="661" y="564"/>
                  <a:pt x="661" y="461"/>
                </a:cubicBezTo>
                <a:close/>
                <a:moveTo>
                  <a:pt x="450" y="558"/>
                </a:moveTo>
                <a:cubicBezTo>
                  <a:pt x="451" y="558"/>
                  <a:pt x="451" y="558"/>
                  <a:pt x="452" y="558"/>
                </a:cubicBezTo>
                <a:cubicBezTo>
                  <a:pt x="453" y="558"/>
                  <a:pt x="453" y="558"/>
                  <a:pt x="454" y="558"/>
                </a:cubicBezTo>
                <a:cubicBezTo>
                  <a:pt x="509" y="558"/>
                  <a:pt x="554" y="514"/>
                  <a:pt x="554" y="459"/>
                </a:cubicBezTo>
                <a:lnTo>
                  <a:pt x="554" y="218"/>
                </a:lnTo>
                <a:cubicBezTo>
                  <a:pt x="554" y="163"/>
                  <a:pt x="509" y="118"/>
                  <a:pt x="454" y="118"/>
                </a:cubicBezTo>
                <a:cubicBezTo>
                  <a:pt x="453" y="118"/>
                  <a:pt x="453" y="118"/>
                  <a:pt x="452" y="118"/>
                </a:cubicBezTo>
                <a:cubicBezTo>
                  <a:pt x="452" y="118"/>
                  <a:pt x="451" y="118"/>
                  <a:pt x="450" y="118"/>
                </a:cubicBezTo>
                <a:cubicBezTo>
                  <a:pt x="395" y="118"/>
                  <a:pt x="351" y="163"/>
                  <a:pt x="351" y="218"/>
                </a:cubicBezTo>
                <a:lnTo>
                  <a:pt x="351" y="459"/>
                </a:lnTo>
                <a:cubicBezTo>
                  <a:pt x="351" y="514"/>
                  <a:pt x="395" y="558"/>
                  <a:pt x="450" y="558"/>
                </a:cubicBezTo>
                <a:close/>
                <a:moveTo>
                  <a:pt x="452" y="0"/>
                </a:moveTo>
                <a:cubicBezTo>
                  <a:pt x="702" y="0"/>
                  <a:pt x="904" y="203"/>
                  <a:pt x="904" y="453"/>
                </a:cubicBezTo>
                <a:cubicBezTo>
                  <a:pt x="904" y="702"/>
                  <a:pt x="702" y="905"/>
                  <a:pt x="452" y="905"/>
                </a:cubicBezTo>
                <a:cubicBezTo>
                  <a:pt x="202" y="905"/>
                  <a:pt x="0" y="702"/>
                  <a:pt x="0" y="453"/>
                </a:cubicBezTo>
                <a:cubicBezTo>
                  <a:pt x="0" y="203"/>
                  <a:pt x="202" y="0"/>
                  <a:pt x="452" y="0"/>
                </a:cubicBezTo>
                <a:close/>
              </a:path>
            </a:pathLst>
          </a:custGeom>
          <a:solidFill>
            <a:srgbClr val="014723"/>
          </a:solidFill>
          <a:ln>
            <a:noFill/>
          </a:ln>
        </p:spPr>
        <p:txBody>
          <a:bodyPr vert="horz" wrap="square" lIns="91416" tIns="45708" rIns="91416" bIns="45708" numCol="1" anchor="t" anchorCtr="0" compatLnSpc="1"/>
          <a:lstStyle/>
          <a:p>
            <a:endParaRPr lang="zh-CN" altLang="en-US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604" b="46967"/>
          <a:stretch>
            <a:fillRect/>
          </a:stretch>
        </p:blipFill>
        <p:spPr>
          <a:xfrm>
            <a:off x="0" y="2176476"/>
            <a:ext cx="12209296" cy="2877923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0" y="2176477"/>
            <a:ext cx="12192000" cy="2877922"/>
          </a:xfrm>
          <a:prstGeom prst="rect">
            <a:avLst/>
          </a:prstGeom>
          <a:gradFill>
            <a:gsLst>
              <a:gs pos="0">
                <a:srgbClr val="014723"/>
              </a:gs>
              <a:gs pos="59000">
                <a:srgbClr val="014723">
                  <a:alpha val="60000"/>
                </a:srgbClr>
              </a:gs>
              <a:gs pos="100000">
                <a:srgbClr val="014723">
                  <a:alpha val="1000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2559161" y="2793810"/>
            <a:ext cx="699347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复习</a:t>
            </a:r>
          </a:p>
        </p:txBody>
      </p:sp>
      <p:sp>
        <p:nvSpPr>
          <p:cNvPr id="16" name="TextBox 10"/>
          <p:cNvSpPr txBox="1"/>
          <p:nvPr/>
        </p:nvSpPr>
        <p:spPr>
          <a:xfrm>
            <a:off x="2565806" y="3990096"/>
            <a:ext cx="7060388" cy="523196"/>
          </a:xfrm>
          <a:prstGeom prst="rect">
            <a:avLst/>
          </a:prstGeom>
          <a:noFill/>
        </p:spPr>
        <p:txBody>
          <a:bodyPr wrap="square" lIns="91416" tIns="45708" rIns="91416" bIns="45708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/>
            <a:r>
              <a:rPr lang="en-US" altLang="zh-CN" sz="2800" dirty="0">
                <a:solidFill>
                  <a:schemeClr val="bg1">
                    <a:lumMod val="95000"/>
                  </a:schemeClr>
                </a:solidFill>
              </a:rPr>
              <a:t>Reviews</a:t>
            </a:r>
            <a:endParaRPr lang="en-US" altLang="zh-CN" sz="2800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200" r="2284" b="11992"/>
          <a:stretch>
            <a:fillRect/>
          </a:stretch>
        </p:blipFill>
        <p:spPr>
          <a:xfrm>
            <a:off x="4339400" y="923192"/>
            <a:ext cx="3433000" cy="107266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50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850"/>
                            </p:stCondLst>
                            <p:childTnLst>
                              <p:par>
                                <p:cTn id="15" presetID="8" presetClass="entr" presetSubtype="32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1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5" grpId="0"/>
      <p:bldP spid="1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1E6EE70E-0221-9641-2383-42C2B9837302}"/>
                  </a:ext>
                </a:extLst>
              </p:cNvPr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1219200" y="635000"/>
                <a:ext cx="9753600" cy="2143125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noAutofit/>
              </a:bodyPr>
              <a:lstStyle/>
              <a:p>
                <a:r>
                  <a:rPr lang="zh-CN" altLang="en-US" sz="2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求方程 </a:t>
                </a:r>
                <a14:m>
                  <m:oMath xmlns:m="http://schemas.openxmlformats.org/officeDocument/2006/math">
                    <m:r>
                      <a:rPr lang="en-US" altLang="zh-CN" sz="26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𝑎</m:t>
                    </m:r>
                    <m:sSup>
                      <m:sSupPr>
                        <m:ctrlPr>
                          <a:rPr lang="en-US" altLang="zh-CN" sz="26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26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𝑥</m:t>
                        </m:r>
                      </m:e>
                      <m:sup>
                        <m:r>
                          <a:rPr lang="en-US" altLang="zh-CN" sz="26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2</m:t>
                        </m:r>
                      </m:sup>
                    </m:sSup>
                    <m:r>
                      <a:rPr lang="en-US" altLang="zh-CN" sz="26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+</m:t>
                    </m:r>
                    <m:r>
                      <a:rPr lang="en-US" altLang="zh-CN" sz="26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𝑏𝑥</m:t>
                    </m:r>
                    <m:r>
                      <a:rPr lang="en-US" altLang="zh-CN" sz="26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+</m:t>
                    </m:r>
                    <m:r>
                      <a:rPr lang="en-US" altLang="zh-CN" sz="26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𝑐</m:t>
                    </m:r>
                    <m:r>
                      <a:rPr lang="en-US" altLang="zh-CN" sz="26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=0 </m:t>
                    </m:r>
                  </m:oMath>
                </a14:m>
                <a:r>
                  <a:rPr lang="zh-CN" altLang="en-US" sz="2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的实数解。</a:t>
                </a:r>
              </a:p>
              <a:p>
                <a:r>
                  <a:rPr lang="zh-CN" altLang="en-US" sz="2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输入：三个整数</a:t>
                </a:r>
                <a:r>
                  <a:rPr lang="en-US" altLang="zh-CN" sz="2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a, b, c</a:t>
                </a:r>
                <a:r>
                  <a:rPr lang="zh-CN" altLang="en-US" sz="2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，∣</a:t>
                </a:r>
                <a:r>
                  <a:rPr lang="en-US" altLang="zh-CN" sz="2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a∣, ∣b∣, ∣c∣ ∈[0,1000] </a:t>
                </a:r>
                <a:r>
                  <a:rPr lang="zh-CN" altLang="en-US" sz="2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。</a:t>
                </a:r>
                <a:endParaRPr lang="en-US" altLang="zh-CN" sz="26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endParaRPr>
              </a:p>
              <a:p>
                <a:endParaRPr lang="en-US" altLang="zh-CN" sz="26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endParaRPr>
              </a:p>
              <a:p>
                <a:r>
                  <a:rPr lang="zh-CN" altLang="en-US" sz="2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它要考虑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6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a</m:t>
                    </m:r>
                    <m:r>
                      <a:rPr lang="en-US" altLang="zh-CN" sz="26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,</m:t>
                    </m:r>
                    <m:r>
                      <a:rPr lang="zh-CN" altLang="en-US" sz="26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∆</m:t>
                    </m:r>
                    <m:r>
                      <a:rPr lang="zh-CN" altLang="en-US" sz="2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是否</m:t>
                    </m:r>
                  </m:oMath>
                </a14:m>
                <a:r>
                  <a:rPr lang="zh-CN" altLang="en-US" sz="2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为零情况，请问求解需要几路分支。</a:t>
                </a: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1E6EE70E-0221-9641-2383-42C2B98373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0"/>
                </p:custDataLst>
              </p:nvPr>
            </p:nvSpPr>
            <p:spPr>
              <a:xfrm>
                <a:off x="1219200" y="635000"/>
                <a:ext cx="9753600" cy="2143125"/>
              </a:xfrm>
              <a:prstGeom prst="rect">
                <a:avLst/>
              </a:prstGeom>
              <a:blipFill>
                <a:blip r:embed="rId21"/>
                <a:stretch>
                  <a:fillRect l="-11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>
            <a:extLst>
              <a:ext uri="{FF2B5EF4-FFF2-40B4-BE49-F238E27FC236}">
                <a16:creationId xmlns:a16="http://schemas.microsoft.com/office/drawing/2014/main" id="{F57CF38A-359D-0CD9-79C2-80928B2803F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7D64A9F-F309-66EB-30F3-7B7B007C143D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4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3EB9C02-683C-D685-9B9F-ADBB619067C7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5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07005DE-4C51-2F5A-25F5-6A09433F1F17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6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6B28A89A-0ED3-7273-1469-6AE90935DF43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DB0B58E5-64B8-1CD6-10B3-C5504C1DA5E8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883158B7-E461-71CD-66F6-6E0B779252CE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723BEC2D-6E2A-21E6-BB32-77A962CC2F27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704A8538-AF51-6E20-E8E7-F3870154E358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480056D3-1E07-1C74-951C-0A34C3E4D0D7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0B493909-FC0A-1F3B-AEF8-4995880A198D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C31639F9-49F1-A541-F281-643499128B1A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0BD18EDC-01AF-3FB6-BDE0-CEC3B7D562E0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7" name="TipText">
              <a:extLst>
                <a:ext uri="{FF2B5EF4-FFF2-40B4-BE49-F238E27FC236}">
                  <a16:creationId xmlns:a16="http://schemas.microsoft.com/office/drawing/2014/main" id="{B6F750C0-A660-B812-DD65-64671D002643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5C71FD81-AAD5-2EF6-7E26-A234608B1AC4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9181021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1E6EE70E-0221-9641-2383-42C2B9837302}"/>
                  </a:ext>
                </a:extLst>
              </p:cNvPr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1219200" y="635000"/>
                <a:ext cx="9753600" cy="2143125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noAutofit/>
              </a:bodyPr>
              <a:lstStyle/>
              <a:p>
                <a:r>
                  <a:rPr lang="zh-CN" altLang="en-US" sz="2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求方程 </a:t>
                </a:r>
                <a14:m>
                  <m:oMath xmlns:m="http://schemas.openxmlformats.org/officeDocument/2006/math">
                    <m:r>
                      <a:rPr lang="en-US" altLang="zh-CN" sz="26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𝑎</m:t>
                    </m:r>
                    <m:sSup>
                      <m:sSupPr>
                        <m:ctrlPr>
                          <a:rPr lang="en-US" altLang="zh-CN" sz="26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26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𝑥</m:t>
                        </m:r>
                      </m:e>
                      <m:sup>
                        <m:r>
                          <a:rPr lang="en-US" altLang="zh-CN" sz="26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2</m:t>
                        </m:r>
                      </m:sup>
                    </m:sSup>
                    <m:r>
                      <a:rPr lang="en-US" altLang="zh-CN" sz="26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+</m:t>
                    </m:r>
                    <m:r>
                      <a:rPr lang="en-US" altLang="zh-CN" sz="26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𝑏𝑥</m:t>
                    </m:r>
                    <m:r>
                      <a:rPr lang="en-US" altLang="zh-CN" sz="26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+</m:t>
                    </m:r>
                    <m:r>
                      <a:rPr lang="en-US" altLang="zh-CN" sz="26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𝑐</m:t>
                    </m:r>
                    <m:r>
                      <a:rPr lang="en-US" altLang="zh-CN" sz="26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=0 </m:t>
                    </m:r>
                  </m:oMath>
                </a14:m>
                <a:r>
                  <a:rPr lang="zh-CN" altLang="en-US" sz="2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的实数解。</a:t>
                </a:r>
              </a:p>
              <a:p>
                <a:r>
                  <a:rPr lang="zh-CN" altLang="en-US" sz="2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输入：三个整数</a:t>
                </a:r>
                <a:r>
                  <a:rPr lang="en-US" altLang="zh-CN" sz="2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a, b, c</a:t>
                </a:r>
                <a:r>
                  <a:rPr lang="zh-CN" altLang="en-US" sz="2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，∣</a:t>
                </a:r>
                <a:r>
                  <a:rPr lang="en-US" altLang="zh-CN" sz="2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a∣, ∣b∣, ∣c∣ ∈[0,1000] </a:t>
                </a:r>
                <a:r>
                  <a:rPr lang="zh-CN" altLang="en-US" sz="2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。</a:t>
                </a:r>
                <a:endParaRPr lang="en-US" altLang="zh-CN" sz="26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endParaRPr>
              </a:p>
              <a:p>
                <a:endParaRPr lang="en-US" altLang="zh-CN" sz="26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endParaRPr>
              </a:p>
              <a:p>
                <a:r>
                  <a:rPr lang="zh-CN" altLang="en-US" sz="2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请问哪些分支输出为 </a:t>
                </a:r>
                <a:r>
                  <a:rPr lang="en-US" altLang="zh-CN" sz="2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None</a:t>
                </a: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1E6EE70E-0221-9641-2383-42C2B98373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8"/>
                </p:custDataLst>
              </p:nvPr>
            </p:nvSpPr>
            <p:spPr>
              <a:xfrm>
                <a:off x="1219200" y="635000"/>
                <a:ext cx="9753600" cy="2143125"/>
              </a:xfrm>
              <a:prstGeom prst="rect">
                <a:avLst/>
              </a:prstGeom>
              <a:blipFill>
                <a:blip r:embed="rId19"/>
                <a:stretch>
                  <a:fillRect l="-11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>
            <a:extLst>
              <a:ext uri="{FF2B5EF4-FFF2-40B4-BE49-F238E27FC236}">
                <a16:creationId xmlns:a16="http://schemas.microsoft.com/office/drawing/2014/main" id="{F57CF38A-359D-0CD9-79C2-80928B2803F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4318000" cy="3640137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if 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  <a:ea typeface="Microsoft Yahei" panose="020B0503020204020204" pitchFamily="34" charset="-122"/>
                <a:sym typeface="Microsoft Yahei" panose="020B0503020204020204" pitchFamily="34" charset="-122"/>
              </a:rPr>
              <a:t>(a)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  <a:ea typeface="Microsoft Yahei" panose="020B0503020204020204" pitchFamily="34" charset="-122"/>
                <a:sym typeface="Microsoft Yahei" panose="020B0503020204020204" pitchFamily="34" charset="-122"/>
              </a:rPr>
              <a:t>  if (delta &gt; 0)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  <a:ea typeface="Microsoft Yahei" panose="020B0503020204020204" pitchFamily="34" charset="-122"/>
                <a:sym typeface="Microsoft Yahei" panose="020B0503020204020204" pitchFamily="34" charset="-122"/>
              </a:rPr>
              <a:t>    </a:t>
            </a:r>
            <a:r>
              <a:rPr lang="en-US" altLang="zh-CN" sz="2000" dirty="0" err="1">
                <a:solidFill>
                  <a:srgbClr val="000000"/>
                </a:solidFill>
                <a:latin typeface="Consolas" panose="020B0609020204030204" pitchFamily="49" charset="0"/>
                <a:ea typeface="Microsoft Yahei" panose="020B0503020204020204" pitchFamily="34" charset="-122"/>
                <a:sym typeface="Microsoft Yahei" panose="020B0503020204020204" pitchFamily="34" charset="-122"/>
              </a:rPr>
              <a:t>printf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  <a:ea typeface="Microsoft Yahei" panose="020B0503020204020204" pitchFamily="34" charset="-122"/>
                <a:sym typeface="Microsoft Yahei" panose="020B0503020204020204" pitchFamily="34" charset="-122"/>
              </a:rPr>
              <a:t>(…);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  <a:ea typeface="Microsoft Yahei" panose="020B0503020204020204" pitchFamily="34" charset="-122"/>
                <a:sym typeface="Microsoft Yahei" panose="020B0503020204020204" pitchFamily="34" charset="-122"/>
              </a:rPr>
              <a:t>  else if (delta == 0)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  <a:ea typeface="Microsoft Yahei" panose="020B0503020204020204" pitchFamily="34" charset="-122"/>
                <a:sym typeface="Microsoft Yahei" panose="020B0503020204020204" pitchFamily="34" charset="-122"/>
              </a:rPr>
              <a:t>    </a:t>
            </a:r>
            <a:r>
              <a:rPr lang="en-US" altLang="zh-CN" sz="2000" dirty="0" err="1">
                <a:solidFill>
                  <a:srgbClr val="000000"/>
                </a:solidFill>
                <a:latin typeface="Consolas" panose="020B0609020204030204" pitchFamily="49" charset="0"/>
                <a:ea typeface="Microsoft Yahei" panose="020B0503020204020204" pitchFamily="34" charset="-122"/>
                <a:sym typeface="Microsoft Yahei" panose="020B0503020204020204" pitchFamily="34" charset="-122"/>
              </a:rPr>
              <a:t>printf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  <a:ea typeface="Microsoft Yahei" panose="020B0503020204020204" pitchFamily="34" charset="-122"/>
                <a:sym typeface="Microsoft Yahei" panose="020B0503020204020204" pitchFamily="34" charset="-122"/>
              </a:rPr>
              <a:t>(…);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  <a:ea typeface="Microsoft Yahei" panose="020B0503020204020204" pitchFamily="34" charset="-122"/>
                <a:sym typeface="Microsoft Yahei" panose="020B0503020204020204" pitchFamily="34" charset="-122"/>
              </a:rPr>
              <a:t>  else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  <a:ea typeface="Microsoft Yahei" panose="020B0503020204020204" pitchFamily="34" charset="-122"/>
                <a:sym typeface="Microsoft Yahei" panose="020B0503020204020204" pitchFamily="34" charset="-122"/>
              </a:rPr>
              <a:t>    print(…)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  <a:ea typeface="Microsoft Yahei" panose="020B0503020204020204" pitchFamily="34" charset="-122"/>
                <a:sym typeface="Microsoft Yahei" panose="020B0503020204020204" pitchFamily="34" charset="-122"/>
              </a:rPr>
              <a:t>else if (b)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  <a:ea typeface="Microsoft Yahei" panose="020B0503020204020204" pitchFamily="34" charset="-122"/>
                <a:sym typeface="Microsoft Yahei" panose="020B0503020204020204" pitchFamily="34" charset="-122"/>
              </a:rPr>
              <a:t>  print(…)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  <a:ea typeface="Microsoft Yahei" panose="020B0503020204020204" pitchFamily="34" charset="-122"/>
                <a:sym typeface="Microsoft Yahei" panose="020B0503020204020204" pitchFamily="34" charset="-122"/>
              </a:rPr>
              <a:t>else 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  <a:ea typeface="Microsoft Yahei" panose="020B0503020204020204" pitchFamily="34" charset="-122"/>
                <a:sym typeface="Microsoft Yahei" panose="020B0503020204020204" pitchFamily="34" charset="-122"/>
              </a:rPr>
              <a:t>  print(…)  </a:t>
            </a:r>
            <a:endParaRPr lang="zh-CN" altLang="en-US" sz="20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B28A89A-0ED3-7273-1469-6AE90935DF43}"/>
              </a:ext>
            </a:extLst>
          </p:cNvPr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5838825" y="3200162"/>
            <a:ext cx="514350" cy="51435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B0B58E5-64B8-1CD6-10B3-C5504C1DA5E8}"/>
              </a:ext>
            </a:extLst>
          </p:cNvPr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5838825" y="3845084"/>
            <a:ext cx="514350" cy="51435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704A8538-AF51-6E20-E8E7-F3870154E358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9021FEB-D25C-CC21-D666-51216B24A3C2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838825" y="4559777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67763FE-73C9-6882-CE56-AFD2F89D41B7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838825" y="5233115"/>
            <a:ext cx="514350" cy="51435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76519F1-B55D-8712-9D59-3EB1BF8AEFEA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838825" y="5906453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E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E4C4D621-7983-218D-1F41-7100D1A1CBCA}"/>
              </a:ext>
            </a:extLst>
          </p:cNvPr>
          <p:cNvGrpSpPr/>
          <p:nvPr>
            <p:custDataLst>
              <p:tags r:id="rId10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0B493909-FC0A-1F3B-AEF8-4995880A198D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C31639F9-49F1-A541-F281-643499128B1A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0BD18EDC-01AF-3FB6-BDE0-CEC3B7D562E0}"/>
                </a:ext>
              </a:extLst>
            </p:cNvPr>
            <p:cNvSpPr txBox="1"/>
            <p:nvPr>
              <p:custDataLst>
                <p:tags r:id="rId14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多选题</a:t>
              </a:r>
            </a:p>
          </p:txBody>
        </p:sp>
        <p:sp>
          <p:nvSpPr>
            <p:cNvPr id="28" name="TipText">
              <a:extLst>
                <a:ext uri="{FF2B5EF4-FFF2-40B4-BE49-F238E27FC236}">
                  <a16:creationId xmlns:a16="http://schemas.microsoft.com/office/drawing/2014/main" id="{D24005F5-DD8C-9085-6147-EF8130541BDA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5C71FD81-AAD5-2EF6-7E26-A234608B1AC4}"/>
              </a:ext>
            </a:extLst>
          </p:cNvPr>
          <p:cNvPicPr>
            <a:picLocks/>
          </p:cNvPicPr>
          <p:nvPr>
            <p:custDataLst>
              <p:tags r:id="rId11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415964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1E6EE70E-0221-9641-2383-42C2B9837302}"/>
                  </a:ext>
                </a:extLst>
              </p:cNvPr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1219200" y="635000"/>
                <a:ext cx="9753600" cy="2143125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noAutofit/>
              </a:bodyPr>
              <a:lstStyle/>
              <a:p>
                <a:r>
                  <a:rPr lang="zh-CN" altLang="en-US" sz="2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求方程 </a:t>
                </a:r>
                <a14:m>
                  <m:oMath xmlns:m="http://schemas.openxmlformats.org/officeDocument/2006/math">
                    <m:r>
                      <a:rPr lang="en-US" altLang="zh-CN" sz="26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𝑎</m:t>
                    </m:r>
                    <m:sSup>
                      <m:sSupPr>
                        <m:ctrlPr>
                          <a:rPr lang="en-US" altLang="zh-CN" sz="26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26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𝑥</m:t>
                        </m:r>
                      </m:e>
                      <m:sup>
                        <m:r>
                          <a:rPr lang="en-US" altLang="zh-CN" sz="26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2</m:t>
                        </m:r>
                      </m:sup>
                    </m:sSup>
                    <m:r>
                      <a:rPr lang="en-US" altLang="zh-CN" sz="26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+</m:t>
                    </m:r>
                    <m:r>
                      <a:rPr lang="en-US" altLang="zh-CN" sz="26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𝑏𝑥</m:t>
                    </m:r>
                    <m:r>
                      <a:rPr lang="en-US" altLang="zh-CN" sz="26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+</m:t>
                    </m:r>
                    <m:r>
                      <a:rPr lang="en-US" altLang="zh-CN" sz="26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𝑐</m:t>
                    </m:r>
                    <m:r>
                      <a:rPr lang="en-US" altLang="zh-CN" sz="26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=0 </m:t>
                    </m:r>
                  </m:oMath>
                </a14:m>
                <a:r>
                  <a:rPr lang="zh-CN" altLang="en-US" sz="2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的实数解。</a:t>
                </a:r>
              </a:p>
              <a:p>
                <a:r>
                  <a:rPr lang="zh-CN" altLang="en-US" sz="2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输入：三个整数</a:t>
                </a:r>
                <a:r>
                  <a:rPr lang="en-US" altLang="zh-CN" sz="2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a, b, c</a:t>
                </a:r>
                <a:r>
                  <a:rPr lang="zh-CN" altLang="en-US" sz="2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，∣</a:t>
                </a:r>
                <a:r>
                  <a:rPr lang="en-US" altLang="zh-CN" sz="2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a∣, ∣b∣, ∣c∣ ∈[0,1000] </a:t>
                </a:r>
                <a:r>
                  <a:rPr lang="zh-CN" altLang="en-US" sz="2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。</a:t>
                </a:r>
                <a:endParaRPr lang="en-US" altLang="zh-CN" sz="26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endParaRPr>
              </a:p>
              <a:p>
                <a:endParaRPr lang="en-US" altLang="zh-CN" sz="26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endParaRPr>
              </a:p>
              <a:p>
                <a:r>
                  <a:rPr lang="zh-CN" altLang="en-US" sz="2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假设有两个解，哪个是较小解的表达式（假设 </a:t>
                </a:r>
                <a:r>
                  <a:rPr lang="en-US" altLang="zh-CN" sz="2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a &gt; 0</a:t>
                </a:r>
                <a:r>
                  <a:rPr lang="zh-CN" altLang="en-US" sz="2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）。</a:t>
                </a: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1E6EE70E-0221-9641-2383-42C2B98373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9"/>
                </p:custDataLst>
              </p:nvPr>
            </p:nvSpPr>
            <p:spPr>
              <a:xfrm>
                <a:off x="1219200" y="635000"/>
                <a:ext cx="9753600" cy="2143125"/>
              </a:xfrm>
              <a:prstGeom prst="rect">
                <a:avLst/>
              </a:prstGeom>
              <a:blipFill>
                <a:blip r:embed="rId20"/>
                <a:stretch>
                  <a:fillRect l="-11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>
            <a:extLst>
              <a:ext uri="{FF2B5EF4-FFF2-40B4-BE49-F238E27FC236}">
                <a16:creationId xmlns:a16="http://schemas.microsoft.com/office/drawing/2014/main" id="{F57CF38A-359D-0CD9-79C2-80928B2803F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-</a:t>
            </a:r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b+sqrt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(delta)/2*a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7D64A9F-F309-66EB-30F3-7B7B007C143D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-b-sqrt(delta)/2*a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3EB9C02-683C-D685-9B9F-ADBB619067C7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(-</a:t>
            </a:r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b+sqrt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(delta))/(2*a)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07005DE-4C51-2F5A-25F5-6A09433F1F17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(-b-sqrt(delta))/(2*a)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6B28A89A-0ED3-7273-1469-6AE90935DF43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DB0B58E5-64B8-1CD6-10B3-C5504C1DA5E8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883158B7-E461-71CD-66F6-6E0B779252CE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723BEC2D-6E2A-21E6-BB32-77A962CC2F27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704A8538-AF51-6E20-E8E7-F3870154E358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480056D3-1E07-1C74-951C-0A34C3E4D0D7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0B493909-FC0A-1F3B-AEF8-4995880A198D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C31639F9-49F1-A541-F281-643499128B1A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0BD18EDC-01AF-3FB6-BDE0-CEC3B7D562E0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7" name="TipText">
              <a:extLst>
                <a:ext uri="{FF2B5EF4-FFF2-40B4-BE49-F238E27FC236}">
                  <a16:creationId xmlns:a16="http://schemas.microsoft.com/office/drawing/2014/main" id="{B6F750C0-A660-B812-DD65-64671D002643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5C71FD81-AAD5-2EF6-7E26-A234608B1AC4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55922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/>
        </p:nvSpPr>
        <p:spPr>
          <a:xfrm>
            <a:off x="-1791046" y="1892300"/>
            <a:ext cx="5651845" cy="30734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CC3300"/>
              </a:solidFill>
            </a:endParaRPr>
          </a:p>
        </p:txBody>
      </p:sp>
      <p:sp>
        <p:nvSpPr>
          <p:cNvPr id="2" name="圆角矩形 1"/>
          <p:cNvSpPr/>
          <p:nvPr/>
        </p:nvSpPr>
        <p:spPr>
          <a:xfrm>
            <a:off x="-1556426" y="1998319"/>
            <a:ext cx="5261917" cy="2861362"/>
          </a:xfrm>
          <a:prstGeom prst="roundRect">
            <a:avLst>
              <a:gd name="adj" fmla="val 50000"/>
            </a:avLst>
          </a:prstGeom>
          <a:solidFill>
            <a:srgbClr val="014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圆角矩形 4"/>
          <p:cNvSpPr/>
          <p:nvPr/>
        </p:nvSpPr>
        <p:spPr>
          <a:xfrm>
            <a:off x="5642044" y="1204577"/>
            <a:ext cx="911156" cy="577144"/>
          </a:xfrm>
          <a:prstGeom prst="roundRect">
            <a:avLst>
              <a:gd name="adj" fmla="val 50000"/>
            </a:avLst>
          </a:prstGeom>
          <a:solidFill>
            <a:srgbClr val="014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01</a:t>
            </a:r>
            <a:endParaRPr lang="zh-CN" altLang="en-US" b="1" dirty="0"/>
          </a:p>
        </p:txBody>
      </p:sp>
      <p:sp>
        <p:nvSpPr>
          <p:cNvPr id="6" name="圆角矩形 5"/>
          <p:cNvSpPr/>
          <p:nvPr/>
        </p:nvSpPr>
        <p:spPr>
          <a:xfrm>
            <a:off x="5642044" y="2172502"/>
            <a:ext cx="911156" cy="577144"/>
          </a:xfrm>
          <a:prstGeom prst="roundRect">
            <a:avLst>
              <a:gd name="adj" fmla="val 50000"/>
            </a:avLst>
          </a:prstGeom>
          <a:solidFill>
            <a:srgbClr val="014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02</a:t>
            </a:r>
            <a:endParaRPr lang="zh-CN" altLang="en-US" b="1" dirty="0"/>
          </a:p>
        </p:txBody>
      </p:sp>
      <p:sp>
        <p:nvSpPr>
          <p:cNvPr id="7" name="圆角矩形 6"/>
          <p:cNvSpPr/>
          <p:nvPr/>
        </p:nvSpPr>
        <p:spPr>
          <a:xfrm>
            <a:off x="5642044" y="3140427"/>
            <a:ext cx="911156" cy="577144"/>
          </a:xfrm>
          <a:prstGeom prst="roundRect">
            <a:avLst>
              <a:gd name="adj" fmla="val 50000"/>
            </a:avLst>
          </a:prstGeom>
          <a:solidFill>
            <a:srgbClr val="014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03</a:t>
            </a:r>
            <a:endParaRPr lang="zh-CN" altLang="en-US" b="1" dirty="0"/>
          </a:p>
        </p:txBody>
      </p:sp>
      <p:sp>
        <p:nvSpPr>
          <p:cNvPr id="8" name="圆角矩形 7"/>
          <p:cNvSpPr/>
          <p:nvPr/>
        </p:nvSpPr>
        <p:spPr>
          <a:xfrm>
            <a:off x="5642044" y="4108352"/>
            <a:ext cx="911156" cy="577144"/>
          </a:xfrm>
          <a:prstGeom prst="roundRect">
            <a:avLst>
              <a:gd name="adj" fmla="val 50000"/>
            </a:avLst>
          </a:prstGeom>
          <a:solidFill>
            <a:srgbClr val="014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04</a:t>
            </a:r>
            <a:endParaRPr lang="zh-CN" altLang="en-US" b="1" dirty="0"/>
          </a:p>
        </p:txBody>
      </p:sp>
      <p:sp>
        <p:nvSpPr>
          <p:cNvPr id="9" name="圆角矩形 8"/>
          <p:cNvSpPr/>
          <p:nvPr/>
        </p:nvSpPr>
        <p:spPr>
          <a:xfrm>
            <a:off x="5642044" y="5076279"/>
            <a:ext cx="911156" cy="577144"/>
          </a:xfrm>
          <a:prstGeom prst="roundRect">
            <a:avLst>
              <a:gd name="adj" fmla="val 50000"/>
            </a:avLst>
          </a:prstGeom>
          <a:solidFill>
            <a:srgbClr val="014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05</a:t>
            </a:r>
            <a:endParaRPr lang="zh-CN" altLang="en-US" b="1" dirty="0"/>
          </a:p>
        </p:txBody>
      </p:sp>
      <p:sp>
        <p:nvSpPr>
          <p:cNvPr id="59" name="圆角矩形 58"/>
          <p:cNvSpPr/>
          <p:nvPr/>
        </p:nvSpPr>
        <p:spPr>
          <a:xfrm>
            <a:off x="6746944" y="1204577"/>
            <a:ext cx="3476556" cy="577144"/>
          </a:xfrm>
          <a:prstGeom prst="roundRect">
            <a:avLst>
              <a:gd name="adj" fmla="val 50000"/>
            </a:avLst>
          </a:prstGeom>
          <a:solidFill>
            <a:srgbClr val="014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/>
              <a:t>while</a:t>
            </a:r>
            <a:r>
              <a:rPr lang="zh-CN" altLang="en-US" sz="2000" b="1" dirty="0"/>
              <a:t>循环</a:t>
            </a:r>
          </a:p>
        </p:txBody>
      </p:sp>
      <p:sp>
        <p:nvSpPr>
          <p:cNvPr id="60" name="圆角矩形 59"/>
          <p:cNvSpPr/>
          <p:nvPr/>
        </p:nvSpPr>
        <p:spPr>
          <a:xfrm>
            <a:off x="6746944" y="2172502"/>
            <a:ext cx="3476556" cy="577144"/>
          </a:xfrm>
          <a:prstGeom prst="roundRect">
            <a:avLst>
              <a:gd name="adj" fmla="val 50000"/>
            </a:avLst>
          </a:prstGeom>
          <a:solidFill>
            <a:srgbClr val="014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/>
              <a:t>Do...while</a:t>
            </a:r>
            <a:r>
              <a:rPr lang="zh-CN" altLang="en-US" sz="2000" b="1" dirty="0"/>
              <a:t>循环</a:t>
            </a:r>
          </a:p>
        </p:txBody>
      </p:sp>
      <p:sp>
        <p:nvSpPr>
          <p:cNvPr id="61" name="圆角矩形 60"/>
          <p:cNvSpPr/>
          <p:nvPr/>
        </p:nvSpPr>
        <p:spPr>
          <a:xfrm>
            <a:off x="6746944" y="3140427"/>
            <a:ext cx="3476556" cy="577144"/>
          </a:xfrm>
          <a:prstGeom prst="roundRect">
            <a:avLst>
              <a:gd name="adj" fmla="val 50000"/>
            </a:avLst>
          </a:prstGeom>
          <a:solidFill>
            <a:srgbClr val="014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/>
              <a:t>for</a:t>
            </a:r>
            <a:r>
              <a:rPr lang="zh-CN" altLang="en-US" sz="2000" b="1" dirty="0"/>
              <a:t>循环</a:t>
            </a:r>
          </a:p>
        </p:txBody>
      </p:sp>
      <p:sp>
        <p:nvSpPr>
          <p:cNvPr id="62" name="圆角矩形 61"/>
          <p:cNvSpPr/>
          <p:nvPr/>
        </p:nvSpPr>
        <p:spPr>
          <a:xfrm>
            <a:off x="6746944" y="4108352"/>
            <a:ext cx="3476556" cy="577144"/>
          </a:xfrm>
          <a:prstGeom prst="roundRect">
            <a:avLst>
              <a:gd name="adj" fmla="val 50000"/>
            </a:avLst>
          </a:prstGeom>
          <a:solidFill>
            <a:srgbClr val="014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循环嵌套</a:t>
            </a:r>
          </a:p>
        </p:txBody>
      </p:sp>
      <p:sp>
        <p:nvSpPr>
          <p:cNvPr id="63" name="圆角矩形 62"/>
          <p:cNvSpPr/>
          <p:nvPr/>
        </p:nvSpPr>
        <p:spPr>
          <a:xfrm>
            <a:off x="6746944" y="5076279"/>
            <a:ext cx="3476556" cy="577144"/>
          </a:xfrm>
          <a:prstGeom prst="roundRect">
            <a:avLst>
              <a:gd name="adj" fmla="val 50000"/>
            </a:avLst>
          </a:prstGeom>
          <a:solidFill>
            <a:srgbClr val="014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/>
              <a:t>break/continue</a:t>
            </a:r>
          </a:p>
        </p:txBody>
      </p:sp>
      <p:sp>
        <p:nvSpPr>
          <p:cNvPr id="64" name="TextBox 78"/>
          <p:cNvSpPr txBox="1"/>
          <p:nvPr/>
        </p:nvSpPr>
        <p:spPr>
          <a:xfrm>
            <a:off x="565975" y="3733289"/>
            <a:ext cx="2063385" cy="5027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665" b="1" dirty="0">
                <a:solidFill>
                  <a:schemeClr val="bg1"/>
                </a:solidFill>
                <a:latin typeface="Impact MT Std" pitchFamily="34" charset="0"/>
                <a:ea typeface="微软雅黑" panose="020B0503020204020204" pitchFamily="34" charset="-122"/>
              </a:rPr>
              <a:t>CONTENTS</a:t>
            </a:r>
            <a:endParaRPr lang="zh-CN" altLang="en-US" sz="2665" b="1" dirty="0">
              <a:solidFill>
                <a:schemeClr val="bg1"/>
              </a:solidFill>
              <a:latin typeface="Impact MT Std" pitchFamily="34" charset="0"/>
              <a:ea typeface="微软雅黑" panose="020B0503020204020204" pitchFamily="34" charset="-122"/>
            </a:endParaRPr>
          </a:p>
        </p:txBody>
      </p:sp>
      <p:sp>
        <p:nvSpPr>
          <p:cNvPr id="65" name="TextBox 79"/>
          <p:cNvSpPr txBox="1"/>
          <p:nvPr/>
        </p:nvSpPr>
        <p:spPr>
          <a:xfrm>
            <a:off x="641317" y="2677173"/>
            <a:ext cx="1912703" cy="995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865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 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历史人物： 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Ada Lovelace</a:t>
            </a:r>
            <a:endParaRPr lang="zh-CN" altLang="en-US" sz="2800" b="1" kern="0" dirty="0">
              <a:gradFill>
                <a:gsLst>
                  <a:gs pos="100000">
                    <a:schemeClr val="bg1"/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l="100000" b="100000"/>
                </a:path>
              </a:gradFill>
              <a:ea typeface="微软雅黑" panose="020B0503020204020204" pitchFamily="34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10" name="内容占位符 3">
            <a:extLst>
              <a:ext uri="{FF2B5EF4-FFF2-40B4-BE49-F238E27FC236}">
                <a16:creationId xmlns:a16="http://schemas.microsoft.com/office/drawing/2014/main" id="{D629388B-A0FA-4935-A200-9BF72A71C0AB}"/>
              </a:ext>
            </a:extLst>
          </p:cNvPr>
          <p:cNvSpPr>
            <a:spLocks noGrp="1"/>
          </p:cNvSpPr>
          <p:nvPr/>
        </p:nvSpPr>
        <p:spPr>
          <a:xfrm>
            <a:off x="838200" y="1815465"/>
            <a:ext cx="6774543" cy="43516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70000"/>
              </a:lnSpc>
              <a:spcBef>
                <a:spcPts val="6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DejaVuSans"/>
              </a:rPr>
              <a:t>请检索 </a:t>
            </a:r>
            <a:r>
              <a:rPr lang="en-US" altLang="zh-CN" sz="2400" dirty="0">
                <a:solidFill>
                  <a:srgbClr val="000000"/>
                </a:solidFill>
                <a:latin typeface="DejaVuSans"/>
              </a:rPr>
              <a:t>Ada Lovelace</a:t>
            </a:r>
          </a:p>
          <a:p>
            <a:pPr>
              <a:lnSpc>
                <a:spcPct val="12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DejaVuSans"/>
              </a:rPr>
              <a:t>为什么要知道这个名字？</a:t>
            </a:r>
            <a:endParaRPr lang="en-US" altLang="zh-CN" sz="2400" dirty="0">
              <a:solidFill>
                <a:srgbClr val="000000"/>
              </a:solidFill>
              <a:latin typeface="DejaVuSans"/>
            </a:endParaRPr>
          </a:p>
          <a:p>
            <a:pPr>
              <a:lnSpc>
                <a:spcPct val="120000"/>
              </a:lnSpc>
            </a:pPr>
            <a:endParaRPr lang="en-US" altLang="zh-CN" dirty="0">
              <a:solidFill>
                <a:schemeClr val="bg1">
                  <a:lumMod val="65000"/>
                </a:schemeClr>
              </a:solidFill>
              <a:latin typeface="DejaVuSans"/>
            </a:endParaRPr>
          </a:p>
          <a:p>
            <a:pPr>
              <a:lnSpc>
                <a:spcPct val="120000"/>
              </a:lnSpc>
            </a:pPr>
            <a:endParaRPr lang="en-US" altLang="zh-CN" dirty="0">
              <a:solidFill>
                <a:srgbClr val="000000"/>
              </a:solidFill>
              <a:latin typeface="DejaVuSans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altLang="zh-CN" dirty="0">
              <a:solidFill>
                <a:srgbClr val="000000"/>
              </a:solidFill>
              <a:latin typeface="DejaVuSans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F9183F3-53D6-48DB-92CB-A92D817865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2228" y="1617639"/>
            <a:ext cx="3057439" cy="4747305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C0DBC08D-A4A6-AABA-4927-FF388AB59F08}"/>
              </a:ext>
            </a:extLst>
          </p:cNvPr>
          <p:cNvSpPr txBox="1"/>
          <p:nvPr/>
        </p:nvSpPr>
        <p:spPr>
          <a:xfrm>
            <a:off x="838200" y="3429000"/>
            <a:ext cx="677454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在</a:t>
            </a:r>
            <a:r>
              <a:rPr lang="en-US" altLang="zh-CN" sz="2000" dirty="0"/>
              <a:t>1842</a:t>
            </a:r>
            <a:r>
              <a:rPr lang="zh-CN" altLang="en-US" sz="2000" dirty="0"/>
              <a:t>年，</a:t>
            </a:r>
            <a:r>
              <a:rPr lang="en-US" altLang="zh-CN" sz="2000" dirty="0"/>
              <a:t>Ada Lovelace </a:t>
            </a:r>
            <a:r>
              <a:rPr lang="zh-CN" altLang="en-US" sz="2000" dirty="0"/>
              <a:t>在朋友英国数学家、发明家兼机械工程师查尔斯</a:t>
            </a:r>
            <a:r>
              <a:rPr lang="en-US" altLang="zh-CN" sz="2000" dirty="0"/>
              <a:t>·</a:t>
            </a:r>
            <a:r>
              <a:rPr lang="zh-CN" altLang="en-US" sz="2000" dirty="0"/>
              <a:t>巴贝其发明的分析机上编写算法和程序，被称为“世界上第一个程序员”。</a:t>
            </a:r>
          </a:p>
          <a:p>
            <a:endParaRPr lang="zh-CN" altLang="en-US" sz="2000" dirty="0"/>
          </a:p>
          <a:p>
            <a:r>
              <a:rPr lang="zh-CN" altLang="en-US" sz="2000" dirty="0"/>
              <a:t>程序的基本结构元素：</a:t>
            </a:r>
            <a:r>
              <a:rPr lang="zh-CN" altLang="en-US" sz="2000" b="1" dirty="0"/>
              <a:t>顺序</a:t>
            </a:r>
            <a:r>
              <a:rPr lang="zh-CN" altLang="en-US" sz="2000" dirty="0"/>
              <a:t>，</a:t>
            </a:r>
            <a:r>
              <a:rPr lang="zh-CN" altLang="en-US" sz="2000" b="1" dirty="0"/>
              <a:t>分支</a:t>
            </a:r>
            <a:r>
              <a:rPr lang="zh-CN" altLang="en-US" sz="2000" dirty="0"/>
              <a:t>，</a:t>
            </a:r>
            <a:r>
              <a:rPr lang="zh-CN" altLang="en-US" sz="2000" b="1" dirty="0">
                <a:solidFill>
                  <a:srgbClr val="C00000"/>
                </a:solidFill>
              </a:rPr>
              <a:t>循环</a:t>
            </a:r>
          </a:p>
        </p:txBody>
      </p:sp>
    </p:spTree>
    <p:extLst>
      <p:ext uri="{BB962C8B-B14F-4D97-AF65-F5344CB8AC3E}">
        <p14:creationId xmlns:p14="http://schemas.microsoft.com/office/powerpoint/2010/main" val="2180843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bldLvl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-18415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循环结构（</a:t>
            </a:r>
            <a:r>
              <a:rPr lang="en-US" altLang="zh-CN" sz="2800" b="1" kern="0" dirty="0">
                <a:solidFill>
                  <a:srgbClr val="FFFF00"/>
                </a:solidFill>
                <a:ea typeface="微软雅黑" panose="020B0503020204020204" pitchFamily="34" charset="-122"/>
              </a:rPr>
              <a:t>Loop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）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959223" y="1959610"/>
            <a:ext cx="103452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有条件地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重复执行程序片段，就是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例如：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1ACBDD0-6C79-FE13-004E-513B4A6BA968}"/>
              </a:ext>
            </a:extLst>
          </p:cNvPr>
          <p:cNvSpPr txBox="1"/>
          <p:nvPr/>
        </p:nvSpPr>
        <p:spPr>
          <a:xfrm>
            <a:off x="959223" y="2599765"/>
            <a:ext cx="6364941" cy="3139321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/*loop*/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#include&lt;stdio.h&gt;</a:t>
            </a:r>
          </a:p>
          <a:p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int main() {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int sum = 0;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int </a:t>
            </a:r>
            <a:r>
              <a:rPr lang="en-US" altLang="zh-CN" dirty="0" err="1">
                <a:latin typeface="Consolas" panose="020B0609020204030204" pitchFamily="49" charset="0"/>
              </a:rPr>
              <a:t>i</a:t>
            </a:r>
            <a:r>
              <a:rPr lang="en-US" altLang="zh-CN" dirty="0">
                <a:latin typeface="Consolas" panose="020B0609020204030204" pitchFamily="49" charset="0"/>
              </a:rPr>
              <a:t> = 1;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</a:t>
            </a:r>
            <a:r>
              <a:rPr lang="en-US" altLang="zh-CN" b="1" dirty="0">
                <a:solidFill>
                  <a:srgbClr val="FF0000"/>
                </a:solidFill>
                <a:latin typeface="Consolas" panose="020B0609020204030204" pitchFamily="49" charset="0"/>
              </a:rPr>
              <a:t>while</a:t>
            </a:r>
            <a:r>
              <a:rPr lang="en-US" altLang="zh-CN" dirty="0">
                <a:latin typeface="Consolas" panose="020B0609020204030204" pitchFamily="49" charset="0"/>
              </a:rPr>
              <a:t> (</a:t>
            </a:r>
            <a:r>
              <a:rPr lang="en-US" altLang="zh-CN" dirty="0" err="1">
                <a:latin typeface="Consolas" panose="020B0609020204030204" pitchFamily="49" charset="0"/>
              </a:rPr>
              <a:t>i</a:t>
            </a:r>
            <a:r>
              <a:rPr lang="en-US" altLang="zh-CN" dirty="0">
                <a:latin typeface="Consolas" panose="020B0609020204030204" pitchFamily="49" charset="0"/>
              </a:rPr>
              <a:t> &lt; 100) {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    sum += </a:t>
            </a:r>
            <a:r>
              <a:rPr lang="en-US" altLang="zh-CN" dirty="0" err="1">
                <a:latin typeface="Consolas" panose="020B0609020204030204" pitchFamily="49" charset="0"/>
              </a:rPr>
              <a:t>i</a:t>
            </a:r>
            <a:r>
              <a:rPr lang="en-US" altLang="zh-CN" b="1" dirty="0">
                <a:latin typeface="Consolas" panose="020B0609020204030204" pitchFamily="49" charset="0"/>
              </a:rPr>
              <a:t>++</a:t>
            </a:r>
            <a:r>
              <a:rPr lang="en-US" altLang="zh-CN" dirty="0">
                <a:latin typeface="Consolas" panose="020B0609020204030204" pitchFamily="49" charset="0"/>
              </a:rPr>
              <a:t>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}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</a:t>
            </a:r>
            <a:r>
              <a:rPr lang="en-US" altLang="zh-CN" dirty="0" err="1">
                <a:latin typeface="Consolas" panose="020B0609020204030204" pitchFamily="49" charset="0"/>
              </a:rPr>
              <a:t>printf</a:t>
            </a:r>
            <a:r>
              <a:rPr lang="en-US" altLang="zh-CN" dirty="0">
                <a:latin typeface="Consolas" panose="020B0609020204030204" pitchFamily="49" charset="0"/>
              </a:rPr>
              <a:t>("The sum is %</a:t>
            </a:r>
            <a:r>
              <a:rPr lang="en-US" altLang="zh-CN" dirty="0" err="1">
                <a:latin typeface="Consolas" panose="020B0609020204030204" pitchFamily="49" charset="0"/>
              </a:rPr>
              <a:t>d",sum</a:t>
            </a:r>
            <a:r>
              <a:rPr lang="en-US" altLang="zh-CN" dirty="0">
                <a:latin typeface="Consolas" panose="020B0609020204030204" pitchFamily="49" charset="0"/>
              </a:rPr>
              <a:t>);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} </a:t>
            </a:r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A79540A-099D-22AC-AA2B-A8DDE75F2BA4}"/>
              </a:ext>
            </a:extLst>
          </p:cNvPr>
          <p:cNvSpPr txBox="1"/>
          <p:nvPr/>
        </p:nvSpPr>
        <p:spPr>
          <a:xfrm>
            <a:off x="7684851" y="2733472"/>
            <a:ext cx="38716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要点</a:t>
            </a:r>
            <a:r>
              <a:rPr lang="zh-CN" altLang="en-US" dirty="0"/>
              <a:t>：</a:t>
            </a:r>
            <a:endParaRPr lang="en-US" altLang="zh-CN" dirty="0"/>
          </a:p>
          <a:p>
            <a:r>
              <a:rPr lang="zh-CN" altLang="zh-CN" dirty="0"/>
              <a:t>①</a:t>
            </a:r>
            <a:r>
              <a:rPr lang="en-US" altLang="zh-CN" dirty="0"/>
              <a:t> while </a:t>
            </a:r>
            <a:r>
              <a:rPr lang="zh-CN" altLang="en-US" dirty="0"/>
              <a:t>和 </a:t>
            </a:r>
            <a:r>
              <a:rPr lang="en-US" altLang="zh-CN" dirty="0"/>
              <a:t>if </a:t>
            </a:r>
            <a:r>
              <a:rPr lang="zh-CN" altLang="en-US" dirty="0"/>
              <a:t>一样是控制语句执行顺序的关键字。其语义也直观易懂</a:t>
            </a:r>
            <a:endParaRPr lang="en-US" altLang="zh-CN" dirty="0"/>
          </a:p>
          <a:p>
            <a:r>
              <a:rPr lang="zh-CN" altLang="zh-CN" dirty="0"/>
              <a:t>②</a:t>
            </a:r>
            <a:r>
              <a:rPr lang="en-US" altLang="zh-CN" dirty="0"/>
              <a:t> </a:t>
            </a:r>
            <a:r>
              <a:rPr lang="en-US" altLang="zh-CN" dirty="0" err="1"/>
              <a:t>i</a:t>
            </a:r>
            <a:r>
              <a:rPr lang="en-US" altLang="zh-CN" dirty="0"/>
              <a:t>++ </a:t>
            </a:r>
            <a:r>
              <a:rPr lang="zh-CN" altLang="en-US" dirty="0"/>
              <a:t>是完成 </a:t>
            </a:r>
            <a:r>
              <a:rPr lang="en-US" altLang="zh-CN" dirty="0"/>
              <a:t>+= </a:t>
            </a:r>
            <a:r>
              <a:rPr lang="zh-CN" altLang="en-US" dirty="0"/>
              <a:t>运算后 </a:t>
            </a:r>
            <a:r>
              <a:rPr lang="en-US" altLang="zh-CN" dirty="0"/>
              <a:t>i </a:t>
            </a:r>
            <a:r>
              <a:rPr lang="zh-CN" altLang="en-US" dirty="0"/>
              <a:t>再加 </a:t>
            </a:r>
            <a:r>
              <a:rPr lang="en-US" altLang="zh-CN" dirty="0"/>
              <a:t>1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06076356-CC4E-709D-91D2-E281988484B8}"/>
                  </a:ext>
                </a:extLst>
              </p:cNvPr>
              <p:cNvSpPr txBox="1"/>
              <p:nvPr/>
            </p:nvSpPr>
            <p:spPr>
              <a:xfrm>
                <a:off x="861946" y="5742989"/>
                <a:ext cx="889489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/>
                  <a:t>注：你可能有更好解法，如梯形公式 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)∗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/2</m:t>
                    </m:r>
                  </m:oMath>
                </a14:m>
                <a:r>
                  <a:rPr lang="en-US" altLang="zh-CN" dirty="0"/>
                  <a:t>  </a:t>
                </a:r>
                <a:r>
                  <a:rPr lang="zh-CN" altLang="en-US" dirty="0"/>
                  <a:t>。但它是最直观的算法， </a:t>
                </a:r>
                <a:r>
                  <a:rPr lang="en-US" altLang="zh-CN" dirty="0"/>
                  <a:t>while </a:t>
                </a:r>
                <a:r>
                  <a:rPr lang="zh-CN" altLang="en-US" dirty="0"/>
                  <a:t>作为关键字指出，当后面条件为 </a:t>
                </a:r>
                <a:r>
                  <a:rPr lang="en-US" altLang="zh-CN" dirty="0"/>
                  <a:t>true</a:t>
                </a:r>
                <a:r>
                  <a:rPr lang="zh-CN" altLang="en-US" dirty="0"/>
                  <a:t>，则</a:t>
                </a:r>
                <a:r>
                  <a:rPr lang="zh-CN" altLang="en-US" b="1" dirty="0"/>
                  <a:t>不断执行</a:t>
                </a:r>
                <a:r>
                  <a:rPr lang="zh-CN" altLang="en-US" dirty="0"/>
                  <a:t>后面复合语句，</a:t>
                </a:r>
                <a:r>
                  <a:rPr lang="zh-CN" altLang="en-US" b="1" dirty="0"/>
                  <a:t>直到</a:t>
                </a:r>
                <a:r>
                  <a:rPr lang="zh-CN" altLang="en-US" dirty="0"/>
                  <a:t>条件为 </a:t>
                </a:r>
                <a:r>
                  <a:rPr lang="en-US" altLang="zh-CN" dirty="0"/>
                  <a:t>false</a:t>
                </a:r>
                <a:r>
                  <a:rPr lang="zh-CN" altLang="en-US" dirty="0"/>
                  <a:t>。</a:t>
                </a: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06076356-CC4E-709D-91D2-E281988484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946" y="5742989"/>
                <a:ext cx="8894896" cy="646331"/>
              </a:xfrm>
              <a:prstGeom prst="rect">
                <a:avLst/>
              </a:prstGeom>
              <a:blipFill>
                <a:blip r:embed="rId4"/>
                <a:stretch>
                  <a:fillRect l="-548" t="-4717" b="-141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-18415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while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循环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2" name="学论网-www.xuelun.me"/>
          <p:cNvSpPr txBox="1"/>
          <p:nvPr/>
        </p:nvSpPr>
        <p:spPr>
          <a:xfrm>
            <a:off x="4738370" y="1915160"/>
            <a:ext cx="6985635" cy="387794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2400" dirty="0"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while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循环结构下，首先判断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循环条件表达式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是否为真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即给定的条件是否成立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，如果为真，就执行后面的语句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语句块，也称为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循环体。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之后不断的重复上述过程，先判断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循环条件表达式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是否为真，为真就执行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循环体。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直到判断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循环条件表达式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为假，不再执行循环体，离开循环结构。</a:t>
            </a:r>
          </a:p>
        </p:txBody>
      </p:sp>
      <p:sp>
        <p:nvSpPr>
          <p:cNvPr id="3" name="学论网-矩形 1"/>
          <p:cNvSpPr/>
          <p:nvPr/>
        </p:nvSpPr>
        <p:spPr>
          <a:xfrm>
            <a:off x="781685" y="1915160"/>
            <a:ext cx="3660140" cy="224091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l"/>
            <a:r>
              <a:rPr lang="en-US" altLang="zh-CN" sz="28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while(</a:t>
            </a:r>
            <a:r>
              <a:rPr lang="zh-CN" altLang="en-US" sz="28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表达式</a:t>
            </a:r>
            <a:r>
              <a:rPr lang="en-US" altLang="zh-CN" sz="28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)</a:t>
            </a:r>
          </a:p>
          <a:p>
            <a:pPr lvl="0" algn="l"/>
            <a:r>
              <a:rPr lang="en-US" altLang="zh-CN" sz="28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{</a:t>
            </a:r>
          </a:p>
          <a:p>
            <a:pPr lvl="0" algn="l"/>
            <a:r>
              <a:rPr lang="en-US" altLang="zh-CN" sz="28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    </a:t>
            </a:r>
            <a:r>
              <a:rPr lang="zh-CN" altLang="en-US" sz="28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语句块</a:t>
            </a:r>
            <a:endParaRPr lang="en-US" altLang="zh-CN" sz="2800" kern="0" dirty="0">
              <a:solidFill>
                <a:schemeClr val="tx1"/>
              </a:solidFill>
              <a:latin typeface="Consolas" panose="020B060902020403020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lvl="0" algn="l"/>
            <a:r>
              <a:rPr lang="en-US" altLang="zh-CN" sz="28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}</a:t>
            </a:r>
          </a:p>
        </p:txBody>
      </p:sp>
      <p:sp>
        <p:nvSpPr>
          <p:cNvPr id="4" name="学论网-矩形 1"/>
          <p:cNvSpPr/>
          <p:nvPr/>
        </p:nvSpPr>
        <p:spPr>
          <a:xfrm>
            <a:off x="781685" y="4350385"/>
            <a:ext cx="3659505" cy="1778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l"/>
            <a:r>
              <a:rPr lang="en-US" altLang="zh-CN" sz="28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while(</a:t>
            </a:r>
            <a:r>
              <a:rPr lang="zh-CN" altLang="en-US" sz="28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表达式</a:t>
            </a:r>
            <a:r>
              <a:rPr lang="en-US" altLang="zh-CN" sz="28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)</a:t>
            </a:r>
            <a:endParaRPr lang="en-US" altLang="zh-CN" sz="2800" kern="0" dirty="0">
              <a:solidFill>
                <a:schemeClr val="tx1"/>
              </a:solidFill>
              <a:latin typeface="Consolas" panose="020B060902020403020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lvl="0" algn="l"/>
            <a:r>
              <a:rPr lang="en-US" altLang="zh-CN" sz="28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    </a:t>
            </a:r>
            <a:r>
              <a:rPr lang="zh-CN" altLang="en-US" sz="28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语句</a:t>
            </a:r>
            <a:endParaRPr lang="en-US" altLang="zh-CN" sz="2800" kern="0" dirty="0">
              <a:solidFill>
                <a:schemeClr val="tx1"/>
              </a:solidFill>
              <a:latin typeface="Consolas" panose="020B0609020204030204" charset="0"/>
              <a:ea typeface="微软雅黑" panose="020B0503020204020204" pitchFamily="34" charset="-122"/>
              <a:cs typeface="Consolas" panose="020B0609020204030204" charset="0"/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-18415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while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循环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3" name="学论网-矩形 1"/>
          <p:cNvSpPr/>
          <p:nvPr/>
        </p:nvSpPr>
        <p:spPr>
          <a:xfrm>
            <a:off x="781685" y="1915160"/>
            <a:ext cx="3660140" cy="224091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l"/>
            <a:r>
              <a:rPr lang="en-US" altLang="zh-CN" sz="28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while(</a:t>
            </a:r>
            <a:r>
              <a:rPr lang="zh-CN" altLang="en-US" sz="28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表达式</a:t>
            </a:r>
            <a:r>
              <a:rPr lang="en-US" altLang="zh-CN" sz="28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)</a:t>
            </a:r>
          </a:p>
          <a:p>
            <a:pPr lvl="0" algn="l"/>
            <a:r>
              <a:rPr lang="en-US" altLang="zh-CN" sz="28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{</a:t>
            </a:r>
          </a:p>
          <a:p>
            <a:pPr lvl="0" algn="l"/>
            <a:r>
              <a:rPr lang="en-US" altLang="zh-CN" sz="28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    </a:t>
            </a:r>
            <a:r>
              <a:rPr lang="zh-CN" altLang="en-US" sz="28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语句块</a:t>
            </a:r>
            <a:endParaRPr lang="en-US" altLang="zh-CN" sz="2800" kern="0" dirty="0">
              <a:solidFill>
                <a:schemeClr val="tx1"/>
              </a:solidFill>
              <a:latin typeface="Consolas" panose="020B060902020403020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lvl="0" algn="l"/>
            <a:r>
              <a:rPr lang="en-US" altLang="zh-CN" sz="28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}</a:t>
            </a:r>
          </a:p>
        </p:txBody>
      </p:sp>
      <p:sp>
        <p:nvSpPr>
          <p:cNvPr id="4" name="学论网-矩形 1"/>
          <p:cNvSpPr/>
          <p:nvPr/>
        </p:nvSpPr>
        <p:spPr>
          <a:xfrm>
            <a:off x="781685" y="4350385"/>
            <a:ext cx="3659505" cy="1778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l"/>
            <a:r>
              <a:rPr lang="en-US" altLang="zh-CN" sz="28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while(</a:t>
            </a:r>
            <a:r>
              <a:rPr lang="zh-CN" altLang="en-US" sz="28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表达式</a:t>
            </a:r>
            <a:r>
              <a:rPr lang="en-US" altLang="zh-CN" sz="28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)</a:t>
            </a:r>
            <a:endParaRPr lang="en-US" altLang="zh-CN" sz="2800" kern="0" dirty="0">
              <a:solidFill>
                <a:schemeClr val="tx1"/>
              </a:solidFill>
              <a:latin typeface="Consolas" panose="020B060902020403020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lvl="0" algn="l"/>
            <a:r>
              <a:rPr lang="en-US" altLang="zh-CN" sz="28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    </a:t>
            </a:r>
            <a:r>
              <a:rPr lang="zh-CN" altLang="en-US" sz="28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语句</a:t>
            </a:r>
            <a:endParaRPr lang="en-US" altLang="zh-CN" sz="2800" kern="0" dirty="0">
              <a:solidFill>
                <a:schemeClr val="tx1"/>
              </a:solidFill>
              <a:latin typeface="Consolas" panose="020B0609020204030204" charset="0"/>
              <a:ea typeface="微软雅黑" panose="020B0503020204020204" pitchFamily="34" charset="-122"/>
              <a:cs typeface="Consolas" panose="020B0609020204030204" charset="0"/>
              <a:sym typeface="+mn-ea"/>
            </a:endParaRPr>
          </a:p>
        </p:txBody>
      </p:sp>
      <p:graphicFrame>
        <p:nvGraphicFramePr>
          <p:cNvPr id="5" name="对象 101"/>
          <p:cNvGraphicFramePr>
            <a:graphicFrameLocks noChangeAspect="1"/>
          </p:cNvGraphicFramePr>
          <p:nvPr/>
        </p:nvGraphicFramePr>
        <p:xfrm>
          <a:off x="5791200" y="1847850"/>
          <a:ext cx="3389630" cy="447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8" r:id="rId5" imgW="3149600" imgH="4178300" progId="Visio.Drawing.11">
                  <p:embed/>
                </p:oleObj>
              </mc:Choice>
              <mc:Fallback>
                <p:oleObj r:id="rId5" imgW="3149600" imgH="4178300" progId="Visio.Drawing.11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791200" y="1847850"/>
                        <a:ext cx="3389630" cy="4476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-18415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练习 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- while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循环 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– 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死循环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F9827536-F00D-5BE4-7C1F-9EA55683FE91}"/>
              </a:ext>
            </a:extLst>
          </p:cNvPr>
          <p:cNvSpPr txBox="1"/>
          <p:nvPr/>
        </p:nvSpPr>
        <p:spPr>
          <a:xfrm>
            <a:off x="823037" y="2483033"/>
            <a:ext cx="4789824" cy="3139321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</a:rPr>
              <a:t>#include&lt;stdio.h&gt;</a:t>
            </a:r>
          </a:p>
          <a:p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int main() {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int sum = 0;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int </a:t>
            </a:r>
            <a:r>
              <a:rPr lang="en-US" altLang="zh-CN" dirty="0" err="1">
                <a:latin typeface="Consolas" panose="020B0609020204030204" pitchFamily="49" charset="0"/>
              </a:rPr>
              <a:t>i</a:t>
            </a:r>
            <a:r>
              <a:rPr lang="en-US" altLang="zh-CN" dirty="0">
                <a:latin typeface="Consolas" panose="020B0609020204030204" pitchFamily="49" charset="0"/>
              </a:rPr>
              <a:t> = 1;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</a:t>
            </a:r>
            <a:r>
              <a:rPr lang="en-US" altLang="zh-CN" b="1" dirty="0">
                <a:latin typeface="Consolas" panose="020B0609020204030204" pitchFamily="49" charset="0"/>
              </a:rPr>
              <a:t>while</a:t>
            </a:r>
            <a:r>
              <a:rPr lang="en-US" altLang="zh-CN" dirty="0">
                <a:latin typeface="Consolas" panose="020B0609020204030204" pitchFamily="49" charset="0"/>
              </a:rPr>
              <a:t> (</a:t>
            </a:r>
            <a:r>
              <a:rPr lang="en-US" altLang="zh-CN" dirty="0" err="1">
                <a:latin typeface="Consolas" panose="020B0609020204030204" pitchFamily="49" charset="0"/>
              </a:rPr>
              <a:t>i</a:t>
            </a:r>
            <a:r>
              <a:rPr lang="en-US" altLang="zh-CN" dirty="0">
                <a:latin typeface="Consolas" panose="020B0609020204030204" pitchFamily="49" charset="0"/>
              </a:rPr>
              <a:t> &lt; 100) {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    sum += </a:t>
            </a:r>
            <a:r>
              <a:rPr lang="en-US" altLang="zh-CN" dirty="0" err="1">
                <a:latin typeface="Consolas" panose="020B0609020204030204" pitchFamily="49" charset="0"/>
              </a:rPr>
              <a:t>i</a:t>
            </a:r>
            <a:r>
              <a:rPr lang="en-US" altLang="zh-CN" dirty="0">
                <a:latin typeface="Consolas" panose="020B0609020204030204" pitchFamily="49" charset="0"/>
              </a:rPr>
              <a:t>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    </a:t>
            </a:r>
            <a:r>
              <a:rPr lang="en-US" altLang="zh-CN" dirty="0" err="1">
                <a:solidFill>
                  <a:srgbClr val="FF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}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</a:t>
            </a:r>
            <a:r>
              <a:rPr lang="en-US" altLang="zh-CN" dirty="0" err="1">
                <a:latin typeface="Consolas" panose="020B0609020204030204" pitchFamily="49" charset="0"/>
              </a:rPr>
              <a:t>printf</a:t>
            </a:r>
            <a:r>
              <a:rPr lang="en-US" altLang="zh-CN" dirty="0">
                <a:latin typeface="Consolas" panose="020B0609020204030204" pitchFamily="49" charset="0"/>
              </a:rPr>
              <a:t>("The sum is %</a:t>
            </a:r>
            <a:r>
              <a:rPr lang="en-US" altLang="zh-CN" dirty="0" err="1">
                <a:latin typeface="Consolas" panose="020B0609020204030204" pitchFamily="49" charset="0"/>
              </a:rPr>
              <a:t>d",sum</a:t>
            </a:r>
            <a:r>
              <a:rPr lang="en-US" altLang="zh-CN" dirty="0">
                <a:latin typeface="Consolas" panose="020B0609020204030204" pitchFamily="49" charset="0"/>
              </a:rPr>
              <a:t>);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} </a:t>
            </a:r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21A4B55-EBF8-5C7A-F3B9-0E30E39AE92D}"/>
              </a:ext>
            </a:extLst>
          </p:cNvPr>
          <p:cNvSpPr txBox="1"/>
          <p:nvPr/>
        </p:nvSpPr>
        <p:spPr>
          <a:xfrm>
            <a:off x="6247828" y="2483032"/>
            <a:ext cx="4789824" cy="2862322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</a:rPr>
              <a:t>#include&lt;stdio.h&gt;</a:t>
            </a:r>
          </a:p>
          <a:p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int main() {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int sum = 0;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int </a:t>
            </a:r>
            <a:r>
              <a:rPr lang="en-US" altLang="zh-CN" dirty="0" err="1">
                <a:latin typeface="Consolas" panose="020B0609020204030204" pitchFamily="49" charset="0"/>
              </a:rPr>
              <a:t>i</a:t>
            </a:r>
            <a:r>
              <a:rPr lang="en-US" altLang="zh-CN" dirty="0">
                <a:latin typeface="Consolas" panose="020B0609020204030204" pitchFamily="49" charset="0"/>
              </a:rPr>
              <a:t> = 1;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</a:t>
            </a:r>
            <a:r>
              <a:rPr lang="en-US" altLang="zh-CN" b="1" dirty="0">
                <a:latin typeface="Consolas" panose="020B0609020204030204" pitchFamily="49" charset="0"/>
              </a:rPr>
              <a:t>while</a:t>
            </a:r>
            <a:r>
              <a:rPr lang="en-US" altLang="zh-CN" dirty="0">
                <a:latin typeface="Consolas" panose="020B0609020204030204" pitchFamily="49" charset="0"/>
              </a:rPr>
              <a:t> (</a:t>
            </a:r>
            <a:r>
              <a:rPr lang="en-US" altLang="zh-CN" dirty="0" err="1">
                <a:latin typeface="Consolas" panose="020B0609020204030204" pitchFamily="49" charset="0"/>
              </a:rPr>
              <a:t>i</a:t>
            </a:r>
            <a:r>
              <a:rPr lang="en-US" altLang="zh-CN" dirty="0">
                <a:latin typeface="Consolas" panose="020B0609020204030204" pitchFamily="49" charset="0"/>
              </a:rPr>
              <a:t> &lt; 100) {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    sum += </a:t>
            </a:r>
            <a:r>
              <a:rPr lang="en-US" altLang="zh-CN" dirty="0" err="1">
                <a:latin typeface="Consolas" panose="020B0609020204030204" pitchFamily="49" charset="0"/>
              </a:rPr>
              <a:t>i</a:t>
            </a:r>
            <a:r>
              <a:rPr lang="en-US" altLang="zh-CN" dirty="0">
                <a:latin typeface="Consolas" panose="020B0609020204030204" pitchFamily="49" charset="0"/>
              </a:rPr>
              <a:t>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}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</a:t>
            </a:r>
            <a:r>
              <a:rPr lang="en-US" altLang="zh-CN" dirty="0" err="1">
                <a:latin typeface="Consolas" panose="020B0609020204030204" pitchFamily="49" charset="0"/>
              </a:rPr>
              <a:t>printf</a:t>
            </a:r>
            <a:r>
              <a:rPr lang="en-US" altLang="zh-CN" dirty="0">
                <a:latin typeface="Consolas" panose="020B0609020204030204" pitchFamily="49" charset="0"/>
              </a:rPr>
              <a:t>("The sum is %</a:t>
            </a:r>
            <a:r>
              <a:rPr lang="en-US" altLang="zh-CN" dirty="0" err="1">
                <a:latin typeface="Consolas" panose="020B0609020204030204" pitchFamily="49" charset="0"/>
              </a:rPr>
              <a:t>d",sum</a:t>
            </a:r>
            <a:r>
              <a:rPr lang="en-US" altLang="zh-CN" dirty="0">
                <a:latin typeface="Consolas" panose="020B0609020204030204" pitchFamily="49" charset="0"/>
              </a:rPr>
              <a:t>);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} </a:t>
            </a:r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DDB316C-4434-03E7-E45B-C3BFFEFB283A}"/>
              </a:ext>
            </a:extLst>
          </p:cNvPr>
          <p:cNvSpPr txBox="1"/>
          <p:nvPr/>
        </p:nvSpPr>
        <p:spPr>
          <a:xfrm>
            <a:off x="823037" y="1821390"/>
            <a:ext cx="5083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修改 </a:t>
            </a:r>
            <a:r>
              <a:rPr lang="en-US" altLang="zh-CN" dirty="0"/>
              <a:t>loop</a:t>
            </a:r>
            <a:r>
              <a:rPr lang="zh-CN" altLang="en-US" dirty="0"/>
              <a:t>程序，请问下面程序的输出各是什么？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B181F01-8229-EC8A-AB19-4363676D58FF}"/>
              </a:ext>
            </a:extLst>
          </p:cNvPr>
          <p:cNvSpPr txBox="1"/>
          <p:nvPr/>
        </p:nvSpPr>
        <p:spPr>
          <a:xfrm>
            <a:off x="1496844" y="5866100"/>
            <a:ext cx="91614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/>
              <a:t>循环体与循环条件逻辑上不配合，可能导致循环条件永远无法满足，称为</a:t>
            </a:r>
            <a:r>
              <a:rPr lang="zh-CN" altLang="en-US" sz="2000" b="1" dirty="0">
                <a:solidFill>
                  <a:srgbClr val="C00000"/>
                </a:solidFill>
              </a:rPr>
              <a:t>死循环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while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循环 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– 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字符计数</a:t>
            </a:r>
          </a:p>
        </p:txBody>
      </p:sp>
      <p:pic>
        <p:nvPicPr>
          <p:cNvPr id="33" name="图片 3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14" name="学论网-矩形 1"/>
          <p:cNvSpPr/>
          <p:nvPr/>
        </p:nvSpPr>
        <p:spPr>
          <a:xfrm>
            <a:off x="1643043" y="1958662"/>
            <a:ext cx="8768654" cy="416003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lvl="0"/>
            <a:r>
              <a:rPr lang="en-US" altLang="zh-CN" sz="2000" kern="0" dirty="0">
                <a:solidFill>
                  <a:schemeClr val="bg1">
                    <a:lumMod val="50000"/>
                  </a:schemeClr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/*while count string*/</a:t>
            </a:r>
          </a:p>
          <a:p>
            <a:pPr lvl="0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#include &lt;</a:t>
            </a:r>
            <a:r>
              <a:rPr lang="en-US" altLang="zh-CN" sz="2000" kern="0" dirty="0" err="1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stdio.h</a:t>
            </a:r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&gt;</a:t>
            </a:r>
          </a:p>
          <a:p>
            <a:pPr lvl="0"/>
            <a:endParaRPr lang="en-US" altLang="zh-CN" sz="2000" kern="0" dirty="0">
              <a:solidFill>
                <a:schemeClr val="tx1"/>
              </a:solidFill>
              <a:latin typeface="Consolas" panose="020B060902020403020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lvl="0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int main(){</a:t>
            </a:r>
          </a:p>
          <a:p>
            <a:pPr lvl="0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    int n=0;</a:t>
            </a:r>
          </a:p>
          <a:p>
            <a:pPr lvl="0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    </a:t>
            </a:r>
          </a:p>
          <a:p>
            <a:pPr lvl="0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    </a:t>
            </a:r>
            <a:r>
              <a:rPr lang="en-US" altLang="zh-CN" sz="2000" kern="0" dirty="0" err="1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printf</a:t>
            </a:r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("Input a string:");</a:t>
            </a:r>
          </a:p>
          <a:p>
            <a:pPr lvl="0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    while(</a:t>
            </a:r>
            <a:r>
              <a:rPr lang="en-US" altLang="zh-CN" sz="2000" b="1" kern="0" dirty="0" err="1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getchar</a:t>
            </a:r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()!='\n') n++;</a:t>
            </a:r>
          </a:p>
          <a:p>
            <a:pPr lvl="0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    </a:t>
            </a:r>
          </a:p>
          <a:p>
            <a:pPr lvl="0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    </a:t>
            </a:r>
            <a:r>
              <a:rPr lang="en-US" altLang="zh-CN" sz="2000" kern="0" dirty="0" err="1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printf</a:t>
            </a:r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("Number of characters: %d\n", n);</a:t>
            </a:r>
          </a:p>
          <a:p>
            <a:pPr lvl="0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    return 0;</a:t>
            </a:r>
          </a:p>
          <a:p>
            <a:pPr lvl="0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}</a:t>
            </a: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2"/>
              </a:rPr>
              <a:t>#include &lt;stdio.h&gt; int main(){ while(1){ printf("1"); } return 0; }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675201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-18415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循环 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– 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技巧 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- 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使用标志变量控制循环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F9827536-F00D-5BE4-7C1F-9EA55683FE91}"/>
              </a:ext>
            </a:extLst>
          </p:cNvPr>
          <p:cNvSpPr txBox="1"/>
          <p:nvPr/>
        </p:nvSpPr>
        <p:spPr>
          <a:xfrm>
            <a:off x="813308" y="1663405"/>
            <a:ext cx="5130863" cy="3108543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/*while-add-learning*/</a:t>
            </a:r>
          </a:p>
          <a:p>
            <a:r>
              <a:rPr lang="en-US" altLang="zh-CN" sz="1600" dirty="0">
                <a:latin typeface="Consolas" panose="020B0609020204030204" pitchFamily="49" charset="0"/>
              </a:rPr>
              <a:t>#include&lt;stdio.h&gt;</a:t>
            </a:r>
          </a:p>
          <a:p>
            <a:r>
              <a:rPr lang="en-US" altLang="zh-CN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#include&lt;stdbool.h&gt; </a:t>
            </a:r>
          </a:p>
          <a:p>
            <a:r>
              <a:rPr lang="en-US" altLang="zh-CN" sz="1600" dirty="0">
                <a:latin typeface="Consolas" panose="020B0609020204030204" pitchFamily="49" charset="0"/>
              </a:rPr>
              <a:t>#include&lt;stdlib.h&gt;</a:t>
            </a:r>
          </a:p>
          <a:p>
            <a:r>
              <a:rPr lang="en-US" altLang="zh-CN" sz="1600" dirty="0">
                <a:latin typeface="Consolas" panose="020B0609020204030204" pitchFamily="49" charset="0"/>
              </a:rPr>
              <a:t>#include&lt;time.h&gt; </a:t>
            </a:r>
          </a:p>
          <a:p>
            <a:endParaRPr lang="en-US" altLang="zh-CN" sz="1600" dirty="0">
              <a:latin typeface="Consolas" panose="020B0609020204030204" pitchFamily="49" charset="0"/>
            </a:endParaRPr>
          </a:p>
          <a:p>
            <a:r>
              <a:rPr lang="en-US" altLang="zh-CN" sz="1600" dirty="0">
                <a:latin typeface="Consolas" panose="020B0609020204030204" pitchFamily="49" charset="0"/>
              </a:rPr>
              <a:t>int main() {</a:t>
            </a:r>
          </a:p>
          <a:p>
            <a:r>
              <a:rPr lang="en-US" altLang="zh-CN" sz="1600" dirty="0">
                <a:latin typeface="Consolas" panose="020B0609020204030204" pitchFamily="49" charset="0"/>
              </a:rPr>
              <a:t>    //give seed</a:t>
            </a:r>
          </a:p>
          <a:p>
            <a:r>
              <a:rPr lang="en-US" altLang="zh-CN" sz="1600" dirty="0">
                <a:latin typeface="Consolas" panose="020B0609020204030204" pitchFamily="49" charset="0"/>
              </a:rPr>
              <a:t>    </a:t>
            </a:r>
            <a:r>
              <a:rPr lang="en-US" altLang="zh-CN" sz="1600" dirty="0" err="1">
                <a:latin typeface="Consolas" panose="020B0609020204030204" pitchFamily="49" charset="0"/>
              </a:rPr>
              <a:t>srand</a:t>
            </a:r>
            <a:r>
              <a:rPr lang="en-US" altLang="zh-CN" sz="1600" dirty="0">
                <a:latin typeface="Consolas" panose="020B0609020204030204" pitchFamily="49" charset="0"/>
              </a:rPr>
              <a:t>((unsigned)time(NULL)); //seed</a:t>
            </a:r>
          </a:p>
          <a:p>
            <a:r>
              <a:rPr lang="en-US" altLang="zh-CN" sz="1600" dirty="0">
                <a:latin typeface="Consolas" panose="020B0609020204030204" pitchFamily="49" charset="0"/>
              </a:rPr>
              <a:t>    </a:t>
            </a:r>
          </a:p>
          <a:p>
            <a:r>
              <a:rPr lang="en-US" altLang="zh-CN" sz="1600" dirty="0">
                <a:latin typeface="Consolas" panose="020B0609020204030204" pitchFamily="49" charset="0"/>
              </a:rPr>
              <a:t>    int </a:t>
            </a:r>
            <a:r>
              <a:rPr lang="en-US" altLang="zh-CN" sz="1600" dirty="0" err="1">
                <a:latin typeface="Consolas" panose="020B0609020204030204" pitchFamily="49" charset="0"/>
              </a:rPr>
              <a:t>i,j,sum</a:t>
            </a:r>
            <a:r>
              <a:rPr lang="en-US" altLang="zh-CN" sz="1600" dirty="0">
                <a:latin typeface="Consolas" panose="020B0609020204030204" pitchFamily="49" charset="0"/>
              </a:rPr>
              <a:t>;</a:t>
            </a:r>
          </a:p>
          <a:p>
            <a:r>
              <a:rPr lang="en-US" altLang="zh-CN" sz="1600" dirty="0">
                <a:latin typeface="Consolas" panose="020B0609020204030204" pitchFamily="49" charset="0"/>
              </a:rPr>
              <a:t>    </a:t>
            </a:r>
            <a:r>
              <a:rPr lang="en-US" altLang="zh-CN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bool flag = true</a:t>
            </a:r>
            <a:r>
              <a:rPr lang="en-US" altLang="zh-CN" sz="1600" dirty="0">
                <a:latin typeface="Consolas" panose="020B0609020204030204" pitchFamily="49" charset="0"/>
              </a:rPr>
              <a:t>;  //</a:t>
            </a:r>
            <a:r>
              <a:rPr lang="zh-CN" altLang="en-US" sz="1600" dirty="0">
                <a:latin typeface="Consolas" panose="020B0609020204030204" pitchFamily="49" charset="0"/>
              </a:rPr>
              <a:t>标志变量 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21A4B55-EBF8-5C7A-F3B9-0E30E39AE92D}"/>
              </a:ext>
            </a:extLst>
          </p:cNvPr>
          <p:cNvSpPr txBox="1"/>
          <p:nvPr/>
        </p:nvSpPr>
        <p:spPr>
          <a:xfrm>
            <a:off x="6247829" y="1656180"/>
            <a:ext cx="4992635" cy="4278094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Consolas" panose="020B0609020204030204" pitchFamily="49" charset="0"/>
              </a:rPr>
              <a:t> while (</a:t>
            </a:r>
            <a:r>
              <a:rPr lang="en-US" altLang="zh-CN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flag</a:t>
            </a:r>
            <a:r>
              <a:rPr lang="en-US" altLang="zh-CN" sz="1600" dirty="0">
                <a:latin typeface="Consolas" panose="020B0609020204030204" pitchFamily="49" charset="0"/>
              </a:rPr>
              <a:t>) {</a:t>
            </a:r>
          </a:p>
          <a:p>
            <a:r>
              <a:rPr lang="en-US" altLang="zh-CN" sz="1600" dirty="0">
                <a:latin typeface="Consolas" panose="020B0609020204030204" pitchFamily="49" charset="0"/>
              </a:rPr>
              <a:t>        </a:t>
            </a:r>
            <a:r>
              <a:rPr lang="en-US" altLang="zh-CN" sz="1600" dirty="0" err="1">
                <a:latin typeface="Consolas" panose="020B0609020204030204" pitchFamily="49" charset="0"/>
              </a:rPr>
              <a:t>i</a:t>
            </a:r>
            <a:r>
              <a:rPr lang="en-US" altLang="zh-CN" sz="1600" dirty="0">
                <a:latin typeface="Consolas" panose="020B0609020204030204" pitchFamily="49" charset="0"/>
              </a:rPr>
              <a:t> = rand() % 10;</a:t>
            </a:r>
          </a:p>
          <a:p>
            <a:r>
              <a:rPr lang="en-US" altLang="zh-CN" sz="1600" dirty="0">
                <a:latin typeface="Consolas" panose="020B0609020204030204" pitchFamily="49" charset="0"/>
              </a:rPr>
              <a:t>        j = rand() % 10;</a:t>
            </a:r>
          </a:p>
          <a:p>
            <a:r>
              <a:rPr lang="en-US" altLang="zh-CN" sz="1600" dirty="0">
                <a:latin typeface="Consolas" panose="020B0609020204030204" pitchFamily="49" charset="0"/>
              </a:rPr>
              <a:t>    	</a:t>
            </a:r>
          </a:p>
          <a:p>
            <a:r>
              <a:rPr lang="en-US" altLang="zh-CN" sz="1600" dirty="0">
                <a:latin typeface="Consolas" panose="020B0609020204030204" pitchFamily="49" charset="0"/>
              </a:rPr>
              <a:t>        </a:t>
            </a:r>
            <a:r>
              <a:rPr lang="en-US" altLang="zh-CN" sz="1600" dirty="0" err="1">
                <a:latin typeface="Consolas" panose="020B0609020204030204" pitchFamily="49" charset="0"/>
              </a:rPr>
              <a:t>printf</a:t>
            </a:r>
            <a:r>
              <a:rPr lang="en-US" altLang="zh-CN" sz="1600" dirty="0">
                <a:latin typeface="Consolas" panose="020B0609020204030204" pitchFamily="49" charset="0"/>
              </a:rPr>
              <a:t>("%d + %d = ",</a:t>
            </a:r>
            <a:r>
              <a:rPr lang="en-US" altLang="zh-CN" sz="1600" dirty="0" err="1">
                <a:latin typeface="Consolas" panose="020B0609020204030204" pitchFamily="49" charset="0"/>
              </a:rPr>
              <a:t>i,j</a:t>
            </a:r>
            <a:r>
              <a:rPr lang="en-US" altLang="zh-CN" sz="1600" dirty="0">
                <a:latin typeface="Consolas" panose="020B0609020204030204" pitchFamily="49" charset="0"/>
              </a:rPr>
              <a:t>);</a:t>
            </a:r>
          </a:p>
          <a:p>
            <a:r>
              <a:rPr lang="en-US" altLang="zh-CN" sz="1600" dirty="0">
                <a:latin typeface="Consolas" panose="020B0609020204030204" pitchFamily="49" charset="0"/>
              </a:rPr>
              <a:t>        </a:t>
            </a:r>
            <a:r>
              <a:rPr lang="en-US" altLang="zh-CN" sz="1600" dirty="0" err="1">
                <a:latin typeface="Consolas" panose="020B0609020204030204" pitchFamily="49" charset="0"/>
              </a:rPr>
              <a:t>scanf</a:t>
            </a:r>
            <a:r>
              <a:rPr lang="en-US" altLang="zh-CN" sz="1600" dirty="0">
                <a:latin typeface="Consolas" panose="020B0609020204030204" pitchFamily="49" charset="0"/>
              </a:rPr>
              <a:t>("%</a:t>
            </a:r>
            <a:r>
              <a:rPr lang="en-US" altLang="zh-CN" sz="1600" dirty="0" err="1">
                <a:latin typeface="Consolas" panose="020B0609020204030204" pitchFamily="49" charset="0"/>
              </a:rPr>
              <a:t>d",&amp;sum</a:t>
            </a:r>
            <a:r>
              <a:rPr lang="en-US" altLang="zh-CN" sz="1600" dirty="0">
                <a:latin typeface="Consolas" panose="020B0609020204030204" pitchFamily="49" charset="0"/>
              </a:rPr>
              <a:t>);</a:t>
            </a:r>
          </a:p>
          <a:p>
            <a:r>
              <a:rPr lang="en-US" altLang="zh-CN" sz="1600" dirty="0">
                <a:latin typeface="Consolas" panose="020B0609020204030204" pitchFamily="49" charset="0"/>
              </a:rPr>
              <a:t>        </a:t>
            </a:r>
          </a:p>
          <a:p>
            <a:r>
              <a:rPr lang="en-US" altLang="zh-CN" sz="1600" dirty="0">
                <a:latin typeface="Consolas" panose="020B0609020204030204" pitchFamily="49" charset="0"/>
              </a:rPr>
              <a:t>        if (</a:t>
            </a:r>
            <a:r>
              <a:rPr lang="en-US" altLang="zh-CN" sz="1600" dirty="0" err="1">
                <a:latin typeface="Consolas" panose="020B0609020204030204" pitchFamily="49" charset="0"/>
              </a:rPr>
              <a:t>i</a:t>
            </a:r>
            <a:r>
              <a:rPr lang="en-US" altLang="zh-CN" sz="1600" dirty="0">
                <a:latin typeface="Consolas" panose="020B0609020204030204" pitchFamily="49" charset="0"/>
              </a:rPr>
              <a:t> + j == sum) </a:t>
            </a:r>
          </a:p>
          <a:p>
            <a:r>
              <a:rPr lang="en-US" altLang="zh-CN" sz="1600" dirty="0">
                <a:latin typeface="Consolas" panose="020B0609020204030204" pitchFamily="49" charset="0"/>
              </a:rPr>
              <a:t>            </a:t>
            </a:r>
            <a:r>
              <a:rPr lang="en-US" altLang="zh-CN" sz="1600" dirty="0" err="1">
                <a:latin typeface="Consolas" panose="020B0609020204030204" pitchFamily="49" charset="0"/>
              </a:rPr>
              <a:t>printf</a:t>
            </a:r>
            <a:r>
              <a:rPr lang="en-US" altLang="zh-CN" sz="1600" dirty="0">
                <a:latin typeface="Consolas" panose="020B0609020204030204" pitchFamily="49" charset="0"/>
              </a:rPr>
              <a:t>("</a:t>
            </a:r>
            <a:r>
              <a:rPr lang="zh-CN" altLang="en-US" sz="1600" dirty="0">
                <a:latin typeface="Consolas" panose="020B0609020204030204" pitchFamily="49" charset="0"/>
              </a:rPr>
              <a:t>恭喜你，答对了！</a:t>
            </a:r>
            <a:r>
              <a:rPr lang="en-US" altLang="zh-CN" sz="1600" dirty="0">
                <a:latin typeface="Consolas" panose="020B0609020204030204" pitchFamily="49" charset="0"/>
              </a:rPr>
              <a:t>\n");</a:t>
            </a:r>
          </a:p>
          <a:p>
            <a:r>
              <a:rPr lang="en-US" altLang="zh-CN" sz="1600" dirty="0">
                <a:latin typeface="Consolas" panose="020B0609020204030204" pitchFamily="49" charset="0"/>
              </a:rPr>
              <a:t>        else</a:t>
            </a:r>
          </a:p>
          <a:p>
            <a:r>
              <a:rPr lang="en-US" altLang="zh-CN" sz="1600" dirty="0">
                <a:latin typeface="Consolas" panose="020B0609020204030204" pitchFamily="49" charset="0"/>
              </a:rPr>
              <a:t>            </a:t>
            </a:r>
            <a:r>
              <a:rPr lang="en-US" altLang="zh-CN" sz="1600" dirty="0" err="1">
                <a:latin typeface="Consolas" panose="020B0609020204030204" pitchFamily="49" charset="0"/>
              </a:rPr>
              <a:t>printf</a:t>
            </a:r>
            <a:r>
              <a:rPr lang="en-US" altLang="zh-CN" sz="1600" dirty="0">
                <a:latin typeface="Consolas" panose="020B0609020204030204" pitchFamily="49" charset="0"/>
              </a:rPr>
              <a:t>("</a:t>
            </a:r>
            <a:r>
              <a:rPr lang="en-US" altLang="zh-CN" sz="1600" dirty="0" err="1">
                <a:latin typeface="Consolas" panose="020B0609020204030204" pitchFamily="49" charset="0"/>
              </a:rPr>
              <a:t>Oooops</a:t>
            </a:r>
            <a:r>
              <a:rPr lang="zh-CN" altLang="en-US" sz="1600" dirty="0">
                <a:latin typeface="Consolas" panose="020B0609020204030204" pitchFamily="49" charset="0"/>
              </a:rPr>
              <a:t>，再努力一次。</a:t>
            </a:r>
            <a:r>
              <a:rPr lang="en-US" altLang="zh-CN" sz="1600" dirty="0">
                <a:latin typeface="Consolas" panose="020B0609020204030204" pitchFamily="49" charset="0"/>
              </a:rPr>
              <a:t>\n"); </a:t>
            </a:r>
          </a:p>
          <a:p>
            <a:r>
              <a:rPr lang="en-US" altLang="zh-CN" sz="1600" dirty="0">
                <a:latin typeface="Consolas" panose="020B0609020204030204" pitchFamily="49" charset="0"/>
              </a:rPr>
              <a:t>        </a:t>
            </a:r>
          </a:p>
          <a:p>
            <a:r>
              <a:rPr lang="en-US" altLang="zh-CN" sz="1600" dirty="0">
                <a:latin typeface="Consolas" panose="020B0609020204030204" pitchFamily="49" charset="0"/>
              </a:rPr>
              <a:t>        char c = </a:t>
            </a:r>
            <a:r>
              <a:rPr lang="en-US" altLang="zh-CN" sz="1600" dirty="0" err="1">
                <a:solidFill>
                  <a:srgbClr val="C00000"/>
                </a:solidFill>
                <a:latin typeface="Consolas" panose="020B0609020204030204" pitchFamily="49" charset="0"/>
              </a:rPr>
              <a:t>getchar</a:t>
            </a:r>
            <a:r>
              <a:rPr lang="en-US" altLang="zh-CN" sz="1600" dirty="0">
                <a:latin typeface="Consolas" panose="020B0609020204030204" pitchFamily="49" charset="0"/>
              </a:rPr>
              <a:t>();</a:t>
            </a:r>
          </a:p>
          <a:p>
            <a:r>
              <a:rPr lang="en-US" altLang="zh-CN" sz="1600" dirty="0">
                <a:latin typeface="Consolas" panose="020B0609020204030204" pitchFamily="49" charset="0"/>
              </a:rPr>
              <a:t>        if (c=='q'||c=='Q')</a:t>
            </a:r>
          </a:p>
          <a:p>
            <a:r>
              <a:rPr lang="en-US" altLang="zh-CN" sz="1600" dirty="0">
                <a:latin typeface="Consolas" panose="020B0609020204030204" pitchFamily="49" charset="0"/>
              </a:rPr>
              <a:t>           </a:t>
            </a:r>
            <a:r>
              <a:rPr lang="en-US" altLang="zh-CN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flag = false</a:t>
            </a:r>
            <a:r>
              <a:rPr lang="en-US" altLang="zh-CN" sz="1600" dirty="0">
                <a:latin typeface="Consolas" panose="020B0609020204030204" pitchFamily="49" charset="0"/>
              </a:rPr>
              <a:t>;       </a:t>
            </a:r>
          </a:p>
          <a:p>
            <a:r>
              <a:rPr lang="en-US" altLang="zh-CN" sz="1600" dirty="0">
                <a:latin typeface="Consolas" panose="020B0609020204030204" pitchFamily="49" charset="0"/>
              </a:rPr>
              <a:t>    }</a:t>
            </a:r>
          </a:p>
          <a:p>
            <a:r>
              <a:rPr lang="en-US" altLang="zh-CN" sz="1600" dirty="0">
                <a:latin typeface="Consolas" panose="020B0609020204030204" pitchFamily="49" charset="0"/>
              </a:rPr>
              <a:t>}</a:t>
            </a:r>
            <a:endParaRPr lang="zh-CN" altLang="en-US" sz="1600" dirty="0">
              <a:latin typeface="Consolas" panose="020B0609020204030204" pitchFamily="49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B181F01-8229-EC8A-AB19-4363676D58FF}"/>
              </a:ext>
            </a:extLst>
          </p:cNvPr>
          <p:cNvSpPr txBox="1"/>
          <p:nvPr/>
        </p:nvSpPr>
        <p:spPr>
          <a:xfrm>
            <a:off x="666508" y="5009929"/>
            <a:ext cx="52776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① 复习 </a:t>
            </a:r>
            <a:r>
              <a:rPr lang="en-US" altLang="zh-CN" dirty="0" err="1"/>
              <a:t>stdbool.h</a:t>
            </a:r>
            <a:r>
              <a:rPr lang="en-US" altLang="zh-CN" dirty="0"/>
              <a:t> </a:t>
            </a:r>
            <a:r>
              <a:rPr lang="zh-CN" altLang="en-US" dirty="0"/>
              <a:t>使用</a:t>
            </a:r>
            <a:endParaRPr lang="en-US" altLang="zh-CN" dirty="0"/>
          </a:p>
          <a:p>
            <a:r>
              <a:rPr lang="zh-CN" altLang="zh-CN" dirty="0">
                <a:solidFill>
                  <a:srgbClr val="C00000"/>
                </a:solidFill>
              </a:rPr>
              <a:t>②</a:t>
            </a:r>
            <a:r>
              <a:rPr lang="en-US" altLang="zh-CN" dirty="0">
                <a:solidFill>
                  <a:srgbClr val="C00000"/>
                </a:solidFill>
              </a:rPr>
              <a:t> </a:t>
            </a:r>
            <a:r>
              <a:rPr lang="zh-CN" altLang="en-US" dirty="0">
                <a:solidFill>
                  <a:srgbClr val="C00000"/>
                </a:solidFill>
              </a:rPr>
              <a:t>使用标志变量控制循环的技巧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zh-CN" altLang="en-US" dirty="0"/>
              <a:t>③ 进阶理解 </a:t>
            </a:r>
            <a:r>
              <a:rPr lang="en-US" altLang="zh-CN" dirty="0" err="1"/>
              <a:t>scanf</a:t>
            </a:r>
            <a:r>
              <a:rPr lang="en-US" altLang="zh-CN" dirty="0"/>
              <a:t> </a:t>
            </a:r>
            <a:r>
              <a:rPr lang="zh-CN" altLang="en-US" dirty="0"/>
              <a:t>如何处理字符</a:t>
            </a:r>
          </a:p>
        </p:txBody>
      </p:sp>
    </p:spTree>
    <p:extLst>
      <p:ext uri="{BB962C8B-B14F-4D97-AF65-F5344CB8AC3E}">
        <p14:creationId xmlns:p14="http://schemas.microsoft.com/office/powerpoint/2010/main" val="3430404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-18415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do...while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循环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2" name="学论网-www.xuelun.me"/>
          <p:cNvSpPr txBox="1"/>
          <p:nvPr/>
        </p:nvSpPr>
        <p:spPr>
          <a:xfrm>
            <a:off x="3395980" y="2118995"/>
            <a:ext cx="4320540" cy="33235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en-US" altLang="zh-CN" sz="2400" dirty="0"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在do...while循环结构下，</a:t>
            </a:r>
            <a:r>
              <a:rPr lang="zh-CN" altLang="en-US" sz="2400" dirty="0"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先执行一次指定的循环体语句，然后判断表达式，当表达式的值为真时，返回重新执行循环体语句，如此反复，直到判断到表达式的值为假，结束循环。</a:t>
            </a:r>
          </a:p>
        </p:txBody>
      </p:sp>
      <p:sp>
        <p:nvSpPr>
          <p:cNvPr id="3" name="学论网-矩形 1"/>
          <p:cNvSpPr/>
          <p:nvPr/>
        </p:nvSpPr>
        <p:spPr>
          <a:xfrm>
            <a:off x="171450" y="1941195"/>
            <a:ext cx="2912745" cy="367919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l"/>
            <a:r>
              <a:rPr lang="en-US" altLang="zh-CN" sz="2800" kern="0" dirty="0">
                <a:solidFill>
                  <a:srgbClr val="FF0000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do</a:t>
            </a:r>
          </a:p>
          <a:p>
            <a:pPr lvl="0" algn="l"/>
            <a:r>
              <a:rPr lang="en-US" altLang="zh-CN" sz="28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{</a:t>
            </a:r>
          </a:p>
          <a:p>
            <a:pPr lvl="0" algn="l"/>
            <a:r>
              <a:rPr lang="en-US" altLang="zh-CN" sz="28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    </a:t>
            </a:r>
            <a:r>
              <a:rPr lang="zh-CN" altLang="en-US" sz="28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语句块</a:t>
            </a:r>
            <a:endParaRPr lang="en-US" altLang="zh-CN" sz="2800" kern="0" dirty="0">
              <a:solidFill>
                <a:schemeClr val="tx1"/>
              </a:solidFill>
              <a:latin typeface="Consolas" panose="020B060902020403020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lvl="0" algn="l"/>
            <a:r>
              <a:rPr lang="en-US" altLang="zh-CN" sz="28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}</a:t>
            </a:r>
          </a:p>
          <a:p>
            <a:pPr lvl="0" algn="l"/>
            <a:r>
              <a:rPr lang="en-US" altLang="zh-CN" sz="2800" kern="0" dirty="0">
                <a:solidFill>
                  <a:srgbClr val="FF0000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while</a:t>
            </a:r>
            <a:r>
              <a:rPr lang="en-US" altLang="zh-CN" sz="28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(</a:t>
            </a:r>
            <a:r>
              <a:rPr lang="zh-CN" altLang="en-US" sz="28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表达式</a:t>
            </a:r>
            <a:r>
              <a:rPr lang="en-US" altLang="zh-CN" sz="28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)</a:t>
            </a:r>
            <a:r>
              <a:rPr lang="en-US" altLang="zh-CN" sz="2800" kern="0" dirty="0">
                <a:solidFill>
                  <a:srgbClr val="FF0000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;</a:t>
            </a:r>
            <a:endParaRPr lang="en-US" altLang="zh-CN" sz="2800" kern="0" dirty="0">
              <a:solidFill>
                <a:srgbClr val="FF0000"/>
              </a:solidFill>
              <a:latin typeface="Consolas" panose="020B0609020204030204" charset="0"/>
              <a:ea typeface="微软雅黑" panose="020B0503020204020204" pitchFamily="34" charset="-122"/>
              <a:cs typeface="Consolas" panose="020B0609020204030204" charset="0"/>
            </a:endParaRPr>
          </a:p>
        </p:txBody>
      </p:sp>
      <p:graphicFrame>
        <p:nvGraphicFramePr>
          <p:cNvPr id="4" name="对象 -2147482531"/>
          <p:cNvGraphicFramePr>
            <a:graphicFrameLocks noChangeAspect="1"/>
          </p:cNvGraphicFramePr>
          <p:nvPr/>
        </p:nvGraphicFramePr>
        <p:xfrm>
          <a:off x="7649845" y="1529080"/>
          <a:ext cx="4453255" cy="5013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3" r:id="rId5" imgW="3365500" imgH="3797300" progId="Visio.Drawing.11">
                  <p:embed/>
                </p:oleObj>
              </mc:Choice>
              <mc:Fallback>
                <p:oleObj r:id="rId5" imgW="3365500" imgH="3797300" progId="Visio.Drawing.11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649845" y="1529080"/>
                        <a:ext cx="4453255" cy="50133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-18415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do...while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循环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2" name="学论网-www.xuelun.me"/>
          <p:cNvSpPr txBox="1"/>
          <p:nvPr/>
        </p:nvSpPr>
        <p:spPr>
          <a:xfrm>
            <a:off x="767715" y="1641475"/>
            <a:ext cx="6853555" cy="553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    sum</a:t>
            </a:r>
            <a:r>
              <a:rPr lang="zh-CN" altLang="en-US" sz="2400" dirty="0"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的值有什么不同？</a:t>
            </a:r>
          </a:p>
        </p:txBody>
      </p:sp>
      <p:sp>
        <p:nvSpPr>
          <p:cNvPr id="3" name="学论网-矩形 1"/>
          <p:cNvSpPr/>
          <p:nvPr/>
        </p:nvSpPr>
        <p:spPr>
          <a:xfrm>
            <a:off x="914400" y="2307590"/>
            <a:ext cx="3834130" cy="355346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int i = 11</a:t>
            </a:r>
            <a:r>
              <a:rPr lang="zh-CN" altLang="en-US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，</a:t>
            </a:r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sum = 0;</a:t>
            </a:r>
          </a:p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while(i &lt;= 10)</a:t>
            </a:r>
          </a:p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{</a:t>
            </a:r>
          </a:p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    sum += i;</a:t>
            </a:r>
          </a:p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    i++;</a:t>
            </a:r>
          </a:p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}</a:t>
            </a:r>
          </a:p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printf("%d\n", sum);</a:t>
            </a:r>
            <a:endParaRPr lang="en-US" altLang="zh-CN" sz="2400" kern="0" dirty="0">
              <a:solidFill>
                <a:schemeClr val="tx1"/>
              </a:solidFill>
              <a:latin typeface="Consolas" panose="020B0609020204030204" charset="0"/>
              <a:ea typeface="微软雅黑" panose="020B0503020204020204" pitchFamily="34" charset="-122"/>
              <a:cs typeface="Consolas" panose="020B0609020204030204" charset="0"/>
            </a:endParaRPr>
          </a:p>
        </p:txBody>
      </p:sp>
      <p:sp>
        <p:nvSpPr>
          <p:cNvPr id="4" name="学论网-矩形 1"/>
          <p:cNvSpPr/>
          <p:nvPr/>
        </p:nvSpPr>
        <p:spPr>
          <a:xfrm>
            <a:off x="6802120" y="2307590"/>
            <a:ext cx="3834130" cy="355346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int i = 11</a:t>
            </a:r>
            <a:r>
              <a:rPr lang="zh-CN" altLang="en-US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，</a:t>
            </a:r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sum = 0;</a:t>
            </a:r>
          </a:p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do</a:t>
            </a:r>
          </a:p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{</a:t>
            </a:r>
          </a:p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    sum += i;</a:t>
            </a:r>
          </a:p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    i++;</a:t>
            </a:r>
          </a:p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}</a:t>
            </a:r>
          </a:p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while(i &lt;= 10);</a:t>
            </a:r>
            <a:endParaRPr lang="en-US" altLang="zh-CN" sz="2400" kern="0" dirty="0">
              <a:solidFill>
                <a:schemeClr val="tx1"/>
              </a:solidFill>
              <a:latin typeface="Consolas" panose="020B060902020403020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printf("%d\n", sum);</a:t>
            </a:r>
            <a:endParaRPr lang="en-US" altLang="zh-CN" sz="2400" kern="0" dirty="0">
              <a:solidFill>
                <a:schemeClr val="tx1"/>
              </a:solidFill>
              <a:latin typeface="Consolas" panose="020B0609020204030204" charset="0"/>
              <a:ea typeface="微软雅黑" panose="020B0503020204020204" pitchFamily="34" charset="-122"/>
              <a:cs typeface="Consolas" panose="020B060902020403020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-18415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do...while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循环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2" name="学论网-www.xuelun.me"/>
          <p:cNvSpPr txBox="1"/>
          <p:nvPr/>
        </p:nvSpPr>
        <p:spPr>
          <a:xfrm>
            <a:off x="767715" y="1641475"/>
            <a:ext cx="6853555" cy="553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    sum</a:t>
            </a:r>
            <a:r>
              <a:rPr lang="zh-CN" altLang="en-US" sz="2400" dirty="0"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的值有什么不同？</a:t>
            </a:r>
          </a:p>
        </p:txBody>
      </p:sp>
      <p:sp>
        <p:nvSpPr>
          <p:cNvPr id="3" name="学论网-矩形 1"/>
          <p:cNvSpPr/>
          <p:nvPr/>
        </p:nvSpPr>
        <p:spPr>
          <a:xfrm>
            <a:off x="914400" y="2307590"/>
            <a:ext cx="3834130" cy="355346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int i = 11</a:t>
            </a:r>
            <a:r>
              <a:rPr lang="zh-CN" altLang="en-US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，</a:t>
            </a:r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sum = 0;</a:t>
            </a:r>
          </a:p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while(i &lt;= 10)</a:t>
            </a:r>
          </a:p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{</a:t>
            </a:r>
          </a:p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    sum += i;</a:t>
            </a:r>
          </a:p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    i++;</a:t>
            </a:r>
          </a:p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}</a:t>
            </a:r>
          </a:p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printf("%d\n", sum);</a:t>
            </a:r>
            <a:endParaRPr lang="en-US" altLang="zh-CN" sz="2400" kern="0" dirty="0">
              <a:solidFill>
                <a:schemeClr val="tx1"/>
              </a:solidFill>
              <a:latin typeface="Consolas" panose="020B0609020204030204" charset="0"/>
              <a:ea typeface="微软雅黑" panose="020B0503020204020204" pitchFamily="34" charset="-122"/>
              <a:cs typeface="Consolas" panose="020B0609020204030204" charset="0"/>
            </a:endParaRPr>
          </a:p>
        </p:txBody>
      </p:sp>
      <p:sp>
        <p:nvSpPr>
          <p:cNvPr id="4" name="学论网-矩形 1"/>
          <p:cNvSpPr/>
          <p:nvPr/>
        </p:nvSpPr>
        <p:spPr>
          <a:xfrm>
            <a:off x="6802120" y="2307590"/>
            <a:ext cx="3834130" cy="355346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int i = 11</a:t>
            </a:r>
            <a:r>
              <a:rPr lang="zh-CN" altLang="en-US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，</a:t>
            </a:r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sum = 0;</a:t>
            </a:r>
          </a:p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do</a:t>
            </a:r>
          </a:p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{</a:t>
            </a:r>
          </a:p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    sum += i;</a:t>
            </a:r>
          </a:p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    i++;</a:t>
            </a:r>
          </a:p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}</a:t>
            </a:r>
          </a:p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while(i &lt;= 10);</a:t>
            </a:r>
            <a:endParaRPr lang="en-US" altLang="zh-CN" sz="2400" kern="0" dirty="0">
              <a:solidFill>
                <a:schemeClr val="tx1"/>
              </a:solidFill>
              <a:latin typeface="Consolas" panose="020B060902020403020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printf("%d\n", sum);</a:t>
            </a:r>
            <a:endParaRPr lang="en-US" altLang="zh-CN" sz="2400" kern="0" dirty="0">
              <a:solidFill>
                <a:schemeClr val="tx1"/>
              </a:solidFill>
              <a:latin typeface="Consolas" panose="020B0609020204030204" charset="0"/>
              <a:ea typeface="微软雅黑" panose="020B0503020204020204" pitchFamily="34" charset="-122"/>
              <a:cs typeface="Consolas" panose="020B0609020204030204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8327572" y="1741054"/>
            <a:ext cx="353513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Helvetica Neue"/>
              </a:rPr>
              <a:t>至少要执行一次“语句块”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5737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algn="ctr"/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do...while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循环 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– 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案例研究</a:t>
            </a:r>
            <a:endParaRPr lang="en-US" altLang="zh-CN" sz="2800" b="1" kern="0" dirty="0">
              <a:gradFill>
                <a:gsLst>
                  <a:gs pos="100000">
                    <a:schemeClr val="bg1"/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l="100000" b="100000"/>
                </a:path>
              </a:gradFill>
              <a:ea typeface="微软雅黑" panose="020B0503020204020204" pitchFamily="34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52" name="学论网-矩形 1"/>
          <p:cNvSpPr/>
          <p:nvPr/>
        </p:nvSpPr>
        <p:spPr>
          <a:xfrm>
            <a:off x="1979112" y="1663405"/>
            <a:ext cx="8267179" cy="4956601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en-US" altLang="zh-CN" sz="1400" kern="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/*</a:t>
            </a:r>
            <a:r>
              <a:rPr lang="en-US" altLang="zh-CN" sz="1400" kern="0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dowhile</a:t>
            </a:r>
            <a:r>
              <a:rPr lang="en-US" altLang="zh-CN" sz="1400" kern="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 guess number*/</a:t>
            </a:r>
          </a:p>
          <a:p>
            <a:pPr lvl="0"/>
            <a:r>
              <a:rPr lang="en-US" altLang="zh-CN" sz="14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#include&lt;stdio.h&gt;</a:t>
            </a:r>
          </a:p>
          <a:p>
            <a:pPr lvl="0"/>
            <a:r>
              <a:rPr lang="en-US" altLang="zh-CN" sz="14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#include&lt;stdlib.h&gt;</a:t>
            </a:r>
          </a:p>
          <a:p>
            <a:pPr lvl="0"/>
            <a:r>
              <a:rPr lang="en-US" altLang="zh-CN" sz="14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#include&lt;time.h&gt; </a:t>
            </a:r>
          </a:p>
          <a:p>
            <a:pPr lvl="0"/>
            <a:endParaRPr lang="en-US" altLang="zh-CN" sz="1400" kern="0" dirty="0">
              <a:solidFill>
                <a:schemeClr val="tx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lvl="0"/>
            <a:r>
              <a:rPr lang="en-US" altLang="zh-CN" sz="14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int main() {</a:t>
            </a:r>
          </a:p>
          <a:p>
            <a:pPr lvl="0"/>
            <a:r>
              <a:rPr lang="en-US" altLang="zh-CN" sz="14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    //give a number between 0 .. 99</a:t>
            </a:r>
          </a:p>
          <a:p>
            <a:pPr lvl="0"/>
            <a:r>
              <a:rPr lang="en-US" altLang="zh-CN" sz="14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    </a:t>
            </a:r>
            <a:r>
              <a:rPr lang="en-US" altLang="zh-CN" sz="1400" kern="0" dirty="0" err="1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srand</a:t>
            </a:r>
            <a:r>
              <a:rPr lang="en-US" altLang="zh-CN" sz="14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((unsigned)time(NULL)); //seed</a:t>
            </a:r>
          </a:p>
          <a:p>
            <a:pPr lvl="0"/>
            <a:r>
              <a:rPr lang="en-US" altLang="zh-CN" sz="14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    int target = rand() % 100;</a:t>
            </a:r>
          </a:p>
          <a:p>
            <a:pPr lvl="0"/>
            <a:r>
              <a:rPr lang="en-US" altLang="zh-CN" sz="14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    </a:t>
            </a:r>
          </a:p>
          <a:p>
            <a:pPr lvl="0"/>
            <a:r>
              <a:rPr lang="en-US" altLang="zh-CN" sz="14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    int guess = -1;</a:t>
            </a:r>
          </a:p>
          <a:p>
            <a:pPr lvl="0"/>
            <a:r>
              <a:rPr lang="en-US" altLang="zh-CN" sz="14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    do {</a:t>
            </a:r>
          </a:p>
          <a:p>
            <a:pPr lvl="0"/>
            <a:r>
              <a:rPr lang="en-US" altLang="zh-CN" sz="14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        </a:t>
            </a:r>
            <a:r>
              <a:rPr lang="en-US" altLang="zh-CN" sz="1400" kern="0" dirty="0" err="1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printf</a:t>
            </a:r>
            <a:r>
              <a:rPr lang="en-US" altLang="zh-CN" sz="14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("Guess a magic number between 0 and 99:");</a:t>
            </a:r>
          </a:p>
          <a:p>
            <a:pPr lvl="0"/>
            <a:r>
              <a:rPr lang="en-US" altLang="zh-CN" sz="14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        </a:t>
            </a:r>
            <a:r>
              <a:rPr lang="en-US" altLang="zh-CN" sz="1400" kern="0" dirty="0" err="1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scanf</a:t>
            </a:r>
            <a:r>
              <a:rPr lang="en-US" altLang="zh-CN" sz="14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("%</a:t>
            </a:r>
            <a:r>
              <a:rPr lang="en-US" altLang="zh-CN" sz="1400" kern="0" dirty="0" err="1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d",&amp;guess</a:t>
            </a:r>
            <a:r>
              <a:rPr lang="en-US" altLang="zh-CN" sz="14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);</a:t>
            </a:r>
          </a:p>
          <a:p>
            <a:pPr lvl="0"/>
            <a:r>
              <a:rPr lang="en-US" altLang="zh-CN" sz="14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        </a:t>
            </a:r>
          </a:p>
          <a:p>
            <a:pPr lvl="0"/>
            <a:r>
              <a:rPr lang="en-US" altLang="zh-CN" sz="14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        if (guess &gt; target) </a:t>
            </a:r>
          </a:p>
          <a:p>
            <a:pPr lvl="0"/>
            <a:r>
              <a:rPr lang="en-US" altLang="zh-CN" sz="14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            </a:t>
            </a:r>
            <a:r>
              <a:rPr lang="en-US" altLang="zh-CN" sz="1400" kern="0" dirty="0" err="1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printf</a:t>
            </a:r>
            <a:r>
              <a:rPr lang="en-US" altLang="zh-CN" sz="14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("Your guess is too high\n");</a:t>
            </a:r>
          </a:p>
          <a:p>
            <a:pPr lvl="0"/>
            <a:r>
              <a:rPr lang="en-US" altLang="zh-CN" sz="14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        else if (guess &lt; target)</a:t>
            </a:r>
          </a:p>
          <a:p>
            <a:pPr lvl="0"/>
            <a:r>
              <a:rPr lang="en-US" altLang="zh-CN" sz="14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            </a:t>
            </a:r>
            <a:r>
              <a:rPr lang="en-US" altLang="zh-CN" sz="1400" kern="0" dirty="0" err="1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printf</a:t>
            </a:r>
            <a:r>
              <a:rPr lang="en-US" altLang="zh-CN" sz="14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("Your guess is too low\n");</a:t>
            </a:r>
          </a:p>
          <a:p>
            <a:pPr lvl="0"/>
            <a:r>
              <a:rPr lang="en-US" altLang="zh-CN" sz="14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        else</a:t>
            </a:r>
          </a:p>
          <a:p>
            <a:pPr lvl="0"/>
            <a:r>
              <a:rPr lang="en-US" altLang="zh-CN" sz="14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            </a:t>
            </a:r>
            <a:r>
              <a:rPr lang="en-US" altLang="zh-CN" sz="1400" kern="0" dirty="0" err="1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printf</a:t>
            </a:r>
            <a:r>
              <a:rPr lang="en-US" altLang="zh-CN" sz="14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("Yes! game over\n");</a:t>
            </a:r>
          </a:p>
          <a:p>
            <a:pPr lvl="0"/>
            <a:r>
              <a:rPr lang="en-US" altLang="zh-CN" sz="14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    } while (guess != target);</a:t>
            </a:r>
          </a:p>
          <a:p>
            <a:pPr lvl="0"/>
            <a:r>
              <a:rPr lang="en-US" altLang="zh-CN" sz="14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}</a:t>
            </a:r>
            <a:endParaRPr lang="en-US" altLang="zh-CN" sz="1400" kern="0" dirty="0">
              <a:solidFill>
                <a:schemeClr val="tx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charset="0"/>
              <a:sym typeface="+mn-ea"/>
            </a:endParaRPr>
          </a:p>
        </p:txBody>
      </p:sp>
      <p:sp>
        <p:nvSpPr>
          <p:cNvPr id="7" name="学论网-www.xuelun.me"/>
          <p:cNvSpPr txBox="1"/>
          <p:nvPr/>
        </p:nvSpPr>
        <p:spPr>
          <a:xfrm>
            <a:off x="1200020" y="1937054"/>
            <a:ext cx="10267950" cy="4887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应用：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猜数小游戏</a:t>
            </a:r>
            <a:endParaRPr lang="zh-CN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E9E376F-3F77-1F2E-67C6-0AA4461E76B8}"/>
              </a:ext>
            </a:extLst>
          </p:cNvPr>
          <p:cNvSpPr txBox="1"/>
          <p:nvPr/>
        </p:nvSpPr>
        <p:spPr>
          <a:xfrm>
            <a:off x="6536987" y="5973675"/>
            <a:ext cx="52100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</a:rPr>
              <a:t>① </a:t>
            </a:r>
            <a:r>
              <a:rPr lang="zh-CN" altLang="en-US" dirty="0">
                <a:solidFill>
                  <a:srgbClr val="C00000"/>
                </a:solidFill>
              </a:rPr>
              <a:t>语句 </a:t>
            </a:r>
            <a:r>
              <a:rPr lang="en-US" altLang="zh-CN" kern="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int guess = -1;</a:t>
            </a:r>
            <a:r>
              <a:rPr lang="zh-CN" altLang="en-US" dirty="0">
                <a:solidFill>
                  <a:srgbClr val="C00000"/>
                </a:solidFill>
              </a:rPr>
              <a:t>写在循环体内可以吗？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zh-CN" altLang="zh-CN" dirty="0">
                <a:solidFill>
                  <a:srgbClr val="C00000"/>
                </a:solidFill>
              </a:rPr>
              <a:t>②</a:t>
            </a:r>
            <a:r>
              <a:rPr lang="en-US" altLang="zh-CN" dirty="0">
                <a:solidFill>
                  <a:srgbClr val="C00000"/>
                </a:solidFill>
              </a:rPr>
              <a:t> </a:t>
            </a:r>
            <a:r>
              <a:rPr lang="zh-CN" altLang="en-US" dirty="0">
                <a:solidFill>
                  <a:srgbClr val="C00000"/>
                </a:solidFill>
              </a:rPr>
              <a:t>课后练习：可以用 </a:t>
            </a:r>
            <a:r>
              <a:rPr lang="en-US" altLang="zh-CN" dirty="0">
                <a:solidFill>
                  <a:srgbClr val="C00000"/>
                </a:solidFill>
              </a:rPr>
              <a:t>while </a:t>
            </a:r>
            <a:r>
              <a:rPr lang="zh-CN" altLang="en-US" dirty="0">
                <a:solidFill>
                  <a:srgbClr val="C00000"/>
                </a:solidFill>
              </a:rPr>
              <a:t>循环解决问题吗？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80470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>
            <p:custDataLst>
              <p:tags r:id="rId2"/>
            </p:custDataLst>
          </p:nvPr>
        </p:nvSpPr>
        <p:spPr>
          <a:xfrm>
            <a:off x="1323560" y="547906"/>
            <a:ext cx="5993829" cy="353943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800" dirty="0">
                <a:solidFill>
                  <a:srgbClr val="0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Microsoft Yahei"/>
              </a:rPr>
              <a:t>What is the output of this C code?    </a:t>
            </a:r>
          </a:p>
          <a:p>
            <a:r>
              <a:rPr lang="en-US" altLang="zh-CN" sz="2800" dirty="0">
                <a:solidFill>
                  <a:srgbClr val="0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Microsoft Yahei"/>
              </a:rPr>
              <a:t>    #include &lt;</a:t>
            </a:r>
            <a:r>
              <a:rPr lang="en-US" altLang="zh-CN" sz="2800" dirty="0" err="1">
                <a:solidFill>
                  <a:srgbClr val="0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Microsoft Yahei"/>
              </a:rPr>
              <a:t>stdio.h</a:t>
            </a:r>
            <a:r>
              <a:rPr lang="en-US" altLang="zh-CN" sz="2800" dirty="0">
                <a:solidFill>
                  <a:srgbClr val="0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Microsoft Yahei"/>
              </a:rPr>
              <a:t>&gt;
    </a:t>
            </a:r>
            <a:r>
              <a:rPr lang="en-US" altLang="zh-CN" sz="2800" dirty="0" err="1">
                <a:solidFill>
                  <a:srgbClr val="0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Microsoft Yahei"/>
              </a:rPr>
              <a:t>int</a:t>
            </a:r>
            <a:r>
              <a:rPr lang="en-US" altLang="zh-CN" sz="2800" dirty="0">
                <a:solidFill>
                  <a:srgbClr val="0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Microsoft Yahei"/>
              </a:rPr>
              <a:t> main()
    {
        while ()
            </a:t>
            </a:r>
            <a:r>
              <a:rPr lang="en-US" altLang="zh-CN" sz="2800" dirty="0" err="1">
                <a:solidFill>
                  <a:srgbClr val="0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Microsoft Yahei"/>
              </a:rPr>
              <a:t>printf</a:t>
            </a:r>
            <a:r>
              <a:rPr lang="en-US" altLang="zh-CN" sz="2800" dirty="0">
                <a:solidFill>
                  <a:srgbClr val="0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Microsoft Yahei"/>
              </a:rPr>
              <a:t>("In while loop ");
        </a:t>
            </a:r>
            <a:r>
              <a:rPr lang="en-US" altLang="zh-CN" sz="2800" dirty="0" err="1">
                <a:solidFill>
                  <a:srgbClr val="0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Microsoft Yahei"/>
              </a:rPr>
              <a:t>printf</a:t>
            </a:r>
            <a:r>
              <a:rPr lang="en-US" altLang="zh-CN" sz="2800" dirty="0">
                <a:solidFill>
                  <a:srgbClr val="0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Microsoft Yahei"/>
              </a:rPr>
              <a:t>("After loop\n");
    }</a:t>
            </a:r>
            <a:endParaRPr lang="zh-CN" altLang="en-US" sz="2800" dirty="0">
              <a:solidFill>
                <a:srgbClr val="000000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Microsoft Yahei"/>
            </a:endParaRPr>
          </a:p>
        </p:txBody>
      </p:sp>
      <p:sp>
        <p:nvSpPr>
          <p:cNvPr id="9" name="TextBox 8"/>
          <p:cNvSpPr txBox="1"/>
          <p:nvPr>
            <p:custDataLst>
              <p:tags r:id="rId3"/>
            </p:custDataLst>
          </p:nvPr>
        </p:nvSpPr>
        <p:spPr>
          <a:xfrm>
            <a:off x="2469737" y="4103211"/>
            <a:ext cx="3971227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In while loop after loop</a:t>
            </a:r>
            <a:endParaRPr lang="zh-CN" altLang="en-US" sz="260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602962" y="408987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1" name="TextBox 10"/>
          <p:cNvSpPr txBox="1"/>
          <p:nvPr>
            <p:custDataLst>
              <p:tags r:id="rId5"/>
            </p:custDataLst>
          </p:nvPr>
        </p:nvSpPr>
        <p:spPr>
          <a:xfrm>
            <a:off x="2438400" y="4716621"/>
            <a:ext cx="1882077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After loop</a:t>
            </a:r>
            <a:endParaRPr lang="zh-CN" altLang="en-US" sz="260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470328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3" name="TextBox 12"/>
          <p:cNvSpPr txBox="1"/>
          <p:nvPr>
            <p:custDataLst>
              <p:tags r:id="rId7"/>
            </p:custDataLst>
          </p:nvPr>
        </p:nvSpPr>
        <p:spPr>
          <a:xfrm>
            <a:off x="2427573" y="5309711"/>
            <a:ext cx="3265869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Compile time error</a:t>
            </a:r>
            <a:endParaRPr lang="zh-CN" altLang="en-US" sz="260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60798" y="529637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5" name="TextBox 14"/>
          <p:cNvSpPr txBox="1"/>
          <p:nvPr>
            <p:custDataLst>
              <p:tags r:id="rId9"/>
            </p:custDataLst>
          </p:nvPr>
        </p:nvSpPr>
        <p:spPr>
          <a:xfrm>
            <a:off x="2438400" y="5923121"/>
            <a:ext cx="219627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Infinite loop</a:t>
            </a:r>
            <a:endParaRPr lang="zh-CN" altLang="en-US" sz="260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90978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7" name="圆角矩形 16"/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提交</a:t>
            </a:r>
          </a:p>
        </p:txBody>
      </p:sp>
      <p:grpSp>
        <p:nvGrpSpPr>
          <p:cNvPr id="7" name="组合 6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3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/>
                  <a:ea typeface="Microsoft Yahei"/>
                  <a:sym typeface="Microsoft Yahei"/>
                </a:rPr>
                <a:t>单选题</a:t>
              </a:r>
            </a:p>
          </p:txBody>
        </p:sp>
        <p:sp>
          <p:nvSpPr>
            <p:cNvPr id="6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分</a:t>
              </a: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604128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>
            <p:custDataLst>
              <p:tags r:id="rId2"/>
            </p:custDataLst>
          </p:nvPr>
        </p:nvSpPr>
        <p:spPr>
          <a:xfrm>
            <a:off x="1206500" y="775559"/>
            <a:ext cx="7114540" cy="3046988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400" b="1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What is the output of this C code?    </a:t>
            </a:r>
          </a:p>
          <a:p>
            <a:r>
              <a:rPr lang="en-US" altLang="zh-CN" sz="2400" b="1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    #include &lt;</a:t>
            </a:r>
            <a:r>
              <a:rPr lang="en-US" altLang="zh-CN" sz="2400" b="1" dirty="0" err="1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stdio.h</a:t>
            </a:r>
            <a:r>
              <a:rPr lang="en-US" altLang="zh-CN" sz="2400" b="1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&gt;
    int main() {
        int </a:t>
            </a:r>
            <a:r>
              <a:rPr lang="en-US" altLang="zh-CN" sz="2400" b="1" dirty="0" err="1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i</a:t>
            </a:r>
            <a:r>
              <a:rPr lang="en-US" altLang="zh-CN" sz="2400" b="1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 = 2;
        do {
            </a:t>
            </a:r>
            <a:r>
              <a:rPr lang="en-US" altLang="zh-CN" sz="2400" b="1" dirty="0" err="1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printf</a:t>
            </a:r>
            <a:r>
              <a:rPr lang="en-US" altLang="zh-CN" sz="2400" b="1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("Hi");
        } while (</a:t>
            </a:r>
            <a:r>
              <a:rPr lang="en-US" altLang="zh-CN" sz="2400" b="1" dirty="0" err="1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i</a:t>
            </a:r>
            <a:r>
              <a:rPr lang="en-US" altLang="zh-CN" sz="2400" b="1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 &lt; 2)
    }</a:t>
            </a:r>
            <a:endParaRPr lang="zh-CN" altLang="en-US" sz="2400" b="1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9" name="TextBox 8"/>
          <p:cNvSpPr txBox="1"/>
          <p:nvPr>
            <p:custDataLst>
              <p:tags r:id="rId3"/>
            </p:custDataLst>
          </p:nvPr>
        </p:nvSpPr>
        <p:spPr>
          <a:xfrm>
            <a:off x="2436113" y="4093051"/>
            <a:ext cx="3265869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Compile time error</a:t>
            </a:r>
            <a:endParaRPr lang="zh-CN" altLang="en-US" sz="260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569338" y="407971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1" name="TextBox 10"/>
          <p:cNvSpPr txBox="1"/>
          <p:nvPr>
            <p:custDataLst>
              <p:tags r:id="rId5"/>
            </p:custDataLst>
          </p:nvPr>
        </p:nvSpPr>
        <p:spPr>
          <a:xfrm>
            <a:off x="2436113" y="4726781"/>
            <a:ext cx="106553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Hi Hi</a:t>
            </a:r>
            <a:endParaRPr lang="zh-CN" altLang="en-US" sz="260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69338" y="471344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3" name="TextBox 12"/>
          <p:cNvSpPr txBox="1"/>
          <p:nvPr>
            <p:custDataLst>
              <p:tags r:id="rId7"/>
            </p:custDataLst>
          </p:nvPr>
        </p:nvSpPr>
        <p:spPr>
          <a:xfrm>
            <a:off x="2455354" y="5350351"/>
            <a:ext cx="62420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Hi</a:t>
            </a:r>
            <a:endParaRPr lang="zh-CN" altLang="en-US" sz="260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88579" y="533701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5" name="TextBox 14"/>
          <p:cNvSpPr txBox="1"/>
          <p:nvPr>
            <p:custDataLst>
              <p:tags r:id="rId9"/>
            </p:custDataLst>
          </p:nvPr>
        </p:nvSpPr>
        <p:spPr>
          <a:xfrm>
            <a:off x="2455354" y="5971223"/>
            <a:ext cx="1214501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Varies</a:t>
            </a:r>
            <a:endParaRPr lang="zh-CN" altLang="en-US" sz="260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88579" y="5957888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7" name="圆角矩形 16"/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提交</a:t>
            </a:r>
          </a:p>
        </p:txBody>
      </p:sp>
      <p:grpSp>
        <p:nvGrpSpPr>
          <p:cNvPr id="7" name="组合 6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3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/>
                  <a:ea typeface="Microsoft Yahei"/>
                  <a:sym typeface="Microsoft Yahei"/>
                </a:rPr>
                <a:t>单选题</a:t>
              </a:r>
            </a:p>
          </p:txBody>
        </p:sp>
        <p:sp>
          <p:nvSpPr>
            <p:cNvPr id="6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分</a:t>
              </a: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640506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-18415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for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循环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2" name="学论网-www.xuelun.me"/>
          <p:cNvSpPr txBox="1"/>
          <p:nvPr/>
        </p:nvSpPr>
        <p:spPr>
          <a:xfrm>
            <a:off x="6077585" y="1704340"/>
            <a:ext cx="5605145" cy="49860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r>
              <a:rPr lang="en-US" altLang="zh-CN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设置初始值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，只执行一次，可以为零个、一个或多个变量设置初始值。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r>
              <a:rPr lang="en-US" altLang="zh-CN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循环条件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表达式，根据表达式的真假来决定是否继续执行循环。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r>
              <a:rPr lang="en-US" altLang="zh-CN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修改循环变量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，如使循环变量增加，它是执行完循环体后才进行的。</a:t>
            </a:r>
          </a:p>
        </p:txBody>
      </p:sp>
      <p:sp>
        <p:nvSpPr>
          <p:cNvPr id="3" name="学论网-矩形 1"/>
          <p:cNvSpPr/>
          <p:nvPr/>
        </p:nvSpPr>
        <p:spPr>
          <a:xfrm>
            <a:off x="75565" y="2323465"/>
            <a:ext cx="5596890" cy="287909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l"/>
            <a:r>
              <a:rPr lang="en-US" altLang="zh-CN" sz="28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for(</a:t>
            </a:r>
            <a:r>
              <a:rPr lang="zh-CN" altLang="en-US" sz="28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表达式</a:t>
            </a:r>
            <a:r>
              <a:rPr lang="en-US" altLang="zh-CN" sz="28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1</a:t>
            </a:r>
            <a:r>
              <a:rPr lang="zh-CN" altLang="en-US" sz="28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；表达式</a:t>
            </a:r>
            <a:r>
              <a:rPr lang="en-US" altLang="zh-CN" sz="28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2</a:t>
            </a:r>
            <a:r>
              <a:rPr lang="zh-CN" altLang="en-US" sz="28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；表达式</a:t>
            </a:r>
            <a:r>
              <a:rPr lang="en-US" altLang="zh-CN" sz="28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3</a:t>
            </a:r>
            <a:r>
              <a:rPr lang="zh-CN" altLang="en-US" sz="28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）</a:t>
            </a:r>
            <a:endParaRPr lang="en-US" altLang="zh-CN" sz="2800" kern="0" dirty="0">
              <a:solidFill>
                <a:schemeClr val="tx1"/>
              </a:solidFill>
              <a:latin typeface="Consolas" panose="020B060902020403020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lvl="0" algn="l"/>
            <a:r>
              <a:rPr lang="en-US" altLang="zh-CN" sz="28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{</a:t>
            </a:r>
          </a:p>
          <a:p>
            <a:pPr lvl="0" algn="l"/>
            <a:r>
              <a:rPr lang="en-US" altLang="zh-CN" sz="28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    </a:t>
            </a:r>
            <a:r>
              <a:rPr lang="zh-CN" altLang="en-US" sz="28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语句块</a:t>
            </a:r>
            <a:endParaRPr lang="en-US" altLang="zh-CN" sz="2800" kern="0" dirty="0">
              <a:solidFill>
                <a:schemeClr val="tx1"/>
              </a:solidFill>
              <a:latin typeface="Consolas" panose="020B060902020403020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lvl="0" algn="l"/>
            <a:r>
              <a:rPr lang="en-US" altLang="zh-CN" sz="28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}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-18415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for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循环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3" name="学论网-矩形 1"/>
          <p:cNvSpPr/>
          <p:nvPr/>
        </p:nvSpPr>
        <p:spPr>
          <a:xfrm>
            <a:off x="564515" y="2237740"/>
            <a:ext cx="4897755" cy="190119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for(</a:t>
            </a:r>
            <a:r>
              <a:rPr lang="zh-CN" altLang="en-US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表达式</a:t>
            </a:r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1</a:t>
            </a:r>
            <a:r>
              <a:rPr lang="zh-CN" altLang="en-US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；表达式</a:t>
            </a:r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2</a:t>
            </a:r>
            <a:r>
              <a:rPr lang="zh-CN" altLang="en-US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；表达式</a:t>
            </a:r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3</a:t>
            </a:r>
            <a:r>
              <a:rPr lang="zh-CN" altLang="en-US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）</a:t>
            </a:r>
            <a:endParaRPr lang="en-US" altLang="zh-CN" sz="2400" kern="0" dirty="0">
              <a:solidFill>
                <a:schemeClr val="tx1"/>
              </a:solidFill>
              <a:latin typeface="Consolas" panose="020B060902020403020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{</a:t>
            </a:r>
          </a:p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    </a:t>
            </a:r>
            <a:r>
              <a:rPr lang="zh-CN" altLang="en-US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语句块</a:t>
            </a:r>
            <a:endParaRPr lang="en-US" altLang="zh-CN" sz="2400" kern="0" dirty="0">
              <a:solidFill>
                <a:schemeClr val="tx1"/>
              </a:solidFill>
              <a:latin typeface="Consolas" panose="020B060902020403020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}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7490" y="1710055"/>
            <a:ext cx="3498850" cy="490093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-18415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for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循环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2" name="学论网-www.xuelun.me"/>
          <p:cNvSpPr txBox="1"/>
          <p:nvPr/>
        </p:nvSpPr>
        <p:spPr>
          <a:xfrm>
            <a:off x="578485" y="4138930"/>
            <a:ext cx="10885805" cy="159671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最常见的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for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循环语句形式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值得注意的是表达式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，要使循环变量趋于使循环结构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结束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的方向进行，避免死循环</a:t>
            </a:r>
          </a:p>
        </p:txBody>
      </p:sp>
      <p:sp>
        <p:nvSpPr>
          <p:cNvPr id="3" name="学论网-矩形 1"/>
          <p:cNvSpPr/>
          <p:nvPr/>
        </p:nvSpPr>
        <p:spPr>
          <a:xfrm>
            <a:off x="578485" y="1873250"/>
            <a:ext cx="8270240" cy="203644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l"/>
            <a:r>
              <a:rPr lang="en-US" altLang="zh-CN" sz="28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for(</a:t>
            </a:r>
            <a:r>
              <a:rPr lang="zh-CN" altLang="en-US" sz="28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循环变量赋初值；循环条件；循环变量更新）</a:t>
            </a:r>
            <a:endParaRPr lang="en-US" altLang="zh-CN" sz="2800" kern="0" dirty="0">
              <a:solidFill>
                <a:schemeClr val="tx1"/>
              </a:solidFill>
              <a:latin typeface="Consolas" panose="020B060902020403020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lvl="0" algn="l"/>
            <a:r>
              <a:rPr lang="en-US" altLang="zh-CN" sz="28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{</a:t>
            </a:r>
          </a:p>
          <a:p>
            <a:pPr lvl="0" algn="l"/>
            <a:r>
              <a:rPr lang="en-US" altLang="zh-CN" sz="28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    </a:t>
            </a:r>
            <a:r>
              <a:rPr lang="zh-CN" altLang="en-US" sz="28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语句块</a:t>
            </a:r>
            <a:endParaRPr lang="en-US" altLang="zh-CN" sz="2800" kern="0" dirty="0">
              <a:solidFill>
                <a:schemeClr val="tx1"/>
              </a:solidFill>
              <a:latin typeface="Consolas" panose="020B060902020403020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lvl="0" algn="l"/>
            <a:r>
              <a:rPr lang="en-US" altLang="zh-CN" sz="28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}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>
            <p:custDataLst>
              <p:tags r:id="rId2"/>
            </p:custDataLst>
          </p:nvPr>
        </p:nvSpPr>
        <p:spPr>
          <a:xfrm>
            <a:off x="1206500" y="843172"/>
            <a:ext cx="9071229" cy="3108543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800" b="1" dirty="0">
                <a:solidFill>
                  <a:srgbClr val="0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Microsoft Yahei"/>
              </a:rPr>
              <a:t>What is the output of this C code?    </a:t>
            </a:r>
          </a:p>
          <a:p>
            <a:pPr fontAlgn="t" latinLnBrk="1"/>
            <a:r>
              <a:rPr lang="en-US" altLang="zh-CN" sz="2800" b="1" dirty="0">
                <a:solidFill>
                  <a:srgbClr val="0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Microsoft Yahei"/>
              </a:rPr>
              <a:t>    #include &lt;</a:t>
            </a:r>
            <a:r>
              <a:rPr lang="en-US" altLang="zh-CN" sz="2800" b="1" dirty="0" err="1">
                <a:solidFill>
                  <a:srgbClr val="0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Microsoft Yahei"/>
              </a:rPr>
              <a:t>stdio.h</a:t>
            </a:r>
            <a:r>
              <a:rPr lang="en-US" altLang="zh-CN" sz="2800" b="1" dirty="0">
                <a:solidFill>
                  <a:srgbClr val="0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Microsoft Yahei"/>
              </a:rPr>
              <a:t>&gt;
    int main() {
        </a:t>
            </a:r>
            <a:r>
              <a:rPr lang="en-US" altLang="zh-CN" sz="2800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int k = 0;</a:t>
            </a:r>
            <a:endParaRPr lang="zh-CN" altLang="zh-CN" sz="2800" b="1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 fontAlgn="t" latinLnBrk="1"/>
            <a:r>
              <a:rPr lang="en-US" altLang="zh-CN" sz="2800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 for (k)</a:t>
            </a:r>
            <a:endParaRPr lang="zh-CN" altLang="zh-CN" sz="2800" b="1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 fontAlgn="t" latinLnBrk="1"/>
            <a:r>
              <a:rPr lang="en-US" altLang="zh-CN" sz="2800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     </a:t>
            </a:r>
            <a:r>
              <a:rPr lang="en-US" altLang="zh-CN" sz="2800" b="1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printf</a:t>
            </a:r>
            <a:r>
              <a:rPr lang="en-US" altLang="zh-CN" sz="2800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("Hello");</a:t>
            </a:r>
            <a:endParaRPr lang="zh-CN" altLang="zh-CN" sz="2800" b="1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 fontAlgn="t" latinLnBrk="1"/>
            <a:r>
              <a:rPr lang="en-US" altLang="zh-CN" sz="2800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}</a:t>
            </a:r>
            <a:endParaRPr lang="zh-CN" altLang="zh-CN" sz="2800" b="1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9" name="TextBox 8"/>
          <p:cNvSpPr txBox="1"/>
          <p:nvPr>
            <p:custDataLst>
              <p:tags r:id="rId3"/>
            </p:custDataLst>
          </p:nvPr>
        </p:nvSpPr>
        <p:spPr>
          <a:xfrm>
            <a:off x="2316480" y="4214971"/>
            <a:ext cx="3265869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Compile time error</a:t>
            </a:r>
            <a:endParaRPr lang="zh-CN" altLang="en-US" sz="260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449705" y="420163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1" name="TextBox 10"/>
          <p:cNvSpPr txBox="1"/>
          <p:nvPr>
            <p:custDataLst>
              <p:tags r:id="rId5"/>
            </p:custDataLst>
          </p:nvPr>
        </p:nvSpPr>
        <p:spPr>
          <a:xfrm>
            <a:off x="2316480" y="4843463"/>
            <a:ext cx="105600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hello</a:t>
            </a:r>
            <a:endParaRPr lang="zh-CN" altLang="en-US" sz="260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449705" y="4830128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3" name="TextBox 12"/>
          <p:cNvSpPr txBox="1"/>
          <p:nvPr>
            <p:custDataLst>
              <p:tags r:id="rId7"/>
            </p:custDataLst>
          </p:nvPr>
        </p:nvSpPr>
        <p:spPr>
          <a:xfrm>
            <a:off x="2316480" y="5387023"/>
            <a:ext cx="158623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Nothing</a:t>
            </a:r>
            <a:endParaRPr lang="zh-CN" altLang="en-US" sz="260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449705" y="5373688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5" name="TextBox 14"/>
          <p:cNvSpPr txBox="1"/>
          <p:nvPr>
            <p:custDataLst>
              <p:tags r:id="rId9"/>
            </p:custDataLst>
          </p:nvPr>
        </p:nvSpPr>
        <p:spPr>
          <a:xfrm>
            <a:off x="2316480" y="5971223"/>
            <a:ext cx="1214501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Varies</a:t>
            </a:r>
            <a:endParaRPr lang="zh-CN" altLang="en-US" sz="260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449705" y="5957888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9" name="圆角矩形 18"/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提交</a:t>
            </a:r>
          </a:p>
        </p:txBody>
      </p:sp>
      <p:grpSp>
        <p:nvGrpSpPr>
          <p:cNvPr id="7" name="组合 6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3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/>
                  <a:ea typeface="Microsoft Yahei"/>
                  <a:sym typeface="Microsoft Yahei"/>
                </a:rPr>
                <a:t>单选题</a:t>
              </a:r>
            </a:p>
          </p:txBody>
        </p:sp>
        <p:sp>
          <p:nvSpPr>
            <p:cNvPr id="6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分</a:t>
              </a: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007677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>
            <p:custDataLst>
              <p:tags r:id="rId2"/>
            </p:custDataLst>
          </p:nvPr>
        </p:nvSpPr>
        <p:spPr>
          <a:xfrm>
            <a:off x="1206500" y="955587"/>
            <a:ext cx="5993829" cy="2677656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400" b="1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What is the output of this C code?    </a:t>
            </a:r>
          </a:p>
          <a:p>
            <a:r>
              <a:rPr lang="en-US" altLang="zh-CN" sz="2400" b="1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    #include &lt;</a:t>
            </a:r>
            <a:r>
              <a:rPr lang="en-US" altLang="zh-CN" sz="2400" b="1" dirty="0" err="1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stdio.h</a:t>
            </a:r>
            <a:r>
              <a:rPr lang="en-US" altLang="zh-CN" sz="2400" b="1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&gt;
    int main() {
        double k = 0;
        for (k = 0.0; k &lt; 3.0; k++)
            </a:t>
            </a:r>
            <a:r>
              <a:rPr lang="en-US" altLang="zh-CN" sz="2400" b="1" dirty="0" err="1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printf</a:t>
            </a:r>
            <a:r>
              <a:rPr lang="en-US" altLang="zh-CN" sz="2400" b="1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("Hello");
    }</a:t>
            </a:r>
            <a:endParaRPr lang="zh-CN" altLang="en-US" sz="2400" b="1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9" name="TextBox 8"/>
          <p:cNvSpPr txBox="1"/>
          <p:nvPr>
            <p:custDataLst>
              <p:tags r:id="rId3"/>
            </p:custDataLst>
          </p:nvPr>
        </p:nvSpPr>
        <p:spPr>
          <a:xfrm>
            <a:off x="2438400" y="4052411"/>
            <a:ext cx="2575306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Run time error</a:t>
            </a:r>
            <a:endParaRPr lang="zh-CN" altLang="en-US" sz="260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571625" y="403907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1" name="TextBox 10"/>
          <p:cNvSpPr txBox="1"/>
          <p:nvPr>
            <p:custDataLst>
              <p:tags r:id="rId5"/>
            </p:custDataLst>
          </p:nvPr>
        </p:nvSpPr>
        <p:spPr>
          <a:xfrm>
            <a:off x="2440305" y="4686141"/>
            <a:ext cx="367900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Hello is printed thrice</a:t>
            </a:r>
            <a:endParaRPr lang="zh-CN" altLang="en-US" sz="260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3530" y="467280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3" name="TextBox 12"/>
          <p:cNvSpPr txBox="1"/>
          <p:nvPr>
            <p:custDataLst>
              <p:tags r:id="rId7"/>
            </p:custDataLst>
          </p:nvPr>
        </p:nvSpPr>
        <p:spPr>
          <a:xfrm>
            <a:off x="2440305" y="5330031"/>
            <a:ext cx="3610737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Hello is printed twice</a:t>
            </a:r>
            <a:endParaRPr lang="zh-CN" altLang="en-US" sz="260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3530" y="531669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5" name="TextBox 14"/>
          <p:cNvSpPr txBox="1"/>
          <p:nvPr>
            <p:custDataLst>
              <p:tags r:id="rId9"/>
            </p:custDataLst>
          </p:nvPr>
        </p:nvSpPr>
        <p:spPr>
          <a:xfrm>
            <a:off x="2438399" y="5971223"/>
            <a:ext cx="4139819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Hello is printed infinitely</a:t>
            </a:r>
            <a:endParaRPr lang="zh-CN" altLang="en-US" sz="260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4" y="5957888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7" name="圆角矩形 16"/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提交</a:t>
            </a:r>
          </a:p>
        </p:txBody>
      </p:sp>
      <p:grpSp>
        <p:nvGrpSpPr>
          <p:cNvPr id="7" name="组合 6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3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/>
                  <a:ea typeface="Microsoft Yahei"/>
                  <a:sym typeface="Microsoft Yahei"/>
                </a:rPr>
                <a:t>单选题</a:t>
              </a:r>
            </a:p>
          </p:txBody>
        </p:sp>
        <p:sp>
          <p:nvSpPr>
            <p:cNvPr id="6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分</a:t>
              </a: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409831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-18415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for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循环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2" name="学论网-www.xuelun.me"/>
          <p:cNvSpPr txBox="1"/>
          <p:nvPr/>
        </p:nvSpPr>
        <p:spPr>
          <a:xfrm>
            <a:off x="1743075" y="3638550"/>
            <a:ext cx="8145780" cy="46164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等价于</a:t>
            </a:r>
          </a:p>
        </p:txBody>
      </p:sp>
      <p:sp>
        <p:nvSpPr>
          <p:cNvPr id="3" name="学论网-矩形 1"/>
          <p:cNvSpPr/>
          <p:nvPr/>
        </p:nvSpPr>
        <p:spPr>
          <a:xfrm>
            <a:off x="2299335" y="1638935"/>
            <a:ext cx="6765290" cy="2057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int sum = 0;</a:t>
            </a:r>
          </a:p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for(int i = 1</a:t>
            </a:r>
            <a:r>
              <a:rPr lang="zh-CN" altLang="en-US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；</a:t>
            </a:r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i &lt;= 10</a:t>
            </a:r>
            <a:r>
              <a:rPr lang="zh-CN" altLang="en-US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；</a:t>
            </a:r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i++</a:t>
            </a:r>
            <a:r>
              <a:rPr lang="zh-CN" altLang="en-US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）</a:t>
            </a:r>
            <a:endParaRPr lang="en-US" altLang="zh-CN" sz="2400" kern="0" dirty="0">
              <a:solidFill>
                <a:schemeClr val="tx1"/>
              </a:solidFill>
              <a:latin typeface="Consolas" panose="020B060902020403020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{</a:t>
            </a:r>
          </a:p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    sum += i;</a:t>
            </a:r>
          </a:p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}</a:t>
            </a:r>
          </a:p>
        </p:txBody>
      </p:sp>
      <p:sp>
        <p:nvSpPr>
          <p:cNvPr id="4" name="学论网-矩形 1"/>
          <p:cNvSpPr/>
          <p:nvPr/>
        </p:nvSpPr>
        <p:spPr>
          <a:xfrm>
            <a:off x="2299335" y="4157345"/>
            <a:ext cx="6764655" cy="219583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int i = 1</a:t>
            </a:r>
            <a:r>
              <a:rPr lang="zh-CN" altLang="en-US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，</a:t>
            </a:r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sum = 0;</a:t>
            </a:r>
            <a:endParaRPr lang="en-US" altLang="zh-CN" sz="2400" kern="0" dirty="0">
              <a:solidFill>
                <a:schemeClr val="tx1"/>
              </a:solidFill>
              <a:latin typeface="Consolas" panose="020B060902020403020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while(i &lt;= 10)</a:t>
            </a:r>
            <a:endParaRPr lang="en-US" altLang="zh-CN" sz="2400" kern="0" dirty="0">
              <a:solidFill>
                <a:schemeClr val="tx1"/>
              </a:solidFill>
              <a:latin typeface="Consolas" panose="020B060902020403020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{</a:t>
            </a:r>
            <a:endParaRPr lang="en-US" altLang="zh-CN" sz="2400" kern="0" dirty="0">
              <a:solidFill>
                <a:schemeClr val="tx1"/>
              </a:solidFill>
              <a:latin typeface="Consolas" panose="020B060902020403020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    sum += i;</a:t>
            </a:r>
            <a:endParaRPr lang="en-US" altLang="zh-CN" sz="2400" kern="0" dirty="0">
              <a:solidFill>
                <a:schemeClr val="tx1"/>
              </a:solidFill>
              <a:latin typeface="Consolas" panose="020B060902020403020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    i++;</a:t>
            </a:r>
            <a:endParaRPr lang="en-US" altLang="zh-CN" sz="2400" kern="0" dirty="0">
              <a:solidFill>
                <a:schemeClr val="tx1"/>
              </a:solidFill>
              <a:latin typeface="Consolas" panose="020B060902020403020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}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D4FD19C-05AA-17F8-B8A9-2E76DB41CD2A}"/>
              </a:ext>
            </a:extLst>
          </p:cNvPr>
          <p:cNvSpPr txBox="1"/>
          <p:nvPr/>
        </p:nvSpPr>
        <p:spPr>
          <a:xfrm>
            <a:off x="7444796" y="4849733"/>
            <a:ext cx="33121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C00000"/>
                </a:solidFill>
              </a:rPr>
              <a:t>for </a:t>
            </a:r>
            <a:r>
              <a:rPr lang="zh-CN" altLang="en-US" b="1" dirty="0">
                <a:solidFill>
                  <a:srgbClr val="C00000"/>
                </a:solidFill>
              </a:rPr>
              <a:t>是一种特殊的 </a:t>
            </a:r>
            <a:r>
              <a:rPr lang="en-US" altLang="zh-CN" b="1" dirty="0">
                <a:solidFill>
                  <a:srgbClr val="C00000"/>
                </a:solidFill>
              </a:rPr>
              <a:t>while </a:t>
            </a:r>
            <a:r>
              <a:rPr lang="zh-CN" altLang="en-US" b="1" dirty="0">
                <a:solidFill>
                  <a:srgbClr val="C00000"/>
                </a:solidFill>
              </a:rPr>
              <a:t>循环？</a:t>
            </a:r>
            <a:endParaRPr lang="en-US" altLang="zh-CN" b="1" dirty="0">
              <a:solidFill>
                <a:srgbClr val="C00000"/>
              </a:solidFill>
            </a:endParaRPr>
          </a:p>
          <a:p>
            <a:r>
              <a:rPr lang="zh-CN" altLang="en-US" b="1" dirty="0">
                <a:solidFill>
                  <a:srgbClr val="C00000"/>
                </a:solidFill>
              </a:rPr>
              <a:t>那为什么需要 </a:t>
            </a:r>
            <a:r>
              <a:rPr lang="en-US" altLang="zh-CN" b="1" dirty="0">
                <a:solidFill>
                  <a:srgbClr val="C00000"/>
                </a:solidFill>
              </a:rPr>
              <a:t>for </a:t>
            </a:r>
            <a:r>
              <a:rPr lang="zh-CN" altLang="en-US" b="1" dirty="0">
                <a:solidFill>
                  <a:srgbClr val="C00000"/>
                </a:solidFill>
              </a:rPr>
              <a:t>语句呢？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-18415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for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循环 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– pk while</a:t>
            </a:r>
            <a:endParaRPr lang="zh-CN" altLang="en-US" sz="2800" b="1" kern="0" dirty="0">
              <a:gradFill>
                <a:gsLst>
                  <a:gs pos="100000">
                    <a:schemeClr val="bg1"/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l="100000" b="100000"/>
                </a:path>
              </a:gradFill>
              <a:ea typeface="微软雅黑" panose="020B0503020204020204" pitchFamily="34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F9827536-F00D-5BE4-7C1F-9EA55683FE91}"/>
              </a:ext>
            </a:extLst>
          </p:cNvPr>
          <p:cNvSpPr txBox="1"/>
          <p:nvPr/>
        </p:nvSpPr>
        <p:spPr>
          <a:xfrm>
            <a:off x="6260798" y="2091851"/>
            <a:ext cx="4789824" cy="3139321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</a:rPr>
              <a:t>#include&lt;stdio.h&gt;</a:t>
            </a:r>
          </a:p>
          <a:p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int main() {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int sum = 0;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</a:t>
            </a:r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</a:rPr>
              <a:t>int </a:t>
            </a:r>
            <a:r>
              <a:rPr lang="en-US" altLang="zh-CN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</a:rPr>
              <a:t> = 1</a:t>
            </a:r>
            <a:r>
              <a:rPr lang="en-US" altLang="zh-CN" dirty="0">
                <a:latin typeface="Consolas" panose="020B0609020204030204" pitchFamily="49" charset="0"/>
              </a:rPr>
              <a:t>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</a:t>
            </a:r>
            <a:r>
              <a:rPr lang="en-US" altLang="zh-CN" b="1" dirty="0">
                <a:latin typeface="Consolas" panose="020B0609020204030204" pitchFamily="49" charset="0"/>
              </a:rPr>
              <a:t>while</a:t>
            </a:r>
            <a:r>
              <a:rPr lang="en-US" altLang="zh-CN" dirty="0">
                <a:latin typeface="Consolas" panose="020B0609020204030204" pitchFamily="49" charset="0"/>
              </a:rPr>
              <a:t> (</a:t>
            </a:r>
            <a:r>
              <a:rPr lang="en-US" altLang="zh-CN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</a:rPr>
              <a:t> &lt; 100</a:t>
            </a:r>
            <a:r>
              <a:rPr lang="en-US" altLang="zh-CN" dirty="0">
                <a:latin typeface="Consolas" panose="020B0609020204030204" pitchFamily="49" charset="0"/>
              </a:rPr>
              <a:t>) {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    sum += </a:t>
            </a:r>
            <a:r>
              <a:rPr lang="en-US" altLang="zh-CN" dirty="0" err="1">
                <a:latin typeface="Consolas" panose="020B0609020204030204" pitchFamily="49" charset="0"/>
              </a:rPr>
              <a:t>i</a:t>
            </a:r>
            <a:r>
              <a:rPr lang="en-US" altLang="zh-CN" dirty="0">
                <a:latin typeface="Consolas" panose="020B0609020204030204" pitchFamily="49" charset="0"/>
              </a:rPr>
              <a:t>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    </a:t>
            </a:r>
            <a:r>
              <a:rPr lang="en-US" altLang="zh-CN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}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</a:t>
            </a:r>
            <a:r>
              <a:rPr lang="en-US" altLang="zh-CN" dirty="0" err="1">
                <a:latin typeface="Consolas" panose="020B0609020204030204" pitchFamily="49" charset="0"/>
              </a:rPr>
              <a:t>printf</a:t>
            </a:r>
            <a:r>
              <a:rPr lang="en-US" altLang="zh-CN" dirty="0">
                <a:latin typeface="Consolas" panose="020B0609020204030204" pitchFamily="49" charset="0"/>
              </a:rPr>
              <a:t>("The sum is %</a:t>
            </a:r>
            <a:r>
              <a:rPr lang="en-US" altLang="zh-CN" dirty="0" err="1">
                <a:latin typeface="Consolas" panose="020B0609020204030204" pitchFamily="49" charset="0"/>
              </a:rPr>
              <a:t>d",sum</a:t>
            </a:r>
            <a:r>
              <a:rPr lang="en-US" altLang="zh-CN" dirty="0">
                <a:latin typeface="Consolas" panose="020B0609020204030204" pitchFamily="49" charset="0"/>
              </a:rPr>
              <a:t>);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} </a:t>
            </a:r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95AC98C-F010-D7AA-33C5-6C08303A8CC2}"/>
              </a:ext>
            </a:extLst>
          </p:cNvPr>
          <p:cNvSpPr txBox="1"/>
          <p:nvPr/>
        </p:nvSpPr>
        <p:spPr>
          <a:xfrm>
            <a:off x="946254" y="2091851"/>
            <a:ext cx="4789824" cy="3139321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/*for loop*/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#include&lt;stdio.h&gt;</a:t>
            </a:r>
          </a:p>
          <a:p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int main() {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int sum = 0;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</a:t>
            </a:r>
            <a:r>
              <a:rPr lang="en-US" altLang="zh-CN" b="1" dirty="0">
                <a:latin typeface="Consolas" panose="020B0609020204030204" pitchFamily="49" charset="0"/>
              </a:rPr>
              <a:t>for</a:t>
            </a:r>
            <a:r>
              <a:rPr lang="en-US" altLang="zh-CN" dirty="0">
                <a:latin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C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</a:rPr>
              <a:t>int </a:t>
            </a:r>
            <a:r>
              <a:rPr lang="en-US" altLang="zh-CN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</a:rPr>
              <a:t> = 1; </a:t>
            </a:r>
            <a:r>
              <a:rPr lang="en-US" altLang="zh-CN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</a:rPr>
              <a:t> &lt; 100; </a:t>
            </a:r>
            <a:r>
              <a:rPr lang="en-US" altLang="zh-CN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</a:rPr>
              <a:t>++) </a:t>
            </a:r>
            <a:r>
              <a:rPr lang="en-US" altLang="zh-CN" dirty="0">
                <a:latin typeface="Consolas" panose="020B0609020204030204" pitchFamily="49" charset="0"/>
              </a:rPr>
              <a:t>{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    sum += </a:t>
            </a:r>
            <a:r>
              <a:rPr lang="en-US" altLang="zh-CN" dirty="0" err="1">
                <a:latin typeface="Consolas" panose="020B0609020204030204" pitchFamily="49" charset="0"/>
              </a:rPr>
              <a:t>i</a:t>
            </a:r>
            <a:r>
              <a:rPr lang="en-US" altLang="zh-CN" dirty="0">
                <a:latin typeface="Consolas" panose="020B0609020204030204" pitchFamily="49" charset="0"/>
              </a:rPr>
              <a:t>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}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</a:t>
            </a:r>
            <a:r>
              <a:rPr lang="en-US" altLang="zh-CN" dirty="0" err="1">
                <a:latin typeface="Consolas" panose="020B0609020204030204" pitchFamily="49" charset="0"/>
              </a:rPr>
              <a:t>printf</a:t>
            </a:r>
            <a:r>
              <a:rPr lang="en-US" altLang="zh-CN" dirty="0">
                <a:latin typeface="Consolas" panose="020B0609020204030204" pitchFamily="49" charset="0"/>
              </a:rPr>
              <a:t>("The sum is %</a:t>
            </a:r>
            <a:r>
              <a:rPr lang="en-US" altLang="zh-CN" dirty="0" err="1">
                <a:latin typeface="Consolas" panose="020B0609020204030204" pitchFamily="49" charset="0"/>
              </a:rPr>
              <a:t>d",sum</a:t>
            </a:r>
            <a:r>
              <a:rPr lang="en-US" altLang="zh-CN" dirty="0">
                <a:latin typeface="Consolas" panose="020B0609020204030204" pitchFamily="49" charset="0"/>
              </a:rPr>
              <a:t>);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} </a:t>
            </a:r>
          </a:p>
          <a:p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A60C949-A173-4492-2AC7-807A9BC9F87F}"/>
              </a:ext>
            </a:extLst>
          </p:cNvPr>
          <p:cNvSpPr txBox="1"/>
          <p:nvPr/>
        </p:nvSpPr>
        <p:spPr>
          <a:xfrm>
            <a:off x="2703574" y="5307879"/>
            <a:ext cx="711444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假设在</a:t>
            </a:r>
            <a:r>
              <a:rPr lang="zh-CN" altLang="en-US" b="1" dirty="0">
                <a:solidFill>
                  <a:srgbClr val="C00000"/>
                </a:solidFill>
              </a:rPr>
              <a:t>循环体不存在修改循环变量</a:t>
            </a:r>
            <a:r>
              <a:rPr lang="zh-CN" altLang="en-US" dirty="0"/>
              <a:t>的语句 </a:t>
            </a:r>
            <a:r>
              <a:rPr lang="en-US" altLang="zh-CN" dirty="0"/>
              <a:t>…</a:t>
            </a:r>
          </a:p>
          <a:p>
            <a:r>
              <a:rPr lang="en-US" altLang="zh-CN" dirty="0"/>
              <a:t>① </a:t>
            </a:r>
            <a:r>
              <a:rPr lang="zh-CN" altLang="en-US" dirty="0"/>
              <a:t>现实中有大量问题需要</a:t>
            </a:r>
            <a:r>
              <a:rPr lang="zh-CN" altLang="en-US" b="1" dirty="0">
                <a:solidFill>
                  <a:srgbClr val="C00000"/>
                </a:solidFill>
              </a:rPr>
              <a:t>枚举</a:t>
            </a:r>
            <a:r>
              <a:rPr lang="zh-CN" altLang="en-US" dirty="0"/>
              <a:t>有明确开始、结束数字或事物的序列</a:t>
            </a:r>
            <a:endParaRPr lang="en-US" altLang="zh-CN" dirty="0"/>
          </a:p>
          <a:p>
            <a:r>
              <a:rPr lang="zh-CN" altLang="en-US" dirty="0"/>
              <a:t>② 使用 </a:t>
            </a:r>
            <a:r>
              <a:rPr lang="en-US" altLang="zh-CN" dirty="0"/>
              <a:t>for </a:t>
            </a:r>
            <a:r>
              <a:rPr lang="zh-CN" altLang="en-US" dirty="0"/>
              <a:t>语句符合自然语言语义，</a:t>
            </a:r>
            <a:r>
              <a:rPr lang="zh-CN" altLang="en-US" b="1" dirty="0"/>
              <a:t>语法简明</a:t>
            </a:r>
            <a:r>
              <a:rPr lang="zh-CN" altLang="en-US" dirty="0"/>
              <a:t>（开始，结束，增量）</a:t>
            </a:r>
            <a:endParaRPr lang="en-US" altLang="zh-CN" dirty="0"/>
          </a:p>
          <a:p>
            <a:r>
              <a:rPr lang="zh-CN" altLang="zh-CN" dirty="0"/>
              <a:t>③</a:t>
            </a:r>
            <a:r>
              <a:rPr lang="en-US" altLang="zh-CN" dirty="0"/>
              <a:t> </a:t>
            </a:r>
            <a:r>
              <a:rPr lang="zh-CN" altLang="en-US" b="1" dirty="0"/>
              <a:t>易于调试</a:t>
            </a:r>
            <a:r>
              <a:rPr lang="zh-CN" altLang="en-US" dirty="0"/>
              <a:t>，不易出现死循环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462227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-18415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for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循环 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– 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循环变量定义位置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F9827536-F00D-5BE4-7C1F-9EA55683FE91}"/>
              </a:ext>
            </a:extLst>
          </p:cNvPr>
          <p:cNvSpPr txBox="1"/>
          <p:nvPr/>
        </p:nvSpPr>
        <p:spPr>
          <a:xfrm>
            <a:off x="6260798" y="2091851"/>
            <a:ext cx="4789824" cy="3139321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/*for loop*/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#include&lt;stdio.h&gt;</a:t>
            </a:r>
          </a:p>
          <a:p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int main() {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int sum = 0;</a:t>
            </a:r>
          </a:p>
          <a:p>
            <a:r>
              <a:rPr lang="en-US" altLang="zh-CN" b="1" dirty="0">
                <a:latin typeface="Consolas" panose="020B0609020204030204" pitchFamily="49" charset="0"/>
              </a:rPr>
              <a:t>    for</a:t>
            </a:r>
            <a:r>
              <a:rPr lang="en-US" altLang="zh-CN" dirty="0">
                <a:latin typeface="Consolas" panose="020B0609020204030204" pitchFamily="49" charset="0"/>
              </a:rPr>
              <a:t> (</a:t>
            </a:r>
            <a:r>
              <a:rPr lang="en-US" altLang="zh-CN" dirty="0">
                <a:solidFill>
                  <a:srgbClr val="C00000"/>
                </a:solidFill>
                <a:latin typeface="Consolas" panose="020B0609020204030204" pitchFamily="49" charset="0"/>
              </a:rPr>
              <a:t>int </a:t>
            </a:r>
            <a:r>
              <a:rPr lang="en-US" altLang="zh-CN" dirty="0" err="1">
                <a:solidFill>
                  <a:srgbClr val="C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dirty="0">
                <a:solidFill>
                  <a:srgbClr val="C00000"/>
                </a:solidFill>
                <a:latin typeface="Consolas" panose="020B0609020204030204" pitchFamily="49" charset="0"/>
              </a:rPr>
              <a:t> = 1</a:t>
            </a:r>
            <a:r>
              <a:rPr lang="en-US" altLang="zh-CN" dirty="0">
                <a:latin typeface="Consolas" panose="020B0609020204030204" pitchFamily="49" charset="0"/>
              </a:rPr>
              <a:t>; </a:t>
            </a:r>
            <a:r>
              <a:rPr lang="en-US" altLang="zh-CN" dirty="0" err="1">
                <a:latin typeface="Consolas" panose="020B0609020204030204" pitchFamily="49" charset="0"/>
              </a:rPr>
              <a:t>i</a:t>
            </a:r>
            <a:r>
              <a:rPr lang="en-US" altLang="zh-CN" dirty="0">
                <a:latin typeface="Consolas" panose="020B0609020204030204" pitchFamily="49" charset="0"/>
              </a:rPr>
              <a:t> &lt; 100; </a:t>
            </a:r>
            <a:r>
              <a:rPr lang="en-US" altLang="zh-CN" dirty="0" err="1">
                <a:latin typeface="Consolas" panose="020B0609020204030204" pitchFamily="49" charset="0"/>
              </a:rPr>
              <a:t>i</a:t>
            </a:r>
            <a:r>
              <a:rPr lang="en-US" altLang="zh-CN" dirty="0">
                <a:latin typeface="Consolas" panose="020B0609020204030204" pitchFamily="49" charset="0"/>
              </a:rPr>
              <a:t>++) {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    sum += </a:t>
            </a:r>
            <a:r>
              <a:rPr lang="en-US" altLang="zh-CN" dirty="0" err="1">
                <a:latin typeface="Consolas" panose="020B0609020204030204" pitchFamily="49" charset="0"/>
              </a:rPr>
              <a:t>i</a:t>
            </a:r>
            <a:r>
              <a:rPr lang="en-US" altLang="zh-CN" dirty="0">
                <a:latin typeface="Consolas" panose="020B0609020204030204" pitchFamily="49" charset="0"/>
              </a:rPr>
              <a:t>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}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</a:t>
            </a:r>
            <a:r>
              <a:rPr lang="en-US" altLang="zh-CN" dirty="0" err="1">
                <a:latin typeface="Consolas" panose="020B0609020204030204" pitchFamily="49" charset="0"/>
              </a:rPr>
              <a:t>printf</a:t>
            </a:r>
            <a:r>
              <a:rPr lang="en-US" altLang="zh-CN" dirty="0">
                <a:latin typeface="Consolas" panose="020B0609020204030204" pitchFamily="49" charset="0"/>
              </a:rPr>
              <a:t>("To %d, the sum is %d",</a:t>
            </a:r>
            <a:r>
              <a:rPr lang="en-US" altLang="zh-CN" dirty="0" err="1">
                <a:latin typeface="Consolas" panose="020B0609020204030204" pitchFamily="49" charset="0"/>
              </a:rPr>
              <a:t>i,sum</a:t>
            </a:r>
            <a:r>
              <a:rPr lang="en-US" altLang="zh-CN" dirty="0">
                <a:latin typeface="Consolas" panose="020B0609020204030204" pitchFamily="49" charset="0"/>
              </a:rPr>
              <a:t>);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} 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95AC98C-F010-D7AA-33C5-6C08303A8CC2}"/>
              </a:ext>
            </a:extLst>
          </p:cNvPr>
          <p:cNvSpPr txBox="1"/>
          <p:nvPr/>
        </p:nvSpPr>
        <p:spPr>
          <a:xfrm>
            <a:off x="946254" y="2091851"/>
            <a:ext cx="4789824" cy="3693319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/*for loop*/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#include&lt;stdio.h&gt;</a:t>
            </a:r>
          </a:p>
          <a:p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int main() {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int sum = 0;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</a:t>
            </a:r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</a:rPr>
              <a:t>int </a:t>
            </a:r>
            <a:r>
              <a:rPr lang="en-US" altLang="zh-CN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</a:rPr>
              <a:t>;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    </a:t>
            </a:r>
            <a:r>
              <a:rPr lang="en-US" altLang="zh-CN" b="1" dirty="0">
                <a:latin typeface="Consolas" panose="020B0609020204030204" pitchFamily="49" charset="0"/>
              </a:rPr>
              <a:t>for</a:t>
            </a:r>
            <a:r>
              <a:rPr lang="en-US" altLang="zh-CN" dirty="0">
                <a:latin typeface="Consolas" panose="020B0609020204030204" pitchFamily="49" charset="0"/>
              </a:rPr>
              <a:t> (</a:t>
            </a:r>
            <a:r>
              <a:rPr lang="en-US" altLang="zh-CN" dirty="0" err="1">
                <a:solidFill>
                  <a:srgbClr val="C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dirty="0">
                <a:solidFill>
                  <a:srgbClr val="C00000"/>
                </a:solidFill>
                <a:latin typeface="Consolas" panose="020B0609020204030204" pitchFamily="49" charset="0"/>
              </a:rPr>
              <a:t> = 1</a:t>
            </a:r>
            <a:r>
              <a:rPr lang="en-US" altLang="zh-CN" dirty="0">
                <a:latin typeface="Consolas" panose="020B0609020204030204" pitchFamily="49" charset="0"/>
              </a:rPr>
              <a:t>; </a:t>
            </a:r>
            <a:r>
              <a:rPr lang="en-US" altLang="zh-CN" dirty="0" err="1">
                <a:latin typeface="Consolas" panose="020B0609020204030204" pitchFamily="49" charset="0"/>
              </a:rPr>
              <a:t>i</a:t>
            </a:r>
            <a:r>
              <a:rPr lang="en-US" altLang="zh-CN" dirty="0">
                <a:latin typeface="Consolas" panose="020B0609020204030204" pitchFamily="49" charset="0"/>
              </a:rPr>
              <a:t> &lt; 100; </a:t>
            </a:r>
            <a:r>
              <a:rPr lang="en-US" altLang="zh-CN" dirty="0" err="1">
                <a:latin typeface="Consolas" panose="020B0609020204030204" pitchFamily="49" charset="0"/>
              </a:rPr>
              <a:t>i</a:t>
            </a:r>
            <a:r>
              <a:rPr lang="en-US" altLang="zh-CN" dirty="0">
                <a:latin typeface="Consolas" panose="020B0609020204030204" pitchFamily="49" charset="0"/>
              </a:rPr>
              <a:t>++) {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    sum += </a:t>
            </a:r>
            <a:r>
              <a:rPr lang="en-US" altLang="zh-CN" dirty="0" err="1">
                <a:latin typeface="Consolas" panose="020B0609020204030204" pitchFamily="49" charset="0"/>
              </a:rPr>
              <a:t>i</a:t>
            </a:r>
            <a:r>
              <a:rPr lang="en-US" altLang="zh-CN" dirty="0">
                <a:latin typeface="Consolas" panose="020B0609020204030204" pitchFamily="49" charset="0"/>
              </a:rPr>
              <a:t>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}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</a:t>
            </a:r>
            <a:r>
              <a:rPr lang="en-US" altLang="zh-CN" dirty="0" err="1">
                <a:latin typeface="Consolas" panose="020B0609020204030204" pitchFamily="49" charset="0"/>
              </a:rPr>
              <a:t>printf</a:t>
            </a:r>
            <a:r>
              <a:rPr lang="en-US" altLang="zh-CN" dirty="0">
                <a:latin typeface="Consolas" panose="020B0609020204030204" pitchFamily="49" charset="0"/>
              </a:rPr>
              <a:t>("To %d, the sum is %d",</a:t>
            </a:r>
            <a:r>
              <a:rPr lang="en-US" altLang="zh-CN" dirty="0" err="1">
                <a:latin typeface="Consolas" panose="020B0609020204030204" pitchFamily="49" charset="0"/>
              </a:rPr>
              <a:t>i,sum</a:t>
            </a:r>
            <a:r>
              <a:rPr lang="en-US" altLang="zh-CN" dirty="0">
                <a:latin typeface="Consolas" panose="020B0609020204030204" pitchFamily="49" charset="0"/>
              </a:rPr>
              <a:t>);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} </a:t>
            </a:r>
          </a:p>
          <a:p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33F1432-E8D5-CF9E-7969-B8099F06F83D}"/>
              </a:ext>
            </a:extLst>
          </p:cNvPr>
          <p:cNvSpPr txBox="1"/>
          <p:nvPr/>
        </p:nvSpPr>
        <p:spPr>
          <a:xfrm>
            <a:off x="4883285" y="5978609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两个程序等价吗？</a:t>
            </a:r>
          </a:p>
        </p:txBody>
      </p:sp>
    </p:spTree>
    <p:extLst>
      <p:ext uri="{BB962C8B-B14F-4D97-AF65-F5344CB8AC3E}">
        <p14:creationId xmlns:p14="http://schemas.microsoft.com/office/powerpoint/2010/main" val="1977302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-18415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for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循环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2" name="学论网-www.xuelun.me"/>
          <p:cNvSpPr txBox="1"/>
          <p:nvPr/>
        </p:nvSpPr>
        <p:spPr>
          <a:xfrm>
            <a:off x="1743075" y="3638550"/>
            <a:ext cx="8145780" cy="46164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等价于</a:t>
            </a:r>
          </a:p>
        </p:txBody>
      </p:sp>
      <p:sp>
        <p:nvSpPr>
          <p:cNvPr id="3" name="学论网-矩形 1"/>
          <p:cNvSpPr/>
          <p:nvPr/>
        </p:nvSpPr>
        <p:spPr>
          <a:xfrm>
            <a:off x="2299335" y="1638935"/>
            <a:ext cx="6765290" cy="2057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int sum = 0;</a:t>
            </a:r>
          </a:p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for(int i = 1</a:t>
            </a:r>
            <a:r>
              <a:rPr lang="zh-CN" altLang="en-US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；；</a:t>
            </a:r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i++</a:t>
            </a:r>
            <a:r>
              <a:rPr lang="zh-CN" altLang="en-US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）</a:t>
            </a:r>
            <a:endParaRPr lang="en-US" altLang="zh-CN" sz="2400" kern="0" dirty="0">
              <a:solidFill>
                <a:schemeClr val="tx1"/>
              </a:solidFill>
              <a:latin typeface="Consolas" panose="020B060902020403020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{</a:t>
            </a:r>
          </a:p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    sum += i;</a:t>
            </a:r>
          </a:p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}</a:t>
            </a:r>
          </a:p>
        </p:txBody>
      </p:sp>
      <p:sp>
        <p:nvSpPr>
          <p:cNvPr id="4" name="学论网-矩形 1"/>
          <p:cNvSpPr/>
          <p:nvPr/>
        </p:nvSpPr>
        <p:spPr>
          <a:xfrm>
            <a:off x="2299335" y="4157345"/>
            <a:ext cx="6764655" cy="219583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int i = 1</a:t>
            </a:r>
            <a:r>
              <a:rPr lang="zh-CN" altLang="en-US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，</a:t>
            </a:r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sum = 0;</a:t>
            </a:r>
            <a:endParaRPr lang="en-US" altLang="zh-CN" sz="2400" kern="0" dirty="0">
              <a:solidFill>
                <a:schemeClr val="tx1"/>
              </a:solidFill>
              <a:latin typeface="Consolas" panose="020B060902020403020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while(1)</a:t>
            </a:r>
            <a:endParaRPr lang="en-US" altLang="zh-CN" sz="2400" kern="0" dirty="0">
              <a:solidFill>
                <a:schemeClr val="tx1"/>
              </a:solidFill>
              <a:latin typeface="Consolas" panose="020B060902020403020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{</a:t>
            </a:r>
            <a:endParaRPr lang="en-US" altLang="zh-CN" sz="2400" kern="0" dirty="0">
              <a:solidFill>
                <a:schemeClr val="tx1"/>
              </a:solidFill>
              <a:latin typeface="Consolas" panose="020B060902020403020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    sum += i;</a:t>
            </a:r>
            <a:endParaRPr lang="en-US" altLang="zh-CN" sz="2400" kern="0" dirty="0">
              <a:solidFill>
                <a:schemeClr val="tx1"/>
              </a:solidFill>
              <a:latin typeface="Consolas" panose="020B060902020403020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    i++;</a:t>
            </a:r>
            <a:endParaRPr lang="en-US" altLang="zh-CN" sz="2400" kern="0" dirty="0">
              <a:solidFill>
                <a:schemeClr val="tx1"/>
              </a:solidFill>
              <a:latin typeface="Consolas" panose="020B060902020403020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}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-18415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for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循环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2" name="学论网-www.xuelun.me"/>
          <p:cNvSpPr txBox="1"/>
          <p:nvPr/>
        </p:nvSpPr>
        <p:spPr>
          <a:xfrm>
            <a:off x="1541780" y="3771900"/>
            <a:ext cx="8145780" cy="46164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等价于</a:t>
            </a:r>
          </a:p>
        </p:txBody>
      </p:sp>
      <p:sp>
        <p:nvSpPr>
          <p:cNvPr id="3" name="学论网-矩形 1"/>
          <p:cNvSpPr/>
          <p:nvPr/>
        </p:nvSpPr>
        <p:spPr>
          <a:xfrm>
            <a:off x="593090" y="1635125"/>
            <a:ext cx="4396740" cy="213804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int sum = 0;</a:t>
            </a:r>
          </a:p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for(int i = 1</a:t>
            </a:r>
            <a:r>
              <a:rPr lang="zh-CN" altLang="en-US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；</a:t>
            </a:r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i &lt;= 10</a:t>
            </a:r>
            <a:r>
              <a:rPr lang="zh-CN" altLang="en-US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；）</a:t>
            </a:r>
            <a:endParaRPr lang="en-US" altLang="zh-CN" sz="2400" kern="0" dirty="0">
              <a:solidFill>
                <a:schemeClr val="tx1"/>
              </a:solidFill>
              <a:latin typeface="Consolas" panose="020B060902020403020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{</a:t>
            </a:r>
          </a:p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    sum += i;</a:t>
            </a:r>
          </a:p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    </a:t>
            </a:r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i++</a:t>
            </a:r>
            <a:r>
              <a:rPr lang="zh-CN" altLang="en-US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；</a:t>
            </a:r>
            <a:endParaRPr lang="en-US" altLang="zh-CN" sz="2400" kern="0" dirty="0">
              <a:solidFill>
                <a:schemeClr val="tx1"/>
              </a:solidFill>
              <a:latin typeface="Consolas" panose="020B060902020403020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}</a:t>
            </a:r>
          </a:p>
        </p:txBody>
      </p:sp>
      <p:sp>
        <p:nvSpPr>
          <p:cNvPr id="4" name="学论网-矩形 1"/>
          <p:cNvSpPr/>
          <p:nvPr/>
        </p:nvSpPr>
        <p:spPr>
          <a:xfrm>
            <a:off x="2318385" y="4310380"/>
            <a:ext cx="6764655" cy="219583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int i = 1</a:t>
            </a:r>
            <a:r>
              <a:rPr lang="zh-CN" altLang="en-US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，</a:t>
            </a:r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sum = 0;</a:t>
            </a:r>
            <a:endParaRPr lang="en-US" altLang="zh-CN" sz="2400" kern="0" dirty="0">
              <a:solidFill>
                <a:schemeClr val="tx1"/>
              </a:solidFill>
              <a:latin typeface="Consolas" panose="020B060902020403020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while(i &lt;= 10)</a:t>
            </a:r>
            <a:endParaRPr lang="en-US" altLang="zh-CN" sz="2400" kern="0" dirty="0">
              <a:solidFill>
                <a:schemeClr val="tx1"/>
              </a:solidFill>
              <a:latin typeface="Consolas" panose="020B060902020403020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{</a:t>
            </a:r>
            <a:endParaRPr lang="en-US" altLang="zh-CN" sz="2400" kern="0" dirty="0">
              <a:solidFill>
                <a:schemeClr val="tx1"/>
              </a:solidFill>
              <a:latin typeface="Consolas" panose="020B060902020403020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    sum += i;</a:t>
            </a:r>
            <a:endParaRPr lang="en-US" altLang="zh-CN" sz="2400" kern="0" dirty="0">
              <a:solidFill>
                <a:schemeClr val="tx1"/>
              </a:solidFill>
              <a:latin typeface="Consolas" panose="020B060902020403020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    i++;</a:t>
            </a:r>
            <a:endParaRPr lang="en-US" altLang="zh-CN" sz="2400" kern="0" dirty="0">
              <a:solidFill>
                <a:schemeClr val="tx1"/>
              </a:solidFill>
              <a:latin typeface="Consolas" panose="020B060902020403020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}</a:t>
            </a:r>
          </a:p>
        </p:txBody>
      </p:sp>
      <p:sp>
        <p:nvSpPr>
          <p:cNvPr id="5" name="学论网-矩形 1"/>
          <p:cNvSpPr/>
          <p:nvPr/>
        </p:nvSpPr>
        <p:spPr>
          <a:xfrm>
            <a:off x="6229985" y="1635125"/>
            <a:ext cx="4464050" cy="223393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int sum = 0,i = 1;</a:t>
            </a:r>
          </a:p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for(</a:t>
            </a:r>
            <a:r>
              <a:rPr lang="zh-CN" altLang="en-US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；</a:t>
            </a:r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i &lt;= 10</a:t>
            </a:r>
            <a:r>
              <a:rPr lang="zh-CN" altLang="en-US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；）</a:t>
            </a:r>
            <a:endParaRPr lang="en-US" altLang="zh-CN" sz="2400" kern="0" dirty="0">
              <a:solidFill>
                <a:schemeClr val="tx1"/>
              </a:solidFill>
              <a:latin typeface="Consolas" panose="020B060902020403020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{</a:t>
            </a:r>
          </a:p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    sum += i;</a:t>
            </a:r>
          </a:p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    </a:t>
            </a:r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i++</a:t>
            </a:r>
            <a:r>
              <a:rPr lang="zh-CN" altLang="en-US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；</a:t>
            </a:r>
            <a:endParaRPr lang="en-US" altLang="zh-CN" sz="2400" kern="0" dirty="0">
              <a:solidFill>
                <a:schemeClr val="tx1"/>
              </a:solidFill>
              <a:latin typeface="Consolas" panose="020B060902020403020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}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-18415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for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循环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4" name="学论网-矩形 1"/>
          <p:cNvSpPr/>
          <p:nvPr/>
        </p:nvSpPr>
        <p:spPr>
          <a:xfrm>
            <a:off x="2694622" y="2807584"/>
            <a:ext cx="6764655" cy="219583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for( ; ; ) </a:t>
            </a:r>
          </a:p>
          <a:p>
            <a:pPr lvl="0"/>
            <a:endParaRPr lang="en-US" altLang="zh-CN" sz="2400" kern="0" dirty="0">
              <a:solidFill>
                <a:schemeClr val="tx1"/>
              </a:solidFill>
              <a:latin typeface="Consolas" panose="020B0609020204030204" charset="0"/>
              <a:ea typeface="微软雅黑" panose="020B0503020204020204" pitchFamily="34" charset="-122"/>
              <a:cs typeface="Consolas" panose="020B0609020204030204" charset="0"/>
              <a:sym typeface="+mn-ea"/>
            </a:endParaRPr>
          </a:p>
          <a:p>
            <a:pPr lvl="0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while(1) </a:t>
            </a:r>
          </a:p>
        </p:txBody>
      </p:sp>
      <p:sp>
        <p:nvSpPr>
          <p:cNvPr id="6" name="矩形 5"/>
          <p:cNvSpPr/>
          <p:nvPr/>
        </p:nvSpPr>
        <p:spPr>
          <a:xfrm>
            <a:off x="1953181" y="1965398"/>
            <a:ext cx="341632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444444"/>
                </a:solidFill>
                <a:latin typeface="Helvetica Neue"/>
              </a:rPr>
              <a:t>3</a:t>
            </a:r>
            <a:r>
              <a:rPr lang="zh-CN" altLang="en-US" sz="2400" b="1" dirty="0">
                <a:solidFill>
                  <a:srgbClr val="444444"/>
                </a:solidFill>
                <a:latin typeface="Helvetica Neue"/>
              </a:rPr>
              <a:t>个表达式可以同时省略</a:t>
            </a:r>
            <a:endParaRPr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51100014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-18415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for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循环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4" name="学论网-矩形 1"/>
          <p:cNvSpPr/>
          <p:nvPr/>
        </p:nvSpPr>
        <p:spPr>
          <a:xfrm>
            <a:off x="2104836" y="2759877"/>
            <a:ext cx="7944223" cy="66912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nn-NO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for( sum=0,i=1; i&lt;=100; i++ )  sum=sum+i;</a:t>
            </a:r>
          </a:p>
        </p:txBody>
      </p:sp>
      <p:sp>
        <p:nvSpPr>
          <p:cNvPr id="6" name="矩形 5"/>
          <p:cNvSpPr/>
          <p:nvPr/>
        </p:nvSpPr>
        <p:spPr>
          <a:xfrm>
            <a:off x="1387203" y="1866355"/>
            <a:ext cx="937949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444444"/>
                </a:solidFill>
                <a:latin typeface="Helvetica Neue"/>
              </a:rPr>
              <a:t>“表达式</a:t>
            </a:r>
            <a:r>
              <a:rPr lang="en-US" altLang="zh-CN" sz="2400" b="1" dirty="0">
                <a:solidFill>
                  <a:srgbClr val="444444"/>
                </a:solidFill>
                <a:latin typeface="Helvetica Neue"/>
              </a:rPr>
              <a:t>1”</a:t>
            </a:r>
            <a:r>
              <a:rPr lang="zh-CN" altLang="en-US" sz="2400" b="1" dirty="0">
                <a:solidFill>
                  <a:srgbClr val="444444"/>
                </a:solidFill>
                <a:latin typeface="Helvetica Neue"/>
              </a:rPr>
              <a:t>和“表达式</a:t>
            </a:r>
            <a:r>
              <a:rPr lang="en-US" altLang="zh-CN" sz="2400" b="1" dirty="0">
                <a:solidFill>
                  <a:srgbClr val="444444"/>
                </a:solidFill>
                <a:latin typeface="Helvetica Neue"/>
              </a:rPr>
              <a:t>3”</a:t>
            </a:r>
            <a:r>
              <a:rPr lang="zh-CN" altLang="en-US" sz="2400" b="1" dirty="0">
                <a:solidFill>
                  <a:srgbClr val="444444"/>
                </a:solidFill>
                <a:latin typeface="Helvetica Neue"/>
              </a:rPr>
              <a:t>可以是一个简单表达式也可以是逗号表达式</a:t>
            </a:r>
            <a:endParaRPr lang="zh-CN" altLang="en-US" sz="2400" b="1" dirty="0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2"/>
              </a:rPr>
              <a:t>for( i=0,j=100; i&lt;=100; i++,j-- ) k=i+j;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学论网-矩形 1"/>
          <p:cNvSpPr/>
          <p:nvPr/>
        </p:nvSpPr>
        <p:spPr>
          <a:xfrm>
            <a:off x="2104838" y="4152679"/>
            <a:ext cx="7944223" cy="72147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nn-NO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for( i=0,j=100; i&lt;=100; i++,j-- )  k=i+j;</a:t>
            </a:r>
            <a:endParaRPr lang="en-US" altLang="zh-CN" sz="2400" kern="0" dirty="0">
              <a:solidFill>
                <a:schemeClr val="tx1"/>
              </a:solidFill>
              <a:latin typeface="Consolas" panose="020B0609020204030204" charset="0"/>
              <a:ea typeface="微软雅黑" panose="020B0503020204020204" pitchFamily="34" charset="-122"/>
              <a:cs typeface="Consolas" panose="020B0609020204030204" charset="0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1264039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while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循环</a:t>
            </a:r>
          </a:p>
        </p:txBody>
      </p:sp>
      <p:pic>
        <p:nvPicPr>
          <p:cNvPr id="33" name="图片 3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14" name="学论网-矩形 1"/>
          <p:cNvSpPr/>
          <p:nvPr/>
        </p:nvSpPr>
        <p:spPr>
          <a:xfrm>
            <a:off x="1635236" y="2207200"/>
            <a:ext cx="8768654" cy="350497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#include &lt;</a:t>
            </a:r>
            <a:r>
              <a:rPr lang="en-US" altLang="zh-CN" sz="2400" kern="0" dirty="0" err="1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stdio.h</a:t>
            </a:r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&gt;</a:t>
            </a:r>
          </a:p>
          <a:p>
            <a:pPr lvl="0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int main(){</a:t>
            </a:r>
          </a:p>
          <a:p>
            <a:pPr lvl="0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    int n=0;</a:t>
            </a:r>
          </a:p>
          <a:p>
            <a:pPr lvl="0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    </a:t>
            </a:r>
            <a:r>
              <a:rPr lang="en-US" altLang="zh-CN" sz="2400" kern="0" dirty="0" err="1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printf</a:t>
            </a:r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("Input a string:");</a:t>
            </a:r>
          </a:p>
          <a:p>
            <a:pPr lvl="0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    while(</a:t>
            </a:r>
            <a:r>
              <a:rPr lang="en-US" altLang="zh-CN" sz="2400" kern="0" dirty="0" err="1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getchar</a:t>
            </a:r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()!='\n') n++;</a:t>
            </a:r>
          </a:p>
          <a:p>
            <a:pPr lvl="0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    </a:t>
            </a:r>
            <a:r>
              <a:rPr lang="en-US" altLang="zh-CN" sz="2400" kern="0" dirty="0" err="1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printf</a:t>
            </a:r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("Number of characters: %d\n", n);</a:t>
            </a:r>
          </a:p>
          <a:p>
            <a:pPr lvl="0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    return 0;</a:t>
            </a:r>
          </a:p>
          <a:p>
            <a:pPr lvl="0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}</a:t>
            </a: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2"/>
              </a:rPr>
              <a:t>#include &lt;stdio.h&gt; int main(){ while(1){ printf("1"); } return 0; }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362010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while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循环</a:t>
            </a:r>
          </a:p>
        </p:txBody>
      </p:sp>
      <p:pic>
        <p:nvPicPr>
          <p:cNvPr id="33" name="图片 3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14" name="学论网-矩形 1"/>
          <p:cNvSpPr/>
          <p:nvPr/>
        </p:nvSpPr>
        <p:spPr>
          <a:xfrm>
            <a:off x="1508801" y="2189988"/>
            <a:ext cx="8768654" cy="370845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#include &lt;</a:t>
            </a:r>
            <a:r>
              <a:rPr lang="en-US" altLang="zh-CN" sz="2400" kern="0" dirty="0" err="1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stdio.h</a:t>
            </a:r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&gt;</a:t>
            </a:r>
          </a:p>
          <a:p>
            <a:pPr lvl="0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int main(){</a:t>
            </a:r>
          </a:p>
          <a:p>
            <a:pPr lvl="0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    int n=0;</a:t>
            </a:r>
          </a:p>
          <a:p>
            <a:pPr lvl="0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    </a:t>
            </a:r>
            <a:r>
              <a:rPr lang="en-US" altLang="zh-CN" sz="2400" kern="0" dirty="0" err="1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printf</a:t>
            </a:r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("Input a string:");</a:t>
            </a:r>
          </a:p>
          <a:p>
            <a:pPr lvl="0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    \\</a:t>
            </a:r>
            <a:r>
              <a:rPr lang="en-US" altLang="zh-CN" sz="2400" kern="0" dirty="0">
                <a:solidFill>
                  <a:schemeClr val="bg1">
                    <a:lumMod val="85000"/>
                  </a:schemeClr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while(getchar()!='\n') n++;</a:t>
            </a:r>
          </a:p>
          <a:p>
            <a:pPr lvl="0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    for( n=0; (</a:t>
            </a:r>
            <a:r>
              <a:rPr lang="en-US" altLang="zh-CN" sz="2400" kern="0" dirty="0" err="1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getchar</a:t>
            </a:r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())!='\n'; n+=1 );</a:t>
            </a:r>
          </a:p>
          <a:p>
            <a:pPr lvl="0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    </a:t>
            </a:r>
            <a:r>
              <a:rPr lang="en-US" altLang="zh-CN" sz="2400" kern="0" dirty="0" err="1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printf</a:t>
            </a:r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("Number of characters: %d\n", n);</a:t>
            </a:r>
          </a:p>
          <a:p>
            <a:pPr lvl="0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    return 0;</a:t>
            </a:r>
          </a:p>
          <a:p>
            <a:pPr lvl="0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}</a:t>
            </a: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2"/>
              </a:rPr>
              <a:t>#include &lt;stdio.h&gt; int main(){ while(1){ printf("1"); } return 0; }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0609692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-18415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循环嵌套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2" name="学论网-www.xuelun.me"/>
          <p:cNvSpPr txBox="1"/>
          <p:nvPr/>
        </p:nvSpPr>
        <p:spPr>
          <a:xfrm>
            <a:off x="1453515" y="5401310"/>
            <a:ext cx="9247505" cy="553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一个循环体内又包含另一个完整的循环结构，称为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循环的嵌套</a:t>
            </a:r>
          </a:p>
        </p:txBody>
      </p:sp>
      <p:sp>
        <p:nvSpPr>
          <p:cNvPr id="3" name="学论网-矩形 1"/>
          <p:cNvSpPr/>
          <p:nvPr/>
        </p:nvSpPr>
        <p:spPr>
          <a:xfrm>
            <a:off x="593090" y="1692275"/>
            <a:ext cx="4406265" cy="228155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while(</a:t>
            </a:r>
            <a:r>
              <a:rPr lang="zh-CN" altLang="en-US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表达式</a:t>
            </a:r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1)</a:t>
            </a:r>
          </a:p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{</a:t>
            </a:r>
          </a:p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    while(</a:t>
            </a:r>
            <a:r>
              <a:rPr lang="zh-CN" altLang="en-US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表达式</a:t>
            </a:r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2)</a:t>
            </a:r>
          </a:p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    {...}</a:t>
            </a:r>
            <a:b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</a:br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}</a:t>
            </a:r>
          </a:p>
        </p:txBody>
      </p:sp>
      <p:sp>
        <p:nvSpPr>
          <p:cNvPr id="5" name="学论网-矩形 1"/>
          <p:cNvSpPr/>
          <p:nvPr/>
        </p:nvSpPr>
        <p:spPr>
          <a:xfrm>
            <a:off x="5200650" y="1692275"/>
            <a:ext cx="6892290" cy="303784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for(</a:t>
            </a:r>
            <a:r>
              <a:rPr lang="zh-CN" altLang="en-US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表达式</a:t>
            </a:r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1.1;</a:t>
            </a:r>
            <a:r>
              <a:rPr lang="zh-CN" altLang="en-US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表达式</a:t>
            </a:r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1.2</a:t>
            </a:r>
            <a:r>
              <a:rPr lang="zh-CN" altLang="en-US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；表达式</a:t>
            </a:r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1.3</a:t>
            </a:r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)</a:t>
            </a:r>
          </a:p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{</a:t>
            </a:r>
          </a:p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    </a:t>
            </a:r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for(</a:t>
            </a:r>
            <a:r>
              <a:rPr lang="zh-CN" altLang="en-US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表达式</a:t>
            </a:r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2.1;</a:t>
            </a:r>
            <a:r>
              <a:rPr lang="zh-CN" altLang="en-US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表达式</a:t>
            </a:r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2.2</a:t>
            </a:r>
            <a:r>
              <a:rPr lang="zh-CN" altLang="en-US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；表达式</a:t>
            </a:r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2.3)</a:t>
            </a:r>
            <a:endParaRPr lang="en-US" altLang="zh-CN" sz="2400" kern="0" dirty="0">
              <a:solidFill>
                <a:schemeClr val="tx1"/>
              </a:solidFill>
              <a:latin typeface="Consolas" panose="020B060902020403020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    {...}</a:t>
            </a:r>
          </a:p>
          <a:p>
            <a:pPr lvl="0" algn="l"/>
            <a:r>
              <a:rPr lang="en-US" altLang="zh-CN" sz="24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}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-18415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循环嵌套（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 </a:t>
            </a:r>
            <a:r>
              <a:rPr lang="en-US" altLang="zh-CN" sz="2800" b="1" kern="0" dirty="0">
                <a:solidFill>
                  <a:srgbClr val="FFFF00"/>
                </a:solidFill>
                <a:ea typeface="微软雅黑" panose="020B0503020204020204" pitchFamily="34" charset="-122"/>
              </a:rPr>
              <a:t>Nest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 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）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2" name="学论网-www.xuelun.me"/>
          <p:cNvSpPr txBox="1"/>
          <p:nvPr/>
        </p:nvSpPr>
        <p:spPr>
          <a:xfrm>
            <a:off x="946150" y="5004435"/>
            <a:ext cx="10387330" cy="166179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dirty="0"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在该结构中，首先进入第一层循环</a:t>
            </a:r>
            <a:r>
              <a:rPr lang="en-US" altLang="zh-CN" sz="2400" dirty="0"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i = 1</a:t>
            </a:r>
            <a:r>
              <a:rPr lang="zh-CN" altLang="en-US" sz="2400" dirty="0"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，满足循环条件</a:t>
            </a:r>
            <a:r>
              <a:rPr lang="en-US" altLang="zh-CN" sz="2400" dirty="0"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i &lt;= 2</a:t>
            </a:r>
            <a:r>
              <a:rPr lang="zh-CN" altLang="en-US" sz="2400" dirty="0"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，执行循环体的内容，而循环体是一个单独的循环，于是执行这个单独的循环，当执行完单独的循环，在执行</a:t>
            </a:r>
            <a:r>
              <a:rPr lang="en-US" altLang="zh-CN" sz="2400" dirty="0"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i++</a:t>
            </a:r>
          </a:p>
        </p:txBody>
      </p:sp>
      <p:sp>
        <p:nvSpPr>
          <p:cNvPr id="5" name="学论网-矩形 1"/>
          <p:cNvSpPr/>
          <p:nvPr/>
        </p:nvSpPr>
        <p:spPr>
          <a:xfrm>
            <a:off x="182880" y="1850390"/>
            <a:ext cx="7833360" cy="23672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l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for(int i = 1;i &lt;= 2; i++)</a:t>
            </a:r>
          </a:p>
          <a:p>
            <a:pPr lvl="0" algn="l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{</a:t>
            </a:r>
          </a:p>
          <a:p>
            <a:pPr lvl="0" algn="l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    </a:t>
            </a:r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for(int j = 1;j &lt;= 3; j++)</a:t>
            </a:r>
            <a:endParaRPr lang="en-US" altLang="zh-CN" sz="2000" kern="0" dirty="0">
              <a:solidFill>
                <a:schemeClr val="tx1"/>
              </a:solidFill>
              <a:latin typeface="Consolas" panose="020B060902020403020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lvl="0" algn="l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        </a:t>
            </a:r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printf("i = %d,j = %d, i*j = %d\n",i,j,i*j);</a:t>
            </a:r>
            <a:endParaRPr lang="en-US" altLang="zh-CN" sz="2000" kern="0" dirty="0">
              <a:solidFill>
                <a:schemeClr val="tx1"/>
              </a:solidFill>
              <a:latin typeface="Consolas" panose="020B060902020403020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lvl="0" algn="l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}</a:t>
            </a:r>
          </a:p>
        </p:txBody>
      </p:sp>
      <p:sp>
        <p:nvSpPr>
          <p:cNvPr id="4" name="学论网-矩形 1"/>
          <p:cNvSpPr/>
          <p:nvPr/>
        </p:nvSpPr>
        <p:spPr>
          <a:xfrm>
            <a:off x="8208010" y="1857375"/>
            <a:ext cx="3125470" cy="301053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l"/>
            <a:r>
              <a:rPr lang="zh-CN" altLang="en-US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输出结果</a:t>
            </a:r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:</a:t>
            </a:r>
          </a:p>
          <a:p>
            <a:pPr lvl="0" algn="l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i = 1,j = 1,i*j = 1</a:t>
            </a:r>
          </a:p>
          <a:p>
            <a:pPr lvl="0" algn="l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i = 1,j = 2,i*j = 2</a:t>
            </a:r>
            <a:endParaRPr lang="en-US" altLang="zh-CN" sz="2000" kern="0" dirty="0">
              <a:solidFill>
                <a:schemeClr val="tx1"/>
              </a:solidFill>
              <a:latin typeface="Consolas" panose="020B060902020403020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lvl="0" algn="l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i = 1,j = 3,i*j = 3</a:t>
            </a:r>
            <a:endParaRPr lang="en-US" altLang="zh-CN" sz="2000" kern="0" dirty="0">
              <a:solidFill>
                <a:schemeClr val="tx1"/>
              </a:solidFill>
              <a:latin typeface="Consolas" panose="020B060902020403020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lvl="0" algn="l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i = 2,j = 1,i*j = 2</a:t>
            </a:r>
            <a:endParaRPr lang="en-US" altLang="zh-CN" sz="2000" kern="0" dirty="0">
              <a:solidFill>
                <a:schemeClr val="tx1"/>
              </a:solidFill>
              <a:latin typeface="Consolas" panose="020B060902020403020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lvl="0" algn="l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i = 2,j = 2,i*j = 4</a:t>
            </a:r>
            <a:endParaRPr lang="en-US" altLang="zh-CN" sz="2000" kern="0" dirty="0">
              <a:solidFill>
                <a:schemeClr val="tx1"/>
              </a:solidFill>
              <a:latin typeface="Consolas" panose="020B060902020403020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lvl="0" algn="l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i = 2,j = 3,i*j = 6</a:t>
            </a:r>
            <a:endParaRPr lang="en-US" altLang="zh-CN" sz="2000" kern="0" dirty="0">
              <a:solidFill>
                <a:schemeClr val="tx1"/>
              </a:solidFill>
              <a:latin typeface="Consolas" panose="020B0609020204030204" charset="0"/>
              <a:ea typeface="微软雅黑" panose="020B0503020204020204" pitchFamily="34" charset="-122"/>
              <a:cs typeface="Consolas" panose="020B0609020204030204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-18415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循环嵌套（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 </a:t>
            </a:r>
            <a:r>
              <a:rPr lang="en-US" altLang="zh-CN" sz="2800" b="1" kern="0" dirty="0">
                <a:solidFill>
                  <a:srgbClr val="FFFF00"/>
                </a:solidFill>
                <a:ea typeface="微软雅黑" panose="020B0503020204020204" pitchFamily="34" charset="-122"/>
              </a:rPr>
              <a:t>Nest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 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）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2045263" y="1781294"/>
            <a:ext cx="293061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rgbClr val="444444"/>
                </a:solidFill>
                <a:latin typeface="Helvetica Neue"/>
              </a:rPr>
              <a:t>输出一个</a:t>
            </a:r>
            <a:r>
              <a:rPr lang="en-US" altLang="zh-CN" sz="2000" b="1" dirty="0">
                <a:solidFill>
                  <a:srgbClr val="444444"/>
                </a:solidFill>
                <a:latin typeface="Helvetica Neue"/>
              </a:rPr>
              <a:t>4×4</a:t>
            </a:r>
            <a:r>
              <a:rPr lang="zh-CN" altLang="en-US" sz="2000" b="1" dirty="0">
                <a:solidFill>
                  <a:srgbClr val="444444"/>
                </a:solidFill>
                <a:latin typeface="Helvetica Neue"/>
              </a:rPr>
              <a:t>的整数矩阵</a:t>
            </a:r>
            <a:endParaRPr lang="zh-CN" altLang="en-US" sz="2000" b="1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6627" y="2664245"/>
            <a:ext cx="3123745" cy="2224826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EA8BD8D4-4C94-AE98-5EDD-61226D9959F9}"/>
              </a:ext>
            </a:extLst>
          </p:cNvPr>
          <p:cNvSpPr txBox="1"/>
          <p:nvPr/>
        </p:nvSpPr>
        <p:spPr>
          <a:xfrm>
            <a:off x="6750997" y="2664245"/>
            <a:ext cx="2954655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问题求解：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因为只能按行输出，因此：</a:t>
            </a:r>
            <a:endParaRPr lang="en-US" altLang="zh-CN" dirty="0"/>
          </a:p>
          <a:p>
            <a:r>
              <a:rPr lang="zh-CN" altLang="en-US" dirty="0"/>
              <a:t>使用 </a:t>
            </a:r>
            <a:r>
              <a:rPr lang="en-US" altLang="zh-CN" dirty="0" err="1"/>
              <a:t>i</a:t>
            </a:r>
            <a:r>
              <a:rPr lang="en-US" altLang="zh-CN" dirty="0"/>
              <a:t> </a:t>
            </a:r>
            <a:r>
              <a:rPr lang="zh-CN" altLang="en-US" dirty="0"/>
              <a:t>代表行，如 </a:t>
            </a:r>
            <a:r>
              <a:rPr lang="en-US" altLang="zh-CN" dirty="0"/>
              <a:t>1 .. 4</a:t>
            </a:r>
          </a:p>
          <a:p>
            <a:r>
              <a:rPr lang="zh-CN" altLang="en-US" dirty="0"/>
              <a:t>    使用 </a:t>
            </a:r>
            <a:r>
              <a:rPr lang="en-US" altLang="zh-CN" dirty="0"/>
              <a:t>j </a:t>
            </a:r>
            <a:r>
              <a:rPr lang="zh-CN" altLang="en-US" dirty="0"/>
              <a:t>代表列，如 </a:t>
            </a:r>
            <a:r>
              <a:rPr lang="en-US" altLang="zh-CN" dirty="0"/>
              <a:t>1 .. 4</a:t>
            </a:r>
          </a:p>
          <a:p>
            <a:r>
              <a:rPr lang="zh-CN" altLang="en-US" dirty="0"/>
              <a:t>       则 </a:t>
            </a:r>
            <a:r>
              <a:rPr lang="en-US" altLang="zh-CN" dirty="0" err="1"/>
              <a:t>i</a:t>
            </a:r>
            <a:r>
              <a:rPr lang="en-US" altLang="zh-CN" dirty="0"/>
              <a:t> </a:t>
            </a:r>
            <a:r>
              <a:rPr lang="zh-CN" altLang="en-US" dirty="0"/>
              <a:t>行第 </a:t>
            </a:r>
            <a:r>
              <a:rPr lang="en-US" altLang="zh-CN" dirty="0"/>
              <a:t>j </a:t>
            </a:r>
            <a:r>
              <a:rPr lang="zh-CN" altLang="en-US" dirty="0"/>
              <a:t>个数是 </a:t>
            </a:r>
            <a:r>
              <a:rPr lang="en-US" altLang="zh-CN" dirty="0" err="1"/>
              <a:t>i</a:t>
            </a:r>
            <a:r>
              <a:rPr lang="en-US" altLang="zh-CN" dirty="0"/>
              <a:t> </a:t>
            </a:r>
            <a:r>
              <a:rPr lang="zh-CN" altLang="en-US" dirty="0"/>
              <a:t>* </a:t>
            </a:r>
            <a:r>
              <a:rPr lang="en-US" altLang="zh-CN" dirty="0"/>
              <a:t>j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24114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-18415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循环嵌套（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 </a:t>
            </a:r>
            <a:r>
              <a:rPr lang="en-US" altLang="zh-CN" sz="2800" b="1" kern="0" dirty="0">
                <a:solidFill>
                  <a:srgbClr val="FFFF00"/>
                </a:solidFill>
                <a:ea typeface="微软雅黑" panose="020B0503020204020204" pitchFamily="34" charset="-122"/>
              </a:rPr>
              <a:t>Nest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 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）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5" name="学论网-矩形 1"/>
          <p:cNvSpPr/>
          <p:nvPr/>
        </p:nvSpPr>
        <p:spPr>
          <a:xfrm>
            <a:off x="2160270" y="1828800"/>
            <a:ext cx="7833360" cy="4349363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en-US" altLang="zh-CN" sz="2000" kern="0" dirty="0">
                <a:solidFill>
                  <a:schemeClr val="bg1">
                    <a:lumMod val="50000"/>
                  </a:schemeClr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/*nested print matrix*/</a:t>
            </a:r>
          </a:p>
          <a:p>
            <a:pPr lvl="0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#include &lt;</a:t>
            </a:r>
            <a:r>
              <a:rPr lang="en-US" altLang="zh-CN" sz="2000" kern="0" dirty="0" err="1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stdio.h</a:t>
            </a:r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&gt;</a:t>
            </a:r>
          </a:p>
          <a:p>
            <a:pPr lvl="0"/>
            <a:endParaRPr lang="en-US" altLang="zh-CN" sz="2000" kern="0" dirty="0">
              <a:solidFill>
                <a:schemeClr val="tx1"/>
              </a:solidFill>
              <a:latin typeface="Consolas" panose="020B060902020403020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lvl="0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int main()</a:t>
            </a:r>
          </a:p>
          <a:p>
            <a:pPr lvl="0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{</a:t>
            </a:r>
          </a:p>
          <a:p>
            <a:pPr lvl="0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    </a:t>
            </a:r>
            <a:r>
              <a:rPr lang="en-US" altLang="zh-CN" sz="2000" b="1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const int n = 4;</a:t>
            </a:r>
          </a:p>
          <a:p>
            <a:pPr lvl="0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    for(</a:t>
            </a:r>
            <a:r>
              <a:rPr lang="en-US" altLang="zh-CN" sz="2000" b="1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int </a:t>
            </a:r>
            <a:r>
              <a:rPr lang="en-US" altLang="zh-CN" sz="2000" b="1" kern="0" dirty="0" err="1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i</a:t>
            </a:r>
            <a:r>
              <a:rPr lang="en-US" altLang="zh-CN" sz="2000" b="1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 </a:t>
            </a:r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= 1; </a:t>
            </a:r>
            <a:r>
              <a:rPr lang="en-US" altLang="zh-CN" sz="2000" kern="0" dirty="0" err="1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i</a:t>
            </a:r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 &lt;= n; </a:t>
            </a:r>
            <a:r>
              <a:rPr lang="en-US" altLang="zh-CN" sz="2000" kern="0" dirty="0" err="1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i</a:t>
            </a:r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++){ </a:t>
            </a:r>
          </a:p>
          <a:p>
            <a:pPr lvl="0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        for(</a:t>
            </a:r>
            <a:r>
              <a:rPr lang="en-US" altLang="zh-CN" sz="2000" b="1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int j </a:t>
            </a:r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= 1; j &lt;= n; </a:t>
            </a:r>
            <a:r>
              <a:rPr lang="en-US" altLang="zh-CN" sz="2000" kern="0" dirty="0" err="1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j++</a:t>
            </a:r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){</a:t>
            </a:r>
          </a:p>
          <a:p>
            <a:pPr lvl="0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            </a:t>
            </a:r>
            <a:r>
              <a:rPr lang="en-US" altLang="zh-CN" sz="2000" kern="0" dirty="0" err="1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printf</a:t>
            </a:r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("</a:t>
            </a:r>
            <a:r>
              <a:rPr lang="en-US" altLang="zh-CN" sz="2000" b="1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%-4d</a:t>
            </a:r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", </a:t>
            </a:r>
            <a:r>
              <a:rPr lang="en-US" altLang="zh-CN" sz="2000" kern="0" dirty="0" err="1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i</a:t>
            </a:r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*j);</a:t>
            </a:r>
          </a:p>
          <a:p>
            <a:pPr lvl="0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        }</a:t>
            </a:r>
          </a:p>
          <a:p>
            <a:pPr lvl="0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        </a:t>
            </a:r>
            <a:r>
              <a:rPr lang="en-US" altLang="zh-CN" sz="2000" kern="0" dirty="0" err="1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printf</a:t>
            </a:r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("\n");</a:t>
            </a:r>
          </a:p>
          <a:p>
            <a:pPr lvl="0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    }</a:t>
            </a:r>
          </a:p>
          <a:p>
            <a:pPr lvl="0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    return 0;</a:t>
            </a:r>
          </a:p>
          <a:p>
            <a:pPr lvl="0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}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39" y="2229111"/>
            <a:ext cx="1785772" cy="1271881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A8BAE6E9-369D-E231-D5D2-EF5CCEC99B4C}"/>
              </a:ext>
            </a:extLst>
          </p:cNvPr>
          <p:cNvSpPr txBox="1"/>
          <p:nvPr/>
        </p:nvSpPr>
        <p:spPr>
          <a:xfrm>
            <a:off x="6750995" y="5301574"/>
            <a:ext cx="34163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修改常数</a:t>
            </a:r>
            <a:r>
              <a:rPr lang="en-US" altLang="zh-CN" dirty="0">
                <a:solidFill>
                  <a:srgbClr val="C00000"/>
                </a:solidFill>
              </a:rPr>
              <a:t>n</a:t>
            </a:r>
            <a:r>
              <a:rPr lang="zh-CN" altLang="en-US" dirty="0">
                <a:solidFill>
                  <a:srgbClr val="C00000"/>
                </a:solidFill>
              </a:rPr>
              <a:t>为</a:t>
            </a:r>
            <a:r>
              <a:rPr lang="en-US" altLang="zh-CN" dirty="0">
                <a:solidFill>
                  <a:srgbClr val="C00000"/>
                </a:solidFill>
              </a:rPr>
              <a:t>5</a:t>
            </a:r>
            <a:r>
              <a:rPr lang="zh-CN" altLang="en-US" dirty="0">
                <a:solidFill>
                  <a:srgbClr val="C00000"/>
                </a:solidFill>
              </a:rPr>
              <a:t>，运行程序。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zh-CN" altLang="en-US" dirty="0">
                <a:solidFill>
                  <a:srgbClr val="C00000"/>
                </a:solidFill>
              </a:rPr>
              <a:t>思考：这里为什么要定义常数？</a:t>
            </a:r>
            <a:endParaRPr lang="en-US" altLang="zh-CN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9725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-18415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循环嵌套（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 </a:t>
            </a:r>
            <a:r>
              <a:rPr lang="en-US" altLang="zh-CN" sz="2800" b="1" kern="0" dirty="0">
                <a:solidFill>
                  <a:srgbClr val="FFFF00"/>
                </a:solidFill>
                <a:ea typeface="微软雅黑" panose="020B0503020204020204" pitchFamily="34" charset="-122"/>
              </a:rPr>
              <a:t>Nest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 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）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1804199" y="1920815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rgbClr val="444444"/>
                </a:solidFill>
                <a:latin typeface="Helvetica Neue"/>
              </a:rPr>
              <a:t>输出九九乘法表</a:t>
            </a:r>
            <a:endParaRPr lang="zh-CN" altLang="en-US" sz="2000" b="1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5278" y="2527905"/>
            <a:ext cx="10394667" cy="353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3760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-18415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循环嵌套（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 </a:t>
            </a:r>
            <a:r>
              <a:rPr lang="en-US" altLang="zh-CN" sz="2800" b="1" kern="0" dirty="0">
                <a:solidFill>
                  <a:srgbClr val="FFFF00"/>
                </a:solidFill>
                <a:ea typeface="微软雅黑" panose="020B0503020204020204" pitchFamily="34" charset="-122"/>
              </a:rPr>
              <a:t>Nest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 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）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5" name="学论网-矩形 1"/>
          <p:cNvSpPr/>
          <p:nvPr/>
        </p:nvSpPr>
        <p:spPr>
          <a:xfrm>
            <a:off x="2064718" y="2101172"/>
            <a:ext cx="7833360" cy="4610911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en-US" altLang="zh-CN" sz="2000" kern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/*nest 99 table*/</a:t>
            </a:r>
          </a:p>
          <a:p>
            <a:pPr lvl="0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#include &lt;</a:t>
            </a:r>
            <a:r>
              <a:rPr lang="en-US" altLang="zh-CN" sz="2000" kern="0" dirty="0" err="1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stdio.h</a:t>
            </a:r>
            <a:r>
              <a:rPr lang="en-US" altLang="zh-CN" sz="20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&gt;</a:t>
            </a:r>
          </a:p>
          <a:p>
            <a:pPr lvl="0"/>
            <a:endParaRPr lang="en-US" altLang="zh-CN" sz="2000" kern="0" dirty="0">
              <a:solidFill>
                <a:schemeClr val="tx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lvl="0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int main(){</a:t>
            </a:r>
          </a:p>
          <a:p>
            <a:pPr lvl="0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    int </a:t>
            </a:r>
            <a:r>
              <a:rPr lang="en-US" altLang="zh-CN" sz="2000" kern="0" dirty="0" err="1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i</a:t>
            </a:r>
            <a:r>
              <a:rPr lang="en-US" altLang="zh-CN" sz="20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, j;</a:t>
            </a:r>
          </a:p>
          <a:p>
            <a:pPr lvl="0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    </a:t>
            </a:r>
          </a:p>
          <a:p>
            <a:pPr lvl="0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    for(</a:t>
            </a:r>
            <a:r>
              <a:rPr lang="en-US" altLang="zh-CN" sz="2000" kern="0" dirty="0" err="1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i</a:t>
            </a:r>
            <a:r>
              <a:rPr lang="en-US" altLang="zh-CN" sz="20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=1; </a:t>
            </a:r>
            <a:r>
              <a:rPr lang="en-US" altLang="zh-CN" sz="2000" kern="0" dirty="0" err="1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i</a:t>
            </a:r>
            <a:r>
              <a:rPr lang="en-US" altLang="zh-CN" sz="20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&lt;=9; </a:t>
            </a:r>
            <a:r>
              <a:rPr lang="en-US" altLang="zh-CN" sz="2000" kern="0" dirty="0" err="1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i</a:t>
            </a:r>
            <a:r>
              <a:rPr lang="en-US" altLang="zh-CN" sz="20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++){  //</a:t>
            </a:r>
            <a:r>
              <a:rPr lang="zh-CN" altLang="en-US" sz="20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外层</a:t>
            </a:r>
            <a:r>
              <a:rPr lang="en-US" altLang="zh-CN" sz="20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for</a:t>
            </a:r>
            <a:r>
              <a:rPr lang="zh-CN" altLang="en-US" sz="20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循环</a:t>
            </a:r>
          </a:p>
          <a:p>
            <a:pPr lvl="0"/>
            <a:r>
              <a:rPr lang="zh-CN" altLang="en-US" sz="20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        </a:t>
            </a:r>
            <a:r>
              <a:rPr lang="en-US" altLang="zh-CN" sz="20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for(j=1; j&lt;=</a:t>
            </a:r>
            <a:r>
              <a:rPr lang="en-US" altLang="zh-CN" sz="2000" kern="0" dirty="0" err="1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i</a:t>
            </a:r>
            <a:r>
              <a:rPr lang="en-US" altLang="zh-CN" sz="20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; </a:t>
            </a:r>
            <a:r>
              <a:rPr lang="en-US" altLang="zh-CN" sz="2000" kern="0" dirty="0" err="1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j++</a:t>
            </a:r>
            <a:r>
              <a:rPr lang="en-US" altLang="zh-CN" sz="20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){  //</a:t>
            </a:r>
            <a:r>
              <a:rPr lang="zh-CN" altLang="en-US" sz="20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内层</a:t>
            </a:r>
            <a:r>
              <a:rPr lang="en-US" altLang="zh-CN" sz="20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for</a:t>
            </a:r>
            <a:r>
              <a:rPr lang="zh-CN" altLang="en-US" sz="20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循环</a:t>
            </a:r>
          </a:p>
          <a:p>
            <a:pPr lvl="0"/>
            <a:r>
              <a:rPr lang="zh-CN" altLang="en-US" sz="20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            </a:t>
            </a:r>
            <a:r>
              <a:rPr lang="en-US" altLang="zh-CN" sz="2000" kern="0" dirty="0" err="1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printf</a:t>
            </a:r>
            <a:r>
              <a:rPr lang="en-US" altLang="zh-CN" sz="20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("%d*%d=%-2d  ", </a:t>
            </a:r>
            <a:r>
              <a:rPr lang="en-US" altLang="zh-CN" sz="2000" kern="0" dirty="0" err="1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i</a:t>
            </a:r>
            <a:r>
              <a:rPr lang="en-US" altLang="zh-CN" sz="20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, j, </a:t>
            </a:r>
            <a:r>
              <a:rPr lang="en-US" altLang="zh-CN" sz="2000" kern="0" dirty="0" err="1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i</a:t>
            </a:r>
            <a:r>
              <a:rPr lang="en-US" altLang="zh-CN" sz="20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*j);</a:t>
            </a:r>
          </a:p>
          <a:p>
            <a:pPr lvl="0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        }</a:t>
            </a:r>
          </a:p>
          <a:p>
            <a:pPr lvl="0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        </a:t>
            </a:r>
            <a:r>
              <a:rPr lang="en-US" altLang="zh-CN" sz="2000" kern="0" dirty="0" err="1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printf</a:t>
            </a:r>
            <a:r>
              <a:rPr lang="en-US" altLang="zh-CN" sz="20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("\n");</a:t>
            </a:r>
          </a:p>
          <a:p>
            <a:pPr lvl="0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    }</a:t>
            </a:r>
          </a:p>
          <a:p>
            <a:pPr lvl="0"/>
            <a:endParaRPr lang="en-US" altLang="zh-CN" sz="2000" kern="0" dirty="0">
              <a:solidFill>
                <a:schemeClr val="tx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lvl="0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    return 0;</a:t>
            </a:r>
          </a:p>
          <a:p>
            <a:pPr lvl="0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charset="0"/>
              </a:rPr>
              <a:t>}</a:t>
            </a:r>
          </a:p>
        </p:txBody>
      </p:sp>
      <p:sp>
        <p:nvSpPr>
          <p:cNvPr id="3" name="矩形 2"/>
          <p:cNvSpPr/>
          <p:nvPr/>
        </p:nvSpPr>
        <p:spPr>
          <a:xfrm>
            <a:off x="2064718" y="1615071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rgbClr val="444444"/>
                </a:solidFill>
                <a:latin typeface="Helvetica Neue"/>
              </a:rPr>
              <a:t>输出九九乘法表</a:t>
            </a:r>
          </a:p>
        </p:txBody>
      </p:sp>
    </p:spTree>
    <p:extLst>
      <p:ext uri="{BB962C8B-B14F-4D97-AF65-F5344CB8AC3E}">
        <p14:creationId xmlns:p14="http://schemas.microsoft.com/office/powerpoint/2010/main" val="236184142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-18415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break/continue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语句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2" name="学论网-www.xuelun.me"/>
          <p:cNvSpPr txBox="1"/>
          <p:nvPr/>
        </p:nvSpPr>
        <p:spPr>
          <a:xfrm>
            <a:off x="3921125" y="1771015"/>
            <a:ext cx="8096885" cy="27698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    break</a:t>
            </a:r>
            <a:r>
              <a:rPr lang="zh-CN" altLang="en-US" sz="2400" dirty="0"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语句可以使当前流程跳出</a:t>
            </a:r>
            <a:r>
              <a:rPr lang="en-US" altLang="zh-CN" sz="2400" dirty="0"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switch</a:t>
            </a:r>
            <a:r>
              <a:rPr lang="zh-CN" altLang="en-US" sz="2400" dirty="0"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结构，继续执行</a:t>
            </a:r>
            <a:r>
              <a:rPr lang="en-US" altLang="zh-CN" sz="2400" dirty="0"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switch</a:t>
            </a:r>
            <a:r>
              <a:rPr lang="zh-CN" altLang="en-US" sz="2400" dirty="0"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结构后的下一条语句。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 </a:t>
            </a:r>
            <a:r>
              <a:rPr lang="en-US" altLang="zh-CN" sz="2400" dirty="0"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   break</a:t>
            </a:r>
            <a:r>
              <a:rPr lang="zh-CN" altLang="en-US" sz="2400" dirty="0"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语句还用来从循环体中跳出整个循环结构，即提前结束循环，执行循环结构</a:t>
            </a:r>
            <a:r>
              <a:rPr lang="zh-CN" altLang="en-US" sz="2400" dirty="0"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后的下一条语句。</a:t>
            </a:r>
            <a:endParaRPr lang="zh-CN" altLang="en-US" sz="2400" dirty="0">
              <a:latin typeface="Consolas" panose="020B060902020403020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>
              <a:lnSpc>
                <a:spcPct val="150000"/>
              </a:lnSpc>
            </a:pPr>
            <a:endParaRPr lang="zh-CN" altLang="en-US" sz="2400" dirty="0">
              <a:latin typeface="Consolas" panose="020B0609020204030204" charset="0"/>
              <a:ea typeface="微软雅黑" panose="020B0503020204020204" pitchFamily="34" charset="-122"/>
              <a:cs typeface="Consolas" panose="020B0609020204030204" charset="0"/>
            </a:endParaRPr>
          </a:p>
        </p:txBody>
      </p:sp>
      <p:sp>
        <p:nvSpPr>
          <p:cNvPr id="3" name="学论网-矩形 1"/>
          <p:cNvSpPr/>
          <p:nvPr/>
        </p:nvSpPr>
        <p:spPr>
          <a:xfrm>
            <a:off x="578485" y="1873250"/>
            <a:ext cx="2845435" cy="102044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l"/>
            <a:r>
              <a:rPr lang="en-US" altLang="zh-CN" sz="28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break;</a:t>
            </a:r>
            <a:endParaRPr lang="zh-CN" altLang="en-US" sz="2800" kern="0" dirty="0">
              <a:solidFill>
                <a:schemeClr val="tx1"/>
              </a:solidFill>
              <a:latin typeface="Consolas" panose="020B0609020204030204" charset="0"/>
              <a:ea typeface="微软雅黑" panose="020B0503020204020204" pitchFamily="34" charset="-122"/>
              <a:cs typeface="Consolas" panose="020B0609020204030204" charset="0"/>
            </a:endParaRPr>
          </a:p>
        </p:txBody>
      </p:sp>
      <p:sp>
        <p:nvSpPr>
          <p:cNvPr id="4" name="学论网-矩形 1"/>
          <p:cNvSpPr/>
          <p:nvPr/>
        </p:nvSpPr>
        <p:spPr>
          <a:xfrm>
            <a:off x="578485" y="4866005"/>
            <a:ext cx="2845435" cy="102044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l"/>
            <a:r>
              <a:rPr lang="en-US" altLang="zh-CN" sz="28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continue;</a:t>
            </a:r>
            <a:endParaRPr lang="zh-CN" altLang="en-US" sz="2800" kern="0" dirty="0">
              <a:solidFill>
                <a:schemeClr val="tx1"/>
              </a:solidFill>
              <a:latin typeface="Consolas" panose="020B0609020204030204" charset="0"/>
              <a:ea typeface="微软雅黑" panose="020B0503020204020204" pitchFamily="34" charset="-122"/>
              <a:cs typeface="Consolas" panose="020B0609020204030204" charset="0"/>
            </a:endParaRPr>
          </a:p>
        </p:txBody>
      </p:sp>
      <p:sp>
        <p:nvSpPr>
          <p:cNvPr id="5" name="学论网-www.xuelun.me"/>
          <p:cNvSpPr txBox="1"/>
          <p:nvPr/>
        </p:nvSpPr>
        <p:spPr>
          <a:xfrm>
            <a:off x="3921125" y="4782820"/>
            <a:ext cx="8096885" cy="1107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    </a:t>
            </a:r>
            <a:r>
              <a:rPr lang="zh-CN" altLang="en-US" sz="2400" dirty="0"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有时候并不希望终止整个循环，只是想提前结束本次循环，而接着执行下次循环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-18415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break/continue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语句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2" name="学论网-www.xuelun.me"/>
          <p:cNvSpPr txBox="1"/>
          <p:nvPr/>
        </p:nvSpPr>
        <p:spPr>
          <a:xfrm>
            <a:off x="5981065" y="1771015"/>
            <a:ext cx="6193155" cy="492538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这个</a:t>
            </a:r>
            <a:r>
              <a:rPr lang="en-US" altLang="zh-CN" sz="2400" dirty="0"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for</a:t>
            </a:r>
            <a:r>
              <a:rPr lang="zh-CN" altLang="en-US" sz="2400" dirty="0"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循环结构的作用为打印数字</a:t>
            </a:r>
            <a:r>
              <a:rPr lang="en-US" altLang="zh-CN" sz="2400" dirty="0"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1-10</a:t>
            </a: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第一个程序中：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当</a:t>
            </a:r>
            <a:r>
              <a:rPr lang="en-US" altLang="zh-CN" sz="2400" dirty="0"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i = 5</a:t>
            </a:r>
            <a:r>
              <a:rPr lang="zh-CN" altLang="en-US" sz="2400" dirty="0"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时，满足</a:t>
            </a:r>
            <a:r>
              <a:rPr lang="en-US" altLang="zh-CN" sz="2400" dirty="0"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if</a:t>
            </a:r>
            <a:r>
              <a:rPr lang="zh-CN" altLang="en-US" sz="2400" dirty="0"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语句的判断，执行</a:t>
            </a:r>
            <a:r>
              <a:rPr lang="en-US" altLang="zh-CN" sz="2400" dirty="0"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break</a:t>
            </a:r>
            <a:r>
              <a:rPr lang="zh-CN" altLang="en-US" sz="2400" dirty="0"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语句，此后跳出整个循环，循环结束。</a:t>
            </a: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第二个程序中：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当</a:t>
            </a:r>
            <a:r>
              <a:rPr lang="en-US" altLang="zh-CN" sz="2400" dirty="0"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i = 5</a:t>
            </a:r>
            <a:r>
              <a:rPr lang="zh-CN" altLang="en-US" sz="2400" dirty="0"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时，满足</a:t>
            </a:r>
            <a:r>
              <a:rPr lang="en-US" altLang="zh-CN" sz="2400" dirty="0"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if</a:t>
            </a:r>
            <a:r>
              <a:rPr lang="zh-CN" altLang="en-US" sz="2400" dirty="0"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语句的判断，执行</a:t>
            </a:r>
            <a:r>
              <a:rPr lang="en-US" altLang="zh-CN" sz="2400" dirty="0"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continue</a:t>
            </a:r>
            <a:r>
              <a:rPr lang="zh-CN" altLang="en-US" sz="2400" dirty="0"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语句，此后跳过本次循环中</a:t>
            </a:r>
            <a:r>
              <a:rPr lang="en-US" altLang="zh-CN" sz="2400" dirty="0"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continue</a:t>
            </a:r>
            <a:r>
              <a:rPr lang="zh-CN" altLang="en-US" sz="2400" dirty="0"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语句后面语句的执行，转入下一次循环。</a:t>
            </a:r>
            <a:endParaRPr lang="zh-CN" altLang="en-US" sz="2400" dirty="0">
              <a:latin typeface="Consolas" panose="020B0609020204030204" charset="0"/>
              <a:ea typeface="微软雅黑" panose="020B0503020204020204" pitchFamily="34" charset="-122"/>
              <a:cs typeface="Consolas" panose="020B0609020204030204" charset="0"/>
            </a:endParaRPr>
          </a:p>
        </p:txBody>
      </p:sp>
      <p:sp>
        <p:nvSpPr>
          <p:cNvPr id="6" name="学论网-矩形 1"/>
          <p:cNvSpPr/>
          <p:nvPr/>
        </p:nvSpPr>
        <p:spPr>
          <a:xfrm>
            <a:off x="182880" y="1850390"/>
            <a:ext cx="4335145" cy="2184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l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for(int i = 1;i &lt;= 10; i++)</a:t>
            </a:r>
          </a:p>
          <a:p>
            <a:pPr lvl="0" algn="l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{</a:t>
            </a:r>
          </a:p>
          <a:p>
            <a:pPr lvl="0" algn="l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    if(i == 5) </a:t>
            </a:r>
            <a:r>
              <a:rPr lang="en-US" altLang="zh-CN" sz="2000" b="1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break;</a:t>
            </a:r>
          </a:p>
          <a:p>
            <a:pPr lvl="0" algn="l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    printf("i = %d\n",i);</a:t>
            </a:r>
            <a:endParaRPr lang="en-US" altLang="zh-CN" sz="2000" kern="0" dirty="0">
              <a:solidFill>
                <a:schemeClr val="tx1"/>
              </a:solidFill>
              <a:latin typeface="Consolas" panose="020B060902020403020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lvl="0" algn="l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}</a:t>
            </a:r>
          </a:p>
        </p:txBody>
      </p:sp>
      <p:sp>
        <p:nvSpPr>
          <p:cNvPr id="7" name="学论网-矩形 1"/>
          <p:cNvSpPr/>
          <p:nvPr/>
        </p:nvSpPr>
        <p:spPr>
          <a:xfrm>
            <a:off x="182880" y="4356100"/>
            <a:ext cx="4335145" cy="216344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l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for(int i = 1;i &lt;= 10; i++)</a:t>
            </a:r>
          </a:p>
          <a:p>
            <a:pPr lvl="0" algn="l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{</a:t>
            </a:r>
          </a:p>
          <a:p>
            <a:pPr lvl="0" algn="l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    if(i == 5) </a:t>
            </a:r>
            <a:r>
              <a:rPr lang="en-US" altLang="zh-CN" sz="2000" b="1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continue;</a:t>
            </a:r>
          </a:p>
          <a:p>
            <a:pPr lvl="0" algn="l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    printf("i = %d\n",i);</a:t>
            </a:r>
            <a:endParaRPr lang="en-US" altLang="zh-CN" sz="2000" kern="0" dirty="0">
              <a:solidFill>
                <a:schemeClr val="tx1"/>
              </a:solidFill>
              <a:latin typeface="Consolas" panose="020B060902020403020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lvl="0" algn="l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}</a:t>
            </a:r>
          </a:p>
        </p:txBody>
      </p:sp>
      <p:sp>
        <p:nvSpPr>
          <p:cNvPr id="8" name="学论网-矩形 1"/>
          <p:cNvSpPr/>
          <p:nvPr/>
        </p:nvSpPr>
        <p:spPr>
          <a:xfrm>
            <a:off x="4791075" y="1929130"/>
            <a:ext cx="990600" cy="151384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l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i = 1</a:t>
            </a:r>
          </a:p>
          <a:p>
            <a:pPr lvl="0" algn="l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i = 2</a:t>
            </a:r>
          </a:p>
          <a:p>
            <a:pPr lvl="0" algn="l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i = 3</a:t>
            </a:r>
          </a:p>
          <a:p>
            <a:pPr lvl="0" algn="l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i = 4</a:t>
            </a:r>
          </a:p>
          <a:p>
            <a:pPr lvl="0" algn="l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i = 5</a:t>
            </a:r>
          </a:p>
        </p:txBody>
      </p:sp>
      <p:sp>
        <p:nvSpPr>
          <p:cNvPr id="9" name="学论网-矩形 1"/>
          <p:cNvSpPr/>
          <p:nvPr/>
        </p:nvSpPr>
        <p:spPr>
          <a:xfrm>
            <a:off x="4791075" y="3843655"/>
            <a:ext cx="1076960" cy="28956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l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i = 1</a:t>
            </a:r>
          </a:p>
          <a:p>
            <a:pPr lvl="0" algn="l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i = 2</a:t>
            </a:r>
          </a:p>
          <a:p>
            <a:pPr lvl="0" algn="l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i = 3</a:t>
            </a:r>
          </a:p>
          <a:p>
            <a:pPr lvl="0" algn="l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i = 4</a:t>
            </a:r>
          </a:p>
          <a:p>
            <a:pPr lvl="0" algn="l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i = 6</a:t>
            </a:r>
          </a:p>
          <a:p>
            <a:pPr lvl="0" algn="l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i = 7</a:t>
            </a:r>
            <a:endParaRPr lang="en-US" altLang="zh-CN" sz="2000" kern="0" dirty="0">
              <a:solidFill>
                <a:schemeClr val="tx1"/>
              </a:solidFill>
              <a:latin typeface="Consolas" panose="020B060902020403020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lvl="0" algn="l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i = 8</a:t>
            </a:r>
            <a:endParaRPr lang="en-US" altLang="zh-CN" sz="2000" kern="0" dirty="0">
              <a:solidFill>
                <a:schemeClr val="tx1"/>
              </a:solidFill>
              <a:latin typeface="Consolas" panose="020B0609020204030204" charset="0"/>
              <a:ea typeface="微软雅黑" panose="020B0503020204020204" pitchFamily="34" charset="-122"/>
              <a:cs typeface="Consolas" panose="020B0609020204030204" charset="0"/>
            </a:endParaRPr>
          </a:p>
          <a:p>
            <a:pPr lvl="0" algn="l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i = 9</a:t>
            </a:r>
          </a:p>
          <a:p>
            <a:pPr lvl="0" algn="l"/>
            <a:r>
              <a:rPr lang="en-US" altLang="zh-CN" sz="2000" kern="0" dirty="0">
                <a:solidFill>
                  <a:schemeClr val="tx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  <a:sym typeface="+mn-ea"/>
              </a:rPr>
              <a:t>i = 10</a:t>
            </a:r>
            <a:endParaRPr lang="en-US" altLang="zh-CN" sz="2000" kern="0" dirty="0">
              <a:solidFill>
                <a:schemeClr val="tx1"/>
              </a:solidFill>
              <a:latin typeface="Consolas" panose="020B0609020204030204" charset="0"/>
              <a:ea typeface="微软雅黑" panose="020B0503020204020204" pitchFamily="34" charset="-122"/>
              <a:cs typeface="Consolas" panose="020B0609020204030204" charset="0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>
            <p:custDataLst>
              <p:tags r:id="rId2"/>
            </p:custDataLst>
          </p:nvPr>
        </p:nvSpPr>
        <p:spPr>
          <a:xfrm>
            <a:off x="1219200" y="1462723"/>
            <a:ext cx="87299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The keyword ‘break’ cannot be simply used within:</a:t>
            </a:r>
            <a:endParaRPr lang="zh-CN" altLang="en-US" sz="260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9" name="TextBox 8"/>
          <p:cNvSpPr txBox="1"/>
          <p:nvPr>
            <p:custDataLst>
              <p:tags r:id="rId3"/>
            </p:custDataLst>
          </p:nvPr>
        </p:nvSpPr>
        <p:spPr>
          <a:xfrm>
            <a:off x="2438400" y="2863691"/>
            <a:ext cx="1670368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do-while</a:t>
            </a:r>
            <a:endParaRPr lang="zh-CN" altLang="en-US" sz="260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1" name="TextBox 10"/>
          <p:cNvSpPr txBox="1"/>
          <p:nvPr>
            <p:custDataLst>
              <p:tags r:id="rId5"/>
            </p:custDataLst>
          </p:nvPr>
        </p:nvSpPr>
        <p:spPr>
          <a:xfrm>
            <a:off x="2438400" y="3720941"/>
            <a:ext cx="1222439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if-else</a:t>
            </a:r>
            <a:endParaRPr lang="zh-CN" altLang="en-US" sz="260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B</a:t>
            </a:r>
            <a:endParaRPr lang="zh-CN" altLang="en-US" sz="1600" dirty="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3" name="TextBox 12"/>
          <p:cNvSpPr txBox="1"/>
          <p:nvPr>
            <p:custDataLst>
              <p:tags r:id="rId7"/>
            </p:custDataLst>
          </p:nvPr>
        </p:nvSpPr>
        <p:spPr>
          <a:xfrm>
            <a:off x="2438400" y="4578191"/>
            <a:ext cx="730568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for</a:t>
            </a:r>
            <a:endParaRPr lang="zh-CN" altLang="en-US" sz="260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5" name="TextBox 14"/>
          <p:cNvSpPr txBox="1"/>
          <p:nvPr>
            <p:custDataLst>
              <p:tags r:id="rId9"/>
            </p:custDataLst>
          </p:nvPr>
        </p:nvSpPr>
        <p:spPr>
          <a:xfrm>
            <a:off x="2438400" y="5435441"/>
            <a:ext cx="110680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while</a:t>
            </a:r>
            <a:endParaRPr lang="zh-CN" altLang="en-US" sz="260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7" name="圆角矩形 16"/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提交</a:t>
            </a:r>
          </a:p>
        </p:txBody>
      </p:sp>
      <p:grpSp>
        <p:nvGrpSpPr>
          <p:cNvPr id="7" name="组合 6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3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/>
                  <a:ea typeface="Microsoft Yahei"/>
                  <a:sym typeface="Microsoft Yahei"/>
                </a:rPr>
                <a:t>单选题</a:t>
              </a:r>
            </a:p>
          </p:txBody>
        </p:sp>
        <p:sp>
          <p:nvSpPr>
            <p:cNvPr id="6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分</a:t>
              </a: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8655862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>
            <p:custDataLst>
              <p:tags r:id="rId2"/>
            </p:custDataLst>
          </p:nvPr>
        </p:nvSpPr>
        <p:spPr>
          <a:xfrm>
            <a:off x="1219200" y="1264602"/>
            <a:ext cx="9493822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Which keyword is used to come out of a loop only for that iteration?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9" name="TextBox 8"/>
          <p:cNvSpPr txBox="1"/>
          <p:nvPr>
            <p:custDataLst>
              <p:tags r:id="rId3"/>
            </p:custDataLst>
          </p:nvPr>
        </p:nvSpPr>
        <p:spPr>
          <a:xfrm>
            <a:off x="2438400" y="2863691"/>
            <a:ext cx="1162431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break</a:t>
            </a:r>
            <a:endParaRPr lang="zh-CN" altLang="en-US" sz="260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1" name="TextBox 10"/>
          <p:cNvSpPr txBox="1"/>
          <p:nvPr>
            <p:custDataLst>
              <p:tags r:id="rId5"/>
            </p:custDataLst>
          </p:nvPr>
        </p:nvSpPr>
        <p:spPr>
          <a:xfrm>
            <a:off x="2438400" y="3720941"/>
            <a:ext cx="166243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continue</a:t>
            </a:r>
            <a:endParaRPr lang="zh-CN" altLang="en-US" sz="260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3" name="TextBox 12"/>
          <p:cNvSpPr txBox="1"/>
          <p:nvPr>
            <p:custDataLst>
              <p:tags r:id="rId7"/>
            </p:custDataLst>
          </p:nvPr>
        </p:nvSpPr>
        <p:spPr>
          <a:xfrm>
            <a:off x="2438400" y="4578191"/>
            <a:ext cx="1242759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return</a:t>
            </a:r>
            <a:endParaRPr lang="zh-CN" altLang="en-US" sz="260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5" name="TextBox 14"/>
          <p:cNvSpPr txBox="1"/>
          <p:nvPr>
            <p:custDataLst>
              <p:tags r:id="rId9"/>
            </p:custDataLst>
          </p:nvPr>
        </p:nvSpPr>
        <p:spPr>
          <a:xfrm>
            <a:off x="2438400" y="5435441"/>
            <a:ext cx="3995928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None of the mentioned</a:t>
            </a:r>
            <a:endParaRPr lang="zh-CN" altLang="en-US" sz="260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7" name="圆角矩形 16"/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提交</a:t>
            </a:r>
          </a:p>
        </p:txBody>
      </p:sp>
      <p:grpSp>
        <p:nvGrpSpPr>
          <p:cNvPr id="7" name="组合 6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3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/>
                  <a:ea typeface="Microsoft Yahei"/>
                  <a:sym typeface="Microsoft Yahei"/>
                </a:rPr>
                <a:t>单选题</a:t>
              </a:r>
            </a:p>
          </p:txBody>
        </p:sp>
        <p:sp>
          <p:nvSpPr>
            <p:cNvPr id="6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分</a:t>
              </a: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0953218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-18415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break/continue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语句 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– 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练习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42BB5D01-3563-07D1-E0C0-5288C07DBFA0}"/>
              </a:ext>
            </a:extLst>
          </p:cNvPr>
          <p:cNvSpPr txBox="1"/>
          <p:nvPr/>
        </p:nvSpPr>
        <p:spPr>
          <a:xfrm>
            <a:off x="1313234" y="1663405"/>
            <a:ext cx="47516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求满足 </a:t>
            </a:r>
            <a:r>
              <a:rPr lang="en-US" altLang="zh-CN" b="1" dirty="0"/>
              <a:t>1+2+3+...+n &lt;=100 </a:t>
            </a:r>
            <a:r>
              <a:rPr lang="zh-CN" altLang="en-US" b="1" dirty="0"/>
              <a:t>条件的 </a:t>
            </a:r>
            <a:r>
              <a:rPr lang="en-US" altLang="zh-CN" b="1" dirty="0"/>
              <a:t>n </a:t>
            </a:r>
            <a:r>
              <a:rPr lang="zh-CN" altLang="en-US" b="1" dirty="0"/>
              <a:t>最大值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0107569-1B85-2064-7156-3F981356C0E1}"/>
              </a:ext>
            </a:extLst>
          </p:cNvPr>
          <p:cNvSpPr txBox="1"/>
          <p:nvPr/>
        </p:nvSpPr>
        <p:spPr>
          <a:xfrm>
            <a:off x="1313234" y="2587557"/>
            <a:ext cx="27622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建议在 </a:t>
            </a:r>
            <a:r>
              <a:rPr lang="en-US" altLang="zh-CN" dirty="0" err="1"/>
              <a:t>loop.c</a:t>
            </a:r>
            <a:r>
              <a:rPr lang="en-US" altLang="zh-CN" dirty="0"/>
              <a:t> </a:t>
            </a:r>
            <a:r>
              <a:rPr lang="zh-CN" altLang="en-US" dirty="0"/>
              <a:t>基础上修改</a:t>
            </a:r>
          </a:p>
        </p:txBody>
      </p:sp>
    </p:spTree>
    <p:extLst>
      <p:ext uri="{BB962C8B-B14F-4D97-AF65-F5344CB8AC3E}">
        <p14:creationId xmlns:p14="http://schemas.microsoft.com/office/powerpoint/2010/main" val="208553893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604" b="46967"/>
          <a:stretch>
            <a:fillRect/>
          </a:stretch>
        </p:blipFill>
        <p:spPr>
          <a:xfrm>
            <a:off x="0" y="2176476"/>
            <a:ext cx="12209296" cy="2877923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0" y="2176477"/>
            <a:ext cx="12192000" cy="2877922"/>
          </a:xfrm>
          <a:prstGeom prst="rect">
            <a:avLst/>
          </a:prstGeom>
          <a:gradFill>
            <a:gsLst>
              <a:gs pos="0">
                <a:srgbClr val="014723"/>
              </a:gs>
              <a:gs pos="59000">
                <a:srgbClr val="014723">
                  <a:alpha val="60000"/>
                </a:srgbClr>
              </a:gs>
              <a:gs pos="100000">
                <a:srgbClr val="014723">
                  <a:alpha val="1000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5161452" y="2867904"/>
            <a:ext cx="1886392" cy="1015663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dist"/>
            <a:r>
              <a:rPr lang="zh-CN" altLang="en-US" sz="60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谢谢</a:t>
            </a:r>
          </a:p>
        </p:txBody>
      </p:sp>
      <p:sp>
        <p:nvSpPr>
          <p:cNvPr id="16" name="TextBox 10"/>
          <p:cNvSpPr txBox="1"/>
          <p:nvPr/>
        </p:nvSpPr>
        <p:spPr>
          <a:xfrm>
            <a:off x="2565806" y="3990096"/>
            <a:ext cx="7060388" cy="523196"/>
          </a:xfrm>
          <a:prstGeom prst="rect">
            <a:avLst/>
          </a:prstGeom>
          <a:noFill/>
        </p:spPr>
        <p:txBody>
          <a:bodyPr wrap="square" lIns="91416" tIns="45708" rIns="91416" bIns="45708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/>
            <a:r>
              <a:rPr lang="zh-CN" altLang="en-US" sz="28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中山大学计算机学院</a:t>
            </a:r>
            <a:endParaRPr lang="en-US" altLang="zh-CN" sz="2800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200" r="2284" b="11992"/>
          <a:stretch>
            <a:fillRect/>
          </a:stretch>
        </p:blipFill>
        <p:spPr>
          <a:xfrm>
            <a:off x="4339400" y="923192"/>
            <a:ext cx="3433000" cy="1072662"/>
          </a:xfrm>
          <a:prstGeom prst="rect">
            <a:avLst/>
          </a:prstGeom>
        </p:spPr>
      </p:pic>
      <p:sp>
        <p:nvSpPr>
          <p:cNvPr id="17" name="TextBox 6"/>
          <p:cNvSpPr txBox="1"/>
          <p:nvPr/>
        </p:nvSpPr>
        <p:spPr>
          <a:xfrm>
            <a:off x="5270368" y="5644929"/>
            <a:ext cx="1979981" cy="400085"/>
          </a:xfrm>
          <a:prstGeom prst="rect">
            <a:avLst/>
          </a:prstGeom>
          <a:noFill/>
        </p:spPr>
        <p:txBody>
          <a:bodyPr wrap="none" lIns="91416" tIns="45708" rIns="91416" bIns="45708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schemeClr val="accent2"/>
                </a:solidFill>
                <a:latin typeface="+mn-ea"/>
                <a:ea typeface="+mn-ea"/>
              </a:defRPr>
            </a:lvl1pPr>
          </a:lstStyle>
          <a:p>
            <a:pPr algn="ctr"/>
            <a:r>
              <a:rPr lang="zh-CN" altLang="en-US" b="1">
                <a:solidFill>
                  <a:srgbClr val="0147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编制人</a:t>
            </a:r>
            <a:r>
              <a:rPr lang="zh-CN" altLang="en-US" dirty="0">
                <a:solidFill>
                  <a:srgbClr val="0147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：课题组</a:t>
            </a:r>
            <a:endParaRPr lang="en-US" altLang="zh-CN" dirty="0">
              <a:solidFill>
                <a:srgbClr val="01472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Freeform 7"/>
          <p:cNvSpPr>
            <a:spLocks noChangeAspect="1" noEditPoints="1"/>
          </p:cNvSpPr>
          <p:nvPr/>
        </p:nvSpPr>
        <p:spPr bwMode="auto">
          <a:xfrm>
            <a:off x="4549092" y="5611849"/>
            <a:ext cx="462900" cy="466244"/>
          </a:xfrm>
          <a:custGeom>
            <a:avLst/>
            <a:gdLst>
              <a:gd name="T0" fmla="*/ 661 w 904"/>
              <a:gd name="T1" fmla="*/ 461 h 905"/>
              <a:gd name="T2" fmla="*/ 661 w 904"/>
              <a:gd name="T3" fmla="*/ 339 h 905"/>
              <a:gd name="T4" fmla="*/ 605 w 904"/>
              <a:gd name="T5" fmla="*/ 339 h 905"/>
              <a:gd name="T6" fmla="*/ 605 w 904"/>
              <a:gd name="T7" fmla="*/ 461 h 905"/>
              <a:gd name="T8" fmla="*/ 456 w 904"/>
              <a:gd name="T9" fmla="*/ 610 h 905"/>
              <a:gd name="T10" fmla="*/ 453 w 904"/>
              <a:gd name="T11" fmla="*/ 610 h 905"/>
              <a:gd name="T12" fmla="*/ 452 w 904"/>
              <a:gd name="T13" fmla="*/ 610 h 905"/>
              <a:gd name="T14" fmla="*/ 451 w 904"/>
              <a:gd name="T15" fmla="*/ 610 h 905"/>
              <a:gd name="T16" fmla="*/ 448 w 904"/>
              <a:gd name="T17" fmla="*/ 610 h 905"/>
              <a:gd name="T18" fmla="*/ 299 w 904"/>
              <a:gd name="T19" fmla="*/ 461 h 905"/>
              <a:gd name="T20" fmla="*/ 299 w 904"/>
              <a:gd name="T21" fmla="*/ 339 h 905"/>
              <a:gd name="T22" fmla="*/ 244 w 904"/>
              <a:gd name="T23" fmla="*/ 339 h 905"/>
              <a:gd name="T24" fmla="*/ 244 w 904"/>
              <a:gd name="T25" fmla="*/ 461 h 905"/>
              <a:gd name="T26" fmla="*/ 419 w 904"/>
              <a:gd name="T27" fmla="*/ 664 h 905"/>
              <a:gd name="T28" fmla="*/ 419 w 904"/>
              <a:gd name="T29" fmla="*/ 752 h 905"/>
              <a:gd name="T30" fmla="*/ 295 w 904"/>
              <a:gd name="T31" fmla="*/ 787 h 905"/>
              <a:gd name="T32" fmla="*/ 610 w 904"/>
              <a:gd name="T33" fmla="*/ 787 h 905"/>
              <a:gd name="T34" fmla="*/ 484 w 904"/>
              <a:gd name="T35" fmla="*/ 751 h 905"/>
              <a:gd name="T36" fmla="*/ 484 w 904"/>
              <a:gd name="T37" fmla="*/ 664 h 905"/>
              <a:gd name="T38" fmla="*/ 661 w 904"/>
              <a:gd name="T39" fmla="*/ 461 h 905"/>
              <a:gd name="T40" fmla="*/ 450 w 904"/>
              <a:gd name="T41" fmla="*/ 558 h 905"/>
              <a:gd name="T42" fmla="*/ 452 w 904"/>
              <a:gd name="T43" fmla="*/ 558 h 905"/>
              <a:gd name="T44" fmla="*/ 454 w 904"/>
              <a:gd name="T45" fmla="*/ 558 h 905"/>
              <a:gd name="T46" fmla="*/ 554 w 904"/>
              <a:gd name="T47" fmla="*/ 459 h 905"/>
              <a:gd name="T48" fmla="*/ 554 w 904"/>
              <a:gd name="T49" fmla="*/ 218 h 905"/>
              <a:gd name="T50" fmla="*/ 454 w 904"/>
              <a:gd name="T51" fmla="*/ 118 h 905"/>
              <a:gd name="T52" fmla="*/ 452 w 904"/>
              <a:gd name="T53" fmla="*/ 118 h 905"/>
              <a:gd name="T54" fmla="*/ 450 w 904"/>
              <a:gd name="T55" fmla="*/ 118 h 905"/>
              <a:gd name="T56" fmla="*/ 351 w 904"/>
              <a:gd name="T57" fmla="*/ 218 h 905"/>
              <a:gd name="T58" fmla="*/ 351 w 904"/>
              <a:gd name="T59" fmla="*/ 459 h 905"/>
              <a:gd name="T60" fmla="*/ 450 w 904"/>
              <a:gd name="T61" fmla="*/ 558 h 905"/>
              <a:gd name="T62" fmla="*/ 452 w 904"/>
              <a:gd name="T63" fmla="*/ 0 h 905"/>
              <a:gd name="T64" fmla="*/ 904 w 904"/>
              <a:gd name="T65" fmla="*/ 453 h 905"/>
              <a:gd name="T66" fmla="*/ 452 w 904"/>
              <a:gd name="T67" fmla="*/ 905 h 905"/>
              <a:gd name="T68" fmla="*/ 0 w 904"/>
              <a:gd name="T69" fmla="*/ 453 h 905"/>
              <a:gd name="T70" fmla="*/ 452 w 904"/>
              <a:gd name="T71" fmla="*/ 0 h 9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904" h="905">
                <a:moveTo>
                  <a:pt x="661" y="461"/>
                </a:moveTo>
                <a:lnTo>
                  <a:pt x="661" y="339"/>
                </a:lnTo>
                <a:cubicBezTo>
                  <a:pt x="661" y="304"/>
                  <a:pt x="605" y="304"/>
                  <a:pt x="605" y="339"/>
                </a:cubicBezTo>
                <a:lnTo>
                  <a:pt x="605" y="461"/>
                </a:lnTo>
                <a:cubicBezTo>
                  <a:pt x="605" y="543"/>
                  <a:pt x="538" y="610"/>
                  <a:pt x="456" y="610"/>
                </a:cubicBezTo>
                <a:cubicBezTo>
                  <a:pt x="455" y="610"/>
                  <a:pt x="454" y="610"/>
                  <a:pt x="453" y="610"/>
                </a:cubicBezTo>
                <a:lnTo>
                  <a:pt x="452" y="610"/>
                </a:lnTo>
                <a:lnTo>
                  <a:pt x="451" y="610"/>
                </a:lnTo>
                <a:cubicBezTo>
                  <a:pt x="450" y="610"/>
                  <a:pt x="449" y="610"/>
                  <a:pt x="448" y="610"/>
                </a:cubicBezTo>
                <a:cubicBezTo>
                  <a:pt x="366" y="610"/>
                  <a:pt x="299" y="543"/>
                  <a:pt x="299" y="461"/>
                </a:cubicBezTo>
                <a:lnTo>
                  <a:pt x="299" y="339"/>
                </a:lnTo>
                <a:cubicBezTo>
                  <a:pt x="299" y="304"/>
                  <a:pt x="244" y="304"/>
                  <a:pt x="244" y="339"/>
                </a:cubicBezTo>
                <a:cubicBezTo>
                  <a:pt x="244" y="355"/>
                  <a:pt x="244" y="461"/>
                  <a:pt x="244" y="461"/>
                </a:cubicBezTo>
                <a:cubicBezTo>
                  <a:pt x="244" y="564"/>
                  <a:pt x="320" y="650"/>
                  <a:pt x="419" y="664"/>
                </a:cubicBezTo>
                <a:lnTo>
                  <a:pt x="419" y="752"/>
                </a:lnTo>
                <a:lnTo>
                  <a:pt x="295" y="787"/>
                </a:lnTo>
                <a:lnTo>
                  <a:pt x="610" y="787"/>
                </a:lnTo>
                <a:lnTo>
                  <a:pt x="484" y="751"/>
                </a:lnTo>
                <a:lnTo>
                  <a:pt x="484" y="664"/>
                </a:lnTo>
                <a:cubicBezTo>
                  <a:pt x="584" y="650"/>
                  <a:pt x="661" y="564"/>
                  <a:pt x="661" y="461"/>
                </a:cubicBezTo>
                <a:close/>
                <a:moveTo>
                  <a:pt x="450" y="558"/>
                </a:moveTo>
                <a:cubicBezTo>
                  <a:pt x="451" y="558"/>
                  <a:pt x="451" y="558"/>
                  <a:pt x="452" y="558"/>
                </a:cubicBezTo>
                <a:cubicBezTo>
                  <a:pt x="453" y="558"/>
                  <a:pt x="453" y="558"/>
                  <a:pt x="454" y="558"/>
                </a:cubicBezTo>
                <a:cubicBezTo>
                  <a:pt x="509" y="558"/>
                  <a:pt x="554" y="514"/>
                  <a:pt x="554" y="459"/>
                </a:cubicBezTo>
                <a:lnTo>
                  <a:pt x="554" y="218"/>
                </a:lnTo>
                <a:cubicBezTo>
                  <a:pt x="554" y="163"/>
                  <a:pt x="509" y="118"/>
                  <a:pt x="454" y="118"/>
                </a:cubicBezTo>
                <a:cubicBezTo>
                  <a:pt x="453" y="118"/>
                  <a:pt x="453" y="118"/>
                  <a:pt x="452" y="118"/>
                </a:cubicBezTo>
                <a:cubicBezTo>
                  <a:pt x="452" y="118"/>
                  <a:pt x="451" y="118"/>
                  <a:pt x="450" y="118"/>
                </a:cubicBezTo>
                <a:cubicBezTo>
                  <a:pt x="395" y="118"/>
                  <a:pt x="351" y="163"/>
                  <a:pt x="351" y="218"/>
                </a:cubicBezTo>
                <a:lnTo>
                  <a:pt x="351" y="459"/>
                </a:lnTo>
                <a:cubicBezTo>
                  <a:pt x="351" y="514"/>
                  <a:pt x="395" y="558"/>
                  <a:pt x="450" y="558"/>
                </a:cubicBezTo>
                <a:close/>
                <a:moveTo>
                  <a:pt x="452" y="0"/>
                </a:moveTo>
                <a:cubicBezTo>
                  <a:pt x="702" y="0"/>
                  <a:pt x="904" y="203"/>
                  <a:pt x="904" y="453"/>
                </a:cubicBezTo>
                <a:cubicBezTo>
                  <a:pt x="904" y="702"/>
                  <a:pt x="702" y="905"/>
                  <a:pt x="452" y="905"/>
                </a:cubicBezTo>
                <a:cubicBezTo>
                  <a:pt x="202" y="905"/>
                  <a:pt x="0" y="702"/>
                  <a:pt x="0" y="453"/>
                </a:cubicBezTo>
                <a:cubicBezTo>
                  <a:pt x="0" y="203"/>
                  <a:pt x="202" y="0"/>
                  <a:pt x="452" y="0"/>
                </a:cubicBezTo>
                <a:close/>
              </a:path>
            </a:pathLst>
          </a:custGeom>
          <a:solidFill>
            <a:srgbClr val="014723"/>
          </a:solidFill>
          <a:ln>
            <a:noFill/>
          </a:ln>
        </p:spPr>
        <p:txBody>
          <a:bodyPr vert="horz" wrap="square" lIns="91416" tIns="45708" rIns="91416" bIns="45708" numCol="1" anchor="t" anchorCtr="0" compatLnSpc="1"/>
          <a:lstStyle/>
          <a:p>
            <a:endParaRPr lang="zh-CN" altLang="en-US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SCORE" val="1.0"/>
  <p:tag name="RAINPROBLEMTYPE" val="MultipleChoiceMA"/>
  <p:tag name="RAINPROBLEM" val="MultipleChoiceMA"/>
  <p:tag name="PROBLEMSCORE_HALF" val="0.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MultipleChoiceMA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MultipleChoiceMA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MultipleChoiceMA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404825;#405095;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805.2787401574803,&quot;width&quot;:3950.1212598425195}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404825;#405095;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805.2787401574803,&quot;width&quot;:3950.1212598425195}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404825;#405095;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805.2787401574803,&quot;width&quot;:3950.1212598425195}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404825;#405095;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805.2787401574803,&quot;width&quot;:3950.1212598425195}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Office 主题​​">
  <a:themeElements>
    <a:clrScheme name="自定义 2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004723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4743</TotalTime>
  <Words>3849</Words>
  <Application>Microsoft Office PowerPoint</Application>
  <PresentationFormat>宽屏</PresentationFormat>
  <Paragraphs>672</Paragraphs>
  <Slides>45</Slides>
  <Notes>39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45</vt:i4>
      </vt:variant>
    </vt:vector>
  </HeadingPairs>
  <TitlesOfParts>
    <vt:vector size="59" baseType="lpstr">
      <vt:lpstr>Arial Unicode MS</vt:lpstr>
      <vt:lpstr>DejaVuSans</vt:lpstr>
      <vt:lpstr>FandolSong</vt:lpstr>
      <vt:lpstr>Helvetica Neue</vt:lpstr>
      <vt:lpstr>Impact MT Std</vt:lpstr>
      <vt:lpstr>Microsoft Yahei</vt:lpstr>
      <vt:lpstr>等线</vt:lpstr>
      <vt:lpstr>等线 Light</vt:lpstr>
      <vt:lpstr>微软雅黑</vt:lpstr>
      <vt:lpstr>Arial</vt:lpstr>
      <vt:lpstr>Cambria Math</vt:lpstr>
      <vt:lpstr>Consolas</vt:lpstr>
      <vt:lpstr>Office 主题​​</vt:lpstr>
      <vt:lpstr>Visio.Drawing.11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答辩-19</dc:title>
  <dc:creator>LP</dc:creator>
  <cp:lastModifiedBy>stsluy</cp:lastModifiedBy>
  <cp:revision>216</cp:revision>
  <dcterms:created xsi:type="dcterms:W3CDTF">2016-11-24T09:20:00Z</dcterms:created>
  <dcterms:modified xsi:type="dcterms:W3CDTF">2023-10-29T15:55:51Z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2052-11.1.0.10700</vt:lpwstr>
  </property>
  <property fmtid="{D5CDD505-2E9C-101B-9397-08002B2CF9AE}" pid="3" name="ICV">
    <vt:lpwstr>7E38F6AF0AEB4547AE4ACB4243E3DBEC</vt:lpwstr>
  </property>
</Properties>
</file>