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9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7" r:id="rId2"/>
    <p:sldId id="419" r:id="rId3"/>
    <p:sldId id="420" r:id="rId4"/>
    <p:sldId id="258" r:id="rId5"/>
    <p:sldId id="400" r:id="rId6"/>
    <p:sldId id="401" r:id="rId7"/>
    <p:sldId id="402" r:id="rId8"/>
    <p:sldId id="405" r:id="rId9"/>
    <p:sldId id="406" r:id="rId10"/>
    <p:sldId id="418" r:id="rId11"/>
    <p:sldId id="421" r:id="rId12"/>
    <p:sldId id="422" r:id="rId13"/>
    <p:sldId id="423" r:id="rId14"/>
    <p:sldId id="407" r:id="rId15"/>
    <p:sldId id="408" r:id="rId16"/>
    <p:sldId id="409" r:id="rId17"/>
    <p:sldId id="410" r:id="rId18"/>
    <p:sldId id="411" r:id="rId19"/>
    <p:sldId id="412" r:id="rId20"/>
    <p:sldId id="413" r:id="rId21"/>
    <p:sldId id="414" r:id="rId22"/>
    <p:sldId id="415" r:id="rId23"/>
    <p:sldId id="416" r:id="rId24"/>
    <p:sldId id="417" r:id="rId25"/>
    <p:sldId id="404" r:id="rId26"/>
    <p:sldId id="403" r:id="rId27"/>
    <p:sldId id="354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723"/>
    <a:srgbClr val="FF5D5D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50" autoAdjust="0"/>
  </p:normalViewPr>
  <p:slideViewPr>
    <p:cSldViewPr snapToGrid="0">
      <p:cViewPr varScale="1">
        <p:scale>
          <a:sx n="82" d="100"/>
          <a:sy n="82" d="100"/>
        </p:scale>
        <p:origin x="725" y="77"/>
      </p:cViewPr>
      <p:guideLst>
        <p:guide orient="horz" pos="2160"/>
        <p:guide pos="38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zhidao.baidu.com/search?word=%E5%B8%8C%E8%85%8A%E5%AD%97%E6%AF%8D&amp;fr=iknow_pc_qb_highlight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zhidao.baidu.com/search?word=%E7%BB%9D%E5%AF%B9%E8%AF%AF%E5%B7%AE&amp;fr=iknow_pc_qb_highlight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语言中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epsillon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的缩写，为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希腊字母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的发音，这里程序用于表示精度或者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绝对误差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626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893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结果（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231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结果（</a:t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1101</a:t>
            </a:r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349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95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921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929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450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GNU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开源组织发布的一个强大的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下的程序调试工具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GDB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GNU Debugger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的简称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“GNU”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GNU's Not Unix!”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GNU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并非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！）的首字母递归缩写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GNU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通用公共许可证简称为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746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687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7525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364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3938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788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5401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804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133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3552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97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004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t>2023/11/3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3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.cppreference.com/w/c/language/eval_order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image" Target="../media/image3.tmp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notesSlide" Target="../notesSlides/notesSlide9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3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3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23683" y="2729511"/>
            <a:ext cx="97446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程序控制结构进阶与练习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0700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398603" y="5644929"/>
            <a:ext cx="172350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讲课人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：陆勇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D1DA52F-C474-44B3-9C1B-ACE1DCD8C1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800" b="1" dirty="0"/>
              <a:t>Which for loop has range of similar indexes of '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' used in for (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 = 0;i &lt; n;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++)?</a:t>
            </a:r>
            <a:br>
              <a:rPr lang="en-US" altLang="zh-CN" sz="2800" b="1" dirty="0"/>
            </a:br>
            <a:endParaRPr lang="zh-CN" altLang="en-US" sz="28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E56B15-8860-4553-B27D-5E5AC6BD697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/>
              <a:t>for (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 = n;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&gt;0;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–)</a:t>
            </a:r>
            <a:endParaRPr lang="zh-CN" altLang="en-US" sz="28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F8FEC0-1E55-426A-90EF-9BFD0204DFB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/>
              <a:t>for (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 = n;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 &gt;= 0;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–)</a:t>
            </a:r>
            <a:endParaRPr lang="zh-CN" altLang="en-US" sz="28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B85A5A-D4AA-4E32-96E8-9B642AA21E2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/>
              <a:t>for (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 = n-1;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&gt;0;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–)</a:t>
            </a:r>
            <a:endParaRPr lang="zh-CN" altLang="en-US" sz="28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6FD41B-9D96-4D84-A815-06E7CE33822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b="1" dirty="0"/>
              <a:t>for (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 = n-1;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&gt;-1;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–)</a:t>
            </a:r>
            <a:endParaRPr lang="zh-CN" altLang="en-US" sz="28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99FF450-E64D-4B2F-9309-71256694F4A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A9CE88C-5913-445F-8384-51E69AC1CA0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8CDC6FC-2B88-4788-B899-20AB91264B9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A5DA868-3FEA-45E0-BAE7-9021888235A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8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5528A35-DEAF-43D9-811A-062F223529D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B91902B-A576-46F6-B5C0-217051451B8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B535E930-970C-438C-843D-EDE395CC15F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EDC515E5-0024-4CF7-9ADB-41B564675BF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23E2997C-7FBA-4A5F-9532-32873CFF230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0892A9E3-BB46-49CB-8C31-BFB3800156C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74F8E74-B914-4F95-969C-6BF61457ABD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6528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E7A1CF-0106-4EC3-B2D2-89EF631EE6E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367188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b="1" dirty="0"/>
              <a:t>How many times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value is checked in the below code?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#include &lt;</a:t>
            </a:r>
            <a:r>
              <a:rPr lang="en-US" altLang="zh-CN" sz="2400" b="1" dirty="0" err="1"/>
              <a:t>stdio.h</a:t>
            </a:r>
            <a:r>
              <a:rPr lang="en-US" altLang="zh-CN" sz="2400" b="1" dirty="0"/>
              <a:t>&gt;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int main()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{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    int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= 0;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    do {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       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++;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    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("in while loop\n");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    } while 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&lt; 3);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}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E81347-0B7D-459D-BECA-405832CBAF1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4396581"/>
            <a:ext cx="105727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4DB697-1C05-4778-95FD-400351E9CE4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583807" y="4460875"/>
            <a:ext cx="105727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CDDA19-21A0-4F46-BA98-B19B05A222A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5129213"/>
            <a:ext cx="116205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3134A3-8B02-46B2-B4C7-0E67AFC5236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629527" y="5129213"/>
            <a:ext cx="9620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BC1A91C-264A-43E7-9FA9-116D135AAC9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460874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4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616B995-A39C-430F-8C82-26BBE31DE88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762752" y="4525167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662CCBE-49E6-4B55-A62E-B1C46BFC29F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1935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4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49FFAF0-0A4F-4FEC-A884-4C808BC4F6F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762752" y="51935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D2B6D6D-A0EE-49EE-ABBD-9E5CE798794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884E182-3E27-4EAD-BFB7-94425BA34D2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16F541A-9FF1-46A0-A2F0-837B62F2290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E39372B9-BEF5-48D8-804E-C746E45B033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7972F6A-25BD-43C0-87FD-52D0F23CAD3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569219A2-68BC-4901-879D-FF7553D297D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4BD33F0-4C1A-4C52-906E-92F36DE217C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7099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642044" y="120457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sp>
        <p:nvSpPr>
          <p:cNvPr id="6" name="圆角矩形 5"/>
          <p:cNvSpPr/>
          <p:nvPr/>
        </p:nvSpPr>
        <p:spPr>
          <a:xfrm>
            <a:off x="5642044" y="217250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5642044" y="314042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8" name="圆角矩形 7"/>
          <p:cNvSpPr/>
          <p:nvPr/>
        </p:nvSpPr>
        <p:spPr>
          <a:xfrm>
            <a:off x="5642044" y="410835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  <p:sp>
        <p:nvSpPr>
          <p:cNvPr id="9" name="圆角矩形 8"/>
          <p:cNvSpPr/>
          <p:nvPr/>
        </p:nvSpPr>
        <p:spPr>
          <a:xfrm>
            <a:off x="5642044" y="5076279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05</a:t>
            </a:r>
            <a:endParaRPr lang="zh-CN" altLang="en-US" b="1" dirty="0"/>
          </a:p>
        </p:txBody>
      </p:sp>
      <p:sp>
        <p:nvSpPr>
          <p:cNvPr id="59" name="圆角矩形 58"/>
          <p:cNvSpPr/>
          <p:nvPr/>
        </p:nvSpPr>
        <p:spPr>
          <a:xfrm>
            <a:off x="6746944" y="120457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实数比较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6746944" y="217250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逻辑运算短路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6746944" y="314042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位掩码（</a:t>
            </a:r>
            <a:r>
              <a:rPr lang="en-US" altLang="zh-CN" sz="2000" b="1" dirty="0" err="1"/>
              <a:t>bitMASK</a:t>
            </a:r>
            <a:r>
              <a:rPr lang="zh-CN" altLang="en-US" sz="2000" b="1" dirty="0"/>
              <a:t>）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6746944" y="410835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调试</a:t>
            </a:r>
            <a:r>
              <a:rPr lang="en-US" altLang="zh-CN" sz="2000" b="1" dirty="0"/>
              <a:t>-</a:t>
            </a:r>
            <a:r>
              <a:rPr lang="zh-CN" altLang="en-US" sz="2000" b="1" dirty="0"/>
              <a:t>分支语句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6746944" y="5076279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调试</a:t>
            </a:r>
            <a:r>
              <a:rPr lang="en-US" altLang="zh-CN" sz="2000" b="1" dirty="0"/>
              <a:t>-</a:t>
            </a:r>
            <a:r>
              <a:rPr lang="zh-CN" altLang="en-US" sz="2000" b="1" dirty="0"/>
              <a:t>循环语句</a:t>
            </a:r>
            <a:endParaRPr lang="en-US" altLang="zh-CN" sz="2000" b="1" dirty="0"/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实数比较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10042072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计算机中连续的实数用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float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double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表示。由于离散表示，使得变量中存储的计算结果很多时候是实际实数的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近似值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因此，两个实数变量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==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!=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比较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，或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判断实数变量为零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。特别是循环语句，循环条件表示式中使用类似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(x==y)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这样的比较，可能导致不确定的死循环（有时能循环中止，有时死循环）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实战中，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实数比较运算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一般仅使用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&lt;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两个比较运算符。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两个实数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fabs(x-y) &lt; eps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eps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是合适的小数如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1e-7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实数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等于零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fabs(x) &lt; eps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eps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又称精度控制量（值）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542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实数比较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案例研究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学论网-www.xuelun.me"/>
              <p:cNvSpPr txBox="1"/>
              <p:nvPr/>
            </p:nvSpPr>
            <p:spPr>
              <a:xfrm>
                <a:off x="1252694" y="1718923"/>
                <a:ext cx="9686611" cy="44872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计算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PI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，精确到小数点后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5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位。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PI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的计算公式如下：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sym typeface="+mn-ea"/>
                        </a:rPr>
                        <m:t>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sym typeface="+mn-ea"/>
                        </a:rPr>
                        <m:t>=4∗(1−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3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sym typeface="+mn-ea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5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sym typeface="+mn-ea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7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sym typeface="+mn-ea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9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sym typeface="+mn-ea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11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sym typeface="+mn-ea"/>
                        </a:rPr>
                        <m:t>+…+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4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−3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sym typeface="+mn-ea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4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sym typeface="+mn-ea"/>
                            </a:rPr>
                            <m:t>−1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2" name="学论网-www.xuelun.m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694" y="1718923"/>
                <a:ext cx="9686611" cy="4487244"/>
              </a:xfrm>
              <a:prstGeom prst="rect">
                <a:avLst/>
              </a:prstGeom>
              <a:blipFill>
                <a:blip r:embed="rId4"/>
                <a:stretch>
                  <a:fillRect l="-18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CF9FBF02-568C-5703-F0AE-194C8723CBF8}"/>
              </a:ext>
            </a:extLst>
          </p:cNvPr>
          <p:cNvSpPr txBox="1"/>
          <p:nvPr/>
        </p:nvSpPr>
        <p:spPr>
          <a:xfrm>
            <a:off x="2064541" y="3429000"/>
            <a:ext cx="7913472" cy="304698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</a:rPr>
              <a:t>/*pi*/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pi = 0;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int 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 = 1; 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const double eps = 1e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-6</a:t>
            </a:r>
            <a:r>
              <a:rPr lang="en-US" altLang="zh-CN" sz="1600" dirty="0">
                <a:latin typeface="Consolas" panose="020B0609020204030204" pitchFamily="49" charset="0"/>
              </a:rPr>
              <a:t>;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精度保证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5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位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  while ( 1.0/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 &gt; eps) {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不合适用 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for 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语句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pi += 1.0/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++;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++;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pi -= 1.0/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++;</a:t>
            </a:r>
            <a:r>
              <a:rPr lang="en-US" altLang="zh-CN" sz="1600" dirty="0" err="1"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</a:rPr>
              <a:t>++;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pi *= 4;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</a:rPr>
              <a:t>printf</a:t>
            </a:r>
            <a:r>
              <a:rPr lang="en-US" altLang="zh-CN" sz="1600" dirty="0">
                <a:latin typeface="Consolas" panose="020B0609020204030204" pitchFamily="49" charset="0"/>
              </a:rPr>
              <a:t>("%.5f\</a:t>
            </a:r>
            <a:r>
              <a:rPr lang="en-US" altLang="zh-CN" sz="1600" dirty="0" err="1">
                <a:latin typeface="Consolas" panose="020B0609020204030204" pitchFamily="49" charset="0"/>
              </a:rPr>
              <a:t>n",pi</a:t>
            </a:r>
            <a:r>
              <a:rPr lang="en-US" altLang="zh-CN" sz="1600" dirty="0">
                <a:latin typeface="Consolas" panose="020B0609020204030204" pitchFamily="49" charset="0"/>
              </a:rPr>
              <a:t>);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8DB185-3C5E-9796-A36F-F7DA927EE0B2}"/>
              </a:ext>
            </a:extLst>
          </p:cNvPr>
          <p:cNvSpPr txBox="1"/>
          <p:nvPr/>
        </p:nvSpPr>
        <p:spPr>
          <a:xfrm>
            <a:off x="494749" y="5971178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请打开</a:t>
            </a:r>
            <a:r>
              <a:rPr lang="en-US" altLang="zh-CN" dirty="0" err="1"/>
              <a:t>pi.c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4913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逻辑运算短路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252694" y="1853266"/>
            <a:ext cx="9686611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学论网-www.xuelun.me">
                <a:extLst>
                  <a:ext uri="{FF2B5EF4-FFF2-40B4-BE49-F238E27FC236}">
                    <a16:creationId xmlns:a16="http://schemas.microsoft.com/office/drawing/2014/main" id="{C944E96D-C9E5-2AFC-BF92-9399A5E0DA16}"/>
                  </a:ext>
                </a:extLst>
              </p:cNvPr>
              <p:cNvSpPr txBox="1"/>
              <p:nvPr/>
            </p:nvSpPr>
            <p:spPr>
              <a:xfrm>
                <a:off x="1126672" y="1853266"/>
                <a:ext cx="10042072" cy="44872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表达式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 &amp;&amp;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如果子表达式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𝑎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 false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则子表达式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𝑏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结果无论是什么，结果必然为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false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。为了优化程序执行速度，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不求值，称为 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and 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短路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表达式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 ||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 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如果子表达式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𝑎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为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 true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则子表达式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𝑏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不求值，结果必然为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true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。称为 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or </a:t>
                </a:r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短路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例如：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因此，在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and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表达式中把大概率为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false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的子表达式写在左边有利于提升程序性能。同样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or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表达式把大概率为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true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的子表达式写在左边。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3" name="学论网-www.xuelun.me">
                <a:extLst>
                  <a:ext uri="{FF2B5EF4-FFF2-40B4-BE49-F238E27FC236}">
                    <a16:creationId xmlns:a16="http://schemas.microsoft.com/office/drawing/2014/main" id="{C944E96D-C9E5-2AFC-BF92-9399A5E0D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672" y="1853266"/>
                <a:ext cx="10042072" cy="4487244"/>
              </a:xfrm>
              <a:prstGeom prst="rect">
                <a:avLst/>
              </a:prstGeom>
              <a:blipFill>
                <a:blip r:embed="rId4"/>
                <a:stretch>
                  <a:fillRect l="-1457" r="-12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545C44C8-CAE9-466C-56DD-45478D7ABDF3}"/>
              </a:ext>
            </a:extLst>
          </p:cNvPr>
          <p:cNvSpPr txBox="1"/>
          <p:nvPr/>
        </p:nvSpPr>
        <p:spPr>
          <a:xfrm>
            <a:off x="2257831" y="3496723"/>
            <a:ext cx="7437986" cy="12003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int </a:t>
            </a:r>
            <a:r>
              <a:rPr lang="en-US" altLang="zh-CN" dirty="0" err="1">
                <a:latin typeface="Consolas" panose="020B0609020204030204" pitchFamily="49" charset="0"/>
              </a:rPr>
              <a:t>a,b,c,d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a = b = c = 0;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d = a++ || ++b || </a:t>
            </a:r>
            <a:r>
              <a:rPr lang="en-US" altLang="zh-CN" dirty="0" err="1">
                <a:latin typeface="Consolas" panose="020B0609020204030204" pitchFamily="49" charset="0"/>
              </a:rPr>
              <a:t>c++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("%</a:t>
            </a:r>
            <a:r>
              <a:rPr lang="en-US" altLang="zh-CN" dirty="0" err="1">
                <a:latin typeface="Consolas" panose="020B0609020204030204" pitchFamily="49" charset="0"/>
              </a:rPr>
              <a:t>d%d%d%d</a:t>
            </a:r>
            <a:r>
              <a:rPr lang="en-US" altLang="zh-CN" dirty="0">
                <a:latin typeface="Consolas" panose="020B0609020204030204" pitchFamily="49" charset="0"/>
              </a:rPr>
              <a:t>",</a:t>
            </a:r>
            <a:r>
              <a:rPr lang="en-US" altLang="zh-CN" dirty="0" err="1">
                <a:latin typeface="Consolas" panose="020B0609020204030204" pitchFamily="49" charset="0"/>
              </a:rPr>
              <a:t>a,b,c,d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574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逻辑运算短路 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252694" y="1853266"/>
            <a:ext cx="9686611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学论网-www.xuelun.me">
            <a:extLst>
              <a:ext uri="{FF2B5EF4-FFF2-40B4-BE49-F238E27FC236}">
                <a16:creationId xmlns:a16="http://schemas.microsoft.com/office/drawing/2014/main" id="{C944E96D-C9E5-2AFC-BF92-9399A5E0DA16}"/>
              </a:ext>
            </a:extLst>
          </p:cNvPr>
          <p:cNvSpPr txBox="1"/>
          <p:nvPr/>
        </p:nvSpPr>
        <p:spPr>
          <a:xfrm>
            <a:off x="1126672" y="1853266"/>
            <a:ext cx="10042072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，请问下面的语句是什么意思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 &amp;&amp; (c=(double)a/b);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等价于：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因此，逻辑运算短路等价于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 … else if …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多路分支语句。例如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e1||e2||e3||…||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等价于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39F3AB-F748-E6C8-8B70-73C74E9EB02F}"/>
              </a:ext>
            </a:extLst>
          </p:cNvPr>
          <p:cNvSpPr txBox="1"/>
          <p:nvPr/>
        </p:nvSpPr>
        <p:spPr>
          <a:xfrm>
            <a:off x="2478115" y="3147934"/>
            <a:ext cx="6940571" cy="70788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</a:rPr>
              <a:t>if (!b) result=false;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else result=(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c=(double)a/b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553C4B8-52CE-ACA1-EE98-75A68E5968E0}"/>
              </a:ext>
            </a:extLst>
          </p:cNvPr>
          <p:cNvSpPr txBox="1"/>
          <p:nvPr/>
        </p:nvSpPr>
        <p:spPr>
          <a:xfrm>
            <a:off x="5213059" y="4837526"/>
            <a:ext cx="4271409" cy="147732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if (e1) result=true;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else if (e2) result=true;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else if (e3) result=true;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… …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else result=(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en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07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有副作用（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Side effects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）的表达式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10042072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副作用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：如果一个表达式不仅算出一个值，还修改了其他变量，就说这个表达式有副作用。例如：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自增、自减运算、赋值运算、传引用函数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有副作用的表达式并不一定有害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，但以下情况会导致表达式难以被理解、测试，甚至被不同编译器解释为不同语义的代码。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&amp;&amp;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||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?: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表达式包含有副作用的子表达式。例如 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 || </a:t>
            </a:r>
            <a:r>
              <a:rPr lang="en-US" altLang="zh-CN" sz="20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++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子表达式之间因副作用必须用特定顺序编译，会导致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未定义行为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。例如：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++ +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++;  b*2 + 5*(1+b++)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a[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++]=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f(&amp;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 + 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函数调用参数中包含有副作用表达式。例如 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f(c=</a:t>
            </a:r>
            <a:r>
              <a:rPr lang="en-US" altLang="zh-CN" sz="20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d,e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++)</a:t>
            </a: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27EE9E-1CF6-C7E9-7E20-D84101AE90D0}"/>
              </a:ext>
            </a:extLst>
          </p:cNvPr>
          <p:cNvSpPr txBox="1"/>
          <p:nvPr/>
        </p:nvSpPr>
        <p:spPr>
          <a:xfrm>
            <a:off x="8404699" y="4096888"/>
            <a:ext cx="249299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可能出现在理论考试中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CF9AF5-813D-FC26-97B8-56120788AF7E}"/>
              </a:ext>
            </a:extLst>
          </p:cNvPr>
          <p:cNvSpPr txBox="1"/>
          <p:nvPr/>
        </p:nvSpPr>
        <p:spPr>
          <a:xfrm>
            <a:off x="8404699" y="5199172"/>
            <a:ext cx="2492990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理论考试，实际编程，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都不该出现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008308-AEB8-CFBF-9578-B05B575FFC18}"/>
              </a:ext>
            </a:extLst>
          </p:cNvPr>
          <p:cNvSpPr txBox="1"/>
          <p:nvPr/>
        </p:nvSpPr>
        <p:spPr>
          <a:xfrm>
            <a:off x="1126672" y="6295364"/>
            <a:ext cx="3130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linkClick r:id="rId4"/>
              </a:rPr>
              <a:t>求值顺序 </a:t>
            </a:r>
            <a:r>
              <a:rPr lang="en-US" altLang="zh-CN" dirty="0">
                <a:hlinkClick r:id="rId4"/>
              </a:rPr>
              <a:t>- cppreference.com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501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 err="1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bitMASK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位操作与应用案例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10042072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复习：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&amp;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可以清零指定的位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|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可以设置指定位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^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可以使指定的位反相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表示文件的权限，对应位为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表示有权限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第一位表示可读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第二位表示可写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第三位表示可执行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请阅读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file-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permission.c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解释每一个语句的含义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93468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CC046DE-2CEE-4AF7-8993-7E8740F4EE7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b="1" dirty="0"/>
              <a:t>Which of the following data types are accepted while declaring bit-fields?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AB1A91-B41A-4EC2-89D3-FD631D68A25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char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6766A9-969D-4B7A-89FD-21EFE4218B0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float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9AE7C1-7D15-4319-9A99-312CB826AC6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double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08CC8E-2CD6-4948-A9D0-FCC3B907B60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None of the mentioned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014229F-AEDB-44CE-AF0E-1FCFA6CFEB0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AFE457-B538-41B0-877A-D641AF8BAC5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1DDA90E-2A1E-47B4-9626-B7581D6F604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A8F5AF2-A027-4C49-9E84-49CD9EA3CDE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EB788A2-F788-409D-B9C4-613A977829F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79FA66E-5988-4488-A1AD-1513E68B485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11A29A24-2035-4CF0-9957-D6526BC7C9C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52038B1-5DE1-4F58-820A-F301B26390A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025F4343-37C9-4BE8-91F3-17391015A3D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600A89DD-DACD-460B-A082-9C7F4CA0E44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34AD364-B051-4842-B6E3-15E861E298B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992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CC046DE-2CEE-4AF7-8993-7E8740F4EE7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17221"/>
            <a:ext cx="9753600" cy="315468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b="1" dirty="0"/>
              <a:t>For what minimum value of x in a 32-bit Linux OS would make the size of s equal to 8 bytes?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struct temp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{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    int a : 13;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    int b : 8;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    int c : x;</a:t>
            </a:r>
            <a:endParaRPr lang="zh-CN" altLang="zh-CN" sz="2400" b="1" dirty="0"/>
          </a:p>
          <a:p>
            <a:pPr lvl="0" fontAlgn="t" latinLnBrk="1"/>
            <a:r>
              <a:rPr lang="en-US" altLang="zh-CN" sz="2400" b="1" dirty="0"/>
              <a:t>    }s;</a:t>
            </a:r>
            <a:endParaRPr lang="zh-CN" altLang="zh-CN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AB1A91-B41A-4EC2-89D3-FD631D68A25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66392" y="4288859"/>
            <a:ext cx="82731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6766A9-969D-4B7A-89FD-21EFE4218B0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705531" y="4280921"/>
            <a:ext cx="112589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9AE7C1-7D15-4319-9A99-312CB826AC6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66392" y="5023077"/>
            <a:ext cx="1494453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08CC8E-2CD6-4948-A9D0-FCC3B907B60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705531" y="5087370"/>
            <a:ext cx="79465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32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014229F-AEDB-44CE-AF0E-1FCFA6CFEB0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99617" y="4353152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AFE457-B538-41B0-877A-D641AF8BAC5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6838756" y="4345214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1DDA90E-2A1E-47B4-9626-B7581D6F604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99617" y="508737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A8F5AF2-A027-4C49-9E84-49CD9EA3CDE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838756" y="515166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EB788A2-F788-409D-B9C4-613A977829F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79FA66E-5988-4488-A1AD-1513E68B485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11A29A24-2035-4CF0-9957-D6526BC7C9C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52038B1-5DE1-4F58-820A-F301B26390A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025F4343-37C9-4BE8-91F3-17391015A3D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600A89DD-DACD-460B-A082-9C7F4CA0E44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34AD364-B051-4842-B6E3-15E861E298B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4872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CC046DE-2CEE-4AF7-8993-7E8740F4EE7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b="1" dirty="0"/>
              <a:t>Bit fields can only be declared as part of a structure.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AB1A91-B41A-4EC2-89D3-FD631D68A25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false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6766A9-969D-4B7A-89FD-21EFE4218B0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true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9AE7C1-7D15-4319-9A99-312CB826AC6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Nothing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08CC8E-2CD6-4948-A9D0-FCC3B907B60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b="1" dirty="0"/>
              <a:t>Varies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014229F-AEDB-44CE-AF0E-1FCFA6CFEB0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3AFE457-B538-41B0-877A-D641AF8BAC5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1DDA90E-2A1E-47B4-9626-B7581D6F604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A8F5AF2-A027-4C49-9E84-49CD9EA3CDE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EB788A2-F788-409D-B9C4-613A977829F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79FA66E-5988-4488-A1AD-1513E68B485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11A29A24-2035-4CF0-9957-D6526BC7C9C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52038B1-5DE1-4F58-820A-F301B26390A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025F4343-37C9-4BE8-91F3-17391015A3D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600A89DD-DACD-460B-A082-9C7F4CA0E44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34AD364-B051-4842-B6E3-15E861E298B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3203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）与错误（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Error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10042072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Debug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又称除错，是发现和减少计算机程序错误的过程。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程序错误的种类：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语法（编译）错误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，如语句结束缺少“；”号。这类错误编译器会给出提示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运行时错误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，程序运行时异常退出，给出或不给错误信息。如段错误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逻辑错误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，程序正常运行，但未得到期望的结果。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调试，是发现后两类错误的重要手段</a:t>
            </a:r>
          </a:p>
        </p:txBody>
      </p:sp>
    </p:spTree>
    <p:extLst>
      <p:ext uri="{BB962C8B-B14F-4D97-AF65-F5344CB8AC3E}">
        <p14:creationId xmlns:p14="http://schemas.microsoft.com/office/powerpoint/2010/main" val="1566354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）方法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10042072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调试方法一：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printf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函数在指定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打印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路径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相关信息或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调试方法二：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工具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，如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dev-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c++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gdb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语句跟踪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，使用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断点（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break point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执行下一句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等指令跟踪程序执行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路径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变量查看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，在跟踪的过程中观察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的变化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因此，需要掌握调试工具的使用以及调试的技巧</a:t>
            </a:r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59FFFFD6-9E98-7693-7648-9FE47E22DCC2}"/>
              </a:ext>
            </a:extLst>
          </p:cNvPr>
          <p:cNvSpPr/>
          <p:nvPr/>
        </p:nvSpPr>
        <p:spPr>
          <a:xfrm>
            <a:off x="3854824" y="1945340"/>
            <a:ext cx="959223" cy="439271"/>
          </a:xfrm>
          <a:prstGeom prst="wedgeRoundRect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Where?</a:t>
            </a:r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74D611A1-8242-C795-5963-42E5D7BFB0EE}"/>
              </a:ext>
            </a:extLst>
          </p:cNvPr>
          <p:cNvSpPr/>
          <p:nvPr/>
        </p:nvSpPr>
        <p:spPr>
          <a:xfrm>
            <a:off x="5237790" y="1945340"/>
            <a:ext cx="959223" cy="439271"/>
          </a:xfrm>
          <a:prstGeom prst="wedgeRoundRect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What?</a:t>
            </a:r>
            <a:endParaRPr lang="zh-CN" altLang="en-US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603E22A1-46DD-F3F0-726A-292B83DB4833}"/>
              </a:ext>
            </a:extLst>
          </p:cNvPr>
          <p:cNvSpPr/>
          <p:nvPr/>
        </p:nvSpPr>
        <p:spPr>
          <a:xfrm>
            <a:off x="6709442" y="1945340"/>
            <a:ext cx="959223" cy="439271"/>
          </a:xfrm>
          <a:prstGeom prst="wedgeRoundRectCallo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Which?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1244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）过程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10042072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调试前：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调试工具准备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设计测试案例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修改测试程序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调试中：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断点选择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变量查看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常用调试命令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5766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工具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dev </a:t>
            </a:r>
            <a:r>
              <a:rPr lang="en-US" altLang="zh-CN" sz="2800" b="1" kern="0" dirty="0" err="1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c++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10042072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调试须知：必须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先创建项目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再调试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创建一个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project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控制台应用（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console application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将要调试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代码添加到该项目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点击代码，打开代码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修改代码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F5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键开启调试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1E80D2-F27D-1105-BC1B-B32E2D3F2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802" y="2809523"/>
            <a:ext cx="6667843" cy="5454930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0AEBB165-9BEF-20F1-2A95-DC4E94D070B1}"/>
              </a:ext>
            </a:extLst>
          </p:cNvPr>
          <p:cNvSpPr/>
          <p:nvPr/>
        </p:nvSpPr>
        <p:spPr>
          <a:xfrm>
            <a:off x="5211643" y="3971115"/>
            <a:ext cx="1075765" cy="3048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26E6B39-B2ED-3819-11F0-EBB62CAC0FD5}"/>
              </a:ext>
            </a:extLst>
          </p:cNvPr>
          <p:cNvSpPr/>
          <p:nvPr/>
        </p:nvSpPr>
        <p:spPr>
          <a:xfrm>
            <a:off x="7015629" y="5315821"/>
            <a:ext cx="762000" cy="3048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98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代码修改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10042072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调试程序一般没有输入语句，如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scanf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调试程序四段结构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变量申明或定义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测试案例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结果计算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输出结果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常用快捷键：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ctrl+/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触发注释代码，在测试案例或数据输入间切换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9A09D8-EC7C-E22B-CE6A-BE13449908FD}"/>
              </a:ext>
            </a:extLst>
          </p:cNvPr>
          <p:cNvSpPr txBox="1"/>
          <p:nvPr/>
        </p:nvSpPr>
        <p:spPr>
          <a:xfrm>
            <a:off x="6077585" y="2320925"/>
            <a:ext cx="33203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程序四段结构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变量申明或定义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数据输入</a:t>
            </a:r>
            <a:endParaRPr lang="en-US" altLang="zh-CN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结果计算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输出结果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9298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分支语句测试案例设计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学论网-www.xuelun.me"/>
              <p:cNvSpPr txBox="1"/>
              <p:nvPr/>
            </p:nvSpPr>
            <p:spPr>
              <a:xfrm>
                <a:off x="1126672" y="1853266"/>
                <a:ext cx="10042072" cy="44872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测试案例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是一组输入变量，它能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覆盖所有可能的分支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。例如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endParaRPr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求方程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𝑎</m:t>
                    </m:r>
                    <m:sSup>
                      <m:sSupPr>
                        <m:ctrlP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𝑏𝑥</m:t>
                    </m:r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𝑐</m:t>
                    </m:r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=0 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的实数解。</a:t>
                </a:r>
              </a:p>
              <a:p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输入：三个整数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a, b, c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，∣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a∣, ∣b∣, ∣c∣ ∈[0,1000]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  <a:endParaRPr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endParaRPr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考虑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a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</m:t>
                    </m:r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∆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是否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为零情况</a:t>
                </a:r>
                <a:endParaRPr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endParaRPr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左边是分析</a:t>
                </a:r>
                <a:endParaRPr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红色每行是一个案例</a:t>
                </a:r>
                <a:endParaRPr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通常是最典型的输入</a:t>
                </a:r>
                <a:endParaRPr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易于观察各变量值</a:t>
                </a:r>
                <a:endParaRPr lang="en-US" altLang="zh-CN" sz="2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2" name="学论网-www.xuelun.m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672" y="1853266"/>
                <a:ext cx="10042072" cy="4487244"/>
              </a:xfrm>
              <a:prstGeom prst="rect">
                <a:avLst/>
              </a:prstGeom>
              <a:blipFill>
                <a:blip r:embed="rId4"/>
                <a:stretch>
                  <a:fillRect l="-1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BD3480F9-8053-BCB6-3005-A2036989E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511419"/>
              </p:ext>
            </p:extLst>
          </p:nvPr>
        </p:nvGraphicFramePr>
        <p:xfrm>
          <a:off x="4269016" y="3986414"/>
          <a:ext cx="689972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945">
                  <a:extLst>
                    <a:ext uri="{9D8B030D-6E8A-4147-A177-3AD203B41FA5}">
                      <a16:colId xmlns:a16="http://schemas.microsoft.com/office/drawing/2014/main" val="4270023885"/>
                    </a:ext>
                  </a:extLst>
                </a:gridCol>
                <a:gridCol w="1043710">
                  <a:extLst>
                    <a:ext uri="{9D8B030D-6E8A-4147-A177-3AD203B41FA5}">
                      <a16:colId xmlns:a16="http://schemas.microsoft.com/office/drawing/2014/main" val="1935800441"/>
                    </a:ext>
                  </a:extLst>
                </a:gridCol>
                <a:gridCol w="860372">
                  <a:extLst>
                    <a:ext uri="{9D8B030D-6E8A-4147-A177-3AD203B41FA5}">
                      <a16:colId xmlns:a16="http://schemas.microsoft.com/office/drawing/2014/main" val="3857765311"/>
                    </a:ext>
                  </a:extLst>
                </a:gridCol>
                <a:gridCol w="696692">
                  <a:extLst>
                    <a:ext uri="{9D8B030D-6E8A-4147-A177-3AD203B41FA5}">
                      <a16:colId xmlns:a16="http://schemas.microsoft.com/office/drawing/2014/main" val="1793788254"/>
                    </a:ext>
                  </a:extLst>
                </a:gridCol>
                <a:gridCol w="658611">
                  <a:extLst>
                    <a:ext uri="{9D8B030D-6E8A-4147-A177-3AD203B41FA5}">
                      <a16:colId xmlns:a16="http://schemas.microsoft.com/office/drawing/2014/main" val="3209670825"/>
                    </a:ext>
                  </a:extLst>
                </a:gridCol>
                <a:gridCol w="642929">
                  <a:extLst>
                    <a:ext uri="{9D8B030D-6E8A-4147-A177-3AD203B41FA5}">
                      <a16:colId xmlns:a16="http://schemas.microsoft.com/office/drawing/2014/main" val="98389584"/>
                    </a:ext>
                  </a:extLst>
                </a:gridCol>
                <a:gridCol w="1944469">
                  <a:extLst>
                    <a:ext uri="{9D8B030D-6E8A-4147-A177-3AD203B41FA5}">
                      <a16:colId xmlns:a16="http://schemas.microsoft.com/office/drawing/2014/main" val="67132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delta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c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期望输出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968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!=0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&gt;0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-2</a:t>
                      </a:r>
                      <a:r>
                        <a:rPr lang="zh-CN" altLang="en-US" dirty="0"/>
                        <a:t>，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32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156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&lt;0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None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499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---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!=0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33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---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None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308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38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分支语句案例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3803916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调试步骤：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创建一个新项目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加入案例代码，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equotion-solving.c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设置断点：点击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行行号，这些行变红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查看变量：选中变量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delta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，按按钮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 watch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C27320-5723-18EA-5B25-593F7ED15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453" y="2009587"/>
            <a:ext cx="6426530" cy="433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58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分支语句案例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3803916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调试步骤：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这时程序会停在第一个断点（蓝色行）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选中任何变量，点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 watch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观察变量值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点击行号，添加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去除断点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Next line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执行下一条语句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Continue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执行到下一个断点或程序结束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Stop Execution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调试结束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D72D14-94D7-BDC4-9BD8-D7F94B0AB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937" y="1853266"/>
            <a:ext cx="5810549" cy="46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01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分支语句练习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10042072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任务一：记录执行路径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断点设在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next line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执行到函数结束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记录执行完后经过的行号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任务二：拦截所有可能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断点设置在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else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后一行，思考为什么不要把语句与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else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写在一行上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修改测试案例，如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1 2 2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，观察执行情况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任务三：检测分支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断点设置在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13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next line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，请分析这个案例下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条件的结果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05084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分支语句练习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126672" y="1853266"/>
            <a:ext cx="10042072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任务四：设计测试案例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请给出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 &amp;&amp; delta &gt; 0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时的两个测试案例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它们确保打印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x1,x2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x2,x1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两种情况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任务五：完善该程序代码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分别用设计的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6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个案例检测程序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调试并得到期望结果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最后用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ctrl+/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屏蔽调式代码，给出数据输入代码</a:t>
            </a:r>
          </a:p>
        </p:txBody>
      </p:sp>
    </p:spTree>
    <p:extLst>
      <p:ext uri="{BB962C8B-B14F-4D97-AF65-F5344CB8AC3E}">
        <p14:creationId xmlns:p14="http://schemas.microsoft.com/office/powerpoint/2010/main" val="230337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循环语句案例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252694" y="1853266"/>
            <a:ext cx="9686611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学论网-www.xuelun.me">
            <a:extLst>
              <a:ext uri="{FF2B5EF4-FFF2-40B4-BE49-F238E27FC236}">
                <a16:creationId xmlns:a16="http://schemas.microsoft.com/office/drawing/2014/main" id="{0D103102-9A15-AE16-9351-9E517730C24A}"/>
              </a:ext>
            </a:extLst>
          </p:cNvPr>
          <p:cNvSpPr txBox="1"/>
          <p:nvPr/>
        </p:nvSpPr>
        <p:spPr>
          <a:xfrm>
            <a:off x="1405094" y="2005666"/>
            <a:ext cx="9686611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用牛顿法计算平方根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newton.c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来源于网上，经过适当修改。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测试案例设计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循环案例设计较复杂，不要求掌握，作业题中都会给出。这里是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的平方根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断点选择和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watch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循环调试断点一般选择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关键字所在行，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循环体的第一行，循环语句的下一行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Watch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条件表达式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、关键变量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Next line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跟踪一次迭代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Continue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跟踪每个迭代关键变量的变化，观察迭代是否趋向结束（收敛）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2278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调试（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debug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循环语句调试练习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252694" y="1853266"/>
            <a:ext cx="9686611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学论网-www.xuelun.me">
            <a:extLst>
              <a:ext uri="{FF2B5EF4-FFF2-40B4-BE49-F238E27FC236}">
                <a16:creationId xmlns:a16="http://schemas.microsoft.com/office/drawing/2014/main" id="{0D103102-9A15-AE16-9351-9E517730C24A}"/>
              </a:ext>
            </a:extLst>
          </p:cNvPr>
          <p:cNvSpPr txBox="1"/>
          <p:nvPr/>
        </p:nvSpPr>
        <p:spPr>
          <a:xfrm>
            <a:off x="1405094" y="2005666"/>
            <a:ext cx="9686611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任务一：使用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next line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观察第一次迭代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任务二： 使用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Continue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记录每次迭代后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x0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的变化，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3-5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任务三： 找到导致死循环的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bug</a:t>
            </a: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任务四：完善程序，使它能计算你输入的数</a:t>
            </a:r>
          </a:p>
        </p:txBody>
      </p:sp>
    </p:spTree>
    <p:extLst>
      <p:ext uri="{BB962C8B-B14F-4D97-AF65-F5344CB8AC3E}">
        <p14:creationId xmlns:p14="http://schemas.microsoft.com/office/powerpoint/2010/main" val="1988989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-18415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latin typeface="Consolas" panose="020B0609020204030204" charset="0"/>
                <a:ea typeface="微软雅黑" panose="020B0503020204020204" pitchFamily="34" charset="-122"/>
              </a:rPr>
              <a:t>课堂练习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学论网-www.xuelun.me"/>
          <p:cNvSpPr txBox="1"/>
          <p:nvPr/>
        </p:nvSpPr>
        <p:spPr>
          <a:xfrm>
            <a:off x="1252694" y="1853266"/>
            <a:ext cx="9686611" cy="44872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剪刀石头布，对战计算机。采用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2n+1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轮决定胜负：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首先输入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决定比赛轮数，如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n=1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则表示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胜制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每轮规则如下：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计算机随机产生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0-2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玩家输入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分别表示剪刀、石头和布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石头砸剪刀、布包石头、剪刀裁布则玩家胜本轮，否则计算机胜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输出本轮胜者，累计获胜次数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最先达到胜（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n+1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）次者获得最终胜利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语言实现该游戏</a:t>
            </a:r>
          </a:p>
        </p:txBody>
      </p:sp>
    </p:spTree>
    <p:extLst>
      <p:ext uri="{BB962C8B-B14F-4D97-AF65-F5344CB8AC3E}">
        <p14:creationId xmlns:p14="http://schemas.microsoft.com/office/powerpoint/2010/main" val="3410505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161452" y="2867904"/>
            <a:ext cx="1886392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270368" y="5644929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编制人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：课题组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6564</TotalTime>
  <Words>2284</Words>
  <Application>Microsoft Office PowerPoint</Application>
  <PresentationFormat>宽屏</PresentationFormat>
  <Paragraphs>404</Paragraphs>
  <Slides>27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Impact MT Std</vt:lpstr>
      <vt:lpstr>Microsoft Yahei</vt:lpstr>
      <vt:lpstr>等线</vt:lpstr>
      <vt:lpstr>等线 Light</vt:lpstr>
      <vt:lpstr>微软雅黑</vt:lpstr>
      <vt:lpstr>Arial</vt:lpstr>
      <vt:lpstr>Cambria Math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stsluy</cp:lastModifiedBy>
  <cp:revision>260</cp:revision>
  <dcterms:created xsi:type="dcterms:W3CDTF">2016-11-24T09:20:00Z</dcterms:created>
  <dcterms:modified xsi:type="dcterms:W3CDTF">2023-11-03T04:56:03Z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7E38F6AF0AEB4547AE4ACB4243E3DBEC</vt:lpwstr>
  </property>
</Properties>
</file>