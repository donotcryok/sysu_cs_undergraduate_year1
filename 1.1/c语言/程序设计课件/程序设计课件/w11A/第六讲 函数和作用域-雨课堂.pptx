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3"/>
  </p:notesMasterIdLst>
  <p:sldIdLst>
    <p:sldId id="257" r:id="rId2"/>
    <p:sldId id="258" r:id="rId3"/>
    <p:sldId id="260" r:id="rId4"/>
    <p:sldId id="261" r:id="rId5"/>
    <p:sldId id="284" r:id="rId6"/>
    <p:sldId id="286" r:id="rId7"/>
    <p:sldId id="262" r:id="rId8"/>
    <p:sldId id="285" r:id="rId9"/>
    <p:sldId id="287" r:id="rId10"/>
    <p:sldId id="288" r:id="rId11"/>
    <p:sldId id="336" r:id="rId12"/>
    <p:sldId id="337" r:id="rId13"/>
    <p:sldId id="263" r:id="rId14"/>
    <p:sldId id="289" r:id="rId15"/>
    <p:sldId id="290" r:id="rId16"/>
    <p:sldId id="291" r:id="rId17"/>
    <p:sldId id="292" r:id="rId18"/>
    <p:sldId id="293" r:id="rId19"/>
    <p:sldId id="528" r:id="rId20"/>
    <p:sldId id="529" r:id="rId21"/>
    <p:sldId id="338" r:id="rId22"/>
    <p:sldId id="339" r:id="rId23"/>
    <p:sldId id="356" r:id="rId24"/>
    <p:sldId id="519" r:id="rId25"/>
    <p:sldId id="521" r:id="rId26"/>
    <p:sldId id="522" r:id="rId27"/>
    <p:sldId id="264" r:id="rId28"/>
    <p:sldId id="295" r:id="rId29"/>
    <p:sldId id="296" r:id="rId30"/>
    <p:sldId id="297" r:id="rId31"/>
    <p:sldId id="298" r:id="rId32"/>
    <p:sldId id="299" r:id="rId33"/>
    <p:sldId id="302" r:id="rId34"/>
    <p:sldId id="300" r:id="rId35"/>
    <p:sldId id="303" r:id="rId36"/>
    <p:sldId id="301" r:id="rId37"/>
    <p:sldId id="304" r:id="rId38"/>
    <p:sldId id="305" r:id="rId39"/>
    <p:sldId id="306" r:id="rId40"/>
    <p:sldId id="307" r:id="rId41"/>
    <p:sldId id="308" r:id="rId42"/>
    <p:sldId id="309" r:id="rId43"/>
    <p:sldId id="310" r:id="rId44"/>
    <p:sldId id="312" r:id="rId45"/>
    <p:sldId id="524" r:id="rId46"/>
    <p:sldId id="526" r:id="rId47"/>
    <p:sldId id="527" r:id="rId48"/>
    <p:sldId id="343" r:id="rId49"/>
    <p:sldId id="344" r:id="rId50"/>
    <p:sldId id="355" r:id="rId51"/>
    <p:sldId id="354" r:id="rId5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2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4723"/>
    <a:srgbClr val="92D050"/>
    <a:srgbClr val="FF5D5D"/>
    <a:srgbClr val="C00000"/>
    <a:srgbClr val="CC3300"/>
    <a:srgbClr val="3A6695"/>
    <a:srgbClr val="9CC5FD"/>
    <a:srgbClr val="134263"/>
    <a:srgbClr val="1E2B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1" autoAdjust="0"/>
    <p:restoredTop sz="95780" autoAdjust="0"/>
  </p:normalViewPr>
  <p:slideViewPr>
    <p:cSldViewPr snapToGrid="0">
      <p:cViewPr varScale="1">
        <p:scale>
          <a:sx n="83" d="100"/>
          <a:sy n="83" d="100"/>
        </p:scale>
        <p:origin x="670" y="62"/>
      </p:cViewPr>
      <p:guideLst>
        <p:guide orient="horz" pos="2160"/>
        <p:guide pos="38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CE4261-0CDD-45A3-84C2-311859DE5B03}" type="datetimeFigureOut">
              <a:rPr lang="zh-CN" altLang="en-US" smtClean="0"/>
              <a:t>2023/11/6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F711DA-82CB-44C8-99EC-9CE596A896F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61385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91373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73903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函数调用时实参表达式赋值给形参的顺序</a:t>
            </a:r>
            <a:r>
              <a:rPr lang="en-US" altLang="zh-CN" dirty="0"/>
              <a:t>C</a:t>
            </a:r>
            <a:r>
              <a:rPr lang="zh-CN" altLang="en-US" dirty="0"/>
              <a:t>语言标准并未规定，由编译器定义，</a:t>
            </a:r>
            <a:r>
              <a:rPr lang="en-US" altLang="zh-CN" dirty="0" err="1"/>
              <a:t>DevCpp</a:t>
            </a:r>
            <a:r>
              <a:rPr lang="zh-CN" altLang="en-US" dirty="0"/>
              <a:t>：</a:t>
            </a:r>
            <a:r>
              <a:rPr lang="zh-CN" altLang="en-US" sz="1400" dirty="0">
                <a:solidFill>
                  <a:srgbClr val="C00000"/>
                </a:solidFill>
              </a:rPr>
              <a:t>从右至左</a:t>
            </a:r>
            <a:endParaRPr lang="en-US" altLang="zh-CN" sz="14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73903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DevCpp</a:t>
            </a:r>
            <a:r>
              <a:rPr lang="zh-CN" altLang="en-US" dirty="0"/>
              <a:t>中，函数参数调用顺序是从右向左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88776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342066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29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30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31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32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33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34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35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36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37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38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39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40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41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42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43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44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797697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111472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题目 </a:t>
            </a:r>
            <a:r>
              <a:rPr lang="en-US" altLang="zh-CN" sz="12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7</a:t>
            </a:r>
            <a:b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给你一个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32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位的有符号整数 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 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，返回将 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 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中的数字部分反转后的结果。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如果反转后整数超过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32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位的有符号整数的范围 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[−2</a:t>
            </a:r>
            <a:r>
              <a:rPr lang="en-US" altLang="zh-CN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31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 2</a:t>
            </a:r>
            <a:r>
              <a:rPr lang="en-US" altLang="zh-CN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31 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−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1] 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，就返回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假设环境不允许存储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64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位整数（有符号或无符号）。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929583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公众号壹课</a:t>
            </a:r>
            <a:endParaRPr lang="zh-CN" altLang="en-US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  <a:t>51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2023/11/6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2023/11/6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2023/11/6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2023/11/6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2023/11/6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2023/11/6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2023/11/6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2023/11/6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2023/11/6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2023/11/6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  <a:t>2023/11/6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4536CA-A6C4-4358-AF93-5CCBD70D248C}" type="datetimeFigureOut">
              <a:rPr lang="zh-CN" altLang="en-US" smtClean="0"/>
              <a:t>2023/11/6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537B7A-7510-410A-AA53-45D600DA02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3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3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zh.cppreference.com/w/c/numeric/math" TargetMode="Externa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image" Target="../media/image30.png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13" Type="http://schemas.openxmlformats.org/officeDocument/2006/relationships/tags" Target="../tags/tag26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12" Type="http://schemas.openxmlformats.org/officeDocument/2006/relationships/tags" Target="../tags/tag25.xml"/><Relationship Id="rId17" Type="http://schemas.openxmlformats.org/officeDocument/2006/relationships/tags" Target="../tags/tag30.xml"/><Relationship Id="rId2" Type="http://schemas.openxmlformats.org/officeDocument/2006/relationships/tags" Target="../tags/tag15.xml"/><Relationship Id="rId16" Type="http://schemas.openxmlformats.org/officeDocument/2006/relationships/tags" Target="../tags/tag29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tags" Target="../tags/tag24.xml"/><Relationship Id="rId5" Type="http://schemas.openxmlformats.org/officeDocument/2006/relationships/tags" Target="../tags/tag18.xml"/><Relationship Id="rId15" Type="http://schemas.openxmlformats.org/officeDocument/2006/relationships/tags" Target="../tags/tag28.xml"/><Relationship Id="rId10" Type="http://schemas.openxmlformats.org/officeDocument/2006/relationships/tags" Target="../tags/tag23.xml"/><Relationship Id="rId19" Type="http://schemas.openxmlformats.org/officeDocument/2006/relationships/image" Target="../media/image30.png"/><Relationship Id="rId4" Type="http://schemas.openxmlformats.org/officeDocument/2006/relationships/tags" Target="../tags/tag17.xml"/><Relationship Id="rId9" Type="http://schemas.openxmlformats.org/officeDocument/2006/relationships/tags" Target="../tags/tag22.xml"/><Relationship Id="rId14" Type="http://schemas.openxmlformats.org/officeDocument/2006/relationships/tags" Target="../tags/tag2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tags" Target="../tags/tag38.xml"/><Relationship Id="rId13" Type="http://schemas.openxmlformats.org/officeDocument/2006/relationships/tags" Target="../tags/tag4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12" Type="http://schemas.openxmlformats.org/officeDocument/2006/relationships/tags" Target="../tags/tag42.xml"/><Relationship Id="rId17" Type="http://schemas.openxmlformats.org/officeDocument/2006/relationships/tags" Target="../tags/tag47.xml"/><Relationship Id="rId2" Type="http://schemas.openxmlformats.org/officeDocument/2006/relationships/tags" Target="../tags/tag32.xml"/><Relationship Id="rId16" Type="http://schemas.openxmlformats.org/officeDocument/2006/relationships/tags" Target="../tags/tag46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11" Type="http://schemas.openxmlformats.org/officeDocument/2006/relationships/tags" Target="../tags/tag41.xml"/><Relationship Id="rId5" Type="http://schemas.openxmlformats.org/officeDocument/2006/relationships/tags" Target="../tags/tag35.xml"/><Relationship Id="rId15" Type="http://schemas.openxmlformats.org/officeDocument/2006/relationships/tags" Target="../tags/tag45.xml"/><Relationship Id="rId10" Type="http://schemas.openxmlformats.org/officeDocument/2006/relationships/tags" Target="../tags/tag40.xml"/><Relationship Id="rId19" Type="http://schemas.openxmlformats.org/officeDocument/2006/relationships/image" Target="../media/image30.png"/><Relationship Id="rId4" Type="http://schemas.openxmlformats.org/officeDocument/2006/relationships/tags" Target="../tags/tag34.xml"/><Relationship Id="rId9" Type="http://schemas.openxmlformats.org/officeDocument/2006/relationships/tags" Target="../tags/tag39.xml"/><Relationship Id="rId14" Type="http://schemas.openxmlformats.org/officeDocument/2006/relationships/tags" Target="../tags/tag4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tags" Target="../tags/tag55.xml"/><Relationship Id="rId13" Type="http://schemas.openxmlformats.org/officeDocument/2006/relationships/tags" Target="../tags/tag60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50.xml"/><Relationship Id="rId7" Type="http://schemas.openxmlformats.org/officeDocument/2006/relationships/tags" Target="../tags/tag54.xml"/><Relationship Id="rId12" Type="http://schemas.openxmlformats.org/officeDocument/2006/relationships/tags" Target="../tags/tag59.xml"/><Relationship Id="rId17" Type="http://schemas.openxmlformats.org/officeDocument/2006/relationships/tags" Target="../tags/tag64.xml"/><Relationship Id="rId2" Type="http://schemas.openxmlformats.org/officeDocument/2006/relationships/tags" Target="../tags/tag49.xml"/><Relationship Id="rId16" Type="http://schemas.openxmlformats.org/officeDocument/2006/relationships/tags" Target="../tags/tag63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11" Type="http://schemas.openxmlformats.org/officeDocument/2006/relationships/tags" Target="../tags/tag58.xml"/><Relationship Id="rId5" Type="http://schemas.openxmlformats.org/officeDocument/2006/relationships/tags" Target="../tags/tag52.xml"/><Relationship Id="rId15" Type="http://schemas.openxmlformats.org/officeDocument/2006/relationships/tags" Target="../tags/tag62.xml"/><Relationship Id="rId10" Type="http://schemas.openxmlformats.org/officeDocument/2006/relationships/tags" Target="../tags/tag57.xml"/><Relationship Id="rId19" Type="http://schemas.openxmlformats.org/officeDocument/2006/relationships/image" Target="../media/image30.png"/><Relationship Id="rId4" Type="http://schemas.openxmlformats.org/officeDocument/2006/relationships/tags" Target="../tags/tag51.xml"/><Relationship Id="rId9" Type="http://schemas.openxmlformats.org/officeDocument/2006/relationships/tags" Target="../tags/tag56.xml"/><Relationship Id="rId14" Type="http://schemas.openxmlformats.org/officeDocument/2006/relationships/tags" Target="../tags/tag61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tags" Target="../tags/tag72.xml"/><Relationship Id="rId13" Type="http://schemas.openxmlformats.org/officeDocument/2006/relationships/tags" Target="../tags/tag77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67.xml"/><Relationship Id="rId7" Type="http://schemas.openxmlformats.org/officeDocument/2006/relationships/tags" Target="../tags/tag71.xml"/><Relationship Id="rId12" Type="http://schemas.openxmlformats.org/officeDocument/2006/relationships/tags" Target="../tags/tag76.xml"/><Relationship Id="rId17" Type="http://schemas.openxmlformats.org/officeDocument/2006/relationships/tags" Target="../tags/tag81.xml"/><Relationship Id="rId2" Type="http://schemas.openxmlformats.org/officeDocument/2006/relationships/tags" Target="../tags/tag66.xml"/><Relationship Id="rId16" Type="http://schemas.openxmlformats.org/officeDocument/2006/relationships/tags" Target="../tags/tag80.xml"/><Relationship Id="rId1" Type="http://schemas.openxmlformats.org/officeDocument/2006/relationships/tags" Target="../tags/tag65.xml"/><Relationship Id="rId6" Type="http://schemas.openxmlformats.org/officeDocument/2006/relationships/tags" Target="../tags/tag70.xml"/><Relationship Id="rId11" Type="http://schemas.openxmlformats.org/officeDocument/2006/relationships/tags" Target="../tags/tag75.xml"/><Relationship Id="rId5" Type="http://schemas.openxmlformats.org/officeDocument/2006/relationships/tags" Target="../tags/tag69.xml"/><Relationship Id="rId15" Type="http://schemas.openxmlformats.org/officeDocument/2006/relationships/tags" Target="../tags/tag79.xml"/><Relationship Id="rId10" Type="http://schemas.openxmlformats.org/officeDocument/2006/relationships/tags" Target="../tags/tag74.xml"/><Relationship Id="rId19" Type="http://schemas.openxmlformats.org/officeDocument/2006/relationships/image" Target="../media/image30.png"/><Relationship Id="rId4" Type="http://schemas.openxmlformats.org/officeDocument/2006/relationships/tags" Target="../tags/tag68.xml"/><Relationship Id="rId9" Type="http://schemas.openxmlformats.org/officeDocument/2006/relationships/tags" Target="../tags/tag73.xml"/><Relationship Id="rId14" Type="http://schemas.openxmlformats.org/officeDocument/2006/relationships/tags" Target="../tags/tag78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tags" Target="../tags/tag89.xml"/><Relationship Id="rId13" Type="http://schemas.openxmlformats.org/officeDocument/2006/relationships/tags" Target="../tags/tag94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84.xml"/><Relationship Id="rId7" Type="http://schemas.openxmlformats.org/officeDocument/2006/relationships/tags" Target="../tags/tag88.xml"/><Relationship Id="rId12" Type="http://schemas.openxmlformats.org/officeDocument/2006/relationships/tags" Target="../tags/tag93.xml"/><Relationship Id="rId17" Type="http://schemas.openxmlformats.org/officeDocument/2006/relationships/tags" Target="../tags/tag98.xml"/><Relationship Id="rId2" Type="http://schemas.openxmlformats.org/officeDocument/2006/relationships/tags" Target="../tags/tag83.xml"/><Relationship Id="rId16" Type="http://schemas.openxmlformats.org/officeDocument/2006/relationships/tags" Target="../tags/tag97.xml"/><Relationship Id="rId1" Type="http://schemas.openxmlformats.org/officeDocument/2006/relationships/tags" Target="../tags/tag82.xml"/><Relationship Id="rId6" Type="http://schemas.openxmlformats.org/officeDocument/2006/relationships/tags" Target="../tags/tag87.xml"/><Relationship Id="rId11" Type="http://schemas.openxmlformats.org/officeDocument/2006/relationships/tags" Target="../tags/tag92.xml"/><Relationship Id="rId5" Type="http://schemas.openxmlformats.org/officeDocument/2006/relationships/tags" Target="../tags/tag86.xml"/><Relationship Id="rId15" Type="http://schemas.openxmlformats.org/officeDocument/2006/relationships/tags" Target="../tags/tag96.xml"/><Relationship Id="rId10" Type="http://schemas.openxmlformats.org/officeDocument/2006/relationships/tags" Target="../tags/tag91.xml"/><Relationship Id="rId19" Type="http://schemas.openxmlformats.org/officeDocument/2006/relationships/image" Target="../media/image30.png"/><Relationship Id="rId4" Type="http://schemas.openxmlformats.org/officeDocument/2006/relationships/tags" Target="../tags/tag85.xml"/><Relationship Id="rId9" Type="http://schemas.openxmlformats.org/officeDocument/2006/relationships/tags" Target="../tags/tag90.xml"/><Relationship Id="rId14" Type="http://schemas.openxmlformats.org/officeDocument/2006/relationships/tags" Target="../tags/tag9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04" b="46967"/>
          <a:stretch>
            <a:fillRect/>
          </a:stretch>
        </p:blipFill>
        <p:spPr>
          <a:xfrm>
            <a:off x="0" y="2176476"/>
            <a:ext cx="12209296" cy="2877923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2176477"/>
            <a:ext cx="12192000" cy="2877922"/>
          </a:xfrm>
          <a:prstGeom prst="rect">
            <a:avLst/>
          </a:prstGeom>
          <a:gradFill>
            <a:gsLst>
              <a:gs pos="0">
                <a:srgbClr val="014723"/>
              </a:gs>
              <a:gs pos="59000">
                <a:srgbClr val="014723">
                  <a:alpha val="60000"/>
                </a:srgbClr>
              </a:gs>
              <a:gs pos="100000">
                <a:srgbClr val="014723">
                  <a:alpha val="10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223683" y="2729511"/>
            <a:ext cx="97446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函数和作用域（</a:t>
            </a:r>
            <a:r>
              <a:rPr lang="en-US" altLang="zh-CN" sz="60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60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16" name="TextBox 10"/>
          <p:cNvSpPr txBox="1"/>
          <p:nvPr/>
        </p:nvSpPr>
        <p:spPr>
          <a:xfrm>
            <a:off x="2565806" y="3990096"/>
            <a:ext cx="7060388" cy="523196"/>
          </a:xfrm>
          <a:prstGeom prst="rect">
            <a:avLst/>
          </a:prstGeom>
          <a:noFill/>
        </p:spPr>
        <p:txBody>
          <a:bodyPr wrap="squar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28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中山大学计算机学院</a:t>
            </a:r>
            <a:endParaRPr lang="en-US" altLang="zh-CN" sz="28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00" r="2284" b="11992"/>
          <a:stretch>
            <a:fillRect/>
          </a:stretch>
        </p:blipFill>
        <p:spPr>
          <a:xfrm>
            <a:off x="4339400" y="923192"/>
            <a:ext cx="3433000" cy="1072662"/>
          </a:xfrm>
          <a:prstGeom prst="rect">
            <a:avLst/>
          </a:prstGeom>
        </p:spPr>
      </p:pic>
      <p:sp>
        <p:nvSpPr>
          <p:cNvPr id="17" name="TextBox 6"/>
          <p:cNvSpPr txBox="1"/>
          <p:nvPr/>
        </p:nvSpPr>
        <p:spPr>
          <a:xfrm>
            <a:off x="5398606" y="5644929"/>
            <a:ext cx="1723500" cy="400085"/>
          </a:xfrm>
          <a:prstGeom prst="rect">
            <a:avLst/>
          </a:prstGeom>
          <a:noFill/>
        </p:spPr>
        <p:txBody>
          <a:bodyPr wrap="non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accent2"/>
                </a:solidFill>
                <a:latin typeface="+mn-ea"/>
                <a:ea typeface="+mn-ea"/>
              </a:defRPr>
            </a:lvl1pPr>
          </a:lstStyle>
          <a:p>
            <a:pPr algn="ctr"/>
            <a:r>
              <a:rPr lang="zh-CN" altLang="en-US" b="1" dirty="0">
                <a:solidFill>
                  <a:srgbClr val="0147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讲课人</a:t>
            </a:r>
            <a:r>
              <a:rPr lang="zh-CN" altLang="en-US" dirty="0">
                <a:solidFill>
                  <a:srgbClr val="0147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：陆勇</a:t>
            </a:r>
            <a:endParaRPr lang="en-US" altLang="zh-CN" dirty="0">
              <a:solidFill>
                <a:srgbClr val="0147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Freeform 7"/>
          <p:cNvSpPr>
            <a:spLocks noChangeAspect="1" noEditPoints="1"/>
          </p:cNvSpPr>
          <p:nvPr/>
        </p:nvSpPr>
        <p:spPr bwMode="auto">
          <a:xfrm>
            <a:off x="4549092" y="5611849"/>
            <a:ext cx="462900" cy="466244"/>
          </a:xfrm>
          <a:custGeom>
            <a:avLst/>
            <a:gdLst>
              <a:gd name="T0" fmla="*/ 661 w 904"/>
              <a:gd name="T1" fmla="*/ 461 h 905"/>
              <a:gd name="T2" fmla="*/ 661 w 904"/>
              <a:gd name="T3" fmla="*/ 339 h 905"/>
              <a:gd name="T4" fmla="*/ 605 w 904"/>
              <a:gd name="T5" fmla="*/ 339 h 905"/>
              <a:gd name="T6" fmla="*/ 605 w 904"/>
              <a:gd name="T7" fmla="*/ 461 h 905"/>
              <a:gd name="T8" fmla="*/ 456 w 904"/>
              <a:gd name="T9" fmla="*/ 610 h 905"/>
              <a:gd name="T10" fmla="*/ 453 w 904"/>
              <a:gd name="T11" fmla="*/ 610 h 905"/>
              <a:gd name="T12" fmla="*/ 452 w 904"/>
              <a:gd name="T13" fmla="*/ 610 h 905"/>
              <a:gd name="T14" fmla="*/ 451 w 904"/>
              <a:gd name="T15" fmla="*/ 610 h 905"/>
              <a:gd name="T16" fmla="*/ 448 w 904"/>
              <a:gd name="T17" fmla="*/ 610 h 905"/>
              <a:gd name="T18" fmla="*/ 299 w 904"/>
              <a:gd name="T19" fmla="*/ 461 h 905"/>
              <a:gd name="T20" fmla="*/ 299 w 904"/>
              <a:gd name="T21" fmla="*/ 339 h 905"/>
              <a:gd name="T22" fmla="*/ 244 w 904"/>
              <a:gd name="T23" fmla="*/ 339 h 905"/>
              <a:gd name="T24" fmla="*/ 244 w 904"/>
              <a:gd name="T25" fmla="*/ 461 h 905"/>
              <a:gd name="T26" fmla="*/ 419 w 904"/>
              <a:gd name="T27" fmla="*/ 664 h 905"/>
              <a:gd name="T28" fmla="*/ 419 w 904"/>
              <a:gd name="T29" fmla="*/ 752 h 905"/>
              <a:gd name="T30" fmla="*/ 295 w 904"/>
              <a:gd name="T31" fmla="*/ 787 h 905"/>
              <a:gd name="T32" fmla="*/ 610 w 904"/>
              <a:gd name="T33" fmla="*/ 787 h 905"/>
              <a:gd name="T34" fmla="*/ 484 w 904"/>
              <a:gd name="T35" fmla="*/ 751 h 905"/>
              <a:gd name="T36" fmla="*/ 484 w 904"/>
              <a:gd name="T37" fmla="*/ 664 h 905"/>
              <a:gd name="T38" fmla="*/ 661 w 904"/>
              <a:gd name="T39" fmla="*/ 461 h 905"/>
              <a:gd name="T40" fmla="*/ 450 w 904"/>
              <a:gd name="T41" fmla="*/ 558 h 905"/>
              <a:gd name="T42" fmla="*/ 452 w 904"/>
              <a:gd name="T43" fmla="*/ 558 h 905"/>
              <a:gd name="T44" fmla="*/ 454 w 904"/>
              <a:gd name="T45" fmla="*/ 558 h 905"/>
              <a:gd name="T46" fmla="*/ 554 w 904"/>
              <a:gd name="T47" fmla="*/ 459 h 905"/>
              <a:gd name="T48" fmla="*/ 554 w 904"/>
              <a:gd name="T49" fmla="*/ 218 h 905"/>
              <a:gd name="T50" fmla="*/ 454 w 904"/>
              <a:gd name="T51" fmla="*/ 118 h 905"/>
              <a:gd name="T52" fmla="*/ 452 w 904"/>
              <a:gd name="T53" fmla="*/ 118 h 905"/>
              <a:gd name="T54" fmla="*/ 450 w 904"/>
              <a:gd name="T55" fmla="*/ 118 h 905"/>
              <a:gd name="T56" fmla="*/ 351 w 904"/>
              <a:gd name="T57" fmla="*/ 218 h 905"/>
              <a:gd name="T58" fmla="*/ 351 w 904"/>
              <a:gd name="T59" fmla="*/ 459 h 905"/>
              <a:gd name="T60" fmla="*/ 450 w 904"/>
              <a:gd name="T61" fmla="*/ 558 h 905"/>
              <a:gd name="T62" fmla="*/ 452 w 904"/>
              <a:gd name="T63" fmla="*/ 0 h 905"/>
              <a:gd name="T64" fmla="*/ 904 w 904"/>
              <a:gd name="T65" fmla="*/ 453 h 905"/>
              <a:gd name="T66" fmla="*/ 452 w 904"/>
              <a:gd name="T67" fmla="*/ 905 h 905"/>
              <a:gd name="T68" fmla="*/ 0 w 904"/>
              <a:gd name="T69" fmla="*/ 453 h 905"/>
              <a:gd name="T70" fmla="*/ 452 w 904"/>
              <a:gd name="T71" fmla="*/ 0 h 9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904" h="905">
                <a:moveTo>
                  <a:pt x="661" y="461"/>
                </a:moveTo>
                <a:lnTo>
                  <a:pt x="661" y="339"/>
                </a:lnTo>
                <a:cubicBezTo>
                  <a:pt x="661" y="304"/>
                  <a:pt x="605" y="304"/>
                  <a:pt x="605" y="339"/>
                </a:cubicBezTo>
                <a:lnTo>
                  <a:pt x="605" y="461"/>
                </a:lnTo>
                <a:cubicBezTo>
                  <a:pt x="605" y="543"/>
                  <a:pt x="538" y="610"/>
                  <a:pt x="456" y="610"/>
                </a:cubicBezTo>
                <a:cubicBezTo>
                  <a:pt x="455" y="610"/>
                  <a:pt x="454" y="610"/>
                  <a:pt x="453" y="610"/>
                </a:cubicBezTo>
                <a:lnTo>
                  <a:pt x="452" y="610"/>
                </a:lnTo>
                <a:lnTo>
                  <a:pt x="451" y="610"/>
                </a:lnTo>
                <a:cubicBezTo>
                  <a:pt x="450" y="610"/>
                  <a:pt x="449" y="610"/>
                  <a:pt x="448" y="610"/>
                </a:cubicBezTo>
                <a:cubicBezTo>
                  <a:pt x="366" y="610"/>
                  <a:pt x="299" y="543"/>
                  <a:pt x="299" y="461"/>
                </a:cubicBezTo>
                <a:lnTo>
                  <a:pt x="299" y="339"/>
                </a:lnTo>
                <a:cubicBezTo>
                  <a:pt x="299" y="304"/>
                  <a:pt x="244" y="304"/>
                  <a:pt x="244" y="339"/>
                </a:cubicBezTo>
                <a:cubicBezTo>
                  <a:pt x="244" y="355"/>
                  <a:pt x="244" y="461"/>
                  <a:pt x="244" y="461"/>
                </a:cubicBezTo>
                <a:cubicBezTo>
                  <a:pt x="244" y="564"/>
                  <a:pt x="320" y="650"/>
                  <a:pt x="419" y="664"/>
                </a:cubicBezTo>
                <a:lnTo>
                  <a:pt x="419" y="752"/>
                </a:lnTo>
                <a:lnTo>
                  <a:pt x="295" y="787"/>
                </a:lnTo>
                <a:lnTo>
                  <a:pt x="610" y="787"/>
                </a:lnTo>
                <a:lnTo>
                  <a:pt x="484" y="751"/>
                </a:lnTo>
                <a:lnTo>
                  <a:pt x="484" y="664"/>
                </a:lnTo>
                <a:cubicBezTo>
                  <a:pt x="584" y="650"/>
                  <a:pt x="661" y="564"/>
                  <a:pt x="661" y="461"/>
                </a:cubicBezTo>
                <a:close/>
                <a:moveTo>
                  <a:pt x="450" y="558"/>
                </a:moveTo>
                <a:cubicBezTo>
                  <a:pt x="451" y="558"/>
                  <a:pt x="451" y="558"/>
                  <a:pt x="452" y="558"/>
                </a:cubicBezTo>
                <a:cubicBezTo>
                  <a:pt x="453" y="558"/>
                  <a:pt x="453" y="558"/>
                  <a:pt x="454" y="558"/>
                </a:cubicBezTo>
                <a:cubicBezTo>
                  <a:pt x="509" y="558"/>
                  <a:pt x="554" y="514"/>
                  <a:pt x="554" y="459"/>
                </a:cubicBezTo>
                <a:lnTo>
                  <a:pt x="554" y="218"/>
                </a:lnTo>
                <a:cubicBezTo>
                  <a:pt x="554" y="163"/>
                  <a:pt x="509" y="118"/>
                  <a:pt x="454" y="118"/>
                </a:cubicBezTo>
                <a:cubicBezTo>
                  <a:pt x="453" y="118"/>
                  <a:pt x="453" y="118"/>
                  <a:pt x="452" y="118"/>
                </a:cubicBezTo>
                <a:cubicBezTo>
                  <a:pt x="452" y="118"/>
                  <a:pt x="451" y="118"/>
                  <a:pt x="450" y="118"/>
                </a:cubicBezTo>
                <a:cubicBezTo>
                  <a:pt x="395" y="118"/>
                  <a:pt x="351" y="163"/>
                  <a:pt x="351" y="218"/>
                </a:cubicBezTo>
                <a:lnTo>
                  <a:pt x="351" y="459"/>
                </a:lnTo>
                <a:cubicBezTo>
                  <a:pt x="351" y="514"/>
                  <a:pt x="395" y="558"/>
                  <a:pt x="450" y="558"/>
                </a:cubicBezTo>
                <a:close/>
                <a:moveTo>
                  <a:pt x="452" y="0"/>
                </a:moveTo>
                <a:cubicBezTo>
                  <a:pt x="702" y="0"/>
                  <a:pt x="904" y="203"/>
                  <a:pt x="904" y="453"/>
                </a:cubicBezTo>
                <a:cubicBezTo>
                  <a:pt x="904" y="702"/>
                  <a:pt x="702" y="905"/>
                  <a:pt x="452" y="905"/>
                </a:cubicBezTo>
                <a:cubicBezTo>
                  <a:pt x="202" y="905"/>
                  <a:pt x="0" y="702"/>
                  <a:pt x="0" y="453"/>
                </a:cubicBezTo>
                <a:cubicBezTo>
                  <a:pt x="0" y="203"/>
                  <a:pt x="202" y="0"/>
                  <a:pt x="452" y="0"/>
                </a:cubicBezTo>
                <a:close/>
              </a:path>
            </a:pathLst>
          </a:custGeom>
          <a:solidFill>
            <a:srgbClr val="014723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/>
          <a:p>
            <a:endParaRPr lang="zh-CN" altLang="en-US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50"/>
                            </p:stCondLst>
                            <p:childTnLst>
                              <p:par>
                                <p:cTn id="15" presetID="8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5" grpId="0"/>
      <p:bldP spid="1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/>
        </p:nvSpPr>
        <p:spPr>
          <a:xfrm>
            <a:off x="-1791046" y="1892300"/>
            <a:ext cx="5651845" cy="3073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C3300"/>
              </a:solidFill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-1556426" y="1998319"/>
            <a:ext cx="5261917" cy="2861362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5903234" y="1113118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01</a:t>
            </a:r>
            <a:endParaRPr lang="zh-CN" altLang="en-US" b="1" dirty="0"/>
          </a:p>
        </p:txBody>
      </p:sp>
      <p:sp>
        <p:nvSpPr>
          <p:cNvPr id="6" name="圆角矩形 5"/>
          <p:cNvSpPr/>
          <p:nvPr/>
        </p:nvSpPr>
        <p:spPr>
          <a:xfrm>
            <a:off x="5903234" y="2081043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02</a:t>
            </a:r>
            <a:endParaRPr lang="zh-CN" altLang="en-US" b="1" dirty="0"/>
          </a:p>
        </p:txBody>
      </p:sp>
      <p:sp>
        <p:nvSpPr>
          <p:cNvPr id="7" name="圆角矩形 6"/>
          <p:cNvSpPr/>
          <p:nvPr/>
        </p:nvSpPr>
        <p:spPr>
          <a:xfrm>
            <a:off x="5903234" y="3048968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03</a:t>
            </a:r>
            <a:endParaRPr lang="zh-CN" altLang="en-US" b="1" dirty="0"/>
          </a:p>
        </p:txBody>
      </p:sp>
      <p:sp>
        <p:nvSpPr>
          <p:cNvPr id="8" name="圆角矩形 7"/>
          <p:cNvSpPr/>
          <p:nvPr/>
        </p:nvSpPr>
        <p:spPr>
          <a:xfrm>
            <a:off x="5903234" y="4016893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04</a:t>
            </a:r>
            <a:endParaRPr lang="zh-CN" altLang="en-US" b="1" dirty="0"/>
          </a:p>
        </p:txBody>
      </p:sp>
      <p:sp>
        <p:nvSpPr>
          <p:cNvPr id="9" name="圆角矩形 8"/>
          <p:cNvSpPr/>
          <p:nvPr/>
        </p:nvSpPr>
        <p:spPr>
          <a:xfrm>
            <a:off x="5903234" y="4984820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05</a:t>
            </a:r>
            <a:endParaRPr lang="zh-CN" altLang="en-US" b="1" dirty="0"/>
          </a:p>
        </p:txBody>
      </p:sp>
      <p:sp>
        <p:nvSpPr>
          <p:cNvPr id="59" name="圆角矩形 58"/>
          <p:cNvSpPr/>
          <p:nvPr/>
        </p:nvSpPr>
        <p:spPr>
          <a:xfrm>
            <a:off x="7008134" y="1113118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函数的概念</a:t>
            </a:r>
          </a:p>
        </p:txBody>
      </p:sp>
      <p:sp>
        <p:nvSpPr>
          <p:cNvPr id="60" name="圆角矩形 59"/>
          <p:cNvSpPr/>
          <p:nvPr/>
        </p:nvSpPr>
        <p:spPr>
          <a:xfrm>
            <a:off x="7008134" y="2081043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函数的声明与定义</a:t>
            </a:r>
          </a:p>
        </p:txBody>
      </p:sp>
      <p:sp>
        <p:nvSpPr>
          <p:cNvPr id="61" name="圆角矩形 60"/>
          <p:cNvSpPr/>
          <p:nvPr/>
        </p:nvSpPr>
        <p:spPr>
          <a:xfrm>
            <a:off x="7008134" y="3048968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函数的调用</a:t>
            </a:r>
          </a:p>
        </p:txBody>
      </p:sp>
      <p:sp>
        <p:nvSpPr>
          <p:cNvPr id="62" name="圆角矩形 61"/>
          <p:cNvSpPr/>
          <p:nvPr/>
        </p:nvSpPr>
        <p:spPr>
          <a:xfrm>
            <a:off x="7008134" y="4016893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常用数学函数</a:t>
            </a:r>
          </a:p>
        </p:txBody>
      </p:sp>
      <p:sp>
        <p:nvSpPr>
          <p:cNvPr id="63" name="圆角矩形 62"/>
          <p:cNvSpPr/>
          <p:nvPr/>
        </p:nvSpPr>
        <p:spPr>
          <a:xfrm>
            <a:off x="7008134" y="4984820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014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变量的作用域</a:t>
            </a:r>
          </a:p>
        </p:txBody>
      </p:sp>
      <p:sp>
        <p:nvSpPr>
          <p:cNvPr id="64" name="TextBox 78"/>
          <p:cNvSpPr txBox="1"/>
          <p:nvPr/>
        </p:nvSpPr>
        <p:spPr>
          <a:xfrm>
            <a:off x="565975" y="3733289"/>
            <a:ext cx="2063385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665" b="1" dirty="0">
                <a:solidFill>
                  <a:schemeClr val="bg1"/>
                </a:solidFill>
                <a:latin typeface="Impact MT Std" pitchFamily="34" charset="0"/>
                <a:ea typeface="微软雅黑" panose="020B0503020204020204" pitchFamily="34" charset="-122"/>
              </a:rPr>
              <a:t>CONTENTS</a:t>
            </a:r>
            <a:endParaRPr lang="zh-CN" altLang="en-US" sz="2665" b="1" dirty="0">
              <a:solidFill>
                <a:schemeClr val="bg1"/>
              </a:solidFill>
              <a:latin typeface="Impact MT Std" pitchFamily="34" charset="0"/>
              <a:ea typeface="微软雅黑" panose="020B0503020204020204" pitchFamily="34" charset="-122"/>
            </a:endParaRPr>
          </a:p>
        </p:txBody>
      </p:sp>
      <p:sp>
        <p:nvSpPr>
          <p:cNvPr id="65" name="TextBox 79"/>
          <p:cNvSpPr txBox="1"/>
          <p:nvPr/>
        </p:nvSpPr>
        <p:spPr>
          <a:xfrm>
            <a:off x="641317" y="2677173"/>
            <a:ext cx="1912703" cy="995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 录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33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533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2" decel="533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2" decel="533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2" decel="533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000"/>
                            </p:stCondLst>
                            <p:childTnLst>
                              <p:par>
                                <p:cTn id="5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" presetClass="entr" presetSubtype="2" decel="533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7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7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000"/>
                            </p:stCondLst>
                            <p:childTnLst>
                              <p:par>
                                <p:cTn id="6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" presetClass="entr" presetSubtype="2" decel="533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7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" grpId="0" animBg="1"/>
      <p:bldP spid="5" grpId="0" animBg="1"/>
      <p:bldP spid="6" grpId="0" animBg="1"/>
      <p:bldP spid="7" grpId="0" animBg="1"/>
      <p:bldP spid="8" grpId="0" animBg="1"/>
      <p:bldP spid="9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/>
      <p:bldP spid="6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函数是什么</a:t>
            </a:r>
          </a:p>
        </p:txBody>
      </p:sp>
      <p:sp>
        <p:nvSpPr>
          <p:cNvPr id="52" name="学论网-矩形 1"/>
          <p:cNvSpPr/>
          <p:nvPr/>
        </p:nvSpPr>
        <p:spPr>
          <a:xfrm>
            <a:off x="686435" y="1908810"/>
            <a:ext cx="3592195" cy="4428490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ysDot"/>
          </a:ln>
          <a:effectLst/>
        </p:spPr>
        <p:txBody>
          <a:bodyPr rtlCol="0" anchor="ctr"/>
          <a:lstStyle/>
          <a:p>
            <a:pPr lvl="0" algn="ctr"/>
            <a:endParaRPr lang="zh-CN" altLang="en-US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sp>
        <p:nvSpPr>
          <p:cNvPr id="53" name="学论网-矩形 1"/>
          <p:cNvSpPr/>
          <p:nvPr/>
        </p:nvSpPr>
        <p:spPr>
          <a:xfrm>
            <a:off x="4421505" y="1908810"/>
            <a:ext cx="3307715" cy="4428490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ysDot"/>
          </a:ln>
          <a:effectLst/>
        </p:spPr>
        <p:txBody>
          <a:bodyPr rtlCol="0" anchor="ctr"/>
          <a:lstStyle/>
          <a:p>
            <a:pPr lvl="0" algn="ctr"/>
            <a:endParaRPr lang="zh-CN" altLang="en-US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sp>
        <p:nvSpPr>
          <p:cNvPr id="54" name="学论网-矩形 1"/>
          <p:cNvSpPr/>
          <p:nvPr/>
        </p:nvSpPr>
        <p:spPr>
          <a:xfrm>
            <a:off x="7876540" y="1908175"/>
            <a:ext cx="3469005" cy="4429125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ysDot"/>
          </a:ln>
          <a:effectLst/>
        </p:spPr>
        <p:txBody>
          <a:bodyPr rtlCol="0" anchor="ctr"/>
          <a:lstStyle/>
          <a:p>
            <a:pPr lvl="0" algn="ctr"/>
            <a:endParaRPr lang="zh-CN" altLang="en-US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sp>
        <p:nvSpPr>
          <p:cNvPr id="55" name="学论网-www.xuelun.me"/>
          <p:cNvSpPr txBox="1"/>
          <p:nvPr/>
        </p:nvSpPr>
        <p:spPr>
          <a:xfrm>
            <a:off x="1107829" y="1917771"/>
            <a:ext cx="2781302" cy="8798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</a:p>
          <a:p>
            <a:pPr algn="ctr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实现某个功能的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代码块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学论网-www.xuelun.me"/>
          <p:cNvSpPr txBox="1"/>
          <p:nvPr/>
        </p:nvSpPr>
        <p:spPr>
          <a:xfrm>
            <a:off x="4686786" y="1917771"/>
            <a:ext cx="2781302" cy="12491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</a:p>
          <a:p>
            <a:pPr algn="ctr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相当于一个机器，接受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，对输入进行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，给出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学论网-www.xuelun.me"/>
          <p:cNvSpPr txBox="1"/>
          <p:nvPr/>
        </p:nvSpPr>
        <p:spPr>
          <a:xfrm>
            <a:off x="8141981" y="1917771"/>
            <a:ext cx="2781302" cy="12491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</a:p>
          <a:p>
            <a:pPr algn="ctr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函数是一种抽象，它隐藏了算法实现的细节</a:t>
            </a:r>
            <a:endParaRPr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256" y="3779940"/>
            <a:ext cx="3014097" cy="1249188"/>
          </a:xfrm>
          <a:prstGeom prst="rect">
            <a:avLst/>
          </a:prstGeom>
        </p:spPr>
      </p:pic>
      <p:sp>
        <p:nvSpPr>
          <p:cNvPr id="14" name="学论网-www.xuelun.me"/>
          <p:cNvSpPr txBox="1"/>
          <p:nvPr/>
        </p:nvSpPr>
        <p:spPr>
          <a:xfrm>
            <a:off x="1115502" y="5029128"/>
            <a:ext cx="2781302" cy="3258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一个实现</a:t>
            </a:r>
            <a:r>
              <a:rPr lang="en-US" altLang="zh-CN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a+b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功能的代码块</a:t>
            </a:r>
            <a:endParaRPr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6" name="Picture 2" descr="Adafruit Learning System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6786" y="3551049"/>
            <a:ext cx="2854569" cy="1998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32FBEC27-13DB-92BC-A684-7E73A8AE3AB5}"/>
              </a:ext>
            </a:extLst>
          </p:cNvPr>
          <p:cNvSpPr/>
          <p:nvPr/>
        </p:nvSpPr>
        <p:spPr>
          <a:xfrm>
            <a:off x="1105732" y="4157139"/>
            <a:ext cx="2881312" cy="573379"/>
          </a:xfrm>
          <a:prstGeom prst="rect">
            <a:avLst/>
          </a:prstGeom>
          <a:solidFill>
            <a:srgbClr val="92D050">
              <a:alpha val="8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F45A91C-61F8-8659-4E65-FF97ADF2F91B}"/>
              </a:ext>
            </a:extLst>
          </p:cNvPr>
          <p:cNvSpPr/>
          <p:nvPr/>
        </p:nvSpPr>
        <p:spPr>
          <a:xfrm>
            <a:off x="8539679" y="4226110"/>
            <a:ext cx="2176267" cy="5044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ADD</a:t>
            </a:r>
            <a:endParaRPr lang="zh-CN" altLang="en-US" dirty="0"/>
          </a:p>
        </p:txBody>
      </p:sp>
      <p:sp>
        <p:nvSpPr>
          <p:cNvPr id="7" name="箭头: 下 6">
            <a:extLst>
              <a:ext uri="{FF2B5EF4-FFF2-40B4-BE49-F238E27FC236}">
                <a16:creationId xmlns:a16="http://schemas.microsoft.com/office/drawing/2014/main" id="{59AB8EBF-051B-4ED4-3B45-D1A19E3E6C0D}"/>
              </a:ext>
            </a:extLst>
          </p:cNvPr>
          <p:cNvSpPr/>
          <p:nvPr/>
        </p:nvSpPr>
        <p:spPr>
          <a:xfrm>
            <a:off x="9534418" y="3551049"/>
            <a:ext cx="184934" cy="606090"/>
          </a:xfrm>
          <a:prstGeom prst="down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下 14">
            <a:extLst>
              <a:ext uri="{FF2B5EF4-FFF2-40B4-BE49-F238E27FC236}">
                <a16:creationId xmlns:a16="http://schemas.microsoft.com/office/drawing/2014/main" id="{4FABE313-5B44-2C71-53AA-B998ADCCC6BE}"/>
              </a:ext>
            </a:extLst>
          </p:cNvPr>
          <p:cNvSpPr/>
          <p:nvPr/>
        </p:nvSpPr>
        <p:spPr>
          <a:xfrm>
            <a:off x="9507077" y="4799489"/>
            <a:ext cx="184934" cy="606090"/>
          </a:xfrm>
          <a:prstGeom prst="down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F399A7B-464E-4C4D-3BC0-0E5500D492F2}"/>
              </a:ext>
            </a:extLst>
          </p:cNvPr>
          <p:cNvSpPr txBox="1"/>
          <p:nvPr/>
        </p:nvSpPr>
        <p:spPr>
          <a:xfrm>
            <a:off x="9692011" y="3481595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input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875C23D-08F8-DB2F-5569-80804FA976BE}"/>
              </a:ext>
            </a:extLst>
          </p:cNvPr>
          <p:cNvSpPr txBox="1"/>
          <p:nvPr/>
        </p:nvSpPr>
        <p:spPr>
          <a:xfrm>
            <a:off x="9667262" y="5078393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output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decel="533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533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533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  <p:bldP spid="52" grpId="0" bldLvl="0" animBg="1"/>
      <p:bldP spid="53" grpId="0" bldLvl="0" animBg="1"/>
      <p:bldP spid="54" grpId="0" bldLvl="0" animBg="1"/>
      <p:bldP spid="55" grpId="0" animBg="1"/>
      <p:bldP spid="56" grpId="0" animBg="1"/>
      <p:bldP spid="57" grpId="0" animBg="1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函数有什么用 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– 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构建程序的积木块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040202" y="1893070"/>
            <a:ext cx="81194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函数能够将一大块代码分解成若干个模块</a:t>
            </a:r>
          </a:p>
        </p:txBody>
      </p:sp>
      <p:pic>
        <p:nvPicPr>
          <p:cNvPr id="2050" name="Picture 2" descr="Transfer Test Worksheet: Function Machines in AQE and GL test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3996" y="2928815"/>
            <a:ext cx="3646976" cy="2400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/>
          <p:cNvSpPr txBox="1"/>
          <p:nvPr/>
        </p:nvSpPr>
        <p:spPr>
          <a:xfrm>
            <a:off x="2276382" y="5564366"/>
            <a:ext cx="17804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一个大程序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9133" y="2891760"/>
            <a:ext cx="4229730" cy="2474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框 7"/>
          <p:cNvSpPr txBox="1"/>
          <p:nvPr/>
        </p:nvSpPr>
        <p:spPr>
          <a:xfrm>
            <a:off x="8128336" y="5564366"/>
            <a:ext cx="264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分解成两个小函数</a:t>
            </a:r>
          </a:p>
        </p:txBody>
      </p:sp>
      <p:sp>
        <p:nvSpPr>
          <p:cNvPr id="9" name="箭头: 右 8"/>
          <p:cNvSpPr/>
          <p:nvPr/>
        </p:nvSpPr>
        <p:spPr>
          <a:xfrm>
            <a:off x="5131160" y="3886200"/>
            <a:ext cx="1617785" cy="281354"/>
          </a:xfrm>
          <a:prstGeom prst="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539941" y="3535183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分解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914755" y="5795198"/>
            <a:ext cx="23556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易于理解！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易于调式！</a:t>
            </a:r>
          </a:p>
        </p:txBody>
      </p:sp>
      <p:sp>
        <p:nvSpPr>
          <p:cNvPr id="2" name="箭头: 右 1">
            <a:extLst>
              <a:ext uri="{FF2B5EF4-FFF2-40B4-BE49-F238E27FC236}">
                <a16:creationId xmlns:a16="http://schemas.microsoft.com/office/drawing/2014/main" id="{88DFF001-F4EE-DD57-1B62-337D249B13EF}"/>
              </a:ext>
            </a:extLst>
          </p:cNvPr>
          <p:cNvSpPr/>
          <p:nvPr/>
        </p:nvSpPr>
        <p:spPr>
          <a:xfrm rot="10800000">
            <a:off x="5131159" y="4384768"/>
            <a:ext cx="1617785" cy="281354"/>
          </a:xfrm>
          <a:prstGeom prst="rightArrow">
            <a:avLst/>
          </a:prstGeom>
          <a:solidFill>
            <a:schemeClr val="tx2">
              <a:lumMod val="7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4E564FB-AB8C-84C2-776D-B4D8BD018440}"/>
              </a:ext>
            </a:extLst>
          </p:cNvPr>
          <p:cNvSpPr txBox="1"/>
          <p:nvPr/>
        </p:nvSpPr>
        <p:spPr>
          <a:xfrm>
            <a:off x="5510766" y="4618761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组装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  <p:bldP spid="6" grpId="0"/>
      <p:bldP spid="7" grpId="0"/>
      <p:bldP spid="8" grpId="0"/>
      <p:bldP spid="9" grpId="0" animBg="1"/>
      <p:bldP spid="10" grpId="0"/>
      <p:bldP spid="11" grpId="0"/>
      <p:bldP spid="2" grpId="0" animBg="1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函数带来哪些好处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11972" y="1864793"/>
            <a:ext cx="811945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使代码可重用性！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不需要了解函数实现的细节，易于理解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能够以</a:t>
            </a:r>
            <a:r>
              <a:rPr lang="zh-CN" altLang="en-US" sz="2400" b="1" dirty="0"/>
              <a:t>模块化</a:t>
            </a:r>
            <a:r>
              <a:rPr lang="zh-CN" altLang="en-US" dirty="0"/>
              <a:t>的形式编程</a:t>
            </a:r>
            <a:endParaRPr lang="en-US" altLang="zh-CN" dirty="0"/>
          </a:p>
          <a:p>
            <a:pPr marL="571500" indent="-571500"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FF0000"/>
                </a:solidFill>
              </a:rPr>
              <a:t>容易</a:t>
            </a:r>
            <a:r>
              <a:rPr lang="en-US" altLang="zh-CN" sz="2400" dirty="0">
                <a:solidFill>
                  <a:srgbClr val="FF0000"/>
                </a:solidFill>
              </a:rPr>
              <a:t>Debug</a:t>
            </a:r>
            <a:r>
              <a:rPr lang="zh-CN" altLang="en-US" sz="2400" dirty="0">
                <a:solidFill>
                  <a:srgbClr val="FF0000"/>
                </a:solidFill>
              </a:rPr>
              <a:t>！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24336" y="3546808"/>
            <a:ext cx="44165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模块化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的形式对一天的生活进行规划！</a:t>
            </a:r>
          </a:p>
        </p:txBody>
      </p:sp>
      <p:sp>
        <p:nvSpPr>
          <p:cNvPr id="3" name="矩形: 圆角 2"/>
          <p:cNvSpPr/>
          <p:nvPr/>
        </p:nvSpPr>
        <p:spPr>
          <a:xfrm>
            <a:off x="509205" y="4704486"/>
            <a:ext cx="1404465" cy="633046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学习数分</a:t>
            </a:r>
          </a:p>
        </p:txBody>
      </p:sp>
      <p:sp>
        <p:nvSpPr>
          <p:cNvPr id="4" name="箭头: 右 3"/>
          <p:cNvSpPr/>
          <p:nvPr/>
        </p:nvSpPr>
        <p:spPr>
          <a:xfrm>
            <a:off x="509206" y="4342243"/>
            <a:ext cx="10020554" cy="168211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940930" y="398291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时间</a:t>
            </a:r>
          </a:p>
        </p:txBody>
      </p:sp>
      <p:sp>
        <p:nvSpPr>
          <p:cNvPr id="19" name="矩形: 圆角 18"/>
          <p:cNvSpPr/>
          <p:nvPr/>
        </p:nvSpPr>
        <p:spPr>
          <a:xfrm>
            <a:off x="2471687" y="4690854"/>
            <a:ext cx="1404465" cy="633046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刷</a:t>
            </a:r>
            <a:r>
              <a:rPr lang="en-US" altLang="zh-CN" dirty="0"/>
              <a:t>B</a:t>
            </a:r>
            <a:r>
              <a:rPr lang="zh-CN" altLang="en-US" dirty="0"/>
              <a:t>站</a:t>
            </a:r>
          </a:p>
        </p:txBody>
      </p:sp>
      <p:sp>
        <p:nvSpPr>
          <p:cNvPr id="20" name="矩形: 圆角 19"/>
          <p:cNvSpPr/>
          <p:nvPr/>
        </p:nvSpPr>
        <p:spPr>
          <a:xfrm>
            <a:off x="4434169" y="4690854"/>
            <a:ext cx="1659852" cy="633046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学习程序设计</a:t>
            </a:r>
          </a:p>
        </p:txBody>
      </p:sp>
      <p:sp>
        <p:nvSpPr>
          <p:cNvPr id="21" name="矩形: 圆角 20"/>
          <p:cNvSpPr/>
          <p:nvPr/>
        </p:nvSpPr>
        <p:spPr>
          <a:xfrm>
            <a:off x="6652038" y="4690854"/>
            <a:ext cx="1659852" cy="633046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刷知乎</a:t>
            </a:r>
          </a:p>
        </p:txBody>
      </p:sp>
      <p:sp>
        <p:nvSpPr>
          <p:cNvPr id="23" name="矩形: 圆角 22"/>
          <p:cNvSpPr/>
          <p:nvPr/>
        </p:nvSpPr>
        <p:spPr>
          <a:xfrm>
            <a:off x="8869907" y="4686189"/>
            <a:ext cx="1659852" cy="633046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学习高代</a:t>
            </a:r>
          </a:p>
        </p:txBody>
      </p:sp>
      <p:sp>
        <p:nvSpPr>
          <p:cNvPr id="12" name="箭头: 右 11"/>
          <p:cNvSpPr/>
          <p:nvPr/>
        </p:nvSpPr>
        <p:spPr>
          <a:xfrm>
            <a:off x="1971359" y="4950069"/>
            <a:ext cx="433754" cy="16821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箭头: 右 23"/>
          <p:cNvSpPr/>
          <p:nvPr/>
        </p:nvSpPr>
        <p:spPr>
          <a:xfrm>
            <a:off x="3938283" y="4936903"/>
            <a:ext cx="433754" cy="16821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箭头: 右 24"/>
          <p:cNvSpPr/>
          <p:nvPr/>
        </p:nvSpPr>
        <p:spPr>
          <a:xfrm>
            <a:off x="6156152" y="4923271"/>
            <a:ext cx="433754" cy="16821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箭头: 右 25"/>
          <p:cNvSpPr/>
          <p:nvPr/>
        </p:nvSpPr>
        <p:spPr>
          <a:xfrm>
            <a:off x="8374021" y="4915630"/>
            <a:ext cx="433754" cy="16821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71946" y="5443877"/>
            <a:ext cx="11079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学习极限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学习积分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完成作业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2882237" y="5504300"/>
            <a:ext cx="8854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看番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追剧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4710097" y="5500113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学习函数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学习指针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7195924" y="560290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吃瓜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8959274" y="5464409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学习行列式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学习线性变换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箭头: 下 13"/>
          <p:cNvSpPr/>
          <p:nvPr/>
        </p:nvSpPr>
        <p:spPr>
          <a:xfrm>
            <a:off x="11007969" y="4686189"/>
            <a:ext cx="175846" cy="1872873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1285597" y="4606962"/>
            <a:ext cx="4571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自顶向下的规划</a:t>
            </a:r>
          </a:p>
        </p:txBody>
      </p:sp>
      <p:pic>
        <p:nvPicPr>
          <p:cNvPr id="4098" name="Picture 2" descr="Debugging Made Easy with This New Feature in Angular 9 | Syncfusion Blog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5912" y="1704815"/>
            <a:ext cx="4077288" cy="2284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5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60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6500"/>
                            </p:stCondLst>
                            <p:childTnLst>
                              <p:par>
                                <p:cTn id="7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  <p:bldP spid="6" grpId="0"/>
      <p:bldP spid="2" grpId="0"/>
      <p:bldP spid="3" grpId="0" animBg="1"/>
      <p:bldP spid="4" grpId="0" animBg="1"/>
      <p:bldP spid="5" grpId="0"/>
      <p:bldP spid="19" grpId="0" animBg="1"/>
      <p:bldP spid="20" grpId="0" animBg="1"/>
      <p:bldP spid="21" grpId="0" animBg="1"/>
      <p:bldP spid="23" grpId="0" animBg="1"/>
      <p:bldP spid="12" grpId="0" animBg="1"/>
      <p:bldP spid="24" grpId="0" animBg="1"/>
      <p:bldP spid="25" grpId="0" animBg="1"/>
      <p:bldP spid="26" grpId="0" animBg="1"/>
      <p:bldP spid="13" grpId="0"/>
      <p:bldP spid="28" grpId="0"/>
      <p:bldP spid="29" grpId="0"/>
      <p:bldP spid="30" grpId="0"/>
      <p:bldP spid="31" grpId="0"/>
      <p:bldP spid="14" grpId="0" animBg="1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函数的声明与定义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25752" y="1724456"/>
            <a:ext cx="4567276" cy="19082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函数的声明</a:t>
            </a:r>
            <a:r>
              <a:rPr lang="zh-CN" altLang="en-US" sz="2800" b="1" dirty="0"/>
              <a:t>（</a:t>
            </a:r>
            <a:r>
              <a:rPr lang="en-US" altLang="zh-CN" sz="2800" b="1" dirty="0"/>
              <a:t>Declaration</a:t>
            </a:r>
            <a:r>
              <a:rPr lang="zh-CN" altLang="en-US" sz="2800" b="1" dirty="0"/>
              <a:t>）</a:t>
            </a:r>
            <a:endParaRPr lang="en-US" altLang="zh-CN" sz="2800" b="1" dirty="0"/>
          </a:p>
          <a:p>
            <a:pPr marL="342900" indent="-342900">
              <a:buClr>
                <a:srgbClr val="92D050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给出函数名（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function_name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Clr>
                <a:srgbClr val="92D050"/>
              </a:buClr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输入参数（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parameter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Clr>
                <a:srgbClr val="92D050"/>
              </a:buClr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输出类型（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return_type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Clr>
                <a:srgbClr val="92D050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没有函数主体（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function body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Clr>
                <a:srgbClr val="92D050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也叫函数的接口信息。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899888" y="2617006"/>
            <a:ext cx="32487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函数名：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add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输入参数：整型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，整型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输出类型：整型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函数主体：未定义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685" y="3904721"/>
            <a:ext cx="6551720" cy="46370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4405" y="1851553"/>
            <a:ext cx="4700736" cy="57598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63769" y="4554415"/>
            <a:ext cx="1134137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：为何会有声明？直接定义不就好了吗？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：声明的意义是告诉编译器函数信息，这样定义能在另一个地方书写。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虽然我还不会写，但先放一个函数在这里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.jpg</a:t>
            </a: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声明函数只有一句话，可以把所有的函数声明放在单独一个文件里。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作为用户使用者，我们不关心函数是如何实现，我们只关心如何调用函数。而函数声明就只保留了这些信息。</a:t>
            </a:r>
          </a:p>
        </p:txBody>
      </p:sp>
      <p:pic>
        <p:nvPicPr>
          <p:cNvPr id="5122" name="Picture 2" descr="免翻可用！神器卷土重来，我先放一盒纸巾在这里- 虚拟精华| 微信公众号文章阅读- WeMP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9888" y="4104005"/>
            <a:ext cx="1806820" cy="1525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函数的声明与定义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25752" y="1724456"/>
            <a:ext cx="4474302" cy="19082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函数的</a:t>
            </a:r>
            <a:r>
              <a:rPr lang="zh-CN" altLang="en-US" sz="2800" b="1" dirty="0">
                <a:solidFill>
                  <a:srgbClr val="FF0000"/>
                </a:solidFill>
              </a:rPr>
              <a:t>定义</a:t>
            </a:r>
            <a:r>
              <a:rPr lang="zh-CN" altLang="en-US" sz="2800" b="1" dirty="0"/>
              <a:t>（</a:t>
            </a:r>
            <a:r>
              <a:rPr lang="en-US" altLang="zh-CN" sz="2800" b="1" dirty="0"/>
              <a:t>Definitions</a:t>
            </a:r>
            <a:r>
              <a:rPr lang="zh-CN" altLang="en-US" sz="2800" b="1" dirty="0"/>
              <a:t>）</a:t>
            </a:r>
            <a:endParaRPr lang="en-US" altLang="zh-CN" sz="2800" b="1" dirty="0"/>
          </a:p>
          <a:p>
            <a:pPr marL="342900" indent="-342900">
              <a:buClr>
                <a:srgbClr val="92D050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给出函数名（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function_name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Clr>
                <a:srgbClr val="92D050"/>
              </a:buClr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输入参数（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parameter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Clr>
                <a:srgbClr val="92D050"/>
              </a:buClr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输出类型（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return_type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Clr>
                <a:srgbClr val="92D050"/>
              </a:buClr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函数主体（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function body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Clr>
                <a:srgbClr val="92D050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函数主体即函数的内部逻辑代码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031" y="4345129"/>
            <a:ext cx="6551977" cy="1721026"/>
          </a:xfrm>
          <a:prstGeom prst="rect">
            <a:avLst/>
          </a:prstGeom>
        </p:spPr>
      </p:pic>
      <p:pic>
        <p:nvPicPr>
          <p:cNvPr id="3074" name="Picture 2" descr="Functions Freebie {function notation - function machine - evaluate  functions]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1509" y="1924914"/>
            <a:ext cx="3390010" cy="4528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直接箭头连接符 7"/>
          <p:cNvCxnSpPr/>
          <p:nvPr/>
        </p:nvCxnSpPr>
        <p:spPr>
          <a:xfrm>
            <a:off x="4000500" y="2444262"/>
            <a:ext cx="263769" cy="190086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>
            <a:off x="3763108" y="2678563"/>
            <a:ext cx="1371600" cy="166656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H="1">
            <a:off x="958362" y="2866292"/>
            <a:ext cx="290146" cy="147883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>
            <a:off x="1485900" y="3261946"/>
            <a:ext cx="0" cy="194369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flipH="1">
            <a:off x="6027923" y="2866292"/>
            <a:ext cx="3159292" cy="156309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 flipH="1">
            <a:off x="3182815" y="4945517"/>
            <a:ext cx="6453554" cy="47054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 flipH="1">
            <a:off x="4264269" y="2129468"/>
            <a:ext cx="4800600" cy="221566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 flipH="1" flipV="1">
            <a:off x="2365132" y="4659923"/>
            <a:ext cx="8484576" cy="156309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5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6000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500"/>
                            </p:stCondLst>
                            <p:childTnLst>
                              <p:par>
                                <p:cTn id="47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函数的声明与定义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25752" y="1724456"/>
            <a:ext cx="4474302" cy="19082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函数的</a:t>
            </a:r>
            <a:r>
              <a:rPr lang="zh-CN" altLang="en-US" sz="2800" b="1" dirty="0">
                <a:solidFill>
                  <a:srgbClr val="FF0000"/>
                </a:solidFill>
              </a:rPr>
              <a:t>定义</a:t>
            </a:r>
            <a:r>
              <a:rPr lang="zh-CN" altLang="en-US" sz="2800" b="1" dirty="0"/>
              <a:t>（</a:t>
            </a:r>
            <a:r>
              <a:rPr lang="en-US" altLang="zh-CN" sz="2800" b="1" dirty="0"/>
              <a:t>Definitions</a:t>
            </a:r>
            <a:r>
              <a:rPr lang="zh-CN" altLang="en-US" sz="2800" b="1" dirty="0"/>
              <a:t>）</a:t>
            </a:r>
            <a:endParaRPr lang="en-US" altLang="zh-CN" sz="2800" b="1" dirty="0"/>
          </a:p>
          <a:p>
            <a:pPr marL="342900" indent="-342900">
              <a:buClr>
                <a:srgbClr val="92D050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给出函数名（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function_name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Clr>
                <a:srgbClr val="92D050"/>
              </a:buClr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输入参数（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parameter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Clr>
                <a:srgbClr val="92D050"/>
              </a:buClr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输出类型（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return_type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Clr>
                <a:srgbClr val="92D050"/>
              </a:buClr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函数主体（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function body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Clr>
                <a:srgbClr val="92D050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函数主体即函数的内部逻辑代码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031" y="4382707"/>
            <a:ext cx="6551977" cy="1721026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0008" y="1841271"/>
            <a:ext cx="4700736" cy="194821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979019" y="3789484"/>
            <a:ext cx="32487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函数名：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add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输入参数：整型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，整型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输出类型：整型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函数主体：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c=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a+b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返回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135247" y="5604490"/>
            <a:ext cx="46987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语言中，函数名必须是唯一的！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函数的声明与定义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25752" y="1724456"/>
            <a:ext cx="45672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函数的声明（</a:t>
            </a:r>
            <a:r>
              <a:rPr lang="en-US" altLang="zh-CN" sz="2800" b="1" dirty="0"/>
              <a:t>Declaration</a:t>
            </a:r>
            <a:r>
              <a:rPr lang="zh-CN" altLang="en-US" sz="2800" b="1" dirty="0"/>
              <a:t>）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060" y="2186121"/>
            <a:ext cx="3743156" cy="370472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1510" y="2186120"/>
            <a:ext cx="6375809" cy="3595981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046285" y="5881379"/>
            <a:ext cx="22621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一目了然！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一眼知道如何调用！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舒心！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7380463" y="5881379"/>
            <a:ext cx="44625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不关心函数怎么实现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需要在万千代码中辛苦找到函数接口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烦心！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169877" y="1724456"/>
            <a:ext cx="3557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语言自带的标准库函数 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math.h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函数的声明与定义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25752" y="1724456"/>
            <a:ext cx="38779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/>
              <a:t>函数的定义与声明</a:t>
            </a:r>
          </a:p>
        </p:txBody>
      </p:sp>
      <p:pic>
        <p:nvPicPr>
          <p:cNvPr id="7170" name="Picture 2" descr="https://qph.fs.quoracdn.net/main-qimg-80d086cf45c77e3a427ae47db20dfa6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6813" y="2370787"/>
            <a:ext cx="6595047" cy="3050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https://qph.fs.quoracdn.net/main-qimg-fd3ac001310da37de55c04219fd7b20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5187" y="3198300"/>
            <a:ext cx="1693964" cy="1217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425752" y="5723792"/>
            <a:ext cx="67681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语言至少有一个函数：</a:t>
            </a:r>
            <a:r>
              <a:rPr lang="en-US" altLang="zh-CN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main</a:t>
            </a:r>
            <a:r>
              <a:rPr lang="zh-CN" altLang="en-US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C 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程序与函数（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Functions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）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10" name="内容占位符 3">
            <a:extLst>
              <a:ext uri="{FF2B5EF4-FFF2-40B4-BE49-F238E27FC236}">
                <a16:creationId xmlns:a16="http://schemas.microsoft.com/office/drawing/2014/main" id="{D629388B-A0FA-4935-A200-9BF72A71C0AB}"/>
              </a:ext>
            </a:extLst>
          </p:cNvPr>
          <p:cNvSpPr>
            <a:spLocks noGrp="1"/>
          </p:cNvSpPr>
          <p:nvPr/>
        </p:nvSpPr>
        <p:spPr>
          <a:xfrm>
            <a:off x="838200" y="1815465"/>
            <a:ext cx="4222898" cy="4351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dirty="0"/>
              <a:t>C</a:t>
            </a:r>
            <a:r>
              <a:rPr lang="zh-CN" altLang="en-US" dirty="0"/>
              <a:t>程序的基本结构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程序由若干个函数构成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必须有一个 </a:t>
            </a:r>
            <a:r>
              <a:rPr lang="en-US" altLang="zh-CN" dirty="0"/>
              <a:t>main </a:t>
            </a:r>
            <a:r>
              <a:rPr lang="zh-CN" altLang="en-US" dirty="0"/>
              <a:t>函数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函数不能重名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函数</a:t>
            </a:r>
            <a:r>
              <a:rPr lang="zh-CN" altLang="en-US" b="1" dirty="0"/>
              <a:t>应该（</a:t>
            </a:r>
            <a:r>
              <a:rPr lang="en-US" altLang="zh-CN" b="1" dirty="0"/>
              <a:t>should be</a:t>
            </a:r>
            <a:r>
              <a:rPr lang="zh-CN" altLang="en-US" b="1" dirty="0"/>
              <a:t>）</a:t>
            </a:r>
            <a:r>
              <a:rPr lang="zh-CN" altLang="en-US" dirty="0"/>
              <a:t>先申明，后实现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如右程序，有三个函数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en-US" altLang="zh-CN" dirty="0"/>
              <a:t>main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Square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Cube</a:t>
            </a:r>
          </a:p>
          <a:p>
            <a:pPr lvl="1"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sz="20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AAEF463-687E-4C54-AB36-FEE64DF8CECB}"/>
              </a:ext>
            </a:extLst>
          </p:cNvPr>
          <p:cNvSpPr txBox="1"/>
          <p:nvPr/>
        </p:nvSpPr>
        <p:spPr>
          <a:xfrm>
            <a:off x="5123842" y="1687196"/>
            <a:ext cx="6329916" cy="492442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zh-C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zh-C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Square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 </a:t>
            </a:r>
            <a:r>
              <a:rPr lang="en-US" altLang="zh-C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);     </a:t>
            </a:r>
            <a:r>
              <a:rPr lang="en-US" altLang="zh-C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function declarations</a:t>
            </a:r>
            <a:endParaRPr lang="en-US" altLang="zh-C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Cube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 </a:t>
            </a:r>
            <a:r>
              <a:rPr lang="en-US" altLang="zh-C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);</a:t>
            </a:r>
          </a:p>
          <a:p>
            <a:b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 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"The square of 3 is </a:t>
            </a:r>
            <a:r>
              <a:rPr lang="en-US" altLang="zh-C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sz="16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Square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 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"The cube of 3 is </a:t>
            </a:r>
            <a:r>
              <a:rPr lang="en-US" altLang="zh-C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sz="16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Cube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  </a:t>
            </a:r>
          </a:p>
          <a:p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 function implementations</a:t>
            </a:r>
            <a:endParaRPr lang="en-US" altLang="zh-C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Square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C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Cube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altLang="zh-C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C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C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B60F7F2-8110-35FD-5DAA-BEE38E4DB57C}"/>
              </a:ext>
            </a:extLst>
          </p:cNvPr>
          <p:cNvSpPr txBox="1"/>
          <p:nvPr/>
        </p:nvSpPr>
        <p:spPr>
          <a:xfrm>
            <a:off x="344742" y="6311213"/>
            <a:ext cx="4716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14723"/>
                </a:solidFill>
              </a:rPr>
              <a:t>请编译，修改，并运行程序 </a:t>
            </a:r>
            <a:r>
              <a:rPr lang="en-US" altLang="zh-CN" dirty="0">
                <a:solidFill>
                  <a:srgbClr val="014723"/>
                </a:solidFill>
              </a:rPr>
              <a:t>function-</a:t>
            </a:r>
            <a:r>
              <a:rPr lang="en-US" altLang="zh-CN" dirty="0" err="1">
                <a:solidFill>
                  <a:srgbClr val="014723"/>
                </a:solidFill>
              </a:rPr>
              <a:t>syntax.c</a:t>
            </a:r>
            <a:endParaRPr lang="zh-CN" altLang="en-US" dirty="0">
              <a:solidFill>
                <a:srgbClr val="01472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7729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函数的形参与实参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10" name="内容占位符 3">
            <a:extLst>
              <a:ext uri="{FF2B5EF4-FFF2-40B4-BE49-F238E27FC236}">
                <a16:creationId xmlns:a16="http://schemas.microsoft.com/office/drawing/2014/main" id="{D629388B-A0FA-4935-A200-9BF72A71C0AB}"/>
              </a:ext>
            </a:extLst>
          </p:cNvPr>
          <p:cNvSpPr>
            <a:spLocks noGrp="1"/>
          </p:cNvSpPr>
          <p:nvPr/>
        </p:nvSpPr>
        <p:spPr>
          <a:xfrm>
            <a:off x="838200" y="1815465"/>
            <a:ext cx="9813324" cy="4351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dirty="0"/>
              <a:t>形式参数</a:t>
            </a:r>
            <a:r>
              <a:rPr lang="en-US" altLang="zh-CN" dirty="0"/>
              <a:t>/</a:t>
            </a:r>
            <a:r>
              <a:rPr lang="zh-CN" altLang="en-US" dirty="0"/>
              <a:t>形参（</a:t>
            </a:r>
            <a:r>
              <a:rPr lang="en-US" altLang="zh-CN" sz="2600" dirty="0"/>
              <a:t>Formal </a:t>
            </a:r>
            <a:r>
              <a:rPr lang="en-US" altLang="zh-CN" sz="2600" dirty="0">
                <a:solidFill>
                  <a:srgbClr val="C00000"/>
                </a:solidFill>
              </a:rPr>
              <a:t>parameter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函数在</a:t>
            </a:r>
            <a:r>
              <a:rPr lang="zh-CN" altLang="en-US" dirty="0">
                <a:solidFill>
                  <a:srgbClr val="C00000"/>
                </a:solidFill>
              </a:rPr>
              <a:t>申明和定义时</a:t>
            </a:r>
            <a:r>
              <a:rPr lang="zh-CN" altLang="en-US" dirty="0"/>
              <a:t>用的参数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参数定义时由于没有具体值，只是一个</a:t>
            </a:r>
            <a:r>
              <a:rPr lang="zh-CN" altLang="en-US" dirty="0">
                <a:solidFill>
                  <a:srgbClr val="C00000"/>
                </a:solidFill>
              </a:rPr>
              <a:t>符号</a:t>
            </a:r>
            <a:r>
              <a:rPr lang="zh-CN" altLang="en-US" dirty="0"/>
              <a:t>或可存储特定数值的</a:t>
            </a:r>
            <a:r>
              <a:rPr lang="zh-CN" altLang="en-US" dirty="0">
                <a:solidFill>
                  <a:srgbClr val="C00000"/>
                </a:solidFill>
              </a:rPr>
              <a:t>空间</a:t>
            </a:r>
            <a:endParaRPr lang="en-US" altLang="zh-CN" dirty="0">
              <a:solidFill>
                <a:srgbClr val="C00000"/>
              </a:solidFill>
            </a:endParaRPr>
          </a:p>
          <a:p>
            <a:pPr lvl="1">
              <a:lnSpc>
                <a:spcPct val="120000"/>
              </a:lnSpc>
            </a:pPr>
            <a:r>
              <a:rPr lang="zh-CN" altLang="en-US" dirty="0"/>
              <a:t>申明时可仅申明参数类型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定义时必须给出形式参数名称，便于函数体使用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实际参数</a:t>
            </a:r>
            <a:r>
              <a:rPr lang="en-US" altLang="zh-CN" dirty="0"/>
              <a:t>/</a:t>
            </a:r>
            <a:r>
              <a:rPr lang="zh-CN" altLang="en-US" dirty="0"/>
              <a:t>实参（</a:t>
            </a:r>
            <a:r>
              <a:rPr lang="en-US" altLang="zh-CN" sz="2600" dirty="0"/>
              <a:t>Actual </a:t>
            </a:r>
            <a:r>
              <a:rPr lang="en-US" altLang="zh-CN" sz="2600" dirty="0">
                <a:solidFill>
                  <a:srgbClr val="C00000"/>
                </a:solidFill>
              </a:rPr>
              <a:t>argument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函数在</a:t>
            </a:r>
            <a:r>
              <a:rPr lang="zh-CN" altLang="en-US" dirty="0">
                <a:solidFill>
                  <a:srgbClr val="C00000"/>
                </a:solidFill>
              </a:rPr>
              <a:t>使用时</a:t>
            </a:r>
            <a:r>
              <a:rPr lang="zh-CN" altLang="en-US" dirty="0"/>
              <a:t>实际替代形式参数的</a:t>
            </a:r>
            <a:r>
              <a:rPr lang="zh-CN" altLang="en-US" dirty="0">
                <a:solidFill>
                  <a:srgbClr val="C00000"/>
                </a:solidFill>
              </a:rPr>
              <a:t>值</a:t>
            </a:r>
            <a:endParaRPr lang="en-US" altLang="zh-CN" dirty="0">
              <a:solidFill>
                <a:srgbClr val="C00000"/>
              </a:solidFill>
            </a:endParaRPr>
          </a:p>
          <a:p>
            <a:pPr lvl="1">
              <a:lnSpc>
                <a:spcPct val="120000"/>
              </a:lnSpc>
            </a:pPr>
            <a:r>
              <a:rPr lang="zh-CN" altLang="en-US" dirty="0"/>
              <a:t>实际参数与申明的形式参数必须数量相同，类型兼容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如果实参形参类型兼容但不一致，则按赋值规则发生</a:t>
            </a:r>
            <a:r>
              <a:rPr lang="zh-CN" altLang="en-US" dirty="0">
                <a:solidFill>
                  <a:srgbClr val="C00000"/>
                </a:solidFill>
              </a:rPr>
              <a:t>强制转换</a:t>
            </a: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sz="20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3EE2116-BCDB-B054-72B5-A786B80570E6}"/>
              </a:ext>
            </a:extLst>
          </p:cNvPr>
          <p:cNvSpPr txBox="1"/>
          <p:nvPr/>
        </p:nvSpPr>
        <p:spPr>
          <a:xfrm>
            <a:off x="344742" y="6311213"/>
            <a:ext cx="6542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14723"/>
                </a:solidFill>
              </a:rPr>
              <a:t>请修改 </a:t>
            </a:r>
            <a:r>
              <a:rPr lang="en-US" altLang="zh-CN" dirty="0">
                <a:solidFill>
                  <a:srgbClr val="014723"/>
                </a:solidFill>
              </a:rPr>
              <a:t>function-</a:t>
            </a:r>
            <a:r>
              <a:rPr lang="en-US" altLang="zh-CN" dirty="0" err="1">
                <a:solidFill>
                  <a:srgbClr val="014723"/>
                </a:solidFill>
              </a:rPr>
              <a:t>syntax.c</a:t>
            </a:r>
            <a:r>
              <a:rPr lang="en-US" altLang="zh-CN" dirty="0">
                <a:solidFill>
                  <a:srgbClr val="014723"/>
                </a:solidFill>
              </a:rPr>
              <a:t> </a:t>
            </a:r>
            <a:r>
              <a:rPr lang="zh-CN" altLang="en-US" dirty="0">
                <a:solidFill>
                  <a:srgbClr val="014723"/>
                </a:solidFill>
              </a:rPr>
              <a:t>的实参为</a:t>
            </a:r>
            <a:r>
              <a:rPr lang="en-US" altLang="zh-CN" dirty="0">
                <a:solidFill>
                  <a:srgbClr val="014723"/>
                </a:solidFill>
              </a:rPr>
              <a:t>double</a:t>
            </a:r>
            <a:r>
              <a:rPr lang="zh-CN" altLang="en-US" dirty="0">
                <a:solidFill>
                  <a:srgbClr val="014723"/>
                </a:solidFill>
              </a:rPr>
              <a:t>，如</a:t>
            </a:r>
            <a:r>
              <a:rPr lang="en-US" altLang="zh-CN" dirty="0">
                <a:solidFill>
                  <a:srgbClr val="014723"/>
                </a:solidFill>
              </a:rPr>
              <a:t>3.14</a:t>
            </a:r>
            <a:r>
              <a:rPr lang="zh-CN" altLang="en-US" dirty="0">
                <a:solidFill>
                  <a:srgbClr val="014723"/>
                </a:solidFill>
              </a:rPr>
              <a:t>，并运行程序</a:t>
            </a:r>
          </a:p>
        </p:txBody>
      </p:sp>
    </p:spTree>
    <p:extLst>
      <p:ext uri="{BB962C8B-B14F-4D97-AF65-F5344CB8AC3E}">
        <p14:creationId xmlns:p14="http://schemas.microsoft.com/office/powerpoint/2010/main" val="1700271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函数的调用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041590" y="1592861"/>
            <a:ext cx="410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函数根据参数和返回值可以分为四类：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-186104" y="4344044"/>
            <a:ext cx="12564207" cy="0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6096000" y="1953177"/>
            <a:ext cx="0" cy="5045502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1625752" y="2033007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无参数，无返回值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351799" y="2024943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有参数，无返回值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351799" y="447057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有参数，有返回值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536147" y="4472827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无参数，有返回值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4"/>
          <a:srcRect r="5077"/>
          <a:stretch>
            <a:fillRect/>
          </a:stretch>
        </p:blipFill>
        <p:spPr>
          <a:xfrm>
            <a:off x="1536147" y="2413473"/>
            <a:ext cx="2312847" cy="1372867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5"/>
          <a:srcRect l="1" r="-9444"/>
          <a:stretch>
            <a:fillRect/>
          </a:stretch>
        </p:blipFill>
        <p:spPr>
          <a:xfrm>
            <a:off x="8299940" y="2413473"/>
            <a:ext cx="2436530" cy="1434708"/>
          </a:xfrm>
          <a:prstGeom prst="rect">
            <a:avLst/>
          </a:prstGeom>
        </p:spPr>
      </p:pic>
      <p:sp>
        <p:nvSpPr>
          <p:cNvPr id="16" name="椭圆 15"/>
          <p:cNvSpPr/>
          <p:nvPr/>
        </p:nvSpPr>
        <p:spPr>
          <a:xfrm>
            <a:off x="1527355" y="2350368"/>
            <a:ext cx="846554" cy="47461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59312" y="2850685"/>
            <a:ext cx="11079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void</a:t>
            </a: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空，无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" name="直接箭头连接符 19"/>
          <p:cNvCxnSpPr/>
          <p:nvPr/>
        </p:nvCxnSpPr>
        <p:spPr>
          <a:xfrm flipH="1">
            <a:off x="1055077" y="2664069"/>
            <a:ext cx="316523" cy="1866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图片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9940" y="4839908"/>
            <a:ext cx="2083178" cy="152480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0224" y="4809879"/>
            <a:ext cx="1963169" cy="1599211"/>
          </a:xfrm>
          <a:prstGeom prst="rect">
            <a:avLst/>
          </a:prstGeom>
        </p:spPr>
      </p:pic>
      <p:sp>
        <p:nvSpPr>
          <p:cNvPr id="36" name="椭圆 35"/>
          <p:cNvSpPr/>
          <p:nvPr/>
        </p:nvSpPr>
        <p:spPr>
          <a:xfrm>
            <a:off x="9630684" y="5704650"/>
            <a:ext cx="458854" cy="47461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/>
          <p:cNvSpPr/>
          <p:nvPr/>
        </p:nvSpPr>
        <p:spPr>
          <a:xfrm>
            <a:off x="8339044" y="4806112"/>
            <a:ext cx="458854" cy="47461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箭头连接符 24"/>
          <p:cNvCxnSpPr/>
          <p:nvPr/>
        </p:nvCxnSpPr>
        <p:spPr>
          <a:xfrm flipH="1" flipV="1">
            <a:off x="8824261" y="5235015"/>
            <a:ext cx="806423" cy="42392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6615489" y="5098738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这两者类型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要一致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000"/>
                            </p:stCondLst>
                            <p:childTnLst>
                              <p:par>
                                <p:cTn id="5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500"/>
                            </p:stCondLst>
                            <p:childTnLst>
                              <p:par>
                                <p:cTn id="5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0"/>
                            </p:stCondLst>
                            <p:childTnLst>
                              <p:par>
                                <p:cTn id="6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500"/>
                            </p:stCondLst>
                            <p:childTnLst>
                              <p:par>
                                <p:cTn id="6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000"/>
                            </p:stCondLst>
                            <p:childTnLst>
                              <p:par>
                                <p:cTn id="6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6500"/>
                            </p:stCondLst>
                            <p:childTnLst>
                              <p:par>
                                <p:cTn id="7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  <p:bldP spid="2" grpId="0"/>
      <p:bldP spid="8" grpId="0"/>
      <p:bldP spid="9" grpId="0"/>
      <p:bldP spid="10" grpId="0"/>
      <p:bldP spid="11" grpId="0"/>
      <p:bldP spid="16" grpId="0" animBg="1"/>
      <p:bldP spid="17" grpId="0"/>
      <p:bldP spid="36" grpId="0" animBg="1"/>
      <p:bldP spid="37" grpId="0" animBg="1"/>
      <p:bldP spid="2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函数的调用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041590" y="1592861"/>
            <a:ext cx="410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函数根据参数和返回值可以分为四类：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-186104" y="4344044"/>
            <a:ext cx="12564207" cy="0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6096000" y="1953177"/>
            <a:ext cx="0" cy="5045502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658598" y="2033007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无参数，无返回值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565137" y="2024943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有参数，无返回值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565137" y="447057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有参数，有返回值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68993" y="4472827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无参数，有返回值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4"/>
          <a:srcRect r="5077"/>
          <a:stretch>
            <a:fillRect/>
          </a:stretch>
        </p:blipFill>
        <p:spPr>
          <a:xfrm>
            <a:off x="568993" y="2413473"/>
            <a:ext cx="2312847" cy="1372867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5"/>
          <a:srcRect l="1" r="-9444"/>
          <a:stretch>
            <a:fillRect/>
          </a:stretch>
        </p:blipFill>
        <p:spPr>
          <a:xfrm>
            <a:off x="9513278" y="2413473"/>
            <a:ext cx="2436530" cy="1434708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13278" y="4839908"/>
            <a:ext cx="2083178" cy="152480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070" y="4809879"/>
            <a:ext cx="1963169" cy="15992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2061" y="2413473"/>
            <a:ext cx="2031319" cy="1824928"/>
          </a:xfrm>
          <a:prstGeom prst="rect">
            <a:avLst/>
          </a:prstGeom>
        </p:spPr>
      </p:pic>
      <p:cxnSp>
        <p:nvCxnSpPr>
          <p:cNvPr id="14" name="直接箭头连接符 13"/>
          <p:cNvCxnSpPr/>
          <p:nvPr/>
        </p:nvCxnSpPr>
        <p:spPr>
          <a:xfrm flipH="1" flipV="1">
            <a:off x="2181239" y="2846586"/>
            <a:ext cx="2188539" cy="284242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>
            <a:off x="1345223" y="3490546"/>
            <a:ext cx="3094892" cy="236627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3028915" y="2664356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调用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call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3011739" y="3321726"/>
            <a:ext cx="8606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返回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return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5273" y="2389630"/>
            <a:ext cx="1967742" cy="1825627"/>
          </a:xfrm>
          <a:prstGeom prst="rect">
            <a:avLst/>
          </a:prstGeom>
        </p:spPr>
      </p:pic>
      <p:cxnSp>
        <p:nvCxnSpPr>
          <p:cNvPr id="35" name="直接箭头连接符 34"/>
          <p:cNvCxnSpPr/>
          <p:nvPr/>
        </p:nvCxnSpPr>
        <p:spPr>
          <a:xfrm flipV="1">
            <a:off x="7666892" y="2714276"/>
            <a:ext cx="2487571" cy="38563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/>
          <p:nvPr/>
        </p:nvCxnSpPr>
        <p:spPr>
          <a:xfrm flipH="1">
            <a:off x="7977790" y="3527058"/>
            <a:ext cx="1535489" cy="231037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1" name="文本框 40"/>
          <p:cNvSpPr txBox="1"/>
          <p:nvPr/>
        </p:nvSpPr>
        <p:spPr>
          <a:xfrm>
            <a:off x="8484806" y="2583925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调动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a=5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8445888" y="331941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返回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2" name="图片 4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68620" y="4655241"/>
            <a:ext cx="2398577" cy="1848445"/>
          </a:xfrm>
          <a:prstGeom prst="rect">
            <a:avLst/>
          </a:prstGeom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26050" y="4777157"/>
            <a:ext cx="2149029" cy="1671467"/>
          </a:xfrm>
          <a:prstGeom prst="rect">
            <a:avLst/>
          </a:prstGeom>
        </p:spPr>
      </p:pic>
      <p:cxnSp>
        <p:nvCxnSpPr>
          <p:cNvPr id="46" name="直接箭头连接符 45"/>
          <p:cNvCxnSpPr/>
          <p:nvPr/>
        </p:nvCxnSpPr>
        <p:spPr>
          <a:xfrm flipH="1" flipV="1">
            <a:off x="2210548" y="5197059"/>
            <a:ext cx="2018552" cy="226538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/>
          <p:nvPr/>
        </p:nvCxnSpPr>
        <p:spPr>
          <a:xfrm flipV="1">
            <a:off x="2400300" y="5692538"/>
            <a:ext cx="1969478" cy="302826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>
          <a:xfrm>
            <a:off x="3058223" y="5014829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调用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call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2600316" y="5579463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返回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x=6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3" name="直接箭头连接符 52"/>
          <p:cNvCxnSpPr/>
          <p:nvPr/>
        </p:nvCxnSpPr>
        <p:spPr>
          <a:xfrm flipV="1">
            <a:off x="8076616" y="5136690"/>
            <a:ext cx="1577338" cy="145204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/>
          <p:nvPr/>
        </p:nvCxnSpPr>
        <p:spPr>
          <a:xfrm flipH="1" flipV="1">
            <a:off x="8203015" y="5632553"/>
            <a:ext cx="1778363" cy="220364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55" name="文本框 54"/>
          <p:cNvSpPr txBox="1"/>
          <p:nvPr/>
        </p:nvSpPr>
        <p:spPr>
          <a:xfrm>
            <a:off x="8779699" y="4855936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调动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a=5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8767072" y="5419569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返回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x=6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函数的调用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041590" y="1592861"/>
            <a:ext cx="410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函数根据参数和返回值可以分为四类：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-186104" y="4344044"/>
            <a:ext cx="12564207" cy="0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6096000" y="1953177"/>
            <a:ext cx="0" cy="5045502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658598" y="2033007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无参数，无返回值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565137" y="2024943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有参数，无返回值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565137" y="447057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有参数，有返回值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68993" y="4472827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无参数，有返回值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4"/>
          <a:srcRect r="5077"/>
          <a:stretch>
            <a:fillRect/>
          </a:stretch>
        </p:blipFill>
        <p:spPr>
          <a:xfrm>
            <a:off x="568993" y="2413473"/>
            <a:ext cx="2312847" cy="1372867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5"/>
          <a:srcRect l="1" r="-9444"/>
          <a:stretch>
            <a:fillRect/>
          </a:stretch>
        </p:blipFill>
        <p:spPr>
          <a:xfrm>
            <a:off x="9513278" y="2413473"/>
            <a:ext cx="2436530" cy="1434708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13278" y="4839908"/>
            <a:ext cx="2083178" cy="152480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070" y="4809879"/>
            <a:ext cx="1963169" cy="15992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2061" y="2413473"/>
            <a:ext cx="2031319" cy="1824928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5273" y="2389630"/>
            <a:ext cx="1967742" cy="1825627"/>
          </a:xfrm>
          <a:prstGeom prst="rect">
            <a:avLst/>
          </a:prstGeom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68620" y="4655241"/>
            <a:ext cx="2398577" cy="1848445"/>
          </a:xfrm>
          <a:prstGeom prst="rect">
            <a:avLst/>
          </a:prstGeom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26050" y="4777157"/>
            <a:ext cx="2149029" cy="1671467"/>
          </a:xfrm>
          <a:prstGeom prst="rect">
            <a:avLst/>
          </a:prstGeom>
        </p:spPr>
      </p:pic>
      <p:cxnSp>
        <p:nvCxnSpPr>
          <p:cNvPr id="53" name="直接箭头连接符 52"/>
          <p:cNvCxnSpPr>
            <a:endCxn id="40" idx="7"/>
          </p:cNvCxnSpPr>
          <p:nvPr/>
        </p:nvCxnSpPr>
        <p:spPr>
          <a:xfrm flipH="1">
            <a:off x="7154463" y="5014829"/>
            <a:ext cx="2410676" cy="251736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9" name="椭圆 38"/>
          <p:cNvSpPr/>
          <p:nvPr/>
        </p:nvSpPr>
        <p:spPr>
          <a:xfrm>
            <a:off x="9509209" y="4774248"/>
            <a:ext cx="549191" cy="47461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/>
          <p:cNvSpPr/>
          <p:nvPr/>
        </p:nvSpPr>
        <p:spPr>
          <a:xfrm>
            <a:off x="6685699" y="5197059"/>
            <a:ext cx="549191" cy="47461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8554313" y="4734432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两者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类型一致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函数的调用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837" y="1819275"/>
            <a:ext cx="3507144" cy="361823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9012" y="1819275"/>
            <a:ext cx="4271963" cy="3187020"/>
          </a:xfrm>
          <a:prstGeom prst="rect">
            <a:avLst/>
          </a:prstGeom>
        </p:spPr>
      </p:pic>
      <p:cxnSp>
        <p:nvCxnSpPr>
          <p:cNvPr id="26" name="直接箭头连接符 25"/>
          <p:cNvCxnSpPr/>
          <p:nvPr/>
        </p:nvCxnSpPr>
        <p:spPr>
          <a:xfrm flipV="1">
            <a:off x="4010025" y="2276475"/>
            <a:ext cx="4419600" cy="1351915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 rot="20558194">
            <a:off x="5248881" y="2598945"/>
            <a:ext cx="8595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a=5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0" name="直接箭头连接符 29"/>
          <p:cNvCxnSpPr/>
          <p:nvPr/>
        </p:nvCxnSpPr>
        <p:spPr>
          <a:xfrm flipH="1" flipV="1">
            <a:off x="2739409" y="3990975"/>
            <a:ext cx="5518766" cy="11811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5292963" y="3628390"/>
            <a:ext cx="8435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x=6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777370" y="5398601"/>
            <a:ext cx="263726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调用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add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函数后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y=5 or 9 ?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函数的调用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837" y="1819275"/>
            <a:ext cx="3507144" cy="361823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9012" y="1819275"/>
            <a:ext cx="4271963" cy="3187020"/>
          </a:xfrm>
          <a:prstGeom prst="rect">
            <a:avLst/>
          </a:prstGeom>
        </p:spPr>
      </p:pic>
      <p:cxnSp>
        <p:nvCxnSpPr>
          <p:cNvPr id="26" name="直接箭头连接符 25"/>
          <p:cNvCxnSpPr/>
          <p:nvPr/>
        </p:nvCxnSpPr>
        <p:spPr>
          <a:xfrm flipV="1">
            <a:off x="4010025" y="2276475"/>
            <a:ext cx="4419600" cy="1351915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 rot="20558194">
            <a:off x="5248881" y="2598945"/>
            <a:ext cx="8595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a=5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0" name="直接箭头连接符 29"/>
          <p:cNvCxnSpPr/>
          <p:nvPr/>
        </p:nvCxnSpPr>
        <p:spPr>
          <a:xfrm flipH="1" flipV="1">
            <a:off x="2739409" y="3990975"/>
            <a:ext cx="5518766" cy="11811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5292963" y="3628390"/>
            <a:ext cx="748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x=6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777370" y="5398601"/>
            <a:ext cx="263726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调用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add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函数后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y=5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429625" y="6298168"/>
            <a:ext cx="3437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（不是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的阶乘，是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感叹号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函数的调用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837" y="1819275"/>
            <a:ext cx="3507144" cy="361823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9012" y="1819275"/>
            <a:ext cx="4271963" cy="3187020"/>
          </a:xfrm>
          <a:prstGeom prst="rect">
            <a:avLst/>
          </a:prstGeom>
        </p:spPr>
      </p:pic>
      <p:cxnSp>
        <p:nvCxnSpPr>
          <p:cNvPr id="26" name="直接箭头连接符 25"/>
          <p:cNvCxnSpPr/>
          <p:nvPr/>
        </p:nvCxnSpPr>
        <p:spPr>
          <a:xfrm flipV="1">
            <a:off x="4010025" y="2276475"/>
            <a:ext cx="4419600" cy="1351915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 rot="20558194">
            <a:off x="5248881" y="2598945"/>
            <a:ext cx="8595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a=5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0" name="直接箭头连接符 29"/>
          <p:cNvCxnSpPr/>
          <p:nvPr/>
        </p:nvCxnSpPr>
        <p:spPr>
          <a:xfrm flipH="1" flipV="1">
            <a:off x="2739409" y="3990975"/>
            <a:ext cx="5518766" cy="11811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5292963" y="3628390"/>
            <a:ext cx="748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x=6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2931832" y="5492080"/>
            <a:ext cx="63283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函数参数的按值传递（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Call By Value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991739" y="6066155"/>
            <a:ext cx="89771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main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函数里的变量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add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函数里的变量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不是同一个变量，尽管它们的值一样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add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函数里无论对变量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作什么操作，不会影响到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main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函数里的变量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函数的调用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73910" y="1663405"/>
            <a:ext cx="114942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：我想对变量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的修改能影响到变量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怎么办？比如我想写一个函数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swap(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a,b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用来交换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这两个变量的值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：那就用到另一种传递方式，叫引用传递（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Call By Reference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910" y="2890837"/>
            <a:ext cx="4238625" cy="3510617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612535" y="5842337"/>
            <a:ext cx="756809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由于变量储存在计算机内存的某个地方，我们用</a:t>
            </a:r>
            <a:r>
              <a:rPr lang="zh-CN" altLang="en-US" sz="2400" b="1" dirty="0"/>
              <a:t>地址</a:t>
            </a:r>
            <a:r>
              <a:rPr lang="zh-CN" altLang="en-US" dirty="0"/>
              <a:t>来描述。</a:t>
            </a:r>
            <a:endParaRPr lang="en-US" altLang="zh-CN" dirty="0"/>
          </a:p>
          <a:p>
            <a:r>
              <a:rPr lang="zh-CN" altLang="en-US" dirty="0"/>
              <a:t>函数形参用指针类型，传入某个变量地址，用 </a:t>
            </a:r>
            <a:r>
              <a:rPr lang="zh-CN" altLang="en-US" b="1" dirty="0"/>
              <a:t>* 解引用</a:t>
            </a:r>
            <a:r>
              <a:rPr lang="zh-CN" altLang="en-US" dirty="0"/>
              <a:t>运算获取对应变量</a:t>
            </a:r>
            <a:endParaRPr lang="en-US" altLang="zh-CN" dirty="0"/>
          </a:p>
          <a:p>
            <a:r>
              <a:rPr lang="zh-CN" altLang="en-US" dirty="0"/>
              <a:t>注意：*</a:t>
            </a:r>
            <a:r>
              <a:rPr lang="en-US" altLang="zh-CN" dirty="0"/>
              <a:t>x 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rgbClr val="FF0000"/>
                </a:solidFill>
              </a:rPr>
              <a:t>左值</a:t>
            </a:r>
            <a:endParaRPr lang="en-US" altLang="zh-CN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8915" y="3240850"/>
            <a:ext cx="5604223" cy="2647950"/>
          </a:xfrm>
          <a:prstGeom prst="rect">
            <a:avLst/>
          </a:prstGeom>
        </p:spPr>
      </p:pic>
      <p:sp>
        <p:nvSpPr>
          <p:cNvPr id="18" name="椭圆 17"/>
          <p:cNvSpPr/>
          <p:nvPr/>
        </p:nvSpPr>
        <p:spPr>
          <a:xfrm>
            <a:off x="8610600" y="3318086"/>
            <a:ext cx="1152525" cy="47461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8496300" y="2825648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指针类型</a:t>
            </a:r>
          </a:p>
        </p:txBody>
      </p:sp>
      <p:cxnSp>
        <p:nvCxnSpPr>
          <p:cNvPr id="20" name="直接箭头连接符 19"/>
          <p:cNvCxnSpPr/>
          <p:nvPr/>
        </p:nvCxnSpPr>
        <p:spPr>
          <a:xfrm flipV="1">
            <a:off x="3438525" y="3792702"/>
            <a:ext cx="5057775" cy="887727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 rot="20994858">
            <a:off x="4820213" y="389152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地址传递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78F22BD8-EBF6-B510-BF59-9F12B2522B87}"/>
              </a:ext>
            </a:extLst>
          </p:cNvPr>
          <p:cNvSpPr/>
          <p:nvPr/>
        </p:nvSpPr>
        <p:spPr>
          <a:xfrm>
            <a:off x="8759547" y="3829670"/>
            <a:ext cx="1152525" cy="47461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586E1AC5-670C-E8E8-7106-A6F87A8176EF}"/>
              </a:ext>
            </a:extLst>
          </p:cNvPr>
          <p:cNvCxnSpPr>
            <a:cxnSpLocks/>
          </p:cNvCxnSpPr>
          <p:nvPr/>
        </p:nvCxnSpPr>
        <p:spPr>
          <a:xfrm flipV="1">
            <a:off x="5164015" y="4437501"/>
            <a:ext cx="3595532" cy="1462885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函数的调用 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– 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小结与练习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10" name="内容占位符 3">
            <a:extLst>
              <a:ext uri="{FF2B5EF4-FFF2-40B4-BE49-F238E27FC236}">
                <a16:creationId xmlns:a16="http://schemas.microsoft.com/office/drawing/2014/main" id="{D629388B-A0FA-4935-A200-9BF72A71C0AB}"/>
              </a:ext>
            </a:extLst>
          </p:cNvPr>
          <p:cNvSpPr>
            <a:spLocks noGrp="1"/>
          </p:cNvSpPr>
          <p:nvPr/>
        </p:nvSpPr>
        <p:spPr>
          <a:xfrm>
            <a:off x="838200" y="1815465"/>
            <a:ext cx="9813324" cy="435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dirty="0"/>
              <a:t>函数是一个初等表达式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函数返回值的类型就是表达式的类型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函数遇到 </a:t>
            </a:r>
            <a:r>
              <a:rPr lang="en-US" altLang="zh-CN" dirty="0"/>
              <a:t>return </a:t>
            </a:r>
            <a:r>
              <a:rPr lang="zh-CN" altLang="en-US" dirty="0"/>
              <a:t>语句或函数块执行完毕</a:t>
            </a:r>
            <a:r>
              <a:rPr lang="zh-CN" altLang="en-US" dirty="0">
                <a:solidFill>
                  <a:srgbClr val="C00000"/>
                </a:solidFill>
              </a:rPr>
              <a:t>函数表达式完成求值</a:t>
            </a:r>
            <a:endParaRPr lang="en-US" altLang="zh-CN" dirty="0">
              <a:solidFill>
                <a:srgbClr val="C00000"/>
              </a:solidFill>
            </a:endParaRPr>
          </a:p>
          <a:p>
            <a:pPr lvl="1">
              <a:lnSpc>
                <a:spcPct val="120000"/>
              </a:lnSpc>
            </a:pPr>
            <a:r>
              <a:rPr lang="zh-CN" altLang="en-US" dirty="0">
                <a:solidFill>
                  <a:srgbClr val="C00000"/>
                </a:solidFill>
              </a:rPr>
              <a:t>除了返回 </a:t>
            </a:r>
            <a:r>
              <a:rPr lang="en-US" altLang="zh-CN" dirty="0">
                <a:solidFill>
                  <a:srgbClr val="C00000"/>
                </a:solidFill>
              </a:rPr>
              <a:t>void </a:t>
            </a:r>
            <a:r>
              <a:rPr lang="zh-CN" altLang="en-US" dirty="0">
                <a:solidFill>
                  <a:srgbClr val="C00000"/>
                </a:solidFill>
              </a:rPr>
              <a:t>类型，必须使用 </a:t>
            </a:r>
            <a:r>
              <a:rPr lang="en-US" altLang="zh-CN" dirty="0">
                <a:solidFill>
                  <a:srgbClr val="C00000"/>
                </a:solidFill>
              </a:rPr>
              <a:t>return </a:t>
            </a:r>
            <a:r>
              <a:rPr lang="zh-CN" altLang="en-US" dirty="0">
                <a:solidFill>
                  <a:srgbClr val="C00000"/>
                </a:solidFill>
              </a:rPr>
              <a:t>语句返回一个值</a:t>
            </a:r>
            <a:endParaRPr lang="en-US" altLang="zh-CN" dirty="0">
              <a:solidFill>
                <a:srgbClr val="C00000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dirty="0"/>
              <a:t>函数实参与形参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形参是传引用则实参必须是“</a:t>
            </a:r>
            <a:r>
              <a:rPr lang="en-US" altLang="zh-CN" dirty="0"/>
              <a:t>&amp;</a:t>
            </a:r>
            <a:r>
              <a:rPr lang="zh-CN" altLang="en-US" dirty="0"/>
              <a:t>左值表达式</a:t>
            </a:r>
            <a:r>
              <a:rPr lang="en-US" altLang="zh-CN" dirty="0"/>
              <a:t>”</a:t>
            </a:r>
            <a:r>
              <a:rPr lang="zh-CN" altLang="en-US" dirty="0"/>
              <a:t>或“地址”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形参是传值是实参必须是类型兼容表达式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实参与形参必须数量一致，类型兼容</a:t>
            </a:r>
            <a:endParaRPr lang="en-US" altLang="zh-CN" sz="20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3EE2116-BCDB-B054-72B5-A786B80570E6}"/>
              </a:ext>
            </a:extLst>
          </p:cNvPr>
          <p:cNvSpPr txBox="1"/>
          <p:nvPr/>
        </p:nvSpPr>
        <p:spPr>
          <a:xfrm>
            <a:off x="344742" y="6311213"/>
            <a:ext cx="5181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14723"/>
                </a:solidFill>
              </a:rPr>
              <a:t>请运行 </a:t>
            </a:r>
            <a:r>
              <a:rPr lang="en-US" altLang="zh-CN" dirty="0">
                <a:solidFill>
                  <a:srgbClr val="014723"/>
                </a:solidFill>
              </a:rPr>
              <a:t>call-</a:t>
            </a:r>
            <a:r>
              <a:rPr lang="en-US" altLang="zh-CN" dirty="0" err="1">
                <a:solidFill>
                  <a:srgbClr val="014723"/>
                </a:solidFill>
              </a:rPr>
              <a:t>byref</a:t>
            </a:r>
            <a:r>
              <a:rPr lang="en-US" altLang="zh-CN" dirty="0">
                <a:solidFill>
                  <a:srgbClr val="014723"/>
                </a:solidFill>
              </a:rPr>
              <a:t>-</a:t>
            </a:r>
            <a:r>
              <a:rPr lang="en-US" altLang="zh-CN" dirty="0" err="1">
                <a:solidFill>
                  <a:srgbClr val="014723"/>
                </a:solidFill>
              </a:rPr>
              <a:t>swap.c</a:t>
            </a:r>
            <a:r>
              <a:rPr lang="en-US" altLang="zh-CN" dirty="0">
                <a:solidFill>
                  <a:srgbClr val="014723"/>
                </a:solidFill>
              </a:rPr>
              <a:t> </a:t>
            </a:r>
            <a:r>
              <a:rPr lang="zh-CN" altLang="en-US" dirty="0">
                <a:solidFill>
                  <a:srgbClr val="014723"/>
                </a:solidFill>
              </a:rPr>
              <a:t>体验传值和引用的区别</a:t>
            </a:r>
          </a:p>
        </p:txBody>
      </p:sp>
    </p:spTree>
    <p:extLst>
      <p:ext uri="{BB962C8B-B14F-4D97-AF65-F5344CB8AC3E}">
        <p14:creationId xmlns:p14="http://schemas.microsoft.com/office/powerpoint/2010/main" val="3054975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函数的调用 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– 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小结与练习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10" name="内容占位符 3">
            <a:extLst>
              <a:ext uri="{FF2B5EF4-FFF2-40B4-BE49-F238E27FC236}">
                <a16:creationId xmlns:a16="http://schemas.microsoft.com/office/drawing/2014/main" id="{D629388B-A0FA-4935-A200-9BF72A71C0AB}"/>
              </a:ext>
            </a:extLst>
          </p:cNvPr>
          <p:cNvSpPr>
            <a:spLocks noGrp="1"/>
          </p:cNvSpPr>
          <p:nvPr/>
        </p:nvSpPr>
        <p:spPr>
          <a:xfrm>
            <a:off x="838200" y="1815465"/>
            <a:ext cx="9813324" cy="435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dirty="0"/>
              <a:t>函数是一个初等表达式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函数返回值的类型就是表达式的类型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函数遇到 </a:t>
            </a:r>
            <a:r>
              <a:rPr lang="en-US" altLang="zh-CN" dirty="0"/>
              <a:t>return </a:t>
            </a:r>
            <a:r>
              <a:rPr lang="zh-CN" altLang="en-US" dirty="0"/>
              <a:t>语句或函数块执行完毕</a:t>
            </a:r>
            <a:r>
              <a:rPr lang="zh-CN" altLang="en-US" dirty="0">
                <a:solidFill>
                  <a:srgbClr val="C00000"/>
                </a:solidFill>
              </a:rPr>
              <a:t>函数表达式完成求值</a:t>
            </a:r>
            <a:endParaRPr lang="en-US" altLang="zh-CN" dirty="0">
              <a:solidFill>
                <a:srgbClr val="C00000"/>
              </a:solidFill>
            </a:endParaRPr>
          </a:p>
          <a:p>
            <a:pPr lvl="1">
              <a:lnSpc>
                <a:spcPct val="120000"/>
              </a:lnSpc>
            </a:pPr>
            <a:r>
              <a:rPr lang="zh-CN" altLang="en-US" dirty="0">
                <a:solidFill>
                  <a:srgbClr val="C00000"/>
                </a:solidFill>
              </a:rPr>
              <a:t>除了返回 </a:t>
            </a:r>
            <a:r>
              <a:rPr lang="en-US" altLang="zh-CN" dirty="0">
                <a:solidFill>
                  <a:srgbClr val="C00000"/>
                </a:solidFill>
              </a:rPr>
              <a:t>void </a:t>
            </a:r>
            <a:r>
              <a:rPr lang="zh-CN" altLang="en-US" dirty="0">
                <a:solidFill>
                  <a:srgbClr val="C00000"/>
                </a:solidFill>
              </a:rPr>
              <a:t>类型，必须使用 </a:t>
            </a:r>
            <a:r>
              <a:rPr lang="en-US" altLang="zh-CN" dirty="0">
                <a:solidFill>
                  <a:srgbClr val="C00000"/>
                </a:solidFill>
              </a:rPr>
              <a:t>return </a:t>
            </a:r>
            <a:r>
              <a:rPr lang="zh-CN" altLang="en-US" dirty="0">
                <a:solidFill>
                  <a:srgbClr val="C00000"/>
                </a:solidFill>
              </a:rPr>
              <a:t>语句返回一个值</a:t>
            </a:r>
            <a:endParaRPr lang="en-US" altLang="zh-CN" dirty="0">
              <a:solidFill>
                <a:srgbClr val="C00000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dirty="0"/>
              <a:t>函数实参与形参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形参是传引用则实参必须是“</a:t>
            </a:r>
            <a:r>
              <a:rPr lang="en-US" altLang="zh-CN" dirty="0"/>
              <a:t>&amp;</a:t>
            </a:r>
            <a:r>
              <a:rPr lang="zh-CN" altLang="en-US" dirty="0"/>
              <a:t>左值表达式</a:t>
            </a:r>
            <a:r>
              <a:rPr lang="en-US" altLang="zh-CN" dirty="0"/>
              <a:t>”</a:t>
            </a:r>
            <a:r>
              <a:rPr lang="zh-CN" altLang="en-US" dirty="0"/>
              <a:t>或“地址”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形参是传值是实参必须是类型兼容表达式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实参与形参必须数量一致，类型兼容</a:t>
            </a:r>
            <a:endParaRPr lang="en-US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3EE2116-BCDB-B054-72B5-A786B80570E6}"/>
              </a:ext>
            </a:extLst>
          </p:cNvPr>
          <p:cNvSpPr txBox="1"/>
          <p:nvPr/>
        </p:nvSpPr>
        <p:spPr>
          <a:xfrm>
            <a:off x="344742" y="6311213"/>
            <a:ext cx="5181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14723"/>
                </a:solidFill>
              </a:rPr>
              <a:t>请运行 </a:t>
            </a:r>
            <a:r>
              <a:rPr lang="en-US" altLang="zh-CN" dirty="0">
                <a:solidFill>
                  <a:srgbClr val="014723"/>
                </a:solidFill>
              </a:rPr>
              <a:t>call-</a:t>
            </a:r>
            <a:r>
              <a:rPr lang="en-US" altLang="zh-CN" dirty="0" err="1">
                <a:solidFill>
                  <a:srgbClr val="014723"/>
                </a:solidFill>
              </a:rPr>
              <a:t>byref</a:t>
            </a:r>
            <a:r>
              <a:rPr lang="en-US" altLang="zh-CN" dirty="0">
                <a:solidFill>
                  <a:srgbClr val="014723"/>
                </a:solidFill>
              </a:rPr>
              <a:t>-</a:t>
            </a:r>
            <a:r>
              <a:rPr lang="en-US" altLang="zh-CN" dirty="0" err="1">
                <a:solidFill>
                  <a:srgbClr val="014723"/>
                </a:solidFill>
              </a:rPr>
              <a:t>swap.c</a:t>
            </a:r>
            <a:r>
              <a:rPr lang="en-US" altLang="zh-CN" dirty="0">
                <a:solidFill>
                  <a:srgbClr val="014723"/>
                </a:solidFill>
              </a:rPr>
              <a:t> </a:t>
            </a:r>
            <a:r>
              <a:rPr lang="zh-CN" altLang="en-US" dirty="0">
                <a:solidFill>
                  <a:srgbClr val="014723"/>
                </a:solidFill>
              </a:rPr>
              <a:t>体验传值和引用的区别</a:t>
            </a:r>
          </a:p>
        </p:txBody>
      </p:sp>
    </p:spTree>
    <p:extLst>
      <p:ext uri="{BB962C8B-B14F-4D97-AF65-F5344CB8AC3E}">
        <p14:creationId xmlns:p14="http://schemas.microsoft.com/office/powerpoint/2010/main" val="3592812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函数的调用 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– 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小结与练习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10" name="内容占位符 3">
            <a:extLst>
              <a:ext uri="{FF2B5EF4-FFF2-40B4-BE49-F238E27FC236}">
                <a16:creationId xmlns:a16="http://schemas.microsoft.com/office/drawing/2014/main" id="{D629388B-A0FA-4935-A200-9BF72A71C0AB}"/>
              </a:ext>
            </a:extLst>
          </p:cNvPr>
          <p:cNvSpPr>
            <a:spLocks noGrp="1"/>
          </p:cNvSpPr>
          <p:nvPr/>
        </p:nvSpPr>
        <p:spPr>
          <a:xfrm>
            <a:off x="838200" y="1815465"/>
            <a:ext cx="9813324" cy="435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dirty="0"/>
              <a:t>函数参数表达式求值顺序</a:t>
            </a: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sz="20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9C3323C-A6AD-6A6B-AE3D-7C0E3876CC68}"/>
              </a:ext>
            </a:extLst>
          </p:cNvPr>
          <p:cNvSpPr txBox="1"/>
          <p:nvPr/>
        </p:nvSpPr>
        <p:spPr>
          <a:xfrm>
            <a:off x="838199" y="2528394"/>
            <a:ext cx="10282881" cy="347787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b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/*function parameter expression*/</a:t>
            </a:r>
          </a:p>
          <a:p>
            <a:r>
              <a:rPr lang="en-US" altLang="zh-CN" sz="2000" b="0" dirty="0">
                <a:effectLst/>
                <a:latin typeface="Consolas" panose="020B0609020204030204" pitchFamily="49" charset="0"/>
              </a:rPr>
              <a:t>#include &lt;</a:t>
            </a:r>
            <a:r>
              <a:rPr lang="en-US" altLang="zh-CN" sz="2000" b="0" dirty="0" err="1">
                <a:effectLst/>
                <a:latin typeface="Consolas" panose="020B0609020204030204" pitchFamily="49" charset="0"/>
              </a:rPr>
              <a:t>stdio.h</a:t>
            </a:r>
            <a:r>
              <a:rPr lang="en-US" altLang="zh-CN" sz="2000" b="0" dirty="0">
                <a:effectLst/>
                <a:latin typeface="Consolas" panose="020B0609020204030204" pitchFamily="49" charset="0"/>
              </a:rPr>
              <a:t>&gt;</a:t>
            </a:r>
          </a:p>
          <a:p>
            <a:endParaRPr lang="en-US" altLang="zh-CN" sz="2000" b="0" dirty="0"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effectLst/>
                <a:latin typeface="Consolas" panose="020B0609020204030204" pitchFamily="49" charset="0"/>
              </a:rPr>
              <a:t>void </a:t>
            </a:r>
            <a:r>
              <a:rPr lang="en-US" altLang="zh-CN" sz="2000" b="0" dirty="0" err="1">
                <a:effectLst/>
                <a:latin typeface="Consolas" panose="020B0609020204030204" pitchFamily="49" charset="0"/>
              </a:rPr>
              <a:t>testfun</a:t>
            </a:r>
            <a:r>
              <a:rPr lang="en-US" altLang="zh-CN" sz="2000" b="0" dirty="0">
                <a:effectLst/>
                <a:latin typeface="Consolas" panose="020B0609020204030204" pitchFamily="49" charset="0"/>
              </a:rPr>
              <a:t>(int a, int b, int c){</a:t>
            </a:r>
          </a:p>
          <a:p>
            <a:r>
              <a:rPr lang="en-US" altLang="zh-CN" sz="2000" b="0" dirty="0">
                <a:effectLst/>
                <a:latin typeface="Consolas" panose="020B0609020204030204" pitchFamily="49" charset="0"/>
              </a:rPr>
              <a:t>    </a:t>
            </a:r>
            <a:r>
              <a:rPr lang="en-US" altLang="zh-CN" sz="2000" b="0" dirty="0" err="1"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2000" b="0" dirty="0">
                <a:effectLst/>
                <a:latin typeface="Consolas" panose="020B0609020204030204" pitchFamily="49" charset="0"/>
              </a:rPr>
              <a:t>("%</a:t>
            </a:r>
            <a:r>
              <a:rPr lang="en-US" altLang="zh-CN" sz="2000" b="0" dirty="0" err="1">
                <a:effectLst/>
                <a:latin typeface="Consolas" panose="020B0609020204030204" pitchFamily="49" charset="0"/>
              </a:rPr>
              <a:t>d,%d,%d</a:t>
            </a:r>
            <a:r>
              <a:rPr lang="en-US" altLang="zh-CN" sz="2000" b="0" dirty="0">
                <a:effectLst/>
                <a:latin typeface="Consolas" panose="020B0609020204030204" pitchFamily="49" charset="0"/>
              </a:rPr>
              <a:t>\n", a, b, c);</a:t>
            </a:r>
          </a:p>
          <a:p>
            <a:r>
              <a:rPr lang="en-US" altLang="zh-CN" sz="2000" b="0" dirty="0"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altLang="zh-CN" sz="2000" b="0" dirty="0"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effectLst/>
                <a:latin typeface="Consolas" panose="020B0609020204030204" pitchFamily="49" charset="0"/>
              </a:rPr>
              <a:t>int main() {</a:t>
            </a:r>
          </a:p>
          <a:p>
            <a:r>
              <a:rPr lang="en-US" altLang="zh-CN" sz="2000" b="0" dirty="0">
                <a:effectLst/>
                <a:latin typeface="Consolas" panose="020B0609020204030204" pitchFamily="49" charset="0"/>
              </a:rPr>
              <a:t>    int a = 0;</a:t>
            </a:r>
          </a:p>
          <a:p>
            <a:r>
              <a:rPr lang="en-US" altLang="zh-CN" sz="2000" b="0" dirty="0">
                <a:effectLst/>
                <a:latin typeface="Consolas" panose="020B0609020204030204" pitchFamily="49" charset="0"/>
              </a:rPr>
              <a:t>    </a:t>
            </a:r>
            <a:r>
              <a:rPr lang="en-US" altLang="zh-CN" sz="2000" b="0" dirty="0" err="1">
                <a:effectLst/>
                <a:latin typeface="Consolas" panose="020B0609020204030204" pitchFamily="49" charset="0"/>
              </a:rPr>
              <a:t>testfun</a:t>
            </a:r>
            <a:r>
              <a:rPr lang="en-US" altLang="zh-CN" sz="2000" b="0" dirty="0">
                <a:effectLst/>
                <a:latin typeface="Consolas" panose="020B0609020204030204" pitchFamily="49" charset="0"/>
              </a:rPr>
              <a:t>(a++,a++,a++);</a:t>
            </a:r>
          </a:p>
          <a:p>
            <a:r>
              <a:rPr lang="en-US" altLang="zh-CN" sz="2000" b="0" dirty="0"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0A7DD6F-3BD6-D141-5199-DAC9554E1341}"/>
              </a:ext>
            </a:extLst>
          </p:cNvPr>
          <p:cNvSpPr txBox="1"/>
          <p:nvPr/>
        </p:nvSpPr>
        <p:spPr>
          <a:xfrm>
            <a:off x="4053016" y="616712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请问程序输出是什么？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F159E54-1682-40AC-AD0C-559B5FE0E73C}"/>
              </a:ext>
            </a:extLst>
          </p:cNvPr>
          <p:cNvSpPr txBox="1"/>
          <p:nvPr/>
        </p:nvSpPr>
        <p:spPr>
          <a:xfrm>
            <a:off x="6546006" y="6013232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</a:rPr>
              <a:t>未定义</a:t>
            </a:r>
          </a:p>
        </p:txBody>
      </p:sp>
    </p:spTree>
    <p:extLst>
      <p:ext uri="{BB962C8B-B14F-4D97-AF65-F5344CB8AC3E}">
        <p14:creationId xmlns:p14="http://schemas.microsoft.com/office/powerpoint/2010/main" val="3061541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  <p:bldP spid="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常用数学函数 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– 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要求掌握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10" name="内容占位符 3">
            <a:extLst>
              <a:ext uri="{FF2B5EF4-FFF2-40B4-BE49-F238E27FC236}">
                <a16:creationId xmlns:a16="http://schemas.microsoft.com/office/drawing/2014/main" id="{D629388B-A0FA-4935-A200-9BF72A71C0AB}"/>
              </a:ext>
            </a:extLst>
          </p:cNvPr>
          <p:cNvSpPr>
            <a:spLocks noGrp="1"/>
          </p:cNvSpPr>
          <p:nvPr/>
        </p:nvSpPr>
        <p:spPr>
          <a:xfrm>
            <a:off x="838200" y="1815465"/>
            <a:ext cx="9813324" cy="4351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dirty="0"/>
              <a:t>在标头 </a:t>
            </a:r>
            <a:r>
              <a:rPr lang="en-US" altLang="zh-CN" dirty="0"/>
              <a:t>&lt;</a:t>
            </a:r>
            <a:r>
              <a:rPr lang="en-US" altLang="zh-CN" dirty="0" err="1"/>
              <a:t>stdlib.h</a:t>
            </a:r>
            <a:r>
              <a:rPr lang="en-US" altLang="zh-CN" dirty="0"/>
              <a:t>&gt; </a:t>
            </a:r>
            <a:r>
              <a:rPr lang="zh-CN" altLang="en-US" dirty="0"/>
              <a:t>定义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en-US" altLang="zh-CN" dirty="0"/>
              <a:t>int        abs( int n );</a:t>
            </a:r>
          </a:p>
          <a:p>
            <a:pPr>
              <a:lnSpc>
                <a:spcPct val="120000"/>
              </a:lnSpc>
            </a:pPr>
            <a:r>
              <a:rPr lang="zh-CN" altLang="en-US" dirty="0"/>
              <a:t>定义于头文件 </a:t>
            </a:r>
            <a:r>
              <a:rPr lang="en-US" altLang="zh-CN" dirty="0"/>
              <a:t>&lt;</a:t>
            </a:r>
            <a:r>
              <a:rPr lang="en-US" altLang="zh-CN" dirty="0" err="1"/>
              <a:t>math.h</a:t>
            </a:r>
            <a:r>
              <a:rPr lang="en-US" altLang="zh-CN" dirty="0"/>
              <a:t>&gt;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double      fabs( double </a:t>
            </a:r>
            <a:r>
              <a:rPr lang="en-US" altLang="zh-CN" dirty="0" err="1"/>
              <a:t>arg</a:t>
            </a:r>
            <a:r>
              <a:rPr lang="en-US" altLang="zh-CN" dirty="0"/>
              <a:t> );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double      exp( double </a:t>
            </a:r>
            <a:r>
              <a:rPr lang="en-US" altLang="zh-CN" dirty="0" err="1"/>
              <a:t>arg</a:t>
            </a:r>
            <a:r>
              <a:rPr lang="en-US" altLang="zh-CN" dirty="0"/>
              <a:t> ); 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double      log( double </a:t>
            </a:r>
            <a:r>
              <a:rPr lang="en-US" altLang="zh-CN" dirty="0" err="1"/>
              <a:t>arg</a:t>
            </a:r>
            <a:r>
              <a:rPr lang="en-US" altLang="zh-CN" dirty="0"/>
              <a:t> );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double      log10( double </a:t>
            </a:r>
            <a:r>
              <a:rPr lang="en-US" altLang="zh-CN" dirty="0" err="1"/>
              <a:t>arg</a:t>
            </a:r>
            <a:r>
              <a:rPr lang="en-US" altLang="zh-CN" dirty="0"/>
              <a:t> );</a:t>
            </a:r>
          </a:p>
          <a:p>
            <a:pPr lvl="1">
              <a:lnSpc>
                <a:spcPct val="120000"/>
              </a:lnSpc>
            </a:pPr>
            <a:r>
              <a:rPr lang="fr-FR" altLang="zh-CN" dirty="0"/>
              <a:t>double      pow( double base, double exponent );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double      sqrt( double </a:t>
            </a:r>
            <a:r>
              <a:rPr lang="en-US" altLang="zh-CN" dirty="0" err="1"/>
              <a:t>arg</a:t>
            </a:r>
            <a:r>
              <a:rPr lang="en-US" altLang="zh-CN" dirty="0"/>
              <a:t> );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double      sin( double </a:t>
            </a:r>
            <a:r>
              <a:rPr lang="en-US" altLang="zh-CN" dirty="0" err="1"/>
              <a:t>arg</a:t>
            </a:r>
            <a:r>
              <a:rPr lang="en-US" altLang="zh-CN" dirty="0"/>
              <a:t> );</a:t>
            </a:r>
          </a:p>
          <a:p>
            <a:pPr lvl="2">
              <a:lnSpc>
                <a:spcPct val="120000"/>
              </a:lnSpc>
            </a:pPr>
            <a:r>
              <a:rPr lang="en-US" altLang="zh-CN" dirty="0"/>
              <a:t>cos</a:t>
            </a:r>
            <a:r>
              <a:rPr lang="zh-CN" altLang="en-US" dirty="0"/>
              <a:t>，</a:t>
            </a:r>
            <a:r>
              <a:rPr lang="en-US" altLang="zh-CN" dirty="0"/>
              <a:t>tan</a:t>
            </a:r>
            <a:r>
              <a:rPr lang="zh-CN" altLang="en-US" dirty="0"/>
              <a:t>，</a:t>
            </a:r>
            <a:r>
              <a:rPr lang="en-US" altLang="zh-CN" dirty="0" err="1"/>
              <a:t>asin</a:t>
            </a:r>
            <a:r>
              <a:rPr lang="zh-CN" altLang="en-US" dirty="0"/>
              <a:t>，</a:t>
            </a:r>
            <a:r>
              <a:rPr lang="en-US" altLang="zh-CN" dirty="0" err="1"/>
              <a:t>acos</a:t>
            </a:r>
            <a:r>
              <a:rPr lang="zh-CN" altLang="en-US" dirty="0"/>
              <a:t>，</a:t>
            </a:r>
            <a:r>
              <a:rPr lang="en-US" altLang="zh-CN" dirty="0" err="1"/>
              <a:t>atan</a:t>
            </a:r>
            <a:r>
              <a:rPr lang="zh-CN" altLang="en-US" dirty="0"/>
              <a:t>，</a:t>
            </a:r>
            <a:r>
              <a:rPr lang="en-US" altLang="zh-CN" dirty="0"/>
              <a:t>atan2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double      ceil( double </a:t>
            </a:r>
            <a:r>
              <a:rPr lang="en-US" altLang="zh-CN" dirty="0" err="1"/>
              <a:t>arg</a:t>
            </a:r>
            <a:r>
              <a:rPr lang="en-US" altLang="zh-CN" dirty="0"/>
              <a:t> );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double      floor( double </a:t>
            </a:r>
            <a:r>
              <a:rPr lang="en-US" altLang="zh-CN" dirty="0" err="1"/>
              <a:t>arg</a:t>
            </a:r>
            <a:r>
              <a:rPr lang="en-US" altLang="zh-CN" dirty="0"/>
              <a:t> );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0A7DD6F-3BD6-D141-5199-DAC9554E1341}"/>
              </a:ext>
            </a:extLst>
          </p:cNvPr>
          <p:cNvSpPr txBox="1"/>
          <p:nvPr/>
        </p:nvSpPr>
        <p:spPr>
          <a:xfrm>
            <a:off x="1297460" y="6205289"/>
            <a:ext cx="3592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hlinkClick r:id="rId4"/>
              </a:rPr>
              <a:t>常用数学函数 </a:t>
            </a:r>
            <a:r>
              <a:rPr lang="en-US" altLang="zh-CN" dirty="0">
                <a:hlinkClick r:id="rId4"/>
              </a:rPr>
              <a:t>- cppreference.com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07658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1279525" y="771525"/>
            <a:ext cx="8576945" cy="4523105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Which of the following function declaration is illegal?</a:t>
            </a:r>
          </a:p>
          <a:p>
            <a:pPr lv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a) double func();</a:t>
            </a:r>
          </a:p>
          <a:p>
            <a:pPr lv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int main(){}</a:t>
            </a:r>
          </a:p>
          <a:p>
            <a:pPr lv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double func(){}</a:t>
            </a:r>
          </a:p>
          <a:p>
            <a:pPr lv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b) double func(){};</a:t>
            </a:r>
          </a:p>
          <a:p>
            <a:pPr lv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int main(){}</a:t>
            </a:r>
          </a:p>
          <a:p>
            <a:pPr lv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c) int main()</a:t>
            </a:r>
          </a:p>
          <a:p>
            <a:pPr lv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{</a:t>
            </a:r>
          </a:p>
          <a:p>
            <a:pPr lv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double func();</a:t>
            </a:r>
          </a:p>
          <a:p>
            <a:pPr lv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}</a:t>
            </a:r>
          </a:p>
          <a:p>
            <a:pPr lv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double func(){//statements}</a:t>
            </a:r>
          </a:p>
          <a:p>
            <a:pPr lvl="0" algn="l">
              <a:spcBef>
                <a:spcPts val="0"/>
              </a:spcBef>
              <a:buNone/>
            </a:pP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d) None of the mentioned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396365" y="570865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3086100" y="5762625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4775835" y="5762625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6510020" y="5762625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</a:p>
        </p:txBody>
      </p:sp>
      <p:sp>
        <p:nvSpPr>
          <p:cNvPr id="17" name="圆角矩形 16"/>
          <p:cNvSpPr/>
          <p:nvPr>
            <p:custDataLst>
              <p:tags r:id="rId7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2306955" y="5781675"/>
            <a:ext cx="4648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/>
              <a:t>A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3902075" y="5835650"/>
            <a:ext cx="4648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/>
              <a:t>B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5668010" y="5854700"/>
            <a:ext cx="4648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/>
              <a:t>C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7439660" y="5781675"/>
            <a:ext cx="4648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/>
              <a:t>D</a:t>
            </a:r>
          </a:p>
        </p:txBody>
      </p:sp>
      <p:grpSp>
        <p:nvGrpSpPr>
          <p:cNvPr id="7" name="组合 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6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</a:p>
          </p:txBody>
        </p:sp>
      </p:grpSp>
      <p:pic>
        <p:nvPicPr>
          <p:cNvPr id="2" name="图片 1" descr="tmp1E7D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571625" y="635000"/>
            <a:ext cx="9401175" cy="297561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What will be the data type returned for the following function?</a:t>
            </a:r>
          </a:p>
          <a:p>
            <a:pPr lv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#include &lt;stdio.h&gt;</a:t>
            </a:r>
          </a:p>
          <a:p>
            <a:pPr lv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int func()</a:t>
            </a:r>
          </a:p>
          <a:p>
            <a:pPr lv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{</a:t>
            </a:r>
          </a:p>
          <a:p>
            <a:pPr lv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return (double)(char)5.0;</a:t>
            </a:r>
          </a:p>
          <a:p>
            <a:pPr lvl="0" algn="l">
              <a:spcBef>
                <a:spcPts val="0"/>
              </a:spcBef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}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3834130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char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441261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int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506158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double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5721350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multiple type-casting in return is illegal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898265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47675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12572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785485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</a:p>
          </p:txBody>
        </p:sp>
      </p:grpSp>
      <p:pic>
        <p:nvPicPr>
          <p:cNvPr id="2" name="图片 1" descr="tmp1E7D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1662112" y="635000"/>
            <a:ext cx="5565140" cy="4401205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What is the output of this C code?    </a:t>
            </a:r>
            <a:endParaRPr lang="en-US" altLang="zh-CN" sz="2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#include &lt;stdio.h&gt;
    void m();
    void n()
    {
        m();
    }
    void main()
    {
        void m()
        {
            printf("hi");
        }
    }</a:t>
            </a: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2392680" y="5113496"/>
            <a:ext cx="473710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hi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25905" y="510159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7051040" y="5124450"/>
            <a:ext cx="3171190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Compile time error</a:t>
            </a: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6184265" y="5112544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3" name="文本框 12"/>
          <p:cNvSpPr txBox="1"/>
          <p:nvPr>
            <p:custDataLst>
              <p:tags r:id="rId7"/>
            </p:custDataLst>
          </p:nvPr>
        </p:nvSpPr>
        <p:spPr>
          <a:xfrm>
            <a:off x="2392680" y="5852160"/>
            <a:ext cx="1490345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Nothing</a:t>
            </a: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25905" y="5840254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15" name="文本框 14"/>
          <p:cNvSpPr txBox="1"/>
          <p:nvPr>
            <p:custDataLst>
              <p:tags r:id="rId9"/>
            </p:custDataLst>
          </p:nvPr>
        </p:nvSpPr>
        <p:spPr>
          <a:xfrm>
            <a:off x="7051040" y="5860891"/>
            <a:ext cx="1116965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Varies</a:t>
            </a: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6184265" y="5848985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</a:p>
        </p:txBody>
      </p:sp>
      <p:sp>
        <p:nvSpPr>
          <p:cNvPr id="17" name="圆角矩形 16"/>
          <p:cNvSpPr/>
          <p:nvPr>
            <p:custDataLst>
              <p:tags r:id="rId11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</a:p>
        </p:txBody>
      </p:sp>
      <p:grpSp>
        <p:nvGrpSpPr>
          <p:cNvPr id="7" name="组合 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</a:p>
          </p:txBody>
        </p:sp>
      </p:grpSp>
      <p:pic>
        <p:nvPicPr>
          <p:cNvPr id="2" name="图片 1" descr="tmp1E7D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变量的作用域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031" y="2486102"/>
            <a:ext cx="3507144" cy="361823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4870" y="2486102"/>
            <a:ext cx="4271963" cy="318702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850031" y="1531756"/>
            <a:ext cx="104919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变量的作用域（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scope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），指能够访问（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access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）该变量的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范围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，可以是全局，可以是函数，可以是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循环，也可以是任意用大括号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{}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括起来的代码块。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482353" y="2823145"/>
            <a:ext cx="281491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main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函数里无法访问到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add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函数里的变量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，但能访问到变量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add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函数里，无法访问到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main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函数里的变量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，但能访问到变量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273825" y="5640632"/>
            <a:ext cx="445186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的作用域是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main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的作用域是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add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  <p:bldP spid="2" grpId="0"/>
      <p:bldP spid="3" grpId="0"/>
      <p:bldP spid="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变量的作用域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26181" y="1583845"/>
            <a:ext cx="104919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根据作用域的范围，变量可以分为三类</a:t>
            </a:r>
          </a:p>
        </p:txBody>
      </p:sp>
      <p:graphicFrame>
        <p:nvGraphicFramePr>
          <p:cNvPr id="5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1415942"/>
              </p:ext>
            </p:extLst>
          </p:nvPr>
        </p:nvGraphicFramePr>
        <p:xfrm>
          <a:off x="2002117" y="2270658"/>
          <a:ext cx="8187766" cy="37268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3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3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922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位置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种类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22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在函数或代码块里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局部变量</a:t>
                      </a:r>
                      <a:endParaRPr lang="en-US" altLang="zh-CN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28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local variables</a:t>
                      </a:r>
                      <a:r>
                        <a:rPr lang="zh-CN" altLang="en-US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22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在所有函数外面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全局变量</a:t>
                      </a:r>
                      <a:endParaRPr lang="en-US" altLang="zh-CN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Global variables</a:t>
                      </a:r>
                      <a:r>
                        <a:rPr lang="zh-CN" altLang="en-US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22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在函数参数列表里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形式参数</a:t>
                      </a:r>
                      <a:endParaRPr lang="en-US" altLang="zh-CN" sz="2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Formal parameters</a:t>
                      </a:r>
                      <a:r>
                        <a:rPr lang="zh-CN" altLang="en-US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566" y="2150508"/>
            <a:ext cx="4019754" cy="4131760"/>
          </a:xfrm>
          <a:prstGeom prst="rect">
            <a:avLst/>
          </a:prstGeom>
        </p:spPr>
      </p:pic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变量的作用域：局部变量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850031" y="1638259"/>
            <a:ext cx="104919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局部变量在函数（块）内声明，仅在该函数（块）内能够访问到。</a:t>
            </a:r>
          </a:p>
        </p:txBody>
      </p:sp>
      <p:sp>
        <p:nvSpPr>
          <p:cNvPr id="4" name="椭圆 3"/>
          <p:cNvSpPr/>
          <p:nvPr/>
        </p:nvSpPr>
        <p:spPr>
          <a:xfrm>
            <a:off x="1002049" y="3103686"/>
            <a:ext cx="3475268" cy="1490218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125915" y="2510024"/>
            <a:ext cx="60837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其实函数和代码块都是由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大括号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{}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包裹起来的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在该大括号内声明的变量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仅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在该大括号内可以访问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5239043" y="4058898"/>
            <a:ext cx="519885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在内部大括号内声明，外部访问不了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但内部大括号可以访问外部大括号的变量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但访问不了同级大括号内的变量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80564" y="2971482"/>
            <a:ext cx="553998" cy="163121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一个代码块</a:t>
            </a:r>
          </a:p>
        </p:txBody>
      </p:sp>
      <p:sp>
        <p:nvSpPr>
          <p:cNvPr id="23" name="椭圆 22"/>
          <p:cNvSpPr/>
          <p:nvPr/>
        </p:nvSpPr>
        <p:spPr>
          <a:xfrm>
            <a:off x="1144603" y="4842524"/>
            <a:ext cx="3743920" cy="1312091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810089" y="6331055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另一个代码块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  <p:bldP spid="2" grpId="0"/>
      <p:bldP spid="4" grpId="0" animBg="1"/>
      <p:bldP spid="9" grpId="0"/>
      <p:bldP spid="11" grpId="0"/>
      <p:bldP spid="15" grpId="0"/>
      <p:bldP spid="23" grpId="0" animBg="1"/>
      <p:bldP spid="1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566" y="2150508"/>
            <a:ext cx="4019754" cy="4131760"/>
          </a:xfrm>
          <a:prstGeom prst="rect">
            <a:avLst/>
          </a:prstGeom>
        </p:spPr>
      </p:pic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变量的作用域：局部变量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850031" y="1638259"/>
            <a:ext cx="104919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局部变量在函数（块）内声明，仅在该函数（块）内能够访问到。</a:t>
            </a:r>
          </a:p>
        </p:txBody>
      </p:sp>
      <p:sp>
        <p:nvSpPr>
          <p:cNvPr id="4" name="椭圆 3"/>
          <p:cNvSpPr/>
          <p:nvPr/>
        </p:nvSpPr>
        <p:spPr>
          <a:xfrm>
            <a:off x="1002049" y="3103686"/>
            <a:ext cx="3475268" cy="1490218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80564" y="2971482"/>
            <a:ext cx="553998" cy="163121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一个代码块</a:t>
            </a:r>
          </a:p>
        </p:txBody>
      </p:sp>
      <p:sp>
        <p:nvSpPr>
          <p:cNvPr id="23" name="椭圆 22"/>
          <p:cNvSpPr/>
          <p:nvPr/>
        </p:nvSpPr>
        <p:spPr>
          <a:xfrm>
            <a:off x="1144603" y="4842524"/>
            <a:ext cx="3743920" cy="1312091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810089" y="6331055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另一个代码块</a:t>
            </a:r>
          </a:p>
        </p:txBody>
      </p:sp>
      <p:sp>
        <p:nvSpPr>
          <p:cNvPr id="3" name="矩形: 圆角 2"/>
          <p:cNvSpPr/>
          <p:nvPr/>
        </p:nvSpPr>
        <p:spPr>
          <a:xfrm>
            <a:off x="7508631" y="2437682"/>
            <a:ext cx="2549769" cy="1151792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函数</a:t>
            </a:r>
            <a:r>
              <a:rPr lang="en-US" altLang="zh-CN" dirty="0"/>
              <a:t>add</a:t>
            </a:r>
          </a:p>
          <a:p>
            <a:pPr algn="ctr"/>
            <a:r>
              <a:rPr lang="zh-CN" altLang="en-US" dirty="0"/>
              <a:t>变量</a:t>
            </a:r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17" name="矩形: 圆角 16"/>
          <p:cNvSpPr/>
          <p:nvPr/>
        </p:nvSpPr>
        <p:spPr>
          <a:xfrm>
            <a:off x="5586875" y="4067631"/>
            <a:ext cx="2549769" cy="1151792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一个代码块</a:t>
            </a:r>
            <a:endParaRPr lang="en-US" altLang="zh-CN" dirty="0"/>
          </a:p>
          <a:p>
            <a:pPr algn="ctr"/>
            <a:r>
              <a:rPr lang="zh-CN" altLang="en-US" dirty="0"/>
              <a:t>变量</a:t>
            </a:r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18" name="矩形: 圆角 17"/>
          <p:cNvSpPr/>
          <p:nvPr/>
        </p:nvSpPr>
        <p:spPr>
          <a:xfrm>
            <a:off x="9352084" y="4067631"/>
            <a:ext cx="2549769" cy="1151792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另一个代码块</a:t>
            </a:r>
            <a:endParaRPr lang="en-US" altLang="zh-CN" dirty="0"/>
          </a:p>
          <a:p>
            <a:pPr algn="ctr"/>
            <a:r>
              <a:rPr lang="zh-CN" altLang="en-US" dirty="0"/>
              <a:t>变量</a:t>
            </a:r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5" name="箭头: 圆角右 4"/>
          <p:cNvSpPr/>
          <p:nvPr/>
        </p:nvSpPr>
        <p:spPr>
          <a:xfrm rot="10800000" flipV="1">
            <a:off x="10251696" y="3091426"/>
            <a:ext cx="750543" cy="852854"/>
          </a:xfrm>
          <a:prstGeom prst="ben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" name="箭头: 圆角右 18"/>
          <p:cNvSpPr/>
          <p:nvPr/>
        </p:nvSpPr>
        <p:spPr>
          <a:xfrm rot="10800000" flipH="1" flipV="1">
            <a:off x="6564793" y="3091426"/>
            <a:ext cx="750543" cy="852854"/>
          </a:xfrm>
          <a:prstGeom prst="ben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196254" y="5498569"/>
            <a:ext cx="685315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在一个域内，可以访问包含其域的块（父亲）内变量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局部变量的生命周期也仅在这个块内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一旦当前执行的代码离开了这个块，在该块的变量就被销毁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变量的作用域：局部变量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850031" y="1525422"/>
            <a:ext cx="104919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稍复杂的例子</a:t>
            </a:r>
          </a:p>
        </p:txBody>
      </p:sp>
      <p:sp>
        <p:nvSpPr>
          <p:cNvPr id="3" name="矩形: 圆角 2"/>
          <p:cNvSpPr/>
          <p:nvPr/>
        </p:nvSpPr>
        <p:spPr>
          <a:xfrm>
            <a:off x="6020530" y="1825816"/>
            <a:ext cx="2031131" cy="876688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函数</a:t>
            </a:r>
            <a:r>
              <a:rPr lang="en-US" altLang="zh-CN" sz="2000" dirty="0"/>
              <a:t>add</a:t>
            </a:r>
          </a:p>
          <a:p>
            <a:pPr algn="ctr"/>
            <a:r>
              <a:rPr lang="zh-CN" altLang="en-US" sz="2000" dirty="0"/>
              <a:t>变量</a:t>
            </a:r>
            <a:r>
              <a:rPr lang="en-US" altLang="zh-CN" sz="2000" dirty="0"/>
              <a:t>a</a:t>
            </a:r>
            <a:endParaRPr lang="zh-CN" altLang="en-US" sz="2000" dirty="0"/>
          </a:p>
        </p:txBody>
      </p:sp>
      <p:sp>
        <p:nvSpPr>
          <p:cNvPr id="17" name="矩形: 圆角 16"/>
          <p:cNvSpPr/>
          <p:nvPr/>
        </p:nvSpPr>
        <p:spPr>
          <a:xfrm>
            <a:off x="4321520" y="3244958"/>
            <a:ext cx="2031131" cy="876688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If then </a:t>
            </a:r>
            <a:r>
              <a:rPr lang="zh-CN" altLang="en-US" sz="2000" dirty="0"/>
              <a:t>代码块</a:t>
            </a:r>
            <a:endParaRPr lang="en-US" altLang="zh-CN" sz="2000" dirty="0"/>
          </a:p>
          <a:p>
            <a:pPr algn="ctr"/>
            <a:r>
              <a:rPr lang="zh-CN" altLang="en-US" sz="2000" dirty="0"/>
              <a:t>变量</a:t>
            </a:r>
            <a:r>
              <a:rPr lang="en-US" altLang="zh-CN" sz="2000" dirty="0"/>
              <a:t>b</a:t>
            </a:r>
            <a:endParaRPr lang="zh-CN" altLang="en-US" sz="2000" dirty="0"/>
          </a:p>
        </p:txBody>
      </p:sp>
      <p:sp>
        <p:nvSpPr>
          <p:cNvPr id="18" name="矩形: 圆角 17"/>
          <p:cNvSpPr/>
          <p:nvPr/>
        </p:nvSpPr>
        <p:spPr>
          <a:xfrm>
            <a:off x="7779099" y="3244958"/>
            <a:ext cx="2031131" cy="876688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If else </a:t>
            </a:r>
            <a:r>
              <a:rPr lang="zh-CN" altLang="en-US" sz="2000" dirty="0"/>
              <a:t>代码块</a:t>
            </a:r>
            <a:endParaRPr lang="en-US" altLang="zh-CN" sz="2000" dirty="0"/>
          </a:p>
          <a:p>
            <a:pPr algn="ctr"/>
            <a:r>
              <a:rPr lang="zh-CN" altLang="en-US" sz="2000" dirty="0"/>
              <a:t>变量</a:t>
            </a:r>
            <a:r>
              <a:rPr lang="en-US" altLang="zh-CN" sz="2000" dirty="0"/>
              <a:t>c</a:t>
            </a:r>
            <a:endParaRPr lang="zh-CN" altLang="en-US" sz="2000" dirty="0"/>
          </a:p>
        </p:txBody>
      </p:sp>
      <p:sp>
        <p:nvSpPr>
          <p:cNvPr id="20" name="矩形: 圆角 19"/>
          <p:cNvSpPr/>
          <p:nvPr/>
        </p:nvSpPr>
        <p:spPr>
          <a:xfrm>
            <a:off x="7779099" y="4682814"/>
            <a:ext cx="2031131" cy="876688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一个代码块</a:t>
            </a:r>
            <a:r>
              <a:rPr lang="en-US" altLang="zh-CN" sz="2000" dirty="0"/>
              <a:t>X</a:t>
            </a:r>
          </a:p>
          <a:p>
            <a:pPr algn="ctr"/>
            <a:r>
              <a:rPr lang="zh-CN" altLang="en-US" sz="2000" dirty="0"/>
              <a:t>变量</a:t>
            </a:r>
            <a:r>
              <a:rPr lang="en-US" altLang="zh-CN" sz="2000" dirty="0"/>
              <a:t>d</a:t>
            </a:r>
            <a:endParaRPr lang="zh-CN" altLang="en-US" sz="2000" dirty="0"/>
          </a:p>
        </p:txBody>
      </p:sp>
      <p:sp>
        <p:nvSpPr>
          <p:cNvPr id="24" name="矩形: 圆角 23"/>
          <p:cNvSpPr/>
          <p:nvPr/>
        </p:nvSpPr>
        <p:spPr>
          <a:xfrm>
            <a:off x="10068030" y="3225120"/>
            <a:ext cx="2031131" cy="876688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另一个代码块</a:t>
            </a:r>
            <a:r>
              <a:rPr lang="en-US" altLang="zh-CN" sz="2000" dirty="0"/>
              <a:t>Y</a:t>
            </a:r>
          </a:p>
          <a:p>
            <a:pPr algn="ctr"/>
            <a:r>
              <a:rPr lang="zh-CN" altLang="en-US" sz="2000" dirty="0"/>
              <a:t>变量</a:t>
            </a:r>
            <a:r>
              <a:rPr lang="en-US" altLang="zh-CN" sz="2000" dirty="0"/>
              <a:t>t</a:t>
            </a:r>
            <a:endParaRPr lang="zh-CN" altLang="en-US" sz="200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221" y="1991633"/>
            <a:ext cx="3245366" cy="4637767"/>
          </a:xfrm>
          <a:prstGeom prst="rect">
            <a:avLst/>
          </a:prstGeom>
        </p:spPr>
      </p:pic>
      <p:cxnSp>
        <p:nvCxnSpPr>
          <p:cNvPr id="11" name="直接箭头连接符 10"/>
          <p:cNvCxnSpPr>
            <a:stCxn id="17" idx="0"/>
            <a:endCxn id="3" idx="1"/>
          </p:cNvCxnSpPr>
          <p:nvPr/>
        </p:nvCxnSpPr>
        <p:spPr>
          <a:xfrm flipV="1">
            <a:off x="5337086" y="2264160"/>
            <a:ext cx="683444" cy="9807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18" idx="0"/>
            <a:endCxn id="3" idx="3"/>
          </p:cNvCxnSpPr>
          <p:nvPr/>
        </p:nvCxnSpPr>
        <p:spPr>
          <a:xfrm flipH="1" flipV="1">
            <a:off x="8051661" y="2264160"/>
            <a:ext cx="743004" cy="9807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20" idx="0"/>
            <a:endCxn id="18" idx="2"/>
          </p:cNvCxnSpPr>
          <p:nvPr/>
        </p:nvCxnSpPr>
        <p:spPr>
          <a:xfrm flipV="1">
            <a:off x="8794665" y="4121646"/>
            <a:ext cx="0" cy="5611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24" idx="0"/>
            <a:endCxn id="3" idx="3"/>
          </p:cNvCxnSpPr>
          <p:nvPr/>
        </p:nvCxnSpPr>
        <p:spPr>
          <a:xfrm flipH="1" flipV="1">
            <a:off x="8051661" y="2264160"/>
            <a:ext cx="3031935" cy="9609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3964475" y="4682814"/>
            <a:ext cx="381773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在代码块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内可以访问到变量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，但访问不到变量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，变量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变量的作用域：局部变量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850031" y="1525422"/>
            <a:ext cx="104919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稍复杂的例子</a:t>
            </a:r>
          </a:p>
        </p:txBody>
      </p:sp>
      <p:sp>
        <p:nvSpPr>
          <p:cNvPr id="3" name="矩形: 圆角 2"/>
          <p:cNvSpPr/>
          <p:nvPr/>
        </p:nvSpPr>
        <p:spPr>
          <a:xfrm>
            <a:off x="6020530" y="1825816"/>
            <a:ext cx="2031131" cy="876688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函数</a:t>
            </a:r>
            <a:r>
              <a:rPr lang="en-US" altLang="zh-CN" sz="2000" dirty="0"/>
              <a:t>add</a:t>
            </a:r>
          </a:p>
          <a:p>
            <a:pPr algn="ctr"/>
            <a:r>
              <a:rPr lang="zh-CN" altLang="en-US" sz="2000" dirty="0"/>
              <a:t>变量</a:t>
            </a:r>
            <a:r>
              <a:rPr lang="en-US" altLang="zh-CN" sz="2000" dirty="0"/>
              <a:t>a</a:t>
            </a:r>
            <a:endParaRPr lang="zh-CN" altLang="en-US" sz="2000" dirty="0"/>
          </a:p>
        </p:txBody>
      </p:sp>
      <p:sp>
        <p:nvSpPr>
          <p:cNvPr id="17" name="矩形: 圆角 16"/>
          <p:cNvSpPr/>
          <p:nvPr/>
        </p:nvSpPr>
        <p:spPr>
          <a:xfrm>
            <a:off x="4321520" y="3244958"/>
            <a:ext cx="2031131" cy="876688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If then </a:t>
            </a:r>
            <a:r>
              <a:rPr lang="zh-CN" altLang="en-US" sz="2000" dirty="0"/>
              <a:t>代码块</a:t>
            </a:r>
            <a:endParaRPr lang="en-US" altLang="zh-CN" sz="2000" dirty="0"/>
          </a:p>
          <a:p>
            <a:pPr algn="ctr"/>
            <a:r>
              <a:rPr lang="zh-CN" altLang="en-US" sz="2000" dirty="0"/>
              <a:t>变量</a:t>
            </a:r>
            <a:r>
              <a:rPr lang="en-US" altLang="zh-CN" sz="2000" dirty="0"/>
              <a:t>b</a:t>
            </a:r>
            <a:endParaRPr lang="zh-CN" altLang="en-US" sz="2000" dirty="0"/>
          </a:p>
        </p:txBody>
      </p:sp>
      <p:sp>
        <p:nvSpPr>
          <p:cNvPr id="18" name="矩形: 圆角 17"/>
          <p:cNvSpPr/>
          <p:nvPr/>
        </p:nvSpPr>
        <p:spPr>
          <a:xfrm>
            <a:off x="7779099" y="3244958"/>
            <a:ext cx="2031131" cy="876688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If else </a:t>
            </a:r>
            <a:r>
              <a:rPr lang="zh-CN" altLang="en-US" sz="2000" dirty="0"/>
              <a:t>代码块</a:t>
            </a:r>
            <a:endParaRPr lang="en-US" altLang="zh-CN" sz="2000" dirty="0"/>
          </a:p>
          <a:p>
            <a:pPr algn="ctr"/>
            <a:r>
              <a:rPr lang="zh-CN" altLang="en-US" sz="2000" dirty="0"/>
              <a:t>变量</a:t>
            </a:r>
            <a:r>
              <a:rPr lang="en-US" altLang="zh-CN" sz="2000" dirty="0"/>
              <a:t>c</a:t>
            </a:r>
            <a:endParaRPr lang="zh-CN" altLang="en-US" sz="2000" dirty="0"/>
          </a:p>
        </p:txBody>
      </p:sp>
      <p:sp>
        <p:nvSpPr>
          <p:cNvPr id="20" name="矩形: 圆角 19"/>
          <p:cNvSpPr/>
          <p:nvPr/>
        </p:nvSpPr>
        <p:spPr>
          <a:xfrm>
            <a:off x="7779099" y="4682814"/>
            <a:ext cx="2031131" cy="876688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一个代码块</a:t>
            </a:r>
            <a:r>
              <a:rPr lang="en-US" altLang="zh-CN" sz="2000" dirty="0"/>
              <a:t>X</a:t>
            </a:r>
          </a:p>
          <a:p>
            <a:pPr algn="ctr"/>
            <a:r>
              <a:rPr lang="zh-CN" altLang="en-US" sz="2000" dirty="0"/>
              <a:t>变量</a:t>
            </a:r>
            <a:r>
              <a:rPr lang="en-US" altLang="zh-CN" sz="2000" dirty="0"/>
              <a:t>d</a:t>
            </a:r>
            <a:endParaRPr lang="zh-CN" altLang="en-US" sz="2000" dirty="0"/>
          </a:p>
        </p:txBody>
      </p:sp>
      <p:sp>
        <p:nvSpPr>
          <p:cNvPr id="24" name="矩形: 圆角 23"/>
          <p:cNvSpPr/>
          <p:nvPr/>
        </p:nvSpPr>
        <p:spPr>
          <a:xfrm>
            <a:off x="10068030" y="3225120"/>
            <a:ext cx="2031131" cy="876688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另一个代码块</a:t>
            </a:r>
            <a:r>
              <a:rPr lang="en-US" altLang="zh-CN" sz="2000" dirty="0"/>
              <a:t>Y</a:t>
            </a:r>
          </a:p>
          <a:p>
            <a:pPr algn="ctr"/>
            <a:r>
              <a:rPr lang="zh-CN" altLang="en-US" sz="2000" dirty="0"/>
              <a:t>变量</a:t>
            </a:r>
            <a:r>
              <a:rPr lang="en-US" altLang="zh-CN" sz="2000" dirty="0"/>
              <a:t>t</a:t>
            </a:r>
            <a:endParaRPr lang="zh-CN" altLang="en-US" sz="200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221" y="1991633"/>
            <a:ext cx="3245366" cy="4637767"/>
          </a:xfrm>
          <a:prstGeom prst="rect">
            <a:avLst/>
          </a:prstGeom>
        </p:spPr>
      </p:pic>
      <p:cxnSp>
        <p:nvCxnSpPr>
          <p:cNvPr id="11" name="直接箭头连接符 10"/>
          <p:cNvCxnSpPr>
            <a:stCxn id="17" idx="0"/>
            <a:endCxn id="3" idx="1"/>
          </p:cNvCxnSpPr>
          <p:nvPr/>
        </p:nvCxnSpPr>
        <p:spPr>
          <a:xfrm flipV="1">
            <a:off x="5337086" y="2264160"/>
            <a:ext cx="683444" cy="9807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18" idx="0"/>
            <a:endCxn id="3" idx="3"/>
          </p:cNvCxnSpPr>
          <p:nvPr/>
        </p:nvCxnSpPr>
        <p:spPr>
          <a:xfrm flipH="1" flipV="1">
            <a:off x="8051661" y="2264160"/>
            <a:ext cx="743004" cy="9807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20" idx="0"/>
            <a:endCxn id="18" idx="2"/>
          </p:cNvCxnSpPr>
          <p:nvPr/>
        </p:nvCxnSpPr>
        <p:spPr>
          <a:xfrm flipV="1">
            <a:off x="8794665" y="4121646"/>
            <a:ext cx="0" cy="5611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24" idx="0"/>
            <a:endCxn id="3" idx="3"/>
          </p:cNvCxnSpPr>
          <p:nvPr/>
        </p:nvCxnSpPr>
        <p:spPr>
          <a:xfrm flipH="1" flipV="1">
            <a:off x="8051661" y="2264160"/>
            <a:ext cx="3031935" cy="9609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3964474" y="4682814"/>
            <a:ext cx="458164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局部变量不会自动初始化</a:t>
            </a:r>
            <a:endParaRPr lang="en-US" altLang="zh-CN" sz="20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必须手动初始化</a:t>
            </a:r>
            <a:endParaRPr lang="en-US" altLang="zh-CN" sz="20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局部变量的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生命周期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仅在所在块内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代码执行离开了该块，其变量均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被销毁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变量的作用域：局部变量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850031" y="1525422"/>
            <a:ext cx="104919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稍复杂的例子</a:t>
            </a:r>
          </a:p>
        </p:txBody>
      </p:sp>
      <p:sp>
        <p:nvSpPr>
          <p:cNvPr id="3" name="矩形: 圆角 2"/>
          <p:cNvSpPr/>
          <p:nvPr/>
        </p:nvSpPr>
        <p:spPr>
          <a:xfrm>
            <a:off x="6020530" y="1825816"/>
            <a:ext cx="2031131" cy="876688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函数</a:t>
            </a:r>
            <a:r>
              <a:rPr lang="en-US" altLang="zh-CN" sz="2000" dirty="0"/>
              <a:t>add</a:t>
            </a:r>
          </a:p>
          <a:p>
            <a:pPr algn="ctr"/>
            <a:r>
              <a:rPr lang="zh-CN" altLang="en-US" sz="2000" dirty="0"/>
              <a:t>变量</a:t>
            </a:r>
            <a:r>
              <a:rPr lang="en-US" altLang="zh-CN" sz="2000" dirty="0"/>
              <a:t>a</a:t>
            </a:r>
            <a:endParaRPr lang="zh-CN" altLang="en-US" sz="2000" dirty="0"/>
          </a:p>
        </p:txBody>
      </p:sp>
      <p:sp>
        <p:nvSpPr>
          <p:cNvPr id="17" name="矩形: 圆角 16"/>
          <p:cNvSpPr/>
          <p:nvPr/>
        </p:nvSpPr>
        <p:spPr>
          <a:xfrm>
            <a:off x="4321520" y="3244958"/>
            <a:ext cx="2031131" cy="876688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If then </a:t>
            </a:r>
            <a:r>
              <a:rPr lang="zh-CN" altLang="en-US" sz="2000" dirty="0"/>
              <a:t>代码块</a:t>
            </a:r>
            <a:endParaRPr lang="en-US" altLang="zh-CN" sz="2000" dirty="0"/>
          </a:p>
          <a:p>
            <a:pPr algn="ctr"/>
            <a:r>
              <a:rPr lang="zh-CN" altLang="en-US" sz="2000" dirty="0"/>
              <a:t>变量</a:t>
            </a:r>
            <a:r>
              <a:rPr lang="en-US" altLang="zh-CN" sz="2000" dirty="0"/>
              <a:t>b</a:t>
            </a:r>
            <a:endParaRPr lang="zh-CN" altLang="en-US" sz="2000" dirty="0"/>
          </a:p>
        </p:txBody>
      </p:sp>
      <p:sp>
        <p:nvSpPr>
          <p:cNvPr id="18" name="矩形: 圆角 17"/>
          <p:cNvSpPr/>
          <p:nvPr/>
        </p:nvSpPr>
        <p:spPr>
          <a:xfrm>
            <a:off x="7779099" y="3244958"/>
            <a:ext cx="2031131" cy="876688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If else </a:t>
            </a:r>
            <a:r>
              <a:rPr lang="zh-CN" altLang="en-US" sz="2000" dirty="0"/>
              <a:t>代码块</a:t>
            </a:r>
            <a:endParaRPr lang="en-US" altLang="zh-CN" sz="2000" dirty="0"/>
          </a:p>
          <a:p>
            <a:pPr algn="ctr"/>
            <a:r>
              <a:rPr lang="zh-CN" altLang="en-US" sz="2000" dirty="0"/>
              <a:t>变量</a:t>
            </a:r>
            <a:r>
              <a:rPr lang="en-US" altLang="zh-CN" sz="2000" dirty="0"/>
              <a:t>c</a:t>
            </a:r>
            <a:endParaRPr lang="zh-CN" altLang="en-US" sz="2000" dirty="0"/>
          </a:p>
        </p:txBody>
      </p:sp>
      <p:sp>
        <p:nvSpPr>
          <p:cNvPr id="20" name="矩形: 圆角 19"/>
          <p:cNvSpPr/>
          <p:nvPr/>
        </p:nvSpPr>
        <p:spPr>
          <a:xfrm>
            <a:off x="7779099" y="4682814"/>
            <a:ext cx="2031131" cy="876688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一个代码块</a:t>
            </a:r>
            <a:r>
              <a:rPr lang="en-US" altLang="zh-CN" sz="2000" dirty="0"/>
              <a:t>X</a:t>
            </a:r>
          </a:p>
          <a:p>
            <a:pPr algn="ctr"/>
            <a:r>
              <a:rPr lang="zh-CN" altLang="en-US" sz="2000" dirty="0"/>
              <a:t>变量</a:t>
            </a:r>
            <a:r>
              <a:rPr lang="en-US" altLang="zh-CN" sz="2000" dirty="0"/>
              <a:t>d</a:t>
            </a:r>
            <a:endParaRPr lang="zh-CN" altLang="en-US" sz="2000" dirty="0"/>
          </a:p>
        </p:txBody>
      </p:sp>
      <p:sp>
        <p:nvSpPr>
          <p:cNvPr id="24" name="矩形: 圆角 23"/>
          <p:cNvSpPr/>
          <p:nvPr/>
        </p:nvSpPr>
        <p:spPr>
          <a:xfrm>
            <a:off x="10068030" y="3225120"/>
            <a:ext cx="2031131" cy="876688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另一个代码块</a:t>
            </a:r>
            <a:r>
              <a:rPr lang="en-US" altLang="zh-CN" sz="2000" dirty="0"/>
              <a:t>Y</a:t>
            </a:r>
          </a:p>
          <a:p>
            <a:pPr algn="ctr"/>
            <a:r>
              <a:rPr lang="zh-CN" altLang="en-US" sz="2000" dirty="0"/>
              <a:t>变量</a:t>
            </a:r>
            <a:r>
              <a:rPr lang="en-US" altLang="zh-CN" sz="2000" dirty="0"/>
              <a:t>t</a:t>
            </a:r>
            <a:endParaRPr lang="zh-CN" altLang="en-US" sz="2000" dirty="0"/>
          </a:p>
        </p:txBody>
      </p:sp>
      <p:cxnSp>
        <p:nvCxnSpPr>
          <p:cNvPr id="11" name="直接箭头连接符 10"/>
          <p:cNvCxnSpPr>
            <a:stCxn id="17" idx="0"/>
            <a:endCxn id="3" idx="1"/>
          </p:cNvCxnSpPr>
          <p:nvPr/>
        </p:nvCxnSpPr>
        <p:spPr>
          <a:xfrm flipV="1">
            <a:off x="5337086" y="2264160"/>
            <a:ext cx="683444" cy="9807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18" idx="0"/>
            <a:endCxn id="3" idx="3"/>
          </p:cNvCxnSpPr>
          <p:nvPr/>
        </p:nvCxnSpPr>
        <p:spPr>
          <a:xfrm flipH="1" flipV="1">
            <a:off x="8051661" y="2264160"/>
            <a:ext cx="743004" cy="9807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20" idx="0"/>
            <a:endCxn id="18" idx="2"/>
          </p:cNvCxnSpPr>
          <p:nvPr/>
        </p:nvCxnSpPr>
        <p:spPr>
          <a:xfrm flipV="1">
            <a:off x="8794665" y="4121646"/>
            <a:ext cx="0" cy="5611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24" idx="0"/>
            <a:endCxn id="3" idx="3"/>
          </p:cNvCxnSpPr>
          <p:nvPr/>
        </p:nvCxnSpPr>
        <p:spPr>
          <a:xfrm flipH="1" flipV="1">
            <a:off x="8051661" y="2264160"/>
            <a:ext cx="3031935" cy="9609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箭头: 右 3"/>
          <p:cNvSpPr/>
          <p:nvPr/>
        </p:nvSpPr>
        <p:spPr>
          <a:xfrm flipH="1">
            <a:off x="3438580" y="2512723"/>
            <a:ext cx="1142997" cy="316523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946625" y="2190907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当前执行的代码</a:t>
            </a:r>
          </a:p>
        </p:txBody>
      </p:sp>
      <p:sp>
        <p:nvSpPr>
          <p:cNvPr id="21" name="箭头: 右 20"/>
          <p:cNvSpPr/>
          <p:nvPr/>
        </p:nvSpPr>
        <p:spPr>
          <a:xfrm rot="10800000" flipH="1">
            <a:off x="5170499" y="1898042"/>
            <a:ext cx="738084" cy="316523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3967587" y="4963420"/>
            <a:ext cx="33057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创建，初始化为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250" y="2030520"/>
            <a:ext cx="2803538" cy="45042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250" y="2030520"/>
            <a:ext cx="2803538" cy="4504214"/>
          </a:xfrm>
          <a:prstGeom prst="rect">
            <a:avLst/>
          </a:prstGeom>
        </p:spPr>
      </p:pic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变量的作用域：局部变量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850031" y="1525422"/>
            <a:ext cx="104919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稍复杂的例子</a:t>
            </a:r>
          </a:p>
        </p:txBody>
      </p:sp>
      <p:sp>
        <p:nvSpPr>
          <p:cNvPr id="3" name="矩形: 圆角 2"/>
          <p:cNvSpPr/>
          <p:nvPr/>
        </p:nvSpPr>
        <p:spPr>
          <a:xfrm>
            <a:off x="6020530" y="1825816"/>
            <a:ext cx="2031131" cy="876688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函数</a:t>
            </a:r>
            <a:r>
              <a:rPr lang="en-US" altLang="zh-CN" sz="2000" dirty="0"/>
              <a:t>add</a:t>
            </a:r>
          </a:p>
          <a:p>
            <a:pPr algn="ctr"/>
            <a:r>
              <a:rPr lang="zh-CN" altLang="en-US" sz="2000" dirty="0"/>
              <a:t>变量</a:t>
            </a:r>
            <a:r>
              <a:rPr lang="en-US" altLang="zh-CN" sz="2000" dirty="0"/>
              <a:t>a</a:t>
            </a:r>
            <a:endParaRPr lang="zh-CN" altLang="en-US" sz="2000" dirty="0"/>
          </a:p>
        </p:txBody>
      </p:sp>
      <p:sp>
        <p:nvSpPr>
          <p:cNvPr id="17" name="矩形: 圆角 16"/>
          <p:cNvSpPr/>
          <p:nvPr/>
        </p:nvSpPr>
        <p:spPr>
          <a:xfrm>
            <a:off x="4321520" y="3244958"/>
            <a:ext cx="2031131" cy="876688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If then </a:t>
            </a:r>
            <a:r>
              <a:rPr lang="zh-CN" altLang="en-US" sz="2000" dirty="0"/>
              <a:t>代码块</a:t>
            </a:r>
            <a:endParaRPr lang="en-US" altLang="zh-CN" sz="2000" dirty="0"/>
          </a:p>
          <a:p>
            <a:pPr algn="ctr"/>
            <a:r>
              <a:rPr lang="zh-CN" altLang="en-US" sz="2000" dirty="0"/>
              <a:t>变量</a:t>
            </a:r>
            <a:r>
              <a:rPr lang="en-US" altLang="zh-CN" sz="2000" dirty="0"/>
              <a:t>b</a:t>
            </a:r>
            <a:endParaRPr lang="zh-CN" altLang="en-US" sz="2000" dirty="0"/>
          </a:p>
        </p:txBody>
      </p:sp>
      <p:sp>
        <p:nvSpPr>
          <p:cNvPr id="18" name="矩形: 圆角 17"/>
          <p:cNvSpPr/>
          <p:nvPr/>
        </p:nvSpPr>
        <p:spPr>
          <a:xfrm>
            <a:off x="7779099" y="3244958"/>
            <a:ext cx="2031131" cy="876688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If else </a:t>
            </a:r>
            <a:r>
              <a:rPr lang="zh-CN" altLang="en-US" sz="2000" dirty="0"/>
              <a:t>代码块</a:t>
            </a:r>
            <a:endParaRPr lang="en-US" altLang="zh-CN" sz="2000" dirty="0"/>
          </a:p>
          <a:p>
            <a:pPr algn="ctr"/>
            <a:r>
              <a:rPr lang="zh-CN" altLang="en-US" sz="2000" dirty="0"/>
              <a:t>变量</a:t>
            </a:r>
            <a:r>
              <a:rPr lang="en-US" altLang="zh-CN" sz="2000" dirty="0"/>
              <a:t>c</a:t>
            </a:r>
            <a:endParaRPr lang="zh-CN" altLang="en-US" sz="2000" dirty="0"/>
          </a:p>
        </p:txBody>
      </p:sp>
      <p:sp>
        <p:nvSpPr>
          <p:cNvPr id="20" name="矩形: 圆角 19"/>
          <p:cNvSpPr/>
          <p:nvPr/>
        </p:nvSpPr>
        <p:spPr>
          <a:xfrm>
            <a:off x="7779099" y="4682814"/>
            <a:ext cx="2031131" cy="876688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一个代码块</a:t>
            </a:r>
            <a:r>
              <a:rPr lang="en-US" altLang="zh-CN" sz="2000" dirty="0"/>
              <a:t>X</a:t>
            </a:r>
          </a:p>
          <a:p>
            <a:pPr algn="ctr"/>
            <a:r>
              <a:rPr lang="zh-CN" altLang="en-US" sz="2000" dirty="0"/>
              <a:t>变量</a:t>
            </a:r>
            <a:r>
              <a:rPr lang="en-US" altLang="zh-CN" sz="2000" dirty="0"/>
              <a:t>d</a:t>
            </a:r>
            <a:endParaRPr lang="zh-CN" altLang="en-US" sz="2000" dirty="0"/>
          </a:p>
        </p:txBody>
      </p:sp>
      <p:sp>
        <p:nvSpPr>
          <p:cNvPr id="24" name="矩形: 圆角 23"/>
          <p:cNvSpPr/>
          <p:nvPr/>
        </p:nvSpPr>
        <p:spPr>
          <a:xfrm>
            <a:off x="10068030" y="3225120"/>
            <a:ext cx="2031131" cy="876688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另一个代码块</a:t>
            </a:r>
            <a:r>
              <a:rPr lang="en-US" altLang="zh-CN" sz="2000" dirty="0"/>
              <a:t>Y</a:t>
            </a:r>
          </a:p>
          <a:p>
            <a:pPr algn="ctr"/>
            <a:r>
              <a:rPr lang="zh-CN" altLang="en-US" sz="2000" dirty="0"/>
              <a:t>变量</a:t>
            </a:r>
            <a:r>
              <a:rPr lang="en-US" altLang="zh-CN" sz="2000" dirty="0"/>
              <a:t>t</a:t>
            </a:r>
            <a:endParaRPr lang="zh-CN" altLang="en-US" sz="2000" dirty="0"/>
          </a:p>
        </p:txBody>
      </p:sp>
      <p:cxnSp>
        <p:nvCxnSpPr>
          <p:cNvPr id="11" name="直接箭头连接符 10"/>
          <p:cNvCxnSpPr>
            <a:stCxn id="17" idx="0"/>
            <a:endCxn id="3" idx="1"/>
          </p:cNvCxnSpPr>
          <p:nvPr/>
        </p:nvCxnSpPr>
        <p:spPr>
          <a:xfrm flipV="1">
            <a:off x="5337086" y="2264160"/>
            <a:ext cx="683444" cy="9807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18" idx="0"/>
            <a:endCxn id="3" idx="3"/>
          </p:cNvCxnSpPr>
          <p:nvPr/>
        </p:nvCxnSpPr>
        <p:spPr>
          <a:xfrm flipH="1" flipV="1">
            <a:off x="8051661" y="2264160"/>
            <a:ext cx="743004" cy="9807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20" idx="0"/>
            <a:endCxn id="18" idx="2"/>
          </p:cNvCxnSpPr>
          <p:nvPr/>
        </p:nvCxnSpPr>
        <p:spPr>
          <a:xfrm flipV="1">
            <a:off x="8794665" y="4121646"/>
            <a:ext cx="0" cy="5611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24" idx="0"/>
            <a:endCxn id="3" idx="3"/>
          </p:cNvCxnSpPr>
          <p:nvPr/>
        </p:nvCxnSpPr>
        <p:spPr>
          <a:xfrm flipH="1" flipV="1">
            <a:off x="8051661" y="2264160"/>
            <a:ext cx="3031935" cy="9609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箭头: 右 3"/>
          <p:cNvSpPr/>
          <p:nvPr/>
        </p:nvSpPr>
        <p:spPr>
          <a:xfrm flipH="1">
            <a:off x="3256482" y="3429000"/>
            <a:ext cx="807238" cy="316523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929057" y="2829016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当前执行的代码</a:t>
            </a:r>
          </a:p>
        </p:txBody>
      </p:sp>
      <p:sp>
        <p:nvSpPr>
          <p:cNvPr id="21" name="箭头: 右 20"/>
          <p:cNvSpPr/>
          <p:nvPr/>
        </p:nvSpPr>
        <p:spPr>
          <a:xfrm rot="11381321" flipH="1">
            <a:off x="6016423" y="2993809"/>
            <a:ext cx="1414005" cy="316523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967587" y="4963420"/>
            <a:ext cx="341632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创建，并未初始化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其值不确定。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注意，变量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不会销毁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因为此时还在函数块内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变量的作用域：局部变量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850031" y="1525422"/>
            <a:ext cx="104919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稍复杂的例子</a:t>
            </a:r>
          </a:p>
        </p:txBody>
      </p:sp>
      <p:sp>
        <p:nvSpPr>
          <p:cNvPr id="3" name="矩形: 圆角 2"/>
          <p:cNvSpPr/>
          <p:nvPr/>
        </p:nvSpPr>
        <p:spPr>
          <a:xfrm>
            <a:off x="6020530" y="1825816"/>
            <a:ext cx="2031131" cy="876688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函数</a:t>
            </a:r>
            <a:r>
              <a:rPr lang="en-US" altLang="zh-CN" sz="2000" dirty="0"/>
              <a:t>add</a:t>
            </a:r>
          </a:p>
          <a:p>
            <a:pPr algn="ctr"/>
            <a:r>
              <a:rPr lang="zh-CN" altLang="en-US" sz="2000" dirty="0"/>
              <a:t>变量</a:t>
            </a:r>
            <a:r>
              <a:rPr lang="en-US" altLang="zh-CN" sz="2000" dirty="0"/>
              <a:t>a</a:t>
            </a:r>
            <a:endParaRPr lang="zh-CN" altLang="en-US" sz="2000" dirty="0"/>
          </a:p>
        </p:txBody>
      </p:sp>
      <p:sp>
        <p:nvSpPr>
          <p:cNvPr id="17" name="矩形: 圆角 16"/>
          <p:cNvSpPr/>
          <p:nvPr/>
        </p:nvSpPr>
        <p:spPr>
          <a:xfrm>
            <a:off x="4321520" y="3244958"/>
            <a:ext cx="2031131" cy="876688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If then </a:t>
            </a:r>
            <a:r>
              <a:rPr lang="zh-CN" altLang="en-US" sz="2000" dirty="0"/>
              <a:t>代码块</a:t>
            </a:r>
            <a:endParaRPr lang="en-US" altLang="zh-CN" sz="2000" dirty="0"/>
          </a:p>
          <a:p>
            <a:pPr algn="ctr"/>
            <a:r>
              <a:rPr lang="zh-CN" altLang="en-US" sz="2000" dirty="0"/>
              <a:t>变量</a:t>
            </a:r>
            <a:r>
              <a:rPr lang="en-US" altLang="zh-CN" sz="2000" dirty="0"/>
              <a:t>b</a:t>
            </a:r>
            <a:endParaRPr lang="zh-CN" altLang="en-US" sz="2000" dirty="0"/>
          </a:p>
        </p:txBody>
      </p:sp>
      <p:sp>
        <p:nvSpPr>
          <p:cNvPr id="18" name="矩形: 圆角 17"/>
          <p:cNvSpPr/>
          <p:nvPr/>
        </p:nvSpPr>
        <p:spPr>
          <a:xfrm>
            <a:off x="7779099" y="3244958"/>
            <a:ext cx="2031131" cy="876688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If else </a:t>
            </a:r>
            <a:r>
              <a:rPr lang="zh-CN" altLang="en-US" sz="2000" dirty="0"/>
              <a:t>代码块</a:t>
            </a:r>
            <a:endParaRPr lang="en-US" altLang="zh-CN" sz="2000" dirty="0"/>
          </a:p>
          <a:p>
            <a:pPr algn="ctr"/>
            <a:r>
              <a:rPr lang="zh-CN" altLang="en-US" sz="2000" dirty="0"/>
              <a:t>变量</a:t>
            </a:r>
            <a:r>
              <a:rPr lang="en-US" altLang="zh-CN" sz="2000" dirty="0"/>
              <a:t>c</a:t>
            </a:r>
            <a:endParaRPr lang="zh-CN" altLang="en-US" sz="2000" dirty="0"/>
          </a:p>
        </p:txBody>
      </p:sp>
      <p:sp>
        <p:nvSpPr>
          <p:cNvPr id="20" name="矩形: 圆角 19"/>
          <p:cNvSpPr/>
          <p:nvPr/>
        </p:nvSpPr>
        <p:spPr>
          <a:xfrm>
            <a:off x="7779099" y="4682814"/>
            <a:ext cx="2031131" cy="876688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一个代码块</a:t>
            </a:r>
            <a:r>
              <a:rPr lang="en-US" altLang="zh-CN" sz="2000" dirty="0"/>
              <a:t>X</a:t>
            </a:r>
          </a:p>
          <a:p>
            <a:pPr algn="ctr"/>
            <a:r>
              <a:rPr lang="zh-CN" altLang="en-US" sz="2000" dirty="0"/>
              <a:t>变量</a:t>
            </a:r>
            <a:r>
              <a:rPr lang="en-US" altLang="zh-CN" sz="2000" dirty="0"/>
              <a:t>d</a:t>
            </a:r>
            <a:endParaRPr lang="zh-CN" altLang="en-US" sz="2000" dirty="0"/>
          </a:p>
        </p:txBody>
      </p:sp>
      <p:sp>
        <p:nvSpPr>
          <p:cNvPr id="24" name="矩形: 圆角 23"/>
          <p:cNvSpPr/>
          <p:nvPr/>
        </p:nvSpPr>
        <p:spPr>
          <a:xfrm>
            <a:off x="10068030" y="3225120"/>
            <a:ext cx="2031131" cy="876688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另一个代码块</a:t>
            </a:r>
            <a:r>
              <a:rPr lang="en-US" altLang="zh-CN" sz="2000" dirty="0"/>
              <a:t>Y</a:t>
            </a:r>
          </a:p>
          <a:p>
            <a:pPr algn="ctr"/>
            <a:r>
              <a:rPr lang="zh-CN" altLang="en-US" sz="2000" dirty="0"/>
              <a:t>变量</a:t>
            </a:r>
            <a:r>
              <a:rPr lang="en-US" altLang="zh-CN" sz="2000" dirty="0"/>
              <a:t>t</a:t>
            </a:r>
            <a:endParaRPr lang="zh-CN" altLang="en-US" sz="2000" dirty="0"/>
          </a:p>
        </p:txBody>
      </p:sp>
      <p:cxnSp>
        <p:nvCxnSpPr>
          <p:cNvPr id="11" name="直接箭头连接符 10"/>
          <p:cNvCxnSpPr>
            <a:stCxn id="17" idx="0"/>
            <a:endCxn id="3" idx="1"/>
          </p:cNvCxnSpPr>
          <p:nvPr/>
        </p:nvCxnSpPr>
        <p:spPr>
          <a:xfrm flipV="1">
            <a:off x="5337086" y="2264160"/>
            <a:ext cx="683444" cy="9807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18" idx="0"/>
            <a:endCxn id="3" idx="3"/>
          </p:cNvCxnSpPr>
          <p:nvPr/>
        </p:nvCxnSpPr>
        <p:spPr>
          <a:xfrm flipH="1" flipV="1">
            <a:off x="8051661" y="2264160"/>
            <a:ext cx="743004" cy="9807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20" idx="0"/>
            <a:endCxn id="18" idx="2"/>
          </p:cNvCxnSpPr>
          <p:nvPr/>
        </p:nvCxnSpPr>
        <p:spPr>
          <a:xfrm flipV="1">
            <a:off x="8794665" y="4121646"/>
            <a:ext cx="0" cy="5611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24" idx="0"/>
            <a:endCxn id="3" idx="3"/>
          </p:cNvCxnSpPr>
          <p:nvPr/>
        </p:nvCxnSpPr>
        <p:spPr>
          <a:xfrm flipH="1" flipV="1">
            <a:off x="8051661" y="2264160"/>
            <a:ext cx="3031935" cy="9609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箭头: 右 3"/>
          <p:cNvSpPr/>
          <p:nvPr/>
        </p:nvSpPr>
        <p:spPr>
          <a:xfrm flipH="1">
            <a:off x="3492469" y="3993993"/>
            <a:ext cx="807238" cy="316523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292157" y="4173201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当前执行的代码</a:t>
            </a:r>
          </a:p>
        </p:txBody>
      </p:sp>
      <p:sp>
        <p:nvSpPr>
          <p:cNvPr id="21" name="箭头: 右 20"/>
          <p:cNvSpPr/>
          <p:nvPr/>
        </p:nvSpPr>
        <p:spPr>
          <a:xfrm rot="11381321" flipH="1">
            <a:off x="6253815" y="4426286"/>
            <a:ext cx="1414005" cy="316523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660664" y="4959337"/>
            <a:ext cx="411843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创建，初始化为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的值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注意，变量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还没销毁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因为此时还在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 else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块内</a:t>
            </a: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250" y="2030520"/>
            <a:ext cx="2803538" cy="45042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变量的作用域：局部变量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850031" y="1525422"/>
            <a:ext cx="104919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稍复杂的例子</a:t>
            </a:r>
          </a:p>
        </p:txBody>
      </p:sp>
      <p:sp>
        <p:nvSpPr>
          <p:cNvPr id="3" name="矩形: 圆角 2"/>
          <p:cNvSpPr/>
          <p:nvPr/>
        </p:nvSpPr>
        <p:spPr>
          <a:xfrm>
            <a:off x="6020530" y="1825816"/>
            <a:ext cx="2031131" cy="876688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函数</a:t>
            </a:r>
            <a:r>
              <a:rPr lang="en-US" altLang="zh-CN" sz="2000" dirty="0"/>
              <a:t>add</a:t>
            </a:r>
          </a:p>
          <a:p>
            <a:pPr algn="ctr"/>
            <a:r>
              <a:rPr lang="zh-CN" altLang="en-US" sz="2000" dirty="0"/>
              <a:t>变量</a:t>
            </a:r>
            <a:r>
              <a:rPr lang="en-US" altLang="zh-CN" sz="2000" dirty="0"/>
              <a:t>a</a:t>
            </a:r>
            <a:endParaRPr lang="zh-CN" altLang="en-US" sz="2000" dirty="0"/>
          </a:p>
        </p:txBody>
      </p:sp>
      <p:sp>
        <p:nvSpPr>
          <p:cNvPr id="17" name="矩形: 圆角 16"/>
          <p:cNvSpPr/>
          <p:nvPr/>
        </p:nvSpPr>
        <p:spPr>
          <a:xfrm>
            <a:off x="4321520" y="3244958"/>
            <a:ext cx="2031131" cy="876688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If then </a:t>
            </a:r>
            <a:r>
              <a:rPr lang="zh-CN" altLang="en-US" sz="2000" dirty="0"/>
              <a:t>代码块</a:t>
            </a:r>
            <a:endParaRPr lang="en-US" altLang="zh-CN" sz="2000" dirty="0"/>
          </a:p>
          <a:p>
            <a:pPr algn="ctr"/>
            <a:r>
              <a:rPr lang="zh-CN" altLang="en-US" sz="2000" dirty="0"/>
              <a:t>变量</a:t>
            </a:r>
            <a:r>
              <a:rPr lang="en-US" altLang="zh-CN" sz="2000" dirty="0"/>
              <a:t>b</a:t>
            </a:r>
            <a:endParaRPr lang="zh-CN" altLang="en-US" sz="2000" dirty="0"/>
          </a:p>
        </p:txBody>
      </p:sp>
      <p:sp>
        <p:nvSpPr>
          <p:cNvPr id="18" name="矩形: 圆角 17"/>
          <p:cNvSpPr/>
          <p:nvPr/>
        </p:nvSpPr>
        <p:spPr>
          <a:xfrm>
            <a:off x="7779099" y="3244958"/>
            <a:ext cx="2031131" cy="876688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If else </a:t>
            </a:r>
            <a:r>
              <a:rPr lang="zh-CN" altLang="en-US" sz="2000" dirty="0"/>
              <a:t>代码块</a:t>
            </a:r>
            <a:endParaRPr lang="en-US" altLang="zh-CN" sz="2000" dirty="0"/>
          </a:p>
          <a:p>
            <a:pPr algn="ctr"/>
            <a:r>
              <a:rPr lang="zh-CN" altLang="en-US" sz="2000" dirty="0"/>
              <a:t>变量</a:t>
            </a:r>
            <a:r>
              <a:rPr lang="en-US" altLang="zh-CN" sz="2000" dirty="0"/>
              <a:t>c</a:t>
            </a:r>
            <a:endParaRPr lang="zh-CN" altLang="en-US" sz="2000" dirty="0"/>
          </a:p>
        </p:txBody>
      </p:sp>
      <p:sp>
        <p:nvSpPr>
          <p:cNvPr id="20" name="矩形: 圆角 19"/>
          <p:cNvSpPr/>
          <p:nvPr/>
        </p:nvSpPr>
        <p:spPr>
          <a:xfrm>
            <a:off x="7779099" y="4682814"/>
            <a:ext cx="2031131" cy="876688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一个代码块</a:t>
            </a:r>
            <a:r>
              <a:rPr lang="en-US" altLang="zh-CN" sz="2000" dirty="0"/>
              <a:t>X</a:t>
            </a:r>
          </a:p>
          <a:p>
            <a:pPr algn="ctr"/>
            <a:r>
              <a:rPr lang="zh-CN" altLang="en-US" sz="2000" dirty="0"/>
              <a:t>变量</a:t>
            </a:r>
            <a:r>
              <a:rPr lang="en-US" altLang="zh-CN" sz="2000" dirty="0"/>
              <a:t>d</a:t>
            </a:r>
            <a:endParaRPr lang="zh-CN" altLang="en-US" sz="2000" dirty="0"/>
          </a:p>
        </p:txBody>
      </p:sp>
      <p:sp>
        <p:nvSpPr>
          <p:cNvPr id="24" name="矩形: 圆角 23"/>
          <p:cNvSpPr/>
          <p:nvPr/>
        </p:nvSpPr>
        <p:spPr>
          <a:xfrm>
            <a:off x="10068030" y="3225120"/>
            <a:ext cx="2031131" cy="876688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另一个代码块</a:t>
            </a:r>
            <a:r>
              <a:rPr lang="en-US" altLang="zh-CN" sz="2000" dirty="0"/>
              <a:t>Y</a:t>
            </a:r>
          </a:p>
          <a:p>
            <a:pPr algn="ctr"/>
            <a:r>
              <a:rPr lang="zh-CN" altLang="en-US" sz="2000" dirty="0"/>
              <a:t>变量</a:t>
            </a:r>
            <a:r>
              <a:rPr lang="en-US" altLang="zh-CN" sz="2000" dirty="0"/>
              <a:t>t</a:t>
            </a:r>
            <a:endParaRPr lang="zh-CN" altLang="en-US" sz="2000" dirty="0"/>
          </a:p>
        </p:txBody>
      </p:sp>
      <p:cxnSp>
        <p:nvCxnSpPr>
          <p:cNvPr id="11" name="直接箭头连接符 10"/>
          <p:cNvCxnSpPr>
            <a:stCxn id="17" idx="0"/>
            <a:endCxn id="3" idx="1"/>
          </p:cNvCxnSpPr>
          <p:nvPr/>
        </p:nvCxnSpPr>
        <p:spPr>
          <a:xfrm flipV="1">
            <a:off x="5337086" y="2264160"/>
            <a:ext cx="683444" cy="9807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18" idx="0"/>
            <a:endCxn id="3" idx="3"/>
          </p:cNvCxnSpPr>
          <p:nvPr/>
        </p:nvCxnSpPr>
        <p:spPr>
          <a:xfrm flipH="1" flipV="1">
            <a:off x="8051661" y="2264160"/>
            <a:ext cx="743004" cy="9807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20" idx="0"/>
            <a:endCxn id="18" idx="2"/>
          </p:cNvCxnSpPr>
          <p:nvPr/>
        </p:nvCxnSpPr>
        <p:spPr>
          <a:xfrm flipV="1">
            <a:off x="8794665" y="4121646"/>
            <a:ext cx="0" cy="5611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24" idx="0"/>
            <a:endCxn id="3" idx="3"/>
          </p:cNvCxnSpPr>
          <p:nvPr/>
        </p:nvCxnSpPr>
        <p:spPr>
          <a:xfrm flipH="1" flipV="1">
            <a:off x="8051661" y="2264160"/>
            <a:ext cx="3031935" cy="9609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箭头: 右 3"/>
          <p:cNvSpPr/>
          <p:nvPr/>
        </p:nvSpPr>
        <p:spPr>
          <a:xfrm flipH="1">
            <a:off x="3585230" y="4594224"/>
            <a:ext cx="1142997" cy="316523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831371" y="4567819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当前执行的代码</a:t>
            </a:r>
          </a:p>
        </p:txBody>
      </p:sp>
      <p:sp>
        <p:nvSpPr>
          <p:cNvPr id="21" name="箭头: 右 20"/>
          <p:cNvSpPr/>
          <p:nvPr/>
        </p:nvSpPr>
        <p:spPr>
          <a:xfrm rot="8684252" flipH="1">
            <a:off x="6587113" y="4219360"/>
            <a:ext cx="1170574" cy="316523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3582065" y="5268981"/>
            <a:ext cx="40767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销毁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因为此时已经离开了代码块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250" y="2030520"/>
            <a:ext cx="2803538" cy="45042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变量的作用域：局部变量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850031" y="1525422"/>
            <a:ext cx="104919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稍复杂的例子</a:t>
            </a:r>
          </a:p>
        </p:txBody>
      </p:sp>
      <p:sp>
        <p:nvSpPr>
          <p:cNvPr id="3" name="矩形: 圆角 2"/>
          <p:cNvSpPr/>
          <p:nvPr/>
        </p:nvSpPr>
        <p:spPr>
          <a:xfrm>
            <a:off x="6020530" y="1825816"/>
            <a:ext cx="2031131" cy="876688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函数</a:t>
            </a:r>
            <a:r>
              <a:rPr lang="en-US" altLang="zh-CN" sz="2000" dirty="0"/>
              <a:t>add</a:t>
            </a:r>
          </a:p>
          <a:p>
            <a:pPr algn="ctr"/>
            <a:r>
              <a:rPr lang="zh-CN" altLang="en-US" sz="2000" dirty="0"/>
              <a:t>变量</a:t>
            </a:r>
            <a:r>
              <a:rPr lang="en-US" altLang="zh-CN" sz="2000" dirty="0"/>
              <a:t>a</a:t>
            </a:r>
            <a:endParaRPr lang="zh-CN" altLang="en-US" sz="2000" dirty="0"/>
          </a:p>
        </p:txBody>
      </p:sp>
      <p:sp>
        <p:nvSpPr>
          <p:cNvPr id="17" name="矩形: 圆角 16"/>
          <p:cNvSpPr/>
          <p:nvPr/>
        </p:nvSpPr>
        <p:spPr>
          <a:xfrm>
            <a:off x="4321520" y="3244958"/>
            <a:ext cx="2031131" cy="876688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If then </a:t>
            </a:r>
            <a:r>
              <a:rPr lang="zh-CN" altLang="en-US" sz="2000" dirty="0"/>
              <a:t>代码块</a:t>
            </a:r>
            <a:endParaRPr lang="en-US" altLang="zh-CN" sz="2000" dirty="0"/>
          </a:p>
          <a:p>
            <a:pPr algn="ctr"/>
            <a:r>
              <a:rPr lang="zh-CN" altLang="en-US" sz="2000" dirty="0"/>
              <a:t>变量</a:t>
            </a:r>
            <a:r>
              <a:rPr lang="en-US" altLang="zh-CN" sz="2000" dirty="0"/>
              <a:t>b</a:t>
            </a:r>
            <a:endParaRPr lang="zh-CN" altLang="en-US" sz="2000" dirty="0"/>
          </a:p>
        </p:txBody>
      </p:sp>
      <p:sp>
        <p:nvSpPr>
          <p:cNvPr id="18" name="矩形: 圆角 17"/>
          <p:cNvSpPr/>
          <p:nvPr/>
        </p:nvSpPr>
        <p:spPr>
          <a:xfrm>
            <a:off x="7779099" y="3244958"/>
            <a:ext cx="2031131" cy="876688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If else </a:t>
            </a:r>
            <a:r>
              <a:rPr lang="zh-CN" altLang="en-US" sz="2000" dirty="0"/>
              <a:t>代码块</a:t>
            </a:r>
            <a:endParaRPr lang="en-US" altLang="zh-CN" sz="2000" dirty="0"/>
          </a:p>
          <a:p>
            <a:pPr algn="ctr"/>
            <a:r>
              <a:rPr lang="zh-CN" altLang="en-US" sz="2000" dirty="0"/>
              <a:t>变量</a:t>
            </a:r>
            <a:r>
              <a:rPr lang="en-US" altLang="zh-CN" sz="2000" dirty="0"/>
              <a:t>c</a:t>
            </a:r>
            <a:endParaRPr lang="zh-CN" altLang="en-US" sz="2000" dirty="0"/>
          </a:p>
        </p:txBody>
      </p:sp>
      <p:sp>
        <p:nvSpPr>
          <p:cNvPr id="20" name="矩形: 圆角 19"/>
          <p:cNvSpPr/>
          <p:nvPr/>
        </p:nvSpPr>
        <p:spPr>
          <a:xfrm>
            <a:off x="7779099" y="4682814"/>
            <a:ext cx="2031131" cy="876688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一个代码块</a:t>
            </a:r>
            <a:r>
              <a:rPr lang="en-US" altLang="zh-CN" sz="2000" dirty="0"/>
              <a:t>X</a:t>
            </a:r>
          </a:p>
          <a:p>
            <a:pPr algn="ctr"/>
            <a:r>
              <a:rPr lang="zh-CN" altLang="en-US" sz="2000" dirty="0"/>
              <a:t>变量</a:t>
            </a:r>
            <a:r>
              <a:rPr lang="en-US" altLang="zh-CN" sz="2000" dirty="0"/>
              <a:t>d</a:t>
            </a:r>
            <a:endParaRPr lang="zh-CN" altLang="en-US" sz="2000" dirty="0"/>
          </a:p>
        </p:txBody>
      </p:sp>
      <p:sp>
        <p:nvSpPr>
          <p:cNvPr id="24" name="矩形: 圆角 23"/>
          <p:cNvSpPr/>
          <p:nvPr/>
        </p:nvSpPr>
        <p:spPr>
          <a:xfrm>
            <a:off x="10068030" y="3225120"/>
            <a:ext cx="2031131" cy="876688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另一个代码块</a:t>
            </a:r>
            <a:r>
              <a:rPr lang="en-US" altLang="zh-CN" sz="2000" dirty="0"/>
              <a:t>Y</a:t>
            </a:r>
          </a:p>
          <a:p>
            <a:pPr algn="ctr"/>
            <a:r>
              <a:rPr lang="zh-CN" altLang="en-US" sz="2000" dirty="0"/>
              <a:t>变量</a:t>
            </a:r>
            <a:r>
              <a:rPr lang="en-US" altLang="zh-CN" sz="2000" dirty="0"/>
              <a:t>t</a:t>
            </a:r>
            <a:endParaRPr lang="zh-CN" altLang="en-US" sz="2000" dirty="0"/>
          </a:p>
        </p:txBody>
      </p:sp>
      <p:cxnSp>
        <p:nvCxnSpPr>
          <p:cNvPr id="11" name="直接箭头连接符 10"/>
          <p:cNvCxnSpPr>
            <a:stCxn id="17" idx="0"/>
            <a:endCxn id="3" idx="1"/>
          </p:cNvCxnSpPr>
          <p:nvPr/>
        </p:nvCxnSpPr>
        <p:spPr>
          <a:xfrm flipV="1">
            <a:off x="5337086" y="2264160"/>
            <a:ext cx="683444" cy="9807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18" idx="0"/>
            <a:endCxn id="3" idx="3"/>
          </p:cNvCxnSpPr>
          <p:nvPr/>
        </p:nvCxnSpPr>
        <p:spPr>
          <a:xfrm flipH="1" flipV="1">
            <a:off x="8051661" y="2264160"/>
            <a:ext cx="743004" cy="9807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20" idx="0"/>
            <a:endCxn id="18" idx="2"/>
          </p:cNvCxnSpPr>
          <p:nvPr/>
        </p:nvCxnSpPr>
        <p:spPr>
          <a:xfrm flipV="1">
            <a:off x="8794665" y="4121646"/>
            <a:ext cx="0" cy="5611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24" idx="0"/>
            <a:endCxn id="3" idx="3"/>
          </p:cNvCxnSpPr>
          <p:nvPr/>
        </p:nvCxnSpPr>
        <p:spPr>
          <a:xfrm flipH="1" flipV="1">
            <a:off x="8051661" y="2264160"/>
            <a:ext cx="3031935" cy="9609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箭头: 右 3"/>
          <p:cNvSpPr/>
          <p:nvPr/>
        </p:nvSpPr>
        <p:spPr>
          <a:xfrm flipH="1">
            <a:off x="3509339" y="5156511"/>
            <a:ext cx="1142997" cy="316523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778561" y="5080035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当前执行的代码</a:t>
            </a:r>
          </a:p>
        </p:txBody>
      </p:sp>
      <p:sp>
        <p:nvSpPr>
          <p:cNvPr id="21" name="箭头: 右 20"/>
          <p:cNvSpPr/>
          <p:nvPr/>
        </p:nvSpPr>
        <p:spPr>
          <a:xfrm rot="6122149" flipH="1">
            <a:off x="5645971" y="3813055"/>
            <a:ext cx="2299169" cy="316523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3554506" y="5501992"/>
            <a:ext cx="47323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销毁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因为此时已经离开了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 else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代码块</a:t>
            </a: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250" y="2030520"/>
            <a:ext cx="2803538" cy="45042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变量的作用域：局部变量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850031" y="1525422"/>
            <a:ext cx="104919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稍复杂的例子</a:t>
            </a:r>
          </a:p>
        </p:txBody>
      </p:sp>
      <p:sp>
        <p:nvSpPr>
          <p:cNvPr id="3" name="矩形: 圆角 2"/>
          <p:cNvSpPr/>
          <p:nvPr/>
        </p:nvSpPr>
        <p:spPr>
          <a:xfrm>
            <a:off x="6020530" y="1825816"/>
            <a:ext cx="2031131" cy="876688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函数</a:t>
            </a:r>
            <a:r>
              <a:rPr lang="en-US" altLang="zh-CN" sz="2000" dirty="0"/>
              <a:t>add</a:t>
            </a:r>
          </a:p>
          <a:p>
            <a:pPr algn="ctr"/>
            <a:r>
              <a:rPr lang="zh-CN" altLang="en-US" sz="2000" dirty="0"/>
              <a:t>变量</a:t>
            </a:r>
            <a:r>
              <a:rPr lang="en-US" altLang="zh-CN" sz="2000" dirty="0"/>
              <a:t>a</a:t>
            </a:r>
            <a:endParaRPr lang="zh-CN" altLang="en-US" sz="2000" dirty="0"/>
          </a:p>
        </p:txBody>
      </p:sp>
      <p:sp>
        <p:nvSpPr>
          <p:cNvPr id="17" name="矩形: 圆角 16"/>
          <p:cNvSpPr/>
          <p:nvPr/>
        </p:nvSpPr>
        <p:spPr>
          <a:xfrm>
            <a:off x="4321520" y="3244958"/>
            <a:ext cx="2031131" cy="876688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If then </a:t>
            </a:r>
            <a:r>
              <a:rPr lang="zh-CN" altLang="en-US" sz="2000" dirty="0"/>
              <a:t>代码块</a:t>
            </a:r>
            <a:endParaRPr lang="en-US" altLang="zh-CN" sz="2000" dirty="0"/>
          </a:p>
          <a:p>
            <a:pPr algn="ctr"/>
            <a:r>
              <a:rPr lang="zh-CN" altLang="en-US" sz="2000" dirty="0"/>
              <a:t>变量</a:t>
            </a:r>
            <a:r>
              <a:rPr lang="en-US" altLang="zh-CN" sz="2000" dirty="0"/>
              <a:t>b</a:t>
            </a:r>
            <a:endParaRPr lang="zh-CN" altLang="en-US" sz="2000" dirty="0"/>
          </a:p>
        </p:txBody>
      </p:sp>
      <p:sp>
        <p:nvSpPr>
          <p:cNvPr id="18" name="矩形: 圆角 17"/>
          <p:cNvSpPr/>
          <p:nvPr/>
        </p:nvSpPr>
        <p:spPr>
          <a:xfrm>
            <a:off x="7779099" y="3244958"/>
            <a:ext cx="2031131" cy="876688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If else </a:t>
            </a:r>
            <a:r>
              <a:rPr lang="zh-CN" altLang="en-US" sz="2000" dirty="0"/>
              <a:t>代码块</a:t>
            </a:r>
            <a:endParaRPr lang="en-US" altLang="zh-CN" sz="2000" dirty="0"/>
          </a:p>
          <a:p>
            <a:pPr algn="ctr"/>
            <a:r>
              <a:rPr lang="zh-CN" altLang="en-US" sz="2000" dirty="0"/>
              <a:t>变量</a:t>
            </a:r>
            <a:r>
              <a:rPr lang="en-US" altLang="zh-CN" sz="2000" dirty="0"/>
              <a:t>c</a:t>
            </a:r>
            <a:endParaRPr lang="zh-CN" altLang="en-US" sz="2000" dirty="0"/>
          </a:p>
        </p:txBody>
      </p:sp>
      <p:sp>
        <p:nvSpPr>
          <p:cNvPr id="20" name="矩形: 圆角 19"/>
          <p:cNvSpPr/>
          <p:nvPr/>
        </p:nvSpPr>
        <p:spPr>
          <a:xfrm>
            <a:off x="7779099" y="4682814"/>
            <a:ext cx="2031131" cy="876688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一个代码块</a:t>
            </a:r>
            <a:r>
              <a:rPr lang="en-US" altLang="zh-CN" sz="2000" dirty="0"/>
              <a:t>X</a:t>
            </a:r>
          </a:p>
          <a:p>
            <a:pPr algn="ctr"/>
            <a:r>
              <a:rPr lang="zh-CN" altLang="en-US" sz="2000" dirty="0"/>
              <a:t>变量</a:t>
            </a:r>
            <a:r>
              <a:rPr lang="en-US" altLang="zh-CN" sz="2000" dirty="0"/>
              <a:t>d</a:t>
            </a:r>
            <a:endParaRPr lang="zh-CN" altLang="en-US" sz="2000" dirty="0"/>
          </a:p>
        </p:txBody>
      </p:sp>
      <p:sp>
        <p:nvSpPr>
          <p:cNvPr id="24" name="矩形: 圆角 23"/>
          <p:cNvSpPr/>
          <p:nvPr/>
        </p:nvSpPr>
        <p:spPr>
          <a:xfrm>
            <a:off x="10068030" y="3225120"/>
            <a:ext cx="2031131" cy="876688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另一个代码块</a:t>
            </a:r>
            <a:r>
              <a:rPr lang="en-US" altLang="zh-CN" sz="2000" dirty="0"/>
              <a:t>Y</a:t>
            </a:r>
          </a:p>
          <a:p>
            <a:pPr algn="ctr"/>
            <a:r>
              <a:rPr lang="zh-CN" altLang="en-US" sz="2000" dirty="0"/>
              <a:t>变量</a:t>
            </a:r>
            <a:r>
              <a:rPr lang="en-US" altLang="zh-CN" sz="2000" dirty="0"/>
              <a:t>t</a:t>
            </a:r>
            <a:endParaRPr lang="zh-CN" altLang="en-US" sz="2000" dirty="0"/>
          </a:p>
        </p:txBody>
      </p:sp>
      <p:cxnSp>
        <p:nvCxnSpPr>
          <p:cNvPr id="11" name="直接箭头连接符 10"/>
          <p:cNvCxnSpPr>
            <a:stCxn id="17" idx="0"/>
            <a:endCxn id="3" idx="1"/>
          </p:cNvCxnSpPr>
          <p:nvPr/>
        </p:nvCxnSpPr>
        <p:spPr>
          <a:xfrm flipV="1">
            <a:off x="5337086" y="2264160"/>
            <a:ext cx="683444" cy="9807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18" idx="0"/>
            <a:endCxn id="3" idx="3"/>
          </p:cNvCxnSpPr>
          <p:nvPr/>
        </p:nvCxnSpPr>
        <p:spPr>
          <a:xfrm flipH="1" flipV="1">
            <a:off x="8051661" y="2264160"/>
            <a:ext cx="743004" cy="9807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20" idx="0"/>
            <a:endCxn id="18" idx="2"/>
          </p:cNvCxnSpPr>
          <p:nvPr/>
        </p:nvCxnSpPr>
        <p:spPr>
          <a:xfrm flipV="1">
            <a:off x="8794665" y="4121646"/>
            <a:ext cx="0" cy="5611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24" idx="0"/>
            <a:endCxn id="3" idx="3"/>
          </p:cNvCxnSpPr>
          <p:nvPr/>
        </p:nvCxnSpPr>
        <p:spPr>
          <a:xfrm flipH="1" flipV="1">
            <a:off x="8051661" y="2264160"/>
            <a:ext cx="3031935" cy="9609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箭头: 右 3"/>
          <p:cNvSpPr/>
          <p:nvPr/>
        </p:nvSpPr>
        <p:spPr>
          <a:xfrm flipH="1">
            <a:off x="3523747" y="5607660"/>
            <a:ext cx="1142997" cy="316523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584223" y="5232968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当前执行的代码</a:t>
            </a:r>
          </a:p>
        </p:txBody>
      </p:sp>
      <p:sp>
        <p:nvSpPr>
          <p:cNvPr id="21" name="箭头: 右 20"/>
          <p:cNvSpPr/>
          <p:nvPr/>
        </p:nvSpPr>
        <p:spPr>
          <a:xfrm rot="9503944" flipH="1">
            <a:off x="6082127" y="4252078"/>
            <a:ext cx="4131446" cy="316523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3670861" y="5953323"/>
            <a:ext cx="40366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创建，初始化为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的值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250" y="2030520"/>
            <a:ext cx="2803538" cy="45042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变量的作用域：局部变量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850031" y="1525422"/>
            <a:ext cx="104919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稍复杂的例子</a:t>
            </a:r>
          </a:p>
        </p:txBody>
      </p:sp>
      <p:sp>
        <p:nvSpPr>
          <p:cNvPr id="3" name="矩形: 圆角 2"/>
          <p:cNvSpPr/>
          <p:nvPr/>
        </p:nvSpPr>
        <p:spPr>
          <a:xfrm>
            <a:off x="6020530" y="1825816"/>
            <a:ext cx="2031131" cy="876688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函数</a:t>
            </a:r>
            <a:r>
              <a:rPr lang="en-US" altLang="zh-CN" sz="2000" dirty="0"/>
              <a:t>add</a:t>
            </a:r>
          </a:p>
          <a:p>
            <a:pPr algn="ctr"/>
            <a:r>
              <a:rPr lang="zh-CN" altLang="en-US" sz="2000" dirty="0"/>
              <a:t>变量</a:t>
            </a:r>
            <a:r>
              <a:rPr lang="en-US" altLang="zh-CN" sz="2000" dirty="0"/>
              <a:t>a</a:t>
            </a:r>
            <a:endParaRPr lang="zh-CN" altLang="en-US" sz="2000" dirty="0"/>
          </a:p>
        </p:txBody>
      </p:sp>
      <p:sp>
        <p:nvSpPr>
          <p:cNvPr id="17" name="矩形: 圆角 16"/>
          <p:cNvSpPr/>
          <p:nvPr/>
        </p:nvSpPr>
        <p:spPr>
          <a:xfrm>
            <a:off x="4321520" y="3244958"/>
            <a:ext cx="2031131" cy="876688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If then </a:t>
            </a:r>
            <a:r>
              <a:rPr lang="zh-CN" altLang="en-US" sz="2000" dirty="0"/>
              <a:t>代码块</a:t>
            </a:r>
            <a:endParaRPr lang="en-US" altLang="zh-CN" sz="2000" dirty="0"/>
          </a:p>
          <a:p>
            <a:pPr algn="ctr"/>
            <a:r>
              <a:rPr lang="zh-CN" altLang="en-US" sz="2000" dirty="0"/>
              <a:t>变量</a:t>
            </a:r>
            <a:r>
              <a:rPr lang="en-US" altLang="zh-CN" sz="2000" dirty="0"/>
              <a:t>b</a:t>
            </a:r>
            <a:endParaRPr lang="zh-CN" altLang="en-US" sz="2000" dirty="0"/>
          </a:p>
        </p:txBody>
      </p:sp>
      <p:sp>
        <p:nvSpPr>
          <p:cNvPr id="18" name="矩形: 圆角 17"/>
          <p:cNvSpPr/>
          <p:nvPr/>
        </p:nvSpPr>
        <p:spPr>
          <a:xfrm>
            <a:off x="7779099" y="3244958"/>
            <a:ext cx="2031131" cy="876688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If else </a:t>
            </a:r>
            <a:r>
              <a:rPr lang="zh-CN" altLang="en-US" sz="2000" dirty="0"/>
              <a:t>代码块</a:t>
            </a:r>
            <a:endParaRPr lang="en-US" altLang="zh-CN" sz="2000" dirty="0"/>
          </a:p>
          <a:p>
            <a:pPr algn="ctr"/>
            <a:r>
              <a:rPr lang="zh-CN" altLang="en-US" sz="2000" dirty="0"/>
              <a:t>变量</a:t>
            </a:r>
            <a:r>
              <a:rPr lang="en-US" altLang="zh-CN" sz="2000" dirty="0"/>
              <a:t>c</a:t>
            </a:r>
            <a:endParaRPr lang="zh-CN" altLang="en-US" sz="2000" dirty="0"/>
          </a:p>
        </p:txBody>
      </p:sp>
      <p:sp>
        <p:nvSpPr>
          <p:cNvPr id="20" name="矩形: 圆角 19"/>
          <p:cNvSpPr/>
          <p:nvPr/>
        </p:nvSpPr>
        <p:spPr>
          <a:xfrm>
            <a:off x="7779099" y="4682814"/>
            <a:ext cx="2031131" cy="876688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一个代码块</a:t>
            </a:r>
            <a:r>
              <a:rPr lang="en-US" altLang="zh-CN" sz="2000" dirty="0"/>
              <a:t>X</a:t>
            </a:r>
          </a:p>
          <a:p>
            <a:pPr algn="ctr"/>
            <a:r>
              <a:rPr lang="zh-CN" altLang="en-US" sz="2000" dirty="0"/>
              <a:t>变量</a:t>
            </a:r>
            <a:r>
              <a:rPr lang="en-US" altLang="zh-CN" sz="2000" dirty="0"/>
              <a:t>d</a:t>
            </a:r>
            <a:endParaRPr lang="zh-CN" altLang="en-US" sz="2000" dirty="0"/>
          </a:p>
        </p:txBody>
      </p:sp>
      <p:sp>
        <p:nvSpPr>
          <p:cNvPr id="24" name="矩形: 圆角 23"/>
          <p:cNvSpPr/>
          <p:nvPr/>
        </p:nvSpPr>
        <p:spPr>
          <a:xfrm>
            <a:off x="10068030" y="3225120"/>
            <a:ext cx="2031131" cy="876688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另一个代码块</a:t>
            </a:r>
            <a:r>
              <a:rPr lang="en-US" altLang="zh-CN" sz="2000" dirty="0"/>
              <a:t>Y</a:t>
            </a:r>
          </a:p>
          <a:p>
            <a:pPr algn="ctr"/>
            <a:r>
              <a:rPr lang="zh-CN" altLang="en-US" sz="2000" dirty="0"/>
              <a:t>变量</a:t>
            </a:r>
            <a:r>
              <a:rPr lang="en-US" altLang="zh-CN" sz="2000" dirty="0"/>
              <a:t>t</a:t>
            </a:r>
            <a:endParaRPr lang="zh-CN" altLang="en-US" sz="2000" dirty="0"/>
          </a:p>
        </p:txBody>
      </p:sp>
      <p:cxnSp>
        <p:nvCxnSpPr>
          <p:cNvPr id="11" name="直接箭头连接符 10"/>
          <p:cNvCxnSpPr>
            <a:stCxn id="17" idx="0"/>
            <a:endCxn id="3" idx="1"/>
          </p:cNvCxnSpPr>
          <p:nvPr/>
        </p:nvCxnSpPr>
        <p:spPr>
          <a:xfrm flipV="1">
            <a:off x="5337086" y="2264160"/>
            <a:ext cx="683444" cy="9807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18" idx="0"/>
            <a:endCxn id="3" idx="3"/>
          </p:cNvCxnSpPr>
          <p:nvPr/>
        </p:nvCxnSpPr>
        <p:spPr>
          <a:xfrm flipH="1" flipV="1">
            <a:off x="8051661" y="2264160"/>
            <a:ext cx="743004" cy="9807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20" idx="0"/>
            <a:endCxn id="18" idx="2"/>
          </p:cNvCxnSpPr>
          <p:nvPr/>
        </p:nvCxnSpPr>
        <p:spPr>
          <a:xfrm flipV="1">
            <a:off x="8794665" y="4121646"/>
            <a:ext cx="0" cy="5611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24" idx="0"/>
            <a:endCxn id="3" idx="3"/>
          </p:cNvCxnSpPr>
          <p:nvPr/>
        </p:nvCxnSpPr>
        <p:spPr>
          <a:xfrm flipH="1" flipV="1">
            <a:off x="8051661" y="2264160"/>
            <a:ext cx="3031935" cy="9609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箭头: 右 3"/>
          <p:cNvSpPr/>
          <p:nvPr/>
        </p:nvSpPr>
        <p:spPr>
          <a:xfrm flipH="1">
            <a:off x="3420830" y="6023159"/>
            <a:ext cx="1142997" cy="316523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695268" y="5996754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当前执行的代码</a:t>
            </a:r>
          </a:p>
        </p:txBody>
      </p:sp>
      <p:sp>
        <p:nvSpPr>
          <p:cNvPr id="21" name="箭头: 右 20"/>
          <p:cNvSpPr/>
          <p:nvPr/>
        </p:nvSpPr>
        <p:spPr>
          <a:xfrm rot="6122149" flipH="1">
            <a:off x="5064994" y="4283219"/>
            <a:ext cx="3260634" cy="316523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3420830" y="5255506"/>
            <a:ext cx="40639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销毁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因为此时已经离开了代码块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250" y="2030520"/>
            <a:ext cx="2803538" cy="45042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变量的作用域：局部变量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850031" y="1525422"/>
            <a:ext cx="104919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稍复杂的例子</a:t>
            </a:r>
          </a:p>
        </p:txBody>
      </p:sp>
      <p:sp>
        <p:nvSpPr>
          <p:cNvPr id="3" name="矩形: 圆角 2"/>
          <p:cNvSpPr/>
          <p:nvPr/>
        </p:nvSpPr>
        <p:spPr>
          <a:xfrm>
            <a:off x="6020530" y="1825816"/>
            <a:ext cx="2031131" cy="876688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函数</a:t>
            </a:r>
            <a:r>
              <a:rPr lang="en-US" altLang="zh-CN" sz="2000" dirty="0"/>
              <a:t>add</a:t>
            </a:r>
          </a:p>
          <a:p>
            <a:pPr algn="ctr"/>
            <a:r>
              <a:rPr lang="zh-CN" altLang="en-US" sz="2000" dirty="0"/>
              <a:t>变量</a:t>
            </a:r>
            <a:r>
              <a:rPr lang="en-US" altLang="zh-CN" sz="2000" dirty="0"/>
              <a:t>a</a:t>
            </a:r>
            <a:endParaRPr lang="zh-CN" altLang="en-US" sz="2000" dirty="0"/>
          </a:p>
        </p:txBody>
      </p:sp>
      <p:sp>
        <p:nvSpPr>
          <p:cNvPr id="17" name="矩形: 圆角 16"/>
          <p:cNvSpPr/>
          <p:nvPr/>
        </p:nvSpPr>
        <p:spPr>
          <a:xfrm>
            <a:off x="4321520" y="3244958"/>
            <a:ext cx="2031131" cy="876688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If then </a:t>
            </a:r>
            <a:r>
              <a:rPr lang="zh-CN" altLang="en-US" sz="2000" dirty="0"/>
              <a:t>代码块</a:t>
            </a:r>
            <a:endParaRPr lang="en-US" altLang="zh-CN" sz="2000" dirty="0"/>
          </a:p>
          <a:p>
            <a:pPr algn="ctr"/>
            <a:r>
              <a:rPr lang="zh-CN" altLang="en-US" sz="2000" dirty="0"/>
              <a:t>变量</a:t>
            </a:r>
            <a:r>
              <a:rPr lang="en-US" altLang="zh-CN" sz="2000" dirty="0"/>
              <a:t>b</a:t>
            </a:r>
            <a:endParaRPr lang="zh-CN" altLang="en-US" sz="2000" dirty="0"/>
          </a:p>
        </p:txBody>
      </p:sp>
      <p:sp>
        <p:nvSpPr>
          <p:cNvPr id="18" name="矩形: 圆角 17"/>
          <p:cNvSpPr/>
          <p:nvPr/>
        </p:nvSpPr>
        <p:spPr>
          <a:xfrm>
            <a:off x="7779099" y="3244958"/>
            <a:ext cx="2031131" cy="876688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If else </a:t>
            </a:r>
            <a:r>
              <a:rPr lang="zh-CN" altLang="en-US" sz="2000" dirty="0"/>
              <a:t>代码块</a:t>
            </a:r>
            <a:endParaRPr lang="en-US" altLang="zh-CN" sz="2000" dirty="0"/>
          </a:p>
          <a:p>
            <a:pPr algn="ctr"/>
            <a:r>
              <a:rPr lang="zh-CN" altLang="en-US" sz="2000" dirty="0"/>
              <a:t>变量</a:t>
            </a:r>
            <a:r>
              <a:rPr lang="en-US" altLang="zh-CN" sz="2000" dirty="0"/>
              <a:t>c</a:t>
            </a:r>
            <a:endParaRPr lang="zh-CN" altLang="en-US" sz="2000" dirty="0"/>
          </a:p>
        </p:txBody>
      </p:sp>
      <p:sp>
        <p:nvSpPr>
          <p:cNvPr id="20" name="矩形: 圆角 19"/>
          <p:cNvSpPr/>
          <p:nvPr/>
        </p:nvSpPr>
        <p:spPr>
          <a:xfrm>
            <a:off x="7779099" y="4682814"/>
            <a:ext cx="2031131" cy="876688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一个代码块</a:t>
            </a:r>
            <a:r>
              <a:rPr lang="en-US" altLang="zh-CN" sz="2000" dirty="0"/>
              <a:t>X</a:t>
            </a:r>
          </a:p>
          <a:p>
            <a:pPr algn="ctr"/>
            <a:r>
              <a:rPr lang="zh-CN" altLang="en-US" sz="2000" dirty="0"/>
              <a:t>变量</a:t>
            </a:r>
            <a:r>
              <a:rPr lang="en-US" altLang="zh-CN" sz="2000" dirty="0"/>
              <a:t>d</a:t>
            </a:r>
            <a:endParaRPr lang="zh-CN" altLang="en-US" sz="2000" dirty="0"/>
          </a:p>
        </p:txBody>
      </p:sp>
      <p:sp>
        <p:nvSpPr>
          <p:cNvPr id="24" name="矩形: 圆角 23"/>
          <p:cNvSpPr/>
          <p:nvPr/>
        </p:nvSpPr>
        <p:spPr>
          <a:xfrm>
            <a:off x="10068030" y="3225120"/>
            <a:ext cx="2031131" cy="876688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另一个代码块</a:t>
            </a:r>
            <a:r>
              <a:rPr lang="en-US" altLang="zh-CN" sz="2000" dirty="0"/>
              <a:t>Y</a:t>
            </a:r>
          </a:p>
          <a:p>
            <a:pPr algn="ctr"/>
            <a:r>
              <a:rPr lang="zh-CN" altLang="en-US" sz="2000" dirty="0"/>
              <a:t>变量</a:t>
            </a:r>
            <a:r>
              <a:rPr lang="en-US" altLang="zh-CN" sz="2000" dirty="0"/>
              <a:t>t</a:t>
            </a:r>
            <a:endParaRPr lang="zh-CN" altLang="en-US" sz="2000" dirty="0"/>
          </a:p>
        </p:txBody>
      </p:sp>
      <p:cxnSp>
        <p:nvCxnSpPr>
          <p:cNvPr id="11" name="直接箭头连接符 10"/>
          <p:cNvCxnSpPr>
            <a:stCxn id="17" idx="0"/>
            <a:endCxn id="3" idx="1"/>
          </p:cNvCxnSpPr>
          <p:nvPr/>
        </p:nvCxnSpPr>
        <p:spPr>
          <a:xfrm flipV="1">
            <a:off x="5337086" y="2264160"/>
            <a:ext cx="683444" cy="9807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18" idx="0"/>
            <a:endCxn id="3" idx="3"/>
          </p:cNvCxnSpPr>
          <p:nvPr/>
        </p:nvCxnSpPr>
        <p:spPr>
          <a:xfrm flipH="1" flipV="1">
            <a:off x="8051661" y="2264160"/>
            <a:ext cx="743004" cy="9807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20" idx="0"/>
            <a:endCxn id="18" idx="2"/>
          </p:cNvCxnSpPr>
          <p:nvPr/>
        </p:nvCxnSpPr>
        <p:spPr>
          <a:xfrm flipV="1">
            <a:off x="8794665" y="4121646"/>
            <a:ext cx="0" cy="5611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24" idx="0"/>
            <a:endCxn id="3" idx="3"/>
          </p:cNvCxnSpPr>
          <p:nvPr/>
        </p:nvCxnSpPr>
        <p:spPr>
          <a:xfrm flipH="1" flipV="1">
            <a:off x="8051661" y="2264160"/>
            <a:ext cx="3031935" cy="9609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箭头: 右 3"/>
          <p:cNvSpPr/>
          <p:nvPr/>
        </p:nvSpPr>
        <p:spPr>
          <a:xfrm flipH="1">
            <a:off x="3411930" y="6516386"/>
            <a:ext cx="1142997" cy="316523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609246" y="6463577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当前执行的代码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3411930" y="5394216"/>
            <a:ext cx="444224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销毁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因为此时已经离开了函数块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add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250" y="2030520"/>
            <a:ext cx="2803538" cy="45042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变量的作用域：全局变量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850031" y="1638259"/>
            <a:ext cx="104919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全局变量在函数外声明，一般在代码的顶部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在任何函数内都可以访问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030" y="2577207"/>
            <a:ext cx="2622931" cy="3934397"/>
          </a:xfrm>
          <a:prstGeom prst="rect">
            <a:avLst/>
          </a:prstGeom>
        </p:spPr>
      </p:pic>
      <p:sp>
        <p:nvSpPr>
          <p:cNvPr id="17" name="椭圆 16"/>
          <p:cNvSpPr/>
          <p:nvPr/>
        </p:nvSpPr>
        <p:spPr>
          <a:xfrm>
            <a:off x="850029" y="3036130"/>
            <a:ext cx="1365426" cy="604363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789485" y="3036130"/>
            <a:ext cx="1839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全局变量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tot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789485" y="4437199"/>
            <a:ext cx="45582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里可以访问全局变量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tot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789485" y="5219741"/>
            <a:ext cx="719780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全局变量会在程序初始时给予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默认初始化（零）值</a:t>
            </a:r>
            <a:endParaRPr lang="en-US" altLang="zh-CN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生命周期是整个程序的运行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直到程序结束才会被销毁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8" name="表格 9"/>
          <p:cNvGraphicFramePr>
            <a:graphicFrameLocks noGrp="1"/>
          </p:cNvGraphicFramePr>
          <p:nvPr/>
        </p:nvGraphicFramePr>
        <p:xfrm>
          <a:off x="5557716" y="2156982"/>
          <a:ext cx="5872286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61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61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9987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数据类型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初始值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int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char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‘\0’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float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double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pointer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NULL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  <p:bldP spid="2" grpId="0"/>
      <p:bldP spid="17" grpId="0" animBg="1"/>
      <p:bldP spid="5" grpId="0"/>
      <p:bldP spid="6" grpId="0"/>
      <p:bldP spid="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910" y="2676337"/>
            <a:ext cx="3209908" cy="3010672"/>
          </a:xfrm>
          <a:prstGeom prst="rect">
            <a:avLst/>
          </a:prstGeom>
        </p:spPr>
      </p:pic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变量的作用域：形式参数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850031" y="1638259"/>
            <a:ext cx="104919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形式参数在函数参数列表声明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其性质和局部变量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一样，但会被调用函数的参数初始化</a:t>
            </a:r>
          </a:p>
        </p:txBody>
      </p:sp>
      <p:sp>
        <p:nvSpPr>
          <p:cNvPr id="17" name="椭圆 16"/>
          <p:cNvSpPr/>
          <p:nvPr/>
        </p:nvSpPr>
        <p:spPr>
          <a:xfrm>
            <a:off x="1519192" y="2592365"/>
            <a:ext cx="1593286" cy="37943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772847" y="3198167"/>
            <a:ext cx="4988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形式参数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a,b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，分别被初始化为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772847" y="4856012"/>
            <a:ext cx="78790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在函数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内均可被访问，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生命周期持续整个函数执行过程，当函数执行完后才销毁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  <p:bldP spid="2" grpId="0"/>
      <p:bldP spid="17" grpId="0" animBg="1"/>
      <p:bldP spid="5" grpId="0"/>
      <p:bldP spid="10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变量的作用域：变量同名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021911" y="1395663"/>
            <a:ext cx="52992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变量同名，会产生</a:t>
            </a:r>
            <a:r>
              <a:rPr lang="zh-CN" altLang="en-US" sz="4400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屏蔽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的效果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506" y="1564453"/>
            <a:ext cx="2160002" cy="5031632"/>
          </a:xfrm>
          <a:prstGeom prst="rect">
            <a:avLst/>
          </a:prstGeom>
        </p:spPr>
      </p:pic>
      <p:sp>
        <p:nvSpPr>
          <p:cNvPr id="14" name="矩形: 圆角 13"/>
          <p:cNvSpPr/>
          <p:nvPr/>
        </p:nvSpPr>
        <p:spPr>
          <a:xfrm>
            <a:off x="4331851" y="4028638"/>
            <a:ext cx="1955528" cy="608646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函数</a:t>
            </a:r>
            <a:r>
              <a:rPr lang="en-US" altLang="zh-CN" sz="2000" dirty="0"/>
              <a:t>add</a:t>
            </a:r>
          </a:p>
          <a:p>
            <a:pPr algn="ctr"/>
            <a:r>
              <a:rPr lang="zh-CN" altLang="en-US" sz="2000" dirty="0"/>
              <a:t>变量</a:t>
            </a:r>
            <a:r>
              <a:rPr lang="en-US" altLang="zh-CN" sz="2000" dirty="0"/>
              <a:t>b</a:t>
            </a:r>
            <a:endParaRPr lang="zh-CN" altLang="en-US" sz="2000" dirty="0"/>
          </a:p>
        </p:txBody>
      </p:sp>
      <p:sp>
        <p:nvSpPr>
          <p:cNvPr id="15" name="矩形: 圆角 14"/>
          <p:cNvSpPr/>
          <p:nvPr/>
        </p:nvSpPr>
        <p:spPr>
          <a:xfrm>
            <a:off x="2574150" y="4793222"/>
            <a:ext cx="1955528" cy="608646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If then </a:t>
            </a:r>
            <a:r>
              <a:rPr lang="zh-CN" altLang="en-US" sz="2000" dirty="0"/>
              <a:t>代码块</a:t>
            </a:r>
            <a:endParaRPr lang="en-US" altLang="zh-CN" sz="2000" dirty="0"/>
          </a:p>
          <a:p>
            <a:pPr algn="ctr"/>
            <a:r>
              <a:rPr lang="zh-CN" altLang="en-US" sz="2000" dirty="0"/>
              <a:t>变量</a:t>
            </a:r>
            <a:r>
              <a:rPr lang="en-US" altLang="zh-CN" sz="2000" dirty="0"/>
              <a:t>b</a:t>
            </a:r>
            <a:endParaRPr lang="zh-CN" altLang="en-US" sz="2000" dirty="0"/>
          </a:p>
        </p:txBody>
      </p:sp>
      <p:sp>
        <p:nvSpPr>
          <p:cNvPr id="16" name="矩形: 圆角 15"/>
          <p:cNvSpPr/>
          <p:nvPr/>
        </p:nvSpPr>
        <p:spPr>
          <a:xfrm>
            <a:off x="6112892" y="4793222"/>
            <a:ext cx="1955528" cy="608646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If else </a:t>
            </a:r>
            <a:r>
              <a:rPr lang="zh-CN" altLang="en-US" sz="2000" dirty="0"/>
              <a:t>代码块</a:t>
            </a:r>
            <a:endParaRPr lang="en-US" altLang="zh-CN" sz="2000" dirty="0"/>
          </a:p>
          <a:p>
            <a:pPr algn="ctr"/>
            <a:r>
              <a:rPr lang="zh-CN" altLang="en-US" sz="2000" dirty="0"/>
              <a:t>变量</a:t>
            </a:r>
            <a:r>
              <a:rPr lang="en-US" altLang="zh-CN" sz="2000" dirty="0"/>
              <a:t>a</a:t>
            </a:r>
            <a:endParaRPr lang="zh-CN" altLang="en-US" sz="2000" dirty="0"/>
          </a:p>
        </p:txBody>
      </p:sp>
      <p:sp>
        <p:nvSpPr>
          <p:cNvPr id="18" name="矩形: 圆角 17"/>
          <p:cNvSpPr/>
          <p:nvPr/>
        </p:nvSpPr>
        <p:spPr>
          <a:xfrm>
            <a:off x="6112892" y="5832691"/>
            <a:ext cx="1955528" cy="608646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一个代码块</a:t>
            </a:r>
            <a:r>
              <a:rPr lang="en-US" altLang="zh-CN" sz="2000" dirty="0"/>
              <a:t>X</a:t>
            </a:r>
          </a:p>
          <a:p>
            <a:pPr algn="ctr"/>
            <a:r>
              <a:rPr lang="zh-CN" altLang="en-US" sz="2000" dirty="0"/>
              <a:t>变量</a:t>
            </a:r>
            <a:r>
              <a:rPr lang="en-US" altLang="zh-CN" sz="2000" dirty="0"/>
              <a:t>d</a:t>
            </a:r>
            <a:endParaRPr lang="zh-CN" altLang="en-US" sz="2000" dirty="0"/>
          </a:p>
        </p:txBody>
      </p:sp>
      <p:sp>
        <p:nvSpPr>
          <p:cNvPr id="19" name="矩形: 圆角 18"/>
          <p:cNvSpPr/>
          <p:nvPr/>
        </p:nvSpPr>
        <p:spPr>
          <a:xfrm>
            <a:off x="9277702" y="3223502"/>
            <a:ext cx="1955528" cy="608646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main</a:t>
            </a:r>
            <a:r>
              <a:rPr lang="zh-CN" altLang="en-US" sz="2000" dirty="0"/>
              <a:t>函数</a:t>
            </a:r>
            <a:endParaRPr lang="en-US" altLang="zh-CN" sz="2000" dirty="0"/>
          </a:p>
          <a:p>
            <a:pPr algn="ctr"/>
            <a:r>
              <a:rPr lang="zh-CN" altLang="en-US" sz="2000" dirty="0"/>
              <a:t>变量</a:t>
            </a:r>
            <a:r>
              <a:rPr lang="en-US" altLang="zh-CN" sz="2000" dirty="0"/>
              <a:t>b</a:t>
            </a:r>
            <a:endParaRPr lang="zh-CN" altLang="en-US" sz="2000" dirty="0"/>
          </a:p>
        </p:txBody>
      </p:sp>
      <p:cxnSp>
        <p:nvCxnSpPr>
          <p:cNvPr id="20" name="直接箭头连接符 19"/>
          <p:cNvCxnSpPr>
            <a:stCxn id="15" idx="0"/>
            <a:endCxn id="14" idx="1"/>
          </p:cNvCxnSpPr>
          <p:nvPr/>
        </p:nvCxnSpPr>
        <p:spPr>
          <a:xfrm flipV="1">
            <a:off x="3551914" y="4332961"/>
            <a:ext cx="779937" cy="46026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>
            <a:stCxn id="16" idx="0"/>
            <a:endCxn id="14" idx="3"/>
          </p:cNvCxnSpPr>
          <p:nvPr/>
        </p:nvCxnSpPr>
        <p:spPr>
          <a:xfrm flipH="1" flipV="1">
            <a:off x="6287379" y="4332961"/>
            <a:ext cx="803277" cy="46026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stCxn id="18" idx="0"/>
            <a:endCxn id="16" idx="2"/>
          </p:cNvCxnSpPr>
          <p:nvPr/>
        </p:nvCxnSpPr>
        <p:spPr>
          <a:xfrm flipV="1">
            <a:off x="7090656" y="5401868"/>
            <a:ext cx="0" cy="43082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stCxn id="19" idx="0"/>
            <a:endCxn id="25" idx="3"/>
          </p:cNvCxnSpPr>
          <p:nvPr/>
        </p:nvCxnSpPr>
        <p:spPr>
          <a:xfrm flipH="1" flipV="1">
            <a:off x="8801101" y="2346925"/>
            <a:ext cx="1454365" cy="8765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5" name="矩形: 圆角 24"/>
          <p:cNvSpPr/>
          <p:nvPr/>
        </p:nvSpPr>
        <p:spPr>
          <a:xfrm>
            <a:off x="6845573" y="2042602"/>
            <a:ext cx="1955528" cy="608646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全局</a:t>
            </a:r>
            <a:endParaRPr lang="en-US" altLang="zh-CN" sz="2000" dirty="0"/>
          </a:p>
          <a:p>
            <a:pPr algn="ctr"/>
            <a:r>
              <a:rPr lang="zh-CN" altLang="en-US" sz="2000" dirty="0"/>
              <a:t>变量</a:t>
            </a:r>
            <a:r>
              <a:rPr lang="en-US" altLang="zh-CN" sz="2000" dirty="0"/>
              <a:t>a</a:t>
            </a:r>
            <a:endParaRPr lang="zh-CN" altLang="en-US" sz="2000" dirty="0"/>
          </a:p>
        </p:txBody>
      </p:sp>
      <p:sp>
        <p:nvSpPr>
          <p:cNvPr id="26" name="矩形: 圆角 25"/>
          <p:cNvSpPr/>
          <p:nvPr/>
        </p:nvSpPr>
        <p:spPr>
          <a:xfrm>
            <a:off x="4336739" y="3124677"/>
            <a:ext cx="1955528" cy="608646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函数</a:t>
            </a:r>
            <a:r>
              <a:rPr lang="en-US" altLang="zh-CN" sz="2000" dirty="0"/>
              <a:t>add</a:t>
            </a:r>
          </a:p>
          <a:p>
            <a:pPr algn="ctr"/>
            <a:r>
              <a:rPr lang="zh-CN" altLang="en-US" sz="2000" dirty="0"/>
              <a:t>形式参数</a:t>
            </a:r>
            <a:r>
              <a:rPr lang="en-US" altLang="zh-CN" sz="2000" dirty="0"/>
              <a:t>a</a:t>
            </a:r>
            <a:endParaRPr lang="zh-CN" altLang="en-US" sz="2000" dirty="0"/>
          </a:p>
        </p:txBody>
      </p:sp>
      <p:cxnSp>
        <p:nvCxnSpPr>
          <p:cNvPr id="31" name="直接箭头连接符 30"/>
          <p:cNvCxnSpPr>
            <a:stCxn id="14" idx="0"/>
            <a:endCxn id="26" idx="2"/>
          </p:cNvCxnSpPr>
          <p:nvPr/>
        </p:nvCxnSpPr>
        <p:spPr>
          <a:xfrm flipV="1">
            <a:off x="5309615" y="3733323"/>
            <a:ext cx="4888" cy="29531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>
            <a:stCxn id="26" idx="0"/>
            <a:endCxn id="25" idx="1"/>
          </p:cNvCxnSpPr>
          <p:nvPr/>
        </p:nvCxnSpPr>
        <p:spPr>
          <a:xfrm flipV="1">
            <a:off x="5314503" y="2346925"/>
            <a:ext cx="1531070" cy="7777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4" name="椭圆 43"/>
          <p:cNvSpPr/>
          <p:nvPr/>
        </p:nvSpPr>
        <p:spPr>
          <a:xfrm>
            <a:off x="1952533" y="4030230"/>
            <a:ext cx="332975" cy="302731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5" name="直接箭头连接符 44"/>
          <p:cNvCxnSpPr>
            <a:stCxn id="44" idx="6"/>
            <a:endCxn id="16" idx="1"/>
          </p:cNvCxnSpPr>
          <p:nvPr/>
        </p:nvCxnSpPr>
        <p:spPr>
          <a:xfrm>
            <a:off x="2285508" y="4181596"/>
            <a:ext cx="3827384" cy="915949"/>
          </a:xfrm>
          <a:prstGeom prst="straightConnector1">
            <a:avLst/>
          </a:prstGeom>
          <a:ln w="12700">
            <a:prstDash val="sys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8" name="椭圆 47"/>
          <p:cNvSpPr/>
          <p:nvPr/>
        </p:nvSpPr>
        <p:spPr>
          <a:xfrm>
            <a:off x="813105" y="2920772"/>
            <a:ext cx="277142" cy="203906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9" name="直接箭头连接符 48"/>
          <p:cNvCxnSpPr>
            <a:stCxn id="48" idx="6"/>
            <a:endCxn id="26" idx="1"/>
          </p:cNvCxnSpPr>
          <p:nvPr/>
        </p:nvCxnSpPr>
        <p:spPr>
          <a:xfrm>
            <a:off x="1090247" y="3022725"/>
            <a:ext cx="3246492" cy="406275"/>
          </a:xfrm>
          <a:prstGeom prst="straightConnector1">
            <a:avLst/>
          </a:prstGeom>
          <a:ln w="12700">
            <a:prstDash val="sysDash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2" name="椭圆 51"/>
          <p:cNvSpPr/>
          <p:nvPr/>
        </p:nvSpPr>
        <p:spPr>
          <a:xfrm>
            <a:off x="1240071" y="5832691"/>
            <a:ext cx="332975" cy="302731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文本框 55"/>
          <p:cNvSpPr txBox="1"/>
          <p:nvPr/>
        </p:nvSpPr>
        <p:spPr>
          <a:xfrm>
            <a:off x="2315678" y="5827155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全局变量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8083183" y="5984056"/>
            <a:ext cx="41088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d=a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会往上溯源找到第一个符合名字的变量</a:t>
            </a:r>
          </a:p>
        </p:txBody>
      </p:sp>
      <p:sp>
        <p:nvSpPr>
          <p:cNvPr id="58" name="文本框 57"/>
          <p:cNvSpPr txBox="1"/>
          <p:nvPr/>
        </p:nvSpPr>
        <p:spPr>
          <a:xfrm>
            <a:off x="8391716" y="3889761"/>
            <a:ext cx="3185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但同一个代码块里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不可声明两次同样名字的变量</a:t>
            </a:r>
          </a:p>
        </p:txBody>
      </p:sp>
      <p:pic>
        <p:nvPicPr>
          <p:cNvPr id="59" name="图片 5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6184" y="4537730"/>
            <a:ext cx="2319468" cy="17694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0"/>
                            </p:stCondLst>
                            <p:childTnLst>
                              <p:par>
                                <p:cTn id="5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500"/>
                            </p:stCondLst>
                            <p:childTnLst>
                              <p:par>
                                <p:cTn id="6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0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70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7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80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8500"/>
                            </p:stCondLst>
                            <p:childTnLst>
                              <p:par>
                                <p:cTn id="8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9000"/>
                            </p:stCondLst>
                            <p:childTnLst>
                              <p:par>
                                <p:cTn id="8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9500"/>
                            </p:stCondLst>
                            <p:childTnLst>
                              <p:par>
                                <p:cTn id="9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0000"/>
                            </p:stCondLst>
                            <p:childTnLst>
                              <p:par>
                                <p:cTn id="9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  <p:bldP spid="2" grpId="0"/>
      <p:bldP spid="14" grpId="0" animBg="1"/>
      <p:bldP spid="15" grpId="0" animBg="1"/>
      <p:bldP spid="16" grpId="0" animBg="1"/>
      <p:bldP spid="18" grpId="0" animBg="1"/>
      <p:bldP spid="19" grpId="0" animBg="1"/>
      <p:bldP spid="25" grpId="0" animBg="1"/>
      <p:bldP spid="26" grpId="0" animBg="1"/>
      <p:bldP spid="44" grpId="0" animBg="1"/>
      <p:bldP spid="48" grpId="0" animBg="1"/>
      <p:bldP spid="52" grpId="0" animBg="1"/>
      <p:bldP spid="56" grpId="0"/>
      <p:bldP spid="57" grpId="0"/>
      <p:bldP spid="5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变量的作用域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graphicFrame>
        <p:nvGraphicFramePr>
          <p:cNvPr id="5" name="表格 5"/>
          <p:cNvGraphicFramePr>
            <a:graphicFrameLocks noGrp="1"/>
          </p:cNvGraphicFramePr>
          <p:nvPr/>
        </p:nvGraphicFramePr>
        <p:xfrm>
          <a:off x="425752" y="2270658"/>
          <a:ext cx="11394832" cy="38653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87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87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87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87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922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位置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种类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初始化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生命周期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22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在函数或代码块里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局部变量</a:t>
                      </a:r>
                      <a:endParaRPr lang="en-US" altLang="zh-CN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24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local variables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必须手动初始化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整个函数（块）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22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在所有函数外面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全局变量</a:t>
                      </a:r>
                      <a:endParaRPr lang="en-US" altLang="zh-CN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Global variables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自动初始化为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整个程序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22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在函数参数列表里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形式参数</a:t>
                      </a:r>
                      <a:endParaRPr lang="en-US" altLang="zh-CN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Formal parameters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根据传输参数值</a:t>
                      </a:r>
                      <a:endParaRPr lang="en-US" altLang="zh-CN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自动初始化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整个函数（块）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1219200" y="634683"/>
            <a:ext cx="8587740" cy="28917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What is the output of this C code?</a:t>
            </a:r>
          </a:p>
          <a:p>
            <a:pPr lv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#include &lt;stdio.h&gt;</a:t>
            </a:r>
          </a:p>
          <a:p>
            <a:pPr lv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 x;</a:t>
            </a:r>
          </a:p>
          <a:p>
            <a:pPr lv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void main()</a:t>
            </a:r>
          </a:p>
          <a:p>
            <a:pPr lv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</a:p>
          <a:p>
            <a:pPr lv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printf("%d", x);</a:t>
            </a:r>
          </a:p>
          <a:p>
            <a:pPr lvl="0" algn="l">
              <a:spcBef>
                <a:spcPts val="0"/>
              </a:spcBef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2438400" y="4202271"/>
            <a:ext cx="1824355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Junk value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4190365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2438400" y="4842351"/>
            <a:ext cx="2479040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 time error</a:t>
            </a: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4830445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3" name="文本框 12"/>
          <p:cNvSpPr txBox="1"/>
          <p:nvPr>
            <p:custDataLst>
              <p:tags r:id="rId7"/>
            </p:custDataLst>
          </p:nvPr>
        </p:nvSpPr>
        <p:spPr>
          <a:xfrm>
            <a:off x="2438400" y="5491956"/>
            <a:ext cx="376555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548005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15" name="文本框 14"/>
          <p:cNvSpPr txBox="1"/>
          <p:nvPr>
            <p:custDataLst>
              <p:tags r:id="rId9"/>
            </p:custDataLst>
          </p:nvPr>
        </p:nvSpPr>
        <p:spPr>
          <a:xfrm>
            <a:off x="2438400" y="6136481"/>
            <a:ext cx="1835150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Undefined</a:t>
            </a: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6124575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</a:p>
        </p:txBody>
      </p:sp>
      <p:sp>
        <p:nvSpPr>
          <p:cNvPr id="19" name="圆角矩形 18"/>
          <p:cNvSpPr/>
          <p:nvPr>
            <p:custDataLst>
              <p:tags r:id="rId11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</a:p>
        </p:txBody>
      </p:sp>
      <p:grpSp>
        <p:nvGrpSpPr>
          <p:cNvPr id="7" name="组合 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</a:p>
          </p:txBody>
        </p:sp>
      </p:grpSp>
      <p:pic>
        <p:nvPicPr>
          <p:cNvPr id="2" name="图片 1" descr="tmp1E7D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1234440" y="1460342"/>
            <a:ext cx="8763000" cy="492443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What is the scope of an external variable?</a:t>
            </a: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2438400" y="2861310"/>
            <a:ext cx="6979920" cy="492443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Whole source file in which it is defined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2438400" y="3610840"/>
            <a:ext cx="7596505" cy="707886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From the point of declaration to the end of the file in which it is defined</a:t>
            </a: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3" name="文本框 12"/>
          <p:cNvSpPr txBox="1"/>
          <p:nvPr>
            <p:custDataLst>
              <p:tags r:id="rId7"/>
            </p:custDataLst>
          </p:nvPr>
        </p:nvSpPr>
        <p:spPr>
          <a:xfrm>
            <a:off x="2438400" y="4575810"/>
            <a:ext cx="5821680" cy="492443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Any source file in a program</a:t>
            </a: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15" name="文本框 14"/>
          <p:cNvSpPr txBox="1"/>
          <p:nvPr>
            <p:custDataLst>
              <p:tags r:id="rId9"/>
            </p:custDataLst>
          </p:nvPr>
        </p:nvSpPr>
        <p:spPr>
          <a:xfrm>
            <a:off x="2438400" y="5325339"/>
            <a:ext cx="7080886" cy="707886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From the point of declaration to the end of the file being compiled</a:t>
            </a: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</a:p>
        </p:txBody>
      </p:sp>
      <p:sp>
        <p:nvSpPr>
          <p:cNvPr id="17" name="圆角矩形 16"/>
          <p:cNvSpPr/>
          <p:nvPr>
            <p:custDataLst>
              <p:tags r:id="rId11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</a:p>
        </p:txBody>
      </p:sp>
      <p:grpSp>
        <p:nvGrpSpPr>
          <p:cNvPr id="7" name="组合 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</a:p>
          </p:txBody>
        </p:sp>
      </p:grpSp>
      <p:pic>
        <p:nvPicPr>
          <p:cNvPr id="2" name="图片 1" descr="tmp1E7D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1299210" y="653098"/>
            <a:ext cx="8005445" cy="341503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Comment on the output of this C code?</a:t>
            </a:r>
          </a:p>
          <a:p>
            <a:pPr lv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#include &lt;stdio.h&gt;
    int main()
    {
        int i;</a:t>
            </a:r>
          </a:p>
          <a:p>
            <a:pPr lv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for (i = 0;i &lt; 5; i++)</a:t>
            </a:r>
          </a:p>
          <a:p>
            <a:pPr lv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int a = i;</a:t>
            </a:r>
          </a:p>
          <a:p>
            <a:pPr lv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printf("%d", a);</a:t>
            </a:r>
          </a:p>
          <a:p>
            <a:pPr lvl="0" algn="l">
              <a:spcBef>
                <a:spcPts val="0"/>
              </a:spcBef>
              <a:buNone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}</a:t>
            </a: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2448560" y="4066381"/>
            <a:ext cx="6052185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is out of scope when printf is called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81785" y="4054475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81785" y="4740275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13" name="文本框 12"/>
          <p:cNvSpPr txBox="1"/>
          <p:nvPr>
            <p:custDataLst>
              <p:tags r:id="rId6"/>
            </p:custDataLst>
          </p:nvPr>
        </p:nvSpPr>
        <p:spPr>
          <a:xfrm>
            <a:off x="2396490" y="4738211"/>
            <a:ext cx="7419975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Redeclaration of a in same scope throws error</a:t>
            </a: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81785" y="5426075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15" name="文本框 14"/>
          <p:cNvSpPr txBox="1"/>
          <p:nvPr>
            <p:custDataLst>
              <p:tags r:id="rId8"/>
            </p:custDataLst>
          </p:nvPr>
        </p:nvSpPr>
        <p:spPr>
          <a:xfrm>
            <a:off x="2448560" y="5450681"/>
            <a:ext cx="5034280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Syntax error in declaration of a</a:t>
            </a: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81785" y="6111875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</a:p>
        </p:txBody>
      </p:sp>
      <p:sp>
        <p:nvSpPr>
          <p:cNvPr id="17" name="文本框 16"/>
          <p:cNvSpPr txBox="1"/>
          <p:nvPr>
            <p:custDataLst>
              <p:tags r:id="rId10"/>
            </p:custDataLst>
          </p:nvPr>
        </p:nvSpPr>
        <p:spPr>
          <a:xfrm>
            <a:off x="2448560" y="6136481"/>
            <a:ext cx="6856095" cy="4914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spAutoFit/>
          </a:bodyPr>
          <a:lstStyle/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 errors, program will show the output 5</a:t>
            </a:r>
          </a:p>
        </p:txBody>
      </p:sp>
      <p:sp>
        <p:nvSpPr>
          <p:cNvPr id="19" name="圆角矩形 18"/>
          <p:cNvSpPr/>
          <p:nvPr>
            <p:custDataLst>
              <p:tags r:id="rId11"/>
            </p:custDataLst>
          </p:nvPr>
        </p:nvSpPr>
        <p:spPr>
          <a:xfrm>
            <a:off x="9838690" y="619061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</a:p>
        </p:txBody>
      </p:sp>
      <p:grpSp>
        <p:nvGrpSpPr>
          <p:cNvPr id="7" name="组合 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</a:p>
          </p:txBody>
        </p:sp>
        <p:sp>
          <p:nvSpPr>
            <p:cNvPr id="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</a:p>
          </p:txBody>
        </p:sp>
      </p:grpSp>
      <p:pic>
        <p:nvPicPr>
          <p:cNvPr id="2" name="图片 1" descr="tmp1E7D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案例分析：</a:t>
            </a:r>
            <a:r>
              <a:rPr lang="en-US" altLang="zh-CN" sz="2800" b="1" kern="0" dirty="0" err="1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dotcpp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，题目 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1042: [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编程入门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]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电报加密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7F12B103-E094-476D-830B-9D72CF1E4CFA}"/>
              </a:ext>
            </a:extLst>
          </p:cNvPr>
          <p:cNvSpPr txBox="1"/>
          <p:nvPr/>
        </p:nvSpPr>
        <p:spPr>
          <a:xfrm>
            <a:off x="694354" y="2008682"/>
            <a:ext cx="5166799" cy="3693319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&lt;stdio.h&gt;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/**************************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* encipher 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编码字符。将字母变成其下一字母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* （如’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a’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变成’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b’……’z’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变成’ａ’其它字符不变）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* 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*  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output: 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编码后的字符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*  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parameter: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*      int 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需要编码的字符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*      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 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偏移量 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= 1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* ************************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endParaRPr lang="zh-CN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encipher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351F826-03B8-4409-97EB-1EE7C1B9FABE}"/>
              </a:ext>
            </a:extLst>
          </p:cNvPr>
          <p:cNvSpPr txBox="1"/>
          <p:nvPr/>
        </p:nvSpPr>
        <p:spPr>
          <a:xfrm>
            <a:off x="6330849" y="2008682"/>
            <a:ext cx="4870244" cy="3693319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读入一行电报输入</a:t>
            </a:r>
            <a:endParaRPr lang="en-US" altLang="zh-CN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%c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,&amp;</a:t>
            </a:r>
            <a:r>
              <a:rPr lang="en-US" altLang="zh-C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altLang="zh-C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encipher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%c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,&amp;</a:t>
            </a:r>
            <a:r>
              <a:rPr lang="en-US" altLang="zh-C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 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BE6CC33-9570-464B-941D-BFF2B5B52FB7}"/>
              </a:ext>
            </a:extLst>
          </p:cNvPr>
          <p:cNvSpPr txBox="1"/>
          <p:nvPr/>
        </p:nvSpPr>
        <p:spPr>
          <a:xfrm>
            <a:off x="4303675" y="6031313"/>
            <a:ext cx="5049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请打开 </a:t>
            </a:r>
            <a:r>
              <a:rPr lang="en-US" altLang="zh-CN" dirty="0">
                <a:solidFill>
                  <a:srgbClr val="FF0000"/>
                </a:solidFill>
              </a:rPr>
              <a:t>ex-</a:t>
            </a:r>
            <a:r>
              <a:rPr lang="en-US" altLang="zh-CN" dirty="0" err="1">
                <a:solidFill>
                  <a:srgbClr val="FF0000"/>
                </a:solidFill>
              </a:rPr>
              <a:t>encipher.c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zh-CN" altLang="en-US" dirty="0">
                <a:solidFill>
                  <a:srgbClr val="FF0000"/>
                </a:solidFill>
              </a:rPr>
              <a:t>给出函数 </a:t>
            </a:r>
            <a:r>
              <a:rPr lang="en-US" altLang="zh-CN" dirty="0">
                <a:solidFill>
                  <a:srgbClr val="FF0000"/>
                </a:solidFill>
              </a:rPr>
              <a:t>encipher </a:t>
            </a:r>
            <a:r>
              <a:rPr lang="zh-CN" altLang="en-US" dirty="0">
                <a:solidFill>
                  <a:srgbClr val="FF0000"/>
                </a:solidFill>
              </a:rPr>
              <a:t>的定义</a:t>
            </a:r>
            <a:r>
              <a:rPr lang="en-US" altLang="zh-CN" dirty="0">
                <a:solidFill>
                  <a:srgbClr val="FF0000"/>
                </a:solidFill>
              </a:rPr>
              <a:t>?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4381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案例分析：</a:t>
            </a:r>
            <a:r>
              <a:rPr lang="en-US" altLang="zh-CN" sz="2800" b="1" kern="0" dirty="0" err="1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dotcpp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，题目 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1042: [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编程入门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]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电报加密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7F12B103-E094-476D-830B-9D72CF1E4CFA}"/>
              </a:ext>
            </a:extLst>
          </p:cNvPr>
          <p:cNvSpPr txBox="1"/>
          <p:nvPr/>
        </p:nvSpPr>
        <p:spPr>
          <a:xfrm>
            <a:off x="776800" y="2713220"/>
            <a:ext cx="4870244" cy="230832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encipher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'z'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%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26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'Z'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% </a:t>
            </a:r>
            <a:r>
              <a:rPr lang="en-US" altLang="zh-C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26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976F50E-D3CD-47D6-94E6-390EDF55E778}"/>
              </a:ext>
            </a:extLst>
          </p:cNvPr>
          <p:cNvSpPr txBox="1"/>
          <p:nvPr/>
        </p:nvSpPr>
        <p:spPr>
          <a:xfrm>
            <a:off x="776800" y="2186121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解答</a:t>
            </a:r>
            <a:r>
              <a:rPr lang="en-US" altLang="zh-CN" dirty="0"/>
              <a:t>:</a:t>
            </a:r>
            <a:endParaRPr lang="zh-CN" altLang="en-US" dirty="0"/>
          </a:p>
        </p:txBody>
      </p:sp>
      <p:sp>
        <p:nvSpPr>
          <p:cNvPr id="10" name="内容占位符 3">
            <a:extLst>
              <a:ext uri="{FF2B5EF4-FFF2-40B4-BE49-F238E27FC236}">
                <a16:creationId xmlns:a16="http://schemas.microsoft.com/office/drawing/2014/main" id="{CDF0620B-1198-446C-949F-5671DB0B2E79}"/>
              </a:ext>
            </a:extLst>
          </p:cNvPr>
          <p:cNvSpPr>
            <a:spLocks noGrp="1"/>
          </p:cNvSpPr>
          <p:nvPr/>
        </p:nvSpPr>
        <p:spPr>
          <a:xfrm>
            <a:off x="6287124" y="2017833"/>
            <a:ext cx="5022954" cy="435165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000000"/>
                </a:solidFill>
                <a:latin typeface="DejaVuSans"/>
              </a:rPr>
              <a:t>使用函数的好处</a:t>
            </a:r>
            <a:endParaRPr lang="en-US" altLang="zh-CN" dirty="0">
              <a:solidFill>
                <a:srgbClr val="000000"/>
              </a:solidFill>
              <a:latin typeface="DejaVuSans"/>
            </a:endParaRPr>
          </a:p>
          <a:p>
            <a:pPr lvl="1"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latin typeface="DejaVuSans"/>
              </a:rPr>
              <a:t>…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000000"/>
                </a:solidFill>
                <a:latin typeface="DejaVuSans"/>
              </a:rPr>
              <a:t>一些基本概念</a:t>
            </a:r>
            <a:endParaRPr lang="en-US" altLang="zh-CN" dirty="0">
              <a:solidFill>
                <a:srgbClr val="000000"/>
              </a:solidFill>
              <a:latin typeface="DejaVuSans"/>
            </a:endParaRPr>
          </a:p>
          <a:p>
            <a:pPr lvl="1">
              <a:lnSpc>
                <a:spcPct val="120000"/>
              </a:lnSpc>
            </a:pPr>
            <a:r>
              <a:rPr lang="zh-CN" altLang="en-US" dirty="0">
                <a:solidFill>
                  <a:srgbClr val="000000"/>
                </a:solidFill>
                <a:latin typeface="DejaVuSans"/>
              </a:rPr>
              <a:t>函数是</a:t>
            </a:r>
            <a:r>
              <a:rPr lang="zh-CN" altLang="en-US" b="1" dirty="0">
                <a:solidFill>
                  <a:srgbClr val="000000"/>
                </a:solidFill>
                <a:latin typeface="DejaVuSans"/>
              </a:rPr>
              <a:t>初级表达式</a:t>
            </a:r>
            <a:r>
              <a:rPr lang="en-US" altLang="zh-CN" dirty="0">
                <a:solidFill>
                  <a:srgbClr val="000000"/>
                </a:solidFill>
                <a:latin typeface="DejaVuSans"/>
              </a:rPr>
              <a:t>(primary expression)</a:t>
            </a:r>
          </a:p>
          <a:p>
            <a:pPr lvl="1">
              <a:lnSpc>
                <a:spcPct val="120000"/>
              </a:lnSpc>
            </a:pPr>
            <a:r>
              <a:rPr lang="zh-CN" altLang="en-US" dirty="0">
                <a:solidFill>
                  <a:srgbClr val="000000"/>
                </a:solidFill>
                <a:latin typeface="DejaVuSans"/>
              </a:rPr>
              <a:t>函数申明的参数叫</a:t>
            </a:r>
            <a:r>
              <a:rPr lang="zh-CN" altLang="en-US" b="1" dirty="0">
                <a:solidFill>
                  <a:srgbClr val="000000"/>
                </a:solidFill>
                <a:latin typeface="DejaVuSans"/>
              </a:rPr>
              <a:t>形参</a:t>
            </a:r>
            <a:r>
              <a:rPr lang="en-US" altLang="zh-CN" dirty="0">
                <a:solidFill>
                  <a:srgbClr val="000000"/>
                </a:solidFill>
                <a:latin typeface="DejaVuSans"/>
              </a:rPr>
              <a:t>(form parameter)</a:t>
            </a:r>
          </a:p>
          <a:p>
            <a:pPr lvl="1">
              <a:lnSpc>
                <a:spcPct val="120000"/>
              </a:lnSpc>
            </a:pPr>
            <a:r>
              <a:rPr lang="zh-CN" altLang="en-US" dirty="0">
                <a:solidFill>
                  <a:srgbClr val="000000"/>
                </a:solidFill>
                <a:latin typeface="DejaVuSans"/>
              </a:rPr>
              <a:t>函数调用输入的参数叫</a:t>
            </a:r>
            <a:r>
              <a:rPr lang="zh-CN" altLang="en-US" b="1" dirty="0">
                <a:solidFill>
                  <a:srgbClr val="000000"/>
                </a:solidFill>
                <a:latin typeface="DejaVuSans"/>
              </a:rPr>
              <a:t>实参</a:t>
            </a:r>
            <a:r>
              <a:rPr lang="en-US" altLang="zh-CN" dirty="0">
                <a:solidFill>
                  <a:srgbClr val="000000"/>
                </a:solidFill>
                <a:latin typeface="DejaVuSans"/>
              </a:rPr>
              <a:t>(argument)</a:t>
            </a:r>
          </a:p>
          <a:p>
            <a:pPr lvl="1">
              <a:lnSpc>
                <a:spcPct val="120000"/>
              </a:lnSpc>
            </a:pPr>
            <a:r>
              <a:rPr lang="zh-CN" altLang="en-US" dirty="0">
                <a:solidFill>
                  <a:srgbClr val="000000"/>
                </a:solidFill>
                <a:latin typeface="DejaVuSans"/>
              </a:rPr>
              <a:t>当实参与形参不匹配时，会自动</a:t>
            </a:r>
            <a:r>
              <a:rPr lang="zh-CN" altLang="en-US" b="1" dirty="0">
                <a:solidFill>
                  <a:srgbClr val="C00000"/>
                </a:solidFill>
                <a:latin typeface="DejaVuSans"/>
              </a:rPr>
              <a:t>强制转换</a:t>
            </a:r>
            <a:endParaRPr lang="en-US" altLang="zh-CN" b="1" dirty="0">
              <a:solidFill>
                <a:srgbClr val="C00000"/>
              </a:solidFill>
              <a:latin typeface="DejaVuSans"/>
            </a:endParaRPr>
          </a:p>
          <a:p>
            <a:pPr lvl="1">
              <a:lnSpc>
                <a:spcPct val="120000"/>
              </a:lnSpc>
            </a:pPr>
            <a:r>
              <a:rPr lang="zh-CN" altLang="en-US" dirty="0">
                <a:solidFill>
                  <a:srgbClr val="000000"/>
                </a:solidFill>
                <a:latin typeface="DejaVuSans"/>
              </a:rPr>
              <a:t>右值表达式等级低于 </a:t>
            </a:r>
            <a:r>
              <a:rPr lang="en-US" altLang="zh-CN" dirty="0">
                <a:solidFill>
                  <a:srgbClr val="000000"/>
                </a:solidFill>
                <a:latin typeface="DejaVuSans"/>
              </a:rPr>
              <a:t>int </a:t>
            </a:r>
            <a:r>
              <a:rPr lang="zh-CN" altLang="en-US" dirty="0">
                <a:solidFill>
                  <a:srgbClr val="000000"/>
                </a:solidFill>
                <a:latin typeface="DejaVuSans"/>
              </a:rPr>
              <a:t>的整数，会自动</a:t>
            </a:r>
            <a:r>
              <a:rPr lang="zh-CN" altLang="en-US" b="1" dirty="0">
                <a:solidFill>
                  <a:srgbClr val="C00000"/>
                </a:solidFill>
                <a:latin typeface="DejaVuSans"/>
              </a:rPr>
              <a:t>整数提升</a:t>
            </a:r>
            <a:endParaRPr lang="en-US" altLang="zh-CN" b="1" dirty="0">
              <a:solidFill>
                <a:srgbClr val="C00000"/>
              </a:solidFill>
              <a:latin typeface="DejaVuSans"/>
            </a:endParaRPr>
          </a:p>
          <a:p>
            <a:pPr lvl="1">
              <a:lnSpc>
                <a:spcPct val="120000"/>
              </a:lnSpc>
            </a:pPr>
            <a:endParaRPr lang="en-US" altLang="zh-CN" dirty="0">
              <a:solidFill>
                <a:srgbClr val="000000"/>
              </a:solidFill>
              <a:latin typeface="DejaVuSans"/>
            </a:endParaRPr>
          </a:p>
          <a:p>
            <a:pPr>
              <a:lnSpc>
                <a:spcPct val="120000"/>
              </a:lnSpc>
            </a:pPr>
            <a:endParaRPr lang="en-US" altLang="zh-CN" dirty="0">
              <a:solidFill>
                <a:srgbClr val="000000"/>
              </a:solidFill>
              <a:latin typeface="DejaVuSans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CN" dirty="0">
              <a:solidFill>
                <a:srgbClr val="000000"/>
              </a:solidFill>
              <a:latin typeface="DejaVuSans"/>
            </a:endParaRPr>
          </a:p>
        </p:txBody>
      </p:sp>
    </p:spTree>
    <p:extLst>
      <p:ext uri="{BB962C8B-B14F-4D97-AF65-F5344CB8AC3E}">
        <p14:creationId xmlns:p14="http://schemas.microsoft.com/office/powerpoint/2010/main" val="844259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学论网-矩形 1"/>
          <p:cNvSpPr/>
          <p:nvPr/>
        </p:nvSpPr>
        <p:spPr>
          <a:xfrm>
            <a:off x="0" y="791845"/>
            <a:ext cx="12192000" cy="73723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函数（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1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）</a:t>
            </a:r>
            <a:r>
              <a:rPr lang="en-US" altLang="zh-CN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- </a:t>
            </a:r>
            <a:r>
              <a: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rPr>
              <a:t>课后练习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10" name="内容占位符 3">
            <a:extLst>
              <a:ext uri="{FF2B5EF4-FFF2-40B4-BE49-F238E27FC236}">
                <a16:creationId xmlns:a16="http://schemas.microsoft.com/office/drawing/2014/main" id="{D629388B-A0FA-4935-A200-9BF72A71C0AB}"/>
              </a:ext>
            </a:extLst>
          </p:cNvPr>
          <p:cNvSpPr>
            <a:spLocks noGrp="1"/>
          </p:cNvSpPr>
          <p:nvPr/>
        </p:nvSpPr>
        <p:spPr>
          <a:xfrm>
            <a:off x="838200" y="1815465"/>
            <a:ext cx="9813324" cy="435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FandolSong" panose="00000500000000000000" charset="-122"/>
                <a:ea typeface="FandolSong" panose="00000500000000000000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8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Leetcode.cn</a:t>
            </a:r>
            <a:r>
              <a:rPr lang="zh-CN" altLang="en-US" sz="28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，题目 </a:t>
            </a:r>
            <a:r>
              <a:rPr lang="en-US" altLang="zh-CN" sz="28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7. </a:t>
            </a:r>
            <a:r>
              <a:rPr lang="zh-CN" altLang="en-US" sz="28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整数反转</a:t>
            </a:r>
            <a:endParaRPr lang="en-US" altLang="zh-CN" sz="28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28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（请课后研究数学类题目，例如：题目 </a:t>
            </a:r>
            <a:r>
              <a:rPr lang="en-US" altLang="zh-CN" sz="28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9. </a:t>
            </a:r>
            <a:r>
              <a:rPr lang="zh-CN" altLang="en-US" sz="28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回文数）</a:t>
            </a:r>
            <a:endParaRPr lang="en-US" altLang="zh-CN" sz="28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sz="20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0A7DD6F-3BD6-D141-5199-DAC9554E1341}"/>
              </a:ext>
            </a:extLst>
          </p:cNvPr>
          <p:cNvSpPr txBox="1"/>
          <p:nvPr/>
        </p:nvSpPr>
        <p:spPr>
          <a:xfrm>
            <a:off x="4053016" y="616712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请问程序输出是什么？</a:t>
            </a:r>
          </a:p>
        </p:txBody>
      </p:sp>
    </p:spTree>
    <p:extLst>
      <p:ext uri="{BB962C8B-B14F-4D97-AF65-F5344CB8AC3E}">
        <p14:creationId xmlns:p14="http://schemas.microsoft.com/office/powerpoint/2010/main" val="1913796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04" b="46967"/>
          <a:stretch>
            <a:fillRect/>
          </a:stretch>
        </p:blipFill>
        <p:spPr>
          <a:xfrm>
            <a:off x="0" y="2176476"/>
            <a:ext cx="12209296" cy="2877923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2176477"/>
            <a:ext cx="12192000" cy="2877922"/>
          </a:xfrm>
          <a:prstGeom prst="rect">
            <a:avLst/>
          </a:prstGeom>
          <a:gradFill>
            <a:gsLst>
              <a:gs pos="0">
                <a:srgbClr val="014723"/>
              </a:gs>
              <a:gs pos="59000">
                <a:srgbClr val="014723">
                  <a:alpha val="60000"/>
                </a:srgbClr>
              </a:gs>
              <a:gs pos="100000">
                <a:srgbClr val="014723">
                  <a:alpha val="10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5161452" y="2867904"/>
            <a:ext cx="1886392" cy="1015663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dist"/>
            <a:r>
              <a:rPr lang="zh-CN" altLang="en-US" sz="60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</a:t>
            </a:r>
          </a:p>
        </p:txBody>
      </p:sp>
      <p:sp>
        <p:nvSpPr>
          <p:cNvPr id="16" name="TextBox 10"/>
          <p:cNvSpPr txBox="1"/>
          <p:nvPr/>
        </p:nvSpPr>
        <p:spPr>
          <a:xfrm>
            <a:off x="2565806" y="3990096"/>
            <a:ext cx="7060388" cy="523196"/>
          </a:xfrm>
          <a:prstGeom prst="rect">
            <a:avLst/>
          </a:prstGeom>
          <a:noFill/>
        </p:spPr>
        <p:txBody>
          <a:bodyPr wrap="squar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28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中山大学计算机学院</a:t>
            </a:r>
            <a:endParaRPr lang="en-US" altLang="zh-CN" sz="28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00" r="2284" b="11992"/>
          <a:stretch>
            <a:fillRect/>
          </a:stretch>
        </p:blipFill>
        <p:spPr>
          <a:xfrm>
            <a:off x="4339400" y="923192"/>
            <a:ext cx="3433000" cy="1072662"/>
          </a:xfrm>
          <a:prstGeom prst="rect">
            <a:avLst/>
          </a:prstGeom>
        </p:spPr>
      </p:pic>
      <p:sp>
        <p:nvSpPr>
          <p:cNvPr id="17" name="TextBox 6"/>
          <p:cNvSpPr txBox="1"/>
          <p:nvPr/>
        </p:nvSpPr>
        <p:spPr>
          <a:xfrm>
            <a:off x="5270368" y="5644929"/>
            <a:ext cx="1979981" cy="400085"/>
          </a:xfrm>
          <a:prstGeom prst="rect">
            <a:avLst/>
          </a:prstGeom>
          <a:noFill/>
        </p:spPr>
        <p:txBody>
          <a:bodyPr wrap="non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accent2"/>
                </a:solidFill>
                <a:latin typeface="+mn-ea"/>
                <a:ea typeface="+mn-ea"/>
              </a:defRPr>
            </a:lvl1pPr>
          </a:lstStyle>
          <a:p>
            <a:pPr algn="ctr"/>
            <a:r>
              <a:rPr lang="zh-CN" altLang="en-US" b="1">
                <a:solidFill>
                  <a:srgbClr val="0147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编制人</a:t>
            </a:r>
            <a:r>
              <a:rPr lang="zh-CN" altLang="en-US" dirty="0">
                <a:solidFill>
                  <a:srgbClr val="0147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：课题组</a:t>
            </a:r>
            <a:endParaRPr lang="en-US" altLang="zh-CN" dirty="0">
              <a:solidFill>
                <a:srgbClr val="0147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Freeform 7"/>
          <p:cNvSpPr>
            <a:spLocks noChangeAspect="1" noEditPoints="1"/>
          </p:cNvSpPr>
          <p:nvPr/>
        </p:nvSpPr>
        <p:spPr bwMode="auto">
          <a:xfrm>
            <a:off x="4549092" y="5611849"/>
            <a:ext cx="462900" cy="466244"/>
          </a:xfrm>
          <a:custGeom>
            <a:avLst/>
            <a:gdLst>
              <a:gd name="T0" fmla="*/ 661 w 904"/>
              <a:gd name="T1" fmla="*/ 461 h 905"/>
              <a:gd name="T2" fmla="*/ 661 w 904"/>
              <a:gd name="T3" fmla="*/ 339 h 905"/>
              <a:gd name="T4" fmla="*/ 605 w 904"/>
              <a:gd name="T5" fmla="*/ 339 h 905"/>
              <a:gd name="T6" fmla="*/ 605 w 904"/>
              <a:gd name="T7" fmla="*/ 461 h 905"/>
              <a:gd name="T8" fmla="*/ 456 w 904"/>
              <a:gd name="T9" fmla="*/ 610 h 905"/>
              <a:gd name="T10" fmla="*/ 453 w 904"/>
              <a:gd name="T11" fmla="*/ 610 h 905"/>
              <a:gd name="T12" fmla="*/ 452 w 904"/>
              <a:gd name="T13" fmla="*/ 610 h 905"/>
              <a:gd name="T14" fmla="*/ 451 w 904"/>
              <a:gd name="T15" fmla="*/ 610 h 905"/>
              <a:gd name="T16" fmla="*/ 448 w 904"/>
              <a:gd name="T17" fmla="*/ 610 h 905"/>
              <a:gd name="T18" fmla="*/ 299 w 904"/>
              <a:gd name="T19" fmla="*/ 461 h 905"/>
              <a:gd name="T20" fmla="*/ 299 w 904"/>
              <a:gd name="T21" fmla="*/ 339 h 905"/>
              <a:gd name="T22" fmla="*/ 244 w 904"/>
              <a:gd name="T23" fmla="*/ 339 h 905"/>
              <a:gd name="T24" fmla="*/ 244 w 904"/>
              <a:gd name="T25" fmla="*/ 461 h 905"/>
              <a:gd name="T26" fmla="*/ 419 w 904"/>
              <a:gd name="T27" fmla="*/ 664 h 905"/>
              <a:gd name="T28" fmla="*/ 419 w 904"/>
              <a:gd name="T29" fmla="*/ 752 h 905"/>
              <a:gd name="T30" fmla="*/ 295 w 904"/>
              <a:gd name="T31" fmla="*/ 787 h 905"/>
              <a:gd name="T32" fmla="*/ 610 w 904"/>
              <a:gd name="T33" fmla="*/ 787 h 905"/>
              <a:gd name="T34" fmla="*/ 484 w 904"/>
              <a:gd name="T35" fmla="*/ 751 h 905"/>
              <a:gd name="T36" fmla="*/ 484 w 904"/>
              <a:gd name="T37" fmla="*/ 664 h 905"/>
              <a:gd name="T38" fmla="*/ 661 w 904"/>
              <a:gd name="T39" fmla="*/ 461 h 905"/>
              <a:gd name="T40" fmla="*/ 450 w 904"/>
              <a:gd name="T41" fmla="*/ 558 h 905"/>
              <a:gd name="T42" fmla="*/ 452 w 904"/>
              <a:gd name="T43" fmla="*/ 558 h 905"/>
              <a:gd name="T44" fmla="*/ 454 w 904"/>
              <a:gd name="T45" fmla="*/ 558 h 905"/>
              <a:gd name="T46" fmla="*/ 554 w 904"/>
              <a:gd name="T47" fmla="*/ 459 h 905"/>
              <a:gd name="T48" fmla="*/ 554 w 904"/>
              <a:gd name="T49" fmla="*/ 218 h 905"/>
              <a:gd name="T50" fmla="*/ 454 w 904"/>
              <a:gd name="T51" fmla="*/ 118 h 905"/>
              <a:gd name="T52" fmla="*/ 452 w 904"/>
              <a:gd name="T53" fmla="*/ 118 h 905"/>
              <a:gd name="T54" fmla="*/ 450 w 904"/>
              <a:gd name="T55" fmla="*/ 118 h 905"/>
              <a:gd name="T56" fmla="*/ 351 w 904"/>
              <a:gd name="T57" fmla="*/ 218 h 905"/>
              <a:gd name="T58" fmla="*/ 351 w 904"/>
              <a:gd name="T59" fmla="*/ 459 h 905"/>
              <a:gd name="T60" fmla="*/ 450 w 904"/>
              <a:gd name="T61" fmla="*/ 558 h 905"/>
              <a:gd name="T62" fmla="*/ 452 w 904"/>
              <a:gd name="T63" fmla="*/ 0 h 905"/>
              <a:gd name="T64" fmla="*/ 904 w 904"/>
              <a:gd name="T65" fmla="*/ 453 h 905"/>
              <a:gd name="T66" fmla="*/ 452 w 904"/>
              <a:gd name="T67" fmla="*/ 905 h 905"/>
              <a:gd name="T68" fmla="*/ 0 w 904"/>
              <a:gd name="T69" fmla="*/ 453 h 905"/>
              <a:gd name="T70" fmla="*/ 452 w 904"/>
              <a:gd name="T71" fmla="*/ 0 h 9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904" h="905">
                <a:moveTo>
                  <a:pt x="661" y="461"/>
                </a:moveTo>
                <a:lnTo>
                  <a:pt x="661" y="339"/>
                </a:lnTo>
                <a:cubicBezTo>
                  <a:pt x="661" y="304"/>
                  <a:pt x="605" y="304"/>
                  <a:pt x="605" y="339"/>
                </a:cubicBezTo>
                <a:lnTo>
                  <a:pt x="605" y="461"/>
                </a:lnTo>
                <a:cubicBezTo>
                  <a:pt x="605" y="543"/>
                  <a:pt x="538" y="610"/>
                  <a:pt x="456" y="610"/>
                </a:cubicBezTo>
                <a:cubicBezTo>
                  <a:pt x="455" y="610"/>
                  <a:pt x="454" y="610"/>
                  <a:pt x="453" y="610"/>
                </a:cubicBezTo>
                <a:lnTo>
                  <a:pt x="452" y="610"/>
                </a:lnTo>
                <a:lnTo>
                  <a:pt x="451" y="610"/>
                </a:lnTo>
                <a:cubicBezTo>
                  <a:pt x="450" y="610"/>
                  <a:pt x="449" y="610"/>
                  <a:pt x="448" y="610"/>
                </a:cubicBezTo>
                <a:cubicBezTo>
                  <a:pt x="366" y="610"/>
                  <a:pt x="299" y="543"/>
                  <a:pt x="299" y="461"/>
                </a:cubicBezTo>
                <a:lnTo>
                  <a:pt x="299" y="339"/>
                </a:lnTo>
                <a:cubicBezTo>
                  <a:pt x="299" y="304"/>
                  <a:pt x="244" y="304"/>
                  <a:pt x="244" y="339"/>
                </a:cubicBezTo>
                <a:cubicBezTo>
                  <a:pt x="244" y="355"/>
                  <a:pt x="244" y="461"/>
                  <a:pt x="244" y="461"/>
                </a:cubicBezTo>
                <a:cubicBezTo>
                  <a:pt x="244" y="564"/>
                  <a:pt x="320" y="650"/>
                  <a:pt x="419" y="664"/>
                </a:cubicBezTo>
                <a:lnTo>
                  <a:pt x="419" y="752"/>
                </a:lnTo>
                <a:lnTo>
                  <a:pt x="295" y="787"/>
                </a:lnTo>
                <a:lnTo>
                  <a:pt x="610" y="787"/>
                </a:lnTo>
                <a:lnTo>
                  <a:pt x="484" y="751"/>
                </a:lnTo>
                <a:lnTo>
                  <a:pt x="484" y="664"/>
                </a:lnTo>
                <a:cubicBezTo>
                  <a:pt x="584" y="650"/>
                  <a:pt x="661" y="564"/>
                  <a:pt x="661" y="461"/>
                </a:cubicBezTo>
                <a:close/>
                <a:moveTo>
                  <a:pt x="450" y="558"/>
                </a:moveTo>
                <a:cubicBezTo>
                  <a:pt x="451" y="558"/>
                  <a:pt x="451" y="558"/>
                  <a:pt x="452" y="558"/>
                </a:cubicBezTo>
                <a:cubicBezTo>
                  <a:pt x="453" y="558"/>
                  <a:pt x="453" y="558"/>
                  <a:pt x="454" y="558"/>
                </a:cubicBezTo>
                <a:cubicBezTo>
                  <a:pt x="509" y="558"/>
                  <a:pt x="554" y="514"/>
                  <a:pt x="554" y="459"/>
                </a:cubicBezTo>
                <a:lnTo>
                  <a:pt x="554" y="218"/>
                </a:lnTo>
                <a:cubicBezTo>
                  <a:pt x="554" y="163"/>
                  <a:pt x="509" y="118"/>
                  <a:pt x="454" y="118"/>
                </a:cubicBezTo>
                <a:cubicBezTo>
                  <a:pt x="453" y="118"/>
                  <a:pt x="453" y="118"/>
                  <a:pt x="452" y="118"/>
                </a:cubicBezTo>
                <a:cubicBezTo>
                  <a:pt x="452" y="118"/>
                  <a:pt x="451" y="118"/>
                  <a:pt x="450" y="118"/>
                </a:cubicBezTo>
                <a:cubicBezTo>
                  <a:pt x="395" y="118"/>
                  <a:pt x="351" y="163"/>
                  <a:pt x="351" y="218"/>
                </a:cubicBezTo>
                <a:lnTo>
                  <a:pt x="351" y="459"/>
                </a:lnTo>
                <a:cubicBezTo>
                  <a:pt x="351" y="514"/>
                  <a:pt x="395" y="558"/>
                  <a:pt x="450" y="558"/>
                </a:cubicBezTo>
                <a:close/>
                <a:moveTo>
                  <a:pt x="452" y="0"/>
                </a:moveTo>
                <a:cubicBezTo>
                  <a:pt x="702" y="0"/>
                  <a:pt x="904" y="203"/>
                  <a:pt x="904" y="453"/>
                </a:cubicBezTo>
                <a:cubicBezTo>
                  <a:pt x="904" y="702"/>
                  <a:pt x="702" y="905"/>
                  <a:pt x="452" y="905"/>
                </a:cubicBezTo>
                <a:cubicBezTo>
                  <a:pt x="202" y="905"/>
                  <a:pt x="0" y="702"/>
                  <a:pt x="0" y="453"/>
                </a:cubicBezTo>
                <a:cubicBezTo>
                  <a:pt x="0" y="203"/>
                  <a:pt x="202" y="0"/>
                  <a:pt x="452" y="0"/>
                </a:cubicBezTo>
                <a:close/>
              </a:path>
            </a:pathLst>
          </a:custGeom>
          <a:solidFill>
            <a:srgbClr val="014723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/>
          <a:p>
            <a:endParaRPr lang="zh-CN" altLang="en-US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主题​​">
  <a:themeElements>
    <a:clrScheme name="自定义 2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004723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4489</TotalTime>
  <Words>4033</Words>
  <Application>Microsoft Office PowerPoint</Application>
  <PresentationFormat>宽屏</PresentationFormat>
  <Paragraphs>756</Paragraphs>
  <Slides>51</Slides>
  <Notes>45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51</vt:i4>
      </vt:variant>
    </vt:vector>
  </HeadingPairs>
  <TitlesOfParts>
    <vt:vector size="62" baseType="lpstr">
      <vt:lpstr>DejaVuSans</vt:lpstr>
      <vt:lpstr>FandolSong</vt:lpstr>
      <vt:lpstr>Impact MT Std</vt:lpstr>
      <vt:lpstr>Microsoft Yahei</vt:lpstr>
      <vt:lpstr>等线</vt:lpstr>
      <vt:lpstr>等线 Light</vt:lpstr>
      <vt:lpstr>微软雅黑</vt:lpstr>
      <vt:lpstr>Arial</vt:lpstr>
      <vt:lpstr>Consolas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答辩-19</dc:title>
  <dc:creator>LP</dc:creator>
  <cp:lastModifiedBy>stsluy</cp:lastModifiedBy>
  <cp:revision>247</cp:revision>
  <dcterms:created xsi:type="dcterms:W3CDTF">2016-11-24T09:20:00Z</dcterms:created>
  <dcterms:modified xsi:type="dcterms:W3CDTF">2023-11-06T05:01:10Z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2052-11.1.0.10700</vt:lpwstr>
  </property>
  <property fmtid="{D5CDD505-2E9C-101B-9397-08002B2CF9AE}" pid="3" name="ICV">
    <vt:lpwstr>7E38F6AF0AEB4547AE4ACB4243E3DBEC</vt:lpwstr>
  </property>
</Properties>
</file>