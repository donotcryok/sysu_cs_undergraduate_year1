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313" r:id="rId4"/>
    <p:sldId id="356" r:id="rId5"/>
    <p:sldId id="355" r:id="rId6"/>
    <p:sldId id="314" r:id="rId7"/>
    <p:sldId id="315" r:id="rId8"/>
    <p:sldId id="347" r:id="rId9"/>
    <p:sldId id="357" r:id="rId10"/>
    <p:sldId id="316" r:id="rId11"/>
    <p:sldId id="618" r:id="rId12"/>
    <p:sldId id="619" r:id="rId13"/>
    <p:sldId id="358" r:id="rId14"/>
    <p:sldId id="290" r:id="rId15"/>
    <p:sldId id="405" r:id="rId16"/>
    <p:sldId id="406" r:id="rId17"/>
    <p:sldId id="407" r:id="rId18"/>
    <p:sldId id="409" r:id="rId19"/>
    <p:sldId id="526" r:id="rId20"/>
    <p:sldId id="528" r:id="rId21"/>
    <p:sldId id="408" r:id="rId22"/>
    <p:sldId id="410" r:id="rId23"/>
    <p:sldId id="411" r:id="rId24"/>
    <p:sldId id="412" r:id="rId25"/>
    <p:sldId id="403" r:id="rId26"/>
    <p:sldId id="404" r:id="rId27"/>
    <p:sldId id="354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723"/>
    <a:srgbClr val="92D050"/>
    <a:srgbClr val="FF5D5D"/>
    <a:srgbClr val="C00000"/>
    <a:srgbClr val="CC3300"/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89103" autoAdjust="0"/>
  </p:normalViewPr>
  <p:slideViewPr>
    <p:cSldViewPr snapToGrid="0">
      <p:cViewPr>
        <p:scale>
          <a:sx n="75" d="100"/>
          <a:sy n="75" d="100"/>
        </p:scale>
        <p:origin x="972" y="98"/>
      </p:cViewPr>
      <p:guideLst>
        <p:guide orient="horz" pos="2160"/>
        <p:guide pos="38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156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302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⼀、效率</a:t>
            </a:r>
            <a:endParaRPr lang="zh-CN" altLang="en-US" dirty="0"/>
          </a:p>
          <a:p>
            <a:r>
              <a:rPr lang="zh-CN" altLang="en-US" dirty="0">
                <a:effectLst/>
              </a:rPr>
              <a:t>递归中有可能很多计算都是重复的，从⽽对性能带来很⼤的影响。递归的本质是把⼀个问题分解成多个⼩问题。如果多个⼩问题存在相互重叠的部分，那么就存在重复的计算。⽐如“斐波那契数列”。</a:t>
            </a:r>
            <a:endParaRPr lang="zh-CN" altLang="en-US" dirty="0"/>
          </a:p>
          <a:p>
            <a:r>
              <a:rPr lang="zh-CN" altLang="en-US" dirty="0">
                <a:effectLst/>
              </a:rPr>
              <a:t>⼆、空间</a:t>
            </a:r>
            <a:endParaRPr lang="zh-CN" altLang="en-US" dirty="0"/>
          </a:p>
          <a:p>
            <a:r>
              <a:rPr lang="zh-CN" altLang="en-US" dirty="0">
                <a:effectLst/>
              </a:rPr>
              <a:t>除了效率之外，递归还有可能引起更严重的问题：调⽤栈溢出。每个进程的栈的容量是有限的，当递归调⽤的层级太多时，就会超出栈的容量，从⽽导致栈举出。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336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Fibonacci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数列一般指斐波那契数列。 斐波那契数列（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Fibonacci sequence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），又称黄金分割数列，因数学家莱昂纳多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斐波那契（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Leonardo Fibonacci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）以兔子繁殖为例子而引入，故又称为“兔子数列”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9404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9385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28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756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1908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952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33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2122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8253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53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忽略双数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688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斐波那契数列（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Fibonacci sequence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），又称黄金分割数列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斐波那契数列：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https://baike.baidu.com/item/%E6%96%90%E6%B3%A2%E9%82%A3%E5%A5%91%E6%95%B0%E5%88%97/99145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00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给你一个整数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，请你判断该整数是否是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的幂次方。如果是，返回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；否则，返回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如果存在一个整数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使得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== 2</a:t>
            </a:r>
            <a:r>
              <a:rPr lang="en-US" altLang="zh-CN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，则认为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的幂次方。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前三种方法</a:t>
            </a:r>
            <a:r>
              <a:rPr lang="en-US" altLang="zh-CN" dirty="0"/>
              <a:t>;</a:t>
            </a:r>
            <a:r>
              <a:rPr lang="zh-CN" altLang="en-US" dirty="0"/>
              <a:t>但是他们的中心思想是二进制</a:t>
            </a:r>
            <a:br>
              <a:rPr lang="en-US" altLang="zh-CN" dirty="0"/>
            </a:br>
            <a:r>
              <a:rPr lang="zh-CN" altLang="en-US" dirty="0"/>
              <a:t>方法一：统计该数的二进制中</a:t>
            </a:r>
            <a:r>
              <a:rPr lang="en-US" altLang="zh-CN" dirty="0"/>
              <a:t>1</a:t>
            </a:r>
            <a:r>
              <a:rPr lang="zh-CN" altLang="en-US" dirty="0"/>
              <a:t>的个数如果个数为</a:t>
            </a:r>
            <a:r>
              <a:rPr lang="en-US" altLang="zh-CN" dirty="0"/>
              <a:t>1</a:t>
            </a:r>
            <a:r>
              <a:rPr lang="zh-CN" altLang="en-US" dirty="0"/>
              <a:t>就是，否则就不是</a:t>
            </a:r>
            <a:endParaRPr lang="en-US" altLang="zh-CN" dirty="0"/>
          </a:p>
          <a:p>
            <a:r>
              <a:rPr lang="zh-CN" altLang="en-US" dirty="0"/>
              <a:t>方法二：</a:t>
            </a:r>
            <a:r>
              <a:rPr lang="en-US" altLang="zh-CN" dirty="0"/>
              <a:t>x==x&amp;(-x)</a:t>
            </a:r>
            <a:r>
              <a:rPr lang="zh-CN" altLang="en-US" dirty="0"/>
              <a:t>由于</a:t>
            </a:r>
            <a:r>
              <a:rPr lang="en-US" altLang="zh-CN" dirty="0"/>
              <a:t>x&amp;(-x)</a:t>
            </a:r>
            <a:r>
              <a:rPr lang="zh-CN" altLang="en-US" dirty="0"/>
              <a:t>返回的是从右到左第一个</a:t>
            </a:r>
            <a:r>
              <a:rPr lang="en-US" altLang="zh-CN" dirty="0"/>
              <a:t>1</a:t>
            </a:r>
            <a:r>
              <a:rPr lang="zh-CN" altLang="en-US" dirty="0"/>
              <a:t>所表示的大小</a:t>
            </a:r>
            <a:r>
              <a:rPr lang="en-US" altLang="zh-CN" dirty="0"/>
              <a:t>;</a:t>
            </a:r>
            <a:r>
              <a:rPr lang="zh-CN" altLang="en-US" dirty="0"/>
              <a:t>对于</a:t>
            </a:r>
            <a:r>
              <a:rPr lang="en-US" altLang="zh-CN" dirty="0"/>
              <a:t>110010000 </a:t>
            </a:r>
            <a:r>
              <a:rPr lang="zh-CN" altLang="en-US" dirty="0"/>
              <a:t>返回的就</a:t>
            </a:r>
            <a:r>
              <a:rPr lang="en-US" altLang="zh-CN" dirty="0"/>
              <a:t>10000;</a:t>
            </a:r>
            <a:r>
              <a:rPr lang="zh-CN" altLang="en-US" dirty="0"/>
              <a:t>所以可以用来判断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方法三</a:t>
            </a:r>
            <a:r>
              <a:rPr lang="en-US" altLang="zh-CN" dirty="0"/>
              <a:t>: x&amp;(x-1)==0 </a:t>
            </a:r>
            <a:r>
              <a:rPr lang="zh-CN" altLang="en-US" dirty="0"/>
              <a:t>举个例子</a:t>
            </a:r>
            <a:r>
              <a:rPr lang="en-US" altLang="zh-CN" dirty="0"/>
              <a:t>: 1000</a:t>
            </a:r>
            <a:r>
              <a:rPr lang="zh-CN" altLang="en-US" dirty="0"/>
              <a:t>它减</a:t>
            </a:r>
            <a:r>
              <a:rPr lang="en-US" altLang="zh-CN" dirty="0"/>
              <a:t>1</a:t>
            </a:r>
            <a:r>
              <a:rPr lang="zh-CN" altLang="en-US" dirty="0"/>
              <a:t>变成</a:t>
            </a:r>
            <a:r>
              <a:rPr lang="en-US" altLang="zh-CN" dirty="0"/>
              <a:t>0111</a:t>
            </a:r>
            <a:r>
              <a:rPr lang="zh-CN" altLang="en-US" dirty="0"/>
              <a:t>与运算得</a:t>
            </a:r>
            <a:r>
              <a:rPr lang="en-US" altLang="zh-CN" dirty="0"/>
              <a:t>0</a:t>
            </a:r>
            <a:r>
              <a:rPr lang="zh-CN" altLang="en-US" dirty="0"/>
              <a:t>所以是</a:t>
            </a:r>
            <a:r>
              <a:rPr lang="en-US" altLang="zh-CN" dirty="0"/>
              <a:t>2</a:t>
            </a:r>
            <a:r>
              <a:rPr lang="zh-CN" altLang="en-US" dirty="0"/>
              <a:t>的幂次方</a:t>
            </a:r>
            <a:endParaRPr lang="pt-BR" altLang="zh-CN" dirty="0"/>
          </a:p>
          <a:p>
            <a:r>
              <a:rPr lang="zh-CN" altLang="en-US" dirty="0"/>
              <a:t>方法四：使用数学方法  </a:t>
            </a:r>
            <a:r>
              <a:rPr lang="pt-BR" altLang="zh-CN" dirty="0"/>
              <a:t>n &gt; 0 &amp;&amp; log2(n) == floor(log2(n))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731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9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9.pn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9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9.png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.cppreference.com/w/c/language/variadic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23683" y="2729511"/>
            <a:ext cx="9744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函数和作用域（</a:t>
            </a:r>
            <a:r>
              <a:rPr lang="en-US" altLang="zh-CN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398606" y="5644929"/>
            <a:ext cx="1723500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讲课人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：陆勇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50"/>
                            </p:stCondLst>
                            <p:childTnLst>
                              <p:par>
                                <p:cTn id="1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903234" y="1113118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01</a:t>
            </a:r>
            <a:endParaRPr lang="zh-CN" altLang="en-US" b="1" dirty="0"/>
          </a:p>
        </p:txBody>
      </p:sp>
      <p:sp>
        <p:nvSpPr>
          <p:cNvPr id="6" name="圆角矩形 5"/>
          <p:cNvSpPr/>
          <p:nvPr/>
        </p:nvSpPr>
        <p:spPr>
          <a:xfrm>
            <a:off x="5903234" y="2081043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02</a:t>
            </a:r>
            <a:endParaRPr lang="zh-CN" altLang="en-US" b="1" dirty="0"/>
          </a:p>
        </p:txBody>
      </p:sp>
      <p:sp>
        <p:nvSpPr>
          <p:cNvPr id="7" name="圆角矩形 6"/>
          <p:cNvSpPr/>
          <p:nvPr/>
        </p:nvSpPr>
        <p:spPr>
          <a:xfrm>
            <a:off x="5903234" y="3048968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03</a:t>
            </a:r>
            <a:endParaRPr lang="zh-CN" altLang="en-US" b="1" dirty="0"/>
          </a:p>
        </p:txBody>
      </p:sp>
      <p:sp>
        <p:nvSpPr>
          <p:cNvPr id="8" name="圆角矩形 7"/>
          <p:cNvSpPr/>
          <p:nvPr/>
        </p:nvSpPr>
        <p:spPr>
          <a:xfrm>
            <a:off x="5903234" y="4016893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04</a:t>
            </a:r>
            <a:endParaRPr lang="zh-CN" altLang="en-US" b="1" dirty="0"/>
          </a:p>
        </p:txBody>
      </p:sp>
      <p:sp>
        <p:nvSpPr>
          <p:cNvPr id="9" name="圆角矩形 8"/>
          <p:cNvSpPr/>
          <p:nvPr/>
        </p:nvSpPr>
        <p:spPr>
          <a:xfrm>
            <a:off x="5903234" y="498482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05</a:t>
            </a:r>
            <a:endParaRPr lang="zh-CN" altLang="en-US" b="1" dirty="0"/>
          </a:p>
        </p:txBody>
      </p:sp>
      <p:sp>
        <p:nvSpPr>
          <p:cNvPr id="59" name="圆角矩形 58"/>
          <p:cNvSpPr/>
          <p:nvPr/>
        </p:nvSpPr>
        <p:spPr>
          <a:xfrm>
            <a:off x="7008134" y="1113118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递归函数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7008134" y="2081043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项目与多文件编译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7008134" y="3048968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静态变量与外部变量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7008134" y="4016893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可变参数函数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7008134" y="4984820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模块化编程基础（例子）</a:t>
            </a:r>
          </a:p>
        </p:txBody>
      </p:sp>
      <p:sp>
        <p:nvSpPr>
          <p:cNvPr id="64" name="TextBox 78"/>
          <p:cNvSpPr txBox="1"/>
          <p:nvPr/>
        </p:nvSpPr>
        <p:spPr>
          <a:xfrm>
            <a:off x="565975" y="3733289"/>
            <a:ext cx="206338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33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/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递归（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recursive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）的概念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074656" y="1738207"/>
                <a:ext cx="10152668" cy="4486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阶乘的两种定义：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! =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∗(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−1)∗(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−2)∗…∗1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𝑛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!=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1                     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𝑤h𝑒𝑟𝑒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  <m:d>
                                <m:d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! 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𝑤h𝑒𝑟𝑒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&gt;1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前面的是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迭代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定义可以看作用一个循环去计算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阶乘的方法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后面的是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递归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定义是用一个分段函数表示，它包括两个部分：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基本情况（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bottom cases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），基本的事实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递推关系（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recurrence relation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），通过递推分解，最终递归到基本情况，给出问题解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递归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是一种问题求解的方法，在递归过程中，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函数将自身作为子例程调用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56" y="1738207"/>
                <a:ext cx="10152668" cy="4486356"/>
              </a:xfrm>
              <a:prstGeom prst="rect">
                <a:avLst/>
              </a:prstGeom>
              <a:blipFill>
                <a:blip r:embed="rId4"/>
                <a:stretch>
                  <a:fillRect l="-900" t="-1087" r="-1801"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递归（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recursive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）的实现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74656" y="1738207"/>
            <a:ext cx="10152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计算算法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4C7911-3E25-CB95-4F5B-3A00D8175A03}"/>
              </a:ext>
            </a:extLst>
          </p:cNvPr>
          <p:cNvSpPr txBox="1"/>
          <p:nvPr/>
        </p:nvSpPr>
        <p:spPr>
          <a:xfrm>
            <a:off x="982493" y="2320925"/>
            <a:ext cx="5756704" cy="39703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FacterialLoop</a:t>
            </a:r>
            <a:r>
              <a:rPr lang="en-US" altLang="zh-CN" dirty="0">
                <a:latin typeface="Consolas" panose="020B0609020204030204" pitchFamily="49" charset="0"/>
              </a:rPr>
              <a:t>(int n){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out = 1;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latin typeface="Consolas" panose="020B0609020204030204" pitchFamily="49" charset="0"/>
              </a:rPr>
              <a:t>for</a:t>
            </a:r>
            <a:r>
              <a:rPr lang="en-US" altLang="zh-CN" dirty="0">
                <a:latin typeface="Consolas" panose="020B0609020204030204" pitchFamily="49" charset="0"/>
              </a:rPr>
              <a:t> (int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=n;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&gt;0; </a:t>
            </a:r>
            <a:r>
              <a:rPr lang="en-US" altLang="zh-CN" b="1" dirty="0" err="1"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latin typeface="Consolas" panose="020B0609020204030204" pitchFamily="49" charset="0"/>
              </a:rPr>
              <a:t>--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out *=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return out;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b="1" dirty="0" err="1">
                <a:latin typeface="Consolas" panose="020B0609020204030204" pitchFamily="49" charset="0"/>
              </a:rPr>
              <a:t>FacterialRecursive</a:t>
            </a:r>
            <a:r>
              <a:rPr lang="en-US" altLang="zh-CN" dirty="0">
                <a:latin typeface="Consolas" panose="020B0609020204030204" pitchFamily="49" charset="0"/>
              </a:rPr>
              <a:t>(int n){</a:t>
            </a:r>
          </a:p>
          <a:p>
            <a:r>
              <a:rPr lang="en-US" altLang="zh-CN" b="1" dirty="0">
                <a:latin typeface="Consolas" panose="020B0609020204030204" pitchFamily="49" charset="0"/>
              </a:rPr>
              <a:t>    if</a:t>
            </a:r>
            <a:r>
              <a:rPr lang="en-US" altLang="zh-CN" dirty="0">
                <a:latin typeface="Consolas" panose="020B0609020204030204" pitchFamily="49" charset="0"/>
              </a:rPr>
              <a:t> (n &lt;= 1)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return 1;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latin typeface="Consolas" panose="020B0609020204030204" pitchFamily="49" charset="0"/>
              </a:rPr>
              <a:t>else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return n * </a:t>
            </a:r>
            <a:r>
              <a:rPr lang="en-US" altLang="zh-CN" b="1" dirty="0" err="1">
                <a:latin typeface="Consolas" panose="020B0609020204030204" pitchFamily="49" charset="0"/>
              </a:rPr>
              <a:t>FacterialRecursive</a:t>
            </a:r>
            <a:r>
              <a:rPr lang="en-US" altLang="zh-CN" dirty="0">
                <a:latin typeface="Consolas" panose="020B0609020204030204" pitchFamily="49" charset="0"/>
              </a:rPr>
              <a:t>(n - 1);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77BDFD-F676-379F-7A63-DF3323EAB8F2}"/>
              </a:ext>
            </a:extLst>
          </p:cNvPr>
          <p:cNvSpPr txBox="1"/>
          <p:nvPr/>
        </p:nvSpPr>
        <p:spPr>
          <a:xfrm>
            <a:off x="7072008" y="2320925"/>
            <a:ext cx="4488865" cy="39703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Facterial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FacterialLoop</a:t>
            </a:r>
            <a:r>
              <a:rPr lang="en-US" altLang="zh-CN" dirty="0">
                <a:latin typeface="Consolas" panose="020B0609020204030204" pitchFamily="49" charset="0"/>
              </a:rPr>
              <a:t>(int);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FacterialRecursive</a:t>
            </a:r>
            <a:r>
              <a:rPr lang="en-US" altLang="zh-CN" dirty="0">
                <a:latin typeface="Consolas" panose="020B0609020204030204" pitchFamily="49" charset="0"/>
              </a:rPr>
              <a:t>(int);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*请使用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-1,0,1,2,5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测试程序*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n = 5;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("loop out %d\n",</a:t>
            </a:r>
            <a:r>
              <a:rPr lang="en-US" altLang="zh-CN" dirty="0" err="1">
                <a:latin typeface="Consolas" panose="020B0609020204030204" pitchFamily="49" charset="0"/>
              </a:rPr>
              <a:t>FacterialLoop</a:t>
            </a:r>
            <a:r>
              <a:rPr lang="en-US" altLang="zh-CN" dirty="0">
                <a:latin typeface="Consolas" panose="020B0609020204030204" pitchFamily="49" charset="0"/>
              </a:rPr>
              <a:t>(n));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("recursive out %d\n",</a:t>
            </a:r>
            <a:r>
              <a:rPr lang="en-US" altLang="zh-CN" dirty="0" err="1">
                <a:latin typeface="Consolas" panose="020B0609020204030204" pitchFamily="49" charset="0"/>
              </a:rPr>
              <a:t>FacterialRecursive</a:t>
            </a:r>
            <a:r>
              <a:rPr lang="en-US" altLang="zh-CN" dirty="0">
                <a:latin typeface="Consolas" panose="020B0609020204030204" pitchFamily="49" charset="0"/>
              </a:rPr>
              <a:t>(n));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26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递归函数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73910" y="1766488"/>
            <a:ext cx="8745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递归函数（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recursive function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）是一种能够调用自身的函数。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这种技术叫做递归（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recursion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1485" y="2597485"/>
            <a:ext cx="2151917" cy="4081987"/>
          </a:xfrm>
          <a:prstGeom prst="rect">
            <a:avLst/>
          </a:prstGeom>
        </p:spPr>
      </p:pic>
      <p:cxnSp>
        <p:nvCxnSpPr>
          <p:cNvPr id="25" name="直接连接符 24"/>
          <p:cNvCxnSpPr/>
          <p:nvPr/>
        </p:nvCxnSpPr>
        <p:spPr>
          <a:xfrm>
            <a:off x="4603402" y="5820508"/>
            <a:ext cx="237182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975230" y="2769577"/>
            <a:ext cx="0" cy="30509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4603402" y="2769577"/>
            <a:ext cx="23718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03402" y="3722077"/>
            <a:ext cx="211978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6723184" y="2921977"/>
            <a:ext cx="0" cy="8001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4603402" y="2921977"/>
            <a:ext cx="211978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4855447" y="333338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自身调用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7484149" y="3787210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当然，不能无休止的调用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使用条件语句等避免无休止调用，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即满足一定条件后停止自身调用</a:t>
            </a:r>
          </a:p>
        </p:txBody>
      </p:sp>
    </p:spTree>
    <p:extLst>
      <p:ext uri="{BB962C8B-B14F-4D97-AF65-F5344CB8AC3E}">
        <p14:creationId xmlns:p14="http://schemas.microsoft.com/office/powerpoint/2010/main" val="294263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  <p:bldP spid="44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递归函数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57" y="1730636"/>
            <a:ext cx="4505325" cy="49434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69858" y="1730636"/>
            <a:ext cx="6669742" cy="408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一个简单的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1+2+3+…+n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的递归计算函数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最初，从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函数调用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函数，并传递一个参数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number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number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，则在下一次调用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时，传递参数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。直到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条件不满足，执行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语句里的返回，直到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7E8D2A-87F6-4385-A99F-76F484A4A9A4}"/>
              </a:ext>
            </a:extLst>
          </p:cNvPr>
          <p:cNvSpPr txBox="1"/>
          <p:nvPr/>
        </p:nvSpPr>
        <p:spPr>
          <a:xfrm>
            <a:off x="5844619" y="6259398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请将这个问题写成递归公式，然后问程序有没有缺陷？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递归函数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展开与回溯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166" y="1731553"/>
            <a:ext cx="4505325" cy="4943475"/>
          </a:xfrm>
          <a:prstGeom prst="rect">
            <a:avLst/>
          </a:prstGeom>
        </p:spPr>
      </p:pic>
      <p:pic>
        <p:nvPicPr>
          <p:cNvPr id="11266" name="Picture 2" descr="Calculation of sum of natural number using recurs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15" y="0"/>
            <a:ext cx="3273181" cy="687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递归练习：小青蛙跳台阶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838200" y="1815465"/>
            <a:ext cx="10236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问题描述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0070C0"/>
                </a:solidFill>
              </a:rPr>
              <a:t>一只青蛙一次可以跳上</a:t>
            </a:r>
            <a:r>
              <a:rPr lang="en-US" altLang="zh-CN" dirty="0">
                <a:solidFill>
                  <a:srgbClr val="0070C0"/>
                </a:solidFill>
              </a:rPr>
              <a:t>1</a:t>
            </a:r>
            <a:r>
              <a:rPr lang="zh-CN" altLang="en-US" dirty="0">
                <a:solidFill>
                  <a:srgbClr val="0070C0"/>
                </a:solidFill>
              </a:rPr>
              <a:t>级台阶，也可以跳上</a:t>
            </a:r>
            <a:r>
              <a:rPr lang="en-US" altLang="zh-CN" dirty="0">
                <a:solidFill>
                  <a:srgbClr val="0070C0"/>
                </a:solidFill>
              </a:rPr>
              <a:t>2</a:t>
            </a:r>
            <a:r>
              <a:rPr lang="zh-CN" altLang="en-US" dirty="0">
                <a:solidFill>
                  <a:srgbClr val="0070C0"/>
                </a:solidFill>
              </a:rPr>
              <a:t>级。求该青蛙跳上一个</a:t>
            </a:r>
            <a:r>
              <a:rPr lang="en-US" altLang="zh-CN" dirty="0">
                <a:solidFill>
                  <a:srgbClr val="0070C0"/>
                </a:solidFill>
              </a:rPr>
              <a:t>n</a:t>
            </a:r>
            <a:r>
              <a:rPr lang="zh-CN" altLang="en-US" dirty="0">
                <a:solidFill>
                  <a:srgbClr val="0070C0"/>
                </a:solidFill>
              </a:rPr>
              <a:t>级的台阶总共有多少种跳法。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问题求解</a:t>
            </a: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90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递归练习：小青蛙跳台阶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838200" y="1815465"/>
            <a:ext cx="10236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问题描述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0070C0"/>
                </a:solidFill>
              </a:rPr>
              <a:t>一只青蛙一次可以跳上</a:t>
            </a:r>
            <a:r>
              <a:rPr lang="en-US" altLang="zh-CN" dirty="0">
                <a:solidFill>
                  <a:srgbClr val="0070C0"/>
                </a:solidFill>
              </a:rPr>
              <a:t>1</a:t>
            </a:r>
            <a:r>
              <a:rPr lang="zh-CN" altLang="en-US" dirty="0">
                <a:solidFill>
                  <a:srgbClr val="0070C0"/>
                </a:solidFill>
              </a:rPr>
              <a:t>级台阶，也可以跳上</a:t>
            </a:r>
            <a:r>
              <a:rPr lang="en-US" altLang="zh-CN" dirty="0">
                <a:solidFill>
                  <a:srgbClr val="0070C0"/>
                </a:solidFill>
              </a:rPr>
              <a:t>2</a:t>
            </a:r>
            <a:r>
              <a:rPr lang="zh-CN" altLang="en-US" dirty="0">
                <a:solidFill>
                  <a:srgbClr val="0070C0"/>
                </a:solidFill>
              </a:rPr>
              <a:t>级。求该青蛙跳上一个</a:t>
            </a:r>
            <a:r>
              <a:rPr lang="en-US" altLang="zh-CN" dirty="0">
                <a:solidFill>
                  <a:srgbClr val="0070C0"/>
                </a:solidFill>
              </a:rPr>
              <a:t>n</a:t>
            </a:r>
            <a:r>
              <a:rPr lang="zh-CN" altLang="en-US" dirty="0">
                <a:solidFill>
                  <a:srgbClr val="0070C0"/>
                </a:solidFill>
              </a:rPr>
              <a:t>级的台阶总共有多少种跳法。</a:t>
            </a:r>
            <a:endParaRPr lang="en-US" altLang="zh-CN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问题求解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申明问题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int f(int n);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基本事实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f(1) = 1;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f(2) = 2; //</a:t>
            </a:r>
            <a:r>
              <a:rPr lang="zh-CN" altLang="en-US" dirty="0"/>
              <a:t>跳</a:t>
            </a:r>
            <a:r>
              <a:rPr lang="en-US" altLang="zh-CN" dirty="0"/>
              <a:t>1</a:t>
            </a:r>
            <a:r>
              <a:rPr lang="zh-CN" altLang="en-US" dirty="0"/>
              <a:t>级和跳</a:t>
            </a:r>
            <a:r>
              <a:rPr lang="en-US" altLang="zh-CN" dirty="0"/>
              <a:t>2</a:t>
            </a:r>
            <a:r>
              <a:rPr lang="zh-CN" altLang="en-US" dirty="0"/>
              <a:t>级各一种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zh-CN" altLang="en-US" dirty="0"/>
              <a:t>验证 </a:t>
            </a:r>
            <a:r>
              <a:rPr lang="en-US" altLang="zh-CN" dirty="0"/>
              <a:t>f(3) = f(2) + f(1) = 3  //</a:t>
            </a:r>
            <a:r>
              <a:rPr lang="zh-CN" altLang="en-US" dirty="0"/>
              <a:t>最后跳</a:t>
            </a:r>
            <a:r>
              <a:rPr lang="en-US" altLang="zh-CN" dirty="0"/>
              <a:t>1</a:t>
            </a:r>
            <a:r>
              <a:rPr lang="zh-CN" altLang="en-US" dirty="0"/>
              <a:t>级和跳</a:t>
            </a:r>
            <a:r>
              <a:rPr lang="en-US" altLang="zh-CN" dirty="0"/>
              <a:t>2</a:t>
            </a:r>
            <a:r>
              <a:rPr lang="zh-CN" altLang="en-US" dirty="0"/>
              <a:t>级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分解问题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f(n) =  f(n-1) + f(n-2);</a:t>
            </a:r>
          </a:p>
          <a:p>
            <a:pPr>
              <a:lnSpc>
                <a:spcPct val="120000"/>
              </a:lnSpc>
            </a:pP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F14549-A31A-6D14-80E1-DB5F36D0E09E}"/>
                  </a:ext>
                </a:extLst>
              </p:cNvPr>
              <p:cNvSpPr txBox="1"/>
              <p:nvPr/>
            </p:nvSpPr>
            <p:spPr>
              <a:xfrm>
                <a:off x="6819090" y="3842426"/>
                <a:ext cx="3309752" cy="976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1            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𝑤h𝑒𝑟𝑒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2           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𝑤h𝑒𝑟𝑒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−2)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F14549-A31A-6D14-80E1-DB5F36D0E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090" y="3842426"/>
                <a:ext cx="3309752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859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递归函数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探索迷宫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4841" y="1628427"/>
            <a:ext cx="119205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递归使程序代码优雅简洁。但是，由于调用函数的缘故，递归通常要慢得多。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但是递归的概念至关重要，它经常用在数据结构和算法中，比如图的搜索与回溯</a:t>
            </a:r>
          </a:p>
        </p:txBody>
      </p:sp>
      <p:pic>
        <p:nvPicPr>
          <p:cNvPr id="12290" name="Picture 2" descr="Depth-First Search (DFS) | Brilliant Math &amp;amp; Science Wiki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961" y="2398803"/>
            <a:ext cx="8185272" cy="445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460342"/>
            <a:ext cx="962660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Which keyword can be used for coming out of recursion?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64160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369820" y="2654776"/>
            <a:ext cx="1521902" cy="48768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421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30530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369820" y="3418840"/>
            <a:ext cx="176022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510603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2438400" y="4316095"/>
            <a:ext cx="176022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exit</a:t>
            </a: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2438400" y="5106035"/>
            <a:ext cx="569531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Both (a) and (b)</a:t>
            </a:r>
          </a:p>
        </p:txBody>
      </p:sp>
      <p:sp>
        <p:nvSpPr>
          <p:cNvPr id="20" name="圆角矩形 19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481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12</a:t>
            </a:fld>
            <a:r>
              <a:rPr lang="en-US" altLang="zh-CN" dirty="0"/>
              <a:t>/19</a:t>
            </a:r>
            <a:endParaRPr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219200" y="1460343"/>
            <a:ext cx="761492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recursive function is a function that: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438400" y="2861311"/>
            <a:ext cx="5117465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Returns a double.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2438400" y="3718561"/>
            <a:ext cx="544068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Takes 3 arguments.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438400" y="4575811"/>
            <a:ext cx="796544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Calls itself, directly or indirectly.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2438400" y="5433061"/>
            <a:ext cx="744728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 inside of another function.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8" name="圆角矩形 17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8" name="组合 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3" name="图片 2" descr="tmp481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多文件编译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项目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74656" y="1738207"/>
            <a:ext cx="10152668" cy="46820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项目：管理一个应用相关源代码与资源文件的集合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创建一个新项目：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添加文件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main.c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到项目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或菜单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Rebuild All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产生结果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编译产生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.o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文件，通过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链接产生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.exe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文件，失败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两个函数未定义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一个错误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添加文件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func.c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到项目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或菜单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Rebuild All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运行，观察文件目录，产生了哪些文件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+mj-lt"/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502A13-5C9A-6220-3A68-7D5CB6DB2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257" y="2261386"/>
            <a:ext cx="3731884" cy="22457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C4D85F7-B6CD-C525-3C14-5E0B05FC7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257" y="4705233"/>
            <a:ext cx="4045158" cy="1924149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C617881-205E-58DC-4D07-5717691428BA}"/>
              </a:ext>
            </a:extLst>
          </p:cNvPr>
          <p:cNvCxnSpPr/>
          <p:nvPr/>
        </p:nvCxnSpPr>
        <p:spPr>
          <a:xfrm>
            <a:off x="4445540" y="2568102"/>
            <a:ext cx="2013626" cy="612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CE27A09-C107-3C17-947C-2E817BC23416}"/>
              </a:ext>
            </a:extLst>
          </p:cNvPr>
          <p:cNvCxnSpPr>
            <a:cxnSpLocks/>
          </p:cNvCxnSpPr>
          <p:nvPr/>
        </p:nvCxnSpPr>
        <p:spPr>
          <a:xfrm>
            <a:off x="5243209" y="4010840"/>
            <a:ext cx="1488331" cy="989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0DDD0DF-4F51-F466-41EB-1679C529FB22}"/>
              </a:ext>
            </a:extLst>
          </p:cNvPr>
          <p:cNvCxnSpPr>
            <a:cxnSpLocks/>
          </p:cNvCxnSpPr>
          <p:nvPr/>
        </p:nvCxnSpPr>
        <p:spPr>
          <a:xfrm>
            <a:off x="5452353" y="4367069"/>
            <a:ext cx="1279187" cy="7399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0C51EA1-582F-E9B5-B6F8-4464091ABFE2}"/>
              </a:ext>
            </a:extLst>
          </p:cNvPr>
          <p:cNvCxnSpPr>
            <a:cxnSpLocks/>
          </p:cNvCxnSpPr>
          <p:nvPr/>
        </p:nvCxnSpPr>
        <p:spPr>
          <a:xfrm>
            <a:off x="4072379" y="5000017"/>
            <a:ext cx="2584878" cy="1147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75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Review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：编译过程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编译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链接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grpSp>
        <p:nvGrpSpPr>
          <p:cNvPr id="29" name="Group 30"/>
          <p:cNvGrpSpPr>
            <a:grpSpLocks/>
          </p:cNvGrpSpPr>
          <p:nvPr/>
        </p:nvGrpSpPr>
        <p:grpSpPr bwMode="auto">
          <a:xfrm>
            <a:off x="6847966" y="4395492"/>
            <a:ext cx="2209800" cy="2286000"/>
            <a:chOff x="3552" y="2678"/>
            <a:chExt cx="1392" cy="1440"/>
          </a:xfrm>
        </p:grpSpPr>
        <p:sp>
          <p:nvSpPr>
            <p:cNvPr id="30" name="AutoShape 31"/>
            <p:cNvSpPr>
              <a:spLocks noChangeArrowheads="1"/>
            </p:cNvSpPr>
            <p:nvPr/>
          </p:nvSpPr>
          <p:spPr bwMode="auto">
            <a:xfrm>
              <a:off x="4067" y="2678"/>
              <a:ext cx="362" cy="594"/>
            </a:xfrm>
            <a:prstGeom prst="upArrow">
              <a:avLst>
                <a:gd name="adj1" fmla="val 50000"/>
                <a:gd name="adj2" fmla="val 82037"/>
              </a:avLst>
            </a:prstGeom>
            <a:solidFill>
              <a:srgbClr val="FF9933"/>
            </a:solidFill>
            <a:ln>
              <a:noFill/>
            </a:ln>
            <a:effectLst>
              <a:outerShdw dist="8980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3552" y="3272"/>
              <a:ext cx="1392" cy="846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  <a:effectLst>
              <a:outerShdw dist="8980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>
                  <a:solidFill>
                    <a:srgbClr val="000000"/>
                  </a:solidFill>
                  <a:latin typeface="New York" charset="0"/>
                </a:rPr>
                <a:t>other code 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>
                  <a:solidFill>
                    <a:srgbClr val="000000"/>
                  </a:solidFill>
                  <a:latin typeface="New York" charset="0"/>
                </a:rPr>
                <a:t>from libraries,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>
                  <a:solidFill>
                    <a:srgbClr val="000000"/>
                  </a:solidFill>
                  <a:latin typeface="New York" charset="0"/>
                </a:rPr>
                <a:t> etc.</a:t>
              </a:r>
            </a:p>
          </p:txBody>
        </p:sp>
      </p:grpSp>
      <p:grpSp>
        <p:nvGrpSpPr>
          <p:cNvPr id="32" name="Group 33"/>
          <p:cNvGrpSpPr>
            <a:grpSpLocks/>
          </p:cNvGrpSpPr>
          <p:nvPr/>
        </p:nvGrpSpPr>
        <p:grpSpPr bwMode="auto">
          <a:xfrm>
            <a:off x="2105352" y="2803230"/>
            <a:ext cx="8482013" cy="1409700"/>
            <a:chOff x="261" y="1653"/>
            <a:chExt cx="5343" cy="888"/>
          </a:xfrm>
        </p:grpSpPr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4116" y="1653"/>
              <a:ext cx="1488" cy="888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  <a:effectLst>
              <a:outerShdw dist="8980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>
                  <a:solidFill>
                    <a:srgbClr val="000000"/>
                  </a:solidFill>
                  <a:latin typeface="New York" charset="0"/>
                </a:rPr>
                <a:t>written in 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>
                  <a:solidFill>
                    <a:srgbClr val="000000"/>
                  </a:solidFill>
                  <a:latin typeface="New York" charset="0"/>
                </a:rPr>
                <a:t>machine 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>
                  <a:solidFill>
                    <a:srgbClr val="000000"/>
                  </a:solidFill>
                  <a:latin typeface="New York" charset="0"/>
                </a:rPr>
                <a:t>language</a:t>
              </a:r>
              <a:endParaRPr kumimoji="0" lang="en-US" altLang="zh-CN" sz="1800" b="1">
                <a:solidFill>
                  <a:srgbClr val="000000"/>
                </a:solidFill>
                <a:latin typeface="New York" charset="0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zh-CN" sz="1800" b="1">
                <a:solidFill>
                  <a:srgbClr val="000000"/>
                </a:solidFill>
                <a:latin typeface="New York" charset="0"/>
              </a:endParaRPr>
            </a:p>
          </p:txBody>
        </p:sp>
        <p:grpSp>
          <p:nvGrpSpPr>
            <p:cNvPr id="37" name="Group 35"/>
            <p:cNvGrpSpPr>
              <a:grpSpLocks/>
            </p:cNvGrpSpPr>
            <p:nvPr/>
          </p:nvGrpSpPr>
          <p:grpSpPr bwMode="auto">
            <a:xfrm>
              <a:off x="2100" y="1653"/>
              <a:ext cx="1872" cy="881"/>
              <a:chOff x="2100" y="1653"/>
              <a:chExt cx="1872" cy="881"/>
            </a:xfrm>
          </p:grpSpPr>
          <p:sp>
            <p:nvSpPr>
              <p:cNvPr id="41" name="Rectangle 36"/>
              <p:cNvSpPr>
                <a:spLocks noChangeArrowheads="1"/>
              </p:cNvSpPr>
              <p:nvPr/>
            </p:nvSpPr>
            <p:spPr bwMode="auto">
              <a:xfrm>
                <a:off x="2100" y="1653"/>
                <a:ext cx="1434" cy="881"/>
              </a:xfrm>
              <a:prstGeom prst="rect">
                <a:avLst/>
              </a:prstGeom>
              <a:solidFill>
                <a:srgbClr val="FF9933"/>
              </a:solidFill>
              <a:ln>
                <a:noFill/>
              </a:ln>
              <a:effectLst>
                <a:outerShdw dist="89803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>
                    <a:solidFill>
                      <a:srgbClr val="000000"/>
                    </a:solidFill>
                    <a:latin typeface="New York" charset="0"/>
                  </a:rPr>
                  <a:t>written in </a:t>
                </a: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>
                    <a:solidFill>
                      <a:srgbClr val="000000"/>
                    </a:solidFill>
                    <a:latin typeface="New York" charset="0"/>
                  </a:rPr>
                  <a:t>machine </a:t>
                </a: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>
                    <a:solidFill>
                      <a:srgbClr val="000000"/>
                    </a:solidFill>
                    <a:latin typeface="New York" charset="0"/>
                  </a:rPr>
                  <a:t>language</a:t>
                </a:r>
              </a:p>
            </p:txBody>
          </p:sp>
          <p:sp>
            <p:nvSpPr>
              <p:cNvPr id="42" name="AutoShape 37"/>
              <p:cNvSpPr>
                <a:spLocks noChangeArrowheads="1"/>
              </p:cNvSpPr>
              <p:nvPr/>
            </p:nvSpPr>
            <p:spPr bwMode="auto">
              <a:xfrm>
                <a:off x="3534" y="1829"/>
                <a:ext cx="438" cy="529"/>
              </a:xfrm>
              <a:prstGeom prst="rightArrow">
                <a:avLst>
                  <a:gd name="adj1" fmla="val 50000"/>
                  <a:gd name="adj2" fmla="val 50005"/>
                </a:avLst>
              </a:prstGeom>
              <a:solidFill>
                <a:srgbClr val="FF9933"/>
              </a:solidFill>
              <a:ln>
                <a:noFill/>
              </a:ln>
              <a:effectLst>
                <a:outerShdw dist="89803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</p:grpSp>
        <p:grpSp>
          <p:nvGrpSpPr>
            <p:cNvPr id="38" name="Group 38"/>
            <p:cNvGrpSpPr>
              <a:grpSpLocks/>
            </p:cNvGrpSpPr>
            <p:nvPr/>
          </p:nvGrpSpPr>
          <p:grpSpPr bwMode="auto">
            <a:xfrm>
              <a:off x="261" y="1653"/>
              <a:ext cx="1695" cy="867"/>
              <a:chOff x="261" y="1653"/>
              <a:chExt cx="1695" cy="867"/>
            </a:xfrm>
          </p:grpSpPr>
          <p:sp>
            <p:nvSpPr>
              <p:cNvPr id="39" name="Rectangle 39"/>
              <p:cNvSpPr>
                <a:spLocks noChangeArrowheads="1"/>
              </p:cNvSpPr>
              <p:nvPr/>
            </p:nvSpPr>
            <p:spPr bwMode="auto">
              <a:xfrm>
                <a:off x="261" y="1653"/>
                <a:ext cx="1303" cy="867"/>
              </a:xfrm>
              <a:prstGeom prst="rect">
                <a:avLst/>
              </a:prstGeom>
              <a:solidFill>
                <a:srgbClr val="FF9933"/>
              </a:solidFill>
              <a:ln>
                <a:noFill/>
              </a:ln>
              <a:effectLst>
                <a:outerShdw dist="89803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 dirty="0">
                    <a:solidFill>
                      <a:srgbClr val="000000"/>
                    </a:solidFill>
                    <a:latin typeface="New York" charset="0"/>
                  </a:rPr>
                  <a:t>written in </a:t>
                </a: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 dirty="0">
                    <a:solidFill>
                      <a:srgbClr val="000000"/>
                    </a:solidFill>
                    <a:latin typeface="New York" charset="0"/>
                  </a:rPr>
                  <a:t>C</a:t>
                </a:r>
                <a:endParaRPr kumimoji="0" lang="en-US" altLang="zh-CN" sz="1800" b="1" dirty="0">
                  <a:solidFill>
                    <a:srgbClr val="000000"/>
                  </a:solidFill>
                  <a:latin typeface="New York" charset="0"/>
                </a:endParaRP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CN" sz="1800" b="1" dirty="0">
                  <a:solidFill>
                    <a:srgbClr val="000000"/>
                  </a:solidFill>
                  <a:latin typeface="New York" charset="0"/>
                </a:endParaRPr>
              </a:p>
            </p:txBody>
          </p:sp>
          <p:sp>
            <p:nvSpPr>
              <p:cNvPr id="40" name="AutoShape 40"/>
              <p:cNvSpPr>
                <a:spLocks noChangeArrowheads="1"/>
              </p:cNvSpPr>
              <p:nvPr/>
            </p:nvSpPr>
            <p:spPr bwMode="auto">
              <a:xfrm>
                <a:off x="1564" y="1826"/>
                <a:ext cx="392" cy="521"/>
              </a:xfrm>
              <a:prstGeom prst="rightArrow">
                <a:avLst>
                  <a:gd name="adj1" fmla="val 50000"/>
                  <a:gd name="adj2" fmla="val 50005"/>
                </a:avLst>
              </a:prstGeom>
              <a:solidFill>
                <a:srgbClr val="FF9933"/>
              </a:solidFill>
              <a:ln>
                <a:noFill/>
              </a:ln>
              <a:effectLst>
                <a:outerShdw dist="89803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</p:grpSp>
      </p:grpSp>
      <p:grpSp>
        <p:nvGrpSpPr>
          <p:cNvPr id="43" name="Group 41"/>
          <p:cNvGrpSpPr>
            <a:grpSpLocks/>
          </p:cNvGrpSpPr>
          <p:nvPr/>
        </p:nvGrpSpPr>
        <p:grpSpPr bwMode="auto">
          <a:xfrm>
            <a:off x="3503939" y="4384380"/>
            <a:ext cx="4683125" cy="519112"/>
            <a:chOff x="1142" y="2649"/>
            <a:chExt cx="2950" cy="327"/>
          </a:xfrm>
        </p:grpSpPr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1142" y="2649"/>
              <a:ext cx="13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1" dirty="0">
                  <a:solidFill>
                    <a:schemeClr val="tx2"/>
                  </a:solidFill>
                </a:rPr>
                <a:t>via compiler</a:t>
              </a: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3062" y="2649"/>
              <a:ext cx="103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1">
                  <a:solidFill>
                    <a:schemeClr val="tx2"/>
                  </a:solidFill>
                </a:rPr>
                <a:t>via linker</a:t>
              </a:r>
            </a:p>
          </p:txBody>
        </p:sp>
      </p:grpSp>
      <p:grpSp>
        <p:nvGrpSpPr>
          <p:cNvPr id="46" name="Group 44"/>
          <p:cNvGrpSpPr>
            <a:grpSpLocks/>
          </p:cNvGrpSpPr>
          <p:nvPr/>
        </p:nvGrpSpPr>
        <p:grpSpPr bwMode="auto">
          <a:xfrm>
            <a:off x="2360939" y="2250780"/>
            <a:ext cx="8134350" cy="474662"/>
            <a:chOff x="422" y="1305"/>
            <a:chExt cx="5124" cy="299"/>
          </a:xfrm>
        </p:grpSpPr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422" y="1305"/>
              <a:ext cx="9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>
                  <a:solidFill>
                    <a:srgbClr val="990000"/>
                  </a:solidFill>
                </a:rPr>
                <a:t>SOURCE</a:t>
              </a:r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2294" y="1305"/>
              <a:ext cx="8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>
                  <a:solidFill>
                    <a:srgbClr val="990000"/>
                  </a:solidFill>
                </a:rPr>
                <a:t>OBJECT</a:t>
              </a:r>
            </a:p>
          </p:txBody>
        </p:sp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4106" y="1316"/>
              <a:ext cx="14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>
                  <a:solidFill>
                    <a:srgbClr val="990000"/>
                  </a:solidFill>
                </a:rPr>
                <a:t>EXECUTABLE</a:t>
              </a:r>
            </a:p>
          </p:txBody>
        </p:sp>
      </p:grpSp>
      <p:grpSp>
        <p:nvGrpSpPr>
          <p:cNvPr id="50" name="Group 48"/>
          <p:cNvGrpSpPr>
            <a:grpSpLocks/>
          </p:cNvGrpSpPr>
          <p:nvPr/>
        </p:nvGrpSpPr>
        <p:grpSpPr bwMode="auto">
          <a:xfrm>
            <a:off x="2360939" y="1774532"/>
            <a:ext cx="7566025" cy="461963"/>
            <a:chOff x="422" y="1005"/>
            <a:chExt cx="4766" cy="291"/>
          </a:xfrm>
        </p:grpSpPr>
        <p:sp>
          <p:nvSpPr>
            <p:cNvPr id="52" name="Rectangle 49"/>
            <p:cNvSpPr>
              <a:spLocks noChangeArrowheads="1"/>
            </p:cNvSpPr>
            <p:nvPr/>
          </p:nvSpPr>
          <p:spPr bwMode="auto">
            <a:xfrm>
              <a:off x="422" y="1005"/>
              <a:ext cx="8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/>
                <a:t>myprog.c</a:t>
              </a:r>
            </a:p>
          </p:txBody>
        </p:sp>
        <p:sp>
          <p:nvSpPr>
            <p:cNvPr id="53" name="Rectangle 50"/>
            <p:cNvSpPr>
              <a:spLocks noChangeArrowheads="1"/>
            </p:cNvSpPr>
            <p:nvPr/>
          </p:nvSpPr>
          <p:spPr bwMode="auto">
            <a:xfrm>
              <a:off x="2294" y="1005"/>
              <a:ext cx="107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 dirty="0"/>
                <a:t>myprog.obj</a:t>
              </a:r>
            </a:p>
          </p:txBody>
        </p:sp>
        <p:sp>
          <p:nvSpPr>
            <p:cNvPr id="54" name="Rectangle 51"/>
            <p:cNvSpPr>
              <a:spLocks noChangeArrowheads="1"/>
            </p:cNvSpPr>
            <p:nvPr/>
          </p:nvSpPr>
          <p:spPr bwMode="auto">
            <a:xfrm>
              <a:off x="4118" y="1005"/>
              <a:ext cx="10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/>
                <a:t>myprog.exe</a:t>
              </a:r>
            </a:p>
          </p:txBody>
        </p:sp>
      </p:grpSp>
      <p:grpSp>
        <p:nvGrpSpPr>
          <p:cNvPr id="55" name="Group 61"/>
          <p:cNvGrpSpPr>
            <a:grpSpLocks/>
          </p:cNvGrpSpPr>
          <p:nvPr/>
        </p:nvGrpSpPr>
        <p:grpSpPr bwMode="auto">
          <a:xfrm>
            <a:off x="425776" y="1663405"/>
            <a:ext cx="3821115" cy="4002088"/>
            <a:chOff x="-797" y="935"/>
            <a:chExt cx="2407" cy="2521"/>
          </a:xfrm>
        </p:grpSpPr>
        <p:sp>
          <p:nvSpPr>
            <p:cNvPr id="56" name="Oval 52"/>
            <p:cNvSpPr>
              <a:spLocks noChangeArrowheads="1"/>
            </p:cNvSpPr>
            <p:nvPr/>
          </p:nvSpPr>
          <p:spPr bwMode="auto">
            <a:xfrm>
              <a:off x="295" y="935"/>
              <a:ext cx="1315" cy="409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57" name="Line 53"/>
            <p:cNvSpPr>
              <a:spLocks noChangeShapeType="1"/>
            </p:cNvSpPr>
            <p:nvPr/>
          </p:nvSpPr>
          <p:spPr bwMode="auto">
            <a:xfrm flipH="1">
              <a:off x="235" y="1253"/>
              <a:ext cx="558" cy="169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Rectangle 55"/>
            <p:cNvSpPr>
              <a:spLocks noChangeArrowheads="1"/>
            </p:cNvSpPr>
            <p:nvPr/>
          </p:nvSpPr>
          <p:spPr bwMode="auto">
            <a:xfrm>
              <a:off x="-797" y="3010"/>
              <a:ext cx="1788" cy="44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indent="-342900">
                <a:spcBef>
                  <a:spcPct val="0"/>
                </a:spcBef>
                <a:buClrTx/>
              </a:pPr>
              <a:r>
                <a:rPr kumimoji="0" lang="zh-CN" altLang="en-US" sz="2000" b="1" dirty="0"/>
                <a:t>每个</a:t>
              </a:r>
              <a:r>
                <a:rPr kumimoji="0" lang="en-US" altLang="zh-CN" sz="2000" b="1" dirty="0"/>
                <a:t>.c </a:t>
              </a:r>
              <a:r>
                <a:rPr kumimoji="0" lang="zh-CN" altLang="en-US" sz="2000" b="1" dirty="0"/>
                <a:t>文件独立编译</a:t>
              </a:r>
              <a:endParaRPr kumimoji="0" lang="en-US" altLang="zh-CN" sz="2000" b="1" dirty="0"/>
            </a:p>
            <a:p>
              <a:pPr marL="342900" indent="-342900">
                <a:spcBef>
                  <a:spcPct val="0"/>
                </a:spcBef>
                <a:buClrTx/>
              </a:pPr>
              <a:r>
                <a:rPr kumimoji="0" lang="zh-CN" altLang="en-US" sz="2000" b="1" dirty="0"/>
                <a:t>产生 </a:t>
              </a:r>
              <a:r>
                <a:rPr kumimoji="0" lang="en-US" altLang="zh-CN" sz="2000" b="1" dirty="0"/>
                <a:t>.o </a:t>
              </a:r>
              <a:r>
                <a:rPr kumimoji="0" lang="zh-CN" altLang="en-US" sz="2000" b="1" dirty="0"/>
                <a:t>或 </a:t>
              </a:r>
              <a:r>
                <a:rPr kumimoji="0" lang="en-US" altLang="zh-CN" sz="2000" b="1" dirty="0"/>
                <a:t>.obj </a:t>
              </a:r>
              <a:r>
                <a:rPr kumimoji="0" lang="zh-CN" altLang="en-US" sz="2000" b="1" dirty="0"/>
                <a:t>文件</a:t>
              </a:r>
              <a:endParaRPr kumimoji="0" lang="en-US" altLang="zh-CN" sz="2000" b="1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3EF3D198-4F14-7220-1354-3B735DCC45FC}"/>
              </a:ext>
            </a:extLst>
          </p:cNvPr>
          <p:cNvGrpSpPr/>
          <p:nvPr/>
        </p:nvGrpSpPr>
        <p:grpSpPr>
          <a:xfrm>
            <a:off x="3139608" y="4328819"/>
            <a:ext cx="3669972" cy="2089456"/>
            <a:chOff x="3139608" y="4328819"/>
            <a:chExt cx="3669972" cy="2089456"/>
          </a:xfrm>
        </p:grpSpPr>
        <p:sp>
          <p:nvSpPr>
            <p:cNvPr id="61" name="Oval 57"/>
            <p:cNvSpPr>
              <a:spLocks noChangeArrowheads="1"/>
            </p:cNvSpPr>
            <p:nvPr/>
          </p:nvSpPr>
          <p:spPr bwMode="auto">
            <a:xfrm>
              <a:off x="3488817" y="4328819"/>
              <a:ext cx="2197935" cy="6492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 dirty="0"/>
            </a:p>
          </p:txBody>
        </p:sp>
        <p:sp>
          <p:nvSpPr>
            <p:cNvPr id="63" name="Line 59"/>
            <p:cNvSpPr>
              <a:spLocks noChangeShapeType="1"/>
            </p:cNvSpPr>
            <p:nvPr/>
          </p:nvSpPr>
          <p:spPr bwMode="auto">
            <a:xfrm flipH="1">
              <a:off x="4862188" y="5047957"/>
              <a:ext cx="105428" cy="35401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" name="Rectangle 55">
              <a:extLst>
                <a:ext uri="{FF2B5EF4-FFF2-40B4-BE49-F238E27FC236}">
                  <a16:creationId xmlns:a16="http://schemas.microsoft.com/office/drawing/2014/main" id="{11190F6D-BB40-83C4-FC7B-37CA3CFD1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9608" y="5401970"/>
              <a:ext cx="3669972" cy="101630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indent="-342900">
                <a:spcBef>
                  <a:spcPct val="0"/>
                </a:spcBef>
                <a:buClrTx/>
              </a:pPr>
              <a:r>
                <a:rPr kumimoji="0" lang="zh-CN" altLang="en-US" sz="2000" b="1" dirty="0"/>
                <a:t>处理</a:t>
              </a:r>
              <a:r>
                <a:rPr kumimoji="0" lang="en-US" altLang="zh-CN" sz="2000" b="1" dirty="0"/>
                <a:t>#include</a:t>
              </a:r>
            </a:p>
            <a:p>
              <a:pPr marL="342900" indent="-342900">
                <a:spcBef>
                  <a:spcPct val="0"/>
                </a:spcBef>
                <a:buClrTx/>
              </a:pPr>
              <a:r>
                <a:rPr kumimoji="0" lang="zh-CN" altLang="en-US" sz="2000" b="1" dirty="0"/>
                <a:t>标识符有申明，且检查语法</a:t>
              </a:r>
              <a:endParaRPr kumimoji="0" lang="en-US" altLang="zh-CN" sz="2000" b="1" dirty="0"/>
            </a:p>
            <a:p>
              <a:pPr marL="342900" indent="-342900">
                <a:spcBef>
                  <a:spcPct val="0"/>
                </a:spcBef>
                <a:buClrTx/>
              </a:pPr>
              <a:r>
                <a:rPr kumimoji="0" lang="zh-CN" altLang="en-US" sz="2000" b="1" dirty="0"/>
                <a:t>编译成机器码</a:t>
              </a:r>
              <a:endParaRPr kumimoji="0" lang="en-US" altLang="zh-CN" sz="2000" b="1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7563683-F1B7-001A-E671-63B80F6EAC82}"/>
              </a:ext>
            </a:extLst>
          </p:cNvPr>
          <p:cNvGrpSpPr/>
          <p:nvPr/>
        </p:nvGrpSpPr>
        <p:grpSpPr>
          <a:xfrm>
            <a:off x="6504315" y="4328819"/>
            <a:ext cx="5448873" cy="2251324"/>
            <a:chOff x="6504315" y="4328819"/>
            <a:chExt cx="5448873" cy="2251324"/>
          </a:xfrm>
        </p:grpSpPr>
        <p:sp>
          <p:nvSpPr>
            <p:cNvPr id="62" name="Oval 58"/>
            <p:cNvSpPr>
              <a:spLocks noChangeArrowheads="1"/>
            </p:cNvSpPr>
            <p:nvPr/>
          </p:nvSpPr>
          <p:spPr bwMode="auto">
            <a:xfrm>
              <a:off x="6504315" y="4328819"/>
              <a:ext cx="1703388" cy="6492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64" name="Line 60"/>
            <p:cNvSpPr>
              <a:spLocks noChangeShapeType="1"/>
            </p:cNvSpPr>
            <p:nvPr/>
          </p:nvSpPr>
          <p:spPr bwMode="auto">
            <a:xfrm flipV="1">
              <a:off x="8225165" y="4608215"/>
              <a:ext cx="1081088" cy="111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Rectangle 55">
              <a:extLst>
                <a:ext uri="{FF2B5EF4-FFF2-40B4-BE49-F238E27FC236}">
                  <a16:creationId xmlns:a16="http://schemas.microsoft.com/office/drawing/2014/main" id="{5897FD73-45E6-AA87-655F-CFB79FA88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9786" y="4332732"/>
              <a:ext cx="2623402" cy="2247411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indent="-342900">
                <a:spcBef>
                  <a:spcPct val="0"/>
                </a:spcBef>
                <a:buClrTx/>
              </a:pPr>
              <a:r>
                <a:rPr kumimoji="0" lang="zh-CN" altLang="en-US" sz="2000" b="1" dirty="0"/>
                <a:t>链接所有目标文件（包含库）</a:t>
              </a:r>
              <a:endParaRPr kumimoji="0" lang="en-US" altLang="zh-CN" sz="2000" b="1" dirty="0"/>
            </a:p>
            <a:p>
              <a:pPr marL="342900" indent="-342900">
                <a:spcBef>
                  <a:spcPct val="0"/>
                </a:spcBef>
                <a:buClrTx/>
              </a:pPr>
              <a:r>
                <a:rPr kumimoji="0" lang="zh-CN" altLang="en-US" sz="2000" b="1" dirty="0"/>
                <a:t>将所有使用的申明给出定义</a:t>
              </a:r>
              <a:endParaRPr kumimoji="0" lang="en-US" altLang="zh-CN" sz="2000" b="1" dirty="0"/>
            </a:p>
            <a:p>
              <a:pPr marL="342900" indent="-342900">
                <a:spcBef>
                  <a:spcPct val="0"/>
                </a:spcBef>
                <a:buClrTx/>
              </a:pPr>
              <a:r>
                <a:rPr kumimoji="0" lang="zh-CN" altLang="en-US" sz="2000" b="1" dirty="0">
                  <a:solidFill>
                    <a:srgbClr val="C00000"/>
                  </a:solidFill>
                </a:rPr>
                <a:t>未使用的申明或定义不会产生代码</a:t>
              </a:r>
              <a:endParaRPr kumimoji="0" lang="en-US" altLang="zh-CN" sz="2000" b="1" dirty="0">
                <a:solidFill>
                  <a:srgbClr val="C00000"/>
                </a:solidFill>
              </a:endParaRPr>
            </a:p>
            <a:p>
              <a:pPr marL="342900" indent="-342900">
                <a:spcBef>
                  <a:spcPct val="0"/>
                </a:spcBef>
                <a:buClrTx/>
              </a:pPr>
              <a:r>
                <a:rPr kumimoji="0" lang="zh-CN" altLang="en-US" sz="2000" b="1" dirty="0"/>
                <a:t>生成 </a:t>
              </a:r>
              <a:r>
                <a:rPr kumimoji="0" lang="en-US" altLang="zh-CN" sz="2000" b="1" dirty="0"/>
                <a:t>.exe </a:t>
              </a:r>
              <a:r>
                <a:rPr kumimoji="0" lang="zh-CN" altLang="en-US" sz="2000" b="1" dirty="0"/>
                <a:t>文件</a:t>
              </a:r>
              <a:endParaRPr kumimoji="0" lang="en-US" altLang="zh-CN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5501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多文件编译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头文件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74656" y="1738207"/>
            <a:ext cx="10152668" cy="46820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为了确保函数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开发者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使用者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使用相同的申明和定义，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语言使用头文件书写这些申明与定义，使用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编译预处理指令将 头文件 插入即将编译的源代码中。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main.c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修改为：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Tx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lang="en-US" altLang="zh-CN" sz="2000" dirty="0">
                <a:latin typeface="Consolas" panose="020B0609020204030204" pitchFamily="49" charset="0"/>
              </a:rPr>
              <a:t>#include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“fac.h” </a:t>
            </a:r>
            <a:r>
              <a:rPr lang="zh-CN" altLang="en-US" sz="2000" dirty="0">
                <a:latin typeface="Consolas" panose="020B0609020204030204" pitchFamily="49" charset="0"/>
              </a:rPr>
              <a:t>添加入 </a:t>
            </a:r>
            <a:r>
              <a:rPr lang="en-US" altLang="zh-CN" sz="2000" dirty="0" err="1">
                <a:latin typeface="Consolas" panose="020B0609020204030204" pitchFamily="49" charset="0"/>
              </a:rPr>
              <a:t>func.c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457200" indent="-457200">
              <a:buFontTx/>
              <a:buAutoNum type="arabicPeriod"/>
            </a:pPr>
            <a:r>
              <a:rPr lang="zh-CN" altLang="en-US" sz="2000" dirty="0">
                <a:latin typeface="Consolas" panose="020B0609020204030204" pitchFamily="49" charset="0"/>
              </a:rPr>
              <a:t>重新编译，运行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AB7ADB-4A1E-1B33-0BC2-6DCEF59A0C78}"/>
              </a:ext>
            </a:extLst>
          </p:cNvPr>
          <p:cNvSpPr txBox="1"/>
          <p:nvPr/>
        </p:nvSpPr>
        <p:spPr>
          <a:xfrm>
            <a:off x="1206229" y="3589506"/>
            <a:ext cx="5097295" cy="18677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"fac.h"  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…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EB0C6F-DFF6-155D-E929-FFC0C5F82A97}"/>
              </a:ext>
            </a:extLst>
          </p:cNvPr>
          <p:cNvSpPr txBox="1"/>
          <p:nvPr/>
        </p:nvSpPr>
        <p:spPr>
          <a:xfrm>
            <a:off x="7000672" y="3245797"/>
            <a:ext cx="4226652" cy="155966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zh-CN" b="1" dirty="0">
                <a:latin typeface="Consolas" panose="020B0609020204030204" pitchFamily="49" charset="0"/>
              </a:rPr>
              <a:t>#pragma once 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FacterialLoop</a:t>
            </a:r>
            <a:r>
              <a:rPr lang="en-US" altLang="zh-CN" dirty="0">
                <a:latin typeface="Consolas" panose="020B0609020204030204" pitchFamily="49" charset="0"/>
              </a:rPr>
              <a:t>(int);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FacterialRecursive</a:t>
            </a:r>
            <a:r>
              <a:rPr lang="en-US" altLang="zh-CN" dirty="0">
                <a:latin typeface="Consolas" panose="020B0609020204030204" pitchFamily="49" charset="0"/>
              </a:rPr>
              <a:t>(int);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C886AB-58C5-A77B-EAED-BAD85D2A6F65}"/>
              </a:ext>
            </a:extLst>
          </p:cNvPr>
          <p:cNvSpPr txBox="1"/>
          <p:nvPr/>
        </p:nvSpPr>
        <p:spPr>
          <a:xfrm>
            <a:off x="6926094" y="2876465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fac.h</a:t>
            </a:r>
            <a:r>
              <a:rPr lang="en-US" altLang="zh-CN" dirty="0"/>
              <a:t> </a:t>
            </a:r>
            <a:r>
              <a:rPr lang="zh-CN" altLang="en-US" dirty="0"/>
              <a:t>头文件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4155BB5-D4D5-8760-D9E5-B6038420C747}"/>
              </a:ext>
            </a:extLst>
          </p:cNvPr>
          <p:cNvGrpSpPr/>
          <p:nvPr/>
        </p:nvGrpSpPr>
        <p:grpSpPr>
          <a:xfrm>
            <a:off x="3453319" y="3735522"/>
            <a:ext cx="7452589" cy="2708016"/>
            <a:chOff x="3453319" y="3735522"/>
            <a:chExt cx="7452589" cy="2708016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C1855F6-5DF2-B8C6-3B91-88BDAF047C30}"/>
                </a:ext>
              </a:extLst>
            </p:cNvPr>
            <p:cNvSpPr txBox="1"/>
            <p:nvPr/>
          </p:nvSpPr>
          <p:spPr>
            <a:xfrm>
              <a:off x="7000672" y="5243209"/>
              <a:ext cx="390523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</a:rPr>
                <a:t>注意：</a:t>
              </a:r>
              <a:endParaRPr lang="en-US" altLang="zh-CN" b="1" dirty="0">
                <a:solidFill>
                  <a:srgbClr val="C00000"/>
                </a:solidFill>
              </a:endParaRPr>
            </a:p>
            <a:p>
              <a:r>
                <a:rPr lang="zh-CN" altLang="en-US" b="1" dirty="0">
                  <a:solidFill>
                    <a:srgbClr val="C00000"/>
                  </a:solidFill>
                </a:rPr>
                <a:t>① 自定义的头文件使用“”号；</a:t>
              </a:r>
              <a:endParaRPr lang="en-US" altLang="zh-CN" b="1" dirty="0">
                <a:solidFill>
                  <a:srgbClr val="C00000"/>
                </a:solidFill>
              </a:endParaRPr>
            </a:p>
            <a:p>
              <a:r>
                <a:rPr lang="zh-CN" altLang="zh-CN" b="1" dirty="0">
                  <a:solidFill>
                    <a:srgbClr val="C00000"/>
                  </a:solidFill>
                </a:rPr>
                <a:t>②</a:t>
              </a:r>
              <a:r>
                <a:rPr lang="en-US" altLang="zh-CN" b="1" dirty="0">
                  <a:solidFill>
                    <a:srgbClr val="C00000"/>
                  </a:solidFill>
                </a:rPr>
                <a:t> </a:t>
              </a:r>
              <a:r>
                <a:rPr lang="zh-CN" altLang="en-US" b="1" dirty="0">
                  <a:solidFill>
                    <a:srgbClr val="C00000"/>
                  </a:solidFill>
                </a:rPr>
                <a:t>头文件第一行使用 </a:t>
              </a:r>
              <a:r>
                <a:rPr lang="en-US" altLang="zh-CN" b="1" dirty="0">
                  <a:solidFill>
                    <a:srgbClr val="C00000"/>
                  </a:solidFill>
                </a:rPr>
                <a:t>#pragma once</a:t>
              </a:r>
            </a:p>
            <a:p>
              <a:r>
                <a:rPr lang="zh-CN" altLang="en-US" b="1" dirty="0">
                  <a:solidFill>
                    <a:srgbClr val="C00000"/>
                  </a:solidFill>
                </a:rPr>
                <a:t>指令确保编译仅展开一次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DF0D7B6B-8EBA-8C24-0251-806D7AC7F7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3319" y="4079231"/>
              <a:ext cx="3472775" cy="1582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C559F960-459E-3210-0859-6725DD895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0672" y="3735522"/>
              <a:ext cx="0" cy="2211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292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外部（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external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74656" y="1738206"/>
            <a:ext cx="10152668" cy="45361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两个代码文件如何使用同一全局变量？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使用关键字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extern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申明变量。例如：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extern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int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ClassCount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使用申明的意义：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全局变量定义由外部程序给出，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全局变量定义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后置给出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。右例输出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0C1257-9FEC-7D14-AFE8-B30ABFE65F9A}"/>
              </a:ext>
            </a:extLst>
          </p:cNvPr>
          <p:cNvSpPr txBox="1"/>
          <p:nvPr/>
        </p:nvSpPr>
        <p:spPr>
          <a:xfrm>
            <a:off x="6498075" y="2208178"/>
            <a:ext cx="4533091" cy="244164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latin typeface="Consolas" panose="020B0609020204030204" pitchFamily="49" charset="0"/>
              </a:rPr>
              <a:t>extern</a:t>
            </a:r>
            <a:r>
              <a:rPr lang="en-US" altLang="zh-CN" dirty="0">
                <a:latin typeface="Consolas" panose="020B0609020204030204" pitchFamily="49" charset="0"/>
              </a:rPr>
              <a:t> int </a:t>
            </a:r>
            <a:r>
              <a:rPr lang="en-US" altLang="zh-CN" dirty="0" err="1">
                <a:latin typeface="Consolas" panose="020B0609020204030204" pitchFamily="49" charset="0"/>
              </a:rPr>
              <a:t>ClassCount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("%d",</a:t>
            </a:r>
            <a:r>
              <a:rPr lang="en-US" altLang="zh-CN" dirty="0" err="1">
                <a:latin typeface="Consolas" panose="020B0609020204030204" pitchFamily="49" charset="0"/>
              </a:rPr>
              <a:t>ClassCount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 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ClassCount</a:t>
            </a:r>
            <a:r>
              <a:rPr lang="en-US" altLang="zh-CN" dirty="0">
                <a:latin typeface="Consolas" panose="020B0609020204030204" pitchFamily="49" charset="0"/>
              </a:rPr>
              <a:t> = 12;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定义后置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62FD7A-D5C1-B9A1-763B-CCDDA6895A74}"/>
              </a:ext>
            </a:extLst>
          </p:cNvPr>
          <p:cNvSpPr txBox="1"/>
          <p:nvPr/>
        </p:nvSpPr>
        <p:spPr>
          <a:xfrm>
            <a:off x="1074657" y="4824919"/>
            <a:ext cx="101526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</a:t>
            </a:r>
            <a:endParaRPr lang="en-US" altLang="zh-CN" dirty="0"/>
          </a:p>
          <a:p>
            <a:r>
              <a:rPr lang="zh-CN" altLang="en-US" dirty="0"/>
              <a:t>① 有初始化的变量申明一定是定义。</a:t>
            </a:r>
            <a:endParaRPr lang="en-US" altLang="zh-CN" dirty="0"/>
          </a:p>
          <a:p>
            <a:r>
              <a:rPr lang="zh-CN" altLang="zh-CN" dirty="0"/>
              <a:t>②</a:t>
            </a:r>
            <a:r>
              <a:rPr lang="zh-CN" altLang="en-US" dirty="0"/>
              <a:t> 一个项目中，一个标识符</a:t>
            </a:r>
            <a:r>
              <a:rPr lang="zh-CN" altLang="en-US" b="1" dirty="0"/>
              <a:t>能仅能</a:t>
            </a:r>
            <a:r>
              <a:rPr lang="zh-CN" altLang="en-US" dirty="0"/>
              <a:t>定义一次。定义两次或以上，在一个源代码中是编译错误，其他代码文件中是链接错误。</a:t>
            </a:r>
            <a:endParaRPr lang="en-US" altLang="zh-CN" dirty="0"/>
          </a:p>
          <a:p>
            <a:r>
              <a:rPr lang="zh-CN" altLang="zh-CN" dirty="0"/>
              <a:t>③</a:t>
            </a:r>
            <a:r>
              <a:rPr lang="en-US" altLang="zh-CN" dirty="0"/>
              <a:t> </a:t>
            </a:r>
            <a:r>
              <a:rPr lang="zh-CN" altLang="en-US" b="1" dirty="0"/>
              <a:t>全局变量</a:t>
            </a:r>
            <a:r>
              <a:rPr lang="zh-CN" altLang="en-US" dirty="0"/>
              <a:t>申明，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extern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int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ClassCount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等价于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ClassCount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如果全局变量未初始化，在多文件编译中，其初始值由其在其他文件中的定义决定，而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不是默认零值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9097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静态（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static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74656" y="1738206"/>
            <a:ext cx="10152668" cy="45361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如何定义仅在当前文件使用的变量？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使用关键字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static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变量。例如：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static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int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ClassCount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static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定义的意义：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static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修饰一定是变量定义。不能定义两次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没有初始值则默认零值，右例输出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静态变量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生命周期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为整个应用，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离开函数值依然保留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静态变量是局部变量，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是一个块或一个文件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静态变量重名，则会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屏蔽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作用域外部的定义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0C1257-9FEC-7D14-AFE8-B30ABFE65F9A}"/>
              </a:ext>
            </a:extLst>
          </p:cNvPr>
          <p:cNvSpPr txBox="1"/>
          <p:nvPr/>
        </p:nvSpPr>
        <p:spPr>
          <a:xfrm>
            <a:off x="6498075" y="2042808"/>
            <a:ext cx="4533091" cy="244164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latin typeface="Consolas" panose="020B0609020204030204" pitchFamily="49" charset="0"/>
              </a:rPr>
              <a:t> int </a:t>
            </a:r>
            <a:r>
              <a:rPr lang="en-US" altLang="zh-CN" dirty="0" err="1">
                <a:latin typeface="Consolas" panose="020B0609020204030204" pitchFamily="49" charset="0"/>
              </a:rPr>
              <a:t>ClassCount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("%d",</a:t>
            </a:r>
            <a:r>
              <a:rPr lang="en-US" altLang="zh-CN" dirty="0" err="1">
                <a:latin typeface="Consolas" panose="020B0609020204030204" pitchFamily="49" charset="0"/>
              </a:rPr>
              <a:t>ClassCount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 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ClassCount</a:t>
            </a:r>
            <a:r>
              <a:rPr lang="en-US" altLang="zh-CN" dirty="0">
                <a:latin typeface="Consolas" panose="020B0609020204030204" pitchFamily="49" charset="0"/>
              </a:rPr>
              <a:t> = 12;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全局定义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5BB961-4B63-3855-8859-301E9E854E6A}"/>
              </a:ext>
            </a:extLst>
          </p:cNvPr>
          <p:cNvSpPr txBox="1"/>
          <p:nvPr/>
        </p:nvSpPr>
        <p:spPr>
          <a:xfrm>
            <a:off x="8247117" y="4600280"/>
            <a:ext cx="2784049" cy="147732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注意：本例中，静态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ClassCount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在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main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中定义是局部变量，屏蔽全局定义。如果在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main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外定义，则是重定义错误！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58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静态（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static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）变量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案例研究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74656" y="1738206"/>
            <a:ext cx="5345599" cy="45361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最典型的应用是做一个局部的计数器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静态变量定义语句必须在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执行前初始化，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初始化值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只能是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函数退出静态变量不会销毁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0776AB-8F65-C593-43AA-011210B6BBBB}"/>
              </a:ext>
            </a:extLst>
          </p:cNvPr>
          <p:cNvSpPr txBox="1"/>
          <p:nvPr/>
        </p:nvSpPr>
        <p:spPr>
          <a:xfrm>
            <a:off x="6613437" y="1457382"/>
            <a:ext cx="4533091" cy="535021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/*static*/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func</a:t>
            </a:r>
            <a:r>
              <a:rPr lang="en-US" altLang="zh-CN" dirty="0">
                <a:latin typeface="Consolas" panose="020B0609020204030204" pitchFamily="49" charset="0"/>
              </a:rPr>
              <a:t>(){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latin typeface="Consolas" panose="020B0609020204030204" pitchFamily="49" charset="0"/>
              </a:rPr>
              <a:t> int count = 4;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if (count)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("%d\</a:t>
            </a:r>
            <a:r>
              <a:rPr lang="en-US" altLang="zh-CN" dirty="0" err="1">
                <a:latin typeface="Consolas" panose="020B0609020204030204" pitchFamily="49" charset="0"/>
              </a:rPr>
              <a:t>n",count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return count--;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else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("you are out!\n");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return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      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for (int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=0;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&lt;10 ;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++)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if (!</a:t>
            </a:r>
            <a:r>
              <a:rPr lang="en-US" altLang="zh-CN" dirty="0" err="1">
                <a:latin typeface="Consolas" panose="020B0609020204030204" pitchFamily="49" charset="0"/>
              </a:rPr>
              <a:t>func</a:t>
            </a:r>
            <a:r>
              <a:rPr lang="en-US" altLang="zh-CN" dirty="0">
                <a:latin typeface="Consolas" panose="020B0609020204030204" pitchFamily="49" charset="0"/>
              </a:rPr>
              <a:t>()) break;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13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1460818"/>
            <a:ext cx="674687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the scope of an external variable?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1786"/>
            <a:ext cx="627507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Whole source file in which it is defined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788569"/>
            <a:ext cx="7596505" cy="352425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17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the point of declaration to the end of the file in which it is defined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6286"/>
            <a:ext cx="464439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Any source file in a program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503069"/>
            <a:ext cx="7080886" cy="352425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17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the point of declaration to the end of the file being compiled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1E7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525905" y="744220"/>
            <a:ext cx="4920615" cy="3477875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the output of this C code?    #include &lt;stdio.h&gt;
    void main(){
        m();
        m();
    }
    void m(){
        static int x = 5;
        x++;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printf("%d", x);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4728475"/>
            <a:ext cx="66802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6 7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471656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5778500" y="4740381"/>
            <a:ext cx="66802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6 6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4911725" y="472847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5720556"/>
            <a:ext cx="66802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5 5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570865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5778500" y="5708650"/>
            <a:ext cx="66802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5 6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911725" y="5696744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圆角矩形 18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1E7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Review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：局部变量和全局变量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74656" y="1738206"/>
            <a:ext cx="10152668" cy="45361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局部变量：</a:t>
            </a: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自动变量，即动态局部变量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离开函数，值就消失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静态局部变量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离开函数，值仍保留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 寄存器变量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离开函数，值就消失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④ 形式参数可以定义为自动变量或寄存器变量。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全局变量：</a:t>
            </a:r>
          </a:p>
          <a:p>
            <a:pPr lvl="1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静态外部变量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只限本程序文件使用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外部变量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即非静态的外部变量，允许其它程序文件引用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注：静态变量也可以全归于局部变量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919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可变参函数（</a:t>
            </a:r>
            <a:r>
              <a:rPr lang="zh-CN" altLang="en-US" sz="2800" b="1" kern="0" dirty="0">
                <a:solidFill>
                  <a:srgbClr val="FFFF00"/>
                </a:solidFill>
                <a:ea typeface="微软雅黑" panose="020B0503020204020204" pitchFamily="34" charset="-122"/>
              </a:rPr>
              <a:t>选讲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74656" y="1738207"/>
            <a:ext cx="10152668" cy="46625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如何编写向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那样参数可变的函数？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尝试阅读官方文档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 …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48EC66-3A66-1334-C842-7E46CB755390}"/>
              </a:ext>
            </a:extLst>
          </p:cNvPr>
          <p:cNvSpPr txBox="1"/>
          <p:nvPr/>
        </p:nvSpPr>
        <p:spPr>
          <a:xfrm>
            <a:off x="1074656" y="2913594"/>
            <a:ext cx="3130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linkClick r:id="rId4"/>
              </a:rPr>
              <a:t>变长实参 </a:t>
            </a:r>
            <a:r>
              <a:rPr lang="en-US" altLang="zh-CN" dirty="0">
                <a:hlinkClick r:id="rId4"/>
              </a:rPr>
              <a:t>- cppreference.com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586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模块化编程基础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创造积木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074656" y="1738207"/>
                <a:ext cx="10152668" cy="46625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素数是数学中的一个基础问题。</a:t>
                </a:r>
                <a:r>
                  <a:rPr lang="zh-CN" altLang="en-US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素数是 </a:t>
                </a:r>
                <a:r>
                  <a: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 </a:t>
                </a:r>
                <a:r>
                  <a:rPr lang="zh-CN" altLang="en-US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大于 </a:t>
                </a:r>
                <a:r>
                  <a: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且只能被除 </a:t>
                </a:r>
                <a:r>
                  <a: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自身整除</a:t>
                </a:r>
                <a:endParaRPr lang="en-US" altLang="zh-CN" sz="240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判断一个数是否是素数是一个基础。让我们先写出它的函数申明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𝑖𝑛𝑡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2400" i="1" dirty="0" err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𝑖𝑠𝑃𝑟𝑖𝑚𝑒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𝑢𝑛𝑠𝑖𝑔𝑛𝑒𝑑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𝑖𝑛𝑡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𝑛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);</m:t>
                      </m:r>
                    </m:oMath>
                  </m:oMathPara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让我们先写这个函数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参见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prime0.c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prime1.c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思考：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prime0.c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函数体就仅一个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return 1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有价值吗？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然后用自己熟悉的素数和非素数测试一下。。。（注：</a:t>
                </a:r>
                <a:r>
                  <a:rPr lang="en-US" altLang="zh-CN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prime1</a:t>
                </a:r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:r>
                  <a:rPr lang="en-US" altLang="zh-CN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BUG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56" y="1738207"/>
                <a:ext cx="10152668" cy="4662593"/>
              </a:xfrm>
              <a:prstGeom prst="rect">
                <a:avLst/>
              </a:prstGeom>
              <a:blipFill>
                <a:blip r:embed="rId4"/>
                <a:stretch>
                  <a:fillRect l="-900" t="-1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36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模块化编程基础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分解到已知问题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74656" y="1738207"/>
            <a:ext cx="10152668" cy="46625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问题：计算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以内的最大素数，例如：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= 12345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问题求解：从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开始递减枚举，直到发现一个素数。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这是一个什么循环，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for? while? do-while?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解法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，参见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prime2.c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，请自己编写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prime3.c 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使得问题求解速度提高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倍左右。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如何计算才能快一倍呢？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421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课堂练习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252694" y="1853266"/>
            <a:ext cx="9686611" cy="4487244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Leetcode.cn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509.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斐波那契数（请使用递归法）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10505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课后练习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252694" y="1853266"/>
            <a:ext cx="9686611" cy="4487244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Leetcode.cn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231. 2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求解过程要求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题目请根据函数申明，先思考一种解法（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不要看解答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自己写测试用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main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函数，用官方示例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case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测试函数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阅读官方的答案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请记录看了答案后的感想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和同学分享或学习提升算法能力的经验，不自卑不沮丧，不断前行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1361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161452" y="2867904"/>
            <a:ext cx="1886392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270368" y="5644929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编制人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：课题组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4723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8050</TotalTime>
  <Words>2529</Words>
  <Application>Microsoft Office PowerPoint</Application>
  <PresentationFormat>宽屏</PresentationFormat>
  <Paragraphs>393</Paragraphs>
  <Slides>27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FandolSong</vt:lpstr>
      <vt:lpstr>Impact MT Std</vt:lpstr>
      <vt:lpstr>New York</vt:lpstr>
      <vt:lpstr>等线</vt:lpstr>
      <vt:lpstr>等线 Light</vt:lpstr>
      <vt:lpstr>宋体</vt:lpstr>
      <vt:lpstr>微软雅黑</vt:lpstr>
      <vt:lpstr>Arial</vt:lpstr>
      <vt:lpstr>Cambria Math</vt:lpstr>
      <vt:lpstr>Consolas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stsluy</cp:lastModifiedBy>
  <cp:revision>301</cp:revision>
  <dcterms:created xsi:type="dcterms:W3CDTF">2016-11-24T09:20:00Z</dcterms:created>
  <dcterms:modified xsi:type="dcterms:W3CDTF">2023-11-10T05:18:00Z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7E38F6AF0AEB4547AE4ACB4243E3DBEC</vt:lpwstr>
  </property>
</Properties>
</file>