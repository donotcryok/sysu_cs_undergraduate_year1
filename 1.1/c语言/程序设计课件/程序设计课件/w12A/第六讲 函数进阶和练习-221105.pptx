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7" r:id="rId2"/>
    <p:sldId id="258" r:id="rId3"/>
    <p:sldId id="420" r:id="rId4"/>
    <p:sldId id="421" r:id="rId5"/>
    <p:sldId id="313" r:id="rId6"/>
    <p:sldId id="423" r:id="rId7"/>
    <p:sldId id="426" r:id="rId8"/>
    <p:sldId id="424" r:id="rId9"/>
    <p:sldId id="425" r:id="rId10"/>
    <p:sldId id="348" r:id="rId11"/>
    <p:sldId id="349" r:id="rId12"/>
    <p:sldId id="428" r:id="rId13"/>
    <p:sldId id="350" r:id="rId14"/>
    <p:sldId id="352" r:id="rId15"/>
    <p:sldId id="353" r:id="rId16"/>
    <p:sldId id="341" r:id="rId17"/>
    <p:sldId id="427" r:id="rId18"/>
    <p:sldId id="355" r:id="rId19"/>
    <p:sldId id="358" r:id="rId20"/>
    <p:sldId id="429" r:id="rId21"/>
    <p:sldId id="287" r:id="rId22"/>
    <p:sldId id="362" r:id="rId23"/>
    <p:sldId id="363" r:id="rId24"/>
    <p:sldId id="364" r:id="rId25"/>
    <p:sldId id="403" r:id="rId26"/>
    <p:sldId id="414" r:id="rId27"/>
    <p:sldId id="415" r:id="rId28"/>
    <p:sldId id="354"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723"/>
    <a:srgbClr val="92D050"/>
    <a:srgbClr val="FF5D5D"/>
    <a:srgbClr val="C00000"/>
    <a:srgbClr val="CC3300"/>
    <a:srgbClr val="3A6695"/>
    <a:srgbClr val="9CC5FD"/>
    <a:srgbClr val="134263"/>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1" autoAdjust="0"/>
    <p:restoredTop sz="95780" autoAdjust="0"/>
  </p:normalViewPr>
  <p:slideViewPr>
    <p:cSldViewPr snapToGrid="0">
      <p:cViewPr varScale="1">
        <p:scale>
          <a:sx n="157" d="100"/>
          <a:sy n="157" d="100"/>
        </p:scale>
        <p:origin x="428" y="88"/>
      </p:cViewPr>
      <p:guideLst>
        <p:guide orient="horz" pos="2160"/>
        <p:guide pos="3828"/>
      </p:guideLst>
    </p:cSldViewPr>
  </p:slideViewPr>
  <p:outlineViewPr>
    <p:cViewPr>
      <p:scale>
        <a:sx n="33" d="100"/>
        <a:sy n="33" d="100"/>
      </p:scale>
      <p:origin x="0" y="0"/>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t>2023/10/24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a:solidFill>
                  <a:srgbClr val="C00000"/>
                </a:solidFill>
                <a:latin typeface="微软雅黑" panose="020B0503020204020204" pitchFamily="34" charset="-122"/>
                <a:ea typeface="微软雅黑" panose="020B0503020204020204" pitchFamily="34" charset="-122"/>
              </a:rPr>
              <a:t>公众号壹课</a:t>
            </a:r>
            <a:endParaRPr lang="zh-CN" altLang="en-US"/>
          </a:p>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extLst>
      <p:ext uri="{BB962C8B-B14F-4D97-AF65-F5344CB8AC3E}">
        <p14:creationId xmlns:p14="http://schemas.microsoft.com/office/powerpoint/2010/main" val="1956316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extLst>
      <p:ext uri="{BB962C8B-B14F-4D97-AF65-F5344CB8AC3E}">
        <p14:creationId xmlns:p14="http://schemas.microsoft.com/office/powerpoint/2010/main" val="2100655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extLst>
      <p:ext uri="{BB962C8B-B14F-4D97-AF65-F5344CB8AC3E}">
        <p14:creationId xmlns:p14="http://schemas.microsoft.com/office/powerpoint/2010/main" val="2421666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extLst>
      <p:ext uri="{BB962C8B-B14F-4D97-AF65-F5344CB8AC3E}">
        <p14:creationId xmlns:p14="http://schemas.microsoft.com/office/powerpoint/2010/main" val="3437596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extLst>
      <p:ext uri="{BB962C8B-B14F-4D97-AF65-F5344CB8AC3E}">
        <p14:creationId xmlns:p14="http://schemas.microsoft.com/office/powerpoint/2010/main" val="1083672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extLst>
      <p:ext uri="{BB962C8B-B14F-4D97-AF65-F5344CB8AC3E}">
        <p14:creationId xmlns:p14="http://schemas.microsoft.com/office/powerpoint/2010/main" val="1204946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extLst>
      <p:ext uri="{BB962C8B-B14F-4D97-AF65-F5344CB8AC3E}">
        <p14:creationId xmlns:p14="http://schemas.microsoft.com/office/powerpoint/2010/main" val="34426254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extLst>
      <p:ext uri="{BB962C8B-B14F-4D97-AF65-F5344CB8AC3E}">
        <p14:creationId xmlns:p14="http://schemas.microsoft.com/office/powerpoint/2010/main" val="9438525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extLst>
      <p:ext uri="{BB962C8B-B14F-4D97-AF65-F5344CB8AC3E}">
        <p14:creationId xmlns:p14="http://schemas.microsoft.com/office/powerpoint/2010/main" val="13378967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extLst>
      <p:ext uri="{BB962C8B-B14F-4D97-AF65-F5344CB8AC3E}">
        <p14:creationId xmlns:p14="http://schemas.microsoft.com/office/powerpoint/2010/main" val="2507530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extLst>
      <p:ext uri="{BB962C8B-B14F-4D97-AF65-F5344CB8AC3E}">
        <p14:creationId xmlns:p14="http://schemas.microsoft.com/office/powerpoint/2010/main" val="1147516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extLst>
      <p:ext uri="{BB962C8B-B14F-4D97-AF65-F5344CB8AC3E}">
        <p14:creationId xmlns:p14="http://schemas.microsoft.com/office/powerpoint/2010/main" val="15344661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extLst>
      <p:ext uri="{BB962C8B-B14F-4D97-AF65-F5344CB8AC3E}">
        <p14:creationId xmlns:p14="http://schemas.microsoft.com/office/powerpoint/2010/main" val="2293618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17</a:t>
            </a:fld>
            <a:endParaRPr lang="zh-CN" altLang="en-US"/>
          </a:p>
        </p:txBody>
      </p:sp>
    </p:spTree>
    <p:extLst>
      <p:ext uri="{BB962C8B-B14F-4D97-AF65-F5344CB8AC3E}">
        <p14:creationId xmlns:p14="http://schemas.microsoft.com/office/powerpoint/2010/main" val="30722956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extLst>
      <p:ext uri="{BB962C8B-B14F-4D97-AF65-F5344CB8AC3E}">
        <p14:creationId xmlns:p14="http://schemas.microsoft.com/office/powerpoint/2010/main" val="19153419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extLst>
      <p:ext uri="{BB962C8B-B14F-4D97-AF65-F5344CB8AC3E}">
        <p14:creationId xmlns:p14="http://schemas.microsoft.com/office/powerpoint/2010/main" val="10675626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20</a:t>
            </a:fld>
            <a:endParaRPr lang="zh-CN" altLang="en-US"/>
          </a:p>
        </p:txBody>
      </p:sp>
    </p:spTree>
    <p:extLst>
      <p:ext uri="{BB962C8B-B14F-4D97-AF65-F5344CB8AC3E}">
        <p14:creationId xmlns:p14="http://schemas.microsoft.com/office/powerpoint/2010/main" val="3664966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extLst>
      <p:ext uri="{BB962C8B-B14F-4D97-AF65-F5344CB8AC3E}">
        <p14:creationId xmlns:p14="http://schemas.microsoft.com/office/powerpoint/2010/main" val="18278832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extLst>
      <p:ext uri="{BB962C8B-B14F-4D97-AF65-F5344CB8AC3E}">
        <p14:creationId xmlns:p14="http://schemas.microsoft.com/office/powerpoint/2010/main" val="3870364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extLst>
      <p:ext uri="{BB962C8B-B14F-4D97-AF65-F5344CB8AC3E}">
        <p14:creationId xmlns:p14="http://schemas.microsoft.com/office/powerpoint/2010/main" val="20123095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extLst>
      <p:ext uri="{BB962C8B-B14F-4D97-AF65-F5344CB8AC3E}">
        <p14:creationId xmlns:p14="http://schemas.microsoft.com/office/powerpoint/2010/main" val="23614809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extLst>
      <p:ext uri="{BB962C8B-B14F-4D97-AF65-F5344CB8AC3E}">
        <p14:creationId xmlns:p14="http://schemas.microsoft.com/office/powerpoint/2010/main" val="40345004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26</a:t>
            </a:fld>
            <a:endParaRPr lang="zh-CN" altLang="en-US"/>
          </a:p>
        </p:txBody>
      </p:sp>
    </p:spTree>
    <p:extLst>
      <p:ext uri="{BB962C8B-B14F-4D97-AF65-F5344CB8AC3E}">
        <p14:creationId xmlns:p14="http://schemas.microsoft.com/office/powerpoint/2010/main" val="23630879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27</a:t>
            </a:fld>
            <a:endParaRPr lang="zh-CN" altLang="en-US"/>
          </a:p>
        </p:txBody>
      </p:sp>
    </p:spTree>
    <p:extLst>
      <p:ext uri="{BB962C8B-B14F-4D97-AF65-F5344CB8AC3E}">
        <p14:creationId xmlns:p14="http://schemas.microsoft.com/office/powerpoint/2010/main" val="1917901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a:solidFill>
                  <a:srgbClr val="C00000"/>
                </a:solidFill>
                <a:latin typeface="微软雅黑" panose="020B0503020204020204" pitchFamily="34" charset="-122"/>
                <a:ea typeface="微软雅黑" panose="020B0503020204020204" pitchFamily="34" charset="-122"/>
              </a:rPr>
              <a:t>公众号壹课</a:t>
            </a:r>
            <a:endParaRPr lang="zh-CN" altLang="en-US"/>
          </a:p>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4536CA-A6C4-4358-AF93-5CCBD70D248C}" type="datetimeFigureOut">
              <a:rPr lang="zh-CN" altLang="en-US" smtClean="0"/>
              <a:t>2023/10/24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4536CA-A6C4-4358-AF93-5CCBD70D248C}" type="datetimeFigureOut">
              <a:rPr lang="zh-CN" altLang="en-US" smtClean="0"/>
              <a:t>2023/10/24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t>2023/10/24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t>2023/10/24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book.douban.com/subject/2124114/"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hyperlink" Target="https://zh.cppreference.com/w/c/language/translation_phases"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21604" b="46967"/>
          <a:stretch>
            <a:fillRect/>
          </a:stretch>
        </p:blipFill>
        <p:spPr>
          <a:xfrm>
            <a:off x="0" y="2176476"/>
            <a:ext cx="12209296" cy="2877923"/>
          </a:xfrm>
          <a:prstGeom prst="rect">
            <a:avLst/>
          </a:prstGeom>
        </p:spPr>
      </p:pic>
      <p:sp>
        <p:nvSpPr>
          <p:cNvPr id="8" name="矩形 7"/>
          <p:cNvSpPr/>
          <p:nvPr/>
        </p:nvSpPr>
        <p:spPr>
          <a:xfrm>
            <a:off x="0" y="2176477"/>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223683" y="2729511"/>
            <a:ext cx="9744635" cy="1015663"/>
          </a:xfrm>
          <a:prstGeom prst="rect">
            <a:avLst/>
          </a:prstGeom>
          <a:noFill/>
        </p:spPr>
        <p:txBody>
          <a:bodyPr wrap="square" rtlCol="0">
            <a:spAutoFit/>
          </a:bodyPr>
          <a:lstStyle/>
          <a:p>
            <a:pPr algn="ctr"/>
            <a:r>
              <a:rPr lang="zh-CN" altLang="en-US" sz="6000" b="1" dirty="0">
                <a:solidFill>
                  <a:schemeClr val="bg1">
                    <a:lumMod val="95000"/>
                  </a:schemeClr>
                </a:solidFill>
                <a:latin typeface="微软雅黑" panose="020B0503020204020204" pitchFamily="34" charset="-122"/>
                <a:ea typeface="微软雅黑" panose="020B0503020204020204" pitchFamily="34" charset="-122"/>
              </a:rPr>
              <a:t>函数进阶和练习</a:t>
            </a:r>
          </a:p>
        </p:txBody>
      </p:sp>
      <p:sp>
        <p:nvSpPr>
          <p:cNvPr id="16" name="TextBox 10"/>
          <p:cNvSpPr txBox="1"/>
          <p:nvPr/>
        </p:nvSpPr>
        <p:spPr>
          <a:xfrm>
            <a:off x="2565806" y="3990096"/>
            <a:ext cx="70603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微软雅黑" panose="020B0503020204020204" pitchFamily="34" charset="-122"/>
                <a:ea typeface="微软雅黑" panose="020B0503020204020204" pitchFamily="34" charset="-122"/>
              </a:rPr>
              <a:t>中山大学计算机学院</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a:fillRect/>
          </a:stretch>
        </p:blipFill>
        <p:spPr>
          <a:xfrm>
            <a:off x="4339400" y="923192"/>
            <a:ext cx="3433000" cy="1072662"/>
          </a:xfrm>
          <a:prstGeom prst="rect">
            <a:avLst/>
          </a:prstGeom>
        </p:spPr>
      </p:pic>
      <p:sp>
        <p:nvSpPr>
          <p:cNvPr id="17" name="TextBox 6"/>
          <p:cNvSpPr txBox="1"/>
          <p:nvPr/>
        </p:nvSpPr>
        <p:spPr>
          <a:xfrm>
            <a:off x="5270365" y="5644929"/>
            <a:ext cx="1979981"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14723"/>
                </a:solidFill>
                <a:latin typeface="微软雅黑" panose="020B0503020204020204" pitchFamily="34" charset="-122"/>
                <a:ea typeface="微软雅黑" panose="020B0503020204020204" pitchFamily="34" charset="-122"/>
              </a:rPr>
              <a:t>讲课人</a:t>
            </a:r>
            <a:r>
              <a:rPr lang="zh-CN" altLang="en-US" dirty="0">
                <a:solidFill>
                  <a:srgbClr val="014723"/>
                </a:solidFill>
                <a:latin typeface="微软雅黑" panose="020B0503020204020204" pitchFamily="34" charset="-122"/>
                <a:ea typeface="微软雅黑" panose="020B0503020204020204" pitchFamily="34" charset="-122"/>
              </a:rPr>
              <a:t>：潘茂林</a:t>
            </a:r>
            <a:endParaRPr lang="en-US" altLang="zh-CN" dirty="0">
              <a:solidFill>
                <a:srgbClr val="014723"/>
              </a:solidFill>
              <a:latin typeface="微软雅黑" panose="020B0503020204020204" pitchFamily="34" charset="-122"/>
              <a:ea typeface="微软雅黑" panose="020B0503020204020204" pitchFamily="34" charset="-122"/>
            </a:endParaRPr>
          </a:p>
        </p:txBody>
      </p:sp>
      <p:sp>
        <p:nvSpPr>
          <p:cNvPr id="18" name="Freeform 7"/>
          <p:cNvSpPr>
            <a:spLocks noChangeAspect="1" noEditPoints="1"/>
          </p:cNvSpPr>
          <p:nvPr/>
        </p:nvSpPr>
        <p:spPr bwMode="auto">
          <a:xfrm>
            <a:off x="4549092" y="5611849"/>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14723"/>
          </a:solidFill>
          <a:ln>
            <a:noFill/>
          </a:ln>
        </p:spPr>
        <p:txBody>
          <a:bodyPr vert="horz" wrap="square" lIns="91416" tIns="45708" rIns="91416" bIns="45708" numCol="1" anchor="t" anchorCtr="0" compatLnSpc="1"/>
          <a:lstStyle/>
          <a:p>
            <a:endParaRPr lang="zh-CN" altLang="en-US">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750"/>
                                        <p:tgtEl>
                                          <p:spTgt spid="8"/>
                                        </p:tgtEl>
                                      </p:cBhvr>
                                    </p:animEffect>
                                  </p:childTnLst>
                                </p:cTn>
                              </p:par>
                            </p:childTnLst>
                          </p:cTn>
                        </p:par>
                        <p:par>
                          <p:cTn id="8" fill="hold">
                            <p:stCondLst>
                              <p:cond delay="750"/>
                            </p:stCondLst>
                            <p:childTnLst>
                              <p:par>
                                <p:cTn id="9" presetID="50" presetClass="entr" presetSubtype="0" decel="100000" fill="hold" grpId="0" nodeType="afterEffect">
                                  <p:stCondLst>
                                    <p:cond delay="0"/>
                                  </p:stCondLst>
                                  <p:iterate type="lt">
                                    <p:tmPct val="10000"/>
                                  </p:iterate>
                                  <p:childTnLst>
                                    <p:set>
                                      <p:cBhvr>
                                        <p:cTn id="10" dur="1" fill="hold">
                                          <p:stCondLst>
                                            <p:cond delay="0"/>
                                          </p:stCondLst>
                                        </p:cTn>
                                        <p:tgtEl>
                                          <p:spTgt spid="15"/>
                                        </p:tgtEl>
                                        <p:attrNameLst>
                                          <p:attrName>style.visibility</p:attrName>
                                        </p:attrNameLst>
                                      </p:cBhvr>
                                      <p:to>
                                        <p:strVal val="visible"/>
                                      </p:to>
                                    </p:set>
                                    <p:anim calcmode="lin" valueType="num">
                                      <p:cBhvr>
                                        <p:cTn id="11" dur="1000" fill="hold"/>
                                        <p:tgtEl>
                                          <p:spTgt spid="15"/>
                                        </p:tgtEl>
                                        <p:attrNameLst>
                                          <p:attrName>ppt_w</p:attrName>
                                        </p:attrNameLst>
                                      </p:cBhvr>
                                      <p:tavLst>
                                        <p:tav tm="0">
                                          <p:val>
                                            <p:strVal val="#ppt_w+.3"/>
                                          </p:val>
                                        </p:tav>
                                        <p:tav tm="100000">
                                          <p:val>
                                            <p:strVal val="#ppt_w"/>
                                          </p:val>
                                        </p:tav>
                                      </p:tavLst>
                                    </p:anim>
                                    <p:anim calcmode="lin" valueType="num">
                                      <p:cBhvr>
                                        <p:cTn id="12" dur="1000" fill="hold"/>
                                        <p:tgtEl>
                                          <p:spTgt spid="15"/>
                                        </p:tgtEl>
                                        <p:attrNameLst>
                                          <p:attrName>ppt_h</p:attrName>
                                        </p:attrNameLst>
                                      </p:cBhvr>
                                      <p:tavLst>
                                        <p:tav tm="0">
                                          <p:val>
                                            <p:strVal val="#ppt_h"/>
                                          </p:val>
                                        </p:tav>
                                        <p:tav tm="100000">
                                          <p:val>
                                            <p:strVal val="#ppt_h"/>
                                          </p:val>
                                        </p:tav>
                                      </p:tavLst>
                                    </p:anim>
                                    <p:animEffect transition="in" filter="fade">
                                      <p:cBhvr>
                                        <p:cTn id="13" dur="1000"/>
                                        <p:tgtEl>
                                          <p:spTgt spid="15"/>
                                        </p:tgtEl>
                                      </p:cBhvr>
                                    </p:animEffect>
                                  </p:childTnLst>
                                </p:cTn>
                              </p:par>
                            </p:childTnLst>
                          </p:cTn>
                        </p:par>
                        <p:par>
                          <p:cTn id="14" fill="hold">
                            <p:stCondLst>
                              <p:cond delay="2350"/>
                            </p:stCondLst>
                            <p:childTnLst>
                              <p:par>
                                <p:cTn id="15" presetID="8" presetClass="entr" presetSubtype="32" fill="hold" grpId="0" nodeType="afterEffect">
                                  <p:stCondLst>
                                    <p:cond delay="0"/>
                                  </p:stCondLst>
                                  <p:iterate type="lt">
                                    <p:tmPct val="10000"/>
                                  </p:iterate>
                                  <p:childTnLst>
                                    <p:set>
                                      <p:cBhvr>
                                        <p:cTn id="16" dur="1" fill="hold">
                                          <p:stCondLst>
                                            <p:cond delay="0"/>
                                          </p:stCondLst>
                                        </p:cTn>
                                        <p:tgtEl>
                                          <p:spTgt spid="16"/>
                                        </p:tgtEl>
                                        <p:attrNameLst>
                                          <p:attrName>style.visibility</p:attrName>
                                        </p:attrNameLst>
                                      </p:cBhvr>
                                      <p:to>
                                        <p:strVal val="visible"/>
                                      </p:to>
                                    </p:set>
                                    <p:animEffect transition="in" filter="diamond(out)">
                                      <p:cBhvr>
                                        <p:cTn id="1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C3300"/>
              </a:solidFill>
            </a:endParaRPr>
          </a:p>
        </p:txBody>
      </p:sp>
      <p:sp>
        <p:nvSpPr>
          <p:cNvPr id="2" name="圆角矩形 1"/>
          <p:cNvSpPr/>
          <p:nvPr/>
        </p:nvSpPr>
        <p:spPr>
          <a:xfrm>
            <a:off x="-1556426" y="1998319"/>
            <a:ext cx="5261917" cy="2861362"/>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5903234" y="1113118"/>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01</a:t>
            </a:r>
            <a:endParaRPr lang="zh-CN" altLang="en-US" b="1" dirty="0"/>
          </a:p>
        </p:txBody>
      </p:sp>
      <p:sp>
        <p:nvSpPr>
          <p:cNvPr id="6" name="圆角矩形 5"/>
          <p:cNvSpPr/>
          <p:nvPr/>
        </p:nvSpPr>
        <p:spPr>
          <a:xfrm>
            <a:off x="5903234" y="2081043"/>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02</a:t>
            </a:r>
            <a:endParaRPr lang="zh-CN" altLang="en-US" b="1" dirty="0"/>
          </a:p>
        </p:txBody>
      </p:sp>
      <p:sp>
        <p:nvSpPr>
          <p:cNvPr id="7" name="圆角矩形 6"/>
          <p:cNvSpPr/>
          <p:nvPr/>
        </p:nvSpPr>
        <p:spPr>
          <a:xfrm>
            <a:off x="5903234" y="3048968"/>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03</a:t>
            </a:r>
            <a:endParaRPr lang="zh-CN" altLang="en-US" b="1" dirty="0"/>
          </a:p>
        </p:txBody>
      </p:sp>
      <p:sp>
        <p:nvSpPr>
          <p:cNvPr id="8" name="圆角矩形 7"/>
          <p:cNvSpPr/>
          <p:nvPr/>
        </p:nvSpPr>
        <p:spPr>
          <a:xfrm>
            <a:off x="5903234" y="4016893"/>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04</a:t>
            </a:r>
            <a:endParaRPr lang="zh-CN" altLang="en-US" b="1" dirty="0"/>
          </a:p>
        </p:txBody>
      </p:sp>
      <p:sp>
        <p:nvSpPr>
          <p:cNvPr id="9" name="圆角矩形 8"/>
          <p:cNvSpPr/>
          <p:nvPr/>
        </p:nvSpPr>
        <p:spPr>
          <a:xfrm>
            <a:off x="5903234" y="4984820"/>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05</a:t>
            </a:r>
            <a:endParaRPr lang="zh-CN" altLang="en-US" b="1" dirty="0"/>
          </a:p>
        </p:txBody>
      </p:sp>
      <p:sp>
        <p:nvSpPr>
          <p:cNvPr id="59" name="圆角矩形 58"/>
          <p:cNvSpPr/>
          <p:nvPr/>
        </p:nvSpPr>
        <p:spPr>
          <a:xfrm>
            <a:off x="7008134" y="1113118"/>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问题求解</a:t>
            </a:r>
            <a:r>
              <a:rPr lang="en-US" altLang="zh-CN" sz="2000" b="1" dirty="0"/>
              <a:t>-</a:t>
            </a:r>
            <a:r>
              <a:rPr lang="zh-CN" altLang="en-US" sz="2000" b="1" dirty="0"/>
              <a:t>最大公约数</a:t>
            </a:r>
          </a:p>
        </p:txBody>
      </p:sp>
      <p:sp>
        <p:nvSpPr>
          <p:cNvPr id="60" name="圆角矩形 59"/>
          <p:cNvSpPr/>
          <p:nvPr/>
        </p:nvSpPr>
        <p:spPr>
          <a:xfrm>
            <a:off x="7008134" y="2081043"/>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t>汉诺塔（ </a:t>
            </a:r>
            <a:r>
              <a:rPr lang="en-US" altLang="zh-CN" sz="2000" b="1"/>
              <a:t>Hanoi Tower </a:t>
            </a:r>
            <a:r>
              <a:rPr lang="zh-CN" altLang="en-US" sz="2000" b="1"/>
              <a:t>）</a:t>
            </a:r>
            <a:endParaRPr lang="zh-CN" altLang="en-US" sz="2000" b="1" dirty="0"/>
          </a:p>
        </p:txBody>
      </p:sp>
      <p:sp>
        <p:nvSpPr>
          <p:cNvPr id="61" name="圆角矩形 60"/>
          <p:cNvSpPr/>
          <p:nvPr/>
        </p:nvSpPr>
        <p:spPr>
          <a:xfrm>
            <a:off x="7008134" y="3048968"/>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t>编译与程序布局</a:t>
            </a:r>
            <a:endParaRPr lang="zh-CN" altLang="en-US" sz="2000" b="1" dirty="0"/>
          </a:p>
        </p:txBody>
      </p:sp>
      <p:sp>
        <p:nvSpPr>
          <p:cNvPr id="62" name="圆角矩形 61"/>
          <p:cNvSpPr/>
          <p:nvPr/>
        </p:nvSpPr>
        <p:spPr>
          <a:xfrm>
            <a:off x="7008134" y="4016893"/>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头文件初步</a:t>
            </a:r>
          </a:p>
        </p:txBody>
      </p:sp>
      <p:sp>
        <p:nvSpPr>
          <p:cNvPr id="63" name="圆角矩形 62"/>
          <p:cNvSpPr/>
          <p:nvPr/>
        </p:nvSpPr>
        <p:spPr>
          <a:xfrm>
            <a:off x="7008134" y="4984820"/>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题库实战案例研究</a:t>
            </a:r>
          </a:p>
        </p:txBody>
      </p:sp>
      <p:sp>
        <p:nvSpPr>
          <p:cNvPr id="64" name="TextBox 78"/>
          <p:cNvSpPr txBox="1"/>
          <p:nvPr/>
        </p:nvSpPr>
        <p:spPr>
          <a:xfrm>
            <a:off x="565975" y="3733289"/>
            <a:ext cx="2063385" cy="502766"/>
          </a:xfrm>
          <a:prstGeom prst="rect">
            <a:avLst/>
          </a:prstGeom>
          <a:noFill/>
        </p:spPr>
        <p:txBody>
          <a:bodyPr wrap="none" rtlCol="0">
            <a:spAutoFit/>
          </a:bodyPr>
          <a:lstStyle/>
          <a:p>
            <a:pPr algn="ctr"/>
            <a:r>
              <a:rPr lang="en-US" altLang="zh-CN" sz="2665" b="1" dirty="0">
                <a:solidFill>
                  <a:schemeClr val="bg1"/>
                </a:solidFill>
                <a:latin typeface="Impact MT Std" pitchFamily="34" charset="0"/>
                <a:ea typeface="微软雅黑" panose="020B0503020204020204" pitchFamily="34" charset="-122"/>
              </a:rPr>
              <a:t>CONTENTS</a:t>
            </a:r>
            <a:endParaRPr lang="zh-CN" altLang="en-US" sz="2665" b="1" dirty="0">
              <a:solidFill>
                <a:schemeClr val="bg1"/>
              </a:solidFill>
              <a:latin typeface="Impact MT Std" pitchFamily="34" charset="0"/>
              <a:ea typeface="微软雅黑" panose="020B0503020204020204" pitchFamily="34" charset="-122"/>
            </a:endParaRPr>
          </a:p>
        </p:txBody>
      </p:sp>
      <p:sp>
        <p:nvSpPr>
          <p:cNvPr id="65" name="TextBox 79"/>
          <p:cNvSpPr txBox="1"/>
          <p:nvPr/>
        </p:nvSpPr>
        <p:spPr>
          <a:xfrm>
            <a:off x="641317" y="2677173"/>
            <a:ext cx="1912703" cy="995209"/>
          </a:xfrm>
          <a:prstGeom prst="rect">
            <a:avLst/>
          </a:prstGeom>
          <a:noFill/>
        </p:spPr>
        <p:txBody>
          <a:bodyPr wrap="none" rtlCol="0">
            <a:spAutoFit/>
          </a:bodyPr>
          <a:lstStyle/>
          <a:p>
            <a:pPr algn="ctr"/>
            <a:r>
              <a:rPr lang="zh-CN" altLang="en-US" sz="5865" b="1" dirty="0">
                <a:solidFill>
                  <a:schemeClr val="bg1"/>
                </a:solidFill>
                <a:latin typeface="微软雅黑" panose="020B0503020204020204" pitchFamily="34" charset="-122"/>
                <a:ea typeface="微软雅黑" panose="020B0503020204020204" pitchFamily="34" charset="-122"/>
              </a:rPr>
              <a:t>目 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decel="5330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750" fill="hold"/>
                                        <p:tgtEl>
                                          <p:spTgt spid="17"/>
                                        </p:tgtEl>
                                        <p:attrNameLst>
                                          <p:attrName>ppt_x</p:attrName>
                                        </p:attrNameLst>
                                      </p:cBhvr>
                                      <p:tavLst>
                                        <p:tav tm="0">
                                          <p:val>
                                            <p:strVal val="0-#ppt_w/2"/>
                                          </p:val>
                                        </p:tav>
                                        <p:tav tm="100000">
                                          <p:val>
                                            <p:strVal val="#ppt_x"/>
                                          </p:val>
                                        </p:tav>
                                      </p:tavLst>
                                    </p:anim>
                                    <p:anim calcmode="lin" valueType="num">
                                      <p:cBhvr additive="base">
                                        <p:cTn id="12" dur="75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53" presetClass="entr" presetSubtype="16" fill="hold" grpId="0" nodeType="afterEffect">
                                  <p:stCondLst>
                                    <p:cond delay="0"/>
                                  </p:stCondLst>
                                  <p:childTnLst>
                                    <p:set>
                                      <p:cBhvr>
                                        <p:cTn id="15" dur="1" fill="hold">
                                          <p:stCondLst>
                                            <p:cond delay="0"/>
                                          </p:stCondLst>
                                        </p:cTn>
                                        <p:tgtEl>
                                          <p:spTgt spid="65"/>
                                        </p:tgtEl>
                                        <p:attrNameLst>
                                          <p:attrName>style.visibility</p:attrName>
                                        </p:attrNameLst>
                                      </p:cBhvr>
                                      <p:to>
                                        <p:strVal val="visible"/>
                                      </p:to>
                                    </p:set>
                                    <p:anim calcmode="lin" valueType="num">
                                      <p:cBhvr>
                                        <p:cTn id="16" dur="500" fill="hold"/>
                                        <p:tgtEl>
                                          <p:spTgt spid="65"/>
                                        </p:tgtEl>
                                        <p:attrNameLst>
                                          <p:attrName>ppt_w</p:attrName>
                                        </p:attrNameLst>
                                      </p:cBhvr>
                                      <p:tavLst>
                                        <p:tav tm="0">
                                          <p:val>
                                            <p:fltVal val="0"/>
                                          </p:val>
                                        </p:tav>
                                        <p:tav tm="100000">
                                          <p:val>
                                            <p:strVal val="#ppt_w"/>
                                          </p:val>
                                        </p:tav>
                                      </p:tavLst>
                                    </p:anim>
                                    <p:anim calcmode="lin" valueType="num">
                                      <p:cBhvr>
                                        <p:cTn id="17" dur="500" fill="hold"/>
                                        <p:tgtEl>
                                          <p:spTgt spid="65"/>
                                        </p:tgtEl>
                                        <p:attrNameLst>
                                          <p:attrName>ppt_h</p:attrName>
                                        </p:attrNameLst>
                                      </p:cBhvr>
                                      <p:tavLst>
                                        <p:tav tm="0">
                                          <p:val>
                                            <p:fltVal val="0"/>
                                          </p:val>
                                        </p:tav>
                                        <p:tav tm="100000">
                                          <p:val>
                                            <p:strVal val="#ppt_h"/>
                                          </p:val>
                                        </p:tav>
                                      </p:tavLst>
                                    </p:anim>
                                    <p:animEffect transition="in" filter="fade">
                                      <p:cBhvr>
                                        <p:cTn id="18" dur="500"/>
                                        <p:tgtEl>
                                          <p:spTgt spid="65"/>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anim calcmode="lin" valueType="num">
                                      <p:cBhvr>
                                        <p:cTn id="21" dur="500" fill="hold"/>
                                        <p:tgtEl>
                                          <p:spTgt spid="64"/>
                                        </p:tgtEl>
                                        <p:attrNameLst>
                                          <p:attrName>ppt_w</p:attrName>
                                        </p:attrNameLst>
                                      </p:cBhvr>
                                      <p:tavLst>
                                        <p:tav tm="0">
                                          <p:val>
                                            <p:fltVal val="0"/>
                                          </p:val>
                                        </p:tav>
                                        <p:tav tm="100000">
                                          <p:val>
                                            <p:strVal val="#ppt_w"/>
                                          </p:val>
                                        </p:tav>
                                      </p:tavLst>
                                    </p:anim>
                                    <p:anim calcmode="lin" valueType="num">
                                      <p:cBhvr>
                                        <p:cTn id="22" dur="500" fill="hold"/>
                                        <p:tgtEl>
                                          <p:spTgt spid="64"/>
                                        </p:tgtEl>
                                        <p:attrNameLst>
                                          <p:attrName>ppt_h</p:attrName>
                                        </p:attrNameLst>
                                      </p:cBhvr>
                                      <p:tavLst>
                                        <p:tav tm="0">
                                          <p:val>
                                            <p:fltVal val="0"/>
                                          </p:val>
                                        </p:tav>
                                        <p:tav tm="100000">
                                          <p:val>
                                            <p:strVal val="#ppt_h"/>
                                          </p:val>
                                        </p:tav>
                                      </p:tavLst>
                                    </p:anim>
                                    <p:animEffect transition="in" filter="fade">
                                      <p:cBhvr>
                                        <p:cTn id="23" dur="500"/>
                                        <p:tgtEl>
                                          <p:spTgt spid="64"/>
                                        </p:tgtEl>
                                      </p:cBhvr>
                                    </p:animEffect>
                                  </p:childTnLst>
                                </p:cTn>
                              </p:par>
                            </p:childTnLst>
                          </p:cTn>
                        </p:par>
                        <p:par>
                          <p:cTn id="24" fill="hold">
                            <p:stCondLst>
                              <p:cond delay="1500"/>
                            </p:stCondLst>
                            <p:childTnLst>
                              <p:par>
                                <p:cTn id="25" presetID="53" presetClass="entr" presetSubtype="16"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500" fill="hold"/>
                                        <p:tgtEl>
                                          <p:spTgt spid="5"/>
                                        </p:tgtEl>
                                        <p:attrNameLst>
                                          <p:attrName>ppt_w</p:attrName>
                                        </p:attrNameLst>
                                      </p:cBhvr>
                                      <p:tavLst>
                                        <p:tav tm="0">
                                          <p:val>
                                            <p:fltVal val="0"/>
                                          </p:val>
                                        </p:tav>
                                        <p:tav tm="100000">
                                          <p:val>
                                            <p:strVal val="#ppt_w"/>
                                          </p:val>
                                        </p:tav>
                                      </p:tavLst>
                                    </p:anim>
                                    <p:anim calcmode="lin" valueType="num">
                                      <p:cBhvr>
                                        <p:cTn id="28" dur="500" fill="hold"/>
                                        <p:tgtEl>
                                          <p:spTgt spid="5"/>
                                        </p:tgtEl>
                                        <p:attrNameLst>
                                          <p:attrName>ppt_h</p:attrName>
                                        </p:attrNameLst>
                                      </p:cBhvr>
                                      <p:tavLst>
                                        <p:tav tm="0">
                                          <p:val>
                                            <p:fltVal val="0"/>
                                          </p:val>
                                        </p:tav>
                                        <p:tav tm="100000">
                                          <p:val>
                                            <p:strVal val="#ppt_h"/>
                                          </p:val>
                                        </p:tav>
                                      </p:tavLst>
                                    </p:anim>
                                    <p:animEffect transition="in" filter="fade">
                                      <p:cBhvr>
                                        <p:cTn id="29" dur="500"/>
                                        <p:tgtEl>
                                          <p:spTgt spid="5"/>
                                        </p:tgtEl>
                                      </p:cBhvr>
                                    </p:animEffect>
                                  </p:childTnLst>
                                </p:cTn>
                              </p:par>
                              <p:par>
                                <p:cTn id="30" presetID="2" presetClass="entr" presetSubtype="2" decel="53300" fill="hold" grpId="0" nodeType="withEffect">
                                  <p:stCondLst>
                                    <p:cond delay="250"/>
                                  </p:stCondLst>
                                  <p:childTnLst>
                                    <p:set>
                                      <p:cBhvr>
                                        <p:cTn id="31" dur="1" fill="hold">
                                          <p:stCondLst>
                                            <p:cond delay="0"/>
                                          </p:stCondLst>
                                        </p:cTn>
                                        <p:tgtEl>
                                          <p:spTgt spid="59"/>
                                        </p:tgtEl>
                                        <p:attrNameLst>
                                          <p:attrName>style.visibility</p:attrName>
                                        </p:attrNameLst>
                                      </p:cBhvr>
                                      <p:to>
                                        <p:strVal val="visible"/>
                                      </p:to>
                                    </p:set>
                                    <p:anim calcmode="lin" valueType="num">
                                      <p:cBhvr additive="base">
                                        <p:cTn id="32" dur="750" fill="hold"/>
                                        <p:tgtEl>
                                          <p:spTgt spid="59"/>
                                        </p:tgtEl>
                                        <p:attrNameLst>
                                          <p:attrName>ppt_x</p:attrName>
                                        </p:attrNameLst>
                                      </p:cBhvr>
                                      <p:tavLst>
                                        <p:tav tm="0">
                                          <p:val>
                                            <p:strVal val="1+#ppt_w/2"/>
                                          </p:val>
                                        </p:tav>
                                        <p:tav tm="100000">
                                          <p:val>
                                            <p:strVal val="#ppt_x"/>
                                          </p:val>
                                        </p:tav>
                                      </p:tavLst>
                                    </p:anim>
                                    <p:anim calcmode="lin" valueType="num">
                                      <p:cBhvr additive="base">
                                        <p:cTn id="33" dur="750" fill="hold"/>
                                        <p:tgtEl>
                                          <p:spTgt spid="59"/>
                                        </p:tgtEl>
                                        <p:attrNameLst>
                                          <p:attrName>ppt_y</p:attrName>
                                        </p:attrNameLst>
                                      </p:cBhvr>
                                      <p:tavLst>
                                        <p:tav tm="0">
                                          <p:val>
                                            <p:strVal val="#ppt_y"/>
                                          </p:val>
                                        </p:tav>
                                        <p:tav tm="100000">
                                          <p:val>
                                            <p:strVal val="#ppt_y"/>
                                          </p:val>
                                        </p:tav>
                                      </p:tavLst>
                                    </p:anim>
                                  </p:childTnLst>
                                </p:cTn>
                              </p:par>
                            </p:childTnLst>
                          </p:cTn>
                        </p:par>
                        <p:par>
                          <p:cTn id="34" fill="hold">
                            <p:stCondLst>
                              <p:cond delay="2000"/>
                            </p:stCondLst>
                            <p:childTnLst>
                              <p:par>
                                <p:cTn id="35" presetID="53" presetClass="entr" presetSubtype="16" fill="hold" grpId="0" nodeType="after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500" fill="hold"/>
                                        <p:tgtEl>
                                          <p:spTgt spid="6"/>
                                        </p:tgtEl>
                                        <p:attrNameLst>
                                          <p:attrName>ppt_w</p:attrName>
                                        </p:attrNameLst>
                                      </p:cBhvr>
                                      <p:tavLst>
                                        <p:tav tm="0">
                                          <p:val>
                                            <p:fltVal val="0"/>
                                          </p:val>
                                        </p:tav>
                                        <p:tav tm="100000">
                                          <p:val>
                                            <p:strVal val="#ppt_w"/>
                                          </p:val>
                                        </p:tav>
                                      </p:tavLst>
                                    </p:anim>
                                    <p:anim calcmode="lin" valueType="num">
                                      <p:cBhvr>
                                        <p:cTn id="38" dur="500" fill="hold"/>
                                        <p:tgtEl>
                                          <p:spTgt spid="6"/>
                                        </p:tgtEl>
                                        <p:attrNameLst>
                                          <p:attrName>ppt_h</p:attrName>
                                        </p:attrNameLst>
                                      </p:cBhvr>
                                      <p:tavLst>
                                        <p:tav tm="0">
                                          <p:val>
                                            <p:fltVal val="0"/>
                                          </p:val>
                                        </p:tav>
                                        <p:tav tm="100000">
                                          <p:val>
                                            <p:strVal val="#ppt_h"/>
                                          </p:val>
                                        </p:tav>
                                      </p:tavLst>
                                    </p:anim>
                                    <p:animEffect transition="in" filter="fade">
                                      <p:cBhvr>
                                        <p:cTn id="39" dur="500"/>
                                        <p:tgtEl>
                                          <p:spTgt spid="6"/>
                                        </p:tgtEl>
                                      </p:cBhvr>
                                    </p:animEffect>
                                  </p:childTnLst>
                                </p:cTn>
                              </p:par>
                              <p:par>
                                <p:cTn id="40" presetID="2" presetClass="entr" presetSubtype="2" decel="53300" fill="hold" grpId="0" nodeType="withEffect">
                                  <p:stCondLst>
                                    <p:cond delay="250"/>
                                  </p:stCondLst>
                                  <p:childTnLst>
                                    <p:set>
                                      <p:cBhvr>
                                        <p:cTn id="41" dur="1" fill="hold">
                                          <p:stCondLst>
                                            <p:cond delay="0"/>
                                          </p:stCondLst>
                                        </p:cTn>
                                        <p:tgtEl>
                                          <p:spTgt spid="60"/>
                                        </p:tgtEl>
                                        <p:attrNameLst>
                                          <p:attrName>style.visibility</p:attrName>
                                        </p:attrNameLst>
                                      </p:cBhvr>
                                      <p:to>
                                        <p:strVal val="visible"/>
                                      </p:to>
                                    </p:set>
                                    <p:anim calcmode="lin" valueType="num">
                                      <p:cBhvr additive="base">
                                        <p:cTn id="42" dur="750" fill="hold"/>
                                        <p:tgtEl>
                                          <p:spTgt spid="60"/>
                                        </p:tgtEl>
                                        <p:attrNameLst>
                                          <p:attrName>ppt_x</p:attrName>
                                        </p:attrNameLst>
                                      </p:cBhvr>
                                      <p:tavLst>
                                        <p:tav tm="0">
                                          <p:val>
                                            <p:strVal val="1+#ppt_w/2"/>
                                          </p:val>
                                        </p:tav>
                                        <p:tav tm="100000">
                                          <p:val>
                                            <p:strVal val="#ppt_x"/>
                                          </p:val>
                                        </p:tav>
                                      </p:tavLst>
                                    </p:anim>
                                    <p:anim calcmode="lin" valueType="num">
                                      <p:cBhvr additive="base">
                                        <p:cTn id="43" dur="750" fill="hold"/>
                                        <p:tgtEl>
                                          <p:spTgt spid="60"/>
                                        </p:tgtEl>
                                        <p:attrNameLst>
                                          <p:attrName>ppt_y</p:attrName>
                                        </p:attrNameLst>
                                      </p:cBhvr>
                                      <p:tavLst>
                                        <p:tav tm="0">
                                          <p:val>
                                            <p:strVal val="#ppt_y"/>
                                          </p:val>
                                        </p:tav>
                                        <p:tav tm="100000">
                                          <p:val>
                                            <p:strVal val="#ppt_y"/>
                                          </p:val>
                                        </p:tav>
                                      </p:tavLst>
                                    </p:anim>
                                  </p:childTnLst>
                                </p:cTn>
                              </p:par>
                            </p:childTnLst>
                          </p:cTn>
                        </p:par>
                        <p:par>
                          <p:cTn id="44" fill="hold">
                            <p:stCondLst>
                              <p:cond delay="2500"/>
                            </p:stCondLst>
                            <p:childTnLst>
                              <p:par>
                                <p:cTn id="45" presetID="53" presetClass="entr" presetSubtype="16" fill="hold" grpId="0" nodeType="after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500" fill="hold"/>
                                        <p:tgtEl>
                                          <p:spTgt spid="7"/>
                                        </p:tgtEl>
                                        <p:attrNameLst>
                                          <p:attrName>ppt_w</p:attrName>
                                        </p:attrNameLst>
                                      </p:cBhvr>
                                      <p:tavLst>
                                        <p:tav tm="0">
                                          <p:val>
                                            <p:fltVal val="0"/>
                                          </p:val>
                                        </p:tav>
                                        <p:tav tm="100000">
                                          <p:val>
                                            <p:strVal val="#ppt_w"/>
                                          </p:val>
                                        </p:tav>
                                      </p:tavLst>
                                    </p:anim>
                                    <p:anim calcmode="lin" valueType="num">
                                      <p:cBhvr>
                                        <p:cTn id="48" dur="500" fill="hold"/>
                                        <p:tgtEl>
                                          <p:spTgt spid="7"/>
                                        </p:tgtEl>
                                        <p:attrNameLst>
                                          <p:attrName>ppt_h</p:attrName>
                                        </p:attrNameLst>
                                      </p:cBhvr>
                                      <p:tavLst>
                                        <p:tav tm="0">
                                          <p:val>
                                            <p:fltVal val="0"/>
                                          </p:val>
                                        </p:tav>
                                        <p:tav tm="100000">
                                          <p:val>
                                            <p:strVal val="#ppt_h"/>
                                          </p:val>
                                        </p:tav>
                                      </p:tavLst>
                                    </p:anim>
                                    <p:animEffect transition="in" filter="fade">
                                      <p:cBhvr>
                                        <p:cTn id="49" dur="500"/>
                                        <p:tgtEl>
                                          <p:spTgt spid="7"/>
                                        </p:tgtEl>
                                      </p:cBhvr>
                                    </p:animEffect>
                                  </p:childTnLst>
                                </p:cTn>
                              </p:par>
                              <p:par>
                                <p:cTn id="50" presetID="2" presetClass="entr" presetSubtype="2" decel="53300" fill="hold" grpId="0" nodeType="withEffect">
                                  <p:stCondLst>
                                    <p:cond delay="250"/>
                                  </p:stCondLst>
                                  <p:childTnLst>
                                    <p:set>
                                      <p:cBhvr>
                                        <p:cTn id="51" dur="1" fill="hold">
                                          <p:stCondLst>
                                            <p:cond delay="0"/>
                                          </p:stCondLst>
                                        </p:cTn>
                                        <p:tgtEl>
                                          <p:spTgt spid="61"/>
                                        </p:tgtEl>
                                        <p:attrNameLst>
                                          <p:attrName>style.visibility</p:attrName>
                                        </p:attrNameLst>
                                      </p:cBhvr>
                                      <p:to>
                                        <p:strVal val="visible"/>
                                      </p:to>
                                    </p:set>
                                    <p:anim calcmode="lin" valueType="num">
                                      <p:cBhvr additive="base">
                                        <p:cTn id="52" dur="750" fill="hold"/>
                                        <p:tgtEl>
                                          <p:spTgt spid="61"/>
                                        </p:tgtEl>
                                        <p:attrNameLst>
                                          <p:attrName>ppt_x</p:attrName>
                                        </p:attrNameLst>
                                      </p:cBhvr>
                                      <p:tavLst>
                                        <p:tav tm="0">
                                          <p:val>
                                            <p:strVal val="1+#ppt_w/2"/>
                                          </p:val>
                                        </p:tav>
                                        <p:tav tm="100000">
                                          <p:val>
                                            <p:strVal val="#ppt_x"/>
                                          </p:val>
                                        </p:tav>
                                      </p:tavLst>
                                    </p:anim>
                                    <p:anim calcmode="lin" valueType="num">
                                      <p:cBhvr additive="base">
                                        <p:cTn id="53" dur="750" fill="hold"/>
                                        <p:tgtEl>
                                          <p:spTgt spid="61"/>
                                        </p:tgtEl>
                                        <p:attrNameLst>
                                          <p:attrName>ppt_y</p:attrName>
                                        </p:attrNameLst>
                                      </p:cBhvr>
                                      <p:tavLst>
                                        <p:tav tm="0">
                                          <p:val>
                                            <p:strVal val="#ppt_y"/>
                                          </p:val>
                                        </p:tav>
                                        <p:tav tm="100000">
                                          <p:val>
                                            <p:strVal val="#ppt_y"/>
                                          </p:val>
                                        </p:tav>
                                      </p:tavLst>
                                    </p:anim>
                                  </p:childTnLst>
                                </p:cTn>
                              </p:par>
                            </p:childTnLst>
                          </p:cTn>
                        </p:par>
                        <p:par>
                          <p:cTn id="54" fill="hold">
                            <p:stCondLst>
                              <p:cond delay="3000"/>
                            </p:stCondLst>
                            <p:childTnLst>
                              <p:par>
                                <p:cTn id="55" presetID="53" presetClass="entr" presetSubtype="16" fill="hold" grpId="0" nodeType="after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500" fill="hold"/>
                                        <p:tgtEl>
                                          <p:spTgt spid="8"/>
                                        </p:tgtEl>
                                        <p:attrNameLst>
                                          <p:attrName>ppt_w</p:attrName>
                                        </p:attrNameLst>
                                      </p:cBhvr>
                                      <p:tavLst>
                                        <p:tav tm="0">
                                          <p:val>
                                            <p:fltVal val="0"/>
                                          </p:val>
                                        </p:tav>
                                        <p:tav tm="100000">
                                          <p:val>
                                            <p:strVal val="#ppt_w"/>
                                          </p:val>
                                        </p:tav>
                                      </p:tavLst>
                                    </p:anim>
                                    <p:anim calcmode="lin" valueType="num">
                                      <p:cBhvr>
                                        <p:cTn id="58" dur="500" fill="hold"/>
                                        <p:tgtEl>
                                          <p:spTgt spid="8"/>
                                        </p:tgtEl>
                                        <p:attrNameLst>
                                          <p:attrName>ppt_h</p:attrName>
                                        </p:attrNameLst>
                                      </p:cBhvr>
                                      <p:tavLst>
                                        <p:tav tm="0">
                                          <p:val>
                                            <p:fltVal val="0"/>
                                          </p:val>
                                        </p:tav>
                                        <p:tav tm="100000">
                                          <p:val>
                                            <p:strVal val="#ppt_h"/>
                                          </p:val>
                                        </p:tav>
                                      </p:tavLst>
                                    </p:anim>
                                    <p:animEffect transition="in" filter="fade">
                                      <p:cBhvr>
                                        <p:cTn id="59" dur="500"/>
                                        <p:tgtEl>
                                          <p:spTgt spid="8"/>
                                        </p:tgtEl>
                                      </p:cBhvr>
                                    </p:animEffect>
                                  </p:childTnLst>
                                </p:cTn>
                              </p:par>
                              <p:par>
                                <p:cTn id="60" presetID="2" presetClass="entr" presetSubtype="2" decel="53300" fill="hold" grpId="0" nodeType="withEffect">
                                  <p:stCondLst>
                                    <p:cond delay="250"/>
                                  </p:stCondLst>
                                  <p:childTnLst>
                                    <p:set>
                                      <p:cBhvr>
                                        <p:cTn id="61" dur="1" fill="hold">
                                          <p:stCondLst>
                                            <p:cond delay="0"/>
                                          </p:stCondLst>
                                        </p:cTn>
                                        <p:tgtEl>
                                          <p:spTgt spid="62"/>
                                        </p:tgtEl>
                                        <p:attrNameLst>
                                          <p:attrName>style.visibility</p:attrName>
                                        </p:attrNameLst>
                                      </p:cBhvr>
                                      <p:to>
                                        <p:strVal val="visible"/>
                                      </p:to>
                                    </p:set>
                                    <p:anim calcmode="lin" valueType="num">
                                      <p:cBhvr additive="base">
                                        <p:cTn id="62" dur="750" fill="hold"/>
                                        <p:tgtEl>
                                          <p:spTgt spid="62"/>
                                        </p:tgtEl>
                                        <p:attrNameLst>
                                          <p:attrName>ppt_x</p:attrName>
                                        </p:attrNameLst>
                                      </p:cBhvr>
                                      <p:tavLst>
                                        <p:tav tm="0">
                                          <p:val>
                                            <p:strVal val="1+#ppt_w/2"/>
                                          </p:val>
                                        </p:tav>
                                        <p:tav tm="100000">
                                          <p:val>
                                            <p:strVal val="#ppt_x"/>
                                          </p:val>
                                        </p:tav>
                                      </p:tavLst>
                                    </p:anim>
                                    <p:anim calcmode="lin" valueType="num">
                                      <p:cBhvr additive="base">
                                        <p:cTn id="63" dur="750" fill="hold"/>
                                        <p:tgtEl>
                                          <p:spTgt spid="62"/>
                                        </p:tgtEl>
                                        <p:attrNameLst>
                                          <p:attrName>ppt_y</p:attrName>
                                        </p:attrNameLst>
                                      </p:cBhvr>
                                      <p:tavLst>
                                        <p:tav tm="0">
                                          <p:val>
                                            <p:strVal val="#ppt_y"/>
                                          </p:val>
                                        </p:tav>
                                        <p:tav tm="100000">
                                          <p:val>
                                            <p:strVal val="#ppt_y"/>
                                          </p:val>
                                        </p:tav>
                                      </p:tavLst>
                                    </p:anim>
                                  </p:childTnLst>
                                </p:cTn>
                              </p:par>
                            </p:childTnLst>
                          </p:cTn>
                        </p:par>
                        <p:par>
                          <p:cTn id="64" fill="hold">
                            <p:stCondLst>
                              <p:cond delay="4000"/>
                            </p:stCondLst>
                            <p:childTnLst>
                              <p:par>
                                <p:cTn id="65" presetID="53" presetClass="entr" presetSubtype="16" fill="hold" grpId="0" nodeType="afterEffect">
                                  <p:stCondLst>
                                    <p:cond delay="0"/>
                                  </p:stCondLst>
                                  <p:childTnLst>
                                    <p:set>
                                      <p:cBhvr>
                                        <p:cTn id="66" dur="1" fill="hold">
                                          <p:stCondLst>
                                            <p:cond delay="0"/>
                                          </p:stCondLst>
                                        </p:cTn>
                                        <p:tgtEl>
                                          <p:spTgt spid="9"/>
                                        </p:tgtEl>
                                        <p:attrNameLst>
                                          <p:attrName>style.visibility</p:attrName>
                                        </p:attrNameLst>
                                      </p:cBhvr>
                                      <p:to>
                                        <p:strVal val="visible"/>
                                      </p:to>
                                    </p:set>
                                    <p:anim calcmode="lin" valueType="num">
                                      <p:cBhvr>
                                        <p:cTn id="67" dur="500" fill="hold"/>
                                        <p:tgtEl>
                                          <p:spTgt spid="9"/>
                                        </p:tgtEl>
                                        <p:attrNameLst>
                                          <p:attrName>ppt_w</p:attrName>
                                        </p:attrNameLst>
                                      </p:cBhvr>
                                      <p:tavLst>
                                        <p:tav tm="0">
                                          <p:val>
                                            <p:fltVal val="0"/>
                                          </p:val>
                                        </p:tav>
                                        <p:tav tm="100000">
                                          <p:val>
                                            <p:strVal val="#ppt_w"/>
                                          </p:val>
                                        </p:tav>
                                      </p:tavLst>
                                    </p:anim>
                                    <p:anim calcmode="lin" valueType="num">
                                      <p:cBhvr>
                                        <p:cTn id="68" dur="500" fill="hold"/>
                                        <p:tgtEl>
                                          <p:spTgt spid="9"/>
                                        </p:tgtEl>
                                        <p:attrNameLst>
                                          <p:attrName>ppt_h</p:attrName>
                                        </p:attrNameLst>
                                      </p:cBhvr>
                                      <p:tavLst>
                                        <p:tav tm="0">
                                          <p:val>
                                            <p:fltVal val="0"/>
                                          </p:val>
                                        </p:tav>
                                        <p:tav tm="100000">
                                          <p:val>
                                            <p:strVal val="#ppt_h"/>
                                          </p:val>
                                        </p:tav>
                                      </p:tavLst>
                                    </p:anim>
                                    <p:animEffect transition="in" filter="fade">
                                      <p:cBhvr>
                                        <p:cTn id="69" dur="500"/>
                                        <p:tgtEl>
                                          <p:spTgt spid="9"/>
                                        </p:tgtEl>
                                      </p:cBhvr>
                                    </p:animEffect>
                                  </p:childTnLst>
                                </p:cTn>
                              </p:par>
                              <p:par>
                                <p:cTn id="70" presetID="2" presetClass="entr" presetSubtype="2" decel="53300" fill="hold" grpId="0" nodeType="withEffect">
                                  <p:stCondLst>
                                    <p:cond delay="250"/>
                                  </p:stCondLst>
                                  <p:childTnLst>
                                    <p:set>
                                      <p:cBhvr>
                                        <p:cTn id="71" dur="1" fill="hold">
                                          <p:stCondLst>
                                            <p:cond delay="0"/>
                                          </p:stCondLst>
                                        </p:cTn>
                                        <p:tgtEl>
                                          <p:spTgt spid="63"/>
                                        </p:tgtEl>
                                        <p:attrNameLst>
                                          <p:attrName>style.visibility</p:attrName>
                                        </p:attrNameLst>
                                      </p:cBhvr>
                                      <p:to>
                                        <p:strVal val="visible"/>
                                      </p:to>
                                    </p:set>
                                    <p:anim calcmode="lin" valueType="num">
                                      <p:cBhvr additive="base">
                                        <p:cTn id="72" dur="750" fill="hold"/>
                                        <p:tgtEl>
                                          <p:spTgt spid="63"/>
                                        </p:tgtEl>
                                        <p:attrNameLst>
                                          <p:attrName>ppt_x</p:attrName>
                                        </p:attrNameLst>
                                      </p:cBhvr>
                                      <p:tavLst>
                                        <p:tav tm="0">
                                          <p:val>
                                            <p:strVal val="1+#ppt_w/2"/>
                                          </p:val>
                                        </p:tav>
                                        <p:tav tm="100000">
                                          <p:val>
                                            <p:strVal val="#ppt_x"/>
                                          </p:val>
                                        </p:tav>
                                      </p:tavLst>
                                    </p:anim>
                                    <p:anim calcmode="lin" valueType="num">
                                      <p:cBhvr additive="base">
                                        <p:cTn id="73" dur="750" fill="hold"/>
                                        <p:tgtEl>
                                          <p:spTgt spid="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5" grpId="0" animBg="1"/>
      <p:bldP spid="6" grpId="0" animBg="1"/>
      <p:bldP spid="7" grpId="0" animBg="1"/>
      <p:bldP spid="8" grpId="0" animBg="1"/>
      <p:bldP spid="9" grpId="0" animBg="1"/>
      <p:bldP spid="59" grpId="0" animBg="1"/>
      <p:bldP spid="60" grpId="0" animBg="1"/>
      <p:bldP spid="61" grpId="0" animBg="1"/>
      <p:bldP spid="62" grpId="0" animBg="1"/>
      <p:bldP spid="63" grpId="0" animBg="1"/>
      <p:bldP spid="64" grpId="0"/>
      <p:bldP spid="6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问题求解</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文本框 1"/>
          <p:cNvSpPr txBox="1"/>
          <p:nvPr/>
        </p:nvSpPr>
        <p:spPr>
          <a:xfrm>
            <a:off x="1074657" y="1738207"/>
            <a:ext cx="7388408" cy="4857548"/>
          </a:xfrm>
          <a:prstGeom prst="rect">
            <a:avLst/>
          </a:prstGeom>
          <a:noFill/>
        </p:spPr>
        <p:txBody>
          <a:bodyPr wrap="square" rtlCol="0">
            <a:noAutofit/>
          </a:bodyPr>
          <a:lstStyle/>
          <a:p>
            <a:r>
              <a:rPr lang="zh-CN" altLang="en-US" sz="2400" b="1" dirty="0">
                <a:latin typeface="微软雅黑" panose="020B0503020204020204" pitchFamily="34" charset="-122"/>
                <a:ea typeface="微软雅黑" panose="020B0503020204020204" pitchFamily="34" charset="-122"/>
              </a:rPr>
              <a:t>问题求解（</a:t>
            </a:r>
            <a:r>
              <a:rPr lang="en-US" altLang="zh-CN" b="1" i="1" dirty="0">
                <a:latin typeface="微软雅黑" panose="020B0503020204020204" pitchFamily="34" charset="-122"/>
                <a:ea typeface="微软雅黑" panose="020B0503020204020204" pitchFamily="34" charset="-122"/>
              </a:rPr>
              <a:t>problem solving</a:t>
            </a:r>
            <a:r>
              <a:rPr lang="zh-CN" altLang="en-US"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一般方法：</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pPr marL="457200" indent="-457200">
              <a:buFont typeface="+mj-lt"/>
              <a:buAutoNum type="arabicPeriod"/>
            </a:pPr>
            <a:r>
              <a:rPr lang="en-US" altLang="zh-CN" sz="2400" i="1" dirty="0">
                <a:latin typeface="微软雅黑" panose="020B0503020204020204" pitchFamily="34" charset="-122"/>
                <a:ea typeface="微软雅黑" panose="020B0503020204020204" pitchFamily="34" charset="-122"/>
              </a:rPr>
              <a:t>What do I know about the problem?</a:t>
            </a:r>
          </a:p>
          <a:p>
            <a:pPr marL="457200" indent="-457200">
              <a:buFont typeface="+mj-lt"/>
              <a:buAutoNum type="arabicPeriod"/>
            </a:pPr>
            <a:r>
              <a:rPr lang="en-US" altLang="zh-CN" sz="2400" i="1" dirty="0">
                <a:latin typeface="微软雅黑" panose="020B0503020204020204" pitchFamily="34" charset="-122"/>
                <a:ea typeface="微软雅黑" panose="020B0503020204020204" pitchFamily="34" charset="-122"/>
              </a:rPr>
              <a:t>What is the information that I have to process in order the find the solution?</a:t>
            </a:r>
          </a:p>
          <a:p>
            <a:pPr marL="457200" indent="-457200">
              <a:buFont typeface="+mj-lt"/>
              <a:buAutoNum type="arabicPeriod"/>
            </a:pPr>
            <a:r>
              <a:rPr lang="en-US" altLang="zh-CN" sz="2400" i="1" dirty="0">
                <a:latin typeface="微软雅黑" panose="020B0503020204020204" pitchFamily="34" charset="-122"/>
                <a:ea typeface="微软雅黑" panose="020B0503020204020204" pitchFamily="34" charset="-122"/>
              </a:rPr>
              <a:t>What does the solution look like?</a:t>
            </a:r>
          </a:p>
          <a:p>
            <a:pPr marL="457200" indent="-457200">
              <a:buFont typeface="+mj-lt"/>
              <a:buAutoNum type="arabicPeriod"/>
            </a:pPr>
            <a:r>
              <a:rPr lang="en-US" altLang="zh-CN" sz="2400" i="1" dirty="0">
                <a:latin typeface="微软雅黑" panose="020B0503020204020204" pitchFamily="34" charset="-122"/>
                <a:ea typeface="微软雅黑" panose="020B0503020204020204" pitchFamily="34" charset="-122"/>
              </a:rPr>
              <a:t>What sort of special cases exist?</a:t>
            </a:r>
          </a:p>
          <a:p>
            <a:pPr marL="457200" indent="-457200">
              <a:buFont typeface="+mj-lt"/>
              <a:buAutoNum type="arabicPeriod"/>
            </a:pPr>
            <a:r>
              <a:rPr lang="en-US" altLang="zh-CN" sz="2400" i="1" dirty="0">
                <a:latin typeface="微软雅黑" panose="020B0503020204020204" pitchFamily="34" charset="-122"/>
                <a:ea typeface="微软雅黑" panose="020B0503020204020204" pitchFamily="34" charset="-122"/>
              </a:rPr>
              <a:t>How will I recognize that I have found </a:t>
            </a:r>
            <a:br>
              <a:rPr lang="en-US" altLang="zh-CN" sz="2400" i="1" dirty="0">
                <a:latin typeface="微软雅黑" panose="020B0503020204020204" pitchFamily="34" charset="-122"/>
                <a:ea typeface="微软雅黑" panose="020B0503020204020204" pitchFamily="34" charset="-122"/>
              </a:rPr>
            </a:br>
            <a:r>
              <a:rPr lang="en-US" altLang="zh-CN" sz="2400" i="1" dirty="0">
                <a:latin typeface="微软雅黑" panose="020B0503020204020204" pitchFamily="34" charset="-122"/>
                <a:ea typeface="微软雅黑" panose="020B0503020204020204" pitchFamily="34" charset="-122"/>
              </a:rPr>
              <a:t>the solution?</a:t>
            </a:r>
          </a:p>
          <a:p>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786AB159-384C-5FFC-7760-F546B59DA5F2}"/>
              </a:ext>
            </a:extLst>
          </p:cNvPr>
          <p:cNvPicPr>
            <a:picLocks noChangeAspect="1"/>
          </p:cNvPicPr>
          <p:nvPr/>
        </p:nvPicPr>
        <p:blipFill>
          <a:blip r:embed="rId4"/>
          <a:stretch>
            <a:fillRect/>
          </a:stretch>
        </p:blipFill>
        <p:spPr>
          <a:xfrm>
            <a:off x="9119478" y="1738207"/>
            <a:ext cx="2571750" cy="3819525"/>
          </a:xfrm>
          <a:prstGeom prst="rect">
            <a:avLst/>
          </a:prstGeom>
        </p:spPr>
      </p:pic>
      <p:sp>
        <p:nvSpPr>
          <p:cNvPr id="4" name="文本框 3">
            <a:extLst>
              <a:ext uri="{FF2B5EF4-FFF2-40B4-BE49-F238E27FC236}">
                <a16:creationId xmlns:a16="http://schemas.microsoft.com/office/drawing/2014/main" id="{908E7BD5-EE80-501F-0D87-21E71B202DC7}"/>
              </a:ext>
            </a:extLst>
          </p:cNvPr>
          <p:cNvSpPr txBox="1"/>
          <p:nvPr/>
        </p:nvSpPr>
        <p:spPr>
          <a:xfrm>
            <a:off x="9343203" y="5557732"/>
            <a:ext cx="2124299" cy="369332"/>
          </a:xfrm>
          <a:prstGeom prst="rect">
            <a:avLst/>
          </a:prstGeom>
          <a:noFill/>
        </p:spPr>
        <p:txBody>
          <a:bodyPr wrap="none" rtlCol="0">
            <a:spAutoFit/>
          </a:bodyPr>
          <a:lstStyle/>
          <a:p>
            <a:r>
              <a:rPr lang="zh-CN" altLang="en-US" b="1" dirty="0"/>
              <a:t>作者</a:t>
            </a:r>
            <a:r>
              <a:rPr lang="en-US" altLang="zh-CN" b="1" dirty="0"/>
              <a:t>: [</a:t>
            </a:r>
            <a:r>
              <a:rPr lang="zh-CN" altLang="en-US" b="1" dirty="0"/>
              <a:t>美</a:t>
            </a:r>
            <a:r>
              <a:rPr lang="en-US" altLang="zh-CN" b="1" dirty="0"/>
              <a:t>] G·</a:t>
            </a:r>
            <a:r>
              <a:rPr lang="zh-CN" altLang="en-US" b="1" dirty="0"/>
              <a:t>波利亚</a:t>
            </a:r>
          </a:p>
        </p:txBody>
      </p:sp>
      <p:sp>
        <p:nvSpPr>
          <p:cNvPr id="5" name="文本框 4">
            <a:extLst>
              <a:ext uri="{FF2B5EF4-FFF2-40B4-BE49-F238E27FC236}">
                <a16:creationId xmlns:a16="http://schemas.microsoft.com/office/drawing/2014/main" id="{34A0C7B8-399A-265E-169C-F3704AA7108A}"/>
              </a:ext>
            </a:extLst>
          </p:cNvPr>
          <p:cNvSpPr txBox="1"/>
          <p:nvPr/>
        </p:nvSpPr>
        <p:spPr>
          <a:xfrm>
            <a:off x="8793804" y="6459166"/>
            <a:ext cx="3214341" cy="369332"/>
          </a:xfrm>
          <a:prstGeom prst="rect">
            <a:avLst/>
          </a:prstGeom>
          <a:noFill/>
        </p:spPr>
        <p:txBody>
          <a:bodyPr wrap="none" rtlCol="0">
            <a:spAutoFit/>
          </a:bodyPr>
          <a:lstStyle/>
          <a:p>
            <a:r>
              <a:rPr lang="zh-CN" altLang="en-US" dirty="0">
                <a:hlinkClick r:id="rId5"/>
              </a:rPr>
              <a:t>怎样解题 </a:t>
            </a:r>
            <a:r>
              <a:rPr lang="en-US" altLang="zh-CN" dirty="0">
                <a:hlinkClick r:id="rId5"/>
              </a:rPr>
              <a:t>(</a:t>
            </a:r>
            <a:r>
              <a:rPr lang="zh-CN" altLang="en-US" dirty="0">
                <a:hlinkClick r:id="rId5"/>
              </a:rPr>
              <a:t>豆瓣</a:t>
            </a:r>
            <a:r>
              <a:rPr lang="en-US" altLang="zh-CN" dirty="0">
                <a:hlinkClick r:id="rId5"/>
              </a:rPr>
              <a:t>) (douban.com)</a:t>
            </a:r>
            <a:endParaRPr lang="zh-CN" altLang="en-US" dirty="0"/>
          </a:p>
        </p:txBody>
      </p:sp>
      <p:sp>
        <p:nvSpPr>
          <p:cNvPr id="6" name="文本框 5">
            <a:extLst>
              <a:ext uri="{FF2B5EF4-FFF2-40B4-BE49-F238E27FC236}">
                <a16:creationId xmlns:a16="http://schemas.microsoft.com/office/drawing/2014/main" id="{75CC4827-C6B2-6D7D-144C-DE042D2FFA0D}"/>
              </a:ext>
            </a:extLst>
          </p:cNvPr>
          <p:cNvSpPr txBox="1"/>
          <p:nvPr/>
        </p:nvSpPr>
        <p:spPr>
          <a:xfrm>
            <a:off x="1074657" y="5710136"/>
            <a:ext cx="7717177" cy="369332"/>
          </a:xfrm>
          <a:prstGeom prst="rect">
            <a:avLst/>
          </a:prstGeom>
          <a:noFill/>
        </p:spPr>
        <p:txBody>
          <a:bodyPr wrap="none" rtlCol="0">
            <a:spAutoFit/>
          </a:bodyPr>
          <a:lstStyle/>
          <a:p>
            <a:r>
              <a:rPr lang="zh-CN" altLang="en-US" dirty="0"/>
              <a:t>计算问题的本质就是数学，这本书可能对你提升问题求解能力有所帮助！</a:t>
            </a:r>
          </a:p>
        </p:txBody>
      </p:sp>
    </p:spTree>
    <p:extLst>
      <p:ext uri="{BB962C8B-B14F-4D97-AF65-F5344CB8AC3E}">
        <p14:creationId xmlns:p14="http://schemas.microsoft.com/office/powerpoint/2010/main" val="4097627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最大公约数 </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问题描述</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mc:AlternateContent xmlns:mc="http://schemas.openxmlformats.org/markup-compatibility/2006" xmlns:a14="http://schemas.microsoft.com/office/drawing/2010/main">
        <mc:Choice Requires="a14">
          <p:sp>
            <p:nvSpPr>
              <p:cNvPr id="2" name="文本框 1"/>
              <p:cNvSpPr txBox="1"/>
              <p:nvPr/>
            </p:nvSpPr>
            <p:spPr>
              <a:xfrm>
                <a:off x="1074656" y="1738207"/>
                <a:ext cx="10190375" cy="4857548"/>
              </a:xfrm>
              <a:prstGeom prst="rect">
                <a:avLst/>
              </a:prstGeom>
              <a:noFill/>
            </p:spPr>
            <p:txBody>
              <a:bodyPr wrap="square" rtlCol="0">
                <a:noAutofit/>
              </a:bodyPr>
              <a:lstStyle/>
              <a:p>
                <a:r>
                  <a:rPr lang="zh-CN" altLang="en-US" sz="2400" b="1" dirty="0">
                    <a:ea typeface="微软雅黑" panose="020B0503020204020204" pitchFamily="34" charset="-122"/>
                  </a:rPr>
                  <a:t>最大公约数</a:t>
                </a:r>
                <a:r>
                  <a:rPr lang="zh-CN" altLang="en-US" sz="2400" dirty="0">
                    <a:ea typeface="微软雅黑" panose="020B0503020204020204" pitchFamily="34" charset="-122"/>
                  </a:rPr>
                  <a:t>，也称</a:t>
                </a:r>
                <a:r>
                  <a:rPr lang="zh-CN" altLang="en-US" sz="2400" b="1" dirty="0">
                    <a:ea typeface="微软雅黑" panose="020B0503020204020204" pitchFamily="34" charset="-122"/>
                  </a:rPr>
                  <a:t>最大公因数（</a:t>
                </a:r>
                <a:r>
                  <a:rPr lang="en-US" altLang="zh-CN" sz="2000" b="1" i="1" dirty="0">
                    <a:ea typeface="微软雅黑" panose="020B0503020204020204" pitchFamily="34" charset="-122"/>
                  </a:rPr>
                  <a:t>greatest common divisor</a:t>
                </a:r>
                <a:r>
                  <a:rPr lang="zh-CN" altLang="en-US" sz="2400" b="1" dirty="0">
                    <a:ea typeface="微软雅黑" panose="020B0503020204020204" pitchFamily="34" charset="-122"/>
                  </a:rPr>
                  <a:t>）</a:t>
                </a:r>
                <a:r>
                  <a:rPr lang="zh-CN" altLang="en-US" sz="2400" dirty="0">
                    <a:ea typeface="微软雅黑" panose="020B0503020204020204" pitchFamily="34" charset="-122"/>
                  </a:rPr>
                  <a:t>，是指两个或多个整数共有约数中最大的一个。记为</a:t>
                </a:r>
                <a:endParaRPr lang="en-US" altLang="zh-CN" sz="2400" dirty="0">
                  <a:latin typeface="微软雅黑" panose="020B0503020204020204" pitchFamily="34" charset="-122"/>
                  <a:ea typeface="微软雅黑" panose="020B0503020204020204" pitchFamily="34" charset="-122"/>
                </a:endParaRPr>
              </a:p>
              <a:p>
                <a:pPr algn="ctr"/>
                <a14:m>
                  <m:oMath xmlns:m="http://schemas.openxmlformats.org/officeDocument/2006/math">
                    <m:r>
                      <m:rPr>
                        <m:sty m:val="p"/>
                      </m:rPr>
                      <a:rPr lang="en-US" altLang="zh-CN" sz="2400" i="1" dirty="0" smtClean="0">
                        <a:latin typeface="Cambria Math" panose="02040503050406030204" pitchFamily="18" charset="0"/>
                        <a:ea typeface="微软雅黑" panose="020B0503020204020204" pitchFamily="34" charset="-122"/>
                      </a:rPr>
                      <m:t>gcd</m:t>
                    </m:r>
                    <m:r>
                      <a:rPr lang="en-US" altLang="zh-CN" sz="2400" i="1" dirty="0" smtClean="0">
                        <a:latin typeface="Cambria Math" panose="02040503050406030204" pitchFamily="18" charset="0"/>
                        <a:ea typeface="微软雅黑" panose="020B0503020204020204" pitchFamily="34" charset="-122"/>
                      </a:rPr>
                      <m:t>⁡(</m:t>
                    </m:r>
                    <m:r>
                      <a:rPr lang="en-US" altLang="zh-CN" sz="2400" i="1" dirty="0" err="1" smtClean="0">
                        <a:latin typeface="Cambria Math" panose="02040503050406030204" pitchFamily="18" charset="0"/>
                        <a:ea typeface="微软雅黑" panose="020B0503020204020204" pitchFamily="34" charset="-122"/>
                      </a:rPr>
                      <m:t>𝑎</m:t>
                    </m:r>
                    <m:r>
                      <a:rPr lang="en-US" altLang="zh-CN" sz="2400" i="1" dirty="0" err="1" smtClean="0">
                        <a:latin typeface="Cambria Math" panose="02040503050406030204" pitchFamily="18" charset="0"/>
                        <a:ea typeface="微软雅黑" panose="020B0503020204020204" pitchFamily="34" charset="-122"/>
                      </a:rPr>
                      <m:t>, </m:t>
                    </m:r>
                    <m:r>
                      <a:rPr lang="en-US" altLang="zh-CN" sz="2400" i="1" dirty="0" err="1" smtClean="0">
                        <a:latin typeface="Cambria Math" panose="02040503050406030204" pitchFamily="18" charset="0"/>
                        <a:ea typeface="微软雅黑" panose="020B0503020204020204" pitchFamily="34" charset="-122"/>
                      </a:rPr>
                      <m:t>𝑏</m:t>
                    </m:r>
                    <m:r>
                      <a:rPr lang="en-US" altLang="zh-CN" sz="2400" i="1" dirty="0" smtClean="0">
                        <a:latin typeface="Cambria Math" panose="02040503050406030204" pitchFamily="18" charset="0"/>
                        <a:ea typeface="微软雅黑" panose="020B0503020204020204" pitchFamily="34" charset="-122"/>
                      </a:rPr>
                      <m:t>)</m:t>
                    </m:r>
                  </m:oMath>
                </a14:m>
                <a:r>
                  <a:rPr lang="en-US" altLang="zh-CN" sz="2400" dirty="0">
                    <a:latin typeface="微软雅黑" panose="020B0503020204020204" pitchFamily="34" charset="-122"/>
                    <a:ea typeface="微软雅黑" panose="020B0503020204020204" pitchFamily="34" charset="-122"/>
                  </a:rPr>
                  <a:t>	</a:t>
                </a:r>
              </a:p>
              <a:p>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AutoNum type="arabicPeriod"/>
                </a:pPr>
                <a:r>
                  <a:rPr lang="zh-CN" altLang="en-US" sz="2400" dirty="0">
                    <a:latin typeface="微软雅黑" panose="020B0503020204020204" pitchFamily="34" charset="-122"/>
                    <a:ea typeface="微软雅黑" panose="020B0503020204020204" pitchFamily="34" charset="-122"/>
                  </a:rPr>
                  <a:t>审题：从数学角度，理解最大公因素定义是解题的第一步</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AutoNum type="arabicPeriod"/>
                </a:pPr>
                <a:r>
                  <a:rPr lang="zh-CN" altLang="en-US" sz="2400" dirty="0">
                    <a:latin typeface="微软雅黑" panose="020B0503020204020204" pitchFamily="34" charset="-122"/>
                    <a:ea typeface="微软雅黑" panose="020B0503020204020204" pitchFamily="34" charset="-122"/>
                  </a:rPr>
                  <a:t>输入：整数 </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𝑎</m:t>
                    </m:r>
                  </m:oMath>
                </a14:m>
                <a:r>
                  <a:rPr lang="zh-CN" altLang="en-US" sz="24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𝑏</m:t>
                    </m:r>
                  </m:oMath>
                </a14:m>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AutoNum type="arabicPeriod"/>
                </a:pPr>
                <a:r>
                  <a:rPr lang="zh-CN" altLang="en-US" sz="2400" dirty="0">
                    <a:latin typeface="微软雅黑" panose="020B0503020204020204" pitchFamily="34" charset="-122"/>
                    <a:ea typeface="微软雅黑" panose="020B0503020204020204" pitchFamily="34" charset="-122"/>
                  </a:rPr>
                  <a:t>输出：整数 </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𝑔</m:t>
                    </m:r>
                    <m:r>
                      <a:rPr lang="en-US" altLang="zh-CN" sz="2400" i="1" dirty="0" smtClean="0">
                        <a:latin typeface="Cambria Math" panose="02040503050406030204" pitchFamily="18" charset="0"/>
                        <a:ea typeface="微软雅黑" panose="020B0503020204020204" pitchFamily="34" charset="-122"/>
                      </a:rPr>
                      <m:t> = </m:t>
                    </m:r>
                    <m:func>
                      <m:funcPr>
                        <m:ctrlPr>
                          <a:rPr lang="en-US" altLang="zh-CN" sz="2400" i="1" dirty="0" smtClean="0">
                            <a:latin typeface="Cambria Math" panose="02040503050406030204" pitchFamily="18" charset="0"/>
                            <a:ea typeface="微软雅黑" panose="020B0503020204020204" pitchFamily="34" charset="-122"/>
                          </a:rPr>
                        </m:ctrlPr>
                      </m:funcPr>
                      <m:fName>
                        <m:limLow>
                          <m:limLowPr>
                            <m:ctrlPr>
                              <a:rPr lang="en-US" altLang="zh-CN" sz="2400" i="1" dirty="0" smtClean="0">
                                <a:latin typeface="Cambria Math" panose="02040503050406030204" pitchFamily="18" charset="0"/>
                                <a:ea typeface="微软雅黑" panose="020B0503020204020204" pitchFamily="34" charset="-122"/>
                              </a:rPr>
                            </m:ctrlPr>
                          </m:limLowPr>
                          <m:e>
                            <m:r>
                              <m:rPr>
                                <m:sty m:val="p"/>
                              </m:rPr>
                              <a:rPr lang="en-US" altLang="zh-CN" sz="2400" i="1" dirty="0">
                                <a:latin typeface="Cambria Math" panose="02040503050406030204" pitchFamily="18" charset="0"/>
                                <a:ea typeface="微软雅黑" panose="020B0503020204020204" pitchFamily="34" charset="-122"/>
                              </a:rPr>
                              <m:t>arg</m:t>
                            </m:r>
                            <m:r>
                              <a:rPr lang="en-US" altLang="zh-CN" sz="2400" b="0" i="0" dirty="0" smtClean="0">
                                <a:latin typeface="Cambria Math" panose="02040503050406030204" pitchFamily="18" charset="0"/>
                                <a:ea typeface="微软雅黑" panose="020B0503020204020204" pitchFamily="34" charset="-122"/>
                              </a:rPr>
                              <m:t> </m:t>
                            </m:r>
                            <m:r>
                              <m:rPr>
                                <m:sty m:val="p"/>
                              </m:rPr>
                              <a:rPr lang="en-US" altLang="zh-CN" sz="2400" i="0" dirty="0" smtClean="0">
                                <a:latin typeface="Cambria Math" panose="02040503050406030204" pitchFamily="18" charset="0"/>
                                <a:ea typeface="微软雅黑" panose="020B0503020204020204" pitchFamily="34" charset="-122"/>
                              </a:rPr>
                              <m:t>max</m:t>
                            </m:r>
                          </m:e>
                          <m:lim>
                            <m:r>
                              <a:rPr lang="en-US" altLang="zh-CN" sz="2400" b="0" i="1" dirty="0" smtClean="0">
                                <a:latin typeface="Cambria Math" panose="02040503050406030204" pitchFamily="18" charset="0"/>
                                <a:ea typeface="微软雅黑" panose="020B0503020204020204" pitchFamily="34" charset="-122"/>
                              </a:rPr>
                              <m:t>𝑑</m:t>
                            </m:r>
                          </m:lim>
                        </m:limLow>
                      </m:fName>
                      <m:e>
                        <m:r>
                          <a:rPr lang="en-US" altLang="zh-CN" sz="2400" i="1" dirty="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𝑎</m:t>
                        </m:r>
                        <m:r>
                          <a:rPr lang="en-US" altLang="zh-CN" sz="2400" i="1" dirty="0">
                            <a:latin typeface="Cambria Math" panose="02040503050406030204" pitchFamily="18" charset="0"/>
                            <a:ea typeface="微软雅黑" panose="020B0503020204020204" pitchFamily="34" charset="-122"/>
                          </a:rPr>
                          <m:t> % </m:t>
                        </m:r>
                        <m:r>
                          <a:rPr lang="en-US" altLang="zh-CN" sz="2400" i="1" dirty="0">
                            <a:latin typeface="Cambria Math" panose="02040503050406030204" pitchFamily="18" charset="0"/>
                            <a:ea typeface="微软雅黑" panose="020B0503020204020204" pitchFamily="34" charset="-122"/>
                          </a:rPr>
                          <m:t>𝑑</m:t>
                        </m:r>
                        <m:r>
                          <a:rPr lang="en-US" altLang="zh-CN" sz="2400" i="1" dirty="0">
                            <a:latin typeface="Cambria Math" panose="02040503050406030204" pitchFamily="18" charset="0"/>
                            <a:ea typeface="微软雅黑" panose="020B0503020204020204" pitchFamily="34" charset="-122"/>
                          </a:rPr>
                          <m:t> == 0 &amp;&amp; </m:t>
                        </m:r>
                        <m:r>
                          <a:rPr lang="en-US" altLang="zh-CN" sz="2400" i="1" dirty="0">
                            <a:latin typeface="Cambria Math" panose="02040503050406030204" pitchFamily="18" charset="0"/>
                            <a:ea typeface="微软雅黑" panose="020B0503020204020204" pitchFamily="34" charset="-122"/>
                          </a:rPr>
                          <m:t>𝑏</m:t>
                        </m:r>
                        <m:r>
                          <a:rPr lang="en-US" altLang="zh-CN" sz="2400" i="1" dirty="0">
                            <a:latin typeface="Cambria Math" panose="02040503050406030204" pitchFamily="18" charset="0"/>
                            <a:ea typeface="微软雅黑" panose="020B0503020204020204" pitchFamily="34" charset="-122"/>
                          </a:rPr>
                          <m:t> % </m:t>
                        </m:r>
                        <m:r>
                          <a:rPr lang="en-US" altLang="zh-CN" sz="2400" i="1" dirty="0">
                            <a:latin typeface="Cambria Math" panose="02040503050406030204" pitchFamily="18" charset="0"/>
                            <a:ea typeface="微软雅黑" panose="020B0503020204020204" pitchFamily="34" charset="-122"/>
                          </a:rPr>
                          <m:t>𝑑</m:t>
                        </m:r>
                        <m:r>
                          <a:rPr lang="en-US" altLang="zh-CN" sz="2400" i="1" dirty="0">
                            <a:latin typeface="Cambria Math" panose="02040503050406030204" pitchFamily="18" charset="0"/>
                            <a:ea typeface="微软雅黑" panose="020B0503020204020204" pitchFamily="34" charset="-122"/>
                          </a:rPr>
                          <m:t> == 0)</m:t>
                        </m:r>
                      </m:e>
                    </m:func>
                  </m:oMath>
                </a14:m>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AutoNum type="arabicPeriod"/>
                </a:pPr>
                <a:r>
                  <a:rPr lang="zh-CN" altLang="en-US" sz="2400" dirty="0">
                    <a:latin typeface="微软雅黑" panose="020B0503020204020204" pitchFamily="34" charset="-122"/>
                    <a:ea typeface="微软雅黑" panose="020B0503020204020204" pitchFamily="34" charset="-122"/>
                  </a:rPr>
                  <a:t>案例：</a:t>
                </a:r>
                <a14:m>
                  <m:oMath xmlns:m="http://schemas.openxmlformats.org/officeDocument/2006/math">
                    <m:r>
                      <m:rPr>
                        <m:sty m:val="p"/>
                      </m:rPr>
                      <a:rPr lang="en-US" altLang="zh-CN" sz="2400" i="1" dirty="0" smtClean="0">
                        <a:latin typeface="Cambria Math" panose="02040503050406030204" pitchFamily="18" charset="0"/>
                        <a:ea typeface="微软雅黑" panose="020B0503020204020204" pitchFamily="34" charset="-122"/>
                      </a:rPr>
                      <m:t>gcd</m:t>
                    </m:r>
                    <m:r>
                      <a:rPr lang="en-US" altLang="zh-CN" sz="2400" i="1" dirty="0">
                        <a:latin typeface="Cambria Math" panose="02040503050406030204" pitchFamily="18" charset="0"/>
                        <a:ea typeface="微软雅黑" panose="020B0503020204020204" pitchFamily="34" charset="-122"/>
                      </a:rPr>
                      <m:t>⁡(3,5) = 1;  </m:t>
                    </m:r>
                    <m:r>
                      <m:rPr>
                        <m:sty m:val="p"/>
                      </m:rPr>
                      <a:rPr lang="en-US" altLang="zh-CN" sz="2400" i="1" dirty="0" err="1">
                        <a:latin typeface="Cambria Math" panose="02040503050406030204" pitchFamily="18" charset="0"/>
                        <a:ea typeface="微软雅黑" panose="020B0503020204020204" pitchFamily="34" charset="-122"/>
                      </a:rPr>
                      <m:t>gcd</m:t>
                    </m:r>
                    <m:r>
                      <a:rPr lang="en-US" altLang="zh-CN" sz="2400" i="1" dirty="0">
                        <a:latin typeface="Cambria Math" panose="02040503050406030204" pitchFamily="18" charset="0"/>
                        <a:ea typeface="微软雅黑" panose="020B0503020204020204" pitchFamily="34" charset="-122"/>
                      </a:rPr>
                      <m:t>⁡(3,9) = 3;  </m:t>
                    </m:r>
                    <m:r>
                      <m:rPr>
                        <m:sty m:val="p"/>
                      </m:rPr>
                      <a:rPr lang="en-US" altLang="zh-CN" sz="2400" i="1" dirty="0" err="1">
                        <a:latin typeface="Cambria Math" panose="02040503050406030204" pitchFamily="18" charset="0"/>
                        <a:ea typeface="微软雅黑" panose="020B0503020204020204" pitchFamily="34" charset="-122"/>
                      </a:rPr>
                      <m:t>gcd</m:t>
                    </m:r>
                    <m:r>
                      <a:rPr lang="en-US" altLang="zh-CN" sz="2400" i="1" dirty="0">
                        <a:latin typeface="Cambria Math" panose="02040503050406030204" pitchFamily="18" charset="0"/>
                        <a:ea typeface="微软雅黑" panose="020B0503020204020204" pitchFamily="34" charset="-122"/>
                      </a:rPr>
                      <m:t>⁡(8,12) = 4;</m:t>
                    </m:r>
                  </m:oMath>
                </a14:m>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AutoNum type="arabicPeriod"/>
                </a:pPr>
                <a:r>
                  <a:rPr lang="zh-CN" altLang="en-US" sz="2400" dirty="0">
                    <a:latin typeface="微软雅黑" panose="020B0503020204020204" pitchFamily="34" charset="-122"/>
                    <a:ea typeface="微软雅黑" panose="020B0503020204020204" pitchFamily="34" charset="-122"/>
                  </a:rPr>
                  <a:t>类似问题：求 </a:t>
                </a:r>
                <a:r>
                  <a:rPr lang="en-US" altLang="zh-CN" sz="2400" dirty="0">
                    <a:latin typeface="微软雅黑" panose="020B0503020204020204" pitchFamily="34" charset="-122"/>
                    <a:ea typeface="微软雅黑" panose="020B0503020204020204" pitchFamily="34" charset="-122"/>
                  </a:rPr>
                  <a:t>n </a:t>
                </a:r>
                <a:r>
                  <a:rPr lang="zh-CN" altLang="en-US" sz="2400" dirty="0">
                    <a:latin typeface="微软雅黑" panose="020B0503020204020204" pitchFamily="34" charset="-122"/>
                    <a:ea typeface="微软雅黑" panose="020B0503020204020204" pitchFamily="34" charset="-122"/>
                  </a:rPr>
                  <a:t>以内的最大素数</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074656" y="1738207"/>
                <a:ext cx="10190375" cy="4857548"/>
              </a:xfrm>
              <a:prstGeom prst="rect">
                <a:avLst/>
              </a:prstGeom>
              <a:blipFill>
                <a:blip r:embed="rId4"/>
                <a:stretch>
                  <a:fillRect l="-1077" t="-10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9004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最大公约数 </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算法设计</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mc:AlternateContent xmlns:mc="http://schemas.openxmlformats.org/markup-compatibility/2006" xmlns:a14="http://schemas.microsoft.com/office/drawing/2010/main">
        <mc:Choice Requires="a14">
          <p:sp>
            <p:nvSpPr>
              <p:cNvPr id="2" name="文本框 1"/>
              <p:cNvSpPr txBox="1"/>
              <p:nvPr/>
            </p:nvSpPr>
            <p:spPr>
              <a:xfrm>
                <a:off x="1074656" y="1738207"/>
                <a:ext cx="10152668" cy="4526406"/>
              </a:xfrm>
              <a:prstGeom prst="rect">
                <a:avLst/>
              </a:prstGeom>
              <a:noFill/>
            </p:spPr>
            <p:txBody>
              <a:bodyPr wrap="square" rtlCol="0">
                <a:noAutofit/>
              </a:bodyPr>
              <a:lstStyle/>
              <a:p>
                <a:r>
                  <a:rPr lang="zh-CN" altLang="en-US" sz="2400" dirty="0">
                    <a:latin typeface="微软雅黑" panose="020B0503020204020204" pitchFamily="34" charset="-122"/>
                    <a:ea typeface="微软雅黑" panose="020B0503020204020204" pitchFamily="34" charset="-122"/>
                  </a:rPr>
                  <a:t>计算方法</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：试除法</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两个数的最大公约数有可能是其中较小的数。所以在按从大到小顺序找寻最大公约数时，循环变量</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的初值从</a:t>
                </a:r>
                <a14:m>
                  <m:oMath xmlns:m="http://schemas.openxmlformats.org/officeDocument/2006/math">
                    <m:r>
                      <m:rPr>
                        <m:sty m:val="p"/>
                      </m:rPr>
                      <a:rPr lang="en-US" altLang="zh-CN" sz="2400" i="1" dirty="0" smtClean="0">
                        <a:latin typeface="Cambria Math" panose="02040503050406030204" pitchFamily="18" charset="0"/>
                        <a:ea typeface="微软雅黑" panose="020B0503020204020204" pitchFamily="34" charset="-122"/>
                      </a:rPr>
                      <m:t>min</m:t>
                    </m:r>
                    <m:r>
                      <a:rPr lang="en-US" altLang="zh-CN" sz="2400" i="1" dirty="0" smtClean="0">
                        <a:latin typeface="Cambria Math" panose="02040503050406030204" pitchFamily="18" charset="0"/>
                        <a:ea typeface="微软雅黑" panose="020B0503020204020204" pitchFamily="34" charset="-122"/>
                      </a:rPr>
                      <m:t>⁡(</m:t>
                    </m:r>
                    <m:r>
                      <a:rPr lang="en-US" altLang="zh-CN" sz="2400" i="1" dirty="0" err="1" smtClean="0">
                        <a:latin typeface="Cambria Math" panose="02040503050406030204" pitchFamily="18" charset="0"/>
                        <a:ea typeface="微软雅黑" panose="020B0503020204020204" pitchFamily="34" charset="-122"/>
                      </a:rPr>
                      <m:t>𝑎</m:t>
                    </m:r>
                    <m:r>
                      <a:rPr lang="en-US" altLang="zh-CN" sz="2400" i="1" dirty="0" err="1" smtClean="0">
                        <a:latin typeface="Cambria Math" panose="02040503050406030204" pitchFamily="18" charset="0"/>
                        <a:ea typeface="微软雅黑" panose="020B0503020204020204" pitchFamily="34" charset="-122"/>
                      </a:rPr>
                      <m:t>,</m:t>
                    </m:r>
                    <m:r>
                      <a:rPr lang="en-US" altLang="zh-CN" sz="2400" i="1" dirty="0" err="1" smtClean="0">
                        <a:latin typeface="Cambria Math" panose="02040503050406030204" pitchFamily="18" charset="0"/>
                        <a:ea typeface="微软雅黑" panose="020B0503020204020204" pitchFamily="34" charset="-122"/>
                      </a:rPr>
                      <m:t>𝑏</m:t>
                    </m:r>
                    <m:r>
                      <a:rPr lang="en-US" altLang="zh-CN" sz="2400" i="1" dirty="0" smtClean="0">
                        <a:latin typeface="Cambria Math" panose="02040503050406030204" pitchFamily="18" charset="0"/>
                        <a:ea typeface="微软雅黑" panose="020B0503020204020204" pitchFamily="34" charset="-122"/>
                      </a:rPr>
                      <m:t>)</m:t>
                    </m:r>
                  </m:oMath>
                </a14:m>
                <a:r>
                  <a:rPr lang="zh-CN" altLang="en-US" sz="2400" dirty="0">
                    <a:latin typeface="微软雅黑" panose="020B0503020204020204" pitchFamily="34" charset="-122"/>
                    <a:ea typeface="微软雅黑" panose="020B0503020204020204" pitchFamily="34" charset="-122"/>
                  </a:rPr>
                  <a:t>开始依次递减直到</a:t>
                </a:r>
                <a14:m>
                  <m:oMath xmlns:m="http://schemas.openxmlformats.org/officeDocument/2006/math">
                    <m:r>
                      <a:rPr lang="en-US" altLang="zh-CN" sz="2400" b="0" i="0" dirty="0" smtClean="0">
                        <a:latin typeface="Cambria Math" panose="02040503050406030204" pitchFamily="18" charset="0"/>
                        <a:ea typeface="微软雅黑" panose="020B0503020204020204" pitchFamily="34" charset="-122"/>
                      </a:rPr>
                      <m:t> </m:t>
                    </m:r>
                    <m:r>
                      <a:rPr lang="en-US" altLang="zh-CN" sz="2400" i="1" dirty="0" smtClean="0">
                        <a:latin typeface="Cambria Math" panose="02040503050406030204" pitchFamily="18" charset="0"/>
                        <a:ea typeface="微软雅黑" panose="020B0503020204020204" pitchFamily="34" charset="-122"/>
                      </a:rPr>
                      <m:t>1</m:t>
                    </m:r>
                  </m:oMath>
                </a14:m>
                <a:r>
                  <a:rPr lang="zh-CN" altLang="en-US" sz="2400" dirty="0">
                    <a:latin typeface="微软雅黑" panose="020B0503020204020204" pitchFamily="34" charset="-122"/>
                    <a:ea typeface="微软雅黑" panose="020B0503020204020204" pitchFamily="34" charset="-122"/>
                  </a:rPr>
                  <a:t>，去寻找第一个能同时被两整数整除的自然数，并将其输出。（</a:t>
                </a:r>
                <a:r>
                  <a:rPr lang="zh-CN" altLang="en-US" sz="2400" dirty="0">
                    <a:solidFill>
                      <a:srgbClr val="0070C0"/>
                    </a:solidFill>
                    <a:latin typeface="微软雅黑" panose="020B0503020204020204" pitchFamily="34" charset="-122"/>
                    <a:ea typeface="微软雅黑" panose="020B0503020204020204" pitchFamily="34" charset="-122"/>
                  </a:rPr>
                  <a:t>注意，</a:t>
                </a:r>
                <a:r>
                  <a:rPr lang="en-US" altLang="zh-CN" sz="2400" dirty="0">
                    <a:solidFill>
                      <a:srgbClr val="0070C0"/>
                    </a:solidFill>
                    <a:latin typeface="微软雅黑" panose="020B0503020204020204" pitchFamily="34" charset="-122"/>
                    <a:ea typeface="微软雅黑" panose="020B0503020204020204" pitchFamily="34" charset="-122"/>
                  </a:rPr>
                  <a:t>1</a:t>
                </a:r>
                <a:r>
                  <a:rPr lang="zh-CN" altLang="en-US" sz="2400" dirty="0">
                    <a:solidFill>
                      <a:srgbClr val="0070C0"/>
                    </a:solidFill>
                    <a:latin typeface="微软雅黑" panose="020B0503020204020204" pitchFamily="34" charset="-122"/>
                    <a:ea typeface="微软雅黑" panose="020B0503020204020204" pitchFamily="34" charset="-122"/>
                  </a:rPr>
                  <a:t>是最小的公约数，不用考虑无解的问题</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074656" y="1738207"/>
                <a:ext cx="10152668" cy="4526406"/>
              </a:xfrm>
              <a:prstGeom prst="rect">
                <a:avLst/>
              </a:prstGeom>
              <a:blipFill>
                <a:blip r:embed="rId4"/>
                <a:stretch>
                  <a:fillRect l="-900" t="-1077" r="-54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最大公约数 </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编程技巧</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文本框 1"/>
          <p:cNvSpPr txBox="1"/>
          <p:nvPr/>
        </p:nvSpPr>
        <p:spPr>
          <a:xfrm>
            <a:off x="6394518" y="5075840"/>
            <a:ext cx="5125640" cy="1400374"/>
          </a:xfrm>
          <a:prstGeom prst="rect">
            <a:avLst/>
          </a:prstGeom>
          <a:noFill/>
        </p:spPr>
        <p:txBody>
          <a:bodyPr wrap="square" rtlCol="0">
            <a:noAutofit/>
          </a:bodyPr>
          <a:lstStyle/>
          <a:p>
            <a:r>
              <a:rPr lang="zh-CN" altLang="en-US" dirty="0">
                <a:latin typeface="微软雅黑" panose="020B0503020204020204" pitchFamily="34" charset="-122"/>
                <a:ea typeface="微软雅黑" panose="020B0503020204020204" pitchFamily="34" charset="-122"/>
              </a:rPr>
              <a:t>程序要点：</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① </a:t>
            </a:r>
            <a:r>
              <a:rPr lang="zh-CN" altLang="en-US" dirty="0">
                <a:latin typeface="微软雅黑" panose="020B0503020204020204" pitchFamily="34" charset="-122"/>
                <a:ea typeface="微软雅黑" panose="020B0503020204020204" pitchFamily="34" charset="-122"/>
              </a:rPr>
              <a:t>先声明相关函数</a:t>
            </a:r>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②</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对返回表达式这样的简单函数，</a:t>
            </a:r>
            <a:r>
              <a:rPr lang="zh-CN" altLang="en-US" dirty="0">
                <a:solidFill>
                  <a:srgbClr val="FF0000"/>
                </a:solidFill>
                <a:latin typeface="微软雅黑" panose="020B0503020204020204" pitchFamily="34" charset="-122"/>
                <a:ea typeface="微软雅黑" panose="020B0503020204020204" pitchFamily="34" charset="-122"/>
              </a:rPr>
              <a:t>定义时</a:t>
            </a:r>
            <a:r>
              <a:rPr lang="zh-CN" altLang="en-US" dirty="0">
                <a:latin typeface="微软雅黑" panose="020B0503020204020204" pitchFamily="34" charset="-122"/>
                <a:ea typeface="微软雅黑" panose="020B0503020204020204" pitchFamily="34" charset="-122"/>
              </a:rPr>
              <a:t>添加 </a:t>
            </a:r>
            <a:r>
              <a:rPr lang="en-US" altLang="zh-CN" dirty="0">
                <a:latin typeface="微软雅黑" panose="020B0503020204020204" pitchFamily="34" charset="-122"/>
                <a:ea typeface="微软雅黑" panose="020B0503020204020204" pitchFamily="34" charset="-122"/>
              </a:rPr>
              <a:t>inline </a:t>
            </a:r>
            <a:r>
              <a:rPr lang="zh-CN" altLang="en-US" dirty="0">
                <a:latin typeface="微软雅黑" panose="020B0503020204020204" pitchFamily="34" charset="-122"/>
                <a:ea typeface="微软雅黑" panose="020B0503020204020204" pitchFamily="34" charset="-122"/>
              </a:rPr>
              <a:t>修饰称为内联函数，可提升性能。</a:t>
            </a:r>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③</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使用 </a:t>
            </a:r>
            <a:r>
              <a:rPr lang="en-US" altLang="zh-CN" dirty="0">
                <a:latin typeface="微软雅黑" panose="020B0503020204020204" pitchFamily="34" charset="-122"/>
                <a:ea typeface="微软雅黑" panose="020B0503020204020204" pitchFamily="34" charset="-122"/>
              </a:rPr>
              <a:t>assert(</a:t>
            </a:r>
            <a:r>
              <a:rPr lang="zh-CN" altLang="en-US" dirty="0">
                <a:latin typeface="微软雅黑" panose="020B0503020204020204" pitchFamily="34" charset="-122"/>
                <a:ea typeface="微软雅黑" panose="020B0503020204020204" pitchFamily="34" charset="-122"/>
              </a:rPr>
              <a:t>表达式</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测试函数正确性</a:t>
            </a:r>
            <a:endParaRPr lang="en-US" altLang="zh-CN"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284F4397-7221-0C90-FBEC-4217D1E92EF6}"/>
              </a:ext>
            </a:extLst>
          </p:cNvPr>
          <p:cNvSpPr txBox="1"/>
          <p:nvPr/>
        </p:nvSpPr>
        <p:spPr>
          <a:xfrm>
            <a:off x="982492" y="1663405"/>
            <a:ext cx="4711297" cy="3970318"/>
          </a:xfrm>
          <a:prstGeom prst="rect">
            <a:avLst/>
          </a:prstGeom>
          <a:noFill/>
          <a:ln>
            <a:solidFill>
              <a:schemeClr val="bg1">
                <a:lumMod val="75000"/>
              </a:schemeClr>
            </a:solidFill>
          </a:ln>
        </p:spPr>
        <p:txBody>
          <a:bodyPr wrap="none" rtlCol="0">
            <a:noAutofit/>
          </a:bodyPr>
          <a:lstStyle/>
          <a:p>
            <a:r>
              <a:rPr lang="en-US" altLang="zh-CN" sz="1600" dirty="0">
                <a:solidFill>
                  <a:schemeClr val="bg1">
                    <a:lumMod val="50000"/>
                  </a:schemeClr>
                </a:solidFill>
                <a:latin typeface="Consolas" panose="020B0609020204030204" pitchFamily="49" charset="0"/>
              </a:rPr>
              <a:t>/*</a:t>
            </a:r>
            <a:r>
              <a:rPr lang="en-US" altLang="zh-CN" sz="1600" dirty="0" err="1">
                <a:solidFill>
                  <a:schemeClr val="bg1">
                    <a:lumMod val="50000"/>
                  </a:schemeClr>
                </a:solidFill>
                <a:latin typeface="Consolas" panose="020B0609020204030204" pitchFamily="49" charset="0"/>
              </a:rPr>
              <a:t>gcd.c</a:t>
            </a:r>
            <a:r>
              <a:rPr lang="en-US" altLang="zh-CN" sz="1600" dirty="0">
                <a:solidFill>
                  <a:schemeClr val="bg1">
                    <a:lumMod val="50000"/>
                  </a:schemeClr>
                </a:solidFill>
                <a:latin typeface="Consolas" panose="020B0609020204030204" pitchFamily="49" charset="0"/>
              </a:rPr>
              <a:t>*/</a:t>
            </a:r>
          </a:p>
          <a:p>
            <a:r>
              <a:rPr lang="en-US" altLang="zh-CN" sz="1600" dirty="0">
                <a:latin typeface="Consolas" panose="020B0609020204030204" pitchFamily="49" charset="0"/>
              </a:rPr>
              <a:t>#include&lt;stdio.h&gt;</a:t>
            </a:r>
          </a:p>
          <a:p>
            <a:r>
              <a:rPr lang="en-US" altLang="zh-CN" sz="1600" dirty="0">
                <a:solidFill>
                  <a:srgbClr val="C00000"/>
                </a:solidFill>
                <a:latin typeface="Consolas" panose="020B0609020204030204" pitchFamily="49" charset="0"/>
              </a:rPr>
              <a:t>#include&lt;</a:t>
            </a:r>
            <a:r>
              <a:rPr lang="en-US" altLang="zh-CN" sz="1600" b="1" dirty="0">
                <a:solidFill>
                  <a:srgbClr val="C00000"/>
                </a:solidFill>
                <a:latin typeface="Consolas" panose="020B0609020204030204" pitchFamily="49" charset="0"/>
              </a:rPr>
              <a:t>assert.h</a:t>
            </a:r>
            <a:r>
              <a:rPr lang="en-US" altLang="zh-CN" sz="1600" dirty="0">
                <a:solidFill>
                  <a:srgbClr val="C00000"/>
                </a:solidFill>
                <a:latin typeface="Consolas" panose="020B0609020204030204" pitchFamily="49" charset="0"/>
              </a:rPr>
              <a:t>&gt; </a:t>
            </a:r>
          </a:p>
          <a:p>
            <a:endParaRPr lang="en-US" altLang="zh-CN" sz="1600" dirty="0">
              <a:latin typeface="Consolas" panose="020B0609020204030204" pitchFamily="49" charset="0"/>
            </a:endParaRPr>
          </a:p>
          <a:p>
            <a:r>
              <a:rPr lang="en-US" altLang="zh-CN" sz="1600" dirty="0">
                <a:latin typeface="Consolas" panose="020B0609020204030204" pitchFamily="49" charset="0"/>
              </a:rPr>
              <a:t>int min(int </a:t>
            </a:r>
            <a:r>
              <a:rPr lang="en-US" altLang="zh-CN" sz="1600" dirty="0" err="1">
                <a:latin typeface="Consolas" panose="020B0609020204030204" pitchFamily="49" charset="0"/>
              </a:rPr>
              <a:t>a,int</a:t>
            </a:r>
            <a:r>
              <a:rPr lang="en-US" altLang="zh-CN" sz="1600" dirty="0">
                <a:latin typeface="Consolas" panose="020B0609020204030204" pitchFamily="49" charset="0"/>
              </a:rPr>
              <a:t> b);</a:t>
            </a:r>
          </a:p>
          <a:p>
            <a:r>
              <a:rPr lang="en-US" altLang="zh-CN" sz="1600" dirty="0">
                <a:latin typeface="Consolas" panose="020B0609020204030204" pitchFamily="49" charset="0"/>
              </a:rPr>
              <a:t>int </a:t>
            </a:r>
            <a:r>
              <a:rPr lang="en-US" altLang="zh-CN" sz="1600" dirty="0" err="1">
                <a:latin typeface="Consolas" panose="020B0609020204030204" pitchFamily="49" charset="0"/>
              </a:rPr>
              <a:t>gcd</a:t>
            </a:r>
            <a:r>
              <a:rPr lang="en-US" altLang="zh-CN" sz="1600" dirty="0">
                <a:latin typeface="Consolas" panose="020B0609020204030204" pitchFamily="49" charset="0"/>
              </a:rPr>
              <a:t>(int </a:t>
            </a:r>
            <a:r>
              <a:rPr lang="en-US" altLang="zh-CN" sz="1600" dirty="0" err="1">
                <a:latin typeface="Consolas" panose="020B0609020204030204" pitchFamily="49" charset="0"/>
              </a:rPr>
              <a:t>a,int</a:t>
            </a:r>
            <a:r>
              <a:rPr lang="en-US" altLang="zh-CN" sz="1600" dirty="0">
                <a:latin typeface="Consolas" panose="020B0609020204030204" pitchFamily="49" charset="0"/>
              </a:rPr>
              <a:t> b);</a:t>
            </a:r>
          </a:p>
          <a:p>
            <a:endParaRPr lang="en-US" altLang="zh-CN" sz="1600" dirty="0">
              <a:latin typeface="Consolas" panose="020B0609020204030204" pitchFamily="49" charset="0"/>
            </a:endParaRPr>
          </a:p>
          <a:p>
            <a:r>
              <a:rPr lang="en-US" altLang="zh-CN" sz="1600" dirty="0">
                <a:latin typeface="Consolas" panose="020B0609020204030204" pitchFamily="49" charset="0"/>
              </a:rPr>
              <a:t>int main() {</a:t>
            </a:r>
          </a:p>
          <a:p>
            <a:r>
              <a:rPr lang="en-US" altLang="zh-CN" sz="1600" dirty="0">
                <a:latin typeface="Consolas" panose="020B0609020204030204" pitchFamily="49" charset="0"/>
              </a:rPr>
              <a:t>    int </a:t>
            </a:r>
            <a:r>
              <a:rPr lang="en-US" altLang="zh-CN" sz="1600" dirty="0" err="1">
                <a:latin typeface="Consolas" panose="020B0609020204030204" pitchFamily="49" charset="0"/>
              </a:rPr>
              <a:t>a,b</a:t>
            </a:r>
            <a:r>
              <a:rPr lang="en-US" altLang="zh-CN" sz="1600" dirty="0">
                <a:latin typeface="Consolas" panose="020B0609020204030204" pitchFamily="49" charset="0"/>
              </a:rPr>
              <a:t>;</a:t>
            </a:r>
          </a:p>
          <a:p>
            <a:r>
              <a:rPr lang="en-US" altLang="zh-CN" sz="1600" b="1" dirty="0">
                <a:latin typeface="Consolas" panose="020B0609020204030204" pitchFamily="49" charset="0"/>
              </a:rPr>
              <a:t>    </a:t>
            </a:r>
            <a:r>
              <a:rPr lang="en-US" altLang="zh-CN" sz="1600" b="1" dirty="0">
                <a:solidFill>
                  <a:srgbClr val="C00000"/>
                </a:solidFill>
                <a:latin typeface="Consolas" panose="020B0609020204030204" pitchFamily="49" charset="0"/>
              </a:rPr>
              <a:t>assert</a:t>
            </a:r>
            <a:r>
              <a:rPr lang="en-US" altLang="zh-CN" sz="1600" b="1" dirty="0">
                <a:latin typeface="Consolas" panose="020B0609020204030204" pitchFamily="49" charset="0"/>
              </a:rPr>
              <a:t>(</a:t>
            </a:r>
            <a:r>
              <a:rPr lang="en-US" altLang="zh-CN" sz="1600" b="1" dirty="0" err="1">
                <a:latin typeface="Consolas" panose="020B0609020204030204" pitchFamily="49" charset="0"/>
              </a:rPr>
              <a:t>gcd</a:t>
            </a:r>
            <a:r>
              <a:rPr lang="en-US" altLang="zh-CN" sz="1600" b="1" dirty="0">
                <a:latin typeface="Consolas" panose="020B0609020204030204" pitchFamily="49" charset="0"/>
              </a:rPr>
              <a:t>(3,5)==1);</a:t>
            </a:r>
          </a:p>
          <a:p>
            <a:r>
              <a:rPr lang="en-US" altLang="zh-CN" sz="1600" b="1" dirty="0">
                <a:latin typeface="Consolas" panose="020B0609020204030204" pitchFamily="49" charset="0"/>
              </a:rPr>
              <a:t>    assert(</a:t>
            </a:r>
            <a:r>
              <a:rPr lang="en-US" altLang="zh-CN" sz="1600" b="1" dirty="0" err="1">
                <a:latin typeface="Consolas" panose="020B0609020204030204" pitchFamily="49" charset="0"/>
              </a:rPr>
              <a:t>gcd</a:t>
            </a:r>
            <a:r>
              <a:rPr lang="en-US" altLang="zh-CN" sz="1600" b="1" dirty="0">
                <a:latin typeface="Consolas" panose="020B0609020204030204" pitchFamily="49" charset="0"/>
              </a:rPr>
              <a:t>(3,9)==3);</a:t>
            </a:r>
          </a:p>
          <a:p>
            <a:r>
              <a:rPr lang="en-US" altLang="zh-CN" sz="1600" b="1" dirty="0">
                <a:latin typeface="Consolas" panose="020B0609020204030204" pitchFamily="49" charset="0"/>
              </a:rPr>
              <a:t>    assert(</a:t>
            </a:r>
            <a:r>
              <a:rPr lang="en-US" altLang="zh-CN" sz="1600" b="1" dirty="0" err="1">
                <a:latin typeface="Consolas" panose="020B0609020204030204" pitchFamily="49" charset="0"/>
              </a:rPr>
              <a:t>gcd</a:t>
            </a:r>
            <a:r>
              <a:rPr lang="en-US" altLang="zh-CN" sz="1600" b="1" dirty="0">
                <a:latin typeface="Consolas" panose="020B0609020204030204" pitchFamily="49" charset="0"/>
              </a:rPr>
              <a:t>(8,12)==4);</a:t>
            </a:r>
          </a:p>
          <a:p>
            <a:r>
              <a:rPr lang="en-US" altLang="zh-CN" sz="1600" dirty="0">
                <a:latin typeface="Consolas" panose="020B0609020204030204" pitchFamily="49" charset="0"/>
              </a:rPr>
              <a:t>    </a:t>
            </a:r>
            <a:r>
              <a:rPr lang="en-US" altLang="zh-CN" sz="1600" dirty="0" err="1">
                <a:latin typeface="Consolas" panose="020B0609020204030204" pitchFamily="49" charset="0"/>
              </a:rPr>
              <a:t>scanf</a:t>
            </a:r>
            <a:r>
              <a:rPr lang="en-US" altLang="zh-CN" sz="1600" dirty="0">
                <a:latin typeface="Consolas" panose="020B0609020204030204" pitchFamily="49" charset="0"/>
              </a:rPr>
              <a:t>("%</a:t>
            </a:r>
            <a:r>
              <a:rPr lang="en-US" altLang="zh-CN" sz="1600" dirty="0" err="1">
                <a:latin typeface="Consolas" panose="020B0609020204030204" pitchFamily="49" charset="0"/>
              </a:rPr>
              <a:t>d%d</a:t>
            </a:r>
            <a:r>
              <a:rPr lang="en-US" altLang="zh-CN" sz="1600" dirty="0">
                <a:latin typeface="Consolas" panose="020B0609020204030204" pitchFamily="49" charset="0"/>
              </a:rPr>
              <a:t>",&amp;</a:t>
            </a:r>
            <a:r>
              <a:rPr lang="en-US" altLang="zh-CN" sz="1600" dirty="0" err="1">
                <a:latin typeface="Consolas" panose="020B0609020204030204" pitchFamily="49" charset="0"/>
              </a:rPr>
              <a:t>a,&amp;b</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("%d\n",</a:t>
            </a:r>
            <a:r>
              <a:rPr lang="en-US" altLang="zh-CN" sz="1600" dirty="0" err="1">
                <a:latin typeface="Consolas" panose="020B0609020204030204" pitchFamily="49" charset="0"/>
              </a:rPr>
              <a:t>gcd</a:t>
            </a:r>
            <a:r>
              <a:rPr lang="en-US" altLang="zh-CN" sz="1600" dirty="0">
                <a:latin typeface="Consolas" panose="020B0609020204030204" pitchFamily="49" charset="0"/>
              </a:rPr>
              <a:t>(</a:t>
            </a:r>
            <a:r>
              <a:rPr lang="en-US" altLang="zh-CN" sz="1600" dirty="0" err="1">
                <a:latin typeface="Consolas" panose="020B0609020204030204" pitchFamily="49" charset="0"/>
              </a:rPr>
              <a:t>a,b</a:t>
            </a:r>
            <a:r>
              <a:rPr lang="en-US" altLang="zh-CN" sz="1600" dirty="0">
                <a:latin typeface="Consolas" panose="020B0609020204030204" pitchFamily="49" charset="0"/>
              </a:rPr>
              <a:t>));    </a:t>
            </a:r>
          </a:p>
          <a:p>
            <a:r>
              <a:rPr lang="en-US" altLang="zh-CN" sz="1600" dirty="0">
                <a:latin typeface="Consolas" panose="020B0609020204030204" pitchFamily="49" charset="0"/>
              </a:rPr>
              <a:t>    return 0;</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4" name="文本框 3">
            <a:extLst>
              <a:ext uri="{FF2B5EF4-FFF2-40B4-BE49-F238E27FC236}">
                <a16:creationId xmlns:a16="http://schemas.microsoft.com/office/drawing/2014/main" id="{F0085698-DF30-A3DF-BF06-086957FE5022}"/>
              </a:ext>
            </a:extLst>
          </p:cNvPr>
          <p:cNvSpPr txBox="1"/>
          <p:nvPr/>
        </p:nvSpPr>
        <p:spPr>
          <a:xfrm>
            <a:off x="6394518" y="1666491"/>
            <a:ext cx="5125640" cy="3334002"/>
          </a:xfrm>
          <a:prstGeom prst="rect">
            <a:avLst/>
          </a:prstGeom>
          <a:noFill/>
          <a:ln>
            <a:solidFill>
              <a:schemeClr val="bg1">
                <a:lumMod val="75000"/>
              </a:schemeClr>
            </a:solidFill>
          </a:ln>
        </p:spPr>
        <p:txBody>
          <a:bodyPr wrap="none" rtlCol="0">
            <a:noAutofit/>
          </a:bodyPr>
          <a:lstStyle/>
          <a:p>
            <a:r>
              <a:rPr lang="en-US" altLang="zh-CN" sz="1600" b="1" dirty="0">
                <a:solidFill>
                  <a:srgbClr val="FF0000"/>
                </a:solidFill>
                <a:latin typeface="Consolas" panose="020B0609020204030204" pitchFamily="49" charset="0"/>
              </a:rPr>
              <a:t>inline</a:t>
            </a:r>
            <a:r>
              <a:rPr lang="en-US" altLang="zh-CN" sz="1600" dirty="0">
                <a:latin typeface="Consolas" panose="020B0609020204030204" pitchFamily="49" charset="0"/>
              </a:rPr>
              <a:t> int min(int </a:t>
            </a:r>
            <a:r>
              <a:rPr lang="en-US" altLang="zh-CN" sz="1600" dirty="0" err="1">
                <a:latin typeface="Consolas" panose="020B0609020204030204" pitchFamily="49" charset="0"/>
              </a:rPr>
              <a:t>a,int</a:t>
            </a:r>
            <a:r>
              <a:rPr lang="en-US" altLang="zh-CN" sz="1600" dirty="0">
                <a:latin typeface="Consolas" panose="020B0609020204030204" pitchFamily="49" charset="0"/>
              </a:rPr>
              <a:t> b){</a:t>
            </a:r>
          </a:p>
          <a:p>
            <a:r>
              <a:rPr lang="en-US" altLang="zh-CN" sz="1600" dirty="0">
                <a:latin typeface="Consolas" panose="020B0609020204030204" pitchFamily="49" charset="0"/>
              </a:rPr>
              <a:t>    return (a &gt; b)? b:a;</a:t>
            </a:r>
          </a:p>
          <a:p>
            <a:r>
              <a:rPr lang="en-US" altLang="zh-CN" sz="1600" dirty="0">
                <a:latin typeface="Consolas" panose="020B0609020204030204" pitchFamily="49" charset="0"/>
              </a:rPr>
              <a:t>}</a:t>
            </a:r>
          </a:p>
          <a:p>
            <a:endParaRPr lang="en-US" altLang="zh-CN" sz="1600" dirty="0">
              <a:latin typeface="Consolas" panose="020B0609020204030204" pitchFamily="49" charset="0"/>
            </a:endParaRPr>
          </a:p>
          <a:p>
            <a:r>
              <a:rPr lang="en-US" altLang="zh-CN" sz="1600" dirty="0">
                <a:latin typeface="Consolas" panose="020B0609020204030204" pitchFamily="49" charset="0"/>
              </a:rPr>
              <a:t>int </a:t>
            </a:r>
            <a:r>
              <a:rPr lang="en-US" altLang="zh-CN" sz="1600" dirty="0" err="1">
                <a:latin typeface="Consolas" panose="020B0609020204030204" pitchFamily="49" charset="0"/>
              </a:rPr>
              <a:t>gcd</a:t>
            </a:r>
            <a:r>
              <a:rPr lang="en-US" altLang="zh-CN" sz="1600" dirty="0">
                <a:latin typeface="Consolas" panose="020B0609020204030204" pitchFamily="49" charset="0"/>
              </a:rPr>
              <a:t>(int </a:t>
            </a:r>
            <a:r>
              <a:rPr lang="en-US" altLang="zh-CN" sz="1600" dirty="0" err="1">
                <a:latin typeface="Consolas" panose="020B0609020204030204" pitchFamily="49" charset="0"/>
              </a:rPr>
              <a:t>a,int</a:t>
            </a:r>
            <a:r>
              <a:rPr lang="en-US" altLang="zh-CN" sz="1600" dirty="0">
                <a:latin typeface="Consolas" panose="020B0609020204030204" pitchFamily="49" charset="0"/>
              </a:rPr>
              <a:t> b) {</a:t>
            </a:r>
          </a:p>
          <a:p>
            <a:r>
              <a:rPr lang="en-US" altLang="zh-CN" sz="1600" dirty="0">
                <a:latin typeface="Consolas" panose="020B0609020204030204" pitchFamily="49" charset="0"/>
              </a:rPr>
              <a:t>    int n = min(</a:t>
            </a:r>
            <a:r>
              <a:rPr lang="en-US" altLang="zh-CN" sz="1600" dirty="0" err="1">
                <a:latin typeface="Consolas" panose="020B0609020204030204" pitchFamily="49" charset="0"/>
              </a:rPr>
              <a:t>a,b</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b="1" dirty="0">
                <a:solidFill>
                  <a:srgbClr val="C00000"/>
                </a:solidFill>
                <a:latin typeface="Consolas" panose="020B0609020204030204" pitchFamily="49" charset="0"/>
              </a:rPr>
              <a:t>int </a:t>
            </a:r>
            <a:r>
              <a:rPr lang="en-US" altLang="zh-CN" sz="1600" b="1" dirty="0" err="1">
                <a:solidFill>
                  <a:srgbClr val="C00000"/>
                </a:solidFill>
                <a:latin typeface="Consolas" panose="020B0609020204030204" pitchFamily="49" charset="0"/>
              </a:rPr>
              <a:t>i</a:t>
            </a:r>
            <a:r>
              <a:rPr lang="en-US" altLang="zh-CN" sz="1600" b="1" dirty="0">
                <a:solidFill>
                  <a:srgbClr val="C00000"/>
                </a:solidFill>
                <a:latin typeface="Consolas" panose="020B0609020204030204" pitchFamily="49" charset="0"/>
              </a:rPr>
              <a:t>; </a:t>
            </a:r>
          </a:p>
          <a:p>
            <a:r>
              <a:rPr lang="en-US" altLang="zh-CN" sz="1600" dirty="0">
                <a:latin typeface="Consolas" panose="020B0609020204030204" pitchFamily="49" charset="0"/>
              </a:rPr>
              <a:t>    for(</a:t>
            </a:r>
            <a:r>
              <a:rPr lang="en-US" altLang="zh-CN" sz="1600" dirty="0" err="1">
                <a:latin typeface="Consolas" panose="020B0609020204030204" pitchFamily="49" charset="0"/>
              </a:rPr>
              <a:t>i</a:t>
            </a:r>
            <a:r>
              <a:rPr lang="en-US" altLang="zh-CN" sz="1600" dirty="0">
                <a:latin typeface="Consolas" panose="020B0609020204030204" pitchFamily="49" charset="0"/>
              </a:rPr>
              <a:t>=n; </a:t>
            </a:r>
            <a:r>
              <a:rPr lang="en-US" altLang="zh-CN" sz="1600" dirty="0" err="1">
                <a:latin typeface="Consolas" panose="020B0609020204030204" pitchFamily="49" charset="0"/>
              </a:rPr>
              <a:t>i</a:t>
            </a:r>
            <a:r>
              <a:rPr lang="en-US" altLang="zh-CN" sz="1600" dirty="0">
                <a:latin typeface="Consolas" panose="020B0609020204030204" pitchFamily="49" charset="0"/>
              </a:rPr>
              <a:t>&gt;0; </a:t>
            </a:r>
            <a:r>
              <a:rPr lang="en-US" altLang="zh-CN" sz="1600" dirty="0" err="1">
                <a:latin typeface="Consolas" panose="020B0609020204030204" pitchFamily="49" charset="0"/>
              </a:rPr>
              <a:t>i</a:t>
            </a:r>
            <a:r>
              <a:rPr lang="en-US" altLang="zh-CN" sz="1600" dirty="0">
                <a:latin typeface="Consolas" panose="020B0609020204030204" pitchFamily="49" charset="0"/>
              </a:rPr>
              <a:t>--){</a:t>
            </a:r>
          </a:p>
          <a:p>
            <a:r>
              <a:rPr lang="en-US" altLang="zh-CN" sz="1600" dirty="0">
                <a:latin typeface="Consolas" panose="020B0609020204030204" pitchFamily="49" charset="0"/>
              </a:rPr>
              <a:t>        if (!(a % </a:t>
            </a:r>
            <a:r>
              <a:rPr lang="en-US" altLang="zh-CN" sz="1600" dirty="0" err="1">
                <a:latin typeface="Consolas" panose="020B0609020204030204" pitchFamily="49" charset="0"/>
              </a:rPr>
              <a:t>i</a:t>
            </a:r>
            <a:r>
              <a:rPr lang="en-US" altLang="zh-CN" sz="1600" dirty="0">
                <a:latin typeface="Consolas" panose="020B0609020204030204" pitchFamily="49" charset="0"/>
              </a:rPr>
              <a:t>) &amp;&amp; !(b % </a:t>
            </a:r>
            <a:r>
              <a:rPr lang="en-US" altLang="zh-CN" sz="1600" dirty="0" err="1">
                <a:latin typeface="Consolas" panose="020B0609020204030204" pitchFamily="49" charset="0"/>
              </a:rPr>
              <a:t>i</a:t>
            </a:r>
            <a:r>
              <a:rPr lang="en-US" altLang="zh-CN" sz="1600" dirty="0">
                <a:latin typeface="Consolas" panose="020B0609020204030204" pitchFamily="49" charset="0"/>
              </a:rPr>
              <a:t>)) </a:t>
            </a:r>
          </a:p>
          <a:p>
            <a:r>
              <a:rPr lang="en-US" altLang="zh-CN" sz="1600" dirty="0">
                <a:latin typeface="Consolas" panose="020B0609020204030204" pitchFamily="49" charset="0"/>
              </a:rPr>
              <a:t>           </a:t>
            </a:r>
            <a:r>
              <a:rPr lang="en-US" altLang="zh-CN" sz="1600" b="1" dirty="0">
                <a:solidFill>
                  <a:srgbClr val="C00000"/>
                </a:solidFill>
                <a:latin typeface="Consolas" panose="020B0609020204030204" pitchFamily="49" charset="0"/>
              </a:rPr>
              <a:t>break;</a:t>
            </a:r>
          </a:p>
          <a:p>
            <a:r>
              <a:rPr lang="en-US" altLang="zh-CN" sz="1600" dirty="0">
                <a:latin typeface="Consolas" panose="020B0609020204030204" pitchFamily="49" charset="0"/>
              </a:rPr>
              <a:t>    }</a:t>
            </a:r>
          </a:p>
          <a:p>
            <a:r>
              <a:rPr lang="en-US" altLang="zh-CN" sz="1600" dirty="0">
                <a:latin typeface="Consolas" panose="020B0609020204030204" pitchFamily="49" charset="0"/>
              </a:rPr>
              <a:t>    return </a:t>
            </a:r>
            <a:r>
              <a:rPr lang="en-US" altLang="zh-CN" sz="1600" dirty="0" err="1">
                <a:latin typeface="Consolas" panose="020B0609020204030204" pitchFamily="49" charset="0"/>
              </a:rPr>
              <a:t>i</a:t>
            </a:r>
            <a:r>
              <a:rPr lang="en-US" altLang="zh-CN" sz="1600" dirty="0">
                <a:latin typeface="Consolas" panose="020B0609020204030204" pitchFamily="49" charset="0"/>
              </a:rPr>
              <a:t>; </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5" name="文本框 4">
            <a:extLst>
              <a:ext uri="{FF2B5EF4-FFF2-40B4-BE49-F238E27FC236}">
                <a16:creationId xmlns:a16="http://schemas.microsoft.com/office/drawing/2014/main" id="{DA6FE042-25AA-EABB-EA44-B84D550D22D1}"/>
              </a:ext>
            </a:extLst>
          </p:cNvPr>
          <p:cNvSpPr txBox="1"/>
          <p:nvPr/>
        </p:nvSpPr>
        <p:spPr>
          <a:xfrm>
            <a:off x="857839" y="5776027"/>
            <a:ext cx="3866764" cy="646331"/>
          </a:xfrm>
          <a:prstGeom prst="rect">
            <a:avLst/>
          </a:prstGeom>
          <a:noFill/>
        </p:spPr>
        <p:txBody>
          <a:bodyPr wrap="none" rtlCol="0">
            <a:spAutoFit/>
          </a:bodyPr>
          <a:lstStyle/>
          <a:p>
            <a:r>
              <a:rPr lang="zh-CN" altLang="en-US" dirty="0">
                <a:solidFill>
                  <a:srgbClr val="C00000"/>
                </a:solidFill>
              </a:rPr>
              <a:t>练习：修改</a:t>
            </a:r>
            <a:r>
              <a:rPr lang="en-US" altLang="zh-CN" dirty="0">
                <a:solidFill>
                  <a:srgbClr val="C00000"/>
                </a:solidFill>
              </a:rPr>
              <a:t>12</a:t>
            </a:r>
            <a:r>
              <a:rPr lang="zh-CN" altLang="en-US" dirty="0">
                <a:solidFill>
                  <a:srgbClr val="C00000"/>
                </a:solidFill>
              </a:rPr>
              <a:t>行 </a:t>
            </a:r>
            <a:r>
              <a:rPr lang="en-US" altLang="zh-CN" dirty="0">
                <a:solidFill>
                  <a:srgbClr val="C00000"/>
                </a:solidFill>
              </a:rPr>
              <a:t>assert(</a:t>
            </a:r>
            <a:r>
              <a:rPr lang="en-US" altLang="zh-CN" dirty="0" err="1">
                <a:solidFill>
                  <a:srgbClr val="C00000"/>
                </a:solidFill>
              </a:rPr>
              <a:t>gcd</a:t>
            </a:r>
            <a:r>
              <a:rPr lang="en-US" altLang="zh-CN" dirty="0">
                <a:solidFill>
                  <a:srgbClr val="C00000"/>
                </a:solidFill>
              </a:rPr>
              <a:t>(3,9)==4);</a:t>
            </a:r>
          </a:p>
          <a:p>
            <a:r>
              <a:rPr lang="zh-CN" altLang="en-US" dirty="0">
                <a:solidFill>
                  <a:srgbClr val="C00000"/>
                </a:solidFill>
              </a:rPr>
              <a:t>运行程序，请解释输出的意义。</a:t>
            </a:r>
          </a:p>
        </p:txBody>
      </p:sp>
    </p:spTree>
    <p:extLst>
      <p:ext uri="{BB962C8B-B14F-4D97-AF65-F5344CB8AC3E}">
        <p14:creationId xmlns:p14="http://schemas.microsoft.com/office/powerpoint/2010/main" val="2049540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编程技巧 </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assert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断言</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mc:AlternateContent xmlns:mc="http://schemas.openxmlformats.org/markup-compatibility/2006" xmlns:a14="http://schemas.microsoft.com/office/drawing/2010/main">
        <mc:Choice Requires="a14">
          <p:sp>
            <p:nvSpPr>
              <p:cNvPr id="2" name="文本框 1"/>
              <p:cNvSpPr txBox="1"/>
              <p:nvPr/>
            </p:nvSpPr>
            <p:spPr>
              <a:xfrm>
                <a:off x="1074656" y="1738207"/>
                <a:ext cx="10152668" cy="4526406"/>
              </a:xfrm>
              <a:prstGeom prst="rect">
                <a:avLst/>
              </a:prstGeom>
              <a:noFill/>
            </p:spPr>
            <p:txBody>
              <a:bodyPr wrap="square" rtlCol="0">
                <a:noAutofit/>
              </a:bodyPr>
              <a:lstStyle/>
              <a:p>
                <a:r>
                  <a:rPr lang="zh-CN" altLang="en-US" sz="2400" dirty="0">
                    <a:latin typeface="微软雅黑" panose="020B0503020204020204" pitchFamily="34" charset="-122"/>
                    <a:ea typeface="微软雅黑" panose="020B0503020204020204" pitchFamily="34" charset="-122"/>
                  </a:rPr>
                  <a:t>如何确认自己编写的函数是对的，又不影响程序的提交？</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使用 </a:t>
                </a:r>
                <a:r>
                  <a:rPr lang="en-US" altLang="zh-CN" sz="2400" dirty="0" err="1">
                    <a:latin typeface="微软雅黑" panose="020B0503020204020204" pitchFamily="34" charset="-122"/>
                    <a:ea typeface="微软雅黑" panose="020B0503020204020204" pitchFamily="34" charset="-122"/>
                  </a:rPr>
                  <a:t>assert.h</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中的</a:t>
                </a:r>
                <a:endParaRPr lang="en-US" altLang="zh-CN" sz="2400"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𝑎𝑠𝑠𝑒𝑟𝑡</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𝑒𝑥𝑝𝑟</m:t>
                      </m:r>
                      <m:r>
                        <a:rPr lang="en-US" altLang="zh-CN" sz="2400" i="1" dirty="0" smtClean="0">
                          <a:latin typeface="Cambria Math" panose="02040503050406030204" pitchFamily="18" charset="0"/>
                          <a:ea typeface="微软雅黑" panose="020B0503020204020204" pitchFamily="34" charset="-122"/>
                        </a:rPr>
                        <m:t>)</m:t>
                      </m:r>
                    </m:oMath>
                  </m:oMathPara>
                </a14:m>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当 </a:t>
                </a:r>
                <a:r>
                  <a:rPr lang="en-US" altLang="zh-CN" sz="2400" dirty="0">
                    <a:latin typeface="微软雅黑" panose="020B0503020204020204" pitchFamily="34" charset="-122"/>
                    <a:ea typeface="微软雅黑" panose="020B0503020204020204" pitchFamily="34" charset="-122"/>
                  </a:rPr>
                  <a:t>expr </a:t>
                </a:r>
                <a:r>
                  <a:rPr lang="zh-CN" altLang="en-US" sz="2400" dirty="0">
                    <a:latin typeface="微软雅黑" panose="020B0503020204020204" pitchFamily="34" charset="-122"/>
                    <a:ea typeface="微软雅黑" panose="020B0503020204020204" pitchFamily="34" charset="-122"/>
                  </a:rPr>
                  <a:t>为真，这个语句不会产生任何输出</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当 </a:t>
                </a:r>
                <a:r>
                  <a:rPr lang="en-US" altLang="zh-CN" sz="2400" dirty="0">
                    <a:latin typeface="微软雅黑" panose="020B0503020204020204" pitchFamily="34" charset="-122"/>
                    <a:ea typeface="微软雅黑" panose="020B0503020204020204" pitchFamily="34" charset="-122"/>
                  </a:rPr>
                  <a:t>expr </a:t>
                </a:r>
                <a:r>
                  <a:rPr lang="zh-CN" altLang="en-US" sz="2400" dirty="0">
                    <a:latin typeface="微软雅黑" panose="020B0503020204020204" pitchFamily="34" charset="-122"/>
                    <a:ea typeface="微软雅黑" panose="020B0503020204020204" pitchFamily="34" charset="-122"/>
                  </a:rPr>
                  <a:t>为假，语句中止执行，并给出错误信息</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关键是：在 </a:t>
                </a:r>
                <a:r>
                  <a:rPr lang="en-US" altLang="zh-CN" sz="2400" dirty="0">
                    <a:latin typeface="微软雅黑" panose="020B0503020204020204" pitchFamily="34" charset="-122"/>
                    <a:ea typeface="微软雅黑" panose="020B0503020204020204" pitchFamily="34" charset="-122"/>
                  </a:rPr>
                  <a:t>#include&lt;assert.h&gt; </a:t>
                </a:r>
                <a:r>
                  <a:rPr lang="zh-CN" altLang="en-US" sz="2400" dirty="0">
                    <a:latin typeface="微软雅黑" panose="020B0503020204020204" pitchFamily="34" charset="-122"/>
                    <a:ea typeface="微软雅黑" panose="020B0503020204020204" pitchFamily="34" charset="-122"/>
                  </a:rPr>
                  <a:t>前添加</a:t>
                </a:r>
                <a:r>
                  <a:rPr lang="en-US" altLang="zh-CN" sz="2400" dirty="0">
                    <a:latin typeface="微软雅黑" panose="020B0503020204020204" pitchFamily="34" charset="-122"/>
                    <a:ea typeface="微软雅黑" panose="020B0503020204020204" pitchFamily="34" charset="-122"/>
                  </a:rPr>
                  <a:t> </a:t>
                </a:r>
                <a:r>
                  <a:rPr lang="en-US" altLang="zh-CN" sz="2400" dirty="0">
                    <a:solidFill>
                      <a:srgbClr val="C00000"/>
                    </a:solidFill>
                    <a:latin typeface="微软雅黑" panose="020B0503020204020204" pitchFamily="34" charset="-122"/>
                    <a:ea typeface="微软雅黑" panose="020B0503020204020204" pitchFamily="34" charset="-122"/>
                  </a:rPr>
                  <a:t>#define NDEBUG</a:t>
                </a:r>
                <a:r>
                  <a:rPr lang="zh-CN" altLang="en-US" sz="2400" dirty="0">
                    <a:latin typeface="微软雅黑" panose="020B0503020204020204" pitchFamily="34" charset="-122"/>
                    <a:ea typeface="微软雅黑" panose="020B0503020204020204" pitchFamily="34" charset="-122"/>
                  </a:rPr>
                  <a:t>，例如：</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所有 </a:t>
                </a:r>
                <a:r>
                  <a:rPr lang="en-US" altLang="zh-CN" sz="2400" dirty="0">
                    <a:latin typeface="微软雅黑" panose="020B0503020204020204" pitchFamily="34" charset="-122"/>
                    <a:ea typeface="微软雅黑" panose="020B0503020204020204" pitchFamily="34" charset="-122"/>
                  </a:rPr>
                  <a:t>assert </a:t>
                </a:r>
                <a:r>
                  <a:rPr lang="zh-CN" altLang="en-US" sz="2400" dirty="0">
                    <a:latin typeface="微软雅黑" panose="020B0503020204020204" pitchFamily="34" charset="-122"/>
                    <a:ea typeface="微软雅黑" panose="020B0503020204020204" pitchFamily="34" charset="-122"/>
                  </a:rPr>
                  <a:t>语句就被编译器自动忽视了！</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074656" y="1738207"/>
                <a:ext cx="10152668" cy="4526406"/>
              </a:xfrm>
              <a:prstGeom prst="rect">
                <a:avLst/>
              </a:prstGeom>
              <a:blipFill>
                <a:blip r:embed="rId4"/>
                <a:stretch>
                  <a:fillRect l="-900" t="-1077"/>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4122F8B9-2915-A05B-F663-420CF114FD03}"/>
              </a:ext>
            </a:extLst>
          </p:cNvPr>
          <p:cNvSpPr txBox="1"/>
          <p:nvPr/>
        </p:nvSpPr>
        <p:spPr>
          <a:xfrm>
            <a:off x="3283673" y="4786763"/>
            <a:ext cx="5125640" cy="558235"/>
          </a:xfrm>
          <a:prstGeom prst="rect">
            <a:avLst/>
          </a:prstGeom>
          <a:noFill/>
          <a:ln>
            <a:solidFill>
              <a:schemeClr val="bg1">
                <a:lumMod val="75000"/>
              </a:schemeClr>
            </a:solidFill>
          </a:ln>
        </p:spPr>
        <p:txBody>
          <a:bodyPr wrap="none" rtlCol="0">
            <a:noAutofit/>
          </a:bodyPr>
          <a:lstStyle/>
          <a:p>
            <a:r>
              <a:rPr lang="it-IT" altLang="zh-CN" sz="1600" dirty="0">
                <a:latin typeface="Consolas" panose="020B0609020204030204" pitchFamily="49" charset="0"/>
              </a:rPr>
              <a:t>#define NDEBUG</a:t>
            </a:r>
          </a:p>
          <a:p>
            <a:r>
              <a:rPr lang="it-IT" altLang="zh-CN" sz="1600" dirty="0">
                <a:latin typeface="Consolas" panose="020B0609020204030204" pitchFamily="49" charset="0"/>
              </a:rPr>
              <a:t>#include&lt;assert.h&gt; </a:t>
            </a:r>
            <a:endParaRPr lang="en-US" altLang="zh-CN" sz="1600" dirty="0">
              <a:latin typeface="Consolas" panose="020B0609020204030204" pitchFamily="49" charset="0"/>
            </a:endParaRPr>
          </a:p>
        </p:txBody>
      </p:sp>
    </p:spTree>
    <p:extLst>
      <p:ext uri="{BB962C8B-B14F-4D97-AF65-F5344CB8AC3E}">
        <p14:creationId xmlns:p14="http://schemas.microsoft.com/office/powerpoint/2010/main" val="1010230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最大公约数 </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算法设计</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2</a:t>
            </a: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mc:AlternateContent xmlns:mc="http://schemas.openxmlformats.org/markup-compatibility/2006" xmlns:a14="http://schemas.microsoft.com/office/drawing/2010/main">
        <mc:Choice Requires="a14">
          <p:sp>
            <p:nvSpPr>
              <p:cNvPr id="2" name="文本框 1"/>
              <p:cNvSpPr txBox="1"/>
              <p:nvPr/>
            </p:nvSpPr>
            <p:spPr>
              <a:xfrm>
                <a:off x="1074656" y="1738207"/>
                <a:ext cx="10152668" cy="4526406"/>
              </a:xfrm>
              <a:prstGeom prst="rect">
                <a:avLst/>
              </a:prstGeom>
              <a:noFill/>
            </p:spPr>
            <p:txBody>
              <a:bodyPr wrap="square" rtlCol="0">
                <a:noAutofit/>
              </a:bodyPr>
              <a:lstStyle/>
              <a:p>
                <a:r>
                  <a:rPr lang="zh-CN" altLang="en-US" sz="2400" dirty="0">
                    <a:latin typeface="微软雅黑" panose="020B0503020204020204" pitchFamily="34" charset="-122"/>
                    <a:ea typeface="微软雅黑" panose="020B0503020204020204" pitchFamily="34" charset="-122"/>
                  </a:rPr>
                  <a:t>计算方法</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：辗转相除法</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其算法定义是：</a:t>
                </a:r>
                <a:endParaRPr lang="en-US" altLang="zh-CN" sz="2400"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ea typeface="微软雅黑" panose="020B0503020204020204" pitchFamily="34" charset="-122"/>
                            </a:rPr>
                          </m:ctrlPr>
                        </m:funcPr>
                        <m:fName>
                          <m:r>
                            <m:rPr>
                              <m:sty m:val="p"/>
                            </m:rPr>
                            <a:rPr lang="en-US" altLang="zh-CN" sz="2400" b="0" i="0" smtClean="0">
                              <a:latin typeface="Cambria Math" panose="02040503050406030204" pitchFamily="18" charset="0"/>
                              <a:ea typeface="微软雅黑" panose="020B0503020204020204" pitchFamily="34" charset="-122"/>
                            </a:rPr>
                            <m:t>gcd</m:t>
                          </m:r>
                        </m:fName>
                        <m:e>
                          <m:d>
                            <m:dPr>
                              <m:ctrlPr>
                                <a:rPr lang="en-US" altLang="zh-CN" sz="2400" b="0" i="1" smtClean="0">
                                  <a:latin typeface="Cambria Math" panose="02040503050406030204" pitchFamily="18" charset="0"/>
                                  <a:ea typeface="微软雅黑" panose="020B0503020204020204" pitchFamily="34" charset="-122"/>
                                </a:rPr>
                              </m:ctrlPr>
                            </m:dPr>
                            <m:e>
                              <m:r>
                                <a:rPr lang="en-US" altLang="zh-CN" sz="2400" b="0" i="1" smtClean="0">
                                  <a:latin typeface="Cambria Math" panose="02040503050406030204" pitchFamily="18" charset="0"/>
                                  <a:ea typeface="微软雅黑" panose="020B0503020204020204" pitchFamily="34" charset="-122"/>
                                </a:rPr>
                                <m:t>𝑎</m:t>
                              </m:r>
                              <m: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𝑏</m:t>
                              </m:r>
                            </m:e>
                          </m:d>
                        </m:e>
                      </m:func>
                      <m:r>
                        <a:rPr lang="en-US" altLang="zh-CN" sz="2400" b="0" i="1" smtClean="0">
                          <a:latin typeface="Cambria Math" panose="02040503050406030204" pitchFamily="18" charset="0"/>
                          <a:ea typeface="微软雅黑" panose="020B0503020204020204" pitchFamily="34" charset="-122"/>
                        </a:rPr>
                        <m:t>= </m:t>
                      </m:r>
                      <m:d>
                        <m:dPr>
                          <m:begChr m:val="{"/>
                          <m:endChr m:val=""/>
                          <m:ctrlPr>
                            <a:rPr lang="en-US" altLang="zh-CN" sz="2400" b="0" i="1" smtClean="0">
                              <a:latin typeface="Cambria Math" panose="02040503050406030204" pitchFamily="18" charset="0"/>
                              <a:ea typeface="微软雅黑" panose="020B0503020204020204" pitchFamily="34" charset="-122"/>
                            </a:rPr>
                          </m:ctrlPr>
                        </m:dPr>
                        <m:e>
                          <m:eqArr>
                            <m:eqArrPr>
                              <m:ctrlPr>
                                <a:rPr lang="en-US" altLang="zh-CN" sz="2400" b="0" i="1" smtClean="0">
                                  <a:latin typeface="Cambria Math" panose="02040503050406030204" pitchFamily="18" charset="0"/>
                                  <a:ea typeface="微软雅黑" panose="020B0503020204020204" pitchFamily="34" charset="-122"/>
                                </a:rPr>
                              </m:ctrlPr>
                            </m:eqArrPr>
                            <m:e>
                              <m:m>
                                <m:mPr>
                                  <m:mcs>
                                    <m:mc>
                                      <m:mcPr>
                                        <m:count m:val="2"/>
                                        <m:mcJc m:val="center"/>
                                      </m:mcPr>
                                    </m:mc>
                                  </m:mcs>
                                  <m:ctrlPr>
                                    <a:rPr lang="en-US" altLang="zh-CN" sz="2400" b="0" i="1" smtClean="0">
                                      <a:latin typeface="Cambria Math" panose="02040503050406030204" pitchFamily="18" charset="0"/>
                                      <a:ea typeface="微软雅黑" panose="020B0503020204020204" pitchFamily="34" charset="-122"/>
                                    </a:rPr>
                                  </m:ctrlPr>
                                </m:mPr>
                                <m:mr>
                                  <m:e>
                                    <m:r>
                                      <m:rPr>
                                        <m:brk m:alnAt="7"/>
                                      </m:rPr>
                                      <a:rPr lang="en-US" altLang="zh-CN" sz="2400" b="0" i="1" smtClean="0">
                                        <a:latin typeface="Cambria Math" panose="02040503050406030204" pitchFamily="18" charset="0"/>
                                        <a:ea typeface="微软雅黑" panose="020B0503020204020204" pitchFamily="34" charset="-122"/>
                                      </a:rPr>
                                      <m:t>𝑎</m:t>
                                    </m:r>
                                  </m:e>
                                  <m:e>
                                    <m:r>
                                      <a:rPr lang="en-US" altLang="zh-CN" sz="2400" b="0" i="1" smtClean="0">
                                        <a:latin typeface="Cambria Math" panose="02040503050406030204" pitchFamily="18" charset="0"/>
                                        <a:ea typeface="微软雅黑" panose="020B0503020204020204" pitchFamily="34" charset="-122"/>
                                      </a:rPr>
                                      <m:t>                      </m:t>
                                    </m:r>
                                    <m:r>
                                      <a:rPr lang="en-US" altLang="zh-CN" sz="2400" b="0" i="1" smtClean="0">
                                        <a:latin typeface="Cambria Math" panose="02040503050406030204" pitchFamily="18" charset="0"/>
                                        <a:ea typeface="微软雅黑" panose="020B0503020204020204" pitchFamily="34" charset="-122"/>
                                      </a:rPr>
                                      <m:t>𝑤h𝑒𝑟𝑒</m:t>
                                    </m:r>
                                    <m:r>
                                      <a:rPr lang="en-US" altLang="zh-CN" sz="2400" b="0" i="1" smtClean="0">
                                        <a:latin typeface="Cambria Math" panose="02040503050406030204" pitchFamily="18" charset="0"/>
                                        <a:ea typeface="微软雅黑" panose="020B0503020204020204" pitchFamily="34" charset="-122"/>
                                      </a:rPr>
                                      <m:t> </m:t>
                                    </m:r>
                                    <m:r>
                                      <a:rPr lang="en-US" altLang="zh-CN" sz="2400" b="0" i="1" smtClean="0">
                                        <a:latin typeface="Cambria Math" panose="02040503050406030204" pitchFamily="18" charset="0"/>
                                        <a:ea typeface="微软雅黑" panose="020B0503020204020204" pitchFamily="34" charset="-122"/>
                                      </a:rPr>
                                      <m:t>𝑏</m:t>
                                    </m:r>
                                    <m: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𝑎</m:t>
                                    </m:r>
                                    <m:r>
                                      <a:rPr lang="en-US" altLang="zh-CN" sz="2400" b="0" i="1" smtClean="0">
                                        <a:latin typeface="Cambria Math" panose="02040503050406030204" pitchFamily="18" charset="0"/>
                                        <a:ea typeface="微软雅黑" panose="020B0503020204020204" pitchFamily="34" charset="-122"/>
                                      </a:rPr>
                                      <m:t>==0</m:t>
                                    </m:r>
                                  </m:e>
                                </m:mr>
                              </m:m>
                            </m:e>
                            <m:e>
                              <m:m>
                                <m:mPr>
                                  <m:mcs>
                                    <m:mc>
                                      <m:mcPr>
                                        <m:count m:val="2"/>
                                        <m:mcJc m:val="center"/>
                                      </m:mcPr>
                                    </m:mc>
                                  </m:mcs>
                                  <m:ctrlPr>
                                    <a:rPr lang="en-US" altLang="zh-CN" sz="2400" b="0" i="1" smtClean="0">
                                      <a:latin typeface="Cambria Math" panose="02040503050406030204" pitchFamily="18" charset="0"/>
                                      <a:ea typeface="微软雅黑" panose="020B0503020204020204" pitchFamily="34" charset="-122"/>
                                    </a:rPr>
                                  </m:ctrlPr>
                                </m:mPr>
                                <m:mr>
                                  <m:e>
                                    <m:r>
                                      <m:rPr>
                                        <m:sty m:val="p"/>
                                        <m:brk m:alnAt="7"/>
                                      </m:rPr>
                                      <a:rPr lang="en-US" altLang="zh-CN" sz="2400" b="0" i="0" smtClean="0">
                                        <a:latin typeface="Cambria Math" panose="02040503050406030204" pitchFamily="18" charset="0"/>
                                        <a:ea typeface="微软雅黑" panose="020B0503020204020204" pitchFamily="34" charset="-122"/>
                                      </a:rPr>
                                      <m:t>g</m:t>
                                    </m:r>
                                    <m:r>
                                      <m:rPr>
                                        <m:sty m:val="p"/>
                                      </m:rPr>
                                      <a:rPr lang="en-US" altLang="zh-CN" sz="2400" b="0" i="0" smtClean="0">
                                        <a:latin typeface="Cambria Math" panose="02040503050406030204" pitchFamily="18" charset="0"/>
                                        <a:ea typeface="微软雅黑" panose="020B0503020204020204" pitchFamily="34" charset="-122"/>
                                      </a:rPr>
                                      <m:t>cd</m:t>
                                    </m:r>
                                    <m:r>
                                      <m:rPr>
                                        <m:brk m:alnAt="7"/>
                                      </m:rP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𝑏</m:t>
                                    </m:r>
                                    <m: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𝑎</m:t>
                                    </m:r>
                                    <m: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𝑎</m:t>
                                    </m:r>
                                    <m:r>
                                      <a:rPr lang="en-US" altLang="zh-CN" sz="2400" b="0" i="1" smtClean="0">
                                        <a:latin typeface="Cambria Math" panose="02040503050406030204" pitchFamily="18" charset="0"/>
                                        <a:ea typeface="微软雅黑" panose="020B0503020204020204" pitchFamily="34" charset="-122"/>
                                      </a:rPr>
                                      <m:t>)</m:t>
                                    </m:r>
                                  </m:e>
                                  <m:e>
                                    <m:r>
                                      <a:rPr lang="en-US" altLang="zh-CN" sz="2400" b="0" i="1" smtClean="0">
                                        <a:latin typeface="Cambria Math" panose="02040503050406030204" pitchFamily="18" charset="0"/>
                                        <a:ea typeface="微软雅黑" panose="020B0503020204020204" pitchFamily="34" charset="-122"/>
                                      </a:rPr>
                                      <m:t>𝑤h𝑒𝑟𝑒</m:t>
                                    </m:r>
                                    <m:r>
                                      <a:rPr lang="en-US" altLang="zh-CN" sz="2400" b="0" i="1" smtClean="0">
                                        <a:latin typeface="Cambria Math" panose="02040503050406030204" pitchFamily="18" charset="0"/>
                                        <a:ea typeface="微软雅黑" panose="020B0503020204020204" pitchFamily="34" charset="-122"/>
                                      </a:rPr>
                                      <m:t> </m:t>
                                    </m:r>
                                    <m:r>
                                      <a:rPr lang="en-US" altLang="zh-CN" sz="2400" b="0" i="1" smtClean="0">
                                        <a:latin typeface="Cambria Math" panose="02040503050406030204" pitchFamily="18" charset="0"/>
                                        <a:ea typeface="微软雅黑" panose="020B0503020204020204" pitchFamily="34" charset="-122"/>
                                      </a:rPr>
                                      <m:t>𝑏</m:t>
                                    </m:r>
                                    <m: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𝑎</m:t>
                                    </m:r>
                                    <m:r>
                                      <a:rPr lang="en-US" altLang="zh-CN" sz="2400" b="0" i="1" smtClean="0">
                                        <a:latin typeface="Cambria Math" panose="02040503050406030204" pitchFamily="18" charset="0"/>
                                        <a:ea typeface="微软雅黑" panose="020B0503020204020204" pitchFamily="34" charset="-122"/>
                                      </a:rPr>
                                      <m:t> !=0</m:t>
                                    </m:r>
                                  </m:e>
                                </m:mr>
                              </m:m>
                            </m:e>
                          </m:eqArr>
                        </m:e>
                      </m:d>
                    </m:oMath>
                  </m:oMathPara>
                </a14:m>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例如：</a:t>
                </a:r>
                <a14:m>
                  <m:oMath xmlns:m="http://schemas.openxmlformats.org/officeDocument/2006/math">
                    <m:m>
                      <m:mPr>
                        <m:mcs>
                          <m:mc>
                            <m:mcPr>
                              <m:count m:val="1"/>
                              <m:mcJc m:val="center"/>
                            </m:mcPr>
                          </m:mc>
                        </m:mcs>
                        <m:ctrlPr>
                          <a:rPr lang="en-US" altLang="zh-CN" sz="2400" i="1" dirty="0" smtClean="0">
                            <a:latin typeface="Cambria Math" panose="02040503050406030204" pitchFamily="18" charset="0"/>
                            <a:ea typeface="微软雅黑" panose="020B0503020204020204" pitchFamily="34" charset="-122"/>
                          </a:rPr>
                        </m:ctrlPr>
                      </m:mPr>
                      <m:mr>
                        <m:e>
                          <m:func>
                            <m:funcPr>
                              <m:ctrlPr>
                                <a:rPr lang="en-US" altLang="zh-CN" sz="2400" i="1" dirty="0">
                                  <a:latin typeface="Cambria Math" panose="02040503050406030204" pitchFamily="18" charset="0"/>
                                  <a:ea typeface="微软雅黑" panose="020B0503020204020204" pitchFamily="34" charset="-122"/>
                                </a:rPr>
                              </m:ctrlPr>
                            </m:funcPr>
                            <m:fName>
                              <m:r>
                                <m:rPr>
                                  <m:sty m:val="p"/>
                                </m:rPr>
                                <a:rPr lang="en-US" altLang="zh-CN" sz="2400" dirty="0">
                                  <a:latin typeface="Cambria Math" panose="02040503050406030204" pitchFamily="18" charset="0"/>
                                  <a:ea typeface="微软雅黑" panose="020B0503020204020204" pitchFamily="34" charset="-122"/>
                                </a:rPr>
                                <m:t>gcd</m:t>
                              </m:r>
                            </m:fName>
                            <m:e>
                              <m:d>
                                <m:dPr>
                                  <m:ctrlPr>
                                    <a:rPr lang="en-US" altLang="zh-CN" sz="2400" i="1" dirty="0">
                                      <a:latin typeface="Cambria Math" panose="02040503050406030204" pitchFamily="18" charset="0"/>
                                      <a:ea typeface="微软雅黑" panose="020B0503020204020204" pitchFamily="34" charset="-122"/>
                                    </a:rPr>
                                  </m:ctrlPr>
                                </m:dPr>
                                <m:e>
                                  <m:r>
                                    <a:rPr lang="en-US" altLang="zh-CN" sz="2400" i="1" dirty="0">
                                      <a:latin typeface="Cambria Math" panose="02040503050406030204" pitchFamily="18" charset="0"/>
                                      <a:ea typeface="微软雅黑" panose="020B0503020204020204" pitchFamily="34" charset="-122"/>
                                    </a:rPr>
                                    <m:t>98,63</m:t>
                                  </m:r>
                                </m:e>
                              </m:d>
                              <m:func>
                                <m:funcPr>
                                  <m:ctrlPr>
                                    <a:rPr lang="en-US" altLang="zh-CN" sz="2400" i="1" dirty="0">
                                      <a:latin typeface="Cambria Math" panose="02040503050406030204" pitchFamily="18" charset="0"/>
                                      <a:ea typeface="微软雅黑" panose="020B0503020204020204" pitchFamily="34" charset="-122"/>
                                    </a:rPr>
                                  </m:ctrlPr>
                                </m:funcPr>
                                <m:fName>
                                  <m:r>
                                    <a:rPr lang="en-US" altLang="zh-CN" sz="2400" dirty="0">
                                      <a:latin typeface="Cambria Math" panose="02040503050406030204" pitchFamily="18" charset="0"/>
                                      <a:ea typeface="微软雅黑" panose="020B0503020204020204" pitchFamily="34" charset="-122"/>
                                    </a:rPr>
                                    <m:t>=</m:t>
                                  </m:r>
                                  <m:r>
                                    <m:rPr>
                                      <m:sty m:val="p"/>
                                    </m:rPr>
                                    <a:rPr lang="en-US" altLang="zh-CN" sz="2400" dirty="0">
                                      <a:latin typeface="Cambria Math" panose="02040503050406030204" pitchFamily="18" charset="0"/>
                                      <a:ea typeface="微软雅黑" panose="020B0503020204020204" pitchFamily="34" charset="-122"/>
                                    </a:rPr>
                                    <m:t>gcd</m:t>
                                  </m:r>
                                </m:fName>
                                <m:e>
                                  <m:d>
                                    <m:dPr>
                                      <m:ctrlPr>
                                        <a:rPr lang="en-US" altLang="zh-CN" sz="2400" i="1" dirty="0">
                                          <a:latin typeface="Cambria Math" panose="02040503050406030204" pitchFamily="18" charset="0"/>
                                          <a:ea typeface="微软雅黑" panose="020B0503020204020204" pitchFamily="34" charset="-122"/>
                                        </a:rPr>
                                      </m:ctrlPr>
                                    </m:dPr>
                                    <m:e>
                                      <m:r>
                                        <a:rPr lang="en-US" altLang="zh-CN" sz="2400" i="1" dirty="0">
                                          <a:latin typeface="Cambria Math" panose="02040503050406030204" pitchFamily="18" charset="0"/>
                                          <a:ea typeface="微软雅黑" panose="020B0503020204020204" pitchFamily="34" charset="-122"/>
                                        </a:rPr>
                                        <m:t>63,98</m:t>
                                      </m:r>
                                    </m:e>
                                  </m:d>
                                  <m:func>
                                    <m:funcPr>
                                      <m:ctrlPr>
                                        <a:rPr lang="en-US" altLang="zh-CN" sz="2400" i="1" dirty="0">
                                          <a:latin typeface="Cambria Math" panose="02040503050406030204" pitchFamily="18" charset="0"/>
                                          <a:ea typeface="微软雅黑" panose="020B0503020204020204" pitchFamily="34" charset="-122"/>
                                        </a:rPr>
                                      </m:ctrlPr>
                                    </m:funcPr>
                                    <m:fName>
                                      <m:r>
                                        <a:rPr lang="en-US" altLang="zh-CN" sz="2400" dirty="0">
                                          <a:latin typeface="Cambria Math" panose="02040503050406030204" pitchFamily="18" charset="0"/>
                                          <a:ea typeface="微软雅黑" panose="020B0503020204020204" pitchFamily="34" charset="-122"/>
                                        </a:rPr>
                                        <m:t>=</m:t>
                                      </m:r>
                                      <m:r>
                                        <m:rPr>
                                          <m:sty m:val="p"/>
                                        </m:rPr>
                                        <a:rPr lang="en-US" altLang="zh-CN" sz="2400" dirty="0">
                                          <a:latin typeface="Cambria Math" panose="02040503050406030204" pitchFamily="18" charset="0"/>
                                          <a:ea typeface="微软雅黑" panose="020B0503020204020204" pitchFamily="34" charset="-122"/>
                                        </a:rPr>
                                        <m:t>gcd</m:t>
                                      </m:r>
                                    </m:fName>
                                    <m:e>
                                      <m:d>
                                        <m:dPr>
                                          <m:ctrlPr>
                                            <a:rPr lang="en-US" altLang="zh-CN" sz="2400" i="1" dirty="0">
                                              <a:latin typeface="Cambria Math" panose="02040503050406030204" pitchFamily="18" charset="0"/>
                                              <a:ea typeface="微软雅黑" panose="020B0503020204020204" pitchFamily="34" charset="-122"/>
                                            </a:rPr>
                                          </m:ctrlPr>
                                        </m:dPr>
                                        <m:e>
                                          <m:r>
                                            <a:rPr lang="en-US" altLang="zh-CN" sz="2400" i="1" dirty="0">
                                              <a:latin typeface="Cambria Math" panose="02040503050406030204" pitchFamily="18" charset="0"/>
                                              <a:ea typeface="微软雅黑" panose="020B0503020204020204" pitchFamily="34" charset="-122"/>
                                            </a:rPr>
                                            <m:t>35,63</m:t>
                                          </m:r>
                                        </m:e>
                                      </m:d>
                                    </m:e>
                                  </m:func>
                                </m:e>
                              </m:func>
                            </m:e>
                          </m:func>
                        </m:e>
                      </m:mr>
                      <m:mr>
                        <m:e>
                          <m:func>
                            <m:funcPr>
                              <m:ctrlPr>
                                <a:rPr lang="en-US" altLang="zh-CN" sz="2400" i="1" dirty="0">
                                  <a:latin typeface="Cambria Math" panose="02040503050406030204" pitchFamily="18" charset="0"/>
                                  <a:ea typeface="微软雅黑" panose="020B0503020204020204" pitchFamily="34" charset="-122"/>
                                </a:rPr>
                              </m:ctrlPr>
                            </m:funcPr>
                            <m:fName>
                              <m:func>
                                <m:funcPr>
                                  <m:ctrlPr>
                                    <a:rPr lang="en-US" altLang="zh-CN" sz="2400" i="1" dirty="0">
                                      <a:latin typeface="Cambria Math" panose="02040503050406030204" pitchFamily="18" charset="0"/>
                                      <a:ea typeface="微软雅黑" panose="020B0503020204020204" pitchFamily="34" charset="-122"/>
                                    </a:rPr>
                                  </m:ctrlPr>
                                </m:funcPr>
                                <m:fName>
                                  <m:r>
                                    <a:rPr lang="en-US" altLang="zh-CN" sz="2400" dirty="0">
                                      <a:latin typeface="Cambria Math" panose="02040503050406030204" pitchFamily="18" charset="0"/>
                                      <a:ea typeface="微软雅黑" panose="020B0503020204020204" pitchFamily="34" charset="-122"/>
                                    </a:rPr>
                                    <m:t>=</m:t>
                                  </m:r>
                                  <m:r>
                                    <m:rPr>
                                      <m:sty m:val="p"/>
                                    </m:rPr>
                                    <a:rPr lang="en-US" altLang="zh-CN" sz="2400" dirty="0">
                                      <a:latin typeface="Cambria Math" panose="02040503050406030204" pitchFamily="18" charset="0"/>
                                      <a:ea typeface="微软雅黑" panose="020B0503020204020204" pitchFamily="34" charset="-122"/>
                                    </a:rPr>
                                    <m:t>gcd</m:t>
                                  </m:r>
                                </m:fName>
                                <m:e>
                                  <m:d>
                                    <m:dPr>
                                      <m:ctrlPr>
                                        <a:rPr lang="en-US" altLang="zh-CN" sz="2400" i="1" dirty="0">
                                          <a:latin typeface="Cambria Math" panose="02040503050406030204" pitchFamily="18" charset="0"/>
                                          <a:ea typeface="微软雅黑" panose="020B0503020204020204" pitchFamily="34" charset="-122"/>
                                        </a:rPr>
                                      </m:ctrlPr>
                                    </m:dPr>
                                    <m:e>
                                      <m:r>
                                        <a:rPr lang="en-US" altLang="zh-CN" sz="2400" i="1" dirty="0">
                                          <a:latin typeface="Cambria Math" panose="02040503050406030204" pitchFamily="18" charset="0"/>
                                          <a:ea typeface="微软雅黑" panose="020B0503020204020204" pitchFamily="34" charset="-122"/>
                                        </a:rPr>
                                        <m:t>28,35</m:t>
                                      </m:r>
                                    </m:e>
                                  </m:d>
                                </m:e>
                              </m:func>
                              <m:r>
                                <a:rPr lang="en-US" altLang="zh-CN" sz="2400" dirty="0">
                                  <a:latin typeface="Cambria Math" panose="02040503050406030204" pitchFamily="18" charset="0"/>
                                  <a:ea typeface="微软雅黑" panose="020B0503020204020204" pitchFamily="34" charset="-122"/>
                                </a:rPr>
                                <m:t>=</m:t>
                              </m:r>
                              <m:r>
                                <m:rPr>
                                  <m:sty m:val="p"/>
                                </m:rPr>
                                <a:rPr lang="en-US" altLang="zh-CN" sz="2400" dirty="0">
                                  <a:latin typeface="Cambria Math" panose="02040503050406030204" pitchFamily="18" charset="0"/>
                                  <a:ea typeface="微软雅黑" panose="020B0503020204020204" pitchFamily="34" charset="-122"/>
                                </a:rPr>
                                <m:t>gcd</m:t>
                              </m:r>
                            </m:fName>
                            <m:e>
                              <m:d>
                                <m:dPr>
                                  <m:ctrlPr>
                                    <a:rPr lang="en-US" altLang="zh-CN" sz="2400" i="1" dirty="0">
                                      <a:latin typeface="Cambria Math" panose="02040503050406030204" pitchFamily="18" charset="0"/>
                                      <a:ea typeface="微软雅黑" panose="020B0503020204020204" pitchFamily="34" charset="-122"/>
                                    </a:rPr>
                                  </m:ctrlPr>
                                </m:dPr>
                                <m:e>
                                  <m:r>
                                    <a:rPr lang="en-US" altLang="zh-CN" sz="2400" b="0" i="1" dirty="0" smtClean="0">
                                      <a:latin typeface="Cambria Math" panose="02040503050406030204" pitchFamily="18" charset="0"/>
                                      <a:ea typeface="微软雅黑" panose="020B0503020204020204" pitchFamily="34" charset="-122"/>
                                    </a:rPr>
                                    <m:t>7,</m:t>
                                  </m:r>
                                  <m:r>
                                    <a:rPr lang="en-US" altLang="zh-CN" sz="2400" i="1" dirty="0">
                                      <a:latin typeface="Cambria Math" panose="02040503050406030204" pitchFamily="18" charset="0"/>
                                      <a:ea typeface="微软雅黑" panose="020B0503020204020204" pitchFamily="34" charset="-122"/>
                                    </a:rPr>
                                    <m:t>28</m:t>
                                  </m:r>
                                </m:e>
                              </m:d>
                              <m:r>
                                <a:rPr lang="en-US" altLang="zh-CN" sz="2400" b="0" i="1" dirty="0" smtClean="0">
                                  <a:latin typeface="Cambria Math" panose="02040503050406030204" pitchFamily="18" charset="0"/>
                                  <a:ea typeface="微软雅黑" panose="020B0503020204020204" pitchFamily="34" charset="-122"/>
                                </a:rPr>
                                <m:t>=7</m:t>
                              </m:r>
                            </m:e>
                          </m:func>
                        </m:e>
                      </m:mr>
                    </m:m>
                  </m:oMath>
                </a14:m>
                <a:endParaRPr lang="en-US" altLang="zh-CN" sz="2400" b="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这么巧妙的方法是如何想出来的？</a:t>
                </a:r>
                <a:endParaRPr lang="en-US" altLang="zh-CN" sz="24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经典算法，出于</a:t>
                </a:r>
                <a:r>
                  <a:rPr lang="zh-CN" altLang="en-US" sz="2000" b="1" dirty="0">
                    <a:latin typeface="微软雅黑" panose="020B0503020204020204" pitchFamily="34" charset="-122"/>
                    <a:ea typeface="微软雅黑" panose="020B0503020204020204" pitchFamily="34" charset="-122"/>
                  </a:rPr>
                  <a:t>欧几里得</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几何原本</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，你的任务就是</a:t>
                </a:r>
                <a:r>
                  <a:rPr lang="zh-CN" altLang="en-US" sz="2000" dirty="0">
                    <a:solidFill>
                      <a:srgbClr val="C00000"/>
                    </a:solidFill>
                    <a:latin typeface="微软雅黑" panose="020B0503020204020204" pitchFamily="34" charset="-122"/>
                    <a:ea typeface="微软雅黑" panose="020B0503020204020204" pitchFamily="34" charset="-122"/>
                  </a:rPr>
                  <a:t>背诵经典</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C00000"/>
                    </a:solidFill>
                    <a:latin typeface="微软雅黑" panose="020B0503020204020204" pitchFamily="34" charset="-122"/>
                    <a:ea typeface="微软雅黑" panose="020B0503020204020204" pitchFamily="34" charset="-122"/>
                  </a:rPr>
                  <a:t>并用</a:t>
                </a:r>
                <a:r>
                  <a:rPr lang="en-US" altLang="zh-CN" sz="2000" dirty="0">
                    <a:solidFill>
                      <a:srgbClr val="C00000"/>
                    </a:solidFill>
                    <a:latin typeface="微软雅黑" panose="020B0503020204020204" pitchFamily="34" charset="-122"/>
                    <a:ea typeface="微软雅黑" panose="020B0503020204020204" pitchFamily="34" charset="-122"/>
                  </a:rPr>
                  <a:t>C</a:t>
                </a:r>
                <a:r>
                  <a:rPr lang="zh-CN" altLang="en-US" sz="2000" dirty="0">
                    <a:solidFill>
                      <a:srgbClr val="C00000"/>
                    </a:solidFill>
                    <a:latin typeface="微软雅黑" panose="020B0503020204020204" pitchFamily="34" charset="-122"/>
                    <a:ea typeface="微软雅黑" panose="020B0503020204020204" pitchFamily="34" charset="-122"/>
                  </a:rPr>
                  <a:t>语言实现它</a:t>
                </a:r>
                <a:r>
                  <a:rPr lang="zh-CN" altLang="en-US" sz="2000" dirty="0">
                    <a:latin typeface="微软雅黑" panose="020B0503020204020204" pitchFamily="34" charset="-122"/>
                    <a:ea typeface="微软雅黑" panose="020B0503020204020204" pitchFamily="34" charset="-122"/>
                  </a:rPr>
                  <a:t>。因为它是许多整数问题的基础函数，如计算最小公倍数等等。</a:t>
                </a:r>
                <a:endParaRPr lang="en-US" altLang="zh-CN" sz="20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074656" y="1738207"/>
                <a:ext cx="10152668" cy="4526406"/>
              </a:xfrm>
              <a:prstGeom prst="rect">
                <a:avLst/>
              </a:prstGeom>
              <a:blipFill>
                <a:blip r:embed="rId4"/>
                <a:stretch>
                  <a:fillRect l="-900" t="-1077" b="-5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1871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课堂练习 </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最大公约数</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文本框 1"/>
          <p:cNvSpPr txBox="1"/>
          <p:nvPr/>
        </p:nvSpPr>
        <p:spPr>
          <a:xfrm>
            <a:off x="1074656" y="1738207"/>
            <a:ext cx="10152668" cy="4526406"/>
          </a:xfrm>
          <a:prstGeom prst="rect">
            <a:avLst/>
          </a:prstGeom>
          <a:noFill/>
        </p:spPr>
        <p:txBody>
          <a:bodyPr wrap="square" rtlCol="0">
            <a:noAutofit/>
          </a:bodyPr>
          <a:lstStyle/>
          <a:p>
            <a:r>
              <a:rPr lang="zh-CN" altLang="en-US" sz="2400" dirty="0">
                <a:latin typeface="微软雅黑" panose="020B0503020204020204" pitchFamily="34" charset="-122"/>
                <a:ea typeface="微软雅黑" panose="020B0503020204020204" pitchFamily="34" charset="-122"/>
              </a:rPr>
              <a:t>计算方法</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：辗转相除法</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任务要求：</a:t>
            </a:r>
            <a:endParaRPr lang="en-US" altLang="zh-CN" sz="24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将 </a:t>
            </a:r>
            <a:r>
              <a:rPr lang="en-US" altLang="zh-CN" sz="2400" dirty="0" err="1">
                <a:latin typeface="微软雅黑" panose="020B0503020204020204" pitchFamily="34" charset="-122"/>
                <a:ea typeface="微软雅黑" panose="020B0503020204020204" pitchFamily="34" charset="-122"/>
              </a:rPr>
              <a:t>gcd</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函数使用辗转相除法实现</a:t>
            </a:r>
            <a:endParaRPr lang="en-US" altLang="zh-CN" sz="24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打印 </a:t>
            </a:r>
            <a:r>
              <a:rPr lang="en-US" altLang="zh-CN" sz="2400" dirty="0" err="1">
                <a:latin typeface="微软雅黑" panose="020B0503020204020204" pitchFamily="34" charset="-122"/>
                <a:ea typeface="微软雅黑" panose="020B0503020204020204" pitchFamily="34" charset="-122"/>
              </a:rPr>
              <a:t>gcd</a:t>
            </a:r>
            <a:r>
              <a:rPr lang="en-US" altLang="zh-CN" sz="2400" dirty="0">
                <a:latin typeface="微软雅黑" panose="020B0503020204020204" pitchFamily="34" charset="-122"/>
                <a:ea typeface="微软雅黑" panose="020B0503020204020204" pitchFamily="34" charset="-122"/>
              </a:rPr>
              <a:t>(98,63) </a:t>
            </a:r>
            <a:r>
              <a:rPr lang="zh-CN" altLang="en-US" sz="2400" dirty="0">
                <a:latin typeface="微软雅黑" panose="020B0503020204020204" pitchFamily="34" charset="-122"/>
                <a:ea typeface="微软雅黑" panose="020B0503020204020204" pitchFamily="34" charset="-122"/>
              </a:rPr>
              <a:t>的计算过程</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4555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递归经典：汉诺塔（</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Hanoi Tower</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tx1"/>
                </a:solidFill>
              </a:rPr>
              <a:t>问题描述</a:t>
            </a:r>
          </a:p>
          <a:p>
            <a:pPr marL="457200" lvl="1" indent="0">
              <a:lnSpc>
                <a:spcPct val="100000"/>
              </a:lnSpc>
              <a:buNone/>
            </a:pPr>
            <a:r>
              <a:rPr lang="zh-CN" altLang="en-US" dirty="0"/>
              <a:t>源于印度一个古老传说。大梵天创造世界的时候做了三根金刚石柱子，在一根柱子上从下往上按照大小顺序摞着</a:t>
            </a:r>
            <a:r>
              <a:rPr lang="en-US" altLang="zh-CN" dirty="0"/>
              <a:t>64</a:t>
            </a:r>
            <a:r>
              <a:rPr lang="zh-CN" altLang="en-US" dirty="0"/>
              <a:t>片黄金圆盘。大梵天命令婆罗门把圆盘从下面开始按大小顺序重新摆放在另一根柱子上。并且规定，任何时候，在小圆盘上都不能放大圆盘，且在三根柱子之间一次只能移动一个圆盘。问应该如何操作？</a:t>
            </a:r>
            <a:endParaRPr lang="zh-CN" altLang="en-US" dirty="0">
              <a:solidFill>
                <a:schemeClr val="tx1"/>
              </a:solidFill>
            </a:endParaRPr>
          </a:p>
        </p:txBody>
      </p:sp>
      <p:pic>
        <p:nvPicPr>
          <p:cNvPr id="2" name="图片 1">
            <a:extLst>
              <a:ext uri="{FF2B5EF4-FFF2-40B4-BE49-F238E27FC236}">
                <a16:creationId xmlns:a16="http://schemas.microsoft.com/office/drawing/2014/main" id="{AAA8D444-1E47-449C-AD84-9CB744FE4EEE}"/>
              </a:ext>
            </a:extLst>
          </p:cNvPr>
          <p:cNvPicPr>
            <a:picLocks noChangeAspect="1"/>
          </p:cNvPicPr>
          <p:nvPr/>
        </p:nvPicPr>
        <p:blipFill>
          <a:blip r:embed="rId4"/>
          <a:stretch>
            <a:fillRect/>
          </a:stretch>
        </p:blipFill>
        <p:spPr>
          <a:xfrm>
            <a:off x="3678690" y="4576535"/>
            <a:ext cx="3571875" cy="1333500"/>
          </a:xfrm>
          <a:prstGeom prst="rect">
            <a:avLst/>
          </a:prstGeom>
        </p:spPr>
      </p:pic>
    </p:spTree>
    <p:extLst>
      <p:ext uri="{BB962C8B-B14F-4D97-AF65-F5344CB8AC3E}">
        <p14:creationId xmlns:p14="http://schemas.microsoft.com/office/powerpoint/2010/main" val="295539723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汉诺塔求解过程分析</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zh-CN" altLang="en-US" dirty="0">
                <a:solidFill>
                  <a:schemeClr val="tx1"/>
                </a:solidFill>
              </a:rPr>
              <a:t>问题求解</a:t>
            </a:r>
          </a:p>
          <a:p>
            <a:pPr lvl="1">
              <a:lnSpc>
                <a:spcPct val="110000"/>
              </a:lnSpc>
            </a:pPr>
            <a:r>
              <a:rPr lang="zh-CN" altLang="en-US" dirty="0"/>
              <a:t>声明问题</a:t>
            </a:r>
          </a:p>
          <a:p>
            <a:pPr marL="457200" lvl="1" indent="0">
              <a:lnSpc>
                <a:spcPct val="110000"/>
              </a:lnSpc>
              <a:buNone/>
            </a:pPr>
            <a:r>
              <a:rPr lang="fr-FR" altLang="zh-CN" dirty="0"/>
              <a:t>void hanoi(int n, int a, int b, int c); </a:t>
            </a:r>
            <a:endParaRPr lang="en-US" altLang="zh-CN" dirty="0"/>
          </a:p>
          <a:p>
            <a:pPr lvl="2">
              <a:lnSpc>
                <a:spcPct val="110000"/>
              </a:lnSpc>
            </a:pPr>
            <a:r>
              <a:rPr lang="en-US" altLang="zh-CN" dirty="0" err="1"/>
              <a:t>a,b,c</a:t>
            </a:r>
            <a:r>
              <a:rPr lang="en-US" altLang="zh-CN" dirty="0"/>
              <a:t> </a:t>
            </a:r>
            <a:r>
              <a:rPr lang="zh-CN" altLang="en-US" dirty="0"/>
              <a:t>代表柱子编号，用字母表示。分别代表 </a:t>
            </a:r>
            <a:r>
              <a:rPr lang="en-US" altLang="zh-CN" dirty="0"/>
              <a:t>source</a:t>
            </a:r>
            <a:r>
              <a:rPr lang="zh-CN" altLang="en-US" dirty="0"/>
              <a:t>，</a:t>
            </a:r>
            <a:r>
              <a:rPr lang="en-US" altLang="zh-CN" dirty="0"/>
              <a:t>mid</a:t>
            </a:r>
            <a:r>
              <a:rPr lang="zh-CN" altLang="en-US" dirty="0"/>
              <a:t>，</a:t>
            </a:r>
            <a:r>
              <a:rPr lang="en-US" altLang="zh-CN" dirty="0"/>
              <a:t>destination</a:t>
            </a:r>
          </a:p>
          <a:p>
            <a:pPr lvl="2">
              <a:lnSpc>
                <a:spcPct val="110000"/>
              </a:lnSpc>
            </a:pPr>
            <a:r>
              <a:rPr lang="zh-CN" altLang="en-US" dirty="0"/>
              <a:t>将 </a:t>
            </a:r>
            <a:r>
              <a:rPr lang="en-US" altLang="zh-CN" dirty="0"/>
              <a:t>n </a:t>
            </a:r>
            <a:r>
              <a:rPr lang="zh-CN" altLang="en-US" dirty="0"/>
              <a:t>个从大到小的盘子从</a:t>
            </a:r>
            <a:r>
              <a:rPr lang="en-US" altLang="zh-CN" dirty="0"/>
              <a:t>source</a:t>
            </a:r>
            <a:r>
              <a:rPr lang="zh-CN" altLang="en-US" dirty="0"/>
              <a:t>上，使用 </a:t>
            </a:r>
            <a:r>
              <a:rPr lang="en-US" altLang="zh-CN" dirty="0"/>
              <a:t>mid </a:t>
            </a:r>
            <a:r>
              <a:rPr lang="zh-CN" altLang="en-US" dirty="0"/>
              <a:t>周转，最后到 </a:t>
            </a:r>
            <a:r>
              <a:rPr lang="en-US" altLang="zh-CN" dirty="0" err="1"/>
              <a:t>dest</a:t>
            </a:r>
            <a:r>
              <a:rPr lang="en-US" altLang="zh-CN" dirty="0"/>
              <a:t> </a:t>
            </a:r>
            <a:r>
              <a:rPr lang="zh-CN" altLang="en-US" dirty="0"/>
              <a:t>上</a:t>
            </a:r>
            <a:endParaRPr lang="en-US" altLang="zh-CN" dirty="0"/>
          </a:p>
          <a:p>
            <a:pPr marL="457200" lvl="1" indent="0">
              <a:lnSpc>
                <a:spcPct val="110000"/>
              </a:lnSpc>
              <a:buNone/>
            </a:pPr>
            <a:r>
              <a:rPr lang="en-US" altLang="zh-CN" dirty="0"/>
              <a:t>void move(int n, int a, int b)</a:t>
            </a:r>
          </a:p>
          <a:p>
            <a:pPr marL="914400" lvl="2" indent="0">
              <a:lnSpc>
                <a:spcPct val="110000"/>
              </a:lnSpc>
              <a:buNone/>
            </a:pPr>
            <a:r>
              <a:rPr lang="zh-CN" altLang="en-US" dirty="0"/>
              <a:t>将第 </a:t>
            </a:r>
            <a:r>
              <a:rPr lang="en-US" altLang="zh-CN" dirty="0"/>
              <a:t>n </a:t>
            </a:r>
            <a:r>
              <a:rPr lang="zh-CN" altLang="en-US" dirty="0"/>
              <a:t>号盘子从 </a:t>
            </a:r>
            <a:r>
              <a:rPr lang="en-US" altLang="zh-CN" dirty="0"/>
              <a:t>a </a:t>
            </a:r>
            <a:r>
              <a:rPr lang="zh-CN" altLang="en-US" dirty="0"/>
              <a:t>号柱子搬到 </a:t>
            </a:r>
            <a:r>
              <a:rPr lang="en-US" altLang="zh-CN" dirty="0"/>
              <a:t>b </a:t>
            </a:r>
            <a:r>
              <a:rPr lang="zh-CN" altLang="en-US" dirty="0"/>
              <a:t>号柱子</a:t>
            </a:r>
            <a:endParaRPr lang="en-US" altLang="zh-CN" dirty="0"/>
          </a:p>
          <a:p>
            <a:pPr marL="914400" lvl="2" indent="0">
              <a:lnSpc>
                <a:spcPct val="110000"/>
              </a:lnSpc>
              <a:buNone/>
            </a:pPr>
            <a:endParaRPr lang="en-US" altLang="zh-CN" dirty="0"/>
          </a:p>
          <a:p>
            <a:pPr marL="0" indent="0">
              <a:lnSpc>
                <a:spcPct val="110000"/>
              </a:lnSpc>
              <a:buNone/>
            </a:pPr>
            <a:r>
              <a:rPr lang="zh-CN" altLang="en-US" dirty="0"/>
              <a:t>这些例子表明，正确理解并抽象问题是问题求解的关键之一！</a:t>
            </a:r>
            <a:endParaRPr lang="en-US" altLang="zh-CN" dirty="0"/>
          </a:p>
        </p:txBody>
      </p:sp>
    </p:spTree>
    <p:extLst>
      <p:ext uri="{BB962C8B-B14F-4D97-AF65-F5344CB8AC3E}">
        <p14:creationId xmlns:p14="http://schemas.microsoft.com/office/powerpoint/2010/main" val="860530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nodeType="click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 calcmode="lin" valueType="num">
                                      <p:cBhvr additive="base">
                                        <p:cTn id="16" dur="500" fill="hold"/>
                                        <p:tgtEl>
                                          <p:spTgt spid="4">
                                            <p:txEl>
                                              <p:pRg st="2" end="2"/>
                                            </p:txEl>
                                          </p:spTgt>
                                        </p:tgtEl>
                                        <p:attrNameLst>
                                          <p:attrName>ppt_x</p:attrName>
                                        </p:attrNameLst>
                                      </p:cBhvr>
                                      <p:tavLst>
                                        <p:tav tm="0">
                                          <p:val>
                                            <p:strVal val="1+#ppt_w/2"/>
                                          </p:val>
                                        </p:tav>
                                        <p:tav tm="100000">
                                          <p:val>
                                            <p:strVal val="#ppt_x"/>
                                          </p:val>
                                        </p:tav>
                                      </p:tavLst>
                                    </p:anim>
                                    <p:anim calcmode="lin" valueType="num">
                                      <p:cBhvr additive="base">
                                        <p:cTn id="17"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additive="base">
                                        <p:cTn id="22" dur="500" fill="hold"/>
                                        <p:tgtEl>
                                          <p:spTgt spid="4">
                                            <p:txEl>
                                              <p:pRg st="3" end="3"/>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 calcmode="lin" valueType="num">
                                      <p:cBhvr additive="base">
                                        <p:cTn id="28" dur="500" fill="hold"/>
                                        <p:tgtEl>
                                          <p:spTgt spid="4">
                                            <p:txEl>
                                              <p:pRg st="4" end="4"/>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 calcmode="lin" valueType="num">
                                      <p:cBhvr additive="base">
                                        <p:cTn id="34" dur="500" fill="hold"/>
                                        <p:tgtEl>
                                          <p:spTgt spid="4">
                                            <p:txEl>
                                              <p:pRg st="5" end="5"/>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4">
                                            <p:txEl>
                                              <p:pRg st="6" end="6"/>
                                            </p:txEl>
                                          </p:spTgt>
                                        </p:tgtEl>
                                        <p:attrNameLst>
                                          <p:attrName>style.visibility</p:attrName>
                                        </p:attrNameLst>
                                      </p:cBhvr>
                                      <p:to>
                                        <p:strVal val="visible"/>
                                      </p:to>
                                    </p:set>
                                    <p:anim calcmode="lin" valueType="num">
                                      <p:cBhvr additive="base">
                                        <p:cTn id="40" dur="500" fill="hold"/>
                                        <p:tgtEl>
                                          <p:spTgt spid="4">
                                            <p:txEl>
                                              <p:pRg st="6" end="6"/>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nodeType="clickEffect">
                                  <p:stCondLst>
                                    <p:cond delay="0"/>
                                  </p:stCondLst>
                                  <p:childTnLst>
                                    <p:set>
                                      <p:cBhvr>
                                        <p:cTn id="45" dur="1" fill="hold">
                                          <p:stCondLst>
                                            <p:cond delay="0"/>
                                          </p:stCondLst>
                                        </p:cTn>
                                        <p:tgtEl>
                                          <p:spTgt spid="4">
                                            <p:txEl>
                                              <p:pRg st="8" end="8"/>
                                            </p:txEl>
                                          </p:spTgt>
                                        </p:tgtEl>
                                        <p:attrNameLst>
                                          <p:attrName>style.visibility</p:attrName>
                                        </p:attrNameLst>
                                      </p:cBhvr>
                                      <p:to>
                                        <p:strVal val="visible"/>
                                      </p:to>
                                    </p:set>
                                    <p:anim calcmode="lin" valueType="num">
                                      <p:cBhvr additive="base">
                                        <p:cTn id="46" dur="500" fill="hold"/>
                                        <p:tgtEl>
                                          <p:spTgt spid="4">
                                            <p:txEl>
                                              <p:pRg st="8" end="8"/>
                                            </p:txEl>
                                          </p:spTgt>
                                        </p:tgtEl>
                                        <p:attrNameLst>
                                          <p:attrName>ppt_x</p:attrName>
                                        </p:attrNameLst>
                                      </p:cBhvr>
                                      <p:tavLst>
                                        <p:tav tm="0">
                                          <p:val>
                                            <p:strVal val="1+#ppt_w/2"/>
                                          </p:val>
                                        </p:tav>
                                        <p:tav tm="100000">
                                          <p:val>
                                            <p:strVal val="#ppt_x"/>
                                          </p:val>
                                        </p:tav>
                                      </p:tavLst>
                                    </p:anim>
                                    <p:anim calcmode="lin" valueType="num">
                                      <p:cBhvr additive="base">
                                        <p:cTn id="47" dur="500" fill="hold"/>
                                        <p:tgtEl>
                                          <p:spTgt spid="4">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汉诺塔求解过程分析</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435165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zh-CN" altLang="en-US" dirty="0">
                <a:solidFill>
                  <a:schemeClr val="tx1"/>
                </a:solidFill>
              </a:rPr>
              <a:t>问题求解</a:t>
            </a:r>
          </a:p>
          <a:p>
            <a:pPr lvl="1">
              <a:lnSpc>
                <a:spcPct val="110000"/>
              </a:lnSpc>
            </a:pPr>
            <a:r>
              <a:rPr lang="zh-CN" altLang="en-US" dirty="0"/>
              <a:t>基本情况</a:t>
            </a:r>
          </a:p>
          <a:p>
            <a:pPr marL="457200" lvl="1" indent="0">
              <a:lnSpc>
                <a:spcPct val="110000"/>
              </a:lnSpc>
              <a:buNone/>
            </a:pPr>
            <a:r>
              <a:rPr lang="pt-BR" altLang="zh-CN" dirty="0"/>
              <a:t>hanoi</a:t>
            </a:r>
            <a:r>
              <a:rPr lang="en-US" altLang="zh-CN" dirty="0"/>
              <a:t>(1,</a:t>
            </a:r>
            <a:r>
              <a:rPr lang="pt-BR" altLang="zh-CN" dirty="0"/>
              <a:t>'a','b','c'</a:t>
            </a:r>
            <a:r>
              <a:rPr lang="en-US" altLang="zh-CN" dirty="0"/>
              <a:t>) </a:t>
            </a:r>
            <a:r>
              <a:rPr lang="en-US" altLang="zh-CN" dirty="0">
                <a:sym typeface="Wingdings" panose="05000000000000000000" pitchFamily="2" charset="2"/>
              </a:rPr>
              <a:t></a:t>
            </a:r>
            <a:r>
              <a:rPr lang="en-US" altLang="zh-CN" dirty="0"/>
              <a:t> move(1, </a:t>
            </a:r>
            <a:r>
              <a:rPr lang="pt-BR" altLang="zh-CN" dirty="0"/>
              <a:t>'a', 'c'</a:t>
            </a:r>
            <a:r>
              <a:rPr lang="en-US" altLang="zh-CN" dirty="0"/>
              <a:t>) </a:t>
            </a:r>
          </a:p>
          <a:p>
            <a:pPr lvl="1">
              <a:lnSpc>
                <a:spcPct val="110000"/>
              </a:lnSpc>
            </a:pPr>
            <a:r>
              <a:rPr lang="zh-CN" altLang="en-US" dirty="0"/>
              <a:t>递推 </a:t>
            </a:r>
            <a:r>
              <a:rPr lang="pt-BR" altLang="zh-CN" dirty="0"/>
              <a:t>hanoi</a:t>
            </a:r>
            <a:r>
              <a:rPr lang="en-US" altLang="zh-CN" dirty="0"/>
              <a:t>(2 ,</a:t>
            </a:r>
            <a:r>
              <a:rPr lang="pt-BR" altLang="zh-CN" dirty="0"/>
              <a:t>'a','b','c'</a:t>
            </a:r>
            <a:r>
              <a:rPr lang="en-US" altLang="zh-CN" dirty="0"/>
              <a:t>)</a:t>
            </a:r>
          </a:p>
          <a:p>
            <a:pPr marL="914400" lvl="2" indent="0">
              <a:lnSpc>
                <a:spcPct val="110000"/>
              </a:lnSpc>
              <a:buNone/>
            </a:pPr>
            <a:r>
              <a:rPr lang="pt-BR" altLang="zh-CN" dirty="0"/>
              <a:t>hanoi</a:t>
            </a:r>
            <a:r>
              <a:rPr lang="en-US" altLang="zh-CN" dirty="0"/>
              <a:t>(1,</a:t>
            </a:r>
            <a:r>
              <a:rPr lang="pt-BR" altLang="zh-CN" dirty="0"/>
              <a:t>'a','</a:t>
            </a:r>
            <a:r>
              <a:rPr lang="en-US" altLang="zh-CN" dirty="0"/>
              <a:t>c</a:t>
            </a:r>
            <a:r>
              <a:rPr lang="pt-BR" altLang="zh-CN" dirty="0"/>
              <a:t>','</a:t>
            </a:r>
            <a:r>
              <a:rPr lang="en-US" altLang="zh-CN" dirty="0"/>
              <a:t>b</a:t>
            </a:r>
            <a:r>
              <a:rPr lang="pt-BR" altLang="zh-CN" dirty="0"/>
              <a:t>’) </a:t>
            </a:r>
            <a:r>
              <a:rPr lang="en-US" altLang="zh-CN" dirty="0">
                <a:sym typeface="Wingdings" panose="05000000000000000000" pitchFamily="2" charset="2"/>
              </a:rPr>
              <a:t> move(1, 'a', 'b')   </a:t>
            </a:r>
            <a:r>
              <a:rPr lang="zh-CN" altLang="en-US" dirty="0">
                <a:sym typeface="Wingdings" panose="05000000000000000000" pitchFamily="2" charset="2"/>
              </a:rPr>
              <a:t>用中柱周转</a:t>
            </a:r>
            <a:endParaRPr lang="en-US" altLang="zh-CN" dirty="0">
              <a:sym typeface="Wingdings" panose="05000000000000000000" pitchFamily="2" charset="2"/>
            </a:endParaRPr>
          </a:p>
          <a:p>
            <a:pPr marL="914400" lvl="2" indent="0">
              <a:lnSpc>
                <a:spcPct val="110000"/>
              </a:lnSpc>
              <a:buNone/>
            </a:pPr>
            <a:r>
              <a:rPr lang="en-US" altLang="zh-CN" dirty="0">
                <a:sym typeface="Wingdings" panose="05000000000000000000" pitchFamily="2" charset="2"/>
              </a:rPr>
              <a:t>move(2,</a:t>
            </a:r>
            <a:r>
              <a:rPr lang="pt-BR" altLang="zh-CN" dirty="0"/>
              <a:t> 'a', 'c')      </a:t>
            </a:r>
            <a:r>
              <a:rPr lang="zh-CN" altLang="en-US" dirty="0"/>
              <a:t>移到目标</a:t>
            </a:r>
            <a:r>
              <a:rPr lang="pt-BR" altLang="zh-CN" dirty="0"/>
              <a:t>     </a:t>
            </a:r>
          </a:p>
          <a:p>
            <a:pPr marL="914400" lvl="2" indent="0">
              <a:lnSpc>
                <a:spcPct val="110000"/>
              </a:lnSpc>
              <a:buNone/>
            </a:pPr>
            <a:r>
              <a:rPr lang="pt-BR" altLang="zh-CN" dirty="0"/>
              <a:t>hanoi</a:t>
            </a:r>
            <a:r>
              <a:rPr lang="en-US" altLang="zh-CN" dirty="0"/>
              <a:t>(1,</a:t>
            </a:r>
            <a:r>
              <a:rPr lang="pt-BR" altLang="zh-CN" dirty="0"/>
              <a:t>'b','</a:t>
            </a:r>
            <a:r>
              <a:rPr lang="en-US" altLang="zh-CN" dirty="0"/>
              <a:t>a</a:t>
            </a:r>
            <a:r>
              <a:rPr lang="pt-BR" altLang="zh-CN" dirty="0"/>
              <a:t>','</a:t>
            </a:r>
            <a:r>
              <a:rPr lang="en-US" altLang="zh-CN" dirty="0"/>
              <a:t>c</a:t>
            </a:r>
            <a:r>
              <a:rPr lang="pt-BR" altLang="zh-CN" dirty="0"/>
              <a:t>') </a:t>
            </a:r>
            <a:r>
              <a:rPr lang="en-US" altLang="zh-CN" dirty="0">
                <a:sym typeface="Wingdings" panose="05000000000000000000" pitchFamily="2" charset="2"/>
              </a:rPr>
              <a:t> move(1, 'b', 'c') </a:t>
            </a:r>
            <a:r>
              <a:rPr lang="zh-CN" altLang="en-US" dirty="0">
                <a:sym typeface="Wingdings" panose="05000000000000000000" pitchFamily="2" charset="2"/>
              </a:rPr>
              <a:t>从中转移到目标</a:t>
            </a:r>
            <a:endParaRPr lang="en-US" altLang="zh-CN" dirty="0">
              <a:sym typeface="Wingdings" panose="05000000000000000000" pitchFamily="2" charset="2"/>
            </a:endParaRPr>
          </a:p>
          <a:p>
            <a:pPr lvl="1">
              <a:lnSpc>
                <a:spcPct val="110000"/>
              </a:lnSpc>
            </a:pPr>
            <a:r>
              <a:rPr lang="zh-CN" altLang="en-US" dirty="0"/>
              <a:t>分解问题</a:t>
            </a:r>
          </a:p>
          <a:p>
            <a:pPr marL="457200" lvl="1" indent="0">
              <a:lnSpc>
                <a:spcPct val="110000"/>
              </a:lnSpc>
              <a:buNone/>
            </a:pPr>
            <a:r>
              <a:rPr lang="pt-BR" altLang="zh-CN" dirty="0"/>
              <a:t>hanoi(n,'a','b','c');</a:t>
            </a:r>
          </a:p>
          <a:p>
            <a:pPr marL="914400" lvl="2" indent="0">
              <a:lnSpc>
                <a:spcPct val="110000"/>
              </a:lnSpc>
              <a:buNone/>
            </a:pPr>
            <a:r>
              <a:rPr lang="pt-BR" altLang="zh-CN" dirty="0"/>
              <a:t>hanoi(n-1, a, c, b);</a:t>
            </a:r>
            <a:r>
              <a:rPr lang="en-US" altLang="zh-CN" dirty="0"/>
              <a:t>  </a:t>
            </a:r>
            <a:r>
              <a:rPr lang="zh-CN" altLang="en-US" dirty="0"/>
              <a:t>以 </a:t>
            </a:r>
            <a:r>
              <a:rPr lang="en-US" altLang="zh-CN" dirty="0"/>
              <a:t>c </a:t>
            </a:r>
            <a:r>
              <a:rPr lang="zh-CN" altLang="en-US" dirty="0"/>
              <a:t>为中转，把 </a:t>
            </a:r>
            <a:r>
              <a:rPr lang="en-US" altLang="zh-CN" dirty="0"/>
              <a:t>n-1 </a:t>
            </a:r>
            <a:r>
              <a:rPr lang="zh-CN" altLang="en-US" dirty="0"/>
              <a:t>个盘子从</a:t>
            </a:r>
            <a:r>
              <a:rPr lang="en-US" altLang="zh-CN" dirty="0"/>
              <a:t> a</a:t>
            </a:r>
            <a:r>
              <a:rPr lang="zh-CN" altLang="en-US" dirty="0"/>
              <a:t>柱</a:t>
            </a:r>
            <a:r>
              <a:rPr lang="en-US" altLang="zh-CN" dirty="0"/>
              <a:t> </a:t>
            </a:r>
            <a:r>
              <a:rPr lang="zh-CN" altLang="en-US" dirty="0"/>
              <a:t>移到 周转柱子 上</a:t>
            </a:r>
            <a:endParaRPr lang="en-US" altLang="zh-CN" dirty="0"/>
          </a:p>
          <a:p>
            <a:pPr marL="914400" lvl="2" indent="0">
              <a:lnSpc>
                <a:spcPct val="110000"/>
              </a:lnSpc>
              <a:buNone/>
            </a:pPr>
            <a:r>
              <a:rPr lang="en-US" altLang="zh-CN" dirty="0"/>
              <a:t>move(n, a, c);         </a:t>
            </a:r>
            <a:r>
              <a:rPr lang="zh-CN" altLang="en-US" dirty="0"/>
              <a:t>把 </a:t>
            </a:r>
            <a:r>
              <a:rPr lang="en-US" altLang="zh-CN" dirty="0"/>
              <a:t>a</a:t>
            </a:r>
            <a:r>
              <a:rPr lang="zh-CN" altLang="en-US" dirty="0"/>
              <a:t>上的编号为</a:t>
            </a:r>
            <a:r>
              <a:rPr lang="en-US" altLang="zh-CN" dirty="0"/>
              <a:t>n</a:t>
            </a:r>
            <a:r>
              <a:rPr lang="zh-CN" altLang="en-US" dirty="0"/>
              <a:t>（最大）的盘子移到 目标柱子 上</a:t>
            </a:r>
            <a:endParaRPr lang="en-US" altLang="zh-CN" dirty="0"/>
          </a:p>
          <a:p>
            <a:pPr marL="914400" lvl="2" indent="0">
              <a:lnSpc>
                <a:spcPct val="110000"/>
              </a:lnSpc>
              <a:buNone/>
            </a:pPr>
            <a:r>
              <a:rPr lang="pt-BR" altLang="zh-CN" dirty="0"/>
              <a:t>hanoi(n-1, b, a, c);</a:t>
            </a:r>
            <a:r>
              <a:rPr lang="en-US" altLang="zh-CN" dirty="0"/>
              <a:t>  </a:t>
            </a:r>
            <a:r>
              <a:rPr lang="zh-CN" altLang="en-US" dirty="0"/>
              <a:t>以 </a:t>
            </a:r>
            <a:r>
              <a:rPr lang="en-US" altLang="zh-CN" dirty="0"/>
              <a:t>a </a:t>
            </a:r>
            <a:r>
              <a:rPr lang="zh-CN" altLang="en-US" dirty="0"/>
              <a:t>为中转，把 </a:t>
            </a:r>
            <a:r>
              <a:rPr lang="en-US" altLang="zh-CN" dirty="0"/>
              <a:t>n-1</a:t>
            </a:r>
            <a:r>
              <a:rPr lang="zh-CN" altLang="en-US" dirty="0"/>
              <a:t>个盘子从 周转柱子 移到 目标柱子 上</a:t>
            </a:r>
            <a:endParaRPr lang="en-US" altLang="zh-CN" dirty="0"/>
          </a:p>
          <a:p>
            <a:pPr marL="914400" lvl="2" indent="0">
              <a:lnSpc>
                <a:spcPct val="110000"/>
              </a:lnSpc>
              <a:buNone/>
            </a:pPr>
            <a:endParaRPr lang="en-US" altLang="zh-CN" dirty="0"/>
          </a:p>
          <a:p>
            <a:pPr marL="457200" lvl="1" indent="0">
              <a:buNone/>
            </a:pPr>
            <a:endParaRPr lang="zh-CN" altLang="en-US" dirty="0">
              <a:solidFill>
                <a:schemeClr val="tx1"/>
              </a:solidFill>
            </a:endParaRPr>
          </a:p>
        </p:txBody>
      </p:sp>
    </p:spTree>
    <p:extLst>
      <p:ext uri="{BB962C8B-B14F-4D97-AF65-F5344CB8AC3E}">
        <p14:creationId xmlns:p14="http://schemas.microsoft.com/office/powerpoint/2010/main" val="286997221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 calcmode="lin" valueType="num">
                                      <p:cBhvr additive="base">
                                        <p:cTn id="3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anim calcmode="lin" valueType="num">
                                      <p:cBhvr additive="base">
                                        <p:cTn id="4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anim calcmode="lin" valueType="num">
                                      <p:cBhvr additive="base">
                                        <p:cTn id="4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anim calcmode="lin" valueType="num">
                                      <p:cBhvr additive="base">
                                        <p:cTn id="55"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 calcmode="lin" valueType="num">
                                      <p:cBhvr additive="base">
                                        <p:cTn id="61"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
                                            <p:txEl>
                                              <p:pRg st="11" end="11"/>
                                            </p:txEl>
                                          </p:spTgt>
                                        </p:tgtEl>
                                        <p:attrNameLst>
                                          <p:attrName>style.visibility</p:attrName>
                                        </p:attrNameLst>
                                      </p:cBhvr>
                                      <p:to>
                                        <p:strVal val="visible"/>
                                      </p:to>
                                    </p:set>
                                    <p:anim calcmode="lin" valueType="num">
                                      <p:cBhvr additive="base">
                                        <p:cTn id="67"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参考程序：汉诺塔</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5" name="文本框 4">
            <a:extLst>
              <a:ext uri="{FF2B5EF4-FFF2-40B4-BE49-F238E27FC236}">
                <a16:creationId xmlns:a16="http://schemas.microsoft.com/office/drawing/2014/main" id="{0BC0F4C8-E016-45FC-910F-824FFAEBAFA1}"/>
              </a:ext>
            </a:extLst>
          </p:cNvPr>
          <p:cNvSpPr txBox="1"/>
          <p:nvPr/>
        </p:nvSpPr>
        <p:spPr>
          <a:xfrm>
            <a:off x="6429829" y="1528840"/>
            <a:ext cx="5094514" cy="5632311"/>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&lt;</a:t>
            </a:r>
            <a:r>
              <a:rPr lang="en-US" altLang="zh-CN" b="0" dirty="0" err="1">
                <a:solidFill>
                  <a:srgbClr val="A31515"/>
                </a:solidFill>
                <a:effectLst/>
                <a:latin typeface="Consolas" panose="020B0609020204030204" pitchFamily="49" charset="0"/>
              </a:rPr>
              <a:t>stdio.h</a:t>
            </a:r>
            <a:r>
              <a:rPr lang="en-US" altLang="zh-CN" b="0" dirty="0">
                <a:solidFill>
                  <a:srgbClr val="A31515"/>
                </a:solidFill>
                <a:effectLst/>
                <a:latin typeface="Consolas" panose="020B0609020204030204" pitchFamily="49" charset="0"/>
              </a:rPr>
              <a:t>&gt;</a:t>
            </a:r>
            <a:endParaRPr lang="en-US" altLang="zh-CN" b="0" dirty="0">
              <a:solidFill>
                <a:srgbClr val="000000"/>
              </a:solidFill>
              <a:effectLst/>
              <a:latin typeface="Consolas" panose="020B0609020204030204" pitchFamily="49" charset="0"/>
            </a:endParaRPr>
          </a:p>
          <a:p>
            <a:br>
              <a:rPr lang="en-US" altLang="zh-CN" b="0" dirty="0">
                <a:solidFill>
                  <a:srgbClr val="000000"/>
                </a:solidFill>
                <a:effectLst/>
                <a:latin typeface="Consolas" panose="020B0609020204030204" pitchFamily="49" charset="0"/>
              </a:rPr>
            </a:b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声明函数</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其中 </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是柱子编号，用</a:t>
            </a:r>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表示</a:t>
            </a:r>
            <a:endParaRPr lang="zh-CN" altLang="en-US" b="0" dirty="0">
              <a:solidFill>
                <a:srgbClr val="000000"/>
              </a:solidFill>
              <a:effectLst/>
              <a:latin typeface="Consolas" panose="020B0609020204030204" pitchFamily="49" charset="0"/>
            </a:endParaRP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main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scanf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a:t>
            </a:r>
            <a:r>
              <a:rPr lang="en-US" altLang="zh-CN" b="0" dirty="0" err="1">
                <a:solidFill>
                  <a:srgbClr val="A31515"/>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,&amp;</a:t>
            </a:r>
            <a:r>
              <a:rPr lang="en-US" altLang="zh-CN" b="0" dirty="0" err="1">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"move </a:t>
            </a:r>
            <a:r>
              <a:rPr lang="en-US" altLang="zh-CN" b="0" dirty="0">
                <a:solidFill>
                  <a:srgbClr val="001080"/>
                </a:solidFill>
                <a:effectLst/>
                <a:latin typeface="Consolas" panose="020B0609020204030204" pitchFamily="49" charset="0"/>
              </a:rPr>
              <a:t>%d</a:t>
            </a:r>
            <a:r>
              <a:rPr lang="en-US" altLang="zh-CN" b="0" dirty="0">
                <a:solidFill>
                  <a:srgbClr val="A31515"/>
                </a:solidFill>
                <a:effectLst/>
                <a:latin typeface="Consolas" panose="020B0609020204030204" pitchFamily="49" charset="0"/>
              </a:rPr>
              <a:t> from </a:t>
            </a:r>
            <a:r>
              <a:rPr lang="en-US" altLang="zh-CN" b="0" dirty="0">
                <a:solidFill>
                  <a:srgbClr val="001080"/>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 to </a:t>
            </a:r>
            <a:r>
              <a:rPr lang="en-US" altLang="zh-CN" b="0" dirty="0">
                <a:solidFill>
                  <a:srgbClr val="001080"/>
                </a:solidFill>
                <a:effectLst/>
                <a:latin typeface="Consolas" panose="020B0609020204030204" pitchFamily="49" charset="0"/>
              </a:rPr>
              <a:t>%c</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endParaRPr lang="zh-CN" altLang="en-US" dirty="0"/>
          </a:p>
        </p:txBody>
      </p:sp>
      <p:sp>
        <p:nvSpPr>
          <p:cNvPr id="7" name="文本框 6">
            <a:extLst>
              <a:ext uri="{FF2B5EF4-FFF2-40B4-BE49-F238E27FC236}">
                <a16:creationId xmlns:a16="http://schemas.microsoft.com/office/drawing/2014/main" id="{5F87C7F8-20F2-4937-AF13-DD794FE1891C}"/>
              </a:ext>
            </a:extLst>
          </p:cNvPr>
          <p:cNvSpPr txBox="1"/>
          <p:nvPr/>
        </p:nvSpPr>
        <p:spPr>
          <a:xfrm>
            <a:off x="1001486" y="1528839"/>
            <a:ext cx="5094514" cy="2862322"/>
          </a:xfrm>
          <a:prstGeom prst="rect">
            <a:avLst/>
          </a:prstGeom>
          <a:noFill/>
          <a:ln>
            <a:solidFill>
              <a:schemeClr val="bg1">
                <a:lumMod val="75000"/>
              </a:schemeClr>
            </a:solidFill>
          </a:ln>
        </p:spPr>
        <p:txBody>
          <a:bodyPr wrap="square" rtlCol="0">
            <a:spAutoFit/>
          </a:bodyPr>
          <a:lstStyle/>
          <a:p>
            <a:r>
              <a:rPr lang="pt-BR" altLang="zh-CN" b="0" dirty="0">
                <a:solidFill>
                  <a:srgbClr val="0000FF"/>
                </a:solidFill>
                <a:effectLst/>
                <a:latin typeface="Consolas" panose="020B0609020204030204" pitchFamily="49" charset="0"/>
              </a:rPr>
              <a:t>void</a:t>
            </a:r>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if</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return</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a:t>
            </a:r>
          </a:p>
          <a:p>
            <a:endParaRPr lang="zh-CN" altLang="en-US" dirty="0"/>
          </a:p>
        </p:txBody>
      </p:sp>
      <p:sp>
        <p:nvSpPr>
          <p:cNvPr id="2" name="文本框 1">
            <a:extLst>
              <a:ext uri="{FF2B5EF4-FFF2-40B4-BE49-F238E27FC236}">
                <a16:creationId xmlns:a16="http://schemas.microsoft.com/office/drawing/2014/main" id="{6FA463A4-B598-5D94-B788-1D29B26DC06C}"/>
              </a:ext>
            </a:extLst>
          </p:cNvPr>
          <p:cNvSpPr txBox="1"/>
          <p:nvPr/>
        </p:nvSpPr>
        <p:spPr>
          <a:xfrm>
            <a:off x="1001487" y="4835951"/>
            <a:ext cx="5094514" cy="1477328"/>
          </a:xfrm>
          <a:prstGeom prst="rect">
            <a:avLst/>
          </a:prstGeom>
          <a:noFill/>
        </p:spPr>
        <p:txBody>
          <a:bodyPr wrap="square" rtlCol="0">
            <a:spAutoFit/>
          </a:bodyPr>
          <a:lstStyle/>
          <a:p>
            <a:r>
              <a:rPr lang="zh-CN" altLang="en-US" dirty="0"/>
              <a:t>这么简单？请输入 </a:t>
            </a:r>
            <a:r>
              <a:rPr lang="en-US" altLang="zh-CN" dirty="0"/>
              <a:t>1</a:t>
            </a:r>
            <a:r>
              <a:rPr lang="zh-CN" altLang="en-US" dirty="0"/>
              <a:t>，</a:t>
            </a:r>
            <a:r>
              <a:rPr lang="en-US" altLang="zh-CN" dirty="0"/>
              <a:t>2</a:t>
            </a:r>
            <a:r>
              <a:rPr lang="zh-CN" altLang="en-US" dirty="0"/>
              <a:t>，</a:t>
            </a:r>
            <a:r>
              <a:rPr lang="en-US" altLang="zh-CN" dirty="0"/>
              <a:t>3 </a:t>
            </a:r>
            <a:r>
              <a:rPr lang="zh-CN" altLang="en-US" dirty="0"/>
              <a:t>分别测试，并用自然语言解释 </a:t>
            </a:r>
            <a:r>
              <a:rPr lang="en-US" altLang="zh-CN" dirty="0"/>
              <a:t>3 </a:t>
            </a:r>
            <a:r>
              <a:rPr lang="zh-CN" altLang="en-US" dirty="0"/>
              <a:t>结果。</a:t>
            </a:r>
            <a:endParaRPr lang="en-US" altLang="zh-CN" dirty="0"/>
          </a:p>
          <a:p>
            <a:endParaRPr lang="en-US" altLang="zh-CN" dirty="0">
              <a:solidFill>
                <a:srgbClr val="C00000"/>
              </a:solidFill>
            </a:endParaRPr>
          </a:p>
          <a:p>
            <a:r>
              <a:rPr lang="zh-CN" altLang="en-US" dirty="0">
                <a:solidFill>
                  <a:srgbClr val="C00000"/>
                </a:solidFill>
              </a:rPr>
              <a:t>注意：右边程序在测评系统中是不可以修改的，甚至（不给钱）不给你观看。</a:t>
            </a:r>
            <a:endParaRPr lang="en-US" altLang="zh-CN" dirty="0">
              <a:solidFill>
                <a:srgbClr val="C00000"/>
              </a:solidFill>
            </a:endParaRPr>
          </a:p>
        </p:txBody>
      </p:sp>
    </p:spTree>
    <p:extLst>
      <p:ext uri="{BB962C8B-B14F-4D97-AF65-F5344CB8AC3E}">
        <p14:creationId xmlns:p14="http://schemas.microsoft.com/office/powerpoint/2010/main" val="187728836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手工编译环境准备</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199" y="1815465"/>
            <a:ext cx="6701971" cy="435165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dirty="0"/>
              <a:t>设置环境变量</a:t>
            </a:r>
            <a:endParaRPr lang="en-US" altLang="zh-CN" dirty="0"/>
          </a:p>
          <a:p>
            <a:pPr lvl="1">
              <a:lnSpc>
                <a:spcPct val="120000"/>
              </a:lnSpc>
            </a:pPr>
            <a:r>
              <a:rPr lang="zh-CN" altLang="en-US" dirty="0"/>
              <a:t>在</a:t>
            </a:r>
            <a:r>
              <a:rPr lang="en-US" altLang="zh-CN" dirty="0"/>
              <a:t>window 10</a:t>
            </a:r>
            <a:r>
              <a:rPr lang="zh-CN" altLang="en-US" dirty="0"/>
              <a:t>左下角输入“编辑系统环境变量”</a:t>
            </a:r>
            <a:endParaRPr lang="en-US" altLang="zh-CN" dirty="0"/>
          </a:p>
          <a:p>
            <a:pPr lvl="1">
              <a:lnSpc>
                <a:spcPct val="120000"/>
              </a:lnSpc>
            </a:pPr>
            <a:r>
              <a:rPr lang="zh-CN" altLang="en-US" dirty="0"/>
              <a:t>点击“环境变量</a:t>
            </a:r>
            <a:r>
              <a:rPr lang="en-US" altLang="zh-CN" dirty="0"/>
              <a:t>(N)…</a:t>
            </a:r>
            <a:r>
              <a:rPr lang="zh-CN" altLang="en-US" dirty="0"/>
              <a:t>”按钮</a:t>
            </a:r>
            <a:endParaRPr lang="en-US" altLang="zh-CN" dirty="0"/>
          </a:p>
          <a:p>
            <a:pPr lvl="1">
              <a:lnSpc>
                <a:spcPct val="120000"/>
              </a:lnSpc>
            </a:pPr>
            <a:r>
              <a:rPr lang="zh-CN" altLang="en-US" dirty="0"/>
              <a:t>选择 </a:t>
            </a:r>
            <a:r>
              <a:rPr lang="en-US" altLang="zh-CN" dirty="0"/>
              <a:t>path </a:t>
            </a:r>
            <a:r>
              <a:rPr lang="zh-CN" altLang="en-US" dirty="0"/>
              <a:t>属性，点击“编辑</a:t>
            </a:r>
            <a:r>
              <a:rPr lang="en-US" altLang="zh-CN" dirty="0"/>
              <a:t>(E)…</a:t>
            </a:r>
            <a:r>
              <a:rPr lang="zh-CN" altLang="en-US" dirty="0"/>
              <a:t>”按钮</a:t>
            </a:r>
            <a:endParaRPr lang="en-US" altLang="zh-CN" dirty="0"/>
          </a:p>
          <a:p>
            <a:pPr lvl="1">
              <a:lnSpc>
                <a:spcPct val="120000"/>
              </a:lnSpc>
            </a:pPr>
            <a:r>
              <a:rPr lang="zh-CN" altLang="en-US" dirty="0"/>
              <a:t>将</a:t>
            </a:r>
            <a:r>
              <a:rPr lang="en-US" altLang="zh-CN" dirty="0"/>
              <a:t>”C:\Program Files (x86)\Dev-</a:t>
            </a:r>
            <a:r>
              <a:rPr lang="en-US" altLang="zh-CN" dirty="0" err="1"/>
              <a:t>Cpp</a:t>
            </a:r>
            <a:r>
              <a:rPr lang="en-US" altLang="zh-CN" dirty="0"/>
              <a:t>\MinGW64\bin”</a:t>
            </a:r>
            <a:r>
              <a:rPr lang="zh-CN" altLang="en-US" dirty="0"/>
              <a:t>添加入 </a:t>
            </a:r>
            <a:r>
              <a:rPr lang="en-US" altLang="zh-CN" dirty="0"/>
              <a:t>path</a:t>
            </a:r>
          </a:p>
          <a:p>
            <a:pPr lvl="1">
              <a:lnSpc>
                <a:spcPct val="120000"/>
              </a:lnSpc>
            </a:pPr>
            <a:r>
              <a:rPr lang="zh-CN" altLang="en-US" dirty="0"/>
              <a:t>点击按钮“确定”</a:t>
            </a:r>
            <a:endParaRPr lang="en-US" altLang="zh-CN" dirty="0"/>
          </a:p>
          <a:p>
            <a:pPr>
              <a:lnSpc>
                <a:spcPct val="120000"/>
              </a:lnSpc>
            </a:pPr>
            <a:r>
              <a:rPr lang="zh-CN" altLang="en-US" dirty="0"/>
              <a:t>检查确认环境</a:t>
            </a:r>
            <a:endParaRPr lang="en-US" altLang="zh-CN" dirty="0">
              <a:solidFill>
                <a:schemeClr val="tx1"/>
              </a:solidFill>
            </a:endParaRPr>
          </a:p>
          <a:p>
            <a:pPr lvl="1">
              <a:lnSpc>
                <a:spcPct val="120000"/>
              </a:lnSpc>
            </a:pPr>
            <a:r>
              <a:rPr lang="zh-CN" altLang="en-US" dirty="0"/>
              <a:t>使用文件浏览器，打开一个包含</a:t>
            </a:r>
            <a:r>
              <a:rPr lang="en-US" altLang="zh-CN" dirty="0"/>
              <a:t>c</a:t>
            </a:r>
            <a:r>
              <a:rPr lang="zh-CN" altLang="en-US" dirty="0"/>
              <a:t>程序的目录</a:t>
            </a:r>
            <a:endParaRPr lang="en-US" altLang="zh-CN" dirty="0"/>
          </a:p>
          <a:p>
            <a:pPr lvl="1">
              <a:lnSpc>
                <a:spcPct val="120000"/>
              </a:lnSpc>
            </a:pPr>
            <a:r>
              <a:rPr lang="zh-CN" altLang="en-US" dirty="0">
                <a:solidFill>
                  <a:schemeClr val="tx1"/>
                </a:solidFill>
              </a:rPr>
              <a:t>在</a:t>
            </a:r>
            <a:r>
              <a:rPr lang="zh-CN" altLang="en-US" dirty="0"/>
              <a:t>文件浏览器</a:t>
            </a:r>
            <a:r>
              <a:rPr lang="zh-CN" altLang="en-US" dirty="0">
                <a:solidFill>
                  <a:schemeClr val="tx1"/>
                </a:solidFill>
              </a:rPr>
              <a:t>路径区输入“</a:t>
            </a:r>
            <a:r>
              <a:rPr lang="en-US" altLang="zh-CN" dirty="0" err="1">
                <a:solidFill>
                  <a:schemeClr val="tx1"/>
                </a:solidFill>
              </a:rPr>
              <a:t>powershell</a:t>
            </a:r>
            <a:r>
              <a:rPr lang="zh-CN" altLang="en-US" dirty="0">
                <a:solidFill>
                  <a:schemeClr val="tx1"/>
                </a:solidFill>
              </a:rPr>
              <a:t>”</a:t>
            </a:r>
            <a:r>
              <a:rPr lang="zh-CN" altLang="en-US" dirty="0"/>
              <a:t>或 “</a:t>
            </a:r>
            <a:r>
              <a:rPr lang="en-US" altLang="zh-CN" dirty="0" err="1"/>
              <a:t>cmd</a:t>
            </a:r>
            <a:r>
              <a:rPr lang="zh-CN" altLang="en-US" dirty="0"/>
              <a:t>”</a:t>
            </a:r>
            <a:endParaRPr lang="en-US" altLang="zh-CN" dirty="0"/>
          </a:p>
          <a:p>
            <a:pPr lvl="1">
              <a:lnSpc>
                <a:spcPct val="120000"/>
              </a:lnSpc>
            </a:pPr>
            <a:r>
              <a:rPr lang="zh-CN" altLang="en-US" dirty="0"/>
              <a:t>在命令行程序中输入 </a:t>
            </a:r>
            <a:r>
              <a:rPr lang="en-US" altLang="zh-CN" dirty="0"/>
              <a:t>“</a:t>
            </a:r>
            <a:r>
              <a:rPr lang="en-US" altLang="zh-CN" dirty="0" err="1"/>
              <a:t>gcc</a:t>
            </a:r>
            <a:r>
              <a:rPr lang="en-US" altLang="zh-CN" dirty="0"/>
              <a:t> –version”</a:t>
            </a:r>
          </a:p>
          <a:p>
            <a:pPr lvl="1">
              <a:lnSpc>
                <a:spcPct val="100000"/>
              </a:lnSpc>
            </a:pPr>
            <a:endParaRPr lang="en-US" altLang="zh-CN" dirty="0">
              <a:solidFill>
                <a:schemeClr val="tx1"/>
              </a:solidFill>
            </a:endParaRPr>
          </a:p>
          <a:p>
            <a:pPr marL="457200" lvl="1" indent="0">
              <a:buNone/>
            </a:pPr>
            <a:endParaRPr lang="zh-CN" altLang="en-US" dirty="0">
              <a:solidFill>
                <a:schemeClr val="tx1"/>
              </a:solidFill>
            </a:endParaRPr>
          </a:p>
        </p:txBody>
      </p:sp>
      <p:pic>
        <p:nvPicPr>
          <p:cNvPr id="3" name="图片 2">
            <a:extLst>
              <a:ext uri="{FF2B5EF4-FFF2-40B4-BE49-F238E27FC236}">
                <a16:creationId xmlns:a16="http://schemas.microsoft.com/office/drawing/2014/main" id="{D542C71E-F6F9-4A1B-9FC4-A712EBC652D2}"/>
              </a:ext>
            </a:extLst>
          </p:cNvPr>
          <p:cNvPicPr>
            <a:picLocks noChangeAspect="1"/>
          </p:cNvPicPr>
          <p:nvPr/>
        </p:nvPicPr>
        <p:blipFill>
          <a:blip r:embed="rId4"/>
          <a:stretch>
            <a:fillRect/>
          </a:stretch>
        </p:blipFill>
        <p:spPr>
          <a:xfrm>
            <a:off x="7801428" y="2495073"/>
            <a:ext cx="4130457" cy="2992438"/>
          </a:xfrm>
          <a:prstGeom prst="rect">
            <a:avLst/>
          </a:prstGeom>
        </p:spPr>
      </p:pic>
    </p:spTree>
    <p:extLst>
      <p:ext uri="{BB962C8B-B14F-4D97-AF65-F5344CB8AC3E}">
        <p14:creationId xmlns:p14="http://schemas.microsoft.com/office/powerpoint/2010/main" val="97391235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编译过程</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4351655"/>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dirty="0"/>
              <a:t>预处理阶段</a:t>
            </a:r>
            <a:endParaRPr lang="en-US" altLang="zh-CN" dirty="0"/>
          </a:p>
          <a:p>
            <a:pPr lvl="1">
              <a:lnSpc>
                <a:spcPct val="100000"/>
              </a:lnSpc>
            </a:pPr>
            <a:r>
              <a:rPr lang="zh-CN" altLang="en-US" dirty="0"/>
              <a:t>处理一个 </a:t>
            </a:r>
            <a:r>
              <a:rPr lang="en-US" altLang="zh-CN" dirty="0"/>
              <a:t>c </a:t>
            </a:r>
            <a:r>
              <a:rPr lang="zh-CN" altLang="en-US" dirty="0"/>
              <a:t>文件分为</a:t>
            </a:r>
            <a:r>
              <a:rPr lang="en-US" altLang="zh-CN" dirty="0"/>
              <a:t>6</a:t>
            </a:r>
            <a:r>
              <a:rPr lang="zh-CN" altLang="en-US" dirty="0"/>
              <a:t>个小步骤：</a:t>
            </a:r>
            <a:endParaRPr lang="en-US" altLang="zh-CN" dirty="0"/>
          </a:p>
          <a:p>
            <a:pPr marL="914400" lvl="1" indent="-457200">
              <a:lnSpc>
                <a:spcPct val="100000"/>
              </a:lnSpc>
              <a:buFont typeface="+mj-lt"/>
              <a:buAutoNum type="arabicPeriod"/>
            </a:pPr>
            <a:r>
              <a:rPr lang="zh-CN" altLang="en-US" dirty="0"/>
              <a:t>将文件映射到</a:t>
            </a:r>
            <a:r>
              <a:rPr lang="en-US" altLang="zh-CN" dirty="0"/>
              <a:t>96</a:t>
            </a:r>
            <a:r>
              <a:rPr lang="zh-CN" altLang="en-US" dirty="0"/>
              <a:t>个字符的构成的文件</a:t>
            </a:r>
            <a:endParaRPr lang="en-US" altLang="zh-CN" dirty="0"/>
          </a:p>
          <a:p>
            <a:pPr marL="914400" lvl="1" indent="-457200">
              <a:lnSpc>
                <a:spcPct val="100000"/>
              </a:lnSpc>
              <a:buFont typeface="+mj-lt"/>
              <a:buAutoNum type="arabicPeriod"/>
            </a:pPr>
            <a:r>
              <a:rPr lang="zh-CN" altLang="en-US" dirty="0"/>
              <a:t>处理续行符号</a:t>
            </a:r>
            <a:endParaRPr lang="en-US" altLang="zh-CN" dirty="0"/>
          </a:p>
          <a:p>
            <a:pPr marL="914400" lvl="1" indent="-457200">
              <a:lnSpc>
                <a:spcPct val="100000"/>
              </a:lnSpc>
              <a:buFont typeface="+mj-lt"/>
              <a:buAutoNum type="arabicPeriod"/>
            </a:pPr>
            <a:r>
              <a:rPr lang="zh-CN" altLang="en-US" dirty="0"/>
              <a:t>分解文件为注释，空白字符，预处理标记，标识符，数字常量，字面量，运算符等元素。用一个空格代替注释段落</a:t>
            </a:r>
            <a:endParaRPr lang="en-US" altLang="zh-CN" dirty="0"/>
          </a:p>
          <a:p>
            <a:pPr marL="914400" lvl="1" indent="-457200">
              <a:lnSpc>
                <a:spcPct val="100000"/>
              </a:lnSpc>
              <a:buFont typeface="+mj-lt"/>
              <a:buAutoNum type="arabicPeriod"/>
            </a:pPr>
            <a:r>
              <a:rPr lang="zh-CN" altLang="en-US" dirty="0"/>
              <a:t>执行预处理。并递归地按</a:t>
            </a:r>
            <a:r>
              <a:rPr lang="en-US" altLang="zh-CN" dirty="0"/>
              <a:t>1-4</a:t>
            </a:r>
            <a:r>
              <a:rPr lang="zh-CN" altLang="en-US" dirty="0"/>
              <a:t>步骤</a:t>
            </a:r>
            <a:r>
              <a:rPr lang="zh-CN" altLang="en-US" b="1" dirty="0"/>
              <a:t>处理 </a:t>
            </a:r>
            <a:r>
              <a:rPr lang="en-US" altLang="zh-CN" b="1" dirty="0"/>
              <a:t>#include </a:t>
            </a:r>
            <a:r>
              <a:rPr lang="zh-CN" altLang="en-US" b="1" dirty="0"/>
              <a:t>文件</a:t>
            </a:r>
            <a:endParaRPr lang="en-US" altLang="zh-CN" b="1" dirty="0"/>
          </a:p>
          <a:p>
            <a:pPr marL="914400" lvl="1" indent="-457200">
              <a:lnSpc>
                <a:spcPct val="100000"/>
              </a:lnSpc>
              <a:buFont typeface="+mj-lt"/>
              <a:buAutoNum type="arabicPeriod"/>
            </a:pPr>
            <a:r>
              <a:rPr lang="zh-CN" altLang="en-US" dirty="0"/>
              <a:t>将字符常量和字符串字面量转为平台执行编码</a:t>
            </a:r>
            <a:endParaRPr lang="en-US" altLang="zh-CN" dirty="0"/>
          </a:p>
          <a:p>
            <a:pPr marL="914400" lvl="1" indent="-457200">
              <a:lnSpc>
                <a:spcPct val="100000"/>
              </a:lnSpc>
              <a:buFont typeface="+mj-lt"/>
              <a:buAutoNum type="arabicPeriod"/>
            </a:pPr>
            <a:r>
              <a:rPr lang="zh-CN" altLang="en-US" dirty="0"/>
              <a:t>链接相邻的字符串</a:t>
            </a:r>
            <a:endParaRPr lang="en-US" altLang="zh-CN" dirty="0"/>
          </a:p>
          <a:p>
            <a:pPr lvl="1">
              <a:lnSpc>
                <a:spcPct val="100000"/>
              </a:lnSpc>
            </a:pPr>
            <a:r>
              <a:rPr lang="zh-CN" altLang="en-US" dirty="0"/>
              <a:t>例如：</a:t>
            </a:r>
            <a:r>
              <a:rPr lang="en-US" altLang="zh-CN" dirty="0" err="1"/>
              <a:t>gcc</a:t>
            </a:r>
            <a:r>
              <a:rPr lang="en-US" altLang="zh-CN" dirty="0"/>
              <a:t> –E </a:t>
            </a:r>
            <a:r>
              <a:rPr lang="en-US" altLang="zh-CN" dirty="0" err="1"/>
              <a:t>hello.c</a:t>
            </a:r>
            <a:endParaRPr lang="en-US" altLang="zh-CN" dirty="0"/>
          </a:p>
          <a:p>
            <a:pPr>
              <a:lnSpc>
                <a:spcPct val="100000"/>
              </a:lnSpc>
            </a:pPr>
            <a:r>
              <a:rPr lang="zh-CN" altLang="en-US" dirty="0">
                <a:solidFill>
                  <a:schemeClr val="tx1"/>
                </a:solidFill>
              </a:rPr>
              <a:t>编译阶段</a:t>
            </a:r>
            <a:endParaRPr lang="en-US" altLang="zh-CN" dirty="0">
              <a:solidFill>
                <a:schemeClr val="tx1"/>
              </a:solidFill>
            </a:endParaRPr>
          </a:p>
          <a:p>
            <a:pPr lvl="1">
              <a:lnSpc>
                <a:spcPct val="100000"/>
              </a:lnSpc>
            </a:pPr>
            <a:r>
              <a:rPr lang="zh-CN" altLang="en-US" dirty="0"/>
              <a:t>按照</a:t>
            </a:r>
            <a:r>
              <a:rPr lang="zh-CN" altLang="en-US" b="1" dirty="0"/>
              <a:t>语法和语义分析</a:t>
            </a:r>
            <a:r>
              <a:rPr lang="zh-CN" altLang="en-US" dirty="0"/>
              <a:t>记号，并将它们翻译成翻译单元。</a:t>
            </a:r>
            <a:endParaRPr lang="en-US" altLang="zh-CN" dirty="0"/>
          </a:p>
          <a:p>
            <a:pPr lvl="1">
              <a:lnSpc>
                <a:spcPct val="100000"/>
              </a:lnSpc>
            </a:pPr>
            <a:r>
              <a:rPr lang="zh-CN" altLang="en-US" dirty="0">
                <a:solidFill>
                  <a:schemeClr val="tx1"/>
                </a:solidFill>
              </a:rPr>
              <a:t>例如</a:t>
            </a:r>
            <a:r>
              <a:rPr lang="zh-CN" altLang="en-US" dirty="0"/>
              <a:t>：</a:t>
            </a:r>
            <a:r>
              <a:rPr lang="en-US" altLang="zh-CN" dirty="0" err="1"/>
              <a:t>gcc</a:t>
            </a:r>
            <a:r>
              <a:rPr lang="en-US" altLang="zh-CN" dirty="0"/>
              <a:t> –c </a:t>
            </a:r>
            <a:r>
              <a:rPr lang="en-US" altLang="zh-CN" dirty="0" err="1"/>
              <a:t>hello.c</a:t>
            </a:r>
            <a:endParaRPr lang="en-US" altLang="zh-CN" dirty="0"/>
          </a:p>
          <a:p>
            <a:pPr>
              <a:lnSpc>
                <a:spcPct val="100000"/>
              </a:lnSpc>
            </a:pPr>
            <a:r>
              <a:rPr lang="zh-CN" altLang="en-US" dirty="0"/>
              <a:t>链接阶段</a:t>
            </a:r>
            <a:endParaRPr lang="en-US" altLang="zh-CN" dirty="0"/>
          </a:p>
          <a:p>
            <a:pPr lvl="1">
              <a:lnSpc>
                <a:spcPct val="100000"/>
              </a:lnSpc>
            </a:pPr>
            <a:r>
              <a:rPr lang="zh-CN" altLang="en-US" dirty="0"/>
              <a:t>将多个翻译单元中</a:t>
            </a:r>
            <a:r>
              <a:rPr lang="zh-CN" altLang="en-US" b="1" dirty="0"/>
              <a:t>未解决的符号</a:t>
            </a:r>
            <a:r>
              <a:rPr lang="zh-CN" altLang="en-US" dirty="0"/>
              <a:t>，给出具体地址，组成成一个可执行文件。</a:t>
            </a:r>
            <a:endParaRPr lang="en-US" altLang="zh-CN" dirty="0"/>
          </a:p>
          <a:p>
            <a:pPr lvl="1">
              <a:lnSpc>
                <a:spcPct val="100000"/>
              </a:lnSpc>
            </a:pPr>
            <a:r>
              <a:rPr lang="zh-CN" altLang="en-US" dirty="0"/>
              <a:t>例如：</a:t>
            </a:r>
            <a:r>
              <a:rPr lang="en-US" altLang="zh-CN" dirty="0" err="1"/>
              <a:t>gcc</a:t>
            </a:r>
            <a:r>
              <a:rPr lang="en-US" altLang="zh-CN" dirty="0"/>
              <a:t> </a:t>
            </a:r>
            <a:r>
              <a:rPr lang="en-US" altLang="zh-CN" dirty="0" err="1"/>
              <a:t>main.c</a:t>
            </a:r>
            <a:r>
              <a:rPr lang="en-US" altLang="zh-CN" dirty="0"/>
              <a:t> </a:t>
            </a:r>
            <a:r>
              <a:rPr lang="en-US" altLang="zh-CN" dirty="0" err="1"/>
              <a:t>hanoi.c</a:t>
            </a:r>
            <a:endParaRPr lang="zh-CN" altLang="en-US" dirty="0"/>
          </a:p>
          <a:p>
            <a:pPr marL="457200" lvl="1" indent="0">
              <a:buNone/>
            </a:pPr>
            <a:endParaRPr lang="zh-CN" altLang="en-US" dirty="0">
              <a:solidFill>
                <a:schemeClr val="tx1"/>
              </a:solidFill>
            </a:endParaRPr>
          </a:p>
        </p:txBody>
      </p:sp>
      <p:sp>
        <p:nvSpPr>
          <p:cNvPr id="2" name="文本框 1">
            <a:extLst>
              <a:ext uri="{FF2B5EF4-FFF2-40B4-BE49-F238E27FC236}">
                <a16:creationId xmlns:a16="http://schemas.microsoft.com/office/drawing/2014/main" id="{A4EB57F4-2155-4CFB-AF36-B2B468035266}"/>
              </a:ext>
            </a:extLst>
          </p:cNvPr>
          <p:cNvSpPr txBox="1"/>
          <p:nvPr/>
        </p:nvSpPr>
        <p:spPr>
          <a:xfrm>
            <a:off x="8280400" y="4238172"/>
            <a:ext cx="2802370" cy="338554"/>
          </a:xfrm>
          <a:prstGeom prst="rect">
            <a:avLst/>
          </a:prstGeom>
          <a:noFill/>
        </p:spPr>
        <p:txBody>
          <a:bodyPr wrap="none" rtlCol="0">
            <a:spAutoFit/>
          </a:bodyPr>
          <a:lstStyle/>
          <a:p>
            <a:r>
              <a:rPr lang="zh-CN" altLang="en-US" sz="1600" dirty="0">
                <a:hlinkClick r:id="rId4"/>
              </a:rPr>
              <a:t>翻译阶段 </a:t>
            </a:r>
            <a:r>
              <a:rPr lang="en-US" altLang="zh-CN" sz="1600" dirty="0">
                <a:hlinkClick r:id="rId4"/>
              </a:rPr>
              <a:t>- cppreference.com</a:t>
            </a:r>
            <a:endParaRPr lang="zh-CN" altLang="en-US" sz="1600" dirty="0"/>
          </a:p>
        </p:txBody>
      </p:sp>
    </p:spTree>
    <p:extLst>
      <p:ext uri="{BB962C8B-B14F-4D97-AF65-F5344CB8AC3E}">
        <p14:creationId xmlns:p14="http://schemas.microsoft.com/office/powerpoint/2010/main" val="293418464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案例：汉诺塔程序的布局与编译（</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all-in-one</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5" name="文本框 4">
            <a:extLst>
              <a:ext uri="{FF2B5EF4-FFF2-40B4-BE49-F238E27FC236}">
                <a16:creationId xmlns:a16="http://schemas.microsoft.com/office/drawing/2014/main" id="{0BC0F4C8-E016-45FC-910F-824FFAEBAFA1}"/>
              </a:ext>
            </a:extLst>
          </p:cNvPr>
          <p:cNvSpPr txBox="1"/>
          <p:nvPr/>
        </p:nvSpPr>
        <p:spPr>
          <a:xfrm>
            <a:off x="522514" y="1438425"/>
            <a:ext cx="5094514" cy="5632311"/>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&lt;</a:t>
            </a:r>
            <a:r>
              <a:rPr lang="en-US" altLang="zh-CN" b="0" dirty="0" err="1">
                <a:solidFill>
                  <a:srgbClr val="A31515"/>
                </a:solidFill>
                <a:effectLst/>
                <a:latin typeface="Consolas" panose="020B0609020204030204" pitchFamily="49" charset="0"/>
              </a:rPr>
              <a:t>stdio.h</a:t>
            </a:r>
            <a:r>
              <a:rPr lang="en-US" altLang="zh-CN" b="0" dirty="0">
                <a:solidFill>
                  <a:srgbClr val="A31515"/>
                </a:solidFill>
                <a:effectLst/>
                <a:latin typeface="Consolas" panose="020B0609020204030204" pitchFamily="49" charset="0"/>
              </a:rPr>
              <a:t>&gt;</a:t>
            </a:r>
            <a:endParaRPr lang="en-US" altLang="zh-CN" b="0" dirty="0">
              <a:solidFill>
                <a:srgbClr val="000000"/>
              </a:solidFill>
              <a:effectLst/>
              <a:latin typeface="Consolas" panose="020B0609020204030204" pitchFamily="49" charset="0"/>
            </a:endParaRPr>
          </a:p>
          <a:p>
            <a:br>
              <a:rPr lang="en-US" altLang="zh-CN" b="0" dirty="0">
                <a:solidFill>
                  <a:srgbClr val="000000"/>
                </a:solidFill>
                <a:effectLst/>
                <a:latin typeface="Consolas" panose="020B0609020204030204" pitchFamily="49" charset="0"/>
              </a:rPr>
            </a:b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声明函数</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其中 </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是柱子编号，用</a:t>
            </a:r>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表示</a:t>
            </a:r>
            <a:endParaRPr lang="zh-CN" altLang="en-US" b="0" dirty="0">
              <a:solidFill>
                <a:srgbClr val="000000"/>
              </a:solidFill>
              <a:effectLst/>
              <a:latin typeface="Consolas" panose="020B0609020204030204" pitchFamily="49" charset="0"/>
            </a:endParaRP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main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scanf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a:t>
            </a:r>
            <a:r>
              <a:rPr lang="en-US" altLang="zh-CN" b="0" dirty="0" err="1">
                <a:solidFill>
                  <a:srgbClr val="A31515"/>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,&amp;</a:t>
            </a:r>
            <a:r>
              <a:rPr lang="en-US" altLang="zh-CN" b="0" dirty="0" err="1">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"move </a:t>
            </a:r>
            <a:r>
              <a:rPr lang="en-US" altLang="zh-CN" b="0" dirty="0">
                <a:solidFill>
                  <a:srgbClr val="001080"/>
                </a:solidFill>
                <a:effectLst/>
                <a:latin typeface="Consolas" panose="020B0609020204030204" pitchFamily="49" charset="0"/>
              </a:rPr>
              <a:t>%d</a:t>
            </a:r>
            <a:r>
              <a:rPr lang="en-US" altLang="zh-CN" b="0" dirty="0">
                <a:solidFill>
                  <a:srgbClr val="A31515"/>
                </a:solidFill>
                <a:effectLst/>
                <a:latin typeface="Consolas" panose="020B0609020204030204" pitchFamily="49" charset="0"/>
              </a:rPr>
              <a:t> from </a:t>
            </a:r>
            <a:r>
              <a:rPr lang="en-US" altLang="zh-CN" b="0" dirty="0">
                <a:solidFill>
                  <a:srgbClr val="001080"/>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 to </a:t>
            </a:r>
            <a:r>
              <a:rPr lang="en-US" altLang="zh-CN" b="0" dirty="0">
                <a:solidFill>
                  <a:srgbClr val="001080"/>
                </a:solidFill>
                <a:effectLst/>
                <a:latin typeface="Consolas" panose="020B0609020204030204" pitchFamily="49" charset="0"/>
              </a:rPr>
              <a:t>%c</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endParaRPr lang="zh-CN" altLang="en-US" dirty="0"/>
          </a:p>
        </p:txBody>
      </p:sp>
      <p:sp>
        <p:nvSpPr>
          <p:cNvPr id="7" name="文本框 6">
            <a:extLst>
              <a:ext uri="{FF2B5EF4-FFF2-40B4-BE49-F238E27FC236}">
                <a16:creationId xmlns:a16="http://schemas.microsoft.com/office/drawing/2014/main" id="{45107D01-8C56-4E24-98B2-C719B6853C37}"/>
              </a:ext>
            </a:extLst>
          </p:cNvPr>
          <p:cNvSpPr txBox="1"/>
          <p:nvPr/>
        </p:nvSpPr>
        <p:spPr>
          <a:xfrm>
            <a:off x="6139542" y="1583845"/>
            <a:ext cx="5094514" cy="2862322"/>
          </a:xfrm>
          <a:prstGeom prst="rect">
            <a:avLst/>
          </a:prstGeom>
          <a:noFill/>
          <a:ln>
            <a:solidFill>
              <a:schemeClr val="bg1">
                <a:lumMod val="75000"/>
              </a:schemeClr>
            </a:solidFill>
          </a:ln>
        </p:spPr>
        <p:txBody>
          <a:bodyPr wrap="square" rtlCol="0">
            <a:spAutoFit/>
          </a:bodyPr>
          <a:lstStyle/>
          <a:p>
            <a:r>
              <a:rPr lang="pt-BR" altLang="zh-CN" b="0" dirty="0">
                <a:solidFill>
                  <a:srgbClr val="0000FF"/>
                </a:solidFill>
                <a:effectLst/>
                <a:latin typeface="Consolas" panose="020B0609020204030204" pitchFamily="49" charset="0"/>
              </a:rPr>
              <a:t>void</a:t>
            </a:r>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if</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return</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a:t>
            </a:r>
          </a:p>
          <a:p>
            <a:endParaRPr lang="zh-CN" altLang="en-US" dirty="0"/>
          </a:p>
        </p:txBody>
      </p:sp>
      <p:sp>
        <p:nvSpPr>
          <p:cNvPr id="2" name="文本框 1">
            <a:extLst>
              <a:ext uri="{FF2B5EF4-FFF2-40B4-BE49-F238E27FC236}">
                <a16:creationId xmlns:a16="http://schemas.microsoft.com/office/drawing/2014/main" id="{660779FC-ADB5-438E-B040-6DB3C73015D5}"/>
              </a:ext>
            </a:extLst>
          </p:cNvPr>
          <p:cNvSpPr txBox="1"/>
          <p:nvPr/>
        </p:nvSpPr>
        <p:spPr>
          <a:xfrm>
            <a:off x="6197600" y="5029200"/>
            <a:ext cx="3571812" cy="369332"/>
          </a:xfrm>
          <a:prstGeom prst="rect">
            <a:avLst/>
          </a:prstGeom>
          <a:noFill/>
        </p:spPr>
        <p:txBody>
          <a:bodyPr wrap="none" rtlCol="0">
            <a:spAutoFit/>
          </a:bodyPr>
          <a:lstStyle/>
          <a:p>
            <a:r>
              <a:rPr lang="zh-CN" altLang="en-US" b="1" dirty="0"/>
              <a:t>编译指令：</a:t>
            </a:r>
            <a:r>
              <a:rPr lang="en-US" altLang="zh-CN" dirty="0" err="1"/>
              <a:t>gcc</a:t>
            </a:r>
            <a:r>
              <a:rPr lang="en-US" altLang="zh-CN" dirty="0"/>
              <a:t> </a:t>
            </a:r>
            <a:r>
              <a:rPr lang="en-US" altLang="zh-CN" dirty="0" err="1"/>
              <a:t>hanoi</a:t>
            </a:r>
            <a:r>
              <a:rPr lang="en-US" altLang="zh-CN" dirty="0"/>
              <a:t>-all-in-</a:t>
            </a:r>
            <a:r>
              <a:rPr lang="en-US" altLang="zh-CN" dirty="0" err="1"/>
              <a:t>one.c</a:t>
            </a:r>
            <a:endParaRPr lang="zh-CN" altLang="en-US" dirty="0"/>
          </a:p>
        </p:txBody>
      </p:sp>
    </p:spTree>
    <p:extLst>
      <p:ext uri="{BB962C8B-B14F-4D97-AF65-F5344CB8AC3E}">
        <p14:creationId xmlns:p14="http://schemas.microsoft.com/office/powerpoint/2010/main" val="259618792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案例：汉诺塔程序的布局与编译（</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embed</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5" name="文本框 4">
            <a:extLst>
              <a:ext uri="{FF2B5EF4-FFF2-40B4-BE49-F238E27FC236}">
                <a16:creationId xmlns:a16="http://schemas.microsoft.com/office/drawing/2014/main" id="{0BC0F4C8-E016-45FC-910F-824FFAEBAFA1}"/>
              </a:ext>
            </a:extLst>
          </p:cNvPr>
          <p:cNvSpPr txBox="1"/>
          <p:nvPr/>
        </p:nvSpPr>
        <p:spPr>
          <a:xfrm>
            <a:off x="522514" y="1528601"/>
            <a:ext cx="5094514" cy="5355312"/>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&lt;</a:t>
            </a:r>
            <a:r>
              <a:rPr lang="en-US" altLang="zh-CN" b="0" dirty="0" err="1">
                <a:solidFill>
                  <a:srgbClr val="A31515"/>
                </a:solidFill>
                <a:effectLst/>
                <a:latin typeface="Consolas" panose="020B0609020204030204" pitchFamily="49" charset="0"/>
              </a:rPr>
              <a:t>stdio.h</a:t>
            </a:r>
            <a:r>
              <a:rPr lang="en-US" altLang="zh-CN" b="0" dirty="0">
                <a:solidFill>
                  <a:srgbClr val="A31515"/>
                </a:solidFill>
                <a:effectLst/>
                <a:latin typeface="Consolas" panose="020B0609020204030204" pitchFamily="49" charset="0"/>
              </a:rPr>
              <a:t>&gt;</a:t>
            </a:r>
            <a:endParaRPr lang="en-US" altLang="zh-CN" b="0" dirty="0">
              <a:solidFill>
                <a:srgbClr val="000000"/>
              </a:solidFill>
              <a:effectLst/>
              <a:latin typeface="Consolas" panose="020B0609020204030204" pitchFamily="49" charset="0"/>
            </a:endParaRPr>
          </a:p>
          <a:p>
            <a:endParaRPr lang="en-US" altLang="zh-CN" b="0" dirty="0">
              <a:solidFill>
                <a:srgbClr val="000000"/>
              </a:solidFill>
              <a:effectLst/>
              <a:latin typeface="Consolas" panose="020B0609020204030204" pitchFamily="49" charset="0"/>
            </a:endParaRPr>
          </a:p>
          <a:p>
            <a:r>
              <a:rPr lang="pt-BR" altLang="zh-CN" b="0" dirty="0">
                <a:solidFill>
                  <a:srgbClr val="0000FF"/>
                </a:solidFill>
                <a:effectLst/>
                <a:latin typeface="Consolas" panose="020B0609020204030204" pitchFamily="49" charset="0"/>
              </a:rPr>
              <a:t>void</a:t>
            </a:r>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hanoi.h</a:t>
            </a:r>
            <a:r>
              <a:rPr lang="en-US" altLang="zh-CN" dirty="0">
                <a:solidFill>
                  <a:srgbClr val="A31515"/>
                </a:solidFill>
                <a:latin typeface="Consolas" panose="020B0609020204030204" pitchFamily="49" charset="0"/>
              </a:rPr>
              <a:t>”</a:t>
            </a:r>
            <a:endParaRPr lang="en-US" altLang="zh-CN" b="0" dirty="0">
              <a:solidFill>
                <a:srgbClr val="000000"/>
              </a:solidFill>
              <a:effectLst/>
              <a:latin typeface="Consolas" panose="020B0609020204030204" pitchFamily="49" charset="0"/>
            </a:endParaRP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main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scanf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a:t>
            </a:r>
            <a:r>
              <a:rPr lang="en-US" altLang="zh-CN" b="0" dirty="0" err="1">
                <a:solidFill>
                  <a:srgbClr val="A31515"/>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,&amp;</a:t>
            </a:r>
            <a:r>
              <a:rPr lang="en-US" altLang="zh-CN" b="0" dirty="0" err="1">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"move </a:t>
            </a:r>
            <a:r>
              <a:rPr lang="en-US" altLang="zh-CN" b="0" dirty="0">
                <a:solidFill>
                  <a:srgbClr val="001080"/>
                </a:solidFill>
                <a:effectLst/>
                <a:latin typeface="Consolas" panose="020B0609020204030204" pitchFamily="49" charset="0"/>
              </a:rPr>
              <a:t>%d</a:t>
            </a:r>
            <a:r>
              <a:rPr lang="en-US" altLang="zh-CN" b="0" dirty="0">
                <a:solidFill>
                  <a:srgbClr val="A31515"/>
                </a:solidFill>
                <a:effectLst/>
                <a:latin typeface="Consolas" panose="020B0609020204030204" pitchFamily="49" charset="0"/>
              </a:rPr>
              <a:t> from </a:t>
            </a:r>
            <a:r>
              <a:rPr lang="en-US" altLang="zh-CN" b="0" dirty="0">
                <a:solidFill>
                  <a:srgbClr val="001080"/>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 to </a:t>
            </a:r>
            <a:r>
              <a:rPr lang="en-US" altLang="zh-CN" b="0" dirty="0">
                <a:solidFill>
                  <a:srgbClr val="001080"/>
                </a:solidFill>
                <a:effectLst/>
                <a:latin typeface="Consolas" panose="020B0609020204030204" pitchFamily="49" charset="0"/>
              </a:rPr>
              <a:t>%c</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endParaRPr lang="zh-CN" altLang="en-US" dirty="0"/>
          </a:p>
        </p:txBody>
      </p:sp>
      <p:sp>
        <p:nvSpPr>
          <p:cNvPr id="7" name="文本框 6">
            <a:extLst>
              <a:ext uri="{FF2B5EF4-FFF2-40B4-BE49-F238E27FC236}">
                <a16:creationId xmlns:a16="http://schemas.microsoft.com/office/drawing/2014/main" id="{45107D01-8C56-4E24-98B2-C719B6853C37}"/>
              </a:ext>
            </a:extLst>
          </p:cNvPr>
          <p:cNvSpPr txBox="1"/>
          <p:nvPr/>
        </p:nvSpPr>
        <p:spPr>
          <a:xfrm>
            <a:off x="6139542" y="1583845"/>
            <a:ext cx="5094514" cy="2862322"/>
          </a:xfrm>
          <a:prstGeom prst="rect">
            <a:avLst/>
          </a:prstGeom>
          <a:noFill/>
          <a:ln>
            <a:solidFill>
              <a:schemeClr val="bg1">
                <a:lumMod val="75000"/>
              </a:schemeClr>
            </a:solidFill>
          </a:ln>
        </p:spPr>
        <p:txBody>
          <a:bodyPr wrap="square" rtlCol="0">
            <a:spAutoFit/>
          </a:bodyPr>
          <a:lstStyle/>
          <a:p>
            <a:r>
              <a:rPr lang="pt-BR" altLang="zh-CN" b="0" dirty="0">
                <a:solidFill>
                  <a:srgbClr val="0000FF"/>
                </a:solidFill>
                <a:effectLst/>
                <a:latin typeface="Consolas" panose="020B0609020204030204" pitchFamily="49" charset="0"/>
              </a:rPr>
              <a:t>void</a:t>
            </a:r>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if</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return</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a:t>
            </a:r>
          </a:p>
          <a:p>
            <a:endParaRPr lang="zh-CN" altLang="en-US" dirty="0"/>
          </a:p>
        </p:txBody>
      </p:sp>
      <p:sp>
        <p:nvSpPr>
          <p:cNvPr id="2" name="文本框 1">
            <a:extLst>
              <a:ext uri="{FF2B5EF4-FFF2-40B4-BE49-F238E27FC236}">
                <a16:creationId xmlns:a16="http://schemas.microsoft.com/office/drawing/2014/main" id="{660779FC-ADB5-438E-B040-6DB3C73015D5}"/>
              </a:ext>
            </a:extLst>
          </p:cNvPr>
          <p:cNvSpPr txBox="1"/>
          <p:nvPr/>
        </p:nvSpPr>
        <p:spPr>
          <a:xfrm>
            <a:off x="6030685" y="5881489"/>
            <a:ext cx="3264035" cy="646331"/>
          </a:xfrm>
          <a:prstGeom prst="rect">
            <a:avLst/>
          </a:prstGeom>
          <a:noFill/>
        </p:spPr>
        <p:txBody>
          <a:bodyPr wrap="none" rtlCol="0">
            <a:spAutoFit/>
          </a:bodyPr>
          <a:lstStyle/>
          <a:p>
            <a:r>
              <a:rPr lang="zh-CN" altLang="en-US" b="1" dirty="0"/>
              <a:t>编译指令：</a:t>
            </a:r>
            <a:r>
              <a:rPr lang="en-US" altLang="zh-CN" dirty="0" err="1"/>
              <a:t>gcc</a:t>
            </a:r>
            <a:r>
              <a:rPr lang="en-US" altLang="zh-CN" dirty="0"/>
              <a:t> </a:t>
            </a:r>
            <a:r>
              <a:rPr lang="en-US" altLang="zh-CN" dirty="0" err="1"/>
              <a:t>hanoi-embed.c</a:t>
            </a:r>
            <a:endParaRPr lang="en-US" altLang="zh-CN" dirty="0"/>
          </a:p>
          <a:p>
            <a:r>
              <a:rPr lang="en-US" altLang="zh-CN" dirty="0"/>
              <a:t>    </a:t>
            </a:r>
            <a:r>
              <a:rPr lang="zh-CN" altLang="en-US" dirty="0"/>
              <a:t>在线测试中常见的布局形式</a:t>
            </a:r>
          </a:p>
        </p:txBody>
      </p:sp>
      <p:cxnSp>
        <p:nvCxnSpPr>
          <p:cNvPr id="4" name="直接箭头连接符 3">
            <a:extLst>
              <a:ext uri="{FF2B5EF4-FFF2-40B4-BE49-F238E27FC236}">
                <a16:creationId xmlns:a16="http://schemas.microsoft.com/office/drawing/2014/main" id="{4C8DB14C-145A-49F2-A5BC-13C02781DF3B}"/>
              </a:ext>
            </a:extLst>
          </p:cNvPr>
          <p:cNvCxnSpPr>
            <a:cxnSpLocks/>
          </p:cNvCxnSpPr>
          <p:nvPr/>
        </p:nvCxnSpPr>
        <p:spPr>
          <a:xfrm flipH="1" flipV="1">
            <a:off x="5094514" y="5103208"/>
            <a:ext cx="132080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C6A0E3E-92DD-40F9-87D9-2BB6A6F465AA}"/>
              </a:ext>
            </a:extLst>
          </p:cNvPr>
          <p:cNvCxnSpPr>
            <a:cxnSpLocks/>
          </p:cNvCxnSpPr>
          <p:nvPr/>
        </p:nvCxnSpPr>
        <p:spPr>
          <a:xfrm flipV="1">
            <a:off x="8244114" y="4100286"/>
            <a:ext cx="0" cy="6023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27F7C8C-80E8-4452-8365-46CA0DF69CCE}"/>
              </a:ext>
            </a:extLst>
          </p:cNvPr>
          <p:cNvSpPr txBox="1"/>
          <p:nvPr/>
        </p:nvSpPr>
        <p:spPr>
          <a:xfrm>
            <a:off x="6415313" y="4935288"/>
            <a:ext cx="2605316" cy="369332"/>
          </a:xfrm>
          <a:prstGeom prst="rect">
            <a:avLst/>
          </a:prstGeom>
          <a:noFill/>
        </p:spPr>
        <p:txBody>
          <a:bodyPr wrap="square" rtlCol="0">
            <a:spAutoFit/>
          </a:bodyPr>
          <a:lstStyle/>
          <a:p>
            <a:r>
              <a:rPr lang="en-US" altLang="zh-CN" dirty="0" err="1"/>
              <a:t>hanoi-embed.c</a:t>
            </a:r>
            <a:endParaRPr lang="zh-CN" altLang="en-US" dirty="0"/>
          </a:p>
        </p:txBody>
      </p:sp>
      <p:sp>
        <p:nvSpPr>
          <p:cNvPr id="16" name="文本框 15">
            <a:extLst>
              <a:ext uri="{FF2B5EF4-FFF2-40B4-BE49-F238E27FC236}">
                <a16:creationId xmlns:a16="http://schemas.microsoft.com/office/drawing/2014/main" id="{1D271E90-310F-4FA6-B0F3-741E6D4B0337}"/>
              </a:ext>
            </a:extLst>
          </p:cNvPr>
          <p:cNvSpPr txBox="1"/>
          <p:nvPr/>
        </p:nvSpPr>
        <p:spPr>
          <a:xfrm>
            <a:off x="7736114" y="4590021"/>
            <a:ext cx="3748142" cy="369332"/>
          </a:xfrm>
          <a:prstGeom prst="rect">
            <a:avLst/>
          </a:prstGeom>
          <a:noFill/>
        </p:spPr>
        <p:txBody>
          <a:bodyPr wrap="none" rtlCol="0">
            <a:spAutoFit/>
          </a:bodyPr>
          <a:lstStyle/>
          <a:p>
            <a:r>
              <a:rPr lang="en-US" altLang="zh-CN" dirty="0" err="1"/>
              <a:t>hanoi.h</a:t>
            </a:r>
            <a:r>
              <a:rPr lang="en-US" altLang="zh-CN" dirty="0"/>
              <a:t> </a:t>
            </a:r>
            <a:r>
              <a:rPr lang="zh-CN" altLang="en-US" b="1" dirty="0"/>
              <a:t>注意，该文件不能独立编译</a:t>
            </a:r>
          </a:p>
        </p:txBody>
      </p:sp>
    </p:spTree>
    <p:extLst>
      <p:ext uri="{BB962C8B-B14F-4D97-AF65-F5344CB8AC3E}">
        <p14:creationId xmlns:p14="http://schemas.microsoft.com/office/powerpoint/2010/main" val="119455070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案例：汉诺塔程序的布局与编译（</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normal</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5" name="文本框 4">
            <a:extLst>
              <a:ext uri="{FF2B5EF4-FFF2-40B4-BE49-F238E27FC236}">
                <a16:creationId xmlns:a16="http://schemas.microsoft.com/office/drawing/2014/main" id="{0BC0F4C8-E016-45FC-910F-824FFAEBAFA1}"/>
              </a:ext>
            </a:extLst>
          </p:cNvPr>
          <p:cNvSpPr txBox="1"/>
          <p:nvPr/>
        </p:nvSpPr>
        <p:spPr>
          <a:xfrm>
            <a:off x="522514" y="1528601"/>
            <a:ext cx="5094514" cy="4524315"/>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&lt;</a:t>
            </a:r>
            <a:r>
              <a:rPr lang="en-US" altLang="zh-CN" b="0" dirty="0" err="1">
                <a:solidFill>
                  <a:srgbClr val="A31515"/>
                </a:solidFill>
                <a:effectLst/>
                <a:latin typeface="Consolas" panose="020B0609020204030204" pitchFamily="49" charset="0"/>
              </a:rPr>
              <a:t>stdio.h</a:t>
            </a:r>
            <a:r>
              <a:rPr lang="en-US" altLang="zh-CN" b="0" dirty="0">
                <a:solidFill>
                  <a:srgbClr val="A31515"/>
                </a:solidFill>
                <a:effectLst/>
                <a:latin typeface="Consolas" panose="020B0609020204030204" pitchFamily="49" charset="0"/>
              </a:rPr>
              <a:t>&gt;</a:t>
            </a:r>
            <a:endParaRPr lang="en-US" altLang="zh-CN" b="0" dirty="0">
              <a:solidFill>
                <a:srgbClr val="000000"/>
              </a:solidFill>
              <a:effectLst/>
              <a:latin typeface="Consolas" panose="020B0609020204030204" pitchFamily="49" charset="0"/>
            </a:endParaRPr>
          </a:p>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hanoi.h</a:t>
            </a:r>
            <a:r>
              <a:rPr lang="en-US" altLang="zh-CN" dirty="0">
                <a:solidFill>
                  <a:srgbClr val="A31515"/>
                </a:solidFill>
                <a:latin typeface="Consolas" panose="020B0609020204030204" pitchFamily="49" charset="0"/>
              </a:rPr>
              <a:t>”</a:t>
            </a:r>
            <a:endParaRPr lang="en-US" altLang="zh-CN" b="0" dirty="0">
              <a:solidFill>
                <a:srgbClr val="000000"/>
              </a:solidFill>
              <a:effectLst/>
              <a:latin typeface="Consolas" panose="020B0609020204030204" pitchFamily="49" charset="0"/>
            </a:endParaRP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main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scanf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a:t>
            </a:r>
            <a:r>
              <a:rPr lang="en-US" altLang="zh-CN" b="0" dirty="0" err="1">
                <a:solidFill>
                  <a:srgbClr val="A31515"/>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,&amp;</a:t>
            </a:r>
            <a:r>
              <a:rPr lang="en-US" altLang="zh-CN" b="0" dirty="0" err="1">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"move </a:t>
            </a:r>
            <a:r>
              <a:rPr lang="en-US" altLang="zh-CN" b="0" dirty="0">
                <a:solidFill>
                  <a:srgbClr val="001080"/>
                </a:solidFill>
                <a:effectLst/>
                <a:latin typeface="Consolas" panose="020B0609020204030204" pitchFamily="49" charset="0"/>
              </a:rPr>
              <a:t>%d</a:t>
            </a:r>
            <a:r>
              <a:rPr lang="en-US" altLang="zh-CN" b="0" dirty="0">
                <a:solidFill>
                  <a:srgbClr val="A31515"/>
                </a:solidFill>
                <a:effectLst/>
                <a:latin typeface="Consolas" panose="020B0609020204030204" pitchFamily="49" charset="0"/>
              </a:rPr>
              <a:t> from </a:t>
            </a:r>
            <a:r>
              <a:rPr lang="en-US" altLang="zh-CN" b="0" dirty="0">
                <a:solidFill>
                  <a:srgbClr val="001080"/>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 to </a:t>
            </a:r>
            <a:r>
              <a:rPr lang="en-US" altLang="zh-CN" b="0" dirty="0">
                <a:solidFill>
                  <a:srgbClr val="001080"/>
                </a:solidFill>
                <a:effectLst/>
                <a:latin typeface="Consolas" panose="020B0609020204030204" pitchFamily="49" charset="0"/>
              </a:rPr>
              <a:t>%c</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endParaRPr lang="zh-CN" altLang="en-US" dirty="0"/>
          </a:p>
        </p:txBody>
      </p:sp>
      <p:sp>
        <p:nvSpPr>
          <p:cNvPr id="7" name="文本框 6">
            <a:extLst>
              <a:ext uri="{FF2B5EF4-FFF2-40B4-BE49-F238E27FC236}">
                <a16:creationId xmlns:a16="http://schemas.microsoft.com/office/drawing/2014/main" id="{45107D01-8C56-4E24-98B2-C719B6853C37}"/>
              </a:ext>
            </a:extLst>
          </p:cNvPr>
          <p:cNvSpPr txBox="1"/>
          <p:nvPr/>
        </p:nvSpPr>
        <p:spPr>
          <a:xfrm>
            <a:off x="5980478" y="2926834"/>
            <a:ext cx="5094514" cy="3139321"/>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hanoi.h</a:t>
            </a:r>
            <a:r>
              <a:rPr lang="en-US" altLang="zh-CN" dirty="0">
                <a:solidFill>
                  <a:srgbClr val="A31515"/>
                </a:solidFill>
                <a:latin typeface="Consolas" panose="020B0609020204030204" pitchFamily="49" charset="0"/>
              </a:rPr>
              <a:t>”</a:t>
            </a:r>
            <a:endParaRPr lang="pt-BR" altLang="zh-CN" b="0" dirty="0">
              <a:solidFill>
                <a:srgbClr val="0000FF"/>
              </a:solidFill>
              <a:effectLst/>
              <a:latin typeface="Consolas" panose="020B0609020204030204" pitchFamily="49" charset="0"/>
            </a:endParaRPr>
          </a:p>
          <a:p>
            <a:endParaRPr lang="pt-BR" altLang="zh-CN" dirty="0">
              <a:solidFill>
                <a:srgbClr val="0000FF"/>
              </a:solidFill>
              <a:latin typeface="Consolas" panose="020B0609020204030204" pitchFamily="49" charset="0"/>
            </a:endParaRPr>
          </a:p>
          <a:p>
            <a:r>
              <a:rPr lang="pt-BR" altLang="zh-CN" b="0" dirty="0">
                <a:solidFill>
                  <a:srgbClr val="0000FF"/>
                </a:solidFill>
                <a:effectLst/>
                <a:latin typeface="Consolas" panose="020B0609020204030204" pitchFamily="49" charset="0"/>
              </a:rPr>
              <a:t>void</a:t>
            </a:r>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if</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return</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a:t>
            </a:r>
          </a:p>
        </p:txBody>
      </p:sp>
      <p:sp>
        <p:nvSpPr>
          <p:cNvPr id="2" name="文本框 1">
            <a:extLst>
              <a:ext uri="{FF2B5EF4-FFF2-40B4-BE49-F238E27FC236}">
                <a16:creationId xmlns:a16="http://schemas.microsoft.com/office/drawing/2014/main" id="{660779FC-ADB5-438E-B040-6DB3C73015D5}"/>
              </a:ext>
            </a:extLst>
          </p:cNvPr>
          <p:cNvSpPr txBox="1"/>
          <p:nvPr/>
        </p:nvSpPr>
        <p:spPr>
          <a:xfrm>
            <a:off x="2949310" y="6263547"/>
            <a:ext cx="2667718" cy="369332"/>
          </a:xfrm>
          <a:prstGeom prst="rect">
            <a:avLst/>
          </a:prstGeom>
          <a:noFill/>
        </p:spPr>
        <p:txBody>
          <a:bodyPr wrap="none" rtlCol="0">
            <a:spAutoFit/>
          </a:bodyPr>
          <a:lstStyle/>
          <a:p>
            <a:r>
              <a:rPr lang="zh-CN" altLang="en-US" b="1" dirty="0"/>
              <a:t>编译指令：</a:t>
            </a:r>
            <a:r>
              <a:rPr lang="en-US" altLang="zh-CN" dirty="0" err="1"/>
              <a:t>gcc</a:t>
            </a:r>
            <a:r>
              <a:rPr lang="en-US" altLang="zh-CN" dirty="0"/>
              <a:t> –c </a:t>
            </a:r>
            <a:r>
              <a:rPr lang="en-US" altLang="zh-CN" dirty="0" err="1"/>
              <a:t>main.c</a:t>
            </a:r>
            <a:endParaRPr lang="zh-CN" altLang="en-US" dirty="0"/>
          </a:p>
        </p:txBody>
      </p:sp>
      <p:cxnSp>
        <p:nvCxnSpPr>
          <p:cNvPr id="4" name="直接箭头连接符 3">
            <a:extLst>
              <a:ext uri="{FF2B5EF4-FFF2-40B4-BE49-F238E27FC236}">
                <a16:creationId xmlns:a16="http://schemas.microsoft.com/office/drawing/2014/main" id="{4C8DB14C-145A-49F2-A5BC-13C02781DF3B}"/>
              </a:ext>
            </a:extLst>
          </p:cNvPr>
          <p:cNvCxnSpPr>
            <a:cxnSpLocks/>
            <a:stCxn id="10" idx="0"/>
          </p:cNvCxnSpPr>
          <p:nvPr/>
        </p:nvCxnSpPr>
        <p:spPr>
          <a:xfrm flipV="1">
            <a:off x="2346295" y="5578063"/>
            <a:ext cx="32861" cy="685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C6A0E3E-92DD-40F9-87D9-2BB6A6F465AA}"/>
              </a:ext>
            </a:extLst>
          </p:cNvPr>
          <p:cNvCxnSpPr>
            <a:cxnSpLocks/>
          </p:cNvCxnSpPr>
          <p:nvPr/>
        </p:nvCxnSpPr>
        <p:spPr>
          <a:xfrm flipV="1">
            <a:off x="8200571" y="5827486"/>
            <a:ext cx="0" cy="436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27F7C8C-80E8-4452-8365-46CA0DF69CCE}"/>
              </a:ext>
            </a:extLst>
          </p:cNvPr>
          <p:cNvSpPr txBox="1"/>
          <p:nvPr/>
        </p:nvSpPr>
        <p:spPr>
          <a:xfrm>
            <a:off x="1932559" y="6263547"/>
            <a:ext cx="827471" cy="369332"/>
          </a:xfrm>
          <a:prstGeom prst="rect">
            <a:avLst/>
          </a:prstGeom>
          <a:noFill/>
        </p:spPr>
        <p:txBody>
          <a:bodyPr wrap="none" rtlCol="0">
            <a:spAutoFit/>
          </a:bodyPr>
          <a:lstStyle/>
          <a:p>
            <a:r>
              <a:rPr lang="en-US" altLang="zh-CN" dirty="0" err="1"/>
              <a:t>main.c</a:t>
            </a:r>
            <a:endParaRPr lang="zh-CN" altLang="en-US" dirty="0"/>
          </a:p>
        </p:txBody>
      </p:sp>
      <p:sp>
        <p:nvSpPr>
          <p:cNvPr id="16" name="文本框 15">
            <a:extLst>
              <a:ext uri="{FF2B5EF4-FFF2-40B4-BE49-F238E27FC236}">
                <a16:creationId xmlns:a16="http://schemas.microsoft.com/office/drawing/2014/main" id="{1D271E90-310F-4FA6-B0F3-741E6D4B0337}"/>
              </a:ext>
            </a:extLst>
          </p:cNvPr>
          <p:cNvSpPr txBox="1"/>
          <p:nvPr/>
        </p:nvSpPr>
        <p:spPr>
          <a:xfrm>
            <a:off x="7112000" y="6263547"/>
            <a:ext cx="955711" cy="369332"/>
          </a:xfrm>
          <a:prstGeom prst="rect">
            <a:avLst/>
          </a:prstGeom>
          <a:noFill/>
        </p:spPr>
        <p:txBody>
          <a:bodyPr wrap="none" rtlCol="0">
            <a:spAutoFit/>
          </a:bodyPr>
          <a:lstStyle/>
          <a:p>
            <a:r>
              <a:rPr lang="en-US" altLang="zh-CN" dirty="0" err="1"/>
              <a:t>hanoi.c</a:t>
            </a:r>
            <a:r>
              <a:rPr lang="en-US" altLang="zh-CN" dirty="0"/>
              <a:t> </a:t>
            </a:r>
            <a:endParaRPr lang="zh-CN" altLang="en-US" b="1" dirty="0"/>
          </a:p>
        </p:txBody>
      </p:sp>
      <p:sp>
        <p:nvSpPr>
          <p:cNvPr id="15" name="文本框 14">
            <a:extLst>
              <a:ext uri="{FF2B5EF4-FFF2-40B4-BE49-F238E27FC236}">
                <a16:creationId xmlns:a16="http://schemas.microsoft.com/office/drawing/2014/main" id="{1F3D1D50-851F-47CE-BC32-BC21014278C5}"/>
              </a:ext>
            </a:extLst>
          </p:cNvPr>
          <p:cNvSpPr txBox="1"/>
          <p:nvPr/>
        </p:nvSpPr>
        <p:spPr>
          <a:xfrm>
            <a:off x="8303923" y="6263547"/>
            <a:ext cx="2733441" cy="369332"/>
          </a:xfrm>
          <a:prstGeom prst="rect">
            <a:avLst/>
          </a:prstGeom>
          <a:noFill/>
        </p:spPr>
        <p:txBody>
          <a:bodyPr wrap="none" rtlCol="0">
            <a:spAutoFit/>
          </a:bodyPr>
          <a:lstStyle/>
          <a:p>
            <a:r>
              <a:rPr lang="zh-CN" altLang="en-US" b="1" dirty="0"/>
              <a:t>编译指令：</a:t>
            </a:r>
            <a:r>
              <a:rPr lang="en-US" altLang="zh-CN" dirty="0" err="1"/>
              <a:t>gcc</a:t>
            </a:r>
            <a:r>
              <a:rPr lang="en-US" altLang="zh-CN" dirty="0"/>
              <a:t> –c </a:t>
            </a:r>
            <a:r>
              <a:rPr lang="en-US" altLang="zh-CN" dirty="0" err="1"/>
              <a:t>hanoi.c</a:t>
            </a:r>
            <a:endParaRPr lang="zh-CN" altLang="en-US" dirty="0"/>
          </a:p>
        </p:txBody>
      </p:sp>
      <p:sp>
        <p:nvSpPr>
          <p:cNvPr id="17" name="文本框 16">
            <a:extLst>
              <a:ext uri="{FF2B5EF4-FFF2-40B4-BE49-F238E27FC236}">
                <a16:creationId xmlns:a16="http://schemas.microsoft.com/office/drawing/2014/main" id="{2649F18B-2117-49A3-AD9B-D58913657D0D}"/>
              </a:ext>
            </a:extLst>
          </p:cNvPr>
          <p:cNvSpPr txBox="1"/>
          <p:nvPr/>
        </p:nvSpPr>
        <p:spPr>
          <a:xfrm>
            <a:off x="5980478" y="1528601"/>
            <a:ext cx="5094514" cy="923330"/>
          </a:xfrm>
          <a:prstGeom prst="rect">
            <a:avLst/>
          </a:prstGeom>
          <a:noFill/>
          <a:ln>
            <a:solidFill>
              <a:schemeClr val="bg1">
                <a:lumMod val="75000"/>
              </a:schemeClr>
            </a:solidFill>
          </a:ln>
        </p:spPr>
        <p:txBody>
          <a:bodyPr wrap="square" rtlCol="0">
            <a:spAutoFit/>
          </a:bodyPr>
          <a:lstStyle/>
          <a:p>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是柱子编号，用</a:t>
            </a:r>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表示</a:t>
            </a:r>
            <a:endParaRPr lang="zh-CN" altLang="en-US" b="0" dirty="0">
              <a:solidFill>
                <a:srgbClr val="000000"/>
              </a:solidFill>
              <a:effectLst/>
              <a:latin typeface="Consolas" panose="020B0609020204030204" pitchFamily="49" charset="0"/>
            </a:endParaRP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p:txBody>
      </p:sp>
      <p:sp>
        <p:nvSpPr>
          <p:cNvPr id="18" name="文本框 17">
            <a:extLst>
              <a:ext uri="{FF2B5EF4-FFF2-40B4-BE49-F238E27FC236}">
                <a16:creationId xmlns:a16="http://schemas.microsoft.com/office/drawing/2014/main" id="{689F90CD-8255-4D70-9AD2-CE6769D5F10E}"/>
              </a:ext>
            </a:extLst>
          </p:cNvPr>
          <p:cNvSpPr txBox="1"/>
          <p:nvPr/>
        </p:nvSpPr>
        <p:spPr>
          <a:xfrm>
            <a:off x="6894286" y="2499920"/>
            <a:ext cx="3411511" cy="369332"/>
          </a:xfrm>
          <a:prstGeom prst="rect">
            <a:avLst/>
          </a:prstGeom>
          <a:noFill/>
        </p:spPr>
        <p:txBody>
          <a:bodyPr wrap="none" rtlCol="0">
            <a:spAutoFit/>
          </a:bodyPr>
          <a:lstStyle/>
          <a:p>
            <a:r>
              <a:rPr lang="en-US" altLang="zh-CN" dirty="0" err="1"/>
              <a:t>hanoi.h</a:t>
            </a:r>
            <a:r>
              <a:rPr lang="en-US" altLang="zh-CN" dirty="0"/>
              <a:t>  </a:t>
            </a:r>
            <a:r>
              <a:rPr lang="zh-CN" altLang="en-US" dirty="0"/>
              <a:t>仅用于包含在源文件中</a:t>
            </a:r>
            <a:r>
              <a:rPr lang="en-US" altLang="zh-CN" dirty="0"/>
              <a:t> </a:t>
            </a:r>
            <a:endParaRPr lang="zh-CN" altLang="en-US" b="1" dirty="0"/>
          </a:p>
        </p:txBody>
      </p:sp>
    </p:spTree>
    <p:extLst>
      <p:ext uri="{BB962C8B-B14F-4D97-AF65-F5344CB8AC3E}">
        <p14:creationId xmlns:p14="http://schemas.microsoft.com/office/powerpoint/2010/main" val="121920861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案例：汉诺塔程序编译与链接（</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normal</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5" name="文本框 4">
            <a:extLst>
              <a:ext uri="{FF2B5EF4-FFF2-40B4-BE49-F238E27FC236}">
                <a16:creationId xmlns:a16="http://schemas.microsoft.com/office/drawing/2014/main" id="{0BC0F4C8-E016-45FC-910F-824FFAEBAFA1}"/>
              </a:ext>
            </a:extLst>
          </p:cNvPr>
          <p:cNvSpPr txBox="1"/>
          <p:nvPr/>
        </p:nvSpPr>
        <p:spPr>
          <a:xfrm>
            <a:off x="522514" y="1528601"/>
            <a:ext cx="5094514" cy="4524315"/>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&lt;</a:t>
            </a:r>
            <a:r>
              <a:rPr lang="en-US" altLang="zh-CN" b="0" dirty="0" err="1">
                <a:solidFill>
                  <a:srgbClr val="A31515"/>
                </a:solidFill>
                <a:effectLst/>
                <a:latin typeface="Consolas" panose="020B0609020204030204" pitchFamily="49" charset="0"/>
              </a:rPr>
              <a:t>stdio.h</a:t>
            </a:r>
            <a:r>
              <a:rPr lang="en-US" altLang="zh-CN" b="0" dirty="0">
                <a:solidFill>
                  <a:srgbClr val="A31515"/>
                </a:solidFill>
                <a:effectLst/>
                <a:latin typeface="Consolas" panose="020B0609020204030204" pitchFamily="49" charset="0"/>
              </a:rPr>
              <a:t>&gt;</a:t>
            </a:r>
            <a:endParaRPr lang="en-US" altLang="zh-CN" b="0" dirty="0">
              <a:solidFill>
                <a:srgbClr val="000000"/>
              </a:solidFill>
              <a:effectLst/>
              <a:latin typeface="Consolas" panose="020B0609020204030204" pitchFamily="49" charset="0"/>
            </a:endParaRPr>
          </a:p>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hanoi.h</a:t>
            </a:r>
            <a:r>
              <a:rPr lang="en-US" altLang="zh-CN" dirty="0">
                <a:solidFill>
                  <a:srgbClr val="A31515"/>
                </a:solidFill>
                <a:latin typeface="Consolas" panose="020B0609020204030204" pitchFamily="49" charset="0"/>
              </a:rPr>
              <a:t>”</a:t>
            </a:r>
            <a:endParaRPr lang="en-US" altLang="zh-CN" b="0" dirty="0">
              <a:solidFill>
                <a:srgbClr val="000000"/>
              </a:solidFill>
              <a:effectLst/>
              <a:latin typeface="Consolas" panose="020B0609020204030204" pitchFamily="49" charset="0"/>
            </a:endParaRP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main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scanf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a:t>
            </a:r>
            <a:r>
              <a:rPr lang="en-US" altLang="zh-CN" b="0" dirty="0" err="1">
                <a:solidFill>
                  <a:srgbClr val="A31515"/>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,&amp;</a:t>
            </a:r>
            <a:r>
              <a:rPr lang="en-US" altLang="zh-CN" b="0" dirty="0" err="1">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"move </a:t>
            </a:r>
            <a:r>
              <a:rPr lang="en-US" altLang="zh-CN" b="0" dirty="0">
                <a:solidFill>
                  <a:srgbClr val="001080"/>
                </a:solidFill>
                <a:effectLst/>
                <a:latin typeface="Consolas" panose="020B0609020204030204" pitchFamily="49" charset="0"/>
              </a:rPr>
              <a:t>%d</a:t>
            </a:r>
            <a:r>
              <a:rPr lang="en-US" altLang="zh-CN" b="0" dirty="0">
                <a:solidFill>
                  <a:srgbClr val="A31515"/>
                </a:solidFill>
                <a:effectLst/>
                <a:latin typeface="Consolas" panose="020B0609020204030204" pitchFamily="49" charset="0"/>
              </a:rPr>
              <a:t> from </a:t>
            </a:r>
            <a:r>
              <a:rPr lang="en-US" altLang="zh-CN" b="0" dirty="0">
                <a:solidFill>
                  <a:srgbClr val="001080"/>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 to </a:t>
            </a:r>
            <a:r>
              <a:rPr lang="en-US" altLang="zh-CN" b="0" dirty="0">
                <a:solidFill>
                  <a:srgbClr val="001080"/>
                </a:solidFill>
                <a:effectLst/>
                <a:latin typeface="Consolas" panose="020B0609020204030204" pitchFamily="49" charset="0"/>
              </a:rPr>
              <a:t>%c</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endParaRPr lang="zh-CN" altLang="en-US" dirty="0"/>
          </a:p>
        </p:txBody>
      </p:sp>
      <p:sp>
        <p:nvSpPr>
          <p:cNvPr id="7" name="文本框 6">
            <a:extLst>
              <a:ext uri="{FF2B5EF4-FFF2-40B4-BE49-F238E27FC236}">
                <a16:creationId xmlns:a16="http://schemas.microsoft.com/office/drawing/2014/main" id="{45107D01-8C56-4E24-98B2-C719B6853C37}"/>
              </a:ext>
            </a:extLst>
          </p:cNvPr>
          <p:cNvSpPr txBox="1"/>
          <p:nvPr/>
        </p:nvSpPr>
        <p:spPr>
          <a:xfrm>
            <a:off x="5980478" y="2926834"/>
            <a:ext cx="5094514" cy="3139321"/>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hanoi.h</a:t>
            </a:r>
            <a:r>
              <a:rPr lang="en-US" altLang="zh-CN" dirty="0">
                <a:solidFill>
                  <a:srgbClr val="A31515"/>
                </a:solidFill>
                <a:latin typeface="Consolas" panose="020B0609020204030204" pitchFamily="49" charset="0"/>
              </a:rPr>
              <a:t>”</a:t>
            </a:r>
            <a:endParaRPr lang="pt-BR" altLang="zh-CN" b="0" dirty="0">
              <a:solidFill>
                <a:srgbClr val="0000FF"/>
              </a:solidFill>
              <a:effectLst/>
              <a:latin typeface="Consolas" panose="020B0609020204030204" pitchFamily="49" charset="0"/>
            </a:endParaRPr>
          </a:p>
          <a:p>
            <a:endParaRPr lang="pt-BR" altLang="zh-CN" dirty="0">
              <a:solidFill>
                <a:srgbClr val="0000FF"/>
              </a:solidFill>
              <a:latin typeface="Consolas" panose="020B0609020204030204" pitchFamily="49" charset="0"/>
            </a:endParaRPr>
          </a:p>
          <a:p>
            <a:r>
              <a:rPr lang="pt-BR" altLang="zh-CN" b="0" dirty="0">
                <a:solidFill>
                  <a:srgbClr val="0000FF"/>
                </a:solidFill>
                <a:effectLst/>
                <a:latin typeface="Consolas" panose="020B0609020204030204" pitchFamily="49" charset="0"/>
              </a:rPr>
              <a:t>void</a:t>
            </a:r>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if</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return</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a:t>
            </a:r>
          </a:p>
        </p:txBody>
      </p:sp>
      <p:sp>
        <p:nvSpPr>
          <p:cNvPr id="2" name="文本框 1">
            <a:extLst>
              <a:ext uri="{FF2B5EF4-FFF2-40B4-BE49-F238E27FC236}">
                <a16:creationId xmlns:a16="http://schemas.microsoft.com/office/drawing/2014/main" id="{660779FC-ADB5-438E-B040-6DB3C73015D5}"/>
              </a:ext>
            </a:extLst>
          </p:cNvPr>
          <p:cNvSpPr txBox="1"/>
          <p:nvPr/>
        </p:nvSpPr>
        <p:spPr>
          <a:xfrm>
            <a:off x="2893472" y="5314252"/>
            <a:ext cx="2905281" cy="1477328"/>
          </a:xfrm>
          <a:prstGeom prst="rect">
            <a:avLst/>
          </a:prstGeom>
          <a:noFill/>
        </p:spPr>
        <p:txBody>
          <a:bodyPr wrap="square" rtlCol="0">
            <a:spAutoFit/>
          </a:bodyPr>
          <a:lstStyle/>
          <a:p>
            <a:r>
              <a:rPr lang="zh-CN" altLang="en-US" b="1" dirty="0"/>
              <a:t>编译指令：</a:t>
            </a:r>
            <a:r>
              <a:rPr lang="en-US" altLang="zh-CN" dirty="0" err="1"/>
              <a:t>gcc</a:t>
            </a:r>
            <a:r>
              <a:rPr lang="en-US" altLang="zh-CN" dirty="0"/>
              <a:t> –c </a:t>
            </a:r>
            <a:r>
              <a:rPr lang="en-US" altLang="zh-CN" dirty="0" err="1"/>
              <a:t>main.c</a:t>
            </a:r>
            <a:endParaRPr lang="en-US" altLang="zh-CN" dirty="0"/>
          </a:p>
          <a:p>
            <a:r>
              <a:rPr lang="zh-CN" altLang="en-US" dirty="0"/>
              <a:t>产生 </a:t>
            </a:r>
            <a:r>
              <a:rPr lang="en-US" altLang="zh-CN" dirty="0" err="1"/>
              <a:t>main.o</a:t>
            </a:r>
            <a:endParaRPr lang="en-US" altLang="zh-CN" dirty="0"/>
          </a:p>
          <a:p>
            <a:r>
              <a:rPr lang="zh-CN" altLang="en-US" dirty="0"/>
              <a:t>其中 </a:t>
            </a:r>
            <a:r>
              <a:rPr lang="en-US" altLang="zh-CN" dirty="0" err="1"/>
              <a:t>scanf,hanoi,printf</a:t>
            </a:r>
            <a:r>
              <a:rPr lang="en-US" altLang="zh-CN" dirty="0"/>
              <a:t> </a:t>
            </a:r>
            <a:r>
              <a:rPr lang="zh-CN" altLang="en-US" dirty="0"/>
              <a:t>有声明，无定义。</a:t>
            </a:r>
            <a:endParaRPr lang="en-US" altLang="zh-CN" dirty="0"/>
          </a:p>
          <a:p>
            <a:r>
              <a:rPr lang="en-US" altLang="zh-CN" dirty="0"/>
              <a:t>move </a:t>
            </a:r>
            <a:r>
              <a:rPr lang="zh-CN" altLang="en-US" dirty="0"/>
              <a:t>有定义且有外部链接</a:t>
            </a:r>
          </a:p>
        </p:txBody>
      </p:sp>
      <p:cxnSp>
        <p:nvCxnSpPr>
          <p:cNvPr id="4" name="直接箭头连接符 3">
            <a:extLst>
              <a:ext uri="{FF2B5EF4-FFF2-40B4-BE49-F238E27FC236}">
                <a16:creationId xmlns:a16="http://schemas.microsoft.com/office/drawing/2014/main" id="{4C8DB14C-145A-49F2-A5BC-13C02781DF3B}"/>
              </a:ext>
            </a:extLst>
          </p:cNvPr>
          <p:cNvCxnSpPr>
            <a:cxnSpLocks/>
            <a:stCxn id="10" idx="0"/>
          </p:cNvCxnSpPr>
          <p:nvPr/>
        </p:nvCxnSpPr>
        <p:spPr>
          <a:xfrm flipV="1">
            <a:off x="2346295" y="5578063"/>
            <a:ext cx="32861" cy="685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C6A0E3E-92DD-40F9-87D9-2BB6A6F465AA}"/>
              </a:ext>
            </a:extLst>
          </p:cNvPr>
          <p:cNvCxnSpPr>
            <a:cxnSpLocks/>
          </p:cNvCxnSpPr>
          <p:nvPr/>
        </p:nvCxnSpPr>
        <p:spPr>
          <a:xfrm flipV="1">
            <a:off x="7589855" y="5878745"/>
            <a:ext cx="0" cy="436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27F7C8C-80E8-4452-8365-46CA0DF69CCE}"/>
              </a:ext>
            </a:extLst>
          </p:cNvPr>
          <p:cNvSpPr txBox="1"/>
          <p:nvPr/>
        </p:nvSpPr>
        <p:spPr>
          <a:xfrm>
            <a:off x="1932559" y="6263547"/>
            <a:ext cx="827471" cy="369332"/>
          </a:xfrm>
          <a:prstGeom prst="rect">
            <a:avLst/>
          </a:prstGeom>
          <a:noFill/>
        </p:spPr>
        <p:txBody>
          <a:bodyPr wrap="none" rtlCol="0">
            <a:spAutoFit/>
          </a:bodyPr>
          <a:lstStyle/>
          <a:p>
            <a:r>
              <a:rPr lang="en-US" altLang="zh-CN" dirty="0" err="1"/>
              <a:t>main.c</a:t>
            </a:r>
            <a:endParaRPr lang="zh-CN" altLang="en-US" dirty="0"/>
          </a:p>
        </p:txBody>
      </p:sp>
      <p:sp>
        <p:nvSpPr>
          <p:cNvPr id="16" name="文本框 15">
            <a:extLst>
              <a:ext uri="{FF2B5EF4-FFF2-40B4-BE49-F238E27FC236}">
                <a16:creationId xmlns:a16="http://schemas.microsoft.com/office/drawing/2014/main" id="{1D271E90-310F-4FA6-B0F3-741E6D4B0337}"/>
              </a:ext>
            </a:extLst>
          </p:cNvPr>
          <p:cNvSpPr txBox="1"/>
          <p:nvPr/>
        </p:nvSpPr>
        <p:spPr>
          <a:xfrm>
            <a:off x="7143406" y="6008975"/>
            <a:ext cx="955711" cy="369332"/>
          </a:xfrm>
          <a:prstGeom prst="rect">
            <a:avLst/>
          </a:prstGeom>
          <a:noFill/>
        </p:spPr>
        <p:txBody>
          <a:bodyPr wrap="none" rtlCol="0">
            <a:spAutoFit/>
          </a:bodyPr>
          <a:lstStyle/>
          <a:p>
            <a:r>
              <a:rPr lang="en-US" altLang="zh-CN" dirty="0" err="1"/>
              <a:t>hanoi.c</a:t>
            </a:r>
            <a:r>
              <a:rPr lang="en-US" altLang="zh-CN" dirty="0"/>
              <a:t> </a:t>
            </a:r>
            <a:endParaRPr lang="zh-CN" altLang="en-US" b="1" dirty="0"/>
          </a:p>
        </p:txBody>
      </p:sp>
      <p:sp>
        <p:nvSpPr>
          <p:cNvPr id="15" name="文本框 14">
            <a:extLst>
              <a:ext uri="{FF2B5EF4-FFF2-40B4-BE49-F238E27FC236}">
                <a16:creationId xmlns:a16="http://schemas.microsoft.com/office/drawing/2014/main" id="{1F3D1D50-851F-47CE-BC32-BC21014278C5}"/>
              </a:ext>
            </a:extLst>
          </p:cNvPr>
          <p:cNvSpPr txBox="1"/>
          <p:nvPr/>
        </p:nvSpPr>
        <p:spPr>
          <a:xfrm>
            <a:off x="9095406" y="5523572"/>
            <a:ext cx="3013967" cy="1200329"/>
          </a:xfrm>
          <a:prstGeom prst="rect">
            <a:avLst/>
          </a:prstGeom>
          <a:noFill/>
        </p:spPr>
        <p:txBody>
          <a:bodyPr wrap="none" rtlCol="0">
            <a:spAutoFit/>
          </a:bodyPr>
          <a:lstStyle/>
          <a:p>
            <a:r>
              <a:rPr lang="zh-CN" altLang="en-US" b="1" dirty="0"/>
              <a:t>编译指令：</a:t>
            </a:r>
            <a:r>
              <a:rPr lang="en-US" altLang="zh-CN" dirty="0" err="1"/>
              <a:t>gcc</a:t>
            </a:r>
            <a:r>
              <a:rPr lang="en-US" altLang="zh-CN" dirty="0"/>
              <a:t> –c </a:t>
            </a:r>
            <a:r>
              <a:rPr lang="en-US" altLang="zh-CN" dirty="0" err="1"/>
              <a:t>hanoi.c</a:t>
            </a:r>
            <a:endParaRPr lang="en-US" altLang="zh-CN" dirty="0"/>
          </a:p>
          <a:p>
            <a:r>
              <a:rPr lang="zh-CN" altLang="en-US" dirty="0"/>
              <a:t>产生 </a:t>
            </a:r>
            <a:r>
              <a:rPr lang="en-US" altLang="zh-CN" dirty="0" err="1"/>
              <a:t>Hanoi.o</a:t>
            </a:r>
            <a:endParaRPr lang="en-US" altLang="zh-CN" dirty="0"/>
          </a:p>
          <a:p>
            <a:r>
              <a:rPr lang="zh-CN" altLang="en-US" dirty="0"/>
              <a:t>其中 </a:t>
            </a:r>
            <a:r>
              <a:rPr lang="en-US" altLang="zh-CN" dirty="0"/>
              <a:t>move </a:t>
            </a:r>
            <a:r>
              <a:rPr lang="zh-CN" altLang="en-US" dirty="0"/>
              <a:t>有声明，无定义</a:t>
            </a:r>
            <a:endParaRPr lang="en-US" altLang="zh-CN" dirty="0"/>
          </a:p>
          <a:p>
            <a:r>
              <a:rPr lang="en-US" altLang="zh-CN" dirty="0" err="1"/>
              <a:t>hanoi</a:t>
            </a:r>
            <a:r>
              <a:rPr lang="en-US" altLang="zh-CN" dirty="0"/>
              <a:t> </a:t>
            </a:r>
            <a:r>
              <a:rPr lang="zh-CN" altLang="en-US" dirty="0"/>
              <a:t>有定义且有外部链接</a:t>
            </a:r>
          </a:p>
        </p:txBody>
      </p:sp>
      <p:sp>
        <p:nvSpPr>
          <p:cNvPr id="17" name="文本框 16">
            <a:extLst>
              <a:ext uri="{FF2B5EF4-FFF2-40B4-BE49-F238E27FC236}">
                <a16:creationId xmlns:a16="http://schemas.microsoft.com/office/drawing/2014/main" id="{2649F18B-2117-49A3-AD9B-D58913657D0D}"/>
              </a:ext>
            </a:extLst>
          </p:cNvPr>
          <p:cNvSpPr txBox="1"/>
          <p:nvPr/>
        </p:nvSpPr>
        <p:spPr>
          <a:xfrm>
            <a:off x="5980478" y="1528601"/>
            <a:ext cx="5094514" cy="923330"/>
          </a:xfrm>
          <a:prstGeom prst="rect">
            <a:avLst/>
          </a:prstGeom>
          <a:noFill/>
          <a:ln>
            <a:solidFill>
              <a:schemeClr val="bg1">
                <a:lumMod val="75000"/>
              </a:schemeClr>
            </a:solidFill>
          </a:ln>
        </p:spPr>
        <p:txBody>
          <a:bodyPr wrap="square" rtlCol="0">
            <a:spAutoFit/>
          </a:bodyPr>
          <a:lstStyle/>
          <a:p>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是柱子编号，用</a:t>
            </a:r>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表示</a:t>
            </a:r>
            <a:endParaRPr lang="zh-CN" altLang="en-US" b="0" dirty="0">
              <a:solidFill>
                <a:srgbClr val="000000"/>
              </a:solidFill>
              <a:effectLst/>
              <a:latin typeface="Consolas" panose="020B0609020204030204" pitchFamily="49" charset="0"/>
            </a:endParaRP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p:txBody>
      </p:sp>
      <p:sp>
        <p:nvSpPr>
          <p:cNvPr id="18" name="文本框 17">
            <a:extLst>
              <a:ext uri="{FF2B5EF4-FFF2-40B4-BE49-F238E27FC236}">
                <a16:creationId xmlns:a16="http://schemas.microsoft.com/office/drawing/2014/main" id="{689F90CD-8255-4D70-9AD2-CE6769D5F10E}"/>
              </a:ext>
            </a:extLst>
          </p:cNvPr>
          <p:cNvSpPr txBox="1"/>
          <p:nvPr/>
        </p:nvSpPr>
        <p:spPr>
          <a:xfrm>
            <a:off x="6894286" y="2499920"/>
            <a:ext cx="3411511" cy="369332"/>
          </a:xfrm>
          <a:prstGeom prst="rect">
            <a:avLst/>
          </a:prstGeom>
          <a:noFill/>
        </p:spPr>
        <p:txBody>
          <a:bodyPr wrap="none" rtlCol="0">
            <a:spAutoFit/>
          </a:bodyPr>
          <a:lstStyle/>
          <a:p>
            <a:r>
              <a:rPr lang="en-US" altLang="zh-CN" dirty="0" err="1"/>
              <a:t>hanoi.h</a:t>
            </a:r>
            <a:r>
              <a:rPr lang="en-US" altLang="zh-CN" dirty="0"/>
              <a:t>  </a:t>
            </a:r>
            <a:r>
              <a:rPr lang="zh-CN" altLang="en-US" dirty="0"/>
              <a:t>仅用于包含在源文件中</a:t>
            </a:r>
            <a:r>
              <a:rPr lang="en-US" altLang="zh-CN" dirty="0"/>
              <a:t> </a:t>
            </a:r>
            <a:endParaRPr lang="zh-CN" altLang="en-US" b="1" dirty="0"/>
          </a:p>
        </p:txBody>
      </p:sp>
      <p:grpSp>
        <p:nvGrpSpPr>
          <p:cNvPr id="11" name="组合 10">
            <a:extLst>
              <a:ext uri="{FF2B5EF4-FFF2-40B4-BE49-F238E27FC236}">
                <a16:creationId xmlns:a16="http://schemas.microsoft.com/office/drawing/2014/main" id="{A6F77A36-B7BF-4E78-8F63-4A413BB615D4}"/>
              </a:ext>
            </a:extLst>
          </p:cNvPr>
          <p:cNvGrpSpPr/>
          <p:nvPr/>
        </p:nvGrpSpPr>
        <p:grpSpPr>
          <a:xfrm>
            <a:off x="4651829" y="6172525"/>
            <a:ext cx="4550228" cy="460354"/>
            <a:chOff x="4651829" y="6172525"/>
            <a:chExt cx="4550228" cy="460354"/>
          </a:xfrm>
        </p:grpSpPr>
        <p:cxnSp>
          <p:nvCxnSpPr>
            <p:cNvPr id="6" name="直接箭头连接符 5">
              <a:extLst>
                <a:ext uri="{FF2B5EF4-FFF2-40B4-BE49-F238E27FC236}">
                  <a16:creationId xmlns:a16="http://schemas.microsoft.com/office/drawing/2014/main" id="{76C08151-1F72-45E8-BF9C-D43D9884A0D0}"/>
                </a:ext>
              </a:extLst>
            </p:cNvPr>
            <p:cNvCxnSpPr/>
            <p:nvPr/>
          </p:nvCxnSpPr>
          <p:spPr>
            <a:xfrm flipH="1">
              <a:off x="5713790" y="6263547"/>
              <a:ext cx="3488267"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86A327F1-87EA-4A37-B628-B168EE41AE22}"/>
                </a:ext>
              </a:extLst>
            </p:cNvPr>
            <p:cNvCxnSpPr>
              <a:cxnSpLocks/>
            </p:cNvCxnSpPr>
            <p:nvPr/>
          </p:nvCxnSpPr>
          <p:spPr>
            <a:xfrm>
              <a:off x="4651829" y="6172525"/>
              <a:ext cx="4395220" cy="395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721022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案例：汉诺塔程序编译与链接过程</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pic>
        <p:nvPicPr>
          <p:cNvPr id="8" name="图片 7">
            <a:extLst>
              <a:ext uri="{FF2B5EF4-FFF2-40B4-BE49-F238E27FC236}">
                <a16:creationId xmlns:a16="http://schemas.microsoft.com/office/drawing/2014/main" id="{AB74F0C9-33E5-F881-8ED3-0F703E3024C0}"/>
              </a:ext>
            </a:extLst>
          </p:cNvPr>
          <p:cNvPicPr>
            <a:picLocks noChangeAspect="1"/>
          </p:cNvPicPr>
          <p:nvPr/>
        </p:nvPicPr>
        <p:blipFill>
          <a:blip r:embed="rId4"/>
          <a:stretch>
            <a:fillRect/>
          </a:stretch>
        </p:blipFill>
        <p:spPr>
          <a:xfrm>
            <a:off x="745364" y="2652781"/>
            <a:ext cx="5643624" cy="2513108"/>
          </a:xfrm>
          <a:prstGeom prst="rect">
            <a:avLst/>
          </a:prstGeom>
        </p:spPr>
      </p:pic>
      <p:sp>
        <p:nvSpPr>
          <p:cNvPr id="9" name="内容占位符 3">
            <a:extLst>
              <a:ext uri="{FF2B5EF4-FFF2-40B4-BE49-F238E27FC236}">
                <a16:creationId xmlns:a16="http://schemas.microsoft.com/office/drawing/2014/main" id="{9D12B811-0D34-13FB-E728-A8720AA91F6E}"/>
              </a:ext>
            </a:extLst>
          </p:cNvPr>
          <p:cNvSpPr>
            <a:spLocks noGrp="1"/>
          </p:cNvSpPr>
          <p:nvPr/>
        </p:nvSpPr>
        <p:spPr>
          <a:xfrm>
            <a:off x="6659578" y="2569610"/>
            <a:ext cx="4787058" cy="32184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r>
              <a:rPr lang="en-US" altLang="zh-CN" dirty="0"/>
              <a:t>rm -f </a:t>
            </a:r>
            <a:r>
              <a:rPr lang="zh-CN" altLang="en-US" dirty="0"/>
              <a:t>强制删除文件</a:t>
            </a:r>
            <a:endParaRPr lang="en-US" altLang="zh-CN" dirty="0"/>
          </a:p>
          <a:p>
            <a:pPr marL="514350" indent="-514350">
              <a:lnSpc>
                <a:spcPct val="120000"/>
              </a:lnSpc>
              <a:buFont typeface="+mj-lt"/>
              <a:buAutoNum type="arabicPeriod"/>
            </a:pPr>
            <a:r>
              <a:rPr lang="en-US" altLang="zh-CN" dirty="0" err="1"/>
              <a:t>gcc</a:t>
            </a:r>
            <a:r>
              <a:rPr lang="en-US" altLang="zh-CN" dirty="0"/>
              <a:t> -c </a:t>
            </a:r>
            <a:r>
              <a:rPr lang="zh-CN" altLang="en-US" dirty="0"/>
              <a:t>编译 </a:t>
            </a:r>
            <a:r>
              <a:rPr lang="en-US" altLang="zh-CN" dirty="0" err="1"/>
              <a:t>main.c</a:t>
            </a:r>
            <a:endParaRPr lang="en-US" altLang="zh-CN" dirty="0"/>
          </a:p>
          <a:p>
            <a:pPr marL="514350" indent="-514350">
              <a:lnSpc>
                <a:spcPct val="120000"/>
              </a:lnSpc>
              <a:buFont typeface="+mj-lt"/>
              <a:buAutoNum type="arabicPeriod"/>
            </a:pPr>
            <a:r>
              <a:rPr lang="en-US" altLang="zh-CN" dirty="0" err="1"/>
              <a:t>gcc</a:t>
            </a:r>
            <a:r>
              <a:rPr lang="en-US" altLang="zh-CN" dirty="0"/>
              <a:t> -c </a:t>
            </a:r>
            <a:r>
              <a:rPr lang="zh-CN" altLang="en-US" dirty="0"/>
              <a:t>编译 </a:t>
            </a:r>
            <a:r>
              <a:rPr lang="en-US" altLang="zh-CN" dirty="0" err="1"/>
              <a:t>hanoi.c</a:t>
            </a:r>
            <a:endParaRPr lang="en-US" altLang="zh-CN" dirty="0"/>
          </a:p>
          <a:p>
            <a:pPr marL="514350" indent="-514350">
              <a:lnSpc>
                <a:spcPct val="120000"/>
              </a:lnSpc>
              <a:buFont typeface="+mj-lt"/>
              <a:buAutoNum type="arabicPeriod"/>
            </a:pPr>
            <a:r>
              <a:rPr lang="en-US" altLang="zh-CN" dirty="0" err="1"/>
              <a:t>gcc</a:t>
            </a:r>
            <a:r>
              <a:rPr lang="en-US" altLang="zh-CN" dirty="0"/>
              <a:t> </a:t>
            </a:r>
            <a:r>
              <a:rPr lang="zh-CN" altLang="en-US" dirty="0"/>
              <a:t>链接 </a:t>
            </a:r>
            <a:r>
              <a:rPr lang="en-US" altLang="zh-CN" dirty="0" err="1"/>
              <a:t>main.o</a:t>
            </a:r>
            <a:r>
              <a:rPr lang="en-US" altLang="zh-CN" dirty="0"/>
              <a:t> </a:t>
            </a:r>
            <a:r>
              <a:rPr lang="zh-CN" altLang="en-US" dirty="0"/>
              <a:t>和 </a:t>
            </a:r>
            <a:r>
              <a:rPr lang="en-US" altLang="zh-CN" dirty="0" err="1"/>
              <a:t>hanoi.o</a:t>
            </a:r>
            <a:r>
              <a:rPr lang="en-US" altLang="zh-CN" dirty="0"/>
              <a:t> </a:t>
            </a:r>
            <a:r>
              <a:rPr lang="zh-CN" altLang="en-US" dirty="0"/>
              <a:t>生成 </a:t>
            </a:r>
            <a:r>
              <a:rPr lang="en-US" altLang="zh-CN" dirty="0"/>
              <a:t>hanoi.exe</a:t>
            </a:r>
          </a:p>
          <a:p>
            <a:pPr marL="514350" indent="-514350">
              <a:lnSpc>
                <a:spcPct val="120000"/>
              </a:lnSpc>
              <a:buFont typeface="+mj-lt"/>
              <a:buAutoNum type="arabicPeriod"/>
            </a:pPr>
            <a:endParaRPr lang="en-US" altLang="zh-CN" dirty="0"/>
          </a:p>
          <a:p>
            <a:pPr marL="457200" lvl="1" indent="0">
              <a:buNone/>
            </a:pPr>
            <a:endParaRPr lang="zh-CN" altLang="en-US" dirty="0">
              <a:solidFill>
                <a:schemeClr val="tx1"/>
              </a:solidFill>
            </a:endParaRPr>
          </a:p>
        </p:txBody>
      </p:sp>
    </p:spTree>
    <p:extLst>
      <p:ext uri="{BB962C8B-B14F-4D97-AF65-F5344CB8AC3E}">
        <p14:creationId xmlns:p14="http://schemas.microsoft.com/office/powerpoint/2010/main" val="29159762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头文件（</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Head File</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435165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dirty="0"/>
              <a:t>头文件是扩展名为 </a:t>
            </a:r>
            <a:r>
              <a:rPr lang="en-US" altLang="zh-CN" dirty="0"/>
              <a:t>.h </a:t>
            </a:r>
            <a:r>
              <a:rPr lang="zh-CN" altLang="en-US" dirty="0"/>
              <a:t>的文件</a:t>
            </a:r>
            <a:endParaRPr lang="en-US" altLang="zh-CN" dirty="0"/>
          </a:p>
          <a:p>
            <a:pPr>
              <a:lnSpc>
                <a:spcPct val="100000"/>
              </a:lnSpc>
            </a:pPr>
            <a:r>
              <a:rPr lang="zh-CN" altLang="en-US" dirty="0"/>
              <a:t>头文件通常包含：</a:t>
            </a:r>
            <a:endParaRPr lang="en-US" altLang="zh-CN" dirty="0"/>
          </a:p>
          <a:p>
            <a:pPr lvl="1">
              <a:lnSpc>
                <a:spcPct val="100000"/>
              </a:lnSpc>
            </a:pPr>
            <a:r>
              <a:rPr lang="zh-CN" altLang="en-US" dirty="0"/>
              <a:t>共享的函数声明</a:t>
            </a:r>
            <a:endParaRPr lang="en-US" altLang="zh-CN" dirty="0"/>
          </a:p>
          <a:p>
            <a:pPr lvl="1">
              <a:lnSpc>
                <a:spcPct val="100000"/>
              </a:lnSpc>
            </a:pPr>
            <a:r>
              <a:rPr lang="zh-CN" altLang="en-US" dirty="0"/>
              <a:t>全局变量声明与初始化</a:t>
            </a:r>
            <a:endParaRPr lang="en-US" altLang="zh-CN" dirty="0"/>
          </a:p>
          <a:p>
            <a:pPr lvl="1">
              <a:lnSpc>
                <a:spcPct val="100000"/>
              </a:lnSpc>
            </a:pPr>
            <a:r>
              <a:rPr lang="zh-CN" altLang="en-US" dirty="0">
                <a:solidFill>
                  <a:srgbClr val="FF0000"/>
                </a:solidFill>
              </a:rPr>
              <a:t>注意：头文件中函数与变量不能用 </a:t>
            </a:r>
            <a:r>
              <a:rPr lang="en-US" altLang="zh-CN" dirty="0">
                <a:solidFill>
                  <a:srgbClr val="FF0000"/>
                </a:solidFill>
              </a:rPr>
              <a:t>static </a:t>
            </a:r>
            <a:r>
              <a:rPr lang="zh-CN" altLang="en-US" dirty="0">
                <a:solidFill>
                  <a:srgbClr val="FF0000"/>
                </a:solidFill>
              </a:rPr>
              <a:t>修饰</a:t>
            </a:r>
            <a:endParaRPr lang="en-US" altLang="zh-CN" dirty="0">
              <a:solidFill>
                <a:srgbClr val="FF0000"/>
              </a:solidFill>
            </a:endParaRPr>
          </a:p>
          <a:p>
            <a:pPr lvl="1">
              <a:lnSpc>
                <a:spcPct val="100000"/>
              </a:lnSpc>
            </a:pPr>
            <a:r>
              <a:rPr lang="zh-CN" altLang="en-US" dirty="0"/>
              <a:t>定义的预处理符号或宏</a:t>
            </a:r>
            <a:endParaRPr lang="en-US" altLang="zh-CN" dirty="0"/>
          </a:p>
          <a:p>
            <a:pPr>
              <a:lnSpc>
                <a:spcPct val="100000"/>
              </a:lnSpc>
            </a:pPr>
            <a:r>
              <a:rPr lang="zh-CN" altLang="en-US" dirty="0"/>
              <a:t>头文件通过 </a:t>
            </a:r>
            <a:r>
              <a:rPr lang="en-US" altLang="zh-CN" dirty="0"/>
              <a:t>#include </a:t>
            </a:r>
            <a:r>
              <a:rPr lang="zh-CN" altLang="en-US" dirty="0"/>
              <a:t>编译预处理指令添加到源代码文件中</a:t>
            </a:r>
            <a:endParaRPr lang="en-US" altLang="zh-CN" dirty="0"/>
          </a:p>
          <a:p>
            <a:pPr lvl="1">
              <a:lnSpc>
                <a:spcPct val="100000"/>
              </a:lnSpc>
            </a:pPr>
            <a:r>
              <a:rPr lang="zh-CN" altLang="en-US" dirty="0">
                <a:solidFill>
                  <a:schemeClr val="tx1"/>
                </a:solidFill>
              </a:rPr>
              <a:t>例如：</a:t>
            </a:r>
            <a:r>
              <a:rPr lang="zh-CN" altLang="en-US" dirty="0"/>
              <a:t>源代码中需要使用内置库的求绝对值这个函数</a:t>
            </a:r>
            <a:endParaRPr lang="en-US" altLang="zh-CN" dirty="0">
              <a:solidFill>
                <a:schemeClr val="tx1"/>
              </a:solidFill>
            </a:endParaRPr>
          </a:p>
          <a:p>
            <a:pPr lvl="1">
              <a:lnSpc>
                <a:spcPct val="100000"/>
              </a:lnSpc>
            </a:pPr>
            <a:r>
              <a:rPr lang="zh-CN" altLang="en-US" dirty="0">
                <a:solidFill>
                  <a:schemeClr val="tx1"/>
                </a:solidFill>
              </a:rPr>
              <a:t>第一种方法</a:t>
            </a:r>
            <a:r>
              <a:rPr lang="zh-CN" altLang="en-US" dirty="0"/>
              <a:t>，使用标准的头文件</a:t>
            </a:r>
            <a:r>
              <a:rPr lang="zh-CN" altLang="en-US" dirty="0">
                <a:solidFill>
                  <a:schemeClr val="tx1"/>
                </a:solidFill>
              </a:rPr>
              <a:t>：</a:t>
            </a:r>
            <a:r>
              <a:rPr lang="en-US" altLang="zh-CN" dirty="0">
                <a:solidFill>
                  <a:schemeClr val="tx1"/>
                </a:solidFill>
              </a:rPr>
              <a:t>#include &lt;</a:t>
            </a:r>
            <a:r>
              <a:rPr lang="en-US" altLang="zh-CN" dirty="0" err="1">
                <a:solidFill>
                  <a:schemeClr val="tx1"/>
                </a:solidFill>
              </a:rPr>
              <a:t>math.h</a:t>
            </a:r>
            <a:r>
              <a:rPr lang="en-US" altLang="zh-CN" dirty="0">
                <a:solidFill>
                  <a:schemeClr val="tx1"/>
                </a:solidFill>
              </a:rPr>
              <a:t>&gt;</a:t>
            </a:r>
          </a:p>
          <a:p>
            <a:pPr lvl="1">
              <a:lnSpc>
                <a:spcPct val="100000"/>
              </a:lnSpc>
            </a:pPr>
            <a:r>
              <a:rPr lang="zh-CN" altLang="en-US" dirty="0">
                <a:solidFill>
                  <a:schemeClr val="tx1"/>
                </a:solidFill>
              </a:rPr>
              <a:t>第二种方法，自己给出声明函数：</a:t>
            </a:r>
            <a:r>
              <a:rPr lang="en-US" altLang="zh-CN" dirty="0">
                <a:solidFill>
                  <a:schemeClr val="tx1"/>
                </a:solidFill>
              </a:rPr>
              <a:t>double fabs (double); </a:t>
            </a:r>
          </a:p>
          <a:p>
            <a:pPr lvl="1">
              <a:lnSpc>
                <a:spcPct val="100000"/>
              </a:lnSpc>
            </a:pPr>
            <a:endParaRPr lang="zh-CN" altLang="en-US" dirty="0">
              <a:solidFill>
                <a:schemeClr val="tx1"/>
              </a:solidFill>
            </a:endParaRPr>
          </a:p>
        </p:txBody>
      </p:sp>
    </p:spTree>
    <p:extLst>
      <p:ext uri="{BB962C8B-B14F-4D97-AF65-F5344CB8AC3E}">
        <p14:creationId xmlns:p14="http://schemas.microsoft.com/office/powerpoint/2010/main" val="257242098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预处理指令</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435165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dirty="0"/>
              <a:t>预处理指令控制预处理器的行为。每个指令占据一行，且拥有下列格式</a:t>
            </a:r>
            <a:endParaRPr lang="en-US" altLang="zh-CN" dirty="0"/>
          </a:p>
          <a:p>
            <a:pPr lvl="1">
              <a:lnSpc>
                <a:spcPct val="120000"/>
              </a:lnSpc>
            </a:pPr>
            <a:r>
              <a:rPr lang="zh-CN" altLang="en-US" dirty="0"/>
              <a:t>必须以 </a:t>
            </a:r>
            <a:r>
              <a:rPr lang="en-US" altLang="zh-CN" dirty="0"/>
              <a:t># </a:t>
            </a:r>
            <a:r>
              <a:rPr lang="zh-CN" altLang="en-US" dirty="0"/>
              <a:t>字符开头</a:t>
            </a:r>
            <a:endParaRPr lang="en-US" altLang="zh-CN" dirty="0"/>
          </a:p>
          <a:p>
            <a:pPr lvl="1">
              <a:lnSpc>
                <a:spcPct val="120000"/>
              </a:lnSpc>
            </a:pPr>
            <a:r>
              <a:rPr lang="zh-CN" altLang="en-US" dirty="0"/>
              <a:t>预处理指令（</a:t>
            </a:r>
            <a:r>
              <a:rPr lang="en-US" altLang="zh-CN" dirty="0"/>
              <a:t>define</a:t>
            </a:r>
            <a:r>
              <a:rPr lang="zh-CN" altLang="en-US" dirty="0"/>
              <a:t>、</a:t>
            </a:r>
            <a:r>
              <a:rPr lang="en-US" altLang="zh-CN" dirty="0" err="1"/>
              <a:t>undef</a:t>
            </a:r>
            <a:r>
              <a:rPr lang="zh-CN" altLang="en-US" dirty="0"/>
              <a:t>、</a:t>
            </a:r>
            <a:r>
              <a:rPr lang="en-US" altLang="zh-CN" dirty="0"/>
              <a:t>include</a:t>
            </a:r>
            <a:r>
              <a:rPr lang="zh-CN" altLang="en-US" dirty="0"/>
              <a:t>、</a:t>
            </a:r>
            <a:r>
              <a:rPr lang="en-US" altLang="zh-CN" dirty="0"/>
              <a:t>if</a:t>
            </a:r>
            <a:r>
              <a:rPr lang="zh-CN" altLang="en-US" dirty="0"/>
              <a:t>、</a:t>
            </a:r>
            <a:r>
              <a:rPr lang="en-US" altLang="zh-CN" dirty="0"/>
              <a:t>ifdef</a:t>
            </a:r>
            <a:r>
              <a:rPr lang="zh-CN" altLang="en-US" dirty="0"/>
              <a:t>、</a:t>
            </a:r>
            <a:r>
              <a:rPr lang="en-US" altLang="zh-CN" dirty="0" err="1"/>
              <a:t>ifndef</a:t>
            </a:r>
            <a:r>
              <a:rPr lang="zh-CN" altLang="en-US" dirty="0"/>
              <a:t>、</a:t>
            </a:r>
            <a:r>
              <a:rPr lang="en-US" altLang="zh-CN" dirty="0"/>
              <a:t>else</a:t>
            </a:r>
            <a:r>
              <a:rPr lang="zh-CN" altLang="en-US" dirty="0"/>
              <a:t>、</a:t>
            </a:r>
            <a:r>
              <a:rPr lang="en-US" altLang="zh-CN" dirty="0" err="1"/>
              <a:t>elif</a:t>
            </a:r>
            <a:r>
              <a:rPr lang="zh-CN" altLang="en-US" dirty="0"/>
              <a:t>、</a:t>
            </a:r>
            <a:r>
              <a:rPr lang="en-US" altLang="zh-CN" dirty="0" err="1"/>
              <a:t>elifdef</a:t>
            </a:r>
            <a:r>
              <a:rPr lang="zh-CN" altLang="en-US" dirty="0"/>
              <a:t>、</a:t>
            </a:r>
            <a:r>
              <a:rPr lang="en-US" altLang="zh-CN" dirty="0"/>
              <a:t>endif</a:t>
            </a:r>
            <a:r>
              <a:rPr lang="zh-CN" altLang="en-US" dirty="0"/>
              <a:t>、</a:t>
            </a:r>
            <a:r>
              <a:rPr lang="en-US" altLang="zh-CN" dirty="0"/>
              <a:t>line</a:t>
            </a:r>
            <a:r>
              <a:rPr lang="zh-CN" altLang="en-US" dirty="0"/>
              <a:t>、</a:t>
            </a:r>
            <a:r>
              <a:rPr lang="en-US" altLang="zh-CN" dirty="0"/>
              <a:t>error</a:t>
            </a:r>
            <a:r>
              <a:rPr lang="zh-CN" altLang="en-US" dirty="0"/>
              <a:t>、</a:t>
            </a:r>
            <a:r>
              <a:rPr lang="en-US" altLang="zh-CN" dirty="0"/>
              <a:t>pragma </a:t>
            </a:r>
            <a:r>
              <a:rPr lang="zh-CN" altLang="en-US" dirty="0"/>
              <a:t>之一</a:t>
            </a:r>
            <a:r>
              <a:rPr lang="zh-CN" altLang="en-US" dirty="0">
                <a:solidFill>
                  <a:schemeClr val="tx1"/>
                </a:solidFill>
              </a:rPr>
              <a:t>）</a:t>
            </a:r>
            <a:endParaRPr lang="en-US" altLang="zh-CN" dirty="0"/>
          </a:p>
          <a:p>
            <a:pPr>
              <a:lnSpc>
                <a:spcPct val="120000"/>
              </a:lnSpc>
            </a:pPr>
            <a:r>
              <a:rPr lang="zh-CN" altLang="en-US" dirty="0"/>
              <a:t>预处理器拥有控制源文件翻译能力</a:t>
            </a:r>
            <a:endParaRPr lang="en-US" altLang="zh-CN" dirty="0"/>
          </a:p>
          <a:p>
            <a:pPr lvl="1">
              <a:lnSpc>
                <a:spcPct val="120000"/>
              </a:lnSpc>
            </a:pPr>
            <a:r>
              <a:rPr lang="zh-CN" altLang="en-US" dirty="0">
                <a:solidFill>
                  <a:schemeClr val="tx1"/>
                </a:solidFill>
              </a:rPr>
              <a:t>有条件编译源文件的某些部分（由 </a:t>
            </a:r>
            <a:r>
              <a:rPr lang="en-US" altLang="zh-CN" dirty="0">
                <a:solidFill>
                  <a:schemeClr val="tx1"/>
                </a:solidFill>
              </a:rPr>
              <a:t>#if</a:t>
            </a:r>
            <a:r>
              <a:rPr lang="zh-CN" altLang="en-US" dirty="0">
                <a:solidFill>
                  <a:schemeClr val="tx1"/>
                </a:solidFill>
              </a:rPr>
              <a:t>、</a:t>
            </a:r>
            <a:r>
              <a:rPr lang="en-US" altLang="zh-CN" dirty="0">
                <a:solidFill>
                  <a:schemeClr val="tx1"/>
                </a:solidFill>
              </a:rPr>
              <a:t>#ifdef</a:t>
            </a:r>
            <a:r>
              <a:rPr lang="zh-CN" altLang="en-US" dirty="0">
                <a:solidFill>
                  <a:schemeClr val="tx1"/>
                </a:solidFill>
              </a:rPr>
              <a:t>、</a:t>
            </a:r>
            <a:r>
              <a:rPr lang="en-US" altLang="zh-CN" dirty="0">
                <a:solidFill>
                  <a:schemeClr val="tx1"/>
                </a:solidFill>
              </a:rPr>
              <a:t>#ifndef</a:t>
            </a:r>
            <a:r>
              <a:rPr lang="zh-CN" altLang="en-US" dirty="0">
                <a:solidFill>
                  <a:schemeClr val="tx1"/>
                </a:solidFill>
              </a:rPr>
              <a:t>、</a:t>
            </a:r>
            <a:r>
              <a:rPr lang="en-US" altLang="zh-CN" dirty="0">
                <a:solidFill>
                  <a:schemeClr val="tx1"/>
                </a:solidFill>
              </a:rPr>
              <a:t>#else</a:t>
            </a:r>
            <a:r>
              <a:rPr lang="zh-CN" altLang="en-US" dirty="0">
                <a:solidFill>
                  <a:schemeClr val="tx1"/>
                </a:solidFill>
              </a:rPr>
              <a:t>、</a:t>
            </a:r>
            <a:r>
              <a:rPr lang="en-US" altLang="zh-CN" dirty="0">
                <a:solidFill>
                  <a:schemeClr val="tx1"/>
                </a:solidFill>
              </a:rPr>
              <a:t>#elif</a:t>
            </a:r>
            <a:r>
              <a:rPr lang="zh-CN" altLang="en-US" dirty="0">
                <a:solidFill>
                  <a:schemeClr val="tx1"/>
                </a:solidFill>
              </a:rPr>
              <a:t>、</a:t>
            </a:r>
            <a:r>
              <a:rPr lang="en-US" altLang="zh-CN" dirty="0" err="1">
                <a:solidFill>
                  <a:schemeClr val="tx1"/>
                </a:solidFill>
              </a:rPr>
              <a:t>elifdef</a:t>
            </a:r>
            <a:r>
              <a:rPr lang="zh-CN" altLang="en-US" dirty="0">
                <a:solidFill>
                  <a:schemeClr val="tx1"/>
                </a:solidFill>
              </a:rPr>
              <a:t>、和 </a:t>
            </a:r>
            <a:r>
              <a:rPr lang="en-US" altLang="zh-CN" dirty="0">
                <a:solidFill>
                  <a:schemeClr val="tx1"/>
                </a:solidFill>
              </a:rPr>
              <a:t>#endif </a:t>
            </a:r>
            <a:r>
              <a:rPr lang="zh-CN" altLang="en-US" dirty="0">
                <a:solidFill>
                  <a:schemeClr val="tx1"/>
                </a:solidFill>
              </a:rPr>
              <a:t>指令控制）。</a:t>
            </a:r>
          </a:p>
          <a:p>
            <a:pPr lvl="1">
              <a:lnSpc>
                <a:spcPct val="120000"/>
              </a:lnSpc>
            </a:pPr>
            <a:r>
              <a:rPr lang="zh-CN" altLang="en-US" dirty="0">
                <a:solidFill>
                  <a:schemeClr val="tx1"/>
                </a:solidFill>
              </a:rPr>
              <a:t>替换文本宏，可以连接或加引标识符（以指令 </a:t>
            </a:r>
            <a:r>
              <a:rPr lang="en-US" altLang="zh-CN" dirty="0">
                <a:solidFill>
                  <a:schemeClr val="tx1"/>
                </a:solidFill>
              </a:rPr>
              <a:t>#define </a:t>
            </a:r>
            <a:r>
              <a:rPr lang="zh-CN" altLang="en-US" dirty="0">
                <a:solidFill>
                  <a:schemeClr val="tx1"/>
                </a:solidFill>
              </a:rPr>
              <a:t>和 </a:t>
            </a:r>
            <a:r>
              <a:rPr lang="en-US" altLang="zh-CN" dirty="0">
                <a:solidFill>
                  <a:schemeClr val="tx1"/>
                </a:solidFill>
              </a:rPr>
              <a:t>#undef </a:t>
            </a:r>
            <a:r>
              <a:rPr lang="zh-CN" altLang="en-US" dirty="0">
                <a:solidFill>
                  <a:schemeClr val="tx1"/>
                </a:solidFill>
              </a:rPr>
              <a:t>，运算符 </a:t>
            </a:r>
            <a:r>
              <a:rPr lang="en-US" altLang="zh-CN" dirty="0">
                <a:solidFill>
                  <a:schemeClr val="tx1"/>
                </a:solidFill>
              </a:rPr>
              <a:t># </a:t>
            </a:r>
            <a:r>
              <a:rPr lang="zh-CN" altLang="en-US" dirty="0">
                <a:solidFill>
                  <a:schemeClr val="tx1"/>
                </a:solidFill>
              </a:rPr>
              <a:t>和 </a:t>
            </a:r>
            <a:r>
              <a:rPr lang="en-US" altLang="zh-CN" dirty="0">
                <a:solidFill>
                  <a:schemeClr val="tx1"/>
                </a:solidFill>
              </a:rPr>
              <a:t>## </a:t>
            </a:r>
            <a:r>
              <a:rPr lang="zh-CN" altLang="en-US" dirty="0">
                <a:solidFill>
                  <a:schemeClr val="tx1"/>
                </a:solidFill>
              </a:rPr>
              <a:t>控制）。</a:t>
            </a:r>
          </a:p>
          <a:p>
            <a:pPr lvl="1">
              <a:lnSpc>
                <a:spcPct val="120000"/>
              </a:lnSpc>
            </a:pPr>
            <a:r>
              <a:rPr lang="zh-CN" altLang="en-US" dirty="0">
                <a:solidFill>
                  <a:schemeClr val="tx1"/>
                </a:solidFill>
              </a:rPr>
              <a:t>包含其他文件（以指令 </a:t>
            </a:r>
            <a:r>
              <a:rPr lang="en-US" altLang="zh-CN" dirty="0">
                <a:solidFill>
                  <a:schemeClr val="tx1"/>
                </a:solidFill>
              </a:rPr>
              <a:t>#include </a:t>
            </a:r>
            <a:r>
              <a:rPr lang="zh-CN" altLang="en-US" dirty="0">
                <a:solidFill>
                  <a:schemeClr val="tx1"/>
                </a:solidFill>
              </a:rPr>
              <a:t>控制）。</a:t>
            </a:r>
          </a:p>
          <a:p>
            <a:pPr lvl="1">
              <a:lnSpc>
                <a:spcPct val="120000"/>
              </a:lnSpc>
            </a:pPr>
            <a:r>
              <a:rPr lang="zh-CN" altLang="en-US" dirty="0">
                <a:solidFill>
                  <a:schemeClr val="tx1"/>
                </a:solidFill>
              </a:rPr>
              <a:t>导致错误（以指令 </a:t>
            </a:r>
            <a:r>
              <a:rPr lang="en-US" altLang="zh-CN" dirty="0">
                <a:solidFill>
                  <a:schemeClr val="tx1"/>
                </a:solidFill>
              </a:rPr>
              <a:t>#error </a:t>
            </a:r>
            <a:r>
              <a:rPr lang="zh-CN" altLang="en-US" dirty="0">
                <a:solidFill>
                  <a:schemeClr val="tx1"/>
                </a:solidFill>
              </a:rPr>
              <a:t>控制）。</a:t>
            </a:r>
          </a:p>
        </p:txBody>
      </p:sp>
    </p:spTree>
    <p:extLst>
      <p:ext uri="{BB962C8B-B14F-4D97-AF65-F5344CB8AC3E}">
        <p14:creationId xmlns:p14="http://schemas.microsoft.com/office/powerpoint/2010/main" val="54504529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替换文本宏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pic>
        <p:nvPicPr>
          <p:cNvPr id="3" name="图片 2">
            <a:extLst>
              <a:ext uri="{FF2B5EF4-FFF2-40B4-BE49-F238E27FC236}">
                <a16:creationId xmlns:a16="http://schemas.microsoft.com/office/drawing/2014/main" id="{7E9C46AD-0C33-4670-8F09-DC88F7B27C05}"/>
              </a:ext>
            </a:extLst>
          </p:cNvPr>
          <p:cNvPicPr>
            <a:picLocks noChangeAspect="1"/>
          </p:cNvPicPr>
          <p:nvPr/>
        </p:nvPicPr>
        <p:blipFill>
          <a:blip r:embed="rId4"/>
          <a:stretch>
            <a:fillRect/>
          </a:stretch>
        </p:blipFill>
        <p:spPr>
          <a:xfrm>
            <a:off x="1084716" y="1815872"/>
            <a:ext cx="10487025" cy="4619625"/>
          </a:xfrm>
          <a:prstGeom prst="rect">
            <a:avLst/>
          </a:prstGeom>
        </p:spPr>
      </p:pic>
    </p:spTree>
    <p:extLst>
      <p:ext uri="{BB962C8B-B14F-4D97-AF65-F5344CB8AC3E}">
        <p14:creationId xmlns:p14="http://schemas.microsoft.com/office/powerpoint/2010/main" val="95448663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只引用一次头文件</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96402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dirty="0"/>
              <a:t>如果一个头文件被引用两次，编译器会处理两次头文件的内容，这可能产生错误。为了防止这种情况，标准的做法是把文件的整个内容放在条件编译语句中，如下：</a:t>
            </a:r>
            <a:endParaRPr lang="en-US" altLang="zh-CN" dirty="0"/>
          </a:p>
        </p:txBody>
      </p:sp>
      <p:pic>
        <p:nvPicPr>
          <p:cNvPr id="3" name="图片 2">
            <a:extLst>
              <a:ext uri="{FF2B5EF4-FFF2-40B4-BE49-F238E27FC236}">
                <a16:creationId xmlns:a16="http://schemas.microsoft.com/office/drawing/2014/main" id="{520110EE-E7C9-43F5-9264-EBCCB6F3DA4B}"/>
              </a:ext>
            </a:extLst>
          </p:cNvPr>
          <p:cNvPicPr>
            <a:picLocks noChangeAspect="1"/>
          </p:cNvPicPr>
          <p:nvPr/>
        </p:nvPicPr>
        <p:blipFill>
          <a:blip r:embed="rId4"/>
          <a:stretch>
            <a:fillRect/>
          </a:stretch>
        </p:blipFill>
        <p:spPr>
          <a:xfrm>
            <a:off x="2825752" y="3087643"/>
            <a:ext cx="5419725" cy="2152650"/>
          </a:xfrm>
          <a:prstGeom prst="rect">
            <a:avLst/>
          </a:prstGeom>
        </p:spPr>
      </p:pic>
    </p:spTree>
    <p:extLst>
      <p:ext uri="{BB962C8B-B14F-4D97-AF65-F5344CB8AC3E}">
        <p14:creationId xmlns:p14="http://schemas.microsoft.com/office/powerpoint/2010/main" val="82966338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18415"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实战案例</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1- Cat</a:t>
            </a: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学论网-www.xuelun.me"/>
          <p:cNvSpPr txBox="1"/>
          <p:nvPr/>
        </p:nvSpPr>
        <p:spPr>
          <a:xfrm>
            <a:off x="1252694" y="1853266"/>
            <a:ext cx="9686611" cy="4487244"/>
          </a:xfrm>
          <a:prstGeom prst="rect">
            <a:avLst/>
          </a:prstGeom>
          <a:noFill/>
          <a:ln>
            <a:noFill/>
          </a:ln>
        </p:spPr>
        <p:txBody>
          <a:bodyPr wrap="square" lIns="90000" tIns="46800" rIns="90000" bIns="46800" rtlCol="0">
            <a:normAutofit/>
          </a:bodyPr>
          <a:lstStyle/>
          <a:p>
            <a:pPr>
              <a:lnSpc>
                <a:spcPct val="150000"/>
              </a:lnSpc>
            </a:pPr>
            <a:endParaRPr lang="zh-CN" altLang="en-US" sz="2400" dirty="0">
              <a:latin typeface="微软雅黑" panose="020B0503020204020204" pitchFamily="34" charset="-122"/>
              <a:ea typeface="微软雅黑" panose="020B0503020204020204" pitchFamily="34" charset="-122"/>
              <a:sym typeface="+mn-ea"/>
            </a:endParaRPr>
          </a:p>
        </p:txBody>
      </p:sp>
      <p:pic>
        <p:nvPicPr>
          <p:cNvPr id="4" name="图片 3">
            <a:extLst>
              <a:ext uri="{FF2B5EF4-FFF2-40B4-BE49-F238E27FC236}">
                <a16:creationId xmlns:a16="http://schemas.microsoft.com/office/drawing/2014/main" id="{F954FB86-9F8E-F560-8193-BFFEE69F7B7E}"/>
              </a:ext>
            </a:extLst>
          </p:cNvPr>
          <p:cNvPicPr>
            <a:picLocks noChangeAspect="1"/>
          </p:cNvPicPr>
          <p:nvPr/>
        </p:nvPicPr>
        <p:blipFill>
          <a:blip r:embed="rId4"/>
          <a:stretch>
            <a:fillRect/>
          </a:stretch>
        </p:blipFill>
        <p:spPr>
          <a:xfrm>
            <a:off x="1119553" y="1583845"/>
            <a:ext cx="9137172" cy="5136325"/>
          </a:xfrm>
          <a:prstGeom prst="rect">
            <a:avLst/>
          </a:prstGeom>
        </p:spPr>
      </p:pic>
    </p:spTree>
    <p:extLst>
      <p:ext uri="{BB962C8B-B14F-4D97-AF65-F5344CB8AC3E}">
        <p14:creationId xmlns:p14="http://schemas.microsoft.com/office/powerpoint/2010/main" val="3410505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18415"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实战案例</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 Cat</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分析</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学论网-www.xuelun.me"/>
          <p:cNvSpPr txBox="1"/>
          <p:nvPr/>
        </p:nvSpPr>
        <p:spPr>
          <a:xfrm>
            <a:off x="498901" y="1689224"/>
            <a:ext cx="5211166" cy="4457044"/>
          </a:xfrm>
          <a:prstGeom prst="rect">
            <a:avLst/>
          </a:prstGeom>
          <a:noFill/>
          <a:ln>
            <a:noFill/>
          </a:ln>
        </p:spPr>
        <p:txBody>
          <a:bodyPr wrap="square" lIns="90000" tIns="46800" rIns="90000" bIns="46800" rtlCol="0">
            <a:normAutofit/>
          </a:bodyPr>
          <a:lstStyle/>
          <a:p>
            <a:pPr>
              <a:lnSpc>
                <a:spcPct val="150000"/>
              </a:lnSpc>
            </a:pPr>
            <a:r>
              <a:rPr lang="zh-CN" altLang="en-US" sz="2400" dirty="0">
                <a:latin typeface="微软雅黑" panose="020B0503020204020204" pitchFamily="34" charset="-122"/>
                <a:ea typeface="微软雅黑" panose="020B0503020204020204" pitchFamily="34" charset="-122"/>
                <a:sym typeface="+mn-ea"/>
              </a:rPr>
              <a:t>分析程序的执行流程，我们可以发现，对猫做的三个动作，都会改变猫的心情和体重，</a:t>
            </a:r>
            <a:r>
              <a:rPr lang="zh-CN" altLang="en-US" sz="2400" dirty="0">
                <a:solidFill>
                  <a:srgbClr val="FF0000"/>
                </a:solidFill>
                <a:latin typeface="微软雅黑" panose="020B0503020204020204" pitchFamily="34" charset="-122"/>
                <a:ea typeface="微软雅黑" panose="020B0503020204020204" pitchFamily="34" charset="-122"/>
                <a:sym typeface="+mn-ea"/>
              </a:rPr>
              <a:t>只是改变的数值不同</a:t>
            </a:r>
            <a:r>
              <a:rPr lang="zh-CN" altLang="en-US" sz="2400" dirty="0">
                <a:latin typeface="微软雅黑" panose="020B0503020204020204" pitchFamily="34" charset="-122"/>
                <a:ea typeface="微软雅黑" panose="020B0503020204020204" pitchFamily="34" charset="-122"/>
                <a:sym typeface="+mn-ea"/>
              </a:rPr>
              <a:t>。而且，改完以后</a:t>
            </a:r>
            <a:r>
              <a:rPr lang="zh-CN" altLang="en-US" sz="2400" dirty="0">
                <a:solidFill>
                  <a:srgbClr val="FF0000"/>
                </a:solidFill>
                <a:latin typeface="微软雅黑" panose="020B0503020204020204" pitchFamily="34" charset="-122"/>
                <a:ea typeface="微软雅黑" panose="020B0503020204020204" pitchFamily="34" charset="-122"/>
                <a:sym typeface="+mn-ea"/>
              </a:rPr>
              <a:t>都同样要</a:t>
            </a:r>
            <a:r>
              <a:rPr lang="zh-CN" altLang="en-US" sz="2400" dirty="0">
                <a:latin typeface="微软雅黑" panose="020B0503020204020204" pitchFamily="34" charset="-122"/>
                <a:ea typeface="微软雅黑" panose="020B0503020204020204" pitchFamily="34" charset="-122"/>
                <a:sym typeface="+mn-ea"/>
              </a:rPr>
              <a:t>依据体重和心情来输出语句。</a:t>
            </a:r>
            <a:endParaRPr lang="en-US" altLang="zh-CN" sz="2400" dirty="0">
              <a:latin typeface="微软雅黑" panose="020B0503020204020204" pitchFamily="34" charset="-122"/>
              <a:ea typeface="微软雅黑" panose="020B0503020204020204" pitchFamily="34" charset="-122"/>
              <a:sym typeface="+mn-ea"/>
            </a:endParaRPr>
          </a:p>
          <a:p>
            <a:pPr>
              <a:lnSpc>
                <a:spcPct val="150000"/>
              </a:lnSpc>
            </a:pPr>
            <a:r>
              <a:rPr lang="zh-CN" altLang="en-US" sz="2400" dirty="0">
                <a:latin typeface="微软雅黑" panose="020B0503020204020204" pitchFamily="34" charset="-122"/>
                <a:ea typeface="微软雅黑" panose="020B0503020204020204" pitchFamily="34" charset="-122"/>
                <a:sym typeface="+mn-ea"/>
              </a:rPr>
              <a:t>这种就是适合使用函数的情况。</a:t>
            </a:r>
          </a:p>
        </p:txBody>
      </p:sp>
      <p:sp>
        <p:nvSpPr>
          <p:cNvPr id="3" name="矩形 2">
            <a:extLst>
              <a:ext uri="{FF2B5EF4-FFF2-40B4-BE49-F238E27FC236}">
                <a16:creationId xmlns:a16="http://schemas.microsoft.com/office/drawing/2014/main" id="{8A74F9C7-2388-9656-69C3-BFE001983BC8}"/>
              </a:ext>
            </a:extLst>
          </p:cNvPr>
          <p:cNvSpPr/>
          <p:nvPr/>
        </p:nvSpPr>
        <p:spPr>
          <a:xfrm>
            <a:off x="7735121" y="2521265"/>
            <a:ext cx="1276213" cy="4736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读入动作</a:t>
            </a:r>
          </a:p>
        </p:txBody>
      </p:sp>
      <p:sp>
        <p:nvSpPr>
          <p:cNvPr id="5" name="矩形 4">
            <a:extLst>
              <a:ext uri="{FF2B5EF4-FFF2-40B4-BE49-F238E27FC236}">
                <a16:creationId xmlns:a16="http://schemas.microsoft.com/office/drawing/2014/main" id="{1615136E-C557-A3FD-0D9B-3AB55ED7A888}"/>
              </a:ext>
            </a:extLst>
          </p:cNvPr>
          <p:cNvSpPr/>
          <p:nvPr/>
        </p:nvSpPr>
        <p:spPr>
          <a:xfrm>
            <a:off x="6096000" y="3521098"/>
            <a:ext cx="1276213" cy="4736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0" i="0" dirty="0">
                <a:solidFill>
                  <a:srgbClr val="24292E"/>
                </a:solidFill>
                <a:effectLst/>
                <a:latin typeface="Helvetica Neue"/>
              </a:rPr>
              <a:t>摸猫猫头</a:t>
            </a:r>
            <a:endParaRPr lang="zh-CN" altLang="en-US" dirty="0">
              <a:solidFill>
                <a:schemeClr val="tx1"/>
              </a:solidFill>
            </a:endParaRPr>
          </a:p>
        </p:txBody>
      </p:sp>
      <p:sp>
        <p:nvSpPr>
          <p:cNvPr id="6" name="矩形 5">
            <a:extLst>
              <a:ext uri="{FF2B5EF4-FFF2-40B4-BE49-F238E27FC236}">
                <a16:creationId xmlns:a16="http://schemas.microsoft.com/office/drawing/2014/main" id="{E59716B1-EC3C-0D77-C93D-6057C3DB0401}"/>
              </a:ext>
            </a:extLst>
          </p:cNvPr>
          <p:cNvSpPr/>
          <p:nvPr/>
        </p:nvSpPr>
        <p:spPr>
          <a:xfrm>
            <a:off x="7735122" y="3521098"/>
            <a:ext cx="1276213" cy="4736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0" i="0" dirty="0">
                <a:solidFill>
                  <a:srgbClr val="24292E"/>
                </a:solidFill>
                <a:effectLst/>
                <a:latin typeface="Helvetica Neue"/>
              </a:rPr>
              <a:t>喂猫粮</a:t>
            </a:r>
            <a:endParaRPr lang="zh-CN" altLang="en-US" dirty="0">
              <a:solidFill>
                <a:schemeClr val="tx1"/>
              </a:solidFill>
            </a:endParaRPr>
          </a:p>
        </p:txBody>
      </p:sp>
      <p:sp>
        <p:nvSpPr>
          <p:cNvPr id="7" name="矩形 6">
            <a:extLst>
              <a:ext uri="{FF2B5EF4-FFF2-40B4-BE49-F238E27FC236}">
                <a16:creationId xmlns:a16="http://schemas.microsoft.com/office/drawing/2014/main" id="{F487D447-D20B-A23C-DF69-01833E1F5A9C}"/>
              </a:ext>
            </a:extLst>
          </p:cNvPr>
          <p:cNvSpPr/>
          <p:nvPr/>
        </p:nvSpPr>
        <p:spPr>
          <a:xfrm>
            <a:off x="9374244" y="3521098"/>
            <a:ext cx="1418216" cy="4736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什么都不做</a:t>
            </a:r>
          </a:p>
        </p:txBody>
      </p:sp>
      <p:sp>
        <p:nvSpPr>
          <p:cNvPr id="8" name="矩形 7">
            <a:extLst>
              <a:ext uri="{FF2B5EF4-FFF2-40B4-BE49-F238E27FC236}">
                <a16:creationId xmlns:a16="http://schemas.microsoft.com/office/drawing/2014/main" id="{358D271C-E524-D091-17DD-523927B3B6AE}"/>
              </a:ext>
            </a:extLst>
          </p:cNvPr>
          <p:cNvSpPr/>
          <p:nvPr/>
        </p:nvSpPr>
        <p:spPr>
          <a:xfrm>
            <a:off x="7735121" y="4658007"/>
            <a:ext cx="1276213" cy="6028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心情改变</a:t>
            </a:r>
            <a:endParaRPr lang="en-US" altLang="zh-CN" dirty="0">
              <a:solidFill>
                <a:schemeClr val="tx1"/>
              </a:solidFill>
            </a:endParaRPr>
          </a:p>
          <a:p>
            <a:pPr algn="ctr"/>
            <a:r>
              <a:rPr lang="zh-CN" altLang="en-US" dirty="0">
                <a:solidFill>
                  <a:schemeClr val="tx1"/>
                </a:solidFill>
              </a:rPr>
              <a:t>体重改变</a:t>
            </a:r>
          </a:p>
        </p:txBody>
      </p:sp>
      <p:cxnSp>
        <p:nvCxnSpPr>
          <p:cNvPr id="10" name="直接箭头连接符 9">
            <a:extLst>
              <a:ext uri="{FF2B5EF4-FFF2-40B4-BE49-F238E27FC236}">
                <a16:creationId xmlns:a16="http://schemas.microsoft.com/office/drawing/2014/main" id="{A8355CD2-0399-9F18-576B-90EEBE56F843}"/>
              </a:ext>
            </a:extLst>
          </p:cNvPr>
          <p:cNvCxnSpPr>
            <a:stCxn id="3" idx="2"/>
            <a:endCxn id="5" idx="0"/>
          </p:cNvCxnSpPr>
          <p:nvPr/>
        </p:nvCxnSpPr>
        <p:spPr>
          <a:xfrm flipH="1">
            <a:off x="6734107" y="2994911"/>
            <a:ext cx="1639121" cy="526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A32323D5-A4FB-3D46-16B0-5C73F22E3F06}"/>
              </a:ext>
            </a:extLst>
          </p:cNvPr>
          <p:cNvCxnSpPr>
            <a:stCxn id="3" idx="2"/>
          </p:cNvCxnSpPr>
          <p:nvPr/>
        </p:nvCxnSpPr>
        <p:spPr>
          <a:xfrm>
            <a:off x="8373228" y="2994911"/>
            <a:ext cx="0" cy="526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54350ACD-1190-3D43-39B9-D171DD6C771F}"/>
              </a:ext>
            </a:extLst>
          </p:cNvPr>
          <p:cNvCxnSpPr>
            <a:cxnSpLocks/>
            <a:endCxn id="7" idx="0"/>
          </p:cNvCxnSpPr>
          <p:nvPr/>
        </p:nvCxnSpPr>
        <p:spPr>
          <a:xfrm>
            <a:off x="8373228" y="2994911"/>
            <a:ext cx="1710124" cy="526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4C672F67-19D5-8019-BBAC-EA0B70C2D04E}"/>
              </a:ext>
            </a:extLst>
          </p:cNvPr>
          <p:cNvCxnSpPr>
            <a:cxnSpLocks/>
            <a:stCxn id="5" idx="2"/>
          </p:cNvCxnSpPr>
          <p:nvPr/>
        </p:nvCxnSpPr>
        <p:spPr>
          <a:xfrm>
            <a:off x="6734107" y="3994744"/>
            <a:ext cx="1639121" cy="663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B053EDED-105E-0F80-EB06-C3FED25CD681}"/>
              </a:ext>
            </a:extLst>
          </p:cNvPr>
          <p:cNvCxnSpPr>
            <a:cxnSpLocks/>
            <a:endCxn id="8" idx="0"/>
          </p:cNvCxnSpPr>
          <p:nvPr/>
        </p:nvCxnSpPr>
        <p:spPr>
          <a:xfrm>
            <a:off x="8373228" y="3994744"/>
            <a:ext cx="0" cy="663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AB86D869-306D-0683-1BC4-A7640D82C228}"/>
              </a:ext>
            </a:extLst>
          </p:cNvPr>
          <p:cNvCxnSpPr>
            <a:cxnSpLocks/>
            <a:stCxn id="7" idx="2"/>
          </p:cNvCxnSpPr>
          <p:nvPr/>
        </p:nvCxnSpPr>
        <p:spPr>
          <a:xfrm flipH="1">
            <a:off x="8373227" y="3994744"/>
            <a:ext cx="1710125" cy="663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32D09446-B021-5490-0EAA-280A9217133C}"/>
              </a:ext>
            </a:extLst>
          </p:cNvPr>
          <p:cNvCxnSpPr>
            <a:cxnSpLocks/>
            <a:stCxn id="8" idx="2"/>
            <a:endCxn id="3" idx="0"/>
          </p:cNvCxnSpPr>
          <p:nvPr/>
        </p:nvCxnSpPr>
        <p:spPr>
          <a:xfrm rot="5400000" flipH="1">
            <a:off x="7003423" y="3891070"/>
            <a:ext cx="2739609" cy="12700"/>
          </a:xfrm>
          <a:prstGeom prst="bentConnector5">
            <a:avLst>
              <a:gd name="adj1" fmla="val -8344"/>
              <a:gd name="adj2" fmla="val -24824480"/>
              <a:gd name="adj3" fmla="val 108344"/>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9280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18415"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实战案例</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 cat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编程</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学论网-www.xuelun.me"/>
          <p:cNvSpPr txBox="1"/>
          <p:nvPr/>
        </p:nvSpPr>
        <p:spPr>
          <a:xfrm>
            <a:off x="498901" y="1689224"/>
            <a:ext cx="5211166" cy="4457044"/>
          </a:xfrm>
          <a:prstGeom prst="rect">
            <a:avLst/>
          </a:prstGeom>
          <a:noFill/>
          <a:ln>
            <a:noFill/>
          </a:ln>
        </p:spPr>
        <p:txBody>
          <a:bodyPr wrap="square" lIns="90000" tIns="46800" rIns="90000" bIns="46800" rtlCol="0">
            <a:normAutofit/>
          </a:bodyPr>
          <a:lstStyle/>
          <a:p>
            <a:pPr>
              <a:lnSpc>
                <a:spcPct val="150000"/>
              </a:lnSpc>
            </a:pPr>
            <a:endParaRPr lang="zh-CN" altLang="en-US" sz="2400" dirty="0">
              <a:latin typeface="微软雅黑" panose="020B0503020204020204" pitchFamily="34" charset="-122"/>
              <a:ea typeface="微软雅黑" panose="020B0503020204020204" pitchFamily="34" charset="-122"/>
              <a:sym typeface="+mn-ea"/>
            </a:endParaRPr>
          </a:p>
        </p:txBody>
      </p:sp>
      <p:pic>
        <p:nvPicPr>
          <p:cNvPr id="34" name="图片 33">
            <a:extLst>
              <a:ext uri="{FF2B5EF4-FFF2-40B4-BE49-F238E27FC236}">
                <a16:creationId xmlns:a16="http://schemas.microsoft.com/office/drawing/2014/main" id="{C833D903-3F38-379A-15C8-AA89C7619E22}"/>
              </a:ext>
            </a:extLst>
          </p:cNvPr>
          <p:cNvPicPr>
            <a:picLocks noChangeAspect="1"/>
          </p:cNvPicPr>
          <p:nvPr/>
        </p:nvPicPr>
        <p:blipFill>
          <a:blip r:embed="rId4"/>
          <a:stretch>
            <a:fillRect/>
          </a:stretch>
        </p:blipFill>
        <p:spPr>
          <a:xfrm>
            <a:off x="926831" y="1962525"/>
            <a:ext cx="4983912" cy="4183743"/>
          </a:xfrm>
          <a:prstGeom prst="rect">
            <a:avLst/>
          </a:prstGeom>
        </p:spPr>
      </p:pic>
      <p:pic>
        <p:nvPicPr>
          <p:cNvPr id="9" name="图片 8">
            <a:extLst>
              <a:ext uri="{FF2B5EF4-FFF2-40B4-BE49-F238E27FC236}">
                <a16:creationId xmlns:a16="http://schemas.microsoft.com/office/drawing/2014/main" id="{D1F3B6C3-1C5E-EAD1-BC5D-8C9AE9851476}"/>
              </a:ext>
            </a:extLst>
          </p:cNvPr>
          <p:cNvPicPr>
            <a:picLocks noChangeAspect="1"/>
          </p:cNvPicPr>
          <p:nvPr/>
        </p:nvPicPr>
        <p:blipFill>
          <a:blip r:embed="rId5"/>
          <a:stretch>
            <a:fillRect/>
          </a:stretch>
        </p:blipFill>
        <p:spPr>
          <a:xfrm>
            <a:off x="6338673" y="1432090"/>
            <a:ext cx="5486875" cy="5425910"/>
          </a:xfrm>
          <a:prstGeom prst="rect">
            <a:avLst/>
          </a:prstGeom>
        </p:spPr>
      </p:pic>
    </p:spTree>
    <p:extLst>
      <p:ext uri="{BB962C8B-B14F-4D97-AF65-F5344CB8AC3E}">
        <p14:creationId xmlns:p14="http://schemas.microsoft.com/office/powerpoint/2010/main" val="2707460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21604" b="46967"/>
          <a:stretch>
            <a:fillRect/>
          </a:stretch>
        </p:blipFill>
        <p:spPr>
          <a:xfrm>
            <a:off x="0" y="2176476"/>
            <a:ext cx="12209296" cy="2877923"/>
          </a:xfrm>
          <a:prstGeom prst="rect">
            <a:avLst/>
          </a:prstGeom>
        </p:spPr>
      </p:pic>
      <p:sp>
        <p:nvSpPr>
          <p:cNvPr id="8" name="矩形 7"/>
          <p:cNvSpPr/>
          <p:nvPr/>
        </p:nvSpPr>
        <p:spPr>
          <a:xfrm>
            <a:off x="0" y="2176477"/>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5161452" y="2867904"/>
            <a:ext cx="1886392" cy="1015663"/>
          </a:xfrm>
          <a:prstGeom prst="rect">
            <a:avLst/>
          </a:prstGeom>
          <a:noFill/>
        </p:spPr>
        <p:txBody>
          <a:bodyPr wrap="square" rtlCol="0" anchor="ctr" anchorCtr="0">
            <a:spAutoFit/>
          </a:bodyPr>
          <a:lstStyle/>
          <a:p>
            <a:pPr algn="dist"/>
            <a:r>
              <a:rPr lang="zh-CN" altLang="en-US" sz="6000" b="1" dirty="0">
                <a:solidFill>
                  <a:schemeClr val="bg1">
                    <a:lumMod val="95000"/>
                  </a:schemeClr>
                </a:solidFill>
                <a:latin typeface="微软雅黑" panose="020B0503020204020204" pitchFamily="34" charset="-122"/>
                <a:ea typeface="微软雅黑" panose="020B0503020204020204" pitchFamily="34" charset="-122"/>
              </a:rPr>
              <a:t>谢谢</a:t>
            </a:r>
          </a:p>
        </p:txBody>
      </p:sp>
      <p:sp>
        <p:nvSpPr>
          <p:cNvPr id="16" name="TextBox 10"/>
          <p:cNvSpPr txBox="1"/>
          <p:nvPr/>
        </p:nvSpPr>
        <p:spPr>
          <a:xfrm>
            <a:off x="2565806" y="3990096"/>
            <a:ext cx="70603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微软雅黑" panose="020B0503020204020204" pitchFamily="34" charset="-122"/>
                <a:ea typeface="微软雅黑" panose="020B0503020204020204" pitchFamily="34" charset="-122"/>
              </a:rPr>
              <a:t>中山大学计算机学院</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a:fillRect/>
          </a:stretch>
        </p:blipFill>
        <p:spPr>
          <a:xfrm>
            <a:off x="4339400" y="923192"/>
            <a:ext cx="3433000" cy="1072662"/>
          </a:xfrm>
          <a:prstGeom prst="rect">
            <a:avLst/>
          </a:prstGeom>
        </p:spPr>
      </p:pic>
      <p:sp>
        <p:nvSpPr>
          <p:cNvPr id="17" name="TextBox 6"/>
          <p:cNvSpPr txBox="1"/>
          <p:nvPr/>
        </p:nvSpPr>
        <p:spPr>
          <a:xfrm>
            <a:off x="5270368" y="5644929"/>
            <a:ext cx="1979981"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a:solidFill>
                  <a:srgbClr val="014723"/>
                </a:solidFill>
                <a:latin typeface="微软雅黑" panose="020B0503020204020204" pitchFamily="34" charset="-122"/>
                <a:ea typeface="微软雅黑" panose="020B0503020204020204" pitchFamily="34" charset="-122"/>
              </a:rPr>
              <a:t>编制人</a:t>
            </a:r>
            <a:r>
              <a:rPr lang="zh-CN" altLang="en-US" dirty="0">
                <a:solidFill>
                  <a:srgbClr val="014723"/>
                </a:solidFill>
                <a:latin typeface="微软雅黑" panose="020B0503020204020204" pitchFamily="34" charset="-122"/>
                <a:ea typeface="微软雅黑" panose="020B0503020204020204" pitchFamily="34" charset="-122"/>
              </a:rPr>
              <a:t>：课题组</a:t>
            </a:r>
            <a:endParaRPr lang="en-US" altLang="zh-CN" dirty="0">
              <a:solidFill>
                <a:srgbClr val="014723"/>
              </a:solidFill>
              <a:latin typeface="微软雅黑" panose="020B0503020204020204" pitchFamily="34" charset="-122"/>
              <a:ea typeface="微软雅黑" panose="020B0503020204020204" pitchFamily="34" charset="-122"/>
            </a:endParaRPr>
          </a:p>
        </p:txBody>
      </p:sp>
      <p:sp>
        <p:nvSpPr>
          <p:cNvPr id="18" name="Freeform 7"/>
          <p:cNvSpPr>
            <a:spLocks noChangeAspect="1" noEditPoints="1"/>
          </p:cNvSpPr>
          <p:nvPr/>
        </p:nvSpPr>
        <p:spPr bwMode="auto">
          <a:xfrm>
            <a:off x="4549092" y="5611849"/>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14723"/>
          </a:solidFill>
          <a:ln>
            <a:noFill/>
          </a:ln>
        </p:spPr>
        <p:txBody>
          <a:bodyPr vert="horz" wrap="square" lIns="91416" tIns="45708" rIns="91416" bIns="45708" numCol="1" anchor="t" anchorCtr="0" compatLnSpc="1"/>
          <a:lstStyle/>
          <a:p>
            <a:endParaRPr lang="zh-CN" altLang="en-US">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455F51"/>
      </a:dk2>
      <a:lt2>
        <a:srgbClr val="E3DED1"/>
      </a:lt2>
      <a:accent1>
        <a:srgbClr val="004723"/>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7574</TotalTime>
  <Words>3123</Words>
  <Application>Microsoft Office PowerPoint</Application>
  <PresentationFormat>宽屏</PresentationFormat>
  <Paragraphs>393</Paragraphs>
  <Slides>28</Slides>
  <Notes>28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28</vt:i4>
      </vt:variant>
    </vt:vector>
  </HeadingPairs>
  <TitlesOfParts>
    <vt:vector size="38" baseType="lpstr">
      <vt:lpstr>FandolSong</vt:lpstr>
      <vt:lpstr>Helvetica Neue</vt:lpstr>
      <vt:lpstr>Impact MT Std</vt:lpstr>
      <vt:lpstr>等线</vt:lpstr>
      <vt:lpstr>等线 Light</vt:lpstr>
      <vt:lpstr>微软雅黑</vt:lpstr>
      <vt:lpstr>Arial</vt:lpstr>
      <vt:lpstr>Cambria Math</vt:lpstr>
      <vt:lpstr>Consolas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答辩-19</dc:title>
  <dc:creator>LP</dc:creator>
  <cp:lastModifiedBy>ml pan</cp:lastModifiedBy>
  <cp:revision>332</cp:revision>
  <dcterms:created xsi:type="dcterms:W3CDTF">2016-11-24T09:20:00Z</dcterms:created>
  <dcterms:modified xsi:type="dcterms:W3CDTF">2023-10-24T03:15:13Z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7E38F6AF0AEB4547AE4ACB4243E3DBEC</vt:lpwstr>
  </property>
</Properties>
</file>