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10.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1"/>
  </p:notesMasterIdLst>
  <p:sldIdLst>
    <p:sldId id="257" r:id="rId2"/>
    <p:sldId id="258" r:id="rId3"/>
    <p:sldId id="420" r:id="rId4"/>
    <p:sldId id="421" r:id="rId5"/>
    <p:sldId id="313" r:id="rId6"/>
    <p:sldId id="423" r:id="rId7"/>
    <p:sldId id="426" r:id="rId8"/>
    <p:sldId id="424" r:id="rId9"/>
    <p:sldId id="425" r:id="rId10"/>
    <p:sldId id="670" r:id="rId11"/>
    <p:sldId id="671" r:id="rId12"/>
    <p:sldId id="348" r:id="rId13"/>
    <p:sldId id="349" r:id="rId14"/>
    <p:sldId id="428" r:id="rId15"/>
    <p:sldId id="350" r:id="rId16"/>
    <p:sldId id="663" r:id="rId17"/>
    <p:sldId id="665" r:id="rId18"/>
    <p:sldId id="664" r:id="rId19"/>
    <p:sldId id="668" r:id="rId20"/>
    <p:sldId id="669" r:id="rId21"/>
    <p:sldId id="450" r:id="rId22"/>
    <p:sldId id="451" r:id="rId23"/>
    <p:sldId id="452" r:id="rId24"/>
    <p:sldId id="453" r:id="rId25"/>
    <p:sldId id="454" r:id="rId26"/>
    <p:sldId id="455" r:id="rId27"/>
    <p:sldId id="456" r:id="rId28"/>
    <p:sldId id="457" r:id="rId29"/>
    <p:sldId id="458" r:id="rId30"/>
    <p:sldId id="459" r:id="rId31"/>
    <p:sldId id="460" r:id="rId32"/>
    <p:sldId id="352" r:id="rId33"/>
    <p:sldId id="353" r:id="rId34"/>
    <p:sldId id="341" r:id="rId35"/>
    <p:sldId id="427" r:id="rId36"/>
    <p:sldId id="355" r:id="rId37"/>
    <p:sldId id="358" r:id="rId38"/>
    <p:sldId id="429" r:id="rId39"/>
    <p:sldId id="287" r:id="rId40"/>
    <p:sldId id="362" r:id="rId41"/>
    <p:sldId id="363" r:id="rId42"/>
    <p:sldId id="364" r:id="rId43"/>
    <p:sldId id="674" r:id="rId44"/>
    <p:sldId id="673" r:id="rId45"/>
    <p:sldId id="672" r:id="rId46"/>
    <p:sldId id="403" r:id="rId47"/>
    <p:sldId id="414" r:id="rId48"/>
    <p:sldId id="415" r:id="rId49"/>
    <p:sldId id="354" r:id="rId5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2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4723"/>
    <a:srgbClr val="92D050"/>
    <a:srgbClr val="FF5D5D"/>
    <a:srgbClr val="C00000"/>
    <a:srgbClr val="CC3300"/>
    <a:srgbClr val="3A6695"/>
    <a:srgbClr val="9CC5FD"/>
    <a:srgbClr val="134263"/>
    <a:srgbClr val="1E2B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51" autoAdjust="0"/>
    <p:restoredTop sz="90109" autoAdjust="0"/>
  </p:normalViewPr>
  <p:slideViewPr>
    <p:cSldViewPr snapToGrid="0">
      <p:cViewPr>
        <p:scale>
          <a:sx n="75" d="100"/>
          <a:sy n="75" d="100"/>
        </p:scale>
        <p:origin x="972" y="151"/>
      </p:cViewPr>
      <p:guideLst>
        <p:guide orient="horz" pos="2160"/>
        <p:guide pos="3828"/>
      </p:guideLst>
    </p:cSldViewPr>
  </p:slideViewPr>
  <p:outlineViewPr>
    <p:cViewPr>
      <p:scale>
        <a:sx n="33" d="100"/>
        <a:sy n="33" d="100"/>
      </p:scale>
      <p:origin x="0" y="0"/>
    </p:cViewPr>
  </p:outlineViewPr>
  <p:notesTextViewPr>
    <p:cViewPr>
      <p:scale>
        <a:sx n="1" d="1"/>
        <a:sy n="1" d="1"/>
      </p:scale>
      <p:origin x="0" y="0"/>
    </p:cViewPr>
  </p:notesTextViewPr>
  <p:sorterViewPr>
    <p:cViewPr>
      <p:scale>
        <a:sx n="25" d="100"/>
        <a:sy n="25"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CE4261-0CDD-45A3-84C2-311859DE5B03}" type="datetimeFigureOut">
              <a:rPr lang="zh-CN" altLang="en-US" smtClean="0"/>
              <a:t>2023/11/13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F711DA-82CB-44C8-99EC-9CE596A896F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a:solidFill>
                  <a:srgbClr val="C00000"/>
                </a:solidFill>
                <a:latin typeface="微软雅黑" panose="020B0503020204020204" pitchFamily="34" charset="-122"/>
                <a:ea typeface="微软雅黑" panose="020B0503020204020204" pitchFamily="34" charset="-122"/>
              </a:rPr>
              <a:t>公众号壹课</a:t>
            </a:r>
            <a:endParaRPr lang="zh-CN" altLang="en-US"/>
          </a:p>
          <a:p>
            <a:endParaRPr lang="en-US" altLang="zh-CN"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3</a:t>
            </a:fld>
            <a:endParaRPr lang="zh-CN" altLang="en-US"/>
          </a:p>
        </p:txBody>
      </p:sp>
    </p:spTree>
    <p:extLst>
      <p:ext uri="{BB962C8B-B14F-4D97-AF65-F5344CB8AC3E}">
        <p14:creationId xmlns:p14="http://schemas.microsoft.com/office/powerpoint/2010/main" val="19563165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4</a:t>
            </a:fld>
            <a:endParaRPr lang="zh-CN" altLang="en-US"/>
          </a:p>
        </p:txBody>
      </p:sp>
    </p:spTree>
    <p:extLst>
      <p:ext uri="{BB962C8B-B14F-4D97-AF65-F5344CB8AC3E}">
        <p14:creationId xmlns:p14="http://schemas.microsoft.com/office/powerpoint/2010/main" val="21006551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6</a:t>
            </a:fld>
            <a:endParaRPr lang="zh-CN" altLang="en-US"/>
          </a:p>
        </p:txBody>
      </p:sp>
    </p:spTree>
    <p:extLst>
      <p:ext uri="{BB962C8B-B14F-4D97-AF65-F5344CB8AC3E}">
        <p14:creationId xmlns:p14="http://schemas.microsoft.com/office/powerpoint/2010/main" val="24216660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7</a:t>
            </a:fld>
            <a:endParaRPr lang="zh-CN" altLang="en-US"/>
          </a:p>
        </p:txBody>
      </p:sp>
    </p:spTree>
    <p:extLst>
      <p:ext uri="{BB962C8B-B14F-4D97-AF65-F5344CB8AC3E}">
        <p14:creationId xmlns:p14="http://schemas.microsoft.com/office/powerpoint/2010/main" val="34375964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8</a:t>
            </a:fld>
            <a:endParaRPr lang="zh-CN" altLang="en-US"/>
          </a:p>
        </p:txBody>
      </p:sp>
    </p:spTree>
    <p:extLst>
      <p:ext uri="{BB962C8B-B14F-4D97-AF65-F5344CB8AC3E}">
        <p14:creationId xmlns:p14="http://schemas.microsoft.com/office/powerpoint/2010/main" val="10836728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9</a:t>
            </a:fld>
            <a:endParaRPr lang="zh-CN" altLang="en-US"/>
          </a:p>
        </p:txBody>
      </p:sp>
    </p:spTree>
    <p:extLst>
      <p:ext uri="{BB962C8B-B14F-4D97-AF65-F5344CB8AC3E}">
        <p14:creationId xmlns:p14="http://schemas.microsoft.com/office/powerpoint/2010/main" val="12049461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EF711DA-82CB-44C8-99EC-9CE596A896FB}" type="slidenum">
              <a:rPr lang="zh-CN" altLang="en-US" smtClean="0"/>
              <a:t>10</a:t>
            </a:fld>
            <a:endParaRPr lang="zh-CN" altLang="en-US"/>
          </a:p>
        </p:txBody>
      </p:sp>
    </p:spTree>
    <p:extLst>
      <p:ext uri="{BB962C8B-B14F-4D97-AF65-F5344CB8AC3E}">
        <p14:creationId xmlns:p14="http://schemas.microsoft.com/office/powerpoint/2010/main" val="1594572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EF711DA-82CB-44C8-99EC-9CE596A896FB}" type="slidenum">
              <a:rPr lang="zh-CN" altLang="en-US" smtClean="0"/>
              <a:t>11</a:t>
            </a:fld>
            <a:endParaRPr lang="zh-CN" altLang="en-US"/>
          </a:p>
        </p:txBody>
      </p:sp>
    </p:spTree>
    <p:extLst>
      <p:ext uri="{BB962C8B-B14F-4D97-AF65-F5344CB8AC3E}">
        <p14:creationId xmlns:p14="http://schemas.microsoft.com/office/powerpoint/2010/main" val="4529940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12</a:t>
            </a:fld>
            <a:endParaRPr lang="zh-CN" altLang="en-US"/>
          </a:p>
        </p:txBody>
      </p:sp>
    </p:spTree>
    <p:extLst>
      <p:ext uri="{BB962C8B-B14F-4D97-AF65-F5344CB8AC3E}">
        <p14:creationId xmlns:p14="http://schemas.microsoft.com/office/powerpoint/2010/main" val="34426254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13</a:t>
            </a:fld>
            <a:endParaRPr lang="zh-CN" altLang="en-US"/>
          </a:p>
        </p:txBody>
      </p:sp>
    </p:spTree>
    <p:extLst>
      <p:ext uri="{BB962C8B-B14F-4D97-AF65-F5344CB8AC3E}">
        <p14:creationId xmlns:p14="http://schemas.microsoft.com/office/powerpoint/2010/main" val="9438525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14</a:t>
            </a:fld>
            <a:endParaRPr lang="zh-CN" altLang="en-US"/>
          </a:p>
        </p:txBody>
      </p:sp>
    </p:spTree>
    <p:extLst>
      <p:ext uri="{BB962C8B-B14F-4D97-AF65-F5344CB8AC3E}">
        <p14:creationId xmlns:p14="http://schemas.microsoft.com/office/powerpoint/2010/main" val="13378967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15</a:t>
            </a:fld>
            <a:endParaRPr lang="zh-CN" altLang="en-US"/>
          </a:p>
        </p:txBody>
      </p:sp>
    </p:spTree>
    <p:extLst>
      <p:ext uri="{BB962C8B-B14F-4D97-AF65-F5344CB8AC3E}">
        <p14:creationId xmlns:p14="http://schemas.microsoft.com/office/powerpoint/2010/main" val="25075305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pt-BR" altLang="zh-CN" b="0" dirty="0">
                <a:solidFill>
                  <a:srgbClr val="795E26"/>
                </a:solidFill>
                <a:effectLst/>
                <a:latin typeface="Consolas" panose="020B0609020204030204" pitchFamily="49" charset="0"/>
              </a:rPr>
              <a:t>hanoi</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4</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,’B’,’C’)</a:t>
            </a:r>
            <a:endParaRPr lang="zh-CN" altLang="en-US" dirty="0"/>
          </a:p>
        </p:txBody>
      </p:sp>
      <p:sp>
        <p:nvSpPr>
          <p:cNvPr id="4" name="灯片编号占位符 3"/>
          <p:cNvSpPr>
            <a:spLocks noGrp="1"/>
          </p:cNvSpPr>
          <p:nvPr>
            <p:ph type="sldNum" sz="quarter" idx="5"/>
          </p:nvPr>
        </p:nvSpPr>
        <p:spPr/>
        <p:txBody>
          <a:bodyPr/>
          <a:lstStyle/>
          <a:p>
            <a:fld id="{5EF711DA-82CB-44C8-99EC-9CE596A896FB}" type="slidenum">
              <a:rPr lang="zh-CN" altLang="en-US" smtClean="0"/>
              <a:t>18</a:t>
            </a:fld>
            <a:endParaRPr lang="zh-CN" altLang="en-US"/>
          </a:p>
        </p:txBody>
      </p:sp>
    </p:spTree>
    <p:extLst>
      <p:ext uri="{BB962C8B-B14F-4D97-AF65-F5344CB8AC3E}">
        <p14:creationId xmlns:p14="http://schemas.microsoft.com/office/powerpoint/2010/main" val="14163861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32</a:t>
            </a:fld>
            <a:endParaRPr lang="zh-CN" altLang="en-US"/>
          </a:p>
        </p:txBody>
      </p:sp>
    </p:spTree>
    <p:extLst>
      <p:ext uri="{BB962C8B-B14F-4D97-AF65-F5344CB8AC3E}">
        <p14:creationId xmlns:p14="http://schemas.microsoft.com/office/powerpoint/2010/main" val="11475160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33</a:t>
            </a:fld>
            <a:endParaRPr lang="zh-CN" altLang="en-US"/>
          </a:p>
        </p:txBody>
      </p:sp>
    </p:spTree>
    <p:extLst>
      <p:ext uri="{BB962C8B-B14F-4D97-AF65-F5344CB8AC3E}">
        <p14:creationId xmlns:p14="http://schemas.microsoft.com/office/powerpoint/2010/main" val="15344661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34</a:t>
            </a:fld>
            <a:endParaRPr lang="zh-CN" altLang="en-US"/>
          </a:p>
        </p:txBody>
      </p:sp>
    </p:spTree>
    <p:extLst>
      <p:ext uri="{BB962C8B-B14F-4D97-AF65-F5344CB8AC3E}">
        <p14:creationId xmlns:p14="http://schemas.microsoft.com/office/powerpoint/2010/main" val="2293618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35</a:t>
            </a:fld>
            <a:endParaRPr lang="zh-CN" altLang="en-US"/>
          </a:p>
        </p:txBody>
      </p:sp>
    </p:spTree>
    <p:extLst>
      <p:ext uri="{BB962C8B-B14F-4D97-AF65-F5344CB8AC3E}">
        <p14:creationId xmlns:p14="http://schemas.microsoft.com/office/powerpoint/2010/main" val="30722956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36</a:t>
            </a:fld>
            <a:endParaRPr lang="zh-CN" altLang="en-US"/>
          </a:p>
        </p:txBody>
      </p:sp>
    </p:spTree>
    <p:extLst>
      <p:ext uri="{BB962C8B-B14F-4D97-AF65-F5344CB8AC3E}">
        <p14:creationId xmlns:p14="http://schemas.microsoft.com/office/powerpoint/2010/main" val="19153419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37</a:t>
            </a:fld>
            <a:endParaRPr lang="zh-CN" altLang="en-US"/>
          </a:p>
        </p:txBody>
      </p:sp>
    </p:spTree>
    <p:extLst>
      <p:ext uri="{BB962C8B-B14F-4D97-AF65-F5344CB8AC3E}">
        <p14:creationId xmlns:p14="http://schemas.microsoft.com/office/powerpoint/2010/main" val="10675626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38</a:t>
            </a:fld>
            <a:endParaRPr lang="zh-CN" altLang="en-US"/>
          </a:p>
        </p:txBody>
      </p:sp>
    </p:spTree>
    <p:extLst>
      <p:ext uri="{BB962C8B-B14F-4D97-AF65-F5344CB8AC3E}">
        <p14:creationId xmlns:p14="http://schemas.microsoft.com/office/powerpoint/2010/main" val="3664966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39</a:t>
            </a:fld>
            <a:endParaRPr lang="zh-CN" altLang="en-US"/>
          </a:p>
        </p:txBody>
      </p:sp>
    </p:spTree>
    <p:extLst>
      <p:ext uri="{BB962C8B-B14F-4D97-AF65-F5344CB8AC3E}">
        <p14:creationId xmlns:p14="http://schemas.microsoft.com/office/powerpoint/2010/main" val="18278832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40</a:t>
            </a:fld>
            <a:endParaRPr lang="zh-CN" altLang="en-US"/>
          </a:p>
        </p:txBody>
      </p:sp>
    </p:spTree>
    <p:extLst>
      <p:ext uri="{BB962C8B-B14F-4D97-AF65-F5344CB8AC3E}">
        <p14:creationId xmlns:p14="http://schemas.microsoft.com/office/powerpoint/2010/main" val="38703646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41</a:t>
            </a:fld>
            <a:endParaRPr lang="zh-CN" altLang="en-US"/>
          </a:p>
        </p:txBody>
      </p:sp>
    </p:spTree>
    <p:extLst>
      <p:ext uri="{BB962C8B-B14F-4D97-AF65-F5344CB8AC3E}">
        <p14:creationId xmlns:p14="http://schemas.microsoft.com/office/powerpoint/2010/main" val="20123095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42</a:t>
            </a:fld>
            <a:endParaRPr lang="zh-CN" altLang="en-US"/>
          </a:p>
        </p:txBody>
      </p:sp>
    </p:spTree>
    <p:extLst>
      <p:ext uri="{BB962C8B-B14F-4D97-AF65-F5344CB8AC3E}">
        <p14:creationId xmlns:p14="http://schemas.microsoft.com/office/powerpoint/2010/main" val="23614809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46</a:t>
            </a:fld>
            <a:endParaRPr lang="zh-CN" altLang="en-US"/>
          </a:p>
        </p:txBody>
      </p:sp>
    </p:spTree>
    <p:extLst>
      <p:ext uri="{BB962C8B-B14F-4D97-AF65-F5344CB8AC3E}">
        <p14:creationId xmlns:p14="http://schemas.microsoft.com/office/powerpoint/2010/main" val="40345004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47</a:t>
            </a:fld>
            <a:endParaRPr lang="zh-CN" altLang="en-US"/>
          </a:p>
        </p:txBody>
      </p:sp>
    </p:spTree>
    <p:extLst>
      <p:ext uri="{BB962C8B-B14F-4D97-AF65-F5344CB8AC3E}">
        <p14:creationId xmlns:p14="http://schemas.microsoft.com/office/powerpoint/2010/main" val="23630879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48</a:t>
            </a:fld>
            <a:endParaRPr lang="zh-CN" altLang="en-US"/>
          </a:p>
        </p:txBody>
      </p:sp>
    </p:spTree>
    <p:extLst>
      <p:ext uri="{BB962C8B-B14F-4D97-AF65-F5344CB8AC3E}">
        <p14:creationId xmlns:p14="http://schemas.microsoft.com/office/powerpoint/2010/main" val="1917901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a:solidFill>
                  <a:srgbClr val="C00000"/>
                </a:solidFill>
                <a:latin typeface="微软雅黑" panose="020B0503020204020204" pitchFamily="34" charset="-122"/>
                <a:ea typeface="微软雅黑" panose="020B0503020204020204" pitchFamily="34" charset="-122"/>
              </a:rPr>
              <a:t>公众号壹课</a:t>
            </a:r>
            <a:endParaRPr lang="zh-CN" altLang="en-US"/>
          </a:p>
          <a:p>
            <a:endParaRPr lang="en-US" altLang="zh-CN"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49</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694536CA-A6C4-4358-AF93-5CCBD70D248C}" type="datetimeFigureOut">
              <a:rPr lang="zh-CN" altLang="en-US" smtClean="0"/>
              <a:t>2023/11/13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4536CA-A6C4-4358-AF93-5CCBD70D248C}" type="datetimeFigureOut">
              <a:rPr lang="zh-CN" altLang="en-US" smtClean="0"/>
              <a:t>2023/11/13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694536CA-A6C4-4358-AF93-5CCBD70D248C}" type="datetimeFigureOut">
              <a:rPr lang="zh-CN" altLang="en-US" smtClean="0"/>
              <a:t>2023/11/13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694536CA-A6C4-4358-AF93-5CCBD70D248C}" type="datetimeFigureOut">
              <a:rPr lang="zh-CN" altLang="en-US" smtClean="0"/>
              <a:t>2023/11/13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94536CA-A6C4-4358-AF93-5CCBD70D248C}" type="datetimeFigureOut">
              <a:rPr lang="zh-CN" altLang="en-US" smtClean="0"/>
              <a:t>2023/11/13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94536CA-A6C4-4358-AF93-5CCBD70D248C}" type="datetimeFigureOut">
              <a:rPr lang="zh-CN" altLang="en-US" smtClean="0"/>
              <a:t>2023/11/13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94536CA-A6C4-4358-AF93-5CCBD70D248C}" type="datetimeFigureOut">
              <a:rPr lang="zh-CN" altLang="en-US" smtClean="0"/>
              <a:t>2023/11/13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694536CA-A6C4-4358-AF93-5CCBD70D248C}" type="datetimeFigureOut">
              <a:rPr lang="zh-CN" altLang="en-US" smtClean="0"/>
              <a:t>2023/11/13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694536CA-A6C4-4358-AF93-5CCBD70D248C}" type="datetimeFigureOut">
              <a:rPr lang="zh-CN" altLang="en-US" smtClean="0"/>
              <a:t>2023/11/13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4536CA-A6C4-4358-AF93-5CCBD70D248C}" type="datetimeFigureOut">
              <a:rPr lang="zh-CN" altLang="en-US" smtClean="0"/>
              <a:t>2023/11/13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4536CA-A6C4-4358-AF93-5CCBD70D248C}" type="datetimeFigureOut">
              <a:rPr lang="zh-CN" altLang="en-US" smtClean="0"/>
              <a:t>2023/11/13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4536CA-A6C4-4358-AF93-5CCBD70D248C}" type="datetimeFigureOut">
              <a:rPr lang="zh-CN" altLang="en-US" smtClean="0"/>
              <a:t>2023/11/13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537B7A-7510-410A-AA53-45D600DA0276}" type="slidenum">
              <a:rPr lang="zh-CN" altLang="en-US" smtClean="0"/>
              <a:t>‹#›</a:t>
            </a:fld>
            <a:endParaRPr lang="zh-CN" altLang="en-US"/>
          </a:p>
        </p:txBody>
      </p:sp>
      <p:sp>
        <p:nvSpPr>
          <p:cNvPr id="7" name="矩形 6"/>
          <p:cNvSpPr/>
          <p:nvPr userDrawn="1"/>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hyperlink" Target="https://book.douban.com/subject/2124114/" TargetMode="Externa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7.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image" Target="../media/image9.tmp"/><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notesSlide" Target="../notesSlides/notesSlide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11.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18" Type="http://schemas.openxmlformats.org/officeDocument/2006/relationships/slideLayout" Target="../slideLayouts/slideLayout7.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tags" Target="../tags/tag34.xml"/><Relationship Id="rId2" Type="http://schemas.openxmlformats.org/officeDocument/2006/relationships/tags" Target="../tags/tag19.xml"/><Relationship Id="rId16" Type="http://schemas.openxmlformats.org/officeDocument/2006/relationships/tags" Target="../tags/tag33.xml"/><Relationship Id="rId20" Type="http://schemas.openxmlformats.org/officeDocument/2006/relationships/image" Target="../media/image9.tmp"/><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5" Type="http://schemas.openxmlformats.org/officeDocument/2006/relationships/tags" Target="../tags/tag22.xml"/><Relationship Id="rId15" Type="http://schemas.openxmlformats.org/officeDocument/2006/relationships/tags" Target="../tags/tag32.xml"/><Relationship Id="rId10" Type="http://schemas.openxmlformats.org/officeDocument/2006/relationships/tags" Target="../tags/tag27.xml"/><Relationship Id="rId19" Type="http://schemas.openxmlformats.org/officeDocument/2006/relationships/notesSlide" Target="../notesSlides/notesSlide11.xml"/><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hyperlink" Target="https://zh.cppreference.com/w/c/language/translation_phases"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43.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tags" Target="../tags/tag47.xml"/><Relationship Id="rId18" Type="http://schemas.openxmlformats.org/officeDocument/2006/relationships/slideLayout" Target="../slideLayouts/slideLayout7.xml"/><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tags" Target="../tags/tag46.xml"/><Relationship Id="rId17" Type="http://schemas.openxmlformats.org/officeDocument/2006/relationships/tags" Target="../tags/tag51.xml"/><Relationship Id="rId2" Type="http://schemas.openxmlformats.org/officeDocument/2006/relationships/tags" Target="../tags/tag36.xml"/><Relationship Id="rId16" Type="http://schemas.openxmlformats.org/officeDocument/2006/relationships/tags" Target="../tags/tag50.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tags" Target="../tags/tag45.xml"/><Relationship Id="rId5" Type="http://schemas.openxmlformats.org/officeDocument/2006/relationships/tags" Target="../tags/tag39.xml"/><Relationship Id="rId15" Type="http://schemas.openxmlformats.org/officeDocument/2006/relationships/tags" Target="../tags/tag49.xml"/><Relationship Id="rId10" Type="http://schemas.openxmlformats.org/officeDocument/2006/relationships/tags" Target="../tags/tag44.xml"/><Relationship Id="rId19" Type="http://schemas.openxmlformats.org/officeDocument/2006/relationships/image" Target="../media/image9.tmp"/><Relationship Id="rId4" Type="http://schemas.openxmlformats.org/officeDocument/2006/relationships/tags" Target="../tags/tag38.xml"/><Relationship Id="rId9" Type="http://schemas.openxmlformats.org/officeDocument/2006/relationships/tags" Target="../tags/tag43.xml"/><Relationship Id="rId14" Type="http://schemas.openxmlformats.org/officeDocument/2006/relationships/tags" Target="../tags/tag48.xml"/></Relationships>
</file>

<file path=ppt/slides/_rels/slide44.xml.rels><?xml version="1.0" encoding="UTF-8" standalone="yes"?>
<Relationships xmlns="http://schemas.openxmlformats.org/package/2006/relationships"><Relationship Id="rId8" Type="http://schemas.openxmlformats.org/officeDocument/2006/relationships/tags" Target="../tags/tag59.xml"/><Relationship Id="rId13" Type="http://schemas.openxmlformats.org/officeDocument/2006/relationships/tags" Target="../tags/tag64.xml"/><Relationship Id="rId18" Type="http://schemas.openxmlformats.org/officeDocument/2006/relationships/slideLayout" Target="../slideLayouts/slideLayout7.xml"/><Relationship Id="rId3" Type="http://schemas.openxmlformats.org/officeDocument/2006/relationships/tags" Target="../tags/tag54.xml"/><Relationship Id="rId7" Type="http://schemas.openxmlformats.org/officeDocument/2006/relationships/tags" Target="../tags/tag58.xml"/><Relationship Id="rId12" Type="http://schemas.openxmlformats.org/officeDocument/2006/relationships/tags" Target="../tags/tag63.xml"/><Relationship Id="rId17" Type="http://schemas.openxmlformats.org/officeDocument/2006/relationships/tags" Target="../tags/tag68.xml"/><Relationship Id="rId2" Type="http://schemas.openxmlformats.org/officeDocument/2006/relationships/tags" Target="../tags/tag53.xml"/><Relationship Id="rId16" Type="http://schemas.openxmlformats.org/officeDocument/2006/relationships/tags" Target="../tags/tag67.xml"/><Relationship Id="rId1" Type="http://schemas.openxmlformats.org/officeDocument/2006/relationships/tags" Target="../tags/tag52.xml"/><Relationship Id="rId6" Type="http://schemas.openxmlformats.org/officeDocument/2006/relationships/tags" Target="../tags/tag57.xml"/><Relationship Id="rId11" Type="http://schemas.openxmlformats.org/officeDocument/2006/relationships/tags" Target="../tags/tag62.xml"/><Relationship Id="rId5" Type="http://schemas.openxmlformats.org/officeDocument/2006/relationships/tags" Target="../tags/tag56.xml"/><Relationship Id="rId15" Type="http://schemas.openxmlformats.org/officeDocument/2006/relationships/tags" Target="../tags/tag66.xml"/><Relationship Id="rId10" Type="http://schemas.openxmlformats.org/officeDocument/2006/relationships/tags" Target="../tags/tag61.xml"/><Relationship Id="rId19" Type="http://schemas.openxmlformats.org/officeDocument/2006/relationships/image" Target="../media/image9.tmp"/><Relationship Id="rId4" Type="http://schemas.openxmlformats.org/officeDocument/2006/relationships/tags" Target="../tags/tag55.xml"/><Relationship Id="rId9" Type="http://schemas.openxmlformats.org/officeDocument/2006/relationships/tags" Target="../tags/tag60.xml"/><Relationship Id="rId14" Type="http://schemas.openxmlformats.org/officeDocument/2006/relationships/tags" Target="../tags/tag65.xml"/></Relationships>
</file>

<file path=ppt/slides/_rels/slide45.xml.rels><?xml version="1.0" encoding="UTF-8" standalone="yes"?>
<Relationships xmlns="http://schemas.openxmlformats.org/package/2006/relationships"><Relationship Id="rId8" Type="http://schemas.openxmlformats.org/officeDocument/2006/relationships/tags" Target="../tags/tag76.xml"/><Relationship Id="rId13" Type="http://schemas.openxmlformats.org/officeDocument/2006/relationships/tags" Target="../tags/tag81.xml"/><Relationship Id="rId18" Type="http://schemas.openxmlformats.org/officeDocument/2006/relationships/slideLayout" Target="../slideLayouts/slideLayout7.xml"/><Relationship Id="rId3" Type="http://schemas.openxmlformats.org/officeDocument/2006/relationships/tags" Target="../tags/tag71.xml"/><Relationship Id="rId7" Type="http://schemas.openxmlformats.org/officeDocument/2006/relationships/tags" Target="../tags/tag75.xml"/><Relationship Id="rId12" Type="http://schemas.openxmlformats.org/officeDocument/2006/relationships/tags" Target="../tags/tag80.xml"/><Relationship Id="rId17" Type="http://schemas.openxmlformats.org/officeDocument/2006/relationships/tags" Target="../tags/tag85.xml"/><Relationship Id="rId2" Type="http://schemas.openxmlformats.org/officeDocument/2006/relationships/tags" Target="../tags/tag70.xml"/><Relationship Id="rId16" Type="http://schemas.openxmlformats.org/officeDocument/2006/relationships/tags" Target="../tags/tag84.xml"/><Relationship Id="rId1" Type="http://schemas.openxmlformats.org/officeDocument/2006/relationships/tags" Target="../tags/tag69.xml"/><Relationship Id="rId6" Type="http://schemas.openxmlformats.org/officeDocument/2006/relationships/tags" Target="../tags/tag74.xml"/><Relationship Id="rId11" Type="http://schemas.openxmlformats.org/officeDocument/2006/relationships/tags" Target="../tags/tag79.xml"/><Relationship Id="rId5" Type="http://schemas.openxmlformats.org/officeDocument/2006/relationships/tags" Target="../tags/tag73.xml"/><Relationship Id="rId15" Type="http://schemas.openxmlformats.org/officeDocument/2006/relationships/tags" Target="../tags/tag83.xml"/><Relationship Id="rId10" Type="http://schemas.openxmlformats.org/officeDocument/2006/relationships/tags" Target="../tags/tag78.xml"/><Relationship Id="rId19" Type="http://schemas.openxmlformats.org/officeDocument/2006/relationships/image" Target="../media/image9.tmp"/><Relationship Id="rId4" Type="http://schemas.openxmlformats.org/officeDocument/2006/relationships/tags" Target="../tags/tag72.xml"/><Relationship Id="rId9" Type="http://schemas.openxmlformats.org/officeDocument/2006/relationships/tags" Target="../tags/tag77.xml"/><Relationship Id="rId14" Type="http://schemas.openxmlformats.org/officeDocument/2006/relationships/tags" Target="../tags/tag82.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4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3">
            <a:extLst>
              <a:ext uri="{28A0092B-C50C-407E-A947-70E740481C1C}">
                <a14:useLocalDpi xmlns:a14="http://schemas.microsoft.com/office/drawing/2010/main" val="0"/>
              </a:ext>
            </a:extLst>
          </a:blip>
          <a:srcRect t="21604" b="46967"/>
          <a:stretch>
            <a:fillRect/>
          </a:stretch>
        </p:blipFill>
        <p:spPr>
          <a:xfrm>
            <a:off x="0" y="2176476"/>
            <a:ext cx="12209296" cy="2877923"/>
          </a:xfrm>
          <a:prstGeom prst="rect">
            <a:avLst/>
          </a:prstGeom>
        </p:spPr>
      </p:pic>
      <p:sp>
        <p:nvSpPr>
          <p:cNvPr id="8" name="矩形 7"/>
          <p:cNvSpPr/>
          <p:nvPr/>
        </p:nvSpPr>
        <p:spPr>
          <a:xfrm>
            <a:off x="0" y="2176477"/>
            <a:ext cx="12192000" cy="2877922"/>
          </a:xfrm>
          <a:prstGeom prst="rect">
            <a:avLst/>
          </a:prstGeom>
          <a:gradFill>
            <a:gsLst>
              <a:gs pos="0">
                <a:srgbClr val="014723"/>
              </a:gs>
              <a:gs pos="59000">
                <a:srgbClr val="014723">
                  <a:alpha val="60000"/>
                </a:srgbClr>
              </a:gs>
              <a:gs pos="100000">
                <a:srgbClr val="014723">
                  <a:alpha val="10000"/>
                </a:srgb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1223683" y="2729511"/>
            <a:ext cx="9744635" cy="1015663"/>
          </a:xfrm>
          <a:prstGeom prst="rect">
            <a:avLst/>
          </a:prstGeom>
          <a:noFill/>
        </p:spPr>
        <p:txBody>
          <a:bodyPr wrap="square" rtlCol="0">
            <a:spAutoFit/>
          </a:bodyPr>
          <a:lstStyle/>
          <a:p>
            <a:pPr algn="ctr"/>
            <a:r>
              <a:rPr lang="zh-CN" altLang="en-US" sz="6000" b="1" dirty="0">
                <a:solidFill>
                  <a:schemeClr val="bg1">
                    <a:lumMod val="95000"/>
                  </a:schemeClr>
                </a:solidFill>
                <a:latin typeface="微软雅黑" panose="020B0503020204020204" pitchFamily="34" charset="-122"/>
                <a:ea typeface="微软雅黑" panose="020B0503020204020204" pitchFamily="34" charset="-122"/>
              </a:rPr>
              <a:t>函数进阶和练习</a:t>
            </a:r>
          </a:p>
        </p:txBody>
      </p:sp>
      <p:sp>
        <p:nvSpPr>
          <p:cNvPr id="16" name="TextBox 10"/>
          <p:cNvSpPr txBox="1"/>
          <p:nvPr/>
        </p:nvSpPr>
        <p:spPr>
          <a:xfrm>
            <a:off x="2565806" y="3990096"/>
            <a:ext cx="7060388" cy="523196"/>
          </a:xfrm>
          <a:prstGeom prst="rect">
            <a:avLst/>
          </a:prstGeom>
          <a:noFill/>
        </p:spPr>
        <p:txBody>
          <a:bodyPr wrap="square" lIns="91416" tIns="45708" rIns="91416" bIns="45708" rtlCol="0">
            <a:spAutoFit/>
          </a:bodyPr>
          <a:lstStyle>
            <a:defPPr>
              <a:defRPr lang="zh-CN"/>
            </a:defPPr>
            <a:lvl1pPr>
              <a:defRPr sz="2000">
                <a:solidFill>
                  <a:schemeClr val="bg1"/>
                </a:solidFill>
                <a:latin typeface="微软雅黑" panose="020B0503020204020204" pitchFamily="34" charset="-122"/>
                <a:ea typeface="微软雅黑" panose="020B0503020204020204" pitchFamily="34" charset="-122"/>
              </a:defRPr>
            </a:lvl1pPr>
          </a:lstStyle>
          <a:p>
            <a:pPr algn="ctr"/>
            <a:r>
              <a:rPr lang="zh-CN" altLang="en-US" sz="2800" dirty="0">
                <a:solidFill>
                  <a:schemeClr val="bg1">
                    <a:lumMod val="95000"/>
                  </a:schemeClr>
                </a:solidFill>
                <a:latin typeface="微软雅黑" panose="020B0503020204020204" pitchFamily="34" charset="-122"/>
                <a:ea typeface="微软雅黑" panose="020B0503020204020204" pitchFamily="34" charset="-122"/>
              </a:rPr>
              <a:t>中山大学计算机学院</a:t>
            </a:r>
            <a:endParaRPr lang="en-US" altLang="zh-CN" sz="2800" dirty="0">
              <a:solidFill>
                <a:schemeClr val="bg1">
                  <a:lumMod val="95000"/>
                </a:schemeClr>
              </a:solidFill>
              <a:latin typeface="微软雅黑" panose="020B0503020204020204" pitchFamily="34" charset="-122"/>
              <a:ea typeface="微软雅黑" panose="020B0503020204020204" pitchFamily="34" charset="-122"/>
            </a:endParaRPr>
          </a:p>
        </p:txBody>
      </p:sp>
      <p:pic>
        <p:nvPicPr>
          <p:cNvPr id="19" name="图片 18"/>
          <p:cNvPicPr>
            <a:picLocks noChangeAspect="1"/>
          </p:cNvPicPr>
          <p:nvPr/>
        </p:nvPicPr>
        <p:blipFill rotWithShape="1">
          <a:blip r:embed="rId4" cstate="print">
            <a:extLst>
              <a:ext uri="{28A0092B-C50C-407E-A947-70E740481C1C}">
                <a14:useLocalDpi xmlns:a14="http://schemas.microsoft.com/office/drawing/2010/main" val="0"/>
              </a:ext>
            </a:extLst>
          </a:blip>
          <a:srcRect t="21200" r="2284" b="11992"/>
          <a:stretch>
            <a:fillRect/>
          </a:stretch>
        </p:blipFill>
        <p:spPr>
          <a:xfrm>
            <a:off x="4339400" y="923192"/>
            <a:ext cx="3433000" cy="1072662"/>
          </a:xfrm>
          <a:prstGeom prst="rect">
            <a:avLst/>
          </a:prstGeom>
        </p:spPr>
      </p:pic>
      <p:sp>
        <p:nvSpPr>
          <p:cNvPr id="17" name="TextBox 6"/>
          <p:cNvSpPr txBox="1"/>
          <p:nvPr/>
        </p:nvSpPr>
        <p:spPr>
          <a:xfrm>
            <a:off x="5398606" y="5644929"/>
            <a:ext cx="1723500" cy="400085"/>
          </a:xfrm>
          <a:prstGeom prst="rect">
            <a:avLst/>
          </a:prstGeom>
          <a:noFill/>
        </p:spPr>
        <p:txBody>
          <a:bodyPr wrap="none" lIns="91416" tIns="45708" rIns="91416" bIns="45708" rtlCol="0">
            <a:spAutoFit/>
          </a:bodyPr>
          <a:lstStyle>
            <a:defPPr>
              <a:defRPr lang="zh-CN"/>
            </a:defPPr>
            <a:lvl1pPr>
              <a:defRPr sz="2000">
                <a:solidFill>
                  <a:schemeClr val="accent2"/>
                </a:solidFill>
                <a:latin typeface="+mn-ea"/>
                <a:ea typeface="+mn-ea"/>
              </a:defRPr>
            </a:lvl1pPr>
          </a:lstStyle>
          <a:p>
            <a:pPr algn="ctr"/>
            <a:r>
              <a:rPr lang="zh-CN" altLang="en-US" b="1" dirty="0">
                <a:solidFill>
                  <a:srgbClr val="014723"/>
                </a:solidFill>
                <a:latin typeface="微软雅黑" panose="020B0503020204020204" pitchFamily="34" charset="-122"/>
                <a:ea typeface="微软雅黑" panose="020B0503020204020204" pitchFamily="34" charset="-122"/>
              </a:rPr>
              <a:t>讲课人</a:t>
            </a:r>
            <a:r>
              <a:rPr lang="zh-CN" altLang="en-US" dirty="0">
                <a:solidFill>
                  <a:srgbClr val="014723"/>
                </a:solidFill>
                <a:latin typeface="微软雅黑" panose="020B0503020204020204" pitchFamily="34" charset="-122"/>
                <a:ea typeface="微软雅黑" panose="020B0503020204020204" pitchFamily="34" charset="-122"/>
              </a:rPr>
              <a:t>：陆勇</a:t>
            </a:r>
            <a:endParaRPr lang="en-US" altLang="zh-CN" dirty="0">
              <a:solidFill>
                <a:srgbClr val="014723"/>
              </a:solidFill>
              <a:latin typeface="微软雅黑" panose="020B0503020204020204" pitchFamily="34" charset="-122"/>
              <a:ea typeface="微软雅黑" panose="020B0503020204020204" pitchFamily="34" charset="-122"/>
            </a:endParaRPr>
          </a:p>
        </p:txBody>
      </p:sp>
      <p:sp>
        <p:nvSpPr>
          <p:cNvPr id="18" name="Freeform 7"/>
          <p:cNvSpPr>
            <a:spLocks noChangeAspect="1" noEditPoints="1"/>
          </p:cNvSpPr>
          <p:nvPr/>
        </p:nvSpPr>
        <p:spPr bwMode="auto">
          <a:xfrm>
            <a:off x="4549092" y="5611849"/>
            <a:ext cx="462900" cy="466244"/>
          </a:xfrm>
          <a:custGeom>
            <a:avLst/>
            <a:gdLst>
              <a:gd name="T0" fmla="*/ 661 w 904"/>
              <a:gd name="T1" fmla="*/ 461 h 905"/>
              <a:gd name="T2" fmla="*/ 661 w 904"/>
              <a:gd name="T3" fmla="*/ 339 h 905"/>
              <a:gd name="T4" fmla="*/ 605 w 904"/>
              <a:gd name="T5" fmla="*/ 339 h 905"/>
              <a:gd name="T6" fmla="*/ 605 w 904"/>
              <a:gd name="T7" fmla="*/ 461 h 905"/>
              <a:gd name="T8" fmla="*/ 456 w 904"/>
              <a:gd name="T9" fmla="*/ 610 h 905"/>
              <a:gd name="T10" fmla="*/ 453 w 904"/>
              <a:gd name="T11" fmla="*/ 610 h 905"/>
              <a:gd name="T12" fmla="*/ 452 w 904"/>
              <a:gd name="T13" fmla="*/ 610 h 905"/>
              <a:gd name="T14" fmla="*/ 451 w 904"/>
              <a:gd name="T15" fmla="*/ 610 h 905"/>
              <a:gd name="T16" fmla="*/ 448 w 904"/>
              <a:gd name="T17" fmla="*/ 610 h 905"/>
              <a:gd name="T18" fmla="*/ 299 w 904"/>
              <a:gd name="T19" fmla="*/ 461 h 905"/>
              <a:gd name="T20" fmla="*/ 299 w 904"/>
              <a:gd name="T21" fmla="*/ 339 h 905"/>
              <a:gd name="T22" fmla="*/ 244 w 904"/>
              <a:gd name="T23" fmla="*/ 339 h 905"/>
              <a:gd name="T24" fmla="*/ 244 w 904"/>
              <a:gd name="T25" fmla="*/ 461 h 905"/>
              <a:gd name="T26" fmla="*/ 419 w 904"/>
              <a:gd name="T27" fmla="*/ 664 h 905"/>
              <a:gd name="T28" fmla="*/ 419 w 904"/>
              <a:gd name="T29" fmla="*/ 752 h 905"/>
              <a:gd name="T30" fmla="*/ 295 w 904"/>
              <a:gd name="T31" fmla="*/ 787 h 905"/>
              <a:gd name="T32" fmla="*/ 610 w 904"/>
              <a:gd name="T33" fmla="*/ 787 h 905"/>
              <a:gd name="T34" fmla="*/ 484 w 904"/>
              <a:gd name="T35" fmla="*/ 751 h 905"/>
              <a:gd name="T36" fmla="*/ 484 w 904"/>
              <a:gd name="T37" fmla="*/ 664 h 905"/>
              <a:gd name="T38" fmla="*/ 661 w 904"/>
              <a:gd name="T39" fmla="*/ 461 h 905"/>
              <a:gd name="T40" fmla="*/ 450 w 904"/>
              <a:gd name="T41" fmla="*/ 558 h 905"/>
              <a:gd name="T42" fmla="*/ 452 w 904"/>
              <a:gd name="T43" fmla="*/ 558 h 905"/>
              <a:gd name="T44" fmla="*/ 454 w 904"/>
              <a:gd name="T45" fmla="*/ 558 h 905"/>
              <a:gd name="T46" fmla="*/ 554 w 904"/>
              <a:gd name="T47" fmla="*/ 459 h 905"/>
              <a:gd name="T48" fmla="*/ 554 w 904"/>
              <a:gd name="T49" fmla="*/ 218 h 905"/>
              <a:gd name="T50" fmla="*/ 454 w 904"/>
              <a:gd name="T51" fmla="*/ 118 h 905"/>
              <a:gd name="T52" fmla="*/ 452 w 904"/>
              <a:gd name="T53" fmla="*/ 118 h 905"/>
              <a:gd name="T54" fmla="*/ 450 w 904"/>
              <a:gd name="T55" fmla="*/ 118 h 905"/>
              <a:gd name="T56" fmla="*/ 351 w 904"/>
              <a:gd name="T57" fmla="*/ 218 h 905"/>
              <a:gd name="T58" fmla="*/ 351 w 904"/>
              <a:gd name="T59" fmla="*/ 459 h 905"/>
              <a:gd name="T60" fmla="*/ 450 w 904"/>
              <a:gd name="T61" fmla="*/ 558 h 905"/>
              <a:gd name="T62" fmla="*/ 452 w 904"/>
              <a:gd name="T63" fmla="*/ 0 h 905"/>
              <a:gd name="T64" fmla="*/ 904 w 904"/>
              <a:gd name="T65" fmla="*/ 453 h 905"/>
              <a:gd name="T66" fmla="*/ 452 w 904"/>
              <a:gd name="T67" fmla="*/ 905 h 905"/>
              <a:gd name="T68" fmla="*/ 0 w 904"/>
              <a:gd name="T69" fmla="*/ 453 h 905"/>
              <a:gd name="T70" fmla="*/ 452 w 904"/>
              <a:gd name="T71" fmla="*/ 0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04" h="905">
                <a:moveTo>
                  <a:pt x="661" y="461"/>
                </a:moveTo>
                <a:lnTo>
                  <a:pt x="661" y="339"/>
                </a:lnTo>
                <a:cubicBezTo>
                  <a:pt x="661" y="304"/>
                  <a:pt x="605" y="304"/>
                  <a:pt x="605" y="339"/>
                </a:cubicBezTo>
                <a:lnTo>
                  <a:pt x="605" y="461"/>
                </a:lnTo>
                <a:cubicBezTo>
                  <a:pt x="605" y="543"/>
                  <a:pt x="538" y="610"/>
                  <a:pt x="456" y="610"/>
                </a:cubicBezTo>
                <a:cubicBezTo>
                  <a:pt x="455" y="610"/>
                  <a:pt x="454" y="610"/>
                  <a:pt x="453" y="610"/>
                </a:cubicBezTo>
                <a:lnTo>
                  <a:pt x="452" y="610"/>
                </a:lnTo>
                <a:lnTo>
                  <a:pt x="451" y="610"/>
                </a:lnTo>
                <a:cubicBezTo>
                  <a:pt x="450" y="610"/>
                  <a:pt x="449" y="610"/>
                  <a:pt x="448" y="610"/>
                </a:cubicBezTo>
                <a:cubicBezTo>
                  <a:pt x="366" y="610"/>
                  <a:pt x="299" y="543"/>
                  <a:pt x="299" y="461"/>
                </a:cubicBezTo>
                <a:lnTo>
                  <a:pt x="299" y="339"/>
                </a:lnTo>
                <a:cubicBezTo>
                  <a:pt x="299" y="304"/>
                  <a:pt x="244" y="304"/>
                  <a:pt x="244" y="339"/>
                </a:cubicBezTo>
                <a:cubicBezTo>
                  <a:pt x="244" y="355"/>
                  <a:pt x="244" y="461"/>
                  <a:pt x="244" y="461"/>
                </a:cubicBezTo>
                <a:cubicBezTo>
                  <a:pt x="244" y="564"/>
                  <a:pt x="320" y="650"/>
                  <a:pt x="419" y="664"/>
                </a:cubicBezTo>
                <a:lnTo>
                  <a:pt x="419" y="752"/>
                </a:lnTo>
                <a:lnTo>
                  <a:pt x="295" y="787"/>
                </a:lnTo>
                <a:lnTo>
                  <a:pt x="610" y="787"/>
                </a:lnTo>
                <a:lnTo>
                  <a:pt x="484" y="751"/>
                </a:lnTo>
                <a:lnTo>
                  <a:pt x="484" y="664"/>
                </a:lnTo>
                <a:cubicBezTo>
                  <a:pt x="584" y="650"/>
                  <a:pt x="661" y="564"/>
                  <a:pt x="661" y="461"/>
                </a:cubicBezTo>
                <a:close/>
                <a:moveTo>
                  <a:pt x="450" y="558"/>
                </a:moveTo>
                <a:cubicBezTo>
                  <a:pt x="451" y="558"/>
                  <a:pt x="451" y="558"/>
                  <a:pt x="452" y="558"/>
                </a:cubicBezTo>
                <a:cubicBezTo>
                  <a:pt x="453" y="558"/>
                  <a:pt x="453" y="558"/>
                  <a:pt x="454" y="558"/>
                </a:cubicBezTo>
                <a:cubicBezTo>
                  <a:pt x="509" y="558"/>
                  <a:pt x="554" y="514"/>
                  <a:pt x="554" y="459"/>
                </a:cubicBezTo>
                <a:lnTo>
                  <a:pt x="554" y="218"/>
                </a:lnTo>
                <a:cubicBezTo>
                  <a:pt x="554" y="163"/>
                  <a:pt x="509" y="118"/>
                  <a:pt x="454" y="118"/>
                </a:cubicBezTo>
                <a:cubicBezTo>
                  <a:pt x="453" y="118"/>
                  <a:pt x="453" y="118"/>
                  <a:pt x="452" y="118"/>
                </a:cubicBezTo>
                <a:cubicBezTo>
                  <a:pt x="452" y="118"/>
                  <a:pt x="451" y="118"/>
                  <a:pt x="450" y="118"/>
                </a:cubicBezTo>
                <a:cubicBezTo>
                  <a:pt x="395" y="118"/>
                  <a:pt x="351" y="163"/>
                  <a:pt x="351" y="218"/>
                </a:cubicBezTo>
                <a:lnTo>
                  <a:pt x="351" y="459"/>
                </a:lnTo>
                <a:cubicBezTo>
                  <a:pt x="351" y="514"/>
                  <a:pt x="395" y="558"/>
                  <a:pt x="450" y="558"/>
                </a:cubicBezTo>
                <a:close/>
                <a:moveTo>
                  <a:pt x="452" y="0"/>
                </a:moveTo>
                <a:cubicBezTo>
                  <a:pt x="702" y="0"/>
                  <a:pt x="904" y="203"/>
                  <a:pt x="904" y="453"/>
                </a:cubicBezTo>
                <a:cubicBezTo>
                  <a:pt x="904" y="702"/>
                  <a:pt x="702" y="905"/>
                  <a:pt x="452" y="905"/>
                </a:cubicBezTo>
                <a:cubicBezTo>
                  <a:pt x="202" y="905"/>
                  <a:pt x="0" y="702"/>
                  <a:pt x="0" y="453"/>
                </a:cubicBezTo>
                <a:cubicBezTo>
                  <a:pt x="0" y="203"/>
                  <a:pt x="202" y="0"/>
                  <a:pt x="452" y="0"/>
                </a:cubicBezTo>
                <a:close/>
              </a:path>
            </a:pathLst>
          </a:custGeom>
          <a:solidFill>
            <a:srgbClr val="014723"/>
          </a:solidFill>
          <a:ln>
            <a:noFill/>
          </a:ln>
        </p:spPr>
        <p:txBody>
          <a:bodyPr vert="horz" wrap="square" lIns="91416" tIns="45708" rIns="91416" bIns="45708" numCol="1" anchor="t" anchorCtr="0" compatLnSpc="1"/>
          <a:lstStyle/>
          <a:p>
            <a:endParaRPr lang="zh-CN" altLang="en-US">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750"/>
                                        <p:tgtEl>
                                          <p:spTgt spid="8"/>
                                        </p:tgtEl>
                                      </p:cBhvr>
                                    </p:animEffect>
                                  </p:childTnLst>
                                </p:cTn>
                              </p:par>
                            </p:childTnLst>
                          </p:cTn>
                        </p:par>
                        <p:par>
                          <p:cTn id="8" fill="hold">
                            <p:stCondLst>
                              <p:cond delay="750"/>
                            </p:stCondLst>
                            <p:childTnLst>
                              <p:par>
                                <p:cTn id="9" presetID="50" presetClass="entr" presetSubtype="0" decel="100000" fill="hold" grpId="0" nodeType="afterEffect">
                                  <p:stCondLst>
                                    <p:cond delay="0"/>
                                  </p:stCondLst>
                                  <p:iterate type="lt">
                                    <p:tmPct val="10000"/>
                                  </p:iterate>
                                  <p:childTnLst>
                                    <p:set>
                                      <p:cBhvr>
                                        <p:cTn id="10" dur="1" fill="hold">
                                          <p:stCondLst>
                                            <p:cond delay="0"/>
                                          </p:stCondLst>
                                        </p:cTn>
                                        <p:tgtEl>
                                          <p:spTgt spid="15"/>
                                        </p:tgtEl>
                                        <p:attrNameLst>
                                          <p:attrName>style.visibility</p:attrName>
                                        </p:attrNameLst>
                                      </p:cBhvr>
                                      <p:to>
                                        <p:strVal val="visible"/>
                                      </p:to>
                                    </p:set>
                                    <p:anim calcmode="lin" valueType="num">
                                      <p:cBhvr>
                                        <p:cTn id="11" dur="1000" fill="hold"/>
                                        <p:tgtEl>
                                          <p:spTgt spid="15"/>
                                        </p:tgtEl>
                                        <p:attrNameLst>
                                          <p:attrName>ppt_w</p:attrName>
                                        </p:attrNameLst>
                                      </p:cBhvr>
                                      <p:tavLst>
                                        <p:tav tm="0">
                                          <p:val>
                                            <p:strVal val="#ppt_w+.3"/>
                                          </p:val>
                                        </p:tav>
                                        <p:tav tm="100000">
                                          <p:val>
                                            <p:strVal val="#ppt_w"/>
                                          </p:val>
                                        </p:tav>
                                      </p:tavLst>
                                    </p:anim>
                                    <p:anim calcmode="lin" valueType="num">
                                      <p:cBhvr>
                                        <p:cTn id="12" dur="1000" fill="hold"/>
                                        <p:tgtEl>
                                          <p:spTgt spid="15"/>
                                        </p:tgtEl>
                                        <p:attrNameLst>
                                          <p:attrName>ppt_h</p:attrName>
                                        </p:attrNameLst>
                                      </p:cBhvr>
                                      <p:tavLst>
                                        <p:tav tm="0">
                                          <p:val>
                                            <p:strVal val="#ppt_h"/>
                                          </p:val>
                                        </p:tav>
                                        <p:tav tm="100000">
                                          <p:val>
                                            <p:strVal val="#ppt_h"/>
                                          </p:val>
                                        </p:tav>
                                      </p:tavLst>
                                    </p:anim>
                                    <p:animEffect transition="in" filter="fade">
                                      <p:cBhvr>
                                        <p:cTn id="13" dur="1000"/>
                                        <p:tgtEl>
                                          <p:spTgt spid="15"/>
                                        </p:tgtEl>
                                      </p:cBhvr>
                                    </p:animEffect>
                                  </p:childTnLst>
                                </p:cTn>
                              </p:par>
                            </p:childTnLst>
                          </p:cTn>
                        </p:par>
                        <p:par>
                          <p:cTn id="14" fill="hold">
                            <p:stCondLst>
                              <p:cond delay="2350"/>
                            </p:stCondLst>
                            <p:childTnLst>
                              <p:par>
                                <p:cTn id="15" presetID="8" presetClass="entr" presetSubtype="32" fill="hold" grpId="0" nodeType="afterEffect">
                                  <p:stCondLst>
                                    <p:cond delay="0"/>
                                  </p:stCondLst>
                                  <p:iterate type="lt">
                                    <p:tmPct val="10000"/>
                                  </p:iterate>
                                  <p:childTnLst>
                                    <p:set>
                                      <p:cBhvr>
                                        <p:cTn id="16" dur="1" fill="hold">
                                          <p:stCondLst>
                                            <p:cond delay="0"/>
                                          </p:stCondLst>
                                        </p:cTn>
                                        <p:tgtEl>
                                          <p:spTgt spid="16"/>
                                        </p:tgtEl>
                                        <p:attrNameLst>
                                          <p:attrName>style.visibility</p:attrName>
                                        </p:attrNameLst>
                                      </p:cBhvr>
                                      <p:to>
                                        <p:strVal val="visible"/>
                                      </p:to>
                                    </p:set>
                                    <p:animEffect transition="in" filter="diamond(out)">
                                      <p:cBhvr>
                                        <p:cTn id="17"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5" grpId="0"/>
      <p:bldP spid="1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a:xfrm>
            <a:off x="-1791046" y="1892300"/>
            <a:ext cx="5651845" cy="307340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C3300"/>
              </a:solidFill>
            </a:endParaRPr>
          </a:p>
        </p:txBody>
      </p:sp>
      <p:sp>
        <p:nvSpPr>
          <p:cNvPr id="2" name="圆角矩形 1"/>
          <p:cNvSpPr/>
          <p:nvPr/>
        </p:nvSpPr>
        <p:spPr>
          <a:xfrm>
            <a:off x="-1556426" y="1998319"/>
            <a:ext cx="5261917" cy="2861362"/>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4"/>
          <p:cNvSpPr/>
          <p:nvPr/>
        </p:nvSpPr>
        <p:spPr>
          <a:xfrm>
            <a:off x="5903234" y="1113118"/>
            <a:ext cx="9111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01</a:t>
            </a:r>
            <a:endParaRPr lang="zh-CN" altLang="en-US" b="1" dirty="0"/>
          </a:p>
        </p:txBody>
      </p:sp>
      <p:sp>
        <p:nvSpPr>
          <p:cNvPr id="6" name="圆角矩形 5"/>
          <p:cNvSpPr/>
          <p:nvPr/>
        </p:nvSpPr>
        <p:spPr>
          <a:xfrm>
            <a:off x="5903234" y="2081043"/>
            <a:ext cx="9111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02</a:t>
            </a:r>
            <a:endParaRPr lang="zh-CN" altLang="en-US" b="1" dirty="0"/>
          </a:p>
        </p:txBody>
      </p:sp>
      <p:sp>
        <p:nvSpPr>
          <p:cNvPr id="7" name="圆角矩形 6"/>
          <p:cNvSpPr/>
          <p:nvPr/>
        </p:nvSpPr>
        <p:spPr>
          <a:xfrm>
            <a:off x="5903234" y="3048968"/>
            <a:ext cx="9111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03</a:t>
            </a:r>
            <a:endParaRPr lang="zh-CN" altLang="en-US" b="1" dirty="0"/>
          </a:p>
        </p:txBody>
      </p:sp>
      <p:sp>
        <p:nvSpPr>
          <p:cNvPr id="8" name="圆角矩形 7"/>
          <p:cNvSpPr/>
          <p:nvPr/>
        </p:nvSpPr>
        <p:spPr>
          <a:xfrm>
            <a:off x="5903234" y="4016893"/>
            <a:ext cx="9111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04</a:t>
            </a:r>
            <a:endParaRPr lang="zh-CN" altLang="en-US" b="1" dirty="0"/>
          </a:p>
        </p:txBody>
      </p:sp>
      <p:sp>
        <p:nvSpPr>
          <p:cNvPr id="9" name="圆角矩形 8"/>
          <p:cNvSpPr/>
          <p:nvPr/>
        </p:nvSpPr>
        <p:spPr>
          <a:xfrm>
            <a:off x="5903234" y="4984820"/>
            <a:ext cx="9111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05</a:t>
            </a:r>
            <a:endParaRPr lang="zh-CN" altLang="en-US" b="1" dirty="0"/>
          </a:p>
        </p:txBody>
      </p:sp>
      <p:sp>
        <p:nvSpPr>
          <p:cNvPr id="59" name="圆角矩形 58"/>
          <p:cNvSpPr/>
          <p:nvPr/>
        </p:nvSpPr>
        <p:spPr>
          <a:xfrm>
            <a:off x="7008134" y="1113118"/>
            <a:ext cx="34765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问题求解</a:t>
            </a:r>
            <a:r>
              <a:rPr lang="en-US" altLang="zh-CN" sz="2000" b="1" dirty="0"/>
              <a:t>-</a:t>
            </a:r>
            <a:r>
              <a:rPr lang="zh-CN" altLang="en-US" sz="2000" b="1" dirty="0"/>
              <a:t>最大公约数</a:t>
            </a:r>
          </a:p>
        </p:txBody>
      </p:sp>
      <p:sp>
        <p:nvSpPr>
          <p:cNvPr id="60" name="圆角矩形 59"/>
          <p:cNvSpPr/>
          <p:nvPr/>
        </p:nvSpPr>
        <p:spPr>
          <a:xfrm>
            <a:off x="7008134" y="2081043"/>
            <a:ext cx="34765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a:t>汉诺塔（ </a:t>
            </a:r>
            <a:r>
              <a:rPr lang="en-US" altLang="zh-CN" sz="2000" b="1"/>
              <a:t>Hanoi Tower </a:t>
            </a:r>
            <a:r>
              <a:rPr lang="zh-CN" altLang="en-US" sz="2000" b="1"/>
              <a:t>）</a:t>
            </a:r>
            <a:endParaRPr lang="zh-CN" altLang="en-US" sz="2000" b="1" dirty="0"/>
          </a:p>
        </p:txBody>
      </p:sp>
      <p:sp>
        <p:nvSpPr>
          <p:cNvPr id="61" name="圆角矩形 60"/>
          <p:cNvSpPr/>
          <p:nvPr/>
        </p:nvSpPr>
        <p:spPr>
          <a:xfrm>
            <a:off x="7008134" y="3048968"/>
            <a:ext cx="34765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a:t>编译与程序布局</a:t>
            </a:r>
            <a:endParaRPr lang="zh-CN" altLang="en-US" sz="2000" b="1" dirty="0"/>
          </a:p>
        </p:txBody>
      </p:sp>
      <p:sp>
        <p:nvSpPr>
          <p:cNvPr id="62" name="圆角矩形 61"/>
          <p:cNvSpPr/>
          <p:nvPr/>
        </p:nvSpPr>
        <p:spPr>
          <a:xfrm>
            <a:off x="7008134" y="4016893"/>
            <a:ext cx="34765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头文件初步</a:t>
            </a:r>
          </a:p>
        </p:txBody>
      </p:sp>
      <p:sp>
        <p:nvSpPr>
          <p:cNvPr id="63" name="圆角矩形 62"/>
          <p:cNvSpPr/>
          <p:nvPr/>
        </p:nvSpPr>
        <p:spPr>
          <a:xfrm>
            <a:off x="7008134" y="4984820"/>
            <a:ext cx="34765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题库实战案例研究</a:t>
            </a:r>
          </a:p>
        </p:txBody>
      </p:sp>
      <p:sp>
        <p:nvSpPr>
          <p:cNvPr id="64" name="TextBox 78"/>
          <p:cNvSpPr txBox="1"/>
          <p:nvPr/>
        </p:nvSpPr>
        <p:spPr>
          <a:xfrm>
            <a:off x="565975" y="3733289"/>
            <a:ext cx="2063385" cy="502766"/>
          </a:xfrm>
          <a:prstGeom prst="rect">
            <a:avLst/>
          </a:prstGeom>
          <a:noFill/>
        </p:spPr>
        <p:txBody>
          <a:bodyPr wrap="none" rtlCol="0">
            <a:spAutoFit/>
          </a:bodyPr>
          <a:lstStyle/>
          <a:p>
            <a:pPr algn="ctr"/>
            <a:r>
              <a:rPr lang="en-US" altLang="zh-CN" sz="2665" b="1" dirty="0">
                <a:solidFill>
                  <a:schemeClr val="bg1"/>
                </a:solidFill>
                <a:latin typeface="Impact MT Std" pitchFamily="34" charset="0"/>
                <a:ea typeface="微软雅黑" panose="020B0503020204020204" pitchFamily="34" charset="-122"/>
              </a:rPr>
              <a:t>CONTENTS</a:t>
            </a:r>
            <a:endParaRPr lang="zh-CN" altLang="en-US" sz="2665" b="1" dirty="0">
              <a:solidFill>
                <a:schemeClr val="bg1"/>
              </a:solidFill>
              <a:latin typeface="Impact MT Std" pitchFamily="34" charset="0"/>
              <a:ea typeface="微软雅黑" panose="020B0503020204020204" pitchFamily="34" charset="-122"/>
            </a:endParaRPr>
          </a:p>
        </p:txBody>
      </p:sp>
      <p:sp>
        <p:nvSpPr>
          <p:cNvPr id="65" name="TextBox 79"/>
          <p:cNvSpPr txBox="1"/>
          <p:nvPr/>
        </p:nvSpPr>
        <p:spPr>
          <a:xfrm>
            <a:off x="641317" y="2677173"/>
            <a:ext cx="1912703" cy="995209"/>
          </a:xfrm>
          <a:prstGeom prst="rect">
            <a:avLst/>
          </a:prstGeom>
          <a:noFill/>
        </p:spPr>
        <p:txBody>
          <a:bodyPr wrap="none" rtlCol="0">
            <a:spAutoFit/>
          </a:bodyPr>
          <a:lstStyle/>
          <a:p>
            <a:pPr algn="ctr"/>
            <a:r>
              <a:rPr lang="zh-CN" altLang="en-US" sz="5865" b="1" dirty="0">
                <a:solidFill>
                  <a:schemeClr val="bg1"/>
                </a:solidFill>
                <a:latin typeface="微软雅黑" panose="020B0503020204020204" pitchFamily="34" charset="-122"/>
                <a:ea typeface="微软雅黑" panose="020B0503020204020204" pitchFamily="34" charset="-122"/>
              </a:rPr>
              <a:t>目 录</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330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50" fill="hold"/>
                                        <p:tgtEl>
                                          <p:spTgt spid="2"/>
                                        </p:tgtEl>
                                        <p:attrNameLst>
                                          <p:attrName>ppt_x</p:attrName>
                                        </p:attrNameLst>
                                      </p:cBhvr>
                                      <p:tavLst>
                                        <p:tav tm="0">
                                          <p:val>
                                            <p:strVal val="0-#ppt_w/2"/>
                                          </p:val>
                                        </p:tav>
                                        <p:tav tm="100000">
                                          <p:val>
                                            <p:strVal val="#ppt_x"/>
                                          </p:val>
                                        </p:tav>
                                      </p:tavLst>
                                    </p:anim>
                                    <p:anim calcmode="lin" valueType="num">
                                      <p:cBhvr additive="base">
                                        <p:cTn id="8" dur="75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decel="5330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750" fill="hold"/>
                                        <p:tgtEl>
                                          <p:spTgt spid="17"/>
                                        </p:tgtEl>
                                        <p:attrNameLst>
                                          <p:attrName>ppt_x</p:attrName>
                                        </p:attrNameLst>
                                      </p:cBhvr>
                                      <p:tavLst>
                                        <p:tav tm="0">
                                          <p:val>
                                            <p:strVal val="0-#ppt_w/2"/>
                                          </p:val>
                                        </p:tav>
                                        <p:tav tm="100000">
                                          <p:val>
                                            <p:strVal val="#ppt_x"/>
                                          </p:val>
                                        </p:tav>
                                      </p:tavLst>
                                    </p:anim>
                                    <p:anim calcmode="lin" valueType="num">
                                      <p:cBhvr additive="base">
                                        <p:cTn id="12" dur="750" fill="hold"/>
                                        <p:tgtEl>
                                          <p:spTgt spid="17"/>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53" presetClass="entr" presetSubtype="16" fill="hold" grpId="0" nodeType="afterEffect">
                                  <p:stCondLst>
                                    <p:cond delay="0"/>
                                  </p:stCondLst>
                                  <p:childTnLst>
                                    <p:set>
                                      <p:cBhvr>
                                        <p:cTn id="15" dur="1" fill="hold">
                                          <p:stCondLst>
                                            <p:cond delay="0"/>
                                          </p:stCondLst>
                                        </p:cTn>
                                        <p:tgtEl>
                                          <p:spTgt spid="65"/>
                                        </p:tgtEl>
                                        <p:attrNameLst>
                                          <p:attrName>style.visibility</p:attrName>
                                        </p:attrNameLst>
                                      </p:cBhvr>
                                      <p:to>
                                        <p:strVal val="visible"/>
                                      </p:to>
                                    </p:set>
                                    <p:anim calcmode="lin" valueType="num">
                                      <p:cBhvr>
                                        <p:cTn id="16" dur="500" fill="hold"/>
                                        <p:tgtEl>
                                          <p:spTgt spid="65"/>
                                        </p:tgtEl>
                                        <p:attrNameLst>
                                          <p:attrName>ppt_w</p:attrName>
                                        </p:attrNameLst>
                                      </p:cBhvr>
                                      <p:tavLst>
                                        <p:tav tm="0">
                                          <p:val>
                                            <p:fltVal val="0"/>
                                          </p:val>
                                        </p:tav>
                                        <p:tav tm="100000">
                                          <p:val>
                                            <p:strVal val="#ppt_w"/>
                                          </p:val>
                                        </p:tav>
                                      </p:tavLst>
                                    </p:anim>
                                    <p:anim calcmode="lin" valueType="num">
                                      <p:cBhvr>
                                        <p:cTn id="17" dur="500" fill="hold"/>
                                        <p:tgtEl>
                                          <p:spTgt spid="65"/>
                                        </p:tgtEl>
                                        <p:attrNameLst>
                                          <p:attrName>ppt_h</p:attrName>
                                        </p:attrNameLst>
                                      </p:cBhvr>
                                      <p:tavLst>
                                        <p:tav tm="0">
                                          <p:val>
                                            <p:fltVal val="0"/>
                                          </p:val>
                                        </p:tav>
                                        <p:tav tm="100000">
                                          <p:val>
                                            <p:strVal val="#ppt_h"/>
                                          </p:val>
                                        </p:tav>
                                      </p:tavLst>
                                    </p:anim>
                                    <p:animEffect transition="in" filter="fade">
                                      <p:cBhvr>
                                        <p:cTn id="18" dur="500"/>
                                        <p:tgtEl>
                                          <p:spTgt spid="65"/>
                                        </p:tgtEl>
                                      </p:cBhvr>
                                    </p:animEffect>
                                  </p:childTnLst>
                                </p:cTn>
                              </p:par>
                              <p:par>
                                <p:cTn id="19" presetID="53" presetClass="entr" presetSubtype="16" fill="hold" grpId="0" nodeType="withEffect">
                                  <p:stCondLst>
                                    <p:cond delay="0"/>
                                  </p:stCondLst>
                                  <p:childTnLst>
                                    <p:set>
                                      <p:cBhvr>
                                        <p:cTn id="20" dur="1" fill="hold">
                                          <p:stCondLst>
                                            <p:cond delay="0"/>
                                          </p:stCondLst>
                                        </p:cTn>
                                        <p:tgtEl>
                                          <p:spTgt spid="64"/>
                                        </p:tgtEl>
                                        <p:attrNameLst>
                                          <p:attrName>style.visibility</p:attrName>
                                        </p:attrNameLst>
                                      </p:cBhvr>
                                      <p:to>
                                        <p:strVal val="visible"/>
                                      </p:to>
                                    </p:set>
                                    <p:anim calcmode="lin" valueType="num">
                                      <p:cBhvr>
                                        <p:cTn id="21" dur="500" fill="hold"/>
                                        <p:tgtEl>
                                          <p:spTgt spid="64"/>
                                        </p:tgtEl>
                                        <p:attrNameLst>
                                          <p:attrName>ppt_w</p:attrName>
                                        </p:attrNameLst>
                                      </p:cBhvr>
                                      <p:tavLst>
                                        <p:tav tm="0">
                                          <p:val>
                                            <p:fltVal val="0"/>
                                          </p:val>
                                        </p:tav>
                                        <p:tav tm="100000">
                                          <p:val>
                                            <p:strVal val="#ppt_w"/>
                                          </p:val>
                                        </p:tav>
                                      </p:tavLst>
                                    </p:anim>
                                    <p:anim calcmode="lin" valueType="num">
                                      <p:cBhvr>
                                        <p:cTn id="22" dur="500" fill="hold"/>
                                        <p:tgtEl>
                                          <p:spTgt spid="64"/>
                                        </p:tgtEl>
                                        <p:attrNameLst>
                                          <p:attrName>ppt_h</p:attrName>
                                        </p:attrNameLst>
                                      </p:cBhvr>
                                      <p:tavLst>
                                        <p:tav tm="0">
                                          <p:val>
                                            <p:fltVal val="0"/>
                                          </p:val>
                                        </p:tav>
                                        <p:tav tm="100000">
                                          <p:val>
                                            <p:strVal val="#ppt_h"/>
                                          </p:val>
                                        </p:tav>
                                      </p:tavLst>
                                    </p:anim>
                                    <p:animEffect transition="in" filter="fade">
                                      <p:cBhvr>
                                        <p:cTn id="23" dur="500"/>
                                        <p:tgtEl>
                                          <p:spTgt spid="64"/>
                                        </p:tgtEl>
                                      </p:cBhvr>
                                    </p:animEffect>
                                  </p:childTnLst>
                                </p:cTn>
                              </p:par>
                            </p:childTnLst>
                          </p:cTn>
                        </p:par>
                        <p:par>
                          <p:cTn id="24" fill="hold">
                            <p:stCondLst>
                              <p:cond delay="1500"/>
                            </p:stCondLst>
                            <p:childTnLst>
                              <p:par>
                                <p:cTn id="25" presetID="53" presetClass="entr" presetSubtype="16" fill="hold" grpId="0" nodeType="after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p:cTn id="27" dur="500" fill="hold"/>
                                        <p:tgtEl>
                                          <p:spTgt spid="5"/>
                                        </p:tgtEl>
                                        <p:attrNameLst>
                                          <p:attrName>ppt_w</p:attrName>
                                        </p:attrNameLst>
                                      </p:cBhvr>
                                      <p:tavLst>
                                        <p:tav tm="0">
                                          <p:val>
                                            <p:fltVal val="0"/>
                                          </p:val>
                                        </p:tav>
                                        <p:tav tm="100000">
                                          <p:val>
                                            <p:strVal val="#ppt_w"/>
                                          </p:val>
                                        </p:tav>
                                      </p:tavLst>
                                    </p:anim>
                                    <p:anim calcmode="lin" valueType="num">
                                      <p:cBhvr>
                                        <p:cTn id="28" dur="500" fill="hold"/>
                                        <p:tgtEl>
                                          <p:spTgt spid="5"/>
                                        </p:tgtEl>
                                        <p:attrNameLst>
                                          <p:attrName>ppt_h</p:attrName>
                                        </p:attrNameLst>
                                      </p:cBhvr>
                                      <p:tavLst>
                                        <p:tav tm="0">
                                          <p:val>
                                            <p:fltVal val="0"/>
                                          </p:val>
                                        </p:tav>
                                        <p:tav tm="100000">
                                          <p:val>
                                            <p:strVal val="#ppt_h"/>
                                          </p:val>
                                        </p:tav>
                                      </p:tavLst>
                                    </p:anim>
                                    <p:animEffect transition="in" filter="fade">
                                      <p:cBhvr>
                                        <p:cTn id="29" dur="500"/>
                                        <p:tgtEl>
                                          <p:spTgt spid="5"/>
                                        </p:tgtEl>
                                      </p:cBhvr>
                                    </p:animEffect>
                                  </p:childTnLst>
                                </p:cTn>
                              </p:par>
                              <p:par>
                                <p:cTn id="30" presetID="2" presetClass="entr" presetSubtype="2" decel="53300" fill="hold" grpId="0" nodeType="withEffect">
                                  <p:stCondLst>
                                    <p:cond delay="250"/>
                                  </p:stCondLst>
                                  <p:childTnLst>
                                    <p:set>
                                      <p:cBhvr>
                                        <p:cTn id="31" dur="1" fill="hold">
                                          <p:stCondLst>
                                            <p:cond delay="0"/>
                                          </p:stCondLst>
                                        </p:cTn>
                                        <p:tgtEl>
                                          <p:spTgt spid="59"/>
                                        </p:tgtEl>
                                        <p:attrNameLst>
                                          <p:attrName>style.visibility</p:attrName>
                                        </p:attrNameLst>
                                      </p:cBhvr>
                                      <p:to>
                                        <p:strVal val="visible"/>
                                      </p:to>
                                    </p:set>
                                    <p:anim calcmode="lin" valueType="num">
                                      <p:cBhvr additive="base">
                                        <p:cTn id="32" dur="750" fill="hold"/>
                                        <p:tgtEl>
                                          <p:spTgt spid="59"/>
                                        </p:tgtEl>
                                        <p:attrNameLst>
                                          <p:attrName>ppt_x</p:attrName>
                                        </p:attrNameLst>
                                      </p:cBhvr>
                                      <p:tavLst>
                                        <p:tav tm="0">
                                          <p:val>
                                            <p:strVal val="1+#ppt_w/2"/>
                                          </p:val>
                                        </p:tav>
                                        <p:tav tm="100000">
                                          <p:val>
                                            <p:strVal val="#ppt_x"/>
                                          </p:val>
                                        </p:tav>
                                      </p:tavLst>
                                    </p:anim>
                                    <p:anim calcmode="lin" valueType="num">
                                      <p:cBhvr additive="base">
                                        <p:cTn id="33" dur="750" fill="hold"/>
                                        <p:tgtEl>
                                          <p:spTgt spid="59"/>
                                        </p:tgtEl>
                                        <p:attrNameLst>
                                          <p:attrName>ppt_y</p:attrName>
                                        </p:attrNameLst>
                                      </p:cBhvr>
                                      <p:tavLst>
                                        <p:tav tm="0">
                                          <p:val>
                                            <p:strVal val="#ppt_y"/>
                                          </p:val>
                                        </p:tav>
                                        <p:tav tm="100000">
                                          <p:val>
                                            <p:strVal val="#ppt_y"/>
                                          </p:val>
                                        </p:tav>
                                      </p:tavLst>
                                    </p:anim>
                                  </p:childTnLst>
                                </p:cTn>
                              </p:par>
                            </p:childTnLst>
                          </p:cTn>
                        </p:par>
                        <p:par>
                          <p:cTn id="34" fill="hold">
                            <p:stCondLst>
                              <p:cond delay="2000"/>
                            </p:stCondLst>
                            <p:childTnLst>
                              <p:par>
                                <p:cTn id="35" presetID="53" presetClass="entr" presetSubtype="16" fill="hold" grpId="0" nodeType="after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p:cTn id="37" dur="500" fill="hold"/>
                                        <p:tgtEl>
                                          <p:spTgt spid="6"/>
                                        </p:tgtEl>
                                        <p:attrNameLst>
                                          <p:attrName>ppt_w</p:attrName>
                                        </p:attrNameLst>
                                      </p:cBhvr>
                                      <p:tavLst>
                                        <p:tav tm="0">
                                          <p:val>
                                            <p:fltVal val="0"/>
                                          </p:val>
                                        </p:tav>
                                        <p:tav tm="100000">
                                          <p:val>
                                            <p:strVal val="#ppt_w"/>
                                          </p:val>
                                        </p:tav>
                                      </p:tavLst>
                                    </p:anim>
                                    <p:anim calcmode="lin" valueType="num">
                                      <p:cBhvr>
                                        <p:cTn id="38" dur="500" fill="hold"/>
                                        <p:tgtEl>
                                          <p:spTgt spid="6"/>
                                        </p:tgtEl>
                                        <p:attrNameLst>
                                          <p:attrName>ppt_h</p:attrName>
                                        </p:attrNameLst>
                                      </p:cBhvr>
                                      <p:tavLst>
                                        <p:tav tm="0">
                                          <p:val>
                                            <p:fltVal val="0"/>
                                          </p:val>
                                        </p:tav>
                                        <p:tav tm="100000">
                                          <p:val>
                                            <p:strVal val="#ppt_h"/>
                                          </p:val>
                                        </p:tav>
                                      </p:tavLst>
                                    </p:anim>
                                    <p:animEffect transition="in" filter="fade">
                                      <p:cBhvr>
                                        <p:cTn id="39" dur="500"/>
                                        <p:tgtEl>
                                          <p:spTgt spid="6"/>
                                        </p:tgtEl>
                                      </p:cBhvr>
                                    </p:animEffect>
                                  </p:childTnLst>
                                </p:cTn>
                              </p:par>
                              <p:par>
                                <p:cTn id="40" presetID="2" presetClass="entr" presetSubtype="2" decel="53300" fill="hold" grpId="0" nodeType="withEffect">
                                  <p:stCondLst>
                                    <p:cond delay="250"/>
                                  </p:stCondLst>
                                  <p:childTnLst>
                                    <p:set>
                                      <p:cBhvr>
                                        <p:cTn id="41" dur="1" fill="hold">
                                          <p:stCondLst>
                                            <p:cond delay="0"/>
                                          </p:stCondLst>
                                        </p:cTn>
                                        <p:tgtEl>
                                          <p:spTgt spid="60"/>
                                        </p:tgtEl>
                                        <p:attrNameLst>
                                          <p:attrName>style.visibility</p:attrName>
                                        </p:attrNameLst>
                                      </p:cBhvr>
                                      <p:to>
                                        <p:strVal val="visible"/>
                                      </p:to>
                                    </p:set>
                                    <p:anim calcmode="lin" valueType="num">
                                      <p:cBhvr additive="base">
                                        <p:cTn id="42" dur="750" fill="hold"/>
                                        <p:tgtEl>
                                          <p:spTgt spid="60"/>
                                        </p:tgtEl>
                                        <p:attrNameLst>
                                          <p:attrName>ppt_x</p:attrName>
                                        </p:attrNameLst>
                                      </p:cBhvr>
                                      <p:tavLst>
                                        <p:tav tm="0">
                                          <p:val>
                                            <p:strVal val="1+#ppt_w/2"/>
                                          </p:val>
                                        </p:tav>
                                        <p:tav tm="100000">
                                          <p:val>
                                            <p:strVal val="#ppt_x"/>
                                          </p:val>
                                        </p:tav>
                                      </p:tavLst>
                                    </p:anim>
                                    <p:anim calcmode="lin" valueType="num">
                                      <p:cBhvr additive="base">
                                        <p:cTn id="43" dur="750" fill="hold"/>
                                        <p:tgtEl>
                                          <p:spTgt spid="60"/>
                                        </p:tgtEl>
                                        <p:attrNameLst>
                                          <p:attrName>ppt_y</p:attrName>
                                        </p:attrNameLst>
                                      </p:cBhvr>
                                      <p:tavLst>
                                        <p:tav tm="0">
                                          <p:val>
                                            <p:strVal val="#ppt_y"/>
                                          </p:val>
                                        </p:tav>
                                        <p:tav tm="100000">
                                          <p:val>
                                            <p:strVal val="#ppt_y"/>
                                          </p:val>
                                        </p:tav>
                                      </p:tavLst>
                                    </p:anim>
                                  </p:childTnLst>
                                </p:cTn>
                              </p:par>
                            </p:childTnLst>
                          </p:cTn>
                        </p:par>
                        <p:par>
                          <p:cTn id="44" fill="hold">
                            <p:stCondLst>
                              <p:cond delay="2500"/>
                            </p:stCondLst>
                            <p:childTnLst>
                              <p:par>
                                <p:cTn id="45" presetID="53" presetClass="entr" presetSubtype="16" fill="hold" grpId="0" nodeType="afterEffect">
                                  <p:stCondLst>
                                    <p:cond delay="0"/>
                                  </p:stCondLst>
                                  <p:childTnLst>
                                    <p:set>
                                      <p:cBhvr>
                                        <p:cTn id="46" dur="1" fill="hold">
                                          <p:stCondLst>
                                            <p:cond delay="0"/>
                                          </p:stCondLst>
                                        </p:cTn>
                                        <p:tgtEl>
                                          <p:spTgt spid="7"/>
                                        </p:tgtEl>
                                        <p:attrNameLst>
                                          <p:attrName>style.visibility</p:attrName>
                                        </p:attrNameLst>
                                      </p:cBhvr>
                                      <p:to>
                                        <p:strVal val="visible"/>
                                      </p:to>
                                    </p:set>
                                    <p:anim calcmode="lin" valueType="num">
                                      <p:cBhvr>
                                        <p:cTn id="47" dur="500" fill="hold"/>
                                        <p:tgtEl>
                                          <p:spTgt spid="7"/>
                                        </p:tgtEl>
                                        <p:attrNameLst>
                                          <p:attrName>ppt_w</p:attrName>
                                        </p:attrNameLst>
                                      </p:cBhvr>
                                      <p:tavLst>
                                        <p:tav tm="0">
                                          <p:val>
                                            <p:fltVal val="0"/>
                                          </p:val>
                                        </p:tav>
                                        <p:tav tm="100000">
                                          <p:val>
                                            <p:strVal val="#ppt_w"/>
                                          </p:val>
                                        </p:tav>
                                      </p:tavLst>
                                    </p:anim>
                                    <p:anim calcmode="lin" valueType="num">
                                      <p:cBhvr>
                                        <p:cTn id="48" dur="500" fill="hold"/>
                                        <p:tgtEl>
                                          <p:spTgt spid="7"/>
                                        </p:tgtEl>
                                        <p:attrNameLst>
                                          <p:attrName>ppt_h</p:attrName>
                                        </p:attrNameLst>
                                      </p:cBhvr>
                                      <p:tavLst>
                                        <p:tav tm="0">
                                          <p:val>
                                            <p:fltVal val="0"/>
                                          </p:val>
                                        </p:tav>
                                        <p:tav tm="100000">
                                          <p:val>
                                            <p:strVal val="#ppt_h"/>
                                          </p:val>
                                        </p:tav>
                                      </p:tavLst>
                                    </p:anim>
                                    <p:animEffect transition="in" filter="fade">
                                      <p:cBhvr>
                                        <p:cTn id="49" dur="500"/>
                                        <p:tgtEl>
                                          <p:spTgt spid="7"/>
                                        </p:tgtEl>
                                      </p:cBhvr>
                                    </p:animEffect>
                                  </p:childTnLst>
                                </p:cTn>
                              </p:par>
                              <p:par>
                                <p:cTn id="50" presetID="2" presetClass="entr" presetSubtype="2" decel="53300" fill="hold" grpId="0" nodeType="withEffect">
                                  <p:stCondLst>
                                    <p:cond delay="250"/>
                                  </p:stCondLst>
                                  <p:childTnLst>
                                    <p:set>
                                      <p:cBhvr>
                                        <p:cTn id="51" dur="1" fill="hold">
                                          <p:stCondLst>
                                            <p:cond delay="0"/>
                                          </p:stCondLst>
                                        </p:cTn>
                                        <p:tgtEl>
                                          <p:spTgt spid="61"/>
                                        </p:tgtEl>
                                        <p:attrNameLst>
                                          <p:attrName>style.visibility</p:attrName>
                                        </p:attrNameLst>
                                      </p:cBhvr>
                                      <p:to>
                                        <p:strVal val="visible"/>
                                      </p:to>
                                    </p:set>
                                    <p:anim calcmode="lin" valueType="num">
                                      <p:cBhvr additive="base">
                                        <p:cTn id="52" dur="750" fill="hold"/>
                                        <p:tgtEl>
                                          <p:spTgt spid="61"/>
                                        </p:tgtEl>
                                        <p:attrNameLst>
                                          <p:attrName>ppt_x</p:attrName>
                                        </p:attrNameLst>
                                      </p:cBhvr>
                                      <p:tavLst>
                                        <p:tav tm="0">
                                          <p:val>
                                            <p:strVal val="1+#ppt_w/2"/>
                                          </p:val>
                                        </p:tav>
                                        <p:tav tm="100000">
                                          <p:val>
                                            <p:strVal val="#ppt_x"/>
                                          </p:val>
                                        </p:tav>
                                      </p:tavLst>
                                    </p:anim>
                                    <p:anim calcmode="lin" valueType="num">
                                      <p:cBhvr additive="base">
                                        <p:cTn id="53" dur="750" fill="hold"/>
                                        <p:tgtEl>
                                          <p:spTgt spid="61"/>
                                        </p:tgtEl>
                                        <p:attrNameLst>
                                          <p:attrName>ppt_y</p:attrName>
                                        </p:attrNameLst>
                                      </p:cBhvr>
                                      <p:tavLst>
                                        <p:tav tm="0">
                                          <p:val>
                                            <p:strVal val="#ppt_y"/>
                                          </p:val>
                                        </p:tav>
                                        <p:tav tm="100000">
                                          <p:val>
                                            <p:strVal val="#ppt_y"/>
                                          </p:val>
                                        </p:tav>
                                      </p:tavLst>
                                    </p:anim>
                                  </p:childTnLst>
                                </p:cTn>
                              </p:par>
                            </p:childTnLst>
                          </p:cTn>
                        </p:par>
                        <p:par>
                          <p:cTn id="54" fill="hold">
                            <p:stCondLst>
                              <p:cond delay="3000"/>
                            </p:stCondLst>
                            <p:childTnLst>
                              <p:par>
                                <p:cTn id="55" presetID="53" presetClass="entr" presetSubtype="16" fill="hold" grpId="0" nodeType="afterEffect">
                                  <p:stCondLst>
                                    <p:cond delay="0"/>
                                  </p:stCondLst>
                                  <p:childTnLst>
                                    <p:set>
                                      <p:cBhvr>
                                        <p:cTn id="56" dur="1" fill="hold">
                                          <p:stCondLst>
                                            <p:cond delay="0"/>
                                          </p:stCondLst>
                                        </p:cTn>
                                        <p:tgtEl>
                                          <p:spTgt spid="8"/>
                                        </p:tgtEl>
                                        <p:attrNameLst>
                                          <p:attrName>style.visibility</p:attrName>
                                        </p:attrNameLst>
                                      </p:cBhvr>
                                      <p:to>
                                        <p:strVal val="visible"/>
                                      </p:to>
                                    </p:set>
                                    <p:anim calcmode="lin" valueType="num">
                                      <p:cBhvr>
                                        <p:cTn id="57" dur="500" fill="hold"/>
                                        <p:tgtEl>
                                          <p:spTgt spid="8"/>
                                        </p:tgtEl>
                                        <p:attrNameLst>
                                          <p:attrName>ppt_w</p:attrName>
                                        </p:attrNameLst>
                                      </p:cBhvr>
                                      <p:tavLst>
                                        <p:tav tm="0">
                                          <p:val>
                                            <p:fltVal val="0"/>
                                          </p:val>
                                        </p:tav>
                                        <p:tav tm="100000">
                                          <p:val>
                                            <p:strVal val="#ppt_w"/>
                                          </p:val>
                                        </p:tav>
                                      </p:tavLst>
                                    </p:anim>
                                    <p:anim calcmode="lin" valueType="num">
                                      <p:cBhvr>
                                        <p:cTn id="58" dur="500" fill="hold"/>
                                        <p:tgtEl>
                                          <p:spTgt spid="8"/>
                                        </p:tgtEl>
                                        <p:attrNameLst>
                                          <p:attrName>ppt_h</p:attrName>
                                        </p:attrNameLst>
                                      </p:cBhvr>
                                      <p:tavLst>
                                        <p:tav tm="0">
                                          <p:val>
                                            <p:fltVal val="0"/>
                                          </p:val>
                                        </p:tav>
                                        <p:tav tm="100000">
                                          <p:val>
                                            <p:strVal val="#ppt_h"/>
                                          </p:val>
                                        </p:tav>
                                      </p:tavLst>
                                    </p:anim>
                                    <p:animEffect transition="in" filter="fade">
                                      <p:cBhvr>
                                        <p:cTn id="59" dur="500"/>
                                        <p:tgtEl>
                                          <p:spTgt spid="8"/>
                                        </p:tgtEl>
                                      </p:cBhvr>
                                    </p:animEffect>
                                  </p:childTnLst>
                                </p:cTn>
                              </p:par>
                              <p:par>
                                <p:cTn id="60" presetID="2" presetClass="entr" presetSubtype="2" decel="53300" fill="hold" grpId="0" nodeType="withEffect">
                                  <p:stCondLst>
                                    <p:cond delay="250"/>
                                  </p:stCondLst>
                                  <p:childTnLst>
                                    <p:set>
                                      <p:cBhvr>
                                        <p:cTn id="61" dur="1" fill="hold">
                                          <p:stCondLst>
                                            <p:cond delay="0"/>
                                          </p:stCondLst>
                                        </p:cTn>
                                        <p:tgtEl>
                                          <p:spTgt spid="62"/>
                                        </p:tgtEl>
                                        <p:attrNameLst>
                                          <p:attrName>style.visibility</p:attrName>
                                        </p:attrNameLst>
                                      </p:cBhvr>
                                      <p:to>
                                        <p:strVal val="visible"/>
                                      </p:to>
                                    </p:set>
                                    <p:anim calcmode="lin" valueType="num">
                                      <p:cBhvr additive="base">
                                        <p:cTn id="62" dur="750" fill="hold"/>
                                        <p:tgtEl>
                                          <p:spTgt spid="62"/>
                                        </p:tgtEl>
                                        <p:attrNameLst>
                                          <p:attrName>ppt_x</p:attrName>
                                        </p:attrNameLst>
                                      </p:cBhvr>
                                      <p:tavLst>
                                        <p:tav tm="0">
                                          <p:val>
                                            <p:strVal val="1+#ppt_w/2"/>
                                          </p:val>
                                        </p:tav>
                                        <p:tav tm="100000">
                                          <p:val>
                                            <p:strVal val="#ppt_x"/>
                                          </p:val>
                                        </p:tav>
                                      </p:tavLst>
                                    </p:anim>
                                    <p:anim calcmode="lin" valueType="num">
                                      <p:cBhvr additive="base">
                                        <p:cTn id="63" dur="750" fill="hold"/>
                                        <p:tgtEl>
                                          <p:spTgt spid="62"/>
                                        </p:tgtEl>
                                        <p:attrNameLst>
                                          <p:attrName>ppt_y</p:attrName>
                                        </p:attrNameLst>
                                      </p:cBhvr>
                                      <p:tavLst>
                                        <p:tav tm="0">
                                          <p:val>
                                            <p:strVal val="#ppt_y"/>
                                          </p:val>
                                        </p:tav>
                                        <p:tav tm="100000">
                                          <p:val>
                                            <p:strVal val="#ppt_y"/>
                                          </p:val>
                                        </p:tav>
                                      </p:tavLst>
                                    </p:anim>
                                  </p:childTnLst>
                                </p:cTn>
                              </p:par>
                            </p:childTnLst>
                          </p:cTn>
                        </p:par>
                        <p:par>
                          <p:cTn id="64" fill="hold">
                            <p:stCondLst>
                              <p:cond delay="4000"/>
                            </p:stCondLst>
                            <p:childTnLst>
                              <p:par>
                                <p:cTn id="65" presetID="53" presetClass="entr" presetSubtype="16" fill="hold" grpId="0" nodeType="afterEffect">
                                  <p:stCondLst>
                                    <p:cond delay="0"/>
                                  </p:stCondLst>
                                  <p:childTnLst>
                                    <p:set>
                                      <p:cBhvr>
                                        <p:cTn id="66" dur="1" fill="hold">
                                          <p:stCondLst>
                                            <p:cond delay="0"/>
                                          </p:stCondLst>
                                        </p:cTn>
                                        <p:tgtEl>
                                          <p:spTgt spid="9"/>
                                        </p:tgtEl>
                                        <p:attrNameLst>
                                          <p:attrName>style.visibility</p:attrName>
                                        </p:attrNameLst>
                                      </p:cBhvr>
                                      <p:to>
                                        <p:strVal val="visible"/>
                                      </p:to>
                                    </p:set>
                                    <p:anim calcmode="lin" valueType="num">
                                      <p:cBhvr>
                                        <p:cTn id="67" dur="500" fill="hold"/>
                                        <p:tgtEl>
                                          <p:spTgt spid="9"/>
                                        </p:tgtEl>
                                        <p:attrNameLst>
                                          <p:attrName>ppt_w</p:attrName>
                                        </p:attrNameLst>
                                      </p:cBhvr>
                                      <p:tavLst>
                                        <p:tav tm="0">
                                          <p:val>
                                            <p:fltVal val="0"/>
                                          </p:val>
                                        </p:tav>
                                        <p:tav tm="100000">
                                          <p:val>
                                            <p:strVal val="#ppt_w"/>
                                          </p:val>
                                        </p:tav>
                                      </p:tavLst>
                                    </p:anim>
                                    <p:anim calcmode="lin" valueType="num">
                                      <p:cBhvr>
                                        <p:cTn id="68" dur="500" fill="hold"/>
                                        <p:tgtEl>
                                          <p:spTgt spid="9"/>
                                        </p:tgtEl>
                                        <p:attrNameLst>
                                          <p:attrName>ppt_h</p:attrName>
                                        </p:attrNameLst>
                                      </p:cBhvr>
                                      <p:tavLst>
                                        <p:tav tm="0">
                                          <p:val>
                                            <p:fltVal val="0"/>
                                          </p:val>
                                        </p:tav>
                                        <p:tav tm="100000">
                                          <p:val>
                                            <p:strVal val="#ppt_h"/>
                                          </p:val>
                                        </p:tav>
                                      </p:tavLst>
                                    </p:anim>
                                    <p:animEffect transition="in" filter="fade">
                                      <p:cBhvr>
                                        <p:cTn id="69" dur="500"/>
                                        <p:tgtEl>
                                          <p:spTgt spid="9"/>
                                        </p:tgtEl>
                                      </p:cBhvr>
                                    </p:animEffect>
                                  </p:childTnLst>
                                </p:cTn>
                              </p:par>
                              <p:par>
                                <p:cTn id="70" presetID="2" presetClass="entr" presetSubtype="2" decel="53300" fill="hold" grpId="0" nodeType="withEffect">
                                  <p:stCondLst>
                                    <p:cond delay="250"/>
                                  </p:stCondLst>
                                  <p:childTnLst>
                                    <p:set>
                                      <p:cBhvr>
                                        <p:cTn id="71" dur="1" fill="hold">
                                          <p:stCondLst>
                                            <p:cond delay="0"/>
                                          </p:stCondLst>
                                        </p:cTn>
                                        <p:tgtEl>
                                          <p:spTgt spid="63"/>
                                        </p:tgtEl>
                                        <p:attrNameLst>
                                          <p:attrName>style.visibility</p:attrName>
                                        </p:attrNameLst>
                                      </p:cBhvr>
                                      <p:to>
                                        <p:strVal val="visible"/>
                                      </p:to>
                                    </p:set>
                                    <p:anim calcmode="lin" valueType="num">
                                      <p:cBhvr additive="base">
                                        <p:cTn id="72" dur="750" fill="hold"/>
                                        <p:tgtEl>
                                          <p:spTgt spid="63"/>
                                        </p:tgtEl>
                                        <p:attrNameLst>
                                          <p:attrName>ppt_x</p:attrName>
                                        </p:attrNameLst>
                                      </p:cBhvr>
                                      <p:tavLst>
                                        <p:tav tm="0">
                                          <p:val>
                                            <p:strVal val="1+#ppt_w/2"/>
                                          </p:val>
                                        </p:tav>
                                        <p:tav tm="100000">
                                          <p:val>
                                            <p:strVal val="#ppt_x"/>
                                          </p:val>
                                        </p:tav>
                                      </p:tavLst>
                                    </p:anim>
                                    <p:anim calcmode="lin" valueType="num">
                                      <p:cBhvr additive="base">
                                        <p:cTn id="73" dur="750" fill="hold"/>
                                        <p:tgtEl>
                                          <p:spTgt spid="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 grpId="0" animBg="1"/>
      <p:bldP spid="5" grpId="0" animBg="1"/>
      <p:bldP spid="6" grpId="0" animBg="1"/>
      <p:bldP spid="7" grpId="0" animBg="1"/>
      <p:bldP spid="8" grpId="0" animBg="1"/>
      <p:bldP spid="9" grpId="0" animBg="1"/>
      <p:bldP spid="59" grpId="0" animBg="1"/>
      <p:bldP spid="60" grpId="0" animBg="1"/>
      <p:bldP spid="61" grpId="0" animBg="1"/>
      <p:bldP spid="62" grpId="0" animBg="1"/>
      <p:bldP spid="63" grpId="0" animBg="1"/>
      <p:bldP spid="64" grpId="0"/>
      <p:bldP spid="6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问题求解</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2" name="文本框 1"/>
          <p:cNvSpPr txBox="1"/>
          <p:nvPr/>
        </p:nvSpPr>
        <p:spPr>
          <a:xfrm>
            <a:off x="1074657" y="1738207"/>
            <a:ext cx="7881520" cy="4857548"/>
          </a:xfrm>
          <a:prstGeom prst="rect">
            <a:avLst/>
          </a:prstGeom>
          <a:noFill/>
        </p:spPr>
        <p:txBody>
          <a:bodyPr wrap="square" rtlCol="0">
            <a:noAutofit/>
          </a:bodyPr>
          <a:lstStyle/>
          <a:p>
            <a:r>
              <a:rPr lang="zh-CN" altLang="en-US" sz="2400" b="1" dirty="0">
                <a:latin typeface="微软雅黑" panose="020B0503020204020204" pitchFamily="34" charset="-122"/>
                <a:ea typeface="微软雅黑" panose="020B0503020204020204" pitchFamily="34" charset="-122"/>
              </a:rPr>
              <a:t>问题求解（</a:t>
            </a:r>
            <a:r>
              <a:rPr lang="en-US" altLang="zh-CN" b="1" i="1" dirty="0">
                <a:latin typeface="微软雅黑" panose="020B0503020204020204" pitchFamily="34" charset="-122"/>
                <a:ea typeface="微软雅黑" panose="020B0503020204020204" pitchFamily="34" charset="-122"/>
              </a:rPr>
              <a:t>problem solving</a:t>
            </a:r>
            <a:r>
              <a:rPr lang="zh-CN" altLang="en-US" sz="2400" b="1"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一般方法：</a:t>
            </a:r>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a:p>
            <a:pPr marL="457200" indent="-457200">
              <a:buFont typeface="+mj-lt"/>
              <a:buAutoNum type="arabicPeriod"/>
            </a:pPr>
            <a:r>
              <a:rPr lang="en-US" altLang="zh-CN" sz="2400" i="1" dirty="0">
                <a:latin typeface="微软雅黑" panose="020B0503020204020204" pitchFamily="34" charset="-122"/>
                <a:ea typeface="微软雅黑" panose="020B0503020204020204" pitchFamily="34" charset="-122"/>
              </a:rPr>
              <a:t>What do I know about the problem? </a:t>
            </a:r>
            <a:r>
              <a:rPr lang="zh-CN" altLang="en-US" sz="2400" dirty="0"/>
              <a:t> </a:t>
            </a:r>
            <a:r>
              <a:rPr lang="zh-CN" altLang="en-US" sz="2000" b="1" dirty="0">
                <a:solidFill>
                  <a:srgbClr val="FF0000"/>
                </a:solidFill>
              </a:rPr>
              <a:t>了解问题</a:t>
            </a:r>
            <a:endParaRPr lang="en-US" altLang="zh-CN" sz="2400" b="1" i="1" dirty="0">
              <a:solidFill>
                <a:srgbClr val="FF0000"/>
              </a:solidFill>
              <a:latin typeface="微软雅黑" panose="020B0503020204020204" pitchFamily="34" charset="-122"/>
              <a:ea typeface="微软雅黑" panose="020B0503020204020204" pitchFamily="34" charset="-122"/>
            </a:endParaRPr>
          </a:p>
          <a:p>
            <a:pPr marL="457200" indent="-457200">
              <a:buFont typeface="+mj-lt"/>
              <a:buAutoNum type="arabicPeriod"/>
            </a:pPr>
            <a:r>
              <a:rPr lang="en-US" altLang="zh-CN" sz="2400" i="1" dirty="0">
                <a:latin typeface="微软雅黑" panose="020B0503020204020204" pitchFamily="34" charset="-122"/>
                <a:ea typeface="微软雅黑" panose="020B0503020204020204" pitchFamily="34" charset="-122"/>
              </a:rPr>
              <a:t>What is the information that I have to process in order the find the solution? </a:t>
            </a:r>
            <a:r>
              <a:rPr lang="zh-CN" altLang="en-US" b="1" dirty="0">
                <a:solidFill>
                  <a:srgbClr val="FF0000"/>
                </a:solidFill>
              </a:rPr>
              <a:t>为解决问题，须处理哪些信息</a:t>
            </a:r>
            <a:endParaRPr lang="en-US" altLang="zh-CN" b="1" i="1" dirty="0">
              <a:solidFill>
                <a:srgbClr val="FF0000"/>
              </a:solidFill>
              <a:latin typeface="微软雅黑" panose="020B0503020204020204" pitchFamily="34" charset="-122"/>
              <a:ea typeface="微软雅黑" panose="020B0503020204020204" pitchFamily="34" charset="-122"/>
            </a:endParaRPr>
          </a:p>
          <a:p>
            <a:pPr marL="457200" indent="-457200">
              <a:buFont typeface="+mj-lt"/>
              <a:buAutoNum type="arabicPeriod"/>
            </a:pPr>
            <a:r>
              <a:rPr lang="en-US" altLang="zh-CN" sz="2400" i="1" dirty="0">
                <a:latin typeface="微软雅黑" panose="020B0503020204020204" pitchFamily="34" charset="-122"/>
                <a:ea typeface="微软雅黑" panose="020B0503020204020204" pitchFamily="34" charset="-122"/>
              </a:rPr>
              <a:t>What does the solution look like? </a:t>
            </a:r>
            <a:r>
              <a:rPr lang="zh-CN" altLang="en-US" sz="2000" b="1" dirty="0">
                <a:solidFill>
                  <a:srgbClr val="FF0000"/>
                </a:solidFill>
              </a:rPr>
              <a:t>解决方案的样子</a:t>
            </a:r>
            <a:endParaRPr lang="en-US" altLang="zh-CN" sz="2000" b="1" dirty="0">
              <a:solidFill>
                <a:srgbClr val="FF0000"/>
              </a:solidFill>
            </a:endParaRPr>
          </a:p>
          <a:p>
            <a:pPr marL="457200" indent="-457200">
              <a:buFont typeface="+mj-lt"/>
              <a:buAutoNum type="arabicPeriod"/>
            </a:pPr>
            <a:r>
              <a:rPr lang="en-US" altLang="zh-CN" sz="2400" i="1" dirty="0">
                <a:latin typeface="微软雅黑" panose="020B0503020204020204" pitchFamily="34" charset="-122"/>
                <a:ea typeface="微软雅黑" panose="020B0503020204020204" pitchFamily="34" charset="-122"/>
              </a:rPr>
              <a:t>What sort of special cases exist? </a:t>
            </a:r>
            <a:r>
              <a:rPr lang="zh-CN" altLang="en-US" sz="2000" b="1" dirty="0">
                <a:solidFill>
                  <a:srgbClr val="FF0000"/>
                </a:solidFill>
              </a:rPr>
              <a:t>存在的特殊情况</a:t>
            </a:r>
            <a:endParaRPr lang="en-US" altLang="zh-CN" sz="2000" b="1" dirty="0">
              <a:solidFill>
                <a:srgbClr val="FF0000"/>
              </a:solidFill>
            </a:endParaRPr>
          </a:p>
          <a:p>
            <a:pPr marL="457200" indent="-457200">
              <a:buFont typeface="+mj-lt"/>
              <a:buAutoNum type="arabicPeriod"/>
            </a:pPr>
            <a:r>
              <a:rPr lang="en-US" altLang="zh-CN" sz="2400" i="1" dirty="0">
                <a:latin typeface="微软雅黑" panose="020B0503020204020204" pitchFamily="34" charset="-122"/>
                <a:ea typeface="微软雅黑" panose="020B0503020204020204" pitchFamily="34" charset="-122"/>
              </a:rPr>
              <a:t>How will I recognize that I have found </a:t>
            </a:r>
            <a:br>
              <a:rPr lang="en-US" altLang="zh-CN" sz="2400" i="1" dirty="0">
                <a:latin typeface="微软雅黑" panose="020B0503020204020204" pitchFamily="34" charset="-122"/>
                <a:ea typeface="微软雅黑" panose="020B0503020204020204" pitchFamily="34" charset="-122"/>
              </a:rPr>
            </a:br>
            <a:r>
              <a:rPr lang="en-US" altLang="zh-CN" sz="2400" i="1" dirty="0">
                <a:latin typeface="微软雅黑" panose="020B0503020204020204" pitchFamily="34" charset="-122"/>
                <a:ea typeface="微软雅黑" panose="020B0503020204020204" pitchFamily="34" charset="-122"/>
              </a:rPr>
              <a:t>the solution? </a:t>
            </a:r>
            <a:r>
              <a:rPr lang="zh-CN" altLang="en-US" sz="2000" b="1" dirty="0">
                <a:solidFill>
                  <a:srgbClr val="FF0000"/>
                </a:solidFill>
              </a:rPr>
              <a:t>认识找到的解决方案</a:t>
            </a:r>
            <a:endParaRPr lang="en-US" altLang="zh-CN" sz="2000" b="1" dirty="0">
              <a:solidFill>
                <a:srgbClr val="FF0000"/>
              </a:solidFill>
            </a:endParaRPr>
          </a:p>
          <a:p>
            <a:endParaRPr lang="en-US" altLang="zh-CN" sz="2000" b="1" dirty="0">
              <a:solidFill>
                <a:srgbClr val="FF0000"/>
              </a:solidFill>
            </a:endParaRPr>
          </a:p>
          <a:p>
            <a:endParaRPr lang="en-US" altLang="zh-CN" sz="2400" dirty="0">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786AB159-384C-5FFC-7760-F546B59DA5F2}"/>
              </a:ext>
            </a:extLst>
          </p:cNvPr>
          <p:cNvPicPr>
            <a:picLocks noChangeAspect="1"/>
          </p:cNvPicPr>
          <p:nvPr/>
        </p:nvPicPr>
        <p:blipFill>
          <a:blip r:embed="rId4"/>
          <a:stretch>
            <a:fillRect/>
          </a:stretch>
        </p:blipFill>
        <p:spPr>
          <a:xfrm>
            <a:off x="9119478" y="1738207"/>
            <a:ext cx="2571750" cy="3819525"/>
          </a:xfrm>
          <a:prstGeom prst="rect">
            <a:avLst/>
          </a:prstGeom>
        </p:spPr>
      </p:pic>
      <p:sp>
        <p:nvSpPr>
          <p:cNvPr id="4" name="文本框 3">
            <a:extLst>
              <a:ext uri="{FF2B5EF4-FFF2-40B4-BE49-F238E27FC236}">
                <a16:creationId xmlns:a16="http://schemas.microsoft.com/office/drawing/2014/main" id="{908E7BD5-EE80-501F-0D87-21E71B202DC7}"/>
              </a:ext>
            </a:extLst>
          </p:cNvPr>
          <p:cNvSpPr txBox="1"/>
          <p:nvPr/>
        </p:nvSpPr>
        <p:spPr>
          <a:xfrm>
            <a:off x="9343203" y="5557732"/>
            <a:ext cx="2124299" cy="369332"/>
          </a:xfrm>
          <a:prstGeom prst="rect">
            <a:avLst/>
          </a:prstGeom>
          <a:noFill/>
        </p:spPr>
        <p:txBody>
          <a:bodyPr wrap="none" rtlCol="0">
            <a:spAutoFit/>
          </a:bodyPr>
          <a:lstStyle/>
          <a:p>
            <a:r>
              <a:rPr lang="zh-CN" altLang="en-US" b="1" dirty="0"/>
              <a:t>作者</a:t>
            </a:r>
            <a:r>
              <a:rPr lang="en-US" altLang="zh-CN" b="1" dirty="0"/>
              <a:t>: [</a:t>
            </a:r>
            <a:r>
              <a:rPr lang="zh-CN" altLang="en-US" b="1" dirty="0"/>
              <a:t>美</a:t>
            </a:r>
            <a:r>
              <a:rPr lang="en-US" altLang="zh-CN" b="1" dirty="0"/>
              <a:t>] G·</a:t>
            </a:r>
            <a:r>
              <a:rPr lang="zh-CN" altLang="en-US" b="1" dirty="0"/>
              <a:t>波利亚</a:t>
            </a:r>
          </a:p>
        </p:txBody>
      </p:sp>
      <p:sp>
        <p:nvSpPr>
          <p:cNvPr id="5" name="文本框 4">
            <a:extLst>
              <a:ext uri="{FF2B5EF4-FFF2-40B4-BE49-F238E27FC236}">
                <a16:creationId xmlns:a16="http://schemas.microsoft.com/office/drawing/2014/main" id="{34A0C7B8-399A-265E-169C-F3704AA7108A}"/>
              </a:ext>
            </a:extLst>
          </p:cNvPr>
          <p:cNvSpPr txBox="1"/>
          <p:nvPr/>
        </p:nvSpPr>
        <p:spPr>
          <a:xfrm>
            <a:off x="8793804" y="6459166"/>
            <a:ext cx="3214341" cy="369332"/>
          </a:xfrm>
          <a:prstGeom prst="rect">
            <a:avLst/>
          </a:prstGeom>
          <a:noFill/>
        </p:spPr>
        <p:txBody>
          <a:bodyPr wrap="none" rtlCol="0">
            <a:spAutoFit/>
          </a:bodyPr>
          <a:lstStyle/>
          <a:p>
            <a:r>
              <a:rPr lang="zh-CN" altLang="en-US" dirty="0">
                <a:hlinkClick r:id="rId5"/>
              </a:rPr>
              <a:t>怎样解题 </a:t>
            </a:r>
            <a:r>
              <a:rPr lang="en-US" altLang="zh-CN" dirty="0">
                <a:hlinkClick r:id="rId5"/>
              </a:rPr>
              <a:t>(</a:t>
            </a:r>
            <a:r>
              <a:rPr lang="zh-CN" altLang="en-US" dirty="0">
                <a:hlinkClick r:id="rId5"/>
              </a:rPr>
              <a:t>豆瓣</a:t>
            </a:r>
            <a:r>
              <a:rPr lang="en-US" altLang="zh-CN" dirty="0">
                <a:hlinkClick r:id="rId5"/>
              </a:rPr>
              <a:t>) (douban.com)</a:t>
            </a:r>
            <a:endParaRPr lang="zh-CN" altLang="en-US" dirty="0"/>
          </a:p>
        </p:txBody>
      </p:sp>
      <p:sp>
        <p:nvSpPr>
          <p:cNvPr id="6" name="文本框 5">
            <a:extLst>
              <a:ext uri="{FF2B5EF4-FFF2-40B4-BE49-F238E27FC236}">
                <a16:creationId xmlns:a16="http://schemas.microsoft.com/office/drawing/2014/main" id="{75CC4827-C6B2-6D7D-144C-DE042D2FFA0D}"/>
              </a:ext>
            </a:extLst>
          </p:cNvPr>
          <p:cNvSpPr txBox="1"/>
          <p:nvPr/>
        </p:nvSpPr>
        <p:spPr>
          <a:xfrm>
            <a:off x="1074657" y="5710136"/>
            <a:ext cx="7717177" cy="369332"/>
          </a:xfrm>
          <a:prstGeom prst="rect">
            <a:avLst/>
          </a:prstGeom>
          <a:noFill/>
        </p:spPr>
        <p:txBody>
          <a:bodyPr wrap="none" rtlCol="0">
            <a:spAutoFit/>
          </a:bodyPr>
          <a:lstStyle/>
          <a:p>
            <a:r>
              <a:rPr lang="zh-CN" altLang="en-US" dirty="0"/>
              <a:t>计算问题的本质就是数学，这本书可能对你提升问题求解能力有所帮助！</a:t>
            </a:r>
          </a:p>
        </p:txBody>
      </p:sp>
    </p:spTree>
    <p:extLst>
      <p:ext uri="{BB962C8B-B14F-4D97-AF65-F5344CB8AC3E}">
        <p14:creationId xmlns:p14="http://schemas.microsoft.com/office/powerpoint/2010/main" val="4097627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barn(inVertical)">
                                      <p:cBhvr>
                                        <p:cTn id="7" dur="500"/>
                                        <p:tgtEl>
                                          <p:spTgt spid="51"/>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最大公约数 </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 </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问题描述</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mc:AlternateContent xmlns:mc="http://schemas.openxmlformats.org/markup-compatibility/2006">
        <mc:Choice xmlns:a14="http://schemas.microsoft.com/office/drawing/2010/main" Requires="a14">
          <p:sp>
            <p:nvSpPr>
              <p:cNvPr id="2" name="文本框 1"/>
              <p:cNvSpPr txBox="1"/>
              <p:nvPr/>
            </p:nvSpPr>
            <p:spPr>
              <a:xfrm>
                <a:off x="1074656" y="1738207"/>
                <a:ext cx="10190375" cy="4857548"/>
              </a:xfrm>
              <a:prstGeom prst="rect">
                <a:avLst/>
              </a:prstGeom>
              <a:noFill/>
            </p:spPr>
            <p:txBody>
              <a:bodyPr wrap="square" rtlCol="0">
                <a:noAutofit/>
              </a:bodyPr>
              <a:lstStyle/>
              <a:p>
                <a:r>
                  <a:rPr lang="zh-CN" altLang="en-US" sz="2400" b="1" dirty="0">
                    <a:ea typeface="微软雅黑" panose="020B0503020204020204" pitchFamily="34" charset="-122"/>
                  </a:rPr>
                  <a:t>最大公约数</a:t>
                </a:r>
                <a:r>
                  <a:rPr lang="zh-CN" altLang="en-US" sz="2400" dirty="0">
                    <a:ea typeface="微软雅黑" panose="020B0503020204020204" pitchFamily="34" charset="-122"/>
                  </a:rPr>
                  <a:t>，也称</a:t>
                </a:r>
                <a:r>
                  <a:rPr lang="zh-CN" altLang="en-US" sz="2400" b="1" dirty="0">
                    <a:ea typeface="微软雅黑" panose="020B0503020204020204" pitchFamily="34" charset="-122"/>
                  </a:rPr>
                  <a:t>最大公因数（</a:t>
                </a:r>
                <a:r>
                  <a:rPr lang="en-US" altLang="zh-CN" sz="2000" b="1" i="1" dirty="0">
                    <a:ea typeface="微软雅黑" panose="020B0503020204020204" pitchFamily="34" charset="-122"/>
                  </a:rPr>
                  <a:t>greatest common divisor</a:t>
                </a:r>
                <a:r>
                  <a:rPr lang="zh-CN" altLang="en-US" sz="2400" b="1" dirty="0">
                    <a:ea typeface="微软雅黑" panose="020B0503020204020204" pitchFamily="34" charset="-122"/>
                  </a:rPr>
                  <a:t>）</a:t>
                </a:r>
                <a:r>
                  <a:rPr lang="zh-CN" altLang="en-US" sz="2400" dirty="0">
                    <a:ea typeface="微软雅黑" panose="020B0503020204020204" pitchFamily="34" charset="-122"/>
                  </a:rPr>
                  <a:t>，是指两个或多个整数共有约数中最大的一个。记为</a:t>
                </a:r>
                <a:endParaRPr lang="en-US" altLang="zh-CN" sz="2400" dirty="0">
                  <a:ea typeface="微软雅黑" panose="020B0503020204020204" pitchFamily="34" charset="-122"/>
                </a:endParaRPr>
              </a:p>
              <a:p>
                <a:endParaRPr lang="en-US" altLang="zh-CN" sz="1600" dirty="0">
                  <a:latin typeface="微软雅黑" panose="020B0503020204020204" pitchFamily="34" charset="-122"/>
                  <a:ea typeface="微软雅黑" panose="020B0503020204020204" pitchFamily="34" charset="-122"/>
                </a:endParaRPr>
              </a:p>
              <a:p>
                <a:pPr algn="ctr"/>
                <a14:m>
                  <m:oMath xmlns:m="http://schemas.openxmlformats.org/officeDocument/2006/math">
                    <m:r>
                      <m:rPr>
                        <m:sty m:val="p"/>
                      </m:rPr>
                      <a:rPr lang="en-US" altLang="zh-CN" sz="2400" i="1" dirty="0" smtClean="0">
                        <a:latin typeface="Cambria Math" panose="02040503050406030204" pitchFamily="18" charset="0"/>
                        <a:ea typeface="微软雅黑" panose="020B0503020204020204" pitchFamily="34" charset="-122"/>
                      </a:rPr>
                      <m:t>gcd</m:t>
                    </m:r>
                    <m:r>
                      <a:rPr lang="en-US" altLang="zh-CN" sz="2400" i="1" dirty="0" smtClean="0">
                        <a:latin typeface="Cambria Math" panose="02040503050406030204" pitchFamily="18" charset="0"/>
                        <a:ea typeface="微软雅黑" panose="020B0503020204020204" pitchFamily="34" charset="-122"/>
                      </a:rPr>
                      <m:t>⁡(</m:t>
                    </m:r>
                    <m:r>
                      <a:rPr lang="en-US" altLang="zh-CN" sz="2400" i="1" dirty="0" err="1" smtClean="0">
                        <a:latin typeface="Cambria Math" panose="02040503050406030204" pitchFamily="18" charset="0"/>
                        <a:ea typeface="微软雅黑" panose="020B0503020204020204" pitchFamily="34" charset="-122"/>
                      </a:rPr>
                      <m:t>𝑎</m:t>
                    </m:r>
                    <m:r>
                      <a:rPr lang="en-US" altLang="zh-CN" sz="2400" i="1" dirty="0" err="1" smtClean="0">
                        <a:latin typeface="Cambria Math" panose="02040503050406030204" pitchFamily="18" charset="0"/>
                        <a:ea typeface="微软雅黑" panose="020B0503020204020204" pitchFamily="34" charset="-122"/>
                      </a:rPr>
                      <m:t>, </m:t>
                    </m:r>
                    <m:r>
                      <a:rPr lang="en-US" altLang="zh-CN" sz="2400" i="1" dirty="0" err="1" smtClean="0">
                        <a:latin typeface="Cambria Math" panose="02040503050406030204" pitchFamily="18" charset="0"/>
                        <a:ea typeface="微软雅黑" panose="020B0503020204020204" pitchFamily="34" charset="-122"/>
                      </a:rPr>
                      <m:t>𝑏</m:t>
                    </m:r>
                    <m:r>
                      <a:rPr lang="en-US" altLang="zh-CN" sz="2400" i="1" dirty="0" smtClean="0">
                        <a:latin typeface="Cambria Math" panose="02040503050406030204" pitchFamily="18" charset="0"/>
                        <a:ea typeface="微软雅黑" panose="020B0503020204020204" pitchFamily="34" charset="-122"/>
                      </a:rPr>
                      <m:t>)</m:t>
                    </m:r>
                  </m:oMath>
                </a14:m>
                <a:r>
                  <a:rPr lang="en-US" altLang="zh-CN" sz="2400" dirty="0">
                    <a:latin typeface="微软雅黑" panose="020B0503020204020204" pitchFamily="34" charset="-122"/>
                    <a:ea typeface="微软雅黑" panose="020B0503020204020204" pitchFamily="34" charset="-122"/>
                  </a:rPr>
                  <a:t>	</a:t>
                </a:r>
              </a:p>
              <a:p>
                <a:endParaRPr lang="en-US" altLang="zh-CN" dirty="0">
                  <a:latin typeface="微软雅黑" panose="020B0503020204020204" pitchFamily="34" charset="-122"/>
                  <a:ea typeface="微软雅黑" panose="020B0503020204020204" pitchFamily="34" charset="-122"/>
                </a:endParaRPr>
              </a:p>
              <a:p>
                <a:pPr marL="457200" indent="-457200">
                  <a:lnSpc>
                    <a:spcPct val="150000"/>
                  </a:lnSpc>
                  <a:buAutoNum type="arabicPeriod"/>
                </a:pPr>
                <a:r>
                  <a:rPr lang="zh-CN" altLang="en-US" sz="2400" dirty="0">
                    <a:latin typeface="微软雅黑" panose="020B0503020204020204" pitchFamily="34" charset="-122"/>
                    <a:ea typeface="微软雅黑" panose="020B0503020204020204" pitchFamily="34" charset="-122"/>
                  </a:rPr>
                  <a:t>审题：从数学角度，理解最大公因素定义是解题的第一步</a:t>
                </a:r>
                <a:endParaRPr lang="en-US" altLang="zh-CN" sz="2400" dirty="0">
                  <a:latin typeface="微软雅黑" panose="020B0503020204020204" pitchFamily="34" charset="-122"/>
                  <a:ea typeface="微软雅黑" panose="020B0503020204020204" pitchFamily="34" charset="-122"/>
                </a:endParaRPr>
              </a:p>
              <a:p>
                <a:pPr marL="457200" indent="-457200">
                  <a:lnSpc>
                    <a:spcPct val="150000"/>
                  </a:lnSpc>
                  <a:buAutoNum type="arabicPeriod"/>
                </a:pPr>
                <a:r>
                  <a:rPr lang="zh-CN" altLang="en-US" sz="2400" dirty="0">
                    <a:latin typeface="微软雅黑" panose="020B0503020204020204" pitchFamily="34" charset="-122"/>
                    <a:ea typeface="微软雅黑" panose="020B0503020204020204" pitchFamily="34" charset="-122"/>
                  </a:rPr>
                  <a:t>输入：整数 </a:t>
                </a:r>
                <a14:m>
                  <m:oMath xmlns:m="http://schemas.openxmlformats.org/officeDocument/2006/math">
                    <m:r>
                      <a:rPr lang="en-US" altLang="zh-CN" sz="2400" i="1" dirty="0" smtClean="0">
                        <a:latin typeface="Cambria Math" panose="02040503050406030204" pitchFamily="18" charset="0"/>
                        <a:ea typeface="微软雅黑" panose="020B0503020204020204" pitchFamily="34" charset="-122"/>
                      </a:rPr>
                      <m:t>𝑎</m:t>
                    </m:r>
                  </m:oMath>
                </a14:m>
                <a:r>
                  <a:rPr lang="zh-CN" altLang="en-US" sz="2400" dirty="0">
                    <a:latin typeface="微软雅黑" panose="020B0503020204020204" pitchFamily="34" charset="-122"/>
                    <a:ea typeface="微软雅黑" panose="020B0503020204020204" pitchFamily="34" charset="-122"/>
                  </a:rPr>
                  <a:t>，</a:t>
                </a:r>
                <a14:m>
                  <m:oMath xmlns:m="http://schemas.openxmlformats.org/officeDocument/2006/math">
                    <m:r>
                      <a:rPr lang="en-US" altLang="zh-CN" sz="2400" i="1" dirty="0" smtClean="0">
                        <a:latin typeface="Cambria Math" panose="02040503050406030204" pitchFamily="18" charset="0"/>
                        <a:ea typeface="微软雅黑" panose="020B0503020204020204" pitchFamily="34" charset="-122"/>
                      </a:rPr>
                      <m:t>𝑏</m:t>
                    </m:r>
                  </m:oMath>
                </a14:m>
                <a:endParaRPr lang="en-US" altLang="zh-CN" sz="2400" dirty="0">
                  <a:latin typeface="微软雅黑" panose="020B0503020204020204" pitchFamily="34" charset="-122"/>
                  <a:ea typeface="微软雅黑" panose="020B0503020204020204" pitchFamily="34" charset="-122"/>
                </a:endParaRPr>
              </a:p>
              <a:p>
                <a:pPr marL="457200" indent="-457200">
                  <a:lnSpc>
                    <a:spcPct val="150000"/>
                  </a:lnSpc>
                  <a:buAutoNum type="arabicPeriod"/>
                </a:pPr>
                <a:r>
                  <a:rPr lang="zh-CN" altLang="en-US" sz="2400" dirty="0">
                    <a:latin typeface="微软雅黑" panose="020B0503020204020204" pitchFamily="34" charset="-122"/>
                    <a:ea typeface="微软雅黑" panose="020B0503020204020204" pitchFamily="34" charset="-122"/>
                  </a:rPr>
                  <a:t>输出：整数 </a:t>
                </a:r>
                <a14:m>
                  <m:oMath xmlns:m="http://schemas.openxmlformats.org/officeDocument/2006/math">
                    <m:r>
                      <a:rPr lang="en-US" altLang="zh-CN" sz="2400" i="1" dirty="0" smtClean="0">
                        <a:latin typeface="Cambria Math" panose="02040503050406030204" pitchFamily="18" charset="0"/>
                        <a:ea typeface="微软雅黑" panose="020B0503020204020204" pitchFamily="34" charset="-122"/>
                      </a:rPr>
                      <m:t>𝑔</m:t>
                    </m:r>
                    <m:r>
                      <a:rPr lang="en-US" altLang="zh-CN" sz="2400" i="1" dirty="0" smtClean="0">
                        <a:latin typeface="Cambria Math" panose="02040503050406030204" pitchFamily="18" charset="0"/>
                        <a:ea typeface="微软雅黑" panose="020B0503020204020204" pitchFamily="34" charset="-122"/>
                      </a:rPr>
                      <m:t> = </m:t>
                    </m:r>
                    <m:func>
                      <m:funcPr>
                        <m:ctrlPr>
                          <a:rPr lang="en-US" altLang="zh-CN" sz="2400" i="1" dirty="0" smtClean="0">
                            <a:latin typeface="Cambria Math" panose="02040503050406030204" pitchFamily="18" charset="0"/>
                            <a:ea typeface="微软雅黑" panose="020B0503020204020204" pitchFamily="34" charset="-122"/>
                          </a:rPr>
                        </m:ctrlPr>
                      </m:funcPr>
                      <m:fName>
                        <m:limLow>
                          <m:limLowPr>
                            <m:ctrlPr>
                              <a:rPr lang="en-US" altLang="zh-CN" sz="2400" i="1" dirty="0" smtClean="0">
                                <a:latin typeface="Cambria Math" panose="02040503050406030204" pitchFamily="18" charset="0"/>
                                <a:ea typeface="微软雅黑" panose="020B0503020204020204" pitchFamily="34" charset="-122"/>
                              </a:rPr>
                            </m:ctrlPr>
                          </m:limLowPr>
                          <m:e>
                            <m:r>
                              <m:rPr>
                                <m:sty m:val="p"/>
                              </m:rPr>
                              <a:rPr lang="en-US" altLang="zh-CN" sz="2400" i="1" dirty="0">
                                <a:latin typeface="Cambria Math" panose="02040503050406030204" pitchFamily="18" charset="0"/>
                                <a:ea typeface="微软雅黑" panose="020B0503020204020204" pitchFamily="34" charset="-122"/>
                              </a:rPr>
                              <m:t>arg</m:t>
                            </m:r>
                            <m:r>
                              <a:rPr lang="en-US" altLang="zh-CN" sz="2400" b="0" i="0" dirty="0" smtClean="0">
                                <a:latin typeface="Cambria Math" panose="02040503050406030204" pitchFamily="18" charset="0"/>
                                <a:ea typeface="微软雅黑" panose="020B0503020204020204" pitchFamily="34" charset="-122"/>
                              </a:rPr>
                              <m:t> </m:t>
                            </m:r>
                            <m:r>
                              <m:rPr>
                                <m:sty m:val="p"/>
                              </m:rPr>
                              <a:rPr lang="en-US" altLang="zh-CN" sz="2400" i="0" dirty="0" smtClean="0">
                                <a:latin typeface="Cambria Math" panose="02040503050406030204" pitchFamily="18" charset="0"/>
                                <a:ea typeface="微软雅黑" panose="020B0503020204020204" pitchFamily="34" charset="-122"/>
                              </a:rPr>
                              <m:t>max</m:t>
                            </m:r>
                          </m:e>
                          <m:lim>
                            <m:r>
                              <a:rPr lang="en-US" altLang="zh-CN" sz="2400" b="0" i="1" dirty="0" smtClean="0">
                                <a:latin typeface="Cambria Math" panose="02040503050406030204" pitchFamily="18" charset="0"/>
                                <a:ea typeface="微软雅黑" panose="020B0503020204020204" pitchFamily="34" charset="-122"/>
                              </a:rPr>
                              <m:t>𝑑</m:t>
                            </m:r>
                          </m:lim>
                        </m:limLow>
                      </m:fName>
                      <m:e>
                        <m:r>
                          <a:rPr lang="en-US" altLang="zh-CN" sz="2400" i="1" dirty="0">
                            <a:latin typeface="Cambria Math" panose="02040503050406030204" pitchFamily="18" charset="0"/>
                            <a:ea typeface="微软雅黑" panose="020B0503020204020204" pitchFamily="34" charset="-122"/>
                          </a:rPr>
                          <m:t>(</m:t>
                        </m:r>
                        <m:r>
                          <a:rPr lang="en-US" altLang="zh-CN" sz="2400" i="1" dirty="0">
                            <a:latin typeface="Cambria Math" panose="02040503050406030204" pitchFamily="18" charset="0"/>
                            <a:ea typeface="微软雅黑" panose="020B0503020204020204" pitchFamily="34" charset="-122"/>
                          </a:rPr>
                          <m:t>𝑎</m:t>
                        </m:r>
                        <m:r>
                          <a:rPr lang="en-US" altLang="zh-CN" sz="2400" i="1" dirty="0">
                            <a:latin typeface="Cambria Math" panose="02040503050406030204" pitchFamily="18" charset="0"/>
                            <a:ea typeface="微软雅黑" panose="020B0503020204020204" pitchFamily="34" charset="-122"/>
                          </a:rPr>
                          <m:t> % </m:t>
                        </m:r>
                        <m:r>
                          <a:rPr lang="en-US" altLang="zh-CN" sz="2400" i="1" dirty="0">
                            <a:latin typeface="Cambria Math" panose="02040503050406030204" pitchFamily="18" charset="0"/>
                            <a:ea typeface="微软雅黑" panose="020B0503020204020204" pitchFamily="34" charset="-122"/>
                          </a:rPr>
                          <m:t>𝑑</m:t>
                        </m:r>
                        <m:r>
                          <a:rPr lang="en-US" altLang="zh-CN" sz="2400" i="1" dirty="0">
                            <a:latin typeface="Cambria Math" panose="02040503050406030204" pitchFamily="18" charset="0"/>
                            <a:ea typeface="微软雅黑" panose="020B0503020204020204" pitchFamily="34" charset="-122"/>
                          </a:rPr>
                          <m:t> == 0 &amp;&amp; </m:t>
                        </m:r>
                        <m:r>
                          <a:rPr lang="en-US" altLang="zh-CN" sz="2400" i="1" dirty="0">
                            <a:latin typeface="Cambria Math" panose="02040503050406030204" pitchFamily="18" charset="0"/>
                            <a:ea typeface="微软雅黑" panose="020B0503020204020204" pitchFamily="34" charset="-122"/>
                          </a:rPr>
                          <m:t>𝑏</m:t>
                        </m:r>
                        <m:r>
                          <a:rPr lang="en-US" altLang="zh-CN" sz="2400" i="1" dirty="0">
                            <a:latin typeface="Cambria Math" panose="02040503050406030204" pitchFamily="18" charset="0"/>
                            <a:ea typeface="微软雅黑" panose="020B0503020204020204" pitchFamily="34" charset="-122"/>
                          </a:rPr>
                          <m:t> % </m:t>
                        </m:r>
                        <m:r>
                          <a:rPr lang="en-US" altLang="zh-CN" sz="2400" i="1" dirty="0">
                            <a:latin typeface="Cambria Math" panose="02040503050406030204" pitchFamily="18" charset="0"/>
                            <a:ea typeface="微软雅黑" panose="020B0503020204020204" pitchFamily="34" charset="-122"/>
                          </a:rPr>
                          <m:t>𝑑</m:t>
                        </m:r>
                        <m:r>
                          <a:rPr lang="en-US" altLang="zh-CN" sz="2400" i="1" dirty="0">
                            <a:latin typeface="Cambria Math" panose="02040503050406030204" pitchFamily="18" charset="0"/>
                            <a:ea typeface="微软雅黑" panose="020B0503020204020204" pitchFamily="34" charset="-122"/>
                          </a:rPr>
                          <m:t> == 0)</m:t>
                        </m:r>
                      </m:e>
                    </m:func>
                  </m:oMath>
                </a14:m>
                <a:endParaRPr lang="en-US" altLang="zh-CN" sz="2400" dirty="0">
                  <a:latin typeface="微软雅黑" panose="020B0503020204020204" pitchFamily="34" charset="-122"/>
                  <a:ea typeface="微软雅黑" panose="020B0503020204020204" pitchFamily="34" charset="-122"/>
                </a:endParaRPr>
              </a:p>
              <a:p>
                <a:pPr marL="457200" indent="-457200">
                  <a:lnSpc>
                    <a:spcPct val="150000"/>
                  </a:lnSpc>
                  <a:buAutoNum type="arabicPeriod"/>
                </a:pPr>
                <a:r>
                  <a:rPr lang="zh-CN" altLang="en-US" sz="2400" dirty="0">
                    <a:latin typeface="微软雅黑" panose="020B0503020204020204" pitchFamily="34" charset="-122"/>
                    <a:ea typeface="微软雅黑" panose="020B0503020204020204" pitchFamily="34" charset="-122"/>
                  </a:rPr>
                  <a:t>案例：</a:t>
                </a:r>
                <a14:m>
                  <m:oMath xmlns:m="http://schemas.openxmlformats.org/officeDocument/2006/math">
                    <m:r>
                      <m:rPr>
                        <m:sty m:val="p"/>
                      </m:rPr>
                      <a:rPr lang="en-US" altLang="zh-CN" sz="2400" i="1" dirty="0" smtClean="0">
                        <a:latin typeface="Cambria Math" panose="02040503050406030204" pitchFamily="18" charset="0"/>
                        <a:ea typeface="微软雅黑" panose="020B0503020204020204" pitchFamily="34" charset="-122"/>
                      </a:rPr>
                      <m:t>gcd</m:t>
                    </m:r>
                    <m:r>
                      <a:rPr lang="en-US" altLang="zh-CN" sz="2400" i="1" dirty="0">
                        <a:latin typeface="Cambria Math" panose="02040503050406030204" pitchFamily="18" charset="0"/>
                        <a:ea typeface="微软雅黑" panose="020B0503020204020204" pitchFamily="34" charset="-122"/>
                      </a:rPr>
                      <m:t>⁡(3,5) = 1;  </m:t>
                    </m:r>
                    <m:r>
                      <m:rPr>
                        <m:sty m:val="p"/>
                      </m:rPr>
                      <a:rPr lang="en-US" altLang="zh-CN" sz="2400" i="1" dirty="0" err="1">
                        <a:latin typeface="Cambria Math" panose="02040503050406030204" pitchFamily="18" charset="0"/>
                        <a:ea typeface="微软雅黑" panose="020B0503020204020204" pitchFamily="34" charset="-122"/>
                      </a:rPr>
                      <m:t>gcd</m:t>
                    </m:r>
                    <m:r>
                      <a:rPr lang="en-US" altLang="zh-CN" sz="2400" i="1" dirty="0">
                        <a:latin typeface="Cambria Math" panose="02040503050406030204" pitchFamily="18" charset="0"/>
                        <a:ea typeface="微软雅黑" panose="020B0503020204020204" pitchFamily="34" charset="-122"/>
                      </a:rPr>
                      <m:t>⁡(3,9) = 3;  </m:t>
                    </m:r>
                    <m:r>
                      <m:rPr>
                        <m:sty m:val="p"/>
                      </m:rPr>
                      <a:rPr lang="en-US" altLang="zh-CN" sz="2400" i="1" dirty="0" err="1">
                        <a:latin typeface="Cambria Math" panose="02040503050406030204" pitchFamily="18" charset="0"/>
                        <a:ea typeface="微软雅黑" panose="020B0503020204020204" pitchFamily="34" charset="-122"/>
                      </a:rPr>
                      <m:t>gcd</m:t>
                    </m:r>
                    <m:r>
                      <a:rPr lang="en-US" altLang="zh-CN" sz="2400" i="1" dirty="0">
                        <a:latin typeface="Cambria Math" panose="02040503050406030204" pitchFamily="18" charset="0"/>
                        <a:ea typeface="微软雅黑" panose="020B0503020204020204" pitchFamily="34" charset="-122"/>
                      </a:rPr>
                      <m:t>⁡(8,12) = 4;</m:t>
                    </m:r>
                  </m:oMath>
                </a14:m>
                <a:endParaRPr lang="en-US" altLang="zh-CN" sz="2400" dirty="0">
                  <a:latin typeface="微软雅黑" panose="020B0503020204020204" pitchFamily="34" charset="-122"/>
                  <a:ea typeface="微软雅黑" panose="020B0503020204020204" pitchFamily="34" charset="-122"/>
                </a:endParaRPr>
              </a:p>
              <a:p>
                <a:pPr marL="457200" indent="-457200">
                  <a:lnSpc>
                    <a:spcPct val="150000"/>
                  </a:lnSpc>
                  <a:buAutoNum type="arabicPeriod"/>
                </a:pPr>
                <a:r>
                  <a:rPr lang="zh-CN" altLang="en-US" sz="2400" dirty="0">
                    <a:latin typeface="微软雅黑" panose="020B0503020204020204" pitchFamily="34" charset="-122"/>
                    <a:ea typeface="微软雅黑" panose="020B0503020204020204" pitchFamily="34" charset="-122"/>
                  </a:rPr>
                  <a:t>类似问题：</a:t>
                </a:r>
                <a:r>
                  <a:rPr lang="zh-CN" altLang="en-US" sz="2400" dirty="0">
                    <a:solidFill>
                      <a:srgbClr val="7030A0"/>
                    </a:solidFill>
                    <a:latin typeface="微软雅黑" panose="020B0503020204020204" pitchFamily="34" charset="-122"/>
                    <a:ea typeface="微软雅黑" panose="020B0503020204020204" pitchFamily="34" charset="-122"/>
                  </a:rPr>
                  <a:t>求 </a:t>
                </a:r>
                <a:r>
                  <a:rPr lang="en-US" altLang="zh-CN" sz="2400" dirty="0">
                    <a:solidFill>
                      <a:srgbClr val="7030A0"/>
                    </a:solidFill>
                    <a:latin typeface="微软雅黑" panose="020B0503020204020204" pitchFamily="34" charset="-122"/>
                    <a:ea typeface="微软雅黑" panose="020B0503020204020204" pitchFamily="34" charset="-122"/>
                  </a:rPr>
                  <a:t>n </a:t>
                </a:r>
                <a:r>
                  <a:rPr lang="zh-CN" altLang="en-US" sz="2400" dirty="0">
                    <a:solidFill>
                      <a:srgbClr val="7030A0"/>
                    </a:solidFill>
                    <a:latin typeface="微软雅黑" panose="020B0503020204020204" pitchFamily="34" charset="-122"/>
                    <a:ea typeface="微软雅黑" panose="020B0503020204020204" pitchFamily="34" charset="-122"/>
                  </a:rPr>
                  <a:t>以内的最大素数</a:t>
                </a:r>
                <a:endParaRPr lang="en-US" altLang="zh-CN" sz="2400" dirty="0">
                  <a:solidFill>
                    <a:srgbClr val="7030A0"/>
                  </a:solidFill>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1074656" y="1738207"/>
                <a:ext cx="10190375" cy="4857548"/>
              </a:xfrm>
              <a:prstGeom prst="rect">
                <a:avLst/>
              </a:prstGeom>
              <a:blipFill>
                <a:blip r:embed="rId4"/>
                <a:stretch>
                  <a:fillRect l="-1077" t="-100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9004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barn(inVertical)">
                                      <p:cBhvr>
                                        <p:cTn id="7" dur="500"/>
                                        <p:tgtEl>
                                          <p:spTgt spid="51"/>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最大公约数 </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 </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算法设计</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mc:AlternateContent xmlns:mc="http://schemas.openxmlformats.org/markup-compatibility/2006">
        <mc:Choice xmlns:a14="http://schemas.microsoft.com/office/drawing/2010/main" Requires="a14">
          <p:sp>
            <p:nvSpPr>
              <p:cNvPr id="2" name="文本框 1"/>
              <p:cNvSpPr txBox="1"/>
              <p:nvPr/>
            </p:nvSpPr>
            <p:spPr>
              <a:xfrm>
                <a:off x="1069576" y="1976967"/>
                <a:ext cx="10152668" cy="4526406"/>
              </a:xfrm>
              <a:prstGeom prst="rect">
                <a:avLst/>
              </a:prstGeom>
              <a:noFill/>
            </p:spPr>
            <p:txBody>
              <a:bodyPr wrap="square" rtlCol="0">
                <a:noAutofit/>
              </a:bodyPr>
              <a:lstStyle/>
              <a:p>
                <a:r>
                  <a:rPr lang="zh-CN" altLang="en-US" sz="2400" dirty="0">
                    <a:latin typeface="微软雅黑" panose="020B0503020204020204" pitchFamily="34" charset="-122"/>
                    <a:ea typeface="微软雅黑" panose="020B0503020204020204" pitchFamily="34" charset="-122"/>
                  </a:rPr>
                  <a:t>计算方法</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：试除法</a:t>
                </a:r>
                <a:endParaRPr lang="en-US" altLang="zh-CN" sz="2400" dirty="0">
                  <a:latin typeface="微软雅黑" panose="020B0503020204020204" pitchFamily="34" charset="-122"/>
                  <a:ea typeface="微软雅黑" panose="020B0503020204020204" pitchFamily="34" charset="-122"/>
                </a:endParaRPr>
              </a:p>
              <a:p>
                <a:endParaRPr lang="en-US" altLang="zh-CN" sz="1400" dirty="0">
                  <a:latin typeface="微软雅黑" panose="020B0503020204020204" pitchFamily="34" charset="-122"/>
                  <a:ea typeface="微软雅黑" panose="020B0503020204020204" pitchFamily="34" charset="-122"/>
                </a:endParaRPr>
              </a:p>
              <a:p>
                <a:pPr>
                  <a:lnSpc>
                    <a:spcPct val="200000"/>
                  </a:lnSpc>
                </a:pPr>
                <a:r>
                  <a:rPr lang="zh-CN" altLang="en-US" sz="2400" dirty="0">
                    <a:latin typeface="微软雅黑" panose="020B0503020204020204" pitchFamily="34" charset="-122"/>
                    <a:ea typeface="微软雅黑" panose="020B0503020204020204" pitchFamily="34" charset="-122"/>
                  </a:rPr>
                  <a:t>两个数的最大公约数有可能是其中较小的数。所以在按从大到小顺序找寻最大公约数时，循环变量</a:t>
                </a:r>
                <a:r>
                  <a:rPr lang="en-US" altLang="zh-CN" sz="2400" dirty="0" err="1">
                    <a:latin typeface="微软雅黑" panose="020B0503020204020204" pitchFamily="34" charset="-122"/>
                    <a:ea typeface="微软雅黑" panose="020B0503020204020204" pitchFamily="34" charset="-122"/>
                  </a:rPr>
                  <a:t>i</a:t>
                </a:r>
                <a:r>
                  <a:rPr lang="zh-CN" altLang="en-US" sz="2400" dirty="0">
                    <a:latin typeface="微软雅黑" panose="020B0503020204020204" pitchFamily="34" charset="-122"/>
                    <a:ea typeface="微软雅黑" panose="020B0503020204020204" pitchFamily="34" charset="-122"/>
                  </a:rPr>
                  <a:t>的初值从</a:t>
                </a:r>
                <a14:m>
                  <m:oMath xmlns:m="http://schemas.openxmlformats.org/officeDocument/2006/math">
                    <m:r>
                      <m:rPr>
                        <m:sty m:val="p"/>
                      </m:rPr>
                      <a:rPr lang="en-US" altLang="zh-CN" sz="2400" i="1" dirty="0" smtClean="0">
                        <a:latin typeface="Cambria Math" panose="02040503050406030204" pitchFamily="18" charset="0"/>
                        <a:ea typeface="微软雅黑" panose="020B0503020204020204" pitchFamily="34" charset="-122"/>
                      </a:rPr>
                      <m:t>min</m:t>
                    </m:r>
                    <m:r>
                      <a:rPr lang="en-US" altLang="zh-CN" sz="2400" i="1" dirty="0" smtClean="0">
                        <a:latin typeface="Cambria Math" panose="02040503050406030204" pitchFamily="18" charset="0"/>
                        <a:ea typeface="微软雅黑" panose="020B0503020204020204" pitchFamily="34" charset="-122"/>
                      </a:rPr>
                      <m:t>⁡(</m:t>
                    </m:r>
                    <m:r>
                      <a:rPr lang="en-US" altLang="zh-CN" sz="2400" i="1" dirty="0" err="1" smtClean="0">
                        <a:latin typeface="Cambria Math" panose="02040503050406030204" pitchFamily="18" charset="0"/>
                        <a:ea typeface="微软雅黑" panose="020B0503020204020204" pitchFamily="34" charset="-122"/>
                      </a:rPr>
                      <m:t>𝑎</m:t>
                    </m:r>
                    <m:r>
                      <a:rPr lang="en-US" altLang="zh-CN" sz="2400" i="1" dirty="0" err="1" smtClean="0">
                        <a:latin typeface="Cambria Math" panose="02040503050406030204" pitchFamily="18" charset="0"/>
                        <a:ea typeface="微软雅黑" panose="020B0503020204020204" pitchFamily="34" charset="-122"/>
                      </a:rPr>
                      <m:t>,</m:t>
                    </m:r>
                    <m:r>
                      <a:rPr lang="en-US" altLang="zh-CN" sz="2400" i="1" dirty="0" err="1" smtClean="0">
                        <a:latin typeface="Cambria Math" panose="02040503050406030204" pitchFamily="18" charset="0"/>
                        <a:ea typeface="微软雅黑" panose="020B0503020204020204" pitchFamily="34" charset="-122"/>
                      </a:rPr>
                      <m:t>𝑏</m:t>
                    </m:r>
                    <m:r>
                      <a:rPr lang="en-US" altLang="zh-CN" sz="2400" i="1" dirty="0" smtClean="0">
                        <a:latin typeface="Cambria Math" panose="02040503050406030204" pitchFamily="18" charset="0"/>
                        <a:ea typeface="微软雅黑" panose="020B0503020204020204" pitchFamily="34" charset="-122"/>
                      </a:rPr>
                      <m:t>)</m:t>
                    </m:r>
                  </m:oMath>
                </a14:m>
                <a:r>
                  <a:rPr lang="zh-CN" altLang="en-US" sz="2400" dirty="0">
                    <a:latin typeface="微软雅黑" panose="020B0503020204020204" pitchFamily="34" charset="-122"/>
                    <a:ea typeface="微软雅黑" panose="020B0503020204020204" pitchFamily="34" charset="-122"/>
                  </a:rPr>
                  <a:t>开始依次递减直到</a:t>
                </a:r>
                <a14:m>
                  <m:oMath xmlns:m="http://schemas.openxmlformats.org/officeDocument/2006/math">
                    <m:r>
                      <a:rPr lang="en-US" altLang="zh-CN" sz="2400" b="0" i="0" dirty="0" smtClean="0">
                        <a:latin typeface="Cambria Math" panose="02040503050406030204" pitchFamily="18" charset="0"/>
                        <a:ea typeface="微软雅黑" panose="020B0503020204020204" pitchFamily="34" charset="-122"/>
                      </a:rPr>
                      <m:t> </m:t>
                    </m:r>
                    <m:r>
                      <a:rPr lang="en-US" altLang="zh-CN" sz="2400" i="1" dirty="0" smtClean="0">
                        <a:latin typeface="Cambria Math" panose="02040503050406030204" pitchFamily="18" charset="0"/>
                        <a:ea typeface="微软雅黑" panose="020B0503020204020204" pitchFamily="34" charset="-122"/>
                      </a:rPr>
                      <m:t>1</m:t>
                    </m:r>
                  </m:oMath>
                </a14:m>
                <a:r>
                  <a:rPr lang="zh-CN" altLang="en-US" sz="2400" dirty="0">
                    <a:latin typeface="微软雅黑" panose="020B0503020204020204" pitchFamily="34" charset="-122"/>
                    <a:ea typeface="微软雅黑" panose="020B0503020204020204" pitchFamily="34" charset="-122"/>
                  </a:rPr>
                  <a:t>，去寻找第一个能同时被两整数整除的自然数，并将其输出。（</a:t>
                </a:r>
                <a:r>
                  <a:rPr lang="zh-CN" altLang="en-US" sz="2400" dirty="0">
                    <a:solidFill>
                      <a:srgbClr val="0070C0"/>
                    </a:solidFill>
                    <a:latin typeface="微软雅黑" panose="020B0503020204020204" pitchFamily="34" charset="-122"/>
                    <a:ea typeface="微软雅黑" panose="020B0503020204020204" pitchFamily="34" charset="-122"/>
                  </a:rPr>
                  <a:t>注意，</a:t>
                </a:r>
                <a:r>
                  <a:rPr lang="en-US" altLang="zh-CN" sz="2400" dirty="0">
                    <a:solidFill>
                      <a:srgbClr val="0070C0"/>
                    </a:solidFill>
                    <a:latin typeface="微软雅黑" panose="020B0503020204020204" pitchFamily="34" charset="-122"/>
                    <a:ea typeface="微软雅黑" panose="020B0503020204020204" pitchFamily="34" charset="-122"/>
                  </a:rPr>
                  <a:t>1</a:t>
                </a:r>
                <a:r>
                  <a:rPr lang="zh-CN" altLang="en-US" sz="2400" dirty="0">
                    <a:solidFill>
                      <a:srgbClr val="0070C0"/>
                    </a:solidFill>
                    <a:latin typeface="微软雅黑" panose="020B0503020204020204" pitchFamily="34" charset="-122"/>
                    <a:ea typeface="微软雅黑" panose="020B0503020204020204" pitchFamily="34" charset="-122"/>
                  </a:rPr>
                  <a:t>是最小的公约数，不用考虑无解的问题</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1069576" y="1976967"/>
                <a:ext cx="10152668" cy="4526406"/>
              </a:xfrm>
              <a:prstGeom prst="rect">
                <a:avLst/>
              </a:prstGeom>
              <a:blipFill>
                <a:blip r:embed="rId4"/>
                <a:stretch>
                  <a:fillRect l="-900" t="-1077" r="-540"/>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barn(inVertical)">
                                      <p:cBhvr>
                                        <p:cTn id="7" dur="500"/>
                                        <p:tgtEl>
                                          <p:spTgt spid="51"/>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最大公约数 </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 </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编程技巧</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2" name="文本框 1"/>
          <p:cNvSpPr txBox="1"/>
          <p:nvPr/>
        </p:nvSpPr>
        <p:spPr>
          <a:xfrm>
            <a:off x="6394518" y="5075840"/>
            <a:ext cx="5125640" cy="1400374"/>
          </a:xfrm>
          <a:prstGeom prst="rect">
            <a:avLst/>
          </a:prstGeom>
          <a:noFill/>
        </p:spPr>
        <p:txBody>
          <a:bodyPr wrap="square" rtlCol="0">
            <a:noAutofit/>
          </a:bodyPr>
          <a:lstStyle/>
          <a:p>
            <a:r>
              <a:rPr lang="zh-CN" altLang="en-US" dirty="0">
                <a:latin typeface="微软雅黑" panose="020B0503020204020204" pitchFamily="34" charset="-122"/>
                <a:ea typeface="微软雅黑" panose="020B0503020204020204" pitchFamily="34" charset="-122"/>
              </a:rPr>
              <a:t>程序要点：</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① </a:t>
            </a:r>
            <a:r>
              <a:rPr lang="zh-CN" altLang="en-US" dirty="0">
                <a:latin typeface="微软雅黑" panose="020B0503020204020204" pitchFamily="34" charset="-122"/>
                <a:ea typeface="微软雅黑" panose="020B0503020204020204" pitchFamily="34" charset="-122"/>
              </a:rPr>
              <a:t>先声明相关函数</a:t>
            </a:r>
            <a:endParaRPr lang="en-US" altLang="zh-CN" dirty="0">
              <a:latin typeface="微软雅黑" panose="020B0503020204020204" pitchFamily="34" charset="-122"/>
              <a:ea typeface="微软雅黑" panose="020B0503020204020204" pitchFamily="34" charset="-122"/>
            </a:endParaRPr>
          </a:p>
          <a:p>
            <a:r>
              <a:rPr lang="zh-CN" altLang="zh-CN" dirty="0">
                <a:latin typeface="微软雅黑" panose="020B0503020204020204" pitchFamily="34" charset="-122"/>
                <a:ea typeface="微软雅黑" panose="020B0503020204020204" pitchFamily="34" charset="-122"/>
              </a:rPr>
              <a:t>②</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对返回表达式这样的简单函数，添加 </a:t>
            </a:r>
            <a:r>
              <a:rPr lang="en-US" altLang="zh-CN" dirty="0">
                <a:latin typeface="微软雅黑" panose="020B0503020204020204" pitchFamily="34" charset="-122"/>
                <a:ea typeface="微软雅黑" panose="020B0503020204020204" pitchFamily="34" charset="-122"/>
              </a:rPr>
              <a:t>inline </a:t>
            </a:r>
            <a:r>
              <a:rPr lang="zh-CN" altLang="en-US" dirty="0">
                <a:latin typeface="微软雅黑" panose="020B0503020204020204" pitchFamily="34" charset="-122"/>
                <a:ea typeface="微软雅黑" panose="020B0503020204020204" pitchFamily="34" charset="-122"/>
              </a:rPr>
              <a:t>修饰提升执行性能。</a:t>
            </a:r>
            <a:endParaRPr lang="en-US" altLang="zh-CN" dirty="0">
              <a:latin typeface="微软雅黑" panose="020B0503020204020204" pitchFamily="34" charset="-122"/>
              <a:ea typeface="微软雅黑" panose="020B0503020204020204" pitchFamily="34" charset="-122"/>
            </a:endParaRPr>
          </a:p>
          <a:p>
            <a:r>
              <a:rPr lang="zh-CN" altLang="zh-CN" dirty="0">
                <a:latin typeface="微软雅黑" panose="020B0503020204020204" pitchFamily="34" charset="-122"/>
                <a:ea typeface="微软雅黑" panose="020B0503020204020204" pitchFamily="34" charset="-122"/>
              </a:rPr>
              <a:t>③</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使用 </a:t>
            </a:r>
            <a:r>
              <a:rPr lang="en-US" altLang="zh-CN" dirty="0">
                <a:latin typeface="微软雅黑" panose="020B0503020204020204" pitchFamily="34" charset="-122"/>
                <a:ea typeface="微软雅黑" panose="020B0503020204020204" pitchFamily="34" charset="-122"/>
              </a:rPr>
              <a:t>assert(</a:t>
            </a:r>
            <a:r>
              <a:rPr lang="zh-CN" altLang="en-US" dirty="0">
                <a:latin typeface="微软雅黑" panose="020B0503020204020204" pitchFamily="34" charset="-122"/>
                <a:ea typeface="微软雅黑" panose="020B0503020204020204" pitchFamily="34" charset="-122"/>
              </a:rPr>
              <a:t>表达式</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测试函数正确性</a:t>
            </a:r>
            <a:endParaRPr lang="en-US" altLang="zh-CN" dirty="0">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284F4397-7221-0C90-FBEC-4217D1E92EF6}"/>
              </a:ext>
            </a:extLst>
          </p:cNvPr>
          <p:cNvSpPr txBox="1"/>
          <p:nvPr/>
        </p:nvSpPr>
        <p:spPr>
          <a:xfrm>
            <a:off x="982492" y="1663405"/>
            <a:ext cx="4711297" cy="3970318"/>
          </a:xfrm>
          <a:prstGeom prst="rect">
            <a:avLst/>
          </a:prstGeom>
          <a:noFill/>
          <a:ln>
            <a:solidFill>
              <a:schemeClr val="bg1">
                <a:lumMod val="75000"/>
              </a:schemeClr>
            </a:solidFill>
          </a:ln>
        </p:spPr>
        <p:txBody>
          <a:bodyPr wrap="none" rtlCol="0">
            <a:noAutofit/>
          </a:bodyPr>
          <a:lstStyle/>
          <a:p>
            <a:r>
              <a:rPr lang="en-US" altLang="zh-CN" sz="1600" dirty="0">
                <a:solidFill>
                  <a:schemeClr val="bg1">
                    <a:lumMod val="50000"/>
                  </a:schemeClr>
                </a:solidFill>
                <a:latin typeface="Consolas" panose="020B0609020204030204" pitchFamily="49" charset="0"/>
              </a:rPr>
              <a:t>/*</a:t>
            </a:r>
            <a:r>
              <a:rPr lang="en-US" altLang="zh-CN" sz="1600" dirty="0" err="1">
                <a:solidFill>
                  <a:schemeClr val="bg1">
                    <a:lumMod val="50000"/>
                  </a:schemeClr>
                </a:solidFill>
                <a:latin typeface="Consolas" panose="020B0609020204030204" pitchFamily="49" charset="0"/>
              </a:rPr>
              <a:t>gcd.c</a:t>
            </a:r>
            <a:r>
              <a:rPr lang="en-US" altLang="zh-CN" sz="1600" dirty="0">
                <a:solidFill>
                  <a:schemeClr val="bg1">
                    <a:lumMod val="50000"/>
                  </a:schemeClr>
                </a:solidFill>
                <a:latin typeface="Consolas" panose="020B0609020204030204" pitchFamily="49" charset="0"/>
              </a:rPr>
              <a:t>*/</a:t>
            </a:r>
          </a:p>
          <a:p>
            <a:r>
              <a:rPr lang="en-US" altLang="zh-CN" sz="1600" dirty="0">
                <a:latin typeface="Consolas" panose="020B0609020204030204" pitchFamily="49" charset="0"/>
              </a:rPr>
              <a:t>#include&lt;stdio.h&gt;</a:t>
            </a:r>
          </a:p>
          <a:p>
            <a:r>
              <a:rPr lang="en-US" altLang="zh-CN" sz="1600" dirty="0">
                <a:solidFill>
                  <a:srgbClr val="C00000"/>
                </a:solidFill>
                <a:latin typeface="Consolas" panose="020B0609020204030204" pitchFamily="49" charset="0"/>
              </a:rPr>
              <a:t>#include&lt;</a:t>
            </a:r>
            <a:r>
              <a:rPr lang="en-US" altLang="zh-CN" sz="1600" b="1" dirty="0">
                <a:solidFill>
                  <a:srgbClr val="C00000"/>
                </a:solidFill>
                <a:latin typeface="Consolas" panose="020B0609020204030204" pitchFamily="49" charset="0"/>
              </a:rPr>
              <a:t>assert.h</a:t>
            </a:r>
            <a:r>
              <a:rPr lang="en-US" altLang="zh-CN" sz="1600" dirty="0">
                <a:solidFill>
                  <a:srgbClr val="C00000"/>
                </a:solidFill>
                <a:latin typeface="Consolas" panose="020B0609020204030204" pitchFamily="49" charset="0"/>
              </a:rPr>
              <a:t>&gt; </a:t>
            </a:r>
          </a:p>
          <a:p>
            <a:endParaRPr lang="en-US" altLang="zh-CN" sz="1600" dirty="0">
              <a:latin typeface="Consolas" panose="020B0609020204030204" pitchFamily="49" charset="0"/>
            </a:endParaRPr>
          </a:p>
          <a:p>
            <a:r>
              <a:rPr lang="en-US" altLang="zh-CN" sz="1600" b="1" dirty="0">
                <a:solidFill>
                  <a:srgbClr val="C00000"/>
                </a:solidFill>
                <a:latin typeface="Consolas" panose="020B0609020204030204" pitchFamily="49" charset="0"/>
              </a:rPr>
              <a:t>inline</a:t>
            </a:r>
            <a:r>
              <a:rPr lang="en-US" altLang="zh-CN" sz="1600" dirty="0">
                <a:latin typeface="Consolas" panose="020B0609020204030204" pitchFamily="49" charset="0"/>
              </a:rPr>
              <a:t> int min(int </a:t>
            </a:r>
            <a:r>
              <a:rPr lang="en-US" altLang="zh-CN" sz="1600" dirty="0" err="1">
                <a:latin typeface="Consolas" panose="020B0609020204030204" pitchFamily="49" charset="0"/>
              </a:rPr>
              <a:t>a,int</a:t>
            </a:r>
            <a:r>
              <a:rPr lang="en-US" altLang="zh-CN" sz="1600" dirty="0">
                <a:latin typeface="Consolas" panose="020B0609020204030204" pitchFamily="49" charset="0"/>
              </a:rPr>
              <a:t> b);</a:t>
            </a:r>
          </a:p>
          <a:p>
            <a:r>
              <a:rPr lang="en-US" altLang="zh-CN" sz="1600" dirty="0">
                <a:latin typeface="Consolas" panose="020B0609020204030204" pitchFamily="49" charset="0"/>
              </a:rPr>
              <a:t>int </a:t>
            </a:r>
            <a:r>
              <a:rPr lang="en-US" altLang="zh-CN" sz="1600" dirty="0" err="1">
                <a:latin typeface="Consolas" panose="020B0609020204030204" pitchFamily="49" charset="0"/>
              </a:rPr>
              <a:t>gcd</a:t>
            </a:r>
            <a:r>
              <a:rPr lang="en-US" altLang="zh-CN" sz="1600" dirty="0">
                <a:latin typeface="Consolas" panose="020B0609020204030204" pitchFamily="49" charset="0"/>
              </a:rPr>
              <a:t>(int </a:t>
            </a:r>
            <a:r>
              <a:rPr lang="en-US" altLang="zh-CN" sz="1600" dirty="0" err="1">
                <a:latin typeface="Consolas" panose="020B0609020204030204" pitchFamily="49" charset="0"/>
              </a:rPr>
              <a:t>a,int</a:t>
            </a:r>
            <a:r>
              <a:rPr lang="en-US" altLang="zh-CN" sz="1600" dirty="0">
                <a:latin typeface="Consolas" panose="020B0609020204030204" pitchFamily="49" charset="0"/>
              </a:rPr>
              <a:t> b);</a:t>
            </a:r>
          </a:p>
          <a:p>
            <a:endParaRPr lang="en-US" altLang="zh-CN" sz="1600" dirty="0">
              <a:latin typeface="Consolas" panose="020B0609020204030204" pitchFamily="49" charset="0"/>
            </a:endParaRPr>
          </a:p>
          <a:p>
            <a:r>
              <a:rPr lang="en-US" altLang="zh-CN" sz="1600" dirty="0">
                <a:latin typeface="Consolas" panose="020B0609020204030204" pitchFamily="49" charset="0"/>
              </a:rPr>
              <a:t>int main() {</a:t>
            </a:r>
          </a:p>
          <a:p>
            <a:r>
              <a:rPr lang="en-US" altLang="zh-CN" sz="1600" dirty="0">
                <a:latin typeface="Consolas" panose="020B0609020204030204" pitchFamily="49" charset="0"/>
              </a:rPr>
              <a:t>    int </a:t>
            </a:r>
            <a:r>
              <a:rPr lang="en-US" altLang="zh-CN" sz="1600" dirty="0" err="1">
                <a:latin typeface="Consolas" panose="020B0609020204030204" pitchFamily="49" charset="0"/>
              </a:rPr>
              <a:t>a,b</a:t>
            </a:r>
            <a:r>
              <a:rPr lang="en-US" altLang="zh-CN" sz="1600" dirty="0">
                <a:latin typeface="Consolas" panose="020B0609020204030204" pitchFamily="49" charset="0"/>
              </a:rPr>
              <a:t>;</a:t>
            </a:r>
          </a:p>
          <a:p>
            <a:r>
              <a:rPr lang="en-US" altLang="zh-CN" sz="1600" b="1" dirty="0">
                <a:latin typeface="Consolas" panose="020B0609020204030204" pitchFamily="49" charset="0"/>
              </a:rPr>
              <a:t>    </a:t>
            </a:r>
            <a:r>
              <a:rPr lang="en-US" altLang="zh-CN" sz="1600" b="1" dirty="0">
                <a:solidFill>
                  <a:srgbClr val="C00000"/>
                </a:solidFill>
                <a:latin typeface="Consolas" panose="020B0609020204030204" pitchFamily="49" charset="0"/>
              </a:rPr>
              <a:t>assert</a:t>
            </a:r>
            <a:r>
              <a:rPr lang="en-US" altLang="zh-CN" sz="1600" b="1" dirty="0">
                <a:latin typeface="Consolas" panose="020B0609020204030204" pitchFamily="49" charset="0"/>
              </a:rPr>
              <a:t>(</a:t>
            </a:r>
            <a:r>
              <a:rPr lang="en-US" altLang="zh-CN" sz="1600" b="1" dirty="0" err="1">
                <a:latin typeface="Consolas" panose="020B0609020204030204" pitchFamily="49" charset="0"/>
              </a:rPr>
              <a:t>gcd</a:t>
            </a:r>
            <a:r>
              <a:rPr lang="en-US" altLang="zh-CN" sz="1600" b="1" dirty="0">
                <a:latin typeface="Consolas" panose="020B0609020204030204" pitchFamily="49" charset="0"/>
              </a:rPr>
              <a:t>(3,5)==1);</a:t>
            </a:r>
          </a:p>
          <a:p>
            <a:r>
              <a:rPr lang="en-US" altLang="zh-CN" sz="1600" b="1" dirty="0">
                <a:latin typeface="Consolas" panose="020B0609020204030204" pitchFamily="49" charset="0"/>
              </a:rPr>
              <a:t>    assert(</a:t>
            </a:r>
            <a:r>
              <a:rPr lang="en-US" altLang="zh-CN" sz="1600" b="1" dirty="0" err="1">
                <a:latin typeface="Consolas" panose="020B0609020204030204" pitchFamily="49" charset="0"/>
              </a:rPr>
              <a:t>gcd</a:t>
            </a:r>
            <a:r>
              <a:rPr lang="en-US" altLang="zh-CN" sz="1600" b="1" dirty="0">
                <a:latin typeface="Consolas" panose="020B0609020204030204" pitchFamily="49" charset="0"/>
              </a:rPr>
              <a:t>(3,9)==3);</a:t>
            </a:r>
          </a:p>
          <a:p>
            <a:r>
              <a:rPr lang="en-US" altLang="zh-CN" sz="1600" b="1" dirty="0">
                <a:latin typeface="Consolas" panose="020B0609020204030204" pitchFamily="49" charset="0"/>
              </a:rPr>
              <a:t>    assert(</a:t>
            </a:r>
            <a:r>
              <a:rPr lang="en-US" altLang="zh-CN" sz="1600" b="1" dirty="0" err="1">
                <a:latin typeface="Consolas" panose="020B0609020204030204" pitchFamily="49" charset="0"/>
              </a:rPr>
              <a:t>gcd</a:t>
            </a:r>
            <a:r>
              <a:rPr lang="en-US" altLang="zh-CN" sz="1600" b="1" dirty="0">
                <a:latin typeface="Consolas" panose="020B0609020204030204" pitchFamily="49" charset="0"/>
              </a:rPr>
              <a:t>(8,12)==4);</a:t>
            </a:r>
          </a:p>
          <a:p>
            <a:r>
              <a:rPr lang="en-US" altLang="zh-CN" sz="1600" dirty="0">
                <a:latin typeface="Consolas" panose="020B0609020204030204" pitchFamily="49" charset="0"/>
              </a:rPr>
              <a:t>    </a:t>
            </a:r>
            <a:r>
              <a:rPr lang="en-US" altLang="zh-CN" sz="1600" dirty="0" err="1">
                <a:latin typeface="Consolas" panose="020B0609020204030204" pitchFamily="49" charset="0"/>
              </a:rPr>
              <a:t>scanf</a:t>
            </a:r>
            <a:r>
              <a:rPr lang="en-US" altLang="zh-CN" sz="1600" dirty="0">
                <a:latin typeface="Consolas" panose="020B0609020204030204" pitchFamily="49" charset="0"/>
              </a:rPr>
              <a:t>("%</a:t>
            </a:r>
            <a:r>
              <a:rPr lang="en-US" altLang="zh-CN" sz="1600" dirty="0" err="1">
                <a:latin typeface="Consolas" panose="020B0609020204030204" pitchFamily="49" charset="0"/>
              </a:rPr>
              <a:t>d%d</a:t>
            </a:r>
            <a:r>
              <a:rPr lang="en-US" altLang="zh-CN" sz="1600" dirty="0">
                <a:latin typeface="Consolas" panose="020B0609020204030204" pitchFamily="49" charset="0"/>
              </a:rPr>
              <a:t>",&amp;</a:t>
            </a:r>
            <a:r>
              <a:rPr lang="en-US" altLang="zh-CN" sz="1600" dirty="0" err="1">
                <a:latin typeface="Consolas" panose="020B0609020204030204" pitchFamily="49" charset="0"/>
              </a:rPr>
              <a:t>a,&amp;b</a:t>
            </a:r>
            <a:r>
              <a:rPr lang="en-US" altLang="zh-CN" sz="1600" dirty="0">
                <a:latin typeface="Consolas" panose="020B0609020204030204" pitchFamily="49" charset="0"/>
              </a:rPr>
              <a:t>);</a:t>
            </a:r>
          </a:p>
          <a:p>
            <a:r>
              <a:rPr lang="en-US" altLang="zh-CN" sz="1600" dirty="0">
                <a:latin typeface="Consolas" panose="020B0609020204030204" pitchFamily="49" charset="0"/>
              </a:rPr>
              <a:t>    </a:t>
            </a:r>
            <a:r>
              <a:rPr lang="en-US" altLang="zh-CN" sz="1600" dirty="0" err="1">
                <a:latin typeface="Consolas" panose="020B0609020204030204" pitchFamily="49" charset="0"/>
              </a:rPr>
              <a:t>printf</a:t>
            </a:r>
            <a:r>
              <a:rPr lang="en-US" altLang="zh-CN" sz="1600" dirty="0">
                <a:latin typeface="Consolas" panose="020B0609020204030204" pitchFamily="49" charset="0"/>
              </a:rPr>
              <a:t>("%d\n",</a:t>
            </a:r>
            <a:r>
              <a:rPr lang="en-US" altLang="zh-CN" sz="1600" dirty="0" err="1">
                <a:latin typeface="Consolas" panose="020B0609020204030204" pitchFamily="49" charset="0"/>
              </a:rPr>
              <a:t>gcd</a:t>
            </a:r>
            <a:r>
              <a:rPr lang="en-US" altLang="zh-CN" sz="1600" dirty="0">
                <a:latin typeface="Consolas" panose="020B0609020204030204" pitchFamily="49" charset="0"/>
              </a:rPr>
              <a:t>(</a:t>
            </a:r>
            <a:r>
              <a:rPr lang="en-US" altLang="zh-CN" sz="1600" dirty="0" err="1">
                <a:latin typeface="Consolas" panose="020B0609020204030204" pitchFamily="49" charset="0"/>
              </a:rPr>
              <a:t>a,b</a:t>
            </a:r>
            <a:r>
              <a:rPr lang="en-US" altLang="zh-CN" sz="1600" dirty="0">
                <a:latin typeface="Consolas" panose="020B0609020204030204" pitchFamily="49" charset="0"/>
              </a:rPr>
              <a:t>));    </a:t>
            </a:r>
          </a:p>
          <a:p>
            <a:r>
              <a:rPr lang="en-US" altLang="zh-CN" sz="1600" dirty="0">
                <a:latin typeface="Consolas" panose="020B0609020204030204" pitchFamily="49" charset="0"/>
              </a:rPr>
              <a:t>    return 0;</a:t>
            </a:r>
          </a:p>
          <a:p>
            <a:r>
              <a:rPr lang="en-US" altLang="zh-CN" sz="1600" dirty="0">
                <a:latin typeface="Consolas" panose="020B0609020204030204" pitchFamily="49" charset="0"/>
              </a:rPr>
              <a:t>}</a:t>
            </a:r>
            <a:endParaRPr lang="zh-CN" altLang="en-US" sz="1600" dirty="0">
              <a:latin typeface="Consolas" panose="020B0609020204030204" pitchFamily="49" charset="0"/>
            </a:endParaRPr>
          </a:p>
        </p:txBody>
      </p:sp>
      <p:sp>
        <p:nvSpPr>
          <p:cNvPr id="4" name="文本框 3">
            <a:extLst>
              <a:ext uri="{FF2B5EF4-FFF2-40B4-BE49-F238E27FC236}">
                <a16:creationId xmlns:a16="http://schemas.microsoft.com/office/drawing/2014/main" id="{F0085698-DF30-A3DF-BF06-086957FE5022}"/>
              </a:ext>
            </a:extLst>
          </p:cNvPr>
          <p:cNvSpPr txBox="1"/>
          <p:nvPr/>
        </p:nvSpPr>
        <p:spPr>
          <a:xfrm>
            <a:off x="6394518" y="1666491"/>
            <a:ext cx="5125640" cy="3334002"/>
          </a:xfrm>
          <a:prstGeom prst="rect">
            <a:avLst/>
          </a:prstGeom>
          <a:noFill/>
          <a:ln>
            <a:solidFill>
              <a:schemeClr val="bg1">
                <a:lumMod val="75000"/>
              </a:schemeClr>
            </a:solidFill>
          </a:ln>
        </p:spPr>
        <p:txBody>
          <a:bodyPr wrap="none" rtlCol="0">
            <a:noAutofit/>
          </a:bodyPr>
          <a:lstStyle/>
          <a:p>
            <a:r>
              <a:rPr lang="en-US" altLang="zh-CN" sz="1600" dirty="0">
                <a:latin typeface="Consolas" panose="020B0609020204030204" pitchFamily="49" charset="0"/>
              </a:rPr>
              <a:t>int min(int </a:t>
            </a:r>
            <a:r>
              <a:rPr lang="en-US" altLang="zh-CN" sz="1600" dirty="0" err="1">
                <a:latin typeface="Consolas" panose="020B0609020204030204" pitchFamily="49" charset="0"/>
              </a:rPr>
              <a:t>a,int</a:t>
            </a:r>
            <a:r>
              <a:rPr lang="en-US" altLang="zh-CN" sz="1600" dirty="0">
                <a:latin typeface="Consolas" panose="020B0609020204030204" pitchFamily="49" charset="0"/>
              </a:rPr>
              <a:t> b){</a:t>
            </a:r>
          </a:p>
          <a:p>
            <a:r>
              <a:rPr lang="en-US" altLang="zh-CN" sz="1600" dirty="0">
                <a:latin typeface="Consolas" panose="020B0609020204030204" pitchFamily="49" charset="0"/>
              </a:rPr>
              <a:t>    return (a &gt; b)? b:a;</a:t>
            </a:r>
          </a:p>
          <a:p>
            <a:r>
              <a:rPr lang="en-US" altLang="zh-CN" sz="1600" dirty="0">
                <a:latin typeface="Consolas" panose="020B0609020204030204" pitchFamily="49" charset="0"/>
              </a:rPr>
              <a:t>}</a:t>
            </a:r>
          </a:p>
          <a:p>
            <a:endParaRPr lang="en-US" altLang="zh-CN" sz="1600" dirty="0">
              <a:latin typeface="Consolas" panose="020B0609020204030204" pitchFamily="49" charset="0"/>
            </a:endParaRPr>
          </a:p>
          <a:p>
            <a:r>
              <a:rPr lang="en-US" altLang="zh-CN" sz="1600" dirty="0">
                <a:latin typeface="Consolas" panose="020B0609020204030204" pitchFamily="49" charset="0"/>
              </a:rPr>
              <a:t>int </a:t>
            </a:r>
            <a:r>
              <a:rPr lang="en-US" altLang="zh-CN" sz="1600" dirty="0" err="1">
                <a:latin typeface="Consolas" panose="020B0609020204030204" pitchFamily="49" charset="0"/>
              </a:rPr>
              <a:t>gcd</a:t>
            </a:r>
            <a:r>
              <a:rPr lang="en-US" altLang="zh-CN" sz="1600" dirty="0">
                <a:latin typeface="Consolas" panose="020B0609020204030204" pitchFamily="49" charset="0"/>
              </a:rPr>
              <a:t>(int </a:t>
            </a:r>
            <a:r>
              <a:rPr lang="en-US" altLang="zh-CN" sz="1600" dirty="0" err="1">
                <a:latin typeface="Consolas" panose="020B0609020204030204" pitchFamily="49" charset="0"/>
              </a:rPr>
              <a:t>a,int</a:t>
            </a:r>
            <a:r>
              <a:rPr lang="en-US" altLang="zh-CN" sz="1600" dirty="0">
                <a:latin typeface="Consolas" panose="020B0609020204030204" pitchFamily="49" charset="0"/>
              </a:rPr>
              <a:t> b) {</a:t>
            </a:r>
          </a:p>
          <a:p>
            <a:r>
              <a:rPr lang="en-US" altLang="zh-CN" sz="1600" dirty="0">
                <a:latin typeface="Consolas" panose="020B0609020204030204" pitchFamily="49" charset="0"/>
              </a:rPr>
              <a:t>    int n = min(</a:t>
            </a:r>
            <a:r>
              <a:rPr lang="en-US" altLang="zh-CN" sz="1600" dirty="0" err="1">
                <a:latin typeface="Consolas" panose="020B0609020204030204" pitchFamily="49" charset="0"/>
              </a:rPr>
              <a:t>a,b</a:t>
            </a:r>
            <a:r>
              <a:rPr lang="en-US" altLang="zh-CN" sz="1600" dirty="0">
                <a:latin typeface="Consolas" panose="020B0609020204030204" pitchFamily="49" charset="0"/>
              </a:rPr>
              <a:t>);</a:t>
            </a:r>
          </a:p>
          <a:p>
            <a:r>
              <a:rPr lang="en-US" altLang="zh-CN" sz="1600" dirty="0">
                <a:latin typeface="Consolas" panose="020B0609020204030204" pitchFamily="49" charset="0"/>
              </a:rPr>
              <a:t>    </a:t>
            </a:r>
            <a:r>
              <a:rPr lang="en-US" altLang="zh-CN" sz="1600" b="1" dirty="0">
                <a:solidFill>
                  <a:srgbClr val="C00000"/>
                </a:solidFill>
                <a:latin typeface="Consolas" panose="020B0609020204030204" pitchFamily="49" charset="0"/>
              </a:rPr>
              <a:t>int </a:t>
            </a:r>
            <a:r>
              <a:rPr lang="en-US" altLang="zh-CN" sz="1600" b="1" dirty="0" err="1">
                <a:solidFill>
                  <a:srgbClr val="C00000"/>
                </a:solidFill>
                <a:latin typeface="Consolas" panose="020B0609020204030204" pitchFamily="49" charset="0"/>
              </a:rPr>
              <a:t>i</a:t>
            </a:r>
            <a:r>
              <a:rPr lang="en-US" altLang="zh-CN" sz="1600" b="1" dirty="0">
                <a:solidFill>
                  <a:srgbClr val="C00000"/>
                </a:solidFill>
                <a:latin typeface="Consolas" panose="020B0609020204030204" pitchFamily="49" charset="0"/>
              </a:rPr>
              <a:t>; </a:t>
            </a:r>
          </a:p>
          <a:p>
            <a:r>
              <a:rPr lang="en-US" altLang="zh-CN" sz="1600" dirty="0">
                <a:latin typeface="Consolas" panose="020B0609020204030204" pitchFamily="49" charset="0"/>
              </a:rPr>
              <a:t>    for(</a:t>
            </a:r>
            <a:r>
              <a:rPr lang="en-US" altLang="zh-CN" sz="1600" dirty="0" err="1">
                <a:latin typeface="Consolas" panose="020B0609020204030204" pitchFamily="49" charset="0"/>
              </a:rPr>
              <a:t>i</a:t>
            </a:r>
            <a:r>
              <a:rPr lang="en-US" altLang="zh-CN" sz="1600" dirty="0">
                <a:latin typeface="Consolas" panose="020B0609020204030204" pitchFamily="49" charset="0"/>
              </a:rPr>
              <a:t>=n; </a:t>
            </a:r>
            <a:r>
              <a:rPr lang="en-US" altLang="zh-CN" sz="1600" dirty="0" err="1">
                <a:latin typeface="Consolas" panose="020B0609020204030204" pitchFamily="49" charset="0"/>
              </a:rPr>
              <a:t>i</a:t>
            </a:r>
            <a:r>
              <a:rPr lang="en-US" altLang="zh-CN" sz="1600" dirty="0">
                <a:latin typeface="Consolas" panose="020B0609020204030204" pitchFamily="49" charset="0"/>
              </a:rPr>
              <a:t>&gt;0; </a:t>
            </a:r>
            <a:r>
              <a:rPr lang="en-US" altLang="zh-CN" sz="1600" dirty="0" err="1">
                <a:latin typeface="Consolas" panose="020B0609020204030204" pitchFamily="49" charset="0"/>
              </a:rPr>
              <a:t>i</a:t>
            </a:r>
            <a:r>
              <a:rPr lang="en-US" altLang="zh-CN" sz="1600" dirty="0">
                <a:latin typeface="Consolas" panose="020B0609020204030204" pitchFamily="49" charset="0"/>
              </a:rPr>
              <a:t>--){</a:t>
            </a:r>
          </a:p>
          <a:p>
            <a:r>
              <a:rPr lang="en-US" altLang="zh-CN" sz="1600" dirty="0">
                <a:latin typeface="Consolas" panose="020B0609020204030204" pitchFamily="49" charset="0"/>
              </a:rPr>
              <a:t>        if (!(a % </a:t>
            </a:r>
            <a:r>
              <a:rPr lang="en-US" altLang="zh-CN" sz="1600" dirty="0" err="1">
                <a:latin typeface="Consolas" panose="020B0609020204030204" pitchFamily="49" charset="0"/>
              </a:rPr>
              <a:t>i</a:t>
            </a:r>
            <a:r>
              <a:rPr lang="en-US" altLang="zh-CN" sz="1600" dirty="0">
                <a:latin typeface="Consolas" panose="020B0609020204030204" pitchFamily="49" charset="0"/>
              </a:rPr>
              <a:t>) &amp;&amp; !(b % </a:t>
            </a:r>
            <a:r>
              <a:rPr lang="en-US" altLang="zh-CN" sz="1600" dirty="0" err="1">
                <a:latin typeface="Consolas" panose="020B0609020204030204" pitchFamily="49" charset="0"/>
              </a:rPr>
              <a:t>i</a:t>
            </a:r>
            <a:r>
              <a:rPr lang="en-US" altLang="zh-CN" sz="1600" dirty="0">
                <a:latin typeface="Consolas" panose="020B0609020204030204" pitchFamily="49" charset="0"/>
              </a:rPr>
              <a:t>)) </a:t>
            </a:r>
          </a:p>
          <a:p>
            <a:r>
              <a:rPr lang="en-US" altLang="zh-CN" sz="1600" dirty="0">
                <a:latin typeface="Consolas" panose="020B0609020204030204" pitchFamily="49" charset="0"/>
              </a:rPr>
              <a:t>           </a:t>
            </a:r>
            <a:r>
              <a:rPr lang="en-US" altLang="zh-CN" sz="1600" b="1" dirty="0">
                <a:solidFill>
                  <a:srgbClr val="C00000"/>
                </a:solidFill>
                <a:latin typeface="Consolas" panose="020B0609020204030204" pitchFamily="49" charset="0"/>
              </a:rPr>
              <a:t>break;</a:t>
            </a:r>
          </a:p>
          <a:p>
            <a:r>
              <a:rPr lang="en-US" altLang="zh-CN" sz="1600" dirty="0">
                <a:latin typeface="Consolas" panose="020B0609020204030204" pitchFamily="49" charset="0"/>
              </a:rPr>
              <a:t>    }</a:t>
            </a:r>
          </a:p>
          <a:p>
            <a:r>
              <a:rPr lang="en-US" altLang="zh-CN" sz="1600" dirty="0">
                <a:latin typeface="Consolas" panose="020B0609020204030204" pitchFamily="49" charset="0"/>
              </a:rPr>
              <a:t>    return </a:t>
            </a:r>
            <a:r>
              <a:rPr lang="en-US" altLang="zh-CN" sz="1600" dirty="0" err="1">
                <a:latin typeface="Consolas" panose="020B0609020204030204" pitchFamily="49" charset="0"/>
              </a:rPr>
              <a:t>i</a:t>
            </a:r>
            <a:r>
              <a:rPr lang="en-US" altLang="zh-CN" sz="1600" dirty="0">
                <a:latin typeface="Consolas" panose="020B0609020204030204" pitchFamily="49" charset="0"/>
              </a:rPr>
              <a:t>; </a:t>
            </a:r>
          </a:p>
          <a:p>
            <a:r>
              <a:rPr lang="en-US" altLang="zh-CN" sz="1600" dirty="0">
                <a:latin typeface="Consolas" panose="020B0609020204030204" pitchFamily="49" charset="0"/>
              </a:rPr>
              <a:t>}</a:t>
            </a:r>
            <a:endParaRPr lang="zh-CN" altLang="en-US" sz="1600" dirty="0">
              <a:latin typeface="Consolas" panose="020B0609020204030204" pitchFamily="49" charset="0"/>
            </a:endParaRPr>
          </a:p>
        </p:txBody>
      </p:sp>
      <p:sp>
        <p:nvSpPr>
          <p:cNvPr id="5" name="文本框 4">
            <a:extLst>
              <a:ext uri="{FF2B5EF4-FFF2-40B4-BE49-F238E27FC236}">
                <a16:creationId xmlns:a16="http://schemas.microsoft.com/office/drawing/2014/main" id="{DA6FE042-25AA-EABB-EA44-B84D550D22D1}"/>
              </a:ext>
            </a:extLst>
          </p:cNvPr>
          <p:cNvSpPr txBox="1"/>
          <p:nvPr/>
        </p:nvSpPr>
        <p:spPr>
          <a:xfrm>
            <a:off x="857839" y="5776027"/>
            <a:ext cx="3866764" cy="646331"/>
          </a:xfrm>
          <a:prstGeom prst="rect">
            <a:avLst/>
          </a:prstGeom>
          <a:noFill/>
        </p:spPr>
        <p:txBody>
          <a:bodyPr wrap="none" rtlCol="0">
            <a:spAutoFit/>
          </a:bodyPr>
          <a:lstStyle/>
          <a:p>
            <a:r>
              <a:rPr lang="zh-CN" altLang="en-US" dirty="0">
                <a:solidFill>
                  <a:srgbClr val="C00000"/>
                </a:solidFill>
              </a:rPr>
              <a:t>练习：修改</a:t>
            </a:r>
            <a:r>
              <a:rPr lang="en-US" altLang="zh-CN" dirty="0">
                <a:solidFill>
                  <a:srgbClr val="C00000"/>
                </a:solidFill>
              </a:rPr>
              <a:t>12</a:t>
            </a:r>
            <a:r>
              <a:rPr lang="zh-CN" altLang="en-US" dirty="0">
                <a:solidFill>
                  <a:srgbClr val="C00000"/>
                </a:solidFill>
              </a:rPr>
              <a:t>行 </a:t>
            </a:r>
            <a:r>
              <a:rPr lang="en-US" altLang="zh-CN" dirty="0">
                <a:solidFill>
                  <a:srgbClr val="C00000"/>
                </a:solidFill>
              </a:rPr>
              <a:t>assert(</a:t>
            </a:r>
            <a:r>
              <a:rPr lang="en-US" altLang="zh-CN" dirty="0" err="1">
                <a:solidFill>
                  <a:srgbClr val="C00000"/>
                </a:solidFill>
              </a:rPr>
              <a:t>gcd</a:t>
            </a:r>
            <a:r>
              <a:rPr lang="en-US" altLang="zh-CN" dirty="0">
                <a:solidFill>
                  <a:srgbClr val="C00000"/>
                </a:solidFill>
              </a:rPr>
              <a:t>(3,9)==4);</a:t>
            </a:r>
          </a:p>
          <a:p>
            <a:r>
              <a:rPr lang="zh-CN" altLang="en-US" dirty="0">
                <a:solidFill>
                  <a:srgbClr val="C00000"/>
                </a:solidFill>
              </a:rPr>
              <a:t>运行程序，请解释输出的意义。</a:t>
            </a:r>
          </a:p>
        </p:txBody>
      </p:sp>
    </p:spTree>
    <p:extLst>
      <p:ext uri="{BB962C8B-B14F-4D97-AF65-F5344CB8AC3E}">
        <p14:creationId xmlns:p14="http://schemas.microsoft.com/office/powerpoint/2010/main" val="2049540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barn(inVertical)">
                                      <p:cBhvr>
                                        <p:cTn id="7" dur="500"/>
                                        <p:tgtEl>
                                          <p:spTgt spid="51"/>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ppt_x"/>
                                          </p:val>
                                        </p:tav>
                                        <p:tav tm="100000">
                                          <p:val>
                                            <p:strVal val="#ppt_x"/>
                                          </p:val>
                                        </p:tav>
                                      </p:tavLst>
                                    </p:anim>
                                    <p:anim calcmode="lin" valueType="num">
                                      <p:cBhvr additive="base">
                                        <p:cTn id="17"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P spid="2" grpId="0"/>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编程技巧 </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 assert </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断言</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mc:AlternateContent xmlns:mc="http://schemas.openxmlformats.org/markup-compatibility/2006">
        <mc:Choice xmlns:a14="http://schemas.microsoft.com/office/drawing/2010/main" Requires="a14">
          <p:sp>
            <p:nvSpPr>
              <p:cNvPr id="2" name="文本框 1"/>
              <p:cNvSpPr txBox="1"/>
              <p:nvPr/>
            </p:nvSpPr>
            <p:spPr>
              <a:xfrm>
                <a:off x="1074656" y="1738207"/>
                <a:ext cx="10152668" cy="4526406"/>
              </a:xfrm>
              <a:prstGeom prst="rect">
                <a:avLst/>
              </a:prstGeom>
              <a:noFill/>
            </p:spPr>
            <p:txBody>
              <a:bodyPr wrap="square" rtlCol="0">
                <a:noAutofit/>
              </a:bodyPr>
              <a:lstStyle/>
              <a:p>
                <a:r>
                  <a:rPr lang="zh-CN" altLang="en-US" sz="2400" dirty="0">
                    <a:latin typeface="微软雅黑" panose="020B0503020204020204" pitchFamily="34" charset="-122"/>
                    <a:ea typeface="微软雅黑" panose="020B0503020204020204" pitchFamily="34" charset="-122"/>
                  </a:rPr>
                  <a:t>如何确认自己编写的函数是对的，又不影响程序的提交？</a:t>
                </a:r>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使用 </a:t>
                </a:r>
                <a:r>
                  <a:rPr lang="en-US" altLang="zh-CN" sz="2400" dirty="0" err="1">
                    <a:latin typeface="微软雅黑" panose="020B0503020204020204" pitchFamily="34" charset="-122"/>
                    <a:ea typeface="微软雅黑" panose="020B0503020204020204" pitchFamily="34" charset="-122"/>
                  </a:rPr>
                  <a:t>assert.h</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中的</a:t>
                </a:r>
                <a:endParaRPr lang="en-US" altLang="zh-CN" sz="2400" dirty="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r>
                        <a:rPr lang="en-US" altLang="zh-CN" sz="2400" i="1" dirty="0" smtClean="0">
                          <a:latin typeface="Cambria Math" panose="02040503050406030204" pitchFamily="18" charset="0"/>
                          <a:ea typeface="微软雅黑" panose="020B0503020204020204" pitchFamily="34" charset="-122"/>
                        </a:rPr>
                        <m:t>𝑎𝑠𝑠𝑒𝑟𝑡</m:t>
                      </m:r>
                      <m:r>
                        <a:rPr lang="en-US" altLang="zh-CN" sz="2400" i="1" dirty="0" smtClean="0">
                          <a:latin typeface="Cambria Math" panose="02040503050406030204" pitchFamily="18" charset="0"/>
                          <a:ea typeface="微软雅黑" panose="020B0503020204020204" pitchFamily="34" charset="-122"/>
                        </a:rPr>
                        <m:t>(</m:t>
                      </m:r>
                      <m:r>
                        <a:rPr lang="en-US" altLang="zh-CN" sz="2400" i="1" dirty="0" smtClean="0">
                          <a:latin typeface="Cambria Math" panose="02040503050406030204" pitchFamily="18" charset="0"/>
                          <a:ea typeface="微软雅黑" panose="020B0503020204020204" pitchFamily="34" charset="-122"/>
                        </a:rPr>
                        <m:t>𝑒𝑥𝑝𝑟</m:t>
                      </m:r>
                      <m:r>
                        <a:rPr lang="en-US" altLang="zh-CN" sz="2400" i="1" dirty="0" smtClean="0">
                          <a:latin typeface="Cambria Math" panose="02040503050406030204" pitchFamily="18" charset="0"/>
                          <a:ea typeface="微软雅黑" panose="020B0503020204020204" pitchFamily="34" charset="-122"/>
                        </a:rPr>
                        <m:t>)</m:t>
                      </m:r>
                    </m:oMath>
                  </m:oMathPara>
                </a14:m>
                <a:endParaRPr lang="en-US" altLang="zh-CN" sz="2400"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当 </a:t>
                </a:r>
                <a:r>
                  <a:rPr lang="en-US" altLang="zh-CN" sz="2400" dirty="0">
                    <a:latin typeface="微软雅黑" panose="020B0503020204020204" pitchFamily="34" charset="-122"/>
                    <a:ea typeface="微软雅黑" panose="020B0503020204020204" pitchFamily="34" charset="-122"/>
                  </a:rPr>
                  <a:t>expr </a:t>
                </a:r>
                <a:r>
                  <a:rPr lang="zh-CN" altLang="en-US" sz="2400" dirty="0">
                    <a:latin typeface="微软雅黑" panose="020B0503020204020204" pitchFamily="34" charset="-122"/>
                    <a:ea typeface="微软雅黑" panose="020B0503020204020204" pitchFamily="34" charset="-122"/>
                  </a:rPr>
                  <a:t>为真，这个语句不会产生任何输出</a:t>
                </a:r>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当 </a:t>
                </a:r>
                <a:r>
                  <a:rPr lang="en-US" altLang="zh-CN" sz="2400" dirty="0">
                    <a:latin typeface="微软雅黑" panose="020B0503020204020204" pitchFamily="34" charset="-122"/>
                    <a:ea typeface="微软雅黑" panose="020B0503020204020204" pitchFamily="34" charset="-122"/>
                  </a:rPr>
                  <a:t>expr </a:t>
                </a:r>
                <a:r>
                  <a:rPr lang="zh-CN" altLang="en-US" sz="2400" dirty="0">
                    <a:latin typeface="微软雅黑" panose="020B0503020204020204" pitchFamily="34" charset="-122"/>
                    <a:ea typeface="微软雅黑" panose="020B0503020204020204" pitchFamily="34" charset="-122"/>
                  </a:rPr>
                  <a:t>为假，语句中止执行，并给出错误信息</a:t>
                </a:r>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关键是：在 </a:t>
                </a:r>
                <a:r>
                  <a:rPr lang="en-US" altLang="zh-CN" sz="2400" dirty="0">
                    <a:latin typeface="微软雅黑" panose="020B0503020204020204" pitchFamily="34" charset="-122"/>
                    <a:ea typeface="微软雅黑" panose="020B0503020204020204" pitchFamily="34" charset="-122"/>
                  </a:rPr>
                  <a:t>#include&lt;assert.h&gt; </a:t>
                </a:r>
                <a:r>
                  <a:rPr lang="zh-CN" altLang="en-US" sz="2400" dirty="0">
                    <a:latin typeface="微软雅黑" panose="020B0503020204020204" pitchFamily="34" charset="-122"/>
                    <a:ea typeface="微软雅黑" panose="020B0503020204020204" pitchFamily="34" charset="-122"/>
                  </a:rPr>
                  <a:t>前添加</a:t>
                </a:r>
                <a:r>
                  <a:rPr lang="en-US" altLang="zh-CN" sz="2400" dirty="0">
                    <a:latin typeface="微软雅黑" panose="020B0503020204020204" pitchFamily="34" charset="-122"/>
                    <a:ea typeface="微软雅黑" panose="020B0503020204020204" pitchFamily="34" charset="-122"/>
                  </a:rPr>
                  <a:t> </a:t>
                </a:r>
                <a:r>
                  <a:rPr lang="en-US" altLang="zh-CN" sz="2400" dirty="0">
                    <a:solidFill>
                      <a:srgbClr val="C00000"/>
                    </a:solidFill>
                    <a:latin typeface="微软雅黑" panose="020B0503020204020204" pitchFamily="34" charset="-122"/>
                    <a:ea typeface="微软雅黑" panose="020B0503020204020204" pitchFamily="34" charset="-122"/>
                  </a:rPr>
                  <a:t>#define NDEBUG</a:t>
                </a:r>
                <a:r>
                  <a:rPr lang="zh-CN" altLang="en-US" sz="2400" dirty="0">
                    <a:latin typeface="微软雅黑" panose="020B0503020204020204" pitchFamily="34" charset="-122"/>
                    <a:ea typeface="微软雅黑" panose="020B0503020204020204" pitchFamily="34" charset="-122"/>
                  </a:rPr>
                  <a:t>，例如：</a:t>
                </a:r>
                <a:endParaRPr lang="en-US" altLang="zh-CN" sz="2400" dirty="0">
                  <a:latin typeface="微软雅黑" panose="020B0503020204020204" pitchFamily="34" charset="-122"/>
                  <a:ea typeface="微软雅黑" panose="020B0503020204020204" pitchFamily="34" charset="-122"/>
                </a:endParaRPr>
              </a:p>
              <a:p>
                <a:endParaRPr lang="en-US" altLang="zh-CN" sz="2400" dirty="0">
                  <a:solidFill>
                    <a:srgbClr val="FF0000"/>
                  </a:solidFill>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所有 </a:t>
                </a:r>
                <a:r>
                  <a:rPr lang="en-US" altLang="zh-CN" sz="2400" dirty="0">
                    <a:latin typeface="微软雅黑" panose="020B0503020204020204" pitchFamily="34" charset="-122"/>
                    <a:ea typeface="微软雅黑" panose="020B0503020204020204" pitchFamily="34" charset="-122"/>
                  </a:rPr>
                  <a:t>assert </a:t>
                </a:r>
                <a:r>
                  <a:rPr lang="zh-CN" altLang="en-US" sz="2400" dirty="0">
                    <a:latin typeface="微软雅黑" panose="020B0503020204020204" pitchFamily="34" charset="-122"/>
                    <a:ea typeface="微软雅黑" panose="020B0503020204020204" pitchFamily="34" charset="-122"/>
                  </a:rPr>
                  <a:t>语句就被编译器自动忽视了！</a:t>
                </a:r>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1074656" y="1738207"/>
                <a:ext cx="10152668" cy="4526406"/>
              </a:xfrm>
              <a:prstGeom prst="rect">
                <a:avLst/>
              </a:prstGeom>
              <a:blipFill>
                <a:blip r:embed="rId4"/>
                <a:stretch>
                  <a:fillRect l="-900" t="-1077"/>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4122F8B9-2915-A05B-F663-420CF114FD03}"/>
              </a:ext>
            </a:extLst>
          </p:cNvPr>
          <p:cNvSpPr txBox="1"/>
          <p:nvPr/>
        </p:nvSpPr>
        <p:spPr>
          <a:xfrm>
            <a:off x="3273996" y="5072211"/>
            <a:ext cx="5125640" cy="558235"/>
          </a:xfrm>
          <a:prstGeom prst="rect">
            <a:avLst/>
          </a:prstGeom>
          <a:noFill/>
          <a:ln>
            <a:solidFill>
              <a:schemeClr val="bg1">
                <a:lumMod val="75000"/>
              </a:schemeClr>
            </a:solidFill>
          </a:ln>
        </p:spPr>
        <p:txBody>
          <a:bodyPr wrap="none" rtlCol="0">
            <a:noAutofit/>
          </a:bodyPr>
          <a:lstStyle/>
          <a:p>
            <a:r>
              <a:rPr lang="it-IT" altLang="zh-CN" sz="1600" b="1" dirty="0">
                <a:solidFill>
                  <a:srgbClr val="FF0000"/>
                </a:solidFill>
                <a:latin typeface="Consolas" panose="020B0609020204030204" pitchFamily="49" charset="0"/>
              </a:rPr>
              <a:t>#define NDEBUG</a:t>
            </a:r>
          </a:p>
          <a:p>
            <a:r>
              <a:rPr lang="it-IT" altLang="zh-CN" sz="1600" b="1" dirty="0">
                <a:latin typeface="Consolas" panose="020B0609020204030204" pitchFamily="49" charset="0"/>
              </a:rPr>
              <a:t>#include&lt;assert.h&gt; </a:t>
            </a:r>
            <a:endParaRPr lang="en-US" altLang="zh-CN" sz="1600" b="1" dirty="0">
              <a:latin typeface="Consolas" panose="020B0609020204030204" pitchFamily="49" charset="0"/>
            </a:endParaRPr>
          </a:p>
        </p:txBody>
      </p:sp>
    </p:spTree>
    <p:extLst>
      <p:ext uri="{BB962C8B-B14F-4D97-AF65-F5344CB8AC3E}">
        <p14:creationId xmlns:p14="http://schemas.microsoft.com/office/powerpoint/2010/main" val="1010230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barn(inVertical)">
                                      <p:cBhvr>
                                        <p:cTn id="7" dur="500"/>
                                        <p:tgtEl>
                                          <p:spTgt spid="51"/>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最大公约数 </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 </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算法设计</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2</a:t>
            </a: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mc:AlternateContent xmlns:mc="http://schemas.openxmlformats.org/markup-compatibility/2006">
        <mc:Choice xmlns:a14="http://schemas.microsoft.com/office/drawing/2010/main" Requires="a14">
          <p:sp>
            <p:nvSpPr>
              <p:cNvPr id="2" name="文本框 1"/>
              <p:cNvSpPr txBox="1"/>
              <p:nvPr/>
            </p:nvSpPr>
            <p:spPr>
              <a:xfrm>
                <a:off x="1074656" y="1738207"/>
                <a:ext cx="10152668" cy="4526406"/>
              </a:xfrm>
              <a:prstGeom prst="rect">
                <a:avLst/>
              </a:prstGeom>
              <a:noFill/>
            </p:spPr>
            <p:txBody>
              <a:bodyPr wrap="square" rtlCol="0">
                <a:noAutofit/>
              </a:bodyPr>
              <a:lstStyle/>
              <a:p>
                <a:r>
                  <a:rPr lang="zh-CN" altLang="en-US" sz="2400" dirty="0">
                    <a:latin typeface="微软雅黑" panose="020B0503020204020204" pitchFamily="34" charset="-122"/>
                    <a:ea typeface="微软雅黑" panose="020B0503020204020204" pitchFamily="34" charset="-122"/>
                  </a:rPr>
                  <a:t>计算方法</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：辗转相除法</a:t>
                </a:r>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其算法定义是：</a:t>
                </a:r>
                <a:endParaRPr lang="en-US" altLang="zh-CN" sz="2400" dirty="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func>
                        <m:funcPr>
                          <m:ctrlPr>
                            <a:rPr lang="en-US" altLang="zh-CN" sz="2400" b="0" i="1" smtClean="0">
                              <a:latin typeface="Cambria Math" panose="02040503050406030204" pitchFamily="18" charset="0"/>
                              <a:ea typeface="微软雅黑" panose="020B0503020204020204" pitchFamily="34" charset="-122"/>
                            </a:rPr>
                          </m:ctrlPr>
                        </m:funcPr>
                        <m:fName>
                          <m:r>
                            <m:rPr>
                              <m:sty m:val="p"/>
                            </m:rPr>
                            <a:rPr lang="en-US" altLang="zh-CN" sz="2400" b="0" i="0" smtClean="0">
                              <a:latin typeface="Cambria Math" panose="02040503050406030204" pitchFamily="18" charset="0"/>
                              <a:ea typeface="微软雅黑" panose="020B0503020204020204" pitchFamily="34" charset="-122"/>
                            </a:rPr>
                            <m:t>gcd</m:t>
                          </m:r>
                        </m:fName>
                        <m:e>
                          <m:d>
                            <m:dPr>
                              <m:ctrlPr>
                                <a:rPr lang="en-US" altLang="zh-CN" sz="2400" b="0" i="1" smtClean="0">
                                  <a:latin typeface="Cambria Math" panose="02040503050406030204" pitchFamily="18" charset="0"/>
                                  <a:ea typeface="微软雅黑" panose="020B0503020204020204" pitchFamily="34" charset="-122"/>
                                </a:rPr>
                              </m:ctrlPr>
                            </m:dPr>
                            <m:e>
                              <m:r>
                                <a:rPr lang="en-US" altLang="zh-CN" sz="2400" b="0" i="1" smtClean="0">
                                  <a:latin typeface="Cambria Math" panose="02040503050406030204" pitchFamily="18" charset="0"/>
                                  <a:ea typeface="微软雅黑" panose="020B0503020204020204" pitchFamily="34" charset="-122"/>
                                </a:rPr>
                                <m:t>𝑎</m:t>
                              </m:r>
                              <m:r>
                                <a:rPr lang="en-US" altLang="zh-CN" sz="2400" b="0" i="1" smtClean="0">
                                  <a:latin typeface="Cambria Math" panose="02040503050406030204" pitchFamily="18" charset="0"/>
                                  <a:ea typeface="微软雅黑" panose="020B0503020204020204" pitchFamily="34" charset="-122"/>
                                </a:rPr>
                                <m:t>,</m:t>
                              </m:r>
                              <m:r>
                                <a:rPr lang="en-US" altLang="zh-CN" sz="2400" b="0" i="1" smtClean="0">
                                  <a:latin typeface="Cambria Math" panose="02040503050406030204" pitchFamily="18" charset="0"/>
                                  <a:ea typeface="微软雅黑" panose="020B0503020204020204" pitchFamily="34" charset="-122"/>
                                </a:rPr>
                                <m:t>𝑏</m:t>
                              </m:r>
                            </m:e>
                          </m:d>
                        </m:e>
                      </m:func>
                      <m:r>
                        <a:rPr lang="en-US" altLang="zh-CN" sz="2400" b="0" i="1" smtClean="0">
                          <a:latin typeface="Cambria Math" panose="02040503050406030204" pitchFamily="18" charset="0"/>
                          <a:ea typeface="微软雅黑" panose="020B0503020204020204" pitchFamily="34" charset="-122"/>
                        </a:rPr>
                        <m:t>= </m:t>
                      </m:r>
                      <m:d>
                        <m:dPr>
                          <m:begChr m:val="{"/>
                          <m:endChr m:val=""/>
                          <m:ctrlPr>
                            <a:rPr lang="en-US" altLang="zh-CN" sz="2400" b="0" i="1" smtClean="0">
                              <a:latin typeface="Cambria Math" panose="02040503050406030204" pitchFamily="18" charset="0"/>
                              <a:ea typeface="微软雅黑" panose="020B0503020204020204" pitchFamily="34" charset="-122"/>
                            </a:rPr>
                          </m:ctrlPr>
                        </m:dPr>
                        <m:e>
                          <m:eqArr>
                            <m:eqArrPr>
                              <m:ctrlPr>
                                <a:rPr lang="en-US" altLang="zh-CN" sz="2400" b="0" i="1" smtClean="0">
                                  <a:latin typeface="Cambria Math" panose="02040503050406030204" pitchFamily="18" charset="0"/>
                                  <a:ea typeface="微软雅黑" panose="020B0503020204020204" pitchFamily="34" charset="-122"/>
                                </a:rPr>
                              </m:ctrlPr>
                            </m:eqArrPr>
                            <m:e>
                              <m:m>
                                <m:mPr>
                                  <m:mcs>
                                    <m:mc>
                                      <m:mcPr>
                                        <m:count m:val="2"/>
                                        <m:mcJc m:val="center"/>
                                      </m:mcPr>
                                    </m:mc>
                                  </m:mcs>
                                  <m:ctrlPr>
                                    <a:rPr lang="en-US" altLang="zh-CN" sz="2400" b="0" i="1" smtClean="0">
                                      <a:latin typeface="Cambria Math" panose="02040503050406030204" pitchFamily="18" charset="0"/>
                                      <a:ea typeface="微软雅黑" panose="020B0503020204020204" pitchFamily="34" charset="-122"/>
                                    </a:rPr>
                                  </m:ctrlPr>
                                </m:mPr>
                                <m:mr>
                                  <m:e>
                                    <m:r>
                                      <m:rPr>
                                        <m:brk m:alnAt="7"/>
                                      </m:rPr>
                                      <a:rPr lang="en-US" altLang="zh-CN" sz="2400" b="0" i="1" smtClean="0">
                                        <a:latin typeface="Cambria Math" panose="02040503050406030204" pitchFamily="18" charset="0"/>
                                        <a:ea typeface="微软雅黑" panose="020B0503020204020204" pitchFamily="34" charset="-122"/>
                                      </a:rPr>
                                      <m:t>𝑎</m:t>
                                    </m:r>
                                  </m:e>
                                  <m:e>
                                    <m:r>
                                      <a:rPr lang="en-US" altLang="zh-CN" sz="2400" b="0" i="1" smtClean="0">
                                        <a:latin typeface="Cambria Math" panose="02040503050406030204" pitchFamily="18" charset="0"/>
                                        <a:ea typeface="微软雅黑" panose="020B0503020204020204" pitchFamily="34" charset="-122"/>
                                      </a:rPr>
                                      <m:t>                      </m:t>
                                    </m:r>
                                    <m:r>
                                      <a:rPr lang="en-US" altLang="zh-CN" sz="2400" b="0" i="1" smtClean="0">
                                        <a:latin typeface="Cambria Math" panose="02040503050406030204" pitchFamily="18" charset="0"/>
                                        <a:ea typeface="微软雅黑" panose="020B0503020204020204" pitchFamily="34" charset="-122"/>
                                      </a:rPr>
                                      <m:t>𝑤h𝑒𝑟𝑒</m:t>
                                    </m:r>
                                    <m:r>
                                      <a:rPr lang="en-US" altLang="zh-CN" sz="2400" b="0" i="1" smtClean="0">
                                        <a:latin typeface="Cambria Math" panose="02040503050406030204" pitchFamily="18" charset="0"/>
                                        <a:ea typeface="微软雅黑" panose="020B0503020204020204" pitchFamily="34" charset="-122"/>
                                      </a:rPr>
                                      <m:t> </m:t>
                                    </m:r>
                                    <m:r>
                                      <a:rPr lang="en-US" altLang="zh-CN" sz="2400" b="0" i="1" smtClean="0">
                                        <a:latin typeface="Cambria Math" panose="02040503050406030204" pitchFamily="18" charset="0"/>
                                        <a:ea typeface="微软雅黑" panose="020B0503020204020204" pitchFamily="34" charset="-122"/>
                                      </a:rPr>
                                      <m:t>𝑏</m:t>
                                    </m:r>
                                    <m:r>
                                      <a:rPr lang="en-US" altLang="zh-CN" sz="2400" b="0" i="1" smtClean="0">
                                        <a:latin typeface="Cambria Math" panose="02040503050406030204" pitchFamily="18" charset="0"/>
                                        <a:ea typeface="微软雅黑" panose="020B0503020204020204" pitchFamily="34" charset="-122"/>
                                      </a:rPr>
                                      <m:t>%</m:t>
                                    </m:r>
                                    <m:r>
                                      <a:rPr lang="en-US" altLang="zh-CN" sz="2400" b="0" i="1" smtClean="0">
                                        <a:latin typeface="Cambria Math" panose="02040503050406030204" pitchFamily="18" charset="0"/>
                                        <a:ea typeface="微软雅黑" panose="020B0503020204020204" pitchFamily="34" charset="-122"/>
                                      </a:rPr>
                                      <m:t>𝑎</m:t>
                                    </m:r>
                                    <m:r>
                                      <a:rPr lang="en-US" altLang="zh-CN" sz="2400" b="0" i="1" smtClean="0">
                                        <a:latin typeface="Cambria Math" panose="02040503050406030204" pitchFamily="18" charset="0"/>
                                        <a:ea typeface="微软雅黑" panose="020B0503020204020204" pitchFamily="34" charset="-122"/>
                                      </a:rPr>
                                      <m:t>==0</m:t>
                                    </m:r>
                                  </m:e>
                                </m:mr>
                              </m:m>
                            </m:e>
                            <m:e>
                              <m:m>
                                <m:mPr>
                                  <m:mcs>
                                    <m:mc>
                                      <m:mcPr>
                                        <m:count m:val="2"/>
                                        <m:mcJc m:val="center"/>
                                      </m:mcPr>
                                    </m:mc>
                                  </m:mcs>
                                  <m:ctrlPr>
                                    <a:rPr lang="en-US" altLang="zh-CN" sz="2400" b="0" i="1" smtClean="0">
                                      <a:latin typeface="Cambria Math" panose="02040503050406030204" pitchFamily="18" charset="0"/>
                                      <a:ea typeface="微软雅黑" panose="020B0503020204020204" pitchFamily="34" charset="-122"/>
                                    </a:rPr>
                                  </m:ctrlPr>
                                </m:mPr>
                                <m:mr>
                                  <m:e>
                                    <m:r>
                                      <m:rPr>
                                        <m:sty m:val="p"/>
                                        <m:brk m:alnAt="7"/>
                                      </m:rPr>
                                      <a:rPr lang="en-US" altLang="zh-CN" sz="2400" b="0" i="0" smtClean="0">
                                        <a:latin typeface="Cambria Math" panose="02040503050406030204" pitchFamily="18" charset="0"/>
                                        <a:ea typeface="微软雅黑" panose="020B0503020204020204" pitchFamily="34" charset="-122"/>
                                      </a:rPr>
                                      <m:t>g</m:t>
                                    </m:r>
                                    <m:r>
                                      <m:rPr>
                                        <m:sty m:val="p"/>
                                      </m:rPr>
                                      <a:rPr lang="en-US" altLang="zh-CN" sz="2400" b="0" i="0" smtClean="0">
                                        <a:latin typeface="Cambria Math" panose="02040503050406030204" pitchFamily="18" charset="0"/>
                                        <a:ea typeface="微软雅黑" panose="020B0503020204020204" pitchFamily="34" charset="-122"/>
                                      </a:rPr>
                                      <m:t>cd</m:t>
                                    </m:r>
                                    <m:r>
                                      <m:rPr>
                                        <m:brk m:alnAt="7"/>
                                      </m:rPr>
                                      <a:rPr lang="en-US" altLang="zh-CN" sz="2400" b="0" i="1" smtClean="0">
                                        <a:latin typeface="Cambria Math" panose="02040503050406030204" pitchFamily="18" charset="0"/>
                                        <a:ea typeface="微软雅黑" panose="020B0503020204020204" pitchFamily="34" charset="-122"/>
                                      </a:rPr>
                                      <m:t>⁡</m:t>
                                    </m:r>
                                    <m:r>
                                      <a:rPr lang="en-US" altLang="zh-CN" sz="2400" b="0" i="1" smtClean="0">
                                        <a:latin typeface="Cambria Math" panose="02040503050406030204" pitchFamily="18" charset="0"/>
                                        <a:ea typeface="微软雅黑" panose="020B0503020204020204" pitchFamily="34" charset="-122"/>
                                      </a:rPr>
                                      <m:t>(</m:t>
                                    </m:r>
                                    <m:r>
                                      <a:rPr lang="en-US" altLang="zh-CN" sz="2400" b="0" i="1" smtClean="0">
                                        <a:latin typeface="Cambria Math" panose="02040503050406030204" pitchFamily="18" charset="0"/>
                                        <a:ea typeface="微软雅黑" panose="020B0503020204020204" pitchFamily="34" charset="-122"/>
                                      </a:rPr>
                                      <m:t>𝑏</m:t>
                                    </m:r>
                                    <m:r>
                                      <a:rPr lang="en-US" altLang="zh-CN" sz="2400" b="0" i="1" smtClean="0">
                                        <a:latin typeface="Cambria Math" panose="02040503050406030204" pitchFamily="18" charset="0"/>
                                        <a:ea typeface="微软雅黑" panose="020B0503020204020204" pitchFamily="34" charset="-122"/>
                                      </a:rPr>
                                      <m:t>%</m:t>
                                    </m:r>
                                    <m:r>
                                      <a:rPr lang="en-US" altLang="zh-CN" sz="2400" b="0" i="1" smtClean="0">
                                        <a:latin typeface="Cambria Math" panose="02040503050406030204" pitchFamily="18" charset="0"/>
                                        <a:ea typeface="微软雅黑" panose="020B0503020204020204" pitchFamily="34" charset="-122"/>
                                      </a:rPr>
                                      <m:t>𝑎</m:t>
                                    </m:r>
                                    <m:r>
                                      <a:rPr lang="en-US" altLang="zh-CN" sz="2400" b="0" i="1" smtClean="0">
                                        <a:latin typeface="Cambria Math" panose="02040503050406030204" pitchFamily="18" charset="0"/>
                                        <a:ea typeface="微软雅黑" panose="020B0503020204020204" pitchFamily="34" charset="-122"/>
                                      </a:rPr>
                                      <m:t>,</m:t>
                                    </m:r>
                                    <m:r>
                                      <a:rPr lang="en-US" altLang="zh-CN" sz="2400" b="0" i="1" smtClean="0">
                                        <a:latin typeface="Cambria Math" panose="02040503050406030204" pitchFamily="18" charset="0"/>
                                        <a:ea typeface="微软雅黑" panose="020B0503020204020204" pitchFamily="34" charset="-122"/>
                                      </a:rPr>
                                      <m:t>𝑎</m:t>
                                    </m:r>
                                    <m:r>
                                      <a:rPr lang="en-US" altLang="zh-CN" sz="2400" b="0" i="1" smtClean="0">
                                        <a:latin typeface="Cambria Math" panose="02040503050406030204" pitchFamily="18" charset="0"/>
                                        <a:ea typeface="微软雅黑" panose="020B0503020204020204" pitchFamily="34" charset="-122"/>
                                      </a:rPr>
                                      <m:t>)</m:t>
                                    </m:r>
                                  </m:e>
                                  <m:e>
                                    <m:r>
                                      <a:rPr lang="en-US" altLang="zh-CN" sz="2400" b="0" i="1" smtClean="0">
                                        <a:latin typeface="Cambria Math" panose="02040503050406030204" pitchFamily="18" charset="0"/>
                                        <a:ea typeface="微软雅黑" panose="020B0503020204020204" pitchFamily="34" charset="-122"/>
                                      </a:rPr>
                                      <m:t>𝑤h𝑒𝑟𝑒</m:t>
                                    </m:r>
                                    <m:r>
                                      <a:rPr lang="en-US" altLang="zh-CN" sz="2400" b="0" i="1" smtClean="0">
                                        <a:latin typeface="Cambria Math" panose="02040503050406030204" pitchFamily="18" charset="0"/>
                                        <a:ea typeface="微软雅黑" panose="020B0503020204020204" pitchFamily="34" charset="-122"/>
                                      </a:rPr>
                                      <m:t> </m:t>
                                    </m:r>
                                    <m:r>
                                      <a:rPr lang="en-US" altLang="zh-CN" sz="2400" b="0" i="1" smtClean="0">
                                        <a:latin typeface="Cambria Math" panose="02040503050406030204" pitchFamily="18" charset="0"/>
                                        <a:ea typeface="微软雅黑" panose="020B0503020204020204" pitchFamily="34" charset="-122"/>
                                      </a:rPr>
                                      <m:t>𝑏</m:t>
                                    </m:r>
                                    <m:r>
                                      <a:rPr lang="en-US" altLang="zh-CN" sz="2400" b="0" i="1" smtClean="0">
                                        <a:latin typeface="Cambria Math" panose="02040503050406030204" pitchFamily="18" charset="0"/>
                                        <a:ea typeface="微软雅黑" panose="020B0503020204020204" pitchFamily="34" charset="-122"/>
                                      </a:rPr>
                                      <m:t>%</m:t>
                                    </m:r>
                                    <m:r>
                                      <a:rPr lang="en-US" altLang="zh-CN" sz="2400" b="0" i="1" smtClean="0">
                                        <a:latin typeface="Cambria Math" panose="02040503050406030204" pitchFamily="18" charset="0"/>
                                        <a:ea typeface="微软雅黑" panose="020B0503020204020204" pitchFamily="34" charset="-122"/>
                                      </a:rPr>
                                      <m:t>𝑎</m:t>
                                    </m:r>
                                    <m:r>
                                      <a:rPr lang="en-US" altLang="zh-CN" sz="2400" b="0" i="1" smtClean="0">
                                        <a:latin typeface="Cambria Math" panose="02040503050406030204" pitchFamily="18" charset="0"/>
                                        <a:ea typeface="微软雅黑" panose="020B0503020204020204" pitchFamily="34" charset="-122"/>
                                      </a:rPr>
                                      <m:t> !=0</m:t>
                                    </m:r>
                                  </m:e>
                                </m:mr>
                              </m:m>
                            </m:e>
                          </m:eqArr>
                        </m:e>
                      </m:d>
                    </m:oMath>
                  </m:oMathPara>
                </a14:m>
                <a:endParaRPr lang="en-US" altLang="zh-CN" sz="2400" dirty="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例如：</a:t>
                </a:r>
                <a14:m>
                  <m:oMath xmlns:m="http://schemas.openxmlformats.org/officeDocument/2006/math">
                    <m:m>
                      <m:mPr>
                        <m:mcs>
                          <m:mc>
                            <m:mcPr>
                              <m:count m:val="1"/>
                              <m:mcJc m:val="center"/>
                            </m:mcPr>
                          </m:mc>
                        </m:mcs>
                        <m:ctrlPr>
                          <a:rPr lang="en-US" altLang="zh-CN" sz="2400" i="1" dirty="0" smtClean="0">
                            <a:latin typeface="Cambria Math" panose="02040503050406030204" pitchFamily="18" charset="0"/>
                            <a:ea typeface="微软雅黑" panose="020B0503020204020204" pitchFamily="34" charset="-122"/>
                          </a:rPr>
                        </m:ctrlPr>
                      </m:mPr>
                      <m:mr>
                        <m:e>
                          <m:func>
                            <m:funcPr>
                              <m:ctrlPr>
                                <a:rPr lang="en-US" altLang="zh-CN" sz="2400" i="1" dirty="0">
                                  <a:latin typeface="Cambria Math" panose="02040503050406030204" pitchFamily="18" charset="0"/>
                                  <a:ea typeface="微软雅黑" panose="020B0503020204020204" pitchFamily="34" charset="-122"/>
                                </a:rPr>
                              </m:ctrlPr>
                            </m:funcPr>
                            <m:fName>
                              <m:r>
                                <m:rPr>
                                  <m:sty m:val="p"/>
                                </m:rPr>
                                <a:rPr lang="en-US" altLang="zh-CN" sz="2400" dirty="0">
                                  <a:latin typeface="Cambria Math" panose="02040503050406030204" pitchFamily="18" charset="0"/>
                                  <a:ea typeface="微软雅黑" panose="020B0503020204020204" pitchFamily="34" charset="-122"/>
                                </a:rPr>
                                <m:t>gcd</m:t>
                              </m:r>
                            </m:fName>
                            <m:e>
                              <m:d>
                                <m:dPr>
                                  <m:ctrlPr>
                                    <a:rPr lang="en-US" altLang="zh-CN" sz="2400" i="1" dirty="0">
                                      <a:latin typeface="Cambria Math" panose="02040503050406030204" pitchFamily="18" charset="0"/>
                                      <a:ea typeface="微软雅黑" panose="020B0503020204020204" pitchFamily="34" charset="-122"/>
                                    </a:rPr>
                                  </m:ctrlPr>
                                </m:dPr>
                                <m:e>
                                  <m:r>
                                    <a:rPr lang="en-US" altLang="zh-CN" sz="2400" i="1" dirty="0">
                                      <a:latin typeface="Cambria Math" panose="02040503050406030204" pitchFamily="18" charset="0"/>
                                      <a:ea typeface="微软雅黑" panose="020B0503020204020204" pitchFamily="34" charset="-122"/>
                                    </a:rPr>
                                    <m:t>98,63</m:t>
                                  </m:r>
                                </m:e>
                              </m:d>
                              <m:func>
                                <m:funcPr>
                                  <m:ctrlPr>
                                    <a:rPr lang="en-US" altLang="zh-CN" sz="2400" i="1" dirty="0">
                                      <a:latin typeface="Cambria Math" panose="02040503050406030204" pitchFamily="18" charset="0"/>
                                      <a:ea typeface="微软雅黑" panose="020B0503020204020204" pitchFamily="34" charset="-122"/>
                                    </a:rPr>
                                  </m:ctrlPr>
                                </m:funcPr>
                                <m:fName>
                                  <m:r>
                                    <a:rPr lang="en-US" altLang="zh-CN" sz="2400" dirty="0">
                                      <a:latin typeface="Cambria Math" panose="02040503050406030204" pitchFamily="18" charset="0"/>
                                      <a:ea typeface="微软雅黑" panose="020B0503020204020204" pitchFamily="34" charset="-122"/>
                                    </a:rPr>
                                    <m:t>=</m:t>
                                  </m:r>
                                  <m:r>
                                    <m:rPr>
                                      <m:sty m:val="p"/>
                                    </m:rPr>
                                    <a:rPr lang="en-US" altLang="zh-CN" sz="2400" dirty="0">
                                      <a:latin typeface="Cambria Math" panose="02040503050406030204" pitchFamily="18" charset="0"/>
                                      <a:ea typeface="微软雅黑" panose="020B0503020204020204" pitchFamily="34" charset="-122"/>
                                    </a:rPr>
                                    <m:t>gcd</m:t>
                                  </m:r>
                                </m:fName>
                                <m:e>
                                  <m:d>
                                    <m:dPr>
                                      <m:ctrlPr>
                                        <a:rPr lang="en-US" altLang="zh-CN" sz="2400" i="1" dirty="0">
                                          <a:latin typeface="Cambria Math" panose="02040503050406030204" pitchFamily="18" charset="0"/>
                                          <a:ea typeface="微软雅黑" panose="020B0503020204020204" pitchFamily="34" charset="-122"/>
                                        </a:rPr>
                                      </m:ctrlPr>
                                    </m:dPr>
                                    <m:e>
                                      <m:r>
                                        <a:rPr lang="en-US" altLang="zh-CN" sz="2400" i="1" dirty="0">
                                          <a:latin typeface="Cambria Math" panose="02040503050406030204" pitchFamily="18" charset="0"/>
                                          <a:ea typeface="微软雅黑" panose="020B0503020204020204" pitchFamily="34" charset="-122"/>
                                        </a:rPr>
                                        <m:t>63,98</m:t>
                                      </m:r>
                                    </m:e>
                                  </m:d>
                                  <m:func>
                                    <m:funcPr>
                                      <m:ctrlPr>
                                        <a:rPr lang="en-US" altLang="zh-CN" sz="2400" i="1" dirty="0">
                                          <a:latin typeface="Cambria Math" panose="02040503050406030204" pitchFamily="18" charset="0"/>
                                          <a:ea typeface="微软雅黑" panose="020B0503020204020204" pitchFamily="34" charset="-122"/>
                                        </a:rPr>
                                      </m:ctrlPr>
                                    </m:funcPr>
                                    <m:fName>
                                      <m:r>
                                        <a:rPr lang="en-US" altLang="zh-CN" sz="2400" dirty="0">
                                          <a:latin typeface="Cambria Math" panose="02040503050406030204" pitchFamily="18" charset="0"/>
                                          <a:ea typeface="微软雅黑" panose="020B0503020204020204" pitchFamily="34" charset="-122"/>
                                        </a:rPr>
                                        <m:t>=</m:t>
                                      </m:r>
                                      <m:r>
                                        <m:rPr>
                                          <m:sty m:val="p"/>
                                        </m:rPr>
                                        <a:rPr lang="en-US" altLang="zh-CN" sz="2400" dirty="0">
                                          <a:latin typeface="Cambria Math" panose="02040503050406030204" pitchFamily="18" charset="0"/>
                                          <a:ea typeface="微软雅黑" panose="020B0503020204020204" pitchFamily="34" charset="-122"/>
                                        </a:rPr>
                                        <m:t>gcd</m:t>
                                      </m:r>
                                    </m:fName>
                                    <m:e>
                                      <m:d>
                                        <m:dPr>
                                          <m:ctrlPr>
                                            <a:rPr lang="en-US" altLang="zh-CN" sz="2400" i="1" dirty="0">
                                              <a:latin typeface="Cambria Math" panose="02040503050406030204" pitchFamily="18" charset="0"/>
                                              <a:ea typeface="微软雅黑" panose="020B0503020204020204" pitchFamily="34" charset="-122"/>
                                            </a:rPr>
                                          </m:ctrlPr>
                                        </m:dPr>
                                        <m:e>
                                          <m:r>
                                            <a:rPr lang="en-US" altLang="zh-CN" sz="2400" i="1" dirty="0">
                                              <a:latin typeface="Cambria Math" panose="02040503050406030204" pitchFamily="18" charset="0"/>
                                              <a:ea typeface="微软雅黑" panose="020B0503020204020204" pitchFamily="34" charset="-122"/>
                                            </a:rPr>
                                            <m:t>35,63</m:t>
                                          </m:r>
                                        </m:e>
                                      </m:d>
                                    </m:e>
                                  </m:func>
                                </m:e>
                              </m:func>
                            </m:e>
                          </m:func>
                        </m:e>
                      </m:mr>
                      <m:mr>
                        <m:e>
                          <m:func>
                            <m:funcPr>
                              <m:ctrlPr>
                                <a:rPr lang="en-US" altLang="zh-CN" sz="2400" i="1" dirty="0">
                                  <a:latin typeface="Cambria Math" panose="02040503050406030204" pitchFamily="18" charset="0"/>
                                  <a:ea typeface="微软雅黑" panose="020B0503020204020204" pitchFamily="34" charset="-122"/>
                                </a:rPr>
                              </m:ctrlPr>
                            </m:funcPr>
                            <m:fName>
                              <m:func>
                                <m:funcPr>
                                  <m:ctrlPr>
                                    <a:rPr lang="en-US" altLang="zh-CN" sz="2400" i="1" dirty="0">
                                      <a:latin typeface="Cambria Math" panose="02040503050406030204" pitchFamily="18" charset="0"/>
                                      <a:ea typeface="微软雅黑" panose="020B0503020204020204" pitchFamily="34" charset="-122"/>
                                    </a:rPr>
                                  </m:ctrlPr>
                                </m:funcPr>
                                <m:fName>
                                  <m:r>
                                    <a:rPr lang="en-US" altLang="zh-CN" sz="2400" dirty="0">
                                      <a:latin typeface="Cambria Math" panose="02040503050406030204" pitchFamily="18" charset="0"/>
                                      <a:ea typeface="微软雅黑" panose="020B0503020204020204" pitchFamily="34" charset="-122"/>
                                    </a:rPr>
                                    <m:t>=</m:t>
                                  </m:r>
                                  <m:r>
                                    <m:rPr>
                                      <m:sty m:val="p"/>
                                    </m:rPr>
                                    <a:rPr lang="en-US" altLang="zh-CN" sz="2400" dirty="0">
                                      <a:latin typeface="Cambria Math" panose="02040503050406030204" pitchFamily="18" charset="0"/>
                                      <a:ea typeface="微软雅黑" panose="020B0503020204020204" pitchFamily="34" charset="-122"/>
                                    </a:rPr>
                                    <m:t>gcd</m:t>
                                  </m:r>
                                </m:fName>
                                <m:e>
                                  <m:d>
                                    <m:dPr>
                                      <m:ctrlPr>
                                        <a:rPr lang="en-US" altLang="zh-CN" sz="2400" i="1" dirty="0">
                                          <a:latin typeface="Cambria Math" panose="02040503050406030204" pitchFamily="18" charset="0"/>
                                          <a:ea typeface="微软雅黑" panose="020B0503020204020204" pitchFamily="34" charset="-122"/>
                                        </a:rPr>
                                      </m:ctrlPr>
                                    </m:dPr>
                                    <m:e>
                                      <m:r>
                                        <a:rPr lang="en-US" altLang="zh-CN" sz="2400" i="1" dirty="0">
                                          <a:latin typeface="Cambria Math" panose="02040503050406030204" pitchFamily="18" charset="0"/>
                                          <a:ea typeface="微软雅黑" panose="020B0503020204020204" pitchFamily="34" charset="-122"/>
                                        </a:rPr>
                                        <m:t>28,35</m:t>
                                      </m:r>
                                    </m:e>
                                  </m:d>
                                </m:e>
                              </m:func>
                              <m:r>
                                <a:rPr lang="en-US" altLang="zh-CN" sz="2400" dirty="0">
                                  <a:latin typeface="Cambria Math" panose="02040503050406030204" pitchFamily="18" charset="0"/>
                                  <a:ea typeface="微软雅黑" panose="020B0503020204020204" pitchFamily="34" charset="-122"/>
                                </a:rPr>
                                <m:t>=</m:t>
                              </m:r>
                              <m:r>
                                <m:rPr>
                                  <m:sty m:val="p"/>
                                </m:rPr>
                                <a:rPr lang="en-US" altLang="zh-CN" sz="2400" dirty="0">
                                  <a:latin typeface="Cambria Math" panose="02040503050406030204" pitchFamily="18" charset="0"/>
                                  <a:ea typeface="微软雅黑" panose="020B0503020204020204" pitchFamily="34" charset="-122"/>
                                </a:rPr>
                                <m:t>gcd</m:t>
                              </m:r>
                            </m:fName>
                            <m:e>
                              <m:d>
                                <m:dPr>
                                  <m:ctrlPr>
                                    <a:rPr lang="en-US" altLang="zh-CN" sz="2400" i="1" dirty="0">
                                      <a:latin typeface="Cambria Math" panose="02040503050406030204" pitchFamily="18" charset="0"/>
                                      <a:ea typeface="微软雅黑" panose="020B0503020204020204" pitchFamily="34" charset="-122"/>
                                    </a:rPr>
                                  </m:ctrlPr>
                                </m:dPr>
                                <m:e>
                                  <m:r>
                                    <a:rPr lang="en-US" altLang="zh-CN" sz="2400" b="0" i="1" dirty="0" smtClean="0">
                                      <a:latin typeface="Cambria Math" panose="02040503050406030204" pitchFamily="18" charset="0"/>
                                      <a:ea typeface="微软雅黑" panose="020B0503020204020204" pitchFamily="34" charset="-122"/>
                                    </a:rPr>
                                    <m:t>7,</m:t>
                                  </m:r>
                                  <m:r>
                                    <a:rPr lang="en-US" altLang="zh-CN" sz="2400" i="1" dirty="0">
                                      <a:latin typeface="Cambria Math" panose="02040503050406030204" pitchFamily="18" charset="0"/>
                                      <a:ea typeface="微软雅黑" panose="020B0503020204020204" pitchFamily="34" charset="-122"/>
                                    </a:rPr>
                                    <m:t>28</m:t>
                                  </m:r>
                                </m:e>
                              </m:d>
                              <m:r>
                                <a:rPr lang="en-US" altLang="zh-CN" sz="2400" b="0" i="1" dirty="0" smtClean="0">
                                  <a:latin typeface="Cambria Math" panose="02040503050406030204" pitchFamily="18" charset="0"/>
                                  <a:ea typeface="微软雅黑" panose="020B0503020204020204" pitchFamily="34" charset="-122"/>
                                </a:rPr>
                                <m:t>=7</m:t>
                              </m:r>
                            </m:e>
                          </m:func>
                        </m:e>
                      </m:mr>
                    </m:m>
                  </m:oMath>
                </a14:m>
                <a:endParaRPr lang="en-US" altLang="zh-CN" sz="2400" b="0" dirty="0">
                  <a:latin typeface="微软雅黑" panose="020B0503020204020204" pitchFamily="34" charset="-122"/>
                  <a:ea typeface="微软雅黑" panose="020B0503020204020204" pitchFamily="34" charset="-122"/>
                </a:endParaRPr>
              </a:p>
              <a:p>
                <a:endParaRPr lang="en-US" altLang="zh-CN" sz="11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这么巧妙的方法是如何想出来的？</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经典算法，出于</a:t>
                </a:r>
                <a:r>
                  <a:rPr lang="zh-CN" altLang="en-US" sz="2000" b="1" dirty="0">
                    <a:latin typeface="微软雅黑" panose="020B0503020204020204" pitchFamily="34" charset="-122"/>
                    <a:ea typeface="微软雅黑" panose="020B0503020204020204" pitchFamily="34" charset="-122"/>
                  </a:rPr>
                  <a:t>欧几里得</a:t>
                </a:r>
                <a:r>
                  <a:rPr lang="zh-CN" altLang="en-US" sz="2000" dirty="0">
                    <a:latin typeface="微软雅黑" panose="020B0503020204020204" pitchFamily="34" charset="-122"/>
                    <a:ea typeface="微软雅黑" panose="020B0503020204020204" pitchFamily="34" charset="-122"/>
                  </a:rPr>
                  <a:t>的</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几何原本</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，你的任务就是</a:t>
                </a:r>
                <a:r>
                  <a:rPr lang="zh-CN" altLang="en-US" sz="2000" dirty="0">
                    <a:solidFill>
                      <a:srgbClr val="C00000"/>
                    </a:solidFill>
                    <a:latin typeface="微软雅黑" panose="020B0503020204020204" pitchFamily="34" charset="-122"/>
                    <a:ea typeface="微软雅黑" panose="020B0503020204020204" pitchFamily="34" charset="-122"/>
                  </a:rPr>
                  <a:t>背诵经典</a:t>
                </a:r>
                <a:r>
                  <a:rPr lang="zh-CN" altLang="en-US" sz="2000" dirty="0">
                    <a:latin typeface="微软雅黑" panose="020B0503020204020204" pitchFamily="34" charset="-122"/>
                    <a:ea typeface="微软雅黑" panose="020B0503020204020204" pitchFamily="34" charset="-122"/>
                  </a:rPr>
                  <a:t>，</a:t>
                </a:r>
                <a:r>
                  <a:rPr lang="zh-CN" altLang="en-US" sz="2000" dirty="0">
                    <a:solidFill>
                      <a:srgbClr val="C00000"/>
                    </a:solidFill>
                    <a:latin typeface="微软雅黑" panose="020B0503020204020204" pitchFamily="34" charset="-122"/>
                    <a:ea typeface="微软雅黑" panose="020B0503020204020204" pitchFamily="34" charset="-122"/>
                  </a:rPr>
                  <a:t>并用</a:t>
                </a:r>
                <a:r>
                  <a:rPr lang="en-US" altLang="zh-CN" sz="2000" dirty="0">
                    <a:solidFill>
                      <a:srgbClr val="C00000"/>
                    </a:solidFill>
                    <a:latin typeface="微软雅黑" panose="020B0503020204020204" pitchFamily="34" charset="-122"/>
                    <a:ea typeface="微软雅黑" panose="020B0503020204020204" pitchFamily="34" charset="-122"/>
                  </a:rPr>
                  <a:t>C</a:t>
                </a:r>
                <a:r>
                  <a:rPr lang="zh-CN" altLang="en-US" sz="2000" dirty="0">
                    <a:solidFill>
                      <a:srgbClr val="C00000"/>
                    </a:solidFill>
                    <a:latin typeface="微软雅黑" panose="020B0503020204020204" pitchFamily="34" charset="-122"/>
                    <a:ea typeface="微软雅黑" panose="020B0503020204020204" pitchFamily="34" charset="-122"/>
                  </a:rPr>
                  <a:t>语言实现它</a:t>
                </a:r>
                <a:r>
                  <a:rPr lang="zh-CN" altLang="en-US" sz="2000" dirty="0">
                    <a:latin typeface="微软雅黑" panose="020B0503020204020204" pitchFamily="34" charset="-122"/>
                    <a:ea typeface="微软雅黑" panose="020B0503020204020204" pitchFamily="34" charset="-122"/>
                  </a:rPr>
                  <a:t>。因为它是许多整数问题的基础函数，如计算最小公倍数等等。</a:t>
                </a:r>
                <a:endParaRPr lang="en-US" altLang="zh-CN" sz="20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1074656" y="1738207"/>
                <a:ext cx="10152668" cy="4526406"/>
              </a:xfrm>
              <a:prstGeom prst="rect">
                <a:avLst/>
              </a:prstGeom>
              <a:blipFill>
                <a:blip r:embed="rId4"/>
                <a:stretch>
                  <a:fillRect l="-900" t="-1077" b="-444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18714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barn(inVertical)">
                                      <p:cBhvr>
                                        <p:cTn id="7" dur="500"/>
                                        <p:tgtEl>
                                          <p:spTgt spid="51"/>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课堂练习 </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 </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最大公约数</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2" name="文本框 1"/>
          <p:cNvSpPr txBox="1"/>
          <p:nvPr/>
        </p:nvSpPr>
        <p:spPr>
          <a:xfrm>
            <a:off x="1074656" y="1738207"/>
            <a:ext cx="10152668" cy="4526406"/>
          </a:xfrm>
          <a:prstGeom prst="rect">
            <a:avLst/>
          </a:prstGeom>
          <a:noFill/>
        </p:spPr>
        <p:txBody>
          <a:bodyPr wrap="square" rtlCol="0">
            <a:noAutofit/>
          </a:bodyPr>
          <a:lstStyle/>
          <a:p>
            <a:pPr>
              <a:lnSpc>
                <a:spcPct val="200000"/>
              </a:lnSpc>
            </a:pPr>
            <a:r>
              <a:rPr lang="zh-CN" altLang="en-US" sz="2400" dirty="0">
                <a:latin typeface="微软雅黑" panose="020B0503020204020204" pitchFamily="34" charset="-122"/>
                <a:ea typeface="微软雅黑" panose="020B0503020204020204" pitchFamily="34" charset="-122"/>
              </a:rPr>
              <a:t>计算方法</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：辗转相除法</a:t>
            </a:r>
            <a:endParaRPr lang="en-US" altLang="zh-CN" sz="2400" dirty="0">
              <a:latin typeface="微软雅黑" panose="020B0503020204020204" pitchFamily="34" charset="-122"/>
              <a:ea typeface="微软雅黑" panose="020B0503020204020204" pitchFamily="34" charset="-122"/>
            </a:endParaRPr>
          </a:p>
          <a:p>
            <a:pPr>
              <a:lnSpc>
                <a:spcPct val="200000"/>
              </a:lnSpc>
            </a:pPr>
            <a:r>
              <a:rPr lang="zh-CN" altLang="en-US" sz="2400" dirty="0">
                <a:latin typeface="微软雅黑" panose="020B0503020204020204" pitchFamily="34" charset="-122"/>
                <a:ea typeface="微软雅黑" panose="020B0503020204020204" pitchFamily="34" charset="-122"/>
              </a:rPr>
              <a:t>任务要求：</a:t>
            </a:r>
            <a:endParaRPr lang="en-US" altLang="zh-CN" sz="2400" dirty="0">
              <a:latin typeface="微软雅黑" panose="020B0503020204020204" pitchFamily="34" charset="-122"/>
              <a:ea typeface="微软雅黑" panose="020B0503020204020204" pitchFamily="34" charset="-122"/>
            </a:endParaRPr>
          </a:p>
          <a:p>
            <a:pPr marL="342900" indent="-342900">
              <a:lnSpc>
                <a:spcPct val="20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将 </a:t>
            </a:r>
            <a:r>
              <a:rPr lang="en-US" altLang="zh-CN" sz="2400" dirty="0" err="1">
                <a:latin typeface="微软雅黑" panose="020B0503020204020204" pitchFamily="34" charset="-122"/>
                <a:ea typeface="微软雅黑" panose="020B0503020204020204" pitchFamily="34" charset="-122"/>
              </a:rPr>
              <a:t>gcd</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函数使用辗转相除法实现</a:t>
            </a:r>
            <a:endParaRPr lang="en-US" altLang="zh-CN" sz="2400" dirty="0">
              <a:latin typeface="微软雅黑" panose="020B0503020204020204" pitchFamily="34" charset="-122"/>
              <a:ea typeface="微软雅黑" panose="020B0503020204020204" pitchFamily="34" charset="-122"/>
            </a:endParaRPr>
          </a:p>
          <a:p>
            <a:pPr marL="342900" indent="-342900">
              <a:lnSpc>
                <a:spcPct val="20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打印 </a:t>
            </a:r>
            <a:r>
              <a:rPr lang="en-US" altLang="zh-CN" sz="2400" dirty="0" err="1">
                <a:latin typeface="微软雅黑" panose="020B0503020204020204" pitchFamily="34" charset="-122"/>
                <a:ea typeface="微软雅黑" panose="020B0503020204020204" pitchFamily="34" charset="-122"/>
              </a:rPr>
              <a:t>gcd</a:t>
            </a:r>
            <a:r>
              <a:rPr lang="en-US" altLang="zh-CN" sz="2400" dirty="0">
                <a:latin typeface="微软雅黑" panose="020B0503020204020204" pitchFamily="34" charset="-122"/>
                <a:ea typeface="微软雅黑" panose="020B0503020204020204" pitchFamily="34" charset="-122"/>
              </a:rPr>
              <a:t>(98,63) </a:t>
            </a:r>
            <a:r>
              <a:rPr lang="zh-CN" altLang="en-US" sz="2400" dirty="0">
                <a:latin typeface="微软雅黑" panose="020B0503020204020204" pitchFamily="34" charset="-122"/>
                <a:ea typeface="微软雅黑" panose="020B0503020204020204" pitchFamily="34" charset="-122"/>
              </a:rPr>
              <a:t>的计算过程</a:t>
            </a:r>
            <a:endParaRPr lang="en-US" altLang="zh-CN"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4555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barn(inVertical)">
                                      <p:cBhvr>
                                        <p:cTn id="7" dur="500"/>
                                        <p:tgtEl>
                                          <p:spTgt spid="51"/>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809E25E5-CCF9-484B-A13D-0644079101EF}"/>
              </a:ext>
            </a:extLst>
          </p:cNvPr>
          <p:cNvSpPr txBox="1"/>
          <p:nvPr>
            <p:custDataLst>
              <p:tags r:id="rId2"/>
            </p:custDataLst>
          </p:nvPr>
        </p:nvSpPr>
        <p:spPr>
          <a:xfrm>
            <a:off x="1219200" y="1053162"/>
            <a:ext cx="9753600" cy="2143125"/>
          </a:xfrm>
          <a:prstGeom prst="rect">
            <a:avLst/>
          </a:prstGeom>
          <a:noFill/>
        </p:spPr>
        <p:txBody>
          <a:bodyPr vert="horz" wrap="square" rtlCol="0" anchor="ctr" anchorCtr="0">
            <a:noAutofit/>
          </a:bodyPr>
          <a:lstStyle/>
          <a:p>
            <a:r>
              <a:rPr lang="en-US" altLang="zh-CN" sz="2400" b="1" dirty="0"/>
              <a:t>What is the output of this C code?</a:t>
            </a:r>
            <a:endParaRPr lang="zh-CN" altLang="zh-CN" sz="2400" b="1" dirty="0"/>
          </a:p>
          <a:p>
            <a:pPr fontAlgn="t" latinLnBrk="1"/>
            <a:r>
              <a:rPr lang="en-US" altLang="zh-CN" sz="2400" b="1" dirty="0"/>
              <a:t>    #include &lt;</a:t>
            </a:r>
            <a:r>
              <a:rPr lang="en-US" altLang="zh-CN" sz="2400" b="1" dirty="0" err="1"/>
              <a:t>stdio.h</a:t>
            </a:r>
            <a:r>
              <a:rPr lang="en-US" altLang="zh-CN" sz="2400" b="1" dirty="0"/>
              <a:t>&gt;</a:t>
            </a:r>
            <a:endParaRPr lang="zh-CN" altLang="zh-CN" sz="2400" b="1" dirty="0"/>
          </a:p>
          <a:p>
            <a:pPr fontAlgn="t" latinLnBrk="1"/>
            <a:r>
              <a:rPr lang="en-US" altLang="zh-CN" sz="2400" b="1" dirty="0"/>
              <a:t>    void main()</a:t>
            </a:r>
            <a:endParaRPr lang="zh-CN" altLang="zh-CN" sz="2400" b="1" dirty="0"/>
          </a:p>
          <a:p>
            <a:pPr fontAlgn="t" latinLnBrk="1"/>
            <a:r>
              <a:rPr lang="en-US" altLang="zh-CN" sz="2400" b="1" dirty="0"/>
              <a:t>    {</a:t>
            </a:r>
            <a:endParaRPr lang="zh-CN" altLang="zh-CN" sz="2400" b="1" dirty="0"/>
          </a:p>
          <a:p>
            <a:pPr fontAlgn="t" latinLnBrk="1"/>
            <a:r>
              <a:rPr lang="en-US" altLang="zh-CN" sz="2400" b="1" dirty="0"/>
              <a:t>        static double x;</a:t>
            </a:r>
            <a:endParaRPr lang="zh-CN" altLang="zh-CN" sz="2400" b="1" dirty="0"/>
          </a:p>
          <a:p>
            <a:pPr fontAlgn="t" latinLnBrk="1"/>
            <a:r>
              <a:rPr lang="en-US" altLang="zh-CN" sz="2400" b="1" dirty="0"/>
              <a:t>        int x;</a:t>
            </a:r>
            <a:endParaRPr lang="zh-CN" altLang="zh-CN" sz="2400" b="1" dirty="0"/>
          </a:p>
          <a:p>
            <a:pPr fontAlgn="t" latinLnBrk="1"/>
            <a:r>
              <a:rPr lang="en-US" altLang="zh-CN" sz="2400" b="1" dirty="0"/>
              <a:t>        </a:t>
            </a:r>
            <a:r>
              <a:rPr lang="en-US" altLang="zh-CN" sz="2400" b="1" dirty="0" err="1"/>
              <a:t>printf</a:t>
            </a:r>
            <a:r>
              <a:rPr lang="en-US" altLang="zh-CN" sz="2400" b="1" dirty="0"/>
              <a:t>("x is %d", x);</a:t>
            </a:r>
            <a:endParaRPr lang="zh-CN" altLang="zh-CN" sz="2400" b="1" dirty="0"/>
          </a:p>
          <a:p>
            <a:pPr fontAlgn="t" latinLnBrk="1"/>
            <a:r>
              <a:rPr lang="en-US" altLang="zh-CN" sz="2400" b="1" dirty="0"/>
              <a:t>    }</a:t>
            </a:r>
            <a:endParaRPr lang="zh-CN" altLang="zh-CN" sz="2400" b="1" dirty="0"/>
          </a:p>
        </p:txBody>
      </p:sp>
      <p:sp>
        <p:nvSpPr>
          <p:cNvPr id="5" name="文本框 4">
            <a:extLst>
              <a:ext uri="{FF2B5EF4-FFF2-40B4-BE49-F238E27FC236}">
                <a16:creationId xmlns:a16="http://schemas.microsoft.com/office/drawing/2014/main" id="{C88B13A3-6BC0-4644-9358-C61EF8800A40}"/>
              </a:ext>
            </a:extLst>
          </p:cNvPr>
          <p:cNvSpPr txBox="1"/>
          <p:nvPr>
            <p:custDataLst>
              <p:tags r:id="rId3"/>
            </p:custDataLst>
          </p:nvPr>
        </p:nvSpPr>
        <p:spPr>
          <a:xfrm>
            <a:off x="2438400" y="3624911"/>
            <a:ext cx="8534400" cy="642938"/>
          </a:xfrm>
          <a:prstGeom prst="rect">
            <a:avLst/>
          </a:prstGeom>
          <a:noFill/>
        </p:spPr>
        <p:txBody>
          <a:bodyPr vert="horz" rtlCol="0" anchor="ctr" anchorCtr="0">
            <a:noAutofit/>
          </a:bodyPr>
          <a:lstStyle/>
          <a:p>
            <a:r>
              <a:rPr lang="en-US" altLang="zh-CN" sz="2800" b="1" dirty="0"/>
              <a:t>Nothing</a:t>
            </a:r>
            <a:endPar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a:extLst>
              <a:ext uri="{FF2B5EF4-FFF2-40B4-BE49-F238E27FC236}">
                <a16:creationId xmlns:a16="http://schemas.microsoft.com/office/drawing/2014/main" id="{B47640A9-D1C7-44D5-990E-ED1F779FF1E7}"/>
              </a:ext>
            </a:extLst>
          </p:cNvPr>
          <p:cNvSpPr txBox="1"/>
          <p:nvPr>
            <p:custDataLst>
              <p:tags r:id="rId4"/>
            </p:custDataLst>
          </p:nvPr>
        </p:nvSpPr>
        <p:spPr>
          <a:xfrm>
            <a:off x="2438400" y="4276673"/>
            <a:ext cx="8534400" cy="642938"/>
          </a:xfrm>
          <a:prstGeom prst="rect">
            <a:avLst/>
          </a:prstGeom>
          <a:noFill/>
        </p:spPr>
        <p:txBody>
          <a:bodyPr vert="horz" rtlCol="0" anchor="ctr" anchorCtr="0">
            <a:noAutofit/>
          </a:bodyPr>
          <a:lstStyle/>
          <a:p>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0</a:t>
            </a:r>
            <a:endPar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a:extLst>
              <a:ext uri="{FF2B5EF4-FFF2-40B4-BE49-F238E27FC236}">
                <a16:creationId xmlns:a16="http://schemas.microsoft.com/office/drawing/2014/main" id="{728B6586-A95C-4C4C-878D-856E771445FB}"/>
              </a:ext>
            </a:extLst>
          </p:cNvPr>
          <p:cNvSpPr txBox="1"/>
          <p:nvPr>
            <p:custDataLst>
              <p:tags r:id="rId5"/>
            </p:custDataLst>
          </p:nvPr>
        </p:nvSpPr>
        <p:spPr>
          <a:xfrm>
            <a:off x="2438400" y="4983906"/>
            <a:ext cx="8534400" cy="642938"/>
          </a:xfrm>
          <a:prstGeom prst="rect">
            <a:avLst/>
          </a:prstGeom>
          <a:noFill/>
        </p:spPr>
        <p:txBody>
          <a:bodyPr vert="horz" rtlCol="0" anchor="ctr" anchorCtr="0">
            <a:noAutofit/>
          </a:bodyPr>
          <a:lstStyle/>
          <a:p>
            <a:r>
              <a:rPr lang="en-US" altLang="zh-CN" sz="2800" b="1" dirty="0"/>
              <a:t>Compile time error</a:t>
            </a:r>
            <a:endPar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a:extLst>
              <a:ext uri="{FF2B5EF4-FFF2-40B4-BE49-F238E27FC236}">
                <a16:creationId xmlns:a16="http://schemas.microsoft.com/office/drawing/2014/main" id="{7FBC0486-7FDF-4F29-BAE2-75747EE193C6}"/>
              </a:ext>
            </a:extLst>
          </p:cNvPr>
          <p:cNvSpPr txBox="1"/>
          <p:nvPr>
            <p:custDataLst>
              <p:tags r:id="rId6"/>
            </p:custDataLst>
          </p:nvPr>
        </p:nvSpPr>
        <p:spPr>
          <a:xfrm>
            <a:off x="2438400" y="5644490"/>
            <a:ext cx="8534400" cy="642938"/>
          </a:xfrm>
          <a:prstGeom prst="rect">
            <a:avLst/>
          </a:prstGeom>
          <a:noFill/>
        </p:spPr>
        <p:txBody>
          <a:bodyPr vert="horz" rtlCol="0" anchor="ctr" anchorCtr="0">
            <a:noAutofit/>
          </a:bodyPr>
          <a:lstStyle/>
          <a:p>
            <a:r>
              <a:rPr lang="en-US" altLang="zh-CN" sz="2800" b="1" dirty="0" err="1"/>
              <a:t>Junkvalue</a:t>
            </a:r>
            <a:endPar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a:extLst>
              <a:ext uri="{FF2B5EF4-FFF2-40B4-BE49-F238E27FC236}">
                <a16:creationId xmlns:a16="http://schemas.microsoft.com/office/drawing/2014/main" id="{9DBD7CA2-6C46-4CF1-AD57-E8131401C1FB}"/>
              </a:ext>
            </a:extLst>
          </p:cNvPr>
          <p:cNvSpPr>
            <a:spLocks noChangeAspect="1"/>
          </p:cNvSpPr>
          <p:nvPr>
            <p:custDataLst>
              <p:tags r:id="rId7"/>
            </p:custDataLst>
          </p:nvPr>
        </p:nvSpPr>
        <p:spPr>
          <a:xfrm>
            <a:off x="1571625" y="3689204"/>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a:extLst>
              <a:ext uri="{FF2B5EF4-FFF2-40B4-BE49-F238E27FC236}">
                <a16:creationId xmlns:a16="http://schemas.microsoft.com/office/drawing/2014/main" id="{D1993076-C53B-4721-8519-2EB1F022CF85}"/>
              </a:ext>
            </a:extLst>
          </p:cNvPr>
          <p:cNvSpPr>
            <a:spLocks noChangeAspect="1"/>
          </p:cNvSpPr>
          <p:nvPr>
            <p:custDataLst>
              <p:tags r:id="rId8"/>
            </p:custDataLst>
          </p:nvPr>
        </p:nvSpPr>
        <p:spPr>
          <a:xfrm>
            <a:off x="1571625" y="434096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2EC859B4-4715-4017-8BAF-3711F9807852}"/>
              </a:ext>
            </a:extLst>
          </p:cNvPr>
          <p:cNvSpPr>
            <a:spLocks noChangeAspect="1"/>
          </p:cNvSpPr>
          <p:nvPr>
            <p:custDataLst>
              <p:tags r:id="rId9"/>
            </p:custDataLst>
          </p:nvPr>
        </p:nvSpPr>
        <p:spPr>
          <a:xfrm>
            <a:off x="1571625" y="5048199"/>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C48EF8F3-1BC2-40D6-BF39-2620177EAE5F}"/>
              </a:ext>
            </a:extLst>
          </p:cNvPr>
          <p:cNvSpPr>
            <a:spLocks noChangeAspect="1"/>
          </p:cNvSpPr>
          <p:nvPr>
            <p:custDataLst>
              <p:tags r:id="rId10"/>
            </p:custDataLst>
          </p:nvPr>
        </p:nvSpPr>
        <p:spPr>
          <a:xfrm>
            <a:off x="1571625" y="5708783"/>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B8310E7D-A11A-4CBA-929A-D46F64107AB2}"/>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a:extLst>
              <a:ext uri="{FF2B5EF4-FFF2-40B4-BE49-F238E27FC236}">
                <a16:creationId xmlns:a16="http://schemas.microsoft.com/office/drawing/2014/main" id="{304D536D-C5B0-4294-BE60-8953849BEFF2}"/>
              </a:ext>
            </a:extLst>
          </p:cNvPr>
          <p:cNvGrpSpPr/>
          <p:nvPr>
            <p:custDataLst>
              <p:tags r:id="rId12"/>
            </p:custDataLst>
          </p:nvPr>
        </p:nvGrpSpPr>
        <p:grpSpPr>
          <a:xfrm>
            <a:off x="0" y="0"/>
            <a:ext cx="12192000" cy="635000"/>
            <a:chOff x="0" y="0"/>
            <a:chExt cx="12192000" cy="635000"/>
          </a:xfrm>
        </p:grpSpPr>
        <p:sp>
          <p:nvSpPr>
            <p:cNvPr id="14" name="TitleBackground">
              <a:extLst>
                <a:ext uri="{FF2B5EF4-FFF2-40B4-BE49-F238E27FC236}">
                  <a16:creationId xmlns:a16="http://schemas.microsoft.com/office/drawing/2014/main" id="{6F815925-782B-4AEF-BEAA-A469E7ACC84D}"/>
                </a:ext>
              </a:extLst>
            </p:cNvPr>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a:extLst>
                <a:ext uri="{FF2B5EF4-FFF2-40B4-BE49-F238E27FC236}">
                  <a16:creationId xmlns:a16="http://schemas.microsoft.com/office/drawing/2014/main" id="{D7AE3A29-EC93-4393-8F82-874331C3BF6A}"/>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a:extLst>
                <a:ext uri="{FF2B5EF4-FFF2-40B4-BE49-F238E27FC236}">
                  <a16:creationId xmlns:a16="http://schemas.microsoft.com/office/drawing/2014/main" id="{F0458AE4-76E9-48BB-96D3-6162A9D8DF86}"/>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a:extLst>
                <a:ext uri="{FF2B5EF4-FFF2-40B4-BE49-F238E27FC236}">
                  <a16:creationId xmlns:a16="http://schemas.microsoft.com/office/drawing/2014/main" id="{02EE0807-4ECD-4B80-82A5-A6877E8E621D}"/>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27120E73-6C84-4574-996B-EF889E946F4F}"/>
              </a:ext>
            </a:extLst>
          </p:cNvPr>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3651966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C1F891C-9ADA-441E-83AA-BA5BAC9C3B6A}"/>
              </a:ext>
            </a:extLst>
          </p:cNvPr>
          <p:cNvSpPr txBox="1"/>
          <p:nvPr>
            <p:custDataLst>
              <p:tags r:id="rId2"/>
            </p:custDataLst>
          </p:nvPr>
        </p:nvSpPr>
        <p:spPr>
          <a:xfrm>
            <a:off x="1206500" y="1097190"/>
            <a:ext cx="9753600" cy="1470591"/>
          </a:xfrm>
          <a:prstGeom prst="rect">
            <a:avLst/>
          </a:prstGeom>
          <a:noFill/>
        </p:spPr>
        <p:txBody>
          <a:bodyPr vert="horz" wrap="square" rtlCol="0" anchor="ctr" anchorCtr="0">
            <a:noAutofit/>
          </a:bodyPr>
          <a:lstStyle/>
          <a:p>
            <a:r>
              <a:rPr lang="en-US" altLang="zh-CN" sz="2400" b="1" dirty="0"/>
              <a:t>register keyword mandates compiler to place it in machine register.</a:t>
            </a:r>
            <a:br>
              <a:rPr lang="en-US" altLang="zh-CN" sz="2400" b="1" dirty="0"/>
            </a:br>
            <a:endParaRPr lang="zh-CN" altLang="en-US" sz="32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a:extLst>
              <a:ext uri="{FF2B5EF4-FFF2-40B4-BE49-F238E27FC236}">
                <a16:creationId xmlns:a16="http://schemas.microsoft.com/office/drawing/2014/main" id="{2605274C-A03A-44F7-B385-E9CA4AF9A587}"/>
              </a:ext>
            </a:extLst>
          </p:cNvPr>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en-US" altLang="zh-CN" sz="2800" b="1" dirty="0"/>
              <a:t>true</a:t>
            </a:r>
            <a:endPar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a:extLst>
              <a:ext uri="{FF2B5EF4-FFF2-40B4-BE49-F238E27FC236}">
                <a16:creationId xmlns:a16="http://schemas.microsoft.com/office/drawing/2014/main" id="{8D8E5686-E615-4321-97A1-EB3DD983CD45}"/>
              </a:ext>
            </a:extLst>
          </p:cNvPr>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en-US" altLang="zh-CN" sz="2800" b="1" dirty="0"/>
              <a:t>false</a:t>
            </a:r>
            <a:endPar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a:extLst>
              <a:ext uri="{FF2B5EF4-FFF2-40B4-BE49-F238E27FC236}">
                <a16:creationId xmlns:a16="http://schemas.microsoft.com/office/drawing/2014/main" id="{CA68C18B-48A5-4C3F-8749-10FB91EF26D9}"/>
              </a:ext>
            </a:extLst>
          </p:cNvPr>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en-US" altLang="zh-CN" sz="2800" b="1" dirty="0"/>
              <a:t>Depends on the standard</a:t>
            </a:r>
            <a:endPar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a:extLst>
              <a:ext uri="{FF2B5EF4-FFF2-40B4-BE49-F238E27FC236}">
                <a16:creationId xmlns:a16="http://schemas.microsoft.com/office/drawing/2014/main" id="{42B6A06A-B2D7-4216-AEF5-DD6FEE1F2B41}"/>
              </a:ext>
            </a:extLst>
          </p:cNvPr>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lang="en-US" altLang="zh-CN" sz="2800" b="1" dirty="0"/>
              <a:t>None of the mentioned</a:t>
            </a:r>
            <a:endPar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a:extLst>
              <a:ext uri="{FF2B5EF4-FFF2-40B4-BE49-F238E27FC236}">
                <a16:creationId xmlns:a16="http://schemas.microsoft.com/office/drawing/2014/main" id="{872BA370-089D-4659-8935-DF49A0F87E28}"/>
              </a:ext>
            </a:extLst>
          </p:cNvPr>
          <p:cNvSpPr>
            <a:spLocks noChangeAspect="1"/>
          </p:cNvSpPr>
          <p:nvPr>
            <p:custDataLst>
              <p:tags r:id="rId7"/>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a:extLst>
              <a:ext uri="{FF2B5EF4-FFF2-40B4-BE49-F238E27FC236}">
                <a16:creationId xmlns:a16="http://schemas.microsoft.com/office/drawing/2014/main" id="{6985D9EF-51C8-486B-8DEB-E59B59E81372}"/>
              </a:ext>
            </a:extLst>
          </p:cNvPr>
          <p:cNvSpPr>
            <a:spLocks noChangeAspect="1"/>
          </p:cNvSpPr>
          <p:nvPr>
            <p:custDataLst>
              <p:tags r:id="rId8"/>
            </p:custDataLst>
          </p:nvPr>
        </p:nvSpPr>
        <p:spPr>
          <a:xfrm>
            <a:off x="15716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8B739F47-EE0D-4DAE-96DE-F5DE8D7B50DC}"/>
              </a:ext>
            </a:extLst>
          </p:cNvPr>
          <p:cNvSpPr>
            <a:spLocks noChangeAspect="1"/>
          </p:cNvSpPr>
          <p:nvPr>
            <p:custDataLst>
              <p:tags r:id="rId9"/>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F687B693-CCDA-44AE-ADA3-BB42BFB14E47}"/>
              </a:ext>
            </a:extLst>
          </p:cNvPr>
          <p:cNvSpPr>
            <a:spLocks noChangeAspect="1"/>
          </p:cNvSpPr>
          <p:nvPr>
            <p:custDataLst>
              <p:tags r:id="rId10"/>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5EC7A519-33B4-4091-9153-35D2C812E1A1}"/>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a:extLst>
              <a:ext uri="{FF2B5EF4-FFF2-40B4-BE49-F238E27FC236}">
                <a16:creationId xmlns:a16="http://schemas.microsoft.com/office/drawing/2014/main" id="{7EC9DEE2-7B2E-436C-AD15-0B7430EE8CD1}"/>
              </a:ext>
            </a:extLst>
          </p:cNvPr>
          <p:cNvGrpSpPr/>
          <p:nvPr>
            <p:custDataLst>
              <p:tags r:id="rId12"/>
            </p:custDataLst>
          </p:nvPr>
        </p:nvGrpSpPr>
        <p:grpSpPr>
          <a:xfrm>
            <a:off x="0" y="0"/>
            <a:ext cx="12192000" cy="635000"/>
            <a:chOff x="0" y="0"/>
            <a:chExt cx="12192000" cy="635000"/>
          </a:xfrm>
        </p:grpSpPr>
        <p:sp>
          <p:nvSpPr>
            <p:cNvPr id="14" name="TitleBackground">
              <a:extLst>
                <a:ext uri="{FF2B5EF4-FFF2-40B4-BE49-F238E27FC236}">
                  <a16:creationId xmlns:a16="http://schemas.microsoft.com/office/drawing/2014/main" id="{2268128F-B100-4217-9936-8155DF26EE57}"/>
                </a:ext>
              </a:extLst>
            </p:cNvPr>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a:extLst>
                <a:ext uri="{FF2B5EF4-FFF2-40B4-BE49-F238E27FC236}">
                  <a16:creationId xmlns:a16="http://schemas.microsoft.com/office/drawing/2014/main" id="{B1C9BACA-1104-4B5F-8CDA-006C26D624AF}"/>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a:extLst>
                <a:ext uri="{FF2B5EF4-FFF2-40B4-BE49-F238E27FC236}">
                  <a16:creationId xmlns:a16="http://schemas.microsoft.com/office/drawing/2014/main" id="{0678595D-00C5-402D-9A09-10465F366AC7}"/>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a:extLst>
                <a:ext uri="{FF2B5EF4-FFF2-40B4-BE49-F238E27FC236}">
                  <a16:creationId xmlns:a16="http://schemas.microsoft.com/office/drawing/2014/main" id="{8B410545-26A8-45E7-AFAF-3B8A16591667}"/>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08A7753A-635E-47C9-BEB4-70630F0BA9CE}"/>
              </a:ext>
            </a:extLst>
          </p:cNvPr>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651144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递归经典：汉诺塔（</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Hanoi Tower</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4" name="内容占位符 3"/>
          <p:cNvSpPr>
            <a:spLocks noGrp="1"/>
          </p:cNvSpPr>
          <p:nvPr/>
        </p:nvSpPr>
        <p:spPr>
          <a:xfrm>
            <a:off x="838200" y="1815465"/>
            <a:ext cx="10236200"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rgbClr val="C00000"/>
              </a:buClr>
              <a:buSzPct val="120000"/>
              <a:buFont typeface="Arial" panose="020B0604020202020204" pitchFamily="34" charset="0"/>
              <a:buChar char="•"/>
              <a:defRPr sz="2800" kern="1200">
                <a:solidFill>
                  <a:schemeClr val="tx1"/>
                </a:solidFill>
                <a:latin typeface="FandolSong" panose="00000500000000000000" charset="-122"/>
                <a:ea typeface="FandolSong" panose="00000500000000000000" charset="-122"/>
                <a:cs typeface="+mn-cs"/>
              </a:defRPr>
            </a:lvl1pPr>
            <a:lvl2pPr marL="685800" indent="-228600" algn="just" defTabSz="914400" rtl="0" eaLnBrk="1" latinLnBrk="0" hangingPunct="1">
              <a:lnSpc>
                <a:spcPct val="70000"/>
              </a:lnSpc>
              <a:spcBef>
                <a:spcPts val="600"/>
              </a:spcBef>
              <a:buClr>
                <a:srgbClr val="C00000"/>
              </a:buClr>
              <a:buSzPct val="120000"/>
              <a:buFont typeface="Arial" panose="020B0604020202020204" pitchFamily="34" charset="0"/>
              <a:buChar char="•"/>
              <a:defRPr sz="2400" kern="1200">
                <a:solidFill>
                  <a:schemeClr val="tx1"/>
                </a:solidFill>
                <a:latin typeface="FandolSong" panose="00000500000000000000" charset="-122"/>
                <a:ea typeface="FandolSong" panose="00000500000000000000" charset="-122"/>
                <a:cs typeface="+mn-cs"/>
              </a:defRPr>
            </a:lvl2pPr>
            <a:lvl3pPr marL="11430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2000" kern="1200">
                <a:solidFill>
                  <a:schemeClr val="tx1"/>
                </a:solidFill>
                <a:latin typeface="FandolSong" panose="00000500000000000000" charset="-122"/>
                <a:ea typeface="FandolSong" panose="00000500000000000000" charset="-122"/>
                <a:cs typeface="+mn-cs"/>
              </a:defRPr>
            </a:lvl3pPr>
            <a:lvl4pPr marL="16002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1800" kern="1200">
                <a:solidFill>
                  <a:schemeClr val="tx1"/>
                </a:solidFill>
                <a:latin typeface="FandolSong" panose="00000500000000000000" charset="-122"/>
                <a:ea typeface="FandolSong" panose="00000500000000000000" charset="-122"/>
                <a:cs typeface="+mn-cs"/>
              </a:defRPr>
            </a:lvl4pPr>
            <a:lvl5pPr marL="20574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1800" kern="1200">
                <a:solidFill>
                  <a:schemeClr val="tx1"/>
                </a:solidFill>
                <a:latin typeface="FandolSong" panose="00000500000000000000" charset="-122"/>
                <a:ea typeface="FandolSong" panose="00000500000000000000"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chemeClr val="tx1"/>
                </a:solidFill>
              </a:rPr>
              <a:t>问题描述</a:t>
            </a:r>
          </a:p>
          <a:p>
            <a:pPr marL="457200" lvl="1" indent="0">
              <a:lnSpc>
                <a:spcPct val="100000"/>
              </a:lnSpc>
              <a:buNone/>
            </a:pPr>
            <a:r>
              <a:rPr lang="zh-CN" altLang="en-US" dirty="0"/>
              <a:t>源于印度一个古老传说。大梵天创造世界的时候做了三根金刚石柱子，在一根柱子上从下往上按照大小顺序摞着</a:t>
            </a:r>
            <a:r>
              <a:rPr lang="en-US" altLang="zh-CN" dirty="0"/>
              <a:t>64</a:t>
            </a:r>
            <a:r>
              <a:rPr lang="zh-CN" altLang="en-US" dirty="0"/>
              <a:t>片黄金圆盘。大梵天命令婆罗门把圆盘从下面开始按大小顺序重新摆放在另一根柱子上。并且规定，任何时候，在小圆盘上都不能放大圆盘，且在三根柱子之间一次只能移动一个圆盘。问应该如何操作？</a:t>
            </a:r>
            <a:endParaRPr lang="zh-CN" altLang="en-US" dirty="0">
              <a:solidFill>
                <a:schemeClr val="tx1"/>
              </a:solidFill>
            </a:endParaRPr>
          </a:p>
        </p:txBody>
      </p:sp>
      <p:pic>
        <p:nvPicPr>
          <p:cNvPr id="2" name="图片 1">
            <a:extLst>
              <a:ext uri="{FF2B5EF4-FFF2-40B4-BE49-F238E27FC236}">
                <a16:creationId xmlns:a16="http://schemas.microsoft.com/office/drawing/2014/main" id="{AAA8D444-1E47-449C-AD84-9CB744FE4EEE}"/>
              </a:ext>
            </a:extLst>
          </p:cNvPr>
          <p:cNvPicPr>
            <a:picLocks noChangeAspect="1"/>
          </p:cNvPicPr>
          <p:nvPr/>
        </p:nvPicPr>
        <p:blipFill>
          <a:blip r:embed="rId4"/>
          <a:stretch>
            <a:fillRect/>
          </a:stretch>
        </p:blipFill>
        <p:spPr>
          <a:xfrm>
            <a:off x="3678690" y="4576535"/>
            <a:ext cx="3571875" cy="1333500"/>
          </a:xfrm>
          <a:prstGeom prst="rect">
            <a:avLst/>
          </a:prstGeom>
        </p:spPr>
      </p:pic>
    </p:spTree>
    <p:extLst>
      <p:ext uri="{BB962C8B-B14F-4D97-AF65-F5344CB8AC3E}">
        <p14:creationId xmlns:p14="http://schemas.microsoft.com/office/powerpoint/2010/main" val="2955397232"/>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right)">
                                      <p:cBhvr>
                                        <p:cTn id="7" dur="500"/>
                                        <p:tgtEl>
                                          <p:spTgt spid="34"/>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barn(inVertical)">
                                      <p:cBhvr>
                                        <p:cTn id="11"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汉诺塔求解过程分析</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4" name="内容占位符 3"/>
          <p:cNvSpPr>
            <a:spLocks noGrp="1"/>
          </p:cNvSpPr>
          <p:nvPr/>
        </p:nvSpPr>
        <p:spPr>
          <a:xfrm>
            <a:off x="838200" y="1815465"/>
            <a:ext cx="10236200"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rgbClr val="C00000"/>
              </a:buClr>
              <a:buSzPct val="120000"/>
              <a:buFont typeface="Arial" panose="020B0604020202020204" pitchFamily="34" charset="0"/>
              <a:buChar char="•"/>
              <a:defRPr sz="2800" kern="1200">
                <a:solidFill>
                  <a:schemeClr val="tx1"/>
                </a:solidFill>
                <a:latin typeface="FandolSong" panose="00000500000000000000" charset="-122"/>
                <a:ea typeface="FandolSong" panose="00000500000000000000" charset="-122"/>
                <a:cs typeface="+mn-cs"/>
              </a:defRPr>
            </a:lvl1pPr>
            <a:lvl2pPr marL="685800" indent="-228600" algn="just" defTabSz="914400" rtl="0" eaLnBrk="1" latinLnBrk="0" hangingPunct="1">
              <a:lnSpc>
                <a:spcPct val="70000"/>
              </a:lnSpc>
              <a:spcBef>
                <a:spcPts val="600"/>
              </a:spcBef>
              <a:buClr>
                <a:srgbClr val="C00000"/>
              </a:buClr>
              <a:buSzPct val="120000"/>
              <a:buFont typeface="Arial" panose="020B0604020202020204" pitchFamily="34" charset="0"/>
              <a:buChar char="•"/>
              <a:defRPr sz="2400" kern="1200">
                <a:solidFill>
                  <a:schemeClr val="tx1"/>
                </a:solidFill>
                <a:latin typeface="FandolSong" panose="00000500000000000000" charset="-122"/>
                <a:ea typeface="FandolSong" panose="00000500000000000000" charset="-122"/>
                <a:cs typeface="+mn-cs"/>
              </a:defRPr>
            </a:lvl2pPr>
            <a:lvl3pPr marL="11430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2000" kern="1200">
                <a:solidFill>
                  <a:schemeClr val="tx1"/>
                </a:solidFill>
                <a:latin typeface="FandolSong" panose="00000500000000000000" charset="-122"/>
                <a:ea typeface="FandolSong" panose="00000500000000000000" charset="-122"/>
                <a:cs typeface="+mn-cs"/>
              </a:defRPr>
            </a:lvl3pPr>
            <a:lvl4pPr marL="16002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1800" kern="1200">
                <a:solidFill>
                  <a:schemeClr val="tx1"/>
                </a:solidFill>
                <a:latin typeface="FandolSong" panose="00000500000000000000" charset="-122"/>
                <a:ea typeface="FandolSong" panose="00000500000000000000" charset="-122"/>
                <a:cs typeface="+mn-cs"/>
              </a:defRPr>
            </a:lvl4pPr>
            <a:lvl5pPr marL="20574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1800" kern="1200">
                <a:solidFill>
                  <a:schemeClr val="tx1"/>
                </a:solidFill>
                <a:latin typeface="FandolSong" panose="00000500000000000000" charset="-122"/>
                <a:ea typeface="FandolSong" panose="00000500000000000000"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zh-CN" altLang="en-US" dirty="0">
                <a:solidFill>
                  <a:schemeClr val="tx1"/>
                </a:solidFill>
              </a:rPr>
              <a:t>问题求解</a:t>
            </a:r>
          </a:p>
          <a:p>
            <a:pPr lvl="1">
              <a:lnSpc>
                <a:spcPct val="110000"/>
              </a:lnSpc>
            </a:pPr>
            <a:r>
              <a:rPr lang="zh-CN" altLang="en-US" dirty="0"/>
              <a:t>声明问题</a:t>
            </a:r>
          </a:p>
          <a:p>
            <a:pPr marL="457200" lvl="1" indent="0">
              <a:lnSpc>
                <a:spcPct val="110000"/>
              </a:lnSpc>
              <a:buNone/>
            </a:pPr>
            <a:r>
              <a:rPr lang="fr-FR" altLang="zh-CN" dirty="0"/>
              <a:t>void hanoi(int n, int a, int b, int c); </a:t>
            </a:r>
            <a:endParaRPr lang="en-US" altLang="zh-CN" dirty="0"/>
          </a:p>
          <a:p>
            <a:pPr lvl="2">
              <a:lnSpc>
                <a:spcPct val="110000"/>
              </a:lnSpc>
            </a:pPr>
            <a:r>
              <a:rPr lang="en-US" altLang="zh-CN" dirty="0" err="1"/>
              <a:t>a,b,c</a:t>
            </a:r>
            <a:r>
              <a:rPr lang="en-US" altLang="zh-CN" dirty="0"/>
              <a:t> </a:t>
            </a:r>
            <a:r>
              <a:rPr lang="zh-CN" altLang="en-US" dirty="0"/>
              <a:t>代表柱子编号，用字母表示。分别代表 </a:t>
            </a:r>
            <a:r>
              <a:rPr lang="en-US" altLang="zh-CN" dirty="0"/>
              <a:t>source</a:t>
            </a:r>
            <a:r>
              <a:rPr lang="zh-CN" altLang="en-US" dirty="0"/>
              <a:t>，</a:t>
            </a:r>
            <a:r>
              <a:rPr lang="en-US" altLang="zh-CN" dirty="0"/>
              <a:t>mid</a:t>
            </a:r>
            <a:r>
              <a:rPr lang="zh-CN" altLang="en-US" dirty="0"/>
              <a:t>，</a:t>
            </a:r>
            <a:r>
              <a:rPr lang="en-US" altLang="zh-CN" dirty="0"/>
              <a:t>destination</a:t>
            </a:r>
          </a:p>
          <a:p>
            <a:pPr lvl="2">
              <a:lnSpc>
                <a:spcPct val="110000"/>
              </a:lnSpc>
            </a:pPr>
            <a:r>
              <a:rPr lang="zh-CN" altLang="en-US" dirty="0"/>
              <a:t>将 </a:t>
            </a:r>
            <a:r>
              <a:rPr lang="en-US" altLang="zh-CN" dirty="0"/>
              <a:t>n </a:t>
            </a:r>
            <a:r>
              <a:rPr lang="zh-CN" altLang="en-US" dirty="0"/>
              <a:t>个从大到小的盘子从</a:t>
            </a:r>
            <a:r>
              <a:rPr lang="en-US" altLang="zh-CN" dirty="0"/>
              <a:t>source</a:t>
            </a:r>
            <a:r>
              <a:rPr lang="zh-CN" altLang="en-US" dirty="0"/>
              <a:t>上，使用 </a:t>
            </a:r>
            <a:r>
              <a:rPr lang="en-US" altLang="zh-CN" dirty="0"/>
              <a:t>mid </a:t>
            </a:r>
            <a:r>
              <a:rPr lang="zh-CN" altLang="en-US" dirty="0"/>
              <a:t>周转，最后到 </a:t>
            </a:r>
            <a:r>
              <a:rPr lang="en-US" altLang="zh-CN" dirty="0" err="1"/>
              <a:t>dest</a:t>
            </a:r>
            <a:r>
              <a:rPr lang="en-US" altLang="zh-CN" dirty="0"/>
              <a:t> </a:t>
            </a:r>
            <a:r>
              <a:rPr lang="zh-CN" altLang="en-US" dirty="0"/>
              <a:t>上</a:t>
            </a:r>
            <a:endParaRPr lang="en-US" altLang="zh-CN" dirty="0"/>
          </a:p>
          <a:p>
            <a:pPr marL="457200" lvl="1" indent="0">
              <a:lnSpc>
                <a:spcPct val="110000"/>
              </a:lnSpc>
              <a:buNone/>
            </a:pPr>
            <a:r>
              <a:rPr lang="en-US" altLang="zh-CN" dirty="0"/>
              <a:t>void move(int n, int a, int b)</a:t>
            </a:r>
          </a:p>
          <a:p>
            <a:pPr marL="914400" lvl="2" indent="0">
              <a:lnSpc>
                <a:spcPct val="110000"/>
              </a:lnSpc>
              <a:buNone/>
            </a:pPr>
            <a:r>
              <a:rPr lang="zh-CN" altLang="en-US" dirty="0"/>
              <a:t>将第 </a:t>
            </a:r>
            <a:r>
              <a:rPr lang="en-US" altLang="zh-CN" dirty="0"/>
              <a:t>n </a:t>
            </a:r>
            <a:r>
              <a:rPr lang="zh-CN" altLang="en-US" dirty="0"/>
              <a:t>号盘子从 </a:t>
            </a:r>
            <a:r>
              <a:rPr lang="en-US" altLang="zh-CN" dirty="0"/>
              <a:t>a </a:t>
            </a:r>
            <a:r>
              <a:rPr lang="zh-CN" altLang="en-US" dirty="0"/>
              <a:t>号柱子搬到 </a:t>
            </a:r>
            <a:r>
              <a:rPr lang="en-US" altLang="zh-CN" dirty="0"/>
              <a:t>b </a:t>
            </a:r>
            <a:r>
              <a:rPr lang="zh-CN" altLang="en-US" dirty="0"/>
              <a:t>号柱子</a:t>
            </a:r>
            <a:endParaRPr lang="en-US" altLang="zh-CN" dirty="0"/>
          </a:p>
          <a:p>
            <a:pPr marL="914400" lvl="2" indent="0">
              <a:lnSpc>
                <a:spcPct val="110000"/>
              </a:lnSpc>
              <a:buNone/>
            </a:pPr>
            <a:endParaRPr lang="en-US" altLang="zh-CN" dirty="0"/>
          </a:p>
          <a:p>
            <a:pPr marL="0" indent="0">
              <a:lnSpc>
                <a:spcPct val="110000"/>
              </a:lnSpc>
              <a:buNone/>
            </a:pPr>
            <a:r>
              <a:rPr lang="zh-CN" altLang="en-US" dirty="0"/>
              <a:t>这些例子表明，正确理解并抽象问题是问题求解的关键之一！</a:t>
            </a:r>
            <a:endParaRPr lang="en-US" altLang="zh-CN" dirty="0"/>
          </a:p>
        </p:txBody>
      </p:sp>
    </p:spTree>
    <p:extLst>
      <p:ext uri="{BB962C8B-B14F-4D97-AF65-F5344CB8AC3E}">
        <p14:creationId xmlns:p14="http://schemas.microsoft.com/office/powerpoint/2010/main" val="860530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right)">
                                      <p:cBhvr>
                                        <p:cTn id="7" dur="500"/>
                                        <p:tgtEl>
                                          <p:spTgt spid="34"/>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barn(inVertical)">
                                      <p:cBhvr>
                                        <p:cTn id="11" dur="500"/>
                                        <p:tgtEl>
                                          <p:spTgt spid="51"/>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2" fill="hold" nodeType="clickEffect">
                                  <p:stCondLst>
                                    <p:cond delay="0"/>
                                  </p:stCondLst>
                                  <p:childTnLst>
                                    <p:set>
                                      <p:cBhvr>
                                        <p:cTn id="15" dur="1" fill="hold">
                                          <p:stCondLst>
                                            <p:cond delay="0"/>
                                          </p:stCondLst>
                                        </p:cTn>
                                        <p:tgtEl>
                                          <p:spTgt spid="4">
                                            <p:txEl>
                                              <p:pRg st="2" end="2"/>
                                            </p:txEl>
                                          </p:spTgt>
                                        </p:tgtEl>
                                        <p:attrNameLst>
                                          <p:attrName>style.visibility</p:attrName>
                                        </p:attrNameLst>
                                      </p:cBhvr>
                                      <p:to>
                                        <p:strVal val="visible"/>
                                      </p:to>
                                    </p:set>
                                    <p:anim calcmode="lin" valueType="num">
                                      <p:cBhvr additive="base">
                                        <p:cTn id="16" dur="500" fill="hold"/>
                                        <p:tgtEl>
                                          <p:spTgt spid="4">
                                            <p:txEl>
                                              <p:pRg st="2" end="2"/>
                                            </p:txEl>
                                          </p:spTgt>
                                        </p:tgtEl>
                                        <p:attrNameLst>
                                          <p:attrName>ppt_x</p:attrName>
                                        </p:attrNameLst>
                                      </p:cBhvr>
                                      <p:tavLst>
                                        <p:tav tm="0">
                                          <p:val>
                                            <p:strVal val="1+#ppt_w/2"/>
                                          </p:val>
                                        </p:tav>
                                        <p:tav tm="100000">
                                          <p:val>
                                            <p:strVal val="#ppt_x"/>
                                          </p:val>
                                        </p:tav>
                                      </p:tavLst>
                                    </p:anim>
                                    <p:anim calcmode="lin" valueType="num">
                                      <p:cBhvr additive="base">
                                        <p:cTn id="17" dur="500" fill="hold"/>
                                        <p:tgtEl>
                                          <p:spTgt spid="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 calcmode="lin" valueType="num">
                                      <p:cBhvr additive="base">
                                        <p:cTn id="22" dur="500" fill="hold"/>
                                        <p:tgtEl>
                                          <p:spTgt spid="4">
                                            <p:txEl>
                                              <p:pRg st="3" end="3"/>
                                            </p:txEl>
                                          </p:spTgt>
                                        </p:tgtEl>
                                        <p:attrNameLst>
                                          <p:attrName>ppt_x</p:attrName>
                                        </p:attrNameLst>
                                      </p:cBhvr>
                                      <p:tavLst>
                                        <p:tav tm="0">
                                          <p:val>
                                            <p:strVal val="1+#ppt_w/2"/>
                                          </p:val>
                                        </p:tav>
                                        <p:tav tm="100000">
                                          <p:val>
                                            <p:strVal val="#ppt_x"/>
                                          </p:val>
                                        </p:tav>
                                      </p:tavLst>
                                    </p:anim>
                                    <p:anim calcmode="lin" valueType="num">
                                      <p:cBhvr additive="base">
                                        <p:cTn id="23" dur="500" fill="hold"/>
                                        <p:tgtEl>
                                          <p:spTgt spid="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nodeType="clickEffect">
                                  <p:stCondLst>
                                    <p:cond delay="0"/>
                                  </p:stCondLst>
                                  <p:childTnLst>
                                    <p:set>
                                      <p:cBhvr>
                                        <p:cTn id="27" dur="1" fill="hold">
                                          <p:stCondLst>
                                            <p:cond delay="0"/>
                                          </p:stCondLst>
                                        </p:cTn>
                                        <p:tgtEl>
                                          <p:spTgt spid="4">
                                            <p:txEl>
                                              <p:pRg st="4" end="4"/>
                                            </p:txEl>
                                          </p:spTgt>
                                        </p:tgtEl>
                                        <p:attrNameLst>
                                          <p:attrName>style.visibility</p:attrName>
                                        </p:attrNameLst>
                                      </p:cBhvr>
                                      <p:to>
                                        <p:strVal val="visible"/>
                                      </p:to>
                                    </p:set>
                                    <p:anim calcmode="lin" valueType="num">
                                      <p:cBhvr additive="base">
                                        <p:cTn id="28" dur="500" fill="hold"/>
                                        <p:tgtEl>
                                          <p:spTgt spid="4">
                                            <p:txEl>
                                              <p:pRg st="4" end="4"/>
                                            </p:txEl>
                                          </p:spTgt>
                                        </p:tgtEl>
                                        <p:attrNameLst>
                                          <p:attrName>ppt_x</p:attrName>
                                        </p:attrNameLst>
                                      </p:cBhvr>
                                      <p:tavLst>
                                        <p:tav tm="0">
                                          <p:val>
                                            <p:strVal val="1+#ppt_w/2"/>
                                          </p:val>
                                        </p:tav>
                                        <p:tav tm="100000">
                                          <p:val>
                                            <p:strVal val="#ppt_x"/>
                                          </p:val>
                                        </p:tav>
                                      </p:tavLst>
                                    </p:anim>
                                    <p:anim calcmode="lin" valueType="num">
                                      <p:cBhvr additive="base">
                                        <p:cTn id="29" dur="500" fill="hold"/>
                                        <p:tgtEl>
                                          <p:spTgt spid="4">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2" fill="hold" nodeType="clickEffect">
                                  <p:stCondLst>
                                    <p:cond delay="0"/>
                                  </p:stCondLst>
                                  <p:childTnLst>
                                    <p:set>
                                      <p:cBhvr>
                                        <p:cTn id="33" dur="1" fill="hold">
                                          <p:stCondLst>
                                            <p:cond delay="0"/>
                                          </p:stCondLst>
                                        </p:cTn>
                                        <p:tgtEl>
                                          <p:spTgt spid="4">
                                            <p:txEl>
                                              <p:pRg st="5" end="5"/>
                                            </p:txEl>
                                          </p:spTgt>
                                        </p:tgtEl>
                                        <p:attrNameLst>
                                          <p:attrName>style.visibility</p:attrName>
                                        </p:attrNameLst>
                                      </p:cBhvr>
                                      <p:to>
                                        <p:strVal val="visible"/>
                                      </p:to>
                                    </p:set>
                                    <p:anim calcmode="lin" valueType="num">
                                      <p:cBhvr additive="base">
                                        <p:cTn id="34" dur="500" fill="hold"/>
                                        <p:tgtEl>
                                          <p:spTgt spid="4">
                                            <p:txEl>
                                              <p:pRg st="5" end="5"/>
                                            </p:txEl>
                                          </p:spTgt>
                                        </p:tgtEl>
                                        <p:attrNameLst>
                                          <p:attrName>ppt_x</p:attrName>
                                        </p:attrNameLst>
                                      </p:cBhvr>
                                      <p:tavLst>
                                        <p:tav tm="0">
                                          <p:val>
                                            <p:strVal val="1+#ppt_w/2"/>
                                          </p:val>
                                        </p:tav>
                                        <p:tav tm="100000">
                                          <p:val>
                                            <p:strVal val="#ppt_x"/>
                                          </p:val>
                                        </p:tav>
                                      </p:tavLst>
                                    </p:anim>
                                    <p:anim calcmode="lin" valueType="num">
                                      <p:cBhvr additive="base">
                                        <p:cTn id="35" dur="500" fill="hold"/>
                                        <p:tgtEl>
                                          <p:spTgt spid="4">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2" fill="hold" nodeType="clickEffect">
                                  <p:stCondLst>
                                    <p:cond delay="0"/>
                                  </p:stCondLst>
                                  <p:childTnLst>
                                    <p:set>
                                      <p:cBhvr>
                                        <p:cTn id="39" dur="1" fill="hold">
                                          <p:stCondLst>
                                            <p:cond delay="0"/>
                                          </p:stCondLst>
                                        </p:cTn>
                                        <p:tgtEl>
                                          <p:spTgt spid="4">
                                            <p:txEl>
                                              <p:pRg st="6" end="6"/>
                                            </p:txEl>
                                          </p:spTgt>
                                        </p:tgtEl>
                                        <p:attrNameLst>
                                          <p:attrName>style.visibility</p:attrName>
                                        </p:attrNameLst>
                                      </p:cBhvr>
                                      <p:to>
                                        <p:strVal val="visible"/>
                                      </p:to>
                                    </p:set>
                                    <p:anim calcmode="lin" valueType="num">
                                      <p:cBhvr additive="base">
                                        <p:cTn id="40" dur="500" fill="hold"/>
                                        <p:tgtEl>
                                          <p:spTgt spid="4">
                                            <p:txEl>
                                              <p:pRg st="6" end="6"/>
                                            </p:txEl>
                                          </p:spTgt>
                                        </p:tgtEl>
                                        <p:attrNameLst>
                                          <p:attrName>ppt_x</p:attrName>
                                        </p:attrNameLst>
                                      </p:cBhvr>
                                      <p:tavLst>
                                        <p:tav tm="0">
                                          <p:val>
                                            <p:strVal val="1+#ppt_w/2"/>
                                          </p:val>
                                        </p:tav>
                                        <p:tav tm="100000">
                                          <p:val>
                                            <p:strVal val="#ppt_x"/>
                                          </p:val>
                                        </p:tav>
                                      </p:tavLst>
                                    </p:anim>
                                    <p:anim calcmode="lin" valueType="num">
                                      <p:cBhvr additive="base">
                                        <p:cTn id="41" dur="500" fill="hold"/>
                                        <p:tgtEl>
                                          <p:spTgt spid="4">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2" fill="hold" nodeType="clickEffect">
                                  <p:stCondLst>
                                    <p:cond delay="0"/>
                                  </p:stCondLst>
                                  <p:childTnLst>
                                    <p:set>
                                      <p:cBhvr>
                                        <p:cTn id="45" dur="1" fill="hold">
                                          <p:stCondLst>
                                            <p:cond delay="0"/>
                                          </p:stCondLst>
                                        </p:cTn>
                                        <p:tgtEl>
                                          <p:spTgt spid="4">
                                            <p:txEl>
                                              <p:pRg st="8" end="8"/>
                                            </p:txEl>
                                          </p:spTgt>
                                        </p:tgtEl>
                                        <p:attrNameLst>
                                          <p:attrName>style.visibility</p:attrName>
                                        </p:attrNameLst>
                                      </p:cBhvr>
                                      <p:to>
                                        <p:strVal val="visible"/>
                                      </p:to>
                                    </p:set>
                                    <p:anim calcmode="lin" valueType="num">
                                      <p:cBhvr additive="base">
                                        <p:cTn id="46" dur="500" fill="hold"/>
                                        <p:tgtEl>
                                          <p:spTgt spid="4">
                                            <p:txEl>
                                              <p:pRg st="8" end="8"/>
                                            </p:txEl>
                                          </p:spTgt>
                                        </p:tgtEl>
                                        <p:attrNameLst>
                                          <p:attrName>ppt_x</p:attrName>
                                        </p:attrNameLst>
                                      </p:cBhvr>
                                      <p:tavLst>
                                        <p:tav tm="0">
                                          <p:val>
                                            <p:strVal val="1+#ppt_w/2"/>
                                          </p:val>
                                        </p:tav>
                                        <p:tav tm="100000">
                                          <p:val>
                                            <p:strVal val="#ppt_x"/>
                                          </p:val>
                                        </p:tav>
                                      </p:tavLst>
                                    </p:anim>
                                    <p:anim calcmode="lin" valueType="num">
                                      <p:cBhvr additive="base">
                                        <p:cTn id="47" dur="500" fill="hold"/>
                                        <p:tgtEl>
                                          <p:spTgt spid="4">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汉诺塔求解过程分析</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4" name="内容占位符 3"/>
          <p:cNvSpPr>
            <a:spLocks noGrp="1"/>
          </p:cNvSpPr>
          <p:nvPr/>
        </p:nvSpPr>
        <p:spPr>
          <a:xfrm>
            <a:off x="838200" y="1815465"/>
            <a:ext cx="10236200" cy="4351655"/>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Clr>
                <a:srgbClr val="C00000"/>
              </a:buClr>
              <a:buSzPct val="120000"/>
              <a:buFont typeface="Arial" panose="020B0604020202020204" pitchFamily="34" charset="0"/>
              <a:buChar char="•"/>
              <a:defRPr sz="2800" kern="1200">
                <a:solidFill>
                  <a:schemeClr val="tx1"/>
                </a:solidFill>
                <a:latin typeface="FandolSong" panose="00000500000000000000" charset="-122"/>
                <a:ea typeface="FandolSong" panose="00000500000000000000" charset="-122"/>
                <a:cs typeface="+mn-cs"/>
              </a:defRPr>
            </a:lvl1pPr>
            <a:lvl2pPr marL="685800" indent="-228600" algn="just" defTabSz="914400" rtl="0" eaLnBrk="1" latinLnBrk="0" hangingPunct="1">
              <a:lnSpc>
                <a:spcPct val="70000"/>
              </a:lnSpc>
              <a:spcBef>
                <a:spcPts val="600"/>
              </a:spcBef>
              <a:buClr>
                <a:srgbClr val="C00000"/>
              </a:buClr>
              <a:buSzPct val="120000"/>
              <a:buFont typeface="Arial" panose="020B0604020202020204" pitchFamily="34" charset="0"/>
              <a:buChar char="•"/>
              <a:defRPr sz="2400" kern="1200">
                <a:solidFill>
                  <a:schemeClr val="tx1"/>
                </a:solidFill>
                <a:latin typeface="FandolSong" panose="00000500000000000000" charset="-122"/>
                <a:ea typeface="FandolSong" panose="00000500000000000000" charset="-122"/>
                <a:cs typeface="+mn-cs"/>
              </a:defRPr>
            </a:lvl2pPr>
            <a:lvl3pPr marL="11430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2000" kern="1200">
                <a:solidFill>
                  <a:schemeClr val="tx1"/>
                </a:solidFill>
                <a:latin typeface="FandolSong" panose="00000500000000000000" charset="-122"/>
                <a:ea typeface="FandolSong" panose="00000500000000000000" charset="-122"/>
                <a:cs typeface="+mn-cs"/>
              </a:defRPr>
            </a:lvl3pPr>
            <a:lvl4pPr marL="16002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1800" kern="1200">
                <a:solidFill>
                  <a:schemeClr val="tx1"/>
                </a:solidFill>
                <a:latin typeface="FandolSong" panose="00000500000000000000" charset="-122"/>
                <a:ea typeface="FandolSong" panose="00000500000000000000" charset="-122"/>
                <a:cs typeface="+mn-cs"/>
              </a:defRPr>
            </a:lvl4pPr>
            <a:lvl5pPr marL="20574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1800" kern="1200">
                <a:solidFill>
                  <a:schemeClr val="tx1"/>
                </a:solidFill>
                <a:latin typeface="FandolSong" panose="00000500000000000000" charset="-122"/>
                <a:ea typeface="FandolSong" panose="00000500000000000000"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zh-CN" altLang="en-US" dirty="0">
                <a:solidFill>
                  <a:schemeClr val="tx1"/>
                </a:solidFill>
              </a:rPr>
              <a:t>问题求解</a:t>
            </a:r>
          </a:p>
          <a:p>
            <a:pPr lvl="1">
              <a:lnSpc>
                <a:spcPct val="110000"/>
              </a:lnSpc>
            </a:pPr>
            <a:r>
              <a:rPr lang="zh-CN" altLang="en-US" dirty="0"/>
              <a:t>最小子问题</a:t>
            </a:r>
          </a:p>
          <a:p>
            <a:pPr marL="457200" lvl="1" indent="0">
              <a:lnSpc>
                <a:spcPct val="110000"/>
              </a:lnSpc>
              <a:buNone/>
            </a:pPr>
            <a:r>
              <a:rPr lang="pt-BR" altLang="zh-CN" dirty="0"/>
              <a:t>hanoi</a:t>
            </a:r>
            <a:r>
              <a:rPr lang="en-US" altLang="zh-CN" dirty="0"/>
              <a:t>(1,</a:t>
            </a:r>
            <a:r>
              <a:rPr lang="pt-BR" altLang="zh-CN" dirty="0"/>
              <a:t>'a','b','c'</a:t>
            </a:r>
            <a:r>
              <a:rPr lang="en-US" altLang="zh-CN" dirty="0"/>
              <a:t>) </a:t>
            </a:r>
            <a:r>
              <a:rPr lang="en-US" altLang="zh-CN" dirty="0">
                <a:sym typeface="Wingdings" panose="05000000000000000000" pitchFamily="2" charset="2"/>
              </a:rPr>
              <a:t></a:t>
            </a:r>
            <a:r>
              <a:rPr lang="en-US" altLang="zh-CN" dirty="0"/>
              <a:t> move(1, </a:t>
            </a:r>
            <a:r>
              <a:rPr lang="pt-BR" altLang="zh-CN" dirty="0"/>
              <a:t>'a', 'c'</a:t>
            </a:r>
            <a:r>
              <a:rPr lang="en-US" altLang="zh-CN" dirty="0"/>
              <a:t>) </a:t>
            </a:r>
          </a:p>
          <a:p>
            <a:pPr lvl="1">
              <a:lnSpc>
                <a:spcPct val="110000"/>
              </a:lnSpc>
            </a:pPr>
            <a:r>
              <a:rPr lang="zh-CN" altLang="en-US" dirty="0"/>
              <a:t>验证 </a:t>
            </a:r>
            <a:r>
              <a:rPr lang="pt-BR" altLang="zh-CN" dirty="0"/>
              <a:t>hanoi</a:t>
            </a:r>
            <a:r>
              <a:rPr lang="en-US" altLang="zh-CN" dirty="0"/>
              <a:t>(2 ,</a:t>
            </a:r>
            <a:r>
              <a:rPr lang="pt-BR" altLang="zh-CN" dirty="0"/>
              <a:t>'a','b','c'</a:t>
            </a:r>
            <a:r>
              <a:rPr lang="en-US" altLang="zh-CN" dirty="0"/>
              <a:t>)</a:t>
            </a:r>
          </a:p>
          <a:p>
            <a:pPr marL="914400" lvl="2" indent="0">
              <a:lnSpc>
                <a:spcPct val="110000"/>
              </a:lnSpc>
              <a:buNone/>
            </a:pPr>
            <a:r>
              <a:rPr lang="pt-BR" altLang="zh-CN" dirty="0"/>
              <a:t>hanoi</a:t>
            </a:r>
            <a:r>
              <a:rPr lang="en-US" altLang="zh-CN" dirty="0"/>
              <a:t>(1,</a:t>
            </a:r>
            <a:r>
              <a:rPr lang="pt-BR" altLang="zh-CN" dirty="0"/>
              <a:t>'a','</a:t>
            </a:r>
            <a:r>
              <a:rPr lang="en-US" altLang="zh-CN" dirty="0"/>
              <a:t>c</a:t>
            </a:r>
            <a:r>
              <a:rPr lang="pt-BR" altLang="zh-CN" dirty="0"/>
              <a:t>','</a:t>
            </a:r>
            <a:r>
              <a:rPr lang="en-US" altLang="zh-CN" dirty="0"/>
              <a:t>b</a:t>
            </a:r>
            <a:r>
              <a:rPr lang="pt-BR" altLang="zh-CN" dirty="0"/>
              <a:t>’) </a:t>
            </a:r>
            <a:r>
              <a:rPr lang="en-US" altLang="zh-CN" dirty="0">
                <a:sym typeface="Wingdings" panose="05000000000000000000" pitchFamily="2" charset="2"/>
              </a:rPr>
              <a:t> move(1, 'a', 'b')   </a:t>
            </a:r>
            <a:r>
              <a:rPr lang="zh-CN" altLang="en-US" dirty="0">
                <a:sym typeface="Wingdings" panose="05000000000000000000" pitchFamily="2" charset="2"/>
              </a:rPr>
              <a:t>周转</a:t>
            </a:r>
            <a:endParaRPr lang="en-US" altLang="zh-CN" dirty="0">
              <a:sym typeface="Wingdings" panose="05000000000000000000" pitchFamily="2" charset="2"/>
            </a:endParaRPr>
          </a:p>
          <a:p>
            <a:pPr marL="914400" lvl="2" indent="0">
              <a:lnSpc>
                <a:spcPct val="110000"/>
              </a:lnSpc>
              <a:buNone/>
            </a:pPr>
            <a:r>
              <a:rPr lang="en-US" altLang="zh-CN" dirty="0">
                <a:sym typeface="Wingdings" panose="05000000000000000000" pitchFamily="2" charset="2"/>
              </a:rPr>
              <a:t>move(2,</a:t>
            </a:r>
            <a:r>
              <a:rPr lang="pt-BR" altLang="zh-CN" dirty="0"/>
              <a:t> 'a', 'c') </a:t>
            </a:r>
          </a:p>
          <a:p>
            <a:pPr marL="914400" lvl="2" indent="0">
              <a:lnSpc>
                <a:spcPct val="110000"/>
              </a:lnSpc>
              <a:buNone/>
            </a:pPr>
            <a:r>
              <a:rPr lang="pt-BR" altLang="zh-CN" dirty="0"/>
              <a:t>hanoi</a:t>
            </a:r>
            <a:r>
              <a:rPr lang="en-US" altLang="zh-CN" dirty="0"/>
              <a:t>(1,</a:t>
            </a:r>
            <a:r>
              <a:rPr lang="pt-BR" altLang="zh-CN" dirty="0"/>
              <a:t>'b','</a:t>
            </a:r>
            <a:r>
              <a:rPr lang="en-US" altLang="zh-CN" dirty="0"/>
              <a:t>a</a:t>
            </a:r>
            <a:r>
              <a:rPr lang="pt-BR" altLang="zh-CN" dirty="0"/>
              <a:t>','</a:t>
            </a:r>
            <a:r>
              <a:rPr lang="en-US" altLang="zh-CN" dirty="0"/>
              <a:t>c</a:t>
            </a:r>
            <a:r>
              <a:rPr lang="pt-BR" altLang="zh-CN" dirty="0"/>
              <a:t>') </a:t>
            </a:r>
            <a:r>
              <a:rPr lang="en-US" altLang="zh-CN" dirty="0">
                <a:sym typeface="Wingdings" panose="05000000000000000000" pitchFamily="2" charset="2"/>
              </a:rPr>
              <a:t> move(1, 'b', 'c') </a:t>
            </a:r>
            <a:r>
              <a:rPr lang="zh-CN" altLang="en-US" dirty="0">
                <a:sym typeface="Wingdings" panose="05000000000000000000" pitchFamily="2" charset="2"/>
              </a:rPr>
              <a:t>盖在 </a:t>
            </a:r>
            <a:r>
              <a:rPr lang="en-US" altLang="zh-CN" dirty="0">
                <a:sym typeface="Wingdings" panose="05000000000000000000" pitchFamily="2" charset="2"/>
              </a:rPr>
              <a:t>2 </a:t>
            </a:r>
            <a:r>
              <a:rPr lang="zh-CN" altLang="en-US" dirty="0">
                <a:sym typeface="Wingdings" panose="05000000000000000000" pitchFamily="2" charset="2"/>
              </a:rPr>
              <a:t>上</a:t>
            </a:r>
            <a:endParaRPr lang="en-US" altLang="zh-CN" dirty="0">
              <a:sym typeface="Wingdings" panose="05000000000000000000" pitchFamily="2" charset="2"/>
            </a:endParaRPr>
          </a:p>
          <a:p>
            <a:pPr lvl="1">
              <a:lnSpc>
                <a:spcPct val="110000"/>
              </a:lnSpc>
            </a:pPr>
            <a:r>
              <a:rPr lang="zh-CN" altLang="en-US" dirty="0"/>
              <a:t>分解问题</a:t>
            </a:r>
          </a:p>
          <a:p>
            <a:pPr marL="457200" lvl="1" indent="0">
              <a:lnSpc>
                <a:spcPct val="110000"/>
              </a:lnSpc>
              <a:buNone/>
            </a:pPr>
            <a:r>
              <a:rPr lang="pt-BR" altLang="zh-CN" dirty="0"/>
              <a:t>hanoi(n,'a','b','c');</a:t>
            </a:r>
          </a:p>
          <a:p>
            <a:pPr marL="914400" lvl="2" indent="0">
              <a:lnSpc>
                <a:spcPct val="110000"/>
              </a:lnSpc>
              <a:buNone/>
            </a:pPr>
            <a:r>
              <a:rPr lang="pt-BR" altLang="zh-CN" dirty="0"/>
              <a:t>hanoi(n-1, a, c, b);</a:t>
            </a:r>
            <a:r>
              <a:rPr lang="en-US" altLang="zh-CN" dirty="0"/>
              <a:t>  </a:t>
            </a:r>
            <a:r>
              <a:rPr lang="zh-CN" altLang="en-US" dirty="0"/>
              <a:t>以 </a:t>
            </a:r>
            <a:r>
              <a:rPr lang="en-US" altLang="zh-CN" dirty="0"/>
              <a:t>c </a:t>
            </a:r>
            <a:r>
              <a:rPr lang="zh-CN" altLang="en-US" dirty="0"/>
              <a:t>为中转，把 </a:t>
            </a:r>
            <a:r>
              <a:rPr lang="en-US" altLang="zh-CN" dirty="0"/>
              <a:t>n-1 </a:t>
            </a:r>
            <a:r>
              <a:rPr lang="zh-CN" altLang="en-US" dirty="0"/>
              <a:t>个盘子从</a:t>
            </a:r>
            <a:r>
              <a:rPr lang="en-US" altLang="zh-CN" dirty="0"/>
              <a:t> a</a:t>
            </a:r>
            <a:r>
              <a:rPr lang="zh-CN" altLang="en-US" dirty="0"/>
              <a:t>柱</a:t>
            </a:r>
            <a:r>
              <a:rPr lang="en-US" altLang="zh-CN" dirty="0"/>
              <a:t> </a:t>
            </a:r>
            <a:r>
              <a:rPr lang="zh-CN" altLang="en-US" dirty="0"/>
              <a:t>移到 周转柱子 上</a:t>
            </a:r>
            <a:endParaRPr lang="en-US" altLang="zh-CN" dirty="0"/>
          </a:p>
          <a:p>
            <a:pPr marL="914400" lvl="2" indent="0">
              <a:lnSpc>
                <a:spcPct val="110000"/>
              </a:lnSpc>
              <a:buNone/>
            </a:pPr>
            <a:r>
              <a:rPr lang="en-US" altLang="zh-CN" dirty="0"/>
              <a:t>move(n, a, c);         </a:t>
            </a:r>
            <a:r>
              <a:rPr lang="zh-CN" altLang="en-US" dirty="0"/>
              <a:t>把 </a:t>
            </a:r>
            <a:r>
              <a:rPr lang="en-US" altLang="zh-CN" dirty="0"/>
              <a:t>a</a:t>
            </a:r>
            <a:r>
              <a:rPr lang="zh-CN" altLang="en-US" dirty="0"/>
              <a:t>上的编号为</a:t>
            </a:r>
            <a:r>
              <a:rPr lang="en-US" altLang="zh-CN" dirty="0"/>
              <a:t>n</a:t>
            </a:r>
            <a:r>
              <a:rPr lang="zh-CN" altLang="en-US" dirty="0"/>
              <a:t>（最大）的盘子移到 目标柱子 上</a:t>
            </a:r>
            <a:endParaRPr lang="en-US" altLang="zh-CN" dirty="0"/>
          </a:p>
          <a:p>
            <a:pPr marL="914400" lvl="2" indent="0">
              <a:lnSpc>
                <a:spcPct val="110000"/>
              </a:lnSpc>
              <a:buNone/>
            </a:pPr>
            <a:r>
              <a:rPr lang="pt-BR" altLang="zh-CN" dirty="0"/>
              <a:t>hanoi(n-1, b, a, c);</a:t>
            </a:r>
            <a:r>
              <a:rPr lang="en-US" altLang="zh-CN" dirty="0"/>
              <a:t>  </a:t>
            </a:r>
            <a:r>
              <a:rPr lang="zh-CN" altLang="en-US" dirty="0"/>
              <a:t>以 </a:t>
            </a:r>
            <a:r>
              <a:rPr lang="en-US" altLang="zh-CN" dirty="0"/>
              <a:t>a </a:t>
            </a:r>
            <a:r>
              <a:rPr lang="zh-CN" altLang="en-US" dirty="0"/>
              <a:t>为中转，把 </a:t>
            </a:r>
            <a:r>
              <a:rPr lang="en-US" altLang="zh-CN" dirty="0"/>
              <a:t>n-1</a:t>
            </a:r>
            <a:r>
              <a:rPr lang="zh-CN" altLang="en-US" dirty="0"/>
              <a:t>个盘子从 周转柱子 移到 目标柱子 上</a:t>
            </a:r>
            <a:endParaRPr lang="en-US" altLang="zh-CN" dirty="0"/>
          </a:p>
          <a:p>
            <a:pPr marL="914400" lvl="2" indent="0">
              <a:lnSpc>
                <a:spcPct val="110000"/>
              </a:lnSpc>
              <a:buNone/>
            </a:pPr>
            <a:endParaRPr lang="en-US" altLang="zh-CN" dirty="0"/>
          </a:p>
          <a:p>
            <a:pPr marL="457200" lvl="1" indent="0">
              <a:buNone/>
            </a:pPr>
            <a:endParaRPr lang="zh-CN" altLang="en-US" dirty="0">
              <a:solidFill>
                <a:schemeClr val="tx1"/>
              </a:solidFill>
            </a:endParaRPr>
          </a:p>
        </p:txBody>
      </p:sp>
    </p:spTree>
    <p:extLst>
      <p:ext uri="{BB962C8B-B14F-4D97-AF65-F5344CB8AC3E}">
        <p14:creationId xmlns:p14="http://schemas.microsoft.com/office/powerpoint/2010/main" val="286997221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right)">
                                      <p:cBhvr>
                                        <p:cTn id="7" dur="500"/>
                                        <p:tgtEl>
                                          <p:spTgt spid="34"/>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barn(inVertical)">
                                      <p:cBhvr>
                                        <p:cTn id="11" dur="500"/>
                                        <p:tgtEl>
                                          <p:spTgt spid="51"/>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2" fill="hold" nodeType="clickEffect">
                                  <p:stCondLst>
                                    <p:cond delay="0"/>
                                  </p:stCondLst>
                                  <p:childTnLst>
                                    <p:set>
                                      <p:cBhvr>
                                        <p:cTn id="15" dur="1" fill="hold">
                                          <p:stCondLst>
                                            <p:cond delay="0"/>
                                          </p:stCondLst>
                                        </p:cTn>
                                        <p:tgtEl>
                                          <p:spTgt spid="4">
                                            <p:txEl>
                                              <p:pRg st="8" end="8"/>
                                            </p:txEl>
                                          </p:spTgt>
                                        </p:tgtEl>
                                        <p:attrNameLst>
                                          <p:attrName>style.visibility</p:attrName>
                                        </p:attrNameLst>
                                      </p:cBhvr>
                                      <p:to>
                                        <p:strVal val="visible"/>
                                      </p:to>
                                    </p:set>
                                    <p:anim calcmode="lin" valueType="num">
                                      <p:cBhvr additive="base">
                                        <p:cTn id="16" dur="500" fill="hold"/>
                                        <p:tgtEl>
                                          <p:spTgt spid="4">
                                            <p:txEl>
                                              <p:pRg st="8" end="8"/>
                                            </p:txEl>
                                          </p:spTgt>
                                        </p:tgtEl>
                                        <p:attrNameLst>
                                          <p:attrName>ppt_x</p:attrName>
                                        </p:attrNameLst>
                                      </p:cBhvr>
                                      <p:tavLst>
                                        <p:tav tm="0">
                                          <p:val>
                                            <p:strVal val="1+#ppt_w/2"/>
                                          </p:val>
                                        </p:tav>
                                        <p:tav tm="100000">
                                          <p:val>
                                            <p:strVal val="#ppt_x"/>
                                          </p:val>
                                        </p:tav>
                                      </p:tavLst>
                                    </p:anim>
                                    <p:anim calcmode="lin" valueType="num">
                                      <p:cBhvr additive="base">
                                        <p:cTn id="17" dur="500" fill="hold"/>
                                        <p:tgtEl>
                                          <p:spTgt spid="4">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nodeType="clickEffect">
                                  <p:stCondLst>
                                    <p:cond delay="0"/>
                                  </p:stCondLst>
                                  <p:childTnLst>
                                    <p:set>
                                      <p:cBhvr>
                                        <p:cTn id="21" dur="1" fill="hold">
                                          <p:stCondLst>
                                            <p:cond delay="0"/>
                                          </p:stCondLst>
                                        </p:cTn>
                                        <p:tgtEl>
                                          <p:spTgt spid="4">
                                            <p:txEl>
                                              <p:pRg st="9" end="9"/>
                                            </p:txEl>
                                          </p:spTgt>
                                        </p:tgtEl>
                                        <p:attrNameLst>
                                          <p:attrName>style.visibility</p:attrName>
                                        </p:attrNameLst>
                                      </p:cBhvr>
                                      <p:to>
                                        <p:strVal val="visible"/>
                                      </p:to>
                                    </p:set>
                                    <p:anim calcmode="lin" valueType="num">
                                      <p:cBhvr additive="base">
                                        <p:cTn id="22" dur="500" fill="hold"/>
                                        <p:tgtEl>
                                          <p:spTgt spid="4">
                                            <p:txEl>
                                              <p:pRg st="9" end="9"/>
                                            </p:txEl>
                                          </p:spTgt>
                                        </p:tgtEl>
                                        <p:attrNameLst>
                                          <p:attrName>ppt_x</p:attrName>
                                        </p:attrNameLst>
                                      </p:cBhvr>
                                      <p:tavLst>
                                        <p:tav tm="0">
                                          <p:val>
                                            <p:strVal val="1+#ppt_w/2"/>
                                          </p:val>
                                        </p:tav>
                                        <p:tav tm="100000">
                                          <p:val>
                                            <p:strVal val="#ppt_x"/>
                                          </p:val>
                                        </p:tav>
                                      </p:tavLst>
                                    </p:anim>
                                    <p:anim calcmode="lin" valueType="num">
                                      <p:cBhvr additive="base">
                                        <p:cTn id="23" dur="500" fill="hold"/>
                                        <p:tgtEl>
                                          <p:spTgt spid="4">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nodeType="clickEffect">
                                  <p:stCondLst>
                                    <p:cond delay="0"/>
                                  </p:stCondLst>
                                  <p:childTnLst>
                                    <p:set>
                                      <p:cBhvr>
                                        <p:cTn id="27" dur="1" fill="hold">
                                          <p:stCondLst>
                                            <p:cond delay="0"/>
                                          </p:stCondLst>
                                        </p:cTn>
                                        <p:tgtEl>
                                          <p:spTgt spid="4">
                                            <p:txEl>
                                              <p:pRg st="10" end="10"/>
                                            </p:txEl>
                                          </p:spTgt>
                                        </p:tgtEl>
                                        <p:attrNameLst>
                                          <p:attrName>style.visibility</p:attrName>
                                        </p:attrNameLst>
                                      </p:cBhvr>
                                      <p:to>
                                        <p:strVal val="visible"/>
                                      </p:to>
                                    </p:set>
                                    <p:anim calcmode="lin" valueType="num">
                                      <p:cBhvr additive="base">
                                        <p:cTn id="28" dur="500" fill="hold"/>
                                        <p:tgtEl>
                                          <p:spTgt spid="4">
                                            <p:txEl>
                                              <p:pRg st="10" end="10"/>
                                            </p:txEl>
                                          </p:spTgt>
                                        </p:tgtEl>
                                        <p:attrNameLst>
                                          <p:attrName>ppt_x</p:attrName>
                                        </p:attrNameLst>
                                      </p:cBhvr>
                                      <p:tavLst>
                                        <p:tav tm="0">
                                          <p:val>
                                            <p:strVal val="1+#ppt_w/2"/>
                                          </p:val>
                                        </p:tav>
                                        <p:tav tm="100000">
                                          <p:val>
                                            <p:strVal val="#ppt_x"/>
                                          </p:val>
                                        </p:tav>
                                      </p:tavLst>
                                    </p:anim>
                                    <p:anim calcmode="lin" valueType="num">
                                      <p:cBhvr additive="base">
                                        <p:cTn id="29" dur="500" fill="hold"/>
                                        <p:tgtEl>
                                          <p:spTgt spid="4">
                                            <p:txEl>
                                              <p:pRg st="10" end="10"/>
                                            </p:txEl>
                                          </p:spTgt>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2" fill="hold" nodeType="clickEffect">
                                  <p:stCondLst>
                                    <p:cond delay="0"/>
                                  </p:stCondLst>
                                  <p:childTnLst>
                                    <p:set>
                                      <p:cBhvr>
                                        <p:cTn id="33" dur="1" fill="hold">
                                          <p:stCondLst>
                                            <p:cond delay="0"/>
                                          </p:stCondLst>
                                        </p:cTn>
                                        <p:tgtEl>
                                          <p:spTgt spid="4">
                                            <p:txEl>
                                              <p:pRg st="11" end="11"/>
                                            </p:txEl>
                                          </p:spTgt>
                                        </p:tgtEl>
                                        <p:attrNameLst>
                                          <p:attrName>style.visibility</p:attrName>
                                        </p:attrNameLst>
                                      </p:cBhvr>
                                      <p:to>
                                        <p:strVal val="visible"/>
                                      </p:to>
                                    </p:set>
                                    <p:anim calcmode="lin" valueType="num">
                                      <p:cBhvr additive="base">
                                        <p:cTn id="34" dur="500" fill="hold"/>
                                        <p:tgtEl>
                                          <p:spTgt spid="4">
                                            <p:txEl>
                                              <p:pRg st="11" end="11"/>
                                            </p:txEl>
                                          </p:spTgt>
                                        </p:tgtEl>
                                        <p:attrNameLst>
                                          <p:attrName>ppt_x</p:attrName>
                                        </p:attrNameLst>
                                      </p:cBhvr>
                                      <p:tavLst>
                                        <p:tav tm="0">
                                          <p:val>
                                            <p:strVal val="1+#ppt_w/2"/>
                                          </p:val>
                                        </p:tav>
                                        <p:tav tm="100000">
                                          <p:val>
                                            <p:strVal val="#ppt_x"/>
                                          </p:val>
                                        </p:tav>
                                      </p:tavLst>
                                    </p:anim>
                                    <p:anim calcmode="lin" valueType="num">
                                      <p:cBhvr additive="base">
                                        <p:cTn id="35" dur="500" fill="hold"/>
                                        <p:tgtEl>
                                          <p:spTgt spid="4">
                                            <p:txEl>
                                              <p:pRg st="11" end="1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参考程序：汉诺塔</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5" name="文本框 4">
            <a:extLst>
              <a:ext uri="{FF2B5EF4-FFF2-40B4-BE49-F238E27FC236}">
                <a16:creationId xmlns:a16="http://schemas.microsoft.com/office/drawing/2014/main" id="{0BC0F4C8-E016-45FC-910F-824FFAEBAFA1}"/>
              </a:ext>
            </a:extLst>
          </p:cNvPr>
          <p:cNvSpPr txBox="1"/>
          <p:nvPr/>
        </p:nvSpPr>
        <p:spPr>
          <a:xfrm>
            <a:off x="6381135" y="1583845"/>
            <a:ext cx="5094514" cy="5078313"/>
          </a:xfrm>
          <a:prstGeom prst="rect">
            <a:avLst/>
          </a:prstGeom>
          <a:noFill/>
          <a:ln>
            <a:solidFill>
              <a:schemeClr val="bg1">
                <a:lumMod val="75000"/>
              </a:schemeClr>
            </a:solidFill>
          </a:ln>
        </p:spPr>
        <p:txBody>
          <a:bodyPr wrap="square" rtlCol="0">
            <a:spAutoFit/>
          </a:bodyPr>
          <a:lstStyle/>
          <a:p>
            <a:r>
              <a:rPr lang="en-US" altLang="zh-CN" b="0" dirty="0">
                <a:solidFill>
                  <a:srgbClr val="AF00DB"/>
                </a:solidFill>
                <a:effectLst/>
                <a:latin typeface="Consolas" panose="020B0609020204030204" pitchFamily="49" charset="0"/>
              </a:rPr>
              <a:t>#include</a:t>
            </a:r>
            <a:r>
              <a:rPr lang="en-US" altLang="zh-CN" b="0" dirty="0">
                <a:solidFill>
                  <a:srgbClr val="0000FF"/>
                </a:solidFill>
                <a:effectLst/>
                <a:latin typeface="Consolas" panose="020B0609020204030204" pitchFamily="49" charset="0"/>
              </a:rPr>
              <a:t> </a:t>
            </a:r>
            <a:r>
              <a:rPr lang="en-US" altLang="zh-CN" b="0" dirty="0">
                <a:solidFill>
                  <a:srgbClr val="A31515"/>
                </a:solidFill>
                <a:effectLst/>
                <a:latin typeface="Consolas" panose="020B0609020204030204" pitchFamily="49" charset="0"/>
              </a:rPr>
              <a:t>&lt;</a:t>
            </a:r>
            <a:r>
              <a:rPr lang="en-US" altLang="zh-CN" b="0" dirty="0" err="1">
                <a:solidFill>
                  <a:srgbClr val="A31515"/>
                </a:solidFill>
                <a:effectLst/>
                <a:latin typeface="Consolas" panose="020B0609020204030204" pitchFamily="49" charset="0"/>
              </a:rPr>
              <a:t>stdio.h</a:t>
            </a:r>
            <a:r>
              <a:rPr lang="en-US" altLang="zh-CN" b="0" dirty="0">
                <a:solidFill>
                  <a:srgbClr val="A31515"/>
                </a:solidFill>
                <a:effectLst/>
                <a:latin typeface="Consolas" panose="020B0609020204030204" pitchFamily="49" charset="0"/>
              </a:rPr>
              <a:t>&gt;</a:t>
            </a:r>
            <a:endParaRPr lang="en-US" altLang="zh-CN" sz="1100" b="0" dirty="0">
              <a:solidFill>
                <a:srgbClr val="000000"/>
              </a:solidFill>
              <a:effectLst/>
              <a:latin typeface="Consolas" panose="020B0609020204030204" pitchFamily="49" charset="0"/>
            </a:endParaRPr>
          </a:p>
          <a:p>
            <a:br>
              <a:rPr lang="en-US" altLang="zh-CN" sz="1100" b="0" dirty="0">
                <a:solidFill>
                  <a:srgbClr val="000000"/>
                </a:solidFill>
                <a:effectLst/>
                <a:latin typeface="Consolas" panose="020B0609020204030204" pitchFamily="49" charset="0"/>
              </a:rPr>
            </a:b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声明函数</a:t>
            </a:r>
            <a:r>
              <a:rPr lang="en-US" altLang="zh-CN" b="0" dirty="0">
                <a:solidFill>
                  <a:srgbClr val="008000"/>
                </a:solidFill>
                <a:effectLst/>
                <a:latin typeface="Consolas" panose="020B0609020204030204" pitchFamily="49" charset="0"/>
              </a:rPr>
              <a:t>, </a:t>
            </a:r>
            <a:r>
              <a:rPr lang="zh-CN" altLang="en-US" b="0" dirty="0">
                <a:solidFill>
                  <a:srgbClr val="008000"/>
                </a:solidFill>
                <a:effectLst/>
                <a:latin typeface="Consolas" panose="020B0609020204030204" pitchFamily="49" charset="0"/>
              </a:rPr>
              <a:t>其中 </a:t>
            </a:r>
            <a:r>
              <a:rPr lang="en-US" altLang="zh-CN" b="0" dirty="0" err="1">
                <a:solidFill>
                  <a:srgbClr val="008000"/>
                </a:solidFill>
                <a:effectLst/>
                <a:latin typeface="Consolas" panose="020B0609020204030204" pitchFamily="49" charset="0"/>
              </a:rPr>
              <a:t>a,b,c</a:t>
            </a:r>
            <a:r>
              <a:rPr lang="en-US" altLang="zh-CN" b="0" dirty="0">
                <a:solidFill>
                  <a:srgbClr val="008000"/>
                </a:solidFill>
                <a:effectLst/>
                <a:latin typeface="Consolas" panose="020B0609020204030204" pitchFamily="49" charset="0"/>
              </a:rPr>
              <a:t> </a:t>
            </a:r>
            <a:r>
              <a:rPr lang="zh-CN" altLang="en-US" b="0" dirty="0">
                <a:solidFill>
                  <a:srgbClr val="008000"/>
                </a:solidFill>
                <a:effectLst/>
                <a:latin typeface="Consolas" panose="020B0609020204030204" pitchFamily="49" charset="0"/>
              </a:rPr>
              <a:t>是柱子编号，用</a:t>
            </a:r>
            <a:r>
              <a:rPr lang="en-US" altLang="zh-CN" b="0" dirty="0">
                <a:solidFill>
                  <a:srgbClr val="008000"/>
                </a:solidFill>
                <a:effectLst/>
                <a:latin typeface="Consolas" panose="020B0609020204030204" pitchFamily="49" charset="0"/>
              </a:rPr>
              <a:t>'</a:t>
            </a:r>
            <a:r>
              <a:rPr lang="en-US" altLang="zh-CN" b="0" dirty="0" err="1">
                <a:solidFill>
                  <a:srgbClr val="008000"/>
                </a:solidFill>
                <a:effectLst/>
                <a:latin typeface="Consolas" panose="020B0609020204030204" pitchFamily="49" charset="0"/>
              </a:rPr>
              <a:t>a','b','c</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表示</a:t>
            </a:r>
            <a:endParaRPr lang="zh-CN" altLang="en-US" b="0" dirty="0">
              <a:solidFill>
                <a:srgbClr val="000000"/>
              </a:solidFill>
              <a:effectLst/>
              <a:latin typeface="Consolas" panose="020B0609020204030204" pitchFamily="49" charset="0"/>
            </a:endParaRPr>
          </a:p>
          <a:p>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hanoi</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n</a:t>
            </a:r>
            <a:r>
              <a:rPr lang="en-US" altLang="zh-CN" b="0" dirty="0" err="1">
                <a:solidFill>
                  <a:srgbClr val="000000"/>
                </a:solidFill>
                <a:effectLst/>
                <a:latin typeface="Consolas" panose="020B0609020204030204" pitchFamily="49" charset="0"/>
              </a:rPr>
              <a:t>,</a:t>
            </a:r>
            <a:r>
              <a:rPr lang="en-US" altLang="zh-CN" b="0" dirty="0" err="1">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a</a:t>
            </a:r>
            <a:r>
              <a:rPr lang="en-US" altLang="zh-CN" b="0" dirty="0" err="1">
                <a:solidFill>
                  <a:srgbClr val="000000"/>
                </a:solidFill>
                <a:effectLst/>
                <a:latin typeface="Consolas" panose="020B0609020204030204" pitchFamily="49" charset="0"/>
              </a:rPr>
              <a:t>,</a:t>
            </a:r>
            <a:r>
              <a:rPr lang="en-US" altLang="zh-CN" b="0" dirty="0" err="1">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b</a:t>
            </a:r>
            <a:r>
              <a:rPr lang="en-US" altLang="zh-CN" b="0" dirty="0" err="1">
                <a:solidFill>
                  <a:srgbClr val="000000"/>
                </a:solidFill>
                <a:effectLst/>
                <a:latin typeface="Consolas" panose="020B0609020204030204" pitchFamily="49" charset="0"/>
              </a:rPr>
              <a:t>,</a:t>
            </a:r>
            <a:r>
              <a:rPr lang="en-US" altLang="zh-CN" b="0" dirty="0" err="1">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c</a:t>
            </a:r>
            <a:r>
              <a:rPr lang="en-US" altLang="zh-CN" b="0" dirty="0">
                <a:solidFill>
                  <a:srgbClr val="000000"/>
                </a:solidFill>
                <a:effectLst/>
                <a:latin typeface="Consolas" panose="020B0609020204030204" pitchFamily="49" charset="0"/>
              </a:rPr>
              <a:t>);</a:t>
            </a:r>
          </a:p>
          <a:p>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move</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n</a:t>
            </a:r>
            <a:r>
              <a:rPr lang="en-US" altLang="zh-CN" b="0" dirty="0" err="1">
                <a:solidFill>
                  <a:srgbClr val="000000"/>
                </a:solidFill>
                <a:effectLst/>
                <a:latin typeface="Consolas" panose="020B0609020204030204" pitchFamily="49" charset="0"/>
              </a:rPr>
              <a:t>,</a:t>
            </a:r>
            <a:r>
              <a:rPr lang="en-US" altLang="zh-CN" b="0" dirty="0" err="1">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b</a:t>
            </a:r>
            <a:r>
              <a:rPr lang="en-US" altLang="zh-CN" b="0" dirty="0">
                <a:solidFill>
                  <a:srgbClr val="000000"/>
                </a:solidFill>
                <a:effectLst/>
                <a:latin typeface="Consolas" panose="020B0609020204030204" pitchFamily="49" charset="0"/>
              </a:rPr>
              <a:t>);</a:t>
            </a:r>
            <a:endParaRPr lang="en-US" altLang="zh-CN" sz="1100" b="0" dirty="0">
              <a:solidFill>
                <a:srgbClr val="000000"/>
              </a:solidFill>
              <a:effectLst/>
              <a:latin typeface="Consolas" panose="020B0609020204030204" pitchFamily="49" charset="0"/>
            </a:endParaRPr>
          </a:p>
          <a:p>
            <a:br>
              <a:rPr lang="en-US" altLang="zh-CN" sz="1100" b="0" dirty="0">
                <a:solidFill>
                  <a:srgbClr val="000000"/>
                </a:solidFill>
                <a:effectLst/>
                <a:latin typeface="Consolas" panose="020B0609020204030204" pitchFamily="49" charset="0"/>
              </a:rPr>
            </a:b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main</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n</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scanf</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d</a:t>
            </a:r>
            <a:r>
              <a:rPr lang="en-US" altLang="zh-CN" b="0" dirty="0" err="1">
                <a:solidFill>
                  <a:srgbClr val="A31515"/>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,&amp;</a:t>
            </a:r>
            <a:r>
              <a:rPr lang="en-US" altLang="zh-CN" b="0" dirty="0" err="1">
                <a:solidFill>
                  <a:srgbClr val="001080"/>
                </a:solidFill>
                <a:effectLst/>
                <a:latin typeface="Consolas" panose="020B0609020204030204" pitchFamily="49" charset="0"/>
              </a:rPr>
              <a:t>n</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hanoi</a:t>
            </a:r>
            <a:r>
              <a:rPr lang="en-US" altLang="zh-CN" b="0" dirty="0">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n</a:t>
            </a:r>
            <a:r>
              <a:rPr lang="en-US" altLang="zh-CN" b="0" dirty="0" err="1">
                <a:solidFill>
                  <a:srgbClr val="000000"/>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'a'</a:t>
            </a:r>
            <a:r>
              <a:rPr lang="en-US" altLang="zh-CN" b="0" dirty="0" err="1">
                <a:solidFill>
                  <a:srgbClr val="000000"/>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'b'</a:t>
            </a:r>
            <a:r>
              <a:rPr lang="en-US" altLang="zh-CN" b="0" dirty="0" err="1">
                <a:solidFill>
                  <a:srgbClr val="000000"/>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'c</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return</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endParaRPr lang="en-US" altLang="zh-CN" sz="1100" b="0" dirty="0">
              <a:solidFill>
                <a:srgbClr val="000000"/>
              </a:solidFill>
              <a:effectLst/>
              <a:latin typeface="Consolas" panose="020B0609020204030204" pitchFamily="49" charset="0"/>
            </a:endParaRPr>
          </a:p>
          <a:p>
            <a:br>
              <a:rPr lang="en-US" altLang="zh-CN" sz="1100" b="0" dirty="0">
                <a:solidFill>
                  <a:srgbClr val="000000"/>
                </a:solidFill>
                <a:effectLst/>
                <a:latin typeface="Consolas" panose="020B0609020204030204" pitchFamily="49" charset="0"/>
              </a:rPr>
            </a:br>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move</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n</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b</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printf</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"move </a:t>
            </a:r>
            <a:r>
              <a:rPr lang="en-US" altLang="zh-CN" b="0" dirty="0">
                <a:solidFill>
                  <a:srgbClr val="001080"/>
                </a:solidFill>
                <a:effectLst/>
                <a:latin typeface="Consolas" panose="020B0609020204030204" pitchFamily="49" charset="0"/>
              </a:rPr>
              <a:t>%d</a:t>
            </a:r>
            <a:r>
              <a:rPr lang="en-US" altLang="zh-CN" b="0" dirty="0">
                <a:solidFill>
                  <a:srgbClr val="A31515"/>
                </a:solidFill>
                <a:effectLst/>
                <a:latin typeface="Consolas" panose="020B0609020204030204" pitchFamily="49" charset="0"/>
              </a:rPr>
              <a:t> from </a:t>
            </a:r>
            <a:r>
              <a:rPr lang="en-US" altLang="zh-CN" b="0" dirty="0">
                <a:solidFill>
                  <a:srgbClr val="001080"/>
                </a:solidFill>
                <a:effectLst/>
                <a:latin typeface="Consolas" panose="020B0609020204030204" pitchFamily="49" charset="0"/>
              </a:rPr>
              <a:t>%c</a:t>
            </a:r>
            <a:r>
              <a:rPr lang="en-US" altLang="zh-CN" b="0" dirty="0">
                <a:solidFill>
                  <a:srgbClr val="A31515"/>
                </a:solidFill>
                <a:effectLst/>
                <a:latin typeface="Consolas" panose="020B0609020204030204" pitchFamily="49" charset="0"/>
              </a:rPr>
              <a:t> to </a:t>
            </a:r>
            <a:r>
              <a:rPr lang="en-US" altLang="zh-CN" b="0" dirty="0">
                <a:solidFill>
                  <a:srgbClr val="001080"/>
                </a:solidFill>
                <a:effectLst/>
                <a:latin typeface="Consolas" panose="020B0609020204030204" pitchFamily="49" charset="0"/>
              </a:rPr>
              <a:t>%c</a:t>
            </a:r>
            <a:r>
              <a:rPr lang="en-US" altLang="zh-CN" b="0" dirty="0">
                <a:solidFill>
                  <a:srgbClr val="EE0000"/>
                </a:solidFill>
                <a:effectLst/>
                <a:latin typeface="Consolas" panose="020B0609020204030204" pitchFamily="49" charset="0"/>
              </a:rPr>
              <a:t>\n</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n</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b</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p:txBody>
      </p:sp>
      <p:sp>
        <p:nvSpPr>
          <p:cNvPr id="7" name="文本框 6">
            <a:extLst>
              <a:ext uri="{FF2B5EF4-FFF2-40B4-BE49-F238E27FC236}">
                <a16:creationId xmlns:a16="http://schemas.microsoft.com/office/drawing/2014/main" id="{5F87C7F8-20F2-4937-AF13-DD794FE1891C}"/>
              </a:ext>
            </a:extLst>
          </p:cNvPr>
          <p:cNvSpPr txBox="1"/>
          <p:nvPr/>
        </p:nvSpPr>
        <p:spPr>
          <a:xfrm>
            <a:off x="1001486" y="1689377"/>
            <a:ext cx="5094514" cy="2585323"/>
          </a:xfrm>
          <a:prstGeom prst="rect">
            <a:avLst/>
          </a:prstGeom>
          <a:noFill/>
          <a:ln>
            <a:solidFill>
              <a:schemeClr val="bg1">
                <a:lumMod val="75000"/>
              </a:schemeClr>
            </a:solidFill>
          </a:ln>
        </p:spPr>
        <p:txBody>
          <a:bodyPr wrap="square" rtlCol="0">
            <a:spAutoFit/>
          </a:bodyPr>
          <a:lstStyle/>
          <a:p>
            <a:r>
              <a:rPr lang="pt-BR" altLang="zh-CN" b="0" dirty="0">
                <a:solidFill>
                  <a:srgbClr val="0000FF"/>
                </a:solidFill>
                <a:effectLst/>
                <a:latin typeface="Consolas" panose="020B0609020204030204" pitchFamily="49" charset="0"/>
              </a:rPr>
              <a:t>void</a:t>
            </a:r>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hanoi</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b</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r>
              <a:rPr lang="pt-BR" altLang="zh-CN" b="0" dirty="0">
                <a:solidFill>
                  <a:srgbClr val="AF00DB"/>
                </a:solidFill>
                <a:effectLst/>
                <a:latin typeface="Consolas" panose="020B0609020204030204" pitchFamily="49" charset="0"/>
              </a:rPr>
              <a:t>if</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98658"/>
                </a:solidFill>
                <a:effectLst/>
                <a:latin typeface="Consolas" panose="020B0609020204030204" pitchFamily="49" charset="0"/>
              </a:rPr>
              <a:t>1</a:t>
            </a:r>
            <a:r>
              <a:rPr lang="pt-BR" altLang="zh-CN" b="0" dirty="0">
                <a:solidFill>
                  <a:srgbClr val="000000"/>
                </a:solidFill>
                <a:effectLst/>
                <a:latin typeface="Consolas" panose="020B0609020204030204" pitchFamily="49" charset="0"/>
              </a:rPr>
              <a:t>) {</a:t>
            </a:r>
          </a:p>
          <a:p>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move</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r>
              <a:rPr lang="pt-BR" altLang="zh-CN" b="0" dirty="0">
                <a:solidFill>
                  <a:srgbClr val="AF00DB"/>
                </a:solidFill>
                <a:effectLst/>
                <a:latin typeface="Consolas" panose="020B0609020204030204" pitchFamily="49" charset="0"/>
              </a:rPr>
              <a:t>return</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p>
          <a:p>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hanoi</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98658"/>
                </a:solidFill>
                <a:effectLst/>
                <a:latin typeface="Consolas" panose="020B0609020204030204" pitchFamily="49" charset="0"/>
              </a:rPr>
              <a:t>1</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b</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move</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hanoi</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98658"/>
                </a:solidFill>
                <a:effectLst/>
                <a:latin typeface="Consolas" panose="020B0609020204030204" pitchFamily="49" charset="0"/>
              </a:rPr>
              <a:t>1</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b</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a:t>
            </a:r>
          </a:p>
        </p:txBody>
      </p:sp>
      <p:sp>
        <p:nvSpPr>
          <p:cNvPr id="2" name="文本框 1">
            <a:extLst>
              <a:ext uri="{FF2B5EF4-FFF2-40B4-BE49-F238E27FC236}">
                <a16:creationId xmlns:a16="http://schemas.microsoft.com/office/drawing/2014/main" id="{6FA463A4-B598-5D94-B788-1D29B26DC06C}"/>
              </a:ext>
            </a:extLst>
          </p:cNvPr>
          <p:cNvSpPr txBox="1"/>
          <p:nvPr/>
        </p:nvSpPr>
        <p:spPr>
          <a:xfrm>
            <a:off x="1001487" y="4835951"/>
            <a:ext cx="5094514" cy="1477328"/>
          </a:xfrm>
          <a:prstGeom prst="rect">
            <a:avLst/>
          </a:prstGeom>
          <a:noFill/>
        </p:spPr>
        <p:txBody>
          <a:bodyPr wrap="square" rtlCol="0">
            <a:spAutoFit/>
          </a:bodyPr>
          <a:lstStyle/>
          <a:p>
            <a:r>
              <a:rPr lang="zh-CN" altLang="en-US" dirty="0"/>
              <a:t>这么简单？请输入 </a:t>
            </a:r>
            <a:r>
              <a:rPr lang="en-US" altLang="zh-CN" dirty="0"/>
              <a:t>1</a:t>
            </a:r>
            <a:r>
              <a:rPr lang="zh-CN" altLang="en-US" dirty="0"/>
              <a:t>，</a:t>
            </a:r>
            <a:r>
              <a:rPr lang="en-US" altLang="zh-CN" dirty="0"/>
              <a:t>2</a:t>
            </a:r>
            <a:r>
              <a:rPr lang="zh-CN" altLang="en-US" dirty="0"/>
              <a:t>，</a:t>
            </a:r>
            <a:r>
              <a:rPr lang="en-US" altLang="zh-CN" dirty="0"/>
              <a:t>3 </a:t>
            </a:r>
            <a:r>
              <a:rPr lang="zh-CN" altLang="en-US" dirty="0"/>
              <a:t>分别测试，并用自然语言解释 </a:t>
            </a:r>
            <a:r>
              <a:rPr lang="en-US" altLang="zh-CN" dirty="0"/>
              <a:t>3 </a:t>
            </a:r>
            <a:r>
              <a:rPr lang="zh-CN" altLang="en-US" dirty="0"/>
              <a:t>结果。</a:t>
            </a:r>
            <a:endParaRPr lang="en-US" altLang="zh-CN" dirty="0"/>
          </a:p>
          <a:p>
            <a:endParaRPr lang="en-US" altLang="zh-CN" dirty="0">
              <a:solidFill>
                <a:srgbClr val="C00000"/>
              </a:solidFill>
            </a:endParaRPr>
          </a:p>
          <a:p>
            <a:r>
              <a:rPr lang="zh-CN" altLang="en-US" dirty="0">
                <a:solidFill>
                  <a:srgbClr val="C00000"/>
                </a:solidFill>
              </a:rPr>
              <a:t>注意：右边程序在测评系统中是不可以修改的，甚至（不给钱）不给你查看。</a:t>
            </a:r>
            <a:endParaRPr lang="en-US" altLang="zh-CN" dirty="0">
              <a:solidFill>
                <a:srgbClr val="C00000"/>
              </a:solidFill>
            </a:endParaRPr>
          </a:p>
        </p:txBody>
      </p:sp>
    </p:spTree>
    <p:extLst>
      <p:ext uri="{BB962C8B-B14F-4D97-AF65-F5344CB8AC3E}">
        <p14:creationId xmlns:p14="http://schemas.microsoft.com/office/powerpoint/2010/main" val="187728836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right)">
                                      <p:cBhvr>
                                        <p:cTn id="7" dur="500"/>
                                        <p:tgtEl>
                                          <p:spTgt spid="34"/>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barn(inVertical)">
                                      <p:cBhvr>
                                        <p:cTn id="11"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199DF174-8C7C-4F77-B69A-E0218B344EA2}"/>
              </a:ext>
            </a:extLst>
          </p:cNvPr>
          <p:cNvSpPr>
            <a:spLocks noGrp="1" noChangeArrowheads="1"/>
          </p:cNvSpPr>
          <p:nvPr>
            <p:ph type="title" idx="4294967295"/>
          </p:nvPr>
        </p:nvSpPr>
        <p:spPr>
          <a:xfrm>
            <a:off x="1903001" y="908050"/>
            <a:ext cx="7848600" cy="635000"/>
          </a:xfrm>
        </p:spPr>
        <p:txBody>
          <a:bodyPr>
            <a:normAutofit fontScale="90000"/>
          </a:bodyPr>
          <a:lstStyle/>
          <a:p>
            <a:pPr eaLnBrk="1" hangingPunct="1"/>
            <a:r>
              <a:rPr lang="zh-CN" altLang="zh-CN" b="0" dirty="0"/>
              <a:t>算法</a:t>
            </a:r>
          </a:p>
        </p:txBody>
      </p:sp>
      <p:sp>
        <p:nvSpPr>
          <p:cNvPr id="44035" name="Rectangle 3">
            <a:extLst>
              <a:ext uri="{FF2B5EF4-FFF2-40B4-BE49-F238E27FC236}">
                <a16:creationId xmlns:a16="http://schemas.microsoft.com/office/drawing/2014/main" id="{5EE59B8E-3C8E-4368-BA95-2D93326FB179}"/>
              </a:ext>
            </a:extLst>
          </p:cNvPr>
          <p:cNvSpPr>
            <a:spLocks noGrp="1" noChangeArrowheads="1"/>
          </p:cNvSpPr>
          <p:nvPr>
            <p:ph type="body" idx="4294967295"/>
          </p:nvPr>
        </p:nvSpPr>
        <p:spPr>
          <a:xfrm>
            <a:off x="2284413" y="1835150"/>
            <a:ext cx="7772400" cy="4114800"/>
          </a:xfrm>
        </p:spPr>
        <p:txBody>
          <a:bodyPr>
            <a:normAutofit/>
          </a:bodyPr>
          <a:lstStyle/>
          <a:p>
            <a:pPr marL="1371600" lvl="2" indent="-457200">
              <a:lnSpc>
                <a:spcPct val="140000"/>
              </a:lnSpc>
            </a:pPr>
            <a:r>
              <a:rPr lang="zh-CN" altLang="en-US" sz="2800" b="1" dirty="0"/>
              <a:t>将</a:t>
            </a:r>
            <a:r>
              <a:rPr lang="en-US" altLang="zh-CN" sz="2800" b="1" dirty="0"/>
              <a:t>n-1</a:t>
            </a:r>
            <a:r>
              <a:rPr lang="zh-CN" altLang="en-US" sz="2800" b="1" dirty="0"/>
              <a:t>个盘从</a:t>
            </a:r>
            <a:r>
              <a:rPr lang="en-US" altLang="zh-CN" sz="2800" b="1" dirty="0"/>
              <a:t>A</a:t>
            </a:r>
            <a:r>
              <a:rPr lang="zh-CN" altLang="en-US" sz="2800" b="1" dirty="0"/>
              <a:t>柱移到</a:t>
            </a:r>
            <a:r>
              <a:rPr lang="en-US" altLang="zh-CN" sz="2800" b="1" dirty="0"/>
              <a:t>B</a:t>
            </a:r>
            <a:r>
              <a:rPr lang="zh-CN" altLang="en-US" sz="2800" b="1" dirty="0"/>
              <a:t>柱</a:t>
            </a:r>
          </a:p>
          <a:p>
            <a:pPr marL="1371600" lvl="2" indent="-457200">
              <a:lnSpc>
                <a:spcPct val="140000"/>
              </a:lnSpc>
            </a:pPr>
            <a:r>
              <a:rPr lang="zh-CN" altLang="en-US" sz="2800" b="1" dirty="0"/>
              <a:t>将第</a:t>
            </a:r>
            <a:r>
              <a:rPr lang="en-US" altLang="zh-CN" sz="2800" b="1" dirty="0"/>
              <a:t>n</a:t>
            </a:r>
            <a:r>
              <a:rPr lang="zh-CN" altLang="en-US" sz="2800" b="1" dirty="0"/>
              <a:t>个盘从</a:t>
            </a:r>
            <a:r>
              <a:rPr lang="en-US" altLang="zh-CN" sz="2800" b="1" dirty="0"/>
              <a:t>A</a:t>
            </a:r>
            <a:r>
              <a:rPr lang="zh-CN" altLang="en-US" sz="2800" b="1" dirty="0"/>
              <a:t>柱移到</a:t>
            </a:r>
            <a:r>
              <a:rPr lang="en-US" altLang="zh-CN" sz="2800" b="1" dirty="0"/>
              <a:t>C</a:t>
            </a:r>
            <a:r>
              <a:rPr lang="zh-CN" altLang="en-US" sz="2800" b="1" dirty="0"/>
              <a:t>柱</a:t>
            </a:r>
          </a:p>
          <a:p>
            <a:pPr marL="1371600" lvl="2" indent="-457200">
              <a:lnSpc>
                <a:spcPct val="140000"/>
              </a:lnSpc>
            </a:pPr>
            <a:r>
              <a:rPr lang="zh-CN" altLang="en-US" sz="2800" b="1" dirty="0"/>
              <a:t>将</a:t>
            </a:r>
            <a:r>
              <a:rPr lang="en-US" altLang="zh-CN" sz="2800" b="1" dirty="0"/>
              <a:t>n-1</a:t>
            </a:r>
            <a:r>
              <a:rPr lang="zh-CN" altLang="en-US" sz="2800" b="1" dirty="0"/>
              <a:t>个盘从</a:t>
            </a:r>
            <a:r>
              <a:rPr lang="en-US" altLang="zh-CN" sz="2800" b="1" dirty="0"/>
              <a:t>B</a:t>
            </a:r>
            <a:r>
              <a:rPr lang="zh-CN" altLang="en-US" sz="2800" b="1" dirty="0"/>
              <a:t>柱移到</a:t>
            </a:r>
            <a:r>
              <a:rPr lang="en-US" altLang="zh-CN" sz="2800" b="1" dirty="0"/>
              <a:t>C</a:t>
            </a:r>
            <a:r>
              <a:rPr lang="zh-CN" altLang="en-US" sz="2800" b="1" dirty="0"/>
              <a:t>柱</a:t>
            </a:r>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3E87BE0E-8CA3-4964-AB30-229C2FBAFC60}"/>
              </a:ext>
            </a:extLst>
          </p:cNvPr>
          <p:cNvSpPr>
            <a:spLocks noGrp="1" noChangeArrowheads="1"/>
          </p:cNvSpPr>
          <p:nvPr>
            <p:ph type="title" idx="4294967295"/>
          </p:nvPr>
        </p:nvSpPr>
        <p:spPr>
          <a:xfrm>
            <a:off x="2208213" y="260350"/>
            <a:ext cx="7848600" cy="635000"/>
          </a:xfrm>
        </p:spPr>
        <p:txBody>
          <a:bodyPr>
            <a:normAutofit fontScale="90000"/>
          </a:bodyPr>
          <a:lstStyle/>
          <a:p>
            <a:pPr eaLnBrk="1" hangingPunct="1"/>
            <a:r>
              <a:rPr lang="zh-CN" altLang="zh-CN" b="0"/>
              <a:t>算法</a:t>
            </a:r>
          </a:p>
        </p:txBody>
      </p:sp>
      <p:sp>
        <p:nvSpPr>
          <p:cNvPr id="46083" name="AutoShape 3">
            <a:extLst>
              <a:ext uri="{FF2B5EF4-FFF2-40B4-BE49-F238E27FC236}">
                <a16:creationId xmlns:a16="http://schemas.microsoft.com/office/drawing/2014/main" id="{BB575A29-797A-4E75-B15A-7800633A1D30}"/>
              </a:ext>
            </a:extLst>
          </p:cNvPr>
          <p:cNvSpPr>
            <a:spLocks noChangeAspect="1" noChangeArrowheads="1"/>
          </p:cNvSpPr>
          <p:nvPr/>
        </p:nvSpPr>
        <p:spPr bwMode="auto">
          <a:xfrm>
            <a:off x="4870450" y="1701801"/>
            <a:ext cx="2668588" cy="119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6084" name="Rectangle 4">
            <a:extLst>
              <a:ext uri="{FF2B5EF4-FFF2-40B4-BE49-F238E27FC236}">
                <a16:creationId xmlns:a16="http://schemas.microsoft.com/office/drawing/2014/main" id="{F06116B5-691B-4768-9C96-98E8AD876D53}"/>
              </a:ext>
            </a:extLst>
          </p:cNvPr>
          <p:cNvSpPr>
            <a:spLocks noChangeArrowheads="1"/>
          </p:cNvSpPr>
          <p:nvPr/>
        </p:nvSpPr>
        <p:spPr bwMode="auto">
          <a:xfrm>
            <a:off x="5011738" y="1701801"/>
            <a:ext cx="69850" cy="1109663"/>
          </a:xfrm>
          <a:prstGeom prst="rect">
            <a:avLst/>
          </a:prstGeom>
          <a:noFill/>
          <a:ln w="63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6085" name="AutoShape 5">
            <a:extLst>
              <a:ext uri="{FF2B5EF4-FFF2-40B4-BE49-F238E27FC236}">
                <a16:creationId xmlns:a16="http://schemas.microsoft.com/office/drawing/2014/main" id="{2D9A11FD-5C40-475E-A25B-07C8040CC261}"/>
              </a:ext>
            </a:extLst>
          </p:cNvPr>
          <p:cNvSpPr>
            <a:spLocks noChangeArrowheads="1"/>
          </p:cNvSpPr>
          <p:nvPr/>
        </p:nvSpPr>
        <p:spPr bwMode="auto">
          <a:xfrm>
            <a:off x="5911850" y="2481263"/>
            <a:ext cx="687388" cy="133350"/>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6086" name="AutoShape 6">
            <a:extLst>
              <a:ext uri="{FF2B5EF4-FFF2-40B4-BE49-F238E27FC236}">
                <a16:creationId xmlns:a16="http://schemas.microsoft.com/office/drawing/2014/main" id="{FC75D32A-1F87-48F6-B2F2-EDCCA28984EC}"/>
              </a:ext>
            </a:extLst>
          </p:cNvPr>
          <p:cNvSpPr>
            <a:spLocks noChangeArrowheads="1"/>
          </p:cNvSpPr>
          <p:nvPr/>
        </p:nvSpPr>
        <p:spPr bwMode="auto">
          <a:xfrm>
            <a:off x="5843589" y="2613026"/>
            <a:ext cx="839787" cy="131763"/>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6087" name="AutoShape 7">
            <a:extLst>
              <a:ext uri="{FF2B5EF4-FFF2-40B4-BE49-F238E27FC236}">
                <a16:creationId xmlns:a16="http://schemas.microsoft.com/office/drawing/2014/main" id="{65C84BC6-8B19-4CDA-A8FA-96D1DFA54D80}"/>
              </a:ext>
            </a:extLst>
          </p:cNvPr>
          <p:cNvSpPr>
            <a:spLocks noChangeArrowheads="1"/>
          </p:cNvSpPr>
          <p:nvPr/>
        </p:nvSpPr>
        <p:spPr bwMode="auto">
          <a:xfrm>
            <a:off x="5988051" y="2349500"/>
            <a:ext cx="536575" cy="133350"/>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6088" name="Rectangle 8">
            <a:extLst>
              <a:ext uri="{FF2B5EF4-FFF2-40B4-BE49-F238E27FC236}">
                <a16:creationId xmlns:a16="http://schemas.microsoft.com/office/drawing/2014/main" id="{1A833AAE-545F-436F-9E71-1FBC42172D23}"/>
              </a:ext>
            </a:extLst>
          </p:cNvPr>
          <p:cNvSpPr>
            <a:spLocks noChangeArrowheads="1"/>
          </p:cNvSpPr>
          <p:nvPr/>
        </p:nvSpPr>
        <p:spPr bwMode="auto">
          <a:xfrm>
            <a:off x="6246814" y="1704975"/>
            <a:ext cx="77787" cy="1189038"/>
          </a:xfrm>
          <a:prstGeom prst="rect">
            <a:avLst/>
          </a:prstGeom>
          <a:noFill/>
          <a:ln w="63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6089" name="Rectangle 9">
            <a:extLst>
              <a:ext uri="{FF2B5EF4-FFF2-40B4-BE49-F238E27FC236}">
                <a16:creationId xmlns:a16="http://schemas.microsoft.com/office/drawing/2014/main" id="{5458AF4F-151E-487A-B1B2-293732F82FD1}"/>
              </a:ext>
            </a:extLst>
          </p:cNvPr>
          <p:cNvSpPr>
            <a:spLocks noChangeArrowheads="1"/>
          </p:cNvSpPr>
          <p:nvPr/>
        </p:nvSpPr>
        <p:spPr bwMode="auto">
          <a:xfrm>
            <a:off x="6918325" y="1674814"/>
            <a:ext cx="77788" cy="1189037"/>
          </a:xfrm>
          <a:prstGeom prst="rect">
            <a:avLst/>
          </a:prstGeom>
          <a:noFill/>
          <a:ln w="63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6090" name="Rectangle 10">
            <a:extLst>
              <a:ext uri="{FF2B5EF4-FFF2-40B4-BE49-F238E27FC236}">
                <a16:creationId xmlns:a16="http://schemas.microsoft.com/office/drawing/2014/main" id="{1CC3A4B0-D45C-4091-A57A-AB6C26DFA138}"/>
              </a:ext>
            </a:extLst>
          </p:cNvPr>
          <p:cNvSpPr>
            <a:spLocks noChangeArrowheads="1"/>
          </p:cNvSpPr>
          <p:nvPr/>
        </p:nvSpPr>
        <p:spPr bwMode="auto">
          <a:xfrm>
            <a:off x="4841876" y="1270001"/>
            <a:ext cx="360363"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a:latin typeface="Tahoma" panose="020B0604030504040204" pitchFamily="34" charset="0"/>
                <a:ea typeface="宋体" panose="02010600030101010101" pitchFamily="2" charset="-122"/>
              </a:rPr>
              <a:t>A</a:t>
            </a:r>
          </a:p>
        </p:txBody>
      </p:sp>
      <p:sp>
        <p:nvSpPr>
          <p:cNvPr id="46091" name="Rectangle 11">
            <a:extLst>
              <a:ext uri="{FF2B5EF4-FFF2-40B4-BE49-F238E27FC236}">
                <a16:creationId xmlns:a16="http://schemas.microsoft.com/office/drawing/2014/main" id="{FDB7B858-1CA1-4AB6-BA50-262F5302986D}"/>
              </a:ext>
            </a:extLst>
          </p:cNvPr>
          <p:cNvSpPr>
            <a:spLocks noChangeArrowheads="1"/>
          </p:cNvSpPr>
          <p:nvPr/>
        </p:nvSpPr>
        <p:spPr bwMode="auto">
          <a:xfrm>
            <a:off x="6103938" y="1270001"/>
            <a:ext cx="360362"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a:latin typeface="Tahoma" panose="020B0604030504040204" pitchFamily="34" charset="0"/>
                <a:ea typeface="宋体" panose="02010600030101010101" pitchFamily="2" charset="-122"/>
              </a:rPr>
              <a:t>B</a:t>
            </a:r>
          </a:p>
        </p:txBody>
      </p:sp>
      <p:sp>
        <p:nvSpPr>
          <p:cNvPr id="46092" name="Rectangle 12">
            <a:extLst>
              <a:ext uri="{FF2B5EF4-FFF2-40B4-BE49-F238E27FC236}">
                <a16:creationId xmlns:a16="http://schemas.microsoft.com/office/drawing/2014/main" id="{E51A7531-F1A3-4307-BB73-20A7F01CE62B}"/>
              </a:ext>
            </a:extLst>
          </p:cNvPr>
          <p:cNvSpPr>
            <a:spLocks noChangeArrowheads="1"/>
          </p:cNvSpPr>
          <p:nvPr/>
        </p:nvSpPr>
        <p:spPr bwMode="auto">
          <a:xfrm>
            <a:off x="6778626" y="1228726"/>
            <a:ext cx="360363"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a:latin typeface="Tahoma" panose="020B0604030504040204" pitchFamily="34" charset="0"/>
                <a:ea typeface="宋体" panose="02010600030101010101" pitchFamily="2" charset="-122"/>
              </a:rPr>
              <a:t>C</a:t>
            </a:r>
          </a:p>
        </p:txBody>
      </p:sp>
      <p:sp>
        <p:nvSpPr>
          <p:cNvPr id="46093" name="AutoShape 13">
            <a:extLst>
              <a:ext uri="{FF2B5EF4-FFF2-40B4-BE49-F238E27FC236}">
                <a16:creationId xmlns:a16="http://schemas.microsoft.com/office/drawing/2014/main" id="{A1B200EA-1F97-4901-905C-36F7DA042F67}"/>
              </a:ext>
            </a:extLst>
          </p:cNvPr>
          <p:cNvSpPr>
            <a:spLocks noChangeAspect="1" noChangeArrowheads="1"/>
          </p:cNvSpPr>
          <p:nvPr/>
        </p:nvSpPr>
        <p:spPr bwMode="auto">
          <a:xfrm>
            <a:off x="1774825" y="1630363"/>
            <a:ext cx="2668588"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6094" name="AutoShape 14">
            <a:extLst>
              <a:ext uri="{FF2B5EF4-FFF2-40B4-BE49-F238E27FC236}">
                <a16:creationId xmlns:a16="http://schemas.microsoft.com/office/drawing/2014/main" id="{D07326F4-4F7A-467D-B135-3853E0A17F69}"/>
              </a:ext>
            </a:extLst>
          </p:cNvPr>
          <p:cNvSpPr>
            <a:spLocks noChangeAspect="1" noChangeArrowheads="1"/>
          </p:cNvSpPr>
          <p:nvPr/>
        </p:nvSpPr>
        <p:spPr bwMode="auto">
          <a:xfrm>
            <a:off x="6386514" y="1763713"/>
            <a:ext cx="2668587"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6095" name="Rectangle 25">
            <a:extLst>
              <a:ext uri="{FF2B5EF4-FFF2-40B4-BE49-F238E27FC236}">
                <a16:creationId xmlns:a16="http://schemas.microsoft.com/office/drawing/2014/main" id="{7C8020FB-6A7D-4C95-AB06-E0CA5461A5E2}"/>
              </a:ext>
            </a:extLst>
          </p:cNvPr>
          <p:cNvSpPr>
            <a:spLocks noChangeArrowheads="1"/>
          </p:cNvSpPr>
          <p:nvPr/>
        </p:nvSpPr>
        <p:spPr bwMode="auto">
          <a:xfrm>
            <a:off x="1666876" y="1125539"/>
            <a:ext cx="2555875" cy="1800225"/>
          </a:xfrm>
          <a:prstGeom prst="rect">
            <a:avLst/>
          </a:prstGeom>
          <a:noFill/>
          <a:ln w="127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6096" name="Rectangle 26">
            <a:extLst>
              <a:ext uri="{FF2B5EF4-FFF2-40B4-BE49-F238E27FC236}">
                <a16:creationId xmlns:a16="http://schemas.microsoft.com/office/drawing/2014/main" id="{2DDFB3D0-8EA2-4825-9CB2-EAB5E64F2056}"/>
              </a:ext>
            </a:extLst>
          </p:cNvPr>
          <p:cNvSpPr>
            <a:spLocks noChangeArrowheads="1"/>
          </p:cNvSpPr>
          <p:nvPr/>
        </p:nvSpPr>
        <p:spPr bwMode="auto">
          <a:xfrm>
            <a:off x="4367213" y="1125539"/>
            <a:ext cx="2951162" cy="1800225"/>
          </a:xfrm>
          <a:prstGeom prst="rect">
            <a:avLst/>
          </a:prstGeom>
          <a:noFill/>
          <a:ln w="127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6097" name="AutoShape 28">
            <a:extLst>
              <a:ext uri="{FF2B5EF4-FFF2-40B4-BE49-F238E27FC236}">
                <a16:creationId xmlns:a16="http://schemas.microsoft.com/office/drawing/2014/main" id="{86934E65-5396-4F4F-95F5-4146ED94FF4E}"/>
              </a:ext>
            </a:extLst>
          </p:cNvPr>
          <p:cNvSpPr>
            <a:spLocks noChangeAspect="1" noChangeArrowheads="1"/>
          </p:cNvSpPr>
          <p:nvPr/>
        </p:nvSpPr>
        <p:spPr bwMode="auto">
          <a:xfrm>
            <a:off x="1738314" y="1589088"/>
            <a:ext cx="2668587"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6098" name="Rectangle 29">
            <a:extLst>
              <a:ext uri="{FF2B5EF4-FFF2-40B4-BE49-F238E27FC236}">
                <a16:creationId xmlns:a16="http://schemas.microsoft.com/office/drawing/2014/main" id="{2EA803FC-B282-4162-A280-82BA5CB24513}"/>
              </a:ext>
            </a:extLst>
          </p:cNvPr>
          <p:cNvSpPr>
            <a:spLocks noChangeArrowheads="1"/>
          </p:cNvSpPr>
          <p:nvPr/>
        </p:nvSpPr>
        <p:spPr bwMode="auto">
          <a:xfrm>
            <a:off x="2271713" y="1589089"/>
            <a:ext cx="114300" cy="719137"/>
          </a:xfrm>
          <a:prstGeom prst="rect">
            <a:avLst/>
          </a:prstGeom>
          <a:noFill/>
          <a:ln w="63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6099" name="AutoShape 30">
            <a:extLst>
              <a:ext uri="{FF2B5EF4-FFF2-40B4-BE49-F238E27FC236}">
                <a16:creationId xmlns:a16="http://schemas.microsoft.com/office/drawing/2014/main" id="{0A3BB131-3300-418F-82D3-DB8F5C0DA531}"/>
              </a:ext>
            </a:extLst>
          </p:cNvPr>
          <p:cNvSpPr>
            <a:spLocks noChangeArrowheads="1"/>
          </p:cNvSpPr>
          <p:nvPr/>
        </p:nvSpPr>
        <p:spPr bwMode="auto">
          <a:xfrm>
            <a:off x="1966914" y="2416175"/>
            <a:ext cx="687387" cy="133350"/>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6100" name="AutoShape 31">
            <a:extLst>
              <a:ext uri="{FF2B5EF4-FFF2-40B4-BE49-F238E27FC236}">
                <a16:creationId xmlns:a16="http://schemas.microsoft.com/office/drawing/2014/main" id="{D79CB1DE-5A1F-411B-BC89-850B13931C1A}"/>
              </a:ext>
            </a:extLst>
          </p:cNvPr>
          <p:cNvSpPr>
            <a:spLocks noChangeArrowheads="1"/>
          </p:cNvSpPr>
          <p:nvPr/>
        </p:nvSpPr>
        <p:spPr bwMode="auto">
          <a:xfrm>
            <a:off x="1898650" y="2547938"/>
            <a:ext cx="839788" cy="131762"/>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6101" name="AutoShape 32">
            <a:extLst>
              <a:ext uri="{FF2B5EF4-FFF2-40B4-BE49-F238E27FC236}">
                <a16:creationId xmlns:a16="http://schemas.microsoft.com/office/drawing/2014/main" id="{015A246E-9852-4FD9-BF47-E1B55EEBF3F8}"/>
              </a:ext>
            </a:extLst>
          </p:cNvPr>
          <p:cNvSpPr>
            <a:spLocks noChangeArrowheads="1"/>
          </p:cNvSpPr>
          <p:nvPr/>
        </p:nvSpPr>
        <p:spPr bwMode="auto">
          <a:xfrm>
            <a:off x="1814514" y="2679701"/>
            <a:ext cx="992187" cy="131763"/>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6102" name="AutoShape 33">
            <a:extLst>
              <a:ext uri="{FF2B5EF4-FFF2-40B4-BE49-F238E27FC236}">
                <a16:creationId xmlns:a16="http://schemas.microsoft.com/office/drawing/2014/main" id="{7D06F627-CA86-4D00-972C-348E31915770}"/>
              </a:ext>
            </a:extLst>
          </p:cNvPr>
          <p:cNvSpPr>
            <a:spLocks noChangeArrowheads="1"/>
          </p:cNvSpPr>
          <p:nvPr/>
        </p:nvSpPr>
        <p:spPr bwMode="auto">
          <a:xfrm>
            <a:off x="2043114" y="2284413"/>
            <a:ext cx="536575" cy="133350"/>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6103" name="Rectangle 34">
            <a:extLst>
              <a:ext uri="{FF2B5EF4-FFF2-40B4-BE49-F238E27FC236}">
                <a16:creationId xmlns:a16="http://schemas.microsoft.com/office/drawing/2014/main" id="{AC2E3909-5FC4-4022-8E29-1203338ACCF4}"/>
              </a:ext>
            </a:extLst>
          </p:cNvPr>
          <p:cNvSpPr>
            <a:spLocks noChangeArrowheads="1"/>
          </p:cNvSpPr>
          <p:nvPr/>
        </p:nvSpPr>
        <p:spPr bwMode="auto">
          <a:xfrm>
            <a:off x="3294064" y="1592264"/>
            <a:ext cx="77787" cy="1189037"/>
          </a:xfrm>
          <a:prstGeom prst="rect">
            <a:avLst/>
          </a:prstGeom>
          <a:noFill/>
          <a:ln w="63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6104" name="Rectangle 35">
            <a:extLst>
              <a:ext uri="{FF2B5EF4-FFF2-40B4-BE49-F238E27FC236}">
                <a16:creationId xmlns:a16="http://schemas.microsoft.com/office/drawing/2014/main" id="{E63BCC17-0565-49C5-BDE3-E055E458891F}"/>
              </a:ext>
            </a:extLst>
          </p:cNvPr>
          <p:cNvSpPr>
            <a:spLocks noChangeArrowheads="1"/>
          </p:cNvSpPr>
          <p:nvPr/>
        </p:nvSpPr>
        <p:spPr bwMode="auto">
          <a:xfrm>
            <a:off x="3970339" y="1624014"/>
            <a:ext cx="77787" cy="1189037"/>
          </a:xfrm>
          <a:prstGeom prst="rect">
            <a:avLst/>
          </a:prstGeom>
          <a:noFill/>
          <a:ln w="63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6105" name="Rectangle 36">
            <a:extLst>
              <a:ext uri="{FF2B5EF4-FFF2-40B4-BE49-F238E27FC236}">
                <a16:creationId xmlns:a16="http://schemas.microsoft.com/office/drawing/2014/main" id="{20AE217B-9E57-4ACD-9A52-54A5D22A4C6D}"/>
              </a:ext>
            </a:extLst>
          </p:cNvPr>
          <p:cNvSpPr>
            <a:spLocks noChangeArrowheads="1"/>
          </p:cNvSpPr>
          <p:nvPr/>
        </p:nvSpPr>
        <p:spPr bwMode="auto">
          <a:xfrm>
            <a:off x="2101851" y="1228726"/>
            <a:ext cx="360363"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a:latin typeface="Tahoma" panose="020B0604030504040204" pitchFamily="34" charset="0"/>
                <a:ea typeface="宋体" panose="02010600030101010101" pitchFamily="2" charset="-122"/>
              </a:rPr>
              <a:t>A</a:t>
            </a:r>
          </a:p>
        </p:txBody>
      </p:sp>
      <p:sp>
        <p:nvSpPr>
          <p:cNvPr id="46106" name="Rectangle 37">
            <a:extLst>
              <a:ext uri="{FF2B5EF4-FFF2-40B4-BE49-F238E27FC236}">
                <a16:creationId xmlns:a16="http://schemas.microsoft.com/office/drawing/2014/main" id="{0F085FB3-A78B-4A27-B9EB-C65498C584D7}"/>
              </a:ext>
            </a:extLst>
          </p:cNvPr>
          <p:cNvSpPr>
            <a:spLocks noChangeArrowheads="1"/>
          </p:cNvSpPr>
          <p:nvPr/>
        </p:nvSpPr>
        <p:spPr bwMode="auto">
          <a:xfrm>
            <a:off x="3143251" y="1228726"/>
            <a:ext cx="360363"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a:latin typeface="Tahoma" panose="020B0604030504040204" pitchFamily="34" charset="0"/>
                <a:ea typeface="宋体" panose="02010600030101010101" pitchFamily="2" charset="-122"/>
              </a:rPr>
              <a:t>B</a:t>
            </a:r>
          </a:p>
        </p:txBody>
      </p:sp>
      <p:sp>
        <p:nvSpPr>
          <p:cNvPr id="46107" name="Rectangle 38">
            <a:extLst>
              <a:ext uri="{FF2B5EF4-FFF2-40B4-BE49-F238E27FC236}">
                <a16:creationId xmlns:a16="http://schemas.microsoft.com/office/drawing/2014/main" id="{C80C9CD5-FEFA-48F7-870A-23E108ECC75C}"/>
              </a:ext>
            </a:extLst>
          </p:cNvPr>
          <p:cNvSpPr>
            <a:spLocks noChangeArrowheads="1"/>
          </p:cNvSpPr>
          <p:nvPr/>
        </p:nvSpPr>
        <p:spPr bwMode="auto">
          <a:xfrm>
            <a:off x="3830638" y="1227138"/>
            <a:ext cx="360362"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a:latin typeface="Tahoma" panose="020B0604030504040204" pitchFamily="34" charset="0"/>
                <a:ea typeface="宋体" panose="02010600030101010101" pitchFamily="2" charset="-122"/>
              </a:rPr>
              <a:t>C</a:t>
            </a:r>
          </a:p>
        </p:txBody>
      </p:sp>
      <p:sp>
        <p:nvSpPr>
          <p:cNvPr id="46108" name="AutoShape 61">
            <a:extLst>
              <a:ext uri="{FF2B5EF4-FFF2-40B4-BE49-F238E27FC236}">
                <a16:creationId xmlns:a16="http://schemas.microsoft.com/office/drawing/2014/main" id="{16D94339-69B4-44B8-B485-A9EA5ABB57B0}"/>
              </a:ext>
            </a:extLst>
          </p:cNvPr>
          <p:cNvSpPr>
            <a:spLocks noChangeArrowheads="1"/>
          </p:cNvSpPr>
          <p:nvPr/>
        </p:nvSpPr>
        <p:spPr bwMode="auto">
          <a:xfrm>
            <a:off x="4546600" y="2740026"/>
            <a:ext cx="992188" cy="131763"/>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6109" name="AutoShape 109">
            <a:extLst>
              <a:ext uri="{FF2B5EF4-FFF2-40B4-BE49-F238E27FC236}">
                <a16:creationId xmlns:a16="http://schemas.microsoft.com/office/drawing/2014/main" id="{F2C78D2D-E3D9-4017-9286-3E78543A2902}"/>
              </a:ext>
            </a:extLst>
          </p:cNvPr>
          <p:cNvSpPr>
            <a:spLocks noChangeAspect="1" noChangeArrowheads="1"/>
          </p:cNvSpPr>
          <p:nvPr/>
        </p:nvSpPr>
        <p:spPr bwMode="auto">
          <a:xfrm>
            <a:off x="7564439" y="1700213"/>
            <a:ext cx="2668587"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6110" name="Rectangle 110">
            <a:extLst>
              <a:ext uri="{FF2B5EF4-FFF2-40B4-BE49-F238E27FC236}">
                <a16:creationId xmlns:a16="http://schemas.microsoft.com/office/drawing/2014/main" id="{295115D0-7487-42E0-9033-697BE4743474}"/>
              </a:ext>
            </a:extLst>
          </p:cNvPr>
          <p:cNvSpPr>
            <a:spLocks noChangeArrowheads="1"/>
          </p:cNvSpPr>
          <p:nvPr/>
        </p:nvSpPr>
        <p:spPr bwMode="auto">
          <a:xfrm>
            <a:off x="7705725" y="1700213"/>
            <a:ext cx="69850" cy="1109662"/>
          </a:xfrm>
          <a:prstGeom prst="rect">
            <a:avLst/>
          </a:prstGeom>
          <a:noFill/>
          <a:ln w="63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6111" name="AutoShape 111">
            <a:extLst>
              <a:ext uri="{FF2B5EF4-FFF2-40B4-BE49-F238E27FC236}">
                <a16:creationId xmlns:a16="http://schemas.microsoft.com/office/drawing/2014/main" id="{355AE7D9-23ED-4A4B-B18E-DEB54CBC8D89}"/>
              </a:ext>
            </a:extLst>
          </p:cNvPr>
          <p:cNvSpPr>
            <a:spLocks noChangeArrowheads="1"/>
          </p:cNvSpPr>
          <p:nvPr/>
        </p:nvSpPr>
        <p:spPr bwMode="auto">
          <a:xfrm>
            <a:off x="8210550" y="2479675"/>
            <a:ext cx="687388" cy="133350"/>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6112" name="AutoShape 112">
            <a:extLst>
              <a:ext uri="{FF2B5EF4-FFF2-40B4-BE49-F238E27FC236}">
                <a16:creationId xmlns:a16="http://schemas.microsoft.com/office/drawing/2014/main" id="{F10D43C7-7A2E-4181-BD52-0C85C7D367BC}"/>
              </a:ext>
            </a:extLst>
          </p:cNvPr>
          <p:cNvSpPr>
            <a:spLocks noChangeArrowheads="1"/>
          </p:cNvSpPr>
          <p:nvPr/>
        </p:nvSpPr>
        <p:spPr bwMode="auto">
          <a:xfrm>
            <a:off x="8142289" y="2611438"/>
            <a:ext cx="839787" cy="131762"/>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6113" name="AutoShape 113">
            <a:extLst>
              <a:ext uri="{FF2B5EF4-FFF2-40B4-BE49-F238E27FC236}">
                <a16:creationId xmlns:a16="http://schemas.microsoft.com/office/drawing/2014/main" id="{0C53B09F-12B1-4030-BD9D-756EDE1D0592}"/>
              </a:ext>
            </a:extLst>
          </p:cNvPr>
          <p:cNvSpPr>
            <a:spLocks noChangeArrowheads="1"/>
          </p:cNvSpPr>
          <p:nvPr/>
        </p:nvSpPr>
        <p:spPr bwMode="auto">
          <a:xfrm>
            <a:off x="8286751" y="2347913"/>
            <a:ext cx="536575" cy="133350"/>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6114" name="Rectangle 114">
            <a:extLst>
              <a:ext uri="{FF2B5EF4-FFF2-40B4-BE49-F238E27FC236}">
                <a16:creationId xmlns:a16="http://schemas.microsoft.com/office/drawing/2014/main" id="{EB57C987-519B-4AAE-9809-C3E851A9B2B4}"/>
              </a:ext>
            </a:extLst>
          </p:cNvPr>
          <p:cNvSpPr>
            <a:spLocks noChangeArrowheads="1"/>
          </p:cNvSpPr>
          <p:nvPr/>
        </p:nvSpPr>
        <p:spPr bwMode="auto">
          <a:xfrm>
            <a:off x="8545514" y="1703389"/>
            <a:ext cx="77787" cy="1189037"/>
          </a:xfrm>
          <a:prstGeom prst="rect">
            <a:avLst/>
          </a:prstGeom>
          <a:noFill/>
          <a:ln w="63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6115" name="Rectangle 115">
            <a:extLst>
              <a:ext uri="{FF2B5EF4-FFF2-40B4-BE49-F238E27FC236}">
                <a16:creationId xmlns:a16="http://schemas.microsoft.com/office/drawing/2014/main" id="{9BC1897F-AA97-4EF5-8BE0-D26C0E6B476C}"/>
              </a:ext>
            </a:extLst>
          </p:cNvPr>
          <p:cNvSpPr>
            <a:spLocks noChangeArrowheads="1"/>
          </p:cNvSpPr>
          <p:nvPr/>
        </p:nvSpPr>
        <p:spPr bwMode="auto">
          <a:xfrm>
            <a:off x="9612314" y="1673225"/>
            <a:ext cx="77787" cy="1189038"/>
          </a:xfrm>
          <a:prstGeom prst="rect">
            <a:avLst/>
          </a:prstGeom>
          <a:noFill/>
          <a:ln w="63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6116" name="Rectangle 116">
            <a:extLst>
              <a:ext uri="{FF2B5EF4-FFF2-40B4-BE49-F238E27FC236}">
                <a16:creationId xmlns:a16="http://schemas.microsoft.com/office/drawing/2014/main" id="{3C1CCE42-4954-4468-8395-FFCEF5C210CA}"/>
              </a:ext>
            </a:extLst>
          </p:cNvPr>
          <p:cNvSpPr>
            <a:spLocks noChangeArrowheads="1"/>
          </p:cNvSpPr>
          <p:nvPr/>
        </p:nvSpPr>
        <p:spPr bwMode="auto">
          <a:xfrm>
            <a:off x="7535863" y="1268413"/>
            <a:ext cx="360362"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a:latin typeface="Tahoma" panose="020B0604030504040204" pitchFamily="34" charset="0"/>
                <a:ea typeface="宋体" panose="02010600030101010101" pitchFamily="2" charset="-122"/>
              </a:rPr>
              <a:t>A</a:t>
            </a:r>
          </a:p>
        </p:txBody>
      </p:sp>
      <p:sp>
        <p:nvSpPr>
          <p:cNvPr id="46117" name="Rectangle 117">
            <a:extLst>
              <a:ext uri="{FF2B5EF4-FFF2-40B4-BE49-F238E27FC236}">
                <a16:creationId xmlns:a16="http://schemas.microsoft.com/office/drawing/2014/main" id="{0048D0C1-3C1B-4312-8C8C-F99B98FD1CDD}"/>
              </a:ext>
            </a:extLst>
          </p:cNvPr>
          <p:cNvSpPr>
            <a:spLocks noChangeArrowheads="1"/>
          </p:cNvSpPr>
          <p:nvPr/>
        </p:nvSpPr>
        <p:spPr bwMode="auto">
          <a:xfrm>
            <a:off x="8402638" y="1268413"/>
            <a:ext cx="360362"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a:latin typeface="Tahoma" panose="020B0604030504040204" pitchFamily="34" charset="0"/>
                <a:ea typeface="宋体" panose="02010600030101010101" pitchFamily="2" charset="-122"/>
              </a:rPr>
              <a:t>B</a:t>
            </a:r>
          </a:p>
        </p:txBody>
      </p:sp>
      <p:sp>
        <p:nvSpPr>
          <p:cNvPr id="46118" name="Rectangle 118">
            <a:extLst>
              <a:ext uri="{FF2B5EF4-FFF2-40B4-BE49-F238E27FC236}">
                <a16:creationId xmlns:a16="http://schemas.microsoft.com/office/drawing/2014/main" id="{54A98A96-5919-4F08-8BBE-F8C95093C77D}"/>
              </a:ext>
            </a:extLst>
          </p:cNvPr>
          <p:cNvSpPr>
            <a:spLocks noChangeArrowheads="1"/>
          </p:cNvSpPr>
          <p:nvPr/>
        </p:nvSpPr>
        <p:spPr bwMode="auto">
          <a:xfrm>
            <a:off x="9472613" y="1227138"/>
            <a:ext cx="360362"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a:latin typeface="Tahoma" panose="020B0604030504040204" pitchFamily="34" charset="0"/>
                <a:ea typeface="宋体" panose="02010600030101010101" pitchFamily="2" charset="-122"/>
              </a:rPr>
              <a:t>C</a:t>
            </a:r>
          </a:p>
        </p:txBody>
      </p:sp>
      <p:sp>
        <p:nvSpPr>
          <p:cNvPr id="46119" name="Rectangle 119">
            <a:extLst>
              <a:ext uri="{FF2B5EF4-FFF2-40B4-BE49-F238E27FC236}">
                <a16:creationId xmlns:a16="http://schemas.microsoft.com/office/drawing/2014/main" id="{2F3FF9E0-4E15-4693-80DD-5C36BB301843}"/>
              </a:ext>
            </a:extLst>
          </p:cNvPr>
          <p:cNvSpPr>
            <a:spLocks noChangeArrowheads="1"/>
          </p:cNvSpPr>
          <p:nvPr/>
        </p:nvSpPr>
        <p:spPr bwMode="auto">
          <a:xfrm>
            <a:off x="7391401" y="1123951"/>
            <a:ext cx="3025775" cy="1800225"/>
          </a:xfrm>
          <a:prstGeom prst="rect">
            <a:avLst/>
          </a:prstGeom>
          <a:noFill/>
          <a:ln w="127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6120" name="AutoShape 120">
            <a:extLst>
              <a:ext uri="{FF2B5EF4-FFF2-40B4-BE49-F238E27FC236}">
                <a16:creationId xmlns:a16="http://schemas.microsoft.com/office/drawing/2014/main" id="{789E9548-E23A-40A3-AF22-61A0C2070967}"/>
              </a:ext>
            </a:extLst>
          </p:cNvPr>
          <p:cNvSpPr>
            <a:spLocks noChangeArrowheads="1"/>
          </p:cNvSpPr>
          <p:nvPr/>
        </p:nvSpPr>
        <p:spPr bwMode="auto">
          <a:xfrm>
            <a:off x="9166225" y="2738438"/>
            <a:ext cx="992188" cy="131762"/>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6121" name="Rectangle 121">
            <a:extLst>
              <a:ext uri="{FF2B5EF4-FFF2-40B4-BE49-F238E27FC236}">
                <a16:creationId xmlns:a16="http://schemas.microsoft.com/office/drawing/2014/main" id="{7D0DA55B-593E-4110-9F0D-A69D7C771C6C}"/>
              </a:ext>
            </a:extLst>
          </p:cNvPr>
          <p:cNvSpPr>
            <a:spLocks noChangeArrowheads="1"/>
          </p:cNvSpPr>
          <p:nvPr/>
        </p:nvSpPr>
        <p:spPr bwMode="auto">
          <a:xfrm>
            <a:off x="4712447" y="2997200"/>
            <a:ext cx="63350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sz="1800">
                <a:latin typeface="Times New Roman" panose="02020603050405020304" pitchFamily="18" charset="0"/>
                <a:ea typeface="宋体" panose="02010600030101010101" pitchFamily="2" charset="-122"/>
              </a:rPr>
              <a:t>from</a:t>
            </a:r>
            <a:endParaRPr lang="zh-CN" altLang="en-US" sz="1800">
              <a:latin typeface="Times New Roman" panose="02020603050405020304" pitchFamily="18" charset="0"/>
              <a:ea typeface="宋体" panose="02010600030101010101" pitchFamily="2" charset="-122"/>
            </a:endParaRPr>
          </a:p>
        </p:txBody>
      </p:sp>
      <p:sp>
        <p:nvSpPr>
          <p:cNvPr id="46122" name="Rectangle 122">
            <a:extLst>
              <a:ext uri="{FF2B5EF4-FFF2-40B4-BE49-F238E27FC236}">
                <a16:creationId xmlns:a16="http://schemas.microsoft.com/office/drawing/2014/main" id="{266E5506-EAF3-4079-A5CA-5091E4872FD7}"/>
              </a:ext>
            </a:extLst>
          </p:cNvPr>
          <p:cNvSpPr>
            <a:spLocks noChangeArrowheads="1"/>
          </p:cNvSpPr>
          <p:nvPr/>
        </p:nvSpPr>
        <p:spPr bwMode="auto">
          <a:xfrm>
            <a:off x="6793374" y="2990850"/>
            <a:ext cx="36420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sz="1800">
                <a:latin typeface="Times New Roman" panose="02020603050405020304" pitchFamily="18" charset="0"/>
                <a:ea typeface="宋体" panose="02010600030101010101" pitchFamily="2" charset="-122"/>
              </a:rPr>
              <a:t>to</a:t>
            </a:r>
          </a:p>
        </p:txBody>
      </p:sp>
      <p:sp>
        <p:nvSpPr>
          <p:cNvPr id="46123" name="Rectangle 123">
            <a:extLst>
              <a:ext uri="{FF2B5EF4-FFF2-40B4-BE49-F238E27FC236}">
                <a16:creationId xmlns:a16="http://schemas.microsoft.com/office/drawing/2014/main" id="{B6873551-C9B7-404B-8CC7-A46EF1CDF7BA}"/>
              </a:ext>
            </a:extLst>
          </p:cNvPr>
          <p:cNvSpPr>
            <a:spLocks noChangeArrowheads="1"/>
          </p:cNvSpPr>
          <p:nvPr/>
        </p:nvSpPr>
        <p:spPr bwMode="auto">
          <a:xfrm>
            <a:off x="6054443" y="2997200"/>
            <a:ext cx="51809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sz="1800">
                <a:latin typeface="Times New Roman" panose="02020603050405020304" pitchFamily="18" charset="0"/>
                <a:ea typeface="宋体" panose="02010600030101010101" pitchFamily="2" charset="-122"/>
              </a:rPr>
              <a:t>aux</a:t>
            </a:r>
          </a:p>
        </p:txBody>
      </p:sp>
      <p:sp>
        <p:nvSpPr>
          <p:cNvPr id="46124" name="AutoShape 124">
            <a:extLst>
              <a:ext uri="{FF2B5EF4-FFF2-40B4-BE49-F238E27FC236}">
                <a16:creationId xmlns:a16="http://schemas.microsoft.com/office/drawing/2014/main" id="{DAF4D598-FDA7-432A-9105-AD0FF2781A3D}"/>
              </a:ext>
            </a:extLst>
          </p:cNvPr>
          <p:cNvSpPr>
            <a:spLocks noChangeAspect="1" noChangeArrowheads="1"/>
          </p:cNvSpPr>
          <p:nvPr/>
        </p:nvSpPr>
        <p:spPr bwMode="auto">
          <a:xfrm>
            <a:off x="7564439" y="4437063"/>
            <a:ext cx="2668587"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6125" name="Rectangle 125">
            <a:extLst>
              <a:ext uri="{FF2B5EF4-FFF2-40B4-BE49-F238E27FC236}">
                <a16:creationId xmlns:a16="http://schemas.microsoft.com/office/drawing/2014/main" id="{00C17114-4D69-4E92-9E46-EDB4FB65E854}"/>
              </a:ext>
            </a:extLst>
          </p:cNvPr>
          <p:cNvSpPr>
            <a:spLocks noChangeArrowheads="1"/>
          </p:cNvSpPr>
          <p:nvPr/>
        </p:nvSpPr>
        <p:spPr bwMode="auto">
          <a:xfrm>
            <a:off x="7705725" y="4437063"/>
            <a:ext cx="69850" cy="1109662"/>
          </a:xfrm>
          <a:prstGeom prst="rect">
            <a:avLst/>
          </a:prstGeom>
          <a:noFill/>
          <a:ln w="63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6126" name="AutoShape 126">
            <a:extLst>
              <a:ext uri="{FF2B5EF4-FFF2-40B4-BE49-F238E27FC236}">
                <a16:creationId xmlns:a16="http://schemas.microsoft.com/office/drawing/2014/main" id="{E4258094-44E8-47C8-9B3D-0B8904C96150}"/>
              </a:ext>
            </a:extLst>
          </p:cNvPr>
          <p:cNvSpPr>
            <a:spLocks noChangeArrowheads="1"/>
          </p:cNvSpPr>
          <p:nvPr/>
        </p:nvSpPr>
        <p:spPr bwMode="auto">
          <a:xfrm>
            <a:off x="9285289" y="5216525"/>
            <a:ext cx="687387" cy="133350"/>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6127" name="AutoShape 127">
            <a:extLst>
              <a:ext uri="{FF2B5EF4-FFF2-40B4-BE49-F238E27FC236}">
                <a16:creationId xmlns:a16="http://schemas.microsoft.com/office/drawing/2014/main" id="{0F1B8882-54D8-4D98-AEB3-C1908E0D854B}"/>
              </a:ext>
            </a:extLst>
          </p:cNvPr>
          <p:cNvSpPr>
            <a:spLocks noChangeArrowheads="1"/>
          </p:cNvSpPr>
          <p:nvPr/>
        </p:nvSpPr>
        <p:spPr bwMode="auto">
          <a:xfrm>
            <a:off x="9217025" y="5348288"/>
            <a:ext cx="839788" cy="131762"/>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6128" name="AutoShape 128">
            <a:extLst>
              <a:ext uri="{FF2B5EF4-FFF2-40B4-BE49-F238E27FC236}">
                <a16:creationId xmlns:a16="http://schemas.microsoft.com/office/drawing/2014/main" id="{49144E92-9C55-4337-BC09-2BC589B98DF5}"/>
              </a:ext>
            </a:extLst>
          </p:cNvPr>
          <p:cNvSpPr>
            <a:spLocks noChangeArrowheads="1"/>
          </p:cNvSpPr>
          <p:nvPr/>
        </p:nvSpPr>
        <p:spPr bwMode="auto">
          <a:xfrm>
            <a:off x="9361489" y="5084763"/>
            <a:ext cx="536575" cy="133350"/>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6129" name="Rectangle 129">
            <a:extLst>
              <a:ext uri="{FF2B5EF4-FFF2-40B4-BE49-F238E27FC236}">
                <a16:creationId xmlns:a16="http://schemas.microsoft.com/office/drawing/2014/main" id="{4C4BB6A6-3A46-4B51-9999-C4578DFB2F57}"/>
              </a:ext>
            </a:extLst>
          </p:cNvPr>
          <p:cNvSpPr>
            <a:spLocks noChangeArrowheads="1"/>
          </p:cNvSpPr>
          <p:nvPr/>
        </p:nvSpPr>
        <p:spPr bwMode="auto">
          <a:xfrm>
            <a:off x="8545514" y="4440239"/>
            <a:ext cx="77787" cy="1189037"/>
          </a:xfrm>
          <a:prstGeom prst="rect">
            <a:avLst/>
          </a:prstGeom>
          <a:noFill/>
          <a:ln w="63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6130" name="Rectangle 130">
            <a:extLst>
              <a:ext uri="{FF2B5EF4-FFF2-40B4-BE49-F238E27FC236}">
                <a16:creationId xmlns:a16="http://schemas.microsoft.com/office/drawing/2014/main" id="{5FCE4179-E16F-4ED1-9796-93E1A6EC6CD0}"/>
              </a:ext>
            </a:extLst>
          </p:cNvPr>
          <p:cNvSpPr>
            <a:spLocks noChangeArrowheads="1"/>
          </p:cNvSpPr>
          <p:nvPr/>
        </p:nvSpPr>
        <p:spPr bwMode="auto">
          <a:xfrm>
            <a:off x="9612314" y="4410075"/>
            <a:ext cx="77787" cy="1189038"/>
          </a:xfrm>
          <a:prstGeom prst="rect">
            <a:avLst/>
          </a:prstGeom>
          <a:noFill/>
          <a:ln w="63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6131" name="Rectangle 131">
            <a:extLst>
              <a:ext uri="{FF2B5EF4-FFF2-40B4-BE49-F238E27FC236}">
                <a16:creationId xmlns:a16="http://schemas.microsoft.com/office/drawing/2014/main" id="{98696F8B-0791-463C-A445-BB539E2F2E00}"/>
              </a:ext>
            </a:extLst>
          </p:cNvPr>
          <p:cNvSpPr>
            <a:spLocks noChangeArrowheads="1"/>
          </p:cNvSpPr>
          <p:nvPr/>
        </p:nvSpPr>
        <p:spPr bwMode="auto">
          <a:xfrm>
            <a:off x="7535863" y="4005263"/>
            <a:ext cx="360362"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a:latin typeface="Tahoma" panose="020B0604030504040204" pitchFamily="34" charset="0"/>
                <a:ea typeface="宋体" panose="02010600030101010101" pitchFamily="2" charset="-122"/>
              </a:rPr>
              <a:t>A</a:t>
            </a:r>
          </a:p>
        </p:txBody>
      </p:sp>
      <p:sp>
        <p:nvSpPr>
          <p:cNvPr id="46132" name="Rectangle 132">
            <a:extLst>
              <a:ext uri="{FF2B5EF4-FFF2-40B4-BE49-F238E27FC236}">
                <a16:creationId xmlns:a16="http://schemas.microsoft.com/office/drawing/2014/main" id="{A372AD4C-5BF3-4142-ABC6-1B1B8AE71BED}"/>
              </a:ext>
            </a:extLst>
          </p:cNvPr>
          <p:cNvSpPr>
            <a:spLocks noChangeArrowheads="1"/>
          </p:cNvSpPr>
          <p:nvPr/>
        </p:nvSpPr>
        <p:spPr bwMode="auto">
          <a:xfrm>
            <a:off x="8402638" y="4005263"/>
            <a:ext cx="360362"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a:latin typeface="Tahoma" panose="020B0604030504040204" pitchFamily="34" charset="0"/>
                <a:ea typeface="宋体" panose="02010600030101010101" pitchFamily="2" charset="-122"/>
              </a:rPr>
              <a:t>B</a:t>
            </a:r>
          </a:p>
        </p:txBody>
      </p:sp>
      <p:sp>
        <p:nvSpPr>
          <p:cNvPr id="46133" name="Rectangle 133">
            <a:extLst>
              <a:ext uri="{FF2B5EF4-FFF2-40B4-BE49-F238E27FC236}">
                <a16:creationId xmlns:a16="http://schemas.microsoft.com/office/drawing/2014/main" id="{97F858BD-ADD9-44A3-B87B-E48CB870C29E}"/>
              </a:ext>
            </a:extLst>
          </p:cNvPr>
          <p:cNvSpPr>
            <a:spLocks noChangeArrowheads="1"/>
          </p:cNvSpPr>
          <p:nvPr/>
        </p:nvSpPr>
        <p:spPr bwMode="auto">
          <a:xfrm>
            <a:off x="9472613" y="3963988"/>
            <a:ext cx="360362"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a:latin typeface="Tahoma" panose="020B0604030504040204" pitchFamily="34" charset="0"/>
                <a:ea typeface="宋体" panose="02010600030101010101" pitchFamily="2" charset="-122"/>
              </a:rPr>
              <a:t>C</a:t>
            </a:r>
          </a:p>
        </p:txBody>
      </p:sp>
      <p:sp>
        <p:nvSpPr>
          <p:cNvPr id="46134" name="Rectangle 134">
            <a:extLst>
              <a:ext uri="{FF2B5EF4-FFF2-40B4-BE49-F238E27FC236}">
                <a16:creationId xmlns:a16="http://schemas.microsoft.com/office/drawing/2014/main" id="{053ADB2A-6796-44B5-9CC4-E14903056687}"/>
              </a:ext>
            </a:extLst>
          </p:cNvPr>
          <p:cNvSpPr>
            <a:spLocks noChangeArrowheads="1"/>
          </p:cNvSpPr>
          <p:nvPr/>
        </p:nvSpPr>
        <p:spPr bwMode="auto">
          <a:xfrm>
            <a:off x="7391401" y="3860801"/>
            <a:ext cx="3025775" cy="1800225"/>
          </a:xfrm>
          <a:prstGeom prst="rect">
            <a:avLst/>
          </a:prstGeom>
          <a:noFill/>
          <a:ln w="127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6135" name="AutoShape 135">
            <a:extLst>
              <a:ext uri="{FF2B5EF4-FFF2-40B4-BE49-F238E27FC236}">
                <a16:creationId xmlns:a16="http://schemas.microsoft.com/office/drawing/2014/main" id="{E383C6E9-D551-4F53-AC6B-B6F63B7BE047}"/>
              </a:ext>
            </a:extLst>
          </p:cNvPr>
          <p:cNvSpPr>
            <a:spLocks noChangeArrowheads="1"/>
          </p:cNvSpPr>
          <p:nvPr/>
        </p:nvSpPr>
        <p:spPr bwMode="auto">
          <a:xfrm>
            <a:off x="9166225" y="5475288"/>
            <a:ext cx="992188" cy="131762"/>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6136" name="Rectangle 139">
            <a:extLst>
              <a:ext uri="{FF2B5EF4-FFF2-40B4-BE49-F238E27FC236}">
                <a16:creationId xmlns:a16="http://schemas.microsoft.com/office/drawing/2014/main" id="{3CFA826D-824F-4752-814C-AD58B7E2CF7A}"/>
              </a:ext>
            </a:extLst>
          </p:cNvPr>
          <p:cNvSpPr>
            <a:spLocks noChangeArrowheads="1"/>
          </p:cNvSpPr>
          <p:nvPr/>
        </p:nvSpPr>
        <p:spPr bwMode="auto">
          <a:xfrm>
            <a:off x="2021635" y="3003550"/>
            <a:ext cx="63350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sz="1800">
                <a:latin typeface="Times New Roman" panose="02020603050405020304" pitchFamily="18" charset="0"/>
                <a:ea typeface="宋体" panose="02010600030101010101" pitchFamily="2" charset="-122"/>
              </a:rPr>
              <a:t>from</a:t>
            </a:r>
            <a:endParaRPr lang="zh-CN" altLang="en-US" sz="1800">
              <a:latin typeface="Times New Roman" panose="02020603050405020304" pitchFamily="18" charset="0"/>
              <a:ea typeface="宋体" panose="02010600030101010101" pitchFamily="2" charset="-122"/>
            </a:endParaRPr>
          </a:p>
        </p:txBody>
      </p:sp>
      <p:sp>
        <p:nvSpPr>
          <p:cNvPr id="46137" name="Rectangle 140">
            <a:extLst>
              <a:ext uri="{FF2B5EF4-FFF2-40B4-BE49-F238E27FC236}">
                <a16:creationId xmlns:a16="http://schemas.microsoft.com/office/drawing/2014/main" id="{D407C99D-447D-48D6-8EC3-0C4C4BE90B59}"/>
              </a:ext>
            </a:extLst>
          </p:cNvPr>
          <p:cNvSpPr>
            <a:spLocks noChangeArrowheads="1"/>
          </p:cNvSpPr>
          <p:nvPr/>
        </p:nvSpPr>
        <p:spPr bwMode="auto">
          <a:xfrm>
            <a:off x="3913649" y="2997200"/>
            <a:ext cx="36420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sz="1800">
                <a:latin typeface="Times New Roman" panose="02020603050405020304" pitchFamily="18" charset="0"/>
                <a:ea typeface="宋体" panose="02010600030101010101" pitchFamily="2" charset="-122"/>
              </a:rPr>
              <a:t>to</a:t>
            </a:r>
          </a:p>
        </p:txBody>
      </p:sp>
      <p:sp>
        <p:nvSpPr>
          <p:cNvPr id="46138" name="Rectangle 141">
            <a:extLst>
              <a:ext uri="{FF2B5EF4-FFF2-40B4-BE49-F238E27FC236}">
                <a16:creationId xmlns:a16="http://schemas.microsoft.com/office/drawing/2014/main" id="{402EF23C-FB60-4083-BF2B-D362ACD24799}"/>
              </a:ext>
            </a:extLst>
          </p:cNvPr>
          <p:cNvSpPr>
            <a:spLocks noChangeArrowheads="1"/>
          </p:cNvSpPr>
          <p:nvPr/>
        </p:nvSpPr>
        <p:spPr bwMode="auto">
          <a:xfrm>
            <a:off x="3101693" y="2997200"/>
            <a:ext cx="51809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sz="1800">
                <a:latin typeface="Times New Roman" panose="02020603050405020304" pitchFamily="18" charset="0"/>
                <a:ea typeface="宋体" panose="02010600030101010101" pitchFamily="2" charset="-122"/>
              </a:rPr>
              <a:t>aux</a:t>
            </a:r>
          </a:p>
        </p:txBody>
      </p:sp>
      <p:sp>
        <p:nvSpPr>
          <p:cNvPr id="46139" name="Rectangle 142">
            <a:extLst>
              <a:ext uri="{FF2B5EF4-FFF2-40B4-BE49-F238E27FC236}">
                <a16:creationId xmlns:a16="http://schemas.microsoft.com/office/drawing/2014/main" id="{7C7617C4-E764-4944-BEE4-812C044C7572}"/>
              </a:ext>
            </a:extLst>
          </p:cNvPr>
          <p:cNvSpPr>
            <a:spLocks noChangeArrowheads="1"/>
          </p:cNvSpPr>
          <p:nvPr/>
        </p:nvSpPr>
        <p:spPr bwMode="auto">
          <a:xfrm>
            <a:off x="7565185" y="5726113"/>
            <a:ext cx="63350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sz="1800">
                <a:latin typeface="Times New Roman" panose="02020603050405020304" pitchFamily="18" charset="0"/>
                <a:ea typeface="宋体" panose="02010600030101010101" pitchFamily="2" charset="-122"/>
              </a:rPr>
              <a:t>from</a:t>
            </a:r>
            <a:endParaRPr lang="zh-CN" altLang="en-US" sz="1800">
              <a:latin typeface="Times New Roman" panose="02020603050405020304" pitchFamily="18" charset="0"/>
              <a:ea typeface="宋体" panose="02010600030101010101" pitchFamily="2" charset="-122"/>
            </a:endParaRPr>
          </a:p>
        </p:txBody>
      </p:sp>
      <p:sp>
        <p:nvSpPr>
          <p:cNvPr id="46140" name="Rectangle 143">
            <a:extLst>
              <a:ext uri="{FF2B5EF4-FFF2-40B4-BE49-F238E27FC236}">
                <a16:creationId xmlns:a16="http://schemas.microsoft.com/office/drawing/2014/main" id="{72343CB1-DB4F-411E-BF38-8755574A19CB}"/>
              </a:ext>
            </a:extLst>
          </p:cNvPr>
          <p:cNvSpPr>
            <a:spLocks noChangeArrowheads="1"/>
          </p:cNvSpPr>
          <p:nvPr/>
        </p:nvSpPr>
        <p:spPr bwMode="auto">
          <a:xfrm>
            <a:off x="9457199" y="5719763"/>
            <a:ext cx="36420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sz="1800">
                <a:latin typeface="Times New Roman" panose="02020603050405020304" pitchFamily="18" charset="0"/>
                <a:ea typeface="宋体" panose="02010600030101010101" pitchFamily="2" charset="-122"/>
              </a:rPr>
              <a:t>to</a:t>
            </a:r>
          </a:p>
        </p:txBody>
      </p:sp>
      <p:sp>
        <p:nvSpPr>
          <p:cNvPr id="46141" name="Rectangle 144">
            <a:extLst>
              <a:ext uri="{FF2B5EF4-FFF2-40B4-BE49-F238E27FC236}">
                <a16:creationId xmlns:a16="http://schemas.microsoft.com/office/drawing/2014/main" id="{2B905088-C6FA-4EC3-BB06-B3F7DF81452D}"/>
              </a:ext>
            </a:extLst>
          </p:cNvPr>
          <p:cNvSpPr>
            <a:spLocks noChangeArrowheads="1"/>
          </p:cNvSpPr>
          <p:nvPr/>
        </p:nvSpPr>
        <p:spPr bwMode="auto">
          <a:xfrm>
            <a:off x="8357905" y="5719763"/>
            <a:ext cx="51809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sz="1800">
                <a:latin typeface="Times New Roman" panose="02020603050405020304" pitchFamily="18" charset="0"/>
                <a:ea typeface="宋体" panose="02010600030101010101" pitchFamily="2" charset="-122"/>
              </a:rPr>
              <a:t>aux</a:t>
            </a:r>
          </a:p>
        </p:txBody>
      </p:sp>
      <p:sp>
        <p:nvSpPr>
          <p:cNvPr id="46142" name="Rectangle 145">
            <a:extLst>
              <a:ext uri="{FF2B5EF4-FFF2-40B4-BE49-F238E27FC236}">
                <a16:creationId xmlns:a16="http://schemas.microsoft.com/office/drawing/2014/main" id="{C35BD4F7-35DA-412A-BBBE-F2BCA52B08B7}"/>
              </a:ext>
            </a:extLst>
          </p:cNvPr>
          <p:cNvSpPr>
            <a:spLocks noChangeArrowheads="1"/>
          </p:cNvSpPr>
          <p:nvPr/>
        </p:nvSpPr>
        <p:spPr bwMode="auto">
          <a:xfrm>
            <a:off x="7565185" y="3003550"/>
            <a:ext cx="63350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sz="1800">
                <a:latin typeface="Times New Roman" panose="02020603050405020304" pitchFamily="18" charset="0"/>
                <a:ea typeface="宋体" panose="02010600030101010101" pitchFamily="2" charset="-122"/>
              </a:rPr>
              <a:t>from</a:t>
            </a:r>
            <a:endParaRPr lang="zh-CN" altLang="en-US" sz="1800">
              <a:latin typeface="Times New Roman" panose="02020603050405020304" pitchFamily="18" charset="0"/>
              <a:ea typeface="宋体" panose="02010600030101010101" pitchFamily="2" charset="-122"/>
            </a:endParaRPr>
          </a:p>
        </p:txBody>
      </p:sp>
      <p:sp>
        <p:nvSpPr>
          <p:cNvPr id="46143" name="Rectangle 146">
            <a:extLst>
              <a:ext uri="{FF2B5EF4-FFF2-40B4-BE49-F238E27FC236}">
                <a16:creationId xmlns:a16="http://schemas.microsoft.com/office/drawing/2014/main" id="{8D1BC8AC-BCD5-4473-876F-5A0FD3F15BAF}"/>
              </a:ext>
            </a:extLst>
          </p:cNvPr>
          <p:cNvSpPr>
            <a:spLocks noChangeArrowheads="1"/>
          </p:cNvSpPr>
          <p:nvPr/>
        </p:nvSpPr>
        <p:spPr bwMode="auto">
          <a:xfrm>
            <a:off x="9457199" y="2997200"/>
            <a:ext cx="36420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sz="1800">
                <a:latin typeface="Times New Roman" panose="02020603050405020304" pitchFamily="18" charset="0"/>
                <a:ea typeface="宋体" panose="02010600030101010101" pitchFamily="2" charset="-122"/>
              </a:rPr>
              <a:t>to</a:t>
            </a:r>
          </a:p>
        </p:txBody>
      </p:sp>
      <p:sp>
        <p:nvSpPr>
          <p:cNvPr id="46144" name="Rectangle 147">
            <a:extLst>
              <a:ext uri="{FF2B5EF4-FFF2-40B4-BE49-F238E27FC236}">
                <a16:creationId xmlns:a16="http://schemas.microsoft.com/office/drawing/2014/main" id="{FD15D4C7-5D2D-48B6-B089-151C50A1B5F8}"/>
              </a:ext>
            </a:extLst>
          </p:cNvPr>
          <p:cNvSpPr>
            <a:spLocks noChangeArrowheads="1"/>
          </p:cNvSpPr>
          <p:nvPr/>
        </p:nvSpPr>
        <p:spPr bwMode="auto">
          <a:xfrm>
            <a:off x="8357905" y="2997200"/>
            <a:ext cx="51809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sz="1800">
                <a:latin typeface="Times New Roman" panose="02020603050405020304" pitchFamily="18" charset="0"/>
                <a:ea typeface="宋体" panose="02010600030101010101" pitchFamily="2" charset="-122"/>
              </a:rPr>
              <a:t>aux</a:t>
            </a:r>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08E1D507-7403-4DE8-96AE-D022B4C72B15}"/>
              </a:ext>
            </a:extLst>
          </p:cNvPr>
          <p:cNvSpPr>
            <a:spLocks noGrp="1" noChangeArrowheads="1"/>
          </p:cNvSpPr>
          <p:nvPr>
            <p:ph type="title" idx="4294967295"/>
          </p:nvPr>
        </p:nvSpPr>
        <p:spPr>
          <a:xfrm>
            <a:off x="2208213" y="260350"/>
            <a:ext cx="7848600" cy="635000"/>
          </a:xfrm>
        </p:spPr>
        <p:txBody>
          <a:bodyPr>
            <a:normAutofit fontScale="90000"/>
          </a:bodyPr>
          <a:lstStyle/>
          <a:p>
            <a:pPr eaLnBrk="1" hangingPunct="1"/>
            <a:r>
              <a:rPr lang="zh-CN" altLang="zh-CN" b="0"/>
              <a:t>算法</a:t>
            </a:r>
          </a:p>
        </p:txBody>
      </p:sp>
      <p:sp>
        <p:nvSpPr>
          <p:cNvPr id="45059" name="AutoShape 4">
            <a:extLst>
              <a:ext uri="{FF2B5EF4-FFF2-40B4-BE49-F238E27FC236}">
                <a16:creationId xmlns:a16="http://schemas.microsoft.com/office/drawing/2014/main" id="{19D8D191-DD87-4B74-8088-22AEA4B61F66}"/>
              </a:ext>
            </a:extLst>
          </p:cNvPr>
          <p:cNvSpPr>
            <a:spLocks noChangeAspect="1" noChangeArrowheads="1"/>
          </p:cNvSpPr>
          <p:nvPr/>
        </p:nvSpPr>
        <p:spPr bwMode="auto">
          <a:xfrm>
            <a:off x="4870450" y="1701801"/>
            <a:ext cx="2668588" cy="119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060" name="Rectangle 5">
            <a:extLst>
              <a:ext uri="{FF2B5EF4-FFF2-40B4-BE49-F238E27FC236}">
                <a16:creationId xmlns:a16="http://schemas.microsoft.com/office/drawing/2014/main" id="{86934CF3-6B9A-42A1-8960-EAAB22FF6C13}"/>
              </a:ext>
            </a:extLst>
          </p:cNvPr>
          <p:cNvSpPr>
            <a:spLocks noChangeArrowheads="1"/>
          </p:cNvSpPr>
          <p:nvPr/>
        </p:nvSpPr>
        <p:spPr bwMode="auto">
          <a:xfrm>
            <a:off x="5011738" y="1701801"/>
            <a:ext cx="69850" cy="1109663"/>
          </a:xfrm>
          <a:prstGeom prst="rect">
            <a:avLst/>
          </a:prstGeom>
          <a:noFill/>
          <a:ln w="63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061" name="AutoShape 7">
            <a:extLst>
              <a:ext uri="{FF2B5EF4-FFF2-40B4-BE49-F238E27FC236}">
                <a16:creationId xmlns:a16="http://schemas.microsoft.com/office/drawing/2014/main" id="{6A990E2A-DA87-46DB-964C-7F372A9BFDC4}"/>
              </a:ext>
            </a:extLst>
          </p:cNvPr>
          <p:cNvSpPr>
            <a:spLocks noChangeArrowheads="1"/>
          </p:cNvSpPr>
          <p:nvPr/>
        </p:nvSpPr>
        <p:spPr bwMode="auto">
          <a:xfrm>
            <a:off x="5911850" y="2481263"/>
            <a:ext cx="687388" cy="133350"/>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062" name="AutoShape 8">
            <a:extLst>
              <a:ext uri="{FF2B5EF4-FFF2-40B4-BE49-F238E27FC236}">
                <a16:creationId xmlns:a16="http://schemas.microsoft.com/office/drawing/2014/main" id="{346AA803-6BDC-4A00-8A7E-0748BB680A40}"/>
              </a:ext>
            </a:extLst>
          </p:cNvPr>
          <p:cNvSpPr>
            <a:spLocks noChangeArrowheads="1"/>
          </p:cNvSpPr>
          <p:nvPr/>
        </p:nvSpPr>
        <p:spPr bwMode="auto">
          <a:xfrm>
            <a:off x="5843589" y="2613026"/>
            <a:ext cx="839787" cy="131763"/>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063" name="AutoShape 10">
            <a:extLst>
              <a:ext uri="{FF2B5EF4-FFF2-40B4-BE49-F238E27FC236}">
                <a16:creationId xmlns:a16="http://schemas.microsoft.com/office/drawing/2014/main" id="{66C8104D-5062-4E85-8E4C-29B750C01BAD}"/>
              </a:ext>
            </a:extLst>
          </p:cNvPr>
          <p:cNvSpPr>
            <a:spLocks noChangeArrowheads="1"/>
          </p:cNvSpPr>
          <p:nvPr/>
        </p:nvSpPr>
        <p:spPr bwMode="auto">
          <a:xfrm>
            <a:off x="5988051" y="2349500"/>
            <a:ext cx="536575" cy="133350"/>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064" name="Rectangle 11">
            <a:extLst>
              <a:ext uri="{FF2B5EF4-FFF2-40B4-BE49-F238E27FC236}">
                <a16:creationId xmlns:a16="http://schemas.microsoft.com/office/drawing/2014/main" id="{B682B4F1-AE21-47A3-A356-5FD4853CB1BF}"/>
              </a:ext>
            </a:extLst>
          </p:cNvPr>
          <p:cNvSpPr>
            <a:spLocks noChangeArrowheads="1"/>
          </p:cNvSpPr>
          <p:nvPr/>
        </p:nvSpPr>
        <p:spPr bwMode="auto">
          <a:xfrm>
            <a:off x="6246814" y="1704975"/>
            <a:ext cx="77787" cy="1189038"/>
          </a:xfrm>
          <a:prstGeom prst="rect">
            <a:avLst/>
          </a:prstGeom>
          <a:noFill/>
          <a:ln w="63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065" name="Rectangle 12">
            <a:extLst>
              <a:ext uri="{FF2B5EF4-FFF2-40B4-BE49-F238E27FC236}">
                <a16:creationId xmlns:a16="http://schemas.microsoft.com/office/drawing/2014/main" id="{B376736A-A1FD-44FC-8859-FA05A7BAAB12}"/>
              </a:ext>
            </a:extLst>
          </p:cNvPr>
          <p:cNvSpPr>
            <a:spLocks noChangeArrowheads="1"/>
          </p:cNvSpPr>
          <p:nvPr/>
        </p:nvSpPr>
        <p:spPr bwMode="auto">
          <a:xfrm>
            <a:off x="6918325" y="1674814"/>
            <a:ext cx="77788" cy="1189037"/>
          </a:xfrm>
          <a:prstGeom prst="rect">
            <a:avLst/>
          </a:prstGeom>
          <a:noFill/>
          <a:ln w="63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066" name="Rectangle 13">
            <a:extLst>
              <a:ext uri="{FF2B5EF4-FFF2-40B4-BE49-F238E27FC236}">
                <a16:creationId xmlns:a16="http://schemas.microsoft.com/office/drawing/2014/main" id="{629C0167-F3D2-4121-983E-2A0BF58E4CDC}"/>
              </a:ext>
            </a:extLst>
          </p:cNvPr>
          <p:cNvSpPr>
            <a:spLocks noChangeArrowheads="1"/>
          </p:cNvSpPr>
          <p:nvPr/>
        </p:nvSpPr>
        <p:spPr bwMode="auto">
          <a:xfrm>
            <a:off x="4841876" y="1270001"/>
            <a:ext cx="360363"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a:latin typeface="Tahoma" panose="020B0604030504040204" pitchFamily="34" charset="0"/>
                <a:ea typeface="宋体" panose="02010600030101010101" pitchFamily="2" charset="-122"/>
              </a:rPr>
              <a:t>A</a:t>
            </a:r>
          </a:p>
        </p:txBody>
      </p:sp>
      <p:sp>
        <p:nvSpPr>
          <p:cNvPr id="45067" name="Rectangle 14">
            <a:extLst>
              <a:ext uri="{FF2B5EF4-FFF2-40B4-BE49-F238E27FC236}">
                <a16:creationId xmlns:a16="http://schemas.microsoft.com/office/drawing/2014/main" id="{2E6D351E-DC85-4CF3-8770-C758DDB51EFB}"/>
              </a:ext>
            </a:extLst>
          </p:cNvPr>
          <p:cNvSpPr>
            <a:spLocks noChangeArrowheads="1"/>
          </p:cNvSpPr>
          <p:nvPr/>
        </p:nvSpPr>
        <p:spPr bwMode="auto">
          <a:xfrm>
            <a:off x="6103938" y="1270001"/>
            <a:ext cx="360362"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a:latin typeface="Tahoma" panose="020B0604030504040204" pitchFamily="34" charset="0"/>
                <a:ea typeface="宋体" panose="02010600030101010101" pitchFamily="2" charset="-122"/>
              </a:rPr>
              <a:t>B</a:t>
            </a:r>
          </a:p>
        </p:txBody>
      </p:sp>
      <p:sp>
        <p:nvSpPr>
          <p:cNvPr id="45068" name="Rectangle 15">
            <a:extLst>
              <a:ext uri="{FF2B5EF4-FFF2-40B4-BE49-F238E27FC236}">
                <a16:creationId xmlns:a16="http://schemas.microsoft.com/office/drawing/2014/main" id="{A462E760-389F-44CB-AC7A-CFE63631F3C1}"/>
              </a:ext>
            </a:extLst>
          </p:cNvPr>
          <p:cNvSpPr>
            <a:spLocks noChangeArrowheads="1"/>
          </p:cNvSpPr>
          <p:nvPr/>
        </p:nvSpPr>
        <p:spPr bwMode="auto">
          <a:xfrm>
            <a:off x="6778626" y="1228726"/>
            <a:ext cx="360363"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a:latin typeface="Tahoma" panose="020B0604030504040204" pitchFamily="34" charset="0"/>
                <a:ea typeface="宋体" panose="02010600030101010101" pitchFamily="2" charset="-122"/>
              </a:rPr>
              <a:t>C</a:t>
            </a:r>
          </a:p>
        </p:txBody>
      </p:sp>
      <p:sp>
        <p:nvSpPr>
          <p:cNvPr id="45069" name="AutoShape 46">
            <a:extLst>
              <a:ext uri="{FF2B5EF4-FFF2-40B4-BE49-F238E27FC236}">
                <a16:creationId xmlns:a16="http://schemas.microsoft.com/office/drawing/2014/main" id="{17EBDDDE-6603-4A3A-9A14-C530976A6E66}"/>
              </a:ext>
            </a:extLst>
          </p:cNvPr>
          <p:cNvSpPr>
            <a:spLocks noChangeAspect="1" noChangeArrowheads="1"/>
          </p:cNvSpPr>
          <p:nvPr/>
        </p:nvSpPr>
        <p:spPr bwMode="auto">
          <a:xfrm>
            <a:off x="1774825" y="1630363"/>
            <a:ext cx="2668588"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070" name="AutoShape 58">
            <a:extLst>
              <a:ext uri="{FF2B5EF4-FFF2-40B4-BE49-F238E27FC236}">
                <a16:creationId xmlns:a16="http://schemas.microsoft.com/office/drawing/2014/main" id="{3C002353-D47F-42D9-9DB3-BA0D88AC5B6C}"/>
              </a:ext>
            </a:extLst>
          </p:cNvPr>
          <p:cNvSpPr>
            <a:spLocks noChangeAspect="1" noChangeArrowheads="1"/>
          </p:cNvSpPr>
          <p:nvPr/>
        </p:nvSpPr>
        <p:spPr bwMode="auto">
          <a:xfrm>
            <a:off x="6386514" y="1763713"/>
            <a:ext cx="2668587"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071" name="Rectangle 59">
            <a:extLst>
              <a:ext uri="{FF2B5EF4-FFF2-40B4-BE49-F238E27FC236}">
                <a16:creationId xmlns:a16="http://schemas.microsoft.com/office/drawing/2014/main" id="{8545D251-F332-4F1E-9017-837D585CE7D9}"/>
              </a:ext>
            </a:extLst>
          </p:cNvPr>
          <p:cNvSpPr>
            <a:spLocks noChangeArrowheads="1"/>
          </p:cNvSpPr>
          <p:nvPr/>
        </p:nvSpPr>
        <p:spPr bwMode="auto">
          <a:xfrm>
            <a:off x="7786688" y="1763713"/>
            <a:ext cx="69850" cy="1047750"/>
          </a:xfrm>
          <a:prstGeom prst="rect">
            <a:avLst/>
          </a:prstGeom>
          <a:noFill/>
          <a:ln w="63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072" name="AutoShape 61">
            <a:extLst>
              <a:ext uri="{FF2B5EF4-FFF2-40B4-BE49-F238E27FC236}">
                <a16:creationId xmlns:a16="http://schemas.microsoft.com/office/drawing/2014/main" id="{1F3CB4DC-82C7-47D6-8931-42D2F0B36A45}"/>
              </a:ext>
            </a:extLst>
          </p:cNvPr>
          <p:cNvSpPr>
            <a:spLocks noChangeArrowheads="1"/>
          </p:cNvSpPr>
          <p:nvPr/>
        </p:nvSpPr>
        <p:spPr bwMode="auto">
          <a:xfrm>
            <a:off x="9559925" y="2489200"/>
            <a:ext cx="687388" cy="133350"/>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073" name="AutoShape 62">
            <a:extLst>
              <a:ext uri="{FF2B5EF4-FFF2-40B4-BE49-F238E27FC236}">
                <a16:creationId xmlns:a16="http://schemas.microsoft.com/office/drawing/2014/main" id="{9B416378-6171-4433-A77C-E56D8AC4045D}"/>
              </a:ext>
            </a:extLst>
          </p:cNvPr>
          <p:cNvSpPr>
            <a:spLocks noChangeArrowheads="1"/>
          </p:cNvSpPr>
          <p:nvPr/>
        </p:nvSpPr>
        <p:spPr bwMode="auto">
          <a:xfrm>
            <a:off x="9491664" y="2620963"/>
            <a:ext cx="839787" cy="131762"/>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074" name="AutoShape 63">
            <a:extLst>
              <a:ext uri="{FF2B5EF4-FFF2-40B4-BE49-F238E27FC236}">
                <a16:creationId xmlns:a16="http://schemas.microsoft.com/office/drawing/2014/main" id="{1688C780-2485-4B53-B41B-0461E7003137}"/>
              </a:ext>
            </a:extLst>
          </p:cNvPr>
          <p:cNvSpPr>
            <a:spLocks noChangeArrowheads="1"/>
          </p:cNvSpPr>
          <p:nvPr/>
        </p:nvSpPr>
        <p:spPr bwMode="auto">
          <a:xfrm>
            <a:off x="9407525" y="2752726"/>
            <a:ext cx="992188" cy="131763"/>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075" name="AutoShape 64">
            <a:extLst>
              <a:ext uri="{FF2B5EF4-FFF2-40B4-BE49-F238E27FC236}">
                <a16:creationId xmlns:a16="http://schemas.microsoft.com/office/drawing/2014/main" id="{B98662F9-542D-4099-A342-07B6031CB88F}"/>
              </a:ext>
            </a:extLst>
          </p:cNvPr>
          <p:cNvSpPr>
            <a:spLocks noChangeArrowheads="1"/>
          </p:cNvSpPr>
          <p:nvPr/>
        </p:nvSpPr>
        <p:spPr bwMode="auto">
          <a:xfrm>
            <a:off x="9636126" y="2357438"/>
            <a:ext cx="536575" cy="133350"/>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076" name="Rectangle 65">
            <a:extLst>
              <a:ext uri="{FF2B5EF4-FFF2-40B4-BE49-F238E27FC236}">
                <a16:creationId xmlns:a16="http://schemas.microsoft.com/office/drawing/2014/main" id="{500DF601-C096-4134-903F-51619E113668}"/>
              </a:ext>
            </a:extLst>
          </p:cNvPr>
          <p:cNvSpPr>
            <a:spLocks noChangeArrowheads="1"/>
          </p:cNvSpPr>
          <p:nvPr/>
        </p:nvSpPr>
        <p:spPr bwMode="auto">
          <a:xfrm>
            <a:off x="8693150" y="1766889"/>
            <a:ext cx="101600" cy="1044575"/>
          </a:xfrm>
          <a:prstGeom prst="rect">
            <a:avLst/>
          </a:prstGeom>
          <a:noFill/>
          <a:ln w="63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077" name="Rectangle 66">
            <a:extLst>
              <a:ext uri="{FF2B5EF4-FFF2-40B4-BE49-F238E27FC236}">
                <a16:creationId xmlns:a16="http://schemas.microsoft.com/office/drawing/2014/main" id="{DA1769A4-6F8D-4880-A53F-E89963CECCA1}"/>
              </a:ext>
            </a:extLst>
          </p:cNvPr>
          <p:cNvSpPr>
            <a:spLocks noChangeArrowheads="1"/>
          </p:cNvSpPr>
          <p:nvPr/>
        </p:nvSpPr>
        <p:spPr bwMode="auto">
          <a:xfrm>
            <a:off x="9906000" y="1736725"/>
            <a:ext cx="77788" cy="1189038"/>
          </a:xfrm>
          <a:prstGeom prst="rect">
            <a:avLst/>
          </a:prstGeom>
          <a:noFill/>
          <a:ln w="63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078" name="Rectangle 67">
            <a:extLst>
              <a:ext uri="{FF2B5EF4-FFF2-40B4-BE49-F238E27FC236}">
                <a16:creationId xmlns:a16="http://schemas.microsoft.com/office/drawing/2014/main" id="{618F0946-CD22-4E7E-8892-E5D67ADD4FF7}"/>
              </a:ext>
            </a:extLst>
          </p:cNvPr>
          <p:cNvSpPr>
            <a:spLocks noChangeArrowheads="1"/>
          </p:cNvSpPr>
          <p:nvPr/>
        </p:nvSpPr>
        <p:spPr bwMode="auto">
          <a:xfrm>
            <a:off x="7616826" y="1331913"/>
            <a:ext cx="360363"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a:latin typeface="Tahoma" panose="020B0604030504040204" pitchFamily="34" charset="0"/>
                <a:ea typeface="宋体" panose="02010600030101010101" pitchFamily="2" charset="-122"/>
              </a:rPr>
              <a:t>A</a:t>
            </a:r>
          </a:p>
        </p:txBody>
      </p:sp>
      <p:sp>
        <p:nvSpPr>
          <p:cNvPr id="45079" name="Rectangle 68">
            <a:extLst>
              <a:ext uri="{FF2B5EF4-FFF2-40B4-BE49-F238E27FC236}">
                <a16:creationId xmlns:a16="http://schemas.microsoft.com/office/drawing/2014/main" id="{AF9BD871-B6AE-4FC5-825D-BBE2C38AA56B}"/>
              </a:ext>
            </a:extLst>
          </p:cNvPr>
          <p:cNvSpPr>
            <a:spLocks noChangeArrowheads="1"/>
          </p:cNvSpPr>
          <p:nvPr/>
        </p:nvSpPr>
        <p:spPr bwMode="auto">
          <a:xfrm>
            <a:off x="8550276" y="1331913"/>
            <a:ext cx="360363"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a:latin typeface="Tahoma" panose="020B0604030504040204" pitchFamily="34" charset="0"/>
                <a:ea typeface="宋体" panose="02010600030101010101" pitchFamily="2" charset="-122"/>
              </a:rPr>
              <a:t>B</a:t>
            </a:r>
          </a:p>
        </p:txBody>
      </p:sp>
      <p:sp>
        <p:nvSpPr>
          <p:cNvPr id="45080" name="Rectangle 69">
            <a:extLst>
              <a:ext uri="{FF2B5EF4-FFF2-40B4-BE49-F238E27FC236}">
                <a16:creationId xmlns:a16="http://schemas.microsoft.com/office/drawing/2014/main" id="{9AB6D2A5-B643-4D35-A048-CF22C14D400F}"/>
              </a:ext>
            </a:extLst>
          </p:cNvPr>
          <p:cNvSpPr>
            <a:spLocks noChangeArrowheads="1"/>
          </p:cNvSpPr>
          <p:nvPr/>
        </p:nvSpPr>
        <p:spPr bwMode="auto">
          <a:xfrm>
            <a:off x="9766301" y="1270001"/>
            <a:ext cx="360363"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a:latin typeface="Tahoma" panose="020B0604030504040204" pitchFamily="34" charset="0"/>
                <a:ea typeface="宋体" panose="02010600030101010101" pitchFamily="2" charset="-122"/>
              </a:rPr>
              <a:t>C</a:t>
            </a:r>
          </a:p>
        </p:txBody>
      </p:sp>
      <p:sp>
        <p:nvSpPr>
          <p:cNvPr id="45081" name="Rectangle 70">
            <a:extLst>
              <a:ext uri="{FF2B5EF4-FFF2-40B4-BE49-F238E27FC236}">
                <a16:creationId xmlns:a16="http://schemas.microsoft.com/office/drawing/2014/main" id="{EA08BFBE-2F35-4092-8D5F-BEBCE6FC348A}"/>
              </a:ext>
            </a:extLst>
          </p:cNvPr>
          <p:cNvSpPr>
            <a:spLocks noChangeArrowheads="1"/>
          </p:cNvSpPr>
          <p:nvPr/>
        </p:nvSpPr>
        <p:spPr bwMode="auto">
          <a:xfrm>
            <a:off x="1666876" y="1125539"/>
            <a:ext cx="2555875" cy="1800225"/>
          </a:xfrm>
          <a:prstGeom prst="rect">
            <a:avLst/>
          </a:prstGeom>
          <a:noFill/>
          <a:ln w="127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082" name="Rectangle 71">
            <a:extLst>
              <a:ext uri="{FF2B5EF4-FFF2-40B4-BE49-F238E27FC236}">
                <a16:creationId xmlns:a16="http://schemas.microsoft.com/office/drawing/2014/main" id="{697C2BC8-2110-471D-9350-79409A2E5A92}"/>
              </a:ext>
            </a:extLst>
          </p:cNvPr>
          <p:cNvSpPr>
            <a:spLocks noChangeArrowheads="1"/>
          </p:cNvSpPr>
          <p:nvPr/>
        </p:nvSpPr>
        <p:spPr bwMode="auto">
          <a:xfrm>
            <a:off x="4367213" y="1125539"/>
            <a:ext cx="2951162" cy="1800225"/>
          </a:xfrm>
          <a:prstGeom prst="rect">
            <a:avLst/>
          </a:prstGeom>
          <a:noFill/>
          <a:ln w="12700">
            <a:solidFill>
              <a:srgbClr val="00B05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083" name="Rectangle 72">
            <a:extLst>
              <a:ext uri="{FF2B5EF4-FFF2-40B4-BE49-F238E27FC236}">
                <a16:creationId xmlns:a16="http://schemas.microsoft.com/office/drawing/2014/main" id="{58A0A846-CC96-4836-B980-CD4B79A27098}"/>
              </a:ext>
            </a:extLst>
          </p:cNvPr>
          <p:cNvSpPr>
            <a:spLocks noChangeArrowheads="1"/>
          </p:cNvSpPr>
          <p:nvPr/>
        </p:nvSpPr>
        <p:spPr bwMode="auto">
          <a:xfrm>
            <a:off x="7534276" y="1125539"/>
            <a:ext cx="3025775" cy="1800225"/>
          </a:xfrm>
          <a:prstGeom prst="rect">
            <a:avLst/>
          </a:prstGeom>
          <a:noFill/>
          <a:ln w="127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084" name="AutoShape 119">
            <a:extLst>
              <a:ext uri="{FF2B5EF4-FFF2-40B4-BE49-F238E27FC236}">
                <a16:creationId xmlns:a16="http://schemas.microsoft.com/office/drawing/2014/main" id="{2D060C8E-57F2-4E84-97ED-6D0CF85EA177}"/>
              </a:ext>
            </a:extLst>
          </p:cNvPr>
          <p:cNvSpPr>
            <a:spLocks noChangeAspect="1" noChangeArrowheads="1"/>
          </p:cNvSpPr>
          <p:nvPr/>
        </p:nvSpPr>
        <p:spPr bwMode="auto">
          <a:xfrm>
            <a:off x="1738314" y="1589088"/>
            <a:ext cx="2668587"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085" name="Rectangle 120">
            <a:extLst>
              <a:ext uri="{FF2B5EF4-FFF2-40B4-BE49-F238E27FC236}">
                <a16:creationId xmlns:a16="http://schemas.microsoft.com/office/drawing/2014/main" id="{90B5A0C3-1081-4A7F-8FE5-0E394FFE8C91}"/>
              </a:ext>
            </a:extLst>
          </p:cNvPr>
          <p:cNvSpPr>
            <a:spLocks noChangeArrowheads="1"/>
          </p:cNvSpPr>
          <p:nvPr/>
        </p:nvSpPr>
        <p:spPr bwMode="auto">
          <a:xfrm>
            <a:off x="2271713" y="1589089"/>
            <a:ext cx="114300" cy="719137"/>
          </a:xfrm>
          <a:prstGeom prst="rect">
            <a:avLst/>
          </a:prstGeom>
          <a:noFill/>
          <a:ln w="63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086" name="AutoShape 122">
            <a:extLst>
              <a:ext uri="{FF2B5EF4-FFF2-40B4-BE49-F238E27FC236}">
                <a16:creationId xmlns:a16="http://schemas.microsoft.com/office/drawing/2014/main" id="{068FCCD8-1574-4908-BBE5-9A027B91FE43}"/>
              </a:ext>
            </a:extLst>
          </p:cNvPr>
          <p:cNvSpPr>
            <a:spLocks noChangeArrowheads="1"/>
          </p:cNvSpPr>
          <p:nvPr/>
        </p:nvSpPr>
        <p:spPr bwMode="auto">
          <a:xfrm>
            <a:off x="1966914" y="2416175"/>
            <a:ext cx="687387" cy="133350"/>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087" name="AutoShape 123">
            <a:extLst>
              <a:ext uri="{FF2B5EF4-FFF2-40B4-BE49-F238E27FC236}">
                <a16:creationId xmlns:a16="http://schemas.microsoft.com/office/drawing/2014/main" id="{56DC993A-89CC-4C28-BF62-5F5E172E14A3}"/>
              </a:ext>
            </a:extLst>
          </p:cNvPr>
          <p:cNvSpPr>
            <a:spLocks noChangeArrowheads="1"/>
          </p:cNvSpPr>
          <p:nvPr/>
        </p:nvSpPr>
        <p:spPr bwMode="auto">
          <a:xfrm>
            <a:off x="1898650" y="2547938"/>
            <a:ext cx="839788" cy="131762"/>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088" name="AutoShape 124">
            <a:extLst>
              <a:ext uri="{FF2B5EF4-FFF2-40B4-BE49-F238E27FC236}">
                <a16:creationId xmlns:a16="http://schemas.microsoft.com/office/drawing/2014/main" id="{BB6C2CCD-E703-448E-9125-C62B209E3721}"/>
              </a:ext>
            </a:extLst>
          </p:cNvPr>
          <p:cNvSpPr>
            <a:spLocks noChangeArrowheads="1"/>
          </p:cNvSpPr>
          <p:nvPr/>
        </p:nvSpPr>
        <p:spPr bwMode="auto">
          <a:xfrm>
            <a:off x="1814514" y="2679701"/>
            <a:ext cx="992187" cy="131763"/>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089" name="AutoShape 125">
            <a:extLst>
              <a:ext uri="{FF2B5EF4-FFF2-40B4-BE49-F238E27FC236}">
                <a16:creationId xmlns:a16="http://schemas.microsoft.com/office/drawing/2014/main" id="{1731DB15-9183-443A-98BB-9A4062690B1D}"/>
              </a:ext>
            </a:extLst>
          </p:cNvPr>
          <p:cNvSpPr>
            <a:spLocks noChangeArrowheads="1"/>
          </p:cNvSpPr>
          <p:nvPr/>
        </p:nvSpPr>
        <p:spPr bwMode="auto">
          <a:xfrm>
            <a:off x="2043114" y="2284413"/>
            <a:ext cx="536575" cy="133350"/>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090" name="Rectangle 126">
            <a:extLst>
              <a:ext uri="{FF2B5EF4-FFF2-40B4-BE49-F238E27FC236}">
                <a16:creationId xmlns:a16="http://schemas.microsoft.com/office/drawing/2014/main" id="{E4B93E95-FEF1-478B-9864-73F4013CEFE5}"/>
              </a:ext>
            </a:extLst>
          </p:cNvPr>
          <p:cNvSpPr>
            <a:spLocks noChangeArrowheads="1"/>
          </p:cNvSpPr>
          <p:nvPr/>
        </p:nvSpPr>
        <p:spPr bwMode="auto">
          <a:xfrm>
            <a:off x="3294064" y="1592264"/>
            <a:ext cx="77787" cy="1189037"/>
          </a:xfrm>
          <a:prstGeom prst="rect">
            <a:avLst/>
          </a:prstGeom>
          <a:noFill/>
          <a:ln w="63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091" name="Rectangle 127">
            <a:extLst>
              <a:ext uri="{FF2B5EF4-FFF2-40B4-BE49-F238E27FC236}">
                <a16:creationId xmlns:a16="http://schemas.microsoft.com/office/drawing/2014/main" id="{E7A9F110-AD91-4005-AD57-F78B6A9EB612}"/>
              </a:ext>
            </a:extLst>
          </p:cNvPr>
          <p:cNvSpPr>
            <a:spLocks noChangeArrowheads="1"/>
          </p:cNvSpPr>
          <p:nvPr/>
        </p:nvSpPr>
        <p:spPr bwMode="auto">
          <a:xfrm>
            <a:off x="3970339" y="1624014"/>
            <a:ext cx="77787" cy="1189037"/>
          </a:xfrm>
          <a:prstGeom prst="rect">
            <a:avLst/>
          </a:prstGeom>
          <a:noFill/>
          <a:ln w="63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092" name="Rectangle 128">
            <a:extLst>
              <a:ext uri="{FF2B5EF4-FFF2-40B4-BE49-F238E27FC236}">
                <a16:creationId xmlns:a16="http://schemas.microsoft.com/office/drawing/2014/main" id="{A45D405D-DEF6-4669-806F-BD5A0E2821D1}"/>
              </a:ext>
            </a:extLst>
          </p:cNvPr>
          <p:cNvSpPr>
            <a:spLocks noChangeArrowheads="1"/>
          </p:cNvSpPr>
          <p:nvPr/>
        </p:nvSpPr>
        <p:spPr bwMode="auto">
          <a:xfrm>
            <a:off x="2101851" y="1228726"/>
            <a:ext cx="360363"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a:latin typeface="Tahoma" panose="020B0604030504040204" pitchFamily="34" charset="0"/>
                <a:ea typeface="宋体" panose="02010600030101010101" pitchFamily="2" charset="-122"/>
              </a:rPr>
              <a:t>A</a:t>
            </a:r>
          </a:p>
        </p:txBody>
      </p:sp>
      <p:sp>
        <p:nvSpPr>
          <p:cNvPr id="45093" name="Rectangle 129">
            <a:extLst>
              <a:ext uri="{FF2B5EF4-FFF2-40B4-BE49-F238E27FC236}">
                <a16:creationId xmlns:a16="http://schemas.microsoft.com/office/drawing/2014/main" id="{3130D971-252B-4F7C-AC0D-4F1D2AE819D5}"/>
              </a:ext>
            </a:extLst>
          </p:cNvPr>
          <p:cNvSpPr>
            <a:spLocks noChangeArrowheads="1"/>
          </p:cNvSpPr>
          <p:nvPr/>
        </p:nvSpPr>
        <p:spPr bwMode="auto">
          <a:xfrm>
            <a:off x="3143251" y="1228726"/>
            <a:ext cx="360363"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a:latin typeface="Tahoma" panose="020B0604030504040204" pitchFamily="34" charset="0"/>
                <a:ea typeface="宋体" panose="02010600030101010101" pitchFamily="2" charset="-122"/>
              </a:rPr>
              <a:t>B</a:t>
            </a:r>
          </a:p>
        </p:txBody>
      </p:sp>
      <p:sp>
        <p:nvSpPr>
          <p:cNvPr id="45094" name="Rectangle 130">
            <a:extLst>
              <a:ext uri="{FF2B5EF4-FFF2-40B4-BE49-F238E27FC236}">
                <a16:creationId xmlns:a16="http://schemas.microsoft.com/office/drawing/2014/main" id="{EA6CE0AE-33B6-4797-AD81-77BA6ABAAFF2}"/>
              </a:ext>
            </a:extLst>
          </p:cNvPr>
          <p:cNvSpPr>
            <a:spLocks noChangeArrowheads="1"/>
          </p:cNvSpPr>
          <p:nvPr/>
        </p:nvSpPr>
        <p:spPr bwMode="auto">
          <a:xfrm>
            <a:off x="3830638" y="1227138"/>
            <a:ext cx="360362"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a:latin typeface="Tahoma" panose="020B0604030504040204" pitchFamily="34" charset="0"/>
                <a:ea typeface="宋体" panose="02010600030101010101" pitchFamily="2" charset="-122"/>
              </a:rPr>
              <a:t>C</a:t>
            </a:r>
          </a:p>
        </p:txBody>
      </p:sp>
      <p:sp>
        <p:nvSpPr>
          <p:cNvPr id="45095" name="AutoShape 131">
            <a:extLst>
              <a:ext uri="{FF2B5EF4-FFF2-40B4-BE49-F238E27FC236}">
                <a16:creationId xmlns:a16="http://schemas.microsoft.com/office/drawing/2014/main" id="{1EB117F4-25D6-4F4F-A6C7-8CF7718FB941}"/>
              </a:ext>
            </a:extLst>
          </p:cNvPr>
          <p:cNvSpPr>
            <a:spLocks noChangeAspect="1" noChangeArrowheads="1"/>
          </p:cNvSpPr>
          <p:nvPr/>
        </p:nvSpPr>
        <p:spPr bwMode="auto">
          <a:xfrm>
            <a:off x="2170114" y="3605213"/>
            <a:ext cx="2668587"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096" name="Rectangle 132">
            <a:extLst>
              <a:ext uri="{FF2B5EF4-FFF2-40B4-BE49-F238E27FC236}">
                <a16:creationId xmlns:a16="http://schemas.microsoft.com/office/drawing/2014/main" id="{80E1E8CD-0F44-43B8-94AF-AF86427A82BC}"/>
              </a:ext>
            </a:extLst>
          </p:cNvPr>
          <p:cNvSpPr>
            <a:spLocks noChangeArrowheads="1"/>
          </p:cNvSpPr>
          <p:nvPr/>
        </p:nvSpPr>
        <p:spPr bwMode="auto">
          <a:xfrm>
            <a:off x="2311400" y="3605213"/>
            <a:ext cx="69850" cy="1109662"/>
          </a:xfrm>
          <a:prstGeom prst="rect">
            <a:avLst/>
          </a:prstGeom>
          <a:noFill/>
          <a:ln w="63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097" name="AutoShape 133">
            <a:extLst>
              <a:ext uri="{FF2B5EF4-FFF2-40B4-BE49-F238E27FC236}">
                <a16:creationId xmlns:a16="http://schemas.microsoft.com/office/drawing/2014/main" id="{978FEC5B-3B70-4399-A8D5-04957E301DE6}"/>
              </a:ext>
            </a:extLst>
          </p:cNvPr>
          <p:cNvSpPr>
            <a:spLocks noChangeArrowheads="1"/>
          </p:cNvSpPr>
          <p:nvPr/>
        </p:nvSpPr>
        <p:spPr bwMode="auto">
          <a:xfrm>
            <a:off x="3900489" y="4624388"/>
            <a:ext cx="687387" cy="133350"/>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098" name="AutoShape 135">
            <a:extLst>
              <a:ext uri="{FF2B5EF4-FFF2-40B4-BE49-F238E27FC236}">
                <a16:creationId xmlns:a16="http://schemas.microsoft.com/office/drawing/2014/main" id="{E4A841C8-3A67-419F-ABC8-50A04BFC01C0}"/>
              </a:ext>
            </a:extLst>
          </p:cNvPr>
          <p:cNvSpPr>
            <a:spLocks noChangeArrowheads="1"/>
          </p:cNvSpPr>
          <p:nvPr/>
        </p:nvSpPr>
        <p:spPr bwMode="auto">
          <a:xfrm>
            <a:off x="3976689" y="4492625"/>
            <a:ext cx="536575" cy="133350"/>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099" name="Rectangle 136">
            <a:extLst>
              <a:ext uri="{FF2B5EF4-FFF2-40B4-BE49-F238E27FC236}">
                <a16:creationId xmlns:a16="http://schemas.microsoft.com/office/drawing/2014/main" id="{4A6D252C-25F1-4560-B5CD-09D62887819D}"/>
              </a:ext>
            </a:extLst>
          </p:cNvPr>
          <p:cNvSpPr>
            <a:spLocks noChangeArrowheads="1"/>
          </p:cNvSpPr>
          <p:nvPr/>
        </p:nvSpPr>
        <p:spPr bwMode="auto">
          <a:xfrm>
            <a:off x="3392489" y="3608389"/>
            <a:ext cx="77787" cy="1189037"/>
          </a:xfrm>
          <a:prstGeom prst="rect">
            <a:avLst/>
          </a:prstGeom>
          <a:noFill/>
          <a:ln w="63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00" name="Rectangle 137">
            <a:extLst>
              <a:ext uri="{FF2B5EF4-FFF2-40B4-BE49-F238E27FC236}">
                <a16:creationId xmlns:a16="http://schemas.microsoft.com/office/drawing/2014/main" id="{43E39BD5-1890-4790-8A87-90FF03DE3F37}"/>
              </a:ext>
            </a:extLst>
          </p:cNvPr>
          <p:cNvSpPr>
            <a:spLocks noChangeArrowheads="1"/>
          </p:cNvSpPr>
          <p:nvPr/>
        </p:nvSpPr>
        <p:spPr bwMode="auto">
          <a:xfrm>
            <a:off x="4217989" y="3578225"/>
            <a:ext cx="77787" cy="1189038"/>
          </a:xfrm>
          <a:prstGeom prst="rect">
            <a:avLst/>
          </a:prstGeom>
          <a:noFill/>
          <a:ln w="63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01" name="Rectangle 138">
            <a:extLst>
              <a:ext uri="{FF2B5EF4-FFF2-40B4-BE49-F238E27FC236}">
                <a16:creationId xmlns:a16="http://schemas.microsoft.com/office/drawing/2014/main" id="{3FAD9B85-8D14-463D-BE99-F3D3A40DFBEC}"/>
              </a:ext>
            </a:extLst>
          </p:cNvPr>
          <p:cNvSpPr>
            <a:spLocks noChangeArrowheads="1"/>
          </p:cNvSpPr>
          <p:nvPr/>
        </p:nvSpPr>
        <p:spPr bwMode="auto">
          <a:xfrm>
            <a:off x="2141538" y="3173413"/>
            <a:ext cx="360362"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a:latin typeface="Tahoma" panose="020B0604030504040204" pitchFamily="34" charset="0"/>
                <a:ea typeface="宋体" panose="02010600030101010101" pitchFamily="2" charset="-122"/>
              </a:rPr>
              <a:t>A</a:t>
            </a:r>
          </a:p>
        </p:txBody>
      </p:sp>
      <p:sp>
        <p:nvSpPr>
          <p:cNvPr id="45102" name="Rectangle 139">
            <a:extLst>
              <a:ext uri="{FF2B5EF4-FFF2-40B4-BE49-F238E27FC236}">
                <a16:creationId xmlns:a16="http://schemas.microsoft.com/office/drawing/2014/main" id="{8AD6CD98-BA64-4679-95E2-DB8EACD8C41B}"/>
              </a:ext>
            </a:extLst>
          </p:cNvPr>
          <p:cNvSpPr>
            <a:spLocks noChangeArrowheads="1"/>
          </p:cNvSpPr>
          <p:nvPr/>
        </p:nvSpPr>
        <p:spPr bwMode="auto">
          <a:xfrm>
            <a:off x="3249613" y="3173413"/>
            <a:ext cx="360362"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a:latin typeface="Tahoma" panose="020B0604030504040204" pitchFamily="34" charset="0"/>
                <a:ea typeface="宋体" panose="02010600030101010101" pitchFamily="2" charset="-122"/>
              </a:rPr>
              <a:t>B</a:t>
            </a:r>
          </a:p>
        </p:txBody>
      </p:sp>
      <p:sp>
        <p:nvSpPr>
          <p:cNvPr id="45103" name="Rectangle 140">
            <a:extLst>
              <a:ext uri="{FF2B5EF4-FFF2-40B4-BE49-F238E27FC236}">
                <a16:creationId xmlns:a16="http://schemas.microsoft.com/office/drawing/2014/main" id="{0FD829D2-9341-4DCF-8ED5-871145A1443F}"/>
              </a:ext>
            </a:extLst>
          </p:cNvPr>
          <p:cNvSpPr>
            <a:spLocks noChangeArrowheads="1"/>
          </p:cNvSpPr>
          <p:nvPr/>
        </p:nvSpPr>
        <p:spPr bwMode="auto">
          <a:xfrm>
            <a:off x="4078288" y="3132138"/>
            <a:ext cx="360362"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a:latin typeface="Tahoma" panose="020B0604030504040204" pitchFamily="34" charset="0"/>
                <a:ea typeface="宋体" panose="02010600030101010101" pitchFamily="2" charset="-122"/>
              </a:rPr>
              <a:t>C</a:t>
            </a:r>
          </a:p>
        </p:txBody>
      </p:sp>
      <p:sp>
        <p:nvSpPr>
          <p:cNvPr id="45104" name="Rectangle 141">
            <a:extLst>
              <a:ext uri="{FF2B5EF4-FFF2-40B4-BE49-F238E27FC236}">
                <a16:creationId xmlns:a16="http://schemas.microsoft.com/office/drawing/2014/main" id="{F4C650A5-D93D-4AC7-896C-720E6AFC3B72}"/>
              </a:ext>
            </a:extLst>
          </p:cNvPr>
          <p:cNvSpPr>
            <a:spLocks noChangeArrowheads="1"/>
          </p:cNvSpPr>
          <p:nvPr/>
        </p:nvSpPr>
        <p:spPr bwMode="auto">
          <a:xfrm>
            <a:off x="1666876" y="3028951"/>
            <a:ext cx="2951163" cy="1800225"/>
          </a:xfrm>
          <a:prstGeom prst="rect">
            <a:avLst/>
          </a:prstGeom>
          <a:noFill/>
          <a:ln w="12700">
            <a:solidFill>
              <a:srgbClr val="00B05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05" name="AutoShape 143">
            <a:extLst>
              <a:ext uri="{FF2B5EF4-FFF2-40B4-BE49-F238E27FC236}">
                <a16:creationId xmlns:a16="http://schemas.microsoft.com/office/drawing/2014/main" id="{C6E04906-8694-4B70-978B-1137C35B75B0}"/>
              </a:ext>
            </a:extLst>
          </p:cNvPr>
          <p:cNvSpPr>
            <a:spLocks noChangeAspect="1" noChangeArrowheads="1"/>
          </p:cNvSpPr>
          <p:nvPr/>
        </p:nvSpPr>
        <p:spPr bwMode="auto">
          <a:xfrm>
            <a:off x="5262564" y="3605213"/>
            <a:ext cx="2668587"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06" name="Rectangle 144">
            <a:extLst>
              <a:ext uri="{FF2B5EF4-FFF2-40B4-BE49-F238E27FC236}">
                <a16:creationId xmlns:a16="http://schemas.microsoft.com/office/drawing/2014/main" id="{E58117B9-7494-47B2-88DC-9FEAE3D7CF03}"/>
              </a:ext>
            </a:extLst>
          </p:cNvPr>
          <p:cNvSpPr>
            <a:spLocks noChangeArrowheads="1"/>
          </p:cNvSpPr>
          <p:nvPr/>
        </p:nvSpPr>
        <p:spPr bwMode="auto">
          <a:xfrm>
            <a:off x="5403850" y="3605213"/>
            <a:ext cx="69850" cy="1109662"/>
          </a:xfrm>
          <a:prstGeom prst="rect">
            <a:avLst/>
          </a:prstGeom>
          <a:noFill/>
          <a:ln w="63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07" name="AutoShape 145">
            <a:extLst>
              <a:ext uri="{FF2B5EF4-FFF2-40B4-BE49-F238E27FC236}">
                <a16:creationId xmlns:a16="http://schemas.microsoft.com/office/drawing/2014/main" id="{7450F4FE-B029-47DC-BBB9-012813563767}"/>
              </a:ext>
            </a:extLst>
          </p:cNvPr>
          <p:cNvSpPr>
            <a:spLocks noChangeArrowheads="1"/>
          </p:cNvSpPr>
          <p:nvPr/>
        </p:nvSpPr>
        <p:spPr bwMode="auto">
          <a:xfrm>
            <a:off x="6992939" y="4624388"/>
            <a:ext cx="687387" cy="133350"/>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08" name="AutoShape 146">
            <a:extLst>
              <a:ext uri="{FF2B5EF4-FFF2-40B4-BE49-F238E27FC236}">
                <a16:creationId xmlns:a16="http://schemas.microsoft.com/office/drawing/2014/main" id="{DACF0B12-3C94-45D5-8A19-C1B9CD48088F}"/>
              </a:ext>
            </a:extLst>
          </p:cNvPr>
          <p:cNvSpPr>
            <a:spLocks noChangeArrowheads="1"/>
          </p:cNvSpPr>
          <p:nvPr/>
        </p:nvSpPr>
        <p:spPr bwMode="auto">
          <a:xfrm>
            <a:off x="6083300" y="4625976"/>
            <a:ext cx="839788" cy="131763"/>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09" name="AutoShape 147">
            <a:extLst>
              <a:ext uri="{FF2B5EF4-FFF2-40B4-BE49-F238E27FC236}">
                <a16:creationId xmlns:a16="http://schemas.microsoft.com/office/drawing/2014/main" id="{E8682E82-B5FB-48F3-AE38-D5E1790434A7}"/>
              </a:ext>
            </a:extLst>
          </p:cNvPr>
          <p:cNvSpPr>
            <a:spLocks noChangeArrowheads="1"/>
          </p:cNvSpPr>
          <p:nvPr/>
        </p:nvSpPr>
        <p:spPr bwMode="auto">
          <a:xfrm>
            <a:off x="7069139" y="4492625"/>
            <a:ext cx="536575" cy="133350"/>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10" name="Rectangle 148">
            <a:extLst>
              <a:ext uri="{FF2B5EF4-FFF2-40B4-BE49-F238E27FC236}">
                <a16:creationId xmlns:a16="http://schemas.microsoft.com/office/drawing/2014/main" id="{AF99D74C-688D-4FDD-A33B-114CB966F17D}"/>
              </a:ext>
            </a:extLst>
          </p:cNvPr>
          <p:cNvSpPr>
            <a:spLocks noChangeArrowheads="1"/>
          </p:cNvSpPr>
          <p:nvPr/>
        </p:nvSpPr>
        <p:spPr bwMode="auto">
          <a:xfrm>
            <a:off x="6491289" y="3608389"/>
            <a:ext cx="77787" cy="1189037"/>
          </a:xfrm>
          <a:prstGeom prst="rect">
            <a:avLst/>
          </a:prstGeom>
          <a:noFill/>
          <a:ln w="63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11" name="Rectangle 149">
            <a:extLst>
              <a:ext uri="{FF2B5EF4-FFF2-40B4-BE49-F238E27FC236}">
                <a16:creationId xmlns:a16="http://schemas.microsoft.com/office/drawing/2014/main" id="{33E95D8C-6FB0-4A19-9930-9306E819A314}"/>
              </a:ext>
            </a:extLst>
          </p:cNvPr>
          <p:cNvSpPr>
            <a:spLocks noChangeArrowheads="1"/>
          </p:cNvSpPr>
          <p:nvPr/>
        </p:nvSpPr>
        <p:spPr bwMode="auto">
          <a:xfrm>
            <a:off x="7310439" y="3578225"/>
            <a:ext cx="77787" cy="1189038"/>
          </a:xfrm>
          <a:prstGeom prst="rect">
            <a:avLst/>
          </a:prstGeom>
          <a:noFill/>
          <a:ln w="63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12" name="Rectangle 150">
            <a:extLst>
              <a:ext uri="{FF2B5EF4-FFF2-40B4-BE49-F238E27FC236}">
                <a16:creationId xmlns:a16="http://schemas.microsoft.com/office/drawing/2014/main" id="{22915DFF-25EA-4B09-8306-C58A96A99D08}"/>
              </a:ext>
            </a:extLst>
          </p:cNvPr>
          <p:cNvSpPr>
            <a:spLocks noChangeArrowheads="1"/>
          </p:cNvSpPr>
          <p:nvPr/>
        </p:nvSpPr>
        <p:spPr bwMode="auto">
          <a:xfrm>
            <a:off x="5233988" y="3173413"/>
            <a:ext cx="360362"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a:latin typeface="Tahoma" panose="020B0604030504040204" pitchFamily="34" charset="0"/>
                <a:ea typeface="宋体" panose="02010600030101010101" pitchFamily="2" charset="-122"/>
              </a:rPr>
              <a:t>A</a:t>
            </a:r>
          </a:p>
        </p:txBody>
      </p:sp>
      <p:sp>
        <p:nvSpPr>
          <p:cNvPr id="45113" name="Rectangle 151">
            <a:extLst>
              <a:ext uri="{FF2B5EF4-FFF2-40B4-BE49-F238E27FC236}">
                <a16:creationId xmlns:a16="http://schemas.microsoft.com/office/drawing/2014/main" id="{92684536-011C-4905-AF1B-187CB604EF86}"/>
              </a:ext>
            </a:extLst>
          </p:cNvPr>
          <p:cNvSpPr>
            <a:spLocks noChangeArrowheads="1"/>
          </p:cNvSpPr>
          <p:nvPr/>
        </p:nvSpPr>
        <p:spPr bwMode="auto">
          <a:xfrm>
            <a:off x="6346826" y="3173413"/>
            <a:ext cx="360363"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a:latin typeface="Tahoma" panose="020B0604030504040204" pitchFamily="34" charset="0"/>
                <a:ea typeface="宋体" panose="02010600030101010101" pitchFamily="2" charset="-122"/>
              </a:rPr>
              <a:t>B</a:t>
            </a:r>
          </a:p>
        </p:txBody>
      </p:sp>
      <p:sp>
        <p:nvSpPr>
          <p:cNvPr id="45114" name="Rectangle 152">
            <a:extLst>
              <a:ext uri="{FF2B5EF4-FFF2-40B4-BE49-F238E27FC236}">
                <a16:creationId xmlns:a16="http://schemas.microsoft.com/office/drawing/2014/main" id="{EC62EB0C-3A1B-4CCC-A891-0C3CA6C92E24}"/>
              </a:ext>
            </a:extLst>
          </p:cNvPr>
          <p:cNvSpPr>
            <a:spLocks noChangeArrowheads="1"/>
          </p:cNvSpPr>
          <p:nvPr/>
        </p:nvSpPr>
        <p:spPr bwMode="auto">
          <a:xfrm>
            <a:off x="7170738" y="3132138"/>
            <a:ext cx="360362"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a:latin typeface="Tahoma" panose="020B0604030504040204" pitchFamily="34" charset="0"/>
                <a:ea typeface="宋体" panose="02010600030101010101" pitchFamily="2" charset="-122"/>
              </a:rPr>
              <a:t>C</a:t>
            </a:r>
          </a:p>
        </p:txBody>
      </p:sp>
      <p:sp>
        <p:nvSpPr>
          <p:cNvPr id="45115" name="Rectangle 153">
            <a:extLst>
              <a:ext uri="{FF2B5EF4-FFF2-40B4-BE49-F238E27FC236}">
                <a16:creationId xmlns:a16="http://schemas.microsoft.com/office/drawing/2014/main" id="{5794F160-0C91-4C25-A579-DD059D48F60C}"/>
              </a:ext>
            </a:extLst>
          </p:cNvPr>
          <p:cNvSpPr>
            <a:spLocks noChangeArrowheads="1"/>
          </p:cNvSpPr>
          <p:nvPr/>
        </p:nvSpPr>
        <p:spPr bwMode="auto">
          <a:xfrm>
            <a:off x="4759326" y="3028951"/>
            <a:ext cx="2951163" cy="1800225"/>
          </a:xfrm>
          <a:prstGeom prst="rect">
            <a:avLst/>
          </a:prstGeom>
          <a:noFill/>
          <a:ln w="12700">
            <a:solidFill>
              <a:srgbClr val="007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16" name="AutoShape 154">
            <a:extLst>
              <a:ext uri="{FF2B5EF4-FFF2-40B4-BE49-F238E27FC236}">
                <a16:creationId xmlns:a16="http://schemas.microsoft.com/office/drawing/2014/main" id="{CF81E107-A9EA-4257-80D8-C42676206983}"/>
              </a:ext>
            </a:extLst>
          </p:cNvPr>
          <p:cNvSpPr>
            <a:spLocks noChangeArrowheads="1"/>
          </p:cNvSpPr>
          <p:nvPr/>
        </p:nvSpPr>
        <p:spPr bwMode="auto">
          <a:xfrm>
            <a:off x="4873625" y="4643438"/>
            <a:ext cx="1144588" cy="133350"/>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17" name="AutoShape 158">
            <a:extLst>
              <a:ext uri="{FF2B5EF4-FFF2-40B4-BE49-F238E27FC236}">
                <a16:creationId xmlns:a16="http://schemas.microsoft.com/office/drawing/2014/main" id="{6EBD62D6-B0A5-4D28-B8CD-0559FE96A4D8}"/>
              </a:ext>
            </a:extLst>
          </p:cNvPr>
          <p:cNvSpPr>
            <a:spLocks noChangeArrowheads="1"/>
          </p:cNvSpPr>
          <p:nvPr/>
        </p:nvSpPr>
        <p:spPr bwMode="auto">
          <a:xfrm>
            <a:off x="4546600" y="2740026"/>
            <a:ext cx="992188" cy="131763"/>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18" name="AutoShape 159">
            <a:extLst>
              <a:ext uri="{FF2B5EF4-FFF2-40B4-BE49-F238E27FC236}">
                <a16:creationId xmlns:a16="http://schemas.microsoft.com/office/drawing/2014/main" id="{32913F7F-96FE-46A2-B4DB-396C631EEFBC}"/>
              </a:ext>
            </a:extLst>
          </p:cNvPr>
          <p:cNvSpPr>
            <a:spLocks noChangeArrowheads="1"/>
          </p:cNvSpPr>
          <p:nvPr/>
        </p:nvSpPr>
        <p:spPr bwMode="auto">
          <a:xfrm>
            <a:off x="1825625" y="4625976"/>
            <a:ext cx="992188" cy="131763"/>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19" name="AutoShape 160">
            <a:extLst>
              <a:ext uri="{FF2B5EF4-FFF2-40B4-BE49-F238E27FC236}">
                <a16:creationId xmlns:a16="http://schemas.microsoft.com/office/drawing/2014/main" id="{73040ACA-F384-42E0-80E2-26DD4A502A9B}"/>
              </a:ext>
            </a:extLst>
          </p:cNvPr>
          <p:cNvSpPr>
            <a:spLocks noChangeArrowheads="1"/>
          </p:cNvSpPr>
          <p:nvPr/>
        </p:nvSpPr>
        <p:spPr bwMode="auto">
          <a:xfrm>
            <a:off x="1906589" y="4470401"/>
            <a:ext cx="839787" cy="131763"/>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20" name="Rectangle 175">
            <a:extLst>
              <a:ext uri="{FF2B5EF4-FFF2-40B4-BE49-F238E27FC236}">
                <a16:creationId xmlns:a16="http://schemas.microsoft.com/office/drawing/2014/main" id="{6696B1AF-94B6-40FA-A485-1B4BB76E7640}"/>
              </a:ext>
            </a:extLst>
          </p:cNvPr>
          <p:cNvSpPr>
            <a:spLocks noChangeArrowheads="1"/>
          </p:cNvSpPr>
          <p:nvPr/>
        </p:nvSpPr>
        <p:spPr bwMode="auto">
          <a:xfrm>
            <a:off x="2311400" y="5548313"/>
            <a:ext cx="69850" cy="1109662"/>
          </a:xfrm>
          <a:prstGeom prst="rect">
            <a:avLst/>
          </a:prstGeom>
          <a:noFill/>
          <a:ln w="63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21" name="AutoShape 176">
            <a:extLst>
              <a:ext uri="{FF2B5EF4-FFF2-40B4-BE49-F238E27FC236}">
                <a16:creationId xmlns:a16="http://schemas.microsoft.com/office/drawing/2014/main" id="{AAF804DC-4ADA-4202-80DB-413EB6210ADA}"/>
              </a:ext>
            </a:extLst>
          </p:cNvPr>
          <p:cNvSpPr>
            <a:spLocks noChangeArrowheads="1"/>
          </p:cNvSpPr>
          <p:nvPr/>
        </p:nvSpPr>
        <p:spPr bwMode="auto">
          <a:xfrm>
            <a:off x="1992314" y="6308725"/>
            <a:ext cx="687387" cy="133350"/>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22" name="AutoShape 177">
            <a:extLst>
              <a:ext uri="{FF2B5EF4-FFF2-40B4-BE49-F238E27FC236}">
                <a16:creationId xmlns:a16="http://schemas.microsoft.com/office/drawing/2014/main" id="{AC20BA57-6581-4E2E-88EE-662294ACD9D3}"/>
              </a:ext>
            </a:extLst>
          </p:cNvPr>
          <p:cNvSpPr>
            <a:spLocks noChangeArrowheads="1"/>
          </p:cNvSpPr>
          <p:nvPr/>
        </p:nvSpPr>
        <p:spPr bwMode="auto">
          <a:xfrm>
            <a:off x="1906589" y="6459538"/>
            <a:ext cx="839787" cy="131762"/>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23" name="AutoShape 178">
            <a:extLst>
              <a:ext uri="{FF2B5EF4-FFF2-40B4-BE49-F238E27FC236}">
                <a16:creationId xmlns:a16="http://schemas.microsoft.com/office/drawing/2014/main" id="{16E1478E-5B1B-4FF5-B050-B9C3A7EB812D}"/>
              </a:ext>
            </a:extLst>
          </p:cNvPr>
          <p:cNvSpPr>
            <a:spLocks noChangeArrowheads="1"/>
          </p:cNvSpPr>
          <p:nvPr/>
        </p:nvSpPr>
        <p:spPr bwMode="auto">
          <a:xfrm>
            <a:off x="3143251" y="6524625"/>
            <a:ext cx="536575" cy="133350"/>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24" name="Rectangle 179">
            <a:extLst>
              <a:ext uri="{FF2B5EF4-FFF2-40B4-BE49-F238E27FC236}">
                <a16:creationId xmlns:a16="http://schemas.microsoft.com/office/drawing/2014/main" id="{CA531CF5-6500-43C0-B93F-441BC37E4ECE}"/>
              </a:ext>
            </a:extLst>
          </p:cNvPr>
          <p:cNvSpPr>
            <a:spLocks noChangeArrowheads="1"/>
          </p:cNvSpPr>
          <p:nvPr/>
        </p:nvSpPr>
        <p:spPr bwMode="auto">
          <a:xfrm>
            <a:off x="3402014" y="5551489"/>
            <a:ext cx="77787" cy="1189037"/>
          </a:xfrm>
          <a:prstGeom prst="rect">
            <a:avLst/>
          </a:prstGeom>
          <a:noFill/>
          <a:ln w="63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25" name="Rectangle 180">
            <a:extLst>
              <a:ext uri="{FF2B5EF4-FFF2-40B4-BE49-F238E27FC236}">
                <a16:creationId xmlns:a16="http://schemas.microsoft.com/office/drawing/2014/main" id="{B0FE9FD1-FA70-46D1-A1D6-92587DEB5E6F}"/>
              </a:ext>
            </a:extLst>
          </p:cNvPr>
          <p:cNvSpPr>
            <a:spLocks noChangeArrowheads="1"/>
          </p:cNvSpPr>
          <p:nvPr/>
        </p:nvSpPr>
        <p:spPr bwMode="auto">
          <a:xfrm>
            <a:off x="4217989" y="5521325"/>
            <a:ext cx="77787" cy="1189038"/>
          </a:xfrm>
          <a:prstGeom prst="rect">
            <a:avLst/>
          </a:prstGeom>
          <a:noFill/>
          <a:ln w="63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26" name="Rectangle 181">
            <a:extLst>
              <a:ext uri="{FF2B5EF4-FFF2-40B4-BE49-F238E27FC236}">
                <a16:creationId xmlns:a16="http://schemas.microsoft.com/office/drawing/2014/main" id="{27139C15-A4FB-46DA-8C41-B67C40EDB28F}"/>
              </a:ext>
            </a:extLst>
          </p:cNvPr>
          <p:cNvSpPr>
            <a:spLocks noChangeArrowheads="1"/>
          </p:cNvSpPr>
          <p:nvPr/>
        </p:nvSpPr>
        <p:spPr bwMode="auto">
          <a:xfrm>
            <a:off x="2141538" y="5116513"/>
            <a:ext cx="360362"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a:latin typeface="Tahoma" panose="020B0604030504040204" pitchFamily="34" charset="0"/>
                <a:ea typeface="宋体" panose="02010600030101010101" pitchFamily="2" charset="-122"/>
              </a:rPr>
              <a:t>A</a:t>
            </a:r>
          </a:p>
        </p:txBody>
      </p:sp>
      <p:sp>
        <p:nvSpPr>
          <p:cNvPr id="45127" name="Rectangle 182">
            <a:extLst>
              <a:ext uri="{FF2B5EF4-FFF2-40B4-BE49-F238E27FC236}">
                <a16:creationId xmlns:a16="http://schemas.microsoft.com/office/drawing/2014/main" id="{2EA27004-6D5D-42DB-BA04-82312B55BC0C}"/>
              </a:ext>
            </a:extLst>
          </p:cNvPr>
          <p:cNvSpPr>
            <a:spLocks noChangeArrowheads="1"/>
          </p:cNvSpPr>
          <p:nvPr/>
        </p:nvSpPr>
        <p:spPr bwMode="auto">
          <a:xfrm>
            <a:off x="3259138" y="5116513"/>
            <a:ext cx="360362"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a:latin typeface="Tahoma" panose="020B0604030504040204" pitchFamily="34" charset="0"/>
                <a:ea typeface="宋体" panose="02010600030101010101" pitchFamily="2" charset="-122"/>
              </a:rPr>
              <a:t>B</a:t>
            </a:r>
          </a:p>
        </p:txBody>
      </p:sp>
      <p:sp>
        <p:nvSpPr>
          <p:cNvPr id="45128" name="Rectangle 183">
            <a:extLst>
              <a:ext uri="{FF2B5EF4-FFF2-40B4-BE49-F238E27FC236}">
                <a16:creationId xmlns:a16="http://schemas.microsoft.com/office/drawing/2014/main" id="{14EDF682-0097-42BC-947B-F2A4F7D4AC3F}"/>
              </a:ext>
            </a:extLst>
          </p:cNvPr>
          <p:cNvSpPr>
            <a:spLocks noChangeArrowheads="1"/>
          </p:cNvSpPr>
          <p:nvPr/>
        </p:nvSpPr>
        <p:spPr bwMode="auto">
          <a:xfrm>
            <a:off x="4078288" y="5075238"/>
            <a:ext cx="360362"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a:latin typeface="Tahoma" panose="020B0604030504040204" pitchFamily="34" charset="0"/>
                <a:ea typeface="宋体" panose="02010600030101010101" pitchFamily="2" charset="-122"/>
              </a:rPr>
              <a:t>C</a:t>
            </a:r>
          </a:p>
        </p:txBody>
      </p:sp>
      <p:sp>
        <p:nvSpPr>
          <p:cNvPr id="45129" name="Rectangle 184">
            <a:extLst>
              <a:ext uri="{FF2B5EF4-FFF2-40B4-BE49-F238E27FC236}">
                <a16:creationId xmlns:a16="http://schemas.microsoft.com/office/drawing/2014/main" id="{60B9A940-FBC9-4305-8804-D3E67C0F1841}"/>
              </a:ext>
            </a:extLst>
          </p:cNvPr>
          <p:cNvSpPr>
            <a:spLocks noChangeArrowheads="1"/>
          </p:cNvSpPr>
          <p:nvPr/>
        </p:nvSpPr>
        <p:spPr bwMode="auto">
          <a:xfrm>
            <a:off x="1666876" y="4972051"/>
            <a:ext cx="2951163" cy="1800225"/>
          </a:xfrm>
          <a:prstGeom prst="rect">
            <a:avLst/>
          </a:prstGeom>
          <a:noFill/>
          <a:ln w="12700">
            <a:solidFill>
              <a:srgbClr val="007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30" name="AutoShape 185">
            <a:extLst>
              <a:ext uri="{FF2B5EF4-FFF2-40B4-BE49-F238E27FC236}">
                <a16:creationId xmlns:a16="http://schemas.microsoft.com/office/drawing/2014/main" id="{A5352E1F-955D-410F-AE97-F3F1C0640996}"/>
              </a:ext>
            </a:extLst>
          </p:cNvPr>
          <p:cNvSpPr>
            <a:spLocks noChangeArrowheads="1"/>
          </p:cNvSpPr>
          <p:nvPr/>
        </p:nvSpPr>
        <p:spPr bwMode="auto">
          <a:xfrm>
            <a:off x="1846264" y="6586538"/>
            <a:ext cx="992187" cy="131762"/>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31" name="AutoShape 186">
            <a:extLst>
              <a:ext uri="{FF2B5EF4-FFF2-40B4-BE49-F238E27FC236}">
                <a16:creationId xmlns:a16="http://schemas.microsoft.com/office/drawing/2014/main" id="{1DC028AF-E9B3-493B-BDB6-AA900648F4DD}"/>
              </a:ext>
            </a:extLst>
          </p:cNvPr>
          <p:cNvSpPr>
            <a:spLocks noChangeAspect="1" noChangeArrowheads="1"/>
          </p:cNvSpPr>
          <p:nvPr/>
        </p:nvSpPr>
        <p:spPr bwMode="auto">
          <a:xfrm>
            <a:off x="8255000" y="3644901"/>
            <a:ext cx="2668588" cy="119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32" name="Rectangle 187">
            <a:extLst>
              <a:ext uri="{FF2B5EF4-FFF2-40B4-BE49-F238E27FC236}">
                <a16:creationId xmlns:a16="http://schemas.microsoft.com/office/drawing/2014/main" id="{CE551B52-3CD4-4B25-9707-CDDDD93DDA20}"/>
              </a:ext>
            </a:extLst>
          </p:cNvPr>
          <p:cNvSpPr>
            <a:spLocks noChangeArrowheads="1"/>
          </p:cNvSpPr>
          <p:nvPr/>
        </p:nvSpPr>
        <p:spPr bwMode="auto">
          <a:xfrm>
            <a:off x="8396288" y="3644901"/>
            <a:ext cx="69850" cy="1109663"/>
          </a:xfrm>
          <a:prstGeom prst="rect">
            <a:avLst/>
          </a:prstGeom>
          <a:noFill/>
          <a:ln w="63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33" name="AutoShape 188">
            <a:extLst>
              <a:ext uri="{FF2B5EF4-FFF2-40B4-BE49-F238E27FC236}">
                <a16:creationId xmlns:a16="http://schemas.microsoft.com/office/drawing/2014/main" id="{55B99337-5A79-456B-907C-11BBD09D424F}"/>
              </a:ext>
            </a:extLst>
          </p:cNvPr>
          <p:cNvSpPr>
            <a:spLocks noChangeArrowheads="1"/>
          </p:cNvSpPr>
          <p:nvPr/>
        </p:nvSpPr>
        <p:spPr bwMode="auto">
          <a:xfrm>
            <a:off x="9296400" y="4424363"/>
            <a:ext cx="687388" cy="133350"/>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34" name="AutoShape 189">
            <a:extLst>
              <a:ext uri="{FF2B5EF4-FFF2-40B4-BE49-F238E27FC236}">
                <a16:creationId xmlns:a16="http://schemas.microsoft.com/office/drawing/2014/main" id="{94999F29-63A9-4F9C-90C7-493F40F0702B}"/>
              </a:ext>
            </a:extLst>
          </p:cNvPr>
          <p:cNvSpPr>
            <a:spLocks noChangeArrowheads="1"/>
          </p:cNvSpPr>
          <p:nvPr/>
        </p:nvSpPr>
        <p:spPr bwMode="auto">
          <a:xfrm>
            <a:off x="9228139" y="4556126"/>
            <a:ext cx="839787" cy="131763"/>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35" name="AutoShape 190">
            <a:extLst>
              <a:ext uri="{FF2B5EF4-FFF2-40B4-BE49-F238E27FC236}">
                <a16:creationId xmlns:a16="http://schemas.microsoft.com/office/drawing/2014/main" id="{93516571-965D-4ADD-B28C-407C0513780E}"/>
              </a:ext>
            </a:extLst>
          </p:cNvPr>
          <p:cNvSpPr>
            <a:spLocks noChangeArrowheads="1"/>
          </p:cNvSpPr>
          <p:nvPr/>
        </p:nvSpPr>
        <p:spPr bwMode="auto">
          <a:xfrm>
            <a:off x="9372601" y="4292600"/>
            <a:ext cx="536575" cy="133350"/>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36" name="Rectangle 191">
            <a:extLst>
              <a:ext uri="{FF2B5EF4-FFF2-40B4-BE49-F238E27FC236}">
                <a16:creationId xmlns:a16="http://schemas.microsoft.com/office/drawing/2014/main" id="{3293B256-57AF-41CF-8A8E-BE1C16B691CD}"/>
              </a:ext>
            </a:extLst>
          </p:cNvPr>
          <p:cNvSpPr>
            <a:spLocks noChangeArrowheads="1"/>
          </p:cNvSpPr>
          <p:nvPr/>
        </p:nvSpPr>
        <p:spPr bwMode="auto">
          <a:xfrm>
            <a:off x="9631364" y="3648075"/>
            <a:ext cx="77787" cy="1189038"/>
          </a:xfrm>
          <a:prstGeom prst="rect">
            <a:avLst/>
          </a:prstGeom>
          <a:noFill/>
          <a:ln w="63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37" name="Rectangle 192">
            <a:extLst>
              <a:ext uri="{FF2B5EF4-FFF2-40B4-BE49-F238E27FC236}">
                <a16:creationId xmlns:a16="http://schemas.microsoft.com/office/drawing/2014/main" id="{77F7AA0D-6AD1-4620-9C93-F94CC55CD64B}"/>
              </a:ext>
            </a:extLst>
          </p:cNvPr>
          <p:cNvSpPr>
            <a:spLocks noChangeArrowheads="1"/>
          </p:cNvSpPr>
          <p:nvPr/>
        </p:nvSpPr>
        <p:spPr bwMode="auto">
          <a:xfrm>
            <a:off x="10302875" y="3617914"/>
            <a:ext cx="77788" cy="1189037"/>
          </a:xfrm>
          <a:prstGeom prst="rect">
            <a:avLst/>
          </a:prstGeom>
          <a:noFill/>
          <a:ln w="63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38" name="Rectangle 193">
            <a:extLst>
              <a:ext uri="{FF2B5EF4-FFF2-40B4-BE49-F238E27FC236}">
                <a16:creationId xmlns:a16="http://schemas.microsoft.com/office/drawing/2014/main" id="{F46B5CE0-C4EB-4EA7-8A48-5B94C22379FC}"/>
              </a:ext>
            </a:extLst>
          </p:cNvPr>
          <p:cNvSpPr>
            <a:spLocks noChangeArrowheads="1"/>
          </p:cNvSpPr>
          <p:nvPr/>
        </p:nvSpPr>
        <p:spPr bwMode="auto">
          <a:xfrm>
            <a:off x="8226426" y="3213101"/>
            <a:ext cx="360363"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a:latin typeface="Tahoma" panose="020B0604030504040204" pitchFamily="34" charset="0"/>
                <a:ea typeface="宋体" panose="02010600030101010101" pitchFamily="2" charset="-122"/>
              </a:rPr>
              <a:t>A</a:t>
            </a:r>
          </a:p>
        </p:txBody>
      </p:sp>
      <p:sp>
        <p:nvSpPr>
          <p:cNvPr id="45139" name="Rectangle 194">
            <a:extLst>
              <a:ext uri="{FF2B5EF4-FFF2-40B4-BE49-F238E27FC236}">
                <a16:creationId xmlns:a16="http://schemas.microsoft.com/office/drawing/2014/main" id="{B096FB59-B16B-4228-9BCF-B664F8A740EC}"/>
              </a:ext>
            </a:extLst>
          </p:cNvPr>
          <p:cNvSpPr>
            <a:spLocks noChangeArrowheads="1"/>
          </p:cNvSpPr>
          <p:nvPr/>
        </p:nvSpPr>
        <p:spPr bwMode="auto">
          <a:xfrm>
            <a:off x="9488488" y="3213101"/>
            <a:ext cx="360362"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a:latin typeface="Tahoma" panose="020B0604030504040204" pitchFamily="34" charset="0"/>
                <a:ea typeface="宋体" panose="02010600030101010101" pitchFamily="2" charset="-122"/>
              </a:rPr>
              <a:t>B</a:t>
            </a:r>
          </a:p>
        </p:txBody>
      </p:sp>
      <p:sp>
        <p:nvSpPr>
          <p:cNvPr id="45140" name="Rectangle 195">
            <a:extLst>
              <a:ext uri="{FF2B5EF4-FFF2-40B4-BE49-F238E27FC236}">
                <a16:creationId xmlns:a16="http://schemas.microsoft.com/office/drawing/2014/main" id="{0D73E2F8-999A-4353-B0F1-EAC915F34CEF}"/>
              </a:ext>
            </a:extLst>
          </p:cNvPr>
          <p:cNvSpPr>
            <a:spLocks noChangeArrowheads="1"/>
          </p:cNvSpPr>
          <p:nvPr/>
        </p:nvSpPr>
        <p:spPr bwMode="auto">
          <a:xfrm>
            <a:off x="10163176" y="3171826"/>
            <a:ext cx="360363"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a:latin typeface="Tahoma" panose="020B0604030504040204" pitchFamily="34" charset="0"/>
                <a:ea typeface="宋体" panose="02010600030101010101" pitchFamily="2" charset="-122"/>
              </a:rPr>
              <a:t>C</a:t>
            </a:r>
          </a:p>
        </p:txBody>
      </p:sp>
      <p:sp>
        <p:nvSpPr>
          <p:cNvPr id="45141" name="Rectangle 196">
            <a:extLst>
              <a:ext uri="{FF2B5EF4-FFF2-40B4-BE49-F238E27FC236}">
                <a16:creationId xmlns:a16="http://schemas.microsoft.com/office/drawing/2014/main" id="{96EFEC80-E5F0-45B1-8356-ADA80D8590E2}"/>
              </a:ext>
            </a:extLst>
          </p:cNvPr>
          <p:cNvSpPr>
            <a:spLocks noChangeArrowheads="1"/>
          </p:cNvSpPr>
          <p:nvPr/>
        </p:nvSpPr>
        <p:spPr bwMode="auto">
          <a:xfrm>
            <a:off x="7751763" y="3068639"/>
            <a:ext cx="2951162" cy="1800225"/>
          </a:xfrm>
          <a:prstGeom prst="rect">
            <a:avLst/>
          </a:prstGeom>
          <a:noFill/>
          <a:ln w="12700">
            <a:solidFill>
              <a:srgbClr val="00B05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42" name="AutoShape 197">
            <a:extLst>
              <a:ext uri="{FF2B5EF4-FFF2-40B4-BE49-F238E27FC236}">
                <a16:creationId xmlns:a16="http://schemas.microsoft.com/office/drawing/2014/main" id="{2086251E-28BF-4B99-A8EF-C4487D5728A9}"/>
              </a:ext>
            </a:extLst>
          </p:cNvPr>
          <p:cNvSpPr>
            <a:spLocks noChangeArrowheads="1"/>
          </p:cNvSpPr>
          <p:nvPr/>
        </p:nvSpPr>
        <p:spPr bwMode="auto">
          <a:xfrm>
            <a:off x="7931150" y="4683126"/>
            <a:ext cx="992188" cy="131763"/>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43" name="Rectangle 209">
            <a:extLst>
              <a:ext uri="{FF2B5EF4-FFF2-40B4-BE49-F238E27FC236}">
                <a16:creationId xmlns:a16="http://schemas.microsoft.com/office/drawing/2014/main" id="{F8F856DC-80EF-4B81-BDDE-F47E02B73186}"/>
              </a:ext>
            </a:extLst>
          </p:cNvPr>
          <p:cNvSpPr>
            <a:spLocks noChangeArrowheads="1"/>
          </p:cNvSpPr>
          <p:nvPr/>
        </p:nvSpPr>
        <p:spPr bwMode="auto">
          <a:xfrm>
            <a:off x="5373688" y="5518151"/>
            <a:ext cx="69850" cy="1109663"/>
          </a:xfrm>
          <a:prstGeom prst="rect">
            <a:avLst/>
          </a:prstGeom>
          <a:noFill/>
          <a:ln w="63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44" name="AutoShape 210">
            <a:extLst>
              <a:ext uri="{FF2B5EF4-FFF2-40B4-BE49-F238E27FC236}">
                <a16:creationId xmlns:a16="http://schemas.microsoft.com/office/drawing/2014/main" id="{20ED7EA5-991C-4310-9E21-84EF0A52C875}"/>
              </a:ext>
            </a:extLst>
          </p:cNvPr>
          <p:cNvSpPr>
            <a:spLocks noChangeArrowheads="1"/>
          </p:cNvSpPr>
          <p:nvPr/>
        </p:nvSpPr>
        <p:spPr bwMode="auto">
          <a:xfrm>
            <a:off x="6962775" y="6537325"/>
            <a:ext cx="687388" cy="133350"/>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45" name="AutoShape 211">
            <a:extLst>
              <a:ext uri="{FF2B5EF4-FFF2-40B4-BE49-F238E27FC236}">
                <a16:creationId xmlns:a16="http://schemas.microsoft.com/office/drawing/2014/main" id="{68B4F1AA-5315-42D3-876B-01D87CC1AC67}"/>
              </a:ext>
            </a:extLst>
          </p:cNvPr>
          <p:cNvSpPr>
            <a:spLocks noChangeArrowheads="1"/>
          </p:cNvSpPr>
          <p:nvPr/>
        </p:nvSpPr>
        <p:spPr bwMode="auto">
          <a:xfrm>
            <a:off x="6207126" y="6535738"/>
            <a:ext cx="536575" cy="133350"/>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46" name="Rectangle 212">
            <a:extLst>
              <a:ext uri="{FF2B5EF4-FFF2-40B4-BE49-F238E27FC236}">
                <a16:creationId xmlns:a16="http://schemas.microsoft.com/office/drawing/2014/main" id="{BBFFE18F-E037-4F68-B06C-F7B84793F30B}"/>
              </a:ext>
            </a:extLst>
          </p:cNvPr>
          <p:cNvSpPr>
            <a:spLocks noChangeArrowheads="1"/>
          </p:cNvSpPr>
          <p:nvPr/>
        </p:nvSpPr>
        <p:spPr bwMode="auto">
          <a:xfrm>
            <a:off x="6454775" y="5521325"/>
            <a:ext cx="77788" cy="1189038"/>
          </a:xfrm>
          <a:prstGeom prst="rect">
            <a:avLst/>
          </a:prstGeom>
          <a:noFill/>
          <a:ln w="63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47" name="Rectangle 213">
            <a:extLst>
              <a:ext uri="{FF2B5EF4-FFF2-40B4-BE49-F238E27FC236}">
                <a16:creationId xmlns:a16="http://schemas.microsoft.com/office/drawing/2014/main" id="{3C86345B-7A7F-4901-9179-DC6BF3D000D7}"/>
              </a:ext>
            </a:extLst>
          </p:cNvPr>
          <p:cNvSpPr>
            <a:spLocks noChangeArrowheads="1"/>
          </p:cNvSpPr>
          <p:nvPr/>
        </p:nvSpPr>
        <p:spPr bwMode="auto">
          <a:xfrm>
            <a:off x="7280275" y="5491164"/>
            <a:ext cx="77788" cy="1189037"/>
          </a:xfrm>
          <a:prstGeom prst="rect">
            <a:avLst/>
          </a:prstGeom>
          <a:noFill/>
          <a:ln w="63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48" name="Rectangle 214">
            <a:extLst>
              <a:ext uri="{FF2B5EF4-FFF2-40B4-BE49-F238E27FC236}">
                <a16:creationId xmlns:a16="http://schemas.microsoft.com/office/drawing/2014/main" id="{767F0E02-88EC-4B92-AB0F-76B0DE251E9D}"/>
              </a:ext>
            </a:extLst>
          </p:cNvPr>
          <p:cNvSpPr>
            <a:spLocks noChangeArrowheads="1"/>
          </p:cNvSpPr>
          <p:nvPr/>
        </p:nvSpPr>
        <p:spPr bwMode="auto">
          <a:xfrm>
            <a:off x="5203826" y="5086351"/>
            <a:ext cx="360363"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a:latin typeface="Tahoma" panose="020B0604030504040204" pitchFamily="34" charset="0"/>
                <a:ea typeface="宋体" panose="02010600030101010101" pitchFamily="2" charset="-122"/>
              </a:rPr>
              <a:t>A</a:t>
            </a:r>
          </a:p>
        </p:txBody>
      </p:sp>
      <p:sp>
        <p:nvSpPr>
          <p:cNvPr id="45149" name="Rectangle 215">
            <a:extLst>
              <a:ext uri="{FF2B5EF4-FFF2-40B4-BE49-F238E27FC236}">
                <a16:creationId xmlns:a16="http://schemas.microsoft.com/office/drawing/2014/main" id="{559B1AA4-AB7D-4F47-AB83-203390E5F140}"/>
              </a:ext>
            </a:extLst>
          </p:cNvPr>
          <p:cNvSpPr>
            <a:spLocks noChangeArrowheads="1"/>
          </p:cNvSpPr>
          <p:nvPr/>
        </p:nvSpPr>
        <p:spPr bwMode="auto">
          <a:xfrm>
            <a:off x="6311901" y="5086351"/>
            <a:ext cx="360363"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a:latin typeface="Tahoma" panose="020B0604030504040204" pitchFamily="34" charset="0"/>
                <a:ea typeface="宋体" panose="02010600030101010101" pitchFamily="2" charset="-122"/>
              </a:rPr>
              <a:t>B</a:t>
            </a:r>
          </a:p>
        </p:txBody>
      </p:sp>
      <p:sp>
        <p:nvSpPr>
          <p:cNvPr id="45150" name="Rectangle 216">
            <a:extLst>
              <a:ext uri="{FF2B5EF4-FFF2-40B4-BE49-F238E27FC236}">
                <a16:creationId xmlns:a16="http://schemas.microsoft.com/office/drawing/2014/main" id="{55C81074-B716-4998-AF5D-51062F6D1577}"/>
              </a:ext>
            </a:extLst>
          </p:cNvPr>
          <p:cNvSpPr>
            <a:spLocks noChangeArrowheads="1"/>
          </p:cNvSpPr>
          <p:nvPr/>
        </p:nvSpPr>
        <p:spPr bwMode="auto">
          <a:xfrm>
            <a:off x="7140576" y="5045076"/>
            <a:ext cx="360363"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a:latin typeface="Tahoma" panose="020B0604030504040204" pitchFamily="34" charset="0"/>
                <a:ea typeface="宋体" panose="02010600030101010101" pitchFamily="2" charset="-122"/>
              </a:rPr>
              <a:t>C</a:t>
            </a:r>
          </a:p>
        </p:txBody>
      </p:sp>
      <p:sp>
        <p:nvSpPr>
          <p:cNvPr id="45151" name="Rectangle 217">
            <a:extLst>
              <a:ext uri="{FF2B5EF4-FFF2-40B4-BE49-F238E27FC236}">
                <a16:creationId xmlns:a16="http://schemas.microsoft.com/office/drawing/2014/main" id="{719E8871-D370-45BF-AE69-DB0736E62638}"/>
              </a:ext>
            </a:extLst>
          </p:cNvPr>
          <p:cNvSpPr>
            <a:spLocks noChangeArrowheads="1"/>
          </p:cNvSpPr>
          <p:nvPr/>
        </p:nvSpPr>
        <p:spPr bwMode="auto">
          <a:xfrm>
            <a:off x="4729163" y="4941889"/>
            <a:ext cx="2951162" cy="1800225"/>
          </a:xfrm>
          <a:prstGeom prst="rect">
            <a:avLst/>
          </a:prstGeom>
          <a:noFill/>
          <a:ln w="12700">
            <a:solidFill>
              <a:srgbClr val="007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52" name="AutoShape 218">
            <a:extLst>
              <a:ext uri="{FF2B5EF4-FFF2-40B4-BE49-F238E27FC236}">
                <a16:creationId xmlns:a16="http://schemas.microsoft.com/office/drawing/2014/main" id="{E277481C-4ED2-415B-954C-71D4EEE85E30}"/>
              </a:ext>
            </a:extLst>
          </p:cNvPr>
          <p:cNvSpPr>
            <a:spLocks noChangeArrowheads="1"/>
          </p:cNvSpPr>
          <p:nvPr/>
        </p:nvSpPr>
        <p:spPr bwMode="auto">
          <a:xfrm>
            <a:off x="4887914" y="6538913"/>
            <a:ext cx="992187" cy="131762"/>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53" name="AutoShape 219">
            <a:extLst>
              <a:ext uri="{FF2B5EF4-FFF2-40B4-BE49-F238E27FC236}">
                <a16:creationId xmlns:a16="http://schemas.microsoft.com/office/drawing/2014/main" id="{0D2750CB-86E9-4C36-99AA-219C54B0302D}"/>
              </a:ext>
            </a:extLst>
          </p:cNvPr>
          <p:cNvSpPr>
            <a:spLocks noChangeArrowheads="1"/>
          </p:cNvSpPr>
          <p:nvPr/>
        </p:nvSpPr>
        <p:spPr bwMode="auto">
          <a:xfrm>
            <a:off x="4968875" y="6383338"/>
            <a:ext cx="839788" cy="131762"/>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54" name="Rectangle 220">
            <a:extLst>
              <a:ext uri="{FF2B5EF4-FFF2-40B4-BE49-F238E27FC236}">
                <a16:creationId xmlns:a16="http://schemas.microsoft.com/office/drawing/2014/main" id="{1CDD2346-3C88-45C1-84D0-BE0A83B20694}"/>
              </a:ext>
            </a:extLst>
          </p:cNvPr>
          <p:cNvSpPr>
            <a:spLocks noChangeArrowheads="1"/>
          </p:cNvSpPr>
          <p:nvPr/>
        </p:nvSpPr>
        <p:spPr bwMode="auto">
          <a:xfrm>
            <a:off x="8396288" y="5518151"/>
            <a:ext cx="69850" cy="1109663"/>
          </a:xfrm>
          <a:prstGeom prst="rect">
            <a:avLst/>
          </a:prstGeom>
          <a:noFill/>
          <a:ln w="63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55" name="AutoShape 221">
            <a:extLst>
              <a:ext uri="{FF2B5EF4-FFF2-40B4-BE49-F238E27FC236}">
                <a16:creationId xmlns:a16="http://schemas.microsoft.com/office/drawing/2014/main" id="{769CAEA1-AC8D-4965-9086-C933925A08C1}"/>
              </a:ext>
            </a:extLst>
          </p:cNvPr>
          <p:cNvSpPr>
            <a:spLocks noChangeArrowheads="1"/>
          </p:cNvSpPr>
          <p:nvPr/>
        </p:nvSpPr>
        <p:spPr bwMode="auto">
          <a:xfrm>
            <a:off x="9985375" y="6537325"/>
            <a:ext cx="687388" cy="133350"/>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56" name="AutoShape 222">
            <a:extLst>
              <a:ext uri="{FF2B5EF4-FFF2-40B4-BE49-F238E27FC236}">
                <a16:creationId xmlns:a16="http://schemas.microsoft.com/office/drawing/2014/main" id="{2D1AF530-E3D2-4EA1-9769-449612CF7159}"/>
              </a:ext>
            </a:extLst>
          </p:cNvPr>
          <p:cNvSpPr>
            <a:spLocks noChangeArrowheads="1"/>
          </p:cNvSpPr>
          <p:nvPr/>
        </p:nvSpPr>
        <p:spPr bwMode="auto">
          <a:xfrm>
            <a:off x="10061576" y="6405563"/>
            <a:ext cx="536575" cy="133350"/>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57" name="Rectangle 223">
            <a:extLst>
              <a:ext uri="{FF2B5EF4-FFF2-40B4-BE49-F238E27FC236}">
                <a16:creationId xmlns:a16="http://schemas.microsoft.com/office/drawing/2014/main" id="{CD425C09-6369-4D3D-A757-E4B4A42EB7A4}"/>
              </a:ext>
            </a:extLst>
          </p:cNvPr>
          <p:cNvSpPr>
            <a:spLocks noChangeArrowheads="1"/>
          </p:cNvSpPr>
          <p:nvPr/>
        </p:nvSpPr>
        <p:spPr bwMode="auto">
          <a:xfrm>
            <a:off x="9477375" y="5521325"/>
            <a:ext cx="77788" cy="1189038"/>
          </a:xfrm>
          <a:prstGeom prst="rect">
            <a:avLst/>
          </a:prstGeom>
          <a:noFill/>
          <a:ln w="63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58" name="Rectangle 224">
            <a:extLst>
              <a:ext uri="{FF2B5EF4-FFF2-40B4-BE49-F238E27FC236}">
                <a16:creationId xmlns:a16="http://schemas.microsoft.com/office/drawing/2014/main" id="{3C2B741B-BE52-449E-91B8-3CD07632D9F5}"/>
              </a:ext>
            </a:extLst>
          </p:cNvPr>
          <p:cNvSpPr>
            <a:spLocks noChangeArrowheads="1"/>
          </p:cNvSpPr>
          <p:nvPr/>
        </p:nvSpPr>
        <p:spPr bwMode="auto">
          <a:xfrm>
            <a:off x="10302875" y="5491164"/>
            <a:ext cx="77788" cy="1189037"/>
          </a:xfrm>
          <a:prstGeom prst="rect">
            <a:avLst/>
          </a:prstGeom>
          <a:noFill/>
          <a:ln w="63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59" name="Rectangle 225">
            <a:extLst>
              <a:ext uri="{FF2B5EF4-FFF2-40B4-BE49-F238E27FC236}">
                <a16:creationId xmlns:a16="http://schemas.microsoft.com/office/drawing/2014/main" id="{58A7F136-BEBF-4ECB-BC29-015C90A00C88}"/>
              </a:ext>
            </a:extLst>
          </p:cNvPr>
          <p:cNvSpPr>
            <a:spLocks noChangeArrowheads="1"/>
          </p:cNvSpPr>
          <p:nvPr/>
        </p:nvSpPr>
        <p:spPr bwMode="auto">
          <a:xfrm>
            <a:off x="8226426" y="5086351"/>
            <a:ext cx="360363"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a:latin typeface="Tahoma" panose="020B0604030504040204" pitchFamily="34" charset="0"/>
                <a:ea typeface="宋体" panose="02010600030101010101" pitchFamily="2" charset="-122"/>
              </a:rPr>
              <a:t>A</a:t>
            </a:r>
          </a:p>
        </p:txBody>
      </p:sp>
      <p:sp>
        <p:nvSpPr>
          <p:cNvPr id="45160" name="Rectangle 226">
            <a:extLst>
              <a:ext uri="{FF2B5EF4-FFF2-40B4-BE49-F238E27FC236}">
                <a16:creationId xmlns:a16="http://schemas.microsoft.com/office/drawing/2014/main" id="{518ABDAE-4216-459C-8415-2283085CF572}"/>
              </a:ext>
            </a:extLst>
          </p:cNvPr>
          <p:cNvSpPr>
            <a:spLocks noChangeArrowheads="1"/>
          </p:cNvSpPr>
          <p:nvPr/>
        </p:nvSpPr>
        <p:spPr bwMode="auto">
          <a:xfrm>
            <a:off x="9334501" y="5086351"/>
            <a:ext cx="360363"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a:latin typeface="Tahoma" panose="020B0604030504040204" pitchFamily="34" charset="0"/>
                <a:ea typeface="宋体" panose="02010600030101010101" pitchFamily="2" charset="-122"/>
              </a:rPr>
              <a:t>B</a:t>
            </a:r>
          </a:p>
        </p:txBody>
      </p:sp>
      <p:sp>
        <p:nvSpPr>
          <p:cNvPr id="45161" name="Rectangle 227">
            <a:extLst>
              <a:ext uri="{FF2B5EF4-FFF2-40B4-BE49-F238E27FC236}">
                <a16:creationId xmlns:a16="http://schemas.microsoft.com/office/drawing/2014/main" id="{2899B60C-F0A5-4806-850C-293BA300E3E0}"/>
              </a:ext>
            </a:extLst>
          </p:cNvPr>
          <p:cNvSpPr>
            <a:spLocks noChangeArrowheads="1"/>
          </p:cNvSpPr>
          <p:nvPr/>
        </p:nvSpPr>
        <p:spPr bwMode="auto">
          <a:xfrm>
            <a:off x="10163176" y="5045076"/>
            <a:ext cx="360363"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a:latin typeface="Tahoma" panose="020B0604030504040204" pitchFamily="34" charset="0"/>
                <a:ea typeface="宋体" panose="02010600030101010101" pitchFamily="2" charset="-122"/>
              </a:rPr>
              <a:t>C</a:t>
            </a:r>
          </a:p>
        </p:txBody>
      </p:sp>
      <p:sp>
        <p:nvSpPr>
          <p:cNvPr id="45162" name="Rectangle 228">
            <a:extLst>
              <a:ext uri="{FF2B5EF4-FFF2-40B4-BE49-F238E27FC236}">
                <a16:creationId xmlns:a16="http://schemas.microsoft.com/office/drawing/2014/main" id="{736F7902-7A5F-44C3-98DD-62EB015B8FAB}"/>
              </a:ext>
            </a:extLst>
          </p:cNvPr>
          <p:cNvSpPr>
            <a:spLocks noChangeArrowheads="1"/>
          </p:cNvSpPr>
          <p:nvPr/>
        </p:nvSpPr>
        <p:spPr bwMode="auto">
          <a:xfrm>
            <a:off x="7751763" y="4941889"/>
            <a:ext cx="2951162" cy="1800225"/>
          </a:xfrm>
          <a:prstGeom prst="rect">
            <a:avLst/>
          </a:prstGeom>
          <a:noFill/>
          <a:ln w="12700">
            <a:solidFill>
              <a:srgbClr val="007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63" name="AutoShape 229">
            <a:extLst>
              <a:ext uri="{FF2B5EF4-FFF2-40B4-BE49-F238E27FC236}">
                <a16:creationId xmlns:a16="http://schemas.microsoft.com/office/drawing/2014/main" id="{43C4F08D-F08A-468B-8502-BB5613EF2DD3}"/>
              </a:ext>
            </a:extLst>
          </p:cNvPr>
          <p:cNvSpPr>
            <a:spLocks noChangeArrowheads="1"/>
          </p:cNvSpPr>
          <p:nvPr/>
        </p:nvSpPr>
        <p:spPr bwMode="auto">
          <a:xfrm>
            <a:off x="7910514" y="6538913"/>
            <a:ext cx="992187" cy="131762"/>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45164" name="AutoShape 230">
            <a:extLst>
              <a:ext uri="{FF2B5EF4-FFF2-40B4-BE49-F238E27FC236}">
                <a16:creationId xmlns:a16="http://schemas.microsoft.com/office/drawing/2014/main" id="{6FC4CB32-B459-4100-B1E4-1D921A04F4C3}"/>
              </a:ext>
            </a:extLst>
          </p:cNvPr>
          <p:cNvSpPr>
            <a:spLocks noChangeArrowheads="1"/>
          </p:cNvSpPr>
          <p:nvPr/>
        </p:nvSpPr>
        <p:spPr bwMode="auto">
          <a:xfrm>
            <a:off x="7991475" y="6383338"/>
            <a:ext cx="839788" cy="131762"/>
          </a:xfrm>
          <a:prstGeom prst="roundRect">
            <a:avLst>
              <a:gd name="adj" fmla="val 16667"/>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2" name="矩形 1">
            <a:extLst>
              <a:ext uri="{FF2B5EF4-FFF2-40B4-BE49-F238E27FC236}">
                <a16:creationId xmlns:a16="http://schemas.microsoft.com/office/drawing/2014/main" id="{0AE799A3-5CD8-4409-AB25-4ADCE0C24074}"/>
              </a:ext>
            </a:extLst>
          </p:cNvPr>
          <p:cNvSpPr/>
          <p:nvPr/>
        </p:nvSpPr>
        <p:spPr>
          <a:xfrm>
            <a:off x="64412" y="1719819"/>
            <a:ext cx="1874231" cy="369332"/>
          </a:xfrm>
          <a:prstGeom prst="rect">
            <a:avLst/>
          </a:prstGeom>
        </p:spPr>
        <p:txBody>
          <a:bodyPr wrap="none">
            <a:spAutoFit/>
          </a:bodyPr>
          <a:lstStyle/>
          <a:p>
            <a:r>
              <a:rPr lang="en-US" altLang="zh-CN" dirty="0" err="1"/>
              <a:t>hanoi</a:t>
            </a:r>
            <a:r>
              <a:rPr lang="en-US" altLang="zh-CN" dirty="0"/>
              <a:t>(4,’A’,’B’,’C’)</a:t>
            </a:r>
          </a:p>
        </p:txBody>
      </p:sp>
      <p:sp>
        <p:nvSpPr>
          <p:cNvPr id="110" name="矩形 109">
            <a:extLst>
              <a:ext uri="{FF2B5EF4-FFF2-40B4-BE49-F238E27FC236}">
                <a16:creationId xmlns:a16="http://schemas.microsoft.com/office/drawing/2014/main" id="{57C762E0-DFB1-481B-A592-7C8988C7CB5F}"/>
              </a:ext>
            </a:extLst>
          </p:cNvPr>
          <p:cNvSpPr/>
          <p:nvPr/>
        </p:nvSpPr>
        <p:spPr>
          <a:xfrm>
            <a:off x="-1587" y="3874135"/>
            <a:ext cx="1874231" cy="369332"/>
          </a:xfrm>
          <a:prstGeom prst="rect">
            <a:avLst/>
          </a:prstGeom>
        </p:spPr>
        <p:txBody>
          <a:bodyPr wrap="none">
            <a:spAutoFit/>
          </a:bodyPr>
          <a:lstStyle/>
          <a:p>
            <a:r>
              <a:rPr lang="en-US" altLang="zh-CN" dirty="0" err="1"/>
              <a:t>hanoi</a:t>
            </a:r>
            <a:r>
              <a:rPr lang="en-US" altLang="zh-CN" dirty="0"/>
              <a:t>(3,’A’,’C’,’B’)</a:t>
            </a:r>
          </a:p>
        </p:txBody>
      </p:sp>
      <p:sp>
        <p:nvSpPr>
          <p:cNvPr id="111" name="矩形 110">
            <a:extLst>
              <a:ext uri="{FF2B5EF4-FFF2-40B4-BE49-F238E27FC236}">
                <a16:creationId xmlns:a16="http://schemas.microsoft.com/office/drawing/2014/main" id="{2CC527D2-7D97-4AEB-A94E-906CA512CCCE}"/>
              </a:ext>
            </a:extLst>
          </p:cNvPr>
          <p:cNvSpPr/>
          <p:nvPr/>
        </p:nvSpPr>
        <p:spPr>
          <a:xfrm>
            <a:off x="-20032" y="5716350"/>
            <a:ext cx="1874231" cy="369332"/>
          </a:xfrm>
          <a:prstGeom prst="rect">
            <a:avLst/>
          </a:prstGeom>
        </p:spPr>
        <p:txBody>
          <a:bodyPr wrap="none">
            <a:spAutoFit/>
          </a:bodyPr>
          <a:lstStyle/>
          <a:p>
            <a:r>
              <a:rPr lang="en-US" altLang="zh-CN" dirty="0" err="1"/>
              <a:t>hanoi</a:t>
            </a:r>
            <a:r>
              <a:rPr lang="en-US" altLang="zh-CN" dirty="0"/>
              <a:t>(2,’A’,’B’,’C’)</a:t>
            </a:r>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BEAE02C3-A327-46BA-8CE2-24207680118E}"/>
              </a:ext>
            </a:extLst>
          </p:cNvPr>
          <p:cNvSpPr>
            <a:spLocks noGrp="1" noChangeArrowheads="1"/>
          </p:cNvSpPr>
          <p:nvPr>
            <p:ph type="title" idx="4294967295"/>
          </p:nvPr>
        </p:nvSpPr>
        <p:spPr>
          <a:xfrm>
            <a:off x="2171700" y="499110"/>
            <a:ext cx="7848600" cy="635000"/>
          </a:xfrm>
        </p:spPr>
        <p:txBody>
          <a:bodyPr>
            <a:normAutofit fontScale="90000"/>
          </a:bodyPr>
          <a:lstStyle/>
          <a:p>
            <a:pPr eaLnBrk="1" hangingPunct="1"/>
            <a:r>
              <a:rPr lang="zh-CN" altLang="zh-CN" b="1" dirty="0"/>
              <a:t>递归的难度</a:t>
            </a:r>
          </a:p>
        </p:txBody>
      </p:sp>
      <p:sp>
        <p:nvSpPr>
          <p:cNvPr id="49155" name="Rectangle 3">
            <a:extLst>
              <a:ext uri="{FF2B5EF4-FFF2-40B4-BE49-F238E27FC236}">
                <a16:creationId xmlns:a16="http://schemas.microsoft.com/office/drawing/2014/main" id="{B278CEA5-4C47-47ED-9394-92D27D9E0FDF}"/>
              </a:ext>
            </a:extLst>
          </p:cNvPr>
          <p:cNvSpPr>
            <a:spLocks noGrp="1" noChangeArrowheads="1"/>
          </p:cNvSpPr>
          <p:nvPr>
            <p:ph type="body" idx="4294967295"/>
          </p:nvPr>
        </p:nvSpPr>
        <p:spPr>
          <a:xfrm>
            <a:off x="1919289" y="1341439"/>
            <a:ext cx="8497887" cy="4791075"/>
          </a:xfrm>
        </p:spPr>
        <p:txBody>
          <a:bodyPr>
            <a:normAutofit fontScale="92500" lnSpcReduction="20000"/>
          </a:bodyPr>
          <a:lstStyle/>
          <a:p>
            <a:pPr eaLnBrk="1" hangingPunct="1">
              <a:lnSpc>
                <a:spcPct val="140000"/>
              </a:lnSpc>
            </a:pPr>
            <a:r>
              <a:rPr lang="zh-CN" altLang="en-US" b="1"/>
              <a:t>递归的程序一般都具有</a:t>
            </a:r>
            <a:r>
              <a:rPr lang="zh-CN" altLang="en-US" b="1">
                <a:solidFill>
                  <a:srgbClr val="FF0000"/>
                </a:solidFill>
              </a:rPr>
              <a:t>简洁的形式</a:t>
            </a:r>
            <a:r>
              <a:rPr lang="zh-CN" altLang="en-US" b="1"/>
              <a:t>。但形式的简洁有时代表了</a:t>
            </a:r>
            <a:r>
              <a:rPr lang="zh-CN" altLang="en-US" b="1">
                <a:solidFill>
                  <a:srgbClr val="FF0000"/>
                </a:solidFill>
              </a:rPr>
              <a:t>内涵的深刻</a:t>
            </a:r>
            <a:r>
              <a:rPr lang="zh-CN" altLang="en-US" b="1"/>
              <a:t>。</a:t>
            </a:r>
          </a:p>
          <a:p>
            <a:pPr eaLnBrk="1" hangingPunct="1">
              <a:lnSpc>
                <a:spcPct val="140000"/>
              </a:lnSpc>
            </a:pPr>
            <a:r>
              <a:rPr lang="zh-CN" altLang="en-US" b="1"/>
              <a:t>事实上，对于很多人而言，递归算法往往是</a:t>
            </a:r>
            <a:r>
              <a:rPr lang="zh-CN" altLang="en-US" b="1">
                <a:solidFill>
                  <a:srgbClr val="FF0000"/>
                </a:solidFill>
              </a:rPr>
              <a:t>很难</a:t>
            </a:r>
            <a:r>
              <a:rPr lang="zh-CN" altLang="en-US" b="1"/>
              <a:t>想出来的。</a:t>
            </a:r>
          </a:p>
          <a:p>
            <a:pPr eaLnBrk="1" hangingPunct="1">
              <a:lnSpc>
                <a:spcPct val="140000"/>
              </a:lnSpc>
            </a:pPr>
            <a:r>
              <a:rPr lang="zh-CN" altLang="en-US" b="1"/>
              <a:t>难在哪里呢？首先要求能够洞察出某个问题具有用递归的</a:t>
            </a:r>
            <a:r>
              <a:rPr lang="zh-CN" altLang="en-US" b="1">
                <a:solidFill>
                  <a:srgbClr val="FF0000"/>
                </a:solidFill>
              </a:rPr>
              <a:t>本质</a:t>
            </a:r>
            <a:r>
              <a:rPr lang="zh-CN" altLang="en-US" b="1"/>
              <a:t>，其次要求能够抓住这个本质推导出如公式</a:t>
            </a:r>
            <a:r>
              <a:rPr lang="en-US" altLang="zh-CN" b="1"/>
              <a:t>(1)</a:t>
            </a:r>
            <a:r>
              <a:rPr lang="zh-CN" altLang="en-US" b="1"/>
              <a:t>或汉诺塔那样的递归</a:t>
            </a:r>
            <a:r>
              <a:rPr lang="zh-CN" altLang="en-US" b="1">
                <a:solidFill>
                  <a:srgbClr val="FF0000"/>
                </a:solidFill>
              </a:rPr>
              <a:t>公式</a:t>
            </a:r>
            <a:r>
              <a:rPr lang="zh-CN" altLang="en-US" b="1"/>
              <a:t>，然后才能写出相应的递归程序。</a:t>
            </a:r>
          </a:p>
          <a:p>
            <a:pPr eaLnBrk="1" hangingPunct="1">
              <a:lnSpc>
                <a:spcPct val="140000"/>
              </a:lnSpc>
            </a:pPr>
            <a:r>
              <a:rPr lang="zh-CN" altLang="en-US" b="1"/>
              <a:t>这就要求程序员具备清晰的</a:t>
            </a:r>
            <a:r>
              <a:rPr lang="zh-CN" altLang="en-US" b="1">
                <a:solidFill>
                  <a:srgbClr val="FF0000"/>
                </a:solidFill>
              </a:rPr>
              <a:t>头脑</a:t>
            </a:r>
            <a:r>
              <a:rPr lang="zh-CN" altLang="en-US" b="1"/>
              <a:t>、理性的推导</a:t>
            </a:r>
            <a:r>
              <a:rPr lang="zh-CN" altLang="en-US" b="1">
                <a:solidFill>
                  <a:srgbClr val="FF0000"/>
                </a:solidFill>
              </a:rPr>
              <a:t>能力</a:t>
            </a:r>
            <a:r>
              <a:rPr lang="zh-CN" altLang="en-US" b="1"/>
              <a:t>和丰富的</a:t>
            </a:r>
            <a:r>
              <a:rPr lang="zh-CN" altLang="en-US" b="1">
                <a:solidFill>
                  <a:srgbClr val="FF0000"/>
                </a:solidFill>
              </a:rPr>
              <a:t>经验</a:t>
            </a:r>
            <a:r>
              <a:rPr lang="zh-CN" altLang="en-US" b="1"/>
              <a:t>，有时还需要一点</a:t>
            </a:r>
            <a:r>
              <a:rPr lang="zh-CN" altLang="en-US" b="1">
                <a:solidFill>
                  <a:srgbClr val="FF0000"/>
                </a:solidFill>
              </a:rPr>
              <a:t>天分</a:t>
            </a:r>
            <a:r>
              <a:rPr lang="zh-CN" altLang="en-US" b="1"/>
              <a:t>。</a:t>
            </a:r>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891" name="Group 3">
            <a:extLst>
              <a:ext uri="{FF2B5EF4-FFF2-40B4-BE49-F238E27FC236}">
                <a16:creationId xmlns:a16="http://schemas.microsoft.com/office/drawing/2014/main" id="{2EC87C4D-3175-4219-AA24-830D24899632}"/>
              </a:ext>
            </a:extLst>
          </p:cNvPr>
          <p:cNvGrpSpPr>
            <a:grpSpLocks/>
          </p:cNvGrpSpPr>
          <p:nvPr/>
        </p:nvGrpSpPr>
        <p:grpSpPr bwMode="auto">
          <a:xfrm>
            <a:off x="2133600" y="2528889"/>
            <a:ext cx="7924800" cy="2501899"/>
            <a:chOff x="0" y="0"/>
            <a:chExt cx="4992" cy="1576"/>
          </a:xfrm>
        </p:grpSpPr>
        <p:grpSp>
          <p:nvGrpSpPr>
            <p:cNvPr id="50181" name="Group 4">
              <a:extLst>
                <a:ext uri="{FF2B5EF4-FFF2-40B4-BE49-F238E27FC236}">
                  <a16:creationId xmlns:a16="http://schemas.microsoft.com/office/drawing/2014/main" id="{2AF77985-EF25-4935-AF78-2B219BC294B1}"/>
                </a:ext>
              </a:extLst>
            </p:cNvPr>
            <p:cNvGrpSpPr>
              <a:grpSpLocks/>
            </p:cNvGrpSpPr>
            <p:nvPr/>
          </p:nvGrpSpPr>
          <p:grpSpPr bwMode="auto">
            <a:xfrm>
              <a:off x="0" y="0"/>
              <a:ext cx="1392" cy="1134"/>
              <a:chOff x="0" y="0"/>
              <a:chExt cx="1392" cy="1134"/>
            </a:xfrm>
          </p:grpSpPr>
          <p:sp>
            <p:nvSpPr>
              <p:cNvPr id="50197" name="Line 5">
                <a:extLst>
                  <a:ext uri="{FF2B5EF4-FFF2-40B4-BE49-F238E27FC236}">
                    <a16:creationId xmlns:a16="http://schemas.microsoft.com/office/drawing/2014/main" id="{ECC64A49-A8E1-4B45-A334-1882FDE9357F}"/>
                  </a:ext>
                </a:extLst>
              </p:cNvPr>
              <p:cNvSpPr>
                <a:spLocks noChangeShapeType="1"/>
              </p:cNvSpPr>
              <p:nvPr/>
            </p:nvSpPr>
            <p:spPr bwMode="auto">
              <a:xfrm>
                <a:off x="0" y="1134"/>
                <a:ext cx="13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sp>
            <p:nvSpPr>
              <p:cNvPr id="50198" name="Line 6">
                <a:extLst>
                  <a:ext uri="{FF2B5EF4-FFF2-40B4-BE49-F238E27FC236}">
                    <a16:creationId xmlns:a16="http://schemas.microsoft.com/office/drawing/2014/main" id="{646F9FCE-65E2-4B21-A8E2-361962A67507}"/>
                  </a:ext>
                </a:extLst>
              </p:cNvPr>
              <p:cNvSpPr>
                <a:spLocks noChangeShapeType="1"/>
              </p:cNvSpPr>
              <p:nvPr/>
            </p:nvSpPr>
            <p:spPr bwMode="auto">
              <a:xfrm>
                <a:off x="694" y="0"/>
                <a:ext cx="0" cy="113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50182" name="Group 7">
              <a:extLst>
                <a:ext uri="{FF2B5EF4-FFF2-40B4-BE49-F238E27FC236}">
                  <a16:creationId xmlns:a16="http://schemas.microsoft.com/office/drawing/2014/main" id="{913E43DD-4C75-4BEA-A5F6-AEAAF86B4954}"/>
                </a:ext>
              </a:extLst>
            </p:cNvPr>
            <p:cNvGrpSpPr>
              <a:grpSpLocks/>
            </p:cNvGrpSpPr>
            <p:nvPr/>
          </p:nvGrpSpPr>
          <p:grpSpPr bwMode="auto">
            <a:xfrm>
              <a:off x="118" y="182"/>
              <a:ext cx="1134" cy="941"/>
              <a:chOff x="0" y="0"/>
              <a:chExt cx="1134" cy="941"/>
            </a:xfrm>
          </p:grpSpPr>
          <p:sp>
            <p:nvSpPr>
              <p:cNvPr id="50192" name="Rectangle 8">
                <a:extLst>
                  <a:ext uri="{FF2B5EF4-FFF2-40B4-BE49-F238E27FC236}">
                    <a16:creationId xmlns:a16="http://schemas.microsoft.com/office/drawing/2014/main" id="{A1363482-6852-42AA-B580-0012D3DE6EE6}"/>
                  </a:ext>
                </a:extLst>
              </p:cNvPr>
              <p:cNvSpPr>
                <a:spLocks noChangeArrowheads="1"/>
              </p:cNvSpPr>
              <p:nvPr/>
            </p:nvSpPr>
            <p:spPr bwMode="auto">
              <a:xfrm>
                <a:off x="0" y="760"/>
                <a:ext cx="1134" cy="181"/>
              </a:xfrm>
              <a:prstGeom prst="rect">
                <a:avLst/>
              </a:prstGeom>
              <a:solidFill>
                <a:srgbClr val="FFFF00"/>
              </a:solidFill>
              <a:ln w="6350">
                <a:solidFill>
                  <a:schemeClr val="tx1"/>
                </a:solidFill>
                <a:miter lim="800000"/>
                <a:headEnd/>
                <a:tailEnd/>
              </a:ln>
              <a:effectLst>
                <a:outerShdw dist="64758" dir="20921404" algn="ctr" rotWithShape="0">
                  <a:schemeClr val="bg2"/>
                </a:outerShdw>
              </a:effectLst>
            </p:spPr>
            <p:txBody>
              <a:bodyPr wrap="none" lIns="90000" tIns="46800" rIns="90000" bIns="46800"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50193" name="Rectangle 9">
                <a:extLst>
                  <a:ext uri="{FF2B5EF4-FFF2-40B4-BE49-F238E27FC236}">
                    <a16:creationId xmlns:a16="http://schemas.microsoft.com/office/drawing/2014/main" id="{14FF9C0B-E25D-46E6-B239-1E3C81FBBAED}"/>
                  </a:ext>
                </a:extLst>
              </p:cNvPr>
              <p:cNvSpPr>
                <a:spLocks noChangeArrowheads="1"/>
              </p:cNvSpPr>
              <p:nvPr/>
            </p:nvSpPr>
            <p:spPr bwMode="auto">
              <a:xfrm>
                <a:off x="127" y="571"/>
                <a:ext cx="907" cy="181"/>
              </a:xfrm>
              <a:prstGeom prst="rect">
                <a:avLst/>
              </a:prstGeom>
              <a:solidFill>
                <a:srgbClr val="FFFF00"/>
              </a:solidFill>
              <a:ln w="6350">
                <a:solidFill>
                  <a:schemeClr val="tx1"/>
                </a:solidFill>
                <a:miter lim="800000"/>
                <a:headEnd/>
                <a:tailEnd/>
              </a:ln>
              <a:effectLst>
                <a:outerShdw dist="64758" dir="20921404" algn="ctr" rotWithShape="0">
                  <a:schemeClr val="bg2"/>
                </a:outerShdw>
              </a:effectLst>
            </p:spPr>
            <p:txBody>
              <a:bodyPr wrap="none" lIns="90000" tIns="46800" rIns="90000" bIns="46800"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50194" name="Rectangle 10">
                <a:extLst>
                  <a:ext uri="{FF2B5EF4-FFF2-40B4-BE49-F238E27FC236}">
                    <a16:creationId xmlns:a16="http://schemas.microsoft.com/office/drawing/2014/main" id="{3230D38B-0014-4A9F-AD87-CC51FA8D639D}"/>
                  </a:ext>
                </a:extLst>
              </p:cNvPr>
              <p:cNvSpPr>
                <a:spLocks noChangeArrowheads="1"/>
              </p:cNvSpPr>
              <p:nvPr/>
            </p:nvSpPr>
            <p:spPr bwMode="auto">
              <a:xfrm>
                <a:off x="236" y="383"/>
                <a:ext cx="680" cy="181"/>
              </a:xfrm>
              <a:prstGeom prst="rect">
                <a:avLst/>
              </a:prstGeom>
              <a:solidFill>
                <a:srgbClr val="FFFF00"/>
              </a:solidFill>
              <a:ln w="6350">
                <a:solidFill>
                  <a:schemeClr val="tx1"/>
                </a:solidFill>
                <a:miter lim="800000"/>
                <a:headEnd/>
                <a:tailEnd/>
              </a:ln>
              <a:effectLst>
                <a:outerShdw dist="64758" dir="20921404" algn="ctr" rotWithShape="0">
                  <a:schemeClr val="bg2"/>
                </a:outerShdw>
              </a:effectLst>
            </p:spPr>
            <p:txBody>
              <a:bodyPr wrap="none" lIns="90000" tIns="46800" rIns="90000" bIns="46800"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50195" name="Rectangle 11">
                <a:extLst>
                  <a:ext uri="{FF2B5EF4-FFF2-40B4-BE49-F238E27FC236}">
                    <a16:creationId xmlns:a16="http://schemas.microsoft.com/office/drawing/2014/main" id="{DAC1D34C-7A37-4874-9F43-6FA59F1F9582}"/>
                  </a:ext>
                </a:extLst>
              </p:cNvPr>
              <p:cNvSpPr>
                <a:spLocks noChangeArrowheads="1"/>
              </p:cNvSpPr>
              <p:nvPr/>
            </p:nvSpPr>
            <p:spPr bwMode="auto">
              <a:xfrm>
                <a:off x="341" y="192"/>
                <a:ext cx="453" cy="181"/>
              </a:xfrm>
              <a:prstGeom prst="rect">
                <a:avLst/>
              </a:prstGeom>
              <a:solidFill>
                <a:srgbClr val="FFFF00"/>
              </a:solidFill>
              <a:ln w="6350">
                <a:solidFill>
                  <a:schemeClr val="tx1"/>
                </a:solidFill>
                <a:miter lim="800000"/>
                <a:headEnd/>
                <a:tailEnd/>
              </a:ln>
              <a:effectLst>
                <a:outerShdw dist="64758" dir="20921404" algn="ctr" rotWithShape="0">
                  <a:schemeClr val="bg2"/>
                </a:outerShdw>
              </a:effectLst>
            </p:spPr>
            <p:txBody>
              <a:bodyPr wrap="none" lIns="90000" tIns="46800" rIns="90000" bIns="46800"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sp>
            <p:nvSpPr>
              <p:cNvPr id="50196" name="Rectangle 12">
                <a:extLst>
                  <a:ext uri="{FF2B5EF4-FFF2-40B4-BE49-F238E27FC236}">
                    <a16:creationId xmlns:a16="http://schemas.microsoft.com/office/drawing/2014/main" id="{A7328920-4EE1-4CE2-A30C-01B3AE0C8686}"/>
                  </a:ext>
                </a:extLst>
              </p:cNvPr>
              <p:cNvSpPr>
                <a:spLocks noChangeArrowheads="1"/>
              </p:cNvSpPr>
              <p:nvPr/>
            </p:nvSpPr>
            <p:spPr bwMode="auto">
              <a:xfrm>
                <a:off x="456" y="0"/>
                <a:ext cx="227" cy="181"/>
              </a:xfrm>
              <a:prstGeom prst="rect">
                <a:avLst/>
              </a:prstGeom>
              <a:solidFill>
                <a:srgbClr val="FFFF00"/>
              </a:solidFill>
              <a:ln w="6350">
                <a:solidFill>
                  <a:schemeClr val="tx1"/>
                </a:solidFill>
                <a:miter lim="800000"/>
                <a:headEnd/>
                <a:tailEnd/>
              </a:ln>
              <a:effectLst>
                <a:outerShdw dist="64758" dir="20921404" algn="ctr" rotWithShape="0">
                  <a:schemeClr val="bg2"/>
                </a:outerShdw>
              </a:effectLst>
            </p:spPr>
            <p:txBody>
              <a:bodyPr wrap="none" lIns="90000" tIns="46800" rIns="90000" bIns="46800" anchor="ct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endParaRPr lang="zh-CN" altLang="en-US" sz="1800">
                  <a:latin typeface="Times New Roman" panose="02020603050405020304" pitchFamily="18" charset="0"/>
                  <a:ea typeface="宋体" panose="02010600030101010101" pitchFamily="2" charset="-122"/>
                </a:endParaRPr>
              </a:p>
            </p:txBody>
          </p:sp>
        </p:grpSp>
        <p:grpSp>
          <p:nvGrpSpPr>
            <p:cNvPr id="50183" name="Group 13">
              <a:extLst>
                <a:ext uri="{FF2B5EF4-FFF2-40B4-BE49-F238E27FC236}">
                  <a16:creationId xmlns:a16="http://schemas.microsoft.com/office/drawing/2014/main" id="{FB09EFF7-0648-4A0B-B83A-41B141374ABD}"/>
                </a:ext>
              </a:extLst>
            </p:cNvPr>
            <p:cNvGrpSpPr>
              <a:grpSpLocks/>
            </p:cNvGrpSpPr>
            <p:nvPr/>
          </p:nvGrpSpPr>
          <p:grpSpPr bwMode="auto">
            <a:xfrm>
              <a:off x="1824" y="0"/>
              <a:ext cx="1392" cy="1134"/>
              <a:chOff x="0" y="0"/>
              <a:chExt cx="1392" cy="1134"/>
            </a:xfrm>
          </p:grpSpPr>
          <p:sp>
            <p:nvSpPr>
              <p:cNvPr id="50190" name="Line 14">
                <a:extLst>
                  <a:ext uri="{FF2B5EF4-FFF2-40B4-BE49-F238E27FC236}">
                    <a16:creationId xmlns:a16="http://schemas.microsoft.com/office/drawing/2014/main" id="{272C4F1D-00A9-454C-AAC8-386B8CBFA4E0}"/>
                  </a:ext>
                </a:extLst>
              </p:cNvPr>
              <p:cNvSpPr>
                <a:spLocks noChangeShapeType="1"/>
              </p:cNvSpPr>
              <p:nvPr/>
            </p:nvSpPr>
            <p:spPr bwMode="auto">
              <a:xfrm>
                <a:off x="0" y="1134"/>
                <a:ext cx="13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sp>
            <p:nvSpPr>
              <p:cNvPr id="50191" name="Line 15">
                <a:extLst>
                  <a:ext uri="{FF2B5EF4-FFF2-40B4-BE49-F238E27FC236}">
                    <a16:creationId xmlns:a16="http://schemas.microsoft.com/office/drawing/2014/main" id="{21973C61-B066-4E70-80E2-73B536AA0EBB}"/>
                  </a:ext>
                </a:extLst>
              </p:cNvPr>
              <p:cNvSpPr>
                <a:spLocks noChangeShapeType="1"/>
              </p:cNvSpPr>
              <p:nvPr/>
            </p:nvSpPr>
            <p:spPr bwMode="auto">
              <a:xfrm>
                <a:off x="694" y="0"/>
                <a:ext cx="0" cy="113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50184" name="Group 16">
              <a:extLst>
                <a:ext uri="{FF2B5EF4-FFF2-40B4-BE49-F238E27FC236}">
                  <a16:creationId xmlns:a16="http://schemas.microsoft.com/office/drawing/2014/main" id="{A9997A65-0472-4943-B092-58F1BD089CB7}"/>
                </a:ext>
              </a:extLst>
            </p:cNvPr>
            <p:cNvGrpSpPr>
              <a:grpSpLocks/>
            </p:cNvGrpSpPr>
            <p:nvPr/>
          </p:nvGrpSpPr>
          <p:grpSpPr bwMode="auto">
            <a:xfrm>
              <a:off x="3600" y="0"/>
              <a:ext cx="1392" cy="1134"/>
              <a:chOff x="0" y="0"/>
              <a:chExt cx="1392" cy="1134"/>
            </a:xfrm>
          </p:grpSpPr>
          <p:sp>
            <p:nvSpPr>
              <p:cNvPr id="50188" name="Line 17">
                <a:extLst>
                  <a:ext uri="{FF2B5EF4-FFF2-40B4-BE49-F238E27FC236}">
                    <a16:creationId xmlns:a16="http://schemas.microsoft.com/office/drawing/2014/main" id="{F98537F9-1F9F-4C32-948F-6A31E2C79D78}"/>
                  </a:ext>
                </a:extLst>
              </p:cNvPr>
              <p:cNvSpPr>
                <a:spLocks noChangeShapeType="1"/>
              </p:cNvSpPr>
              <p:nvPr/>
            </p:nvSpPr>
            <p:spPr bwMode="auto">
              <a:xfrm>
                <a:off x="0" y="1134"/>
                <a:ext cx="13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sp>
            <p:nvSpPr>
              <p:cNvPr id="50189" name="Line 18">
                <a:extLst>
                  <a:ext uri="{FF2B5EF4-FFF2-40B4-BE49-F238E27FC236}">
                    <a16:creationId xmlns:a16="http://schemas.microsoft.com/office/drawing/2014/main" id="{76456AE2-29B8-4C42-AF7E-8A9B09856642}"/>
                  </a:ext>
                </a:extLst>
              </p:cNvPr>
              <p:cNvSpPr>
                <a:spLocks noChangeShapeType="1"/>
              </p:cNvSpPr>
              <p:nvPr/>
            </p:nvSpPr>
            <p:spPr bwMode="auto">
              <a:xfrm>
                <a:off x="694" y="0"/>
                <a:ext cx="0" cy="113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grpSp>
        <p:sp>
          <p:nvSpPr>
            <p:cNvPr id="50185" name="Text Box 19">
              <a:extLst>
                <a:ext uri="{FF2B5EF4-FFF2-40B4-BE49-F238E27FC236}">
                  <a16:creationId xmlns:a16="http://schemas.microsoft.com/office/drawing/2014/main" id="{573E60CA-F83E-48AE-9067-29D8FB9E1CC2}"/>
                </a:ext>
              </a:extLst>
            </p:cNvPr>
            <p:cNvSpPr txBox="1">
              <a:spLocks noChangeArrowheads="1"/>
            </p:cNvSpPr>
            <p:nvPr/>
          </p:nvSpPr>
          <p:spPr bwMode="auto">
            <a:xfrm>
              <a:off x="575" y="1342"/>
              <a:ext cx="220"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spAutoFit/>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sz="1800">
                  <a:latin typeface="Times New Roman" panose="02020603050405020304" pitchFamily="18" charset="0"/>
                  <a:ea typeface="宋体" panose="02010600030101010101" pitchFamily="2" charset="-122"/>
                </a:rPr>
                <a:t>A</a:t>
              </a:r>
            </a:p>
          </p:txBody>
        </p:sp>
        <p:sp>
          <p:nvSpPr>
            <p:cNvPr id="50186" name="Text Box 20">
              <a:extLst>
                <a:ext uri="{FF2B5EF4-FFF2-40B4-BE49-F238E27FC236}">
                  <a16:creationId xmlns:a16="http://schemas.microsoft.com/office/drawing/2014/main" id="{19846DB2-944D-4FAB-AC32-0FE94748DAD7}"/>
                </a:ext>
              </a:extLst>
            </p:cNvPr>
            <p:cNvSpPr txBox="1">
              <a:spLocks noChangeArrowheads="1"/>
            </p:cNvSpPr>
            <p:nvPr/>
          </p:nvSpPr>
          <p:spPr bwMode="auto">
            <a:xfrm>
              <a:off x="2377" y="1342"/>
              <a:ext cx="211"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spAutoFit/>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sz="1800">
                  <a:latin typeface="Times New Roman" panose="02020603050405020304" pitchFamily="18" charset="0"/>
                  <a:ea typeface="宋体" panose="02010600030101010101" pitchFamily="2" charset="-122"/>
                </a:rPr>
                <a:t>B</a:t>
              </a:r>
            </a:p>
          </p:txBody>
        </p:sp>
        <p:sp>
          <p:nvSpPr>
            <p:cNvPr id="50187" name="Text Box 21">
              <a:extLst>
                <a:ext uri="{FF2B5EF4-FFF2-40B4-BE49-F238E27FC236}">
                  <a16:creationId xmlns:a16="http://schemas.microsoft.com/office/drawing/2014/main" id="{54B00B87-6EB5-4DE4-A6A3-BBE4E88FE796}"/>
                </a:ext>
              </a:extLst>
            </p:cNvPr>
            <p:cNvSpPr txBox="1">
              <a:spLocks noChangeArrowheads="1"/>
            </p:cNvSpPr>
            <p:nvPr/>
          </p:nvSpPr>
          <p:spPr bwMode="auto">
            <a:xfrm>
              <a:off x="4201" y="1342"/>
              <a:ext cx="211"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spAutoFit/>
            </a:bodyPr>
            <a:lstStyle>
              <a:lvl1pPr algn="l"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algn="l"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algn="l" eaLnBrk="0" hangingPunct="0">
                <a:spcBef>
                  <a:spcPct val="20000"/>
                </a:spcBef>
                <a:buChar char="•"/>
                <a:defRPr>
                  <a:solidFill>
                    <a:schemeClr val="tx1"/>
                  </a:solidFill>
                  <a:latin typeface="Arial" panose="020B0604020202020204" pitchFamily="34" charset="0"/>
                  <a:ea typeface="微软雅黑" panose="020B0503020204020204" pitchFamily="34" charset="-122"/>
                </a:defRPr>
              </a:lvl3pPr>
              <a:lvl4pPr marL="16002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algn="l"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Tx/>
                <a:buNone/>
              </a:pPr>
              <a:r>
                <a:rPr lang="en-US" altLang="zh-CN" sz="1800">
                  <a:latin typeface="Times New Roman" panose="02020603050405020304" pitchFamily="18" charset="0"/>
                  <a:ea typeface="宋体" panose="02010600030101010101" pitchFamily="2" charset="-122"/>
                </a:rPr>
                <a:t>C</a:t>
              </a:r>
            </a:p>
          </p:txBody>
        </p:sp>
      </p:grpSp>
      <p:sp>
        <p:nvSpPr>
          <p:cNvPr id="23" name="Rectangle 23">
            <a:extLst>
              <a:ext uri="{FF2B5EF4-FFF2-40B4-BE49-F238E27FC236}">
                <a16:creationId xmlns:a16="http://schemas.microsoft.com/office/drawing/2014/main" id="{306FC830-866B-45CF-9FC7-9041B4DB37C2}"/>
              </a:ext>
            </a:extLst>
          </p:cNvPr>
          <p:cNvSpPr txBox="1">
            <a:spLocks noChangeArrowheads="1"/>
          </p:cNvSpPr>
          <p:nvPr/>
        </p:nvSpPr>
        <p:spPr>
          <a:xfrm>
            <a:off x="2320925" y="396082"/>
            <a:ext cx="582167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b="1">
                <a:latin typeface="宋体" panose="02010600030101010101" pitchFamily="2" charset="-122"/>
              </a:rPr>
              <a:t>递归调用</a:t>
            </a:r>
            <a:r>
              <a:rPr lang="en-US" altLang="zh-CN" b="1">
                <a:latin typeface="宋体" panose="02010600030101010101" pitchFamily="2" charset="-122"/>
              </a:rPr>
              <a:t>-</a:t>
            </a:r>
            <a:r>
              <a:rPr lang="zh-CN" altLang="en-US" b="1" i="1">
                <a:solidFill>
                  <a:srgbClr val="008000"/>
                </a:solidFill>
              </a:rPr>
              <a:t>汉诺塔</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3" presetClass="entr" presetSubtype="10" fill="hold" nodeType="afterEffect">
                                  <p:stCondLst>
                                    <p:cond delay="2000"/>
                                  </p:stCondLst>
                                  <p:childTnLst>
                                    <p:set>
                                      <p:cBhvr>
                                        <p:cTn id="6" dur="1" fill="hold">
                                          <p:stCondLst>
                                            <p:cond delay="0"/>
                                          </p:stCondLst>
                                        </p:cTn>
                                        <p:tgtEl>
                                          <p:spTgt spid="37891"/>
                                        </p:tgtEl>
                                        <p:attrNameLst>
                                          <p:attrName>style.visibility</p:attrName>
                                        </p:attrNameLst>
                                      </p:cBhvr>
                                      <p:to>
                                        <p:strVal val="visible"/>
                                      </p:to>
                                    </p:set>
                                    <p:animEffect transition="in" filter="blinds(horizontal)">
                                      <p:cBhvr>
                                        <p:cTn id="7" dur="500"/>
                                        <p:tgtEl>
                                          <p:spTgt spid="378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202" name="Group 2">
            <a:extLst>
              <a:ext uri="{FF2B5EF4-FFF2-40B4-BE49-F238E27FC236}">
                <a16:creationId xmlns:a16="http://schemas.microsoft.com/office/drawing/2014/main" id="{E551E40E-2236-4638-B14B-8B3D594A8919}"/>
              </a:ext>
            </a:extLst>
          </p:cNvPr>
          <p:cNvGrpSpPr>
            <a:grpSpLocks/>
          </p:cNvGrpSpPr>
          <p:nvPr/>
        </p:nvGrpSpPr>
        <p:grpSpPr bwMode="auto">
          <a:xfrm>
            <a:off x="2133600" y="2528889"/>
            <a:ext cx="7924800" cy="2501899"/>
            <a:chOff x="0" y="0"/>
            <a:chExt cx="4992" cy="1576"/>
          </a:xfrm>
        </p:grpSpPr>
        <p:grpSp>
          <p:nvGrpSpPr>
            <p:cNvPr id="51205" name="Group 3">
              <a:extLst>
                <a:ext uri="{FF2B5EF4-FFF2-40B4-BE49-F238E27FC236}">
                  <a16:creationId xmlns:a16="http://schemas.microsoft.com/office/drawing/2014/main" id="{EF46457D-01E2-4C01-8BD3-986754A2B19B}"/>
                </a:ext>
              </a:extLst>
            </p:cNvPr>
            <p:cNvGrpSpPr>
              <a:grpSpLocks/>
            </p:cNvGrpSpPr>
            <p:nvPr/>
          </p:nvGrpSpPr>
          <p:grpSpPr bwMode="auto">
            <a:xfrm>
              <a:off x="0" y="0"/>
              <a:ext cx="1392" cy="1134"/>
              <a:chOff x="0" y="0"/>
              <a:chExt cx="1392" cy="1134"/>
            </a:xfrm>
          </p:grpSpPr>
          <p:sp>
            <p:nvSpPr>
              <p:cNvPr id="51221" name="Line 4">
                <a:extLst>
                  <a:ext uri="{FF2B5EF4-FFF2-40B4-BE49-F238E27FC236}">
                    <a16:creationId xmlns:a16="http://schemas.microsoft.com/office/drawing/2014/main" id="{503A666F-7989-49BF-83DE-08D7B62BDADC}"/>
                  </a:ext>
                </a:extLst>
              </p:cNvPr>
              <p:cNvSpPr>
                <a:spLocks noChangeShapeType="1"/>
              </p:cNvSpPr>
              <p:nvPr/>
            </p:nvSpPr>
            <p:spPr bwMode="auto">
              <a:xfrm>
                <a:off x="0" y="1134"/>
                <a:ext cx="13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sp>
            <p:nvSpPr>
              <p:cNvPr id="51222" name="Line 5">
                <a:extLst>
                  <a:ext uri="{FF2B5EF4-FFF2-40B4-BE49-F238E27FC236}">
                    <a16:creationId xmlns:a16="http://schemas.microsoft.com/office/drawing/2014/main" id="{2C9D5134-13C7-48A6-ACFE-431583D442F1}"/>
                  </a:ext>
                </a:extLst>
              </p:cNvPr>
              <p:cNvSpPr>
                <a:spLocks noChangeShapeType="1"/>
              </p:cNvSpPr>
              <p:nvPr/>
            </p:nvSpPr>
            <p:spPr bwMode="auto">
              <a:xfrm>
                <a:off x="694" y="0"/>
                <a:ext cx="0" cy="113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51206" name="Group 6">
              <a:extLst>
                <a:ext uri="{FF2B5EF4-FFF2-40B4-BE49-F238E27FC236}">
                  <a16:creationId xmlns:a16="http://schemas.microsoft.com/office/drawing/2014/main" id="{D64C77A7-A298-419B-AB38-B97452503EE3}"/>
                </a:ext>
              </a:extLst>
            </p:cNvPr>
            <p:cNvGrpSpPr>
              <a:grpSpLocks/>
            </p:cNvGrpSpPr>
            <p:nvPr/>
          </p:nvGrpSpPr>
          <p:grpSpPr bwMode="auto">
            <a:xfrm>
              <a:off x="118" y="182"/>
              <a:ext cx="1134" cy="941"/>
              <a:chOff x="0" y="0"/>
              <a:chExt cx="1134" cy="941"/>
            </a:xfrm>
          </p:grpSpPr>
          <p:sp>
            <p:nvSpPr>
              <p:cNvPr id="51216" name="Rectangle 7">
                <a:extLst>
                  <a:ext uri="{FF2B5EF4-FFF2-40B4-BE49-F238E27FC236}">
                    <a16:creationId xmlns:a16="http://schemas.microsoft.com/office/drawing/2014/main" id="{878C437D-9D7E-465B-BD62-83E59ABEEF4E}"/>
                  </a:ext>
                </a:extLst>
              </p:cNvPr>
              <p:cNvSpPr>
                <a:spLocks noChangeArrowheads="1"/>
              </p:cNvSpPr>
              <p:nvPr/>
            </p:nvSpPr>
            <p:spPr bwMode="auto">
              <a:xfrm>
                <a:off x="0" y="760"/>
                <a:ext cx="1134" cy="181"/>
              </a:xfrm>
              <a:prstGeom prst="rect">
                <a:avLst/>
              </a:prstGeom>
              <a:solidFill>
                <a:srgbClr val="FFFF00"/>
              </a:solidFill>
              <a:ln w="6350">
                <a:solidFill>
                  <a:schemeClr val="tx1"/>
                </a:solidFill>
                <a:miter lim="800000"/>
                <a:headEnd/>
                <a:tailEnd/>
              </a:ln>
              <a:effectLst>
                <a:outerShdw dist="64758" dir="20921404"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1217" name="Rectangle 8">
                <a:extLst>
                  <a:ext uri="{FF2B5EF4-FFF2-40B4-BE49-F238E27FC236}">
                    <a16:creationId xmlns:a16="http://schemas.microsoft.com/office/drawing/2014/main" id="{4DEEEEC3-B4D5-46C9-81B8-B179B6EE4574}"/>
                  </a:ext>
                </a:extLst>
              </p:cNvPr>
              <p:cNvSpPr>
                <a:spLocks noChangeArrowheads="1"/>
              </p:cNvSpPr>
              <p:nvPr/>
            </p:nvSpPr>
            <p:spPr bwMode="auto">
              <a:xfrm>
                <a:off x="127" y="571"/>
                <a:ext cx="907" cy="181"/>
              </a:xfrm>
              <a:prstGeom prst="rect">
                <a:avLst/>
              </a:prstGeom>
              <a:solidFill>
                <a:srgbClr val="FFCC00"/>
              </a:solidFill>
              <a:ln w="6350">
                <a:solidFill>
                  <a:schemeClr val="tx1"/>
                </a:solidFill>
                <a:miter lim="800000"/>
                <a:headEnd/>
                <a:tailEnd/>
              </a:ln>
              <a:effectLst>
                <a:outerShdw dist="64758" dir="20921404"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1218" name="Rectangle 9">
                <a:extLst>
                  <a:ext uri="{FF2B5EF4-FFF2-40B4-BE49-F238E27FC236}">
                    <a16:creationId xmlns:a16="http://schemas.microsoft.com/office/drawing/2014/main" id="{F1943EB1-EFCB-454B-9E71-56AEF3C0F4D2}"/>
                  </a:ext>
                </a:extLst>
              </p:cNvPr>
              <p:cNvSpPr>
                <a:spLocks noChangeArrowheads="1"/>
              </p:cNvSpPr>
              <p:nvPr/>
            </p:nvSpPr>
            <p:spPr bwMode="auto">
              <a:xfrm>
                <a:off x="236" y="383"/>
                <a:ext cx="680" cy="181"/>
              </a:xfrm>
              <a:prstGeom prst="rect">
                <a:avLst/>
              </a:prstGeom>
              <a:solidFill>
                <a:srgbClr val="FFCC00"/>
              </a:solidFill>
              <a:ln w="6350">
                <a:solidFill>
                  <a:schemeClr val="tx1"/>
                </a:solidFill>
                <a:miter lim="800000"/>
                <a:headEnd/>
                <a:tailEnd/>
              </a:ln>
              <a:effectLst>
                <a:outerShdw dist="64758" dir="20921404"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1219" name="Rectangle 10">
                <a:extLst>
                  <a:ext uri="{FF2B5EF4-FFF2-40B4-BE49-F238E27FC236}">
                    <a16:creationId xmlns:a16="http://schemas.microsoft.com/office/drawing/2014/main" id="{D783E1C8-B358-480D-A816-D034BB0E6240}"/>
                  </a:ext>
                </a:extLst>
              </p:cNvPr>
              <p:cNvSpPr>
                <a:spLocks noChangeArrowheads="1"/>
              </p:cNvSpPr>
              <p:nvPr/>
            </p:nvSpPr>
            <p:spPr bwMode="auto">
              <a:xfrm>
                <a:off x="341" y="192"/>
                <a:ext cx="453" cy="181"/>
              </a:xfrm>
              <a:prstGeom prst="rect">
                <a:avLst/>
              </a:prstGeom>
              <a:solidFill>
                <a:srgbClr val="FFCC00"/>
              </a:solidFill>
              <a:ln w="6350">
                <a:solidFill>
                  <a:schemeClr val="tx1"/>
                </a:solidFill>
                <a:miter lim="800000"/>
                <a:headEnd/>
                <a:tailEnd/>
              </a:ln>
              <a:effectLst>
                <a:outerShdw dist="64758" dir="20921404"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1220" name="Rectangle 11">
                <a:extLst>
                  <a:ext uri="{FF2B5EF4-FFF2-40B4-BE49-F238E27FC236}">
                    <a16:creationId xmlns:a16="http://schemas.microsoft.com/office/drawing/2014/main" id="{8A2653A0-B992-427A-BB06-24DE981FFEC7}"/>
                  </a:ext>
                </a:extLst>
              </p:cNvPr>
              <p:cNvSpPr>
                <a:spLocks noChangeArrowheads="1"/>
              </p:cNvSpPr>
              <p:nvPr/>
            </p:nvSpPr>
            <p:spPr bwMode="auto">
              <a:xfrm>
                <a:off x="456" y="0"/>
                <a:ext cx="227" cy="181"/>
              </a:xfrm>
              <a:prstGeom prst="rect">
                <a:avLst/>
              </a:prstGeom>
              <a:solidFill>
                <a:srgbClr val="FFCC00"/>
              </a:solidFill>
              <a:ln w="6350">
                <a:solidFill>
                  <a:schemeClr val="tx1"/>
                </a:solidFill>
                <a:miter lim="800000"/>
                <a:headEnd/>
                <a:tailEnd/>
              </a:ln>
              <a:effectLst>
                <a:outerShdw dist="64758" dir="20921404"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51207" name="Group 12">
              <a:extLst>
                <a:ext uri="{FF2B5EF4-FFF2-40B4-BE49-F238E27FC236}">
                  <a16:creationId xmlns:a16="http://schemas.microsoft.com/office/drawing/2014/main" id="{B76AFB77-F50D-4FA9-9C47-5DD32C9B4E50}"/>
                </a:ext>
              </a:extLst>
            </p:cNvPr>
            <p:cNvGrpSpPr>
              <a:grpSpLocks/>
            </p:cNvGrpSpPr>
            <p:nvPr/>
          </p:nvGrpSpPr>
          <p:grpSpPr bwMode="auto">
            <a:xfrm>
              <a:off x="1824" y="0"/>
              <a:ext cx="1392" cy="1134"/>
              <a:chOff x="0" y="0"/>
              <a:chExt cx="1392" cy="1134"/>
            </a:xfrm>
          </p:grpSpPr>
          <p:sp>
            <p:nvSpPr>
              <p:cNvPr id="51214" name="Line 13">
                <a:extLst>
                  <a:ext uri="{FF2B5EF4-FFF2-40B4-BE49-F238E27FC236}">
                    <a16:creationId xmlns:a16="http://schemas.microsoft.com/office/drawing/2014/main" id="{5FC023C1-BA05-43CA-845E-481BC95B1691}"/>
                  </a:ext>
                </a:extLst>
              </p:cNvPr>
              <p:cNvSpPr>
                <a:spLocks noChangeShapeType="1"/>
              </p:cNvSpPr>
              <p:nvPr/>
            </p:nvSpPr>
            <p:spPr bwMode="auto">
              <a:xfrm>
                <a:off x="0" y="1134"/>
                <a:ext cx="13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sp>
            <p:nvSpPr>
              <p:cNvPr id="51215" name="Line 14">
                <a:extLst>
                  <a:ext uri="{FF2B5EF4-FFF2-40B4-BE49-F238E27FC236}">
                    <a16:creationId xmlns:a16="http://schemas.microsoft.com/office/drawing/2014/main" id="{CD63745A-8983-42BE-A724-8F0707B6FFCB}"/>
                  </a:ext>
                </a:extLst>
              </p:cNvPr>
              <p:cNvSpPr>
                <a:spLocks noChangeShapeType="1"/>
              </p:cNvSpPr>
              <p:nvPr/>
            </p:nvSpPr>
            <p:spPr bwMode="auto">
              <a:xfrm>
                <a:off x="694" y="0"/>
                <a:ext cx="0" cy="113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51208" name="Group 15">
              <a:extLst>
                <a:ext uri="{FF2B5EF4-FFF2-40B4-BE49-F238E27FC236}">
                  <a16:creationId xmlns:a16="http://schemas.microsoft.com/office/drawing/2014/main" id="{11690346-1793-42D9-A804-8B2418C6292C}"/>
                </a:ext>
              </a:extLst>
            </p:cNvPr>
            <p:cNvGrpSpPr>
              <a:grpSpLocks/>
            </p:cNvGrpSpPr>
            <p:nvPr/>
          </p:nvGrpSpPr>
          <p:grpSpPr bwMode="auto">
            <a:xfrm>
              <a:off x="3600" y="0"/>
              <a:ext cx="1392" cy="1134"/>
              <a:chOff x="0" y="0"/>
              <a:chExt cx="1392" cy="1134"/>
            </a:xfrm>
          </p:grpSpPr>
          <p:sp>
            <p:nvSpPr>
              <p:cNvPr id="51212" name="Line 16">
                <a:extLst>
                  <a:ext uri="{FF2B5EF4-FFF2-40B4-BE49-F238E27FC236}">
                    <a16:creationId xmlns:a16="http://schemas.microsoft.com/office/drawing/2014/main" id="{81D1AA76-F4E8-4C65-893B-1C77AD3B23DF}"/>
                  </a:ext>
                </a:extLst>
              </p:cNvPr>
              <p:cNvSpPr>
                <a:spLocks noChangeShapeType="1"/>
              </p:cNvSpPr>
              <p:nvPr/>
            </p:nvSpPr>
            <p:spPr bwMode="auto">
              <a:xfrm>
                <a:off x="0" y="1134"/>
                <a:ext cx="13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sp>
            <p:nvSpPr>
              <p:cNvPr id="51213" name="Line 17">
                <a:extLst>
                  <a:ext uri="{FF2B5EF4-FFF2-40B4-BE49-F238E27FC236}">
                    <a16:creationId xmlns:a16="http://schemas.microsoft.com/office/drawing/2014/main" id="{4D7AA1FC-E888-4F25-A9B0-ADFDEB2B0C21}"/>
                  </a:ext>
                </a:extLst>
              </p:cNvPr>
              <p:cNvSpPr>
                <a:spLocks noChangeShapeType="1"/>
              </p:cNvSpPr>
              <p:nvPr/>
            </p:nvSpPr>
            <p:spPr bwMode="auto">
              <a:xfrm>
                <a:off x="694" y="0"/>
                <a:ext cx="0" cy="113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grpSp>
        <p:sp>
          <p:nvSpPr>
            <p:cNvPr id="51209" name="Text Box 18">
              <a:extLst>
                <a:ext uri="{FF2B5EF4-FFF2-40B4-BE49-F238E27FC236}">
                  <a16:creationId xmlns:a16="http://schemas.microsoft.com/office/drawing/2014/main" id="{74D81132-C80B-41D2-9C06-2D3C6022C7BF}"/>
                </a:ext>
              </a:extLst>
            </p:cNvPr>
            <p:cNvSpPr txBox="1">
              <a:spLocks noChangeArrowheads="1"/>
            </p:cNvSpPr>
            <p:nvPr/>
          </p:nvSpPr>
          <p:spPr bwMode="auto">
            <a:xfrm>
              <a:off x="576" y="1342"/>
              <a:ext cx="220"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A</a:t>
              </a:r>
            </a:p>
          </p:txBody>
        </p:sp>
        <p:sp>
          <p:nvSpPr>
            <p:cNvPr id="51210" name="Text Box 19">
              <a:extLst>
                <a:ext uri="{FF2B5EF4-FFF2-40B4-BE49-F238E27FC236}">
                  <a16:creationId xmlns:a16="http://schemas.microsoft.com/office/drawing/2014/main" id="{39563130-6138-4D20-9935-095C3E8D04D5}"/>
                </a:ext>
              </a:extLst>
            </p:cNvPr>
            <p:cNvSpPr txBox="1">
              <a:spLocks noChangeArrowheads="1"/>
            </p:cNvSpPr>
            <p:nvPr/>
          </p:nvSpPr>
          <p:spPr bwMode="auto">
            <a:xfrm>
              <a:off x="2378" y="1342"/>
              <a:ext cx="211"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B</a:t>
              </a:r>
            </a:p>
          </p:txBody>
        </p:sp>
        <p:sp>
          <p:nvSpPr>
            <p:cNvPr id="51211" name="Text Box 20">
              <a:extLst>
                <a:ext uri="{FF2B5EF4-FFF2-40B4-BE49-F238E27FC236}">
                  <a16:creationId xmlns:a16="http://schemas.microsoft.com/office/drawing/2014/main" id="{CE640BAD-EACD-4A7C-A0F8-DC3FFB9155CB}"/>
                </a:ext>
              </a:extLst>
            </p:cNvPr>
            <p:cNvSpPr txBox="1">
              <a:spLocks noChangeArrowheads="1"/>
            </p:cNvSpPr>
            <p:nvPr/>
          </p:nvSpPr>
          <p:spPr bwMode="auto">
            <a:xfrm>
              <a:off x="4198" y="1342"/>
              <a:ext cx="220"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C</a:t>
              </a:r>
            </a:p>
          </p:txBody>
        </p:sp>
      </p:grpSp>
      <p:sp>
        <p:nvSpPr>
          <p:cNvPr id="51204" name="Rectangle 23">
            <a:extLst>
              <a:ext uri="{FF2B5EF4-FFF2-40B4-BE49-F238E27FC236}">
                <a16:creationId xmlns:a16="http://schemas.microsoft.com/office/drawing/2014/main" id="{D2757C0B-13A2-48FE-9CF5-5B31ACCC0321}"/>
              </a:ext>
            </a:extLst>
          </p:cNvPr>
          <p:cNvSpPr>
            <a:spLocks noGrp="1" noChangeArrowheads="1"/>
          </p:cNvSpPr>
          <p:nvPr>
            <p:ph type="title" idx="4294967295"/>
          </p:nvPr>
        </p:nvSpPr>
        <p:spPr>
          <a:xfrm>
            <a:off x="2320925" y="396082"/>
            <a:ext cx="5821678" cy="1325563"/>
          </a:xfrm>
        </p:spPr>
        <p:txBody>
          <a:bodyPr/>
          <a:lstStyle/>
          <a:p>
            <a:r>
              <a:rPr lang="zh-CN" altLang="en-US" b="1" dirty="0">
                <a:latin typeface="宋体" panose="02010600030101010101" pitchFamily="2" charset="-122"/>
              </a:rPr>
              <a:t>递归调用</a:t>
            </a:r>
            <a:r>
              <a:rPr lang="en-US" altLang="zh-CN" b="1" dirty="0">
                <a:latin typeface="宋体" panose="02010600030101010101" pitchFamily="2" charset="-122"/>
              </a:rPr>
              <a:t>-</a:t>
            </a:r>
            <a:r>
              <a:rPr lang="zh-CN" altLang="en-US" b="1" i="1" dirty="0">
                <a:solidFill>
                  <a:srgbClr val="008000"/>
                </a:solidFill>
              </a:rPr>
              <a:t>汉诺塔</a:t>
            </a:r>
            <a:endParaRPr lang="zh-CN" altLang="en-US" b="1"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226" name="Group 2">
            <a:extLst>
              <a:ext uri="{FF2B5EF4-FFF2-40B4-BE49-F238E27FC236}">
                <a16:creationId xmlns:a16="http://schemas.microsoft.com/office/drawing/2014/main" id="{9B027F91-1EE2-41C7-BC2A-B85DD737403D}"/>
              </a:ext>
            </a:extLst>
          </p:cNvPr>
          <p:cNvGrpSpPr>
            <a:grpSpLocks/>
          </p:cNvGrpSpPr>
          <p:nvPr/>
        </p:nvGrpSpPr>
        <p:grpSpPr bwMode="auto">
          <a:xfrm>
            <a:off x="2133600" y="2528889"/>
            <a:ext cx="7924800" cy="2501899"/>
            <a:chOff x="0" y="0"/>
            <a:chExt cx="4992" cy="1576"/>
          </a:xfrm>
        </p:grpSpPr>
        <p:grpSp>
          <p:nvGrpSpPr>
            <p:cNvPr id="52234" name="Group 3">
              <a:extLst>
                <a:ext uri="{FF2B5EF4-FFF2-40B4-BE49-F238E27FC236}">
                  <a16:creationId xmlns:a16="http://schemas.microsoft.com/office/drawing/2014/main" id="{30E44E13-7E72-4C17-98EF-3FA97DE2B1B3}"/>
                </a:ext>
              </a:extLst>
            </p:cNvPr>
            <p:cNvGrpSpPr>
              <a:grpSpLocks/>
            </p:cNvGrpSpPr>
            <p:nvPr/>
          </p:nvGrpSpPr>
          <p:grpSpPr bwMode="auto">
            <a:xfrm>
              <a:off x="0" y="0"/>
              <a:ext cx="1392" cy="1134"/>
              <a:chOff x="0" y="0"/>
              <a:chExt cx="1392" cy="1134"/>
            </a:xfrm>
          </p:grpSpPr>
          <p:sp>
            <p:nvSpPr>
              <p:cNvPr id="52245" name="Line 4">
                <a:extLst>
                  <a:ext uri="{FF2B5EF4-FFF2-40B4-BE49-F238E27FC236}">
                    <a16:creationId xmlns:a16="http://schemas.microsoft.com/office/drawing/2014/main" id="{51EB8146-13EE-4F60-A1CB-C327739ED25C}"/>
                  </a:ext>
                </a:extLst>
              </p:cNvPr>
              <p:cNvSpPr>
                <a:spLocks noChangeShapeType="1"/>
              </p:cNvSpPr>
              <p:nvPr/>
            </p:nvSpPr>
            <p:spPr bwMode="auto">
              <a:xfrm>
                <a:off x="0" y="1134"/>
                <a:ext cx="13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sp>
            <p:nvSpPr>
              <p:cNvPr id="52246" name="Line 5">
                <a:extLst>
                  <a:ext uri="{FF2B5EF4-FFF2-40B4-BE49-F238E27FC236}">
                    <a16:creationId xmlns:a16="http://schemas.microsoft.com/office/drawing/2014/main" id="{6BA1D0C6-40F9-4C92-BA73-82E3FB5F78BB}"/>
                  </a:ext>
                </a:extLst>
              </p:cNvPr>
              <p:cNvSpPr>
                <a:spLocks noChangeShapeType="1"/>
              </p:cNvSpPr>
              <p:nvPr/>
            </p:nvSpPr>
            <p:spPr bwMode="auto">
              <a:xfrm>
                <a:off x="694" y="0"/>
                <a:ext cx="0" cy="113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grpSp>
        <p:sp>
          <p:nvSpPr>
            <p:cNvPr id="52235" name="Rectangle 6">
              <a:extLst>
                <a:ext uri="{FF2B5EF4-FFF2-40B4-BE49-F238E27FC236}">
                  <a16:creationId xmlns:a16="http://schemas.microsoft.com/office/drawing/2014/main" id="{2A10A9F4-F145-4B3B-94E8-7BBD5B4D3710}"/>
                </a:ext>
              </a:extLst>
            </p:cNvPr>
            <p:cNvSpPr>
              <a:spLocks noChangeArrowheads="1"/>
            </p:cNvSpPr>
            <p:nvPr/>
          </p:nvSpPr>
          <p:spPr bwMode="auto">
            <a:xfrm>
              <a:off x="118" y="942"/>
              <a:ext cx="1134" cy="181"/>
            </a:xfrm>
            <a:prstGeom prst="rect">
              <a:avLst/>
            </a:prstGeom>
            <a:solidFill>
              <a:srgbClr val="FFFF00"/>
            </a:solidFill>
            <a:ln w="6350">
              <a:solidFill>
                <a:schemeClr val="tx1"/>
              </a:solidFill>
              <a:miter lim="800000"/>
              <a:headEnd/>
              <a:tailEnd/>
            </a:ln>
            <a:effectLst>
              <a:outerShdw dist="64758" dir="20921404"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52236" name="Group 7">
              <a:extLst>
                <a:ext uri="{FF2B5EF4-FFF2-40B4-BE49-F238E27FC236}">
                  <a16:creationId xmlns:a16="http://schemas.microsoft.com/office/drawing/2014/main" id="{C4A63637-C9ED-4673-AB45-6FC005C053CF}"/>
                </a:ext>
              </a:extLst>
            </p:cNvPr>
            <p:cNvGrpSpPr>
              <a:grpSpLocks/>
            </p:cNvGrpSpPr>
            <p:nvPr/>
          </p:nvGrpSpPr>
          <p:grpSpPr bwMode="auto">
            <a:xfrm>
              <a:off x="1824" y="0"/>
              <a:ext cx="1392" cy="1134"/>
              <a:chOff x="0" y="0"/>
              <a:chExt cx="1392" cy="1134"/>
            </a:xfrm>
          </p:grpSpPr>
          <p:sp>
            <p:nvSpPr>
              <p:cNvPr id="52243" name="Line 8">
                <a:extLst>
                  <a:ext uri="{FF2B5EF4-FFF2-40B4-BE49-F238E27FC236}">
                    <a16:creationId xmlns:a16="http://schemas.microsoft.com/office/drawing/2014/main" id="{5D86E6F1-3ACE-4B79-9ECF-05F30D156DEC}"/>
                  </a:ext>
                </a:extLst>
              </p:cNvPr>
              <p:cNvSpPr>
                <a:spLocks noChangeShapeType="1"/>
              </p:cNvSpPr>
              <p:nvPr/>
            </p:nvSpPr>
            <p:spPr bwMode="auto">
              <a:xfrm>
                <a:off x="0" y="1134"/>
                <a:ext cx="13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sp>
            <p:nvSpPr>
              <p:cNvPr id="52244" name="Line 9">
                <a:extLst>
                  <a:ext uri="{FF2B5EF4-FFF2-40B4-BE49-F238E27FC236}">
                    <a16:creationId xmlns:a16="http://schemas.microsoft.com/office/drawing/2014/main" id="{685AAA0D-3B20-4130-A156-690B31C3D6F7}"/>
                  </a:ext>
                </a:extLst>
              </p:cNvPr>
              <p:cNvSpPr>
                <a:spLocks noChangeShapeType="1"/>
              </p:cNvSpPr>
              <p:nvPr/>
            </p:nvSpPr>
            <p:spPr bwMode="auto">
              <a:xfrm>
                <a:off x="694" y="0"/>
                <a:ext cx="0" cy="113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52237" name="Group 10">
              <a:extLst>
                <a:ext uri="{FF2B5EF4-FFF2-40B4-BE49-F238E27FC236}">
                  <a16:creationId xmlns:a16="http://schemas.microsoft.com/office/drawing/2014/main" id="{C4C4D3DD-A057-40FA-A3D6-06E86B465501}"/>
                </a:ext>
              </a:extLst>
            </p:cNvPr>
            <p:cNvGrpSpPr>
              <a:grpSpLocks/>
            </p:cNvGrpSpPr>
            <p:nvPr/>
          </p:nvGrpSpPr>
          <p:grpSpPr bwMode="auto">
            <a:xfrm>
              <a:off x="3600" y="0"/>
              <a:ext cx="1392" cy="1134"/>
              <a:chOff x="0" y="0"/>
              <a:chExt cx="1392" cy="1134"/>
            </a:xfrm>
          </p:grpSpPr>
          <p:sp>
            <p:nvSpPr>
              <p:cNvPr id="52241" name="Line 11">
                <a:extLst>
                  <a:ext uri="{FF2B5EF4-FFF2-40B4-BE49-F238E27FC236}">
                    <a16:creationId xmlns:a16="http://schemas.microsoft.com/office/drawing/2014/main" id="{5F4575FA-6792-45E7-8BAA-7A73FE0D0183}"/>
                  </a:ext>
                </a:extLst>
              </p:cNvPr>
              <p:cNvSpPr>
                <a:spLocks noChangeShapeType="1"/>
              </p:cNvSpPr>
              <p:nvPr/>
            </p:nvSpPr>
            <p:spPr bwMode="auto">
              <a:xfrm>
                <a:off x="0" y="1134"/>
                <a:ext cx="13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sp>
            <p:nvSpPr>
              <p:cNvPr id="52242" name="Line 12">
                <a:extLst>
                  <a:ext uri="{FF2B5EF4-FFF2-40B4-BE49-F238E27FC236}">
                    <a16:creationId xmlns:a16="http://schemas.microsoft.com/office/drawing/2014/main" id="{42ABEBE2-FDC0-442D-BC34-EC93563BFD68}"/>
                  </a:ext>
                </a:extLst>
              </p:cNvPr>
              <p:cNvSpPr>
                <a:spLocks noChangeShapeType="1"/>
              </p:cNvSpPr>
              <p:nvPr/>
            </p:nvSpPr>
            <p:spPr bwMode="auto">
              <a:xfrm>
                <a:off x="694" y="0"/>
                <a:ext cx="0" cy="113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grpSp>
        <p:sp>
          <p:nvSpPr>
            <p:cNvPr id="52238" name="Text Box 13">
              <a:extLst>
                <a:ext uri="{FF2B5EF4-FFF2-40B4-BE49-F238E27FC236}">
                  <a16:creationId xmlns:a16="http://schemas.microsoft.com/office/drawing/2014/main" id="{1038F125-188D-4D7F-9150-6F9F28A02580}"/>
                </a:ext>
              </a:extLst>
            </p:cNvPr>
            <p:cNvSpPr txBox="1">
              <a:spLocks noChangeArrowheads="1"/>
            </p:cNvSpPr>
            <p:nvPr/>
          </p:nvSpPr>
          <p:spPr bwMode="auto">
            <a:xfrm>
              <a:off x="576" y="1342"/>
              <a:ext cx="220"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A</a:t>
              </a:r>
            </a:p>
          </p:txBody>
        </p:sp>
        <p:sp>
          <p:nvSpPr>
            <p:cNvPr id="52239" name="Text Box 14">
              <a:extLst>
                <a:ext uri="{FF2B5EF4-FFF2-40B4-BE49-F238E27FC236}">
                  <a16:creationId xmlns:a16="http://schemas.microsoft.com/office/drawing/2014/main" id="{D9C0B260-026C-4EDB-9B23-BC05A65632F3}"/>
                </a:ext>
              </a:extLst>
            </p:cNvPr>
            <p:cNvSpPr txBox="1">
              <a:spLocks noChangeArrowheads="1"/>
            </p:cNvSpPr>
            <p:nvPr/>
          </p:nvSpPr>
          <p:spPr bwMode="auto">
            <a:xfrm>
              <a:off x="2378" y="1342"/>
              <a:ext cx="211"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B</a:t>
              </a:r>
            </a:p>
          </p:txBody>
        </p:sp>
        <p:sp>
          <p:nvSpPr>
            <p:cNvPr id="52240" name="Text Box 15">
              <a:extLst>
                <a:ext uri="{FF2B5EF4-FFF2-40B4-BE49-F238E27FC236}">
                  <a16:creationId xmlns:a16="http://schemas.microsoft.com/office/drawing/2014/main" id="{05FD3347-E33F-472C-BF31-051394F13453}"/>
                </a:ext>
              </a:extLst>
            </p:cNvPr>
            <p:cNvSpPr txBox="1">
              <a:spLocks noChangeArrowheads="1"/>
            </p:cNvSpPr>
            <p:nvPr/>
          </p:nvSpPr>
          <p:spPr bwMode="auto">
            <a:xfrm>
              <a:off x="4198" y="1342"/>
              <a:ext cx="220"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C</a:t>
              </a:r>
            </a:p>
          </p:txBody>
        </p:sp>
      </p:grpSp>
      <p:grpSp>
        <p:nvGrpSpPr>
          <p:cNvPr id="52227" name="Group 16">
            <a:extLst>
              <a:ext uri="{FF2B5EF4-FFF2-40B4-BE49-F238E27FC236}">
                <a16:creationId xmlns:a16="http://schemas.microsoft.com/office/drawing/2014/main" id="{17AB4877-ADDA-4A61-9A33-59FA13FD05CC}"/>
              </a:ext>
            </a:extLst>
          </p:cNvPr>
          <p:cNvGrpSpPr>
            <a:grpSpLocks/>
          </p:cNvGrpSpPr>
          <p:nvPr/>
        </p:nvGrpSpPr>
        <p:grpSpPr bwMode="auto">
          <a:xfrm>
            <a:off x="2514601" y="1320800"/>
            <a:ext cx="1439863" cy="1193800"/>
            <a:chOff x="0" y="0"/>
            <a:chExt cx="907" cy="752"/>
          </a:xfrm>
        </p:grpSpPr>
        <p:sp>
          <p:nvSpPr>
            <p:cNvPr id="52230" name="Rectangle 17">
              <a:extLst>
                <a:ext uri="{FF2B5EF4-FFF2-40B4-BE49-F238E27FC236}">
                  <a16:creationId xmlns:a16="http://schemas.microsoft.com/office/drawing/2014/main" id="{4DE73AA6-30FB-44D2-BA1C-640A4BCFF3FD}"/>
                </a:ext>
              </a:extLst>
            </p:cNvPr>
            <p:cNvSpPr>
              <a:spLocks noChangeArrowheads="1"/>
            </p:cNvSpPr>
            <p:nvPr/>
          </p:nvSpPr>
          <p:spPr bwMode="auto">
            <a:xfrm>
              <a:off x="0" y="571"/>
              <a:ext cx="907" cy="181"/>
            </a:xfrm>
            <a:prstGeom prst="rect">
              <a:avLst/>
            </a:prstGeom>
            <a:solidFill>
              <a:srgbClr val="FFCC00"/>
            </a:solidFill>
            <a:ln w="6350">
              <a:solidFill>
                <a:schemeClr val="tx1"/>
              </a:solidFill>
              <a:miter lim="800000"/>
              <a:headEnd/>
              <a:tailEnd/>
            </a:ln>
            <a:effectLst>
              <a:outerShdw dist="64758" dir="678596"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2231" name="Rectangle 18">
              <a:extLst>
                <a:ext uri="{FF2B5EF4-FFF2-40B4-BE49-F238E27FC236}">
                  <a16:creationId xmlns:a16="http://schemas.microsoft.com/office/drawing/2014/main" id="{5ED41FF2-8344-43A0-BC6A-4BEC38C8A1C7}"/>
                </a:ext>
              </a:extLst>
            </p:cNvPr>
            <p:cNvSpPr>
              <a:spLocks noChangeArrowheads="1"/>
            </p:cNvSpPr>
            <p:nvPr/>
          </p:nvSpPr>
          <p:spPr bwMode="auto">
            <a:xfrm>
              <a:off x="109" y="383"/>
              <a:ext cx="680" cy="181"/>
            </a:xfrm>
            <a:prstGeom prst="rect">
              <a:avLst/>
            </a:prstGeom>
            <a:solidFill>
              <a:srgbClr val="FFCC00"/>
            </a:solidFill>
            <a:ln w="6350">
              <a:solidFill>
                <a:schemeClr val="tx1"/>
              </a:solidFill>
              <a:miter lim="800000"/>
              <a:headEnd/>
              <a:tailEnd/>
            </a:ln>
            <a:effectLst>
              <a:outerShdw dist="64758" dir="678596"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2232" name="Rectangle 19">
              <a:extLst>
                <a:ext uri="{FF2B5EF4-FFF2-40B4-BE49-F238E27FC236}">
                  <a16:creationId xmlns:a16="http://schemas.microsoft.com/office/drawing/2014/main" id="{B51A7C4C-1A01-4F3D-9C6D-76641C94F21F}"/>
                </a:ext>
              </a:extLst>
            </p:cNvPr>
            <p:cNvSpPr>
              <a:spLocks noChangeArrowheads="1"/>
            </p:cNvSpPr>
            <p:nvPr/>
          </p:nvSpPr>
          <p:spPr bwMode="auto">
            <a:xfrm>
              <a:off x="214" y="192"/>
              <a:ext cx="453" cy="181"/>
            </a:xfrm>
            <a:prstGeom prst="rect">
              <a:avLst/>
            </a:prstGeom>
            <a:solidFill>
              <a:srgbClr val="FFCC00"/>
            </a:solidFill>
            <a:ln w="6350">
              <a:solidFill>
                <a:schemeClr val="tx1"/>
              </a:solidFill>
              <a:miter lim="800000"/>
              <a:headEnd/>
              <a:tailEnd/>
            </a:ln>
            <a:effectLst>
              <a:outerShdw dist="64758" dir="678596"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2233" name="Rectangle 20">
              <a:extLst>
                <a:ext uri="{FF2B5EF4-FFF2-40B4-BE49-F238E27FC236}">
                  <a16:creationId xmlns:a16="http://schemas.microsoft.com/office/drawing/2014/main" id="{B13A564F-AA81-42F3-9F93-EAD4E74C40C3}"/>
                </a:ext>
              </a:extLst>
            </p:cNvPr>
            <p:cNvSpPr>
              <a:spLocks noChangeArrowheads="1"/>
            </p:cNvSpPr>
            <p:nvPr/>
          </p:nvSpPr>
          <p:spPr bwMode="auto">
            <a:xfrm>
              <a:off x="329" y="0"/>
              <a:ext cx="227" cy="181"/>
            </a:xfrm>
            <a:prstGeom prst="rect">
              <a:avLst/>
            </a:prstGeom>
            <a:solidFill>
              <a:srgbClr val="FFCC00"/>
            </a:solidFill>
            <a:ln w="6350">
              <a:solidFill>
                <a:schemeClr val="tx1"/>
              </a:solidFill>
              <a:miter lim="800000"/>
              <a:headEnd/>
              <a:tailEnd/>
            </a:ln>
            <a:effectLst>
              <a:outerShdw dist="64758" dir="678596"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23" name="Rectangle 23">
            <a:extLst>
              <a:ext uri="{FF2B5EF4-FFF2-40B4-BE49-F238E27FC236}">
                <a16:creationId xmlns:a16="http://schemas.microsoft.com/office/drawing/2014/main" id="{FFD57524-26C9-4502-B909-BAEE6BCE4DE1}"/>
              </a:ext>
            </a:extLst>
          </p:cNvPr>
          <p:cNvSpPr txBox="1">
            <a:spLocks noChangeArrowheads="1"/>
          </p:cNvSpPr>
          <p:nvPr/>
        </p:nvSpPr>
        <p:spPr>
          <a:xfrm>
            <a:off x="2320925" y="396082"/>
            <a:ext cx="582167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b="1">
                <a:latin typeface="宋体" panose="02010600030101010101" pitchFamily="2" charset="-122"/>
              </a:rPr>
              <a:t>递归调用</a:t>
            </a:r>
            <a:r>
              <a:rPr lang="en-US" altLang="zh-CN" b="1">
                <a:latin typeface="宋体" panose="02010600030101010101" pitchFamily="2" charset="-122"/>
              </a:rPr>
              <a:t>-</a:t>
            </a:r>
            <a:r>
              <a:rPr lang="zh-CN" altLang="en-US" b="1" i="1">
                <a:solidFill>
                  <a:srgbClr val="008000"/>
                </a:solidFill>
              </a:rPr>
              <a:t>汉诺塔</a:t>
            </a:r>
            <a:endParaRPr lang="zh-CN" altLang="en-US" b="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250" name="Group 2">
            <a:extLst>
              <a:ext uri="{FF2B5EF4-FFF2-40B4-BE49-F238E27FC236}">
                <a16:creationId xmlns:a16="http://schemas.microsoft.com/office/drawing/2014/main" id="{669460A9-F8E8-41D0-8025-3989E6371FAB}"/>
              </a:ext>
            </a:extLst>
          </p:cNvPr>
          <p:cNvGrpSpPr>
            <a:grpSpLocks/>
          </p:cNvGrpSpPr>
          <p:nvPr/>
        </p:nvGrpSpPr>
        <p:grpSpPr bwMode="auto">
          <a:xfrm>
            <a:off x="2133600" y="2528889"/>
            <a:ext cx="7924800" cy="2501899"/>
            <a:chOff x="0" y="0"/>
            <a:chExt cx="4992" cy="1576"/>
          </a:xfrm>
        </p:grpSpPr>
        <p:grpSp>
          <p:nvGrpSpPr>
            <p:cNvPr id="53258" name="Group 3">
              <a:extLst>
                <a:ext uri="{FF2B5EF4-FFF2-40B4-BE49-F238E27FC236}">
                  <a16:creationId xmlns:a16="http://schemas.microsoft.com/office/drawing/2014/main" id="{55F0218B-072A-49F3-8D5F-7DBA8E7F4326}"/>
                </a:ext>
              </a:extLst>
            </p:cNvPr>
            <p:cNvGrpSpPr>
              <a:grpSpLocks/>
            </p:cNvGrpSpPr>
            <p:nvPr/>
          </p:nvGrpSpPr>
          <p:grpSpPr bwMode="auto">
            <a:xfrm>
              <a:off x="0" y="0"/>
              <a:ext cx="1392" cy="1134"/>
              <a:chOff x="0" y="0"/>
              <a:chExt cx="1392" cy="1134"/>
            </a:xfrm>
          </p:grpSpPr>
          <p:sp>
            <p:nvSpPr>
              <p:cNvPr id="53269" name="Line 4">
                <a:extLst>
                  <a:ext uri="{FF2B5EF4-FFF2-40B4-BE49-F238E27FC236}">
                    <a16:creationId xmlns:a16="http://schemas.microsoft.com/office/drawing/2014/main" id="{52200C9D-F797-4F9C-BDE2-264DED2DFFDF}"/>
                  </a:ext>
                </a:extLst>
              </p:cNvPr>
              <p:cNvSpPr>
                <a:spLocks noChangeShapeType="1"/>
              </p:cNvSpPr>
              <p:nvPr/>
            </p:nvSpPr>
            <p:spPr bwMode="auto">
              <a:xfrm>
                <a:off x="0" y="1134"/>
                <a:ext cx="13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sp>
            <p:nvSpPr>
              <p:cNvPr id="53270" name="Line 5">
                <a:extLst>
                  <a:ext uri="{FF2B5EF4-FFF2-40B4-BE49-F238E27FC236}">
                    <a16:creationId xmlns:a16="http://schemas.microsoft.com/office/drawing/2014/main" id="{F7BF3FF7-6D80-487D-9615-F14105E87511}"/>
                  </a:ext>
                </a:extLst>
              </p:cNvPr>
              <p:cNvSpPr>
                <a:spLocks noChangeShapeType="1"/>
              </p:cNvSpPr>
              <p:nvPr/>
            </p:nvSpPr>
            <p:spPr bwMode="auto">
              <a:xfrm>
                <a:off x="694" y="0"/>
                <a:ext cx="0" cy="113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grpSp>
        <p:sp>
          <p:nvSpPr>
            <p:cNvPr id="53259" name="Rectangle 6">
              <a:extLst>
                <a:ext uri="{FF2B5EF4-FFF2-40B4-BE49-F238E27FC236}">
                  <a16:creationId xmlns:a16="http://schemas.microsoft.com/office/drawing/2014/main" id="{AC795184-BCD0-47AA-9DF3-9984686C2DC3}"/>
                </a:ext>
              </a:extLst>
            </p:cNvPr>
            <p:cNvSpPr>
              <a:spLocks noChangeArrowheads="1"/>
            </p:cNvSpPr>
            <p:nvPr/>
          </p:nvSpPr>
          <p:spPr bwMode="auto">
            <a:xfrm>
              <a:off x="118" y="942"/>
              <a:ext cx="1134" cy="181"/>
            </a:xfrm>
            <a:prstGeom prst="rect">
              <a:avLst/>
            </a:prstGeom>
            <a:solidFill>
              <a:srgbClr val="FFFF00"/>
            </a:solidFill>
            <a:ln w="6350">
              <a:solidFill>
                <a:schemeClr val="tx1"/>
              </a:solidFill>
              <a:miter lim="800000"/>
              <a:headEnd/>
              <a:tailEnd/>
            </a:ln>
            <a:effectLst>
              <a:outerShdw dist="64758" dir="20921404"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53260" name="Group 7">
              <a:extLst>
                <a:ext uri="{FF2B5EF4-FFF2-40B4-BE49-F238E27FC236}">
                  <a16:creationId xmlns:a16="http://schemas.microsoft.com/office/drawing/2014/main" id="{ADDEAB84-51C8-4263-9CDE-10CB9B0C9D3A}"/>
                </a:ext>
              </a:extLst>
            </p:cNvPr>
            <p:cNvGrpSpPr>
              <a:grpSpLocks/>
            </p:cNvGrpSpPr>
            <p:nvPr/>
          </p:nvGrpSpPr>
          <p:grpSpPr bwMode="auto">
            <a:xfrm>
              <a:off x="1824" y="0"/>
              <a:ext cx="1392" cy="1134"/>
              <a:chOff x="0" y="0"/>
              <a:chExt cx="1392" cy="1134"/>
            </a:xfrm>
          </p:grpSpPr>
          <p:sp>
            <p:nvSpPr>
              <p:cNvPr id="53267" name="Line 8">
                <a:extLst>
                  <a:ext uri="{FF2B5EF4-FFF2-40B4-BE49-F238E27FC236}">
                    <a16:creationId xmlns:a16="http://schemas.microsoft.com/office/drawing/2014/main" id="{50EF03FE-1681-4FFB-B387-7919A0F39224}"/>
                  </a:ext>
                </a:extLst>
              </p:cNvPr>
              <p:cNvSpPr>
                <a:spLocks noChangeShapeType="1"/>
              </p:cNvSpPr>
              <p:nvPr/>
            </p:nvSpPr>
            <p:spPr bwMode="auto">
              <a:xfrm>
                <a:off x="0" y="1134"/>
                <a:ext cx="13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sp>
            <p:nvSpPr>
              <p:cNvPr id="53268" name="Line 9">
                <a:extLst>
                  <a:ext uri="{FF2B5EF4-FFF2-40B4-BE49-F238E27FC236}">
                    <a16:creationId xmlns:a16="http://schemas.microsoft.com/office/drawing/2014/main" id="{54FA9CC8-0991-4519-BD1C-E998CF93D5A8}"/>
                  </a:ext>
                </a:extLst>
              </p:cNvPr>
              <p:cNvSpPr>
                <a:spLocks noChangeShapeType="1"/>
              </p:cNvSpPr>
              <p:nvPr/>
            </p:nvSpPr>
            <p:spPr bwMode="auto">
              <a:xfrm>
                <a:off x="694" y="0"/>
                <a:ext cx="0" cy="113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53261" name="Group 10">
              <a:extLst>
                <a:ext uri="{FF2B5EF4-FFF2-40B4-BE49-F238E27FC236}">
                  <a16:creationId xmlns:a16="http://schemas.microsoft.com/office/drawing/2014/main" id="{3240ED3D-812B-49D5-A5A4-46EA0E56C166}"/>
                </a:ext>
              </a:extLst>
            </p:cNvPr>
            <p:cNvGrpSpPr>
              <a:grpSpLocks/>
            </p:cNvGrpSpPr>
            <p:nvPr/>
          </p:nvGrpSpPr>
          <p:grpSpPr bwMode="auto">
            <a:xfrm>
              <a:off x="3600" y="0"/>
              <a:ext cx="1392" cy="1134"/>
              <a:chOff x="0" y="0"/>
              <a:chExt cx="1392" cy="1134"/>
            </a:xfrm>
          </p:grpSpPr>
          <p:sp>
            <p:nvSpPr>
              <p:cNvPr id="53265" name="Line 11">
                <a:extLst>
                  <a:ext uri="{FF2B5EF4-FFF2-40B4-BE49-F238E27FC236}">
                    <a16:creationId xmlns:a16="http://schemas.microsoft.com/office/drawing/2014/main" id="{04919BED-DA06-45B3-9283-00358735AB50}"/>
                  </a:ext>
                </a:extLst>
              </p:cNvPr>
              <p:cNvSpPr>
                <a:spLocks noChangeShapeType="1"/>
              </p:cNvSpPr>
              <p:nvPr/>
            </p:nvSpPr>
            <p:spPr bwMode="auto">
              <a:xfrm>
                <a:off x="0" y="1134"/>
                <a:ext cx="13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sp>
            <p:nvSpPr>
              <p:cNvPr id="53266" name="Line 12">
                <a:extLst>
                  <a:ext uri="{FF2B5EF4-FFF2-40B4-BE49-F238E27FC236}">
                    <a16:creationId xmlns:a16="http://schemas.microsoft.com/office/drawing/2014/main" id="{13FE215A-5040-40D5-99C5-5DEEF7EBAFCF}"/>
                  </a:ext>
                </a:extLst>
              </p:cNvPr>
              <p:cNvSpPr>
                <a:spLocks noChangeShapeType="1"/>
              </p:cNvSpPr>
              <p:nvPr/>
            </p:nvSpPr>
            <p:spPr bwMode="auto">
              <a:xfrm>
                <a:off x="694" y="0"/>
                <a:ext cx="0" cy="113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grpSp>
        <p:sp>
          <p:nvSpPr>
            <p:cNvPr id="53262" name="Text Box 13">
              <a:extLst>
                <a:ext uri="{FF2B5EF4-FFF2-40B4-BE49-F238E27FC236}">
                  <a16:creationId xmlns:a16="http://schemas.microsoft.com/office/drawing/2014/main" id="{B3BAE13B-2ED1-418B-B1B9-F73182D42A16}"/>
                </a:ext>
              </a:extLst>
            </p:cNvPr>
            <p:cNvSpPr txBox="1">
              <a:spLocks noChangeArrowheads="1"/>
            </p:cNvSpPr>
            <p:nvPr/>
          </p:nvSpPr>
          <p:spPr bwMode="auto">
            <a:xfrm>
              <a:off x="576" y="1342"/>
              <a:ext cx="220"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A</a:t>
              </a:r>
            </a:p>
          </p:txBody>
        </p:sp>
        <p:sp>
          <p:nvSpPr>
            <p:cNvPr id="53263" name="Text Box 14">
              <a:extLst>
                <a:ext uri="{FF2B5EF4-FFF2-40B4-BE49-F238E27FC236}">
                  <a16:creationId xmlns:a16="http://schemas.microsoft.com/office/drawing/2014/main" id="{8BA529E5-5F46-45B3-BD8D-F5EFD5235B3F}"/>
                </a:ext>
              </a:extLst>
            </p:cNvPr>
            <p:cNvSpPr txBox="1">
              <a:spLocks noChangeArrowheads="1"/>
            </p:cNvSpPr>
            <p:nvPr/>
          </p:nvSpPr>
          <p:spPr bwMode="auto">
            <a:xfrm>
              <a:off x="2378" y="1342"/>
              <a:ext cx="211"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B</a:t>
              </a:r>
            </a:p>
          </p:txBody>
        </p:sp>
        <p:sp>
          <p:nvSpPr>
            <p:cNvPr id="53264" name="Text Box 15">
              <a:extLst>
                <a:ext uri="{FF2B5EF4-FFF2-40B4-BE49-F238E27FC236}">
                  <a16:creationId xmlns:a16="http://schemas.microsoft.com/office/drawing/2014/main" id="{B084A72D-0F93-4877-B1D6-595B29C8E620}"/>
                </a:ext>
              </a:extLst>
            </p:cNvPr>
            <p:cNvSpPr txBox="1">
              <a:spLocks noChangeArrowheads="1"/>
            </p:cNvSpPr>
            <p:nvPr/>
          </p:nvSpPr>
          <p:spPr bwMode="auto">
            <a:xfrm>
              <a:off x="4198" y="1342"/>
              <a:ext cx="220"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C</a:t>
              </a:r>
            </a:p>
          </p:txBody>
        </p:sp>
      </p:grpSp>
      <p:grpSp>
        <p:nvGrpSpPr>
          <p:cNvPr id="53251" name="Group 16">
            <a:extLst>
              <a:ext uri="{FF2B5EF4-FFF2-40B4-BE49-F238E27FC236}">
                <a16:creationId xmlns:a16="http://schemas.microsoft.com/office/drawing/2014/main" id="{3ED6CF38-9EAC-49E3-9E12-DA0B66BBCD90}"/>
              </a:ext>
            </a:extLst>
          </p:cNvPr>
          <p:cNvGrpSpPr>
            <a:grpSpLocks/>
          </p:cNvGrpSpPr>
          <p:nvPr/>
        </p:nvGrpSpPr>
        <p:grpSpPr bwMode="auto">
          <a:xfrm>
            <a:off x="5418138" y="1320800"/>
            <a:ext cx="1439862" cy="1193800"/>
            <a:chOff x="0" y="0"/>
            <a:chExt cx="907" cy="752"/>
          </a:xfrm>
        </p:grpSpPr>
        <p:sp>
          <p:nvSpPr>
            <p:cNvPr id="53254" name="Rectangle 17">
              <a:extLst>
                <a:ext uri="{FF2B5EF4-FFF2-40B4-BE49-F238E27FC236}">
                  <a16:creationId xmlns:a16="http://schemas.microsoft.com/office/drawing/2014/main" id="{7029854B-6DD2-4E1A-92DB-0AC0407502A0}"/>
                </a:ext>
              </a:extLst>
            </p:cNvPr>
            <p:cNvSpPr>
              <a:spLocks noChangeArrowheads="1"/>
            </p:cNvSpPr>
            <p:nvPr/>
          </p:nvSpPr>
          <p:spPr bwMode="auto">
            <a:xfrm>
              <a:off x="0" y="571"/>
              <a:ext cx="907" cy="181"/>
            </a:xfrm>
            <a:prstGeom prst="rect">
              <a:avLst/>
            </a:prstGeom>
            <a:solidFill>
              <a:srgbClr val="FFCC00"/>
            </a:solidFill>
            <a:ln w="6350">
              <a:solidFill>
                <a:schemeClr val="tx1"/>
              </a:solidFill>
              <a:miter lim="800000"/>
              <a:headEnd/>
              <a:tailEnd/>
            </a:ln>
            <a:effectLst>
              <a:outerShdw dist="64758" dir="678596"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3255" name="Rectangle 18">
              <a:extLst>
                <a:ext uri="{FF2B5EF4-FFF2-40B4-BE49-F238E27FC236}">
                  <a16:creationId xmlns:a16="http://schemas.microsoft.com/office/drawing/2014/main" id="{E2A4177B-53EC-4D47-B797-158C99E4E577}"/>
                </a:ext>
              </a:extLst>
            </p:cNvPr>
            <p:cNvSpPr>
              <a:spLocks noChangeArrowheads="1"/>
            </p:cNvSpPr>
            <p:nvPr/>
          </p:nvSpPr>
          <p:spPr bwMode="auto">
            <a:xfrm>
              <a:off x="109" y="383"/>
              <a:ext cx="680" cy="181"/>
            </a:xfrm>
            <a:prstGeom prst="rect">
              <a:avLst/>
            </a:prstGeom>
            <a:solidFill>
              <a:srgbClr val="FFCC00"/>
            </a:solidFill>
            <a:ln w="6350">
              <a:solidFill>
                <a:schemeClr val="tx1"/>
              </a:solidFill>
              <a:miter lim="800000"/>
              <a:headEnd/>
              <a:tailEnd/>
            </a:ln>
            <a:effectLst>
              <a:outerShdw dist="64758" dir="678596"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3256" name="Rectangle 19">
              <a:extLst>
                <a:ext uri="{FF2B5EF4-FFF2-40B4-BE49-F238E27FC236}">
                  <a16:creationId xmlns:a16="http://schemas.microsoft.com/office/drawing/2014/main" id="{98546D94-520B-4FCA-B5DF-F46EBCB3AF38}"/>
                </a:ext>
              </a:extLst>
            </p:cNvPr>
            <p:cNvSpPr>
              <a:spLocks noChangeArrowheads="1"/>
            </p:cNvSpPr>
            <p:nvPr/>
          </p:nvSpPr>
          <p:spPr bwMode="auto">
            <a:xfrm>
              <a:off x="214" y="192"/>
              <a:ext cx="453" cy="181"/>
            </a:xfrm>
            <a:prstGeom prst="rect">
              <a:avLst/>
            </a:prstGeom>
            <a:solidFill>
              <a:srgbClr val="FFCC00"/>
            </a:solidFill>
            <a:ln w="6350">
              <a:solidFill>
                <a:schemeClr val="tx1"/>
              </a:solidFill>
              <a:miter lim="800000"/>
              <a:headEnd/>
              <a:tailEnd/>
            </a:ln>
            <a:effectLst>
              <a:outerShdw dist="64758" dir="678596"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3257" name="Rectangle 20">
              <a:extLst>
                <a:ext uri="{FF2B5EF4-FFF2-40B4-BE49-F238E27FC236}">
                  <a16:creationId xmlns:a16="http://schemas.microsoft.com/office/drawing/2014/main" id="{D005A358-22FE-49F0-A97B-D43D59E3FCD6}"/>
                </a:ext>
              </a:extLst>
            </p:cNvPr>
            <p:cNvSpPr>
              <a:spLocks noChangeArrowheads="1"/>
            </p:cNvSpPr>
            <p:nvPr/>
          </p:nvSpPr>
          <p:spPr bwMode="auto">
            <a:xfrm>
              <a:off x="329" y="0"/>
              <a:ext cx="227" cy="181"/>
            </a:xfrm>
            <a:prstGeom prst="rect">
              <a:avLst/>
            </a:prstGeom>
            <a:solidFill>
              <a:srgbClr val="FFCC00"/>
            </a:solidFill>
            <a:ln w="6350">
              <a:solidFill>
                <a:schemeClr val="tx1"/>
              </a:solidFill>
              <a:miter lim="800000"/>
              <a:headEnd/>
              <a:tailEnd/>
            </a:ln>
            <a:effectLst>
              <a:outerShdw dist="64758" dir="678596"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23" name="Rectangle 23">
            <a:extLst>
              <a:ext uri="{FF2B5EF4-FFF2-40B4-BE49-F238E27FC236}">
                <a16:creationId xmlns:a16="http://schemas.microsoft.com/office/drawing/2014/main" id="{A006814F-743D-4E48-A48A-913D4FF03B4B}"/>
              </a:ext>
            </a:extLst>
          </p:cNvPr>
          <p:cNvSpPr txBox="1">
            <a:spLocks noChangeArrowheads="1"/>
          </p:cNvSpPr>
          <p:nvPr/>
        </p:nvSpPr>
        <p:spPr>
          <a:xfrm>
            <a:off x="2320925" y="396082"/>
            <a:ext cx="582167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b="1">
                <a:latin typeface="宋体" panose="02010600030101010101" pitchFamily="2" charset="-122"/>
              </a:rPr>
              <a:t>递归调用</a:t>
            </a:r>
            <a:r>
              <a:rPr lang="en-US" altLang="zh-CN" b="1">
                <a:latin typeface="宋体" panose="02010600030101010101" pitchFamily="2" charset="-122"/>
              </a:rPr>
              <a:t>-</a:t>
            </a:r>
            <a:r>
              <a:rPr lang="zh-CN" altLang="en-US" b="1" i="1">
                <a:solidFill>
                  <a:srgbClr val="008000"/>
                </a:solidFill>
              </a:rPr>
              <a:t>汉诺塔</a:t>
            </a:r>
            <a:endParaRPr lang="zh-CN" altLang="en-US" b="1"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274" name="Group 2">
            <a:extLst>
              <a:ext uri="{FF2B5EF4-FFF2-40B4-BE49-F238E27FC236}">
                <a16:creationId xmlns:a16="http://schemas.microsoft.com/office/drawing/2014/main" id="{DCCAC9C6-4088-4E8B-9773-2D76166C9854}"/>
              </a:ext>
            </a:extLst>
          </p:cNvPr>
          <p:cNvGrpSpPr>
            <a:grpSpLocks/>
          </p:cNvGrpSpPr>
          <p:nvPr/>
        </p:nvGrpSpPr>
        <p:grpSpPr bwMode="auto">
          <a:xfrm>
            <a:off x="2133600" y="2528889"/>
            <a:ext cx="7924800" cy="2501899"/>
            <a:chOff x="0" y="0"/>
            <a:chExt cx="4992" cy="1576"/>
          </a:xfrm>
        </p:grpSpPr>
        <p:grpSp>
          <p:nvGrpSpPr>
            <p:cNvPr id="54277" name="Group 3">
              <a:extLst>
                <a:ext uri="{FF2B5EF4-FFF2-40B4-BE49-F238E27FC236}">
                  <a16:creationId xmlns:a16="http://schemas.microsoft.com/office/drawing/2014/main" id="{9DA27A05-8DBD-42D1-88C9-2494663A3B23}"/>
                </a:ext>
              </a:extLst>
            </p:cNvPr>
            <p:cNvGrpSpPr>
              <a:grpSpLocks/>
            </p:cNvGrpSpPr>
            <p:nvPr/>
          </p:nvGrpSpPr>
          <p:grpSpPr bwMode="auto">
            <a:xfrm>
              <a:off x="0" y="0"/>
              <a:ext cx="1392" cy="1134"/>
              <a:chOff x="0" y="0"/>
              <a:chExt cx="1392" cy="1134"/>
            </a:xfrm>
          </p:grpSpPr>
          <p:sp>
            <p:nvSpPr>
              <p:cNvPr id="54293" name="Line 4">
                <a:extLst>
                  <a:ext uri="{FF2B5EF4-FFF2-40B4-BE49-F238E27FC236}">
                    <a16:creationId xmlns:a16="http://schemas.microsoft.com/office/drawing/2014/main" id="{EA3EF757-B8E9-407A-A3F2-209F57C3C0B4}"/>
                  </a:ext>
                </a:extLst>
              </p:cNvPr>
              <p:cNvSpPr>
                <a:spLocks noChangeShapeType="1"/>
              </p:cNvSpPr>
              <p:nvPr/>
            </p:nvSpPr>
            <p:spPr bwMode="auto">
              <a:xfrm>
                <a:off x="0" y="1134"/>
                <a:ext cx="13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sp>
            <p:nvSpPr>
              <p:cNvPr id="54294" name="Line 5">
                <a:extLst>
                  <a:ext uri="{FF2B5EF4-FFF2-40B4-BE49-F238E27FC236}">
                    <a16:creationId xmlns:a16="http://schemas.microsoft.com/office/drawing/2014/main" id="{2CE27C3B-13DA-401C-9974-78A941823737}"/>
                  </a:ext>
                </a:extLst>
              </p:cNvPr>
              <p:cNvSpPr>
                <a:spLocks noChangeShapeType="1"/>
              </p:cNvSpPr>
              <p:nvPr/>
            </p:nvSpPr>
            <p:spPr bwMode="auto">
              <a:xfrm>
                <a:off x="694" y="0"/>
                <a:ext cx="0" cy="113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grpSp>
        <p:sp>
          <p:nvSpPr>
            <p:cNvPr id="54278" name="Rectangle 6">
              <a:extLst>
                <a:ext uri="{FF2B5EF4-FFF2-40B4-BE49-F238E27FC236}">
                  <a16:creationId xmlns:a16="http://schemas.microsoft.com/office/drawing/2014/main" id="{6F6A125F-D0E4-4EC2-B708-22CAD7EDE008}"/>
                </a:ext>
              </a:extLst>
            </p:cNvPr>
            <p:cNvSpPr>
              <a:spLocks noChangeArrowheads="1"/>
            </p:cNvSpPr>
            <p:nvPr/>
          </p:nvSpPr>
          <p:spPr bwMode="auto">
            <a:xfrm>
              <a:off x="118" y="942"/>
              <a:ext cx="1134" cy="181"/>
            </a:xfrm>
            <a:prstGeom prst="rect">
              <a:avLst/>
            </a:prstGeom>
            <a:solidFill>
              <a:srgbClr val="FFFF00"/>
            </a:solidFill>
            <a:ln w="6350">
              <a:solidFill>
                <a:schemeClr val="tx1"/>
              </a:solidFill>
              <a:miter lim="800000"/>
              <a:headEnd/>
              <a:tailEnd/>
            </a:ln>
            <a:effectLst>
              <a:outerShdw dist="64758" dir="20921404"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54279" name="Group 7">
              <a:extLst>
                <a:ext uri="{FF2B5EF4-FFF2-40B4-BE49-F238E27FC236}">
                  <a16:creationId xmlns:a16="http://schemas.microsoft.com/office/drawing/2014/main" id="{F928222F-B769-42E2-87B1-AAB4B403BDA0}"/>
                </a:ext>
              </a:extLst>
            </p:cNvPr>
            <p:cNvGrpSpPr>
              <a:grpSpLocks/>
            </p:cNvGrpSpPr>
            <p:nvPr/>
          </p:nvGrpSpPr>
          <p:grpSpPr bwMode="auto">
            <a:xfrm>
              <a:off x="1824" y="0"/>
              <a:ext cx="1392" cy="1134"/>
              <a:chOff x="0" y="0"/>
              <a:chExt cx="1392" cy="1134"/>
            </a:xfrm>
          </p:grpSpPr>
          <p:sp>
            <p:nvSpPr>
              <p:cNvPr id="54291" name="Line 8">
                <a:extLst>
                  <a:ext uri="{FF2B5EF4-FFF2-40B4-BE49-F238E27FC236}">
                    <a16:creationId xmlns:a16="http://schemas.microsoft.com/office/drawing/2014/main" id="{B17FCDAD-892A-43B4-8D01-9B1502CCD138}"/>
                  </a:ext>
                </a:extLst>
              </p:cNvPr>
              <p:cNvSpPr>
                <a:spLocks noChangeShapeType="1"/>
              </p:cNvSpPr>
              <p:nvPr/>
            </p:nvSpPr>
            <p:spPr bwMode="auto">
              <a:xfrm>
                <a:off x="0" y="1134"/>
                <a:ext cx="13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sp>
            <p:nvSpPr>
              <p:cNvPr id="54292" name="Line 9">
                <a:extLst>
                  <a:ext uri="{FF2B5EF4-FFF2-40B4-BE49-F238E27FC236}">
                    <a16:creationId xmlns:a16="http://schemas.microsoft.com/office/drawing/2014/main" id="{42F96570-EA4B-4F5D-8211-57FE3E02BDC6}"/>
                  </a:ext>
                </a:extLst>
              </p:cNvPr>
              <p:cNvSpPr>
                <a:spLocks noChangeShapeType="1"/>
              </p:cNvSpPr>
              <p:nvPr/>
            </p:nvSpPr>
            <p:spPr bwMode="auto">
              <a:xfrm>
                <a:off x="694" y="0"/>
                <a:ext cx="0" cy="113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54280" name="Group 10">
              <a:extLst>
                <a:ext uri="{FF2B5EF4-FFF2-40B4-BE49-F238E27FC236}">
                  <a16:creationId xmlns:a16="http://schemas.microsoft.com/office/drawing/2014/main" id="{69313902-304F-489D-BB36-94A039D226E1}"/>
                </a:ext>
              </a:extLst>
            </p:cNvPr>
            <p:cNvGrpSpPr>
              <a:grpSpLocks/>
            </p:cNvGrpSpPr>
            <p:nvPr/>
          </p:nvGrpSpPr>
          <p:grpSpPr bwMode="auto">
            <a:xfrm>
              <a:off x="3600" y="0"/>
              <a:ext cx="1392" cy="1134"/>
              <a:chOff x="0" y="0"/>
              <a:chExt cx="1392" cy="1134"/>
            </a:xfrm>
          </p:grpSpPr>
          <p:sp>
            <p:nvSpPr>
              <p:cNvPr id="54289" name="Line 11">
                <a:extLst>
                  <a:ext uri="{FF2B5EF4-FFF2-40B4-BE49-F238E27FC236}">
                    <a16:creationId xmlns:a16="http://schemas.microsoft.com/office/drawing/2014/main" id="{C3B31E35-C5A7-4978-845E-208E560295C4}"/>
                  </a:ext>
                </a:extLst>
              </p:cNvPr>
              <p:cNvSpPr>
                <a:spLocks noChangeShapeType="1"/>
              </p:cNvSpPr>
              <p:nvPr/>
            </p:nvSpPr>
            <p:spPr bwMode="auto">
              <a:xfrm>
                <a:off x="0" y="1134"/>
                <a:ext cx="13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sp>
            <p:nvSpPr>
              <p:cNvPr id="54290" name="Line 12">
                <a:extLst>
                  <a:ext uri="{FF2B5EF4-FFF2-40B4-BE49-F238E27FC236}">
                    <a16:creationId xmlns:a16="http://schemas.microsoft.com/office/drawing/2014/main" id="{73202072-8FF5-4725-9B2F-15AC12EB7C5D}"/>
                  </a:ext>
                </a:extLst>
              </p:cNvPr>
              <p:cNvSpPr>
                <a:spLocks noChangeShapeType="1"/>
              </p:cNvSpPr>
              <p:nvPr/>
            </p:nvSpPr>
            <p:spPr bwMode="auto">
              <a:xfrm>
                <a:off x="694" y="0"/>
                <a:ext cx="0" cy="113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grpSp>
        <p:sp>
          <p:nvSpPr>
            <p:cNvPr id="54281" name="Text Box 13">
              <a:extLst>
                <a:ext uri="{FF2B5EF4-FFF2-40B4-BE49-F238E27FC236}">
                  <a16:creationId xmlns:a16="http://schemas.microsoft.com/office/drawing/2014/main" id="{CB0B3CCC-C3EA-4D82-9E6A-1246D7D9D9DB}"/>
                </a:ext>
              </a:extLst>
            </p:cNvPr>
            <p:cNvSpPr txBox="1">
              <a:spLocks noChangeArrowheads="1"/>
            </p:cNvSpPr>
            <p:nvPr/>
          </p:nvSpPr>
          <p:spPr bwMode="auto">
            <a:xfrm>
              <a:off x="576" y="1342"/>
              <a:ext cx="220"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A</a:t>
              </a:r>
            </a:p>
          </p:txBody>
        </p:sp>
        <p:sp>
          <p:nvSpPr>
            <p:cNvPr id="54282" name="Text Box 14">
              <a:extLst>
                <a:ext uri="{FF2B5EF4-FFF2-40B4-BE49-F238E27FC236}">
                  <a16:creationId xmlns:a16="http://schemas.microsoft.com/office/drawing/2014/main" id="{04BF04E7-D101-4019-904E-9837A119CDB5}"/>
                </a:ext>
              </a:extLst>
            </p:cNvPr>
            <p:cNvSpPr txBox="1">
              <a:spLocks noChangeArrowheads="1"/>
            </p:cNvSpPr>
            <p:nvPr/>
          </p:nvSpPr>
          <p:spPr bwMode="auto">
            <a:xfrm>
              <a:off x="2378" y="1342"/>
              <a:ext cx="211"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B</a:t>
              </a:r>
            </a:p>
          </p:txBody>
        </p:sp>
        <p:sp>
          <p:nvSpPr>
            <p:cNvPr id="54283" name="Text Box 15">
              <a:extLst>
                <a:ext uri="{FF2B5EF4-FFF2-40B4-BE49-F238E27FC236}">
                  <a16:creationId xmlns:a16="http://schemas.microsoft.com/office/drawing/2014/main" id="{1513B04C-DA89-494A-A3C5-09A7ED3C360D}"/>
                </a:ext>
              </a:extLst>
            </p:cNvPr>
            <p:cNvSpPr txBox="1">
              <a:spLocks noChangeArrowheads="1"/>
            </p:cNvSpPr>
            <p:nvPr/>
          </p:nvSpPr>
          <p:spPr bwMode="auto">
            <a:xfrm>
              <a:off x="4198" y="1342"/>
              <a:ext cx="220"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C</a:t>
              </a:r>
            </a:p>
          </p:txBody>
        </p:sp>
        <p:grpSp>
          <p:nvGrpSpPr>
            <p:cNvPr id="54284" name="Group 16">
              <a:extLst>
                <a:ext uri="{FF2B5EF4-FFF2-40B4-BE49-F238E27FC236}">
                  <a16:creationId xmlns:a16="http://schemas.microsoft.com/office/drawing/2014/main" id="{4325D8EF-A6D8-4BD9-B530-8F238A3D69DC}"/>
                </a:ext>
              </a:extLst>
            </p:cNvPr>
            <p:cNvGrpSpPr>
              <a:grpSpLocks/>
            </p:cNvGrpSpPr>
            <p:nvPr/>
          </p:nvGrpSpPr>
          <p:grpSpPr bwMode="auto">
            <a:xfrm>
              <a:off x="2069" y="375"/>
              <a:ext cx="907" cy="752"/>
              <a:chOff x="0" y="0"/>
              <a:chExt cx="907" cy="752"/>
            </a:xfrm>
          </p:grpSpPr>
          <p:sp>
            <p:nvSpPr>
              <p:cNvPr id="54285" name="Rectangle 17">
                <a:extLst>
                  <a:ext uri="{FF2B5EF4-FFF2-40B4-BE49-F238E27FC236}">
                    <a16:creationId xmlns:a16="http://schemas.microsoft.com/office/drawing/2014/main" id="{8F36797D-926B-4D57-80D9-F8122662E275}"/>
                  </a:ext>
                </a:extLst>
              </p:cNvPr>
              <p:cNvSpPr>
                <a:spLocks noChangeArrowheads="1"/>
              </p:cNvSpPr>
              <p:nvPr/>
            </p:nvSpPr>
            <p:spPr bwMode="auto">
              <a:xfrm>
                <a:off x="0" y="571"/>
                <a:ext cx="907" cy="181"/>
              </a:xfrm>
              <a:prstGeom prst="rect">
                <a:avLst/>
              </a:prstGeom>
              <a:solidFill>
                <a:srgbClr val="FFCC00"/>
              </a:solidFill>
              <a:ln w="6350">
                <a:solidFill>
                  <a:schemeClr val="tx1"/>
                </a:solidFill>
                <a:miter lim="800000"/>
                <a:headEnd/>
                <a:tailEnd/>
              </a:ln>
              <a:effectLst>
                <a:outerShdw dist="64758" dir="678596"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4286" name="Rectangle 18">
                <a:extLst>
                  <a:ext uri="{FF2B5EF4-FFF2-40B4-BE49-F238E27FC236}">
                    <a16:creationId xmlns:a16="http://schemas.microsoft.com/office/drawing/2014/main" id="{4878E3D9-5E03-494E-8D1A-434804D267E7}"/>
                  </a:ext>
                </a:extLst>
              </p:cNvPr>
              <p:cNvSpPr>
                <a:spLocks noChangeArrowheads="1"/>
              </p:cNvSpPr>
              <p:nvPr/>
            </p:nvSpPr>
            <p:spPr bwMode="auto">
              <a:xfrm>
                <a:off x="109" y="383"/>
                <a:ext cx="680" cy="181"/>
              </a:xfrm>
              <a:prstGeom prst="rect">
                <a:avLst/>
              </a:prstGeom>
              <a:solidFill>
                <a:srgbClr val="FFCC00"/>
              </a:solidFill>
              <a:ln w="6350">
                <a:solidFill>
                  <a:schemeClr val="tx1"/>
                </a:solidFill>
                <a:miter lim="800000"/>
                <a:headEnd/>
                <a:tailEnd/>
              </a:ln>
              <a:effectLst>
                <a:outerShdw dist="64758" dir="678596"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4287" name="Rectangle 19">
                <a:extLst>
                  <a:ext uri="{FF2B5EF4-FFF2-40B4-BE49-F238E27FC236}">
                    <a16:creationId xmlns:a16="http://schemas.microsoft.com/office/drawing/2014/main" id="{E36BF0D3-0892-407F-8F1D-A798108E9164}"/>
                  </a:ext>
                </a:extLst>
              </p:cNvPr>
              <p:cNvSpPr>
                <a:spLocks noChangeArrowheads="1"/>
              </p:cNvSpPr>
              <p:nvPr/>
            </p:nvSpPr>
            <p:spPr bwMode="auto">
              <a:xfrm>
                <a:off x="214" y="192"/>
                <a:ext cx="453" cy="181"/>
              </a:xfrm>
              <a:prstGeom prst="rect">
                <a:avLst/>
              </a:prstGeom>
              <a:solidFill>
                <a:srgbClr val="FFCC00"/>
              </a:solidFill>
              <a:ln w="6350">
                <a:solidFill>
                  <a:schemeClr val="tx1"/>
                </a:solidFill>
                <a:miter lim="800000"/>
                <a:headEnd/>
                <a:tailEnd/>
              </a:ln>
              <a:effectLst>
                <a:outerShdw dist="64758" dir="678596"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4288" name="Rectangle 20">
                <a:extLst>
                  <a:ext uri="{FF2B5EF4-FFF2-40B4-BE49-F238E27FC236}">
                    <a16:creationId xmlns:a16="http://schemas.microsoft.com/office/drawing/2014/main" id="{3B7269B3-C541-4227-ACAD-496EC923A070}"/>
                  </a:ext>
                </a:extLst>
              </p:cNvPr>
              <p:cNvSpPr>
                <a:spLocks noChangeArrowheads="1"/>
              </p:cNvSpPr>
              <p:nvPr/>
            </p:nvSpPr>
            <p:spPr bwMode="auto">
              <a:xfrm>
                <a:off x="329" y="0"/>
                <a:ext cx="227" cy="181"/>
              </a:xfrm>
              <a:prstGeom prst="rect">
                <a:avLst/>
              </a:prstGeom>
              <a:solidFill>
                <a:srgbClr val="FFCC00"/>
              </a:solidFill>
              <a:ln w="6350">
                <a:solidFill>
                  <a:schemeClr val="tx1"/>
                </a:solidFill>
                <a:miter lim="800000"/>
                <a:headEnd/>
                <a:tailEnd/>
              </a:ln>
              <a:effectLst>
                <a:outerShdw dist="64758" dir="678596"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sp>
        <p:nvSpPr>
          <p:cNvPr id="23" name="Rectangle 23">
            <a:extLst>
              <a:ext uri="{FF2B5EF4-FFF2-40B4-BE49-F238E27FC236}">
                <a16:creationId xmlns:a16="http://schemas.microsoft.com/office/drawing/2014/main" id="{ADFB3221-1B6B-4238-B6EA-A78CD34F089E}"/>
              </a:ext>
            </a:extLst>
          </p:cNvPr>
          <p:cNvSpPr txBox="1">
            <a:spLocks noChangeArrowheads="1"/>
          </p:cNvSpPr>
          <p:nvPr/>
        </p:nvSpPr>
        <p:spPr>
          <a:xfrm>
            <a:off x="2320925" y="396082"/>
            <a:ext cx="582167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b="1">
                <a:latin typeface="宋体" panose="02010600030101010101" pitchFamily="2" charset="-122"/>
              </a:rPr>
              <a:t>递归调用</a:t>
            </a:r>
            <a:r>
              <a:rPr lang="en-US" altLang="zh-CN" b="1">
                <a:latin typeface="宋体" panose="02010600030101010101" pitchFamily="2" charset="-122"/>
              </a:rPr>
              <a:t>-</a:t>
            </a:r>
            <a:r>
              <a:rPr lang="zh-CN" altLang="en-US" b="1" i="1">
                <a:solidFill>
                  <a:srgbClr val="008000"/>
                </a:solidFill>
              </a:rPr>
              <a:t>汉诺塔</a:t>
            </a:r>
            <a:endParaRPr lang="zh-CN" altLang="en-US" b="1"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4C66857B-F3A2-44CC-B915-648A3EABF055}"/>
              </a:ext>
            </a:extLst>
          </p:cNvPr>
          <p:cNvSpPr>
            <a:spLocks noChangeArrowheads="1"/>
          </p:cNvSpPr>
          <p:nvPr/>
        </p:nvSpPr>
        <p:spPr bwMode="auto">
          <a:xfrm>
            <a:off x="2320926" y="2227264"/>
            <a:ext cx="1800225" cy="287337"/>
          </a:xfrm>
          <a:prstGeom prst="rect">
            <a:avLst/>
          </a:prstGeom>
          <a:solidFill>
            <a:srgbClr val="FFFF00"/>
          </a:solidFill>
          <a:ln w="6350">
            <a:solidFill>
              <a:schemeClr val="tx1"/>
            </a:solidFill>
            <a:miter lim="800000"/>
            <a:headEnd/>
            <a:tailEnd/>
          </a:ln>
          <a:effectLst>
            <a:outerShdw dist="64758" dir="20921404"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55299" name="Group 3">
            <a:extLst>
              <a:ext uri="{FF2B5EF4-FFF2-40B4-BE49-F238E27FC236}">
                <a16:creationId xmlns:a16="http://schemas.microsoft.com/office/drawing/2014/main" id="{DEA4B20A-7259-4A37-87E5-A66C15BFC209}"/>
              </a:ext>
            </a:extLst>
          </p:cNvPr>
          <p:cNvGrpSpPr>
            <a:grpSpLocks/>
          </p:cNvGrpSpPr>
          <p:nvPr/>
        </p:nvGrpSpPr>
        <p:grpSpPr bwMode="auto">
          <a:xfrm>
            <a:off x="2133600" y="2528889"/>
            <a:ext cx="7924800" cy="2501899"/>
            <a:chOff x="0" y="0"/>
            <a:chExt cx="4992" cy="1576"/>
          </a:xfrm>
        </p:grpSpPr>
        <p:sp>
          <p:nvSpPr>
            <p:cNvPr id="55302" name="Line 4">
              <a:extLst>
                <a:ext uri="{FF2B5EF4-FFF2-40B4-BE49-F238E27FC236}">
                  <a16:creationId xmlns:a16="http://schemas.microsoft.com/office/drawing/2014/main" id="{0B1E66A7-EB07-4C09-A7D8-096A42164594}"/>
                </a:ext>
              </a:extLst>
            </p:cNvPr>
            <p:cNvSpPr>
              <a:spLocks noChangeShapeType="1"/>
            </p:cNvSpPr>
            <p:nvPr/>
          </p:nvSpPr>
          <p:spPr bwMode="auto">
            <a:xfrm>
              <a:off x="0" y="1134"/>
              <a:ext cx="13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sp>
          <p:nvSpPr>
            <p:cNvPr id="55303" name="Line 5">
              <a:extLst>
                <a:ext uri="{FF2B5EF4-FFF2-40B4-BE49-F238E27FC236}">
                  <a16:creationId xmlns:a16="http://schemas.microsoft.com/office/drawing/2014/main" id="{EFF9813D-D985-464E-BCD5-5786000EC80D}"/>
                </a:ext>
              </a:extLst>
            </p:cNvPr>
            <p:cNvSpPr>
              <a:spLocks noChangeShapeType="1"/>
            </p:cNvSpPr>
            <p:nvPr/>
          </p:nvSpPr>
          <p:spPr bwMode="auto">
            <a:xfrm>
              <a:off x="694" y="0"/>
              <a:ext cx="0" cy="113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sp>
          <p:nvSpPr>
            <p:cNvPr id="55304" name="Line 6">
              <a:extLst>
                <a:ext uri="{FF2B5EF4-FFF2-40B4-BE49-F238E27FC236}">
                  <a16:creationId xmlns:a16="http://schemas.microsoft.com/office/drawing/2014/main" id="{8A7007F9-F40E-42FA-A8D0-6FBC1F62E212}"/>
                </a:ext>
              </a:extLst>
            </p:cNvPr>
            <p:cNvSpPr>
              <a:spLocks noChangeShapeType="1"/>
            </p:cNvSpPr>
            <p:nvPr/>
          </p:nvSpPr>
          <p:spPr bwMode="auto">
            <a:xfrm>
              <a:off x="1824" y="1134"/>
              <a:ext cx="13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sp>
          <p:nvSpPr>
            <p:cNvPr id="55305" name="Line 7">
              <a:extLst>
                <a:ext uri="{FF2B5EF4-FFF2-40B4-BE49-F238E27FC236}">
                  <a16:creationId xmlns:a16="http://schemas.microsoft.com/office/drawing/2014/main" id="{11B8C79A-E61C-4EC0-B092-820ED2DE3919}"/>
                </a:ext>
              </a:extLst>
            </p:cNvPr>
            <p:cNvSpPr>
              <a:spLocks noChangeShapeType="1"/>
            </p:cNvSpPr>
            <p:nvPr/>
          </p:nvSpPr>
          <p:spPr bwMode="auto">
            <a:xfrm>
              <a:off x="2518" y="0"/>
              <a:ext cx="0" cy="113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sp>
          <p:nvSpPr>
            <p:cNvPr id="55306" name="Line 8">
              <a:extLst>
                <a:ext uri="{FF2B5EF4-FFF2-40B4-BE49-F238E27FC236}">
                  <a16:creationId xmlns:a16="http://schemas.microsoft.com/office/drawing/2014/main" id="{9F8606AD-660B-4500-9672-F3B3C6C73DFF}"/>
                </a:ext>
              </a:extLst>
            </p:cNvPr>
            <p:cNvSpPr>
              <a:spLocks noChangeShapeType="1"/>
            </p:cNvSpPr>
            <p:nvPr/>
          </p:nvSpPr>
          <p:spPr bwMode="auto">
            <a:xfrm>
              <a:off x="3600" y="1134"/>
              <a:ext cx="13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sp>
          <p:nvSpPr>
            <p:cNvPr id="55307" name="Line 9">
              <a:extLst>
                <a:ext uri="{FF2B5EF4-FFF2-40B4-BE49-F238E27FC236}">
                  <a16:creationId xmlns:a16="http://schemas.microsoft.com/office/drawing/2014/main" id="{C9278527-0B2E-40C8-8992-1270B60505B4}"/>
                </a:ext>
              </a:extLst>
            </p:cNvPr>
            <p:cNvSpPr>
              <a:spLocks noChangeShapeType="1"/>
            </p:cNvSpPr>
            <p:nvPr/>
          </p:nvSpPr>
          <p:spPr bwMode="auto">
            <a:xfrm>
              <a:off x="4294" y="0"/>
              <a:ext cx="0" cy="113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sp>
          <p:nvSpPr>
            <p:cNvPr id="55308" name="Text Box 10">
              <a:extLst>
                <a:ext uri="{FF2B5EF4-FFF2-40B4-BE49-F238E27FC236}">
                  <a16:creationId xmlns:a16="http://schemas.microsoft.com/office/drawing/2014/main" id="{03441BA9-8249-4E6B-87C2-92C20AB3D619}"/>
                </a:ext>
              </a:extLst>
            </p:cNvPr>
            <p:cNvSpPr txBox="1">
              <a:spLocks noChangeArrowheads="1"/>
            </p:cNvSpPr>
            <p:nvPr/>
          </p:nvSpPr>
          <p:spPr bwMode="auto">
            <a:xfrm>
              <a:off x="576" y="1342"/>
              <a:ext cx="220"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A</a:t>
              </a:r>
            </a:p>
          </p:txBody>
        </p:sp>
        <p:sp>
          <p:nvSpPr>
            <p:cNvPr id="55309" name="Text Box 11">
              <a:extLst>
                <a:ext uri="{FF2B5EF4-FFF2-40B4-BE49-F238E27FC236}">
                  <a16:creationId xmlns:a16="http://schemas.microsoft.com/office/drawing/2014/main" id="{B4B41A9C-0845-48AD-B5A5-9B1DB07815BE}"/>
                </a:ext>
              </a:extLst>
            </p:cNvPr>
            <p:cNvSpPr txBox="1">
              <a:spLocks noChangeArrowheads="1"/>
            </p:cNvSpPr>
            <p:nvPr/>
          </p:nvSpPr>
          <p:spPr bwMode="auto">
            <a:xfrm>
              <a:off x="2378" y="1342"/>
              <a:ext cx="211"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B</a:t>
              </a:r>
            </a:p>
          </p:txBody>
        </p:sp>
        <p:sp>
          <p:nvSpPr>
            <p:cNvPr id="55310" name="Text Box 12">
              <a:extLst>
                <a:ext uri="{FF2B5EF4-FFF2-40B4-BE49-F238E27FC236}">
                  <a16:creationId xmlns:a16="http://schemas.microsoft.com/office/drawing/2014/main" id="{DD7AAEB4-8BD4-4FA4-999C-C17EB7ED9602}"/>
                </a:ext>
              </a:extLst>
            </p:cNvPr>
            <p:cNvSpPr txBox="1">
              <a:spLocks noChangeArrowheads="1"/>
            </p:cNvSpPr>
            <p:nvPr/>
          </p:nvSpPr>
          <p:spPr bwMode="auto">
            <a:xfrm>
              <a:off x="4198" y="1342"/>
              <a:ext cx="220"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C</a:t>
              </a:r>
            </a:p>
          </p:txBody>
        </p:sp>
        <p:sp>
          <p:nvSpPr>
            <p:cNvPr id="55311" name="Rectangle 13">
              <a:extLst>
                <a:ext uri="{FF2B5EF4-FFF2-40B4-BE49-F238E27FC236}">
                  <a16:creationId xmlns:a16="http://schemas.microsoft.com/office/drawing/2014/main" id="{1544F723-8C3E-4941-AFA8-3F9B560C3386}"/>
                </a:ext>
              </a:extLst>
            </p:cNvPr>
            <p:cNvSpPr>
              <a:spLocks noChangeArrowheads="1"/>
            </p:cNvSpPr>
            <p:nvPr/>
          </p:nvSpPr>
          <p:spPr bwMode="auto">
            <a:xfrm>
              <a:off x="2069" y="946"/>
              <a:ext cx="907" cy="181"/>
            </a:xfrm>
            <a:prstGeom prst="rect">
              <a:avLst/>
            </a:prstGeom>
            <a:solidFill>
              <a:srgbClr val="FFCC00"/>
            </a:solidFill>
            <a:ln w="6350">
              <a:solidFill>
                <a:schemeClr val="tx1"/>
              </a:solidFill>
              <a:miter lim="800000"/>
              <a:headEnd/>
              <a:tailEnd/>
            </a:ln>
            <a:effectLst>
              <a:outerShdw dist="64758" dir="678596"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5312" name="Rectangle 14">
              <a:extLst>
                <a:ext uri="{FF2B5EF4-FFF2-40B4-BE49-F238E27FC236}">
                  <a16:creationId xmlns:a16="http://schemas.microsoft.com/office/drawing/2014/main" id="{B408998B-CF2D-4A11-9EDF-8438AC31E72F}"/>
                </a:ext>
              </a:extLst>
            </p:cNvPr>
            <p:cNvSpPr>
              <a:spLocks noChangeArrowheads="1"/>
            </p:cNvSpPr>
            <p:nvPr/>
          </p:nvSpPr>
          <p:spPr bwMode="auto">
            <a:xfrm>
              <a:off x="2178" y="758"/>
              <a:ext cx="680" cy="181"/>
            </a:xfrm>
            <a:prstGeom prst="rect">
              <a:avLst/>
            </a:prstGeom>
            <a:solidFill>
              <a:srgbClr val="FFCC00"/>
            </a:solidFill>
            <a:ln w="6350">
              <a:solidFill>
                <a:schemeClr val="tx1"/>
              </a:solidFill>
              <a:miter lim="800000"/>
              <a:headEnd/>
              <a:tailEnd/>
            </a:ln>
            <a:effectLst>
              <a:outerShdw dist="64758" dir="678596"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5313" name="Rectangle 15">
              <a:extLst>
                <a:ext uri="{FF2B5EF4-FFF2-40B4-BE49-F238E27FC236}">
                  <a16:creationId xmlns:a16="http://schemas.microsoft.com/office/drawing/2014/main" id="{A327CFC6-A312-43BC-8626-F8FA905DAA9A}"/>
                </a:ext>
              </a:extLst>
            </p:cNvPr>
            <p:cNvSpPr>
              <a:spLocks noChangeArrowheads="1"/>
            </p:cNvSpPr>
            <p:nvPr/>
          </p:nvSpPr>
          <p:spPr bwMode="auto">
            <a:xfrm>
              <a:off x="2283" y="567"/>
              <a:ext cx="453" cy="181"/>
            </a:xfrm>
            <a:prstGeom prst="rect">
              <a:avLst/>
            </a:prstGeom>
            <a:solidFill>
              <a:srgbClr val="FFCC00"/>
            </a:solidFill>
            <a:ln w="6350">
              <a:solidFill>
                <a:schemeClr val="tx1"/>
              </a:solidFill>
              <a:miter lim="800000"/>
              <a:headEnd/>
              <a:tailEnd/>
            </a:ln>
            <a:effectLst>
              <a:outerShdw dist="64758" dir="678596"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5314" name="Rectangle 16">
              <a:extLst>
                <a:ext uri="{FF2B5EF4-FFF2-40B4-BE49-F238E27FC236}">
                  <a16:creationId xmlns:a16="http://schemas.microsoft.com/office/drawing/2014/main" id="{EB2B6CA8-1C83-4A4E-BF89-23CA1829C758}"/>
                </a:ext>
              </a:extLst>
            </p:cNvPr>
            <p:cNvSpPr>
              <a:spLocks noChangeArrowheads="1"/>
            </p:cNvSpPr>
            <p:nvPr/>
          </p:nvSpPr>
          <p:spPr bwMode="auto">
            <a:xfrm>
              <a:off x="2398" y="375"/>
              <a:ext cx="227" cy="181"/>
            </a:xfrm>
            <a:prstGeom prst="rect">
              <a:avLst/>
            </a:prstGeom>
            <a:solidFill>
              <a:srgbClr val="FFCC00"/>
            </a:solidFill>
            <a:ln w="6350">
              <a:solidFill>
                <a:schemeClr val="tx1"/>
              </a:solidFill>
              <a:miter lim="800000"/>
              <a:headEnd/>
              <a:tailEnd/>
            </a:ln>
            <a:effectLst>
              <a:outerShdw dist="64758" dir="678596"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19" name="Rectangle 23">
            <a:extLst>
              <a:ext uri="{FF2B5EF4-FFF2-40B4-BE49-F238E27FC236}">
                <a16:creationId xmlns:a16="http://schemas.microsoft.com/office/drawing/2014/main" id="{3CA0DD8C-47CB-4BD8-92DF-15FC842EEF70}"/>
              </a:ext>
            </a:extLst>
          </p:cNvPr>
          <p:cNvSpPr txBox="1">
            <a:spLocks noChangeArrowheads="1"/>
          </p:cNvSpPr>
          <p:nvPr/>
        </p:nvSpPr>
        <p:spPr>
          <a:xfrm>
            <a:off x="2320925" y="396082"/>
            <a:ext cx="582167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b="1">
                <a:latin typeface="宋体" panose="02010600030101010101" pitchFamily="2" charset="-122"/>
              </a:rPr>
              <a:t>递归调用</a:t>
            </a:r>
            <a:r>
              <a:rPr lang="en-US" altLang="zh-CN" b="1">
                <a:latin typeface="宋体" panose="02010600030101010101" pitchFamily="2" charset="-122"/>
              </a:rPr>
              <a:t>-</a:t>
            </a:r>
            <a:r>
              <a:rPr lang="zh-CN" altLang="en-US" b="1" i="1">
                <a:solidFill>
                  <a:srgbClr val="008000"/>
                </a:solidFill>
              </a:rPr>
              <a:t>汉诺塔</a:t>
            </a:r>
            <a:endParaRPr lang="zh-CN" altLang="en-US" b="1"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F852B53D-8039-470C-8416-3B890C6A29A4}"/>
              </a:ext>
            </a:extLst>
          </p:cNvPr>
          <p:cNvSpPr>
            <a:spLocks noChangeArrowheads="1"/>
          </p:cNvSpPr>
          <p:nvPr/>
        </p:nvSpPr>
        <p:spPr bwMode="auto">
          <a:xfrm>
            <a:off x="8029576" y="2227264"/>
            <a:ext cx="1800225" cy="287337"/>
          </a:xfrm>
          <a:prstGeom prst="rect">
            <a:avLst/>
          </a:prstGeom>
          <a:solidFill>
            <a:srgbClr val="FFFF00"/>
          </a:solidFill>
          <a:ln w="6350">
            <a:solidFill>
              <a:schemeClr val="tx1"/>
            </a:solidFill>
            <a:miter lim="800000"/>
            <a:headEnd/>
            <a:tailEnd/>
          </a:ln>
          <a:effectLst>
            <a:outerShdw dist="64758" dir="20921404"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56323" name="Group 3">
            <a:extLst>
              <a:ext uri="{FF2B5EF4-FFF2-40B4-BE49-F238E27FC236}">
                <a16:creationId xmlns:a16="http://schemas.microsoft.com/office/drawing/2014/main" id="{E998D40F-404B-422B-B7A9-CD8CB3B56339}"/>
              </a:ext>
            </a:extLst>
          </p:cNvPr>
          <p:cNvGrpSpPr>
            <a:grpSpLocks/>
          </p:cNvGrpSpPr>
          <p:nvPr/>
        </p:nvGrpSpPr>
        <p:grpSpPr bwMode="auto">
          <a:xfrm>
            <a:off x="2133600" y="2528889"/>
            <a:ext cx="7924800" cy="2501899"/>
            <a:chOff x="0" y="0"/>
            <a:chExt cx="4992" cy="1576"/>
          </a:xfrm>
        </p:grpSpPr>
        <p:grpSp>
          <p:nvGrpSpPr>
            <p:cNvPr id="56326" name="Group 4">
              <a:extLst>
                <a:ext uri="{FF2B5EF4-FFF2-40B4-BE49-F238E27FC236}">
                  <a16:creationId xmlns:a16="http://schemas.microsoft.com/office/drawing/2014/main" id="{B85269F3-DA9E-4B99-8F7C-646BF60CADD0}"/>
                </a:ext>
              </a:extLst>
            </p:cNvPr>
            <p:cNvGrpSpPr>
              <a:grpSpLocks/>
            </p:cNvGrpSpPr>
            <p:nvPr/>
          </p:nvGrpSpPr>
          <p:grpSpPr bwMode="auto">
            <a:xfrm>
              <a:off x="0" y="0"/>
              <a:ext cx="1392" cy="1134"/>
              <a:chOff x="0" y="0"/>
              <a:chExt cx="1392" cy="1134"/>
            </a:xfrm>
          </p:grpSpPr>
          <p:sp>
            <p:nvSpPr>
              <p:cNvPr id="56341" name="Line 5">
                <a:extLst>
                  <a:ext uri="{FF2B5EF4-FFF2-40B4-BE49-F238E27FC236}">
                    <a16:creationId xmlns:a16="http://schemas.microsoft.com/office/drawing/2014/main" id="{3A522AB6-E1BB-48F3-B4F9-65654F46FF34}"/>
                  </a:ext>
                </a:extLst>
              </p:cNvPr>
              <p:cNvSpPr>
                <a:spLocks noChangeShapeType="1"/>
              </p:cNvSpPr>
              <p:nvPr/>
            </p:nvSpPr>
            <p:spPr bwMode="auto">
              <a:xfrm>
                <a:off x="0" y="1134"/>
                <a:ext cx="13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sp>
            <p:nvSpPr>
              <p:cNvPr id="56342" name="Line 6">
                <a:extLst>
                  <a:ext uri="{FF2B5EF4-FFF2-40B4-BE49-F238E27FC236}">
                    <a16:creationId xmlns:a16="http://schemas.microsoft.com/office/drawing/2014/main" id="{44A046BF-4A92-4612-B837-334F05A52793}"/>
                  </a:ext>
                </a:extLst>
              </p:cNvPr>
              <p:cNvSpPr>
                <a:spLocks noChangeShapeType="1"/>
              </p:cNvSpPr>
              <p:nvPr/>
            </p:nvSpPr>
            <p:spPr bwMode="auto">
              <a:xfrm>
                <a:off x="694" y="0"/>
                <a:ext cx="0" cy="113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56327" name="Group 7">
              <a:extLst>
                <a:ext uri="{FF2B5EF4-FFF2-40B4-BE49-F238E27FC236}">
                  <a16:creationId xmlns:a16="http://schemas.microsoft.com/office/drawing/2014/main" id="{3CEABC84-74FE-4E67-8B23-99A50C91EDA0}"/>
                </a:ext>
              </a:extLst>
            </p:cNvPr>
            <p:cNvGrpSpPr>
              <a:grpSpLocks/>
            </p:cNvGrpSpPr>
            <p:nvPr/>
          </p:nvGrpSpPr>
          <p:grpSpPr bwMode="auto">
            <a:xfrm>
              <a:off x="1824" y="0"/>
              <a:ext cx="1392" cy="1134"/>
              <a:chOff x="0" y="0"/>
              <a:chExt cx="1392" cy="1134"/>
            </a:xfrm>
          </p:grpSpPr>
          <p:sp>
            <p:nvSpPr>
              <p:cNvPr id="56339" name="Line 8">
                <a:extLst>
                  <a:ext uri="{FF2B5EF4-FFF2-40B4-BE49-F238E27FC236}">
                    <a16:creationId xmlns:a16="http://schemas.microsoft.com/office/drawing/2014/main" id="{FC43AB94-45D1-4ECE-B47A-9428DBC67826}"/>
                  </a:ext>
                </a:extLst>
              </p:cNvPr>
              <p:cNvSpPr>
                <a:spLocks noChangeShapeType="1"/>
              </p:cNvSpPr>
              <p:nvPr/>
            </p:nvSpPr>
            <p:spPr bwMode="auto">
              <a:xfrm>
                <a:off x="0" y="1134"/>
                <a:ext cx="13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sp>
            <p:nvSpPr>
              <p:cNvPr id="56340" name="Line 9">
                <a:extLst>
                  <a:ext uri="{FF2B5EF4-FFF2-40B4-BE49-F238E27FC236}">
                    <a16:creationId xmlns:a16="http://schemas.microsoft.com/office/drawing/2014/main" id="{B20E3033-DEA2-41E7-AA27-421F3BB57113}"/>
                  </a:ext>
                </a:extLst>
              </p:cNvPr>
              <p:cNvSpPr>
                <a:spLocks noChangeShapeType="1"/>
              </p:cNvSpPr>
              <p:nvPr/>
            </p:nvSpPr>
            <p:spPr bwMode="auto">
              <a:xfrm>
                <a:off x="694" y="0"/>
                <a:ext cx="0" cy="113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56328" name="Group 10">
              <a:extLst>
                <a:ext uri="{FF2B5EF4-FFF2-40B4-BE49-F238E27FC236}">
                  <a16:creationId xmlns:a16="http://schemas.microsoft.com/office/drawing/2014/main" id="{08FEFE94-DD80-4B87-9952-F0DB0B042C67}"/>
                </a:ext>
              </a:extLst>
            </p:cNvPr>
            <p:cNvGrpSpPr>
              <a:grpSpLocks/>
            </p:cNvGrpSpPr>
            <p:nvPr/>
          </p:nvGrpSpPr>
          <p:grpSpPr bwMode="auto">
            <a:xfrm>
              <a:off x="3600" y="0"/>
              <a:ext cx="1392" cy="1134"/>
              <a:chOff x="0" y="0"/>
              <a:chExt cx="1392" cy="1134"/>
            </a:xfrm>
          </p:grpSpPr>
          <p:sp>
            <p:nvSpPr>
              <p:cNvPr id="56337" name="Line 11">
                <a:extLst>
                  <a:ext uri="{FF2B5EF4-FFF2-40B4-BE49-F238E27FC236}">
                    <a16:creationId xmlns:a16="http://schemas.microsoft.com/office/drawing/2014/main" id="{F20F298C-FCED-4AF9-A5B3-66A84B6A2F5C}"/>
                  </a:ext>
                </a:extLst>
              </p:cNvPr>
              <p:cNvSpPr>
                <a:spLocks noChangeShapeType="1"/>
              </p:cNvSpPr>
              <p:nvPr/>
            </p:nvSpPr>
            <p:spPr bwMode="auto">
              <a:xfrm>
                <a:off x="0" y="1134"/>
                <a:ext cx="13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sp>
            <p:nvSpPr>
              <p:cNvPr id="56338" name="Line 12">
                <a:extLst>
                  <a:ext uri="{FF2B5EF4-FFF2-40B4-BE49-F238E27FC236}">
                    <a16:creationId xmlns:a16="http://schemas.microsoft.com/office/drawing/2014/main" id="{5B916122-F1F4-4072-B552-84B4BD576D24}"/>
                  </a:ext>
                </a:extLst>
              </p:cNvPr>
              <p:cNvSpPr>
                <a:spLocks noChangeShapeType="1"/>
              </p:cNvSpPr>
              <p:nvPr/>
            </p:nvSpPr>
            <p:spPr bwMode="auto">
              <a:xfrm>
                <a:off x="694" y="0"/>
                <a:ext cx="0" cy="113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grpSp>
        <p:sp>
          <p:nvSpPr>
            <p:cNvPr id="56329" name="Text Box 13">
              <a:extLst>
                <a:ext uri="{FF2B5EF4-FFF2-40B4-BE49-F238E27FC236}">
                  <a16:creationId xmlns:a16="http://schemas.microsoft.com/office/drawing/2014/main" id="{10B1909D-4D67-4A3C-B348-3653BC318B82}"/>
                </a:ext>
              </a:extLst>
            </p:cNvPr>
            <p:cNvSpPr txBox="1">
              <a:spLocks noChangeArrowheads="1"/>
            </p:cNvSpPr>
            <p:nvPr/>
          </p:nvSpPr>
          <p:spPr bwMode="auto">
            <a:xfrm>
              <a:off x="576" y="1342"/>
              <a:ext cx="220"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A</a:t>
              </a:r>
            </a:p>
          </p:txBody>
        </p:sp>
        <p:sp>
          <p:nvSpPr>
            <p:cNvPr id="56330" name="Text Box 14">
              <a:extLst>
                <a:ext uri="{FF2B5EF4-FFF2-40B4-BE49-F238E27FC236}">
                  <a16:creationId xmlns:a16="http://schemas.microsoft.com/office/drawing/2014/main" id="{31D75715-388C-45D6-8690-14B6730C6558}"/>
                </a:ext>
              </a:extLst>
            </p:cNvPr>
            <p:cNvSpPr txBox="1">
              <a:spLocks noChangeArrowheads="1"/>
            </p:cNvSpPr>
            <p:nvPr/>
          </p:nvSpPr>
          <p:spPr bwMode="auto">
            <a:xfrm>
              <a:off x="2378" y="1342"/>
              <a:ext cx="211"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B</a:t>
              </a:r>
            </a:p>
          </p:txBody>
        </p:sp>
        <p:sp>
          <p:nvSpPr>
            <p:cNvPr id="56331" name="Text Box 15">
              <a:extLst>
                <a:ext uri="{FF2B5EF4-FFF2-40B4-BE49-F238E27FC236}">
                  <a16:creationId xmlns:a16="http://schemas.microsoft.com/office/drawing/2014/main" id="{FDA7B43C-1E15-4E74-B6C3-DAAC791265FC}"/>
                </a:ext>
              </a:extLst>
            </p:cNvPr>
            <p:cNvSpPr txBox="1">
              <a:spLocks noChangeArrowheads="1"/>
            </p:cNvSpPr>
            <p:nvPr/>
          </p:nvSpPr>
          <p:spPr bwMode="auto">
            <a:xfrm>
              <a:off x="4198" y="1342"/>
              <a:ext cx="220"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C</a:t>
              </a:r>
            </a:p>
          </p:txBody>
        </p:sp>
        <p:grpSp>
          <p:nvGrpSpPr>
            <p:cNvPr id="56332" name="Group 16">
              <a:extLst>
                <a:ext uri="{FF2B5EF4-FFF2-40B4-BE49-F238E27FC236}">
                  <a16:creationId xmlns:a16="http://schemas.microsoft.com/office/drawing/2014/main" id="{4150EC8A-615B-4FD9-850A-ED21AC5E323D}"/>
                </a:ext>
              </a:extLst>
            </p:cNvPr>
            <p:cNvGrpSpPr>
              <a:grpSpLocks/>
            </p:cNvGrpSpPr>
            <p:nvPr/>
          </p:nvGrpSpPr>
          <p:grpSpPr bwMode="auto">
            <a:xfrm>
              <a:off x="2069" y="375"/>
              <a:ext cx="907" cy="752"/>
              <a:chOff x="0" y="0"/>
              <a:chExt cx="907" cy="752"/>
            </a:xfrm>
          </p:grpSpPr>
          <p:sp>
            <p:nvSpPr>
              <p:cNvPr id="56333" name="Rectangle 17">
                <a:extLst>
                  <a:ext uri="{FF2B5EF4-FFF2-40B4-BE49-F238E27FC236}">
                    <a16:creationId xmlns:a16="http://schemas.microsoft.com/office/drawing/2014/main" id="{80492B30-99E1-4B50-98F4-C124C563F40B}"/>
                  </a:ext>
                </a:extLst>
              </p:cNvPr>
              <p:cNvSpPr>
                <a:spLocks noChangeArrowheads="1"/>
              </p:cNvSpPr>
              <p:nvPr/>
            </p:nvSpPr>
            <p:spPr bwMode="auto">
              <a:xfrm>
                <a:off x="0" y="571"/>
                <a:ext cx="907" cy="181"/>
              </a:xfrm>
              <a:prstGeom prst="rect">
                <a:avLst/>
              </a:prstGeom>
              <a:solidFill>
                <a:srgbClr val="FFCC00"/>
              </a:solidFill>
              <a:ln w="6350">
                <a:solidFill>
                  <a:schemeClr val="tx1"/>
                </a:solidFill>
                <a:miter lim="800000"/>
                <a:headEnd/>
                <a:tailEnd/>
              </a:ln>
              <a:effectLst>
                <a:outerShdw dist="64758" dir="678596"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6334" name="Rectangle 18">
                <a:extLst>
                  <a:ext uri="{FF2B5EF4-FFF2-40B4-BE49-F238E27FC236}">
                    <a16:creationId xmlns:a16="http://schemas.microsoft.com/office/drawing/2014/main" id="{8E8FF282-E1BD-4270-91C5-64D47A090E94}"/>
                  </a:ext>
                </a:extLst>
              </p:cNvPr>
              <p:cNvSpPr>
                <a:spLocks noChangeArrowheads="1"/>
              </p:cNvSpPr>
              <p:nvPr/>
            </p:nvSpPr>
            <p:spPr bwMode="auto">
              <a:xfrm>
                <a:off x="109" y="383"/>
                <a:ext cx="680" cy="181"/>
              </a:xfrm>
              <a:prstGeom prst="rect">
                <a:avLst/>
              </a:prstGeom>
              <a:solidFill>
                <a:srgbClr val="FFCC00"/>
              </a:solidFill>
              <a:ln w="6350">
                <a:solidFill>
                  <a:schemeClr val="tx1"/>
                </a:solidFill>
                <a:miter lim="800000"/>
                <a:headEnd/>
                <a:tailEnd/>
              </a:ln>
              <a:effectLst>
                <a:outerShdw dist="64758" dir="678596"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6335" name="Rectangle 19">
                <a:extLst>
                  <a:ext uri="{FF2B5EF4-FFF2-40B4-BE49-F238E27FC236}">
                    <a16:creationId xmlns:a16="http://schemas.microsoft.com/office/drawing/2014/main" id="{6A322DA4-2025-4559-BC03-E08E8A30F219}"/>
                  </a:ext>
                </a:extLst>
              </p:cNvPr>
              <p:cNvSpPr>
                <a:spLocks noChangeArrowheads="1"/>
              </p:cNvSpPr>
              <p:nvPr/>
            </p:nvSpPr>
            <p:spPr bwMode="auto">
              <a:xfrm>
                <a:off x="214" y="192"/>
                <a:ext cx="453" cy="181"/>
              </a:xfrm>
              <a:prstGeom prst="rect">
                <a:avLst/>
              </a:prstGeom>
              <a:solidFill>
                <a:srgbClr val="FFCC00"/>
              </a:solidFill>
              <a:ln w="6350">
                <a:solidFill>
                  <a:schemeClr val="tx1"/>
                </a:solidFill>
                <a:miter lim="800000"/>
                <a:headEnd/>
                <a:tailEnd/>
              </a:ln>
              <a:effectLst>
                <a:outerShdw dist="64758" dir="678596"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6336" name="Rectangle 20">
                <a:extLst>
                  <a:ext uri="{FF2B5EF4-FFF2-40B4-BE49-F238E27FC236}">
                    <a16:creationId xmlns:a16="http://schemas.microsoft.com/office/drawing/2014/main" id="{654898AD-F33E-486D-877C-DA316667F5F8}"/>
                  </a:ext>
                </a:extLst>
              </p:cNvPr>
              <p:cNvSpPr>
                <a:spLocks noChangeArrowheads="1"/>
              </p:cNvSpPr>
              <p:nvPr/>
            </p:nvSpPr>
            <p:spPr bwMode="auto">
              <a:xfrm>
                <a:off x="329" y="0"/>
                <a:ext cx="227" cy="181"/>
              </a:xfrm>
              <a:prstGeom prst="rect">
                <a:avLst/>
              </a:prstGeom>
              <a:solidFill>
                <a:srgbClr val="FFCC00"/>
              </a:solidFill>
              <a:ln w="6350">
                <a:solidFill>
                  <a:schemeClr val="tx1"/>
                </a:solidFill>
                <a:miter lim="800000"/>
                <a:headEnd/>
                <a:tailEnd/>
              </a:ln>
              <a:effectLst>
                <a:outerShdw dist="64758" dir="678596"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sp>
        <p:nvSpPr>
          <p:cNvPr id="23" name="Rectangle 23">
            <a:extLst>
              <a:ext uri="{FF2B5EF4-FFF2-40B4-BE49-F238E27FC236}">
                <a16:creationId xmlns:a16="http://schemas.microsoft.com/office/drawing/2014/main" id="{FA71C1F7-314F-4C08-845D-4B7556210197}"/>
              </a:ext>
            </a:extLst>
          </p:cNvPr>
          <p:cNvSpPr txBox="1">
            <a:spLocks noChangeArrowheads="1"/>
          </p:cNvSpPr>
          <p:nvPr/>
        </p:nvSpPr>
        <p:spPr>
          <a:xfrm>
            <a:off x="2320925" y="396082"/>
            <a:ext cx="582167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b="1">
                <a:latin typeface="宋体" panose="02010600030101010101" pitchFamily="2" charset="-122"/>
              </a:rPr>
              <a:t>递归调用</a:t>
            </a:r>
            <a:r>
              <a:rPr lang="en-US" altLang="zh-CN" b="1">
                <a:latin typeface="宋体" panose="02010600030101010101" pitchFamily="2" charset="-122"/>
              </a:rPr>
              <a:t>-</a:t>
            </a:r>
            <a:r>
              <a:rPr lang="zh-CN" altLang="en-US" b="1" i="1">
                <a:solidFill>
                  <a:srgbClr val="008000"/>
                </a:solidFill>
              </a:rPr>
              <a:t>汉诺塔</a:t>
            </a:r>
            <a:endParaRPr lang="zh-CN" altLang="en-US" b="1"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346" name="Group 2">
            <a:extLst>
              <a:ext uri="{FF2B5EF4-FFF2-40B4-BE49-F238E27FC236}">
                <a16:creationId xmlns:a16="http://schemas.microsoft.com/office/drawing/2014/main" id="{E51E3ED9-5EA1-461C-BC8A-7F85A0FB7FC0}"/>
              </a:ext>
            </a:extLst>
          </p:cNvPr>
          <p:cNvGrpSpPr>
            <a:grpSpLocks/>
          </p:cNvGrpSpPr>
          <p:nvPr/>
        </p:nvGrpSpPr>
        <p:grpSpPr bwMode="auto">
          <a:xfrm>
            <a:off x="2133600" y="2528889"/>
            <a:ext cx="7924800" cy="2501899"/>
            <a:chOff x="0" y="0"/>
            <a:chExt cx="4992" cy="1576"/>
          </a:xfrm>
        </p:grpSpPr>
        <p:grpSp>
          <p:nvGrpSpPr>
            <p:cNvPr id="57349" name="Group 3">
              <a:extLst>
                <a:ext uri="{FF2B5EF4-FFF2-40B4-BE49-F238E27FC236}">
                  <a16:creationId xmlns:a16="http://schemas.microsoft.com/office/drawing/2014/main" id="{781A2BF3-DA97-4AF8-9571-DEFCF246FBC4}"/>
                </a:ext>
              </a:extLst>
            </p:cNvPr>
            <p:cNvGrpSpPr>
              <a:grpSpLocks/>
            </p:cNvGrpSpPr>
            <p:nvPr/>
          </p:nvGrpSpPr>
          <p:grpSpPr bwMode="auto">
            <a:xfrm>
              <a:off x="0" y="0"/>
              <a:ext cx="1392" cy="1134"/>
              <a:chOff x="0" y="0"/>
              <a:chExt cx="1392" cy="1134"/>
            </a:xfrm>
          </p:grpSpPr>
          <p:sp>
            <p:nvSpPr>
              <p:cNvPr id="57365" name="Line 4">
                <a:extLst>
                  <a:ext uri="{FF2B5EF4-FFF2-40B4-BE49-F238E27FC236}">
                    <a16:creationId xmlns:a16="http://schemas.microsoft.com/office/drawing/2014/main" id="{520F72AF-EC8C-4669-989E-D16616405899}"/>
                  </a:ext>
                </a:extLst>
              </p:cNvPr>
              <p:cNvSpPr>
                <a:spLocks noChangeShapeType="1"/>
              </p:cNvSpPr>
              <p:nvPr/>
            </p:nvSpPr>
            <p:spPr bwMode="auto">
              <a:xfrm>
                <a:off x="0" y="1134"/>
                <a:ext cx="13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sp>
            <p:nvSpPr>
              <p:cNvPr id="57366" name="Line 5">
                <a:extLst>
                  <a:ext uri="{FF2B5EF4-FFF2-40B4-BE49-F238E27FC236}">
                    <a16:creationId xmlns:a16="http://schemas.microsoft.com/office/drawing/2014/main" id="{FD6232E9-50CB-4737-92E4-744FF6F39830}"/>
                  </a:ext>
                </a:extLst>
              </p:cNvPr>
              <p:cNvSpPr>
                <a:spLocks noChangeShapeType="1"/>
              </p:cNvSpPr>
              <p:nvPr/>
            </p:nvSpPr>
            <p:spPr bwMode="auto">
              <a:xfrm>
                <a:off x="694" y="0"/>
                <a:ext cx="0" cy="113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57350" name="Group 6">
              <a:extLst>
                <a:ext uri="{FF2B5EF4-FFF2-40B4-BE49-F238E27FC236}">
                  <a16:creationId xmlns:a16="http://schemas.microsoft.com/office/drawing/2014/main" id="{3438B46A-C332-4505-B726-2FEE9E16DC57}"/>
                </a:ext>
              </a:extLst>
            </p:cNvPr>
            <p:cNvGrpSpPr>
              <a:grpSpLocks/>
            </p:cNvGrpSpPr>
            <p:nvPr/>
          </p:nvGrpSpPr>
          <p:grpSpPr bwMode="auto">
            <a:xfrm>
              <a:off x="1824" y="0"/>
              <a:ext cx="1392" cy="1134"/>
              <a:chOff x="0" y="0"/>
              <a:chExt cx="1392" cy="1134"/>
            </a:xfrm>
          </p:grpSpPr>
          <p:sp>
            <p:nvSpPr>
              <p:cNvPr id="57363" name="Line 7">
                <a:extLst>
                  <a:ext uri="{FF2B5EF4-FFF2-40B4-BE49-F238E27FC236}">
                    <a16:creationId xmlns:a16="http://schemas.microsoft.com/office/drawing/2014/main" id="{78AB6399-E7A7-4C88-8BAC-6A9E3B6E392E}"/>
                  </a:ext>
                </a:extLst>
              </p:cNvPr>
              <p:cNvSpPr>
                <a:spLocks noChangeShapeType="1"/>
              </p:cNvSpPr>
              <p:nvPr/>
            </p:nvSpPr>
            <p:spPr bwMode="auto">
              <a:xfrm>
                <a:off x="0" y="1134"/>
                <a:ext cx="13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sp>
            <p:nvSpPr>
              <p:cNvPr id="57364" name="Line 8">
                <a:extLst>
                  <a:ext uri="{FF2B5EF4-FFF2-40B4-BE49-F238E27FC236}">
                    <a16:creationId xmlns:a16="http://schemas.microsoft.com/office/drawing/2014/main" id="{5855032D-1C11-4E0B-A954-0C79C6F1B31C}"/>
                  </a:ext>
                </a:extLst>
              </p:cNvPr>
              <p:cNvSpPr>
                <a:spLocks noChangeShapeType="1"/>
              </p:cNvSpPr>
              <p:nvPr/>
            </p:nvSpPr>
            <p:spPr bwMode="auto">
              <a:xfrm>
                <a:off x="694" y="0"/>
                <a:ext cx="0" cy="113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57351" name="Group 9">
              <a:extLst>
                <a:ext uri="{FF2B5EF4-FFF2-40B4-BE49-F238E27FC236}">
                  <a16:creationId xmlns:a16="http://schemas.microsoft.com/office/drawing/2014/main" id="{2C86CC47-37AD-480B-8012-3ADC00CD6126}"/>
                </a:ext>
              </a:extLst>
            </p:cNvPr>
            <p:cNvGrpSpPr>
              <a:grpSpLocks/>
            </p:cNvGrpSpPr>
            <p:nvPr/>
          </p:nvGrpSpPr>
          <p:grpSpPr bwMode="auto">
            <a:xfrm>
              <a:off x="3600" y="0"/>
              <a:ext cx="1392" cy="1134"/>
              <a:chOff x="0" y="0"/>
              <a:chExt cx="1392" cy="1134"/>
            </a:xfrm>
          </p:grpSpPr>
          <p:sp>
            <p:nvSpPr>
              <p:cNvPr id="57361" name="Line 10">
                <a:extLst>
                  <a:ext uri="{FF2B5EF4-FFF2-40B4-BE49-F238E27FC236}">
                    <a16:creationId xmlns:a16="http://schemas.microsoft.com/office/drawing/2014/main" id="{BE789C16-065B-441C-9AB1-89A31AA2A6E4}"/>
                  </a:ext>
                </a:extLst>
              </p:cNvPr>
              <p:cNvSpPr>
                <a:spLocks noChangeShapeType="1"/>
              </p:cNvSpPr>
              <p:nvPr/>
            </p:nvSpPr>
            <p:spPr bwMode="auto">
              <a:xfrm>
                <a:off x="0" y="1134"/>
                <a:ext cx="13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sp>
            <p:nvSpPr>
              <p:cNvPr id="57362" name="Line 11">
                <a:extLst>
                  <a:ext uri="{FF2B5EF4-FFF2-40B4-BE49-F238E27FC236}">
                    <a16:creationId xmlns:a16="http://schemas.microsoft.com/office/drawing/2014/main" id="{DB7D9EAA-AE61-4733-BFD0-80B1AE5D0DC4}"/>
                  </a:ext>
                </a:extLst>
              </p:cNvPr>
              <p:cNvSpPr>
                <a:spLocks noChangeShapeType="1"/>
              </p:cNvSpPr>
              <p:nvPr/>
            </p:nvSpPr>
            <p:spPr bwMode="auto">
              <a:xfrm>
                <a:off x="694" y="0"/>
                <a:ext cx="0" cy="113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grpSp>
        <p:sp>
          <p:nvSpPr>
            <p:cNvPr id="57352" name="Text Box 12">
              <a:extLst>
                <a:ext uri="{FF2B5EF4-FFF2-40B4-BE49-F238E27FC236}">
                  <a16:creationId xmlns:a16="http://schemas.microsoft.com/office/drawing/2014/main" id="{F5FDFE71-8EF5-4B11-A4FC-E723C4E81C92}"/>
                </a:ext>
              </a:extLst>
            </p:cNvPr>
            <p:cNvSpPr txBox="1">
              <a:spLocks noChangeArrowheads="1"/>
            </p:cNvSpPr>
            <p:nvPr/>
          </p:nvSpPr>
          <p:spPr bwMode="auto">
            <a:xfrm>
              <a:off x="576" y="1342"/>
              <a:ext cx="220"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A</a:t>
              </a:r>
            </a:p>
          </p:txBody>
        </p:sp>
        <p:sp>
          <p:nvSpPr>
            <p:cNvPr id="57353" name="Text Box 13">
              <a:extLst>
                <a:ext uri="{FF2B5EF4-FFF2-40B4-BE49-F238E27FC236}">
                  <a16:creationId xmlns:a16="http://schemas.microsoft.com/office/drawing/2014/main" id="{58E52652-90AA-4D9C-A0B0-481370AA562C}"/>
                </a:ext>
              </a:extLst>
            </p:cNvPr>
            <p:cNvSpPr txBox="1">
              <a:spLocks noChangeArrowheads="1"/>
            </p:cNvSpPr>
            <p:nvPr/>
          </p:nvSpPr>
          <p:spPr bwMode="auto">
            <a:xfrm>
              <a:off x="2378" y="1342"/>
              <a:ext cx="211"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B</a:t>
              </a:r>
            </a:p>
          </p:txBody>
        </p:sp>
        <p:sp>
          <p:nvSpPr>
            <p:cNvPr id="57354" name="Text Box 14">
              <a:extLst>
                <a:ext uri="{FF2B5EF4-FFF2-40B4-BE49-F238E27FC236}">
                  <a16:creationId xmlns:a16="http://schemas.microsoft.com/office/drawing/2014/main" id="{CCFBBE75-AC95-488F-9D58-2A48473F1EBF}"/>
                </a:ext>
              </a:extLst>
            </p:cNvPr>
            <p:cNvSpPr txBox="1">
              <a:spLocks noChangeArrowheads="1"/>
            </p:cNvSpPr>
            <p:nvPr/>
          </p:nvSpPr>
          <p:spPr bwMode="auto">
            <a:xfrm>
              <a:off x="4198" y="1342"/>
              <a:ext cx="220"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C</a:t>
              </a:r>
            </a:p>
          </p:txBody>
        </p:sp>
        <p:grpSp>
          <p:nvGrpSpPr>
            <p:cNvPr id="57355" name="Group 15">
              <a:extLst>
                <a:ext uri="{FF2B5EF4-FFF2-40B4-BE49-F238E27FC236}">
                  <a16:creationId xmlns:a16="http://schemas.microsoft.com/office/drawing/2014/main" id="{AC79A16A-B848-4C27-ACD3-CDEB3ABAA2A7}"/>
                </a:ext>
              </a:extLst>
            </p:cNvPr>
            <p:cNvGrpSpPr>
              <a:grpSpLocks/>
            </p:cNvGrpSpPr>
            <p:nvPr/>
          </p:nvGrpSpPr>
          <p:grpSpPr bwMode="auto">
            <a:xfrm>
              <a:off x="2069" y="376"/>
              <a:ext cx="907" cy="752"/>
              <a:chOff x="0" y="0"/>
              <a:chExt cx="907" cy="752"/>
            </a:xfrm>
          </p:grpSpPr>
          <p:sp>
            <p:nvSpPr>
              <p:cNvPr id="57357" name="Rectangle 16">
                <a:extLst>
                  <a:ext uri="{FF2B5EF4-FFF2-40B4-BE49-F238E27FC236}">
                    <a16:creationId xmlns:a16="http://schemas.microsoft.com/office/drawing/2014/main" id="{CE7271F2-5FD5-4E60-B5F7-1131826210E1}"/>
                  </a:ext>
                </a:extLst>
              </p:cNvPr>
              <p:cNvSpPr>
                <a:spLocks noChangeArrowheads="1"/>
              </p:cNvSpPr>
              <p:nvPr/>
            </p:nvSpPr>
            <p:spPr bwMode="auto">
              <a:xfrm>
                <a:off x="0" y="571"/>
                <a:ext cx="907" cy="181"/>
              </a:xfrm>
              <a:prstGeom prst="rect">
                <a:avLst/>
              </a:prstGeom>
              <a:solidFill>
                <a:srgbClr val="FFCC00"/>
              </a:solidFill>
              <a:ln w="6350">
                <a:solidFill>
                  <a:schemeClr val="tx1"/>
                </a:solidFill>
                <a:miter lim="800000"/>
                <a:headEnd/>
                <a:tailEnd/>
              </a:ln>
              <a:effectLst>
                <a:outerShdw dist="64758" dir="678596"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7358" name="Rectangle 17">
                <a:extLst>
                  <a:ext uri="{FF2B5EF4-FFF2-40B4-BE49-F238E27FC236}">
                    <a16:creationId xmlns:a16="http://schemas.microsoft.com/office/drawing/2014/main" id="{D1318F90-7040-4378-831F-BB08B9E58965}"/>
                  </a:ext>
                </a:extLst>
              </p:cNvPr>
              <p:cNvSpPr>
                <a:spLocks noChangeArrowheads="1"/>
              </p:cNvSpPr>
              <p:nvPr/>
            </p:nvSpPr>
            <p:spPr bwMode="auto">
              <a:xfrm>
                <a:off x="109" y="383"/>
                <a:ext cx="680" cy="181"/>
              </a:xfrm>
              <a:prstGeom prst="rect">
                <a:avLst/>
              </a:prstGeom>
              <a:solidFill>
                <a:srgbClr val="FFCC00"/>
              </a:solidFill>
              <a:ln w="6350">
                <a:solidFill>
                  <a:schemeClr val="tx1"/>
                </a:solidFill>
                <a:miter lim="800000"/>
                <a:headEnd/>
                <a:tailEnd/>
              </a:ln>
              <a:effectLst>
                <a:outerShdw dist="64758" dir="678596"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7359" name="Rectangle 18">
                <a:extLst>
                  <a:ext uri="{FF2B5EF4-FFF2-40B4-BE49-F238E27FC236}">
                    <a16:creationId xmlns:a16="http://schemas.microsoft.com/office/drawing/2014/main" id="{D506733F-C279-4374-B181-46457A90987A}"/>
                  </a:ext>
                </a:extLst>
              </p:cNvPr>
              <p:cNvSpPr>
                <a:spLocks noChangeArrowheads="1"/>
              </p:cNvSpPr>
              <p:nvPr/>
            </p:nvSpPr>
            <p:spPr bwMode="auto">
              <a:xfrm>
                <a:off x="214" y="192"/>
                <a:ext cx="453" cy="181"/>
              </a:xfrm>
              <a:prstGeom prst="rect">
                <a:avLst/>
              </a:prstGeom>
              <a:solidFill>
                <a:srgbClr val="FFCC00"/>
              </a:solidFill>
              <a:ln w="6350">
                <a:solidFill>
                  <a:schemeClr val="tx1"/>
                </a:solidFill>
                <a:miter lim="800000"/>
                <a:headEnd/>
                <a:tailEnd/>
              </a:ln>
              <a:effectLst>
                <a:outerShdw dist="64758" dir="678596"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7360" name="Rectangle 19">
                <a:extLst>
                  <a:ext uri="{FF2B5EF4-FFF2-40B4-BE49-F238E27FC236}">
                    <a16:creationId xmlns:a16="http://schemas.microsoft.com/office/drawing/2014/main" id="{AE395025-D804-48D6-80C2-A60E79001B95}"/>
                  </a:ext>
                </a:extLst>
              </p:cNvPr>
              <p:cNvSpPr>
                <a:spLocks noChangeArrowheads="1"/>
              </p:cNvSpPr>
              <p:nvPr/>
            </p:nvSpPr>
            <p:spPr bwMode="auto">
              <a:xfrm>
                <a:off x="329" y="0"/>
                <a:ext cx="227" cy="181"/>
              </a:xfrm>
              <a:prstGeom prst="rect">
                <a:avLst/>
              </a:prstGeom>
              <a:solidFill>
                <a:srgbClr val="FFCC00"/>
              </a:solidFill>
              <a:ln w="6350">
                <a:solidFill>
                  <a:schemeClr val="tx1"/>
                </a:solidFill>
                <a:miter lim="800000"/>
                <a:headEnd/>
                <a:tailEnd/>
              </a:ln>
              <a:effectLst>
                <a:outerShdw dist="64758" dir="678596"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57356" name="Rectangle 20">
              <a:extLst>
                <a:ext uri="{FF2B5EF4-FFF2-40B4-BE49-F238E27FC236}">
                  <a16:creationId xmlns:a16="http://schemas.microsoft.com/office/drawing/2014/main" id="{E51F0C86-5F1E-49C1-B838-B6D2DADBF755}"/>
                </a:ext>
              </a:extLst>
            </p:cNvPr>
            <p:cNvSpPr>
              <a:spLocks noChangeArrowheads="1"/>
            </p:cNvSpPr>
            <p:nvPr/>
          </p:nvSpPr>
          <p:spPr bwMode="auto">
            <a:xfrm>
              <a:off x="3744" y="942"/>
              <a:ext cx="1134" cy="181"/>
            </a:xfrm>
            <a:prstGeom prst="rect">
              <a:avLst/>
            </a:prstGeom>
            <a:solidFill>
              <a:srgbClr val="FFFF00"/>
            </a:solidFill>
            <a:ln w="6350">
              <a:solidFill>
                <a:schemeClr val="tx1"/>
              </a:solidFill>
              <a:miter lim="800000"/>
              <a:headEnd/>
              <a:tailEnd/>
            </a:ln>
            <a:effectLst>
              <a:outerShdw dist="64758" dir="20921404"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23" name="Rectangle 23">
            <a:extLst>
              <a:ext uri="{FF2B5EF4-FFF2-40B4-BE49-F238E27FC236}">
                <a16:creationId xmlns:a16="http://schemas.microsoft.com/office/drawing/2014/main" id="{E578BA97-5FCC-40BF-82B9-A17EA9F5AEF9}"/>
              </a:ext>
            </a:extLst>
          </p:cNvPr>
          <p:cNvSpPr txBox="1">
            <a:spLocks noChangeArrowheads="1"/>
          </p:cNvSpPr>
          <p:nvPr/>
        </p:nvSpPr>
        <p:spPr>
          <a:xfrm>
            <a:off x="2320925" y="396082"/>
            <a:ext cx="582167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b="1">
                <a:latin typeface="宋体" panose="02010600030101010101" pitchFamily="2" charset="-122"/>
              </a:rPr>
              <a:t>递归调用</a:t>
            </a:r>
            <a:r>
              <a:rPr lang="en-US" altLang="zh-CN" b="1">
                <a:latin typeface="宋体" panose="02010600030101010101" pitchFamily="2" charset="-122"/>
              </a:rPr>
              <a:t>-</a:t>
            </a:r>
            <a:r>
              <a:rPr lang="zh-CN" altLang="en-US" b="1" i="1">
                <a:solidFill>
                  <a:srgbClr val="008000"/>
                </a:solidFill>
              </a:rPr>
              <a:t>汉诺塔</a:t>
            </a:r>
            <a:endParaRPr lang="zh-CN" altLang="en-US" b="1"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370" name="Group 2">
            <a:extLst>
              <a:ext uri="{FF2B5EF4-FFF2-40B4-BE49-F238E27FC236}">
                <a16:creationId xmlns:a16="http://schemas.microsoft.com/office/drawing/2014/main" id="{4C666552-9884-4DDA-9B75-A4DC70D53F55}"/>
              </a:ext>
            </a:extLst>
          </p:cNvPr>
          <p:cNvGrpSpPr>
            <a:grpSpLocks/>
          </p:cNvGrpSpPr>
          <p:nvPr/>
        </p:nvGrpSpPr>
        <p:grpSpPr bwMode="auto">
          <a:xfrm>
            <a:off x="5418138" y="1320800"/>
            <a:ext cx="1439862" cy="1193800"/>
            <a:chOff x="0" y="0"/>
            <a:chExt cx="907" cy="752"/>
          </a:xfrm>
        </p:grpSpPr>
        <p:sp>
          <p:nvSpPr>
            <p:cNvPr id="58387" name="Rectangle 3">
              <a:extLst>
                <a:ext uri="{FF2B5EF4-FFF2-40B4-BE49-F238E27FC236}">
                  <a16:creationId xmlns:a16="http://schemas.microsoft.com/office/drawing/2014/main" id="{46DF47F1-BE08-4278-ADD8-E3EBB854FDDA}"/>
                </a:ext>
              </a:extLst>
            </p:cNvPr>
            <p:cNvSpPr>
              <a:spLocks noChangeArrowheads="1"/>
            </p:cNvSpPr>
            <p:nvPr/>
          </p:nvSpPr>
          <p:spPr bwMode="auto">
            <a:xfrm>
              <a:off x="0" y="571"/>
              <a:ext cx="907" cy="181"/>
            </a:xfrm>
            <a:prstGeom prst="rect">
              <a:avLst/>
            </a:prstGeom>
            <a:solidFill>
              <a:srgbClr val="FFCC00"/>
            </a:solidFill>
            <a:ln w="6350">
              <a:solidFill>
                <a:schemeClr val="tx1"/>
              </a:solidFill>
              <a:miter lim="800000"/>
              <a:headEnd/>
              <a:tailEnd/>
            </a:ln>
            <a:effectLst>
              <a:outerShdw dist="64758" dir="678596"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8388" name="Rectangle 4">
              <a:extLst>
                <a:ext uri="{FF2B5EF4-FFF2-40B4-BE49-F238E27FC236}">
                  <a16:creationId xmlns:a16="http://schemas.microsoft.com/office/drawing/2014/main" id="{3CE18B42-3A9C-4AB9-8ECD-48D1C4319551}"/>
                </a:ext>
              </a:extLst>
            </p:cNvPr>
            <p:cNvSpPr>
              <a:spLocks noChangeArrowheads="1"/>
            </p:cNvSpPr>
            <p:nvPr/>
          </p:nvSpPr>
          <p:spPr bwMode="auto">
            <a:xfrm>
              <a:off x="109" y="383"/>
              <a:ext cx="680" cy="181"/>
            </a:xfrm>
            <a:prstGeom prst="rect">
              <a:avLst/>
            </a:prstGeom>
            <a:solidFill>
              <a:srgbClr val="FFCC00"/>
            </a:solidFill>
            <a:ln w="6350">
              <a:solidFill>
                <a:schemeClr val="tx1"/>
              </a:solidFill>
              <a:miter lim="800000"/>
              <a:headEnd/>
              <a:tailEnd/>
            </a:ln>
            <a:effectLst>
              <a:outerShdw dist="64758" dir="678596"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8389" name="Rectangle 5">
              <a:extLst>
                <a:ext uri="{FF2B5EF4-FFF2-40B4-BE49-F238E27FC236}">
                  <a16:creationId xmlns:a16="http://schemas.microsoft.com/office/drawing/2014/main" id="{07B9A22C-5028-4491-8F58-DB17BDD9FBD7}"/>
                </a:ext>
              </a:extLst>
            </p:cNvPr>
            <p:cNvSpPr>
              <a:spLocks noChangeArrowheads="1"/>
            </p:cNvSpPr>
            <p:nvPr/>
          </p:nvSpPr>
          <p:spPr bwMode="auto">
            <a:xfrm>
              <a:off x="214" y="192"/>
              <a:ext cx="453" cy="181"/>
            </a:xfrm>
            <a:prstGeom prst="rect">
              <a:avLst/>
            </a:prstGeom>
            <a:solidFill>
              <a:srgbClr val="FFCC00"/>
            </a:solidFill>
            <a:ln w="6350">
              <a:solidFill>
                <a:schemeClr val="tx1"/>
              </a:solidFill>
              <a:miter lim="800000"/>
              <a:headEnd/>
              <a:tailEnd/>
            </a:ln>
            <a:effectLst>
              <a:outerShdw dist="64758" dir="678596"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8390" name="Rectangle 6">
              <a:extLst>
                <a:ext uri="{FF2B5EF4-FFF2-40B4-BE49-F238E27FC236}">
                  <a16:creationId xmlns:a16="http://schemas.microsoft.com/office/drawing/2014/main" id="{7E2A8BD6-81F0-4AAE-95A1-70905F71D0C3}"/>
                </a:ext>
              </a:extLst>
            </p:cNvPr>
            <p:cNvSpPr>
              <a:spLocks noChangeArrowheads="1"/>
            </p:cNvSpPr>
            <p:nvPr/>
          </p:nvSpPr>
          <p:spPr bwMode="auto">
            <a:xfrm>
              <a:off x="329" y="0"/>
              <a:ext cx="227" cy="181"/>
            </a:xfrm>
            <a:prstGeom prst="rect">
              <a:avLst/>
            </a:prstGeom>
            <a:solidFill>
              <a:srgbClr val="FFCC00"/>
            </a:solidFill>
            <a:ln w="6350">
              <a:solidFill>
                <a:schemeClr val="tx1"/>
              </a:solidFill>
              <a:miter lim="800000"/>
              <a:headEnd/>
              <a:tailEnd/>
            </a:ln>
            <a:effectLst>
              <a:outerShdw dist="64758" dir="678596"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58371" name="Group 7">
            <a:extLst>
              <a:ext uri="{FF2B5EF4-FFF2-40B4-BE49-F238E27FC236}">
                <a16:creationId xmlns:a16="http://schemas.microsoft.com/office/drawing/2014/main" id="{4D7B0D0F-30CB-43E8-AF7A-7BE6E805064E}"/>
              </a:ext>
            </a:extLst>
          </p:cNvPr>
          <p:cNvGrpSpPr>
            <a:grpSpLocks/>
          </p:cNvGrpSpPr>
          <p:nvPr/>
        </p:nvGrpSpPr>
        <p:grpSpPr bwMode="auto">
          <a:xfrm>
            <a:off x="2133600" y="2528889"/>
            <a:ext cx="7924800" cy="2501899"/>
            <a:chOff x="0" y="0"/>
            <a:chExt cx="4992" cy="1576"/>
          </a:xfrm>
        </p:grpSpPr>
        <p:grpSp>
          <p:nvGrpSpPr>
            <p:cNvPr id="58374" name="Group 8">
              <a:extLst>
                <a:ext uri="{FF2B5EF4-FFF2-40B4-BE49-F238E27FC236}">
                  <a16:creationId xmlns:a16="http://schemas.microsoft.com/office/drawing/2014/main" id="{2588839B-C307-4D69-B274-51A25868332D}"/>
                </a:ext>
              </a:extLst>
            </p:cNvPr>
            <p:cNvGrpSpPr>
              <a:grpSpLocks/>
            </p:cNvGrpSpPr>
            <p:nvPr/>
          </p:nvGrpSpPr>
          <p:grpSpPr bwMode="auto">
            <a:xfrm>
              <a:off x="0" y="0"/>
              <a:ext cx="1392" cy="1134"/>
              <a:chOff x="0" y="0"/>
              <a:chExt cx="1392" cy="1134"/>
            </a:xfrm>
          </p:grpSpPr>
          <p:sp>
            <p:nvSpPr>
              <p:cNvPr id="58385" name="Line 9">
                <a:extLst>
                  <a:ext uri="{FF2B5EF4-FFF2-40B4-BE49-F238E27FC236}">
                    <a16:creationId xmlns:a16="http://schemas.microsoft.com/office/drawing/2014/main" id="{6E8E8DD8-CE76-499B-B707-C27E6D6BD3FB}"/>
                  </a:ext>
                </a:extLst>
              </p:cNvPr>
              <p:cNvSpPr>
                <a:spLocks noChangeShapeType="1"/>
              </p:cNvSpPr>
              <p:nvPr/>
            </p:nvSpPr>
            <p:spPr bwMode="auto">
              <a:xfrm>
                <a:off x="0" y="1134"/>
                <a:ext cx="13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sp>
            <p:nvSpPr>
              <p:cNvPr id="58386" name="Line 10">
                <a:extLst>
                  <a:ext uri="{FF2B5EF4-FFF2-40B4-BE49-F238E27FC236}">
                    <a16:creationId xmlns:a16="http://schemas.microsoft.com/office/drawing/2014/main" id="{FD29A1F6-BB28-4323-B1C3-AF70E12950EB}"/>
                  </a:ext>
                </a:extLst>
              </p:cNvPr>
              <p:cNvSpPr>
                <a:spLocks noChangeShapeType="1"/>
              </p:cNvSpPr>
              <p:nvPr/>
            </p:nvSpPr>
            <p:spPr bwMode="auto">
              <a:xfrm>
                <a:off x="694" y="0"/>
                <a:ext cx="0" cy="113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58375" name="Group 11">
              <a:extLst>
                <a:ext uri="{FF2B5EF4-FFF2-40B4-BE49-F238E27FC236}">
                  <a16:creationId xmlns:a16="http://schemas.microsoft.com/office/drawing/2014/main" id="{493B65FD-59DD-4AD7-8CB0-AE9C672173F6}"/>
                </a:ext>
              </a:extLst>
            </p:cNvPr>
            <p:cNvGrpSpPr>
              <a:grpSpLocks/>
            </p:cNvGrpSpPr>
            <p:nvPr/>
          </p:nvGrpSpPr>
          <p:grpSpPr bwMode="auto">
            <a:xfrm>
              <a:off x="1824" y="0"/>
              <a:ext cx="1392" cy="1134"/>
              <a:chOff x="0" y="0"/>
              <a:chExt cx="1392" cy="1134"/>
            </a:xfrm>
          </p:grpSpPr>
          <p:sp>
            <p:nvSpPr>
              <p:cNvPr id="58383" name="Line 12">
                <a:extLst>
                  <a:ext uri="{FF2B5EF4-FFF2-40B4-BE49-F238E27FC236}">
                    <a16:creationId xmlns:a16="http://schemas.microsoft.com/office/drawing/2014/main" id="{C5CC2DCD-8C80-4A3A-BDEF-9CE19DA2A93D}"/>
                  </a:ext>
                </a:extLst>
              </p:cNvPr>
              <p:cNvSpPr>
                <a:spLocks noChangeShapeType="1"/>
              </p:cNvSpPr>
              <p:nvPr/>
            </p:nvSpPr>
            <p:spPr bwMode="auto">
              <a:xfrm>
                <a:off x="0" y="1134"/>
                <a:ext cx="13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sp>
            <p:nvSpPr>
              <p:cNvPr id="58384" name="Line 13">
                <a:extLst>
                  <a:ext uri="{FF2B5EF4-FFF2-40B4-BE49-F238E27FC236}">
                    <a16:creationId xmlns:a16="http://schemas.microsoft.com/office/drawing/2014/main" id="{1B66F113-7D8B-4169-97D9-99A93F53CCA1}"/>
                  </a:ext>
                </a:extLst>
              </p:cNvPr>
              <p:cNvSpPr>
                <a:spLocks noChangeShapeType="1"/>
              </p:cNvSpPr>
              <p:nvPr/>
            </p:nvSpPr>
            <p:spPr bwMode="auto">
              <a:xfrm>
                <a:off x="694" y="0"/>
                <a:ext cx="0" cy="113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58376" name="Group 14">
              <a:extLst>
                <a:ext uri="{FF2B5EF4-FFF2-40B4-BE49-F238E27FC236}">
                  <a16:creationId xmlns:a16="http://schemas.microsoft.com/office/drawing/2014/main" id="{E7C0E48D-E449-433F-B925-3F45136CF4BB}"/>
                </a:ext>
              </a:extLst>
            </p:cNvPr>
            <p:cNvGrpSpPr>
              <a:grpSpLocks/>
            </p:cNvGrpSpPr>
            <p:nvPr/>
          </p:nvGrpSpPr>
          <p:grpSpPr bwMode="auto">
            <a:xfrm>
              <a:off x="3600" y="0"/>
              <a:ext cx="1392" cy="1134"/>
              <a:chOff x="0" y="0"/>
              <a:chExt cx="1392" cy="1134"/>
            </a:xfrm>
          </p:grpSpPr>
          <p:sp>
            <p:nvSpPr>
              <p:cNvPr id="58381" name="Line 15">
                <a:extLst>
                  <a:ext uri="{FF2B5EF4-FFF2-40B4-BE49-F238E27FC236}">
                    <a16:creationId xmlns:a16="http://schemas.microsoft.com/office/drawing/2014/main" id="{843C9446-77EF-4BB2-9C4B-AC980033DB8C}"/>
                  </a:ext>
                </a:extLst>
              </p:cNvPr>
              <p:cNvSpPr>
                <a:spLocks noChangeShapeType="1"/>
              </p:cNvSpPr>
              <p:nvPr/>
            </p:nvSpPr>
            <p:spPr bwMode="auto">
              <a:xfrm>
                <a:off x="0" y="1134"/>
                <a:ext cx="13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sp>
            <p:nvSpPr>
              <p:cNvPr id="58382" name="Line 16">
                <a:extLst>
                  <a:ext uri="{FF2B5EF4-FFF2-40B4-BE49-F238E27FC236}">
                    <a16:creationId xmlns:a16="http://schemas.microsoft.com/office/drawing/2014/main" id="{5E6E0E41-DE3F-4AA5-A35D-F5ACC5CB4653}"/>
                  </a:ext>
                </a:extLst>
              </p:cNvPr>
              <p:cNvSpPr>
                <a:spLocks noChangeShapeType="1"/>
              </p:cNvSpPr>
              <p:nvPr/>
            </p:nvSpPr>
            <p:spPr bwMode="auto">
              <a:xfrm>
                <a:off x="694" y="0"/>
                <a:ext cx="0" cy="113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grpSp>
        <p:sp>
          <p:nvSpPr>
            <p:cNvPr id="58377" name="Text Box 17">
              <a:extLst>
                <a:ext uri="{FF2B5EF4-FFF2-40B4-BE49-F238E27FC236}">
                  <a16:creationId xmlns:a16="http://schemas.microsoft.com/office/drawing/2014/main" id="{36FAEED8-FD4D-4983-BA2E-5A8190026ADF}"/>
                </a:ext>
              </a:extLst>
            </p:cNvPr>
            <p:cNvSpPr txBox="1">
              <a:spLocks noChangeArrowheads="1"/>
            </p:cNvSpPr>
            <p:nvPr/>
          </p:nvSpPr>
          <p:spPr bwMode="auto">
            <a:xfrm>
              <a:off x="576" y="1342"/>
              <a:ext cx="220"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A</a:t>
              </a:r>
            </a:p>
          </p:txBody>
        </p:sp>
        <p:sp>
          <p:nvSpPr>
            <p:cNvPr id="58378" name="Text Box 18">
              <a:extLst>
                <a:ext uri="{FF2B5EF4-FFF2-40B4-BE49-F238E27FC236}">
                  <a16:creationId xmlns:a16="http://schemas.microsoft.com/office/drawing/2014/main" id="{2498B2CF-492C-45EF-80D0-FB38867BF61E}"/>
                </a:ext>
              </a:extLst>
            </p:cNvPr>
            <p:cNvSpPr txBox="1">
              <a:spLocks noChangeArrowheads="1"/>
            </p:cNvSpPr>
            <p:nvPr/>
          </p:nvSpPr>
          <p:spPr bwMode="auto">
            <a:xfrm>
              <a:off x="2378" y="1342"/>
              <a:ext cx="211"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B</a:t>
              </a:r>
            </a:p>
          </p:txBody>
        </p:sp>
        <p:sp>
          <p:nvSpPr>
            <p:cNvPr id="58379" name="Text Box 19">
              <a:extLst>
                <a:ext uri="{FF2B5EF4-FFF2-40B4-BE49-F238E27FC236}">
                  <a16:creationId xmlns:a16="http://schemas.microsoft.com/office/drawing/2014/main" id="{D374B2E0-52B5-48EF-88C7-19C28ABDD038}"/>
                </a:ext>
              </a:extLst>
            </p:cNvPr>
            <p:cNvSpPr txBox="1">
              <a:spLocks noChangeArrowheads="1"/>
            </p:cNvSpPr>
            <p:nvPr/>
          </p:nvSpPr>
          <p:spPr bwMode="auto">
            <a:xfrm>
              <a:off x="4198" y="1342"/>
              <a:ext cx="220"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C</a:t>
              </a:r>
            </a:p>
          </p:txBody>
        </p:sp>
        <p:sp>
          <p:nvSpPr>
            <p:cNvPr id="58380" name="Rectangle 20">
              <a:extLst>
                <a:ext uri="{FF2B5EF4-FFF2-40B4-BE49-F238E27FC236}">
                  <a16:creationId xmlns:a16="http://schemas.microsoft.com/office/drawing/2014/main" id="{9EDC6C75-ED64-4564-AA05-CE5C7CCE9DFD}"/>
                </a:ext>
              </a:extLst>
            </p:cNvPr>
            <p:cNvSpPr>
              <a:spLocks noChangeArrowheads="1"/>
            </p:cNvSpPr>
            <p:nvPr/>
          </p:nvSpPr>
          <p:spPr bwMode="auto">
            <a:xfrm>
              <a:off x="3744" y="942"/>
              <a:ext cx="1134" cy="181"/>
            </a:xfrm>
            <a:prstGeom prst="rect">
              <a:avLst/>
            </a:prstGeom>
            <a:solidFill>
              <a:srgbClr val="FFFF00"/>
            </a:solidFill>
            <a:ln w="6350">
              <a:solidFill>
                <a:schemeClr val="tx1"/>
              </a:solidFill>
              <a:miter lim="800000"/>
              <a:headEnd/>
              <a:tailEnd/>
            </a:ln>
            <a:effectLst>
              <a:outerShdw dist="64758" dir="20921404"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23" name="Rectangle 23">
            <a:extLst>
              <a:ext uri="{FF2B5EF4-FFF2-40B4-BE49-F238E27FC236}">
                <a16:creationId xmlns:a16="http://schemas.microsoft.com/office/drawing/2014/main" id="{F038693F-5FCA-4578-B366-34843D951C2F}"/>
              </a:ext>
            </a:extLst>
          </p:cNvPr>
          <p:cNvSpPr txBox="1">
            <a:spLocks noChangeArrowheads="1"/>
          </p:cNvSpPr>
          <p:nvPr/>
        </p:nvSpPr>
        <p:spPr>
          <a:xfrm>
            <a:off x="2320925" y="396082"/>
            <a:ext cx="582167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b="1">
                <a:latin typeface="宋体" panose="02010600030101010101" pitchFamily="2" charset="-122"/>
              </a:rPr>
              <a:t>递归调用</a:t>
            </a:r>
            <a:r>
              <a:rPr lang="en-US" altLang="zh-CN" b="1">
                <a:latin typeface="宋体" panose="02010600030101010101" pitchFamily="2" charset="-122"/>
              </a:rPr>
              <a:t>-</a:t>
            </a:r>
            <a:r>
              <a:rPr lang="zh-CN" altLang="en-US" b="1" i="1">
                <a:solidFill>
                  <a:srgbClr val="008000"/>
                </a:solidFill>
              </a:rPr>
              <a:t>汉诺塔</a:t>
            </a:r>
            <a:endParaRPr lang="zh-CN" altLang="en-US" b="1"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394" name="Group 2">
            <a:extLst>
              <a:ext uri="{FF2B5EF4-FFF2-40B4-BE49-F238E27FC236}">
                <a16:creationId xmlns:a16="http://schemas.microsoft.com/office/drawing/2014/main" id="{E003E364-0659-44ED-8B60-566EC8D972F5}"/>
              </a:ext>
            </a:extLst>
          </p:cNvPr>
          <p:cNvGrpSpPr>
            <a:grpSpLocks/>
          </p:cNvGrpSpPr>
          <p:nvPr/>
        </p:nvGrpSpPr>
        <p:grpSpPr bwMode="auto">
          <a:xfrm>
            <a:off x="8237538" y="1320800"/>
            <a:ext cx="1439862" cy="1193800"/>
            <a:chOff x="0" y="0"/>
            <a:chExt cx="907" cy="752"/>
          </a:xfrm>
        </p:grpSpPr>
        <p:sp>
          <p:nvSpPr>
            <p:cNvPr id="59411" name="Rectangle 3">
              <a:extLst>
                <a:ext uri="{FF2B5EF4-FFF2-40B4-BE49-F238E27FC236}">
                  <a16:creationId xmlns:a16="http://schemas.microsoft.com/office/drawing/2014/main" id="{4DC25902-7E53-4E4A-ADA5-4EEC78EE2246}"/>
                </a:ext>
              </a:extLst>
            </p:cNvPr>
            <p:cNvSpPr>
              <a:spLocks noChangeArrowheads="1"/>
            </p:cNvSpPr>
            <p:nvPr/>
          </p:nvSpPr>
          <p:spPr bwMode="auto">
            <a:xfrm>
              <a:off x="0" y="571"/>
              <a:ext cx="907" cy="181"/>
            </a:xfrm>
            <a:prstGeom prst="rect">
              <a:avLst/>
            </a:prstGeom>
            <a:solidFill>
              <a:srgbClr val="FFCC00"/>
            </a:solidFill>
            <a:ln w="6350">
              <a:solidFill>
                <a:schemeClr val="tx1"/>
              </a:solidFill>
              <a:miter lim="800000"/>
              <a:headEnd/>
              <a:tailEnd/>
            </a:ln>
            <a:effectLst>
              <a:outerShdw dist="64758" dir="678596"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9412" name="Rectangle 4">
              <a:extLst>
                <a:ext uri="{FF2B5EF4-FFF2-40B4-BE49-F238E27FC236}">
                  <a16:creationId xmlns:a16="http://schemas.microsoft.com/office/drawing/2014/main" id="{CAC9053A-DE26-406B-859D-72BA2080089A}"/>
                </a:ext>
              </a:extLst>
            </p:cNvPr>
            <p:cNvSpPr>
              <a:spLocks noChangeArrowheads="1"/>
            </p:cNvSpPr>
            <p:nvPr/>
          </p:nvSpPr>
          <p:spPr bwMode="auto">
            <a:xfrm>
              <a:off x="109" y="383"/>
              <a:ext cx="680" cy="181"/>
            </a:xfrm>
            <a:prstGeom prst="rect">
              <a:avLst/>
            </a:prstGeom>
            <a:solidFill>
              <a:srgbClr val="FFCC00"/>
            </a:solidFill>
            <a:ln w="6350">
              <a:solidFill>
                <a:schemeClr val="tx1"/>
              </a:solidFill>
              <a:miter lim="800000"/>
              <a:headEnd/>
              <a:tailEnd/>
            </a:ln>
            <a:effectLst>
              <a:outerShdw dist="64758" dir="678596"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9413" name="Rectangle 5">
              <a:extLst>
                <a:ext uri="{FF2B5EF4-FFF2-40B4-BE49-F238E27FC236}">
                  <a16:creationId xmlns:a16="http://schemas.microsoft.com/office/drawing/2014/main" id="{6DB8F8F8-2E6A-4EDB-8729-EEE780426FB6}"/>
                </a:ext>
              </a:extLst>
            </p:cNvPr>
            <p:cNvSpPr>
              <a:spLocks noChangeArrowheads="1"/>
            </p:cNvSpPr>
            <p:nvPr/>
          </p:nvSpPr>
          <p:spPr bwMode="auto">
            <a:xfrm>
              <a:off x="214" y="192"/>
              <a:ext cx="453" cy="181"/>
            </a:xfrm>
            <a:prstGeom prst="rect">
              <a:avLst/>
            </a:prstGeom>
            <a:solidFill>
              <a:srgbClr val="FFCC00"/>
            </a:solidFill>
            <a:ln w="6350">
              <a:solidFill>
                <a:schemeClr val="tx1"/>
              </a:solidFill>
              <a:miter lim="800000"/>
              <a:headEnd/>
              <a:tailEnd/>
            </a:ln>
            <a:effectLst>
              <a:outerShdw dist="64758" dir="678596"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9414" name="Rectangle 6">
              <a:extLst>
                <a:ext uri="{FF2B5EF4-FFF2-40B4-BE49-F238E27FC236}">
                  <a16:creationId xmlns:a16="http://schemas.microsoft.com/office/drawing/2014/main" id="{4059AE1D-22C7-4290-A1BC-1B2E4B95E714}"/>
                </a:ext>
              </a:extLst>
            </p:cNvPr>
            <p:cNvSpPr>
              <a:spLocks noChangeArrowheads="1"/>
            </p:cNvSpPr>
            <p:nvPr/>
          </p:nvSpPr>
          <p:spPr bwMode="auto">
            <a:xfrm>
              <a:off x="329" y="0"/>
              <a:ext cx="227" cy="181"/>
            </a:xfrm>
            <a:prstGeom prst="rect">
              <a:avLst/>
            </a:prstGeom>
            <a:solidFill>
              <a:srgbClr val="FFCC00"/>
            </a:solidFill>
            <a:ln w="6350">
              <a:solidFill>
                <a:schemeClr val="tx1"/>
              </a:solidFill>
              <a:miter lim="800000"/>
              <a:headEnd/>
              <a:tailEnd/>
            </a:ln>
            <a:effectLst>
              <a:outerShdw dist="64758" dir="678596"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59395" name="Group 7">
            <a:extLst>
              <a:ext uri="{FF2B5EF4-FFF2-40B4-BE49-F238E27FC236}">
                <a16:creationId xmlns:a16="http://schemas.microsoft.com/office/drawing/2014/main" id="{E5082C32-CEB5-4C32-9C81-7A4FCAC499FB}"/>
              </a:ext>
            </a:extLst>
          </p:cNvPr>
          <p:cNvGrpSpPr>
            <a:grpSpLocks/>
          </p:cNvGrpSpPr>
          <p:nvPr/>
        </p:nvGrpSpPr>
        <p:grpSpPr bwMode="auto">
          <a:xfrm>
            <a:off x="2133600" y="2528889"/>
            <a:ext cx="7924800" cy="2501899"/>
            <a:chOff x="0" y="0"/>
            <a:chExt cx="4992" cy="1576"/>
          </a:xfrm>
        </p:grpSpPr>
        <p:grpSp>
          <p:nvGrpSpPr>
            <p:cNvPr id="59398" name="Group 8">
              <a:extLst>
                <a:ext uri="{FF2B5EF4-FFF2-40B4-BE49-F238E27FC236}">
                  <a16:creationId xmlns:a16="http://schemas.microsoft.com/office/drawing/2014/main" id="{79A4745E-5F4D-439F-8794-28C66CB4B2F5}"/>
                </a:ext>
              </a:extLst>
            </p:cNvPr>
            <p:cNvGrpSpPr>
              <a:grpSpLocks/>
            </p:cNvGrpSpPr>
            <p:nvPr/>
          </p:nvGrpSpPr>
          <p:grpSpPr bwMode="auto">
            <a:xfrm>
              <a:off x="0" y="0"/>
              <a:ext cx="1392" cy="1134"/>
              <a:chOff x="0" y="0"/>
              <a:chExt cx="1392" cy="1134"/>
            </a:xfrm>
          </p:grpSpPr>
          <p:sp>
            <p:nvSpPr>
              <p:cNvPr id="59409" name="Line 9">
                <a:extLst>
                  <a:ext uri="{FF2B5EF4-FFF2-40B4-BE49-F238E27FC236}">
                    <a16:creationId xmlns:a16="http://schemas.microsoft.com/office/drawing/2014/main" id="{52C677F6-4ED7-4FFF-A8E0-E60F3870D856}"/>
                  </a:ext>
                </a:extLst>
              </p:cNvPr>
              <p:cNvSpPr>
                <a:spLocks noChangeShapeType="1"/>
              </p:cNvSpPr>
              <p:nvPr/>
            </p:nvSpPr>
            <p:spPr bwMode="auto">
              <a:xfrm>
                <a:off x="0" y="1134"/>
                <a:ext cx="13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sp>
            <p:nvSpPr>
              <p:cNvPr id="59410" name="Line 10">
                <a:extLst>
                  <a:ext uri="{FF2B5EF4-FFF2-40B4-BE49-F238E27FC236}">
                    <a16:creationId xmlns:a16="http://schemas.microsoft.com/office/drawing/2014/main" id="{82F78D58-E3D4-4E26-959A-310F712D0BAB}"/>
                  </a:ext>
                </a:extLst>
              </p:cNvPr>
              <p:cNvSpPr>
                <a:spLocks noChangeShapeType="1"/>
              </p:cNvSpPr>
              <p:nvPr/>
            </p:nvSpPr>
            <p:spPr bwMode="auto">
              <a:xfrm>
                <a:off x="694" y="0"/>
                <a:ext cx="0" cy="113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59399" name="Group 11">
              <a:extLst>
                <a:ext uri="{FF2B5EF4-FFF2-40B4-BE49-F238E27FC236}">
                  <a16:creationId xmlns:a16="http://schemas.microsoft.com/office/drawing/2014/main" id="{E855E2A8-67D0-4D4A-B975-000D9908C5F5}"/>
                </a:ext>
              </a:extLst>
            </p:cNvPr>
            <p:cNvGrpSpPr>
              <a:grpSpLocks/>
            </p:cNvGrpSpPr>
            <p:nvPr/>
          </p:nvGrpSpPr>
          <p:grpSpPr bwMode="auto">
            <a:xfrm>
              <a:off x="1824" y="0"/>
              <a:ext cx="1392" cy="1134"/>
              <a:chOff x="0" y="0"/>
              <a:chExt cx="1392" cy="1134"/>
            </a:xfrm>
          </p:grpSpPr>
          <p:sp>
            <p:nvSpPr>
              <p:cNvPr id="59407" name="Line 12">
                <a:extLst>
                  <a:ext uri="{FF2B5EF4-FFF2-40B4-BE49-F238E27FC236}">
                    <a16:creationId xmlns:a16="http://schemas.microsoft.com/office/drawing/2014/main" id="{2F77CEAE-965D-4667-B69B-545CD59AC8C6}"/>
                  </a:ext>
                </a:extLst>
              </p:cNvPr>
              <p:cNvSpPr>
                <a:spLocks noChangeShapeType="1"/>
              </p:cNvSpPr>
              <p:nvPr/>
            </p:nvSpPr>
            <p:spPr bwMode="auto">
              <a:xfrm>
                <a:off x="0" y="1134"/>
                <a:ext cx="13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sp>
            <p:nvSpPr>
              <p:cNvPr id="59408" name="Line 13">
                <a:extLst>
                  <a:ext uri="{FF2B5EF4-FFF2-40B4-BE49-F238E27FC236}">
                    <a16:creationId xmlns:a16="http://schemas.microsoft.com/office/drawing/2014/main" id="{DA1BE842-0F17-401B-8808-045729459392}"/>
                  </a:ext>
                </a:extLst>
              </p:cNvPr>
              <p:cNvSpPr>
                <a:spLocks noChangeShapeType="1"/>
              </p:cNvSpPr>
              <p:nvPr/>
            </p:nvSpPr>
            <p:spPr bwMode="auto">
              <a:xfrm>
                <a:off x="694" y="0"/>
                <a:ext cx="0" cy="113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59400" name="Group 14">
              <a:extLst>
                <a:ext uri="{FF2B5EF4-FFF2-40B4-BE49-F238E27FC236}">
                  <a16:creationId xmlns:a16="http://schemas.microsoft.com/office/drawing/2014/main" id="{2059FD9D-8596-4CA3-B1CB-D9BEDB511EA1}"/>
                </a:ext>
              </a:extLst>
            </p:cNvPr>
            <p:cNvGrpSpPr>
              <a:grpSpLocks/>
            </p:cNvGrpSpPr>
            <p:nvPr/>
          </p:nvGrpSpPr>
          <p:grpSpPr bwMode="auto">
            <a:xfrm>
              <a:off x="3600" y="0"/>
              <a:ext cx="1392" cy="1134"/>
              <a:chOff x="0" y="0"/>
              <a:chExt cx="1392" cy="1134"/>
            </a:xfrm>
          </p:grpSpPr>
          <p:sp>
            <p:nvSpPr>
              <p:cNvPr id="59405" name="Line 15">
                <a:extLst>
                  <a:ext uri="{FF2B5EF4-FFF2-40B4-BE49-F238E27FC236}">
                    <a16:creationId xmlns:a16="http://schemas.microsoft.com/office/drawing/2014/main" id="{63A47272-E2CF-46FC-A2D8-D48E3B6BCBB9}"/>
                  </a:ext>
                </a:extLst>
              </p:cNvPr>
              <p:cNvSpPr>
                <a:spLocks noChangeShapeType="1"/>
              </p:cNvSpPr>
              <p:nvPr/>
            </p:nvSpPr>
            <p:spPr bwMode="auto">
              <a:xfrm>
                <a:off x="0" y="1134"/>
                <a:ext cx="13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sp>
            <p:nvSpPr>
              <p:cNvPr id="59406" name="Line 16">
                <a:extLst>
                  <a:ext uri="{FF2B5EF4-FFF2-40B4-BE49-F238E27FC236}">
                    <a16:creationId xmlns:a16="http://schemas.microsoft.com/office/drawing/2014/main" id="{F5F74637-DD5F-48E1-93EC-BCD3F8507027}"/>
                  </a:ext>
                </a:extLst>
              </p:cNvPr>
              <p:cNvSpPr>
                <a:spLocks noChangeShapeType="1"/>
              </p:cNvSpPr>
              <p:nvPr/>
            </p:nvSpPr>
            <p:spPr bwMode="auto">
              <a:xfrm>
                <a:off x="694" y="0"/>
                <a:ext cx="0" cy="113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grpSp>
        <p:sp>
          <p:nvSpPr>
            <p:cNvPr id="59401" name="Text Box 17">
              <a:extLst>
                <a:ext uri="{FF2B5EF4-FFF2-40B4-BE49-F238E27FC236}">
                  <a16:creationId xmlns:a16="http://schemas.microsoft.com/office/drawing/2014/main" id="{DFF391B8-C02B-421D-8C43-2485A294DAEA}"/>
                </a:ext>
              </a:extLst>
            </p:cNvPr>
            <p:cNvSpPr txBox="1">
              <a:spLocks noChangeArrowheads="1"/>
            </p:cNvSpPr>
            <p:nvPr/>
          </p:nvSpPr>
          <p:spPr bwMode="auto">
            <a:xfrm>
              <a:off x="576" y="1342"/>
              <a:ext cx="220"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A</a:t>
              </a:r>
            </a:p>
          </p:txBody>
        </p:sp>
        <p:sp>
          <p:nvSpPr>
            <p:cNvPr id="59402" name="Text Box 18">
              <a:extLst>
                <a:ext uri="{FF2B5EF4-FFF2-40B4-BE49-F238E27FC236}">
                  <a16:creationId xmlns:a16="http://schemas.microsoft.com/office/drawing/2014/main" id="{A8E67B82-441F-4831-9ED7-45E118A9B4D1}"/>
                </a:ext>
              </a:extLst>
            </p:cNvPr>
            <p:cNvSpPr txBox="1">
              <a:spLocks noChangeArrowheads="1"/>
            </p:cNvSpPr>
            <p:nvPr/>
          </p:nvSpPr>
          <p:spPr bwMode="auto">
            <a:xfrm>
              <a:off x="2378" y="1342"/>
              <a:ext cx="211"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B</a:t>
              </a:r>
            </a:p>
          </p:txBody>
        </p:sp>
        <p:sp>
          <p:nvSpPr>
            <p:cNvPr id="59403" name="Text Box 19">
              <a:extLst>
                <a:ext uri="{FF2B5EF4-FFF2-40B4-BE49-F238E27FC236}">
                  <a16:creationId xmlns:a16="http://schemas.microsoft.com/office/drawing/2014/main" id="{1ADCE39B-7893-4352-B8D3-90EC4EB3E9A4}"/>
                </a:ext>
              </a:extLst>
            </p:cNvPr>
            <p:cNvSpPr txBox="1">
              <a:spLocks noChangeArrowheads="1"/>
            </p:cNvSpPr>
            <p:nvPr/>
          </p:nvSpPr>
          <p:spPr bwMode="auto">
            <a:xfrm>
              <a:off x="4198" y="1342"/>
              <a:ext cx="220"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C</a:t>
              </a:r>
            </a:p>
          </p:txBody>
        </p:sp>
        <p:sp>
          <p:nvSpPr>
            <p:cNvPr id="59404" name="Rectangle 20">
              <a:extLst>
                <a:ext uri="{FF2B5EF4-FFF2-40B4-BE49-F238E27FC236}">
                  <a16:creationId xmlns:a16="http://schemas.microsoft.com/office/drawing/2014/main" id="{AB3BC1A8-F706-4A7A-8C4E-A64CDC7AB607}"/>
                </a:ext>
              </a:extLst>
            </p:cNvPr>
            <p:cNvSpPr>
              <a:spLocks noChangeArrowheads="1"/>
            </p:cNvSpPr>
            <p:nvPr/>
          </p:nvSpPr>
          <p:spPr bwMode="auto">
            <a:xfrm>
              <a:off x="3744" y="942"/>
              <a:ext cx="1134" cy="181"/>
            </a:xfrm>
            <a:prstGeom prst="rect">
              <a:avLst/>
            </a:prstGeom>
            <a:solidFill>
              <a:srgbClr val="FFFF00"/>
            </a:solidFill>
            <a:ln w="6350">
              <a:solidFill>
                <a:schemeClr val="tx1"/>
              </a:solidFill>
              <a:miter lim="800000"/>
              <a:headEnd/>
              <a:tailEnd/>
            </a:ln>
            <a:effectLst>
              <a:outerShdw dist="64758" dir="20921404"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23" name="Rectangle 23">
            <a:extLst>
              <a:ext uri="{FF2B5EF4-FFF2-40B4-BE49-F238E27FC236}">
                <a16:creationId xmlns:a16="http://schemas.microsoft.com/office/drawing/2014/main" id="{10B467BF-9EE1-46D9-B5AA-570E4B0FCA2D}"/>
              </a:ext>
            </a:extLst>
          </p:cNvPr>
          <p:cNvSpPr txBox="1">
            <a:spLocks noChangeArrowheads="1"/>
          </p:cNvSpPr>
          <p:nvPr/>
        </p:nvSpPr>
        <p:spPr>
          <a:xfrm>
            <a:off x="2320925" y="396082"/>
            <a:ext cx="582167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b="1">
                <a:latin typeface="宋体" panose="02010600030101010101" pitchFamily="2" charset="-122"/>
              </a:rPr>
              <a:t>递归调用</a:t>
            </a:r>
            <a:r>
              <a:rPr lang="en-US" altLang="zh-CN" b="1">
                <a:latin typeface="宋体" panose="02010600030101010101" pitchFamily="2" charset="-122"/>
              </a:rPr>
              <a:t>-</a:t>
            </a:r>
            <a:r>
              <a:rPr lang="zh-CN" altLang="en-US" b="1" i="1">
                <a:solidFill>
                  <a:srgbClr val="008000"/>
                </a:solidFill>
              </a:rPr>
              <a:t>汉诺塔</a:t>
            </a:r>
            <a:endParaRPr lang="zh-CN" altLang="en-US" b="1"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418" name="Group 2">
            <a:extLst>
              <a:ext uri="{FF2B5EF4-FFF2-40B4-BE49-F238E27FC236}">
                <a16:creationId xmlns:a16="http://schemas.microsoft.com/office/drawing/2014/main" id="{F9B4EEF9-B271-493A-95CA-21852B2DC3D0}"/>
              </a:ext>
            </a:extLst>
          </p:cNvPr>
          <p:cNvGrpSpPr>
            <a:grpSpLocks/>
          </p:cNvGrpSpPr>
          <p:nvPr/>
        </p:nvGrpSpPr>
        <p:grpSpPr bwMode="auto">
          <a:xfrm>
            <a:off x="2133600" y="2528889"/>
            <a:ext cx="7924800" cy="2501899"/>
            <a:chOff x="0" y="0"/>
            <a:chExt cx="4992" cy="1576"/>
          </a:xfrm>
        </p:grpSpPr>
        <p:grpSp>
          <p:nvGrpSpPr>
            <p:cNvPr id="60421" name="Group 3">
              <a:extLst>
                <a:ext uri="{FF2B5EF4-FFF2-40B4-BE49-F238E27FC236}">
                  <a16:creationId xmlns:a16="http://schemas.microsoft.com/office/drawing/2014/main" id="{8EA7E1E9-3600-4350-AF02-CEAEAAB0ECB8}"/>
                </a:ext>
              </a:extLst>
            </p:cNvPr>
            <p:cNvGrpSpPr>
              <a:grpSpLocks/>
            </p:cNvGrpSpPr>
            <p:nvPr/>
          </p:nvGrpSpPr>
          <p:grpSpPr bwMode="auto">
            <a:xfrm>
              <a:off x="0" y="0"/>
              <a:ext cx="1392" cy="1134"/>
              <a:chOff x="0" y="0"/>
              <a:chExt cx="1392" cy="1134"/>
            </a:xfrm>
          </p:grpSpPr>
          <p:sp>
            <p:nvSpPr>
              <p:cNvPr id="60437" name="Line 4">
                <a:extLst>
                  <a:ext uri="{FF2B5EF4-FFF2-40B4-BE49-F238E27FC236}">
                    <a16:creationId xmlns:a16="http://schemas.microsoft.com/office/drawing/2014/main" id="{BF6CFA5E-54DB-46F5-8C5C-83EEB85DE1F8}"/>
                  </a:ext>
                </a:extLst>
              </p:cNvPr>
              <p:cNvSpPr>
                <a:spLocks noChangeShapeType="1"/>
              </p:cNvSpPr>
              <p:nvPr/>
            </p:nvSpPr>
            <p:spPr bwMode="auto">
              <a:xfrm>
                <a:off x="0" y="1134"/>
                <a:ext cx="13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sp>
            <p:nvSpPr>
              <p:cNvPr id="60438" name="Line 5">
                <a:extLst>
                  <a:ext uri="{FF2B5EF4-FFF2-40B4-BE49-F238E27FC236}">
                    <a16:creationId xmlns:a16="http://schemas.microsoft.com/office/drawing/2014/main" id="{B651B3B7-F470-4958-A5BB-7E1FF8D8C41B}"/>
                  </a:ext>
                </a:extLst>
              </p:cNvPr>
              <p:cNvSpPr>
                <a:spLocks noChangeShapeType="1"/>
              </p:cNvSpPr>
              <p:nvPr/>
            </p:nvSpPr>
            <p:spPr bwMode="auto">
              <a:xfrm>
                <a:off x="694" y="0"/>
                <a:ext cx="0" cy="113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60422" name="Group 6">
              <a:extLst>
                <a:ext uri="{FF2B5EF4-FFF2-40B4-BE49-F238E27FC236}">
                  <a16:creationId xmlns:a16="http://schemas.microsoft.com/office/drawing/2014/main" id="{B6A8175B-3564-4CB3-8FAA-9A1783EBFE37}"/>
                </a:ext>
              </a:extLst>
            </p:cNvPr>
            <p:cNvGrpSpPr>
              <a:grpSpLocks/>
            </p:cNvGrpSpPr>
            <p:nvPr/>
          </p:nvGrpSpPr>
          <p:grpSpPr bwMode="auto">
            <a:xfrm>
              <a:off x="1824" y="0"/>
              <a:ext cx="1392" cy="1134"/>
              <a:chOff x="0" y="0"/>
              <a:chExt cx="1392" cy="1134"/>
            </a:xfrm>
          </p:grpSpPr>
          <p:sp>
            <p:nvSpPr>
              <p:cNvPr id="60435" name="Line 7">
                <a:extLst>
                  <a:ext uri="{FF2B5EF4-FFF2-40B4-BE49-F238E27FC236}">
                    <a16:creationId xmlns:a16="http://schemas.microsoft.com/office/drawing/2014/main" id="{F2D1D38F-9343-4DB4-8753-B315FEDFFE7F}"/>
                  </a:ext>
                </a:extLst>
              </p:cNvPr>
              <p:cNvSpPr>
                <a:spLocks noChangeShapeType="1"/>
              </p:cNvSpPr>
              <p:nvPr/>
            </p:nvSpPr>
            <p:spPr bwMode="auto">
              <a:xfrm>
                <a:off x="0" y="1134"/>
                <a:ext cx="13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sp>
            <p:nvSpPr>
              <p:cNvPr id="60436" name="Line 8">
                <a:extLst>
                  <a:ext uri="{FF2B5EF4-FFF2-40B4-BE49-F238E27FC236}">
                    <a16:creationId xmlns:a16="http://schemas.microsoft.com/office/drawing/2014/main" id="{947455F8-AA05-4DEF-B242-7D87D9CEB413}"/>
                  </a:ext>
                </a:extLst>
              </p:cNvPr>
              <p:cNvSpPr>
                <a:spLocks noChangeShapeType="1"/>
              </p:cNvSpPr>
              <p:nvPr/>
            </p:nvSpPr>
            <p:spPr bwMode="auto">
              <a:xfrm>
                <a:off x="694" y="0"/>
                <a:ext cx="0" cy="113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60423" name="Group 9">
              <a:extLst>
                <a:ext uri="{FF2B5EF4-FFF2-40B4-BE49-F238E27FC236}">
                  <a16:creationId xmlns:a16="http://schemas.microsoft.com/office/drawing/2014/main" id="{B7770F12-7A1B-4099-A268-C1B40DD79486}"/>
                </a:ext>
              </a:extLst>
            </p:cNvPr>
            <p:cNvGrpSpPr>
              <a:grpSpLocks/>
            </p:cNvGrpSpPr>
            <p:nvPr/>
          </p:nvGrpSpPr>
          <p:grpSpPr bwMode="auto">
            <a:xfrm>
              <a:off x="3600" y="0"/>
              <a:ext cx="1392" cy="1134"/>
              <a:chOff x="0" y="0"/>
              <a:chExt cx="1392" cy="1134"/>
            </a:xfrm>
          </p:grpSpPr>
          <p:sp>
            <p:nvSpPr>
              <p:cNvPr id="60433" name="Line 10">
                <a:extLst>
                  <a:ext uri="{FF2B5EF4-FFF2-40B4-BE49-F238E27FC236}">
                    <a16:creationId xmlns:a16="http://schemas.microsoft.com/office/drawing/2014/main" id="{D8E71F1E-6697-42DD-86F5-DEEBE85DB86F}"/>
                  </a:ext>
                </a:extLst>
              </p:cNvPr>
              <p:cNvSpPr>
                <a:spLocks noChangeShapeType="1"/>
              </p:cNvSpPr>
              <p:nvPr/>
            </p:nvSpPr>
            <p:spPr bwMode="auto">
              <a:xfrm>
                <a:off x="0" y="1134"/>
                <a:ext cx="13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sp>
            <p:nvSpPr>
              <p:cNvPr id="60434" name="Line 11">
                <a:extLst>
                  <a:ext uri="{FF2B5EF4-FFF2-40B4-BE49-F238E27FC236}">
                    <a16:creationId xmlns:a16="http://schemas.microsoft.com/office/drawing/2014/main" id="{86A88B07-0F84-478A-81AA-DCF0A4A031FE}"/>
                  </a:ext>
                </a:extLst>
              </p:cNvPr>
              <p:cNvSpPr>
                <a:spLocks noChangeShapeType="1"/>
              </p:cNvSpPr>
              <p:nvPr/>
            </p:nvSpPr>
            <p:spPr bwMode="auto">
              <a:xfrm>
                <a:off x="694" y="0"/>
                <a:ext cx="0" cy="113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grpSp>
        <p:sp>
          <p:nvSpPr>
            <p:cNvPr id="60424" name="Text Box 12">
              <a:extLst>
                <a:ext uri="{FF2B5EF4-FFF2-40B4-BE49-F238E27FC236}">
                  <a16:creationId xmlns:a16="http://schemas.microsoft.com/office/drawing/2014/main" id="{4C02C654-0831-41D5-9B6D-97A8CBD51A7A}"/>
                </a:ext>
              </a:extLst>
            </p:cNvPr>
            <p:cNvSpPr txBox="1">
              <a:spLocks noChangeArrowheads="1"/>
            </p:cNvSpPr>
            <p:nvPr/>
          </p:nvSpPr>
          <p:spPr bwMode="auto">
            <a:xfrm>
              <a:off x="576" y="1342"/>
              <a:ext cx="220"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A</a:t>
              </a:r>
            </a:p>
          </p:txBody>
        </p:sp>
        <p:sp>
          <p:nvSpPr>
            <p:cNvPr id="60425" name="Text Box 13">
              <a:extLst>
                <a:ext uri="{FF2B5EF4-FFF2-40B4-BE49-F238E27FC236}">
                  <a16:creationId xmlns:a16="http://schemas.microsoft.com/office/drawing/2014/main" id="{F202611D-C3FA-4CC6-88E8-A77DCC527E2B}"/>
                </a:ext>
              </a:extLst>
            </p:cNvPr>
            <p:cNvSpPr txBox="1">
              <a:spLocks noChangeArrowheads="1"/>
            </p:cNvSpPr>
            <p:nvPr/>
          </p:nvSpPr>
          <p:spPr bwMode="auto">
            <a:xfrm>
              <a:off x="2378" y="1342"/>
              <a:ext cx="211"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B</a:t>
              </a:r>
            </a:p>
          </p:txBody>
        </p:sp>
        <p:sp>
          <p:nvSpPr>
            <p:cNvPr id="60426" name="Text Box 14">
              <a:extLst>
                <a:ext uri="{FF2B5EF4-FFF2-40B4-BE49-F238E27FC236}">
                  <a16:creationId xmlns:a16="http://schemas.microsoft.com/office/drawing/2014/main" id="{1B9CF443-472A-41D2-8C2D-10988FFAF186}"/>
                </a:ext>
              </a:extLst>
            </p:cNvPr>
            <p:cNvSpPr txBox="1">
              <a:spLocks noChangeArrowheads="1"/>
            </p:cNvSpPr>
            <p:nvPr/>
          </p:nvSpPr>
          <p:spPr bwMode="auto">
            <a:xfrm>
              <a:off x="4198" y="1342"/>
              <a:ext cx="220"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C</a:t>
              </a:r>
            </a:p>
          </p:txBody>
        </p:sp>
        <p:sp>
          <p:nvSpPr>
            <p:cNvPr id="60427" name="Rectangle 15">
              <a:extLst>
                <a:ext uri="{FF2B5EF4-FFF2-40B4-BE49-F238E27FC236}">
                  <a16:creationId xmlns:a16="http://schemas.microsoft.com/office/drawing/2014/main" id="{F024B06F-B5B9-4900-ABA9-B408D407A7F2}"/>
                </a:ext>
              </a:extLst>
            </p:cNvPr>
            <p:cNvSpPr>
              <a:spLocks noChangeArrowheads="1"/>
            </p:cNvSpPr>
            <p:nvPr/>
          </p:nvSpPr>
          <p:spPr bwMode="auto">
            <a:xfrm>
              <a:off x="3744" y="942"/>
              <a:ext cx="1134" cy="181"/>
            </a:xfrm>
            <a:prstGeom prst="rect">
              <a:avLst/>
            </a:prstGeom>
            <a:solidFill>
              <a:srgbClr val="FFFF00"/>
            </a:solidFill>
            <a:ln w="6350">
              <a:solidFill>
                <a:schemeClr val="tx1"/>
              </a:solidFill>
              <a:miter lim="800000"/>
              <a:headEnd/>
              <a:tailEnd/>
            </a:ln>
            <a:effectLst>
              <a:outerShdw dist="64758" dir="20921404"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60428" name="Group 16">
              <a:extLst>
                <a:ext uri="{FF2B5EF4-FFF2-40B4-BE49-F238E27FC236}">
                  <a16:creationId xmlns:a16="http://schemas.microsoft.com/office/drawing/2014/main" id="{23A14920-F91B-458C-92D2-FACB9F164BE9}"/>
                </a:ext>
              </a:extLst>
            </p:cNvPr>
            <p:cNvGrpSpPr>
              <a:grpSpLocks/>
            </p:cNvGrpSpPr>
            <p:nvPr/>
          </p:nvGrpSpPr>
          <p:grpSpPr bwMode="auto">
            <a:xfrm>
              <a:off x="3845" y="181"/>
              <a:ext cx="907" cy="752"/>
              <a:chOff x="0" y="0"/>
              <a:chExt cx="907" cy="752"/>
            </a:xfrm>
          </p:grpSpPr>
          <p:sp>
            <p:nvSpPr>
              <p:cNvPr id="60429" name="Rectangle 17">
                <a:extLst>
                  <a:ext uri="{FF2B5EF4-FFF2-40B4-BE49-F238E27FC236}">
                    <a16:creationId xmlns:a16="http://schemas.microsoft.com/office/drawing/2014/main" id="{9208795C-256C-4281-A39C-192DD3A1AE14}"/>
                  </a:ext>
                </a:extLst>
              </p:cNvPr>
              <p:cNvSpPr>
                <a:spLocks noChangeArrowheads="1"/>
              </p:cNvSpPr>
              <p:nvPr/>
            </p:nvSpPr>
            <p:spPr bwMode="auto">
              <a:xfrm>
                <a:off x="0" y="571"/>
                <a:ext cx="907" cy="181"/>
              </a:xfrm>
              <a:prstGeom prst="rect">
                <a:avLst/>
              </a:prstGeom>
              <a:solidFill>
                <a:srgbClr val="FFCC00"/>
              </a:solidFill>
              <a:ln w="6350">
                <a:solidFill>
                  <a:schemeClr val="tx1"/>
                </a:solidFill>
                <a:miter lim="800000"/>
                <a:headEnd/>
                <a:tailEnd/>
              </a:ln>
              <a:effectLst>
                <a:outerShdw dist="64758" dir="678596"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0430" name="Rectangle 18">
                <a:extLst>
                  <a:ext uri="{FF2B5EF4-FFF2-40B4-BE49-F238E27FC236}">
                    <a16:creationId xmlns:a16="http://schemas.microsoft.com/office/drawing/2014/main" id="{79B94238-1BEA-4681-8F44-31D844F0B155}"/>
                  </a:ext>
                </a:extLst>
              </p:cNvPr>
              <p:cNvSpPr>
                <a:spLocks noChangeArrowheads="1"/>
              </p:cNvSpPr>
              <p:nvPr/>
            </p:nvSpPr>
            <p:spPr bwMode="auto">
              <a:xfrm>
                <a:off x="109" y="383"/>
                <a:ext cx="680" cy="181"/>
              </a:xfrm>
              <a:prstGeom prst="rect">
                <a:avLst/>
              </a:prstGeom>
              <a:solidFill>
                <a:srgbClr val="FFCC00"/>
              </a:solidFill>
              <a:ln w="6350">
                <a:solidFill>
                  <a:schemeClr val="tx1"/>
                </a:solidFill>
                <a:miter lim="800000"/>
                <a:headEnd/>
                <a:tailEnd/>
              </a:ln>
              <a:effectLst>
                <a:outerShdw dist="64758" dir="678596"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0431" name="Rectangle 19">
                <a:extLst>
                  <a:ext uri="{FF2B5EF4-FFF2-40B4-BE49-F238E27FC236}">
                    <a16:creationId xmlns:a16="http://schemas.microsoft.com/office/drawing/2014/main" id="{694AB925-A54E-429E-8267-9FCE51BE502A}"/>
                  </a:ext>
                </a:extLst>
              </p:cNvPr>
              <p:cNvSpPr>
                <a:spLocks noChangeArrowheads="1"/>
              </p:cNvSpPr>
              <p:nvPr/>
            </p:nvSpPr>
            <p:spPr bwMode="auto">
              <a:xfrm>
                <a:off x="214" y="192"/>
                <a:ext cx="453" cy="181"/>
              </a:xfrm>
              <a:prstGeom prst="rect">
                <a:avLst/>
              </a:prstGeom>
              <a:solidFill>
                <a:srgbClr val="FFCC00"/>
              </a:solidFill>
              <a:ln w="6350">
                <a:solidFill>
                  <a:schemeClr val="tx1"/>
                </a:solidFill>
                <a:miter lim="800000"/>
                <a:headEnd/>
                <a:tailEnd/>
              </a:ln>
              <a:effectLst>
                <a:outerShdw dist="64758" dir="678596"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0432" name="Rectangle 20">
                <a:extLst>
                  <a:ext uri="{FF2B5EF4-FFF2-40B4-BE49-F238E27FC236}">
                    <a16:creationId xmlns:a16="http://schemas.microsoft.com/office/drawing/2014/main" id="{5BDC60AE-C884-4913-BF6F-882B3FBF6101}"/>
                  </a:ext>
                </a:extLst>
              </p:cNvPr>
              <p:cNvSpPr>
                <a:spLocks noChangeArrowheads="1"/>
              </p:cNvSpPr>
              <p:nvPr/>
            </p:nvSpPr>
            <p:spPr bwMode="auto">
              <a:xfrm>
                <a:off x="329" y="0"/>
                <a:ext cx="227" cy="181"/>
              </a:xfrm>
              <a:prstGeom prst="rect">
                <a:avLst/>
              </a:prstGeom>
              <a:solidFill>
                <a:srgbClr val="FFCC00"/>
              </a:solidFill>
              <a:ln w="6350">
                <a:solidFill>
                  <a:schemeClr val="tx1"/>
                </a:solidFill>
                <a:miter lim="800000"/>
                <a:headEnd/>
                <a:tailEnd/>
              </a:ln>
              <a:effectLst>
                <a:outerShdw dist="64758" dir="678596"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sp>
        <p:nvSpPr>
          <p:cNvPr id="23" name="Rectangle 23">
            <a:extLst>
              <a:ext uri="{FF2B5EF4-FFF2-40B4-BE49-F238E27FC236}">
                <a16:creationId xmlns:a16="http://schemas.microsoft.com/office/drawing/2014/main" id="{6056A300-1485-4D2F-899C-8AA10AC8EABA}"/>
              </a:ext>
            </a:extLst>
          </p:cNvPr>
          <p:cNvSpPr txBox="1">
            <a:spLocks noChangeArrowheads="1"/>
          </p:cNvSpPr>
          <p:nvPr/>
        </p:nvSpPr>
        <p:spPr>
          <a:xfrm>
            <a:off x="2320925" y="396082"/>
            <a:ext cx="582167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b="1">
                <a:latin typeface="宋体" panose="02010600030101010101" pitchFamily="2" charset="-122"/>
              </a:rPr>
              <a:t>递归调用</a:t>
            </a:r>
            <a:r>
              <a:rPr lang="en-US" altLang="zh-CN" b="1">
                <a:latin typeface="宋体" panose="02010600030101010101" pitchFamily="2" charset="-122"/>
              </a:rPr>
              <a:t>-</a:t>
            </a:r>
            <a:r>
              <a:rPr lang="zh-CN" altLang="en-US" b="1" i="1">
                <a:solidFill>
                  <a:srgbClr val="008000"/>
                </a:solidFill>
              </a:rPr>
              <a:t>汉诺塔</a:t>
            </a:r>
            <a:endParaRPr lang="zh-CN" altLang="en-US" b="1"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42" name="Group 2">
            <a:extLst>
              <a:ext uri="{FF2B5EF4-FFF2-40B4-BE49-F238E27FC236}">
                <a16:creationId xmlns:a16="http://schemas.microsoft.com/office/drawing/2014/main" id="{DEAF662D-797B-4089-97BC-1F77D81EAF40}"/>
              </a:ext>
            </a:extLst>
          </p:cNvPr>
          <p:cNvGrpSpPr>
            <a:grpSpLocks/>
          </p:cNvGrpSpPr>
          <p:nvPr/>
        </p:nvGrpSpPr>
        <p:grpSpPr bwMode="auto">
          <a:xfrm>
            <a:off x="2133600" y="2528889"/>
            <a:ext cx="7924800" cy="2501899"/>
            <a:chOff x="0" y="0"/>
            <a:chExt cx="4992" cy="1576"/>
          </a:xfrm>
        </p:grpSpPr>
        <p:grpSp>
          <p:nvGrpSpPr>
            <p:cNvPr id="61445" name="Group 3">
              <a:extLst>
                <a:ext uri="{FF2B5EF4-FFF2-40B4-BE49-F238E27FC236}">
                  <a16:creationId xmlns:a16="http://schemas.microsoft.com/office/drawing/2014/main" id="{DB7EC67B-DA1B-4B06-A212-ACCEC1B87828}"/>
                </a:ext>
              </a:extLst>
            </p:cNvPr>
            <p:cNvGrpSpPr>
              <a:grpSpLocks/>
            </p:cNvGrpSpPr>
            <p:nvPr/>
          </p:nvGrpSpPr>
          <p:grpSpPr bwMode="auto">
            <a:xfrm>
              <a:off x="0" y="0"/>
              <a:ext cx="1392" cy="1134"/>
              <a:chOff x="0" y="0"/>
              <a:chExt cx="1392" cy="1134"/>
            </a:xfrm>
          </p:grpSpPr>
          <p:sp>
            <p:nvSpPr>
              <p:cNvPr id="61461" name="Line 4">
                <a:extLst>
                  <a:ext uri="{FF2B5EF4-FFF2-40B4-BE49-F238E27FC236}">
                    <a16:creationId xmlns:a16="http://schemas.microsoft.com/office/drawing/2014/main" id="{D1E3F6DD-C036-45F1-BC23-ECA814AAA156}"/>
                  </a:ext>
                </a:extLst>
              </p:cNvPr>
              <p:cNvSpPr>
                <a:spLocks noChangeShapeType="1"/>
              </p:cNvSpPr>
              <p:nvPr/>
            </p:nvSpPr>
            <p:spPr bwMode="auto">
              <a:xfrm>
                <a:off x="0" y="1134"/>
                <a:ext cx="13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sp>
            <p:nvSpPr>
              <p:cNvPr id="61462" name="Line 5">
                <a:extLst>
                  <a:ext uri="{FF2B5EF4-FFF2-40B4-BE49-F238E27FC236}">
                    <a16:creationId xmlns:a16="http://schemas.microsoft.com/office/drawing/2014/main" id="{97FFEE0D-058D-41BA-B8DF-84094225F2B1}"/>
                  </a:ext>
                </a:extLst>
              </p:cNvPr>
              <p:cNvSpPr>
                <a:spLocks noChangeShapeType="1"/>
              </p:cNvSpPr>
              <p:nvPr/>
            </p:nvSpPr>
            <p:spPr bwMode="auto">
              <a:xfrm>
                <a:off x="694" y="0"/>
                <a:ext cx="0" cy="113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61446" name="Group 6">
              <a:extLst>
                <a:ext uri="{FF2B5EF4-FFF2-40B4-BE49-F238E27FC236}">
                  <a16:creationId xmlns:a16="http://schemas.microsoft.com/office/drawing/2014/main" id="{D1301EBA-9E67-4C11-97FA-D4E6D407C55C}"/>
                </a:ext>
              </a:extLst>
            </p:cNvPr>
            <p:cNvGrpSpPr>
              <a:grpSpLocks/>
            </p:cNvGrpSpPr>
            <p:nvPr/>
          </p:nvGrpSpPr>
          <p:grpSpPr bwMode="auto">
            <a:xfrm>
              <a:off x="1824" y="0"/>
              <a:ext cx="1392" cy="1134"/>
              <a:chOff x="0" y="0"/>
              <a:chExt cx="1392" cy="1134"/>
            </a:xfrm>
          </p:grpSpPr>
          <p:sp>
            <p:nvSpPr>
              <p:cNvPr id="61459" name="Line 7">
                <a:extLst>
                  <a:ext uri="{FF2B5EF4-FFF2-40B4-BE49-F238E27FC236}">
                    <a16:creationId xmlns:a16="http://schemas.microsoft.com/office/drawing/2014/main" id="{E7B9267F-FA13-4227-B05C-7E8D599EEDCD}"/>
                  </a:ext>
                </a:extLst>
              </p:cNvPr>
              <p:cNvSpPr>
                <a:spLocks noChangeShapeType="1"/>
              </p:cNvSpPr>
              <p:nvPr/>
            </p:nvSpPr>
            <p:spPr bwMode="auto">
              <a:xfrm>
                <a:off x="0" y="1134"/>
                <a:ext cx="13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sp>
            <p:nvSpPr>
              <p:cNvPr id="61460" name="Line 8">
                <a:extLst>
                  <a:ext uri="{FF2B5EF4-FFF2-40B4-BE49-F238E27FC236}">
                    <a16:creationId xmlns:a16="http://schemas.microsoft.com/office/drawing/2014/main" id="{9DCCD593-8FA9-459A-9BDE-7C253F1385E4}"/>
                  </a:ext>
                </a:extLst>
              </p:cNvPr>
              <p:cNvSpPr>
                <a:spLocks noChangeShapeType="1"/>
              </p:cNvSpPr>
              <p:nvPr/>
            </p:nvSpPr>
            <p:spPr bwMode="auto">
              <a:xfrm>
                <a:off x="694" y="0"/>
                <a:ext cx="0" cy="113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61447" name="Group 9">
              <a:extLst>
                <a:ext uri="{FF2B5EF4-FFF2-40B4-BE49-F238E27FC236}">
                  <a16:creationId xmlns:a16="http://schemas.microsoft.com/office/drawing/2014/main" id="{DAAF24F5-3639-49D2-889B-032196F8CB4C}"/>
                </a:ext>
              </a:extLst>
            </p:cNvPr>
            <p:cNvGrpSpPr>
              <a:grpSpLocks/>
            </p:cNvGrpSpPr>
            <p:nvPr/>
          </p:nvGrpSpPr>
          <p:grpSpPr bwMode="auto">
            <a:xfrm>
              <a:off x="3600" y="0"/>
              <a:ext cx="1392" cy="1134"/>
              <a:chOff x="0" y="0"/>
              <a:chExt cx="1392" cy="1134"/>
            </a:xfrm>
          </p:grpSpPr>
          <p:sp>
            <p:nvSpPr>
              <p:cNvPr id="61457" name="Line 10">
                <a:extLst>
                  <a:ext uri="{FF2B5EF4-FFF2-40B4-BE49-F238E27FC236}">
                    <a16:creationId xmlns:a16="http://schemas.microsoft.com/office/drawing/2014/main" id="{945F3CF3-85C2-4658-9F8B-3CCA0B43DCD5}"/>
                  </a:ext>
                </a:extLst>
              </p:cNvPr>
              <p:cNvSpPr>
                <a:spLocks noChangeShapeType="1"/>
              </p:cNvSpPr>
              <p:nvPr/>
            </p:nvSpPr>
            <p:spPr bwMode="auto">
              <a:xfrm>
                <a:off x="0" y="1134"/>
                <a:ext cx="139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sp>
            <p:nvSpPr>
              <p:cNvPr id="61458" name="Line 11">
                <a:extLst>
                  <a:ext uri="{FF2B5EF4-FFF2-40B4-BE49-F238E27FC236}">
                    <a16:creationId xmlns:a16="http://schemas.microsoft.com/office/drawing/2014/main" id="{C9BCFA8C-B3AF-4363-876E-15BBFCBF8AF5}"/>
                  </a:ext>
                </a:extLst>
              </p:cNvPr>
              <p:cNvSpPr>
                <a:spLocks noChangeShapeType="1"/>
              </p:cNvSpPr>
              <p:nvPr/>
            </p:nvSpPr>
            <p:spPr bwMode="auto">
              <a:xfrm>
                <a:off x="694" y="0"/>
                <a:ext cx="0" cy="113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lstStyle/>
              <a:p>
                <a:endParaRPr lang="zh-CN" altLang="en-US"/>
              </a:p>
            </p:txBody>
          </p:sp>
        </p:grpSp>
        <p:sp>
          <p:nvSpPr>
            <p:cNvPr id="61448" name="Text Box 12">
              <a:extLst>
                <a:ext uri="{FF2B5EF4-FFF2-40B4-BE49-F238E27FC236}">
                  <a16:creationId xmlns:a16="http://schemas.microsoft.com/office/drawing/2014/main" id="{1673D50C-5FDF-4221-9613-09028A34ECBB}"/>
                </a:ext>
              </a:extLst>
            </p:cNvPr>
            <p:cNvSpPr txBox="1">
              <a:spLocks noChangeArrowheads="1"/>
            </p:cNvSpPr>
            <p:nvPr/>
          </p:nvSpPr>
          <p:spPr bwMode="auto">
            <a:xfrm>
              <a:off x="576" y="1342"/>
              <a:ext cx="220"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A</a:t>
              </a:r>
            </a:p>
          </p:txBody>
        </p:sp>
        <p:sp>
          <p:nvSpPr>
            <p:cNvPr id="61449" name="Text Box 13">
              <a:extLst>
                <a:ext uri="{FF2B5EF4-FFF2-40B4-BE49-F238E27FC236}">
                  <a16:creationId xmlns:a16="http://schemas.microsoft.com/office/drawing/2014/main" id="{D5EFE7BE-CF65-4C29-BDF3-2781DED6B454}"/>
                </a:ext>
              </a:extLst>
            </p:cNvPr>
            <p:cNvSpPr txBox="1">
              <a:spLocks noChangeArrowheads="1"/>
            </p:cNvSpPr>
            <p:nvPr/>
          </p:nvSpPr>
          <p:spPr bwMode="auto">
            <a:xfrm>
              <a:off x="2378" y="1342"/>
              <a:ext cx="211"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B</a:t>
              </a:r>
            </a:p>
          </p:txBody>
        </p:sp>
        <p:sp>
          <p:nvSpPr>
            <p:cNvPr id="61450" name="Text Box 14">
              <a:extLst>
                <a:ext uri="{FF2B5EF4-FFF2-40B4-BE49-F238E27FC236}">
                  <a16:creationId xmlns:a16="http://schemas.microsoft.com/office/drawing/2014/main" id="{A8C28029-3B86-4BD2-AD4F-3C08103D30CC}"/>
                </a:ext>
              </a:extLst>
            </p:cNvPr>
            <p:cNvSpPr txBox="1">
              <a:spLocks noChangeArrowheads="1"/>
            </p:cNvSpPr>
            <p:nvPr/>
          </p:nvSpPr>
          <p:spPr bwMode="auto">
            <a:xfrm>
              <a:off x="4198" y="1342"/>
              <a:ext cx="220"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000" tIns="46800" rIns="90000" bIns="46800" anchor="ctr">
              <a:spAutoFit/>
            </a:bodyP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C</a:t>
              </a:r>
            </a:p>
          </p:txBody>
        </p:sp>
        <p:sp>
          <p:nvSpPr>
            <p:cNvPr id="61451" name="Rectangle 15">
              <a:extLst>
                <a:ext uri="{FF2B5EF4-FFF2-40B4-BE49-F238E27FC236}">
                  <a16:creationId xmlns:a16="http://schemas.microsoft.com/office/drawing/2014/main" id="{9D613B7D-85AF-4651-983C-E177328ECFE4}"/>
                </a:ext>
              </a:extLst>
            </p:cNvPr>
            <p:cNvSpPr>
              <a:spLocks noChangeArrowheads="1"/>
            </p:cNvSpPr>
            <p:nvPr/>
          </p:nvSpPr>
          <p:spPr bwMode="auto">
            <a:xfrm>
              <a:off x="3744" y="942"/>
              <a:ext cx="1134" cy="181"/>
            </a:xfrm>
            <a:prstGeom prst="rect">
              <a:avLst/>
            </a:prstGeom>
            <a:solidFill>
              <a:srgbClr val="FFFF00"/>
            </a:solidFill>
            <a:ln w="6350">
              <a:solidFill>
                <a:schemeClr val="tx1"/>
              </a:solidFill>
              <a:miter lim="800000"/>
              <a:headEnd/>
              <a:tailEnd/>
            </a:ln>
            <a:effectLst>
              <a:outerShdw dist="64758" dir="20921404"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61452" name="Group 16">
              <a:extLst>
                <a:ext uri="{FF2B5EF4-FFF2-40B4-BE49-F238E27FC236}">
                  <a16:creationId xmlns:a16="http://schemas.microsoft.com/office/drawing/2014/main" id="{006DEF77-F47F-4510-8D7B-80718B3572B7}"/>
                </a:ext>
              </a:extLst>
            </p:cNvPr>
            <p:cNvGrpSpPr>
              <a:grpSpLocks/>
            </p:cNvGrpSpPr>
            <p:nvPr/>
          </p:nvGrpSpPr>
          <p:grpSpPr bwMode="auto">
            <a:xfrm>
              <a:off x="3845" y="181"/>
              <a:ext cx="907" cy="752"/>
              <a:chOff x="0" y="0"/>
              <a:chExt cx="907" cy="752"/>
            </a:xfrm>
          </p:grpSpPr>
          <p:sp>
            <p:nvSpPr>
              <p:cNvPr id="61453" name="Rectangle 17">
                <a:extLst>
                  <a:ext uri="{FF2B5EF4-FFF2-40B4-BE49-F238E27FC236}">
                    <a16:creationId xmlns:a16="http://schemas.microsoft.com/office/drawing/2014/main" id="{93BA87D6-A25A-47BD-8C01-1E913D362B88}"/>
                  </a:ext>
                </a:extLst>
              </p:cNvPr>
              <p:cNvSpPr>
                <a:spLocks noChangeArrowheads="1"/>
              </p:cNvSpPr>
              <p:nvPr/>
            </p:nvSpPr>
            <p:spPr bwMode="auto">
              <a:xfrm>
                <a:off x="0" y="571"/>
                <a:ext cx="907" cy="181"/>
              </a:xfrm>
              <a:prstGeom prst="rect">
                <a:avLst/>
              </a:prstGeom>
              <a:solidFill>
                <a:srgbClr val="FFFF00"/>
              </a:solidFill>
              <a:ln w="6350">
                <a:solidFill>
                  <a:schemeClr val="tx1"/>
                </a:solidFill>
                <a:miter lim="800000"/>
                <a:headEnd/>
                <a:tailEnd/>
              </a:ln>
              <a:effectLst>
                <a:outerShdw dist="64758" dir="678596"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1454" name="Rectangle 18">
                <a:extLst>
                  <a:ext uri="{FF2B5EF4-FFF2-40B4-BE49-F238E27FC236}">
                    <a16:creationId xmlns:a16="http://schemas.microsoft.com/office/drawing/2014/main" id="{B82062F1-8D21-438D-8909-3C0D5711BC0B}"/>
                  </a:ext>
                </a:extLst>
              </p:cNvPr>
              <p:cNvSpPr>
                <a:spLocks noChangeArrowheads="1"/>
              </p:cNvSpPr>
              <p:nvPr/>
            </p:nvSpPr>
            <p:spPr bwMode="auto">
              <a:xfrm>
                <a:off x="109" y="383"/>
                <a:ext cx="680" cy="181"/>
              </a:xfrm>
              <a:prstGeom prst="rect">
                <a:avLst/>
              </a:prstGeom>
              <a:solidFill>
                <a:srgbClr val="FFFF00"/>
              </a:solidFill>
              <a:ln w="6350">
                <a:solidFill>
                  <a:schemeClr val="tx1"/>
                </a:solidFill>
                <a:miter lim="800000"/>
                <a:headEnd/>
                <a:tailEnd/>
              </a:ln>
              <a:effectLst>
                <a:outerShdw dist="64758" dir="678596"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1455" name="Rectangle 19">
                <a:extLst>
                  <a:ext uri="{FF2B5EF4-FFF2-40B4-BE49-F238E27FC236}">
                    <a16:creationId xmlns:a16="http://schemas.microsoft.com/office/drawing/2014/main" id="{92467039-02A1-4DC0-9F7B-7A5D25ED720A}"/>
                  </a:ext>
                </a:extLst>
              </p:cNvPr>
              <p:cNvSpPr>
                <a:spLocks noChangeArrowheads="1"/>
              </p:cNvSpPr>
              <p:nvPr/>
            </p:nvSpPr>
            <p:spPr bwMode="auto">
              <a:xfrm>
                <a:off x="214" y="192"/>
                <a:ext cx="453" cy="181"/>
              </a:xfrm>
              <a:prstGeom prst="rect">
                <a:avLst/>
              </a:prstGeom>
              <a:solidFill>
                <a:srgbClr val="FFFF00"/>
              </a:solidFill>
              <a:ln w="6350">
                <a:solidFill>
                  <a:schemeClr val="tx1"/>
                </a:solidFill>
                <a:miter lim="800000"/>
                <a:headEnd/>
                <a:tailEnd/>
              </a:ln>
              <a:effectLst>
                <a:outerShdw dist="64758" dir="678596"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1456" name="Rectangle 20">
                <a:extLst>
                  <a:ext uri="{FF2B5EF4-FFF2-40B4-BE49-F238E27FC236}">
                    <a16:creationId xmlns:a16="http://schemas.microsoft.com/office/drawing/2014/main" id="{AC3935E3-F881-402B-80E7-6AC2F28D5ECC}"/>
                  </a:ext>
                </a:extLst>
              </p:cNvPr>
              <p:cNvSpPr>
                <a:spLocks noChangeArrowheads="1"/>
              </p:cNvSpPr>
              <p:nvPr/>
            </p:nvSpPr>
            <p:spPr bwMode="auto">
              <a:xfrm>
                <a:off x="329" y="0"/>
                <a:ext cx="227" cy="181"/>
              </a:xfrm>
              <a:prstGeom prst="rect">
                <a:avLst/>
              </a:prstGeom>
              <a:solidFill>
                <a:srgbClr val="FFFF00"/>
              </a:solidFill>
              <a:ln w="6350">
                <a:solidFill>
                  <a:schemeClr val="tx1"/>
                </a:solidFill>
                <a:miter lim="800000"/>
                <a:headEnd/>
                <a:tailEnd/>
              </a:ln>
              <a:effectLst>
                <a:outerShdw dist="64758" dir="678596" algn="ctr" rotWithShape="0">
                  <a:schemeClr val="bg2"/>
                </a:outerShdw>
              </a:effectLst>
            </p:spPr>
            <p:txBody>
              <a:bodyPr wrap="none" lIns="90000" tIns="46800" rIns="90000" bIns="46800" anchor="ctr"/>
              <a:lstStyle>
                <a:lvl1pPr eaLnBrk="0" hangingPunct="0">
                  <a:defRPr b="1">
                    <a:solidFill>
                      <a:schemeClr val="tx1"/>
                    </a:solidFill>
                    <a:latin typeface="Times New Roman" panose="02020603050405020304" pitchFamily="18" charset="0"/>
                    <a:ea typeface="宋体" panose="02010600030101010101" pitchFamily="2" charset="-122"/>
                  </a:defRPr>
                </a:lvl1pPr>
                <a:lvl2pPr marL="742950" indent="-285750" eaLnBrk="0" hangingPunct="0">
                  <a:defRPr b="1">
                    <a:solidFill>
                      <a:schemeClr val="tx1"/>
                    </a:solidFill>
                    <a:latin typeface="Times New Roman" panose="02020603050405020304" pitchFamily="18" charset="0"/>
                    <a:ea typeface="宋体" panose="02010600030101010101" pitchFamily="2" charset="-122"/>
                  </a:defRPr>
                </a:lvl2pPr>
                <a:lvl3pPr marL="1143000" indent="-228600" eaLnBrk="0" hangingPunct="0">
                  <a:defRPr b="1">
                    <a:solidFill>
                      <a:schemeClr val="tx1"/>
                    </a:solidFill>
                    <a:latin typeface="Times New Roman" panose="02020603050405020304" pitchFamily="18" charset="0"/>
                    <a:ea typeface="宋体" panose="02010600030101010101" pitchFamily="2" charset="-122"/>
                  </a:defRPr>
                </a:lvl3pPr>
                <a:lvl4pPr marL="1600200" indent="-228600" eaLnBrk="0" hangingPunct="0">
                  <a:defRPr b="1">
                    <a:solidFill>
                      <a:schemeClr val="tx1"/>
                    </a:solidFill>
                    <a:latin typeface="Times New Roman" panose="02020603050405020304" pitchFamily="18" charset="0"/>
                    <a:ea typeface="宋体" panose="02010600030101010101" pitchFamily="2" charset="-122"/>
                  </a:defRPr>
                </a:lvl4pPr>
                <a:lvl5pPr marL="2057400" indent="-228600" eaLnBrk="0" hangingPunct="0">
                  <a:defRPr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sp>
        <p:nvSpPr>
          <p:cNvPr id="23" name="Rectangle 23">
            <a:extLst>
              <a:ext uri="{FF2B5EF4-FFF2-40B4-BE49-F238E27FC236}">
                <a16:creationId xmlns:a16="http://schemas.microsoft.com/office/drawing/2014/main" id="{E92606D0-8064-437E-9BCD-AD10E61A1F21}"/>
              </a:ext>
            </a:extLst>
          </p:cNvPr>
          <p:cNvSpPr txBox="1">
            <a:spLocks noChangeArrowheads="1"/>
          </p:cNvSpPr>
          <p:nvPr/>
        </p:nvSpPr>
        <p:spPr>
          <a:xfrm>
            <a:off x="2320925" y="396082"/>
            <a:ext cx="582167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b="1">
                <a:latin typeface="宋体" panose="02010600030101010101" pitchFamily="2" charset="-122"/>
              </a:rPr>
              <a:t>递归调用</a:t>
            </a:r>
            <a:r>
              <a:rPr lang="en-US" altLang="zh-CN" b="1">
                <a:latin typeface="宋体" panose="02010600030101010101" pitchFamily="2" charset="-122"/>
              </a:rPr>
              <a:t>-</a:t>
            </a:r>
            <a:r>
              <a:rPr lang="zh-CN" altLang="en-US" b="1" i="1">
                <a:solidFill>
                  <a:srgbClr val="008000"/>
                </a:solidFill>
              </a:rPr>
              <a:t>汉诺塔</a:t>
            </a:r>
            <a:endParaRPr lang="zh-CN" altLang="en-US" b="1"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手工编译环境准备</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4" name="内容占位符 3"/>
          <p:cNvSpPr>
            <a:spLocks noGrp="1"/>
          </p:cNvSpPr>
          <p:nvPr/>
        </p:nvSpPr>
        <p:spPr>
          <a:xfrm>
            <a:off x="838199" y="1815465"/>
            <a:ext cx="6701971" cy="4351655"/>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Clr>
                <a:srgbClr val="C00000"/>
              </a:buClr>
              <a:buSzPct val="120000"/>
              <a:buFont typeface="Arial" panose="020B0604020202020204" pitchFamily="34" charset="0"/>
              <a:buChar char="•"/>
              <a:defRPr sz="2800" kern="1200">
                <a:solidFill>
                  <a:schemeClr val="tx1"/>
                </a:solidFill>
                <a:latin typeface="FandolSong" panose="00000500000000000000" charset="-122"/>
                <a:ea typeface="FandolSong" panose="00000500000000000000" charset="-122"/>
                <a:cs typeface="+mn-cs"/>
              </a:defRPr>
            </a:lvl1pPr>
            <a:lvl2pPr marL="685800" indent="-228600" algn="just" defTabSz="914400" rtl="0" eaLnBrk="1" latinLnBrk="0" hangingPunct="1">
              <a:lnSpc>
                <a:spcPct val="70000"/>
              </a:lnSpc>
              <a:spcBef>
                <a:spcPts val="600"/>
              </a:spcBef>
              <a:buClr>
                <a:srgbClr val="C00000"/>
              </a:buClr>
              <a:buSzPct val="120000"/>
              <a:buFont typeface="Arial" panose="020B0604020202020204" pitchFamily="34" charset="0"/>
              <a:buChar char="•"/>
              <a:defRPr sz="2400" kern="1200">
                <a:solidFill>
                  <a:schemeClr val="tx1"/>
                </a:solidFill>
                <a:latin typeface="FandolSong" panose="00000500000000000000" charset="-122"/>
                <a:ea typeface="FandolSong" panose="00000500000000000000" charset="-122"/>
                <a:cs typeface="+mn-cs"/>
              </a:defRPr>
            </a:lvl2pPr>
            <a:lvl3pPr marL="11430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2000" kern="1200">
                <a:solidFill>
                  <a:schemeClr val="tx1"/>
                </a:solidFill>
                <a:latin typeface="FandolSong" panose="00000500000000000000" charset="-122"/>
                <a:ea typeface="FandolSong" panose="00000500000000000000" charset="-122"/>
                <a:cs typeface="+mn-cs"/>
              </a:defRPr>
            </a:lvl3pPr>
            <a:lvl4pPr marL="16002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1800" kern="1200">
                <a:solidFill>
                  <a:schemeClr val="tx1"/>
                </a:solidFill>
                <a:latin typeface="FandolSong" panose="00000500000000000000" charset="-122"/>
                <a:ea typeface="FandolSong" panose="00000500000000000000" charset="-122"/>
                <a:cs typeface="+mn-cs"/>
              </a:defRPr>
            </a:lvl4pPr>
            <a:lvl5pPr marL="20574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1800" kern="1200">
                <a:solidFill>
                  <a:schemeClr val="tx1"/>
                </a:solidFill>
                <a:latin typeface="FandolSong" panose="00000500000000000000" charset="-122"/>
                <a:ea typeface="FandolSong" panose="00000500000000000000"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zh-CN" altLang="en-US" dirty="0"/>
              <a:t>设置环境变量</a:t>
            </a:r>
            <a:endParaRPr lang="en-US" altLang="zh-CN" dirty="0"/>
          </a:p>
          <a:p>
            <a:pPr lvl="1">
              <a:lnSpc>
                <a:spcPct val="120000"/>
              </a:lnSpc>
            </a:pPr>
            <a:r>
              <a:rPr lang="zh-CN" altLang="en-US" dirty="0"/>
              <a:t>在</a:t>
            </a:r>
            <a:r>
              <a:rPr lang="en-US" altLang="zh-CN" dirty="0"/>
              <a:t>window 10</a:t>
            </a:r>
            <a:r>
              <a:rPr lang="zh-CN" altLang="en-US" dirty="0"/>
              <a:t>左下角输入“编辑系统环境变量”</a:t>
            </a:r>
            <a:endParaRPr lang="en-US" altLang="zh-CN" dirty="0"/>
          </a:p>
          <a:p>
            <a:pPr lvl="1">
              <a:lnSpc>
                <a:spcPct val="120000"/>
              </a:lnSpc>
            </a:pPr>
            <a:r>
              <a:rPr lang="zh-CN" altLang="en-US" dirty="0"/>
              <a:t>点击“环境变量</a:t>
            </a:r>
            <a:r>
              <a:rPr lang="en-US" altLang="zh-CN" dirty="0"/>
              <a:t>(N)…</a:t>
            </a:r>
            <a:r>
              <a:rPr lang="zh-CN" altLang="en-US" dirty="0"/>
              <a:t>”按钮</a:t>
            </a:r>
            <a:endParaRPr lang="en-US" altLang="zh-CN" dirty="0"/>
          </a:p>
          <a:p>
            <a:pPr lvl="1">
              <a:lnSpc>
                <a:spcPct val="120000"/>
              </a:lnSpc>
            </a:pPr>
            <a:r>
              <a:rPr lang="zh-CN" altLang="en-US" dirty="0"/>
              <a:t>选择 </a:t>
            </a:r>
            <a:r>
              <a:rPr lang="en-US" altLang="zh-CN" dirty="0"/>
              <a:t>path </a:t>
            </a:r>
            <a:r>
              <a:rPr lang="zh-CN" altLang="en-US" dirty="0"/>
              <a:t>属性，点击“编辑</a:t>
            </a:r>
            <a:r>
              <a:rPr lang="en-US" altLang="zh-CN" dirty="0"/>
              <a:t>(E)…</a:t>
            </a:r>
            <a:r>
              <a:rPr lang="zh-CN" altLang="en-US" dirty="0"/>
              <a:t>”按钮</a:t>
            </a:r>
            <a:endParaRPr lang="en-US" altLang="zh-CN" dirty="0"/>
          </a:p>
          <a:p>
            <a:pPr lvl="1">
              <a:lnSpc>
                <a:spcPct val="120000"/>
              </a:lnSpc>
            </a:pPr>
            <a:r>
              <a:rPr lang="zh-CN" altLang="en-US" dirty="0"/>
              <a:t>将</a:t>
            </a:r>
            <a:r>
              <a:rPr lang="en-US" altLang="zh-CN" dirty="0"/>
              <a:t>”C:\Program Files (x86)\Dev-</a:t>
            </a:r>
            <a:r>
              <a:rPr lang="en-US" altLang="zh-CN" dirty="0" err="1"/>
              <a:t>Cpp</a:t>
            </a:r>
            <a:r>
              <a:rPr lang="en-US" altLang="zh-CN" dirty="0"/>
              <a:t>\MinGW64\bin”</a:t>
            </a:r>
            <a:r>
              <a:rPr lang="zh-CN" altLang="en-US" dirty="0"/>
              <a:t>添加入 </a:t>
            </a:r>
            <a:r>
              <a:rPr lang="en-US" altLang="zh-CN" dirty="0"/>
              <a:t>path</a:t>
            </a:r>
          </a:p>
          <a:p>
            <a:pPr lvl="1">
              <a:lnSpc>
                <a:spcPct val="120000"/>
              </a:lnSpc>
            </a:pPr>
            <a:r>
              <a:rPr lang="zh-CN" altLang="en-US" dirty="0"/>
              <a:t>点击按钮“确定”</a:t>
            </a:r>
            <a:endParaRPr lang="en-US" altLang="zh-CN" dirty="0"/>
          </a:p>
          <a:p>
            <a:pPr>
              <a:lnSpc>
                <a:spcPct val="120000"/>
              </a:lnSpc>
            </a:pPr>
            <a:r>
              <a:rPr lang="zh-CN" altLang="en-US" dirty="0"/>
              <a:t>检查确认环境</a:t>
            </a:r>
            <a:endParaRPr lang="en-US" altLang="zh-CN" dirty="0">
              <a:solidFill>
                <a:schemeClr val="tx1"/>
              </a:solidFill>
            </a:endParaRPr>
          </a:p>
          <a:p>
            <a:pPr lvl="1">
              <a:lnSpc>
                <a:spcPct val="120000"/>
              </a:lnSpc>
            </a:pPr>
            <a:r>
              <a:rPr lang="zh-CN" altLang="en-US" dirty="0"/>
              <a:t>使用文件浏览器，打开一个包含</a:t>
            </a:r>
            <a:r>
              <a:rPr lang="en-US" altLang="zh-CN" dirty="0"/>
              <a:t>c</a:t>
            </a:r>
            <a:r>
              <a:rPr lang="zh-CN" altLang="en-US" dirty="0"/>
              <a:t>程序的目录</a:t>
            </a:r>
            <a:endParaRPr lang="en-US" altLang="zh-CN" dirty="0"/>
          </a:p>
          <a:p>
            <a:pPr lvl="1">
              <a:lnSpc>
                <a:spcPct val="120000"/>
              </a:lnSpc>
            </a:pPr>
            <a:r>
              <a:rPr lang="zh-CN" altLang="en-US" dirty="0">
                <a:solidFill>
                  <a:schemeClr val="tx1"/>
                </a:solidFill>
              </a:rPr>
              <a:t>在</a:t>
            </a:r>
            <a:r>
              <a:rPr lang="zh-CN" altLang="en-US" dirty="0"/>
              <a:t>文件浏览器</a:t>
            </a:r>
            <a:r>
              <a:rPr lang="zh-CN" altLang="en-US" dirty="0">
                <a:solidFill>
                  <a:schemeClr val="tx1"/>
                </a:solidFill>
              </a:rPr>
              <a:t>路径区输入“</a:t>
            </a:r>
            <a:r>
              <a:rPr lang="en-US" altLang="zh-CN" dirty="0" err="1">
                <a:solidFill>
                  <a:schemeClr val="tx1"/>
                </a:solidFill>
              </a:rPr>
              <a:t>powershell</a:t>
            </a:r>
            <a:r>
              <a:rPr lang="zh-CN" altLang="en-US" dirty="0">
                <a:solidFill>
                  <a:schemeClr val="tx1"/>
                </a:solidFill>
              </a:rPr>
              <a:t>”</a:t>
            </a:r>
            <a:r>
              <a:rPr lang="zh-CN" altLang="en-US" dirty="0"/>
              <a:t>或 “</a:t>
            </a:r>
            <a:r>
              <a:rPr lang="en-US" altLang="zh-CN" dirty="0" err="1"/>
              <a:t>cmd</a:t>
            </a:r>
            <a:r>
              <a:rPr lang="zh-CN" altLang="en-US" dirty="0"/>
              <a:t>”</a:t>
            </a:r>
            <a:endParaRPr lang="en-US" altLang="zh-CN" dirty="0"/>
          </a:p>
          <a:p>
            <a:pPr lvl="1">
              <a:lnSpc>
                <a:spcPct val="120000"/>
              </a:lnSpc>
            </a:pPr>
            <a:r>
              <a:rPr lang="zh-CN" altLang="en-US" dirty="0"/>
              <a:t>在命令行程序中输入 </a:t>
            </a:r>
            <a:r>
              <a:rPr lang="en-US" altLang="zh-CN" dirty="0"/>
              <a:t>“</a:t>
            </a:r>
            <a:r>
              <a:rPr lang="en-US" altLang="zh-CN" dirty="0" err="1"/>
              <a:t>gcc</a:t>
            </a:r>
            <a:r>
              <a:rPr lang="en-US" altLang="zh-CN" dirty="0"/>
              <a:t> --version”</a:t>
            </a:r>
            <a:endParaRPr lang="en-US" altLang="zh-CN" dirty="0">
              <a:solidFill>
                <a:schemeClr val="tx1"/>
              </a:solidFill>
            </a:endParaRPr>
          </a:p>
          <a:p>
            <a:pPr marL="457200" lvl="1" indent="0">
              <a:buNone/>
            </a:pPr>
            <a:endParaRPr lang="zh-CN" altLang="en-US" dirty="0">
              <a:solidFill>
                <a:schemeClr val="tx1"/>
              </a:solidFill>
            </a:endParaRPr>
          </a:p>
        </p:txBody>
      </p:sp>
      <p:pic>
        <p:nvPicPr>
          <p:cNvPr id="3" name="图片 2">
            <a:extLst>
              <a:ext uri="{FF2B5EF4-FFF2-40B4-BE49-F238E27FC236}">
                <a16:creationId xmlns:a16="http://schemas.microsoft.com/office/drawing/2014/main" id="{D542C71E-F6F9-4A1B-9FC4-A712EBC652D2}"/>
              </a:ext>
            </a:extLst>
          </p:cNvPr>
          <p:cNvPicPr>
            <a:picLocks noChangeAspect="1"/>
          </p:cNvPicPr>
          <p:nvPr/>
        </p:nvPicPr>
        <p:blipFill>
          <a:blip r:embed="rId4"/>
          <a:stretch>
            <a:fillRect/>
          </a:stretch>
        </p:blipFill>
        <p:spPr>
          <a:xfrm>
            <a:off x="7801428" y="2495073"/>
            <a:ext cx="4130457" cy="2992438"/>
          </a:xfrm>
          <a:prstGeom prst="rect">
            <a:avLst/>
          </a:prstGeom>
        </p:spPr>
      </p:pic>
    </p:spTree>
    <p:extLst>
      <p:ext uri="{BB962C8B-B14F-4D97-AF65-F5344CB8AC3E}">
        <p14:creationId xmlns:p14="http://schemas.microsoft.com/office/powerpoint/2010/main" val="97391235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right)">
                                      <p:cBhvr>
                                        <p:cTn id="7" dur="500"/>
                                        <p:tgtEl>
                                          <p:spTgt spid="34"/>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barn(inVertical)">
                                      <p:cBhvr>
                                        <p:cTn id="11"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编译过程</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4" name="内容占位符 3"/>
          <p:cNvSpPr>
            <a:spLocks noGrp="1"/>
          </p:cNvSpPr>
          <p:nvPr/>
        </p:nvSpPr>
        <p:spPr>
          <a:xfrm>
            <a:off x="838200" y="1815465"/>
            <a:ext cx="10236200" cy="4351655"/>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Clr>
                <a:srgbClr val="C00000"/>
              </a:buClr>
              <a:buSzPct val="120000"/>
              <a:buFont typeface="Arial" panose="020B0604020202020204" pitchFamily="34" charset="0"/>
              <a:buChar char="•"/>
              <a:defRPr sz="2800" kern="1200">
                <a:solidFill>
                  <a:schemeClr val="tx1"/>
                </a:solidFill>
                <a:latin typeface="FandolSong" panose="00000500000000000000" charset="-122"/>
                <a:ea typeface="FandolSong" panose="00000500000000000000" charset="-122"/>
                <a:cs typeface="+mn-cs"/>
              </a:defRPr>
            </a:lvl1pPr>
            <a:lvl2pPr marL="685800" indent="-228600" algn="just" defTabSz="914400" rtl="0" eaLnBrk="1" latinLnBrk="0" hangingPunct="1">
              <a:lnSpc>
                <a:spcPct val="70000"/>
              </a:lnSpc>
              <a:spcBef>
                <a:spcPts val="600"/>
              </a:spcBef>
              <a:buClr>
                <a:srgbClr val="C00000"/>
              </a:buClr>
              <a:buSzPct val="120000"/>
              <a:buFont typeface="Arial" panose="020B0604020202020204" pitchFamily="34" charset="0"/>
              <a:buChar char="•"/>
              <a:defRPr sz="2400" kern="1200">
                <a:solidFill>
                  <a:schemeClr val="tx1"/>
                </a:solidFill>
                <a:latin typeface="FandolSong" panose="00000500000000000000" charset="-122"/>
                <a:ea typeface="FandolSong" panose="00000500000000000000" charset="-122"/>
                <a:cs typeface="+mn-cs"/>
              </a:defRPr>
            </a:lvl2pPr>
            <a:lvl3pPr marL="11430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2000" kern="1200">
                <a:solidFill>
                  <a:schemeClr val="tx1"/>
                </a:solidFill>
                <a:latin typeface="FandolSong" panose="00000500000000000000" charset="-122"/>
                <a:ea typeface="FandolSong" panose="00000500000000000000" charset="-122"/>
                <a:cs typeface="+mn-cs"/>
              </a:defRPr>
            </a:lvl3pPr>
            <a:lvl4pPr marL="16002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1800" kern="1200">
                <a:solidFill>
                  <a:schemeClr val="tx1"/>
                </a:solidFill>
                <a:latin typeface="FandolSong" panose="00000500000000000000" charset="-122"/>
                <a:ea typeface="FandolSong" panose="00000500000000000000" charset="-122"/>
                <a:cs typeface="+mn-cs"/>
              </a:defRPr>
            </a:lvl4pPr>
            <a:lvl5pPr marL="20574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1800" kern="1200">
                <a:solidFill>
                  <a:schemeClr val="tx1"/>
                </a:solidFill>
                <a:latin typeface="FandolSong" panose="00000500000000000000" charset="-122"/>
                <a:ea typeface="FandolSong" panose="00000500000000000000"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zh-CN" altLang="en-US" dirty="0"/>
              <a:t>预处理阶段</a:t>
            </a:r>
            <a:endParaRPr lang="en-US" altLang="zh-CN" dirty="0"/>
          </a:p>
          <a:p>
            <a:pPr lvl="1">
              <a:lnSpc>
                <a:spcPct val="100000"/>
              </a:lnSpc>
            </a:pPr>
            <a:r>
              <a:rPr lang="zh-CN" altLang="en-US" dirty="0"/>
              <a:t>处理一个 </a:t>
            </a:r>
            <a:r>
              <a:rPr lang="en-US" altLang="zh-CN" dirty="0"/>
              <a:t>c </a:t>
            </a:r>
            <a:r>
              <a:rPr lang="zh-CN" altLang="en-US" dirty="0"/>
              <a:t>文件分为</a:t>
            </a:r>
            <a:r>
              <a:rPr lang="en-US" altLang="zh-CN" dirty="0"/>
              <a:t>6</a:t>
            </a:r>
            <a:r>
              <a:rPr lang="zh-CN" altLang="en-US" dirty="0"/>
              <a:t>个小步骤：</a:t>
            </a:r>
            <a:endParaRPr lang="en-US" altLang="zh-CN" dirty="0"/>
          </a:p>
          <a:p>
            <a:pPr marL="914400" lvl="1" indent="-457200">
              <a:lnSpc>
                <a:spcPct val="100000"/>
              </a:lnSpc>
              <a:buFont typeface="+mj-lt"/>
              <a:buAutoNum type="arabicPeriod"/>
            </a:pPr>
            <a:r>
              <a:rPr lang="zh-CN" altLang="en-US" dirty="0"/>
              <a:t>将文件映射到</a:t>
            </a:r>
            <a:r>
              <a:rPr lang="en-US" altLang="zh-CN" dirty="0"/>
              <a:t>96</a:t>
            </a:r>
            <a:r>
              <a:rPr lang="zh-CN" altLang="en-US" dirty="0"/>
              <a:t>个字符的构成的文件</a:t>
            </a:r>
            <a:endParaRPr lang="en-US" altLang="zh-CN" dirty="0"/>
          </a:p>
          <a:p>
            <a:pPr marL="914400" lvl="1" indent="-457200">
              <a:lnSpc>
                <a:spcPct val="100000"/>
              </a:lnSpc>
              <a:buFont typeface="+mj-lt"/>
              <a:buAutoNum type="arabicPeriod"/>
            </a:pPr>
            <a:r>
              <a:rPr lang="zh-CN" altLang="en-US" dirty="0"/>
              <a:t>处理续行符号</a:t>
            </a:r>
            <a:endParaRPr lang="en-US" altLang="zh-CN" dirty="0"/>
          </a:p>
          <a:p>
            <a:pPr marL="914400" lvl="1" indent="-457200">
              <a:lnSpc>
                <a:spcPct val="100000"/>
              </a:lnSpc>
              <a:buFont typeface="+mj-lt"/>
              <a:buAutoNum type="arabicPeriod"/>
            </a:pPr>
            <a:r>
              <a:rPr lang="zh-CN" altLang="en-US" dirty="0"/>
              <a:t>分解文件为注释，空白字符，预处理标记，标识符，数字常量，字面量，运算符等元素。用一个空格代替注释段落</a:t>
            </a:r>
            <a:endParaRPr lang="en-US" altLang="zh-CN" dirty="0"/>
          </a:p>
          <a:p>
            <a:pPr marL="914400" lvl="1" indent="-457200">
              <a:lnSpc>
                <a:spcPct val="100000"/>
              </a:lnSpc>
              <a:buFont typeface="+mj-lt"/>
              <a:buAutoNum type="arabicPeriod"/>
            </a:pPr>
            <a:r>
              <a:rPr lang="zh-CN" altLang="en-US" dirty="0"/>
              <a:t>执行预处理。并递归地按</a:t>
            </a:r>
            <a:r>
              <a:rPr lang="en-US" altLang="zh-CN" dirty="0"/>
              <a:t>1-4</a:t>
            </a:r>
            <a:r>
              <a:rPr lang="zh-CN" altLang="en-US" dirty="0"/>
              <a:t>步骤</a:t>
            </a:r>
            <a:r>
              <a:rPr lang="zh-CN" altLang="en-US" b="1" dirty="0"/>
              <a:t>处理 </a:t>
            </a:r>
            <a:r>
              <a:rPr lang="en-US" altLang="zh-CN" b="1" dirty="0"/>
              <a:t>#include </a:t>
            </a:r>
            <a:r>
              <a:rPr lang="zh-CN" altLang="en-US" b="1" dirty="0"/>
              <a:t>文件</a:t>
            </a:r>
            <a:endParaRPr lang="en-US" altLang="zh-CN" b="1" dirty="0"/>
          </a:p>
          <a:p>
            <a:pPr marL="914400" lvl="1" indent="-457200">
              <a:lnSpc>
                <a:spcPct val="100000"/>
              </a:lnSpc>
              <a:buFont typeface="+mj-lt"/>
              <a:buAutoNum type="arabicPeriod"/>
            </a:pPr>
            <a:r>
              <a:rPr lang="zh-CN" altLang="en-US" dirty="0"/>
              <a:t>将字符常量和字符串字面量转为平台执行编码</a:t>
            </a:r>
            <a:endParaRPr lang="en-US" altLang="zh-CN" dirty="0"/>
          </a:p>
          <a:p>
            <a:pPr marL="914400" lvl="1" indent="-457200">
              <a:lnSpc>
                <a:spcPct val="100000"/>
              </a:lnSpc>
              <a:buFont typeface="+mj-lt"/>
              <a:buAutoNum type="arabicPeriod"/>
            </a:pPr>
            <a:r>
              <a:rPr lang="zh-CN" altLang="en-US" dirty="0"/>
              <a:t>链接相邻的字符串</a:t>
            </a:r>
            <a:endParaRPr lang="en-US" altLang="zh-CN" dirty="0"/>
          </a:p>
          <a:p>
            <a:pPr lvl="1">
              <a:lnSpc>
                <a:spcPct val="100000"/>
              </a:lnSpc>
            </a:pPr>
            <a:r>
              <a:rPr lang="zh-CN" altLang="en-US" dirty="0"/>
              <a:t>例如：</a:t>
            </a:r>
            <a:r>
              <a:rPr lang="en-US" altLang="zh-CN" dirty="0" err="1"/>
              <a:t>gcc</a:t>
            </a:r>
            <a:r>
              <a:rPr lang="en-US" altLang="zh-CN" dirty="0"/>
              <a:t> –E </a:t>
            </a:r>
            <a:r>
              <a:rPr lang="en-US" altLang="zh-CN" dirty="0" err="1"/>
              <a:t>hello.c</a:t>
            </a:r>
            <a:endParaRPr lang="en-US" altLang="zh-CN" dirty="0"/>
          </a:p>
          <a:p>
            <a:pPr>
              <a:lnSpc>
                <a:spcPct val="100000"/>
              </a:lnSpc>
            </a:pPr>
            <a:r>
              <a:rPr lang="zh-CN" altLang="en-US" dirty="0">
                <a:solidFill>
                  <a:schemeClr val="tx1"/>
                </a:solidFill>
              </a:rPr>
              <a:t>编译阶段</a:t>
            </a:r>
            <a:endParaRPr lang="en-US" altLang="zh-CN" dirty="0">
              <a:solidFill>
                <a:schemeClr val="tx1"/>
              </a:solidFill>
            </a:endParaRPr>
          </a:p>
          <a:p>
            <a:pPr lvl="1">
              <a:lnSpc>
                <a:spcPct val="100000"/>
              </a:lnSpc>
            </a:pPr>
            <a:r>
              <a:rPr lang="zh-CN" altLang="en-US" dirty="0"/>
              <a:t>按照</a:t>
            </a:r>
            <a:r>
              <a:rPr lang="zh-CN" altLang="en-US" b="1" dirty="0"/>
              <a:t>语法和语义分析</a:t>
            </a:r>
            <a:r>
              <a:rPr lang="zh-CN" altLang="en-US" dirty="0"/>
              <a:t>记号，并将它们翻译成翻译单元。</a:t>
            </a:r>
            <a:endParaRPr lang="en-US" altLang="zh-CN" dirty="0"/>
          </a:p>
          <a:p>
            <a:pPr lvl="1">
              <a:lnSpc>
                <a:spcPct val="100000"/>
              </a:lnSpc>
            </a:pPr>
            <a:r>
              <a:rPr lang="zh-CN" altLang="en-US" dirty="0">
                <a:solidFill>
                  <a:schemeClr val="tx1"/>
                </a:solidFill>
              </a:rPr>
              <a:t>例如</a:t>
            </a:r>
            <a:r>
              <a:rPr lang="zh-CN" altLang="en-US" dirty="0"/>
              <a:t>：</a:t>
            </a:r>
            <a:r>
              <a:rPr lang="en-US" altLang="zh-CN" dirty="0" err="1"/>
              <a:t>gcc</a:t>
            </a:r>
            <a:r>
              <a:rPr lang="en-US" altLang="zh-CN" dirty="0"/>
              <a:t> –c </a:t>
            </a:r>
            <a:r>
              <a:rPr lang="en-US" altLang="zh-CN" dirty="0" err="1"/>
              <a:t>hello.c</a:t>
            </a:r>
            <a:endParaRPr lang="en-US" altLang="zh-CN" dirty="0"/>
          </a:p>
          <a:p>
            <a:pPr>
              <a:lnSpc>
                <a:spcPct val="100000"/>
              </a:lnSpc>
            </a:pPr>
            <a:r>
              <a:rPr lang="zh-CN" altLang="en-US" dirty="0"/>
              <a:t>链接阶段</a:t>
            </a:r>
            <a:endParaRPr lang="en-US" altLang="zh-CN" dirty="0"/>
          </a:p>
          <a:p>
            <a:pPr lvl="1">
              <a:lnSpc>
                <a:spcPct val="100000"/>
              </a:lnSpc>
            </a:pPr>
            <a:r>
              <a:rPr lang="zh-CN" altLang="en-US" dirty="0"/>
              <a:t>将多个翻译单元中</a:t>
            </a:r>
            <a:r>
              <a:rPr lang="zh-CN" altLang="en-US" b="1" dirty="0"/>
              <a:t>未解决的符号</a:t>
            </a:r>
            <a:r>
              <a:rPr lang="zh-CN" altLang="en-US" dirty="0"/>
              <a:t>，给出具体地址，组成成一个可执行文件。</a:t>
            </a:r>
            <a:endParaRPr lang="en-US" altLang="zh-CN" dirty="0"/>
          </a:p>
          <a:p>
            <a:pPr lvl="1">
              <a:lnSpc>
                <a:spcPct val="100000"/>
              </a:lnSpc>
            </a:pPr>
            <a:r>
              <a:rPr lang="zh-CN" altLang="en-US" dirty="0"/>
              <a:t>例如：</a:t>
            </a:r>
            <a:r>
              <a:rPr lang="en-US" altLang="zh-CN" dirty="0" err="1"/>
              <a:t>gcc</a:t>
            </a:r>
            <a:r>
              <a:rPr lang="en-US" altLang="zh-CN" dirty="0"/>
              <a:t> </a:t>
            </a:r>
            <a:r>
              <a:rPr lang="en-US" altLang="zh-CN" dirty="0" err="1"/>
              <a:t>main.c</a:t>
            </a:r>
            <a:r>
              <a:rPr lang="en-US" altLang="zh-CN" dirty="0"/>
              <a:t> </a:t>
            </a:r>
            <a:r>
              <a:rPr lang="en-US" altLang="zh-CN" dirty="0" err="1"/>
              <a:t>hanoi.c</a:t>
            </a:r>
            <a:endParaRPr lang="zh-CN" altLang="en-US" dirty="0"/>
          </a:p>
        </p:txBody>
      </p:sp>
      <p:sp>
        <p:nvSpPr>
          <p:cNvPr id="2" name="文本框 1">
            <a:extLst>
              <a:ext uri="{FF2B5EF4-FFF2-40B4-BE49-F238E27FC236}">
                <a16:creationId xmlns:a16="http://schemas.microsoft.com/office/drawing/2014/main" id="{A4EB57F4-2155-4CFB-AF36-B2B468035266}"/>
              </a:ext>
            </a:extLst>
          </p:cNvPr>
          <p:cNvSpPr txBox="1"/>
          <p:nvPr/>
        </p:nvSpPr>
        <p:spPr>
          <a:xfrm>
            <a:off x="8280400" y="4238172"/>
            <a:ext cx="2802370" cy="338554"/>
          </a:xfrm>
          <a:prstGeom prst="rect">
            <a:avLst/>
          </a:prstGeom>
          <a:noFill/>
        </p:spPr>
        <p:txBody>
          <a:bodyPr wrap="none" rtlCol="0">
            <a:spAutoFit/>
          </a:bodyPr>
          <a:lstStyle/>
          <a:p>
            <a:r>
              <a:rPr lang="zh-CN" altLang="en-US" sz="1600" dirty="0">
                <a:hlinkClick r:id="rId4"/>
              </a:rPr>
              <a:t>翻译阶段 </a:t>
            </a:r>
            <a:r>
              <a:rPr lang="en-US" altLang="zh-CN" sz="1600" dirty="0">
                <a:hlinkClick r:id="rId4"/>
              </a:rPr>
              <a:t>- cppreference.com</a:t>
            </a:r>
            <a:endParaRPr lang="zh-CN" altLang="en-US" sz="1600" dirty="0"/>
          </a:p>
        </p:txBody>
      </p:sp>
    </p:spTree>
    <p:extLst>
      <p:ext uri="{BB962C8B-B14F-4D97-AF65-F5344CB8AC3E}">
        <p14:creationId xmlns:p14="http://schemas.microsoft.com/office/powerpoint/2010/main" val="293418464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right)">
                                      <p:cBhvr>
                                        <p:cTn id="7" dur="500"/>
                                        <p:tgtEl>
                                          <p:spTgt spid="34"/>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barn(inVertical)">
                                      <p:cBhvr>
                                        <p:cTn id="11"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学论网-矩形 1"/>
          <p:cNvSpPr/>
          <p:nvPr/>
        </p:nvSpPr>
        <p:spPr>
          <a:xfrm>
            <a:off x="0" y="777734"/>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案例：汉诺塔程序的布局与编译（</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all-in-one</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5" name="文本框 4">
            <a:extLst>
              <a:ext uri="{FF2B5EF4-FFF2-40B4-BE49-F238E27FC236}">
                <a16:creationId xmlns:a16="http://schemas.microsoft.com/office/drawing/2014/main" id="{0BC0F4C8-E016-45FC-910F-824FFAEBAFA1}"/>
              </a:ext>
            </a:extLst>
          </p:cNvPr>
          <p:cNvSpPr txBox="1"/>
          <p:nvPr/>
        </p:nvSpPr>
        <p:spPr>
          <a:xfrm>
            <a:off x="522514" y="1502688"/>
            <a:ext cx="5094514" cy="5355312"/>
          </a:xfrm>
          <a:prstGeom prst="rect">
            <a:avLst/>
          </a:prstGeom>
          <a:noFill/>
          <a:ln>
            <a:solidFill>
              <a:schemeClr val="bg1">
                <a:lumMod val="75000"/>
              </a:schemeClr>
            </a:solidFill>
          </a:ln>
        </p:spPr>
        <p:txBody>
          <a:bodyPr wrap="square" rtlCol="0">
            <a:spAutoFit/>
          </a:bodyPr>
          <a:lstStyle/>
          <a:p>
            <a:r>
              <a:rPr lang="en-US" altLang="zh-CN" b="0" dirty="0">
                <a:solidFill>
                  <a:srgbClr val="AF00DB"/>
                </a:solidFill>
                <a:effectLst/>
                <a:latin typeface="Consolas" panose="020B0609020204030204" pitchFamily="49" charset="0"/>
              </a:rPr>
              <a:t>#include</a:t>
            </a:r>
            <a:r>
              <a:rPr lang="en-US" altLang="zh-CN" b="0" dirty="0">
                <a:solidFill>
                  <a:srgbClr val="0000FF"/>
                </a:solidFill>
                <a:effectLst/>
                <a:latin typeface="Consolas" panose="020B0609020204030204" pitchFamily="49" charset="0"/>
              </a:rPr>
              <a:t> </a:t>
            </a:r>
            <a:r>
              <a:rPr lang="en-US" altLang="zh-CN" b="0" dirty="0">
                <a:solidFill>
                  <a:srgbClr val="A31515"/>
                </a:solidFill>
                <a:effectLst/>
                <a:latin typeface="Consolas" panose="020B0609020204030204" pitchFamily="49" charset="0"/>
              </a:rPr>
              <a:t>&lt;</a:t>
            </a:r>
            <a:r>
              <a:rPr lang="en-US" altLang="zh-CN" b="0" dirty="0" err="1">
                <a:solidFill>
                  <a:srgbClr val="A31515"/>
                </a:solidFill>
                <a:effectLst/>
                <a:latin typeface="Consolas" panose="020B0609020204030204" pitchFamily="49" charset="0"/>
              </a:rPr>
              <a:t>stdio.h</a:t>
            </a:r>
            <a:r>
              <a:rPr lang="en-US" altLang="zh-CN" b="0" dirty="0">
                <a:solidFill>
                  <a:srgbClr val="A31515"/>
                </a:solidFill>
                <a:effectLst/>
                <a:latin typeface="Consolas" panose="020B0609020204030204" pitchFamily="49" charset="0"/>
              </a:rPr>
              <a:t>&gt;</a:t>
            </a:r>
            <a:endParaRPr lang="en-US" altLang="zh-CN" b="0" dirty="0">
              <a:solidFill>
                <a:srgbClr val="000000"/>
              </a:solidFill>
              <a:effectLst/>
              <a:latin typeface="Consolas" panose="020B0609020204030204" pitchFamily="49" charset="0"/>
            </a:endParaRPr>
          </a:p>
          <a:p>
            <a:br>
              <a:rPr lang="en-US" altLang="zh-CN" b="0" dirty="0">
                <a:solidFill>
                  <a:srgbClr val="000000"/>
                </a:solidFill>
                <a:effectLst/>
                <a:latin typeface="Consolas" panose="020B0609020204030204" pitchFamily="49" charset="0"/>
              </a:rPr>
            </a:b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声明函数</a:t>
            </a:r>
            <a:r>
              <a:rPr lang="en-US" altLang="zh-CN" b="0" dirty="0">
                <a:solidFill>
                  <a:srgbClr val="008000"/>
                </a:solidFill>
                <a:effectLst/>
                <a:latin typeface="Consolas" panose="020B0609020204030204" pitchFamily="49" charset="0"/>
              </a:rPr>
              <a:t>, </a:t>
            </a:r>
            <a:r>
              <a:rPr lang="zh-CN" altLang="en-US" b="0" dirty="0">
                <a:solidFill>
                  <a:srgbClr val="008000"/>
                </a:solidFill>
                <a:effectLst/>
                <a:latin typeface="Consolas" panose="020B0609020204030204" pitchFamily="49" charset="0"/>
              </a:rPr>
              <a:t>其中 </a:t>
            </a:r>
            <a:r>
              <a:rPr lang="en-US" altLang="zh-CN" b="0" dirty="0" err="1">
                <a:solidFill>
                  <a:srgbClr val="008000"/>
                </a:solidFill>
                <a:effectLst/>
                <a:latin typeface="Consolas" panose="020B0609020204030204" pitchFamily="49" charset="0"/>
              </a:rPr>
              <a:t>a,b,c</a:t>
            </a:r>
            <a:r>
              <a:rPr lang="en-US" altLang="zh-CN" b="0" dirty="0">
                <a:solidFill>
                  <a:srgbClr val="008000"/>
                </a:solidFill>
                <a:effectLst/>
                <a:latin typeface="Consolas" panose="020B0609020204030204" pitchFamily="49" charset="0"/>
              </a:rPr>
              <a:t> </a:t>
            </a:r>
            <a:r>
              <a:rPr lang="zh-CN" altLang="en-US" b="0" dirty="0">
                <a:solidFill>
                  <a:srgbClr val="008000"/>
                </a:solidFill>
                <a:effectLst/>
                <a:latin typeface="Consolas" panose="020B0609020204030204" pitchFamily="49" charset="0"/>
              </a:rPr>
              <a:t>是柱子编号，用</a:t>
            </a:r>
            <a:r>
              <a:rPr lang="en-US" altLang="zh-CN" b="0" dirty="0">
                <a:solidFill>
                  <a:srgbClr val="008000"/>
                </a:solidFill>
                <a:effectLst/>
                <a:latin typeface="Consolas" panose="020B0609020204030204" pitchFamily="49" charset="0"/>
              </a:rPr>
              <a:t>'</a:t>
            </a:r>
            <a:r>
              <a:rPr lang="en-US" altLang="zh-CN" b="0" dirty="0" err="1">
                <a:solidFill>
                  <a:srgbClr val="008000"/>
                </a:solidFill>
                <a:effectLst/>
                <a:latin typeface="Consolas" panose="020B0609020204030204" pitchFamily="49" charset="0"/>
              </a:rPr>
              <a:t>a','b','c</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表示</a:t>
            </a:r>
            <a:endParaRPr lang="zh-CN" altLang="en-US" b="0" dirty="0">
              <a:solidFill>
                <a:srgbClr val="000000"/>
              </a:solidFill>
              <a:effectLst/>
              <a:latin typeface="Consolas" panose="020B0609020204030204" pitchFamily="49" charset="0"/>
            </a:endParaRPr>
          </a:p>
          <a:p>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hanoi</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n</a:t>
            </a:r>
            <a:r>
              <a:rPr lang="en-US" altLang="zh-CN" b="0" dirty="0" err="1">
                <a:solidFill>
                  <a:srgbClr val="000000"/>
                </a:solidFill>
                <a:effectLst/>
                <a:latin typeface="Consolas" panose="020B0609020204030204" pitchFamily="49" charset="0"/>
              </a:rPr>
              <a:t>,</a:t>
            </a:r>
            <a:r>
              <a:rPr lang="en-US" altLang="zh-CN" b="0" dirty="0" err="1">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a</a:t>
            </a:r>
            <a:r>
              <a:rPr lang="en-US" altLang="zh-CN" b="0" dirty="0" err="1">
                <a:solidFill>
                  <a:srgbClr val="000000"/>
                </a:solidFill>
                <a:effectLst/>
                <a:latin typeface="Consolas" panose="020B0609020204030204" pitchFamily="49" charset="0"/>
              </a:rPr>
              <a:t>,</a:t>
            </a:r>
            <a:r>
              <a:rPr lang="en-US" altLang="zh-CN" b="0" dirty="0" err="1">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b</a:t>
            </a:r>
            <a:r>
              <a:rPr lang="en-US" altLang="zh-CN" b="0" dirty="0" err="1">
                <a:solidFill>
                  <a:srgbClr val="000000"/>
                </a:solidFill>
                <a:effectLst/>
                <a:latin typeface="Consolas" panose="020B0609020204030204" pitchFamily="49" charset="0"/>
              </a:rPr>
              <a:t>,</a:t>
            </a:r>
            <a:r>
              <a:rPr lang="en-US" altLang="zh-CN" b="0" dirty="0" err="1">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c</a:t>
            </a:r>
            <a:r>
              <a:rPr lang="en-US" altLang="zh-CN" b="0" dirty="0">
                <a:solidFill>
                  <a:srgbClr val="000000"/>
                </a:solidFill>
                <a:effectLst/>
                <a:latin typeface="Consolas" panose="020B0609020204030204" pitchFamily="49" charset="0"/>
              </a:rPr>
              <a:t>);</a:t>
            </a:r>
          </a:p>
          <a:p>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move</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n</a:t>
            </a:r>
            <a:r>
              <a:rPr lang="en-US" altLang="zh-CN" b="0" dirty="0" err="1">
                <a:solidFill>
                  <a:srgbClr val="000000"/>
                </a:solidFill>
                <a:effectLst/>
                <a:latin typeface="Consolas" panose="020B0609020204030204" pitchFamily="49" charset="0"/>
              </a:rPr>
              <a:t>,</a:t>
            </a:r>
            <a:r>
              <a:rPr lang="en-US" altLang="zh-CN" b="0" dirty="0" err="1">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b</a:t>
            </a:r>
            <a:r>
              <a:rPr lang="en-US" altLang="zh-CN" b="0" dirty="0">
                <a:solidFill>
                  <a:srgbClr val="000000"/>
                </a:solidFill>
                <a:effectLst/>
                <a:latin typeface="Consolas" panose="020B0609020204030204" pitchFamily="49" charset="0"/>
              </a:rPr>
              <a:t>);</a:t>
            </a:r>
          </a:p>
          <a:p>
            <a:br>
              <a:rPr lang="en-US" altLang="zh-CN" b="0" dirty="0">
                <a:solidFill>
                  <a:srgbClr val="000000"/>
                </a:solidFill>
                <a:effectLst/>
                <a:latin typeface="Consolas" panose="020B0609020204030204" pitchFamily="49" charset="0"/>
              </a:rPr>
            </a:b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main</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n</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scanf</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d</a:t>
            </a:r>
            <a:r>
              <a:rPr lang="en-US" altLang="zh-CN" b="0" dirty="0" err="1">
                <a:solidFill>
                  <a:srgbClr val="A31515"/>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,&amp;</a:t>
            </a:r>
            <a:r>
              <a:rPr lang="en-US" altLang="zh-CN" b="0" dirty="0" err="1">
                <a:solidFill>
                  <a:srgbClr val="001080"/>
                </a:solidFill>
                <a:effectLst/>
                <a:latin typeface="Consolas" panose="020B0609020204030204" pitchFamily="49" charset="0"/>
              </a:rPr>
              <a:t>n</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hanoi</a:t>
            </a:r>
            <a:r>
              <a:rPr lang="en-US" altLang="zh-CN" b="0" dirty="0">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n</a:t>
            </a:r>
            <a:r>
              <a:rPr lang="en-US" altLang="zh-CN" b="0" dirty="0" err="1">
                <a:solidFill>
                  <a:srgbClr val="000000"/>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'a'</a:t>
            </a:r>
            <a:r>
              <a:rPr lang="en-US" altLang="zh-CN" b="0" dirty="0" err="1">
                <a:solidFill>
                  <a:srgbClr val="000000"/>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'b'</a:t>
            </a:r>
            <a:r>
              <a:rPr lang="en-US" altLang="zh-CN" b="0" dirty="0" err="1">
                <a:solidFill>
                  <a:srgbClr val="000000"/>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'c</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return</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a:p>
            <a:br>
              <a:rPr lang="en-US" altLang="zh-CN" b="0" dirty="0">
                <a:solidFill>
                  <a:srgbClr val="000000"/>
                </a:solidFill>
                <a:effectLst/>
                <a:latin typeface="Consolas" panose="020B0609020204030204" pitchFamily="49" charset="0"/>
              </a:rPr>
            </a:br>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move</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n</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b</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printf</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"move </a:t>
            </a:r>
            <a:r>
              <a:rPr lang="en-US" altLang="zh-CN" b="0" dirty="0">
                <a:solidFill>
                  <a:srgbClr val="001080"/>
                </a:solidFill>
                <a:effectLst/>
                <a:latin typeface="Consolas" panose="020B0609020204030204" pitchFamily="49" charset="0"/>
              </a:rPr>
              <a:t>%d</a:t>
            </a:r>
            <a:r>
              <a:rPr lang="en-US" altLang="zh-CN" b="0" dirty="0">
                <a:solidFill>
                  <a:srgbClr val="A31515"/>
                </a:solidFill>
                <a:effectLst/>
                <a:latin typeface="Consolas" panose="020B0609020204030204" pitchFamily="49" charset="0"/>
              </a:rPr>
              <a:t> from </a:t>
            </a:r>
            <a:r>
              <a:rPr lang="en-US" altLang="zh-CN" b="0" dirty="0">
                <a:solidFill>
                  <a:srgbClr val="001080"/>
                </a:solidFill>
                <a:effectLst/>
                <a:latin typeface="Consolas" panose="020B0609020204030204" pitchFamily="49" charset="0"/>
              </a:rPr>
              <a:t>%c</a:t>
            </a:r>
            <a:r>
              <a:rPr lang="en-US" altLang="zh-CN" b="0" dirty="0">
                <a:solidFill>
                  <a:srgbClr val="A31515"/>
                </a:solidFill>
                <a:effectLst/>
                <a:latin typeface="Consolas" panose="020B0609020204030204" pitchFamily="49" charset="0"/>
              </a:rPr>
              <a:t> to </a:t>
            </a:r>
            <a:r>
              <a:rPr lang="en-US" altLang="zh-CN" b="0" dirty="0">
                <a:solidFill>
                  <a:srgbClr val="001080"/>
                </a:solidFill>
                <a:effectLst/>
                <a:latin typeface="Consolas" panose="020B0609020204030204" pitchFamily="49" charset="0"/>
              </a:rPr>
              <a:t>%c</a:t>
            </a:r>
            <a:r>
              <a:rPr lang="en-US" altLang="zh-CN" b="0" dirty="0">
                <a:solidFill>
                  <a:srgbClr val="EE0000"/>
                </a:solidFill>
                <a:effectLst/>
                <a:latin typeface="Consolas" panose="020B0609020204030204" pitchFamily="49" charset="0"/>
              </a:rPr>
              <a:t>\n</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n</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b</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p:txBody>
      </p:sp>
      <p:sp>
        <p:nvSpPr>
          <p:cNvPr id="7" name="文本框 6">
            <a:extLst>
              <a:ext uri="{FF2B5EF4-FFF2-40B4-BE49-F238E27FC236}">
                <a16:creationId xmlns:a16="http://schemas.microsoft.com/office/drawing/2014/main" id="{45107D01-8C56-4E24-98B2-C719B6853C37}"/>
              </a:ext>
            </a:extLst>
          </p:cNvPr>
          <p:cNvSpPr txBox="1"/>
          <p:nvPr/>
        </p:nvSpPr>
        <p:spPr>
          <a:xfrm>
            <a:off x="6139542" y="1583845"/>
            <a:ext cx="5094514" cy="2585323"/>
          </a:xfrm>
          <a:prstGeom prst="rect">
            <a:avLst/>
          </a:prstGeom>
          <a:noFill/>
          <a:ln>
            <a:solidFill>
              <a:schemeClr val="bg1">
                <a:lumMod val="75000"/>
              </a:schemeClr>
            </a:solidFill>
          </a:ln>
        </p:spPr>
        <p:txBody>
          <a:bodyPr wrap="square" rtlCol="0">
            <a:spAutoFit/>
          </a:bodyPr>
          <a:lstStyle/>
          <a:p>
            <a:r>
              <a:rPr lang="pt-BR" altLang="zh-CN" b="0" dirty="0">
                <a:solidFill>
                  <a:srgbClr val="0000FF"/>
                </a:solidFill>
                <a:effectLst/>
                <a:latin typeface="Consolas" panose="020B0609020204030204" pitchFamily="49" charset="0"/>
              </a:rPr>
              <a:t>void</a:t>
            </a:r>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hanoi</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b</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r>
              <a:rPr lang="pt-BR" altLang="zh-CN" b="0" dirty="0">
                <a:solidFill>
                  <a:srgbClr val="AF00DB"/>
                </a:solidFill>
                <a:effectLst/>
                <a:latin typeface="Consolas" panose="020B0609020204030204" pitchFamily="49" charset="0"/>
              </a:rPr>
              <a:t>if</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98658"/>
                </a:solidFill>
                <a:effectLst/>
                <a:latin typeface="Consolas" panose="020B0609020204030204" pitchFamily="49" charset="0"/>
              </a:rPr>
              <a:t>1</a:t>
            </a:r>
            <a:r>
              <a:rPr lang="pt-BR" altLang="zh-CN" b="0" dirty="0">
                <a:solidFill>
                  <a:srgbClr val="000000"/>
                </a:solidFill>
                <a:effectLst/>
                <a:latin typeface="Consolas" panose="020B0609020204030204" pitchFamily="49" charset="0"/>
              </a:rPr>
              <a:t>) {</a:t>
            </a:r>
          </a:p>
          <a:p>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move</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r>
              <a:rPr lang="pt-BR" altLang="zh-CN" b="0" dirty="0">
                <a:solidFill>
                  <a:srgbClr val="AF00DB"/>
                </a:solidFill>
                <a:effectLst/>
                <a:latin typeface="Consolas" panose="020B0609020204030204" pitchFamily="49" charset="0"/>
              </a:rPr>
              <a:t>return</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p>
          <a:p>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hanoi</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98658"/>
                </a:solidFill>
                <a:effectLst/>
                <a:latin typeface="Consolas" panose="020B0609020204030204" pitchFamily="49" charset="0"/>
              </a:rPr>
              <a:t>1</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b</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move</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hanoi</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98658"/>
                </a:solidFill>
                <a:effectLst/>
                <a:latin typeface="Consolas" panose="020B0609020204030204" pitchFamily="49" charset="0"/>
              </a:rPr>
              <a:t>1</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b</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a:t>
            </a:r>
          </a:p>
        </p:txBody>
      </p:sp>
      <p:sp>
        <p:nvSpPr>
          <p:cNvPr id="2" name="文本框 1">
            <a:extLst>
              <a:ext uri="{FF2B5EF4-FFF2-40B4-BE49-F238E27FC236}">
                <a16:creationId xmlns:a16="http://schemas.microsoft.com/office/drawing/2014/main" id="{660779FC-ADB5-438E-B040-6DB3C73015D5}"/>
              </a:ext>
            </a:extLst>
          </p:cNvPr>
          <p:cNvSpPr txBox="1"/>
          <p:nvPr/>
        </p:nvSpPr>
        <p:spPr>
          <a:xfrm>
            <a:off x="6197600" y="5029200"/>
            <a:ext cx="3571812" cy="369332"/>
          </a:xfrm>
          <a:prstGeom prst="rect">
            <a:avLst/>
          </a:prstGeom>
          <a:noFill/>
        </p:spPr>
        <p:txBody>
          <a:bodyPr wrap="none" rtlCol="0">
            <a:spAutoFit/>
          </a:bodyPr>
          <a:lstStyle/>
          <a:p>
            <a:r>
              <a:rPr lang="zh-CN" altLang="en-US" b="1" dirty="0"/>
              <a:t>编译指令：</a:t>
            </a:r>
            <a:r>
              <a:rPr lang="en-US" altLang="zh-CN" dirty="0" err="1"/>
              <a:t>gcc</a:t>
            </a:r>
            <a:r>
              <a:rPr lang="en-US" altLang="zh-CN" dirty="0"/>
              <a:t> </a:t>
            </a:r>
            <a:r>
              <a:rPr lang="en-US" altLang="zh-CN" dirty="0" err="1"/>
              <a:t>hanoi</a:t>
            </a:r>
            <a:r>
              <a:rPr lang="en-US" altLang="zh-CN" dirty="0"/>
              <a:t>-all-in-</a:t>
            </a:r>
            <a:r>
              <a:rPr lang="en-US" altLang="zh-CN" dirty="0" err="1"/>
              <a:t>one.c</a:t>
            </a:r>
            <a:endParaRPr lang="zh-CN" altLang="en-US" dirty="0"/>
          </a:p>
        </p:txBody>
      </p:sp>
    </p:spTree>
    <p:extLst>
      <p:ext uri="{BB962C8B-B14F-4D97-AF65-F5344CB8AC3E}">
        <p14:creationId xmlns:p14="http://schemas.microsoft.com/office/powerpoint/2010/main" val="259618792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right)">
                                      <p:cBhvr>
                                        <p:cTn id="7" dur="500"/>
                                        <p:tgtEl>
                                          <p:spTgt spid="34"/>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barn(inVertical)">
                                      <p:cBhvr>
                                        <p:cTn id="11"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案例：汉诺塔程序的布局与编译（</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embed</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5" name="文本框 4">
            <a:extLst>
              <a:ext uri="{FF2B5EF4-FFF2-40B4-BE49-F238E27FC236}">
                <a16:creationId xmlns:a16="http://schemas.microsoft.com/office/drawing/2014/main" id="{0BC0F4C8-E016-45FC-910F-824FFAEBAFA1}"/>
              </a:ext>
            </a:extLst>
          </p:cNvPr>
          <p:cNvSpPr txBox="1"/>
          <p:nvPr/>
        </p:nvSpPr>
        <p:spPr>
          <a:xfrm>
            <a:off x="522514" y="1528601"/>
            <a:ext cx="5094514" cy="5355312"/>
          </a:xfrm>
          <a:prstGeom prst="rect">
            <a:avLst/>
          </a:prstGeom>
          <a:noFill/>
          <a:ln>
            <a:solidFill>
              <a:schemeClr val="bg1">
                <a:lumMod val="75000"/>
              </a:schemeClr>
            </a:solidFill>
          </a:ln>
        </p:spPr>
        <p:txBody>
          <a:bodyPr wrap="square" rtlCol="0">
            <a:spAutoFit/>
          </a:bodyPr>
          <a:lstStyle/>
          <a:p>
            <a:r>
              <a:rPr lang="en-US" altLang="zh-CN" b="0" dirty="0">
                <a:solidFill>
                  <a:srgbClr val="AF00DB"/>
                </a:solidFill>
                <a:effectLst/>
                <a:latin typeface="Consolas" panose="020B0609020204030204" pitchFamily="49" charset="0"/>
              </a:rPr>
              <a:t>#include</a:t>
            </a:r>
            <a:r>
              <a:rPr lang="en-US" altLang="zh-CN" b="0" dirty="0">
                <a:solidFill>
                  <a:srgbClr val="0000FF"/>
                </a:solidFill>
                <a:effectLst/>
                <a:latin typeface="Consolas" panose="020B0609020204030204" pitchFamily="49" charset="0"/>
              </a:rPr>
              <a:t> </a:t>
            </a:r>
            <a:r>
              <a:rPr lang="en-US" altLang="zh-CN" b="0" dirty="0">
                <a:solidFill>
                  <a:srgbClr val="A31515"/>
                </a:solidFill>
                <a:effectLst/>
                <a:latin typeface="Consolas" panose="020B0609020204030204" pitchFamily="49" charset="0"/>
              </a:rPr>
              <a:t>&lt;</a:t>
            </a:r>
            <a:r>
              <a:rPr lang="en-US" altLang="zh-CN" b="0" dirty="0" err="1">
                <a:solidFill>
                  <a:srgbClr val="A31515"/>
                </a:solidFill>
                <a:effectLst/>
                <a:latin typeface="Consolas" panose="020B0609020204030204" pitchFamily="49" charset="0"/>
              </a:rPr>
              <a:t>stdio.h</a:t>
            </a:r>
            <a:r>
              <a:rPr lang="en-US" altLang="zh-CN" b="0" dirty="0">
                <a:solidFill>
                  <a:srgbClr val="A31515"/>
                </a:solidFill>
                <a:effectLst/>
                <a:latin typeface="Consolas" panose="020B0609020204030204" pitchFamily="49" charset="0"/>
              </a:rPr>
              <a:t>&gt;</a:t>
            </a:r>
            <a:endParaRPr lang="en-US" altLang="zh-CN" b="0" dirty="0">
              <a:solidFill>
                <a:srgbClr val="000000"/>
              </a:solidFill>
              <a:effectLst/>
              <a:latin typeface="Consolas" panose="020B0609020204030204" pitchFamily="49" charset="0"/>
            </a:endParaRPr>
          </a:p>
          <a:p>
            <a:endParaRPr lang="en-US" altLang="zh-CN" b="0" dirty="0">
              <a:solidFill>
                <a:srgbClr val="000000"/>
              </a:solidFill>
              <a:effectLst/>
              <a:latin typeface="Consolas" panose="020B0609020204030204" pitchFamily="49" charset="0"/>
            </a:endParaRPr>
          </a:p>
          <a:p>
            <a:r>
              <a:rPr lang="pt-BR" altLang="zh-CN" b="0" dirty="0">
                <a:solidFill>
                  <a:srgbClr val="0000FF"/>
                </a:solidFill>
                <a:effectLst/>
                <a:latin typeface="Consolas" panose="020B0609020204030204" pitchFamily="49" charset="0"/>
              </a:rPr>
              <a:t>void</a:t>
            </a:r>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hanoi</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b</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a:t>
            </a:r>
          </a:p>
          <a:p>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move</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n</a:t>
            </a:r>
            <a:r>
              <a:rPr lang="en-US" altLang="zh-CN" b="0" dirty="0" err="1">
                <a:solidFill>
                  <a:srgbClr val="000000"/>
                </a:solidFill>
                <a:effectLst/>
                <a:latin typeface="Consolas" panose="020B0609020204030204" pitchFamily="49" charset="0"/>
              </a:rPr>
              <a:t>,</a:t>
            </a:r>
            <a:r>
              <a:rPr lang="en-US" altLang="zh-CN" b="0" dirty="0" err="1">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b</a:t>
            </a:r>
            <a:r>
              <a:rPr lang="en-US" altLang="zh-CN" b="0" dirty="0">
                <a:solidFill>
                  <a:srgbClr val="000000"/>
                </a:solidFill>
                <a:effectLst/>
                <a:latin typeface="Consolas" panose="020B0609020204030204" pitchFamily="49" charset="0"/>
              </a:rPr>
              <a:t>);</a:t>
            </a:r>
          </a:p>
          <a:p>
            <a:r>
              <a:rPr lang="en-US" altLang="zh-CN" b="0" dirty="0">
                <a:solidFill>
                  <a:srgbClr val="AF00DB"/>
                </a:solidFill>
                <a:effectLst/>
                <a:latin typeface="Consolas" panose="020B0609020204030204" pitchFamily="49" charset="0"/>
              </a:rPr>
              <a:t>#include</a:t>
            </a:r>
            <a:r>
              <a:rPr lang="en-US" altLang="zh-CN" b="0" dirty="0">
                <a:solidFill>
                  <a:srgbClr val="0000FF"/>
                </a:solidFill>
                <a:effectLst/>
                <a:latin typeface="Consolas" panose="020B0609020204030204" pitchFamily="49" charset="0"/>
              </a:rPr>
              <a:t> </a:t>
            </a:r>
            <a:r>
              <a:rPr lang="en-US" altLang="zh-CN" dirty="0">
                <a:solidFill>
                  <a:srgbClr val="A31515"/>
                </a:solidFill>
                <a:latin typeface="Consolas" panose="020B0609020204030204" pitchFamily="49" charset="0"/>
              </a:rPr>
              <a:t>“</a:t>
            </a:r>
            <a:r>
              <a:rPr lang="en-US" altLang="zh-CN" dirty="0" err="1">
                <a:solidFill>
                  <a:srgbClr val="A31515"/>
                </a:solidFill>
                <a:latin typeface="Consolas" panose="020B0609020204030204" pitchFamily="49" charset="0"/>
              </a:rPr>
              <a:t>hanoi.h</a:t>
            </a:r>
            <a:r>
              <a:rPr lang="en-US" altLang="zh-CN" dirty="0">
                <a:solidFill>
                  <a:srgbClr val="A31515"/>
                </a:solidFill>
                <a:latin typeface="Consolas" panose="020B0609020204030204" pitchFamily="49" charset="0"/>
              </a:rPr>
              <a:t>”</a:t>
            </a:r>
            <a:endParaRPr lang="en-US" altLang="zh-CN" b="0" dirty="0">
              <a:solidFill>
                <a:srgbClr val="000000"/>
              </a:solidFill>
              <a:effectLst/>
              <a:latin typeface="Consolas" panose="020B0609020204030204" pitchFamily="49" charset="0"/>
            </a:endParaRPr>
          </a:p>
          <a:p>
            <a:br>
              <a:rPr lang="en-US" altLang="zh-CN" b="0" dirty="0">
                <a:solidFill>
                  <a:srgbClr val="000000"/>
                </a:solidFill>
                <a:effectLst/>
                <a:latin typeface="Consolas" panose="020B0609020204030204" pitchFamily="49" charset="0"/>
              </a:rPr>
            </a:b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main</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n</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scanf</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d</a:t>
            </a:r>
            <a:r>
              <a:rPr lang="en-US" altLang="zh-CN" b="0" dirty="0" err="1">
                <a:solidFill>
                  <a:srgbClr val="A31515"/>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,&amp;</a:t>
            </a:r>
            <a:r>
              <a:rPr lang="en-US" altLang="zh-CN" b="0" dirty="0" err="1">
                <a:solidFill>
                  <a:srgbClr val="001080"/>
                </a:solidFill>
                <a:effectLst/>
                <a:latin typeface="Consolas" panose="020B0609020204030204" pitchFamily="49" charset="0"/>
              </a:rPr>
              <a:t>n</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hanoi</a:t>
            </a:r>
            <a:r>
              <a:rPr lang="en-US" altLang="zh-CN" b="0" dirty="0">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n</a:t>
            </a:r>
            <a:r>
              <a:rPr lang="en-US" altLang="zh-CN" b="0" dirty="0" err="1">
                <a:solidFill>
                  <a:srgbClr val="000000"/>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'a'</a:t>
            </a:r>
            <a:r>
              <a:rPr lang="en-US" altLang="zh-CN" b="0" dirty="0" err="1">
                <a:solidFill>
                  <a:srgbClr val="000000"/>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'b'</a:t>
            </a:r>
            <a:r>
              <a:rPr lang="en-US" altLang="zh-CN" b="0" dirty="0" err="1">
                <a:solidFill>
                  <a:srgbClr val="000000"/>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'c</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return</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a:p>
            <a:br>
              <a:rPr lang="en-US" altLang="zh-CN" b="0" dirty="0">
                <a:solidFill>
                  <a:srgbClr val="000000"/>
                </a:solidFill>
                <a:effectLst/>
                <a:latin typeface="Consolas" panose="020B0609020204030204" pitchFamily="49" charset="0"/>
              </a:rPr>
            </a:br>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move</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n</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b</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printf</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"move </a:t>
            </a:r>
            <a:r>
              <a:rPr lang="en-US" altLang="zh-CN" b="0" dirty="0">
                <a:solidFill>
                  <a:srgbClr val="001080"/>
                </a:solidFill>
                <a:effectLst/>
                <a:latin typeface="Consolas" panose="020B0609020204030204" pitchFamily="49" charset="0"/>
              </a:rPr>
              <a:t>%d</a:t>
            </a:r>
            <a:r>
              <a:rPr lang="en-US" altLang="zh-CN" b="0" dirty="0">
                <a:solidFill>
                  <a:srgbClr val="A31515"/>
                </a:solidFill>
                <a:effectLst/>
                <a:latin typeface="Consolas" panose="020B0609020204030204" pitchFamily="49" charset="0"/>
              </a:rPr>
              <a:t> from </a:t>
            </a:r>
            <a:r>
              <a:rPr lang="en-US" altLang="zh-CN" b="0" dirty="0">
                <a:solidFill>
                  <a:srgbClr val="001080"/>
                </a:solidFill>
                <a:effectLst/>
                <a:latin typeface="Consolas" panose="020B0609020204030204" pitchFamily="49" charset="0"/>
              </a:rPr>
              <a:t>%c</a:t>
            </a:r>
            <a:r>
              <a:rPr lang="en-US" altLang="zh-CN" b="0" dirty="0">
                <a:solidFill>
                  <a:srgbClr val="A31515"/>
                </a:solidFill>
                <a:effectLst/>
                <a:latin typeface="Consolas" panose="020B0609020204030204" pitchFamily="49" charset="0"/>
              </a:rPr>
              <a:t> to </a:t>
            </a:r>
            <a:r>
              <a:rPr lang="en-US" altLang="zh-CN" b="0" dirty="0">
                <a:solidFill>
                  <a:srgbClr val="001080"/>
                </a:solidFill>
                <a:effectLst/>
                <a:latin typeface="Consolas" panose="020B0609020204030204" pitchFamily="49" charset="0"/>
              </a:rPr>
              <a:t>%c</a:t>
            </a:r>
            <a:r>
              <a:rPr lang="en-US" altLang="zh-CN" b="0" dirty="0">
                <a:solidFill>
                  <a:srgbClr val="EE0000"/>
                </a:solidFill>
                <a:effectLst/>
                <a:latin typeface="Consolas" panose="020B0609020204030204" pitchFamily="49" charset="0"/>
              </a:rPr>
              <a:t>\n</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n</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b</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a:p>
            <a:endParaRPr lang="zh-CN" altLang="en-US" dirty="0"/>
          </a:p>
        </p:txBody>
      </p:sp>
      <p:sp>
        <p:nvSpPr>
          <p:cNvPr id="7" name="文本框 6">
            <a:extLst>
              <a:ext uri="{FF2B5EF4-FFF2-40B4-BE49-F238E27FC236}">
                <a16:creationId xmlns:a16="http://schemas.microsoft.com/office/drawing/2014/main" id="{45107D01-8C56-4E24-98B2-C719B6853C37}"/>
              </a:ext>
            </a:extLst>
          </p:cNvPr>
          <p:cNvSpPr txBox="1"/>
          <p:nvPr/>
        </p:nvSpPr>
        <p:spPr>
          <a:xfrm>
            <a:off x="6139542" y="1583845"/>
            <a:ext cx="5094514" cy="2862322"/>
          </a:xfrm>
          <a:prstGeom prst="rect">
            <a:avLst/>
          </a:prstGeom>
          <a:noFill/>
          <a:ln>
            <a:solidFill>
              <a:schemeClr val="bg1">
                <a:lumMod val="75000"/>
              </a:schemeClr>
            </a:solidFill>
          </a:ln>
        </p:spPr>
        <p:txBody>
          <a:bodyPr wrap="square" rtlCol="0">
            <a:spAutoFit/>
          </a:bodyPr>
          <a:lstStyle/>
          <a:p>
            <a:r>
              <a:rPr lang="pt-BR" altLang="zh-CN" b="0" dirty="0">
                <a:solidFill>
                  <a:srgbClr val="0000FF"/>
                </a:solidFill>
                <a:effectLst/>
                <a:latin typeface="Consolas" panose="020B0609020204030204" pitchFamily="49" charset="0"/>
              </a:rPr>
              <a:t>void</a:t>
            </a:r>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hanoi</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b</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r>
              <a:rPr lang="pt-BR" altLang="zh-CN" b="0" dirty="0">
                <a:solidFill>
                  <a:srgbClr val="AF00DB"/>
                </a:solidFill>
                <a:effectLst/>
                <a:latin typeface="Consolas" panose="020B0609020204030204" pitchFamily="49" charset="0"/>
              </a:rPr>
              <a:t>if</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98658"/>
                </a:solidFill>
                <a:effectLst/>
                <a:latin typeface="Consolas" panose="020B0609020204030204" pitchFamily="49" charset="0"/>
              </a:rPr>
              <a:t>1</a:t>
            </a:r>
            <a:r>
              <a:rPr lang="pt-BR" altLang="zh-CN" b="0" dirty="0">
                <a:solidFill>
                  <a:srgbClr val="000000"/>
                </a:solidFill>
                <a:effectLst/>
                <a:latin typeface="Consolas" panose="020B0609020204030204" pitchFamily="49" charset="0"/>
              </a:rPr>
              <a:t>) {</a:t>
            </a:r>
          </a:p>
          <a:p>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move</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r>
              <a:rPr lang="pt-BR" altLang="zh-CN" b="0" dirty="0">
                <a:solidFill>
                  <a:srgbClr val="AF00DB"/>
                </a:solidFill>
                <a:effectLst/>
                <a:latin typeface="Consolas" panose="020B0609020204030204" pitchFamily="49" charset="0"/>
              </a:rPr>
              <a:t>return</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p>
          <a:p>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hanoi</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98658"/>
                </a:solidFill>
                <a:effectLst/>
                <a:latin typeface="Consolas" panose="020B0609020204030204" pitchFamily="49" charset="0"/>
              </a:rPr>
              <a:t>1</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b</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move</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hanoi</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98658"/>
                </a:solidFill>
                <a:effectLst/>
                <a:latin typeface="Consolas" panose="020B0609020204030204" pitchFamily="49" charset="0"/>
              </a:rPr>
              <a:t>1</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b</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a:t>
            </a:r>
          </a:p>
          <a:p>
            <a:endParaRPr lang="zh-CN" altLang="en-US" dirty="0"/>
          </a:p>
        </p:txBody>
      </p:sp>
      <p:sp>
        <p:nvSpPr>
          <p:cNvPr id="2" name="文本框 1">
            <a:extLst>
              <a:ext uri="{FF2B5EF4-FFF2-40B4-BE49-F238E27FC236}">
                <a16:creationId xmlns:a16="http://schemas.microsoft.com/office/drawing/2014/main" id="{660779FC-ADB5-438E-B040-6DB3C73015D5}"/>
              </a:ext>
            </a:extLst>
          </p:cNvPr>
          <p:cNvSpPr txBox="1"/>
          <p:nvPr/>
        </p:nvSpPr>
        <p:spPr>
          <a:xfrm>
            <a:off x="6030685" y="5881489"/>
            <a:ext cx="3264035" cy="646331"/>
          </a:xfrm>
          <a:prstGeom prst="rect">
            <a:avLst/>
          </a:prstGeom>
          <a:noFill/>
        </p:spPr>
        <p:txBody>
          <a:bodyPr wrap="none" rtlCol="0">
            <a:spAutoFit/>
          </a:bodyPr>
          <a:lstStyle/>
          <a:p>
            <a:r>
              <a:rPr lang="zh-CN" altLang="en-US" b="1" dirty="0"/>
              <a:t>编译指令：</a:t>
            </a:r>
            <a:r>
              <a:rPr lang="en-US" altLang="zh-CN" dirty="0" err="1"/>
              <a:t>gcc</a:t>
            </a:r>
            <a:r>
              <a:rPr lang="en-US" altLang="zh-CN" dirty="0"/>
              <a:t> </a:t>
            </a:r>
            <a:r>
              <a:rPr lang="en-US" altLang="zh-CN" dirty="0" err="1"/>
              <a:t>hanoi-embed.c</a:t>
            </a:r>
            <a:endParaRPr lang="en-US" altLang="zh-CN" dirty="0"/>
          </a:p>
          <a:p>
            <a:r>
              <a:rPr lang="en-US" altLang="zh-CN" dirty="0"/>
              <a:t>    </a:t>
            </a:r>
            <a:r>
              <a:rPr lang="zh-CN" altLang="en-US" dirty="0"/>
              <a:t>在线测试中常见的布局形式</a:t>
            </a:r>
          </a:p>
        </p:txBody>
      </p:sp>
      <p:cxnSp>
        <p:nvCxnSpPr>
          <p:cNvPr id="4" name="直接箭头连接符 3">
            <a:extLst>
              <a:ext uri="{FF2B5EF4-FFF2-40B4-BE49-F238E27FC236}">
                <a16:creationId xmlns:a16="http://schemas.microsoft.com/office/drawing/2014/main" id="{4C8DB14C-145A-49F2-A5BC-13C02781DF3B}"/>
              </a:ext>
            </a:extLst>
          </p:cNvPr>
          <p:cNvCxnSpPr>
            <a:cxnSpLocks/>
          </p:cNvCxnSpPr>
          <p:nvPr/>
        </p:nvCxnSpPr>
        <p:spPr>
          <a:xfrm flipH="1" flipV="1">
            <a:off x="5094514" y="5103208"/>
            <a:ext cx="132080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6C6A0E3E-92DD-40F9-87D9-2BB6A6F465AA}"/>
              </a:ext>
            </a:extLst>
          </p:cNvPr>
          <p:cNvCxnSpPr>
            <a:cxnSpLocks/>
          </p:cNvCxnSpPr>
          <p:nvPr/>
        </p:nvCxnSpPr>
        <p:spPr>
          <a:xfrm flipV="1">
            <a:off x="8244114" y="4100286"/>
            <a:ext cx="0" cy="6023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427F7C8C-80E8-4452-8365-46CA0DF69CCE}"/>
              </a:ext>
            </a:extLst>
          </p:cNvPr>
          <p:cNvSpPr txBox="1"/>
          <p:nvPr/>
        </p:nvSpPr>
        <p:spPr>
          <a:xfrm>
            <a:off x="6415313" y="4935288"/>
            <a:ext cx="2605316" cy="369332"/>
          </a:xfrm>
          <a:prstGeom prst="rect">
            <a:avLst/>
          </a:prstGeom>
          <a:noFill/>
        </p:spPr>
        <p:txBody>
          <a:bodyPr wrap="square" rtlCol="0">
            <a:spAutoFit/>
          </a:bodyPr>
          <a:lstStyle/>
          <a:p>
            <a:r>
              <a:rPr lang="en-US" altLang="zh-CN" dirty="0" err="1"/>
              <a:t>hanoi-embed.c</a:t>
            </a:r>
            <a:endParaRPr lang="zh-CN" altLang="en-US" dirty="0"/>
          </a:p>
        </p:txBody>
      </p:sp>
      <p:sp>
        <p:nvSpPr>
          <p:cNvPr id="16" name="文本框 15">
            <a:extLst>
              <a:ext uri="{FF2B5EF4-FFF2-40B4-BE49-F238E27FC236}">
                <a16:creationId xmlns:a16="http://schemas.microsoft.com/office/drawing/2014/main" id="{1D271E90-310F-4FA6-B0F3-741E6D4B0337}"/>
              </a:ext>
            </a:extLst>
          </p:cNvPr>
          <p:cNvSpPr txBox="1"/>
          <p:nvPr/>
        </p:nvSpPr>
        <p:spPr>
          <a:xfrm>
            <a:off x="7736114" y="4590021"/>
            <a:ext cx="3748142" cy="369332"/>
          </a:xfrm>
          <a:prstGeom prst="rect">
            <a:avLst/>
          </a:prstGeom>
          <a:noFill/>
        </p:spPr>
        <p:txBody>
          <a:bodyPr wrap="none" rtlCol="0">
            <a:spAutoFit/>
          </a:bodyPr>
          <a:lstStyle/>
          <a:p>
            <a:r>
              <a:rPr lang="en-US" altLang="zh-CN" dirty="0" err="1"/>
              <a:t>hanoi.h</a:t>
            </a:r>
            <a:r>
              <a:rPr lang="en-US" altLang="zh-CN" dirty="0"/>
              <a:t> </a:t>
            </a:r>
            <a:r>
              <a:rPr lang="zh-CN" altLang="en-US" b="1" dirty="0"/>
              <a:t>注意，该文件不能独立编译</a:t>
            </a:r>
          </a:p>
        </p:txBody>
      </p:sp>
    </p:spTree>
    <p:extLst>
      <p:ext uri="{BB962C8B-B14F-4D97-AF65-F5344CB8AC3E}">
        <p14:creationId xmlns:p14="http://schemas.microsoft.com/office/powerpoint/2010/main" val="119455070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right)">
                                      <p:cBhvr>
                                        <p:cTn id="7" dur="500"/>
                                        <p:tgtEl>
                                          <p:spTgt spid="34"/>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barn(inVertical)">
                                      <p:cBhvr>
                                        <p:cTn id="11"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案例：汉诺塔程序的布局与编译（</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normal</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5" name="文本框 4">
            <a:extLst>
              <a:ext uri="{FF2B5EF4-FFF2-40B4-BE49-F238E27FC236}">
                <a16:creationId xmlns:a16="http://schemas.microsoft.com/office/drawing/2014/main" id="{0BC0F4C8-E016-45FC-910F-824FFAEBAFA1}"/>
              </a:ext>
            </a:extLst>
          </p:cNvPr>
          <p:cNvSpPr txBox="1"/>
          <p:nvPr/>
        </p:nvSpPr>
        <p:spPr>
          <a:xfrm>
            <a:off x="522514" y="1528601"/>
            <a:ext cx="5094514" cy="4524315"/>
          </a:xfrm>
          <a:prstGeom prst="rect">
            <a:avLst/>
          </a:prstGeom>
          <a:noFill/>
          <a:ln>
            <a:solidFill>
              <a:schemeClr val="bg1">
                <a:lumMod val="75000"/>
              </a:schemeClr>
            </a:solidFill>
          </a:ln>
        </p:spPr>
        <p:txBody>
          <a:bodyPr wrap="square" rtlCol="0">
            <a:spAutoFit/>
          </a:bodyPr>
          <a:lstStyle/>
          <a:p>
            <a:r>
              <a:rPr lang="en-US" altLang="zh-CN" b="0" dirty="0">
                <a:solidFill>
                  <a:srgbClr val="AF00DB"/>
                </a:solidFill>
                <a:effectLst/>
                <a:latin typeface="Consolas" panose="020B0609020204030204" pitchFamily="49" charset="0"/>
              </a:rPr>
              <a:t>#include</a:t>
            </a:r>
            <a:r>
              <a:rPr lang="en-US" altLang="zh-CN" b="0" dirty="0">
                <a:solidFill>
                  <a:srgbClr val="0000FF"/>
                </a:solidFill>
                <a:effectLst/>
                <a:latin typeface="Consolas" panose="020B0609020204030204" pitchFamily="49" charset="0"/>
              </a:rPr>
              <a:t> </a:t>
            </a:r>
            <a:r>
              <a:rPr lang="en-US" altLang="zh-CN" b="0" dirty="0">
                <a:solidFill>
                  <a:srgbClr val="A31515"/>
                </a:solidFill>
                <a:effectLst/>
                <a:latin typeface="Consolas" panose="020B0609020204030204" pitchFamily="49" charset="0"/>
              </a:rPr>
              <a:t>&lt;</a:t>
            </a:r>
            <a:r>
              <a:rPr lang="en-US" altLang="zh-CN" b="0" dirty="0" err="1">
                <a:solidFill>
                  <a:srgbClr val="A31515"/>
                </a:solidFill>
                <a:effectLst/>
                <a:latin typeface="Consolas" panose="020B0609020204030204" pitchFamily="49" charset="0"/>
              </a:rPr>
              <a:t>stdio.h</a:t>
            </a:r>
            <a:r>
              <a:rPr lang="en-US" altLang="zh-CN" b="0" dirty="0">
                <a:solidFill>
                  <a:srgbClr val="A31515"/>
                </a:solidFill>
                <a:effectLst/>
                <a:latin typeface="Consolas" panose="020B0609020204030204" pitchFamily="49" charset="0"/>
              </a:rPr>
              <a:t>&gt;</a:t>
            </a:r>
            <a:endParaRPr lang="en-US" altLang="zh-CN" b="0" dirty="0">
              <a:solidFill>
                <a:srgbClr val="000000"/>
              </a:solidFill>
              <a:effectLst/>
              <a:latin typeface="Consolas" panose="020B0609020204030204" pitchFamily="49" charset="0"/>
            </a:endParaRPr>
          </a:p>
          <a:p>
            <a:r>
              <a:rPr lang="en-US" altLang="zh-CN" b="0" dirty="0">
                <a:solidFill>
                  <a:srgbClr val="AF00DB"/>
                </a:solidFill>
                <a:effectLst/>
                <a:latin typeface="Consolas" panose="020B0609020204030204" pitchFamily="49" charset="0"/>
              </a:rPr>
              <a:t>#include</a:t>
            </a:r>
            <a:r>
              <a:rPr lang="en-US" altLang="zh-CN" b="0" dirty="0">
                <a:solidFill>
                  <a:srgbClr val="0000FF"/>
                </a:solidFill>
                <a:effectLst/>
                <a:latin typeface="Consolas" panose="020B0609020204030204" pitchFamily="49" charset="0"/>
              </a:rPr>
              <a:t> </a:t>
            </a:r>
            <a:r>
              <a:rPr lang="en-US" altLang="zh-CN" dirty="0">
                <a:solidFill>
                  <a:srgbClr val="A31515"/>
                </a:solidFill>
                <a:latin typeface="Consolas" panose="020B0609020204030204" pitchFamily="49" charset="0"/>
              </a:rPr>
              <a:t>“</a:t>
            </a:r>
            <a:r>
              <a:rPr lang="en-US" altLang="zh-CN" dirty="0" err="1">
                <a:solidFill>
                  <a:srgbClr val="A31515"/>
                </a:solidFill>
                <a:latin typeface="Consolas" panose="020B0609020204030204" pitchFamily="49" charset="0"/>
              </a:rPr>
              <a:t>hanoi.h</a:t>
            </a:r>
            <a:r>
              <a:rPr lang="en-US" altLang="zh-CN" dirty="0">
                <a:solidFill>
                  <a:srgbClr val="A31515"/>
                </a:solidFill>
                <a:latin typeface="Consolas" panose="020B0609020204030204" pitchFamily="49" charset="0"/>
              </a:rPr>
              <a:t>”</a:t>
            </a:r>
            <a:endParaRPr lang="en-US" altLang="zh-CN" b="0" dirty="0">
              <a:solidFill>
                <a:srgbClr val="000000"/>
              </a:solidFill>
              <a:effectLst/>
              <a:latin typeface="Consolas" panose="020B0609020204030204" pitchFamily="49" charset="0"/>
            </a:endParaRPr>
          </a:p>
          <a:p>
            <a:br>
              <a:rPr lang="en-US" altLang="zh-CN" b="0" dirty="0">
                <a:solidFill>
                  <a:srgbClr val="000000"/>
                </a:solidFill>
                <a:effectLst/>
                <a:latin typeface="Consolas" panose="020B0609020204030204" pitchFamily="49" charset="0"/>
              </a:rPr>
            </a:b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main</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n</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scanf</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d</a:t>
            </a:r>
            <a:r>
              <a:rPr lang="en-US" altLang="zh-CN" b="0" dirty="0" err="1">
                <a:solidFill>
                  <a:srgbClr val="A31515"/>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,&amp;</a:t>
            </a:r>
            <a:r>
              <a:rPr lang="en-US" altLang="zh-CN" b="0" dirty="0" err="1">
                <a:solidFill>
                  <a:srgbClr val="001080"/>
                </a:solidFill>
                <a:effectLst/>
                <a:latin typeface="Consolas" panose="020B0609020204030204" pitchFamily="49" charset="0"/>
              </a:rPr>
              <a:t>n</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hanoi</a:t>
            </a:r>
            <a:r>
              <a:rPr lang="en-US" altLang="zh-CN" b="0" dirty="0">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n</a:t>
            </a:r>
            <a:r>
              <a:rPr lang="en-US" altLang="zh-CN" b="0" dirty="0" err="1">
                <a:solidFill>
                  <a:srgbClr val="000000"/>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'a'</a:t>
            </a:r>
            <a:r>
              <a:rPr lang="en-US" altLang="zh-CN" b="0" dirty="0" err="1">
                <a:solidFill>
                  <a:srgbClr val="000000"/>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'b'</a:t>
            </a:r>
            <a:r>
              <a:rPr lang="en-US" altLang="zh-CN" b="0" dirty="0" err="1">
                <a:solidFill>
                  <a:srgbClr val="000000"/>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'c</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return</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a:p>
            <a:br>
              <a:rPr lang="en-US" altLang="zh-CN" b="0" dirty="0">
                <a:solidFill>
                  <a:srgbClr val="000000"/>
                </a:solidFill>
                <a:effectLst/>
                <a:latin typeface="Consolas" panose="020B0609020204030204" pitchFamily="49" charset="0"/>
              </a:rPr>
            </a:br>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move</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n</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b</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printf</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"move </a:t>
            </a:r>
            <a:r>
              <a:rPr lang="en-US" altLang="zh-CN" b="0" dirty="0">
                <a:solidFill>
                  <a:srgbClr val="001080"/>
                </a:solidFill>
                <a:effectLst/>
                <a:latin typeface="Consolas" panose="020B0609020204030204" pitchFamily="49" charset="0"/>
              </a:rPr>
              <a:t>%d</a:t>
            </a:r>
            <a:r>
              <a:rPr lang="en-US" altLang="zh-CN" b="0" dirty="0">
                <a:solidFill>
                  <a:srgbClr val="A31515"/>
                </a:solidFill>
                <a:effectLst/>
                <a:latin typeface="Consolas" panose="020B0609020204030204" pitchFamily="49" charset="0"/>
              </a:rPr>
              <a:t> from </a:t>
            </a:r>
            <a:r>
              <a:rPr lang="en-US" altLang="zh-CN" b="0" dirty="0">
                <a:solidFill>
                  <a:srgbClr val="001080"/>
                </a:solidFill>
                <a:effectLst/>
                <a:latin typeface="Consolas" panose="020B0609020204030204" pitchFamily="49" charset="0"/>
              </a:rPr>
              <a:t>%c</a:t>
            </a:r>
            <a:r>
              <a:rPr lang="en-US" altLang="zh-CN" b="0" dirty="0">
                <a:solidFill>
                  <a:srgbClr val="A31515"/>
                </a:solidFill>
                <a:effectLst/>
                <a:latin typeface="Consolas" panose="020B0609020204030204" pitchFamily="49" charset="0"/>
              </a:rPr>
              <a:t> to </a:t>
            </a:r>
            <a:r>
              <a:rPr lang="en-US" altLang="zh-CN" b="0" dirty="0">
                <a:solidFill>
                  <a:srgbClr val="001080"/>
                </a:solidFill>
                <a:effectLst/>
                <a:latin typeface="Consolas" panose="020B0609020204030204" pitchFamily="49" charset="0"/>
              </a:rPr>
              <a:t>%c</a:t>
            </a:r>
            <a:r>
              <a:rPr lang="en-US" altLang="zh-CN" b="0" dirty="0">
                <a:solidFill>
                  <a:srgbClr val="EE0000"/>
                </a:solidFill>
                <a:effectLst/>
                <a:latin typeface="Consolas" panose="020B0609020204030204" pitchFamily="49" charset="0"/>
              </a:rPr>
              <a:t>\n</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n</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b</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a:p>
            <a:endParaRPr lang="zh-CN" altLang="en-US" dirty="0"/>
          </a:p>
        </p:txBody>
      </p:sp>
      <p:sp>
        <p:nvSpPr>
          <p:cNvPr id="7" name="文本框 6">
            <a:extLst>
              <a:ext uri="{FF2B5EF4-FFF2-40B4-BE49-F238E27FC236}">
                <a16:creationId xmlns:a16="http://schemas.microsoft.com/office/drawing/2014/main" id="{45107D01-8C56-4E24-98B2-C719B6853C37}"/>
              </a:ext>
            </a:extLst>
          </p:cNvPr>
          <p:cNvSpPr txBox="1"/>
          <p:nvPr/>
        </p:nvSpPr>
        <p:spPr>
          <a:xfrm>
            <a:off x="5980478" y="2926834"/>
            <a:ext cx="5094514" cy="3139321"/>
          </a:xfrm>
          <a:prstGeom prst="rect">
            <a:avLst/>
          </a:prstGeom>
          <a:noFill/>
          <a:ln>
            <a:solidFill>
              <a:schemeClr val="bg1">
                <a:lumMod val="75000"/>
              </a:schemeClr>
            </a:solidFill>
          </a:ln>
        </p:spPr>
        <p:txBody>
          <a:bodyPr wrap="square" rtlCol="0">
            <a:spAutoFit/>
          </a:bodyPr>
          <a:lstStyle/>
          <a:p>
            <a:r>
              <a:rPr lang="en-US" altLang="zh-CN" b="0" dirty="0">
                <a:solidFill>
                  <a:srgbClr val="AF00DB"/>
                </a:solidFill>
                <a:effectLst/>
                <a:latin typeface="Consolas" panose="020B0609020204030204" pitchFamily="49" charset="0"/>
              </a:rPr>
              <a:t>#include</a:t>
            </a:r>
            <a:r>
              <a:rPr lang="en-US" altLang="zh-CN" b="0" dirty="0">
                <a:solidFill>
                  <a:srgbClr val="0000FF"/>
                </a:solidFill>
                <a:effectLst/>
                <a:latin typeface="Consolas" panose="020B0609020204030204" pitchFamily="49" charset="0"/>
              </a:rPr>
              <a:t> </a:t>
            </a:r>
            <a:r>
              <a:rPr lang="en-US" altLang="zh-CN" dirty="0">
                <a:solidFill>
                  <a:srgbClr val="A31515"/>
                </a:solidFill>
                <a:latin typeface="Consolas" panose="020B0609020204030204" pitchFamily="49" charset="0"/>
              </a:rPr>
              <a:t>“</a:t>
            </a:r>
            <a:r>
              <a:rPr lang="en-US" altLang="zh-CN" dirty="0" err="1">
                <a:solidFill>
                  <a:srgbClr val="A31515"/>
                </a:solidFill>
                <a:latin typeface="Consolas" panose="020B0609020204030204" pitchFamily="49" charset="0"/>
              </a:rPr>
              <a:t>hanoi.h</a:t>
            </a:r>
            <a:r>
              <a:rPr lang="en-US" altLang="zh-CN" dirty="0">
                <a:solidFill>
                  <a:srgbClr val="A31515"/>
                </a:solidFill>
                <a:latin typeface="Consolas" panose="020B0609020204030204" pitchFamily="49" charset="0"/>
              </a:rPr>
              <a:t>”</a:t>
            </a:r>
            <a:endParaRPr lang="pt-BR" altLang="zh-CN" b="0" dirty="0">
              <a:solidFill>
                <a:srgbClr val="0000FF"/>
              </a:solidFill>
              <a:effectLst/>
              <a:latin typeface="Consolas" panose="020B0609020204030204" pitchFamily="49" charset="0"/>
            </a:endParaRPr>
          </a:p>
          <a:p>
            <a:endParaRPr lang="pt-BR" altLang="zh-CN" dirty="0">
              <a:solidFill>
                <a:srgbClr val="0000FF"/>
              </a:solidFill>
              <a:latin typeface="Consolas" panose="020B0609020204030204" pitchFamily="49" charset="0"/>
            </a:endParaRPr>
          </a:p>
          <a:p>
            <a:r>
              <a:rPr lang="pt-BR" altLang="zh-CN" b="0" dirty="0">
                <a:solidFill>
                  <a:srgbClr val="0000FF"/>
                </a:solidFill>
                <a:effectLst/>
                <a:latin typeface="Consolas" panose="020B0609020204030204" pitchFamily="49" charset="0"/>
              </a:rPr>
              <a:t>void</a:t>
            </a:r>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hanoi</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b</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r>
              <a:rPr lang="pt-BR" altLang="zh-CN" b="0" dirty="0">
                <a:solidFill>
                  <a:srgbClr val="AF00DB"/>
                </a:solidFill>
                <a:effectLst/>
                <a:latin typeface="Consolas" panose="020B0609020204030204" pitchFamily="49" charset="0"/>
              </a:rPr>
              <a:t>if</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98658"/>
                </a:solidFill>
                <a:effectLst/>
                <a:latin typeface="Consolas" panose="020B0609020204030204" pitchFamily="49" charset="0"/>
              </a:rPr>
              <a:t>1</a:t>
            </a:r>
            <a:r>
              <a:rPr lang="pt-BR" altLang="zh-CN" b="0" dirty="0">
                <a:solidFill>
                  <a:srgbClr val="000000"/>
                </a:solidFill>
                <a:effectLst/>
                <a:latin typeface="Consolas" panose="020B0609020204030204" pitchFamily="49" charset="0"/>
              </a:rPr>
              <a:t>) {</a:t>
            </a:r>
          </a:p>
          <a:p>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move</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r>
              <a:rPr lang="pt-BR" altLang="zh-CN" b="0" dirty="0">
                <a:solidFill>
                  <a:srgbClr val="AF00DB"/>
                </a:solidFill>
                <a:effectLst/>
                <a:latin typeface="Consolas" panose="020B0609020204030204" pitchFamily="49" charset="0"/>
              </a:rPr>
              <a:t>return</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p>
          <a:p>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hanoi</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98658"/>
                </a:solidFill>
                <a:effectLst/>
                <a:latin typeface="Consolas" panose="020B0609020204030204" pitchFamily="49" charset="0"/>
              </a:rPr>
              <a:t>1</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b</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move</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hanoi</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98658"/>
                </a:solidFill>
                <a:effectLst/>
                <a:latin typeface="Consolas" panose="020B0609020204030204" pitchFamily="49" charset="0"/>
              </a:rPr>
              <a:t>1</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b</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a:t>
            </a:r>
          </a:p>
        </p:txBody>
      </p:sp>
      <p:sp>
        <p:nvSpPr>
          <p:cNvPr id="2" name="文本框 1">
            <a:extLst>
              <a:ext uri="{FF2B5EF4-FFF2-40B4-BE49-F238E27FC236}">
                <a16:creationId xmlns:a16="http://schemas.microsoft.com/office/drawing/2014/main" id="{660779FC-ADB5-438E-B040-6DB3C73015D5}"/>
              </a:ext>
            </a:extLst>
          </p:cNvPr>
          <p:cNvSpPr txBox="1"/>
          <p:nvPr/>
        </p:nvSpPr>
        <p:spPr>
          <a:xfrm>
            <a:off x="2949310" y="6263547"/>
            <a:ext cx="2667718" cy="369332"/>
          </a:xfrm>
          <a:prstGeom prst="rect">
            <a:avLst/>
          </a:prstGeom>
          <a:noFill/>
        </p:spPr>
        <p:txBody>
          <a:bodyPr wrap="none" rtlCol="0">
            <a:spAutoFit/>
          </a:bodyPr>
          <a:lstStyle/>
          <a:p>
            <a:r>
              <a:rPr lang="zh-CN" altLang="en-US" b="1" dirty="0"/>
              <a:t>编译指令：</a:t>
            </a:r>
            <a:r>
              <a:rPr lang="en-US" altLang="zh-CN" dirty="0" err="1"/>
              <a:t>gcc</a:t>
            </a:r>
            <a:r>
              <a:rPr lang="en-US" altLang="zh-CN" dirty="0"/>
              <a:t> –c </a:t>
            </a:r>
            <a:r>
              <a:rPr lang="en-US" altLang="zh-CN" dirty="0" err="1"/>
              <a:t>main.c</a:t>
            </a:r>
            <a:endParaRPr lang="zh-CN" altLang="en-US" dirty="0"/>
          </a:p>
        </p:txBody>
      </p:sp>
      <p:cxnSp>
        <p:nvCxnSpPr>
          <p:cNvPr id="4" name="直接箭头连接符 3">
            <a:extLst>
              <a:ext uri="{FF2B5EF4-FFF2-40B4-BE49-F238E27FC236}">
                <a16:creationId xmlns:a16="http://schemas.microsoft.com/office/drawing/2014/main" id="{4C8DB14C-145A-49F2-A5BC-13C02781DF3B}"/>
              </a:ext>
            </a:extLst>
          </p:cNvPr>
          <p:cNvCxnSpPr>
            <a:cxnSpLocks/>
            <a:stCxn id="10" idx="0"/>
          </p:cNvCxnSpPr>
          <p:nvPr/>
        </p:nvCxnSpPr>
        <p:spPr>
          <a:xfrm flipV="1">
            <a:off x="2346295" y="5578063"/>
            <a:ext cx="32861" cy="6854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6C6A0E3E-92DD-40F9-87D9-2BB6A6F465AA}"/>
              </a:ext>
            </a:extLst>
          </p:cNvPr>
          <p:cNvCxnSpPr>
            <a:cxnSpLocks/>
          </p:cNvCxnSpPr>
          <p:nvPr/>
        </p:nvCxnSpPr>
        <p:spPr>
          <a:xfrm flipV="1">
            <a:off x="8200571" y="5827486"/>
            <a:ext cx="0" cy="4360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427F7C8C-80E8-4452-8365-46CA0DF69CCE}"/>
              </a:ext>
            </a:extLst>
          </p:cNvPr>
          <p:cNvSpPr txBox="1"/>
          <p:nvPr/>
        </p:nvSpPr>
        <p:spPr>
          <a:xfrm>
            <a:off x="1932559" y="6263547"/>
            <a:ext cx="827471" cy="369332"/>
          </a:xfrm>
          <a:prstGeom prst="rect">
            <a:avLst/>
          </a:prstGeom>
          <a:noFill/>
        </p:spPr>
        <p:txBody>
          <a:bodyPr wrap="none" rtlCol="0">
            <a:spAutoFit/>
          </a:bodyPr>
          <a:lstStyle/>
          <a:p>
            <a:r>
              <a:rPr lang="en-US" altLang="zh-CN" dirty="0" err="1"/>
              <a:t>main.c</a:t>
            </a:r>
            <a:endParaRPr lang="zh-CN" altLang="en-US" dirty="0"/>
          </a:p>
        </p:txBody>
      </p:sp>
      <p:sp>
        <p:nvSpPr>
          <p:cNvPr id="16" name="文本框 15">
            <a:extLst>
              <a:ext uri="{FF2B5EF4-FFF2-40B4-BE49-F238E27FC236}">
                <a16:creationId xmlns:a16="http://schemas.microsoft.com/office/drawing/2014/main" id="{1D271E90-310F-4FA6-B0F3-741E6D4B0337}"/>
              </a:ext>
            </a:extLst>
          </p:cNvPr>
          <p:cNvSpPr txBox="1"/>
          <p:nvPr/>
        </p:nvSpPr>
        <p:spPr>
          <a:xfrm>
            <a:off x="7112000" y="6263547"/>
            <a:ext cx="955711" cy="369332"/>
          </a:xfrm>
          <a:prstGeom prst="rect">
            <a:avLst/>
          </a:prstGeom>
          <a:noFill/>
        </p:spPr>
        <p:txBody>
          <a:bodyPr wrap="none" rtlCol="0">
            <a:spAutoFit/>
          </a:bodyPr>
          <a:lstStyle/>
          <a:p>
            <a:r>
              <a:rPr lang="en-US" altLang="zh-CN" dirty="0" err="1"/>
              <a:t>hanoi.c</a:t>
            </a:r>
            <a:r>
              <a:rPr lang="en-US" altLang="zh-CN" dirty="0"/>
              <a:t> </a:t>
            </a:r>
            <a:endParaRPr lang="zh-CN" altLang="en-US" b="1" dirty="0"/>
          </a:p>
        </p:txBody>
      </p:sp>
      <p:sp>
        <p:nvSpPr>
          <p:cNvPr id="15" name="文本框 14">
            <a:extLst>
              <a:ext uri="{FF2B5EF4-FFF2-40B4-BE49-F238E27FC236}">
                <a16:creationId xmlns:a16="http://schemas.microsoft.com/office/drawing/2014/main" id="{1F3D1D50-851F-47CE-BC32-BC21014278C5}"/>
              </a:ext>
            </a:extLst>
          </p:cNvPr>
          <p:cNvSpPr txBox="1"/>
          <p:nvPr/>
        </p:nvSpPr>
        <p:spPr>
          <a:xfrm>
            <a:off x="8303923" y="6263547"/>
            <a:ext cx="2733441" cy="369332"/>
          </a:xfrm>
          <a:prstGeom prst="rect">
            <a:avLst/>
          </a:prstGeom>
          <a:noFill/>
        </p:spPr>
        <p:txBody>
          <a:bodyPr wrap="none" rtlCol="0">
            <a:spAutoFit/>
          </a:bodyPr>
          <a:lstStyle/>
          <a:p>
            <a:r>
              <a:rPr lang="zh-CN" altLang="en-US" b="1" dirty="0"/>
              <a:t>编译指令：</a:t>
            </a:r>
            <a:r>
              <a:rPr lang="en-US" altLang="zh-CN" dirty="0" err="1"/>
              <a:t>gcc</a:t>
            </a:r>
            <a:r>
              <a:rPr lang="en-US" altLang="zh-CN" dirty="0"/>
              <a:t> –c </a:t>
            </a:r>
            <a:r>
              <a:rPr lang="en-US" altLang="zh-CN" dirty="0" err="1"/>
              <a:t>hanoi.c</a:t>
            </a:r>
            <a:endParaRPr lang="zh-CN" altLang="en-US" dirty="0"/>
          </a:p>
        </p:txBody>
      </p:sp>
      <p:sp>
        <p:nvSpPr>
          <p:cNvPr id="17" name="文本框 16">
            <a:extLst>
              <a:ext uri="{FF2B5EF4-FFF2-40B4-BE49-F238E27FC236}">
                <a16:creationId xmlns:a16="http://schemas.microsoft.com/office/drawing/2014/main" id="{2649F18B-2117-49A3-AD9B-D58913657D0D}"/>
              </a:ext>
            </a:extLst>
          </p:cNvPr>
          <p:cNvSpPr txBox="1"/>
          <p:nvPr/>
        </p:nvSpPr>
        <p:spPr>
          <a:xfrm>
            <a:off x="5980478" y="1528601"/>
            <a:ext cx="5094514" cy="923330"/>
          </a:xfrm>
          <a:prstGeom prst="rect">
            <a:avLst/>
          </a:prstGeom>
          <a:noFill/>
          <a:ln>
            <a:solidFill>
              <a:schemeClr val="bg1">
                <a:lumMod val="75000"/>
              </a:schemeClr>
            </a:solidFill>
          </a:ln>
        </p:spPr>
        <p:txBody>
          <a:bodyPr wrap="square" rtlCol="0">
            <a:spAutoFit/>
          </a:bodyPr>
          <a:lstStyle/>
          <a:p>
            <a:r>
              <a:rPr lang="en-US" altLang="zh-CN" b="0" dirty="0">
                <a:solidFill>
                  <a:srgbClr val="008000"/>
                </a:solidFill>
                <a:effectLst/>
                <a:latin typeface="Consolas" panose="020B0609020204030204" pitchFamily="49" charset="0"/>
              </a:rPr>
              <a:t>//</a:t>
            </a:r>
            <a:r>
              <a:rPr lang="en-US" altLang="zh-CN" b="0" dirty="0" err="1">
                <a:solidFill>
                  <a:srgbClr val="008000"/>
                </a:solidFill>
                <a:effectLst/>
                <a:latin typeface="Consolas" panose="020B0609020204030204" pitchFamily="49" charset="0"/>
              </a:rPr>
              <a:t>a,b,c</a:t>
            </a:r>
            <a:r>
              <a:rPr lang="en-US" altLang="zh-CN" b="0" dirty="0">
                <a:solidFill>
                  <a:srgbClr val="008000"/>
                </a:solidFill>
                <a:effectLst/>
                <a:latin typeface="Consolas" panose="020B0609020204030204" pitchFamily="49" charset="0"/>
              </a:rPr>
              <a:t> </a:t>
            </a:r>
            <a:r>
              <a:rPr lang="zh-CN" altLang="en-US" b="0" dirty="0">
                <a:solidFill>
                  <a:srgbClr val="008000"/>
                </a:solidFill>
                <a:effectLst/>
                <a:latin typeface="Consolas" panose="020B0609020204030204" pitchFamily="49" charset="0"/>
              </a:rPr>
              <a:t>是柱子编号，用</a:t>
            </a:r>
            <a:r>
              <a:rPr lang="en-US" altLang="zh-CN" b="0" dirty="0">
                <a:solidFill>
                  <a:srgbClr val="008000"/>
                </a:solidFill>
                <a:effectLst/>
                <a:latin typeface="Consolas" panose="020B0609020204030204" pitchFamily="49" charset="0"/>
              </a:rPr>
              <a:t>'</a:t>
            </a:r>
            <a:r>
              <a:rPr lang="en-US" altLang="zh-CN" b="0" dirty="0" err="1">
                <a:solidFill>
                  <a:srgbClr val="008000"/>
                </a:solidFill>
                <a:effectLst/>
                <a:latin typeface="Consolas" panose="020B0609020204030204" pitchFamily="49" charset="0"/>
              </a:rPr>
              <a:t>a','b','c</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表示</a:t>
            </a:r>
            <a:endParaRPr lang="zh-CN" altLang="en-US" b="0" dirty="0">
              <a:solidFill>
                <a:srgbClr val="000000"/>
              </a:solidFill>
              <a:effectLst/>
              <a:latin typeface="Consolas" panose="020B0609020204030204" pitchFamily="49" charset="0"/>
            </a:endParaRPr>
          </a:p>
          <a:p>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hanoi</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n</a:t>
            </a:r>
            <a:r>
              <a:rPr lang="en-US" altLang="zh-CN" b="0" dirty="0" err="1">
                <a:solidFill>
                  <a:srgbClr val="000000"/>
                </a:solidFill>
                <a:effectLst/>
                <a:latin typeface="Consolas" panose="020B0609020204030204" pitchFamily="49" charset="0"/>
              </a:rPr>
              <a:t>,</a:t>
            </a:r>
            <a:r>
              <a:rPr lang="en-US" altLang="zh-CN" b="0" dirty="0" err="1">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a</a:t>
            </a:r>
            <a:r>
              <a:rPr lang="en-US" altLang="zh-CN" b="0" dirty="0" err="1">
                <a:solidFill>
                  <a:srgbClr val="000000"/>
                </a:solidFill>
                <a:effectLst/>
                <a:latin typeface="Consolas" panose="020B0609020204030204" pitchFamily="49" charset="0"/>
              </a:rPr>
              <a:t>,</a:t>
            </a:r>
            <a:r>
              <a:rPr lang="en-US" altLang="zh-CN" b="0" dirty="0" err="1">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b</a:t>
            </a:r>
            <a:r>
              <a:rPr lang="en-US" altLang="zh-CN" b="0" dirty="0" err="1">
                <a:solidFill>
                  <a:srgbClr val="000000"/>
                </a:solidFill>
                <a:effectLst/>
                <a:latin typeface="Consolas" panose="020B0609020204030204" pitchFamily="49" charset="0"/>
              </a:rPr>
              <a:t>,</a:t>
            </a:r>
            <a:r>
              <a:rPr lang="en-US" altLang="zh-CN" b="0" dirty="0" err="1">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c</a:t>
            </a:r>
            <a:r>
              <a:rPr lang="en-US" altLang="zh-CN" b="0" dirty="0">
                <a:solidFill>
                  <a:srgbClr val="000000"/>
                </a:solidFill>
                <a:effectLst/>
                <a:latin typeface="Consolas" panose="020B0609020204030204" pitchFamily="49" charset="0"/>
              </a:rPr>
              <a:t>);</a:t>
            </a:r>
          </a:p>
          <a:p>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move</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n</a:t>
            </a:r>
            <a:r>
              <a:rPr lang="en-US" altLang="zh-CN" b="0" dirty="0" err="1">
                <a:solidFill>
                  <a:srgbClr val="000000"/>
                </a:solidFill>
                <a:effectLst/>
                <a:latin typeface="Consolas" panose="020B0609020204030204" pitchFamily="49" charset="0"/>
              </a:rPr>
              <a:t>,</a:t>
            </a:r>
            <a:r>
              <a:rPr lang="en-US" altLang="zh-CN" b="0" dirty="0" err="1">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b</a:t>
            </a:r>
            <a:r>
              <a:rPr lang="en-US" altLang="zh-CN" b="0" dirty="0">
                <a:solidFill>
                  <a:srgbClr val="000000"/>
                </a:solidFill>
                <a:effectLst/>
                <a:latin typeface="Consolas" panose="020B0609020204030204" pitchFamily="49" charset="0"/>
              </a:rPr>
              <a:t>);</a:t>
            </a:r>
          </a:p>
        </p:txBody>
      </p:sp>
      <p:sp>
        <p:nvSpPr>
          <p:cNvPr id="18" name="文本框 17">
            <a:extLst>
              <a:ext uri="{FF2B5EF4-FFF2-40B4-BE49-F238E27FC236}">
                <a16:creationId xmlns:a16="http://schemas.microsoft.com/office/drawing/2014/main" id="{689F90CD-8255-4D70-9AD2-CE6769D5F10E}"/>
              </a:ext>
            </a:extLst>
          </p:cNvPr>
          <p:cNvSpPr txBox="1"/>
          <p:nvPr/>
        </p:nvSpPr>
        <p:spPr>
          <a:xfrm>
            <a:off x="6894286" y="2499920"/>
            <a:ext cx="3411511" cy="369332"/>
          </a:xfrm>
          <a:prstGeom prst="rect">
            <a:avLst/>
          </a:prstGeom>
          <a:noFill/>
        </p:spPr>
        <p:txBody>
          <a:bodyPr wrap="none" rtlCol="0">
            <a:spAutoFit/>
          </a:bodyPr>
          <a:lstStyle/>
          <a:p>
            <a:r>
              <a:rPr lang="en-US" altLang="zh-CN" dirty="0" err="1"/>
              <a:t>hanoi.h</a:t>
            </a:r>
            <a:r>
              <a:rPr lang="en-US" altLang="zh-CN" dirty="0"/>
              <a:t>  </a:t>
            </a:r>
            <a:r>
              <a:rPr lang="zh-CN" altLang="en-US" dirty="0"/>
              <a:t>仅用于包含在源文件中</a:t>
            </a:r>
            <a:r>
              <a:rPr lang="en-US" altLang="zh-CN" dirty="0"/>
              <a:t> </a:t>
            </a:r>
            <a:endParaRPr lang="zh-CN" altLang="en-US" b="1" dirty="0"/>
          </a:p>
        </p:txBody>
      </p:sp>
    </p:spTree>
    <p:extLst>
      <p:ext uri="{BB962C8B-B14F-4D97-AF65-F5344CB8AC3E}">
        <p14:creationId xmlns:p14="http://schemas.microsoft.com/office/powerpoint/2010/main" val="121920861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right)">
                                      <p:cBhvr>
                                        <p:cTn id="7" dur="500"/>
                                        <p:tgtEl>
                                          <p:spTgt spid="34"/>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barn(inVertical)">
                                      <p:cBhvr>
                                        <p:cTn id="11"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案例：汉诺塔程序编译与链接（</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normal</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5" name="文本框 4">
            <a:extLst>
              <a:ext uri="{FF2B5EF4-FFF2-40B4-BE49-F238E27FC236}">
                <a16:creationId xmlns:a16="http://schemas.microsoft.com/office/drawing/2014/main" id="{0BC0F4C8-E016-45FC-910F-824FFAEBAFA1}"/>
              </a:ext>
            </a:extLst>
          </p:cNvPr>
          <p:cNvSpPr txBox="1"/>
          <p:nvPr/>
        </p:nvSpPr>
        <p:spPr>
          <a:xfrm>
            <a:off x="522514" y="1528601"/>
            <a:ext cx="5094514" cy="4524315"/>
          </a:xfrm>
          <a:prstGeom prst="rect">
            <a:avLst/>
          </a:prstGeom>
          <a:noFill/>
          <a:ln>
            <a:solidFill>
              <a:schemeClr val="bg1">
                <a:lumMod val="75000"/>
              </a:schemeClr>
            </a:solidFill>
          </a:ln>
        </p:spPr>
        <p:txBody>
          <a:bodyPr wrap="square" rtlCol="0">
            <a:spAutoFit/>
          </a:bodyPr>
          <a:lstStyle/>
          <a:p>
            <a:r>
              <a:rPr lang="en-US" altLang="zh-CN" b="0" dirty="0">
                <a:solidFill>
                  <a:srgbClr val="AF00DB"/>
                </a:solidFill>
                <a:effectLst/>
                <a:latin typeface="Consolas" panose="020B0609020204030204" pitchFamily="49" charset="0"/>
              </a:rPr>
              <a:t>#include</a:t>
            </a:r>
            <a:r>
              <a:rPr lang="en-US" altLang="zh-CN" b="0" dirty="0">
                <a:solidFill>
                  <a:srgbClr val="0000FF"/>
                </a:solidFill>
                <a:effectLst/>
                <a:latin typeface="Consolas" panose="020B0609020204030204" pitchFamily="49" charset="0"/>
              </a:rPr>
              <a:t> </a:t>
            </a:r>
            <a:r>
              <a:rPr lang="en-US" altLang="zh-CN" b="0" dirty="0">
                <a:solidFill>
                  <a:srgbClr val="A31515"/>
                </a:solidFill>
                <a:effectLst/>
                <a:latin typeface="Consolas" panose="020B0609020204030204" pitchFamily="49" charset="0"/>
              </a:rPr>
              <a:t>&lt;</a:t>
            </a:r>
            <a:r>
              <a:rPr lang="en-US" altLang="zh-CN" b="0" dirty="0" err="1">
                <a:solidFill>
                  <a:srgbClr val="A31515"/>
                </a:solidFill>
                <a:effectLst/>
                <a:latin typeface="Consolas" panose="020B0609020204030204" pitchFamily="49" charset="0"/>
              </a:rPr>
              <a:t>stdio.h</a:t>
            </a:r>
            <a:r>
              <a:rPr lang="en-US" altLang="zh-CN" b="0" dirty="0">
                <a:solidFill>
                  <a:srgbClr val="A31515"/>
                </a:solidFill>
                <a:effectLst/>
                <a:latin typeface="Consolas" panose="020B0609020204030204" pitchFamily="49" charset="0"/>
              </a:rPr>
              <a:t>&gt;</a:t>
            </a:r>
            <a:endParaRPr lang="en-US" altLang="zh-CN" b="0" dirty="0">
              <a:solidFill>
                <a:srgbClr val="000000"/>
              </a:solidFill>
              <a:effectLst/>
              <a:latin typeface="Consolas" panose="020B0609020204030204" pitchFamily="49" charset="0"/>
            </a:endParaRPr>
          </a:p>
          <a:p>
            <a:r>
              <a:rPr lang="en-US" altLang="zh-CN" b="0" dirty="0">
                <a:solidFill>
                  <a:srgbClr val="AF00DB"/>
                </a:solidFill>
                <a:effectLst/>
                <a:latin typeface="Consolas" panose="020B0609020204030204" pitchFamily="49" charset="0"/>
              </a:rPr>
              <a:t>#include</a:t>
            </a:r>
            <a:r>
              <a:rPr lang="en-US" altLang="zh-CN" b="0" dirty="0">
                <a:solidFill>
                  <a:srgbClr val="0000FF"/>
                </a:solidFill>
                <a:effectLst/>
                <a:latin typeface="Consolas" panose="020B0609020204030204" pitchFamily="49" charset="0"/>
              </a:rPr>
              <a:t> </a:t>
            </a:r>
            <a:r>
              <a:rPr lang="en-US" altLang="zh-CN" dirty="0">
                <a:solidFill>
                  <a:srgbClr val="A31515"/>
                </a:solidFill>
                <a:latin typeface="Consolas" panose="020B0609020204030204" pitchFamily="49" charset="0"/>
              </a:rPr>
              <a:t>“</a:t>
            </a:r>
            <a:r>
              <a:rPr lang="en-US" altLang="zh-CN" dirty="0" err="1">
                <a:solidFill>
                  <a:srgbClr val="A31515"/>
                </a:solidFill>
                <a:latin typeface="Consolas" panose="020B0609020204030204" pitchFamily="49" charset="0"/>
              </a:rPr>
              <a:t>hanoi.h</a:t>
            </a:r>
            <a:r>
              <a:rPr lang="en-US" altLang="zh-CN" dirty="0">
                <a:solidFill>
                  <a:srgbClr val="A31515"/>
                </a:solidFill>
                <a:latin typeface="Consolas" panose="020B0609020204030204" pitchFamily="49" charset="0"/>
              </a:rPr>
              <a:t>”</a:t>
            </a:r>
            <a:endParaRPr lang="en-US" altLang="zh-CN" b="0" dirty="0">
              <a:solidFill>
                <a:srgbClr val="000000"/>
              </a:solidFill>
              <a:effectLst/>
              <a:latin typeface="Consolas" panose="020B0609020204030204" pitchFamily="49" charset="0"/>
            </a:endParaRPr>
          </a:p>
          <a:p>
            <a:br>
              <a:rPr lang="en-US" altLang="zh-CN" b="0" dirty="0">
                <a:solidFill>
                  <a:srgbClr val="000000"/>
                </a:solidFill>
                <a:effectLst/>
                <a:latin typeface="Consolas" panose="020B0609020204030204" pitchFamily="49" charset="0"/>
              </a:rPr>
            </a:b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main</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n</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scanf</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d</a:t>
            </a:r>
            <a:r>
              <a:rPr lang="en-US" altLang="zh-CN" b="0" dirty="0" err="1">
                <a:solidFill>
                  <a:srgbClr val="A31515"/>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,&amp;</a:t>
            </a:r>
            <a:r>
              <a:rPr lang="en-US" altLang="zh-CN" b="0" dirty="0" err="1">
                <a:solidFill>
                  <a:srgbClr val="001080"/>
                </a:solidFill>
                <a:effectLst/>
                <a:latin typeface="Consolas" panose="020B0609020204030204" pitchFamily="49" charset="0"/>
              </a:rPr>
              <a:t>n</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hanoi</a:t>
            </a:r>
            <a:r>
              <a:rPr lang="en-US" altLang="zh-CN" b="0" dirty="0">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n</a:t>
            </a:r>
            <a:r>
              <a:rPr lang="en-US" altLang="zh-CN" b="0" dirty="0" err="1">
                <a:solidFill>
                  <a:srgbClr val="000000"/>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'a'</a:t>
            </a:r>
            <a:r>
              <a:rPr lang="en-US" altLang="zh-CN" b="0" dirty="0" err="1">
                <a:solidFill>
                  <a:srgbClr val="000000"/>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'b'</a:t>
            </a:r>
            <a:r>
              <a:rPr lang="en-US" altLang="zh-CN" b="0" dirty="0" err="1">
                <a:solidFill>
                  <a:srgbClr val="000000"/>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'c</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return</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a:p>
            <a:br>
              <a:rPr lang="en-US" altLang="zh-CN" b="0" dirty="0">
                <a:solidFill>
                  <a:srgbClr val="000000"/>
                </a:solidFill>
                <a:effectLst/>
                <a:latin typeface="Consolas" panose="020B0609020204030204" pitchFamily="49" charset="0"/>
              </a:rPr>
            </a:br>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move</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n</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b</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printf</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"move </a:t>
            </a:r>
            <a:r>
              <a:rPr lang="en-US" altLang="zh-CN" b="0" dirty="0">
                <a:solidFill>
                  <a:srgbClr val="001080"/>
                </a:solidFill>
                <a:effectLst/>
                <a:latin typeface="Consolas" panose="020B0609020204030204" pitchFamily="49" charset="0"/>
              </a:rPr>
              <a:t>%d</a:t>
            </a:r>
            <a:r>
              <a:rPr lang="en-US" altLang="zh-CN" b="0" dirty="0">
                <a:solidFill>
                  <a:srgbClr val="A31515"/>
                </a:solidFill>
                <a:effectLst/>
                <a:latin typeface="Consolas" panose="020B0609020204030204" pitchFamily="49" charset="0"/>
              </a:rPr>
              <a:t> from </a:t>
            </a:r>
            <a:r>
              <a:rPr lang="en-US" altLang="zh-CN" b="0" dirty="0">
                <a:solidFill>
                  <a:srgbClr val="001080"/>
                </a:solidFill>
                <a:effectLst/>
                <a:latin typeface="Consolas" panose="020B0609020204030204" pitchFamily="49" charset="0"/>
              </a:rPr>
              <a:t>%c</a:t>
            </a:r>
            <a:r>
              <a:rPr lang="en-US" altLang="zh-CN" b="0" dirty="0">
                <a:solidFill>
                  <a:srgbClr val="A31515"/>
                </a:solidFill>
                <a:effectLst/>
                <a:latin typeface="Consolas" panose="020B0609020204030204" pitchFamily="49" charset="0"/>
              </a:rPr>
              <a:t> to </a:t>
            </a:r>
            <a:r>
              <a:rPr lang="en-US" altLang="zh-CN" b="0" dirty="0">
                <a:solidFill>
                  <a:srgbClr val="001080"/>
                </a:solidFill>
                <a:effectLst/>
                <a:latin typeface="Consolas" panose="020B0609020204030204" pitchFamily="49" charset="0"/>
              </a:rPr>
              <a:t>%c</a:t>
            </a:r>
            <a:r>
              <a:rPr lang="en-US" altLang="zh-CN" b="0" dirty="0">
                <a:solidFill>
                  <a:srgbClr val="EE0000"/>
                </a:solidFill>
                <a:effectLst/>
                <a:latin typeface="Consolas" panose="020B0609020204030204" pitchFamily="49" charset="0"/>
              </a:rPr>
              <a:t>\n</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n</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b</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a:p>
            <a:endParaRPr lang="zh-CN" altLang="en-US" dirty="0"/>
          </a:p>
        </p:txBody>
      </p:sp>
      <p:sp>
        <p:nvSpPr>
          <p:cNvPr id="7" name="文本框 6">
            <a:extLst>
              <a:ext uri="{FF2B5EF4-FFF2-40B4-BE49-F238E27FC236}">
                <a16:creationId xmlns:a16="http://schemas.microsoft.com/office/drawing/2014/main" id="{45107D01-8C56-4E24-98B2-C719B6853C37}"/>
              </a:ext>
            </a:extLst>
          </p:cNvPr>
          <p:cNvSpPr txBox="1"/>
          <p:nvPr/>
        </p:nvSpPr>
        <p:spPr>
          <a:xfrm>
            <a:off x="5980478" y="2926834"/>
            <a:ext cx="5094514" cy="3139321"/>
          </a:xfrm>
          <a:prstGeom prst="rect">
            <a:avLst/>
          </a:prstGeom>
          <a:noFill/>
          <a:ln>
            <a:solidFill>
              <a:schemeClr val="bg1">
                <a:lumMod val="75000"/>
              </a:schemeClr>
            </a:solidFill>
          </a:ln>
        </p:spPr>
        <p:txBody>
          <a:bodyPr wrap="square" rtlCol="0">
            <a:spAutoFit/>
          </a:bodyPr>
          <a:lstStyle/>
          <a:p>
            <a:r>
              <a:rPr lang="en-US" altLang="zh-CN" b="0" dirty="0">
                <a:solidFill>
                  <a:srgbClr val="AF00DB"/>
                </a:solidFill>
                <a:effectLst/>
                <a:latin typeface="Consolas" panose="020B0609020204030204" pitchFamily="49" charset="0"/>
              </a:rPr>
              <a:t>#include</a:t>
            </a:r>
            <a:r>
              <a:rPr lang="en-US" altLang="zh-CN" b="0" dirty="0">
                <a:solidFill>
                  <a:srgbClr val="0000FF"/>
                </a:solidFill>
                <a:effectLst/>
                <a:latin typeface="Consolas" panose="020B0609020204030204" pitchFamily="49" charset="0"/>
              </a:rPr>
              <a:t> </a:t>
            </a:r>
            <a:r>
              <a:rPr lang="en-US" altLang="zh-CN" dirty="0">
                <a:solidFill>
                  <a:srgbClr val="A31515"/>
                </a:solidFill>
                <a:latin typeface="Consolas" panose="020B0609020204030204" pitchFamily="49" charset="0"/>
              </a:rPr>
              <a:t>“</a:t>
            </a:r>
            <a:r>
              <a:rPr lang="en-US" altLang="zh-CN" dirty="0" err="1">
                <a:solidFill>
                  <a:srgbClr val="A31515"/>
                </a:solidFill>
                <a:latin typeface="Consolas" panose="020B0609020204030204" pitchFamily="49" charset="0"/>
              </a:rPr>
              <a:t>hanoi.h</a:t>
            </a:r>
            <a:r>
              <a:rPr lang="en-US" altLang="zh-CN" dirty="0">
                <a:solidFill>
                  <a:srgbClr val="A31515"/>
                </a:solidFill>
                <a:latin typeface="Consolas" panose="020B0609020204030204" pitchFamily="49" charset="0"/>
              </a:rPr>
              <a:t>”</a:t>
            </a:r>
            <a:endParaRPr lang="pt-BR" altLang="zh-CN" b="0" dirty="0">
              <a:solidFill>
                <a:srgbClr val="0000FF"/>
              </a:solidFill>
              <a:effectLst/>
              <a:latin typeface="Consolas" panose="020B0609020204030204" pitchFamily="49" charset="0"/>
            </a:endParaRPr>
          </a:p>
          <a:p>
            <a:endParaRPr lang="pt-BR" altLang="zh-CN" dirty="0">
              <a:solidFill>
                <a:srgbClr val="0000FF"/>
              </a:solidFill>
              <a:latin typeface="Consolas" panose="020B0609020204030204" pitchFamily="49" charset="0"/>
            </a:endParaRPr>
          </a:p>
          <a:p>
            <a:r>
              <a:rPr lang="pt-BR" altLang="zh-CN" b="0" dirty="0">
                <a:solidFill>
                  <a:srgbClr val="0000FF"/>
                </a:solidFill>
                <a:effectLst/>
                <a:latin typeface="Consolas" panose="020B0609020204030204" pitchFamily="49" charset="0"/>
              </a:rPr>
              <a:t>void</a:t>
            </a:r>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hanoi</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b</a:t>
            </a:r>
            <a:r>
              <a:rPr lang="pt-BR" altLang="zh-CN" b="0" dirty="0">
                <a:solidFill>
                  <a:srgbClr val="000000"/>
                </a:solidFill>
                <a:effectLst/>
                <a:latin typeface="Consolas" panose="020B0609020204030204" pitchFamily="49" charset="0"/>
              </a:rPr>
              <a:t>,</a:t>
            </a:r>
            <a:r>
              <a:rPr lang="pt-BR" altLang="zh-CN" b="0" dirty="0">
                <a:solidFill>
                  <a:srgbClr val="0000FF"/>
                </a:solidFill>
                <a:effectLst/>
                <a:latin typeface="Consolas" panose="020B0609020204030204" pitchFamily="49" charset="0"/>
              </a:rPr>
              <a:t>int</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r>
              <a:rPr lang="pt-BR" altLang="zh-CN" b="0" dirty="0">
                <a:solidFill>
                  <a:srgbClr val="AF00DB"/>
                </a:solidFill>
                <a:effectLst/>
                <a:latin typeface="Consolas" panose="020B0609020204030204" pitchFamily="49" charset="0"/>
              </a:rPr>
              <a:t>if</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98658"/>
                </a:solidFill>
                <a:effectLst/>
                <a:latin typeface="Consolas" panose="020B0609020204030204" pitchFamily="49" charset="0"/>
              </a:rPr>
              <a:t>1</a:t>
            </a:r>
            <a:r>
              <a:rPr lang="pt-BR" altLang="zh-CN" b="0" dirty="0">
                <a:solidFill>
                  <a:srgbClr val="000000"/>
                </a:solidFill>
                <a:effectLst/>
                <a:latin typeface="Consolas" panose="020B0609020204030204" pitchFamily="49" charset="0"/>
              </a:rPr>
              <a:t>) {</a:t>
            </a:r>
          </a:p>
          <a:p>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move</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r>
              <a:rPr lang="pt-BR" altLang="zh-CN" b="0" dirty="0">
                <a:solidFill>
                  <a:srgbClr val="AF00DB"/>
                </a:solidFill>
                <a:effectLst/>
                <a:latin typeface="Consolas" panose="020B0609020204030204" pitchFamily="49" charset="0"/>
              </a:rPr>
              <a:t>return</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p>
          <a:p>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hanoi</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98658"/>
                </a:solidFill>
                <a:effectLst/>
                <a:latin typeface="Consolas" panose="020B0609020204030204" pitchFamily="49" charset="0"/>
              </a:rPr>
              <a:t>1</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b</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move</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    </a:t>
            </a:r>
            <a:r>
              <a:rPr lang="pt-BR" altLang="zh-CN" b="0" dirty="0">
                <a:solidFill>
                  <a:srgbClr val="795E26"/>
                </a:solidFill>
                <a:effectLst/>
                <a:latin typeface="Consolas" panose="020B0609020204030204" pitchFamily="49" charset="0"/>
              </a:rPr>
              <a:t>hanoi</a:t>
            </a:r>
            <a:r>
              <a:rPr lang="pt-BR" altLang="zh-CN" b="0" dirty="0">
                <a:solidFill>
                  <a:srgbClr val="000000"/>
                </a:solidFill>
                <a:effectLst/>
                <a:latin typeface="Consolas" panose="020B0609020204030204" pitchFamily="49" charset="0"/>
              </a:rPr>
              <a:t>(</a:t>
            </a:r>
            <a:r>
              <a:rPr lang="pt-BR" altLang="zh-CN" b="0" dirty="0">
                <a:solidFill>
                  <a:srgbClr val="001080"/>
                </a:solidFill>
                <a:effectLst/>
                <a:latin typeface="Consolas" panose="020B0609020204030204" pitchFamily="49" charset="0"/>
              </a:rPr>
              <a:t>n</a:t>
            </a:r>
            <a:r>
              <a:rPr lang="pt-BR" altLang="zh-CN" b="0" dirty="0">
                <a:solidFill>
                  <a:srgbClr val="000000"/>
                </a:solidFill>
                <a:effectLst/>
                <a:latin typeface="Consolas" panose="020B0609020204030204" pitchFamily="49" charset="0"/>
              </a:rPr>
              <a:t>-</a:t>
            </a:r>
            <a:r>
              <a:rPr lang="pt-BR" altLang="zh-CN" b="0" dirty="0">
                <a:solidFill>
                  <a:srgbClr val="098658"/>
                </a:solidFill>
                <a:effectLst/>
                <a:latin typeface="Consolas" panose="020B0609020204030204" pitchFamily="49" charset="0"/>
              </a:rPr>
              <a:t>1</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b</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a</a:t>
            </a:r>
            <a:r>
              <a:rPr lang="pt-BR" altLang="zh-CN" b="0" dirty="0">
                <a:solidFill>
                  <a:srgbClr val="000000"/>
                </a:solidFill>
                <a:effectLst/>
                <a:latin typeface="Consolas" panose="020B0609020204030204" pitchFamily="49" charset="0"/>
              </a:rPr>
              <a:t>, </a:t>
            </a:r>
            <a:r>
              <a:rPr lang="pt-BR" altLang="zh-CN" b="0" dirty="0">
                <a:solidFill>
                  <a:srgbClr val="001080"/>
                </a:solidFill>
                <a:effectLst/>
                <a:latin typeface="Consolas" panose="020B0609020204030204" pitchFamily="49" charset="0"/>
              </a:rPr>
              <a:t>c</a:t>
            </a:r>
            <a:r>
              <a:rPr lang="pt-BR" altLang="zh-CN" b="0" dirty="0">
                <a:solidFill>
                  <a:srgbClr val="000000"/>
                </a:solidFill>
                <a:effectLst/>
                <a:latin typeface="Consolas" panose="020B0609020204030204" pitchFamily="49" charset="0"/>
              </a:rPr>
              <a:t>);</a:t>
            </a:r>
          </a:p>
          <a:p>
            <a:r>
              <a:rPr lang="pt-BR" altLang="zh-CN" b="0" dirty="0">
                <a:solidFill>
                  <a:srgbClr val="000000"/>
                </a:solidFill>
                <a:effectLst/>
                <a:latin typeface="Consolas" panose="020B0609020204030204" pitchFamily="49" charset="0"/>
              </a:rPr>
              <a:t>}</a:t>
            </a:r>
          </a:p>
        </p:txBody>
      </p:sp>
      <p:sp>
        <p:nvSpPr>
          <p:cNvPr id="2" name="文本框 1">
            <a:extLst>
              <a:ext uri="{FF2B5EF4-FFF2-40B4-BE49-F238E27FC236}">
                <a16:creationId xmlns:a16="http://schemas.microsoft.com/office/drawing/2014/main" id="{660779FC-ADB5-438E-B040-6DB3C73015D5}"/>
              </a:ext>
            </a:extLst>
          </p:cNvPr>
          <p:cNvSpPr txBox="1"/>
          <p:nvPr/>
        </p:nvSpPr>
        <p:spPr>
          <a:xfrm>
            <a:off x="2893472" y="5314252"/>
            <a:ext cx="2905281" cy="1477328"/>
          </a:xfrm>
          <a:prstGeom prst="rect">
            <a:avLst/>
          </a:prstGeom>
          <a:noFill/>
        </p:spPr>
        <p:txBody>
          <a:bodyPr wrap="square" rtlCol="0">
            <a:spAutoFit/>
          </a:bodyPr>
          <a:lstStyle/>
          <a:p>
            <a:r>
              <a:rPr lang="zh-CN" altLang="en-US" b="1" dirty="0"/>
              <a:t>编译指令：</a:t>
            </a:r>
            <a:r>
              <a:rPr lang="en-US" altLang="zh-CN" dirty="0" err="1"/>
              <a:t>gcc</a:t>
            </a:r>
            <a:r>
              <a:rPr lang="en-US" altLang="zh-CN" dirty="0"/>
              <a:t> –c </a:t>
            </a:r>
            <a:r>
              <a:rPr lang="en-US" altLang="zh-CN" dirty="0" err="1"/>
              <a:t>main.c</a:t>
            </a:r>
            <a:endParaRPr lang="en-US" altLang="zh-CN" dirty="0"/>
          </a:p>
          <a:p>
            <a:r>
              <a:rPr lang="zh-CN" altLang="en-US" dirty="0"/>
              <a:t>产生 </a:t>
            </a:r>
            <a:r>
              <a:rPr lang="en-US" altLang="zh-CN" dirty="0" err="1"/>
              <a:t>main.o</a:t>
            </a:r>
            <a:endParaRPr lang="en-US" altLang="zh-CN" dirty="0"/>
          </a:p>
          <a:p>
            <a:r>
              <a:rPr lang="zh-CN" altLang="en-US" dirty="0"/>
              <a:t>其中 </a:t>
            </a:r>
            <a:r>
              <a:rPr lang="en-US" altLang="zh-CN" dirty="0" err="1"/>
              <a:t>scanf,hanoi,printf</a:t>
            </a:r>
            <a:r>
              <a:rPr lang="en-US" altLang="zh-CN" dirty="0"/>
              <a:t> </a:t>
            </a:r>
            <a:r>
              <a:rPr lang="zh-CN" altLang="en-US" dirty="0"/>
              <a:t>有声明，无定义。</a:t>
            </a:r>
            <a:endParaRPr lang="en-US" altLang="zh-CN" dirty="0"/>
          </a:p>
          <a:p>
            <a:r>
              <a:rPr lang="en-US" altLang="zh-CN" dirty="0"/>
              <a:t>move </a:t>
            </a:r>
            <a:r>
              <a:rPr lang="zh-CN" altLang="en-US" dirty="0"/>
              <a:t>有定义且有外部链接</a:t>
            </a:r>
          </a:p>
        </p:txBody>
      </p:sp>
      <p:cxnSp>
        <p:nvCxnSpPr>
          <p:cNvPr id="4" name="直接箭头连接符 3">
            <a:extLst>
              <a:ext uri="{FF2B5EF4-FFF2-40B4-BE49-F238E27FC236}">
                <a16:creationId xmlns:a16="http://schemas.microsoft.com/office/drawing/2014/main" id="{4C8DB14C-145A-49F2-A5BC-13C02781DF3B}"/>
              </a:ext>
            </a:extLst>
          </p:cNvPr>
          <p:cNvCxnSpPr>
            <a:cxnSpLocks/>
            <a:stCxn id="10" idx="0"/>
          </p:cNvCxnSpPr>
          <p:nvPr/>
        </p:nvCxnSpPr>
        <p:spPr>
          <a:xfrm flipV="1">
            <a:off x="2346295" y="5578063"/>
            <a:ext cx="32861" cy="6854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6C6A0E3E-92DD-40F9-87D9-2BB6A6F465AA}"/>
              </a:ext>
            </a:extLst>
          </p:cNvPr>
          <p:cNvCxnSpPr>
            <a:cxnSpLocks/>
          </p:cNvCxnSpPr>
          <p:nvPr/>
        </p:nvCxnSpPr>
        <p:spPr>
          <a:xfrm flipV="1">
            <a:off x="7589855" y="5878745"/>
            <a:ext cx="0" cy="4360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427F7C8C-80E8-4452-8365-46CA0DF69CCE}"/>
              </a:ext>
            </a:extLst>
          </p:cNvPr>
          <p:cNvSpPr txBox="1"/>
          <p:nvPr/>
        </p:nvSpPr>
        <p:spPr>
          <a:xfrm>
            <a:off x="1932559" y="6263547"/>
            <a:ext cx="827471" cy="369332"/>
          </a:xfrm>
          <a:prstGeom prst="rect">
            <a:avLst/>
          </a:prstGeom>
          <a:noFill/>
        </p:spPr>
        <p:txBody>
          <a:bodyPr wrap="none" rtlCol="0">
            <a:spAutoFit/>
          </a:bodyPr>
          <a:lstStyle/>
          <a:p>
            <a:r>
              <a:rPr lang="en-US" altLang="zh-CN" dirty="0" err="1"/>
              <a:t>main.c</a:t>
            </a:r>
            <a:endParaRPr lang="zh-CN" altLang="en-US" dirty="0"/>
          </a:p>
        </p:txBody>
      </p:sp>
      <p:sp>
        <p:nvSpPr>
          <p:cNvPr id="16" name="文本框 15">
            <a:extLst>
              <a:ext uri="{FF2B5EF4-FFF2-40B4-BE49-F238E27FC236}">
                <a16:creationId xmlns:a16="http://schemas.microsoft.com/office/drawing/2014/main" id="{1D271E90-310F-4FA6-B0F3-741E6D4B0337}"/>
              </a:ext>
            </a:extLst>
          </p:cNvPr>
          <p:cNvSpPr txBox="1"/>
          <p:nvPr/>
        </p:nvSpPr>
        <p:spPr>
          <a:xfrm>
            <a:off x="7143406" y="6008975"/>
            <a:ext cx="955711" cy="369332"/>
          </a:xfrm>
          <a:prstGeom prst="rect">
            <a:avLst/>
          </a:prstGeom>
          <a:noFill/>
        </p:spPr>
        <p:txBody>
          <a:bodyPr wrap="none" rtlCol="0">
            <a:spAutoFit/>
          </a:bodyPr>
          <a:lstStyle/>
          <a:p>
            <a:r>
              <a:rPr lang="en-US" altLang="zh-CN" dirty="0" err="1"/>
              <a:t>hanoi.c</a:t>
            </a:r>
            <a:r>
              <a:rPr lang="en-US" altLang="zh-CN" dirty="0"/>
              <a:t> </a:t>
            </a:r>
            <a:endParaRPr lang="zh-CN" altLang="en-US" b="1" dirty="0"/>
          </a:p>
        </p:txBody>
      </p:sp>
      <p:sp>
        <p:nvSpPr>
          <p:cNvPr id="15" name="文本框 14">
            <a:extLst>
              <a:ext uri="{FF2B5EF4-FFF2-40B4-BE49-F238E27FC236}">
                <a16:creationId xmlns:a16="http://schemas.microsoft.com/office/drawing/2014/main" id="{1F3D1D50-851F-47CE-BC32-BC21014278C5}"/>
              </a:ext>
            </a:extLst>
          </p:cNvPr>
          <p:cNvSpPr txBox="1"/>
          <p:nvPr/>
        </p:nvSpPr>
        <p:spPr>
          <a:xfrm>
            <a:off x="9095406" y="5523572"/>
            <a:ext cx="3013967" cy="1200329"/>
          </a:xfrm>
          <a:prstGeom prst="rect">
            <a:avLst/>
          </a:prstGeom>
          <a:noFill/>
        </p:spPr>
        <p:txBody>
          <a:bodyPr wrap="none" rtlCol="0">
            <a:spAutoFit/>
          </a:bodyPr>
          <a:lstStyle/>
          <a:p>
            <a:r>
              <a:rPr lang="zh-CN" altLang="en-US" b="1" dirty="0"/>
              <a:t>编译指令：</a:t>
            </a:r>
            <a:r>
              <a:rPr lang="en-US" altLang="zh-CN" dirty="0" err="1"/>
              <a:t>gcc</a:t>
            </a:r>
            <a:r>
              <a:rPr lang="en-US" altLang="zh-CN" dirty="0"/>
              <a:t> –c </a:t>
            </a:r>
            <a:r>
              <a:rPr lang="en-US" altLang="zh-CN" dirty="0" err="1"/>
              <a:t>hanoi.c</a:t>
            </a:r>
            <a:endParaRPr lang="en-US" altLang="zh-CN" dirty="0"/>
          </a:p>
          <a:p>
            <a:r>
              <a:rPr lang="zh-CN" altLang="en-US" dirty="0"/>
              <a:t>产生 </a:t>
            </a:r>
            <a:r>
              <a:rPr lang="en-US" altLang="zh-CN" dirty="0" err="1"/>
              <a:t>Hanoi.o</a:t>
            </a:r>
            <a:endParaRPr lang="en-US" altLang="zh-CN" dirty="0"/>
          </a:p>
          <a:p>
            <a:r>
              <a:rPr lang="zh-CN" altLang="en-US" dirty="0"/>
              <a:t>其中 </a:t>
            </a:r>
            <a:r>
              <a:rPr lang="en-US" altLang="zh-CN" dirty="0"/>
              <a:t>move </a:t>
            </a:r>
            <a:r>
              <a:rPr lang="zh-CN" altLang="en-US" dirty="0"/>
              <a:t>有声明，无定义</a:t>
            </a:r>
            <a:endParaRPr lang="en-US" altLang="zh-CN" dirty="0"/>
          </a:p>
          <a:p>
            <a:r>
              <a:rPr lang="en-US" altLang="zh-CN" dirty="0" err="1"/>
              <a:t>hanoi</a:t>
            </a:r>
            <a:r>
              <a:rPr lang="en-US" altLang="zh-CN" dirty="0"/>
              <a:t> </a:t>
            </a:r>
            <a:r>
              <a:rPr lang="zh-CN" altLang="en-US" dirty="0"/>
              <a:t>有定义且有外部链接</a:t>
            </a:r>
          </a:p>
        </p:txBody>
      </p:sp>
      <p:sp>
        <p:nvSpPr>
          <p:cNvPr id="17" name="文本框 16">
            <a:extLst>
              <a:ext uri="{FF2B5EF4-FFF2-40B4-BE49-F238E27FC236}">
                <a16:creationId xmlns:a16="http://schemas.microsoft.com/office/drawing/2014/main" id="{2649F18B-2117-49A3-AD9B-D58913657D0D}"/>
              </a:ext>
            </a:extLst>
          </p:cNvPr>
          <p:cNvSpPr txBox="1"/>
          <p:nvPr/>
        </p:nvSpPr>
        <p:spPr>
          <a:xfrm>
            <a:off x="5980478" y="1528601"/>
            <a:ext cx="5094514" cy="923330"/>
          </a:xfrm>
          <a:prstGeom prst="rect">
            <a:avLst/>
          </a:prstGeom>
          <a:noFill/>
          <a:ln>
            <a:solidFill>
              <a:schemeClr val="bg1">
                <a:lumMod val="75000"/>
              </a:schemeClr>
            </a:solidFill>
          </a:ln>
        </p:spPr>
        <p:txBody>
          <a:bodyPr wrap="square" rtlCol="0">
            <a:spAutoFit/>
          </a:bodyPr>
          <a:lstStyle/>
          <a:p>
            <a:r>
              <a:rPr lang="en-US" altLang="zh-CN" b="0" dirty="0">
                <a:solidFill>
                  <a:srgbClr val="008000"/>
                </a:solidFill>
                <a:effectLst/>
                <a:latin typeface="Consolas" panose="020B0609020204030204" pitchFamily="49" charset="0"/>
              </a:rPr>
              <a:t>//</a:t>
            </a:r>
            <a:r>
              <a:rPr lang="en-US" altLang="zh-CN" b="0" dirty="0" err="1">
                <a:solidFill>
                  <a:srgbClr val="008000"/>
                </a:solidFill>
                <a:effectLst/>
                <a:latin typeface="Consolas" panose="020B0609020204030204" pitchFamily="49" charset="0"/>
              </a:rPr>
              <a:t>a,b,c</a:t>
            </a:r>
            <a:r>
              <a:rPr lang="en-US" altLang="zh-CN" b="0" dirty="0">
                <a:solidFill>
                  <a:srgbClr val="008000"/>
                </a:solidFill>
                <a:effectLst/>
                <a:latin typeface="Consolas" panose="020B0609020204030204" pitchFamily="49" charset="0"/>
              </a:rPr>
              <a:t> </a:t>
            </a:r>
            <a:r>
              <a:rPr lang="zh-CN" altLang="en-US" b="0" dirty="0">
                <a:solidFill>
                  <a:srgbClr val="008000"/>
                </a:solidFill>
                <a:effectLst/>
                <a:latin typeface="Consolas" panose="020B0609020204030204" pitchFamily="49" charset="0"/>
              </a:rPr>
              <a:t>是柱子编号，用</a:t>
            </a:r>
            <a:r>
              <a:rPr lang="en-US" altLang="zh-CN" b="0" dirty="0">
                <a:solidFill>
                  <a:srgbClr val="008000"/>
                </a:solidFill>
                <a:effectLst/>
                <a:latin typeface="Consolas" panose="020B0609020204030204" pitchFamily="49" charset="0"/>
              </a:rPr>
              <a:t>'</a:t>
            </a:r>
            <a:r>
              <a:rPr lang="en-US" altLang="zh-CN" b="0" dirty="0" err="1">
                <a:solidFill>
                  <a:srgbClr val="008000"/>
                </a:solidFill>
                <a:effectLst/>
                <a:latin typeface="Consolas" panose="020B0609020204030204" pitchFamily="49" charset="0"/>
              </a:rPr>
              <a:t>a','b','c</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表示</a:t>
            </a:r>
            <a:endParaRPr lang="zh-CN" altLang="en-US" b="0" dirty="0">
              <a:solidFill>
                <a:srgbClr val="000000"/>
              </a:solidFill>
              <a:effectLst/>
              <a:latin typeface="Consolas" panose="020B0609020204030204" pitchFamily="49" charset="0"/>
            </a:endParaRPr>
          </a:p>
          <a:p>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hanoi</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n</a:t>
            </a:r>
            <a:r>
              <a:rPr lang="en-US" altLang="zh-CN" b="0" dirty="0" err="1">
                <a:solidFill>
                  <a:srgbClr val="000000"/>
                </a:solidFill>
                <a:effectLst/>
                <a:latin typeface="Consolas" panose="020B0609020204030204" pitchFamily="49" charset="0"/>
              </a:rPr>
              <a:t>,</a:t>
            </a:r>
            <a:r>
              <a:rPr lang="en-US" altLang="zh-CN" b="0" dirty="0" err="1">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a</a:t>
            </a:r>
            <a:r>
              <a:rPr lang="en-US" altLang="zh-CN" b="0" dirty="0" err="1">
                <a:solidFill>
                  <a:srgbClr val="000000"/>
                </a:solidFill>
                <a:effectLst/>
                <a:latin typeface="Consolas" panose="020B0609020204030204" pitchFamily="49" charset="0"/>
              </a:rPr>
              <a:t>,</a:t>
            </a:r>
            <a:r>
              <a:rPr lang="en-US" altLang="zh-CN" b="0" dirty="0" err="1">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b</a:t>
            </a:r>
            <a:r>
              <a:rPr lang="en-US" altLang="zh-CN" b="0" dirty="0" err="1">
                <a:solidFill>
                  <a:srgbClr val="000000"/>
                </a:solidFill>
                <a:effectLst/>
                <a:latin typeface="Consolas" panose="020B0609020204030204" pitchFamily="49" charset="0"/>
              </a:rPr>
              <a:t>,</a:t>
            </a:r>
            <a:r>
              <a:rPr lang="en-US" altLang="zh-CN" b="0" dirty="0" err="1">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c</a:t>
            </a:r>
            <a:r>
              <a:rPr lang="en-US" altLang="zh-CN" b="0" dirty="0">
                <a:solidFill>
                  <a:srgbClr val="000000"/>
                </a:solidFill>
                <a:effectLst/>
                <a:latin typeface="Consolas" panose="020B0609020204030204" pitchFamily="49" charset="0"/>
              </a:rPr>
              <a:t>);</a:t>
            </a:r>
          </a:p>
          <a:p>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move</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n</a:t>
            </a:r>
            <a:r>
              <a:rPr lang="en-US" altLang="zh-CN" b="0" dirty="0" err="1">
                <a:solidFill>
                  <a:srgbClr val="000000"/>
                </a:solidFill>
                <a:effectLst/>
                <a:latin typeface="Consolas" panose="020B0609020204030204" pitchFamily="49" charset="0"/>
              </a:rPr>
              <a:t>,</a:t>
            </a:r>
            <a:r>
              <a:rPr lang="en-US" altLang="zh-CN" b="0" dirty="0" err="1">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b</a:t>
            </a:r>
            <a:r>
              <a:rPr lang="en-US" altLang="zh-CN" b="0" dirty="0">
                <a:solidFill>
                  <a:srgbClr val="000000"/>
                </a:solidFill>
                <a:effectLst/>
                <a:latin typeface="Consolas" panose="020B0609020204030204" pitchFamily="49" charset="0"/>
              </a:rPr>
              <a:t>);</a:t>
            </a:r>
          </a:p>
        </p:txBody>
      </p:sp>
      <p:sp>
        <p:nvSpPr>
          <p:cNvPr id="18" name="文本框 17">
            <a:extLst>
              <a:ext uri="{FF2B5EF4-FFF2-40B4-BE49-F238E27FC236}">
                <a16:creationId xmlns:a16="http://schemas.microsoft.com/office/drawing/2014/main" id="{689F90CD-8255-4D70-9AD2-CE6769D5F10E}"/>
              </a:ext>
            </a:extLst>
          </p:cNvPr>
          <p:cNvSpPr txBox="1"/>
          <p:nvPr/>
        </p:nvSpPr>
        <p:spPr>
          <a:xfrm>
            <a:off x="6894286" y="2499920"/>
            <a:ext cx="3411511" cy="369332"/>
          </a:xfrm>
          <a:prstGeom prst="rect">
            <a:avLst/>
          </a:prstGeom>
          <a:noFill/>
        </p:spPr>
        <p:txBody>
          <a:bodyPr wrap="none" rtlCol="0">
            <a:spAutoFit/>
          </a:bodyPr>
          <a:lstStyle/>
          <a:p>
            <a:r>
              <a:rPr lang="en-US" altLang="zh-CN" dirty="0" err="1"/>
              <a:t>hanoi.h</a:t>
            </a:r>
            <a:r>
              <a:rPr lang="en-US" altLang="zh-CN" dirty="0"/>
              <a:t>  </a:t>
            </a:r>
            <a:r>
              <a:rPr lang="zh-CN" altLang="en-US" dirty="0"/>
              <a:t>仅用于包含在源文件中</a:t>
            </a:r>
            <a:r>
              <a:rPr lang="en-US" altLang="zh-CN" dirty="0"/>
              <a:t> </a:t>
            </a:r>
            <a:endParaRPr lang="zh-CN" altLang="en-US" b="1" dirty="0"/>
          </a:p>
        </p:txBody>
      </p:sp>
      <p:grpSp>
        <p:nvGrpSpPr>
          <p:cNvPr id="11" name="组合 10">
            <a:extLst>
              <a:ext uri="{FF2B5EF4-FFF2-40B4-BE49-F238E27FC236}">
                <a16:creationId xmlns:a16="http://schemas.microsoft.com/office/drawing/2014/main" id="{A6F77A36-B7BF-4E78-8F63-4A413BB615D4}"/>
              </a:ext>
            </a:extLst>
          </p:cNvPr>
          <p:cNvGrpSpPr/>
          <p:nvPr/>
        </p:nvGrpSpPr>
        <p:grpSpPr>
          <a:xfrm>
            <a:off x="4651829" y="6172525"/>
            <a:ext cx="4550228" cy="460354"/>
            <a:chOff x="4651829" y="6172525"/>
            <a:chExt cx="4550228" cy="460354"/>
          </a:xfrm>
        </p:grpSpPr>
        <p:cxnSp>
          <p:nvCxnSpPr>
            <p:cNvPr id="6" name="直接箭头连接符 5">
              <a:extLst>
                <a:ext uri="{FF2B5EF4-FFF2-40B4-BE49-F238E27FC236}">
                  <a16:creationId xmlns:a16="http://schemas.microsoft.com/office/drawing/2014/main" id="{76C08151-1F72-45E8-BF9C-D43D9884A0D0}"/>
                </a:ext>
              </a:extLst>
            </p:cNvPr>
            <p:cNvCxnSpPr/>
            <p:nvPr/>
          </p:nvCxnSpPr>
          <p:spPr>
            <a:xfrm flipH="1">
              <a:off x="5713790" y="6263547"/>
              <a:ext cx="3488267" cy="3693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86A327F1-87EA-4A37-B628-B168EE41AE22}"/>
                </a:ext>
              </a:extLst>
            </p:cNvPr>
            <p:cNvCxnSpPr>
              <a:cxnSpLocks/>
            </p:cNvCxnSpPr>
            <p:nvPr/>
          </p:nvCxnSpPr>
          <p:spPr>
            <a:xfrm>
              <a:off x="4651829" y="6172525"/>
              <a:ext cx="4395220" cy="395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2721022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right)">
                                      <p:cBhvr>
                                        <p:cTn id="7" dur="500"/>
                                        <p:tgtEl>
                                          <p:spTgt spid="34"/>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barn(inVertical)">
                                      <p:cBhvr>
                                        <p:cTn id="11" dur="500"/>
                                        <p:tgtEl>
                                          <p:spTgt spid="51"/>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fill="hold"/>
                                        <p:tgtEl>
                                          <p:spTgt spid="11"/>
                                        </p:tgtEl>
                                        <p:attrNameLst>
                                          <p:attrName>ppt_x</p:attrName>
                                        </p:attrNameLst>
                                      </p:cBhvr>
                                      <p:tavLst>
                                        <p:tav tm="0">
                                          <p:val>
                                            <p:strVal val="#ppt_x"/>
                                          </p:val>
                                        </p:tav>
                                        <p:tav tm="100000">
                                          <p:val>
                                            <p:strVal val="#ppt_x"/>
                                          </p:val>
                                        </p:tav>
                                      </p:tavLst>
                                    </p:anim>
                                    <p:anim calcmode="lin" valueType="num">
                                      <p:cBhvr additive="base">
                                        <p:cTn id="17"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案例：汉诺塔程序编译与链接过程</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pic>
        <p:nvPicPr>
          <p:cNvPr id="8" name="图片 7">
            <a:extLst>
              <a:ext uri="{FF2B5EF4-FFF2-40B4-BE49-F238E27FC236}">
                <a16:creationId xmlns:a16="http://schemas.microsoft.com/office/drawing/2014/main" id="{AB74F0C9-33E5-F881-8ED3-0F703E3024C0}"/>
              </a:ext>
            </a:extLst>
          </p:cNvPr>
          <p:cNvPicPr>
            <a:picLocks noChangeAspect="1"/>
          </p:cNvPicPr>
          <p:nvPr/>
        </p:nvPicPr>
        <p:blipFill>
          <a:blip r:embed="rId4"/>
          <a:stretch>
            <a:fillRect/>
          </a:stretch>
        </p:blipFill>
        <p:spPr>
          <a:xfrm>
            <a:off x="242146" y="2652780"/>
            <a:ext cx="6417432" cy="2726939"/>
          </a:xfrm>
          <a:prstGeom prst="rect">
            <a:avLst/>
          </a:prstGeom>
        </p:spPr>
      </p:pic>
      <p:sp>
        <p:nvSpPr>
          <p:cNvPr id="9" name="内容占位符 3">
            <a:extLst>
              <a:ext uri="{FF2B5EF4-FFF2-40B4-BE49-F238E27FC236}">
                <a16:creationId xmlns:a16="http://schemas.microsoft.com/office/drawing/2014/main" id="{9D12B811-0D34-13FB-E728-A8720AA91F6E}"/>
              </a:ext>
            </a:extLst>
          </p:cNvPr>
          <p:cNvSpPr>
            <a:spLocks noGrp="1"/>
          </p:cNvSpPr>
          <p:nvPr/>
        </p:nvSpPr>
        <p:spPr>
          <a:xfrm>
            <a:off x="6659578" y="2569610"/>
            <a:ext cx="4787058" cy="321844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rgbClr val="C00000"/>
              </a:buClr>
              <a:buSzPct val="120000"/>
              <a:buFont typeface="Arial" panose="020B0604020202020204" pitchFamily="34" charset="0"/>
              <a:buChar char="•"/>
              <a:defRPr sz="2800" kern="1200">
                <a:solidFill>
                  <a:schemeClr val="tx1"/>
                </a:solidFill>
                <a:latin typeface="FandolSong" panose="00000500000000000000" charset="-122"/>
                <a:ea typeface="FandolSong" panose="00000500000000000000" charset="-122"/>
                <a:cs typeface="+mn-cs"/>
              </a:defRPr>
            </a:lvl1pPr>
            <a:lvl2pPr marL="685800" indent="-228600" algn="just" defTabSz="914400" rtl="0" eaLnBrk="1" latinLnBrk="0" hangingPunct="1">
              <a:lnSpc>
                <a:spcPct val="70000"/>
              </a:lnSpc>
              <a:spcBef>
                <a:spcPts val="600"/>
              </a:spcBef>
              <a:buClr>
                <a:srgbClr val="C00000"/>
              </a:buClr>
              <a:buSzPct val="120000"/>
              <a:buFont typeface="Arial" panose="020B0604020202020204" pitchFamily="34" charset="0"/>
              <a:buChar char="•"/>
              <a:defRPr sz="2400" kern="1200">
                <a:solidFill>
                  <a:schemeClr val="tx1"/>
                </a:solidFill>
                <a:latin typeface="FandolSong" panose="00000500000000000000" charset="-122"/>
                <a:ea typeface="FandolSong" panose="00000500000000000000" charset="-122"/>
                <a:cs typeface="+mn-cs"/>
              </a:defRPr>
            </a:lvl2pPr>
            <a:lvl3pPr marL="11430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2000" kern="1200">
                <a:solidFill>
                  <a:schemeClr val="tx1"/>
                </a:solidFill>
                <a:latin typeface="FandolSong" panose="00000500000000000000" charset="-122"/>
                <a:ea typeface="FandolSong" panose="00000500000000000000" charset="-122"/>
                <a:cs typeface="+mn-cs"/>
              </a:defRPr>
            </a:lvl3pPr>
            <a:lvl4pPr marL="16002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1800" kern="1200">
                <a:solidFill>
                  <a:schemeClr val="tx1"/>
                </a:solidFill>
                <a:latin typeface="FandolSong" panose="00000500000000000000" charset="-122"/>
                <a:ea typeface="FandolSong" panose="00000500000000000000" charset="-122"/>
                <a:cs typeface="+mn-cs"/>
              </a:defRPr>
            </a:lvl4pPr>
            <a:lvl5pPr marL="20574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1800" kern="1200">
                <a:solidFill>
                  <a:schemeClr val="tx1"/>
                </a:solidFill>
                <a:latin typeface="FandolSong" panose="00000500000000000000" charset="-122"/>
                <a:ea typeface="FandolSong" panose="00000500000000000000"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nSpc>
                <a:spcPct val="120000"/>
              </a:lnSpc>
              <a:buFont typeface="+mj-lt"/>
              <a:buAutoNum type="arabicPeriod"/>
            </a:pPr>
            <a:r>
              <a:rPr lang="en-US" altLang="zh-CN" dirty="0"/>
              <a:t>rm -f </a:t>
            </a:r>
            <a:r>
              <a:rPr lang="zh-CN" altLang="en-US" dirty="0"/>
              <a:t>强制删除文件</a:t>
            </a:r>
            <a:endParaRPr lang="en-US" altLang="zh-CN" dirty="0"/>
          </a:p>
          <a:p>
            <a:pPr marL="514350" indent="-514350">
              <a:lnSpc>
                <a:spcPct val="120000"/>
              </a:lnSpc>
              <a:buFont typeface="+mj-lt"/>
              <a:buAutoNum type="arabicPeriod"/>
            </a:pPr>
            <a:r>
              <a:rPr lang="en-US" altLang="zh-CN" dirty="0" err="1"/>
              <a:t>gcc</a:t>
            </a:r>
            <a:r>
              <a:rPr lang="en-US" altLang="zh-CN" dirty="0"/>
              <a:t> -c </a:t>
            </a:r>
            <a:r>
              <a:rPr lang="zh-CN" altLang="en-US" dirty="0"/>
              <a:t>编译 </a:t>
            </a:r>
            <a:r>
              <a:rPr lang="en-US" altLang="zh-CN" dirty="0" err="1"/>
              <a:t>main.c</a:t>
            </a:r>
            <a:endParaRPr lang="en-US" altLang="zh-CN" dirty="0"/>
          </a:p>
          <a:p>
            <a:pPr marL="514350" indent="-514350">
              <a:lnSpc>
                <a:spcPct val="120000"/>
              </a:lnSpc>
              <a:buFont typeface="+mj-lt"/>
              <a:buAutoNum type="arabicPeriod"/>
            </a:pPr>
            <a:r>
              <a:rPr lang="en-US" altLang="zh-CN" dirty="0" err="1"/>
              <a:t>gcc</a:t>
            </a:r>
            <a:r>
              <a:rPr lang="en-US" altLang="zh-CN" dirty="0"/>
              <a:t> -c </a:t>
            </a:r>
            <a:r>
              <a:rPr lang="zh-CN" altLang="en-US" dirty="0"/>
              <a:t>编译 </a:t>
            </a:r>
            <a:r>
              <a:rPr lang="en-US" altLang="zh-CN" dirty="0" err="1"/>
              <a:t>Hanoi.c</a:t>
            </a:r>
            <a:endParaRPr lang="en-US" altLang="zh-CN" dirty="0"/>
          </a:p>
          <a:p>
            <a:pPr marL="514350" indent="-514350">
              <a:lnSpc>
                <a:spcPct val="120000"/>
              </a:lnSpc>
              <a:buFont typeface="+mj-lt"/>
              <a:buAutoNum type="arabicPeriod"/>
            </a:pPr>
            <a:r>
              <a:rPr lang="en-US" altLang="zh-CN" dirty="0" err="1"/>
              <a:t>gcc</a:t>
            </a:r>
            <a:r>
              <a:rPr lang="en-US" altLang="zh-CN" dirty="0"/>
              <a:t> </a:t>
            </a:r>
            <a:r>
              <a:rPr lang="zh-CN" altLang="en-US" dirty="0"/>
              <a:t>链接 </a:t>
            </a:r>
            <a:r>
              <a:rPr lang="en-US" altLang="zh-CN" dirty="0" err="1"/>
              <a:t>main.o</a:t>
            </a:r>
            <a:r>
              <a:rPr lang="en-US" altLang="zh-CN" dirty="0"/>
              <a:t> </a:t>
            </a:r>
            <a:r>
              <a:rPr lang="zh-CN" altLang="en-US" dirty="0"/>
              <a:t>和 </a:t>
            </a:r>
            <a:r>
              <a:rPr lang="en-US" altLang="zh-CN" dirty="0" err="1"/>
              <a:t>hanoi.o</a:t>
            </a:r>
            <a:r>
              <a:rPr lang="en-US" altLang="zh-CN" dirty="0"/>
              <a:t> </a:t>
            </a:r>
            <a:r>
              <a:rPr lang="zh-CN" altLang="en-US" dirty="0"/>
              <a:t>生成 </a:t>
            </a:r>
            <a:r>
              <a:rPr lang="en-US" altLang="zh-CN" dirty="0"/>
              <a:t>hanoi.exe</a:t>
            </a:r>
          </a:p>
          <a:p>
            <a:pPr marL="514350" indent="-514350">
              <a:lnSpc>
                <a:spcPct val="120000"/>
              </a:lnSpc>
              <a:buFont typeface="+mj-lt"/>
              <a:buAutoNum type="arabicPeriod"/>
            </a:pPr>
            <a:endParaRPr lang="en-US" altLang="zh-CN" dirty="0"/>
          </a:p>
          <a:p>
            <a:pPr marL="457200" lvl="1" indent="0">
              <a:buNone/>
            </a:pPr>
            <a:endParaRPr lang="zh-CN" altLang="en-US" dirty="0">
              <a:solidFill>
                <a:schemeClr val="tx1"/>
              </a:solidFill>
            </a:endParaRPr>
          </a:p>
        </p:txBody>
      </p:sp>
    </p:spTree>
    <p:extLst>
      <p:ext uri="{BB962C8B-B14F-4D97-AF65-F5344CB8AC3E}">
        <p14:creationId xmlns:p14="http://schemas.microsoft.com/office/powerpoint/2010/main" val="291597623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barn(inVertical)">
                                      <p:cBhvr>
                                        <p:cTn id="7"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头文件（</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Head File</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4" name="内容占位符 3"/>
          <p:cNvSpPr>
            <a:spLocks noGrp="1"/>
          </p:cNvSpPr>
          <p:nvPr/>
        </p:nvSpPr>
        <p:spPr>
          <a:xfrm>
            <a:off x="838200" y="1815465"/>
            <a:ext cx="10236200" cy="435165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Clr>
                <a:srgbClr val="C00000"/>
              </a:buClr>
              <a:buSzPct val="120000"/>
              <a:buFont typeface="Arial" panose="020B0604020202020204" pitchFamily="34" charset="0"/>
              <a:buChar char="•"/>
              <a:defRPr sz="2800" kern="1200">
                <a:solidFill>
                  <a:schemeClr val="tx1"/>
                </a:solidFill>
                <a:latin typeface="FandolSong" panose="00000500000000000000" charset="-122"/>
                <a:ea typeface="FandolSong" panose="00000500000000000000" charset="-122"/>
                <a:cs typeface="+mn-cs"/>
              </a:defRPr>
            </a:lvl1pPr>
            <a:lvl2pPr marL="685800" indent="-228600" algn="just" defTabSz="914400" rtl="0" eaLnBrk="1" latinLnBrk="0" hangingPunct="1">
              <a:lnSpc>
                <a:spcPct val="70000"/>
              </a:lnSpc>
              <a:spcBef>
                <a:spcPts val="600"/>
              </a:spcBef>
              <a:buClr>
                <a:srgbClr val="C00000"/>
              </a:buClr>
              <a:buSzPct val="120000"/>
              <a:buFont typeface="Arial" panose="020B0604020202020204" pitchFamily="34" charset="0"/>
              <a:buChar char="•"/>
              <a:defRPr sz="2400" kern="1200">
                <a:solidFill>
                  <a:schemeClr val="tx1"/>
                </a:solidFill>
                <a:latin typeface="FandolSong" panose="00000500000000000000" charset="-122"/>
                <a:ea typeface="FandolSong" panose="00000500000000000000" charset="-122"/>
                <a:cs typeface="+mn-cs"/>
              </a:defRPr>
            </a:lvl2pPr>
            <a:lvl3pPr marL="11430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2000" kern="1200">
                <a:solidFill>
                  <a:schemeClr val="tx1"/>
                </a:solidFill>
                <a:latin typeface="FandolSong" panose="00000500000000000000" charset="-122"/>
                <a:ea typeface="FandolSong" panose="00000500000000000000" charset="-122"/>
                <a:cs typeface="+mn-cs"/>
              </a:defRPr>
            </a:lvl3pPr>
            <a:lvl4pPr marL="16002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1800" kern="1200">
                <a:solidFill>
                  <a:schemeClr val="tx1"/>
                </a:solidFill>
                <a:latin typeface="FandolSong" panose="00000500000000000000" charset="-122"/>
                <a:ea typeface="FandolSong" panose="00000500000000000000" charset="-122"/>
                <a:cs typeface="+mn-cs"/>
              </a:defRPr>
            </a:lvl4pPr>
            <a:lvl5pPr marL="20574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1800" kern="1200">
                <a:solidFill>
                  <a:schemeClr val="tx1"/>
                </a:solidFill>
                <a:latin typeface="FandolSong" panose="00000500000000000000" charset="-122"/>
                <a:ea typeface="FandolSong" panose="00000500000000000000"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zh-CN" altLang="en-US" dirty="0"/>
              <a:t>头文件是扩展名为 </a:t>
            </a:r>
            <a:r>
              <a:rPr lang="en-US" altLang="zh-CN" dirty="0"/>
              <a:t>.h </a:t>
            </a:r>
            <a:r>
              <a:rPr lang="zh-CN" altLang="en-US" dirty="0"/>
              <a:t>的文件</a:t>
            </a:r>
            <a:endParaRPr lang="en-US" altLang="zh-CN" dirty="0"/>
          </a:p>
          <a:p>
            <a:pPr>
              <a:lnSpc>
                <a:spcPct val="100000"/>
              </a:lnSpc>
            </a:pPr>
            <a:r>
              <a:rPr lang="zh-CN" altLang="en-US" dirty="0"/>
              <a:t>头文件通常包含：</a:t>
            </a:r>
            <a:endParaRPr lang="en-US" altLang="zh-CN" dirty="0"/>
          </a:p>
          <a:p>
            <a:pPr lvl="1">
              <a:lnSpc>
                <a:spcPct val="100000"/>
              </a:lnSpc>
            </a:pPr>
            <a:r>
              <a:rPr lang="zh-CN" altLang="en-US" dirty="0"/>
              <a:t>共享的函数声明</a:t>
            </a:r>
            <a:endParaRPr lang="en-US" altLang="zh-CN" dirty="0"/>
          </a:p>
          <a:p>
            <a:pPr lvl="1">
              <a:lnSpc>
                <a:spcPct val="100000"/>
              </a:lnSpc>
            </a:pPr>
            <a:r>
              <a:rPr lang="zh-CN" altLang="en-US" dirty="0"/>
              <a:t>全局变量声明与初始化</a:t>
            </a:r>
            <a:endParaRPr lang="en-US" altLang="zh-CN" dirty="0"/>
          </a:p>
          <a:p>
            <a:pPr lvl="1">
              <a:lnSpc>
                <a:spcPct val="100000"/>
              </a:lnSpc>
            </a:pPr>
            <a:r>
              <a:rPr lang="zh-CN" altLang="en-US" dirty="0">
                <a:solidFill>
                  <a:srgbClr val="FF0000"/>
                </a:solidFill>
              </a:rPr>
              <a:t>注意：头文件中函数与变量不能用 </a:t>
            </a:r>
            <a:r>
              <a:rPr lang="en-US" altLang="zh-CN" dirty="0">
                <a:solidFill>
                  <a:srgbClr val="FF0000"/>
                </a:solidFill>
              </a:rPr>
              <a:t>static </a:t>
            </a:r>
            <a:r>
              <a:rPr lang="zh-CN" altLang="en-US" dirty="0">
                <a:solidFill>
                  <a:srgbClr val="FF0000"/>
                </a:solidFill>
              </a:rPr>
              <a:t>修饰</a:t>
            </a:r>
            <a:endParaRPr lang="en-US" altLang="zh-CN" dirty="0">
              <a:solidFill>
                <a:srgbClr val="FF0000"/>
              </a:solidFill>
            </a:endParaRPr>
          </a:p>
          <a:p>
            <a:pPr lvl="1">
              <a:lnSpc>
                <a:spcPct val="100000"/>
              </a:lnSpc>
            </a:pPr>
            <a:r>
              <a:rPr lang="zh-CN" altLang="en-US" dirty="0"/>
              <a:t>定义的预处理符号或宏</a:t>
            </a:r>
            <a:endParaRPr lang="en-US" altLang="zh-CN" dirty="0"/>
          </a:p>
          <a:p>
            <a:pPr>
              <a:lnSpc>
                <a:spcPct val="100000"/>
              </a:lnSpc>
            </a:pPr>
            <a:r>
              <a:rPr lang="zh-CN" altLang="en-US" dirty="0"/>
              <a:t>头文件通过 </a:t>
            </a:r>
            <a:r>
              <a:rPr lang="en-US" altLang="zh-CN" dirty="0"/>
              <a:t>#include </a:t>
            </a:r>
            <a:r>
              <a:rPr lang="zh-CN" altLang="en-US" dirty="0"/>
              <a:t>编译预处理指令添加到源代码文件中</a:t>
            </a:r>
            <a:endParaRPr lang="en-US" altLang="zh-CN" dirty="0"/>
          </a:p>
          <a:p>
            <a:pPr lvl="1">
              <a:lnSpc>
                <a:spcPct val="100000"/>
              </a:lnSpc>
            </a:pPr>
            <a:r>
              <a:rPr lang="zh-CN" altLang="en-US" dirty="0">
                <a:solidFill>
                  <a:schemeClr val="tx1"/>
                </a:solidFill>
              </a:rPr>
              <a:t>例如：</a:t>
            </a:r>
            <a:r>
              <a:rPr lang="zh-CN" altLang="en-US" dirty="0"/>
              <a:t>源代码中需要使用内置库的求绝对值这个函数</a:t>
            </a:r>
            <a:endParaRPr lang="en-US" altLang="zh-CN" dirty="0">
              <a:solidFill>
                <a:schemeClr val="tx1"/>
              </a:solidFill>
            </a:endParaRPr>
          </a:p>
          <a:p>
            <a:pPr lvl="1">
              <a:lnSpc>
                <a:spcPct val="100000"/>
              </a:lnSpc>
            </a:pPr>
            <a:r>
              <a:rPr lang="zh-CN" altLang="en-US" dirty="0">
                <a:solidFill>
                  <a:schemeClr val="tx1"/>
                </a:solidFill>
              </a:rPr>
              <a:t>第一种方法</a:t>
            </a:r>
            <a:r>
              <a:rPr lang="zh-CN" altLang="en-US" dirty="0"/>
              <a:t>，使用标准的头文件</a:t>
            </a:r>
            <a:r>
              <a:rPr lang="zh-CN" altLang="en-US" dirty="0">
                <a:solidFill>
                  <a:schemeClr val="tx1"/>
                </a:solidFill>
              </a:rPr>
              <a:t>：</a:t>
            </a:r>
            <a:r>
              <a:rPr lang="en-US" altLang="zh-CN" dirty="0">
                <a:solidFill>
                  <a:schemeClr val="tx1"/>
                </a:solidFill>
              </a:rPr>
              <a:t>#include &lt;</a:t>
            </a:r>
            <a:r>
              <a:rPr lang="en-US" altLang="zh-CN" dirty="0" err="1">
                <a:solidFill>
                  <a:schemeClr val="tx1"/>
                </a:solidFill>
              </a:rPr>
              <a:t>math.h</a:t>
            </a:r>
            <a:r>
              <a:rPr lang="en-US" altLang="zh-CN" dirty="0">
                <a:solidFill>
                  <a:schemeClr val="tx1"/>
                </a:solidFill>
              </a:rPr>
              <a:t>&gt;</a:t>
            </a:r>
          </a:p>
          <a:p>
            <a:pPr lvl="1">
              <a:lnSpc>
                <a:spcPct val="100000"/>
              </a:lnSpc>
            </a:pPr>
            <a:r>
              <a:rPr lang="zh-CN" altLang="en-US" dirty="0">
                <a:solidFill>
                  <a:schemeClr val="tx1"/>
                </a:solidFill>
              </a:rPr>
              <a:t>第二种方法，自己给出声明函数：</a:t>
            </a:r>
            <a:r>
              <a:rPr lang="en-US" altLang="zh-CN" dirty="0">
                <a:solidFill>
                  <a:schemeClr val="tx1"/>
                </a:solidFill>
              </a:rPr>
              <a:t>double fabs (double); </a:t>
            </a:r>
          </a:p>
          <a:p>
            <a:pPr lvl="1">
              <a:lnSpc>
                <a:spcPct val="100000"/>
              </a:lnSpc>
            </a:pPr>
            <a:endParaRPr lang="zh-CN" altLang="en-US" dirty="0">
              <a:solidFill>
                <a:schemeClr val="tx1"/>
              </a:solidFill>
            </a:endParaRPr>
          </a:p>
        </p:txBody>
      </p:sp>
    </p:spTree>
    <p:extLst>
      <p:ext uri="{BB962C8B-B14F-4D97-AF65-F5344CB8AC3E}">
        <p14:creationId xmlns:p14="http://schemas.microsoft.com/office/powerpoint/2010/main" val="257242098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right)">
                                      <p:cBhvr>
                                        <p:cTn id="7" dur="500"/>
                                        <p:tgtEl>
                                          <p:spTgt spid="34"/>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barn(inVertical)">
                                      <p:cBhvr>
                                        <p:cTn id="11"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预处理指令</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4" name="内容占位符 3"/>
          <p:cNvSpPr>
            <a:spLocks noGrp="1"/>
          </p:cNvSpPr>
          <p:nvPr/>
        </p:nvSpPr>
        <p:spPr>
          <a:xfrm>
            <a:off x="838200" y="1815465"/>
            <a:ext cx="10236200" cy="4351655"/>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Clr>
                <a:srgbClr val="C00000"/>
              </a:buClr>
              <a:buSzPct val="120000"/>
              <a:buFont typeface="Arial" panose="020B0604020202020204" pitchFamily="34" charset="0"/>
              <a:buChar char="•"/>
              <a:defRPr sz="2800" kern="1200">
                <a:solidFill>
                  <a:schemeClr val="tx1"/>
                </a:solidFill>
                <a:latin typeface="FandolSong" panose="00000500000000000000" charset="-122"/>
                <a:ea typeface="FandolSong" panose="00000500000000000000" charset="-122"/>
                <a:cs typeface="+mn-cs"/>
              </a:defRPr>
            </a:lvl1pPr>
            <a:lvl2pPr marL="685800" indent="-228600" algn="just" defTabSz="914400" rtl="0" eaLnBrk="1" latinLnBrk="0" hangingPunct="1">
              <a:lnSpc>
                <a:spcPct val="70000"/>
              </a:lnSpc>
              <a:spcBef>
                <a:spcPts val="600"/>
              </a:spcBef>
              <a:buClr>
                <a:srgbClr val="C00000"/>
              </a:buClr>
              <a:buSzPct val="120000"/>
              <a:buFont typeface="Arial" panose="020B0604020202020204" pitchFamily="34" charset="0"/>
              <a:buChar char="•"/>
              <a:defRPr sz="2400" kern="1200">
                <a:solidFill>
                  <a:schemeClr val="tx1"/>
                </a:solidFill>
                <a:latin typeface="FandolSong" panose="00000500000000000000" charset="-122"/>
                <a:ea typeface="FandolSong" panose="00000500000000000000" charset="-122"/>
                <a:cs typeface="+mn-cs"/>
              </a:defRPr>
            </a:lvl2pPr>
            <a:lvl3pPr marL="11430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2000" kern="1200">
                <a:solidFill>
                  <a:schemeClr val="tx1"/>
                </a:solidFill>
                <a:latin typeface="FandolSong" panose="00000500000000000000" charset="-122"/>
                <a:ea typeface="FandolSong" panose="00000500000000000000" charset="-122"/>
                <a:cs typeface="+mn-cs"/>
              </a:defRPr>
            </a:lvl3pPr>
            <a:lvl4pPr marL="16002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1800" kern="1200">
                <a:solidFill>
                  <a:schemeClr val="tx1"/>
                </a:solidFill>
                <a:latin typeface="FandolSong" panose="00000500000000000000" charset="-122"/>
                <a:ea typeface="FandolSong" panose="00000500000000000000" charset="-122"/>
                <a:cs typeface="+mn-cs"/>
              </a:defRPr>
            </a:lvl4pPr>
            <a:lvl5pPr marL="20574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1800" kern="1200">
                <a:solidFill>
                  <a:schemeClr val="tx1"/>
                </a:solidFill>
                <a:latin typeface="FandolSong" panose="00000500000000000000" charset="-122"/>
                <a:ea typeface="FandolSong" panose="00000500000000000000"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zh-CN" altLang="en-US" dirty="0"/>
              <a:t>预处理指令控制预处理器的行为。每个指令占据一行，且拥有下列格式</a:t>
            </a:r>
            <a:endParaRPr lang="en-US" altLang="zh-CN" dirty="0"/>
          </a:p>
          <a:p>
            <a:pPr lvl="1">
              <a:lnSpc>
                <a:spcPct val="120000"/>
              </a:lnSpc>
            </a:pPr>
            <a:r>
              <a:rPr lang="zh-CN" altLang="en-US" dirty="0"/>
              <a:t>必须以 </a:t>
            </a:r>
            <a:r>
              <a:rPr lang="en-US" altLang="zh-CN" dirty="0"/>
              <a:t># </a:t>
            </a:r>
            <a:r>
              <a:rPr lang="zh-CN" altLang="en-US" dirty="0"/>
              <a:t>字符开头</a:t>
            </a:r>
            <a:endParaRPr lang="en-US" altLang="zh-CN" dirty="0"/>
          </a:p>
          <a:p>
            <a:pPr lvl="1">
              <a:lnSpc>
                <a:spcPct val="120000"/>
              </a:lnSpc>
            </a:pPr>
            <a:r>
              <a:rPr lang="zh-CN" altLang="en-US" dirty="0"/>
              <a:t>预处理指令（</a:t>
            </a:r>
            <a:r>
              <a:rPr lang="en-US" altLang="zh-CN" dirty="0"/>
              <a:t>define</a:t>
            </a:r>
            <a:r>
              <a:rPr lang="zh-CN" altLang="en-US" dirty="0"/>
              <a:t>、</a:t>
            </a:r>
            <a:r>
              <a:rPr lang="en-US" altLang="zh-CN" dirty="0" err="1"/>
              <a:t>undef</a:t>
            </a:r>
            <a:r>
              <a:rPr lang="zh-CN" altLang="en-US" dirty="0"/>
              <a:t>、</a:t>
            </a:r>
            <a:r>
              <a:rPr lang="en-US" altLang="zh-CN" dirty="0"/>
              <a:t>include</a:t>
            </a:r>
            <a:r>
              <a:rPr lang="zh-CN" altLang="en-US" dirty="0"/>
              <a:t>、</a:t>
            </a:r>
            <a:r>
              <a:rPr lang="en-US" altLang="zh-CN" dirty="0"/>
              <a:t>if</a:t>
            </a:r>
            <a:r>
              <a:rPr lang="zh-CN" altLang="en-US" dirty="0"/>
              <a:t>、</a:t>
            </a:r>
            <a:r>
              <a:rPr lang="en-US" altLang="zh-CN" dirty="0"/>
              <a:t>ifdef</a:t>
            </a:r>
            <a:r>
              <a:rPr lang="zh-CN" altLang="en-US" dirty="0"/>
              <a:t>、</a:t>
            </a:r>
            <a:r>
              <a:rPr lang="en-US" altLang="zh-CN" dirty="0" err="1"/>
              <a:t>ifndef</a:t>
            </a:r>
            <a:r>
              <a:rPr lang="zh-CN" altLang="en-US" dirty="0"/>
              <a:t>、</a:t>
            </a:r>
            <a:r>
              <a:rPr lang="en-US" altLang="zh-CN" dirty="0"/>
              <a:t>else</a:t>
            </a:r>
            <a:r>
              <a:rPr lang="zh-CN" altLang="en-US" dirty="0"/>
              <a:t>、</a:t>
            </a:r>
            <a:r>
              <a:rPr lang="en-US" altLang="zh-CN" dirty="0" err="1"/>
              <a:t>elif</a:t>
            </a:r>
            <a:r>
              <a:rPr lang="zh-CN" altLang="en-US" dirty="0"/>
              <a:t>、</a:t>
            </a:r>
            <a:r>
              <a:rPr lang="en-US" altLang="zh-CN" dirty="0" err="1"/>
              <a:t>elifdef</a:t>
            </a:r>
            <a:r>
              <a:rPr lang="zh-CN" altLang="en-US" dirty="0"/>
              <a:t>、</a:t>
            </a:r>
            <a:r>
              <a:rPr lang="en-US" altLang="zh-CN" dirty="0"/>
              <a:t>endif</a:t>
            </a:r>
            <a:r>
              <a:rPr lang="zh-CN" altLang="en-US" dirty="0"/>
              <a:t>、</a:t>
            </a:r>
            <a:r>
              <a:rPr lang="en-US" altLang="zh-CN" dirty="0"/>
              <a:t>line</a:t>
            </a:r>
            <a:r>
              <a:rPr lang="zh-CN" altLang="en-US" dirty="0"/>
              <a:t>、</a:t>
            </a:r>
            <a:r>
              <a:rPr lang="en-US" altLang="zh-CN" dirty="0"/>
              <a:t>error</a:t>
            </a:r>
            <a:r>
              <a:rPr lang="zh-CN" altLang="en-US" dirty="0"/>
              <a:t>、</a:t>
            </a:r>
            <a:r>
              <a:rPr lang="en-US" altLang="zh-CN" dirty="0"/>
              <a:t>pragma </a:t>
            </a:r>
            <a:r>
              <a:rPr lang="zh-CN" altLang="en-US" dirty="0"/>
              <a:t>之一</a:t>
            </a:r>
            <a:r>
              <a:rPr lang="zh-CN" altLang="en-US" dirty="0">
                <a:solidFill>
                  <a:schemeClr val="tx1"/>
                </a:solidFill>
              </a:rPr>
              <a:t>）</a:t>
            </a:r>
            <a:endParaRPr lang="en-US" altLang="zh-CN" dirty="0"/>
          </a:p>
          <a:p>
            <a:pPr>
              <a:lnSpc>
                <a:spcPct val="120000"/>
              </a:lnSpc>
            </a:pPr>
            <a:r>
              <a:rPr lang="zh-CN" altLang="en-US" dirty="0"/>
              <a:t>预处理器拥有控制源文件翻译能力</a:t>
            </a:r>
            <a:endParaRPr lang="en-US" altLang="zh-CN" dirty="0"/>
          </a:p>
          <a:p>
            <a:pPr lvl="1">
              <a:lnSpc>
                <a:spcPct val="120000"/>
              </a:lnSpc>
            </a:pPr>
            <a:r>
              <a:rPr lang="zh-CN" altLang="en-US" dirty="0">
                <a:solidFill>
                  <a:schemeClr val="tx1"/>
                </a:solidFill>
              </a:rPr>
              <a:t>有条件编译源文件的某些部分（由 </a:t>
            </a:r>
            <a:r>
              <a:rPr lang="en-US" altLang="zh-CN" dirty="0">
                <a:solidFill>
                  <a:schemeClr val="tx1"/>
                </a:solidFill>
              </a:rPr>
              <a:t>#if</a:t>
            </a:r>
            <a:r>
              <a:rPr lang="zh-CN" altLang="en-US" dirty="0">
                <a:solidFill>
                  <a:schemeClr val="tx1"/>
                </a:solidFill>
              </a:rPr>
              <a:t>、</a:t>
            </a:r>
            <a:r>
              <a:rPr lang="en-US" altLang="zh-CN" dirty="0">
                <a:solidFill>
                  <a:schemeClr val="tx1"/>
                </a:solidFill>
              </a:rPr>
              <a:t>#ifdef</a:t>
            </a:r>
            <a:r>
              <a:rPr lang="zh-CN" altLang="en-US" dirty="0">
                <a:solidFill>
                  <a:schemeClr val="tx1"/>
                </a:solidFill>
              </a:rPr>
              <a:t>、</a:t>
            </a:r>
            <a:r>
              <a:rPr lang="en-US" altLang="zh-CN" dirty="0">
                <a:solidFill>
                  <a:schemeClr val="tx1"/>
                </a:solidFill>
              </a:rPr>
              <a:t>#ifndef</a:t>
            </a:r>
            <a:r>
              <a:rPr lang="zh-CN" altLang="en-US" dirty="0">
                <a:solidFill>
                  <a:schemeClr val="tx1"/>
                </a:solidFill>
              </a:rPr>
              <a:t>、</a:t>
            </a:r>
            <a:r>
              <a:rPr lang="en-US" altLang="zh-CN" dirty="0">
                <a:solidFill>
                  <a:schemeClr val="tx1"/>
                </a:solidFill>
              </a:rPr>
              <a:t>#else</a:t>
            </a:r>
            <a:r>
              <a:rPr lang="zh-CN" altLang="en-US" dirty="0">
                <a:solidFill>
                  <a:schemeClr val="tx1"/>
                </a:solidFill>
              </a:rPr>
              <a:t>、</a:t>
            </a:r>
            <a:r>
              <a:rPr lang="en-US" altLang="zh-CN" dirty="0">
                <a:solidFill>
                  <a:schemeClr val="tx1"/>
                </a:solidFill>
              </a:rPr>
              <a:t>#elif</a:t>
            </a:r>
            <a:r>
              <a:rPr lang="zh-CN" altLang="en-US" dirty="0">
                <a:solidFill>
                  <a:schemeClr val="tx1"/>
                </a:solidFill>
              </a:rPr>
              <a:t>、</a:t>
            </a:r>
            <a:r>
              <a:rPr lang="en-US" altLang="zh-CN" dirty="0" err="1">
                <a:solidFill>
                  <a:schemeClr val="tx1"/>
                </a:solidFill>
              </a:rPr>
              <a:t>elifdef</a:t>
            </a:r>
            <a:r>
              <a:rPr lang="zh-CN" altLang="en-US" dirty="0">
                <a:solidFill>
                  <a:schemeClr val="tx1"/>
                </a:solidFill>
              </a:rPr>
              <a:t>、和 </a:t>
            </a:r>
            <a:r>
              <a:rPr lang="en-US" altLang="zh-CN" dirty="0">
                <a:solidFill>
                  <a:schemeClr val="tx1"/>
                </a:solidFill>
              </a:rPr>
              <a:t>#endif </a:t>
            </a:r>
            <a:r>
              <a:rPr lang="zh-CN" altLang="en-US" dirty="0">
                <a:solidFill>
                  <a:schemeClr val="tx1"/>
                </a:solidFill>
              </a:rPr>
              <a:t>指令控制）。</a:t>
            </a:r>
          </a:p>
          <a:p>
            <a:pPr lvl="1">
              <a:lnSpc>
                <a:spcPct val="120000"/>
              </a:lnSpc>
            </a:pPr>
            <a:r>
              <a:rPr lang="zh-CN" altLang="en-US" dirty="0">
                <a:solidFill>
                  <a:schemeClr val="tx1"/>
                </a:solidFill>
              </a:rPr>
              <a:t>替换文本宏，可以连接或加引标识符（以指令 </a:t>
            </a:r>
            <a:r>
              <a:rPr lang="en-US" altLang="zh-CN" dirty="0">
                <a:solidFill>
                  <a:schemeClr val="tx1"/>
                </a:solidFill>
              </a:rPr>
              <a:t>#define </a:t>
            </a:r>
            <a:r>
              <a:rPr lang="zh-CN" altLang="en-US" dirty="0">
                <a:solidFill>
                  <a:schemeClr val="tx1"/>
                </a:solidFill>
              </a:rPr>
              <a:t>和 </a:t>
            </a:r>
            <a:r>
              <a:rPr lang="en-US" altLang="zh-CN" dirty="0">
                <a:solidFill>
                  <a:schemeClr val="tx1"/>
                </a:solidFill>
              </a:rPr>
              <a:t>#undef </a:t>
            </a:r>
            <a:r>
              <a:rPr lang="zh-CN" altLang="en-US" dirty="0">
                <a:solidFill>
                  <a:schemeClr val="tx1"/>
                </a:solidFill>
              </a:rPr>
              <a:t>，运算符 </a:t>
            </a:r>
            <a:r>
              <a:rPr lang="en-US" altLang="zh-CN" dirty="0">
                <a:solidFill>
                  <a:schemeClr val="tx1"/>
                </a:solidFill>
              </a:rPr>
              <a:t># </a:t>
            </a:r>
            <a:r>
              <a:rPr lang="zh-CN" altLang="en-US" dirty="0">
                <a:solidFill>
                  <a:schemeClr val="tx1"/>
                </a:solidFill>
              </a:rPr>
              <a:t>和 </a:t>
            </a:r>
            <a:r>
              <a:rPr lang="en-US" altLang="zh-CN" dirty="0">
                <a:solidFill>
                  <a:schemeClr val="tx1"/>
                </a:solidFill>
              </a:rPr>
              <a:t>## </a:t>
            </a:r>
            <a:r>
              <a:rPr lang="zh-CN" altLang="en-US" dirty="0">
                <a:solidFill>
                  <a:schemeClr val="tx1"/>
                </a:solidFill>
              </a:rPr>
              <a:t>控制）。</a:t>
            </a:r>
          </a:p>
          <a:p>
            <a:pPr lvl="1">
              <a:lnSpc>
                <a:spcPct val="120000"/>
              </a:lnSpc>
            </a:pPr>
            <a:r>
              <a:rPr lang="zh-CN" altLang="en-US" dirty="0">
                <a:solidFill>
                  <a:schemeClr val="tx1"/>
                </a:solidFill>
              </a:rPr>
              <a:t>包含其他文件（以指令 </a:t>
            </a:r>
            <a:r>
              <a:rPr lang="en-US" altLang="zh-CN" dirty="0">
                <a:solidFill>
                  <a:schemeClr val="tx1"/>
                </a:solidFill>
              </a:rPr>
              <a:t>#include </a:t>
            </a:r>
            <a:r>
              <a:rPr lang="zh-CN" altLang="en-US" dirty="0">
                <a:solidFill>
                  <a:schemeClr val="tx1"/>
                </a:solidFill>
              </a:rPr>
              <a:t>控制）。</a:t>
            </a:r>
          </a:p>
          <a:p>
            <a:pPr lvl="1">
              <a:lnSpc>
                <a:spcPct val="120000"/>
              </a:lnSpc>
            </a:pPr>
            <a:r>
              <a:rPr lang="zh-CN" altLang="en-US" dirty="0">
                <a:solidFill>
                  <a:schemeClr val="tx1"/>
                </a:solidFill>
              </a:rPr>
              <a:t>导致错误（以指令 </a:t>
            </a:r>
            <a:r>
              <a:rPr lang="en-US" altLang="zh-CN" dirty="0">
                <a:solidFill>
                  <a:schemeClr val="tx1"/>
                </a:solidFill>
              </a:rPr>
              <a:t>#error </a:t>
            </a:r>
            <a:r>
              <a:rPr lang="zh-CN" altLang="en-US" dirty="0">
                <a:solidFill>
                  <a:schemeClr val="tx1"/>
                </a:solidFill>
              </a:rPr>
              <a:t>控制）。</a:t>
            </a:r>
          </a:p>
        </p:txBody>
      </p:sp>
    </p:spTree>
    <p:extLst>
      <p:ext uri="{BB962C8B-B14F-4D97-AF65-F5344CB8AC3E}">
        <p14:creationId xmlns:p14="http://schemas.microsoft.com/office/powerpoint/2010/main" val="54504529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right)">
                                      <p:cBhvr>
                                        <p:cTn id="7" dur="500"/>
                                        <p:tgtEl>
                                          <p:spTgt spid="34"/>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barn(inVertical)">
                                      <p:cBhvr>
                                        <p:cTn id="11"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替换文本宏</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pic>
        <p:nvPicPr>
          <p:cNvPr id="3" name="图片 2">
            <a:extLst>
              <a:ext uri="{FF2B5EF4-FFF2-40B4-BE49-F238E27FC236}">
                <a16:creationId xmlns:a16="http://schemas.microsoft.com/office/drawing/2014/main" id="{7E9C46AD-0C33-4670-8F09-DC88F7B27C05}"/>
              </a:ext>
            </a:extLst>
          </p:cNvPr>
          <p:cNvPicPr>
            <a:picLocks noChangeAspect="1"/>
          </p:cNvPicPr>
          <p:nvPr/>
        </p:nvPicPr>
        <p:blipFill>
          <a:blip r:embed="rId4"/>
          <a:stretch>
            <a:fillRect/>
          </a:stretch>
        </p:blipFill>
        <p:spPr>
          <a:xfrm>
            <a:off x="1084716" y="1815872"/>
            <a:ext cx="10487025" cy="4619625"/>
          </a:xfrm>
          <a:prstGeom prst="rect">
            <a:avLst/>
          </a:prstGeom>
        </p:spPr>
      </p:pic>
    </p:spTree>
    <p:extLst>
      <p:ext uri="{BB962C8B-B14F-4D97-AF65-F5344CB8AC3E}">
        <p14:creationId xmlns:p14="http://schemas.microsoft.com/office/powerpoint/2010/main" val="954486630"/>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right)">
                                      <p:cBhvr>
                                        <p:cTn id="7" dur="500"/>
                                        <p:tgtEl>
                                          <p:spTgt spid="34"/>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barn(inVertical)">
                                      <p:cBhvr>
                                        <p:cTn id="11"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只引用一次头文件</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4" name="内容占位符 3"/>
          <p:cNvSpPr>
            <a:spLocks noGrp="1"/>
          </p:cNvSpPr>
          <p:nvPr/>
        </p:nvSpPr>
        <p:spPr>
          <a:xfrm>
            <a:off x="838200" y="1815465"/>
            <a:ext cx="10236200" cy="964021"/>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Clr>
                <a:srgbClr val="C00000"/>
              </a:buClr>
              <a:buSzPct val="120000"/>
              <a:buFont typeface="Arial" panose="020B0604020202020204" pitchFamily="34" charset="0"/>
              <a:buChar char="•"/>
              <a:defRPr sz="2800" kern="1200">
                <a:solidFill>
                  <a:schemeClr val="tx1"/>
                </a:solidFill>
                <a:latin typeface="FandolSong" panose="00000500000000000000" charset="-122"/>
                <a:ea typeface="FandolSong" panose="00000500000000000000" charset="-122"/>
                <a:cs typeface="+mn-cs"/>
              </a:defRPr>
            </a:lvl1pPr>
            <a:lvl2pPr marL="685800" indent="-228600" algn="just" defTabSz="914400" rtl="0" eaLnBrk="1" latinLnBrk="0" hangingPunct="1">
              <a:lnSpc>
                <a:spcPct val="70000"/>
              </a:lnSpc>
              <a:spcBef>
                <a:spcPts val="600"/>
              </a:spcBef>
              <a:buClr>
                <a:srgbClr val="C00000"/>
              </a:buClr>
              <a:buSzPct val="120000"/>
              <a:buFont typeface="Arial" panose="020B0604020202020204" pitchFamily="34" charset="0"/>
              <a:buChar char="•"/>
              <a:defRPr sz="2400" kern="1200">
                <a:solidFill>
                  <a:schemeClr val="tx1"/>
                </a:solidFill>
                <a:latin typeface="FandolSong" panose="00000500000000000000" charset="-122"/>
                <a:ea typeface="FandolSong" panose="00000500000000000000" charset="-122"/>
                <a:cs typeface="+mn-cs"/>
              </a:defRPr>
            </a:lvl2pPr>
            <a:lvl3pPr marL="11430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2000" kern="1200">
                <a:solidFill>
                  <a:schemeClr val="tx1"/>
                </a:solidFill>
                <a:latin typeface="FandolSong" panose="00000500000000000000" charset="-122"/>
                <a:ea typeface="FandolSong" panose="00000500000000000000" charset="-122"/>
                <a:cs typeface="+mn-cs"/>
              </a:defRPr>
            </a:lvl3pPr>
            <a:lvl4pPr marL="16002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1800" kern="1200">
                <a:solidFill>
                  <a:schemeClr val="tx1"/>
                </a:solidFill>
                <a:latin typeface="FandolSong" panose="00000500000000000000" charset="-122"/>
                <a:ea typeface="FandolSong" panose="00000500000000000000" charset="-122"/>
                <a:cs typeface="+mn-cs"/>
              </a:defRPr>
            </a:lvl4pPr>
            <a:lvl5pPr marL="2057400" indent="-228600" algn="l" defTabSz="914400" rtl="0" eaLnBrk="1" latinLnBrk="0" hangingPunct="1">
              <a:lnSpc>
                <a:spcPct val="90000"/>
              </a:lnSpc>
              <a:spcBef>
                <a:spcPts val="500"/>
              </a:spcBef>
              <a:buClr>
                <a:srgbClr val="C00000"/>
              </a:buClr>
              <a:buSzPct val="120000"/>
              <a:buFont typeface="Arial" panose="020B0604020202020204" pitchFamily="34" charset="0"/>
              <a:buChar char="•"/>
              <a:defRPr sz="1800" kern="1200">
                <a:solidFill>
                  <a:schemeClr val="tx1"/>
                </a:solidFill>
                <a:latin typeface="FandolSong" panose="00000500000000000000" charset="-122"/>
                <a:ea typeface="FandolSong" panose="00000500000000000000"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zh-CN" altLang="en-US" dirty="0"/>
              <a:t>如果一个头文件被引用两次，编译器会处理两次头文件的内容，这可能产生错误。为了防止这种情况，标准的做法是把文件的整个内容放在条件编译语句中，如下：</a:t>
            </a:r>
            <a:endParaRPr lang="en-US" altLang="zh-CN" dirty="0"/>
          </a:p>
        </p:txBody>
      </p:sp>
      <p:pic>
        <p:nvPicPr>
          <p:cNvPr id="3" name="图片 2">
            <a:extLst>
              <a:ext uri="{FF2B5EF4-FFF2-40B4-BE49-F238E27FC236}">
                <a16:creationId xmlns:a16="http://schemas.microsoft.com/office/drawing/2014/main" id="{520110EE-E7C9-43F5-9264-EBCCB6F3DA4B}"/>
              </a:ext>
            </a:extLst>
          </p:cNvPr>
          <p:cNvPicPr>
            <a:picLocks noChangeAspect="1"/>
          </p:cNvPicPr>
          <p:nvPr/>
        </p:nvPicPr>
        <p:blipFill>
          <a:blip r:embed="rId4"/>
          <a:stretch>
            <a:fillRect/>
          </a:stretch>
        </p:blipFill>
        <p:spPr>
          <a:xfrm>
            <a:off x="2825752" y="3087643"/>
            <a:ext cx="5419725" cy="2152650"/>
          </a:xfrm>
          <a:prstGeom prst="rect">
            <a:avLst/>
          </a:prstGeom>
        </p:spPr>
      </p:pic>
    </p:spTree>
    <p:extLst>
      <p:ext uri="{BB962C8B-B14F-4D97-AF65-F5344CB8AC3E}">
        <p14:creationId xmlns:p14="http://schemas.microsoft.com/office/powerpoint/2010/main" val="82966338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right)">
                                      <p:cBhvr>
                                        <p:cTn id="7" dur="500"/>
                                        <p:tgtEl>
                                          <p:spTgt spid="34"/>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barn(inVertical)">
                                      <p:cBhvr>
                                        <p:cTn id="11"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744D42AC-D67C-40D2-92CB-9E8B0AA47A83}"/>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en-US" altLang="zh-CN" sz="2400" b="1" dirty="0"/>
              <a:t>C preprocessor is conceptually the first step during compilation</a:t>
            </a:r>
            <a:endParaRPr lang="zh-CN" altLang="zh-CN" sz="2400" b="1" dirty="0"/>
          </a:p>
        </p:txBody>
      </p:sp>
      <p:sp>
        <p:nvSpPr>
          <p:cNvPr id="5" name="文本框 4">
            <a:extLst>
              <a:ext uri="{FF2B5EF4-FFF2-40B4-BE49-F238E27FC236}">
                <a16:creationId xmlns:a16="http://schemas.microsoft.com/office/drawing/2014/main" id="{1BC2F527-AF84-4685-A87A-F87413B749D1}"/>
              </a:ext>
            </a:extLst>
          </p:cNvPr>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en-US" altLang="zh-CN" sz="2800" b="1" dirty="0"/>
              <a:t>true</a:t>
            </a:r>
            <a:endPar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a:extLst>
              <a:ext uri="{FF2B5EF4-FFF2-40B4-BE49-F238E27FC236}">
                <a16:creationId xmlns:a16="http://schemas.microsoft.com/office/drawing/2014/main" id="{B5EEBC7E-17E1-4645-99C4-C525928945CE}"/>
              </a:ext>
            </a:extLst>
          </p:cNvPr>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en-US" altLang="zh-CN" sz="2800" b="1" dirty="0"/>
              <a:t>false</a:t>
            </a:r>
            <a:endPar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a:extLst>
              <a:ext uri="{FF2B5EF4-FFF2-40B4-BE49-F238E27FC236}">
                <a16:creationId xmlns:a16="http://schemas.microsoft.com/office/drawing/2014/main" id="{42339FE6-EEC7-47DE-B69D-9A6495D71FE0}"/>
              </a:ext>
            </a:extLst>
          </p:cNvPr>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en-US" altLang="zh-CN" sz="2800" b="1" dirty="0"/>
              <a:t>Depends on the compiler</a:t>
            </a:r>
            <a:endPar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a:extLst>
              <a:ext uri="{FF2B5EF4-FFF2-40B4-BE49-F238E27FC236}">
                <a16:creationId xmlns:a16="http://schemas.microsoft.com/office/drawing/2014/main" id="{A6FEA6D6-6B03-48D9-8C57-33319AE7B1AA}"/>
              </a:ext>
            </a:extLst>
          </p:cNvPr>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lang="en-US" altLang="zh-CN" sz="2800" b="1" dirty="0"/>
              <a:t>Depends on the standard</a:t>
            </a:r>
            <a:endPar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a:extLst>
              <a:ext uri="{FF2B5EF4-FFF2-40B4-BE49-F238E27FC236}">
                <a16:creationId xmlns:a16="http://schemas.microsoft.com/office/drawing/2014/main" id="{BD50F9C0-B223-4E59-9506-D1061D6448A8}"/>
              </a:ext>
            </a:extLst>
          </p:cNvPr>
          <p:cNvSpPr>
            <a:spLocks noChangeAspect="1"/>
          </p:cNvSpPr>
          <p:nvPr>
            <p:custDataLst>
              <p:tags r:id="rId7"/>
            </p:custDataLst>
          </p:nvPr>
        </p:nvSpPr>
        <p:spPr>
          <a:xfrm>
            <a:off x="1571625" y="28503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a:extLst>
              <a:ext uri="{FF2B5EF4-FFF2-40B4-BE49-F238E27FC236}">
                <a16:creationId xmlns:a16="http://schemas.microsoft.com/office/drawing/2014/main" id="{24B3B352-47E8-4FC3-B785-F0BE7EB29B61}"/>
              </a:ext>
            </a:extLst>
          </p:cNvPr>
          <p:cNvSpPr>
            <a:spLocks noChangeAspect="1"/>
          </p:cNvSpPr>
          <p:nvPr>
            <p:custDataLst>
              <p:tags r:id="rId8"/>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748F25AC-3764-402A-A78F-863D3C419D1D}"/>
              </a:ext>
            </a:extLst>
          </p:cNvPr>
          <p:cNvSpPr>
            <a:spLocks noChangeAspect="1"/>
          </p:cNvSpPr>
          <p:nvPr>
            <p:custDataLst>
              <p:tags r:id="rId9"/>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71A890A4-ED13-493C-8975-03C78D9F8F00}"/>
              </a:ext>
            </a:extLst>
          </p:cNvPr>
          <p:cNvSpPr>
            <a:spLocks noChangeAspect="1"/>
          </p:cNvSpPr>
          <p:nvPr>
            <p:custDataLst>
              <p:tags r:id="rId10"/>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907A3D52-8507-497B-B057-7CA413D0128A}"/>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a:extLst>
              <a:ext uri="{FF2B5EF4-FFF2-40B4-BE49-F238E27FC236}">
                <a16:creationId xmlns:a16="http://schemas.microsoft.com/office/drawing/2014/main" id="{9F25D56D-192A-4F84-AE07-D71D4B89E444}"/>
              </a:ext>
            </a:extLst>
          </p:cNvPr>
          <p:cNvGrpSpPr/>
          <p:nvPr>
            <p:custDataLst>
              <p:tags r:id="rId12"/>
            </p:custDataLst>
          </p:nvPr>
        </p:nvGrpSpPr>
        <p:grpSpPr>
          <a:xfrm>
            <a:off x="0" y="0"/>
            <a:ext cx="12192000" cy="635000"/>
            <a:chOff x="0" y="0"/>
            <a:chExt cx="12192000" cy="635000"/>
          </a:xfrm>
        </p:grpSpPr>
        <p:sp>
          <p:nvSpPr>
            <p:cNvPr id="14" name="TitleBackground">
              <a:extLst>
                <a:ext uri="{FF2B5EF4-FFF2-40B4-BE49-F238E27FC236}">
                  <a16:creationId xmlns:a16="http://schemas.microsoft.com/office/drawing/2014/main" id="{71E57389-A9F6-4018-96A0-0270729CA205}"/>
                </a:ext>
              </a:extLst>
            </p:cNvPr>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a:extLst>
                <a:ext uri="{FF2B5EF4-FFF2-40B4-BE49-F238E27FC236}">
                  <a16:creationId xmlns:a16="http://schemas.microsoft.com/office/drawing/2014/main" id="{70B0E8BD-A7F3-419E-9BCB-86CA0E75AB52}"/>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a:extLst>
                <a:ext uri="{FF2B5EF4-FFF2-40B4-BE49-F238E27FC236}">
                  <a16:creationId xmlns:a16="http://schemas.microsoft.com/office/drawing/2014/main" id="{5AA22D2A-7369-4C5D-8B2F-068FC7476937}"/>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a:extLst>
                <a:ext uri="{FF2B5EF4-FFF2-40B4-BE49-F238E27FC236}">
                  <a16:creationId xmlns:a16="http://schemas.microsoft.com/office/drawing/2014/main" id="{C99333DF-F47F-45A0-AE9A-97AB00036692}"/>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A1178B5C-4DE2-41DF-BAD8-5CF6587CDCC1}"/>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6553736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8FF31206-DB36-4E8C-9027-2875CE0E3623}"/>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en-US" altLang="zh-CN" sz="2400" b="1" dirty="0"/>
              <a:t>Can function definition be present in header files?</a:t>
            </a:r>
            <a:endParaRPr lang="zh-CN" altLang="en-US" sz="32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a:extLst>
              <a:ext uri="{FF2B5EF4-FFF2-40B4-BE49-F238E27FC236}">
                <a16:creationId xmlns:a16="http://schemas.microsoft.com/office/drawing/2014/main" id="{F5AEE7D0-E660-4C20-87FA-3B72C265036D}"/>
              </a:ext>
            </a:extLst>
          </p:cNvPr>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en-US" altLang="zh-CN" sz="2800" b="1" dirty="0"/>
              <a:t>Yes</a:t>
            </a:r>
            <a:endPar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a:extLst>
              <a:ext uri="{FF2B5EF4-FFF2-40B4-BE49-F238E27FC236}">
                <a16:creationId xmlns:a16="http://schemas.microsoft.com/office/drawing/2014/main" id="{579EB8C9-BB03-43EF-BBE9-6A68E78B4F15}"/>
              </a:ext>
            </a:extLst>
          </p:cNvPr>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en-US" altLang="zh-CN" sz="2800" b="1" dirty="0"/>
              <a:t>No</a:t>
            </a:r>
            <a:endPar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a:extLst>
              <a:ext uri="{FF2B5EF4-FFF2-40B4-BE49-F238E27FC236}">
                <a16:creationId xmlns:a16="http://schemas.microsoft.com/office/drawing/2014/main" id="{DB42983B-E742-4B7F-BA6D-983E982AC29F}"/>
              </a:ext>
            </a:extLst>
          </p:cNvPr>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en-US" altLang="zh-CN" sz="2800" b="1" dirty="0"/>
              <a:t>Depends on the compiler</a:t>
            </a:r>
            <a:endPar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a:extLst>
              <a:ext uri="{FF2B5EF4-FFF2-40B4-BE49-F238E27FC236}">
                <a16:creationId xmlns:a16="http://schemas.microsoft.com/office/drawing/2014/main" id="{C8C57E58-E849-4BFC-9963-3B729B50FD34}"/>
              </a:ext>
            </a:extLst>
          </p:cNvPr>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lang="en-US" altLang="zh-CN" sz="2800" b="1" dirty="0"/>
              <a:t>Depends on the standard</a:t>
            </a:r>
            <a:endPar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a:extLst>
              <a:ext uri="{FF2B5EF4-FFF2-40B4-BE49-F238E27FC236}">
                <a16:creationId xmlns:a16="http://schemas.microsoft.com/office/drawing/2014/main" id="{DE8B81D1-43C0-4136-B6E7-D19D1AEF3566}"/>
              </a:ext>
            </a:extLst>
          </p:cNvPr>
          <p:cNvSpPr>
            <a:spLocks noChangeAspect="1"/>
          </p:cNvSpPr>
          <p:nvPr>
            <p:custDataLst>
              <p:tags r:id="rId7"/>
            </p:custDataLst>
          </p:nvPr>
        </p:nvSpPr>
        <p:spPr>
          <a:xfrm>
            <a:off x="1571625" y="28503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a:extLst>
              <a:ext uri="{FF2B5EF4-FFF2-40B4-BE49-F238E27FC236}">
                <a16:creationId xmlns:a16="http://schemas.microsoft.com/office/drawing/2014/main" id="{6A6A5516-7E15-4BCF-BBB5-D10EC50927AA}"/>
              </a:ext>
            </a:extLst>
          </p:cNvPr>
          <p:cNvSpPr>
            <a:spLocks noChangeAspect="1"/>
          </p:cNvSpPr>
          <p:nvPr>
            <p:custDataLst>
              <p:tags r:id="rId8"/>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A23E8F21-9FF8-45C5-BB32-18F350B7889F}"/>
              </a:ext>
            </a:extLst>
          </p:cNvPr>
          <p:cNvSpPr>
            <a:spLocks noChangeAspect="1"/>
          </p:cNvSpPr>
          <p:nvPr>
            <p:custDataLst>
              <p:tags r:id="rId9"/>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A44679C2-6964-43C2-B944-EBEBFA5AE3C4}"/>
              </a:ext>
            </a:extLst>
          </p:cNvPr>
          <p:cNvSpPr>
            <a:spLocks noChangeAspect="1"/>
          </p:cNvSpPr>
          <p:nvPr>
            <p:custDataLst>
              <p:tags r:id="rId10"/>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C1CFF9F4-9FB2-4906-AC58-74FCD05832F1}"/>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a:extLst>
              <a:ext uri="{FF2B5EF4-FFF2-40B4-BE49-F238E27FC236}">
                <a16:creationId xmlns:a16="http://schemas.microsoft.com/office/drawing/2014/main" id="{27C5E5CD-031B-43F6-989A-13BEA3090F83}"/>
              </a:ext>
            </a:extLst>
          </p:cNvPr>
          <p:cNvGrpSpPr/>
          <p:nvPr>
            <p:custDataLst>
              <p:tags r:id="rId12"/>
            </p:custDataLst>
          </p:nvPr>
        </p:nvGrpSpPr>
        <p:grpSpPr>
          <a:xfrm>
            <a:off x="0" y="0"/>
            <a:ext cx="12192000" cy="635000"/>
            <a:chOff x="0" y="0"/>
            <a:chExt cx="12192000" cy="635000"/>
          </a:xfrm>
        </p:grpSpPr>
        <p:sp>
          <p:nvSpPr>
            <p:cNvPr id="14" name="TitleBackground">
              <a:extLst>
                <a:ext uri="{FF2B5EF4-FFF2-40B4-BE49-F238E27FC236}">
                  <a16:creationId xmlns:a16="http://schemas.microsoft.com/office/drawing/2014/main" id="{AEC6D655-69B0-4F69-899D-45408AE6250A}"/>
                </a:ext>
              </a:extLst>
            </p:cNvPr>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a:extLst>
                <a:ext uri="{FF2B5EF4-FFF2-40B4-BE49-F238E27FC236}">
                  <a16:creationId xmlns:a16="http://schemas.microsoft.com/office/drawing/2014/main" id="{4C745E8D-F366-43C0-A234-EA44F59D829E}"/>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a:extLst>
                <a:ext uri="{FF2B5EF4-FFF2-40B4-BE49-F238E27FC236}">
                  <a16:creationId xmlns:a16="http://schemas.microsoft.com/office/drawing/2014/main" id="{4065D2B7-BFA0-44FF-8FD0-DB39D62D08AA}"/>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a:extLst>
                <a:ext uri="{FF2B5EF4-FFF2-40B4-BE49-F238E27FC236}">
                  <a16:creationId xmlns:a16="http://schemas.microsoft.com/office/drawing/2014/main" id="{D9C1CCD4-C97F-4D2B-9428-4CA6CFDC64A1}"/>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4F844F76-19E1-4F58-ABD9-17B3D9C7677C}"/>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9200055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285E324C-6A00-49A4-9EDC-08720BF17EF0}"/>
              </a:ext>
            </a:extLst>
          </p:cNvPr>
          <p:cNvSpPr txBox="1"/>
          <p:nvPr>
            <p:custDataLst>
              <p:tags r:id="rId2"/>
            </p:custDataLst>
          </p:nvPr>
        </p:nvSpPr>
        <p:spPr>
          <a:xfrm>
            <a:off x="1206500" y="978146"/>
            <a:ext cx="9753600" cy="2143125"/>
          </a:xfrm>
          <a:prstGeom prst="rect">
            <a:avLst/>
          </a:prstGeom>
          <a:noFill/>
        </p:spPr>
        <p:txBody>
          <a:bodyPr vert="horz" wrap="square" rtlCol="0" anchor="ctr" anchorCtr="0">
            <a:noAutofit/>
          </a:bodyPr>
          <a:lstStyle/>
          <a:p>
            <a:r>
              <a:rPr lang="en-US" altLang="zh-CN" sz="2000" b="1" dirty="0"/>
              <a:t>What is the output of this C code?</a:t>
            </a:r>
            <a:endParaRPr lang="zh-CN" altLang="zh-CN" sz="2000" b="1" dirty="0"/>
          </a:p>
          <a:p>
            <a:pPr lvl="0" fontAlgn="t" latinLnBrk="1"/>
            <a:r>
              <a:rPr lang="en-US" altLang="zh-CN" sz="2000" b="1" dirty="0"/>
              <a:t>    #include &lt;</a:t>
            </a:r>
            <a:r>
              <a:rPr lang="en-US" altLang="zh-CN" sz="2000" b="1" dirty="0" err="1"/>
              <a:t>stdio.h</a:t>
            </a:r>
            <a:r>
              <a:rPr lang="en-US" altLang="zh-CN" sz="2000" b="1" dirty="0"/>
              <a:t>&gt;</a:t>
            </a:r>
            <a:endParaRPr lang="zh-CN" altLang="zh-CN" sz="2000" b="1" dirty="0"/>
          </a:p>
          <a:p>
            <a:pPr lvl="0" fontAlgn="t" latinLnBrk="1"/>
            <a:r>
              <a:rPr lang="en-US" altLang="zh-CN" sz="2000" b="1" dirty="0"/>
              <a:t>    #define foo(x, y) x / y + x</a:t>
            </a:r>
            <a:endParaRPr lang="zh-CN" altLang="zh-CN" sz="2000" b="1" dirty="0"/>
          </a:p>
          <a:p>
            <a:pPr lvl="0" fontAlgn="t" latinLnBrk="1"/>
            <a:r>
              <a:rPr lang="en-US" altLang="zh-CN" sz="2000" b="1" dirty="0"/>
              <a:t>    int main()</a:t>
            </a:r>
            <a:endParaRPr lang="zh-CN" altLang="zh-CN" sz="2000" b="1" dirty="0"/>
          </a:p>
          <a:p>
            <a:pPr lvl="0" fontAlgn="t" latinLnBrk="1"/>
            <a:r>
              <a:rPr lang="en-US" altLang="zh-CN" sz="2000" b="1" dirty="0"/>
              <a:t>    {</a:t>
            </a:r>
            <a:endParaRPr lang="zh-CN" altLang="zh-CN" sz="2000" b="1" dirty="0"/>
          </a:p>
          <a:p>
            <a:pPr lvl="0" fontAlgn="t" latinLnBrk="1"/>
            <a:r>
              <a:rPr lang="en-US" altLang="zh-CN" sz="2000" b="1" dirty="0"/>
              <a:t>        int </a:t>
            </a:r>
            <a:r>
              <a:rPr lang="en-US" altLang="zh-CN" sz="2000" b="1" dirty="0" err="1"/>
              <a:t>i</a:t>
            </a:r>
            <a:r>
              <a:rPr lang="en-US" altLang="zh-CN" sz="2000" b="1" dirty="0"/>
              <a:t> = -6, j = 3;</a:t>
            </a:r>
            <a:endParaRPr lang="zh-CN" altLang="zh-CN" sz="2000" b="1" dirty="0"/>
          </a:p>
          <a:p>
            <a:pPr lvl="0" fontAlgn="t" latinLnBrk="1"/>
            <a:r>
              <a:rPr lang="en-US" altLang="zh-CN" sz="2000" b="1" dirty="0"/>
              <a:t>        </a:t>
            </a:r>
            <a:r>
              <a:rPr lang="en-US" altLang="zh-CN" sz="2000" b="1" dirty="0" err="1"/>
              <a:t>printf</a:t>
            </a:r>
            <a:r>
              <a:rPr lang="en-US" altLang="zh-CN" sz="2000" b="1" dirty="0"/>
              <a:t>("%d\</a:t>
            </a:r>
            <a:r>
              <a:rPr lang="en-US" altLang="zh-CN" sz="2000" b="1" dirty="0" err="1"/>
              <a:t>n",foo</a:t>
            </a:r>
            <a:r>
              <a:rPr lang="en-US" altLang="zh-CN" sz="2000" b="1" dirty="0"/>
              <a:t>(</a:t>
            </a:r>
            <a:r>
              <a:rPr lang="en-US" altLang="zh-CN" sz="2000" b="1" dirty="0" err="1"/>
              <a:t>i</a:t>
            </a:r>
            <a:r>
              <a:rPr lang="en-US" altLang="zh-CN" sz="2000" b="1" dirty="0"/>
              <a:t> + j, 3));</a:t>
            </a:r>
            <a:endParaRPr lang="zh-CN" altLang="zh-CN" sz="2000" b="1" dirty="0"/>
          </a:p>
          <a:p>
            <a:pPr lvl="0" fontAlgn="t" latinLnBrk="1"/>
            <a:r>
              <a:rPr lang="en-US" altLang="zh-CN" sz="2000" b="1" dirty="0"/>
              <a:t>        return 0;</a:t>
            </a:r>
            <a:endParaRPr lang="zh-CN" altLang="zh-CN" sz="2000" b="1" dirty="0"/>
          </a:p>
          <a:p>
            <a:pPr lvl="0" fontAlgn="t" latinLnBrk="1"/>
            <a:r>
              <a:rPr lang="en-US" altLang="zh-CN" sz="2000" b="1" dirty="0"/>
              <a:t>    }</a:t>
            </a:r>
            <a:endParaRPr lang="zh-CN" altLang="zh-CN" sz="2000" b="1" dirty="0"/>
          </a:p>
        </p:txBody>
      </p:sp>
      <p:sp>
        <p:nvSpPr>
          <p:cNvPr id="5" name="文本框 4">
            <a:extLst>
              <a:ext uri="{FF2B5EF4-FFF2-40B4-BE49-F238E27FC236}">
                <a16:creationId xmlns:a16="http://schemas.microsoft.com/office/drawing/2014/main" id="{1C61E7DB-D9C2-4618-9526-9640C2AAF43E}"/>
              </a:ext>
            </a:extLst>
          </p:cNvPr>
          <p:cNvSpPr txBox="1"/>
          <p:nvPr>
            <p:custDataLst>
              <p:tags r:id="rId3"/>
            </p:custDataLst>
          </p:nvPr>
        </p:nvSpPr>
        <p:spPr>
          <a:xfrm>
            <a:off x="2438400" y="3593006"/>
            <a:ext cx="8534400" cy="642938"/>
          </a:xfrm>
          <a:prstGeom prst="rect">
            <a:avLst/>
          </a:prstGeom>
          <a:noFill/>
        </p:spPr>
        <p:txBody>
          <a:bodyPr vert="horz" rtlCol="0" anchor="ctr" anchorCtr="0">
            <a:noAutofit/>
          </a:bodyPr>
          <a:lstStyle/>
          <a:p>
            <a:r>
              <a:rPr lang="en-US" altLang="zh-CN" sz="2800" b="1" dirty="0"/>
              <a:t>Divided by zero exception</a:t>
            </a:r>
            <a:endPar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a:extLst>
              <a:ext uri="{FF2B5EF4-FFF2-40B4-BE49-F238E27FC236}">
                <a16:creationId xmlns:a16="http://schemas.microsoft.com/office/drawing/2014/main" id="{7989BCB1-9524-4E94-A65C-4B23C72DEB6A}"/>
              </a:ext>
            </a:extLst>
          </p:cNvPr>
          <p:cNvSpPr txBox="1"/>
          <p:nvPr>
            <p:custDataLst>
              <p:tags r:id="rId4"/>
            </p:custDataLst>
          </p:nvPr>
        </p:nvSpPr>
        <p:spPr>
          <a:xfrm>
            <a:off x="2438400" y="4278311"/>
            <a:ext cx="8534400" cy="642938"/>
          </a:xfrm>
          <a:prstGeom prst="rect">
            <a:avLst/>
          </a:prstGeom>
          <a:noFill/>
        </p:spPr>
        <p:txBody>
          <a:bodyPr vert="horz" rtlCol="0" anchor="ctr" anchorCtr="0">
            <a:noAutofit/>
          </a:bodyPr>
          <a:lstStyle/>
          <a:p>
            <a:r>
              <a:rPr lang="en-US" altLang="zh-CN" sz="2800" b="1" dirty="0"/>
              <a:t>Compile time error</a:t>
            </a:r>
            <a:endPar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a:extLst>
              <a:ext uri="{FF2B5EF4-FFF2-40B4-BE49-F238E27FC236}">
                <a16:creationId xmlns:a16="http://schemas.microsoft.com/office/drawing/2014/main" id="{63381ABA-E082-413D-B68F-A973089C46EE}"/>
              </a:ext>
            </a:extLst>
          </p:cNvPr>
          <p:cNvSpPr txBox="1"/>
          <p:nvPr>
            <p:custDataLst>
              <p:tags r:id="rId5"/>
            </p:custDataLst>
          </p:nvPr>
        </p:nvSpPr>
        <p:spPr>
          <a:xfrm>
            <a:off x="2438400" y="4929187"/>
            <a:ext cx="8534400" cy="642938"/>
          </a:xfrm>
          <a:prstGeom prst="rect">
            <a:avLst/>
          </a:prstGeom>
          <a:noFill/>
        </p:spPr>
        <p:txBody>
          <a:bodyPr vert="horz" rtlCol="0" anchor="ctr" anchorCtr="0">
            <a:noAutofit/>
          </a:bodyPr>
          <a:lstStyle/>
          <a:p>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-8</a:t>
            </a:r>
            <a:endPar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a:extLst>
              <a:ext uri="{FF2B5EF4-FFF2-40B4-BE49-F238E27FC236}">
                <a16:creationId xmlns:a16="http://schemas.microsoft.com/office/drawing/2014/main" id="{21D6F531-5382-40E4-A723-1206D86B57E7}"/>
              </a:ext>
            </a:extLst>
          </p:cNvPr>
          <p:cNvSpPr txBox="1"/>
          <p:nvPr>
            <p:custDataLst>
              <p:tags r:id="rId6"/>
            </p:custDataLst>
          </p:nvPr>
        </p:nvSpPr>
        <p:spPr>
          <a:xfrm>
            <a:off x="2438400" y="5572125"/>
            <a:ext cx="8534400" cy="642938"/>
          </a:xfrm>
          <a:prstGeom prst="rect">
            <a:avLst/>
          </a:prstGeom>
          <a:noFill/>
        </p:spPr>
        <p:txBody>
          <a:bodyPr vert="horz" rtlCol="0" anchor="ctr" anchorCtr="0">
            <a:noAutofit/>
          </a:bodyPr>
          <a:lstStyle/>
          <a:p>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-4</a:t>
            </a:r>
            <a:endPar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a:extLst>
              <a:ext uri="{FF2B5EF4-FFF2-40B4-BE49-F238E27FC236}">
                <a16:creationId xmlns:a16="http://schemas.microsoft.com/office/drawing/2014/main" id="{49DB6A8B-7DF0-405D-B0E9-2921BABE58BF}"/>
              </a:ext>
            </a:extLst>
          </p:cNvPr>
          <p:cNvSpPr>
            <a:spLocks noChangeAspect="1"/>
          </p:cNvSpPr>
          <p:nvPr>
            <p:custDataLst>
              <p:tags r:id="rId7"/>
            </p:custDataLst>
          </p:nvPr>
        </p:nvSpPr>
        <p:spPr>
          <a:xfrm>
            <a:off x="1571625" y="3657299"/>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a:extLst>
              <a:ext uri="{FF2B5EF4-FFF2-40B4-BE49-F238E27FC236}">
                <a16:creationId xmlns:a16="http://schemas.microsoft.com/office/drawing/2014/main" id="{64929D49-E7F9-443D-A499-3FA9E12F4E94}"/>
              </a:ext>
            </a:extLst>
          </p:cNvPr>
          <p:cNvSpPr>
            <a:spLocks noChangeAspect="1"/>
          </p:cNvSpPr>
          <p:nvPr>
            <p:custDataLst>
              <p:tags r:id="rId8"/>
            </p:custDataLst>
          </p:nvPr>
        </p:nvSpPr>
        <p:spPr>
          <a:xfrm>
            <a:off x="1571625" y="4342604"/>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099B43C7-782A-4F74-B72E-CADFF0AB0B60}"/>
              </a:ext>
            </a:extLst>
          </p:cNvPr>
          <p:cNvSpPr>
            <a:spLocks noChangeAspect="1"/>
          </p:cNvSpPr>
          <p:nvPr>
            <p:custDataLst>
              <p:tags r:id="rId9"/>
            </p:custDataLst>
          </p:nvPr>
        </p:nvSpPr>
        <p:spPr>
          <a:xfrm>
            <a:off x="1571625" y="4993480"/>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B6EA9C46-4AC7-4933-9A46-6E9965D62270}"/>
              </a:ext>
            </a:extLst>
          </p:cNvPr>
          <p:cNvSpPr>
            <a:spLocks noChangeAspect="1"/>
          </p:cNvSpPr>
          <p:nvPr>
            <p:custDataLst>
              <p:tags r:id="rId10"/>
            </p:custDataLst>
          </p:nvPr>
        </p:nvSpPr>
        <p:spPr>
          <a:xfrm>
            <a:off x="1571625" y="5636418"/>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5CA8BEDB-21F9-4481-953D-0B9C59252282}"/>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a:extLst>
              <a:ext uri="{FF2B5EF4-FFF2-40B4-BE49-F238E27FC236}">
                <a16:creationId xmlns:a16="http://schemas.microsoft.com/office/drawing/2014/main" id="{C4FF7BB5-9E1F-44CE-A74B-953D997872A8}"/>
              </a:ext>
            </a:extLst>
          </p:cNvPr>
          <p:cNvGrpSpPr/>
          <p:nvPr>
            <p:custDataLst>
              <p:tags r:id="rId12"/>
            </p:custDataLst>
          </p:nvPr>
        </p:nvGrpSpPr>
        <p:grpSpPr>
          <a:xfrm>
            <a:off x="0" y="0"/>
            <a:ext cx="12192000" cy="635000"/>
            <a:chOff x="0" y="0"/>
            <a:chExt cx="12192000" cy="635000"/>
          </a:xfrm>
        </p:grpSpPr>
        <p:sp>
          <p:nvSpPr>
            <p:cNvPr id="14" name="TitleBackground">
              <a:extLst>
                <a:ext uri="{FF2B5EF4-FFF2-40B4-BE49-F238E27FC236}">
                  <a16:creationId xmlns:a16="http://schemas.microsoft.com/office/drawing/2014/main" id="{38D23CC6-674C-46C9-B708-F1A386F40959}"/>
                </a:ext>
              </a:extLst>
            </p:cNvPr>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a:extLst>
                <a:ext uri="{FF2B5EF4-FFF2-40B4-BE49-F238E27FC236}">
                  <a16:creationId xmlns:a16="http://schemas.microsoft.com/office/drawing/2014/main" id="{4831F06D-18FF-418F-B090-20E5C81B8ACD}"/>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a:extLst>
                <a:ext uri="{FF2B5EF4-FFF2-40B4-BE49-F238E27FC236}">
                  <a16:creationId xmlns:a16="http://schemas.microsoft.com/office/drawing/2014/main" id="{592B9464-1196-4CDB-912B-D9697249AF59}"/>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a:extLst>
                <a:ext uri="{FF2B5EF4-FFF2-40B4-BE49-F238E27FC236}">
                  <a16:creationId xmlns:a16="http://schemas.microsoft.com/office/drawing/2014/main" id="{9284D20B-F462-4397-BBF9-0D1E9B8957AF}"/>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FE261306-F4DF-40C6-86C2-4361E8402E8E}"/>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1925967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51" name="学论网-矩形 1"/>
          <p:cNvSpPr/>
          <p:nvPr/>
        </p:nvSpPr>
        <p:spPr>
          <a:xfrm>
            <a:off x="-18415"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实战案例</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1- Cat</a:t>
            </a: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2" name="学论网-www.xuelun.me"/>
          <p:cNvSpPr txBox="1"/>
          <p:nvPr/>
        </p:nvSpPr>
        <p:spPr>
          <a:xfrm>
            <a:off x="1252694" y="1853266"/>
            <a:ext cx="9686611" cy="4487244"/>
          </a:xfrm>
          <a:prstGeom prst="rect">
            <a:avLst/>
          </a:prstGeom>
          <a:noFill/>
          <a:ln>
            <a:noFill/>
          </a:ln>
        </p:spPr>
        <p:txBody>
          <a:bodyPr wrap="square" lIns="90000" tIns="46800" rIns="90000" bIns="46800" rtlCol="0">
            <a:normAutofit/>
          </a:bodyPr>
          <a:lstStyle/>
          <a:p>
            <a:pPr>
              <a:lnSpc>
                <a:spcPct val="150000"/>
              </a:lnSpc>
            </a:pPr>
            <a:endParaRPr lang="zh-CN" altLang="en-US" sz="2400" dirty="0">
              <a:latin typeface="微软雅黑" panose="020B0503020204020204" pitchFamily="34" charset="-122"/>
              <a:ea typeface="微软雅黑" panose="020B0503020204020204" pitchFamily="34" charset="-122"/>
              <a:sym typeface="+mn-ea"/>
            </a:endParaRPr>
          </a:p>
        </p:txBody>
      </p:sp>
      <p:pic>
        <p:nvPicPr>
          <p:cNvPr id="4" name="图片 3">
            <a:extLst>
              <a:ext uri="{FF2B5EF4-FFF2-40B4-BE49-F238E27FC236}">
                <a16:creationId xmlns:a16="http://schemas.microsoft.com/office/drawing/2014/main" id="{F954FB86-9F8E-F560-8193-BFFEE69F7B7E}"/>
              </a:ext>
            </a:extLst>
          </p:cNvPr>
          <p:cNvPicPr>
            <a:picLocks noChangeAspect="1"/>
          </p:cNvPicPr>
          <p:nvPr/>
        </p:nvPicPr>
        <p:blipFill>
          <a:blip r:embed="rId4"/>
          <a:stretch>
            <a:fillRect/>
          </a:stretch>
        </p:blipFill>
        <p:spPr>
          <a:xfrm>
            <a:off x="1119553" y="1583845"/>
            <a:ext cx="9137172" cy="5136325"/>
          </a:xfrm>
          <a:prstGeom prst="rect">
            <a:avLst/>
          </a:prstGeom>
        </p:spPr>
      </p:pic>
    </p:spTree>
    <p:extLst>
      <p:ext uri="{BB962C8B-B14F-4D97-AF65-F5344CB8AC3E}">
        <p14:creationId xmlns:p14="http://schemas.microsoft.com/office/powerpoint/2010/main" val="34105059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51" name="学论网-矩形 1"/>
          <p:cNvSpPr/>
          <p:nvPr/>
        </p:nvSpPr>
        <p:spPr>
          <a:xfrm>
            <a:off x="-18415"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实战案例</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 - Cat</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分析</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2" name="学论网-www.xuelun.me"/>
          <p:cNvSpPr txBox="1"/>
          <p:nvPr/>
        </p:nvSpPr>
        <p:spPr>
          <a:xfrm>
            <a:off x="498901" y="1689224"/>
            <a:ext cx="5211166" cy="4457044"/>
          </a:xfrm>
          <a:prstGeom prst="rect">
            <a:avLst/>
          </a:prstGeom>
          <a:noFill/>
          <a:ln>
            <a:noFill/>
          </a:ln>
        </p:spPr>
        <p:txBody>
          <a:bodyPr wrap="square" lIns="90000" tIns="46800" rIns="90000" bIns="46800" rtlCol="0">
            <a:normAutofit/>
          </a:bodyPr>
          <a:lstStyle/>
          <a:p>
            <a:pPr>
              <a:lnSpc>
                <a:spcPct val="150000"/>
              </a:lnSpc>
            </a:pPr>
            <a:r>
              <a:rPr lang="zh-CN" altLang="en-US" sz="2400" dirty="0">
                <a:latin typeface="微软雅黑" panose="020B0503020204020204" pitchFamily="34" charset="-122"/>
                <a:ea typeface="微软雅黑" panose="020B0503020204020204" pitchFamily="34" charset="-122"/>
                <a:sym typeface="+mn-ea"/>
              </a:rPr>
              <a:t>分析程序的执行流程，我们可以发现，对猫做的三个动作，都会改变猫的心情和体重，</a:t>
            </a:r>
            <a:r>
              <a:rPr lang="zh-CN" altLang="en-US" sz="2400" dirty="0">
                <a:solidFill>
                  <a:srgbClr val="FF0000"/>
                </a:solidFill>
                <a:latin typeface="微软雅黑" panose="020B0503020204020204" pitchFamily="34" charset="-122"/>
                <a:ea typeface="微软雅黑" panose="020B0503020204020204" pitchFamily="34" charset="-122"/>
                <a:sym typeface="+mn-ea"/>
              </a:rPr>
              <a:t>只是改变的数值不同</a:t>
            </a:r>
            <a:r>
              <a:rPr lang="zh-CN" altLang="en-US" sz="2400" dirty="0">
                <a:latin typeface="微软雅黑" panose="020B0503020204020204" pitchFamily="34" charset="-122"/>
                <a:ea typeface="微软雅黑" panose="020B0503020204020204" pitchFamily="34" charset="-122"/>
                <a:sym typeface="+mn-ea"/>
              </a:rPr>
              <a:t>。而且，改完以后</a:t>
            </a:r>
            <a:r>
              <a:rPr lang="zh-CN" altLang="en-US" sz="2400" dirty="0">
                <a:solidFill>
                  <a:srgbClr val="FF0000"/>
                </a:solidFill>
                <a:latin typeface="微软雅黑" panose="020B0503020204020204" pitchFamily="34" charset="-122"/>
                <a:ea typeface="微软雅黑" panose="020B0503020204020204" pitchFamily="34" charset="-122"/>
                <a:sym typeface="+mn-ea"/>
              </a:rPr>
              <a:t>都同样要</a:t>
            </a:r>
            <a:r>
              <a:rPr lang="zh-CN" altLang="en-US" sz="2400" dirty="0">
                <a:latin typeface="微软雅黑" panose="020B0503020204020204" pitchFamily="34" charset="-122"/>
                <a:ea typeface="微软雅黑" panose="020B0503020204020204" pitchFamily="34" charset="-122"/>
                <a:sym typeface="+mn-ea"/>
              </a:rPr>
              <a:t>依据体重和心情来输出语句。</a:t>
            </a:r>
            <a:endParaRPr lang="en-US" altLang="zh-CN" sz="2400" dirty="0">
              <a:latin typeface="微软雅黑" panose="020B0503020204020204" pitchFamily="34" charset="-122"/>
              <a:ea typeface="微软雅黑" panose="020B0503020204020204" pitchFamily="34" charset="-122"/>
              <a:sym typeface="+mn-ea"/>
            </a:endParaRPr>
          </a:p>
          <a:p>
            <a:pPr>
              <a:lnSpc>
                <a:spcPct val="150000"/>
              </a:lnSpc>
            </a:pPr>
            <a:r>
              <a:rPr lang="zh-CN" altLang="en-US" sz="2400" dirty="0">
                <a:latin typeface="微软雅黑" panose="020B0503020204020204" pitchFamily="34" charset="-122"/>
                <a:ea typeface="微软雅黑" panose="020B0503020204020204" pitchFamily="34" charset="-122"/>
                <a:sym typeface="+mn-ea"/>
              </a:rPr>
              <a:t>这种就是适合使用函数的情况。</a:t>
            </a:r>
          </a:p>
        </p:txBody>
      </p:sp>
      <p:sp>
        <p:nvSpPr>
          <p:cNvPr id="3" name="矩形 2">
            <a:extLst>
              <a:ext uri="{FF2B5EF4-FFF2-40B4-BE49-F238E27FC236}">
                <a16:creationId xmlns:a16="http://schemas.microsoft.com/office/drawing/2014/main" id="{8A74F9C7-2388-9656-69C3-BFE001983BC8}"/>
              </a:ext>
            </a:extLst>
          </p:cNvPr>
          <p:cNvSpPr/>
          <p:nvPr/>
        </p:nvSpPr>
        <p:spPr>
          <a:xfrm>
            <a:off x="7735121" y="2521265"/>
            <a:ext cx="1276213" cy="47364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读入动作</a:t>
            </a:r>
          </a:p>
        </p:txBody>
      </p:sp>
      <p:sp>
        <p:nvSpPr>
          <p:cNvPr id="5" name="矩形 4">
            <a:extLst>
              <a:ext uri="{FF2B5EF4-FFF2-40B4-BE49-F238E27FC236}">
                <a16:creationId xmlns:a16="http://schemas.microsoft.com/office/drawing/2014/main" id="{1615136E-C557-A3FD-0D9B-3AB55ED7A888}"/>
              </a:ext>
            </a:extLst>
          </p:cNvPr>
          <p:cNvSpPr/>
          <p:nvPr/>
        </p:nvSpPr>
        <p:spPr>
          <a:xfrm>
            <a:off x="6096000" y="3521098"/>
            <a:ext cx="1276213" cy="47364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0" i="0" dirty="0">
                <a:solidFill>
                  <a:srgbClr val="24292E"/>
                </a:solidFill>
                <a:effectLst/>
                <a:latin typeface="Helvetica Neue"/>
              </a:rPr>
              <a:t>摸猫猫头</a:t>
            </a:r>
            <a:endParaRPr lang="zh-CN" altLang="en-US" dirty="0">
              <a:solidFill>
                <a:schemeClr val="tx1"/>
              </a:solidFill>
            </a:endParaRPr>
          </a:p>
        </p:txBody>
      </p:sp>
      <p:sp>
        <p:nvSpPr>
          <p:cNvPr id="6" name="矩形 5">
            <a:extLst>
              <a:ext uri="{FF2B5EF4-FFF2-40B4-BE49-F238E27FC236}">
                <a16:creationId xmlns:a16="http://schemas.microsoft.com/office/drawing/2014/main" id="{E59716B1-EC3C-0D77-C93D-6057C3DB0401}"/>
              </a:ext>
            </a:extLst>
          </p:cNvPr>
          <p:cNvSpPr/>
          <p:nvPr/>
        </p:nvSpPr>
        <p:spPr>
          <a:xfrm>
            <a:off x="7735122" y="3521098"/>
            <a:ext cx="1276213" cy="47364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0" i="0" dirty="0">
                <a:solidFill>
                  <a:srgbClr val="24292E"/>
                </a:solidFill>
                <a:effectLst/>
                <a:latin typeface="Helvetica Neue"/>
              </a:rPr>
              <a:t>喂猫粮</a:t>
            </a:r>
            <a:endParaRPr lang="zh-CN" altLang="en-US" dirty="0">
              <a:solidFill>
                <a:schemeClr val="tx1"/>
              </a:solidFill>
            </a:endParaRPr>
          </a:p>
        </p:txBody>
      </p:sp>
      <p:sp>
        <p:nvSpPr>
          <p:cNvPr id="7" name="矩形 6">
            <a:extLst>
              <a:ext uri="{FF2B5EF4-FFF2-40B4-BE49-F238E27FC236}">
                <a16:creationId xmlns:a16="http://schemas.microsoft.com/office/drawing/2014/main" id="{F487D447-D20B-A23C-DF69-01833E1F5A9C}"/>
              </a:ext>
            </a:extLst>
          </p:cNvPr>
          <p:cNvSpPr/>
          <p:nvPr/>
        </p:nvSpPr>
        <p:spPr>
          <a:xfrm>
            <a:off x="9374244" y="3521098"/>
            <a:ext cx="1418216" cy="47364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什么都不做</a:t>
            </a:r>
          </a:p>
        </p:txBody>
      </p:sp>
      <p:sp>
        <p:nvSpPr>
          <p:cNvPr id="8" name="矩形 7">
            <a:extLst>
              <a:ext uri="{FF2B5EF4-FFF2-40B4-BE49-F238E27FC236}">
                <a16:creationId xmlns:a16="http://schemas.microsoft.com/office/drawing/2014/main" id="{358D271C-E524-D091-17DD-523927B3B6AE}"/>
              </a:ext>
            </a:extLst>
          </p:cNvPr>
          <p:cNvSpPr/>
          <p:nvPr/>
        </p:nvSpPr>
        <p:spPr>
          <a:xfrm>
            <a:off x="7735121" y="4658007"/>
            <a:ext cx="1276213" cy="60286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心情改变</a:t>
            </a:r>
            <a:endParaRPr lang="en-US" altLang="zh-CN" dirty="0">
              <a:solidFill>
                <a:schemeClr val="tx1"/>
              </a:solidFill>
            </a:endParaRPr>
          </a:p>
          <a:p>
            <a:pPr algn="ctr"/>
            <a:r>
              <a:rPr lang="zh-CN" altLang="en-US" dirty="0">
                <a:solidFill>
                  <a:schemeClr val="tx1"/>
                </a:solidFill>
              </a:rPr>
              <a:t>体重改变</a:t>
            </a:r>
          </a:p>
        </p:txBody>
      </p:sp>
      <p:cxnSp>
        <p:nvCxnSpPr>
          <p:cNvPr id="10" name="直接箭头连接符 9">
            <a:extLst>
              <a:ext uri="{FF2B5EF4-FFF2-40B4-BE49-F238E27FC236}">
                <a16:creationId xmlns:a16="http://schemas.microsoft.com/office/drawing/2014/main" id="{A8355CD2-0399-9F18-576B-90EEBE56F843}"/>
              </a:ext>
            </a:extLst>
          </p:cNvPr>
          <p:cNvCxnSpPr>
            <a:stCxn id="3" idx="2"/>
            <a:endCxn id="5" idx="0"/>
          </p:cNvCxnSpPr>
          <p:nvPr/>
        </p:nvCxnSpPr>
        <p:spPr>
          <a:xfrm flipH="1">
            <a:off x="6734107" y="2994911"/>
            <a:ext cx="1639121" cy="5261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A32323D5-A4FB-3D46-16B0-5C73F22E3F06}"/>
              </a:ext>
            </a:extLst>
          </p:cNvPr>
          <p:cNvCxnSpPr>
            <a:stCxn id="3" idx="2"/>
          </p:cNvCxnSpPr>
          <p:nvPr/>
        </p:nvCxnSpPr>
        <p:spPr>
          <a:xfrm>
            <a:off x="8373228" y="2994911"/>
            <a:ext cx="0" cy="5261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54350ACD-1190-3D43-39B9-D171DD6C771F}"/>
              </a:ext>
            </a:extLst>
          </p:cNvPr>
          <p:cNvCxnSpPr>
            <a:cxnSpLocks/>
            <a:endCxn id="7" idx="0"/>
          </p:cNvCxnSpPr>
          <p:nvPr/>
        </p:nvCxnSpPr>
        <p:spPr>
          <a:xfrm>
            <a:off x="8373228" y="2994911"/>
            <a:ext cx="1710124" cy="5261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4C672F67-19D5-8019-BBAC-EA0B70C2D04E}"/>
              </a:ext>
            </a:extLst>
          </p:cNvPr>
          <p:cNvCxnSpPr>
            <a:cxnSpLocks/>
            <a:stCxn id="5" idx="2"/>
          </p:cNvCxnSpPr>
          <p:nvPr/>
        </p:nvCxnSpPr>
        <p:spPr>
          <a:xfrm>
            <a:off x="6734107" y="3994744"/>
            <a:ext cx="1639121" cy="6632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B053EDED-105E-0F80-EB06-C3FED25CD681}"/>
              </a:ext>
            </a:extLst>
          </p:cNvPr>
          <p:cNvCxnSpPr>
            <a:cxnSpLocks/>
            <a:endCxn id="8" idx="0"/>
          </p:cNvCxnSpPr>
          <p:nvPr/>
        </p:nvCxnSpPr>
        <p:spPr>
          <a:xfrm>
            <a:off x="8373228" y="3994744"/>
            <a:ext cx="0" cy="6632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AB86D869-306D-0683-1BC4-A7640D82C228}"/>
              </a:ext>
            </a:extLst>
          </p:cNvPr>
          <p:cNvCxnSpPr>
            <a:cxnSpLocks/>
            <a:stCxn id="7" idx="2"/>
          </p:cNvCxnSpPr>
          <p:nvPr/>
        </p:nvCxnSpPr>
        <p:spPr>
          <a:xfrm flipH="1">
            <a:off x="8373227" y="3994744"/>
            <a:ext cx="1710125" cy="6632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连接符: 肘形 26">
            <a:extLst>
              <a:ext uri="{FF2B5EF4-FFF2-40B4-BE49-F238E27FC236}">
                <a16:creationId xmlns:a16="http://schemas.microsoft.com/office/drawing/2014/main" id="{32D09446-B021-5490-0EAA-280A9217133C}"/>
              </a:ext>
            </a:extLst>
          </p:cNvPr>
          <p:cNvCxnSpPr>
            <a:cxnSpLocks/>
            <a:stCxn id="8" idx="2"/>
            <a:endCxn id="3" idx="0"/>
          </p:cNvCxnSpPr>
          <p:nvPr/>
        </p:nvCxnSpPr>
        <p:spPr>
          <a:xfrm rot="5400000" flipH="1">
            <a:off x="7003423" y="3891070"/>
            <a:ext cx="2739609" cy="12700"/>
          </a:xfrm>
          <a:prstGeom prst="bentConnector5">
            <a:avLst>
              <a:gd name="adj1" fmla="val -8344"/>
              <a:gd name="adj2" fmla="val -24824480"/>
              <a:gd name="adj3" fmla="val 108344"/>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92804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51" name="学论网-矩形 1"/>
          <p:cNvSpPr/>
          <p:nvPr/>
        </p:nvSpPr>
        <p:spPr>
          <a:xfrm>
            <a:off x="-18415"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实战案例</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 - cat </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编程</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2" name="学论网-www.xuelun.me"/>
          <p:cNvSpPr txBox="1"/>
          <p:nvPr/>
        </p:nvSpPr>
        <p:spPr>
          <a:xfrm>
            <a:off x="498901" y="1689224"/>
            <a:ext cx="5211166" cy="4457044"/>
          </a:xfrm>
          <a:prstGeom prst="rect">
            <a:avLst/>
          </a:prstGeom>
          <a:noFill/>
          <a:ln>
            <a:noFill/>
          </a:ln>
        </p:spPr>
        <p:txBody>
          <a:bodyPr wrap="square" lIns="90000" tIns="46800" rIns="90000" bIns="46800" rtlCol="0">
            <a:normAutofit/>
          </a:bodyPr>
          <a:lstStyle/>
          <a:p>
            <a:pPr>
              <a:lnSpc>
                <a:spcPct val="150000"/>
              </a:lnSpc>
            </a:pPr>
            <a:endParaRPr lang="zh-CN" altLang="en-US" sz="2400" dirty="0">
              <a:latin typeface="微软雅黑" panose="020B0503020204020204" pitchFamily="34" charset="-122"/>
              <a:ea typeface="微软雅黑" panose="020B0503020204020204" pitchFamily="34" charset="-122"/>
              <a:sym typeface="+mn-ea"/>
            </a:endParaRPr>
          </a:p>
        </p:txBody>
      </p:sp>
      <p:pic>
        <p:nvPicPr>
          <p:cNvPr id="34" name="图片 33">
            <a:extLst>
              <a:ext uri="{FF2B5EF4-FFF2-40B4-BE49-F238E27FC236}">
                <a16:creationId xmlns:a16="http://schemas.microsoft.com/office/drawing/2014/main" id="{C833D903-3F38-379A-15C8-AA89C7619E22}"/>
              </a:ext>
            </a:extLst>
          </p:cNvPr>
          <p:cNvPicPr>
            <a:picLocks noChangeAspect="1"/>
          </p:cNvPicPr>
          <p:nvPr/>
        </p:nvPicPr>
        <p:blipFill>
          <a:blip r:embed="rId4"/>
          <a:stretch>
            <a:fillRect/>
          </a:stretch>
        </p:blipFill>
        <p:spPr>
          <a:xfrm>
            <a:off x="926831" y="1962525"/>
            <a:ext cx="4983912" cy="4183743"/>
          </a:xfrm>
          <a:prstGeom prst="rect">
            <a:avLst/>
          </a:prstGeom>
        </p:spPr>
      </p:pic>
      <p:pic>
        <p:nvPicPr>
          <p:cNvPr id="9" name="图片 8">
            <a:extLst>
              <a:ext uri="{FF2B5EF4-FFF2-40B4-BE49-F238E27FC236}">
                <a16:creationId xmlns:a16="http://schemas.microsoft.com/office/drawing/2014/main" id="{D1F3B6C3-1C5E-EAD1-BC5D-8C9AE9851476}"/>
              </a:ext>
            </a:extLst>
          </p:cNvPr>
          <p:cNvPicPr>
            <a:picLocks noChangeAspect="1"/>
          </p:cNvPicPr>
          <p:nvPr/>
        </p:nvPicPr>
        <p:blipFill>
          <a:blip r:embed="rId5"/>
          <a:stretch>
            <a:fillRect/>
          </a:stretch>
        </p:blipFill>
        <p:spPr>
          <a:xfrm>
            <a:off x="6338673" y="1432090"/>
            <a:ext cx="5486875" cy="5425910"/>
          </a:xfrm>
          <a:prstGeom prst="rect">
            <a:avLst/>
          </a:prstGeom>
        </p:spPr>
      </p:pic>
    </p:spTree>
    <p:extLst>
      <p:ext uri="{BB962C8B-B14F-4D97-AF65-F5344CB8AC3E}">
        <p14:creationId xmlns:p14="http://schemas.microsoft.com/office/powerpoint/2010/main" val="27074602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3">
            <a:extLst>
              <a:ext uri="{28A0092B-C50C-407E-A947-70E740481C1C}">
                <a14:useLocalDpi xmlns:a14="http://schemas.microsoft.com/office/drawing/2010/main" val="0"/>
              </a:ext>
            </a:extLst>
          </a:blip>
          <a:srcRect t="21604" b="46967"/>
          <a:stretch>
            <a:fillRect/>
          </a:stretch>
        </p:blipFill>
        <p:spPr>
          <a:xfrm>
            <a:off x="0" y="2176476"/>
            <a:ext cx="12209296" cy="2877923"/>
          </a:xfrm>
          <a:prstGeom prst="rect">
            <a:avLst/>
          </a:prstGeom>
        </p:spPr>
      </p:pic>
      <p:sp>
        <p:nvSpPr>
          <p:cNvPr id="8" name="矩形 7"/>
          <p:cNvSpPr/>
          <p:nvPr/>
        </p:nvSpPr>
        <p:spPr>
          <a:xfrm>
            <a:off x="0" y="2176477"/>
            <a:ext cx="12192000" cy="2877922"/>
          </a:xfrm>
          <a:prstGeom prst="rect">
            <a:avLst/>
          </a:prstGeom>
          <a:gradFill>
            <a:gsLst>
              <a:gs pos="0">
                <a:srgbClr val="014723"/>
              </a:gs>
              <a:gs pos="59000">
                <a:srgbClr val="014723">
                  <a:alpha val="60000"/>
                </a:srgbClr>
              </a:gs>
              <a:gs pos="100000">
                <a:srgbClr val="014723">
                  <a:alpha val="10000"/>
                </a:srgb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5161452" y="2867904"/>
            <a:ext cx="1886392" cy="1015663"/>
          </a:xfrm>
          <a:prstGeom prst="rect">
            <a:avLst/>
          </a:prstGeom>
          <a:noFill/>
        </p:spPr>
        <p:txBody>
          <a:bodyPr wrap="square" rtlCol="0" anchor="ctr" anchorCtr="0">
            <a:spAutoFit/>
          </a:bodyPr>
          <a:lstStyle/>
          <a:p>
            <a:pPr algn="dist"/>
            <a:r>
              <a:rPr lang="zh-CN" altLang="en-US" sz="6000" b="1" dirty="0">
                <a:solidFill>
                  <a:schemeClr val="bg1">
                    <a:lumMod val="95000"/>
                  </a:schemeClr>
                </a:solidFill>
                <a:latin typeface="微软雅黑" panose="020B0503020204020204" pitchFamily="34" charset="-122"/>
                <a:ea typeface="微软雅黑" panose="020B0503020204020204" pitchFamily="34" charset="-122"/>
              </a:rPr>
              <a:t>谢谢</a:t>
            </a:r>
          </a:p>
        </p:txBody>
      </p:sp>
      <p:sp>
        <p:nvSpPr>
          <p:cNvPr id="16" name="TextBox 10"/>
          <p:cNvSpPr txBox="1"/>
          <p:nvPr/>
        </p:nvSpPr>
        <p:spPr>
          <a:xfrm>
            <a:off x="2565806" y="3990096"/>
            <a:ext cx="7060388" cy="523196"/>
          </a:xfrm>
          <a:prstGeom prst="rect">
            <a:avLst/>
          </a:prstGeom>
          <a:noFill/>
        </p:spPr>
        <p:txBody>
          <a:bodyPr wrap="square" lIns="91416" tIns="45708" rIns="91416" bIns="45708" rtlCol="0">
            <a:spAutoFit/>
          </a:bodyPr>
          <a:lstStyle>
            <a:defPPr>
              <a:defRPr lang="zh-CN"/>
            </a:defPPr>
            <a:lvl1pPr>
              <a:defRPr sz="2000">
                <a:solidFill>
                  <a:schemeClr val="bg1"/>
                </a:solidFill>
                <a:latin typeface="微软雅黑" panose="020B0503020204020204" pitchFamily="34" charset="-122"/>
                <a:ea typeface="微软雅黑" panose="020B0503020204020204" pitchFamily="34" charset="-122"/>
              </a:defRPr>
            </a:lvl1pPr>
          </a:lstStyle>
          <a:p>
            <a:pPr algn="ctr"/>
            <a:r>
              <a:rPr lang="zh-CN" altLang="en-US" sz="2800" dirty="0">
                <a:solidFill>
                  <a:schemeClr val="bg1">
                    <a:lumMod val="95000"/>
                  </a:schemeClr>
                </a:solidFill>
                <a:latin typeface="微软雅黑" panose="020B0503020204020204" pitchFamily="34" charset="-122"/>
                <a:ea typeface="微软雅黑" panose="020B0503020204020204" pitchFamily="34" charset="-122"/>
              </a:rPr>
              <a:t>中山大学计算机学院</a:t>
            </a:r>
            <a:endParaRPr lang="en-US" altLang="zh-CN" sz="2800" dirty="0">
              <a:solidFill>
                <a:schemeClr val="bg1">
                  <a:lumMod val="95000"/>
                </a:schemeClr>
              </a:solidFill>
              <a:latin typeface="微软雅黑" panose="020B0503020204020204" pitchFamily="34" charset="-122"/>
              <a:ea typeface="微软雅黑" panose="020B0503020204020204" pitchFamily="34" charset="-122"/>
            </a:endParaRPr>
          </a:p>
        </p:txBody>
      </p:sp>
      <p:pic>
        <p:nvPicPr>
          <p:cNvPr id="19" name="图片 18"/>
          <p:cNvPicPr>
            <a:picLocks noChangeAspect="1"/>
          </p:cNvPicPr>
          <p:nvPr/>
        </p:nvPicPr>
        <p:blipFill rotWithShape="1">
          <a:blip r:embed="rId4" cstate="print">
            <a:extLst>
              <a:ext uri="{28A0092B-C50C-407E-A947-70E740481C1C}">
                <a14:useLocalDpi xmlns:a14="http://schemas.microsoft.com/office/drawing/2010/main" val="0"/>
              </a:ext>
            </a:extLst>
          </a:blip>
          <a:srcRect t="21200" r="2284" b="11992"/>
          <a:stretch>
            <a:fillRect/>
          </a:stretch>
        </p:blipFill>
        <p:spPr>
          <a:xfrm>
            <a:off x="4339400" y="923192"/>
            <a:ext cx="3433000" cy="1072662"/>
          </a:xfrm>
          <a:prstGeom prst="rect">
            <a:avLst/>
          </a:prstGeom>
        </p:spPr>
      </p:pic>
      <p:sp>
        <p:nvSpPr>
          <p:cNvPr id="17" name="TextBox 6"/>
          <p:cNvSpPr txBox="1"/>
          <p:nvPr/>
        </p:nvSpPr>
        <p:spPr>
          <a:xfrm>
            <a:off x="5270368" y="5644929"/>
            <a:ext cx="1979981" cy="400085"/>
          </a:xfrm>
          <a:prstGeom prst="rect">
            <a:avLst/>
          </a:prstGeom>
          <a:noFill/>
        </p:spPr>
        <p:txBody>
          <a:bodyPr wrap="none" lIns="91416" tIns="45708" rIns="91416" bIns="45708" rtlCol="0">
            <a:spAutoFit/>
          </a:bodyPr>
          <a:lstStyle>
            <a:defPPr>
              <a:defRPr lang="zh-CN"/>
            </a:defPPr>
            <a:lvl1pPr>
              <a:defRPr sz="2000">
                <a:solidFill>
                  <a:schemeClr val="accent2"/>
                </a:solidFill>
                <a:latin typeface="+mn-ea"/>
                <a:ea typeface="+mn-ea"/>
              </a:defRPr>
            </a:lvl1pPr>
          </a:lstStyle>
          <a:p>
            <a:pPr algn="ctr"/>
            <a:r>
              <a:rPr lang="zh-CN" altLang="en-US" b="1">
                <a:solidFill>
                  <a:srgbClr val="014723"/>
                </a:solidFill>
                <a:latin typeface="微软雅黑" panose="020B0503020204020204" pitchFamily="34" charset="-122"/>
                <a:ea typeface="微软雅黑" panose="020B0503020204020204" pitchFamily="34" charset="-122"/>
              </a:rPr>
              <a:t>编制人</a:t>
            </a:r>
            <a:r>
              <a:rPr lang="zh-CN" altLang="en-US" dirty="0">
                <a:solidFill>
                  <a:srgbClr val="014723"/>
                </a:solidFill>
                <a:latin typeface="微软雅黑" panose="020B0503020204020204" pitchFamily="34" charset="-122"/>
                <a:ea typeface="微软雅黑" panose="020B0503020204020204" pitchFamily="34" charset="-122"/>
              </a:rPr>
              <a:t>：课题组</a:t>
            </a:r>
            <a:endParaRPr lang="en-US" altLang="zh-CN" dirty="0">
              <a:solidFill>
                <a:srgbClr val="014723"/>
              </a:solidFill>
              <a:latin typeface="微软雅黑" panose="020B0503020204020204" pitchFamily="34" charset="-122"/>
              <a:ea typeface="微软雅黑" panose="020B0503020204020204" pitchFamily="34" charset="-122"/>
            </a:endParaRPr>
          </a:p>
        </p:txBody>
      </p:sp>
      <p:sp>
        <p:nvSpPr>
          <p:cNvPr id="18" name="Freeform 7"/>
          <p:cNvSpPr>
            <a:spLocks noChangeAspect="1" noEditPoints="1"/>
          </p:cNvSpPr>
          <p:nvPr/>
        </p:nvSpPr>
        <p:spPr bwMode="auto">
          <a:xfrm>
            <a:off x="4549092" y="5611849"/>
            <a:ext cx="462900" cy="466244"/>
          </a:xfrm>
          <a:custGeom>
            <a:avLst/>
            <a:gdLst>
              <a:gd name="T0" fmla="*/ 661 w 904"/>
              <a:gd name="T1" fmla="*/ 461 h 905"/>
              <a:gd name="T2" fmla="*/ 661 w 904"/>
              <a:gd name="T3" fmla="*/ 339 h 905"/>
              <a:gd name="T4" fmla="*/ 605 w 904"/>
              <a:gd name="T5" fmla="*/ 339 h 905"/>
              <a:gd name="T6" fmla="*/ 605 w 904"/>
              <a:gd name="T7" fmla="*/ 461 h 905"/>
              <a:gd name="T8" fmla="*/ 456 w 904"/>
              <a:gd name="T9" fmla="*/ 610 h 905"/>
              <a:gd name="T10" fmla="*/ 453 w 904"/>
              <a:gd name="T11" fmla="*/ 610 h 905"/>
              <a:gd name="T12" fmla="*/ 452 w 904"/>
              <a:gd name="T13" fmla="*/ 610 h 905"/>
              <a:gd name="T14" fmla="*/ 451 w 904"/>
              <a:gd name="T15" fmla="*/ 610 h 905"/>
              <a:gd name="T16" fmla="*/ 448 w 904"/>
              <a:gd name="T17" fmla="*/ 610 h 905"/>
              <a:gd name="T18" fmla="*/ 299 w 904"/>
              <a:gd name="T19" fmla="*/ 461 h 905"/>
              <a:gd name="T20" fmla="*/ 299 w 904"/>
              <a:gd name="T21" fmla="*/ 339 h 905"/>
              <a:gd name="T22" fmla="*/ 244 w 904"/>
              <a:gd name="T23" fmla="*/ 339 h 905"/>
              <a:gd name="T24" fmla="*/ 244 w 904"/>
              <a:gd name="T25" fmla="*/ 461 h 905"/>
              <a:gd name="T26" fmla="*/ 419 w 904"/>
              <a:gd name="T27" fmla="*/ 664 h 905"/>
              <a:gd name="T28" fmla="*/ 419 w 904"/>
              <a:gd name="T29" fmla="*/ 752 h 905"/>
              <a:gd name="T30" fmla="*/ 295 w 904"/>
              <a:gd name="T31" fmla="*/ 787 h 905"/>
              <a:gd name="T32" fmla="*/ 610 w 904"/>
              <a:gd name="T33" fmla="*/ 787 h 905"/>
              <a:gd name="T34" fmla="*/ 484 w 904"/>
              <a:gd name="T35" fmla="*/ 751 h 905"/>
              <a:gd name="T36" fmla="*/ 484 w 904"/>
              <a:gd name="T37" fmla="*/ 664 h 905"/>
              <a:gd name="T38" fmla="*/ 661 w 904"/>
              <a:gd name="T39" fmla="*/ 461 h 905"/>
              <a:gd name="T40" fmla="*/ 450 w 904"/>
              <a:gd name="T41" fmla="*/ 558 h 905"/>
              <a:gd name="T42" fmla="*/ 452 w 904"/>
              <a:gd name="T43" fmla="*/ 558 h 905"/>
              <a:gd name="T44" fmla="*/ 454 w 904"/>
              <a:gd name="T45" fmla="*/ 558 h 905"/>
              <a:gd name="T46" fmla="*/ 554 w 904"/>
              <a:gd name="T47" fmla="*/ 459 h 905"/>
              <a:gd name="T48" fmla="*/ 554 w 904"/>
              <a:gd name="T49" fmla="*/ 218 h 905"/>
              <a:gd name="T50" fmla="*/ 454 w 904"/>
              <a:gd name="T51" fmla="*/ 118 h 905"/>
              <a:gd name="T52" fmla="*/ 452 w 904"/>
              <a:gd name="T53" fmla="*/ 118 h 905"/>
              <a:gd name="T54" fmla="*/ 450 w 904"/>
              <a:gd name="T55" fmla="*/ 118 h 905"/>
              <a:gd name="T56" fmla="*/ 351 w 904"/>
              <a:gd name="T57" fmla="*/ 218 h 905"/>
              <a:gd name="T58" fmla="*/ 351 w 904"/>
              <a:gd name="T59" fmla="*/ 459 h 905"/>
              <a:gd name="T60" fmla="*/ 450 w 904"/>
              <a:gd name="T61" fmla="*/ 558 h 905"/>
              <a:gd name="T62" fmla="*/ 452 w 904"/>
              <a:gd name="T63" fmla="*/ 0 h 905"/>
              <a:gd name="T64" fmla="*/ 904 w 904"/>
              <a:gd name="T65" fmla="*/ 453 h 905"/>
              <a:gd name="T66" fmla="*/ 452 w 904"/>
              <a:gd name="T67" fmla="*/ 905 h 905"/>
              <a:gd name="T68" fmla="*/ 0 w 904"/>
              <a:gd name="T69" fmla="*/ 453 h 905"/>
              <a:gd name="T70" fmla="*/ 452 w 904"/>
              <a:gd name="T71" fmla="*/ 0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04" h="905">
                <a:moveTo>
                  <a:pt x="661" y="461"/>
                </a:moveTo>
                <a:lnTo>
                  <a:pt x="661" y="339"/>
                </a:lnTo>
                <a:cubicBezTo>
                  <a:pt x="661" y="304"/>
                  <a:pt x="605" y="304"/>
                  <a:pt x="605" y="339"/>
                </a:cubicBezTo>
                <a:lnTo>
                  <a:pt x="605" y="461"/>
                </a:lnTo>
                <a:cubicBezTo>
                  <a:pt x="605" y="543"/>
                  <a:pt x="538" y="610"/>
                  <a:pt x="456" y="610"/>
                </a:cubicBezTo>
                <a:cubicBezTo>
                  <a:pt x="455" y="610"/>
                  <a:pt x="454" y="610"/>
                  <a:pt x="453" y="610"/>
                </a:cubicBezTo>
                <a:lnTo>
                  <a:pt x="452" y="610"/>
                </a:lnTo>
                <a:lnTo>
                  <a:pt x="451" y="610"/>
                </a:lnTo>
                <a:cubicBezTo>
                  <a:pt x="450" y="610"/>
                  <a:pt x="449" y="610"/>
                  <a:pt x="448" y="610"/>
                </a:cubicBezTo>
                <a:cubicBezTo>
                  <a:pt x="366" y="610"/>
                  <a:pt x="299" y="543"/>
                  <a:pt x="299" y="461"/>
                </a:cubicBezTo>
                <a:lnTo>
                  <a:pt x="299" y="339"/>
                </a:lnTo>
                <a:cubicBezTo>
                  <a:pt x="299" y="304"/>
                  <a:pt x="244" y="304"/>
                  <a:pt x="244" y="339"/>
                </a:cubicBezTo>
                <a:cubicBezTo>
                  <a:pt x="244" y="355"/>
                  <a:pt x="244" y="461"/>
                  <a:pt x="244" y="461"/>
                </a:cubicBezTo>
                <a:cubicBezTo>
                  <a:pt x="244" y="564"/>
                  <a:pt x="320" y="650"/>
                  <a:pt x="419" y="664"/>
                </a:cubicBezTo>
                <a:lnTo>
                  <a:pt x="419" y="752"/>
                </a:lnTo>
                <a:lnTo>
                  <a:pt x="295" y="787"/>
                </a:lnTo>
                <a:lnTo>
                  <a:pt x="610" y="787"/>
                </a:lnTo>
                <a:lnTo>
                  <a:pt x="484" y="751"/>
                </a:lnTo>
                <a:lnTo>
                  <a:pt x="484" y="664"/>
                </a:lnTo>
                <a:cubicBezTo>
                  <a:pt x="584" y="650"/>
                  <a:pt x="661" y="564"/>
                  <a:pt x="661" y="461"/>
                </a:cubicBezTo>
                <a:close/>
                <a:moveTo>
                  <a:pt x="450" y="558"/>
                </a:moveTo>
                <a:cubicBezTo>
                  <a:pt x="451" y="558"/>
                  <a:pt x="451" y="558"/>
                  <a:pt x="452" y="558"/>
                </a:cubicBezTo>
                <a:cubicBezTo>
                  <a:pt x="453" y="558"/>
                  <a:pt x="453" y="558"/>
                  <a:pt x="454" y="558"/>
                </a:cubicBezTo>
                <a:cubicBezTo>
                  <a:pt x="509" y="558"/>
                  <a:pt x="554" y="514"/>
                  <a:pt x="554" y="459"/>
                </a:cubicBezTo>
                <a:lnTo>
                  <a:pt x="554" y="218"/>
                </a:lnTo>
                <a:cubicBezTo>
                  <a:pt x="554" y="163"/>
                  <a:pt x="509" y="118"/>
                  <a:pt x="454" y="118"/>
                </a:cubicBezTo>
                <a:cubicBezTo>
                  <a:pt x="453" y="118"/>
                  <a:pt x="453" y="118"/>
                  <a:pt x="452" y="118"/>
                </a:cubicBezTo>
                <a:cubicBezTo>
                  <a:pt x="452" y="118"/>
                  <a:pt x="451" y="118"/>
                  <a:pt x="450" y="118"/>
                </a:cubicBezTo>
                <a:cubicBezTo>
                  <a:pt x="395" y="118"/>
                  <a:pt x="351" y="163"/>
                  <a:pt x="351" y="218"/>
                </a:cubicBezTo>
                <a:lnTo>
                  <a:pt x="351" y="459"/>
                </a:lnTo>
                <a:cubicBezTo>
                  <a:pt x="351" y="514"/>
                  <a:pt x="395" y="558"/>
                  <a:pt x="450" y="558"/>
                </a:cubicBezTo>
                <a:close/>
                <a:moveTo>
                  <a:pt x="452" y="0"/>
                </a:moveTo>
                <a:cubicBezTo>
                  <a:pt x="702" y="0"/>
                  <a:pt x="904" y="203"/>
                  <a:pt x="904" y="453"/>
                </a:cubicBezTo>
                <a:cubicBezTo>
                  <a:pt x="904" y="702"/>
                  <a:pt x="702" y="905"/>
                  <a:pt x="452" y="905"/>
                </a:cubicBezTo>
                <a:cubicBezTo>
                  <a:pt x="202" y="905"/>
                  <a:pt x="0" y="702"/>
                  <a:pt x="0" y="453"/>
                </a:cubicBezTo>
                <a:cubicBezTo>
                  <a:pt x="0" y="203"/>
                  <a:pt x="202" y="0"/>
                  <a:pt x="452" y="0"/>
                </a:cubicBezTo>
                <a:close/>
              </a:path>
            </a:pathLst>
          </a:custGeom>
          <a:solidFill>
            <a:srgbClr val="014723"/>
          </a:solidFill>
          <a:ln>
            <a:noFill/>
          </a:ln>
        </p:spPr>
        <p:txBody>
          <a:bodyPr vert="horz" wrap="square" lIns="91416" tIns="45708" rIns="91416" bIns="45708" numCol="1" anchor="t" anchorCtr="0" compatLnSpc="1"/>
          <a:lstStyle/>
          <a:p>
            <a:endParaRPr lang="zh-CN" altLang="en-US">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5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5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9.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7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7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7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8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8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自定义 2">
      <a:dk1>
        <a:sysClr val="windowText" lastClr="000000"/>
      </a:dk1>
      <a:lt1>
        <a:sysClr val="window" lastClr="FFFFFF"/>
      </a:lt1>
      <a:dk2>
        <a:srgbClr val="455F51"/>
      </a:dk2>
      <a:lt2>
        <a:srgbClr val="E3DED1"/>
      </a:lt2>
      <a:accent1>
        <a:srgbClr val="004723"/>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8908</TotalTime>
  <Words>3912</Words>
  <Application>Microsoft Office PowerPoint</Application>
  <PresentationFormat>宽屏</PresentationFormat>
  <Paragraphs>586</Paragraphs>
  <Slides>49</Slides>
  <Notes>31</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49</vt:i4>
      </vt:variant>
    </vt:vector>
  </HeadingPairs>
  <TitlesOfParts>
    <vt:vector size="64" baseType="lpstr">
      <vt:lpstr>FandolSong</vt:lpstr>
      <vt:lpstr>Helvetica Neue</vt:lpstr>
      <vt:lpstr>Impact MT Std</vt:lpstr>
      <vt:lpstr>Microsoft Yahei</vt:lpstr>
      <vt:lpstr>等线</vt:lpstr>
      <vt:lpstr>等线 Light</vt:lpstr>
      <vt:lpstr>宋体</vt:lpstr>
      <vt:lpstr>微软雅黑</vt:lpstr>
      <vt:lpstr>Arial</vt:lpstr>
      <vt:lpstr>Cambria Math</vt:lpstr>
      <vt:lpstr>Consolas</vt:lpstr>
      <vt:lpstr>Tahoma</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算法</vt:lpstr>
      <vt:lpstr>算法</vt:lpstr>
      <vt:lpstr>算法</vt:lpstr>
      <vt:lpstr>递归的难度</vt:lpstr>
      <vt:lpstr>PowerPoint 演示文稿</vt:lpstr>
      <vt:lpstr>递归调用-汉诺塔</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答辩-19</dc:title>
  <dc:creator>LP</dc:creator>
  <cp:lastModifiedBy>stsluy</cp:lastModifiedBy>
  <cp:revision>363</cp:revision>
  <dcterms:created xsi:type="dcterms:W3CDTF">2016-11-24T09:20:00Z</dcterms:created>
  <dcterms:modified xsi:type="dcterms:W3CDTF">2023-11-13T04:24:26Z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2052-11.1.0.10700</vt:lpwstr>
  </property>
  <property fmtid="{D5CDD505-2E9C-101B-9397-08002B2CF9AE}" pid="3" name="ICV">
    <vt:lpwstr>7E38F6AF0AEB4547AE4ACB4243E3DBEC</vt:lpwstr>
  </property>
</Properties>
</file>