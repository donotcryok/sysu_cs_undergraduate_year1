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313" r:id="rId4"/>
    <p:sldId id="314" r:id="rId5"/>
    <p:sldId id="260" r:id="rId6"/>
    <p:sldId id="261" r:id="rId7"/>
    <p:sldId id="262" r:id="rId8"/>
    <p:sldId id="263" r:id="rId9"/>
    <p:sldId id="266" r:id="rId10"/>
    <p:sldId id="438" r:id="rId11"/>
    <p:sldId id="440" r:id="rId12"/>
    <p:sldId id="439" r:id="rId13"/>
    <p:sldId id="315" r:id="rId14"/>
    <p:sldId id="344" r:id="rId15"/>
    <p:sldId id="345" r:id="rId16"/>
    <p:sldId id="264" r:id="rId17"/>
    <p:sldId id="265" r:id="rId18"/>
    <p:sldId id="267" r:id="rId19"/>
    <p:sldId id="548" r:id="rId20"/>
    <p:sldId id="549" r:id="rId21"/>
    <p:sldId id="273" r:id="rId22"/>
    <p:sldId id="274" r:id="rId23"/>
    <p:sldId id="346" r:id="rId24"/>
    <p:sldId id="546" r:id="rId25"/>
    <p:sldId id="547" r:id="rId26"/>
    <p:sldId id="550" r:id="rId27"/>
    <p:sldId id="354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2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 君逸" initials="文" lastIdx="1" clrIdx="0">
    <p:extLst>
      <p:ext uri="{19B8F6BF-5375-455C-9EA6-DF929625EA0E}">
        <p15:presenceInfo xmlns:p15="http://schemas.microsoft.com/office/powerpoint/2012/main" userId="4370f9c70b2e4cc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C5FD"/>
    <a:srgbClr val="3A6695"/>
    <a:srgbClr val="014723"/>
    <a:srgbClr val="FF5D5D"/>
    <a:srgbClr val="C00000"/>
    <a:srgbClr val="CC3300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2" autoAdjust="0"/>
    <p:restoredTop sz="87920" autoAdjust="0"/>
  </p:normalViewPr>
  <p:slideViewPr>
    <p:cSldViewPr snapToGrid="0">
      <p:cViewPr>
        <p:scale>
          <a:sx n="75" d="100"/>
          <a:sy n="75" d="100"/>
        </p:scale>
        <p:origin x="960" y="82"/>
      </p:cViewPr>
      <p:guideLst>
        <p:guide orient="horz" pos="2160"/>
        <p:guide pos="38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size_t?fromModule=lemma_inlink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55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不指定数组长度，例如</a:t>
            </a:r>
            <a:r>
              <a:rPr lang="en-US" altLang="zh-CN" sz="1200" dirty="0"/>
              <a:t>int a[]={0,1,2}</a:t>
            </a:r>
            <a:r>
              <a:rPr lang="zh-CN" altLang="en-US" sz="1200" dirty="0"/>
              <a:t>，</a:t>
            </a:r>
            <a:r>
              <a:rPr lang="zh-CN" altLang="en-US" sz="1200" dirty="0">
                <a:solidFill>
                  <a:schemeClr val="tx1"/>
                </a:solidFill>
              </a:rPr>
              <a:t>但是，如果数组长度与提供初值的个数不相同，则方括号中的数组长度不能省略，</a:t>
            </a:r>
            <a:br>
              <a:rPr lang="en-US" altLang="zh-CN" sz="1200" b="0" i="0" dirty="0">
                <a:solidFill>
                  <a:schemeClr val="tx1"/>
                </a:solidFill>
                <a:latin typeface="Cambria Math" panose="02040503050406030204" pitchFamily="18" charset="0"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852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665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373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*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memset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(void *s, int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size_t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n);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函数解释：将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中当前位置后面的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个字节 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typedef unsigned int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size_t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）用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替换并返回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116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750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817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BAD4F-C21B-41ED-B2FB-B69740E06D25}" type="datetime1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3D43A-9AFA-42A9-939E-FE921311EC5C}" type="datetime1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557CF-1D5F-4CD0-9C09-81ED6957EC65}" type="datetime1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87346-44F2-446A-81D9-470D86CA9228}" type="datetime1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9F1E-7861-4CF7-83B5-6860A219ACB8}" type="datetime1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5A7C3-1ACE-4871-A0D9-63E27C7235FB}" type="datetime1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5CA23-E8A5-4F92-9168-164200BB149C}" type="datetime1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448800" y="6463334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pPr/>
              <a:t>‹#›</a:t>
            </a:fld>
            <a:r>
              <a:rPr lang="en-US" altLang="zh-CN" dirty="0"/>
              <a:t>/32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53835E-2D9F-4358-A619-ECD468B2BC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5" y="-334629"/>
            <a:ext cx="2508327" cy="11463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736CC-49CD-457B-B9CB-D06107985C52}" type="datetime1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7233E-BBF3-4738-ABF7-100A1FD03246}" type="datetime1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39AE-CDD7-4A12-B75E-7EE3DE18CE95}" type="datetime1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A83-7DE9-45E4-A8EF-A5EBA52804CB}" type="datetime1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5AD9E-15D4-4CFC-AD51-E3B26F7A0F4C}" type="datetime1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8.pn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8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tags" Target="../tags/tag6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tags" Target="../tags/tag71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5" Type="http://schemas.openxmlformats.org/officeDocument/2006/relationships/tags" Target="../tags/tag59.xml"/><Relationship Id="rId15" Type="http://schemas.openxmlformats.org/officeDocument/2006/relationships/tags" Target="../tags/tag69.xml"/><Relationship Id="rId10" Type="http://schemas.openxmlformats.org/officeDocument/2006/relationships/tags" Target="../tags/tag64.xml"/><Relationship Id="rId19" Type="http://schemas.openxmlformats.org/officeDocument/2006/relationships/image" Target="../media/image8.png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tags" Target="../tags/tag6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tags" Target="../tags/tag8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17" Type="http://schemas.openxmlformats.org/officeDocument/2006/relationships/tags" Target="../tags/tag88.xml"/><Relationship Id="rId2" Type="http://schemas.openxmlformats.org/officeDocument/2006/relationships/tags" Target="../tags/tag73.xml"/><Relationship Id="rId16" Type="http://schemas.openxmlformats.org/officeDocument/2006/relationships/tags" Target="../tags/tag87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5" Type="http://schemas.openxmlformats.org/officeDocument/2006/relationships/tags" Target="../tags/tag76.xml"/><Relationship Id="rId15" Type="http://schemas.openxmlformats.org/officeDocument/2006/relationships/tags" Target="../tags/tag86.xml"/><Relationship Id="rId10" Type="http://schemas.openxmlformats.org/officeDocument/2006/relationships/tags" Target="../tags/tag81.xml"/><Relationship Id="rId19" Type="http://schemas.openxmlformats.org/officeDocument/2006/relationships/image" Target="../media/image8.png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tags" Target="../tags/tag8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tags" Target="../tags/tag10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10" Type="http://schemas.openxmlformats.org/officeDocument/2006/relationships/tags" Target="../tags/tag98.xml"/><Relationship Id="rId19" Type="http://schemas.openxmlformats.org/officeDocument/2006/relationships/image" Target="../media/image8.png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tags" Target="../tags/tag122.xml"/><Relationship Id="rId2" Type="http://schemas.openxmlformats.org/officeDocument/2006/relationships/tags" Target="../tags/tag107.xml"/><Relationship Id="rId16" Type="http://schemas.openxmlformats.org/officeDocument/2006/relationships/tags" Target="../tags/tag121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10" Type="http://schemas.openxmlformats.org/officeDocument/2006/relationships/tags" Target="../tags/tag115.xml"/><Relationship Id="rId19" Type="http://schemas.openxmlformats.org/officeDocument/2006/relationships/image" Target="../media/image8.png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23683" y="2729511"/>
            <a:ext cx="9744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6082229" y="5644929"/>
            <a:ext cx="1723500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：陆勇</a:t>
            </a:r>
          </a:p>
        </p:txBody>
      </p:sp>
      <p:sp>
        <p:nvSpPr>
          <p:cNvPr id="11" name="Freeform 7"/>
          <p:cNvSpPr>
            <a:spLocks noChangeAspect="1" noEditPoints="1"/>
          </p:cNvSpPr>
          <p:nvPr/>
        </p:nvSpPr>
        <p:spPr bwMode="auto">
          <a:xfrm>
            <a:off x="5232718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8B3EFB-6C08-481D-AE3F-1C0299CC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50"/>
                            </p:stCondLst>
                            <p:childTnLst>
                              <p:par>
                                <p:cTn id="1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65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1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  <p:bldP spid="13" grpId="0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642044" y="120457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01</a:t>
            </a:r>
            <a:endParaRPr lang="zh-CN" altLang="en-US" b="1" dirty="0"/>
          </a:p>
        </p:txBody>
      </p:sp>
      <p:sp>
        <p:nvSpPr>
          <p:cNvPr id="6" name="圆角矩形 5"/>
          <p:cNvSpPr/>
          <p:nvPr/>
        </p:nvSpPr>
        <p:spPr>
          <a:xfrm>
            <a:off x="5642044" y="217250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02</a:t>
            </a:r>
            <a:endParaRPr lang="zh-CN" altLang="en-US" b="1" dirty="0"/>
          </a:p>
        </p:txBody>
      </p:sp>
      <p:sp>
        <p:nvSpPr>
          <p:cNvPr id="7" name="圆角矩形 6"/>
          <p:cNvSpPr/>
          <p:nvPr/>
        </p:nvSpPr>
        <p:spPr>
          <a:xfrm>
            <a:off x="5642044" y="314042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03</a:t>
            </a:r>
            <a:endParaRPr lang="zh-CN" altLang="en-US" b="1" dirty="0"/>
          </a:p>
        </p:txBody>
      </p:sp>
      <p:sp>
        <p:nvSpPr>
          <p:cNvPr id="8" name="圆角矩形 7"/>
          <p:cNvSpPr/>
          <p:nvPr/>
        </p:nvSpPr>
        <p:spPr>
          <a:xfrm>
            <a:off x="5642044" y="410835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04</a:t>
            </a:r>
            <a:endParaRPr lang="zh-CN" altLang="en-US" b="1" dirty="0"/>
          </a:p>
        </p:txBody>
      </p:sp>
      <p:sp>
        <p:nvSpPr>
          <p:cNvPr id="9" name="圆角矩形 8"/>
          <p:cNvSpPr/>
          <p:nvPr/>
        </p:nvSpPr>
        <p:spPr>
          <a:xfrm>
            <a:off x="5642044" y="5076279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05</a:t>
            </a:r>
            <a:endParaRPr lang="zh-CN" altLang="en-US" b="1" dirty="0"/>
          </a:p>
        </p:txBody>
      </p:sp>
      <p:sp>
        <p:nvSpPr>
          <p:cNvPr id="59" name="圆角矩形 58"/>
          <p:cNvSpPr/>
          <p:nvPr/>
        </p:nvSpPr>
        <p:spPr>
          <a:xfrm>
            <a:off x="6746944" y="120457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数组的概念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6746944" y="217250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数组的定义与初始化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6746944" y="314042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数组相关操作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6746944" y="410835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多维数组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6746944" y="5076279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数组与函数</a:t>
            </a:r>
          </a:p>
        </p:txBody>
      </p:sp>
      <p:sp>
        <p:nvSpPr>
          <p:cNvPr id="64" name="TextBox 78"/>
          <p:cNvSpPr txBox="1"/>
          <p:nvPr/>
        </p:nvSpPr>
        <p:spPr>
          <a:xfrm>
            <a:off x="565975" y="3733289"/>
            <a:ext cx="206338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1752BDCE-CD6E-4E2D-97E2-74D2EE4F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33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/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数组（</a:t>
            </a:r>
            <a:r>
              <a:rPr lang="en-US" altLang="zh-CN" sz="24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Array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）的概念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074656" y="1738207"/>
                <a:ext cx="10152668" cy="448635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向量与序列数据如何表示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向量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vector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，例如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2d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向量，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3d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向量：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序列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sequence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，高维向量，例如：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…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…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文字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literal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，例如：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"</a:t>
                </a:r>
                <a:r>
                  <a:rPr lang="en-US" altLang="zh-CN" dirty="0"/>
                  <a:t> Doe, a deer, a female deer\n Ray, a drop of golden sun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"</a:t>
                </a:r>
              </a:p>
              <a:p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这里，</a:t>
                </a:r>
                <a:r>
                  <a:rPr lang="en-US" altLang="zh-CN" sz="24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是向量或序列的一个</a:t>
                </a:r>
                <a:r>
                  <a:rPr lang="zh-CN" altLang="en-US" sz="2400" b="1" dirty="0">
                    <a:highlight>
                      <a:srgbClr val="FFFF00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元素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2000" b="1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element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:r>
                  <a:rPr lang="zh-CN" altLang="en-US" sz="2400" b="1" dirty="0">
                    <a:highlight>
                      <a:srgbClr val="FFFF00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2400" b="1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item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</a:t>
                </a:r>
                <a:r>
                  <a:rPr lang="zh-CN" altLang="en-US" sz="2400" b="1" dirty="0">
                    <a:highlight>
                      <a:srgbClr val="FFFF00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下标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2400" i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index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，表示第几个元素；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</a:t>
                </a:r>
                <a:r>
                  <a:rPr lang="zh-CN" altLang="en-US" sz="2400" b="1" dirty="0">
                    <a:highlight>
                      <a:srgbClr val="FFFF00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长度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，表示向量或序列由多少个元素组成。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56" y="1738207"/>
                <a:ext cx="10152668" cy="4486356"/>
              </a:xfrm>
              <a:prstGeom prst="rect">
                <a:avLst/>
              </a:prstGeom>
              <a:blipFill>
                <a:blip r:embed="rId4"/>
                <a:stretch>
                  <a:fillRect l="-1200" t="-1359" r="-3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E03012C-0500-4F9A-AA77-B820257B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3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数组（</a:t>
            </a:r>
            <a:r>
              <a:rPr lang="en-US" altLang="zh-CN" sz="24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Array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）的概念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应用案例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74656" y="1738207"/>
            <a:ext cx="10152668" cy="44863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某市气象局记录了一个月降水数据，例如：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0,3.5,0,0,0,0,0,0,0,0,4.2,0,0,0,0,0,0,0,0,0,7.0,0,0,0,0,0,0,0,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-1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请计算该市一次降水的平均值？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D5AD02-8F0D-3774-E2DB-0571FBED7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657" y="3386935"/>
            <a:ext cx="2831964" cy="28376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62A00A3-594F-9A88-8A5B-4256BE10944B}"/>
              </a:ext>
            </a:extLst>
          </p:cNvPr>
          <p:cNvSpPr/>
          <p:nvPr/>
        </p:nvSpPr>
        <p:spPr>
          <a:xfrm>
            <a:off x="3083842" y="3581275"/>
            <a:ext cx="112562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</a:t>
            </a:r>
            <a:r>
              <a:rPr lang="zh-CN" altLang="en-US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语言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0962B-4123-4C46-B6D9-29E887A0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4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149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810848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数组（</a:t>
            </a:r>
            <a:r>
              <a:rPr lang="en-US" altLang="zh-CN" sz="24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Array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）的概念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一种数据结构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4808300-D208-438C-92A3-F8180D2F6748}"/>
              </a:ext>
            </a:extLst>
          </p:cNvPr>
          <p:cNvSpPr txBox="1"/>
          <p:nvPr/>
        </p:nvSpPr>
        <p:spPr>
          <a:xfrm>
            <a:off x="1688307" y="1766488"/>
            <a:ext cx="8815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在计算机科学中，</a:t>
            </a:r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数组数据结构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array data structure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），简称</a:t>
            </a:r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数组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Array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），是由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相同类型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的元素（</a:t>
            </a:r>
            <a:r>
              <a:rPr lang="en-US" altLang="zh-CN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element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）的集合所组成的数据结构，分配一块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连续</a:t>
            </a:r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的内存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来存储。利用元素的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索引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下标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index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）可以计算出该元素对应的存储地址。</a:t>
            </a:r>
            <a:endParaRPr lang="en-US" altLang="zh-CN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最简单的数据结构类型是</a:t>
            </a:r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一维数组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。一个</a:t>
            </a:r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数组类型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描述了连续分配的非空的具有特定元素对象类型的对象集合。这些元素对象的类型称为</a:t>
            </a:r>
            <a:r>
              <a:rPr lang="zh-CN" altLang="en-US" b="0" i="0" dirty="0">
                <a:solidFill>
                  <a:srgbClr val="2021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元素类型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element type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）。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数组类型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由</a:t>
            </a:r>
            <a:r>
              <a:rPr lang="zh-CN" altLang="en-US" b="1" i="0" dirty="0">
                <a:solidFill>
                  <a:srgbClr val="C00000"/>
                </a:solidFill>
                <a:effectLst/>
                <a:highlight>
                  <a:srgbClr val="9CC5FD"/>
                </a:highlight>
                <a:latin typeface="Arial" panose="020B0604020202020204" pitchFamily="34" charset="0"/>
              </a:rPr>
              <a:t>元素类型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与</a:t>
            </a:r>
            <a:r>
              <a:rPr lang="zh-CN" altLang="en-US" b="1" i="0" dirty="0">
                <a:solidFill>
                  <a:srgbClr val="C00000"/>
                </a:solidFill>
                <a:effectLst/>
                <a:highlight>
                  <a:srgbClr val="9CC5FD"/>
                </a:highlight>
                <a:latin typeface="Arial" panose="020B0604020202020204" pitchFamily="34" charset="0"/>
              </a:rPr>
              <a:t>元素的数目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确定。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73536B1-DA75-4DD3-8569-050564C14B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506392B-C247-4846-98D3-79347010EC60}"/>
              </a:ext>
            </a:extLst>
          </p:cNvPr>
          <p:cNvSpPr/>
          <p:nvPr/>
        </p:nvSpPr>
        <p:spPr>
          <a:xfrm>
            <a:off x="3738563" y="4441403"/>
            <a:ext cx="1328738" cy="290513"/>
          </a:xfrm>
          <a:prstGeom prst="roundRect">
            <a:avLst/>
          </a:prstGeom>
          <a:solidFill>
            <a:srgbClr val="0070C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00000011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013A65E-D3A1-4B1D-BD58-8E76D9AD90A6}"/>
              </a:ext>
            </a:extLst>
          </p:cNvPr>
          <p:cNvSpPr/>
          <p:nvPr/>
        </p:nvSpPr>
        <p:spPr>
          <a:xfrm>
            <a:off x="3721897" y="5090525"/>
            <a:ext cx="1328738" cy="290513"/>
          </a:xfrm>
          <a:prstGeom prst="roundRect">
            <a:avLst/>
          </a:prstGeom>
          <a:solidFill>
            <a:srgbClr val="0070C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00000101</a:t>
            </a:r>
            <a:endParaRPr lang="zh-CN" altLang="en-US" dirty="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6A3D8B8-57E8-42B8-B60A-FB078B097A7C}"/>
              </a:ext>
            </a:extLst>
          </p:cNvPr>
          <p:cNvSpPr/>
          <p:nvPr/>
        </p:nvSpPr>
        <p:spPr>
          <a:xfrm>
            <a:off x="3721898" y="6356350"/>
            <a:ext cx="1328738" cy="290513"/>
          </a:xfrm>
          <a:prstGeom prst="roundRect">
            <a:avLst/>
          </a:prstGeom>
          <a:solidFill>
            <a:srgbClr val="0070C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00000010</a:t>
            </a:r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5404580-3DFF-4E35-8E66-4D39DAF3C768}"/>
              </a:ext>
            </a:extLst>
          </p:cNvPr>
          <p:cNvSpPr/>
          <p:nvPr/>
        </p:nvSpPr>
        <p:spPr>
          <a:xfrm>
            <a:off x="3715546" y="5729341"/>
            <a:ext cx="1328738" cy="290513"/>
          </a:xfrm>
          <a:prstGeom prst="roundRect">
            <a:avLst/>
          </a:prstGeom>
          <a:solidFill>
            <a:srgbClr val="0070C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00000001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68A263-2974-46D1-82F6-F3C3C2B33843}"/>
              </a:ext>
            </a:extLst>
          </p:cNvPr>
          <p:cNvSpPr/>
          <p:nvPr/>
        </p:nvSpPr>
        <p:spPr>
          <a:xfrm>
            <a:off x="2591725" y="4444621"/>
            <a:ext cx="287339" cy="2905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0DFFC6-81F7-4E60-88F1-44CC287A570F}"/>
              </a:ext>
            </a:extLst>
          </p:cNvPr>
          <p:cNvSpPr/>
          <p:nvPr/>
        </p:nvSpPr>
        <p:spPr>
          <a:xfrm>
            <a:off x="2578232" y="5080701"/>
            <a:ext cx="287339" cy="2905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6B2BF3-64A6-45EF-B57A-9B20447EA26F}"/>
              </a:ext>
            </a:extLst>
          </p:cNvPr>
          <p:cNvSpPr/>
          <p:nvPr/>
        </p:nvSpPr>
        <p:spPr>
          <a:xfrm>
            <a:off x="2580611" y="5716157"/>
            <a:ext cx="287339" cy="2905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FC1B9E5-2704-4733-81AC-CD4FB31CB9BB}"/>
              </a:ext>
            </a:extLst>
          </p:cNvPr>
          <p:cNvSpPr/>
          <p:nvPr/>
        </p:nvSpPr>
        <p:spPr>
          <a:xfrm>
            <a:off x="2586963" y="6356349"/>
            <a:ext cx="287339" cy="2905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3BB815-2B7C-4086-9F50-E236A25C7CAA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2879064" y="4586660"/>
            <a:ext cx="859499" cy="321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B4C664E-CE18-4D9E-9E34-04F54E93D4A0}"/>
              </a:ext>
            </a:extLst>
          </p:cNvPr>
          <p:cNvCxnSpPr>
            <a:cxnSpLocks/>
          </p:cNvCxnSpPr>
          <p:nvPr/>
        </p:nvCxnSpPr>
        <p:spPr>
          <a:xfrm flipV="1">
            <a:off x="2874301" y="5235781"/>
            <a:ext cx="859499" cy="321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3F33104-5390-45D3-8860-54E9521CBE63}"/>
              </a:ext>
            </a:extLst>
          </p:cNvPr>
          <p:cNvCxnSpPr>
            <a:cxnSpLocks/>
          </p:cNvCxnSpPr>
          <p:nvPr/>
        </p:nvCxnSpPr>
        <p:spPr>
          <a:xfrm flipV="1">
            <a:off x="2867950" y="5874841"/>
            <a:ext cx="859499" cy="321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C7F325E-6903-45A1-B5F6-7ECD3DDA001D}"/>
              </a:ext>
            </a:extLst>
          </p:cNvPr>
          <p:cNvCxnSpPr>
            <a:cxnSpLocks/>
          </p:cNvCxnSpPr>
          <p:nvPr/>
        </p:nvCxnSpPr>
        <p:spPr>
          <a:xfrm flipV="1">
            <a:off x="2862398" y="6493869"/>
            <a:ext cx="859499" cy="321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3E61765-08B9-43CB-BE11-178B21EA4C3F}"/>
              </a:ext>
            </a:extLst>
          </p:cNvPr>
          <p:cNvSpPr txBox="1"/>
          <p:nvPr/>
        </p:nvSpPr>
        <p:spPr>
          <a:xfrm>
            <a:off x="4056048" y="402540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数组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00F54BA-DCA2-47B3-945E-70DC72E14CF8}"/>
              </a:ext>
            </a:extLst>
          </p:cNvPr>
          <p:cNvSpPr/>
          <p:nvPr/>
        </p:nvSpPr>
        <p:spPr>
          <a:xfrm>
            <a:off x="6486525" y="4925631"/>
            <a:ext cx="771525" cy="233950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5AC06C3-141E-4A9C-BDCD-688B3390637A}"/>
              </a:ext>
            </a:extLst>
          </p:cNvPr>
          <p:cNvSpPr/>
          <p:nvPr/>
        </p:nvSpPr>
        <p:spPr>
          <a:xfrm>
            <a:off x="6486524" y="5203455"/>
            <a:ext cx="771525" cy="233950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C09F5CE-377A-4286-A6A8-FAF618EF086C}"/>
              </a:ext>
            </a:extLst>
          </p:cNvPr>
          <p:cNvSpPr/>
          <p:nvPr/>
        </p:nvSpPr>
        <p:spPr>
          <a:xfrm>
            <a:off x="6486524" y="5495391"/>
            <a:ext cx="771525" cy="233950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6377A17-E315-4F26-A074-BBA789155CB4}"/>
              </a:ext>
            </a:extLst>
          </p:cNvPr>
          <p:cNvSpPr/>
          <p:nvPr/>
        </p:nvSpPr>
        <p:spPr>
          <a:xfrm>
            <a:off x="6486523" y="5787327"/>
            <a:ext cx="771525" cy="233950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F6B949F-02E8-4257-B125-617669DFE5EB}"/>
              </a:ext>
            </a:extLst>
          </p:cNvPr>
          <p:cNvSpPr txBox="1"/>
          <p:nvPr/>
        </p:nvSpPr>
        <p:spPr>
          <a:xfrm>
            <a:off x="6318287" y="40615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内存组织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6EC1379-8995-4CC1-92BD-A3225ED09ECC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5067301" y="4586660"/>
            <a:ext cx="1419224" cy="4559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7716726-B191-4F83-A757-379DC67A8AF0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>
            <a:off x="5050635" y="5235782"/>
            <a:ext cx="1435889" cy="846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C4B20A0-FBC3-4E43-AF7D-A6A67391EB22}"/>
              </a:ext>
            </a:extLst>
          </p:cNvPr>
          <p:cNvCxnSpPr>
            <a:cxnSpLocks/>
            <a:stCxn id="20" idx="3"/>
            <a:endCxn id="37" idx="1"/>
          </p:cNvCxnSpPr>
          <p:nvPr/>
        </p:nvCxnSpPr>
        <p:spPr>
          <a:xfrm flipV="1">
            <a:off x="5044284" y="5612366"/>
            <a:ext cx="1442240" cy="2622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C188A1C-86CC-4FF1-B745-CD0FADAA0B62}"/>
              </a:ext>
            </a:extLst>
          </p:cNvPr>
          <p:cNvCxnSpPr>
            <a:cxnSpLocks/>
            <a:stCxn id="19" idx="3"/>
            <a:endCxn id="38" idx="1"/>
          </p:cNvCxnSpPr>
          <p:nvPr/>
        </p:nvCxnSpPr>
        <p:spPr>
          <a:xfrm flipV="1">
            <a:off x="5050636" y="5904302"/>
            <a:ext cx="1435887" cy="597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灯片编号占位符 40">
            <a:extLst>
              <a:ext uri="{FF2B5EF4-FFF2-40B4-BE49-F238E27FC236}">
                <a16:creationId xmlns:a16="http://schemas.microsoft.com/office/drawing/2014/main" id="{8F8FA4A7-372E-41F1-908E-DD591A93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5</a:t>
            </a:fld>
            <a:r>
              <a:rPr lang="en-US" altLang="zh-CN" dirty="0"/>
              <a:t>/32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1484EB-13B4-86A0-4D8E-D263FA1C9608}"/>
              </a:ext>
            </a:extLst>
          </p:cNvPr>
          <p:cNvSpPr txBox="1"/>
          <p:nvPr/>
        </p:nvSpPr>
        <p:spPr>
          <a:xfrm>
            <a:off x="2407466" y="40025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下标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4" grpId="0"/>
      <p:bldP spid="6" grpId="0" animBg="1"/>
      <p:bldP spid="18" grpId="0" animBg="1"/>
      <p:bldP spid="19" grpId="0" animBg="1"/>
      <p:bldP spid="20" grpId="0" animBg="1"/>
      <p:bldP spid="7" grpId="0" animBg="1"/>
      <p:bldP spid="23" grpId="0" animBg="1"/>
      <p:bldP spid="24" grpId="0" animBg="1"/>
      <p:bldP spid="25" grpId="0" animBg="1"/>
      <p:bldP spid="12" grpId="0"/>
      <p:bldP spid="14" grpId="0" animBg="1"/>
      <p:bldP spid="36" grpId="0" animBg="1"/>
      <p:bldP spid="37" grpId="0" animBg="1"/>
      <p:bldP spid="38" grpId="0" animBg="1"/>
      <p:bldP spid="39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学论网-矩形 1">
            <a:extLst>
              <a:ext uri="{FF2B5EF4-FFF2-40B4-BE49-F238E27FC236}">
                <a16:creationId xmlns:a16="http://schemas.microsoft.com/office/drawing/2014/main" id="{C8471435-6D83-405A-A3E7-356C723B27B5}"/>
              </a:ext>
            </a:extLst>
          </p:cNvPr>
          <p:cNvSpPr/>
          <p:nvPr/>
        </p:nvSpPr>
        <p:spPr>
          <a:xfrm>
            <a:off x="0" y="672782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数组（</a:t>
            </a:r>
            <a:r>
              <a:rPr lang="en-US" altLang="zh-CN" sz="24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Array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）的概念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为什么要使用数组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4DA2231-D024-4B17-A85A-7F08A28E45C4}"/>
              </a:ext>
            </a:extLst>
          </p:cNvPr>
          <p:cNvSpPr/>
          <p:nvPr/>
        </p:nvSpPr>
        <p:spPr>
          <a:xfrm>
            <a:off x="204788" y="3367087"/>
            <a:ext cx="2819400" cy="914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向计算机输入全班</a:t>
            </a:r>
            <a:r>
              <a:rPr lang="en-US" altLang="zh-CN" dirty="0"/>
              <a:t>50</a:t>
            </a:r>
            <a:r>
              <a:rPr lang="zh-CN" altLang="en-US" dirty="0"/>
              <a:t>个学生某一门课的成绩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B3451CD-D62D-4128-8845-7EB53281DFFE}"/>
              </a:ext>
            </a:extLst>
          </p:cNvPr>
          <p:cNvSpPr/>
          <p:nvPr/>
        </p:nvSpPr>
        <p:spPr>
          <a:xfrm>
            <a:off x="4086224" y="1610359"/>
            <a:ext cx="2700339" cy="1556386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定义</a:t>
            </a:r>
            <a:r>
              <a:rPr lang="en-US" altLang="zh-CN" dirty="0"/>
              <a:t>50</a:t>
            </a:r>
            <a:r>
              <a:rPr lang="zh-CN" altLang="en-US" dirty="0"/>
              <a:t>个变量</a:t>
            </a:r>
            <a:r>
              <a:rPr lang="en-US" altLang="zh-CN" dirty="0"/>
              <a:t>stu1,stu2,…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0C25E64-E305-4911-AB0B-42B0C7A835E4}"/>
              </a:ext>
            </a:extLst>
          </p:cNvPr>
          <p:cNvSpPr/>
          <p:nvPr/>
        </p:nvSpPr>
        <p:spPr>
          <a:xfrm>
            <a:off x="8077199" y="1610359"/>
            <a:ext cx="3357563" cy="1556386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繁琐！如果有</a:t>
            </a:r>
            <a:r>
              <a:rPr lang="en-US" altLang="zh-CN" dirty="0"/>
              <a:t>10000</a:t>
            </a:r>
            <a:r>
              <a:rPr lang="zh-CN" altLang="en-US" dirty="0"/>
              <a:t>个学生怎么办？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没有体现出数据之间的联系</a:t>
            </a:r>
          </a:p>
        </p:txBody>
      </p:sp>
      <p:sp>
        <p:nvSpPr>
          <p:cNvPr id="8" name="箭头: 圆角右 7">
            <a:extLst>
              <a:ext uri="{FF2B5EF4-FFF2-40B4-BE49-F238E27FC236}">
                <a16:creationId xmlns:a16="http://schemas.microsoft.com/office/drawing/2014/main" id="{64E6EAF5-8FC0-4E91-9B13-0C437240F01B}"/>
              </a:ext>
            </a:extLst>
          </p:cNvPr>
          <p:cNvSpPr/>
          <p:nvPr/>
        </p:nvSpPr>
        <p:spPr>
          <a:xfrm>
            <a:off x="1866900" y="2195513"/>
            <a:ext cx="2081213" cy="1102042"/>
          </a:xfrm>
          <a:prstGeom prst="bentArrow">
            <a:avLst>
              <a:gd name="adj1" fmla="val 25000"/>
              <a:gd name="adj2" fmla="val 24789"/>
              <a:gd name="adj3" fmla="val 25000"/>
              <a:gd name="adj4" fmla="val 43750"/>
            </a:avLst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C86FDB1-7F83-4525-ADA3-078C255225CC}"/>
              </a:ext>
            </a:extLst>
          </p:cNvPr>
          <p:cNvSpPr/>
          <p:nvPr/>
        </p:nvSpPr>
        <p:spPr>
          <a:xfrm>
            <a:off x="6886573" y="2195513"/>
            <a:ext cx="1147763" cy="484632"/>
          </a:xfrm>
          <a:prstGeom prst="right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圆角右 9">
            <a:extLst>
              <a:ext uri="{FF2B5EF4-FFF2-40B4-BE49-F238E27FC236}">
                <a16:creationId xmlns:a16="http://schemas.microsoft.com/office/drawing/2014/main" id="{55DAC654-4EB7-47CD-A247-FA459F31A3CF}"/>
              </a:ext>
            </a:extLst>
          </p:cNvPr>
          <p:cNvSpPr/>
          <p:nvPr/>
        </p:nvSpPr>
        <p:spPr>
          <a:xfrm flipV="1">
            <a:off x="1824038" y="4351019"/>
            <a:ext cx="2124075" cy="1173481"/>
          </a:xfrm>
          <a:prstGeom prst="bentArrow">
            <a:avLst/>
          </a:prstGeom>
          <a:solidFill>
            <a:schemeClr val="accent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12E64413-BA3E-4D1F-B7E5-A889030CCB53}"/>
                  </a:ext>
                </a:extLst>
              </p:cNvPr>
              <p:cNvSpPr/>
              <p:nvPr/>
            </p:nvSpPr>
            <p:spPr>
              <a:xfrm>
                <a:off x="4086224" y="4629149"/>
                <a:ext cx="2795585" cy="1357314"/>
              </a:xfrm>
              <a:prstGeom prst="roundRect">
                <a:avLst/>
              </a:prstGeom>
              <a:solidFill>
                <a:schemeClr val="accent1">
                  <a:lumMod val="75000"/>
                  <a:lumOff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𝑠𝑡𝑢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𝑠𝑡𝑢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12E64413-BA3E-4D1F-B7E5-A889030CCB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224" y="4629149"/>
                <a:ext cx="2795585" cy="135731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箭头: 右 11">
            <a:extLst>
              <a:ext uri="{FF2B5EF4-FFF2-40B4-BE49-F238E27FC236}">
                <a16:creationId xmlns:a16="http://schemas.microsoft.com/office/drawing/2014/main" id="{027ED3F7-5E9C-4724-AD8F-961E728B7523}"/>
              </a:ext>
            </a:extLst>
          </p:cNvPr>
          <p:cNvSpPr/>
          <p:nvPr/>
        </p:nvSpPr>
        <p:spPr>
          <a:xfrm>
            <a:off x="6938961" y="5065490"/>
            <a:ext cx="1209677" cy="484632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D52B234-B394-49F1-A1B2-EFF61FED7313}"/>
              </a:ext>
            </a:extLst>
          </p:cNvPr>
          <p:cNvSpPr/>
          <p:nvPr/>
        </p:nvSpPr>
        <p:spPr>
          <a:xfrm>
            <a:off x="8205790" y="4599622"/>
            <a:ext cx="2795585" cy="1357314"/>
          </a:xfrm>
          <a:prstGeom prst="roundRect">
            <a:avLst/>
          </a:prstGeom>
          <a:solidFill>
            <a:schemeClr val="accent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err="1"/>
              <a:t>stu</a:t>
            </a:r>
            <a:r>
              <a:rPr lang="en-US" altLang="zh-CN" sz="3600" dirty="0"/>
              <a:t>[1],</a:t>
            </a:r>
            <a:r>
              <a:rPr lang="en-US" altLang="zh-CN" sz="3600" dirty="0" err="1"/>
              <a:t>stu</a:t>
            </a:r>
            <a:r>
              <a:rPr lang="en-US" altLang="zh-CN" sz="3600" dirty="0"/>
              <a:t>[2]</a:t>
            </a:r>
            <a:endParaRPr lang="zh-CN" altLang="en-US" sz="3600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DDEF17DF-4D88-419E-BCEC-C366981B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6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836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学论网-矩形 1">
            <a:extLst>
              <a:ext uri="{FF2B5EF4-FFF2-40B4-BE49-F238E27FC236}">
                <a16:creationId xmlns:a16="http://schemas.microsoft.com/office/drawing/2014/main" id="{11F299F1-7867-4810-9922-D6917DB209AA}"/>
              </a:ext>
            </a:extLst>
          </p:cNvPr>
          <p:cNvSpPr/>
          <p:nvPr/>
        </p:nvSpPr>
        <p:spPr>
          <a:xfrm>
            <a:off x="0" y="672782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一维数组的定义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9646FB-550C-42E5-82F1-8709B3F9DE8E}"/>
              </a:ext>
            </a:extLst>
          </p:cNvPr>
          <p:cNvSpPr/>
          <p:nvPr/>
        </p:nvSpPr>
        <p:spPr>
          <a:xfrm>
            <a:off x="1492939" y="1757961"/>
            <a:ext cx="4438303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zh-CN" altLang="en-US" b="1" dirty="0"/>
              <a:t>类型说明符  数组名</a:t>
            </a:r>
            <a:r>
              <a:rPr lang="en-US" altLang="zh-CN" b="1" dirty="0"/>
              <a:t>[</a:t>
            </a:r>
            <a:r>
              <a:rPr lang="zh-CN" altLang="en-US" b="1" dirty="0">
                <a:solidFill>
                  <a:srgbClr val="FFFF00"/>
                </a:solidFill>
              </a:rPr>
              <a:t>整数常量表达式</a:t>
            </a:r>
            <a:r>
              <a:rPr lang="en-US" altLang="zh-CN" b="1" dirty="0"/>
              <a:t>]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7C32D7-A5EB-4660-A096-4B712DC0E94D}"/>
              </a:ext>
            </a:extLst>
          </p:cNvPr>
          <p:cNvSpPr/>
          <p:nvPr/>
        </p:nvSpPr>
        <p:spPr>
          <a:xfrm>
            <a:off x="6809550" y="1763644"/>
            <a:ext cx="1909764" cy="4006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int </a:t>
            </a:r>
            <a:r>
              <a:rPr lang="en-US" altLang="zh-CN" dirty="0" err="1">
                <a:solidFill>
                  <a:schemeClr val="tx1"/>
                </a:solidFill>
              </a:rPr>
              <a:t>stu</a:t>
            </a:r>
            <a:r>
              <a:rPr lang="en-US" altLang="zh-CN" dirty="0">
                <a:solidFill>
                  <a:schemeClr val="tx1"/>
                </a:solidFill>
              </a:rPr>
              <a:t>[50]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76EC01-B519-4584-88BD-D86C39E30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715949"/>
              </p:ext>
            </p:extLst>
          </p:nvPr>
        </p:nvGraphicFramePr>
        <p:xfrm>
          <a:off x="1617692" y="2643062"/>
          <a:ext cx="7529520" cy="370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52952">
                  <a:extLst>
                    <a:ext uri="{9D8B030D-6E8A-4147-A177-3AD203B41FA5}">
                      <a16:colId xmlns:a16="http://schemas.microsoft.com/office/drawing/2014/main" val="2033316795"/>
                    </a:ext>
                  </a:extLst>
                </a:gridCol>
                <a:gridCol w="752952">
                  <a:extLst>
                    <a:ext uri="{9D8B030D-6E8A-4147-A177-3AD203B41FA5}">
                      <a16:colId xmlns:a16="http://schemas.microsoft.com/office/drawing/2014/main" val="2347992465"/>
                    </a:ext>
                  </a:extLst>
                </a:gridCol>
                <a:gridCol w="752952">
                  <a:extLst>
                    <a:ext uri="{9D8B030D-6E8A-4147-A177-3AD203B41FA5}">
                      <a16:colId xmlns:a16="http://schemas.microsoft.com/office/drawing/2014/main" val="3981033593"/>
                    </a:ext>
                  </a:extLst>
                </a:gridCol>
                <a:gridCol w="752952">
                  <a:extLst>
                    <a:ext uri="{9D8B030D-6E8A-4147-A177-3AD203B41FA5}">
                      <a16:colId xmlns:a16="http://schemas.microsoft.com/office/drawing/2014/main" val="2556556097"/>
                    </a:ext>
                  </a:extLst>
                </a:gridCol>
                <a:gridCol w="752952">
                  <a:extLst>
                    <a:ext uri="{9D8B030D-6E8A-4147-A177-3AD203B41FA5}">
                      <a16:colId xmlns:a16="http://schemas.microsoft.com/office/drawing/2014/main" val="821305054"/>
                    </a:ext>
                  </a:extLst>
                </a:gridCol>
                <a:gridCol w="752952">
                  <a:extLst>
                    <a:ext uri="{9D8B030D-6E8A-4147-A177-3AD203B41FA5}">
                      <a16:colId xmlns:a16="http://schemas.microsoft.com/office/drawing/2014/main" val="730262748"/>
                    </a:ext>
                  </a:extLst>
                </a:gridCol>
                <a:gridCol w="752952">
                  <a:extLst>
                    <a:ext uri="{9D8B030D-6E8A-4147-A177-3AD203B41FA5}">
                      <a16:colId xmlns:a16="http://schemas.microsoft.com/office/drawing/2014/main" val="2351595954"/>
                    </a:ext>
                  </a:extLst>
                </a:gridCol>
                <a:gridCol w="752952">
                  <a:extLst>
                    <a:ext uri="{9D8B030D-6E8A-4147-A177-3AD203B41FA5}">
                      <a16:colId xmlns:a16="http://schemas.microsoft.com/office/drawing/2014/main" val="3376203906"/>
                    </a:ext>
                  </a:extLst>
                </a:gridCol>
                <a:gridCol w="752952">
                  <a:extLst>
                    <a:ext uri="{9D8B030D-6E8A-4147-A177-3AD203B41FA5}">
                      <a16:colId xmlns:a16="http://schemas.microsoft.com/office/drawing/2014/main" val="3698366222"/>
                    </a:ext>
                  </a:extLst>
                </a:gridCol>
                <a:gridCol w="752952">
                  <a:extLst>
                    <a:ext uri="{9D8B030D-6E8A-4147-A177-3AD203B41FA5}">
                      <a16:colId xmlns:a16="http://schemas.microsoft.com/office/drawing/2014/main" val="322185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stu</a:t>
                      </a:r>
                      <a:r>
                        <a:rPr lang="en-US" altLang="zh-CN" sz="1600" dirty="0"/>
                        <a:t>[0]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stu</a:t>
                      </a:r>
                      <a:r>
                        <a:rPr lang="en-US" altLang="zh-CN" sz="1600" dirty="0"/>
                        <a:t>[1]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stu</a:t>
                      </a:r>
                      <a:r>
                        <a:rPr lang="en-US" altLang="zh-CN" sz="1600" dirty="0"/>
                        <a:t>[2]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stu</a:t>
                      </a:r>
                      <a:r>
                        <a:rPr lang="en-US" altLang="zh-CN" sz="1600" dirty="0"/>
                        <a:t>[3]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stu</a:t>
                      </a:r>
                      <a:r>
                        <a:rPr lang="en-US" altLang="zh-CN" sz="1600" dirty="0"/>
                        <a:t>[4]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……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stu</a:t>
                      </a:r>
                      <a:r>
                        <a:rPr lang="en-US" altLang="zh-CN" sz="1600" dirty="0"/>
                        <a:t>[46]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stu</a:t>
                      </a:r>
                      <a:r>
                        <a:rPr lang="en-US" altLang="zh-CN" sz="1600" dirty="0"/>
                        <a:t>[47]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stu</a:t>
                      </a:r>
                      <a:r>
                        <a:rPr lang="en-US" altLang="zh-CN" sz="1600" dirty="0"/>
                        <a:t>[48]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stu</a:t>
                      </a:r>
                      <a:r>
                        <a:rPr lang="en-US" altLang="zh-CN" sz="1600" dirty="0"/>
                        <a:t>[49]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641823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3F8B9BA-22C4-4C35-B0E4-907511BAEAD5}"/>
              </a:ext>
            </a:extLst>
          </p:cNvPr>
          <p:cNvSpPr txBox="1"/>
          <p:nvPr/>
        </p:nvSpPr>
        <p:spPr>
          <a:xfrm>
            <a:off x="2306450" y="3580468"/>
            <a:ext cx="75791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注意！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语言数组</a:t>
            </a:r>
            <a:r>
              <a:rPr lang="zh-CN" altLang="en-US" sz="2400" dirty="0"/>
              <a:t>的</a:t>
            </a:r>
            <a:r>
              <a:rPr lang="zh-CN" altLang="en-US" sz="2400" b="1" dirty="0">
                <a:highlight>
                  <a:srgbClr val="FFFF00"/>
                </a:highlight>
              </a:rPr>
              <a:t>下标从</a:t>
            </a:r>
            <a:r>
              <a:rPr lang="en-US" altLang="zh-CN" sz="2400" b="1" dirty="0">
                <a:highlight>
                  <a:srgbClr val="FFFF00"/>
                </a:highlight>
              </a:rPr>
              <a:t>0</a:t>
            </a:r>
            <a:r>
              <a:rPr lang="zh-CN" altLang="en-US" sz="2400" b="1" dirty="0">
                <a:highlight>
                  <a:srgbClr val="FFFF00"/>
                </a:highlight>
              </a:rPr>
              <a:t>开始</a:t>
            </a:r>
            <a:r>
              <a:rPr lang="zh-CN" altLang="en-US" sz="2400" dirty="0"/>
              <a:t>！不存在数组元素</a:t>
            </a:r>
            <a:r>
              <a:rPr lang="en-US" altLang="zh-CN" sz="2400" dirty="0" err="1"/>
              <a:t>stu</a:t>
            </a:r>
            <a:r>
              <a:rPr lang="en-US" altLang="zh-CN" sz="2400" dirty="0"/>
              <a:t>[50]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在定义数组时，需要指定数组中元素的个数，方括号中的常量表达式用来表示元素的个数，即</a:t>
            </a:r>
            <a:r>
              <a:rPr lang="zh-CN" alt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数组长度</a:t>
            </a:r>
            <a:endParaRPr lang="en-US" altLang="zh-CN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1412D3F-1009-4A18-9566-CE8E70CE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7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060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animBg="1"/>
      <p:bldP spid="5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学论网-矩形 1">
            <a:extLst>
              <a:ext uri="{FF2B5EF4-FFF2-40B4-BE49-F238E27FC236}">
                <a16:creationId xmlns:a16="http://schemas.microsoft.com/office/drawing/2014/main" id="{B415F744-E941-4A3A-91D2-A9D4FCCCAC35}"/>
              </a:ext>
            </a:extLst>
          </p:cNvPr>
          <p:cNvSpPr/>
          <p:nvPr/>
        </p:nvSpPr>
        <p:spPr>
          <a:xfrm>
            <a:off x="0" y="672782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一维数组的初始化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E0CD49-1C86-4687-8940-C4C0ABB89E5B}"/>
              </a:ext>
            </a:extLst>
          </p:cNvPr>
          <p:cNvSpPr txBox="1"/>
          <p:nvPr/>
        </p:nvSpPr>
        <p:spPr>
          <a:xfrm>
            <a:off x="1176045" y="2043849"/>
            <a:ext cx="931127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对所有元素赋值，例如</a:t>
            </a:r>
            <a:r>
              <a:rPr lang="en-US" altLang="zh-CN" sz="2800" dirty="0"/>
              <a:t>int a[5]={0,1,2,3,4}</a:t>
            </a:r>
          </a:p>
          <a:p>
            <a:pPr marL="342900" indent="-342900">
              <a:buFont typeface="+mj-lt"/>
              <a:buAutoNum type="arabicPeriod"/>
            </a:pP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对部分元素赋值，例如</a:t>
            </a:r>
            <a:r>
              <a:rPr lang="en-US" altLang="zh-CN" sz="2800" dirty="0"/>
              <a:t>int a[5]={0,1}</a:t>
            </a:r>
            <a:r>
              <a:rPr lang="zh-CN" altLang="en-US" sz="2800" dirty="0"/>
              <a:t>，此时</a:t>
            </a:r>
            <a:r>
              <a:rPr lang="zh-CN" altLang="en-US" sz="2800" b="1" dirty="0"/>
              <a:t>剩余的元素会被自动赋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值</a:t>
            </a:r>
            <a:endParaRPr lang="en-US" altLang="zh-CN" sz="2800" b="1" dirty="0"/>
          </a:p>
          <a:p>
            <a:pPr marL="342900" indent="-342900">
              <a:buFont typeface="+mj-lt"/>
              <a:buAutoNum type="arabicPeriod"/>
            </a:pP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不指定数组长度，例如</a:t>
            </a:r>
            <a:r>
              <a:rPr lang="en-US" altLang="zh-CN" sz="2800" dirty="0"/>
              <a:t>int a[]={0,1,2}</a:t>
            </a:r>
            <a:r>
              <a:rPr lang="zh-CN" altLang="en-US" sz="2800" dirty="0"/>
              <a:t>，它等价于 </a:t>
            </a:r>
            <a:r>
              <a:rPr lang="en-US" altLang="zh-CN" sz="2800" dirty="0"/>
              <a:t>int a[3]={0,1,2}</a:t>
            </a:r>
            <a:r>
              <a:rPr lang="zh-CN" altLang="en-US" sz="2800" dirty="0"/>
              <a:t>。注意：</a:t>
            </a:r>
            <a:r>
              <a:rPr lang="zh-CN" altLang="en-US" sz="2800" b="1" dirty="0">
                <a:solidFill>
                  <a:srgbClr val="FF0000"/>
                </a:solidFill>
              </a:rPr>
              <a:t>不是可变长度数组</a:t>
            </a:r>
            <a:r>
              <a:rPr lang="zh-CN" altLang="en-US" sz="2800" dirty="0"/>
              <a:t>，仅是由编译器根据初始值数量自动确定长度。</a:t>
            </a: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endParaRPr lang="en-US" altLang="zh-CN" sz="28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2800" b="1" dirty="0">
                <a:solidFill>
                  <a:schemeClr val="bg1">
                    <a:lumMod val="75000"/>
                  </a:schemeClr>
                </a:solidFill>
              </a:rPr>
              <a:t>C99  </a:t>
            </a:r>
            <a:r>
              <a:rPr lang="zh-CN" altLang="en-US" sz="2800" b="1" dirty="0">
                <a:solidFill>
                  <a:schemeClr val="bg1">
                    <a:lumMod val="75000"/>
                  </a:schemeClr>
                </a:solidFill>
              </a:rPr>
              <a:t>开始，支持可变长度数组。</a:t>
            </a:r>
            <a:endParaRPr lang="en-US" altLang="zh-CN" sz="28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99C723-0BF8-4048-955F-208988B8B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8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558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学论网-矩形 1">
            <a:extLst>
              <a:ext uri="{FF2B5EF4-FFF2-40B4-BE49-F238E27FC236}">
                <a16:creationId xmlns:a16="http://schemas.microsoft.com/office/drawing/2014/main" id="{3F02581F-B532-422B-B571-66609498117A}"/>
              </a:ext>
            </a:extLst>
          </p:cNvPr>
          <p:cNvSpPr/>
          <p:nvPr/>
        </p:nvSpPr>
        <p:spPr>
          <a:xfrm>
            <a:off x="0" y="672782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数组操作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 </a:t>
            </a:r>
            <a:r>
              <a:rPr lang="zh-CN" altLang="en-US" sz="2800" b="1" kern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使用下标访问数组元素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F4A2E5-5AD7-48BA-9C94-20462EE7C795}"/>
              </a:ext>
            </a:extLst>
          </p:cNvPr>
          <p:cNvSpPr txBox="1"/>
          <p:nvPr/>
        </p:nvSpPr>
        <p:spPr>
          <a:xfrm>
            <a:off x="1605170" y="1903343"/>
            <a:ext cx="6724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chemeClr val="accent1"/>
                </a:solidFill>
              </a:rPr>
              <a:t>对</a:t>
            </a:r>
            <a:r>
              <a:rPr lang="en-US" altLang="zh-CN" sz="1800" dirty="0">
                <a:solidFill>
                  <a:schemeClr val="accent1"/>
                </a:solidFill>
              </a:rPr>
              <a:t>10</a:t>
            </a:r>
            <a:r>
              <a:rPr lang="zh-CN" altLang="en-US" sz="1800" dirty="0">
                <a:solidFill>
                  <a:schemeClr val="accent1"/>
                </a:solidFill>
              </a:rPr>
              <a:t>个数组元素依次赋值为</a:t>
            </a:r>
            <a:r>
              <a:rPr lang="en-US" altLang="zh-CN" sz="1800" dirty="0">
                <a:solidFill>
                  <a:schemeClr val="accent1"/>
                </a:solidFill>
              </a:rPr>
              <a:t>0,1,2,3,4,5,6,7,8,9</a:t>
            </a:r>
            <a:r>
              <a:rPr lang="zh-CN" altLang="en-US" sz="1800" dirty="0">
                <a:solidFill>
                  <a:schemeClr val="accent1"/>
                </a:solidFill>
              </a:rPr>
              <a:t>，要求按逆序输出。</a:t>
            </a:r>
            <a:endParaRPr lang="zh-CN" altLang="en-US" dirty="0"/>
          </a:p>
        </p:txBody>
      </p:sp>
      <p:sp>
        <p:nvSpPr>
          <p:cNvPr id="5" name="圆角矩形 12">
            <a:extLst>
              <a:ext uri="{FF2B5EF4-FFF2-40B4-BE49-F238E27FC236}">
                <a16:creationId xmlns:a16="http://schemas.microsoft.com/office/drawing/2014/main" id="{B1AA17E9-382A-4A5E-876B-358B8FA5C85C}"/>
              </a:ext>
            </a:extLst>
          </p:cNvPr>
          <p:cNvSpPr/>
          <p:nvPr/>
        </p:nvSpPr>
        <p:spPr>
          <a:xfrm>
            <a:off x="938463" y="2699192"/>
            <a:ext cx="5139136" cy="3075912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int </a:t>
            </a:r>
            <a:r>
              <a:rPr lang="en-US" altLang="zh-CN" sz="1400" dirty="0" err="1">
                <a:latin typeface="Consolas" panose="020B0609020204030204" pitchFamily="49" charset="0"/>
              </a:rPr>
              <a:t>i,a</a:t>
            </a:r>
            <a:r>
              <a:rPr lang="en-US" altLang="zh-CN" sz="1400" dirty="0">
                <a:latin typeface="Consolas" panose="020B0609020204030204" pitchFamily="49" charset="0"/>
              </a:rPr>
              <a:t>[10];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for(</a:t>
            </a:r>
            <a:r>
              <a:rPr lang="en-US" altLang="zh-CN" sz="1400" dirty="0" err="1"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</a:rPr>
              <a:t>=0; </a:t>
            </a:r>
            <a:r>
              <a:rPr lang="en-US" altLang="zh-CN" sz="1400" dirty="0" err="1"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</a:rPr>
              <a:t>&lt;=9;i++)	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对数组元素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 pitchFamily="49" charset="0"/>
              </a:rPr>
              <a:t>a[0]~a[9]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赋值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>
                <a:latin typeface="Consolas" panose="020B0609020204030204" pitchFamily="49" charset="0"/>
              </a:rPr>
              <a:t>		</a:t>
            </a:r>
            <a:r>
              <a:rPr lang="en-US" altLang="zh-CN" sz="1400" dirty="0">
                <a:latin typeface="Consolas" panose="020B0609020204030204" pitchFamily="49" charset="0"/>
              </a:rPr>
              <a:t>a[</a:t>
            </a:r>
            <a:r>
              <a:rPr lang="en-US" altLang="zh-CN" sz="1400" dirty="0" err="1"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</a:rPr>
              <a:t>]=</a:t>
            </a:r>
            <a:r>
              <a:rPr lang="en-US" altLang="zh-CN" sz="1400" dirty="0" err="1"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</a:rPr>
              <a:t>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for(</a:t>
            </a:r>
            <a:r>
              <a:rPr lang="en-US" altLang="zh-CN" sz="1400" dirty="0" err="1"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</a:rPr>
              <a:t>=9;i&gt;=0;i--)	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输出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 pitchFamily="49" charset="0"/>
              </a:rPr>
              <a:t>a[9]~a[0]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共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 pitchFamily="49" charset="0"/>
              </a:rPr>
              <a:t>10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个数组元素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>
                <a:latin typeface="Consolas" panose="020B0609020204030204" pitchFamily="49" charset="0"/>
              </a:rPr>
              <a:t>		</a:t>
            </a:r>
            <a:r>
              <a:rPr lang="en-US" altLang="zh-CN" sz="1400" dirty="0" err="1">
                <a:latin typeface="Consolas" panose="020B0609020204030204" pitchFamily="49" charset="0"/>
              </a:rPr>
              <a:t>printf</a:t>
            </a:r>
            <a:r>
              <a:rPr lang="en-US" altLang="zh-CN" sz="1400" dirty="0">
                <a:latin typeface="Consolas" panose="020B0609020204030204" pitchFamily="49" charset="0"/>
              </a:rPr>
              <a:t>("%d ",a[</a:t>
            </a:r>
            <a:r>
              <a:rPr lang="en-US" altLang="zh-CN" sz="1400" dirty="0" err="1"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</a:rPr>
              <a:t>]);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</a:t>
            </a:r>
            <a:r>
              <a:rPr lang="en-US" altLang="zh-CN" sz="1400" dirty="0" err="1">
                <a:latin typeface="Consolas" panose="020B0609020204030204" pitchFamily="49" charset="0"/>
              </a:rPr>
              <a:t>printf</a:t>
            </a:r>
            <a:r>
              <a:rPr lang="en-US" altLang="zh-CN" sz="1400" dirty="0">
                <a:latin typeface="Consolas" panose="020B0609020204030204" pitchFamily="49" charset="0"/>
              </a:rPr>
              <a:t>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}</a:t>
            </a:r>
            <a:endParaRPr lang="en-US" altLang="zh-CN" sz="14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3850325-7CFA-4585-865C-137C9A7659B6}"/>
              </a:ext>
            </a:extLst>
          </p:cNvPr>
          <p:cNvGrpSpPr/>
          <p:nvPr/>
        </p:nvGrpSpPr>
        <p:grpSpPr>
          <a:xfrm>
            <a:off x="6231662" y="4545689"/>
            <a:ext cx="5900360" cy="1229388"/>
            <a:chOff x="8050697" y="5019261"/>
            <a:chExt cx="6108684" cy="1476569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" name="剪去单角的矩形 52">
              <a:extLst>
                <a:ext uri="{FF2B5EF4-FFF2-40B4-BE49-F238E27FC236}">
                  <a16:creationId xmlns:a16="http://schemas.microsoft.com/office/drawing/2014/main" id="{1FAF3DE1-6A3A-4F95-8804-161FFDF4E492}"/>
                </a:ext>
              </a:extLst>
            </p:cNvPr>
            <p:cNvSpPr/>
            <p:nvPr/>
          </p:nvSpPr>
          <p:spPr>
            <a:xfrm>
              <a:off x="8050697" y="5019261"/>
              <a:ext cx="6051168" cy="1476569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8D3637F-F9A5-46BE-81B6-090D6C509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32D43FB-AEF0-4ABC-9795-6BC3C1EA24B9}"/>
                </a:ext>
              </a:extLst>
            </p:cNvPr>
            <p:cNvSpPr txBox="1"/>
            <p:nvPr/>
          </p:nvSpPr>
          <p:spPr>
            <a:xfrm>
              <a:off x="8388006" y="5054498"/>
              <a:ext cx="5771375" cy="1413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bg1"/>
                  </a:solidFill>
                </a:rPr>
                <a:t>第</a:t>
              </a:r>
              <a:r>
                <a:rPr lang="en-US" altLang="zh-CN" sz="2000" dirty="0">
                  <a:solidFill>
                    <a:schemeClr val="bg1"/>
                  </a:solidFill>
                </a:rPr>
                <a:t>1</a:t>
              </a:r>
              <a:r>
                <a:rPr lang="zh-CN" altLang="en-US" sz="2000" dirty="0">
                  <a:solidFill>
                    <a:schemeClr val="bg1"/>
                  </a:solidFill>
                </a:rPr>
                <a:t>个</a:t>
              </a:r>
              <a:r>
                <a:rPr lang="en-US" altLang="zh-CN" sz="2000" dirty="0">
                  <a:solidFill>
                    <a:schemeClr val="bg1"/>
                  </a:solidFill>
                </a:rPr>
                <a:t>for</a:t>
              </a:r>
              <a:r>
                <a:rPr lang="zh-CN" altLang="en-US" sz="2000" dirty="0">
                  <a:solidFill>
                    <a:schemeClr val="bg1"/>
                  </a:solidFill>
                </a:rPr>
                <a:t>循环使</a:t>
              </a:r>
              <a:r>
                <a:rPr lang="en-US" altLang="zh-CN" sz="2000" dirty="0">
                  <a:solidFill>
                    <a:schemeClr val="bg1"/>
                  </a:solidFill>
                </a:rPr>
                <a:t>a[0]</a:t>
              </a:r>
              <a:r>
                <a:rPr lang="zh-CN" altLang="en-US" sz="2000" dirty="0">
                  <a:solidFill>
                    <a:schemeClr val="bg1"/>
                  </a:solidFill>
                </a:rPr>
                <a:t>～</a:t>
              </a:r>
              <a:r>
                <a:rPr lang="en-US" altLang="zh-CN" sz="2000" dirty="0">
                  <a:solidFill>
                    <a:schemeClr val="bg1"/>
                  </a:solidFill>
                </a:rPr>
                <a:t>a[9]</a:t>
              </a:r>
              <a:r>
                <a:rPr lang="zh-CN" altLang="en-US" sz="2000" dirty="0">
                  <a:solidFill>
                    <a:schemeClr val="bg1"/>
                  </a:solidFill>
                </a:rPr>
                <a:t>的值为</a:t>
              </a:r>
              <a:r>
                <a:rPr lang="en-US" altLang="zh-CN" sz="2000" dirty="0">
                  <a:solidFill>
                    <a:schemeClr val="bg1"/>
                  </a:solidFill>
                </a:rPr>
                <a:t>0</a:t>
              </a:r>
              <a:r>
                <a:rPr lang="zh-CN" altLang="en-US" sz="2000" dirty="0">
                  <a:solidFill>
                    <a:schemeClr val="bg1"/>
                  </a:solidFill>
                </a:rPr>
                <a:t>～</a:t>
              </a:r>
              <a:r>
                <a:rPr lang="en-US" altLang="zh-CN" sz="2000" dirty="0">
                  <a:solidFill>
                    <a:schemeClr val="bg1"/>
                  </a:solidFill>
                </a:rPr>
                <a:t>9</a:t>
              </a:r>
              <a:r>
                <a:rPr lang="zh-CN" altLang="en-US" sz="2000" dirty="0">
                  <a:solidFill>
                    <a:schemeClr val="bg1"/>
                  </a:solidFill>
                </a:rPr>
                <a:t>。</a:t>
              </a:r>
              <a:endParaRPr lang="en-US" altLang="zh-CN" sz="2000" dirty="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endParaRPr lang="en-US" altLang="zh-CN" sz="2000" dirty="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bg1"/>
                  </a:solidFill>
                </a:rPr>
                <a:t>第</a:t>
              </a:r>
              <a:r>
                <a:rPr lang="en-US" altLang="zh-CN" sz="2000" dirty="0">
                  <a:solidFill>
                    <a:schemeClr val="bg1"/>
                  </a:solidFill>
                </a:rPr>
                <a:t>2</a:t>
              </a:r>
              <a:r>
                <a:rPr lang="zh-CN" altLang="en-US" sz="2000" dirty="0">
                  <a:solidFill>
                    <a:schemeClr val="bg1"/>
                  </a:solidFill>
                </a:rPr>
                <a:t>个</a:t>
              </a:r>
              <a:r>
                <a:rPr lang="en-US" altLang="zh-CN" sz="2000" dirty="0">
                  <a:solidFill>
                    <a:schemeClr val="bg1"/>
                  </a:solidFill>
                </a:rPr>
                <a:t>for</a:t>
              </a:r>
              <a:r>
                <a:rPr lang="zh-CN" altLang="en-US" sz="2000" dirty="0">
                  <a:solidFill>
                    <a:schemeClr val="bg1"/>
                  </a:solidFill>
                </a:rPr>
                <a:t>循环按</a:t>
              </a:r>
              <a:r>
                <a:rPr lang="en-US" altLang="zh-CN" sz="2000" dirty="0">
                  <a:solidFill>
                    <a:schemeClr val="bg1"/>
                  </a:solidFill>
                </a:rPr>
                <a:t>a[9]~a[0]</a:t>
              </a:r>
              <a:r>
                <a:rPr lang="zh-CN" altLang="en-US" sz="2000" dirty="0">
                  <a:solidFill>
                    <a:schemeClr val="bg1"/>
                  </a:solidFill>
                </a:rPr>
                <a:t>的顺序输出各元素的值。</a:t>
              </a:r>
              <a:endParaRPr lang="en-US" altLang="zh-CN" sz="2000" b="1" dirty="0">
                <a:solidFill>
                  <a:srgbClr val="FFFF00"/>
                </a:solidFill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E45CC4A1-27E8-4287-9059-516BCC42397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03504" y="2766001"/>
            <a:ext cx="3467100" cy="809625"/>
          </a:xfrm>
          <a:prstGeom prst="rect">
            <a:avLst/>
          </a:prstGeom>
        </p:spPr>
      </p:pic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D974060A-7F05-4C4D-A3EC-0B8381D0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9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763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219200" y="1460818"/>
            <a:ext cx="268160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a array?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438400" y="2616518"/>
            <a:ext cx="7590790" cy="953135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 array is a series of elements of the same type in contiguous memory locations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2438400" y="3781743"/>
            <a:ext cx="7494905" cy="460375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 array is a series of element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438400" y="5446078"/>
            <a:ext cx="389953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None of the mentioned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6" name="圆角矩形 15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2438400" y="456501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An array is a series of elements of the same type placed in non-contiguous memory locations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5C27DC-B614-4F38-A2E3-BF74D1F2A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10</a:t>
            </a:fld>
            <a:r>
              <a:rPr lang="en-US" altLang="zh-CN" dirty="0"/>
              <a:t>/32</a:t>
            </a:r>
            <a:endParaRPr lang="zh-CN" altLang="en-US" dirty="0"/>
          </a:p>
        </p:txBody>
      </p:sp>
      <p:grpSp>
        <p:nvGrpSpPr>
          <p:cNvPr id="8" name="组合 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3" name="图片 2" descr="tmp481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219200" y="1460818"/>
            <a:ext cx="814895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Which of the following correctly declares an array?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438400" y="2861786"/>
            <a:ext cx="217424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array[10];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2438400" y="3719036"/>
            <a:ext cx="156591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array;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438400" y="4576286"/>
            <a:ext cx="166243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array{10};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2438400" y="5433536"/>
            <a:ext cx="255206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 array[10];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8" name="圆角矩形 17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771DB8-F31A-4C3F-9F4B-A0A91F45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11</a:t>
            </a:fld>
            <a:r>
              <a:rPr lang="en-US" altLang="zh-CN" dirty="0"/>
              <a:t>/32</a:t>
            </a:r>
            <a:endParaRPr lang="zh-CN" altLang="en-US" dirty="0"/>
          </a:p>
        </p:txBody>
      </p:sp>
      <p:grpSp>
        <p:nvGrpSpPr>
          <p:cNvPr id="8" name="组合 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3" name="图片 2" descr="tmp481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270000" y="755968"/>
            <a:ext cx="7299325" cy="341503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will be the output of the this program?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#include &lt;stdio.h&gt;
    int main ()
    {
        int array[] = {0, 2, 4, 6, 7, 5, 3};
        int n, result = 0;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for (n = 0 ;n &lt; 7 ;n++) {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result += array[n];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}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printf("%d\n", result);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0;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407920" y="4258786"/>
            <a:ext cx="57023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41145" y="4246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2407920" y="4830286"/>
            <a:ext cx="57023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41145" y="4818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407920" y="5401786"/>
            <a:ext cx="57023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41145" y="538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2407920" y="5973286"/>
            <a:ext cx="389953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None of the mentioned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41145" y="5961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22" name="圆角矩形 21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EF928F-069B-430A-97A1-A5354909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12</a:t>
            </a:fld>
            <a:r>
              <a:rPr lang="en-US" altLang="zh-CN" dirty="0"/>
              <a:t>/32</a:t>
            </a:r>
            <a:endParaRPr lang="zh-CN" altLang="en-US" dirty="0"/>
          </a:p>
        </p:txBody>
      </p:sp>
      <p:grpSp>
        <p:nvGrpSpPr>
          <p:cNvPr id="8" name="组合 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3" name="图片 2" descr="tmp481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数组操作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应用案例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74656" y="1738207"/>
            <a:ext cx="10152668" cy="13160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某市气象局记录了一个月降水数据，例如：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0,3.5,0,0,0,0,0,0,0,0,4.2,0,0,0,0,0,0,0,0,0,7.0,0,0,0,0,0,0,0,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-1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请计算该市一次降水的平均值？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F0ACA6-4812-9271-64F4-C45D1A77E195}"/>
              </a:ext>
            </a:extLst>
          </p:cNvPr>
          <p:cNvSpPr txBox="1"/>
          <p:nvPr/>
        </p:nvSpPr>
        <p:spPr>
          <a:xfrm>
            <a:off x="659876" y="2937109"/>
            <a:ext cx="5232924" cy="372318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/*average rain*/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double data[100];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n=0;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/*</a:t>
            </a:r>
            <a:r>
              <a:rPr lang="zh-CN" altLang="en-US" dirty="0">
                <a:latin typeface="Consolas" panose="020B0609020204030204" pitchFamily="49" charset="0"/>
              </a:rPr>
              <a:t>读入一个数组，以 </a:t>
            </a:r>
            <a:r>
              <a:rPr lang="en-US" altLang="zh-CN" dirty="0">
                <a:latin typeface="Consolas" panose="020B0609020204030204" pitchFamily="49" charset="0"/>
              </a:rPr>
              <a:t>-1 </a:t>
            </a:r>
            <a:r>
              <a:rPr lang="zh-CN" altLang="en-US" dirty="0">
                <a:latin typeface="Consolas" panose="020B0609020204030204" pitchFamily="49" charset="0"/>
              </a:rPr>
              <a:t>作为结束*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do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scanf</a:t>
            </a:r>
            <a:r>
              <a:rPr lang="en-US" altLang="zh-CN" dirty="0">
                <a:latin typeface="Consolas" panose="020B0609020204030204" pitchFamily="49" charset="0"/>
              </a:rPr>
              <a:t>("%</a:t>
            </a:r>
            <a:r>
              <a:rPr lang="en-US" altLang="zh-CN" dirty="0" err="1">
                <a:latin typeface="Consolas" panose="020B0609020204030204" pitchFamily="49" charset="0"/>
              </a:rPr>
              <a:t>lf</a:t>
            </a:r>
            <a:r>
              <a:rPr lang="en-US" altLang="zh-CN" dirty="0">
                <a:latin typeface="Consolas" panose="020B0609020204030204" pitchFamily="49" charset="0"/>
              </a:rPr>
              <a:t>,",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&amp;</a:t>
            </a:r>
            <a:r>
              <a:rPr lang="en-US" altLang="zh-CN" dirty="0">
                <a:latin typeface="Consolas" panose="020B0609020204030204" pitchFamily="49" charset="0"/>
              </a:rPr>
              <a:t>data[n]);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n++;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 while (data[n-1]!=-1);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n--;  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B8747D-3EE2-2242-8566-B4253BFF40D8}"/>
              </a:ext>
            </a:extLst>
          </p:cNvPr>
          <p:cNvSpPr txBox="1"/>
          <p:nvPr/>
        </p:nvSpPr>
        <p:spPr>
          <a:xfrm>
            <a:off x="5984780" y="2937109"/>
            <a:ext cx="5756704" cy="372318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    int </a:t>
            </a:r>
            <a:r>
              <a:rPr lang="en-US" altLang="zh-CN" dirty="0" err="1">
                <a:latin typeface="Consolas" panose="020B0609020204030204" pitchFamily="49" charset="0"/>
              </a:rPr>
              <a:t>raindays</a:t>
            </a:r>
            <a:r>
              <a:rPr lang="en-US" altLang="zh-CN" dirty="0">
                <a:latin typeface="Consolas" panose="020B0609020204030204" pitchFamily="49" charset="0"/>
              </a:rPr>
              <a:t> =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double </a:t>
            </a:r>
            <a:r>
              <a:rPr lang="en-US" altLang="zh-CN" dirty="0" err="1">
                <a:latin typeface="Consolas" panose="020B0609020204030204" pitchFamily="49" charset="0"/>
              </a:rPr>
              <a:t>rain_total</a:t>
            </a:r>
            <a:r>
              <a:rPr lang="en-US" altLang="zh-CN" dirty="0">
                <a:latin typeface="Consolas" panose="020B0609020204030204" pitchFamily="49" charset="0"/>
              </a:rPr>
              <a:t> = 0;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for (int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=0;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&lt;n;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++)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if (data[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 &gt; 1e-7)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    </a:t>
            </a:r>
            <a:r>
              <a:rPr lang="en-US" altLang="zh-CN" dirty="0" err="1">
                <a:latin typeface="Consolas" panose="020B0609020204030204" pitchFamily="49" charset="0"/>
              </a:rPr>
              <a:t>raindays</a:t>
            </a:r>
            <a:r>
              <a:rPr lang="en-US" altLang="zh-CN" dirty="0">
                <a:latin typeface="Consolas" panose="020B0609020204030204" pitchFamily="49" charset="0"/>
              </a:rPr>
              <a:t>++;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    </a:t>
            </a:r>
            <a:r>
              <a:rPr lang="en-US" altLang="zh-CN" dirty="0" err="1">
                <a:latin typeface="Consolas" panose="020B0609020204030204" pitchFamily="49" charset="0"/>
              </a:rPr>
              <a:t>rain_total</a:t>
            </a:r>
            <a:r>
              <a:rPr lang="en-US" altLang="zh-CN" dirty="0">
                <a:latin typeface="Consolas" panose="020B0609020204030204" pitchFamily="49" charset="0"/>
              </a:rPr>
              <a:t> += data[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}}   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if (</a:t>
            </a:r>
            <a:r>
              <a:rPr lang="en-US" altLang="zh-CN" dirty="0" err="1">
                <a:latin typeface="Consolas" panose="020B0609020204030204" pitchFamily="49" charset="0"/>
              </a:rPr>
              <a:t>raindays</a:t>
            </a:r>
            <a:r>
              <a:rPr lang="en-US" altLang="zh-CN" dirty="0">
                <a:latin typeface="Consolas" panose="020B0609020204030204" pitchFamily="49" charset="0"/>
              </a:rPr>
              <a:t>)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</a:t>
            </a:r>
            <a:r>
              <a:rPr lang="en-US" altLang="zh-CN" dirty="0" err="1">
                <a:latin typeface="Consolas" panose="020B0609020204030204" pitchFamily="49" charset="0"/>
              </a:rPr>
              <a:t>Raindays</a:t>
            </a:r>
            <a:r>
              <a:rPr lang="en-US" altLang="zh-CN" dirty="0">
                <a:latin typeface="Consolas" panose="020B0609020204030204" pitchFamily="49" charset="0"/>
              </a:rPr>
              <a:t> %d, average rainfall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%</a:t>
            </a:r>
            <a:r>
              <a:rPr lang="en-US" altLang="zh-CN" dirty="0" err="1">
                <a:latin typeface="Consolas" panose="020B0609020204030204" pitchFamily="49" charset="0"/>
              </a:rPr>
              <a:t>lf</a:t>
            </a:r>
            <a:r>
              <a:rPr lang="en-US" altLang="zh-CN" dirty="0">
                <a:latin typeface="Consolas" panose="020B0609020204030204" pitchFamily="49" charset="0"/>
              </a:rPr>
              <a:t>.\n",</a:t>
            </a:r>
            <a:r>
              <a:rPr lang="en-US" altLang="zh-CN" dirty="0" err="1">
                <a:latin typeface="Consolas" panose="020B0609020204030204" pitchFamily="49" charset="0"/>
              </a:rPr>
              <a:t>raindays,rain_total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latin typeface="Consolas" panose="020B0609020204030204" pitchFamily="49" charset="0"/>
              </a:rPr>
              <a:t>raindays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else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("No rain.\n");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D785DF-82B8-4D2A-BB13-4FF23FD80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13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969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数组常见定义错误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BC0F4C8-E016-45FC-910F-824FFAEBAFA1}"/>
              </a:ext>
            </a:extLst>
          </p:cNvPr>
          <p:cNvSpPr txBox="1"/>
          <p:nvPr/>
        </p:nvSpPr>
        <p:spPr>
          <a:xfrm>
            <a:off x="2126342" y="1583845"/>
            <a:ext cx="8207830" cy="507831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没有声明元素数量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C99</a:t>
            </a:r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可变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长度数组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/VLA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（仅适用自动变量</a:t>
            </a:r>
            <a:r>
              <a:rPr lang="zh-CN" alt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）</a:t>
            </a:r>
          </a:p>
          <a:p>
            <a:b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数组标识符是值（地址），不能作为左值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初始化超长度（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warning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）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不是左值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B82B42-F81B-4BD8-AEE0-71AF2808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14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415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数组常见处理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内容占位符 3">
            <a:extLst>
              <a:ext uri="{FF2B5EF4-FFF2-40B4-BE49-F238E27FC236}">
                <a16:creationId xmlns:a16="http://schemas.microsoft.com/office/drawing/2014/main" id="{FEBCEA18-2916-4BD2-B040-88F45584DF99}"/>
              </a:ext>
            </a:extLst>
          </p:cNvPr>
          <p:cNvSpPr>
            <a:spLocks noGrp="1"/>
          </p:cNvSpPr>
          <p:nvPr/>
        </p:nvSpPr>
        <p:spPr>
          <a:xfrm>
            <a:off x="1402443" y="1866265"/>
            <a:ext cx="9387114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DejaVuSans"/>
              </a:rPr>
              <a:t>需要获得数组的长度</a:t>
            </a:r>
            <a:endParaRPr lang="en-US" altLang="zh-CN" sz="2400" dirty="0">
              <a:solidFill>
                <a:srgbClr val="000000"/>
              </a:solidFill>
              <a:latin typeface="DejaVuSans"/>
            </a:endParaRPr>
          </a:p>
          <a:p>
            <a:pPr marL="457200" lvl="1" indent="0" algn="ctr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#define  LEN_ARRAY(a) (</a:t>
            </a:r>
            <a:r>
              <a:rPr lang="en-US" altLang="zh-CN" sz="2000" dirty="0" err="1">
                <a:solidFill>
                  <a:srgbClr val="000000"/>
                </a:solidFill>
                <a:latin typeface="DejaVuSans"/>
              </a:rPr>
              <a:t>sizeof</a:t>
            </a: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(a) / </a:t>
            </a:r>
            <a:r>
              <a:rPr lang="en-US" altLang="zh-CN" sz="2000" dirty="0" err="1">
                <a:solidFill>
                  <a:srgbClr val="000000"/>
                </a:solidFill>
                <a:latin typeface="DejaVuSans"/>
              </a:rPr>
              <a:t>sizeof</a:t>
            </a: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(a[0]))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 err="1">
                <a:solidFill>
                  <a:srgbClr val="C00000"/>
                </a:solidFill>
                <a:latin typeface="DejaVuSans"/>
              </a:rPr>
              <a:t>sizeof</a:t>
            </a: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(array) </a:t>
            </a:r>
            <a:r>
              <a:rPr lang="zh-CN" altLang="en-US" sz="2000" dirty="0">
                <a:solidFill>
                  <a:srgbClr val="000000"/>
                </a:solidFill>
                <a:latin typeface="DejaVuSans"/>
              </a:rPr>
              <a:t>返回该数组定义的字节（</a:t>
            </a: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bytes</a:t>
            </a:r>
            <a:r>
              <a:rPr lang="zh-CN" altLang="en-US" sz="2000" dirty="0">
                <a:solidFill>
                  <a:srgbClr val="000000"/>
                </a:solidFill>
                <a:latin typeface="DejaVuSans"/>
              </a:rPr>
              <a:t>）数</a:t>
            </a:r>
            <a:endParaRPr lang="en-US" altLang="zh-CN" sz="2000" dirty="0">
              <a:solidFill>
                <a:srgbClr val="000000"/>
              </a:solidFill>
              <a:latin typeface="DejaVuSans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DejaVuSans"/>
              </a:rPr>
              <a:t>类型隐式转换</a:t>
            </a:r>
            <a:endParaRPr lang="en-US" altLang="zh-CN" sz="2400" dirty="0">
              <a:solidFill>
                <a:srgbClr val="000000"/>
              </a:solidFill>
              <a:latin typeface="DejaVuSans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int a[] = {1, 2, 3.14, 4, 5};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DejaVuSans"/>
              </a:rPr>
              <a:t>数组名是地址值（右值），它也是其第一个元素的地址，即</a:t>
            </a:r>
            <a:endParaRPr lang="en-US" altLang="zh-CN" sz="2400" dirty="0">
              <a:solidFill>
                <a:srgbClr val="000000"/>
              </a:solidFill>
              <a:latin typeface="DejaVuSans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a == &amp;(a[0]) 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DejaVuSans"/>
              </a:rPr>
              <a:t>因此， *</a:t>
            </a: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a == </a:t>
            </a:r>
            <a:r>
              <a:rPr lang="zh-CN" altLang="en-US" sz="2000" dirty="0">
                <a:solidFill>
                  <a:srgbClr val="000000"/>
                </a:solidFill>
                <a:latin typeface="DejaVuSans"/>
              </a:rPr>
              <a:t>*</a:t>
            </a: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&amp;(a[0]) == a[0] , </a:t>
            </a:r>
            <a:r>
              <a:rPr lang="zh-CN" altLang="en-US" sz="2000" dirty="0">
                <a:solidFill>
                  <a:srgbClr val="000000"/>
                </a:solidFill>
                <a:latin typeface="DejaVuSans"/>
              </a:rPr>
              <a:t>是左值</a:t>
            </a:r>
            <a:endParaRPr lang="en-US" altLang="zh-CN" sz="2000" dirty="0">
              <a:solidFill>
                <a:srgbClr val="000000"/>
              </a:solidFill>
              <a:latin typeface="DejaVuSans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DejaVuSans"/>
              </a:rPr>
              <a:t>数组元素赋零值</a:t>
            </a:r>
            <a:endParaRPr lang="en-US" altLang="zh-CN" sz="2400" dirty="0">
              <a:solidFill>
                <a:srgbClr val="000000"/>
              </a:solidFill>
              <a:latin typeface="DejaVuSans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dirty="0" err="1">
                <a:solidFill>
                  <a:srgbClr val="000000"/>
                </a:solidFill>
                <a:latin typeface="DejaVuSans"/>
              </a:rPr>
              <a:t>memset</a:t>
            </a: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DejaVuSans"/>
              </a:rPr>
              <a:t>arr</a:t>
            </a: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, 0, </a:t>
            </a:r>
            <a:r>
              <a:rPr lang="en-US" altLang="zh-CN" sz="2000" dirty="0" err="1">
                <a:solidFill>
                  <a:srgbClr val="000000"/>
                </a:solidFill>
                <a:latin typeface="DejaVuSans"/>
              </a:rPr>
              <a:t>sizeof</a:t>
            </a: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DejaVuSans"/>
              </a:rPr>
              <a:t>arr</a:t>
            </a:r>
            <a:r>
              <a:rPr lang="en-US" altLang="zh-CN" sz="2000" dirty="0">
                <a:solidFill>
                  <a:srgbClr val="000000"/>
                </a:solidFill>
                <a:latin typeface="DejaVuSans"/>
              </a:rPr>
              <a:t>));</a:t>
            </a:r>
            <a:endParaRPr lang="en-US" altLang="zh-CN" dirty="0">
              <a:solidFill>
                <a:srgbClr val="000000"/>
              </a:solidFill>
              <a:latin typeface="DejaVuSan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06FADE7-05D5-4BFD-AB35-7DC38D0D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15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350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学论网-矩形 1">
            <a:extLst>
              <a:ext uri="{FF2B5EF4-FFF2-40B4-BE49-F238E27FC236}">
                <a16:creationId xmlns:a16="http://schemas.microsoft.com/office/drawing/2014/main" id="{8F20BF16-7C17-4165-9431-5E737E0D06D9}"/>
              </a:ext>
            </a:extLst>
          </p:cNvPr>
          <p:cNvSpPr/>
          <p:nvPr/>
        </p:nvSpPr>
        <p:spPr>
          <a:xfrm>
            <a:off x="0" y="672782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二维数组简介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973D1B-B1DE-4A00-A894-1873FC222A4D}"/>
              </a:ext>
            </a:extLst>
          </p:cNvPr>
          <p:cNvSpPr txBox="1"/>
          <p:nvPr/>
        </p:nvSpPr>
        <p:spPr>
          <a:xfrm>
            <a:off x="1990726" y="1938338"/>
            <a:ext cx="513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现在有一个</a:t>
            </a:r>
            <a:r>
              <a:rPr lang="en-US" altLang="zh-CN" dirty="0"/>
              <a:t>3*3</a:t>
            </a:r>
            <a:r>
              <a:rPr lang="zh-CN" altLang="en-US" dirty="0"/>
              <a:t>的矩阵，需要保存在计算机当中。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0F2D97-ABDF-4E44-8D9C-51EA8C886589}"/>
              </a:ext>
            </a:extLst>
          </p:cNvPr>
          <p:cNvSpPr txBox="1"/>
          <p:nvPr/>
        </p:nvSpPr>
        <p:spPr>
          <a:xfrm>
            <a:off x="1949232" y="2651325"/>
            <a:ext cx="8032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如果创建一个数组，应当是二维的，第一维代表第几行，第二维代表第几列。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21E818-F094-4DCC-A2A0-B84BBF4A8DA6}"/>
              </a:ext>
            </a:extLst>
          </p:cNvPr>
          <p:cNvSpPr/>
          <p:nvPr/>
        </p:nvSpPr>
        <p:spPr>
          <a:xfrm>
            <a:off x="2069203" y="3719423"/>
            <a:ext cx="4784034" cy="415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zh-CN" altLang="en-US" b="1" dirty="0"/>
              <a:t>类型说明符  数组名</a:t>
            </a:r>
            <a:r>
              <a:rPr lang="en-US" altLang="zh-CN" b="1" dirty="0"/>
              <a:t>[</a:t>
            </a:r>
            <a:r>
              <a:rPr lang="zh-CN" altLang="en-US" b="1" dirty="0">
                <a:solidFill>
                  <a:srgbClr val="FFFF00"/>
                </a:solidFill>
              </a:rPr>
              <a:t>常量表达式</a:t>
            </a:r>
            <a:r>
              <a:rPr lang="en-US" altLang="zh-CN" b="1" dirty="0"/>
              <a:t>][</a:t>
            </a:r>
            <a:r>
              <a:rPr lang="zh-CN" altLang="en-US" b="1" dirty="0">
                <a:solidFill>
                  <a:srgbClr val="FFFF00"/>
                </a:solidFill>
              </a:rPr>
              <a:t>常量表达式</a:t>
            </a:r>
            <a:r>
              <a:rPr lang="en-US" altLang="zh-CN" b="1" dirty="0"/>
              <a:t>]</a:t>
            </a:r>
            <a:endParaRPr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A23F7F-56BA-4D6E-8967-878CD6CD4D98}"/>
              </a:ext>
            </a:extLst>
          </p:cNvPr>
          <p:cNvSpPr/>
          <p:nvPr/>
        </p:nvSpPr>
        <p:spPr>
          <a:xfrm>
            <a:off x="7406500" y="3719423"/>
            <a:ext cx="1909764" cy="4006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int mat[3][3]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C5E107-E46F-46AD-A4D6-952774CAB1BD}"/>
              </a:ext>
            </a:extLst>
          </p:cNvPr>
          <p:cNvSpPr txBox="1"/>
          <p:nvPr/>
        </p:nvSpPr>
        <p:spPr>
          <a:xfrm>
            <a:off x="3522009" y="4633912"/>
            <a:ext cx="4587281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dirty="0"/>
              <a:t>mat</a:t>
            </a:r>
            <a:r>
              <a:rPr lang="en-US" altLang="zh-CN" dirty="0">
                <a:solidFill>
                  <a:schemeClr val="tx1"/>
                </a:solidFill>
              </a:rPr>
              <a:t>[0] —— </a:t>
            </a:r>
            <a:r>
              <a:rPr lang="en-US" altLang="zh-CN" u="sng" dirty="0">
                <a:solidFill>
                  <a:schemeClr val="tx1"/>
                </a:solidFill>
              </a:rPr>
              <a:t>mat[0]</a:t>
            </a:r>
            <a:r>
              <a:rPr lang="en-US" altLang="zh-CN" dirty="0">
                <a:solidFill>
                  <a:schemeClr val="tx1"/>
                </a:solidFill>
              </a:rPr>
              <a:t>[0] </a:t>
            </a:r>
            <a:r>
              <a:rPr lang="en-US" altLang="zh-CN" u="sng" dirty="0">
                <a:solidFill>
                  <a:schemeClr val="tx1"/>
                </a:solidFill>
              </a:rPr>
              <a:t>mat[0]</a:t>
            </a:r>
            <a:r>
              <a:rPr lang="en-US" altLang="zh-CN" dirty="0">
                <a:solidFill>
                  <a:schemeClr val="tx1"/>
                </a:solidFill>
              </a:rPr>
              <a:t>[1] </a:t>
            </a:r>
            <a:r>
              <a:rPr lang="en-US" altLang="zh-CN" u="sng" dirty="0">
                <a:solidFill>
                  <a:schemeClr val="tx1"/>
                </a:solidFill>
              </a:rPr>
              <a:t>mat[0]</a:t>
            </a:r>
            <a:r>
              <a:rPr lang="en-US" altLang="zh-CN" dirty="0">
                <a:solidFill>
                  <a:schemeClr val="tx1"/>
                </a:solidFill>
              </a:rPr>
              <a:t>[2] 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zh-CN" dirty="0"/>
              <a:t>mat</a:t>
            </a:r>
            <a:r>
              <a:rPr lang="en-US" altLang="zh-CN" dirty="0">
                <a:solidFill>
                  <a:schemeClr val="tx1"/>
                </a:solidFill>
              </a:rPr>
              <a:t>[1] —— </a:t>
            </a:r>
            <a:r>
              <a:rPr lang="en-US" altLang="zh-CN" u="sng" dirty="0">
                <a:solidFill>
                  <a:schemeClr val="tx1"/>
                </a:solidFill>
              </a:rPr>
              <a:t>mat[1]</a:t>
            </a:r>
            <a:r>
              <a:rPr lang="en-US" altLang="zh-CN" dirty="0">
                <a:solidFill>
                  <a:schemeClr val="tx1"/>
                </a:solidFill>
              </a:rPr>
              <a:t>[0] </a:t>
            </a:r>
            <a:r>
              <a:rPr lang="en-US" altLang="zh-CN" u="sng" dirty="0">
                <a:solidFill>
                  <a:schemeClr val="tx1"/>
                </a:solidFill>
              </a:rPr>
              <a:t>mat[1]</a:t>
            </a:r>
            <a:r>
              <a:rPr lang="en-US" altLang="zh-CN" dirty="0">
                <a:solidFill>
                  <a:schemeClr val="tx1"/>
                </a:solidFill>
              </a:rPr>
              <a:t>[1] </a:t>
            </a:r>
            <a:r>
              <a:rPr lang="en-US" altLang="zh-CN" u="sng" dirty="0">
                <a:solidFill>
                  <a:schemeClr val="tx1"/>
                </a:solidFill>
              </a:rPr>
              <a:t>mat[1]</a:t>
            </a:r>
            <a:r>
              <a:rPr lang="en-US" altLang="zh-CN" dirty="0">
                <a:solidFill>
                  <a:schemeClr val="tx1"/>
                </a:solidFill>
              </a:rPr>
              <a:t>[2] 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zh-CN" dirty="0"/>
              <a:t>mat</a:t>
            </a:r>
            <a:r>
              <a:rPr lang="en-US" altLang="zh-CN" dirty="0">
                <a:solidFill>
                  <a:schemeClr val="tx1"/>
                </a:solidFill>
              </a:rPr>
              <a:t>[2] —— </a:t>
            </a:r>
            <a:r>
              <a:rPr lang="en-US" altLang="zh-CN" u="sng" dirty="0">
                <a:solidFill>
                  <a:schemeClr val="tx1"/>
                </a:solidFill>
              </a:rPr>
              <a:t>mat[2]</a:t>
            </a:r>
            <a:r>
              <a:rPr lang="en-US" altLang="zh-CN" dirty="0">
                <a:solidFill>
                  <a:schemeClr val="tx1"/>
                </a:solidFill>
              </a:rPr>
              <a:t>[0] </a:t>
            </a:r>
            <a:r>
              <a:rPr lang="en-US" altLang="zh-CN" u="sng" dirty="0">
                <a:solidFill>
                  <a:schemeClr val="tx1"/>
                </a:solidFill>
              </a:rPr>
              <a:t>mat[2]</a:t>
            </a:r>
            <a:r>
              <a:rPr lang="en-US" altLang="zh-CN" dirty="0">
                <a:solidFill>
                  <a:schemeClr val="tx1"/>
                </a:solidFill>
              </a:rPr>
              <a:t>[1] </a:t>
            </a:r>
            <a:r>
              <a:rPr lang="en-US" altLang="zh-CN" u="sng" dirty="0">
                <a:solidFill>
                  <a:schemeClr val="tx1"/>
                </a:solidFill>
              </a:rPr>
              <a:t>mat[2]</a:t>
            </a:r>
            <a:r>
              <a:rPr lang="en-US" altLang="zh-CN" dirty="0">
                <a:solidFill>
                  <a:schemeClr val="tx1"/>
                </a:solidFill>
              </a:rPr>
              <a:t>[2]</a:t>
            </a:r>
          </a:p>
          <a:p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EC8D7D-A7D3-40AF-9BA4-56BDEB6A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16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116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  <p:bldP spid="5" grpId="0"/>
      <p:bldP spid="6" grpId="0" animBg="1"/>
      <p:bldP spid="7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学论网-矩形 1">
            <a:extLst>
              <a:ext uri="{FF2B5EF4-FFF2-40B4-BE49-F238E27FC236}">
                <a16:creationId xmlns:a16="http://schemas.microsoft.com/office/drawing/2014/main" id="{AA4E4A55-0BF0-4B99-A8C5-13CB9471C400}"/>
              </a:ext>
            </a:extLst>
          </p:cNvPr>
          <p:cNvSpPr/>
          <p:nvPr/>
        </p:nvSpPr>
        <p:spPr>
          <a:xfrm>
            <a:off x="0" y="672782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二维数组存储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E1DEF0-EC72-4A72-86A4-D24B6AA76137}"/>
              </a:ext>
            </a:extLst>
          </p:cNvPr>
          <p:cNvSpPr/>
          <p:nvPr/>
        </p:nvSpPr>
        <p:spPr>
          <a:xfrm>
            <a:off x="1924863" y="2057310"/>
            <a:ext cx="1909764" cy="4006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int mat[3][3]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C226C6C-5E48-4247-987F-DBC2CE9DC59C}"/>
              </a:ext>
            </a:extLst>
          </p:cNvPr>
          <p:cNvGrpSpPr/>
          <p:nvPr/>
        </p:nvGrpSpPr>
        <p:grpSpPr>
          <a:xfrm>
            <a:off x="4475276" y="2032548"/>
            <a:ext cx="4122669" cy="1850635"/>
            <a:chOff x="2743115" y="2091652"/>
            <a:chExt cx="4122669" cy="1975946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6C028DC-994E-4B9E-B570-8AD7A5AB590B}"/>
                </a:ext>
              </a:extLst>
            </p:cNvPr>
            <p:cNvSpPr txBox="1"/>
            <p:nvPr/>
          </p:nvSpPr>
          <p:spPr>
            <a:xfrm>
              <a:off x="3190599" y="2091652"/>
              <a:ext cx="3675185" cy="1975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/>
                <a:t>mat</a:t>
              </a:r>
              <a:r>
                <a:rPr lang="en-US" altLang="zh-CN" baseline="-25000" dirty="0"/>
                <a:t>00</a:t>
              </a:r>
              <a:r>
                <a:rPr lang="en-US" altLang="zh-CN" dirty="0"/>
                <a:t>	 mat</a:t>
              </a:r>
              <a:r>
                <a:rPr lang="en-US" altLang="zh-CN" baseline="-25000" dirty="0"/>
                <a:t>01 </a:t>
              </a:r>
              <a:r>
                <a:rPr lang="en-US" altLang="zh-CN" dirty="0"/>
                <a:t>	 mat</a:t>
              </a:r>
              <a:r>
                <a:rPr lang="en-US" altLang="zh-CN" baseline="-25000" dirty="0"/>
                <a:t>02 </a:t>
              </a:r>
              <a:r>
                <a:rPr lang="en-US" altLang="zh-CN" dirty="0"/>
                <a:t>	 </a:t>
              </a:r>
              <a:endParaRPr lang="en-US" altLang="zh-CN" baseline="-25000" dirty="0"/>
            </a:p>
            <a:p>
              <a:pPr>
                <a:lnSpc>
                  <a:spcPct val="150000"/>
                </a:lnSpc>
              </a:pPr>
              <a:endParaRPr lang="en-US" altLang="zh-CN" baseline="-25000" dirty="0"/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mat</a:t>
              </a:r>
              <a:r>
                <a:rPr lang="en-US" altLang="zh-CN" baseline="-25000" dirty="0"/>
                <a:t>10	</a:t>
              </a:r>
              <a:r>
                <a:rPr lang="en-US" altLang="zh-CN" dirty="0"/>
                <a:t> mat</a:t>
              </a:r>
              <a:r>
                <a:rPr lang="en-US" altLang="zh-CN" baseline="-25000" dirty="0"/>
                <a:t>11	</a:t>
              </a:r>
              <a:r>
                <a:rPr lang="en-US" altLang="zh-CN" dirty="0"/>
                <a:t> mat</a:t>
              </a:r>
              <a:r>
                <a:rPr lang="en-US" altLang="zh-CN" baseline="-25000" dirty="0"/>
                <a:t>12	</a:t>
              </a:r>
              <a:r>
                <a:rPr lang="en-US" altLang="zh-CN" dirty="0"/>
                <a:t> </a:t>
              </a:r>
              <a:endParaRPr lang="en-US" altLang="zh-CN" baseline="-25000" dirty="0"/>
            </a:p>
            <a:p>
              <a:pPr>
                <a:lnSpc>
                  <a:spcPct val="150000"/>
                </a:lnSpc>
              </a:pPr>
              <a:endParaRPr lang="en-US" altLang="zh-CN" baseline="-25000" dirty="0"/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mat</a:t>
              </a:r>
              <a:r>
                <a:rPr lang="en-US" altLang="zh-CN" baseline="-25000" dirty="0"/>
                <a:t>20	</a:t>
              </a:r>
              <a:r>
                <a:rPr lang="en-US" altLang="zh-CN" dirty="0"/>
                <a:t> mat</a:t>
              </a:r>
              <a:r>
                <a:rPr lang="en-US" altLang="zh-CN" baseline="-25000" dirty="0"/>
                <a:t>21	</a:t>
              </a:r>
              <a:r>
                <a:rPr lang="en-US" altLang="zh-CN" dirty="0"/>
                <a:t> mat</a:t>
              </a:r>
              <a:r>
                <a:rPr lang="en-US" altLang="zh-CN" baseline="-25000" dirty="0"/>
                <a:t>22	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F88472EB-DC0F-40C6-BF15-F5DE9B786177}"/>
                </a:ext>
              </a:extLst>
            </p:cNvPr>
            <p:cNvCxnSpPr/>
            <p:nvPr/>
          </p:nvCxnSpPr>
          <p:spPr>
            <a:xfrm>
              <a:off x="2743115" y="2179112"/>
              <a:ext cx="9056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DC2303B1-4ACD-4FE1-8937-73F5994B834E}"/>
                </a:ext>
              </a:extLst>
            </p:cNvPr>
            <p:cNvCxnSpPr/>
            <p:nvPr/>
          </p:nvCxnSpPr>
          <p:spPr>
            <a:xfrm>
              <a:off x="3585773" y="2179112"/>
              <a:ext cx="9422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0809FE0-7D4A-40F7-8A82-EFE7480340AB}"/>
                </a:ext>
              </a:extLst>
            </p:cNvPr>
            <p:cNvCxnSpPr>
              <a:cxnSpLocks/>
            </p:cNvCxnSpPr>
            <p:nvPr/>
          </p:nvCxnSpPr>
          <p:spPr>
            <a:xfrm>
              <a:off x="4166066" y="2179112"/>
              <a:ext cx="163128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9DD5CBAC-159D-4FF6-A494-A219381A08D9}"/>
                </a:ext>
              </a:extLst>
            </p:cNvPr>
            <p:cNvGrpSpPr/>
            <p:nvPr/>
          </p:nvGrpSpPr>
          <p:grpSpPr>
            <a:xfrm>
              <a:off x="5509503" y="2170856"/>
              <a:ext cx="574298" cy="403532"/>
              <a:chOff x="5509503" y="2170856"/>
              <a:chExt cx="574298" cy="403532"/>
            </a:xfrm>
          </p:grpSpPr>
          <p:sp>
            <p:nvSpPr>
              <p:cNvPr id="23" name="弧形 22">
                <a:extLst>
                  <a:ext uri="{FF2B5EF4-FFF2-40B4-BE49-F238E27FC236}">
                    <a16:creationId xmlns:a16="http://schemas.microsoft.com/office/drawing/2014/main" id="{DCDA6A0E-6A39-47DE-8A0C-838A55B9158C}"/>
                  </a:ext>
                </a:extLst>
              </p:cNvPr>
              <p:cNvSpPr/>
              <p:nvPr/>
            </p:nvSpPr>
            <p:spPr>
              <a:xfrm>
                <a:off x="5510902" y="2174186"/>
                <a:ext cx="572899" cy="399923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弧形 23">
                <a:extLst>
                  <a:ext uri="{FF2B5EF4-FFF2-40B4-BE49-F238E27FC236}">
                    <a16:creationId xmlns:a16="http://schemas.microsoft.com/office/drawing/2014/main" id="{4B12982F-2F53-43B1-99EB-48D4DD6E8666}"/>
                  </a:ext>
                </a:extLst>
              </p:cNvPr>
              <p:cNvSpPr/>
              <p:nvPr/>
            </p:nvSpPr>
            <p:spPr>
              <a:xfrm flipV="1">
                <a:off x="5509503" y="2170856"/>
                <a:ext cx="572604" cy="403532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A915AE35-1BD6-4D6C-AE46-58B016B4604D}"/>
                </a:ext>
              </a:extLst>
            </p:cNvPr>
            <p:cNvCxnSpPr>
              <a:cxnSpLocks/>
            </p:cNvCxnSpPr>
            <p:nvPr/>
          </p:nvCxnSpPr>
          <p:spPr>
            <a:xfrm>
              <a:off x="3068515" y="2543832"/>
              <a:ext cx="2728837" cy="302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弧形 11">
              <a:extLst>
                <a:ext uri="{FF2B5EF4-FFF2-40B4-BE49-F238E27FC236}">
                  <a16:creationId xmlns:a16="http://schemas.microsoft.com/office/drawing/2014/main" id="{D9E2EF45-9B9F-4247-B29F-4130E7F75F6B}"/>
                </a:ext>
              </a:extLst>
            </p:cNvPr>
            <p:cNvSpPr/>
            <p:nvPr/>
          </p:nvSpPr>
          <p:spPr>
            <a:xfrm flipH="1">
              <a:off x="2743815" y="2543832"/>
              <a:ext cx="649399" cy="388242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弧形 12">
              <a:extLst>
                <a:ext uri="{FF2B5EF4-FFF2-40B4-BE49-F238E27FC236}">
                  <a16:creationId xmlns:a16="http://schemas.microsoft.com/office/drawing/2014/main" id="{DFE636B1-D6E4-4E1E-9BB6-461F1DDF11A9}"/>
                </a:ext>
              </a:extLst>
            </p:cNvPr>
            <p:cNvSpPr/>
            <p:nvPr/>
          </p:nvSpPr>
          <p:spPr>
            <a:xfrm flipH="1" flipV="1">
              <a:off x="2743815" y="2538346"/>
              <a:ext cx="648000" cy="38880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F90B5AC-A172-4DC1-A963-A633E8D375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7815" y="2906929"/>
              <a:ext cx="2862887" cy="202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CCE19F5E-CFBE-4E0D-BAD3-94A34FF197CF}"/>
                </a:ext>
              </a:extLst>
            </p:cNvPr>
            <p:cNvCxnSpPr/>
            <p:nvPr/>
          </p:nvCxnSpPr>
          <p:spPr>
            <a:xfrm>
              <a:off x="3101668" y="2927146"/>
              <a:ext cx="5802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543F9544-3A5F-4083-9218-171ABC611376}"/>
                </a:ext>
              </a:extLst>
            </p:cNvPr>
            <p:cNvGrpSpPr/>
            <p:nvPr/>
          </p:nvGrpSpPr>
          <p:grpSpPr>
            <a:xfrm>
              <a:off x="5628780" y="2904691"/>
              <a:ext cx="574594" cy="393275"/>
              <a:chOff x="5572723" y="2151172"/>
              <a:chExt cx="574594" cy="393275"/>
            </a:xfrm>
          </p:grpSpPr>
          <p:sp>
            <p:nvSpPr>
              <p:cNvPr id="21" name="弧形 20">
                <a:extLst>
                  <a:ext uri="{FF2B5EF4-FFF2-40B4-BE49-F238E27FC236}">
                    <a16:creationId xmlns:a16="http://schemas.microsoft.com/office/drawing/2014/main" id="{2A00F93E-FC63-4738-A0C8-AB903B5C0CF5}"/>
                  </a:ext>
                </a:extLst>
              </p:cNvPr>
              <p:cNvSpPr/>
              <p:nvPr/>
            </p:nvSpPr>
            <p:spPr>
              <a:xfrm>
                <a:off x="5574822" y="2151172"/>
                <a:ext cx="572495" cy="39327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弧形 21">
                <a:extLst>
                  <a:ext uri="{FF2B5EF4-FFF2-40B4-BE49-F238E27FC236}">
                    <a16:creationId xmlns:a16="http://schemas.microsoft.com/office/drawing/2014/main" id="{2CC14F4D-755A-48B0-905C-D91A404063C6}"/>
                  </a:ext>
                </a:extLst>
              </p:cNvPr>
              <p:cNvSpPr/>
              <p:nvPr/>
            </p:nvSpPr>
            <p:spPr>
              <a:xfrm flipV="1">
                <a:off x="5572723" y="2153410"/>
                <a:ext cx="571500" cy="388800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453DB46-E980-4749-B856-5F6693CDD1B6}"/>
                </a:ext>
              </a:extLst>
            </p:cNvPr>
            <p:cNvCxnSpPr>
              <a:cxnSpLocks/>
            </p:cNvCxnSpPr>
            <p:nvPr/>
          </p:nvCxnSpPr>
          <p:spPr>
            <a:xfrm>
              <a:off x="3067815" y="3295171"/>
              <a:ext cx="286288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弧形 17">
              <a:extLst>
                <a:ext uri="{FF2B5EF4-FFF2-40B4-BE49-F238E27FC236}">
                  <a16:creationId xmlns:a16="http://schemas.microsoft.com/office/drawing/2014/main" id="{AB708A57-F414-4541-AF6E-7EA4A56FBC5E}"/>
                </a:ext>
              </a:extLst>
            </p:cNvPr>
            <p:cNvSpPr/>
            <p:nvPr/>
          </p:nvSpPr>
          <p:spPr>
            <a:xfrm flipH="1">
              <a:off x="2743115" y="3295171"/>
              <a:ext cx="649399" cy="388242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弧形 18">
              <a:extLst>
                <a:ext uri="{FF2B5EF4-FFF2-40B4-BE49-F238E27FC236}">
                  <a16:creationId xmlns:a16="http://schemas.microsoft.com/office/drawing/2014/main" id="{F4610975-3A53-4CAA-8501-339ED11D6177}"/>
                </a:ext>
              </a:extLst>
            </p:cNvPr>
            <p:cNvSpPr/>
            <p:nvPr/>
          </p:nvSpPr>
          <p:spPr>
            <a:xfrm flipH="1" flipV="1">
              <a:off x="2743115" y="3289685"/>
              <a:ext cx="648000" cy="38880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3CCAD5E8-E621-4D59-9B40-E9BC8301F7EB}"/>
                </a:ext>
              </a:extLst>
            </p:cNvPr>
            <p:cNvCxnSpPr/>
            <p:nvPr/>
          </p:nvCxnSpPr>
          <p:spPr>
            <a:xfrm>
              <a:off x="3068515" y="3678485"/>
              <a:ext cx="34718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AD85EB8-B299-40FB-BA7B-5DAE61DBD3EF}"/>
              </a:ext>
            </a:extLst>
          </p:cNvPr>
          <p:cNvGrpSpPr/>
          <p:nvPr/>
        </p:nvGrpSpPr>
        <p:grpSpPr>
          <a:xfrm>
            <a:off x="1685656" y="4504586"/>
            <a:ext cx="6128611" cy="1533280"/>
            <a:chOff x="10962684" y="4561549"/>
            <a:chExt cx="4754288" cy="2087910"/>
          </a:xfrm>
        </p:grpSpPr>
        <p:sp>
          <p:nvSpPr>
            <p:cNvPr id="31" name="MH_SubTitle_1">
              <a:extLst>
                <a:ext uri="{FF2B5EF4-FFF2-40B4-BE49-F238E27FC236}">
                  <a16:creationId xmlns:a16="http://schemas.microsoft.com/office/drawing/2014/main" id="{2F56A60A-C1D7-434A-8F7F-AFC5D417CC0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0962684" y="4561549"/>
              <a:ext cx="4754287" cy="2087910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用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矩阵形式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（如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行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列形式）表示二维数组，是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逻辑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上的概念，能形象地表示出行列关系。而在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内存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中，各元素是连续存放的，不是二维的，是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线性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的。</a:t>
              </a:r>
            </a:p>
          </p:txBody>
        </p:sp>
        <p:sp>
          <p:nvSpPr>
            <p:cNvPr id="32" name="MH_Other_2">
              <a:extLst>
                <a:ext uri="{FF2B5EF4-FFF2-40B4-BE49-F238E27FC236}">
                  <a16:creationId xmlns:a16="http://schemas.microsoft.com/office/drawing/2014/main" id="{412D8A20-1EB7-46E7-9B6A-E3099ADD00CF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6200000">
              <a:off x="15415347" y="6053080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6A56404A-8664-44B3-B102-B73832401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682016"/>
              </p:ext>
            </p:extLst>
          </p:nvPr>
        </p:nvGraphicFramePr>
        <p:xfrm>
          <a:off x="8872950" y="2114461"/>
          <a:ext cx="1355911" cy="415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5911">
                  <a:extLst>
                    <a:ext uri="{9D8B030D-6E8A-4147-A177-3AD203B41FA5}">
                      <a16:colId xmlns:a16="http://schemas.microsoft.com/office/drawing/2014/main" val="2282059265"/>
                    </a:ext>
                  </a:extLst>
                </a:gridCol>
              </a:tblGrid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mat[0][0]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34462297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mat[0][1]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16489686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mat[0][2]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53894688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mat[0][3]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83113513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mat[1][0]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14101542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mat[1][1]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38823769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mat[1][2]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07185856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mat[1][3]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89057671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mat[2][0]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88288504"/>
                  </a:ext>
                </a:extLst>
              </a:tr>
              <a:tr h="3074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mat[2][1]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06190726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mat[2][2]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21080838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mat[2][3]</a:t>
                      </a:r>
                      <a:endParaRPr lang="zh-CN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29808904"/>
                  </a:ext>
                </a:extLst>
              </a:tr>
            </a:tbl>
          </a:graphicData>
        </a:graphic>
      </p:graphicFrame>
      <p:sp>
        <p:nvSpPr>
          <p:cNvPr id="34" name="右大括号 33">
            <a:extLst>
              <a:ext uri="{FF2B5EF4-FFF2-40B4-BE49-F238E27FC236}">
                <a16:creationId xmlns:a16="http://schemas.microsoft.com/office/drawing/2014/main" id="{845E1A3E-9B58-4EDA-AEFA-EB262F51792B}"/>
              </a:ext>
            </a:extLst>
          </p:cNvPr>
          <p:cNvSpPr/>
          <p:nvPr/>
        </p:nvSpPr>
        <p:spPr>
          <a:xfrm>
            <a:off x="10210467" y="2114461"/>
            <a:ext cx="185982" cy="1376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右大括号 34">
            <a:extLst>
              <a:ext uri="{FF2B5EF4-FFF2-40B4-BE49-F238E27FC236}">
                <a16:creationId xmlns:a16="http://schemas.microsoft.com/office/drawing/2014/main" id="{AADEA0AF-E872-44F4-853A-15541132B195}"/>
              </a:ext>
            </a:extLst>
          </p:cNvPr>
          <p:cNvSpPr/>
          <p:nvPr/>
        </p:nvSpPr>
        <p:spPr>
          <a:xfrm>
            <a:off x="10233052" y="3490461"/>
            <a:ext cx="185982" cy="1376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右大括号 35">
            <a:extLst>
              <a:ext uri="{FF2B5EF4-FFF2-40B4-BE49-F238E27FC236}">
                <a16:creationId xmlns:a16="http://schemas.microsoft.com/office/drawing/2014/main" id="{9FD90509-EDFD-4B9B-87BC-F08E9BA883D0}"/>
              </a:ext>
            </a:extLst>
          </p:cNvPr>
          <p:cNvSpPr/>
          <p:nvPr/>
        </p:nvSpPr>
        <p:spPr>
          <a:xfrm>
            <a:off x="10233052" y="4889353"/>
            <a:ext cx="185982" cy="1376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54F02C8-727B-4FE3-B986-675B9B3EE42D}"/>
              </a:ext>
            </a:extLst>
          </p:cNvPr>
          <p:cNvSpPr txBox="1"/>
          <p:nvPr/>
        </p:nvSpPr>
        <p:spPr>
          <a:xfrm>
            <a:off x="10340584" y="2651810"/>
            <a:ext cx="22071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0</a:t>
            </a:r>
            <a:r>
              <a:rPr lang="zh-CN" altLang="en-US" dirty="0"/>
              <a:t>行元素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行元素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行元素</a:t>
            </a:r>
          </a:p>
        </p:txBody>
      </p:sp>
      <p:sp>
        <p:nvSpPr>
          <p:cNvPr id="38" name="灯片编号占位符 37">
            <a:extLst>
              <a:ext uri="{FF2B5EF4-FFF2-40B4-BE49-F238E27FC236}">
                <a16:creationId xmlns:a16="http://schemas.microsoft.com/office/drawing/2014/main" id="{FF73CD9F-6C6C-4D26-8046-902F1D6E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17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082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animBg="1"/>
      <p:bldP spid="34" grpId="0" animBg="1"/>
      <p:bldP spid="35" grpId="0" animBg="1"/>
      <p:bldP spid="36" grpId="0" animBg="1"/>
      <p:bldP spid="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学论网-矩形 1">
            <a:extLst>
              <a:ext uri="{FF2B5EF4-FFF2-40B4-BE49-F238E27FC236}">
                <a16:creationId xmlns:a16="http://schemas.microsoft.com/office/drawing/2014/main" id="{563F1392-F1E2-465A-85B5-DCF0844E2898}"/>
              </a:ext>
            </a:extLst>
          </p:cNvPr>
          <p:cNvSpPr/>
          <p:nvPr/>
        </p:nvSpPr>
        <p:spPr>
          <a:xfrm>
            <a:off x="0" y="672782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二维数组的初始化</a:t>
            </a:r>
          </a:p>
        </p:txBody>
      </p:sp>
      <p:sp>
        <p:nvSpPr>
          <p:cNvPr id="5" name="MH_Desc_1">
            <a:extLst>
              <a:ext uri="{FF2B5EF4-FFF2-40B4-BE49-F238E27FC236}">
                <a16:creationId xmlns:a16="http://schemas.microsoft.com/office/drawing/2014/main" id="{7BE96189-D20D-4394-A0F7-3002B28D04C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79272" y="1410018"/>
            <a:ext cx="11062098" cy="521938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(1)</a:t>
            </a:r>
            <a:r>
              <a:rPr lang="zh-CN" altLang="en-US" sz="1600" dirty="0">
                <a:solidFill>
                  <a:schemeClr val="tx1"/>
                </a:solidFill>
              </a:rPr>
              <a:t>分行给二维数组赋初值。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(2)</a:t>
            </a:r>
            <a:r>
              <a:rPr lang="zh-CN" altLang="en-US" sz="1600" dirty="0">
                <a:solidFill>
                  <a:schemeClr val="tx1"/>
                </a:solidFill>
              </a:rPr>
              <a:t>可以将所有数据写在一个花括号内，按数组元素在内存中的排列顺序对各元素赋初值。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(3)</a:t>
            </a:r>
            <a:r>
              <a:rPr lang="zh-CN" altLang="en-US" sz="1600" dirty="0">
                <a:solidFill>
                  <a:schemeClr val="tx1"/>
                </a:solidFill>
              </a:rPr>
              <a:t>可以对部分元素赋初值。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(4)</a:t>
            </a:r>
            <a:r>
              <a:rPr lang="zh-CN" altLang="en-US" sz="1600" dirty="0">
                <a:solidFill>
                  <a:schemeClr val="tx1"/>
                </a:solidFill>
              </a:rPr>
              <a:t>如果对全部元素都赋初值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即提供全部初始数据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1600" dirty="0">
                <a:solidFill>
                  <a:schemeClr val="tx1"/>
                </a:solidFill>
              </a:rPr>
              <a:t>，则定义数组时对</a:t>
            </a:r>
            <a:r>
              <a:rPr lang="zh-CN" altLang="en-US" sz="1600" b="1" dirty="0">
                <a:solidFill>
                  <a:schemeClr val="tx1"/>
                </a:solidFill>
              </a:rPr>
              <a:t>第</a:t>
            </a:r>
            <a:r>
              <a:rPr lang="en-US" altLang="zh-CN" sz="1600" b="1" dirty="0">
                <a:solidFill>
                  <a:schemeClr val="tx1"/>
                </a:solidFill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</a:rPr>
              <a:t>维的长度可以不指定</a:t>
            </a:r>
            <a:r>
              <a:rPr lang="zh-CN" altLang="en-US" sz="1600" dirty="0">
                <a:solidFill>
                  <a:schemeClr val="tx1"/>
                </a:solidFill>
              </a:rPr>
              <a:t>，但第</a:t>
            </a: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r>
              <a:rPr lang="zh-CN" altLang="en-US" sz="1600" dirty="0">
                <a:solidFill>
                  <a:schemeClr val="tx1"/>
                </a:solidFill>
              </a:rPr>
              <a:t>维的长度不能省。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/>
                </a:solidFill>
              </a:rPr>
              <a:t>在定义时也可以只对部分元素赋初值而省略第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en-US" sz="1600" dirty="0">
                <a:solidFill>
                  <a:schemeClr val="tx1"/>
                </a:solidFill>
              </a:rPr>
              <a:t>维的长度，但应分行赋初值。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7" name="圆角矩形 15">
            <a:extLst>
              <a:ext uri="{FF2B5EF4-FFF2-40B4-BE49-F238E27FC236}">
                <a16:creationId xmlns:a16="http://schemas.microsoft.com/office/drawing/2014/main" id="{F36B1BC3-4345-4181-8D8C-716E74EDF67F}"/>
              </a:ext>
            </a:extLst>
          </p:cNvPr>
          <p:cNvSpPr/>
          <p:nvPr/>
        </p:nvSpPr>
        <p:spPr>
          <a:xfrm>
            <a:off x="937956" y="1805782"/>
            <a:ext cx="4210514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/>
              <a:t>int mat[3][4]={{1,2,3,4},{5,6,7,8},{9,10,11,12}};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p:sp>
        <p:nvSpPr>
          <p:cNvPr id="8" name="圆角矩形 16">
            <a:extLst>
              <a:ext uri="{FF2B5EF4-FFF2-40B4-BE49-F238E27FC236}">
                <a16:creationId xmlns:a16="http://schemas.microsoft.com/office/drawing/2014/main" id="{077A1052-E718-43CE-9096-3826481236EC}"/>
              </a:ext>
            </a:extLst>
          </p:cNvPr>
          <p:cNvSpPr/>
          <p:nvPr/>
        </p:nvSpPr>
        <p:spPr>
          <a:xfrm>
            <a:off x="937956" y="2614469"/>
            <a:ext cx="3905090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/>
              <a:t>int mat[3][4]={1,2,3,4,5,6,7,8,9,10,11,12};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p:sp>
        <p:nvSpPr>
          <p:cNvPr id="9" name="圆角矩形 17">
            <a:extLst>
              <a:ext uri="{FF2B5EF4-FFF2-40B4-BE49-F238E27FC236}">
                <a16:creationId xmlns:a16="http://schemas.microsoft.com/office/drawing/2014/main" id="{B461FD54-9453-4B1C-9C25-36D100712C71}"/>
              </a:ext>
            </a:extLst>
          </p:cNvPr>
          <p:cNvSpPr/>
          <p:nvPr/>
        </p:nvSpPr>
        <p:spPr>
          <a:xfrm>
            <a:off x="937954" y="3351340"/>
            <a:ext cx="3905091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/>
              <a:t>int mat[3][4]={{1},{5},{9}};			</a:t>
            </a:r>
            <a:r>
              <a:rPr lang="zh-CN" altLang="en-US" sz="1600" dirty="0"/>
              <a:t>①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p:sp>
        <p:nvSpPr>
          <p:cNvPr id="10" name="圆角矩形 19">
            <a:extLst>
              <a:ext uri="{FF2B5EF4-FFF2-40B4-BE49-F238E27FC236}">
                <a16:creationId xmlns:a16="http://schemas.microsoft.com/office/drawing/2014/main" id="{E6E3ADAA-66FF-4304-A031-B9A510547502}"/>
              </a:ext>
            </a:extLst>
          </p:cNvPr>
          <p:cNvSpPr/>
          <p:nvPr/>
        </p:nvSpPr>
        <p:spPr>
          <a:xfrm>
            <a:off x="937953" y="3828425"/>
            <a:ext cx="3905092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/>
              <a:t>int mat[3][4]={{1},{0,6},{0,0,11}};		</a:t>
            </a:r>
            <a:r>
              <a:rPr lang="zh-CN" altLang="en-US" sz="1600" dirty="0"/>
              <a:t>②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p:sp>
        <p:nvSpPr>
          <p:cNvPr id="11" name="圆角矩形 20">
            <a:extLst>
              <a:ext uri="{FF2B5EF4-FFF2-40B4-BE49-F238E27FC236}">
                <a16:creationId xmlns:a16="http://schemas.microsoft.com/office/drawing/2014/main" id="{E4EB8A32-F425-4D2D-829D-8BFAAE225316}"/>
              </a:ext>
            </a:extLst>
          </p:cNvPr>
          <p:cNvSpPr/>
          <p:nvPr/>
        </p:nvSpPr>
        <p:spPr>
          <a:xfrm>
            <a:off x="937953" y="4305510"/>
            <a:ext cx="3905092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/>
              <a:t>int mat[3][4]={{1},{5,6}};				</a:t>
            </a:r>
            <a:r>
              <a:rPr lang="zh-CN" altLang="en-US" sz="1600" dirty="0"/>
              <a:t>③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7AAFFC-D6CA-441C-93A2-68896B2E5797}"/>
              </a:ext>
            </a:extLst>
          </p:cNvPr>
          <p:cNvSpPr/>
          <p:nvPr/>
        </p:nvSpPr>
        <p:spPr>
          <a:xfrm>
            <a:off x="5026724" y="3375703"/>
            <a:ext cx="1597572" cy="17960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57188">
              <a:lnSpc>
                <a:spcPct val="150000"/>
              </a:lnSpc>
            </a:pPr>
            <a:r>
              <a:rPr lang="zh-CN" altLang="en-US"/>
              <a:t>①</a:t>
            </a:r>
            <a:endParaRPr lang="en-US" altLang="zh-CN"/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1	0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5	0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9	0	0	0</a:t>
            </a: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9B1BB3-AA3F-4B97-8694-9C1EA228AA1B}"/>
              </a:ext>
            </a:extLst>
          </p:cNvPr>
          <p:cNvSpPr/>
          <p:nvPr/>
        </p:nvSpPr>
        <p:spPr>
          <a:xfrm>
            <a:off x="6699082" y="3375703"/>
            <a:ext cx="1597572" cy="17960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57188">
              <a:lnSpc>
                <a:spcPct val="150000"/>
              </a:lnSpc>
            </a:pPr>
            <a:r>
              <a:rPr lang="zh-CN" altLang="en-US"/>
              <a:t>②</a:t>
            </a:r>
            <a:endParaRPr lang="en-US" altLang="zh-CN"/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1	0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0	6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0	0	11	0</a:t>
            </a: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1297A7-AB0A-4806-AD20-9E2EDF8C7166}"/>
              </a:ext>
            </a:extLst>
          </p:cNvPr>
          <p:cNvSpPr/>
          <p:nvPr/>
        </p:nvSpPr>
        <p:spPr>
          <a:xfrm>
            <a:off x="8371440" y="3375703"/>
            <a:ext cx="1597572" cy="17960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57188">
              <a:lnSpc>
                <a:spcPct val="150000"/>
              </a:lnSpc>
            </a:pPr>
            <a:r>
              <a:rPr lang="zh-CN" altLang="en-US"/>
              <a:t>③</a:t>
            </a:r>
            <a:endParaRPr lang="en-US" altLang="zh-CN"/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1	0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5	6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0	0	0	0</a:t>
            </a:r>
            <a:endParaRPr lang="zh-CN" altLang="en-US"/>
          </a:p>
        </p:txBody>
      </p:sp>
      <p:sp>
        <p:nvSpPr>
          <p:cNvPr id="15" name="圆角矩形 22">
            <a:extLst>
              <a:ext uri="{FF2B5EF4-FFF2-40B4-BE49-F238E27FC236}">
                <a16:creationId xmlns:a16="http://schemas.microsoft.com/office/drawing/2014/main" id="{1C43852B-C538-4D2B-9BE2-78671DFE1AAF}"/>
              </a:ext>
            </a:extLst>
          </p:cNvPr>
          <p:cNvSpPr/>
          <p:nvPr/>
        </p:nvSpPr>
        <p:spPr>
          <a:xfrm>
            <a:off x="937953" y="4782596"/>
            <a:ext cx="3905092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/>
              <a:t>int mat[3][4]={{1},{},{9}};				</a:t>
            </a:r>
            <a:r>
              <a:rPr lang="zh-CN" altLang="en-US" sz="1600" dirty="0"/>
              <a:t>④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B764D4-05F7-401A-AB57-06F23C2090C9}"/>
              </a:ext>
            </a:extLst>
          </p:cNvPr>
          <p:cNvSpPr/>
          <p:nvPr/>
        </p:nvSpPr>
        <p:spPr>
          <a:xfrm>
            <a:off x="10043798" y="3375703"/>
            <a:ext cx="1597572" cy="17960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57188">
              <a:lnSpc>
                <a:spcPct val="150000"/>
              </a:lnSpc>
            </a:pPr>
            <a:r>
              <a:rPr lang="zh-CN" altLang="en-US"/>
              <a:t>④</a:t>
            </a:r>
            <a:endParaRPr lang="en-US" altLang="zh-CN"/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1	0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0	0	0	0</a:t>
            </a:r>
          </a:p>
          <a:p>
            <a:pPr algn="ctr" defTabSz="357188">
              <a:lnSpc>
                <a:spcPct val="150000"/>
              </a:lnSpc>
            </a:pPr>
            <a:r>
              <a:rPr lang="en-US" altLang="zh-CN"/>
              <a:t>9	0	0	0</a:t>
            </a:r>
            <a:endParaRPr lang="zh-CN" altLang="en-US"/>
          </a:p>
        </p:txBody>
      </p:sp>
      <p:sp>
        <p:nvSpPr>
          <p:cNvPr id="17" name="圆角矩形 21">
            <a:extLst>
              <a:ext uri="{FF2B5EF4-FFF2-40B4-BE49-F238E27FC236}">
                <a16:creationId xmlns:a16="http://schemas.microsoft.com/office/drawing/2014/main" id="{9EB893B8-C2A8-4AB2-8D3D-3157EC64AD24}"/>
              </a:ext>
            </a:extLst>
          </p:cNvPr>
          <p:cNvSpPr/>
          <p:nvPr/>
        </p:nvSpPr>
        <p:spPr>
          <a:xfrm>
            <a:off x="937955" y="5511434"/>
            <a:ext cx="3905090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/>
              <a:t>int mat[3][4]={1,2,3,4,5,6,7,8,9,10,11,12};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2E08296-8058-4738-810D-B4D8DB48118F}"/>
                  </a:ext>
                </a:extLst>
              </p:cNvPr>
              <p:cNvSpPr txBox="1"/>
              <p:nvPr/>
            </p:nvSpPr>
            <p:spPr>
              <a:xfrm>
                <a:off x="4569572" y="5444387"/>
                <a:ext cx="1089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zh-CN" altLang="en-US" sz="2800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2E08296-8058-4738-810D-B4D8DB481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572" y="5444387"/>
                <a:ext cx="108937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圆角矩形 24">
            <a:extLst>
              <a:ext uri="{FF2B5EF4-FFF2-40B4-BE49-F238E27FC236}">
                <a16:creationId xmlns:a16="http://schemas.microsoft.com/office/drawing/2014/main" id="{E9EB6AED-9940-4BDB-8C9B-DD976E076DED}"/>
              </a:ext>
            </a:extLst>
          </p:cNvPr>
          <p:cNvSpPr/>
          <p:nvPr/>
        </p:nvSpPr>
        <p:spPr>
          <a:xfrm>
            <a:off x="5385470" y="5511434"/>
            <a:ext cx="3905090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/>
              <a:t>int mat[][4]={1,2,3,4,5,6,7,8,9,10,11,12};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p:sp>
        <p:nvSpPr>
          <p:cNvPr id="20" name="圆角矩形 25">
            <a:extLst>
              <a:ext uri="{FF2B5EF4-FFF2-40B4-BE49-F238E27FC236}">
                <a16:creationId xmlns:a16="http://schemas.microsoft.com/office/drawing/2014/main" id="{1D284C82-6C36-4DFB-911E-5AE1D750E7AC}"/>
              </a:ext>
            </a:extLst>
          </p:cNvPr>
          <p:cNvSpPr/>
          <p:nvPr/>
        </p:nvSpPr>
        <p:spPr>
          <a:xfrm>
            <a:off x="937953" y="6215565"/>
            <a:ext cx="3905090" cy="389127"/>
          </a:xfrm>
          <a:prstGeom prst="roundRect">
            <a:avLst>
              <a:gd name="adj" fmla="val 1071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/>
              <a:t>int mat[][4]={{0,0,3},{},{0,10}};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735801-344B-4B88-934D-4048EA1B1D5F}"/>
              </a:ext>
            </a:extLst>
          </p:cNvPr>
          <p:cNvSpPr txBox="1"/>
          <p:nvPr/>
        </p:nvSpPr>
        <p:spPr>
          <a:xfrm>
            <a:off x="5968447" y="2788182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对于多维数组，除第一维外其他维的长度均不可省略</a:t>
            </a: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693C6F48-A4FE-4DAC-BC83-4BAF1072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18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014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 animBg="1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fld id="{A8537B7A-7510-410A-AA53-45D600DA0276}" type="slidenum">
              <a:rPr lang="zh-CN" altLang="en-US" smtClean="0"/>
              <a:t>19</a:t>
            </a:fld>
            <a:r>
              <a:rPr lang="en-US" altLang="zh-CN" dirty="0"/>
              <a:t>/32</a:t>
            </a:r>
            <a:endParaRPr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427480" y="648335"/>
            <a:ext cx="7831455" cy="363093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the output of this C code?    #include &lt;stdio.h&gt;
    void main()
    {
        int a[2][3] = {1, 2, 3, 4, 5};
        int i = 0, j = 0;
        for (i = 0; i &lt; 2; i++)
        </a:t>
            </a:r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(j = 0; j &lt; 3; j++)
        </a:t>
            </a:r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printf("%d", a[</a:t>
            </a:r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]);
    }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499360" y="4243546"/>
            <a:ext cx="2741596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1 2 3 4 5 0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4256802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2438400" y="4856956"/>
            <a:ext cx="3399322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2 3 4 5 junk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84505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438399" y="5470366"/>
            <a:ext cx="287474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1 2 3 4 5 5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545846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2438400" y="6083776"/>
            <a:ext cx="247904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 time error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607187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8" name="圆角矩形 17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8" name="组合 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3" name="图片 2" descr="tmp44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fld id="{A8537B7A-7510-410A-AA53-45D600DA0276}" type="slidenum">
              <a:rPr lang="zh-CN" altLang="en-US" smtClean="0"/>
              <a:t>20</a:t>
            </a:fld>
            <a:r>
              <a:rPr lang="en-US" altLang="zh-CN" dirty="0"/>
              <a:t>/32</a:t>
            </a:r>
            <a:endParaRPr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219200" y="664210"/>
            <a:ext cx="5708015" cy="3476625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the output of this C code?    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&lt;stdio.h&gt;
    void f(int a[][3]) {
        a[0][1] = 3;
        int i = 0, j = 0;
        for (i = 0; i &lt; 2; i++)
        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(j = 0; j &lt; 3; j++)
        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printf("%d", a[][]);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
    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main(){
       int a[2][3] = {0};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f(a);    }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511424" y="4340701"/>
            <a:ext cx="2912411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0 3 0 0 0 0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644650" y="432879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644650" y="492315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511424" y="4934426"/>
            <a:ext cx="535241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Junk 3 junk junk junk junk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644650" y="551751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511425" y="5528151"/>
            <a:ext cx="317119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Compile time error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644650" y="611187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2511425" y="6121876"/>
            <a:ext cx="244030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 junk values</a:t>
            </a:r>
          </a:p>
        </p:txBody>
      </p:sp>
      <p:sp>
        <p:nvSpPr>
          <p:cNvPr id="20" name="圆角矩形 19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8" name="组合 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3" name="图片 2" descr="tmp44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学论网-矩形 1">
            <a:extLst>
              <a:ext uri="{FF2B5EF4-FFF2-40B4-BE49-F238E27FC236}">
                <a16:creationId xmlns:a16="http://schemas.microsoft.com/office/drawing/2014/main" id="{0A072875-11A8-4711-AC0D-F8369B7FAED6}"/>
              </a:ext>
            </a:extLst>
          </p:cNvPr>
          <p:cNvSpPr/>
          <p:nvPr/>
        </p:nvSpPr>
        <p:spPr>
          <a:xfrm>
            <a:off x="0" y="672782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数组与函数</a:t>
            </a:r>
          </a:p>
        </p:txBody>
      </p:sp>
      <p:sp>
        <p:nvSpPr>
          <p:cNvPr id="4" name="圆角矩形 36">
            <a:extLst>
              <a:ext uri="{FF2B5EF4-FFF2-40B4-BE49-F238E27FC236}">
                <a16:creationId xmlns:a16="http://schemas.microsoft.com/office/drawing/2014/main" id="{562A8C90-5513-4BF9-BDD6-A065EE541DB6}"/>
              </a:ext>
            </a:extLst>
          </p:cNvPr>
          <p:cNvSpPr/>
          <p:nvPr/>
        </p:nvSpPr>
        <p:spPr>
          <a:xfrm>
            <a:off x="789061" y="1486783"/>
            <a:ext cx="10515043" cy="444752"/>
          </a:xfrm>
          <a:prstGeom prst="roundRect">
            <a:avLst>
              <a:gd name="adj" fmla="val 562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zh-CN" altLang="en-US" sz="1600" dirty="0"/>
              <a:t>如何将数组作为参数传入某个函数？</a:t>
            </a:r>
            <a:endParaRPr lang="en-US" altLang="zh-CN" sz="160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圆角矩形 12">
            <a:extLst>
              <a:ext uri="{FF2B5EF4-FFF2-40B4-BE49-F238E27FC236}">
                <a16:creationId xmlns:a16="http://schemas.microsoft.com/office/drawing/2014/main" id="{17ED6DFD-A283-4F93-B4F9-1DB5A71ED73D}"/>
              </a:ext>
            </a:extLst>
          </p:cNvPr>
          <p:cNvSpPr/>
          <p:nvPr/>
        </p:nvSpPr>
        <p:spPr>
          <a:xfrm>
            <a:off x="789061" y="2084416"/>
            <a:ext cx="5803626" cy="4378918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/*vector add*/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#define  LEN_ARR(a) (</a:t>
            </a:r>
            <a:r>
              <a:rPr lang="en-US" altLang="zh-CN" sz="1200" dirty="0" err="1">
                <a:latin typeface="Consolas" panose="020B0609020204030204" pitchFamily="49" charset="0"/>
              </a:rPr>
              <a:t>sizeof</a:t>
            </a:r>
            <a:r>
              <a:rPr lang="en-US" altLang="zh-CN" sz="1200" dirty="0">
                <a:latin typeface="Consolas" panose="020B0609020204030204" pitchFamily="49" charset="0"/>
              </a:rPr>
              <a:t>(a) / </a:t>
            </a:r>
            <a:r>
              <a:rPr lang="en-US" altLang="zh-CN" sz="1200" dirty="0" err="1">
                <a:latin typeface="Consolas" panose="020B0609020204030204" pitchFamily="49" charset="0"/>
              </a:rPr>
              <a:t>sizeof</a:t>
            </a:r>
            <a:r>
              <a:rPr lang="en-US" altLang="zh-CN" sz="1200" dirty="0">
                <a:latin typeface="Consolas" panose="020B0609020204030204" pitchFamily="49" charset="0"/>
              </a:rPr>
              <a:t>(a[0]))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void </a:t>
            </a:r>
            <a:r>
              <a:rPr lang="en-US" altLang="zh-CN" sz="1200" dirty="0" err="1">
                <a:latin typeface="Consolas" panose="020B0609020204030204" pitchFamily="49" charset="0"/>
              </a:rPr>
              <a:t>vadd</a:t>
            </a:r>
            <a:r>
              <a:rPr lang="en-US" altLang="zh-CN" sz="1200" dirty="0">
                <a:latin typeface="Consolas" panose="020B0609020204030204" pitchFamily="49" charset="0"/>
              </a:rPr>
              <a:t>(int a[const], const int b[], const </a:t>
            </a:r>
            <a:r>
              <a:rPr lang="en-US" altLang="zh-CN" sz="1200" b="1" dirty="0" err="1">
                <a:latin typeface="Consolas" panose="020B0609020204030204" pitchFamily="49" charset="0"/>
              </a:rPr>
              <a:t>size_t</a:t>
            </a:r>
            <a:r>
              <a:rPr lang="en-US" altLang="zh-CN" sz="1200" b="1" dirty="0"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</a:rPr>
              <a:t>sz</a:t>
            </a:r>
            <a:r>
              <a:rPr lang="en-US" altLang="zh-CN" sz="1200" dirty="0">
                <a:latin typeface="Consolas" panose="020B0609020204030204" pitchFamily="49" charset="0"/>
              </a:rPr>
              <a:t>);</a:t>
            </a:r>
          </a:p>
          <a:p>
            <a:pPr defTabSz="363538">
              <a:lnSpc>
                <a:spcPct val="120000"/>
              </a:lnSpc>
            </a:pPr>
            <a:endParaRPr lang="en-US" altLang="zh-CN" sz="1200" dirty="0">
              <a:latin typeface="Consolas" panose="020B0609020204030204" pitchFamily="49" charset="0"/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int main(){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    int a[9] = {1,2,3,4,5,6,7,8,9};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    </a:t>
            </a:r>
            <a:r>
              <a:rPr lang="en-US" altLang="zh-CN" sz="1200" dirty="0" err="1">
                <a:latin typeface="Consolas" panose="020B0609020204030204" pitchFamily="49" charset="0"/>
              </a:rPr>
              <a:t>vadd</a:t>
            </a:r>
            <a:r>
              <a:rPr lang="en-US" altLang="zh-CN" sz="1200" dirty="0">
                <a:latin typeface="Consolas" panose="020B0609020204030204" pitchFamily="49" charset="0"/>
              </a:rPr>
              <a:t>(</a:t>
            </a:r>
            <a:r>
              <a:rPr lang="en-US" altLang="zh-CN" sz="1200" dirty="0" err="1">
                <a:latin typeface="Consolas" panose="020B0609020204030204" pitchFamily="49" charset="0"/>
              </a:rPr>
              <a:t>a,a,LEN_ARR</a:t>
            </a:r>
            <a:r>
              <a:rPr lang="en-US" altLang="zh-CN" sz="1200" dirty="0">
                <a:latin typeface="Consolas" panose="020B0609020204030204" pitchFamily="49" charset="0"/>
              </a:rPr>
              <a:t>(a));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    for (int 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=0;i&lt;LEN_ARR(a);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        </a:t>
            </a:r>
            <a:r>
              <a:rPr lang="en-US" altLang="zh-CN" sz="1200" dirty="0" err="1">
                <a:latin typeface="Consolas" panose="020B0609020204030204" pitchFamily="49" charset="0"/>
              </a:rPr>
              <a:t>printf</a:t>
            </a:r>
            <a:r>
              <a:rPr lang="en-US" altLang="zh-CN" sz="1200" dirty="0">
                <a:latin typeface="Consolas" panose="020B0609020204030204" pitchFamily="49" charset="0"/>
              </a:rPr>
              <a:t>("%</a:t>
            </a:r>
            <a:r>
              <a:rPr lang="en-US" altLang="zh-CN" sz="1200" dirty="0" err="1">
                <a:latin typeface="Consolas" panose="020B0609020204030204" pitchFamily="49" charset="0"/>
              </a:rPr>
              <a:t>d,",a</a:t>
            </a:r>
            <a:r>
              <a:rPr lang="en-US" altLang="zh-CN" sz="1200" dirty="0">
                <a:latin typeface="Consolas" panose="020B0609020204030204" pitchFamily="49" charset="0"/>
              </a:rPr>
              <a:t>[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]);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    </a:t>
            </a:r>
            <a:r>
              <a:rPr lang="en-US" altLang="zh-CN" sz="1200" dirty="0" err="1">
                <a:latin typeface="Consolas" panose="020B0609020204030204" pitchFamily="49" charset="0"/>
              </a:rPr>
              <a:t>printf</a:t>
            </a:r>
            <a:r>
              <a:rPr lang="en-US" altLang="zh-CN" sz="1200" dirty="0">
                <a:latin typeface="Consolas" panose="020B0609020204030204" pitchFamily="49" charset="0"/>
              </a:rPr>
              <a:t>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}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void </a:t>
            </a:r>
            <a:r>
              <a:rPr lang="en-US" altLang="zh-CN" sz="1200" dirty="0" err="1">
                <a:latin typeface="Consolas" panose="020B0609020204030204" pitchFamily="49" charset="0"/>
              </a:rPr>
              <a:t>vadd</a:t>
            </a:r>
            <a:r>
              <a:rPr lang="en-US" altLang="zh-CN" sz="1200" dirty="0">
                <a:latin typeface="Consolas" panose="020B0609020204030204" pitchFamily="49" charset="0"/>
              </a:rPr>
              <a:t>(int a[const], const int b[], const </a:t>
            </a:r>
            <a:r>
              <a:rPr lang="en-US" altLang="zh-CN" sz="1200" dirty="0" err="1">
                <a:latin typeface="Consolas" panose="020B0609020204030204" pitchFamily="49" charset="0"/>
              </a:rPr>
              <a:t>size_t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</a:rPr>
              <a:t>sz</a:t>
            </a:r>
            <a:r>
              <a:rPr lang="en-US" altLang="zh-CN" sz="1200" dirty="0">
                <a:latin typeface="Consolas" panose="020B0609020204030204" pitchFamily="49" charset="0"/>
              </a:rPr>
              <a:t>){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    for (int 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=0;i&lt;</a:t>
            </a:r>
            <a:r>
              <a:rPr lang="en-US" altLang="zh-CN" sz="1200" dirty="0" err="1">
                <a:latin typeface="Consolas" panose="020B0609020204030204" pitchFamily="49" charset="0"/>
              </a:rPr>
              <a:t>sz;i</a:t>
            </a:r>
            <a:r>
              <a:rPr lang="en-US" altLang="zh-CN" sz="1200" dirty="0">
                <a:latin typeface="Consolas" panose="020B0609020204030204" pitchFamily="49" charset="0"/>
              </a:rPr>
              <a:t>++) 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        a[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] += b[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];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//        a++; //increment of read-only parameter 'a'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//        b[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] = 1;  //assignment of read-only location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    }       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200" dirty="0">
                <a:latin typeface="Consolas" panose="020B0609020204030204" pitchFamily="49" charset="0"/>
              </a:rPr>
              <a:t>}</a:t>
            </a:r>
            <a:endParaRPr lang="en-US" altLang="zh-CN" sz="12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4A52C1-7C07-4951-8B3D-981F7B89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21</a:t>
            </a:fld>
            <a:r>
              <a:rPr lang="en-US" altLang="zh-CN" dirty="0"/>
              <a:t>/32</a:t>
            </a:r>
            <a:endParaRPr lang="zh-CN" altLang="en-US" dirty="0"/>
          </a:p>
        </p:txBody>
      </p:sp>
      <p:sp>
        <p:nvSpPr>
          <p:cNvPr id="2" name="圆角矩形 12">
            <a:extLst>
              <a:ext uri="{FF2B5EF4-FFF2-40B4-BE49-F238E27FC236}">
                <a16:creationId xmlns:a16="http://schemas.microsoft.com/office/drawing/2014/main" id="{E9050612-940B-8D96-198C-B0F60CD4B0C5}"/>
              </a:ext>
            </a:extLst>
          </p:cNvPr>
          <p:cNvSpPr/>
          <p:nvPr/>
        </p:nvSpPr>
        <p:spPr>
          <a:xfrm>
            <a:off x="6726264" y="2084416"/>
            <a:ext cx="4711417" cy="4378918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要点：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数组形参是一个变量，可保存数组的地址，用不定长数组表示，如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b[]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。如果形参定义为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b[10],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则编译忽略数组长度。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在函数申明中应用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36353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a[const]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表示形参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不可修改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36353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Consolas" panose="020B0609020204030204" pitchFamily="49" charset="0"/>
              </a:rPr>
              <a:t>const int b[] </a:t>
            </a:r>
            <a:r>
              <a:rPr lang="zh-CN" altLang="en-US" dirty="0">
                <a:latin typeface="Consolas" panose="020B0609020204030204" pitchFamily="49" charset="0"/>
              </a:rPr>
              <a:t>表示</a:t>
            </a:r>
            <a:r>
              <a:rPr lang="en-US" altLang="zh-CN" dirty="0">
                <a:latin typeface="Consolas" panose="020B0609020204030204" pitchFamily="49" charset="0"/>
              </a:rPr>
              <a:t>b</a:t>
            </a:r>
            <a:r>
              <a:rPr lang="zh-CN" altLang="en-US" dirty="0">
                <a:latin typeface="Consolas" panose="020B0609020204030204" pitchFamily="49" charset="0"/>
              </a:rPr>
              <a:t>的元素不可修改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342900" indent="-342900" defTabSz="36353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Consolas" panose="020B0609020204030204" pitchFamily="49" charset="0"/>
              </a:rPr>
              <a:t>const </a:t>
            </a:r>
            <a:r>
              <a:rPr lang="en-US" altLang="zh-CN" b="1" dirty="0" err="1">
                <a:latin typeface="Consolas" panose="020B0609020204030204" pitchFamily="49" charset="0"/>
              </a:rPr>
              <a:t>size_t</a:t>
            </a:r>
            <a:r>
              <a:rPr lang="en-US" altLang="zh-CN" b="1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sz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</a:rPr>
              <a:t>表示</a:t>
            </a:r>
            <a:r>
              <a:rPr lang="en-US" altLang="zh-CN" dirty="0" err="1">
                <a:latin typeface="Consolas" panose="020B0609020204030204" pitchFamily="49" charset="0"/>
              </a:rPr>
              <a:t>sz</a:t>
            </a:r>
            <a:r>
              <a:rPr lang="zh-CN" altLang="en-US" dirty="0">
                <a:latin typeface="Consolas" panose="020B0609020204030204" pitchFamily="49" charset="0"/>
              </a:rPr>
              <a:t>不可修改</a:t>
            </a:r>
            <a:endParaRPr lang="en-US" altLang="zh-CN" dirty="0">
              <a:latin typeface="Consolas" panose="020B0609020204030204" pitchFamily="49" charset="0"/>
            </a:endParaRPr>
          </a:p>
          <a:p>
            <a:pPr defTabSz="363538">
              <a:lnSpc>
                <a:spcPct val="120000"/>
              </a:lnSpc>
            </a:pPr>
            <a:r>
              <a:rPr lang="zh-CN" altLang="zh-CN" sz="2000" dirty="0">
                <a:latin typeface="Consolas" panose="020B0609020204030204" pitchFamily="49" charset="0"/>
              </a:rPr>
              <a:t>③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</a:rPr>
              <a:t>函数中无法获得数组的长度，通常会将数组长度作为参数传给函数，类型是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</a:p>
          <a:p>
            <a:pPr defTabSz="363538">
              <a:lnSpc>
                <a:spcPct val="120000"/>
              </a:lnSpc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63538">
              <a:lnSpc>
                <a:spcPct val="120000"/>
              </a:lnSpc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005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animBg="1"/>
      <p:bldP spid="5" grpId="0" animBg="1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学论网-矩形 1">
            <a:extLst>
              <a:ext uri="{FF2B5EF4-FFF2-40B4-BE49-F238E27FC236}">
                <a16:creationId xmlns:a16="http://schemas.microsoft.com/office/drawing/2014/main" id="{65724C9C-3229-4F70-9F68-89CED51882C3}"/>
              </a:ext>
            </a:extLst>
          </p:cNvPr>
          <p:cNvSpPr/>
          <p:nvPr/>
        </p:nvSpPr>
        <p:spPr>
          <a:xfrm>
            <a:off x="0" y="672782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数组与函数</a:t>
            </a:r>
          </a:p>
        </p:txBody>
      </p:sp>
      <p:sp>
        <p:nvSpPr>
          <p:cNvPr id="4" name="圆角矩形 36">
            <a:extLst>
              <a:ext uri="{FF2B5EF4-FFF2-40B4-BE49-F238E27FC236}">
                <a16:creationId xmlns:a16="http://schemas.microsoft.com/office/drawing/2014/main" id="{CE62B693-52BB-4AF2-866C-CD7977CD9B72}"/>
              </a:ext>
            </a:extLst>
          </p:cNvPr>
          <p:cNvSpPr/>
          <p:nvPr/>
        </p:nvSpPr>
        <p:spPr>
          <a:xfrm>
            <a:off x="789061" y="1486783"/>
            <a:ext cx="10515043" cy="444752"/>
          </a:xfrm>
          <a:prstGeom prst="roundRect">
            <a:avLst>
              <a:gd name="adj" fmla="val 562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zh-CN" altLang="en-US" sz="1600" dirty="0"/>
              <a:t>如何将多维数组作为参数传入某个函数？</a:t>
            </a:r>
            <a:endParaRPr lang="en-US" altLang="zh-CN" sz="160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圆角矩形 12">
            <a:extLst>
              <a:ext uri="{FF2B5EF4-FFF2-40B4-BE49-F238E27FC236}">
                <a16:creationId xmlns:a16="http://schemas.microsoft.com/office/drawing/2014/main" id="{4C94AD14-DFD3-4943-B0F1-D5940E558C39}"/>
              </a:ext>
            </a:extLst>
          </p:cNvPr>
          <p:cNvSpPr/>
          <p:nvPr/>
        </p:nvSpPr>
        <p:spPr>
          <a:xfrm>
            <a:off x="789062" y="2008301"/>
            <a:ext cx="5525242" cy="4665109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/*matrix add*/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… …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void </a:t>
            </a:r>
            <a:r>
              <a:rPr lang="en-US" altLang="zh-CN" sz="1400" dirty="0" err="1">
                <a:latin typeface="Consolas" panose="020B0609020204030204" pitchFamily="49" charset="0"/>
              </a:rPr>
              <a:t>matrix_add</a:t>
            </a:r>
            <a:r>
              <a:rPr lang="en-US" altLang="zh-CN" sz="1400" dirty="0">
                <a:latin typeface="Consolas" panose="020B0609020204030204" pitchFamily="49" charset="0"/>
              </a:rPr>
              <a:t>(int a[][3], int b[][3], </a:t>
            </a:r>
            <a:r>
              <a:rPr lang="en-US" altLang="zh-CN" sz="1400" dirty="0" err="1">
                <a:latin typeface="Consolas" panose="020B0609020204030204" pitchFamily="49" charset="0"/>
              </a:rPr>
              <a:t>size_t</a:t>
            </a:r>
            <a:r>
              <a:rPr lang="en-US" altLang="zh-CN" sz="1400" dirty="0">
                <a:latin typeface="Consolas" panose="020B0609020204030204" pitchFamily="49" charset="0"/>
              </a:rPr>
              <a:t> m);</a:t>
            </a:r>
          </a:p>
          <a:p>
            <a:pPr defTabSz="363538">
              <a:lnSpc>
                <a:spcPct val="120000"/>
              </a:lnSpc>
            </a:pPr>
            <a:endParaRPr lang="en-US" altLang="zh-CN" sz="1400" dirty="0">
              <a:latin typeface="Consolas" panose="020B0609020204030204" pitchFamily="49" charset="0"/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int main(){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int a[3][3] = {1,2,3,4,5,6,7,8,9};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</a:rPr>
              <a:t>matrix_add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a,a,LEN_ARR</a:t>
            </a:r>
            <a:r>
              <a:rPr lang="en-US" altLang="zh-CN" sz="1400" dirty="0">
                <a:latin typeface="Consolas" panose="020B0609020204030204" pitchFamily="49" charset="0"/>
              </a:rPr>
              <a:t>(a));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for (int </a:t>
            </a:r>
            <a:r>
              <a:rPr lang="en-US" altLang="zh-CN" sz="1400" dirty="0" err="1"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</a:rPr>
              <a:t>=0;i&lt;LEN_ARR(a);</a:t>
            </a:r>
            <a:r>
              <a:rPr lang="en-US" altLang="zh-CN" sz="1400" dirty="0" err="1"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</a:rPr>
              <a:t>++) 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for (int j=0;j&lt;LEN_ARR(a[</a:t>
            </a:r>
            <a:r>
              <a:rPr lang="en-US" altLang="zh-CN" sz="1400" dirty="0" err="1"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</a:rPr>
              <a:t>]);</a:t>
            </a:r>
            <a:r>
              <a:rPr lang="en-US" altLang="zh-CN" sz="1400" dirty="0" err="1">
                <a:latin typeface="Consolas" panose="020B0609020204030204" pitchFamily="49" charset="0"/>
              </a:rPr>
              <a:t>j++</a:t>
            </a:r>
            <a:r>
              <a:rPr lang="en-US" altLang="zh-CN" sz="1400" dirty="0">
                <a:latin typeface="Consolas" panose="020B0609020204030204" pitchFamily="49" charset="0"/>
              </a:rPr>
              <a:t>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    </a:t>
            </a:r>
            <a:r>
              <a:rPr lang="en-US" altLang="zh-CN" sz="1400" dirty="0" err="1">
                <a:latin typeface="Consolas" panose="020B0609020204030204" pitchFamily="49" charset="0"/>
              </a:rPr>
              <a:t>printf</a:t>
            </a:r>
            <a:r>
              <a:rPr lang="en-US" altLang="zh-CN" sz="1400" dirty="0">
                <a:latin typeface="Consolas" panose="020B0609020204030204" pitchFamily="49" charset="0"/>
              </a:rPr>
              <a:t>("%4d,",a[</a:t>
            </a:r>
            <a:r>
              <a:rPr lang="en-US" altLang="zh-CN" sz="1400" dirty="0" err="1"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latin typeface="Consolas" panose="020B0609020204030204" pitchFamily="49" charset="0"/>
              </a:rPr>
              <a:t>][j]);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latin typeface="Consolas" panose="020B0609020204030204" pitchFamily="49" charset="0"/>
              </a:rPr>
              <a:t>printf</a:t>
            </a:r>
            <a:r>
              <a:rPr lang="en-US" altLang="zh-CN" sz="1400" dirty="0">
                <a:latin typeface="Consolas" panose="020B0609020204030204" pitchFamily="49" charset="0"/>
              </a:rPr>
              <a:t>("\n");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}  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} </a:t>
            </a:r>
          </a:p>
          <a:p>
            <a:pPr defTabSz="363538">
              <a:lnSpc>
                <a:spcPct val="120000"/>
              </a:lnSpc>
            </a:pPr>
            <a:endParaRPr lang="en-US" altLang="zh-CN" sz="1400" dirty="0">
              <a:latin typeface="Consolas" panose="020B0609020204030204" pitchFamily="49" charset="0"/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void </a:t>
            </a:r>
            <a:r>
              <a:rPr lang="en-US" altLang="zh-CN" sz="1400" dirty="0" err="1">
                <a:latin typeface="Consolas" panose="020B0609020204030204" pitchFamily="49" charset="0"/>
              </a:rPr>
              <a:t>matrix_add</a:t>
            </a:r>
            <a:r>
              <a:rPr lang="en-US" altLang="zh-CN" sz="1400" dirty="0">
                <a:latin typeface="Consolas" panose="020B0609020204030204" pitchFamily="49" charset="0"/>
              </a:rPr>
              <a:t>(int a[][3], int b[][3], </a:t>
            </a:r>
            <a:r>
              <a:rPr lang="en-US" altLang="zh-CN" sz="1400" dirty="0" err="1">
                <a:latin typeface="Consolas" panose="020B0609020204030204" pitchFamily="49" charset="0"/>
              </a:rPr>
              <a:t>size_t</a:t>
            </a:r>
            <a:r>
              <a:rPr lang="en-US" altLang="zh-CN" sz="1400" dirty="0">
                <a:latin typeface="Consolas" panose="020B0609020204030204" pitchFamily="49" charset="0"/>
              </a:rPr>
              <a:t> m){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</a:rPr>
              <a:t>vadd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a,b,m</a:t>
            </a:r>
            <a:r>
              <a:rPr lang="en-US" altLang="zh-CN" sz="1400" dirty="0">
                <a:latin typeface="Consolas" panose="020B0609020204030204" pitchFamily="49" charset="0"/>
              </a:rPr>
              <a:t>*LEN_ARR(a[0]));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}</a:t>
            </a:r>
            <a:endParaRPr lang="en-US" altLang="zh-CN" sz="14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BD0943-0987-471B-9D1A-57A603CBB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22</a:t>
            </a:fld>
            <a:r>
              <a:rPr lang="en-US" altLang="zh-CN" dirty="0"/>
              <a:t>/32</a:t>
            </a:r>
            <a:endParaRPr lang="zh-CN" altLang="en-US" dirty="0"/>
          </a:p>
        </p:txBody>
      </p:sp>
      <p:sp>
        <p:nvSpPr>
          <p:cNvPr id="2" name="圆角矩形 12">
            <a:extLst>
              <a:ext uri="{FF2B5EF4-FFF2-40B4-BE49-F238E27FC236}">
                <a16:creationId xmlns:a16="http://schemas.microsoft.com/office/drawing/2014/main" id="{D3E58BC9-CAE1-380F-4FC4-6C854D1401FE}"/>
              </a:ext>
            </a:extLst>
          </p:cNvPr>
          <p:cNvSpPr/>
          <p:nvPr/>
        </p:nvSpPr>
        <p:spPr>
          <a:xfrm>
            <a:off x="6726264" y="2084416"/>
            <a:ext cx="4711417" cy="4378918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要点：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defTabSz="363538">
              <a:lnSpc>
                <a:spcPct val="120000"/>
              </a:lnSpc>
              <a:buAutoNum type="circleNumDbPlai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多维数组形参仅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第一维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用不定长数组表示，如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b[][3]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defTabSz="363538">
              <a:lnSpc>
                <a:spcPct val="120000"/>
              </a:lnSpc>
              <a:buAutoNum type="circleNumDbPlai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如果形参定义为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b[10][3],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则编译解释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b[][3]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defTabSz="363538">
              <a:lnSpc>
                <a:spcPct val="120000"/>
              </a:lnSpc>
              <a:buAutoNum type="circleNumDbPlai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多维数组形参除第一维外，长度必须是常量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63538">
              <a:lnSpc>
                <a:spcPct val="120000"/>
              </a:lnSpc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30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animBg="1"/>
      <p:bldP spid="5" grpId="0" animBg="1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数组与函数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74656" y="1738207"/>
            <a:ext cx="10152668" cy="44863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案例程序中，三种函数声明都能处理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3x3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vadd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(int a[const], const int b[], const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size_t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sz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matrix_add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(int a[][3], int b[][3],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size_t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sz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matrix_add1(int a[][3][3], int b[][3][3]);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你认为哪种比较最合适呢？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例如：加法，点积，外积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341B0821-8977-367C-6C7A-B2EC4F0E6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489799"/>
              </p:ext>
            </p:extLst>
          </p:nvPr>
        </p:nvGraphicFramePr>
        <p:xfrm>
          <a:off x="9927967" y="2922877"/>
          <a:ext cx="995405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5405">
                  <a:extLst>
                    <a:ext uri="{9D8B030D-6E8A-4147-A177-3AD203B41FA5}">
                      <a16:colId xmlns:a16="http://schemas.microsoft.com/office/drawing/2014/main" val="1631038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90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453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655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1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695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673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37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029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716300"/>
                  </a:ext>
                </a:extLst>
              </a:tr>
            </a:tbl>
          </a:graphicData>
        </a:graphic>
      </p:graphicFrame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91B5CAC7-3A00-9546-41C7-F852687DF9B9}"/>
              </a:ext>
            </a:extLst>
          </p:cNvPr>
          <p:cNvSpPr/>
          <p:nvPr/>
        </p:nvSpPr>
        <p:spPr>
          <a:xfrm>
            <a:off x="6858000" y="4176584"/>
            <a:ext cx="1396314" cy="469557"/>
          </a:xfrm>
          <a:prstGeom prst="borderCallout2">
            <a:avLst>
              <a:gd name="adj1" fmla="val 16733"/>
              <a:gd name="adj2" fmla="val 111937"/>
              <a:gd name="adj3" fmla="val -220723"/>
              <a:gd name="adj4" fmla="val 170884"/>
              <a:gd name="adj5" fmla="val -221793"/>
              <a:gd name="adj6" fmla="val 21612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 a[9]</a:t>
            </a:r>
            <a:endParaRPr lang="zh-CN" altLang="en-US" dirty="0"/>
          </a:p>
        </p:txBody>
      </p:sp>
      <p:sp>
        <p:nvSpPr>
          <p:cNvPr id="5" name="标注: 弯曲线形 4">
            <a:extLst>
              <a:ext uri="{FF2B5EF4-FFF2-40B4-BE49-F238E27FC236}">
                <a16:creationId xmlns:a16="http://schemas.microsoft.com/office/drawing/2014/main" id="{A6BBE3AC-32A3-86F8-466B-846947D98969}"/>
              </a:ext>
            </a:extLst>
          </p:cNvPr>
          <p:cNvSpPr/>
          <p:nvPr/>
        </p:nvSpPr>
        <p:spPr>
          <a:xfrm>
            <a:off x="6858000" y="4855268"/>
            <a:ext cx="1396314" cy="469557"/>
          </a:xfrm>
          <a:prstGeom prst="borderCallout2">
            <a:avLst>
              <a:gd name="adj1" fmla="val 16733"/>
              <a:gd name="adj2" fmla="val 111937"/>
              <a:gd name="adj3" fmla="val -365459"/>
              <a:gd name="adj4" fmla="val 171769"/>
              <a:gd name="adj5" fmla="val -363898"/>
              <a:gd name="adj6" fmla="val 21347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 a[3][3]</a:t>
            </a:r>
            <a:endParaRPr lang="zh-CN" altLang="en-US" dirty="0"/>
          </a:p>
        </p:txBody>
      </p:sp>
      <p:sp>
        <p:nvSpPr>
          <p:cNvPr id="6" name="标注: 弯曲线形 5">
            <a:extLst>
              <a:ext uri="{FF2B5EF4-FFF2-40B4-BE49-F238E27FC236}">
                <a16:creationId xmlns:a16="http://schemas.microsoft.com/office/drawing/2014/main" id="{A7090803-0860-E381-5F40-3986480DDC05}"/>
              </a:ext>
            </a:extLst>
          </p:cNvPr>
          <p:cNvSpPr/>
          <p:nvPr/>
        </p:nvSpPr>
        <p:spPr>
          <a:xfrm>
            <a:off x="6858000" y="5533952"/>
            <a:ext cx="1396314" cy="469557"/>
          </a:xfrm>
          <a:prstGeom prst="borderCallout2">
            <a:avLst>
              <a:gd name="adj1" fmla="val 16733"/>
              <a:gd name="adj2" fmla="val 111937"/>
              <a:gd name="adj3" fmla="val -510196"/>
              <a:gd name="adj4" fmla="val 170884"/>
              <a:gd name="adj5" fmla="val -513898"/>
              <a:gd name="adj6" fmla="val 21258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 a[1][3][3]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A29CC4-BC34-4944-B787-43A703375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23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443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fld id="{A8537B7A-7510-410A-AA53-45D600DA0276}" type="slidenum">
              <a:rPr lang="zh-CN" altLang="en-US" smtClean="0"/>
              <a:t>24</a:t>
            </a:fld>
            <a:r>
              <a:rPr lang="en-US" altLang="zh-CN" dirty="0"/>
              <a:t>/32</a:t>
            </a:r>
            <a:endParaRPr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205865" y="1077912"/>
            <a:ext cx="9686925" cy="89154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will happen if in a C program you assign a value to an array element whose subscript exceeds the size of array?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438400" y="2861786"/>
            <a:ext cx="462343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element will be set to 0.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2438400" y="3719036"/>
            <a:ext cx="580453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compiler would report an error.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438400" y="4615021"/>
            <a:ext cx="8454390" cy="4140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1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program may crash if some important data gets overwritten.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2438400" y="5433536"/>
            <a:ext cx="658368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array size would appropriately grow.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8" name="圆角矩形 17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8" name="组合 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3" name="图片 2" descr="tmp44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fld id="{A8537B7A-7510-410A-AA53-45D600DA0276}" type="slidenum">
              <a:rPr lang="zh-CN" altLang="en-US" smtClean="0"/>
              <a:t>25</a:t>
            </a:fld>
            <a:r>
              <a:rPr lang="en-US" altLang="zh-CN" dirty="0"/>
              <a:t>/32</a:t>
            </a:r>
            <a:endParaRPr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223010" y="894715"/>
            <a:ext cx="9745980" cy="953135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 C, if you pass an array as an argument to a function, what actually gets passed?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438400" y="2861786"/>
            <a:ext cx="5534991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 of elements in array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2438400" y="3719036"/>
            <a:ext cx="414972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 element of the array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438400" y="4576286"/>
            <a:ext cx="414655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 address of the array</a:t>
            </a: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2438400" y="5433536"/>
            <a:ext cx="581152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Address of the last element of array</a:t>
            </a: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8" name="圆角矩形 17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8" name="组合 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3" name="图片 2" descr="tmp44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学论网-矩形 1">
            <a:extLst>
              <a:ext uri="{FF2B5EF4-FFF2-40B4-BE49-F238E27FC236}">
                <a16:creationId xmlns:a16="http://schemas.microsoft.com/office/drawing/2014/main" id="{EAA0D4A2-42AD-4C76-AEC2-3E79E1AFD490}"/>
              </a:ext>
            </a:extLst>
          </p:cNvPr>
          <p:cNvSpPr/>
          <p:nvPr/>
        </p:nvSpPr>
        <p:spPr>
          <a:xfrm>
            <a:off x="0" y="672782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A21F3D1-E26D-41BA-B993-649CBB90DE0D}"/>
              </a:ext>
            </a:extLst>
          </p:cNvPr>
          <p:cNvSpPr/>
          <p:nvPr/>
        </p:nvSpPr>
        <p:spPr>
          <a:xfrm>
            <a:off x="561560" y="3158805"/>
            <a:ext cx="839856" cy="501927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数组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78BF960-99A9-47D0-92A2-B3CF3A7C1691}"/>
              </a:ext>
            </a:extLst>
          </p:cNvPr>
          <p:cNvSpPr/>
          <p:nvPr/>
        </p:nvSpPr>
        <p:spPr>
          <a:xfrm>
            <a:off x="2725807" y="2436081"/>
            <a:ext cx="839856" cy="501927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声明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65A7093-4FD2-4A1A-9EB3-DE4D3122DD04}"/>
              </a:ext>
            </a:extLst>
          </p:cNvPr>
          <p:cNvSpPr/>
          <p:nvPr/>
        </p:nvSpPr>
        <p:spPr>
          <a:xfrm>
            <a:off x="2686049" y="3158805"/>
            <a:ext cx="1333500" cy="501927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存储方式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357C8FC-EB7D-469C-A5F8-6DB8BA259612}"/>
              </a:ext>
            </a:extLst>
          </p:cNvPr>
          <p:cNvSpPr/>
          <p:nvPr/>
        </p:nvSpPr>
        <p:spPr>
          <a:xfrm>
            <a:off x="2686049" y="3981367"/>
            <a:ext cx="879614" cy="501927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使用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DBEF6DE6-178D-43D1-8BBD-CAD204DCBE86}"/>
              </a:ext>
            </a:extLst>
          </p:cNvPr>
          <p:cNvSpPr/>
          <p:nvPr/>
        </p:nvSpPr>
        <p:spPr>
          <a:xfrm>
            <a:off x="1529681" y="3174360"/>
            <a:ext cx="978408" cy="484632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下弧形 10">
            <a:extLst>
              <a:ext uri="{FF2B5EF4-FFF2-40B4-BE49-F238E27FC236}">
                <a16:creationId xmlns:a16="http://schemas.microsoft.com/office/drawing/2014/main" id="{1183059B-86BB-4B27-B60E-59037CF718E7}"/>
              </a:ext>
            </a:extLst>
          </p:cNvPr>
          <p:cNvSpPr/>
          <p:nvPr/>
        </p:nvSpPr>
        <p:spPr>
          <a:xfrm>
            <a:off x="783253" y="3697357"/>
            <a:ext cx="5120590" cy="1556716"/>
          </a:xfrm>
          <a:prstGeom prst="curvedUp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343778E-759E-45D7-8F97-6D845614E933}"/>
              </a:ext>
            </a:extLst>
          </p:cNvPr>
          <p:cNvSpPr/>
          <p:nvPr/>
        </p:nvSpPr>
        <p:spPr>
          <a:xfrm>
            <a:off x="4890880" y="3195430"/>
            <a:ext cx="1574524" cy="501927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一维到多维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46CA1BF1-559E-4F9E-9A85-C52B7FD15750}"/>
              </a:ext>
            </a:extLst>
          </p:cNvPr>
          <p:cNvSpPr/>
          <p:nvPr/>
        </p:nvSpPr>
        <p:spPr>
          <a:xfrm>
            <a:off x="6530605" y="3195430"/>
            <a:ext cx="1415730" cy="484632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7735C05-B40E-4154-803C-D7B19E54F172}"/>
              </a:ext>
            </a:extLst>
          </p:cNvPr>
          <p:cNvSpPr/>
          <p:nvPr/>
        </p:nvSpPr>
        <p:spPr>
          <a:xfrm>
            <a:off x="7946335" y="3157065"/>
            <a:ext cx="2137741" cy="501927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数组与函数</a:t>
            </a:r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D23AC94C-CBBF-4E63-9AE5-C38E7746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26</a:t>
            </a:fld>
            <a:r>
              <a:rPr lang="en-US" altLang="zh-CN"/>
              <a:t>/19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6015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161452" y="2867904"/>
            <a:ext cx="1886392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270368" y="5644929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编制人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：课题组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1EE34C-F1F6-4C4A-8D5C-AC01AF77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27</a:t>
            </a:fld>
            <a:r>
              <a:rPr lang="en-US" altLang="zh-CN" dirty="0"/>
              <a:t>/32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4723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3700</TotalTime>
  <Words>3256</Words>
  <Application>Microsoft Office PowerPoint</Application>
  <PresentationFormat>宽屏</PresentationFormat>
  <Paragraphs>456</Paragraphs>
  <Slides>27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DejaVuSans</vt:lpstr>
      <vt:lpstr>FandolSong</vt:lpstr>
      <vt:lpstr>Impact MT Std</vt:lpstr>
      <vt:lpstr>等线</vt:lpstr>
      <vt:lpstr>等线 Light</vt:lpstr>
      <vt:lpstr>微软雅黑</vt:lpstr>
      <vt:lpstr>Arial</vt:lpstr>
      <vt:lpstr>Cambria Math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stsluy</cp:lastModifiedBy>
  <cp:revision>310</cp:revision>
  <dcterms:created xsi:type="dcterms:W3CDTF">2016-11-24T09:20:00Z</dcterms:created>
  <dcterms:modified xsi:type="dcterms:W3CDTF">2023-11-17T04:39:50Z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2052-11.1.0.10667</vt:lpwstr>
  </property>
  <property fmtid="{D5CDD505-2E9C-101B-9397-08002B2CF9AE}" pid="3" name="ICV">
    <vt:lpwstr>7E38F6AF0AEB4547AE4ACB4243E3DBEC</vt:lpwstr>
  </property>
</Properties>
</file>