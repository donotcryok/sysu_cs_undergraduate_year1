
<file path=[Content_Types].xml><?xml version="1.0" encoding="utf-8"?>
<Types xmlns="http://schemas.openxmlformats.org/package/2006/content-types">
  <Default Extension="mp3" ContentType="audio/mpeg"/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58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0"/>
  </p:notesMasterIdLst>
  <p:sldIdLst>
    <p:sldId id="257" r:id="rId2"/>
    <p:sldId id="286" r:id="rId3"/>
    <p:sldId id="287" r:id="rId4"/>
    <p:sldId id="300" r:id="rId5"/>
    <p:sldId id="301" r:id="rId6"/>
    <p:sldId id="302" r:id="rId7"/>
    <p:sldId id="258" r:id="rId8"/>
    <p:sldId id="288" r:id="rId9"/>
    <p:sldId id="262" r:id="rId10"/>
    <p:sldId id="292" r:id="rId11"/>
    <p:sldId id="293" r:id="rId12"/>
    <p:sldId id="294" r:id="rId13"/>
    <p:sldId id="263" r:id="rId14"/>
    <p:sldId id="264" r:id="rId15"/>
    <p:sldId id="260" r:id="rId16"/>
    <p:sldId id="265" r:id="rId17"/>
    <p:sldId id="268" r:id="rId18"/>
    <p:sldId id="269" r:id="rId19"/>
    <p:sldId id="272" r:id="rId20"/>
    <p:sldId id="273" r:id="rId21"/>
    <p:sldId id="274" r:id="rId22"/>
    <p:sldId id="275" r:id="rId23"/>
    <p:sldId id="278" r:id="rId24"/>
    <p:sldId id="295" r:id="rId25"/>
    <p:sldId id="279" r:id="rId26"/>
    <p:sldId id="289" r:id="rId27"/>
    <p:sldId id="290" r:id="rId28"/>
    <p:sldId id="281" r:id="rId29"/>
    <p:sldId id="280" r:id="rId30"/>
    <p:sldId id="282" r:id="rId31"/>
    <p:sldId id="283" r:id="rId32"/>
    <p:sldId id="284" r:id="rId33"/>
    <p:sldId id="285" r:id="rId34"/>
    <p:sldId id="291" r:id="rId35"/>
    <p:sldId id="296" r:id="rId36"/>
    <p:sldId id="297" r:id="rId37"/>
    <p:sldId id="298" r:id="rId38"/>
    <p:sldId id="299" r:id="rId3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73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723"/>
    <a:srgbClr val="FF5D5D"/>
    <a:srgbClr val="C00000"/>
    <a:srgbClr val="CC3300"/>
    <a:srgbClr val="3A6695"/>
    <a:srgbClr val="9CC5FD"/>
    <a:srgbClr val="134263"/>
    <a:srgbClr val="1E2B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2" autoAdjust="0"/>
    <p:restoredTop sz="87609" autoAdjust="0"/>
  </p:normalViewPr>
  <p:slideViewPr>
    <p:cSldViewPr snapToGrid="0">
      <p:cViewPr varScale="1">
        <p:scale>
          <a:sx n="77" d="100"/>
          <a:sy n="77" d="100"/>
        </p:scale>
        <p:origin x="898" y="34"/>
      </p:cViewPr>
      <p:guideLst>
        <p:guide orient="horz" pos="2160"/>
        <p:guide pos="373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CE4261-0CDD-45A3-84C2-311859DE5B03}" type="datetimeFigureOut">
              <a:rPr lang="zh-CN" altLang="en-US" smtClean="0"/>
              <a:t>2023/9/22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F711DA-82CB-44C8-99EC-9CE596A896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aidu.com/link?url=xU7JhmMXFEFSvAAkjDCmGtLzG1awfJzqgoKX_DR0Mpc9vh56o4-eOj4b43cl8TBKpP-tt2m0j32mf7n1hsd5cGH5aZJsNzZozFYLwIGEcvNhbYXRaKOuX_bdGncRpP2J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53815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5020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12695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图灵传记电影：模仿游戏</a:t>
            </a:r>
            <a:endParaRPr lang="en-US" altLang="zh-CN" sz="1200" b="0" i="0" u="sng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  <a:hlinkClick r:id="rId3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被称为计算机科学之父、人工智能之父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图灵之所以伟大，是因为他有非常重要的发现和突破：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突破了计算机的可计算与可判定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把计算和算计完美地做了探索，引领了人思维的改变。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sz="1200" b="0" i="0" u="sng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  <a:hlinkClick r:id="rId3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52088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78061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09943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17494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46417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4282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6573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2023/9/22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2023/9/22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2023/9/22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2023/9/22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2023/9/22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2023/9/22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4536CA-A6C4-4358-AF93-5CCBD70D248C}" type="datetimeFigureOut">
              <a:rPr lang="zh-CN" altLang="en-US" smtClean="0"/>
              <a:t>2023/9/22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3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21" Type="http://schemas.openxmlformats.org/officeDocument/2006/relationships/image" Target="../media/image6.tmp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13" Type="http://schemas.openxmlformats.org/officeDocument/2006/relationships/tags" Target="../tags/tag32.xml"/><Relationship Id="rId18" Type="http://schemas.openxmlformats.org/officeDocument/2006/relationships/tags" Target="../tags/tag37.xml"/><Relationship Id="rId3" Type="http://schemas.openxmlformats.org/officeDocument/2006/relationships/tags" Target="../tags/tag22.xml"/><Relationship Id="rId21" Type="http://schemas.openxmlformats.org/officeDocument/2006/relationships/image" Target="../media/image6.tmp"/><Relationship Id="rId7" Type="http://schemas.openxmlformats.org/officeDocument/2006/relationships/tags" Target="../tags/tag26.xml"/><Relationship Id="rId12" Type="http://schemas.openxmlformats.org/officeDocument/2006/relationships/tags" Target="../tags/tag31.xml"/><Relationship Id="rId17" Type="http://schemas.openxmlformats.org/officeDocument/2006/relationships/tags" Target="../tags/tag36.xml"/><Relationship Id="rId2" Type="http://schemas.openxmlformats.org/officeDocument/2006/relationships/tags" Target="../tags/tag21.xml"/><Relationship Id="rId16" Type="http://schemas.openxmlformats.org/officeDocument/2006/relationships/tags" Target="../tags/tag35.xml"/><Relationship Id="rId20" Type="http://schemas.openxmlformats.org/officeDocument/2006/relationships/slideLayout" Target="../slideLayouts/slideLayout7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tags" Target="../tags/tag30.xml"/><Relationship Id="rId5" Type="http://schemas.openxmlformats.org/officeDocument/2006/relationships/tags" Target="../tags/tag24.xml"/><Relationship Id="rId15" Type="http://schemas.openxmlformats.org/officeDocument/2006/relationships/tags" Target="../tags/tag34.xml"/><Relationship Id="rId10" Type="http://schemas.openxmlformats.org/officeDocument/2006/relationships/tags" Target="../tags/tag29.xml"/><Relationship Id="rId19" Type="http://schemas.openxmlformats.org/officeDocument/2006/relationships/tags" Target="../tags/tag38.xml"/><Relationship Id="rId4" Type="http://schemas.openxmlformats.org/officeDocument/2006/relationships/tags" Target="../tags/tag23.xml"/><Relationship Id="rId9" Type="http://schemas.openxmlformats.org/officeDocument/2006/relationships/tags" Target="../tags/tag28.xml"/><Relationship Id="rId14" Type="http://schemas.openxmlformats.org/officeDocument/2006/relationships/tags" Target="../tags/tag3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46.xml"/><Relationship Id="rId13" Type="http://schemas.openxmlformats.org/officeDocument/2006/relationships/tags" Target="../tags/tag51.xml"/><Relationship Id="rId18" Type="http://schemas.openxmlformats.org/officeDocument/2006/relationships/tags" Target="../tags/tag56.xml"/><Relationship Id="rId3" Type="http://schemas.openxmlformats.org/officeDocument/2006/relationships/tags" Target="../tags/tag41.xml"/><Relationship Id="rId21" Type="http://schemas.openxmlformats.org/officeDocument/2006/relationships/image" Target="../media/image6.tmp"/><Relationship Id="rId7" Type="http://schemas.openxmlformats.org/officeDocument/2006/relationships/tags" Target="../tags/tag45.xml"/><Relationship Id="rId12" Type="http://schemas.openxmlformats.org/officeDocument/2006/relationships/tags" Target="../tags/tag50.xml"/><Relationship Id="rId17" Type="http://schemas.openxmlformats.org/officeDocument/2006/relationships/tags" Target="../tags/tag55.xml"/><Relationship Id="rId2" Type="http://schemas.openxmlformats.org/officeDocument/2006/relationships/tags" Target="../tags/tag40.xml"/><Relationship Id="rId16" Type="http://schemas.openxmlformats.org/officeDocument/2006/relationships/tags" Target="../tags/tag54.xml"/><Relationship Id="rId20" Type="http://schemas.openxmlformats.org/officeDocument/2006/relationships/slideLayout" Target="../slideLayouts/slideLayout7.xml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11" Type="http://schemas.openxmlformats.org/officeDocument/2006/relationships/tags" Target="../tags/tag49.xml"/><Relationship Id="rId5" Type="http://schemas.openxmlformats.org/officeDocument/2006/relationships/tags" Target="../tags/tag43.xml"/><Relationship Id="rId15" Type="http://schemas.openxmlformats.org/officeDocument/2006/relationships/tags" Target="../tags/tag53.xml"/><Relationship Id="rId10" Type="http://schemas.openxmlformats.org/officeDocument/2006/relationships/tags" Target="../tags/tag48.xml"/><Relationship Id="rId19" Type="http://schemas.openxmlformats.org/officeDocument/2006/relationships/tags" Target="../tags/tag57.xml"/><Relationship Id="rId4" Type="http://schemas.openxmlformats.org/officeDocument/2006/relationships/tags" Target="../tags/tag42.xml"/><Relationship Id="rId9" Type="http://schemas.openxmlformats.org/officeDocument/2006/relationships/tags" Target="../tags/tag47.xml"/><Relationship Id="rId14" Type="http://schemas.openxmlformats.org/officeDocument/2006/relationships/tags" Target="../tags/tag5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file:///C:\Users\Administrator\AppData\Local\Temp\wps\INetCache\e03d4cadbe01997e63cbafd725455952" TargetMode="External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file:///C:\Users\Administrator\AppData\Local\Temp\wps\INetCache\e03d4cadbe01997e63cbafd725455952" TargetMode="External"/><Relationship Id="rId4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file:///C:\Users\Administrator\AppData\Local\Temp\wps\INetCache\a42548e0014f29c8cecd43f19059e5b8" TargetMode="External"/><Relationship Id="rId4" Type="http://schemas.openxmlformats.org/officeDocument/2006/relationships/image" Target="../media/image1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bloodshed-dev-c.en.softonic.com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eg"/><Relationship Id="rId3" Type="http://schemas.openxmlformats.org/officeDocument/2006/relationships/image" Target="../media/image4.png"/><Relationship Id="rId7" Type="http://schemas.openxmlformats.org/officeDocument/2006/relationships/hyperlink" Target="http://image.baidu.com/i?ct=503316480&amp;z=0&amp;tn=baiduimagedetail&amp;word=CPU&amp;in=29536&amp;cl=2&amp;cm=1&amp;sc=0&amp;lm=-1&amp;pn=53&amp;rn=1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jpeg"/><Relationship Id="rId5" Type="http://schemas.openxmlformats.org/officeDocument/2006/relationships/hyperlink" Target="http://imgnews.baidu.com/i?ct=520093696&amp;z=0&amp;tn=baiduimagenewsdetail&amp;word=CPU&amp;in=17120&amp;cl=3&amp;lm=-1&amp;pn=0&amp;rn=1" TargetMode="External"/><Relationship Id="rId4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tags" Target="../tags/tag66.xml"/><Relationship Id="rId13" Type="http://schemas.openxmlformats.org/officeDocument/2006/relationships/tags" Target="../tags/tag71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61.xml"/><Relationship Id="rId7" Type="http://schemas.openxmlformats.org/officeDocument/2006/relationships/tags" Target="../tags/tag65.xml"/><Relationship Id="rId12" Type="http://schemas.openxmlformats.org/officeDocument/2006/relationships/tags" Target="../tags/tag70.xml"/><Relationship Id="rId17" Type="http://schemas.openxmlformats.org/officeDocument/2006/relationships/tags" Target="../tags/tag75.xml"/><Relationship Id="rId2" Type="http://schemas.openxmlformats.org/officeDocument/2006/relationships/tags" Target="../tags/tag60.xml"/><Relationship Id="rId16" Type="http://schemas.openxmlformats.org/officeDocument/2006/relationships/tags" Target="../tags/tag74.xml"/><Relationship Id="rId1" Type="http://schemas.openxmlformats.org/officeDocument/2006/relationships/tags" Target="../tags/tag59.xml"/><Relationship Id="rId6" Type="http://schemas.openxmlformats.org/officeDocument/2006/relationships/tags" Target="../tags/tag64.xml"/><Relationship Id="rId11" Type="http://schemas.openxmlformats.org/officeDocument/2006/relationships/tags" Target="../tags/tag69.xml"/><Relationship Id="rId5" Type="http://schemas.openxmlformats.org/officeDocument/2006/relationships/tags" Target="../tags/tag63.xml"/><Relationship Id="rId15" Type="http://schemas.openxmlformats.org/officeDocument/2006/relationships/tags" Target="../tags/tag73.xml"/><Relationship Id="rId10" Type="http://schemas.openxmlformats.org/officeDocument/2006/relationships/tags" Target="../tags/tag68.xml"/><Relationship Id="rId19" Type="http://schemas.openxmlformats.org/officeDocument/2006/relationships/image" Target="../media/image6.tmp"/><Relationship Id="rId4" Type="http://schemas.openxmlformats.org/officeDocument/2006/relationships/tags" Target="../tags/tag62.xml"/><Relationship Id="rId9" Type="http://schemas.openxmlformats.org/officeDocument/2006/relationships/tags" Target="../tags/tag67.xml"/><Relationship Id="rId14" Type="http://schemas.openxmlformats.org/officeDocument/2006/relationships/tags" Target="../tags/tag7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tags" Target="../tags/tag83.xml"/><Relationship Id="rId13" Type="http://schemas.openxmlformats.org/officeDocument/2006/relationships/tags" Target="../tags/tag88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78.xml"/><Relationship Id="rId7" Type="http://schemas.openxmlformats.org/officeDocument/2006/relationships/tags" Target="../tags/tag82.xml"/><Relationship Id="rId12" Type="http://schemas.openxmlformats.org/officeDocument/2006/relationships/tags" Target="../tags/tag87.xml"/><Relationship Id="rId17" Type="http://schemas.openxmlformats.org/officeDocument/2006/relationships/tags" Target="../tags/tag92.xml"/><Relationship Id="rId2" Type="http://schemas.openxmlformats.org/officeDocument/2006/relationships/tags" Target="../tags/tag77.xml"/><Relationship Id="rId16" Type="http://schemas.openxmlformats.org/officeDocument/2006/relationships/tags" Target="../tags/tag91.xml"/><Relationship Id="rId1" Type="http://schemas.openxmlformats.org/officeDocument/2006/relationships/tags" Target="../tags/tag76.xml"/><Relationship Id="rId6" Type="http://schemas.openxmlformats.org/officeDocument/2006/relationships/tags" Target="../tags/tag81.xml"/><Relationship Id="rId11" Type="http://schemas.openxmlformats.org/officeDocument/2006/relationships/tags" Target="../tags/tag86.xml"/><Relationship Id="rId5" Type="http://schemas.openxmlformats.org/officeDocument/2006/relationships/tags" Target="../tags/tag80.xml"/><Relationship Id="rId15" Type="http://schemas.openxmlformats.org/officeDocument/2006/relationships/tags" Target="../tags/tag90.xml"/><Relationship Id="rId10" Type="http://schemas.openxmlformats.org/officeDocument/2006/relationships/tags" Target="../tags/tag85.xml"/><Relationship Id="rId19" Type="http://schemas.openxmlformats.org/officeDocument/2006/relationships/image" Target="../media/image6.tmp"/><Relationship Id="rId4" Type="http://schemas.openxmlformats.org/officeDocument/2006/relationships/tags" Target="../tags/tag79.xml"/><Relationship Id="rId9" Type="http://schemas.openxmlformats.org/officeDocument/2006/relationships/tags" Target="../tags/tag84.xml"/><Relationship Id="rId14" Type="http://schemas.openxmlformats.org/officeDocument/2006/relationships/tags" Target="../tags/tag89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tags" Target="../tags/tag100.xml"/><Relationship Id="rId13" Type="http://schemas.openxmlformats.org/officeDocument/2006/relationships/tags" Target="../tags/tag105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95.xml"/><Relationship Id="rId7" Type="http://schemas.openxmlformats.org/officeDocument/2006/relationships/tags" Target="../tags/tag99.xml"/><Relationship Id="rId12" Type="http://schemas.openxmlformats.org/officeDocument/2006/relationships/tags" Target="../tags/tag104.xml"/><Relationship Id="rId17" Type="http://schemas.openxmlformats.org/officeDocument/2006/relationships/tags" Target="../tags/tag109.xml"/><Relationship Id="rId2" Type="http://schemas.openxmlformats.org/officeDocument/2006/relationships/tags" Target="../tags/tag94.xml"/><Relationship Id="rId16" Type="http://schemas.openxmlformats.org/officeDocument/2006/relationships/tags" Target="../tags/tag108.xml"/><Relationship Id="rId1" Type="http://schemas.openxmlformats.org/officeDocument/2006/relationships/tags" Target="../tags/tag93.xml"/><Relationship Id="rId6" Type="http://schemas.openxmlformats.org/officeDocument/2006/relationships/tags" Target="../tags/tag98.xml"/><Relationship Id="rId11" Type="http://schemas.openxmlformats.org/officeDocument/2006/relationships/tags" Target="../tags/tag103.xml"/><Relationship Id="rId5" Type="http://schemas.openxmlformats.org/officeDocument/2006/relationships/tags" Target="../tags/tag97.xml"/><Relationship Id="rId15" Type="http://schemas.openxmlformats.org/officeDocument/2006/relationships/tags" Target="../tags/tag107.xml"/><Relationship Id="rId10" Type="http://schemas.openxmlformats.org/officeDocument/2006/relationships/tags" Target="../tags/tag102.xml"/><Relationship Id="rId19" Type="http://schemas.openxmlformats.org/officeDocument/2006/relationships/image" Target="../media/image6.tmp"/><Relationship Id="rId4" Type="http://schemas.openxmlformats.org/officeDocument/2006/relationships/tags" Target="../tags/tag96.xml"/><Relationship Id="rId9" Type="http://schemas.openxmlformats.org/officeDocument/2006/relationships/tags" Target="../tags/tag101.xml"/><Relationship Id="rId14" Type="http://schemas.openxmlformats.org/officeDocument/2006/relationships/tags" Target="../tags/tag106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tags" Target="../tags/tag117.xml"/><Relationship Id="rId13" Type="http://schemas.openxmlformats.org/officeDocument/2006/relationships/tags" Target="../tags/tag122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12.xml"/><Relationship Id="rId7" Type="http://schemas.openxmlformats.org/officeDocument/2006/relationships/tags" Target="../tags/tag116.xml"/><Relationship Id="rId12" Type="http://schemas.openxmlformats.org/officeDocument/2006/relationships/tags" Target="../tags/tag121.xml"/><Relationship Id="rId17" Type="http://schemas.openxmlformats.org/officeDocument/2006/relationships/tags" Target="../tags/tag126.xml"/><Relationship Id="rId2" Type="http://schemas.openxmlformats.org/officeDocument/2006/relationships/tags" Target="../tags/tag111.xml"/><Relationship Id="rId16" Type="http://schemas.openxmlformats.org/officeDocument/2006/relationships/tags" Target="../tags/tag125.xml"/><Relationship Id="rId1" Type="http://schemas.openxmlformats.org/officeDocument/2006/relationships/tags" Target="../tags/tag110.xml"/><Relationship Id="rId6" Type="http://schemas.openxmlformats.org/officeDocument/2006/relationships/tags" Target="../tags/tag115.xml"/><Relationship Id="rId11" Type="http://schemas.openxmlformats.org/officeDocument/2006/relationships/tags" Target="../tags/tag120.xml"/><Relationship Id="rId5" Type="http://schemas.openxmlformats.org/officeDocument/2006/relationships/tags" Target="../tags/tag114.xml"/><Relationship Id="rId15" Type="http://schemas.openxmlformats.org/officeDocument/2006/relationships/tags" Target="../tags/tag124.xml"/><Relationship Id="rId10" Type="http://schemas.openxmlformats.org/officeDocument/2006/relationships/tags" Target="../tags/tag119.xml"/><Relationship Id="rId19" Type="http://schemas.openxmlformats.org/officeDocument/2006/relationships/image" Target="../media/image6.tmp"/><Relationship Id="rId4" Type="http://schemas.openxmlformats.org/officeDocument/2006/relationships/tags" Target="../tags/tag113.xml"/><Relationship Id="rId9" Type="http://schemas.openxmlformats.org/officeDocument/2006/relationships/tags" Target="../tags/tag118.xml"/><Relationship Id="rId14" Type="http://schemas.openxmlformats.org/officeDocument/2006/relationships/tags" Target="../tags/tag1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04" b="46967"/>
          <a:stretch>
            <a:fillRect/>
          </a:stretch>
        </p:blipFill>
        <p:spPr>
          <a:xfrm>
            <a:off x="0" y="2176476"/>
            <a:ext cx="12209296" cy="2877923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2176477"/>
            <a:ext cx="12192000" cy="2877922"/>
          </a:xfrm>
          <a:prstGeom prst="rect">
            <a:avLst/>
          </a:prstGeom>
          <a:gradFill>
            <a:gsLst>
              <a:gs pos="0">
                <a:srgbClr val="014723"/>
              </a:gs>
              <a:gs pos="59000">
                <a:srgbClr val="014723">
                  <a:alpha val="60000"/>
                </a:srgbClr>
              </a:gs>
              <a:gs pos="100000">
                <a:srgbClr val="014723">
                  <a:alpha val="10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223683" y="2729511"/>
            <a:ext cx="974463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60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语言概述</a:t>
            </a:r>
          </a:p>
        </p:txBody>
      </p:sp>
      <p:sp>
        <p:nvSpPr>
          <p:cNvPr id="16" name="TextBox 10"/>
          <p:cNvSpPr txBox="1"/>
          <p:nvPr/>
        </p:nvSpPr>
        <p:spPr>
          <a:xfrm>
            <a:off x="2565806" y="3990096"/>
            <a:ext cx="7060388" cy="520700"/>
          </a:xfrm>
          <a:prstGeom prst="rect">
            <a:avLst/>
          </a:prstGeom>
          <a:noFill/>
        </p:spPr>
        <p:txBody>
          <a:bodyPr wrap="squar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28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中山大学程序设计慕课制作组</a:t>
            </a:r>
          </a:p>
        </p:txBody>
      </p:sp>
      <p:sp>
        <p:nvSpPr>
          <p:cNvPr id="13" name="TextBox 6"/>
          <p:cNvSpPr txBox="1"/>
          <p:nvPr/>
        </p:nvSpPr>
        <p:spPr>
          <a:xfrm>
            <a:off x="4266491" y="5644929"/>
            <a:ext cx="1723500" cy="400085"/>
          </a:xfrm>
          <a:prstGeom prst="rect">
            <a:avLst/>
          </a:prstGeom>
          <a:noFill/>
        </p:spPr>
        <p:txBody>
          <a:bodyPr wrap="non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accent2"/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lang="zh-CN" altLang="en-US" b="1" dirty="0">
                <a:solidFill>
                  <a:srgbClr val="0147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讲课人</a:t>
            </a:r>
            <a:r>
              <a:rPr lang="zh-CN" altLang="en-US" dirty="0">
                <a:solidFill>
                  <a:srgbClr val="0147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：陆勇</a:t>
            </a:r>
            <a:endParaRPr lang="en-US" altLang="zh-CN" dirty="0">
              <a:solidFill>
                <a:srgbClr val="0147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Box 7"/>
          <p:cNvSpPr txBox="1"/>
          <p:nvPr/>
        </p:nvSpPr>
        <p:spPr>
          <a:xfrm>
            <a:off x="7339301" y="5644929"/>
            <a:ext cx="1979982" cy="400085"/>
          </a:xfrm>
          <a:prstGeom prst="rect">
            <a:avLst/>
          </a:prstGeom>
          <a:noFill/>
        </p:spPr>
        <p:txBody>
          <a:bodyPr wrap="none" lIns="91416" tIns="45708" rIns="91416" bIns="45708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147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指导老师</a:t>
            </a:r>
            <a:r>
              <a:rPr lang="zh-CN" altLang="en-US" sz="2000" dirty="0">
                <a:solidFill>
                  <a:srgbClr val="0147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：陆勇</a:t>
            </a:r>
          </a:p>
        </p:txBody>
      </p:sp>
      <p:sp>
        <p:nvSpPr>
          <p:cNvPr id="11" name="Freeform 7"/>
          <p:cNvSpPr>
            <a:spLocks noChangeAspect="1" noEditPoints="1"/>
          </p:cNvSpPr>
          <p:nvPr/>
        </p:nvSpPr>
        <p:spPr bwMode="auto">
          <a:xfrm>
            <a:off x="3416978" y="5611849"/>
            <a:ext cx="462900" cy="466244"/>
          </a:xfrm>
          <a:custGeom>
            <a:avLst/>
            <a:gdLst>
              <a:gd name="T0" fmla="*/ 661 w 904"/>
              <a:gd name="T1" fmla="*/ 461 h 905"/>
              <a:gd name="T2" fmla="*/ 661 w 904"/>
              <a:gd name="T3" fmla="*/ 339 h 905"/>
              <a:gd name="T4" fmla="*/ 605 w 904"/>
              <a:gd name="T5" fmla="*/ 339 h 905"/>
              <a:gd name="T6" fmla="*/ 605 w 904"/>
              <a:gd name="T7" fmla="*/ 461 h 905"/>
              <a:gd name="T8" fmla="*/ 456 w 904"/>
              <a:gd name="T9" fmla="*/ 610 h 905"/>
              <a:gd name="T10" fmla="*/ 453 w 904"/>
              <a:gd name="T11" fmla="*/ 610 h 905"/>
              <a:gd name="T12" fmla="*/ 452 w 904"/>
              <a:gd name="T13" fmla="*/ 610 h 905"/>
              <a:gd name="T14" fmla="*/ 451 w 904"/>
              <a:gd name="T15" fmla="*/ 610 h 905"/>
              <a:gd name="T16" fmla="*/ 448 w 904"/>
              <a:gd name="T17" fmla="*/ 610 h 905"/>
              <a:gd name="T18" fmla="*/ 299 w 904"/>
              <a:gd name="T19" fmla="*/ 461 h 905"/>
              <a:gd name="T20" fmla="*/ 299 w 904"/>
              <a:gd name="T21" fmla="*/ 339 h 905"/>
              <a:gd name="T22" fmla="*/ 244 w 904"/>
              <a:gd name="T23" fmla="*/ 339 h 905"/>
              <a:gd name="T24" fmla="*/ 244 w 904"/>
              <a:gd name="T25" fmla="*/ 461 h 905"/>
              <a:gd name="T26" fmla="*/ 419 w 904"/>
              <a:gd name="T27" fmla="*/ 664 h 905"/>
              <a:gd name="T28" fmla="*/ 419 w 904"/>
              <a:gd name="T29" fmla="*/ 752 h 905"/>
              <a:gd name="T30" fmla="*/ 295 w 904"/>
              <a:gd name="T31" fmla="*/ 787 h 905"/>
              <a:gd name="T32" fmla="*/ 610 w 904"/>
              <a:gd name="T33" fmla="*/ 787 h 905"/>
              <a:gd name="T34" fmla="*/ 484 w 904"/>
              <a:gd name="T35" fmla="*/ 751 h 905"/>
              <a:gd name="T36" fmla="*/ 484 w 904"/>
              <a:gd name="T37" fmla="*/ 664 h 905"/>
              <a:gd name="T38" fmla="*/ 661 w 904"/>
              <a:gd name="T39" fmla="*/ 461 h 905"/>
              <a:gd name="T40" fmla="*/ 450 w 904"/>
              <a:gd name="T41" fmla="*/ 558 h 905"/>
              <a:gd name="T42" fmla="*/ 452 w 904"/>
              <a:gd name="T43" fmla="*/ 558 h 905"/>
              <a:gd name="T44" fmla="*/ 454 w 904"/>
              <a:gd name="T45" fmla="*/ 558 h 905"/>
              <a:gd name="T46" fmla="*/ 554 w 904"/>
              <a:gd name="T47" fmla="*/ 459 h 905"/>
              <a:gd name="T48" fmla="*/ 554 w 904"/>
              <a:gd name="T49" fmla="*/ 218 h 905"/>
              <a:gd name="T50" fmla="*/ 454 w 904"/>
              <a:gd name="T51" fmla="*/ 118 h 905"/>
              <a:gd name="T52" fmla="*/ 452 w 904"/>
              <a:gd name="T53" fmla="*/ 118 h 905"/>
              <a:gd name="T54" fmla="*/ 450 w 904"/>
              <a:gd name="T55" fmla="*/ 118 h 905"/>
              <a:gd name="T56" fmla="*/ 351 w 904"/>
              <a:gd name="T57" fmla="*/ 218 h 905"/>
              <a:gd name="T58" fmla="*/ 351 w 904"/>
              <a:gd name="T59" fmla="*/ 459 h 905"/>
              <a:gd name="T60" fmla="*/ 450 w 904"/>
              <a:gd name="T61" fmla="*/ 558 h 905"/>
              <a:gd name="T62" fmla="*/ 452 w 904"/>
              <a:gd name="T63" fmla="*/ 0 h 905"/>
              <a:gd name="T64" fmla="*/ 904 w 904"/>
              <a:gd name="T65" fmla="*/ 453 h 905"/>
              <a:gd name="T66" fmla="*/ 452 w 904"/>
              <a:gd name="T67" fmla="*/ 905 h 905"/>
              <a:gd name="T68" fmla="*/ 0 w 904"/>
              <a:gd name="T69" fmla="*/ 453 h 905"/>
              <a:gd name="T70" fmla="*/ 452 w 904"/>
              <a:gd name="T71" fmla="*/ 0 h 9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904" h="905">
                <a:moveTo>
                  <a:pt x="661" y="461"/>
                </a:moveTo>
                <a:lnTo>
                  <a:pt x="661" y="339"/>
                </a:lnTo>
                <a:cubicBezTo>
                  <a:pt x="661" y="304"/>
                  <a:pt x="605" y="304"/>
                  <a:pt x="605" y="339"/>
                </a:cubicBezTo>
                <a:lnTo>
                  <a:pt x="605" y="461"/>
                </a:lnTo>
                <a:cubicBezTo>
                  <a:pt x="605" y="543"/>
                  <a:pt x="538" y="610"/>
                  <a:pt x="456" y="610"/>
                </a:cubicBezTo>
                <a:cubicBezTo>
                  <a:pt x="455" y="610"/>
                  <a:pt x="454" y="610"/>
                  <a:pt x="453" y="610"/>
                </a:cubicBezTo>
                <a:lnTo>
                  <a:pt x="452" y="610"/>
                </a:lnTo>
                <a:lnTo>
                  <a:pt x="451" y="610"/>
                </a:lnTo>
                <a:cubicBezTo>
                  <a:pt x="450" y="610"/>
                  <a:pt x="449" y="610"/>
                  <a:pt x="448" y="610"/>
                </a:cubicBezTo>
                <a:cubicBezTo>
                  <a:pt x="366" y="610"/>
                  <a:pt x="299" y="543"/>
                  <a:pt x="299" y="461"/>
                </a:cubicBezTo>
                <a:lnTo>
                  <a:pt x="299" y="339"/>
                </a:lnTo>
                <a:cubicBezTo>
                  <a:pt x="299" y="304"/>
                  <a:pt x="244" y="304"/>
                  <a:pt x="244" y="339"/>
                </a:cubicBezTo>
                <a:cubicBezTo>
                  <a:pt x="244" y="355"/>
                  <a:pt x="244" y="461"/>
                  <a:pt x="244" y="461"/>
                </a:cubicBezTo>
                <a:cubicBezTo>
                  <a:pt x="244" y="564"/>
                  <a:pt x="320" y="650"/>
                  <a:pt x="419" y="664"/>
                </a:cubicBezTo>
                <a:lnTo>
                  <a:pt x="419" y="752"/>
                </a:lnTo>
                <a:lnTo>
                  <a:pt x="295" y="787"/>
                </a:lnTo>
                <a:lnTo>
                  <a:pt x="610" y="787"/>
                </a:lnTo>
                <a:lnTo>
                  <a:pt x="484" y="751"/>
                </a:lnTo>
                <a:lnTo>
                  <a:pt x="484" y="664"/>
                </a:lnTo>
                <a:cubicBezTo>
                  <a:pt x="584" y="650"/>
                  <a:pt x="661" y="564"/>
                  <a:pt x="661" y="461"/>
                </a:cubicBezTo>
                <a:close/>
                <a:moveTo>
                  <a:pt x="450" y="558"/>
                </a:moveTo>
                <a:cubicBezTo>
                  <a:pt x="451" y="558"/>
                  <a:pt x="451" y="558"/>
                  <a:pt x="452" y="558"/>
                </a:cubicBezTo>
                <a:cubicBezTo>
                  <a:pt x="453" y="558"/>
                  <a:pt x="453" y="558"/>
                  <a:pt x="454" y="558"/>
                </a:cubicBezTo>
                <a:cubicBezTo>
                  <a:pt x="509" y="558"/>
                  <a:pt x="554" y="514"/>
                  <a:pt x="554" y="459"/>
                </a:cubicBezTo>
                <a:lnTo>
                  <a:pt x="554" y="218"/>
                </a:lnTo>
                <a:cubicBezTo>
                  <a:pt x="554" y="163"/>
                  <a:pt x="509" y="118"/>
                  <a:pt x="454" y="118"/>
                </a:cubicBezTo>
                <a:cubicBezTo>
                  <a:pt x="453" y="118"/>
                  <a:pt x="453" y="118"/>
                  <a:pt x="452" y="118"/>
                </a:cubicBezTo>
                <a:cubicBezTo>
                  <a:pt x="452" y="118"/>
                  <a:pt x="451" y="118"/>
                  <a:pt x="450" y="118"/>
                </a:cubicBezTo>
                <a:cubicBezTo>
                  <a:pt x="395" y="118"/>
                  <a:pt x="351" y="163"/>
                  <a:pt x="351" y="218"/>
                </a:cubicBezTo>
                <a:lnTo>
                  <a:pt x="351" y="459"/>
                </a:lnTo>
                <a:cubicBezTo>
                  <a:pt x="351" y="514"/>
                  <a:pt x="395" y="558"/>
                  <a:pt x="450" y="558"/>
                </a:cubicBezTo>
                <a:close/>
                <a:moveTo>
                  <a:pt x="452" y="0"/>
                </a:moveTo>
                <a:cubicBezTo>
                  <a:pt x="702" y="0"/>
                  <a:pt x="904" y="203"/>
                  <a:pt x="904" y="453"/>
                </a:cubicBezTo>
                <a:cubicBezTo>
                  <a:pt x="904" y="702"/>
                  <a:pt x="702" y="905"/>
                  <a:pt x="452" y="905"/>
                </a:cubicBezTo>
                <a:cubicBezTo>
                  <a:pt x="202" y="905"/>
                  <a:pt x="0" y="702"/>
                  <a:pt x="0" y="453"/>
                </a:cubicBezTo>
                <a:cubicBezTo>
                  <a:pt x="0" y="203"/>
                  <a:pt x="202" y="0"/>
                  <a:pt x="452" y="0"/>
                </a:cubicBezTo>
                <a:close/>
              </a:path>
            </a:pathLst>
          </a:custGeom>
          <a:solidFill>
            <a:srgbClr val="014723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/>
          <a:p>
            <a:endParaRPr lang="zh-CN" altLang="en-US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Freeform 8"/>
          <p:cNvSpPr>
            <a:spLocks noChangeAspect="1" noEditPoints="1"/>
          </p:cNvSpPr>
          <p:nvPr/>
        </p:nvSpPr>
        <p:spPr bwMode="auto">
          <a:xfrm>
            <a:off x="6438230" y="5611848"/>
            <a:ext cx="464288" cy="466246"/>
          </a:xfrm>
          <a:custGeom>
            <a:avLst/>
            <a:gdLst>
              <a:gd name="T0" fmla="*/ 422 w 422"/>
              <a:gd name="T1" fmla="*/ 211 h 422"/>
              <a:gd name="T2" fmla="*/ 0 w 422"/>
              <a:gd name="T3" fmla="*/ 211 h 422"/>
              <a:gd name="T4" fmla="*/ 340 w 422"/>
              <a:gd name="T5" fmla="*/ 117 h 422"/>
              <a:gd name="T6" fmla="*/ 345 w 422"/>
              <a:gd name="T7" fmla="*/ 123 h 422"/>
              <a:gd name="T8" fmla="*/ 344 w 422"/>
              <a:gd name="T9" fmla="*/ 226 h 422"/>
              <a:gd name="T10" fmla="*/ 340 w 422"/>
              <a:gd name="T11" fmla="*/ 227 h 422"/>
              <a:gd name="T12" fmla="*/ 217 w 422"/>
              <a:gd name="T13" fmla="*/ 226 h 422"/>
              <a:gd name="T14" fmla="*/ 215 w 422"/>
              <a:gd name="T15" fmla="*/ 222 h 422"/>
              <a:gd name="T16" fmla="*/ 286 w 422"/>
              <a:gd name="T17" fmla="*/ 164 h 422"/>
              <a:gd name="T18" fmla="*/ 215 w 422"/>
              <a:gd name="T19" fmla="*/ 171 h 422"/>
              <a:gd name="T20" fmla="*/ 217 w 422"/>
              <a:gd name="T21" fmla="*/ 119 h 422"/>
              <a:gd name="T22" fmla="*/ 220 w 422"/>
              <a:gd name="T23" fmla="*/ 117 h 422"/>
              <a:gd name="T24" fmla="*/ 220 w 422"/>
              <a:gd name="T25" fmla="*/ 96 h 422"/>
              <a:gd name="T26" fmla="*/ 202 w 422"/>
              <a:gd name="T27" fmla="*/ 104 h 422"/>
              <a:gd name="T28" fmla="*/ 194 w 422"/>
              <a:gd name="T29" fmla="*/ 174 h 422"/>
              <a:gd name="T30" fmla="*/ 186 w 422"/>
              <a:gd name="T31" fmla="*/ 166 h 422"/>
              <a:gd name="T32" fmla="*/ 137 w 422"/>
              <a:gd name="T33" fmla="*/ 151 h 422"/>
              <a:gd name="T34" fmla="*/ 54 w 422"/>
              <a:gd name="T35" fmla="*/ 173 h 422"/>
              <a:gd name="T36" fmla="*/ 77 w 422"/>
              <a:gd name="T37" fmla="*/ 243 h 422"/>
              <a:gd name="T38" fmla="*/ 81 w 422"/>
              <a:gd name="T39" fmla="*/ 192 h 422"/>
              <a:gd name="T40" fmla="*/ 81 w 422"/>
              <a:gd name="T41" fmla="*/ 256 h 422"/>
              <a:gd name="T42" fmla="*/ 106 w 422"/>
              <a:gd name="T43" fmla="*/ 350 h 422"/>
              <a:gd name="T44" fmla="*/ 112 w 422"/>
              <a:gd name="T45" fmla="*/ 272 h 422"/>
              <a:gd name="T46" fmla="*/ 137 w 422"/>
              <a:gd name="T47" fmla="*/ 350 h 422"/>
              <a:gd name="T48" fmla="*/ 137 w 422"/>
              <a:gd name="T49" fmla="*/ 256 h 422"/>
              <a:gd name="T50" fmla="*/ 137 w 422"/>
              <a:gd name="T51" fmla="*/ 192 h 422"/>
              <a:gd name="T52" fmla="*/ 162 w 422"/>
              <a:gd name="T53" fmla="*/ 192 h 422"/>
              <a:gd name="T54" fmla="*/ 186 w 422"/>
              <a:gd name="T55" fmla="*/ 185 h 422"/>
              <a:gd name="T56" fmla="*/ 194 w 422"/>
              <a:gd name="T57" fmla="*/ 222 h 422"/>
              <a:gd name="T58" fmla="*/ 202 w 422"/>
              <a:gd name="T59" fmla="*/ 240 h 422"/>
              <a:gd name="T60" fmla="*/ 220 w 422"/>
              <a:gd name="T61" fmla="*/ 248 h 422"/>
              <a:gd name="T62" fmla="*/ 359 w 422"/>
              <a:gd name="T63" fmla="*/ 240 h 422"/>
              <a:gd name="T64" fmla="*/ 366 w 422"/>
              <a:gd name="T65" fmla="*/ 222 h 422"/>
              <a:gd name="T66" fmla="*/ 359 w 422"/>
              <a:gd name="T67" fmla="*/ 104 h 422"/>
              <a:gd name="T68" fmla="*/ 220 w 422"/>
              <a:gd name="T69" fmla="*/ 96 h 422"/>
              <a:gd name="T70" fmla="*/ 344 w 422"/>
              <a:gd name="T71" fmla="*/ 277 h 422"/>
              <a:gd name="T72" fmla="*/ 346 w 422"/>
              <a:gd name="T73" fmla="*/ 351 h 422"/>
              <a:gd name="T74" fmla="*/ 298 w 422"/>
              <a:gd name="T75" fmla="*/ 277 h 422"/>
              <a:gd name="T76" fmla="*/ 250 w 422"/>
              <a:gd name="T77" fmla="*/ 351 h 422"/>
              <a:gd name="T78" fmla="*/ 244 w 422"/>
              <a:gd name="T79" fmla="*/ 277 h 422"/>
              <a:gd name="T80" fmla="*/ 221 w 422"/>
              <a:gd name="T81" fmla="*/ 254 h 422"/>
              <a:gd name="T82" fmla="*/ 109 w 422"/>
              <a:gd name="T83" fmla="*/ 75 h 422"/>
              <a:gd name="T84" fmla="*/ 109 w 422"/>
              <a:gd name="T85" fmla="*/ 146 h 422"/>
              <a:gd name="T86" fmla="*/ 109 w 422"/>
              <a:gd name="T87" fmla="*/ 75 h 4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422" h="422">
                <a:moveTo>
                  <a:pt x="211" y="0"/>
                </a:moveTo>
                <a:cubicBezTo>
                  <a:pt x="327" y="0"/>
                  <a:pt x="422" y="94"/>
                  <a:pt x="422" y="211"/>
                </a:cubicBezTo>
                <a:cubicBezTo>
                  <a:pt x="422" y="327"/>
                  <a:pt x="327" y="422"/>
                  <a:pt x="211" y="422"/>
                </a:cubicBezTo>
                <a:cubicBezTo>
                  <a:pt x="94" y="422"/>
                  <a:pt x="0" y="327"/>
                  <a:pt x="0" y="211"/>
                </a:cubicBezTo>
                <a:cubicBezTo>
                  <a:pt x="0" y="94"/>
                  <a:pt x="94" y="0"/>
                  <a:pt x="211" y="0"/>
                </a:cubicBezTo>
                <a:close/>
                <a:moveTo>
                  <a:pt x="340" y="117"/>
                </a:moveTo>
                <a:cubicBezTo>
                  <a:pt x="341" y="117"/>
                  <a:pt x="343" y="118"/>
                  <a:pt x="344" y="119"/>
                </a:cubicBezTo>
                <a:cubicBezTo>
                  <a:pt x="345" y="120"/>
                  <a:pt x="345" y="121"/>
                  <a:pt x="345" y="123"/>
                </a:cubicBezTo>
                <a:lnTo>
                  <a:pt x="345" y="222"/>
                </a:lnTo>
                <a:cubicBezTo>
                  <a:pt x="345" y="223"/>
                  <a:pt x="345" y="225"/>
                  <a:pt x="344" y="226"/>
                </a:cubicBezTo>
                <a:lnTo>
                  <a:pt x="344" y="226"/>
                </a:lnTo>
                <a:cubicBezTo>
                  <a:pt x="343" y="227"/>
                  <a:pt x="341" y="227"/>
                  <a:pt x="340" y="227"/>
                </a:cubicBezTo>
                <a:lnTo>
                  <a:pt x="220" y="227"/>
                </a:lnTo>
                <a:cubicBezTo>
                  <a:pt x="219" y="227"/>
                  <a:pt x="218" y="227"/>
                  <a:pt x="217" y="226"/>
                </a:cubicBezTo>
                <a:lnTo>
                  <a:pt x="217" y="226"/>
                </a:lnTo>
                <a:cubicBezTo>
                  <a:pt x="216" y="225"/>
                  <a:pt x="215" y="223"/>
                  <a:pt x="215" y="222"/>
                </a:cubicBezTo>
                <a:lnTo>
                  <a:pt x="215" y="179"/>
                </a:lnTo>
                <a:lnTo>
                  <a:pt x="286" y="164"/>
                </a:lnTo>
                <a:lnTo>
                  <a:pt x="286" y="162"/>
                </a:lnTo>
                <a:lnTo>
                  <a:pt x="215" y="171"/>
                </a:lnTo>
                <a:lnTo>
                  <a:pt x="215" y="123"/>
                </a:lnTo>
                <a:cubicBezTo>
                  <a:pt x="215" y="121"/>
                  <a:pt x="216" y="120"/>
                  <a:pt x="217" y="119"/>
                </a:cubicBezTo>
                <a:lnTo>
                  <a:pt x="217" y="119"/>
                </a:lnTo>
                <a:cubicBezTo>
                  <a:pt x="218" y="118"/>
                  <a:pt x="219" y="117"/>
                  <a:pt x="220" y="117"/>
                </a:cubicBezTo>
                <a:lnTo>
                  <a:pt x="340" y="117"/>
                </a:lnTo>
                <a:close/>
                <a:moveTo>
                  <a:pt x="220" y="96"/>
                </a:moveTo>
                <a:cubicBezTo>
                  <a:pt x="213" y="96"/>
                  <a:pt x="206" y="99"/>
                  <a:pt x="202" y="104"/>
                </a:cubicBezTo>
                <a:lnTo>
                  <a:pt x="202" y="104"/>
                </a:lnTo>
                <a:cubicBezTo>
                  <a:pt x="197" y="109"/>
                  <a:pt x="194" y="115"/>
                  <a:pt x="194" y="123"/>
                </a:cubicBezTo>
                <a:lnTo>
                  <a:pt x="194" y="174"/>
                </a:lnTo>
                <a:lnTo>
                  <a:pt x="186" y="175"/>
                </a:lnTo>
                <a:lnTo>
                  <a:pt x="186" y="166"/>
                </a:lnTo>
                <a:lnTo>
                  <a:pt x="162" y="166"/>
                </a:lnTo>
                <a:lnTo>
                  <a:pt x="137" y="151"/>
                </a:lnTo>
                <a:lnTo>
                  <a:pt x="77" y="151"/>
                </a:lnTo>
                <a:cubicBezTo>
                  <a:pt x="64" y="151"/>
                  <a:pt x="54" y="161"/>
                  <a:pt x="54" y="173"/>
                </a:cubicBezTo>
                <a:lnTo>
                  <a:pt x="54" y="243"/>
                </a:lnTo>
                <a:lnTo>
                  <a:pt x="77" y="243"/>
                </a:lnTo>
                <a:lnTo>
                  <a:pt x="77" y="192"/>
                </a:lnTo>
                <a:lnTo>
                  <a:pt x="81" y="192"/>
                </a:lnTo>
                <a:lnTo>
                  <a:pt x="81" y="243"/>
                </a:lnTo>
                <a:lnTo>
                  <a:pt x="81" y="256"/>
                </a:lnTo>
                <a:lnTo>
                  <a:pt x="81" y="350"/>
                </a:lnTo>
                <a:lnTo>
                  <a:pt x="106" y="350"/>
                </a:lnTo>
                <a:lnTo>
                  <a:pt x="106" y="272"/>
                </a:lnTo>
                <a:lnTo>
                  <a:pt x="112" y="272"/>
                </a:lnTo>
                <a:lnTo>
                  <a:pt x="112" y="350"/>
                </a:lnTo>
                <a:lnTo>
                  <a:pt x="137" y="350"/>
                </a:lnTo>
                <a:lnTo>
                  <a:pt x="137" y="336"/>
                </a:lnTo>
                <a:lnTo>
                  <a:pt x="137" y="256"/>
                </a:lnTo>
                <a:lnTo>
                  <a:pt x="137" y="243"/>
                </a:lnTo>
                <a:lnTo>
                  <a:pt x="137" y="192"/>
                </a:lnTo>
                <a:lnTo>
                  <a:pt x="137" y="177"/>
                </a:lnTo>
                <a:lnTo>
                  <a:pt x="162" y="192"/>
                </a:lnTo>
                <a:lnTo>
                  <a:pt x="186" y="192"/>
                </a:lnTo>
                <a:lnTo>
                  <a:pt x="186" y="185"/>
                </a:lnTo>
                <a:lnTo>
                  <a:pt x="194" y="184"/>
                </a:lnTo>
                <a:lnTo>
                  <a:pt x="194" y="222"/>
                </a:lnTo>
                <a:cubicBezTo>
                  <a:pt x="194" y="229"/>
                  <a:pt x="197" y="236"/>
                  <a:pt x="202" y="240"/>
                </a:cubicBezTo>
                <a:lnTo>
                  <a:pt x="202" y="240"/>
                </a:lnTo>
                <a:lnTo>
                  <a:pt x="202" y="241"/>
                </a:lnTo>
                <a:cubicBezTo>
                  <a:pt x="207" y="245"/>
                  <a:pt x="213" y="248"/>
                  <a:pt x="220" y="248"/>
                </a:cubicBezTo>
                <a:lnTo>
                  <a:pt x="340" y="248"/>
                </a:lnTo>
                <a:cubicBezTo>
                  <a:pt x="347" y="248"/>
                  <a:pt x="354" y="245"/>
                  <a:pt x="359" y="240"/>
                </a:cubicBezTo>
                <a:lnTo>
                  <a:pt x="359" y="241"/>
                </a:lnTo>
                <a:cubicBezTo>
                  <a:pt x="363" y="236"/>
                  <a:pt x="366" y="229"/>
                  <a:pt x="366" y="222"/>
                </a:cubicBezTo>
                <a:lnTo>
                  <a:pt x="366" y="123"/>
                </a:lnTo>
                <a:cubicBezTo>
                  <a:pt x="366" y="115"/>
                  <a:pt x="363" y="109"/>
                  <a:pt x="359" y="104"/>
                </a:cubicBezTo>
                <a:cubicBezTo>
                  <a:pt x="354" y="99"/>
                  <a:pt x="347" y="96"/>
                  <a:pt x="340" y="96"/>
                </a:cubicBezTo>
                <a:lnTo>
                  <a:pt x="220" y="96"/>
                </a:lnTo>
                <a:close/>
                <a:moveTo>
                  <a:pt x="344" y="254"/>
                </a:moveTo>
                <a:lnTo>
                  <a:pt x="344" y="277"/>
                </a:lnTo>
                <a:lnTo>
                  <a:pt x="325" y="277"/>
                </a:lnTo>
                <a:lnTo>
                  <a:pt x="346" y="351"/>
                </a:lnTo>
                <a:lnTo>
                  <a:pt x="319" y="351"/>
                </a:lnTo>
                <a:lnTo>
                  <a:pt x="298" y="277"/>
                </a:lnTo>
                <a:lnTo>
                  <a:pt x="271" y="277"/>
                </a:lnTo>
                <a:lnTo>
                  <a:pt x="250" y="351"/>
                </a:lnTo>
                <a:lnTo>
                  <a:pt x="223" y="351"/>
                </a:lnTo>
                <a:lnTo>
                  <a:pt x="244" y="277"/>
                </a:lnTo>
                <a:lnTo>
                  <a:pt x="221" y="277"/>
                </a:lnTo>
                <a:lnTo>
                  <a:pt x="221" y="254"/>
                </a:lnTo>
                <a:lnTo>
                  <a:pt x="344" y="254"/>
                </a:lnTo>
                <a:close/>
                <a:moveTo>
                  <a:pt x="109" y="75"/>
                </a:moveTo>
                <a:cubicBezTo>
                  <a:pt x="129" y="75"/>
                  <a:pt x="145" y="91"/>
                  <a:pt x="145" y="111"/>
                </a:cubicBezTo>
                <a:cubicBezTo>
                  <a:pt x="145" y="130"/>
                  <a:pt x="129" y="146"/>
                  <a:pt x="109" y="146"/>
                </a:cubicBezTo>
                <a:cubicBezTo>
                  <a:pt x="90" y="146"/>
                  <a:pt x="74" y="130"/>
                  <a:pt x="74" y="111"/>
                </a:cubicBezTo>
                <a:cubicBezTo>
                  <a:pt x="74" y="91"/>
                  <a:pt x="90" y="75"/>
                  <a:pt x="109" y="75"/>
                </a:cubicBezTo>
                <a:close/>
              </a:path>
            </a:pathLst>
          </a:custGeom>
          <a:solidFill>
            <a:srgbClr val="014723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/>
          <a:p>
            <a:endParaRPr lang="zh-CN" altLang="en-US" sz="280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Florian Bur - The Way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 cstate="print"/>
          <a:stretch>
            <a:fillRect/>
          </a:stretch>
        </p:blipFill>
        <p:spPr>
          <a:xfrm>
            <a:off x="-609600" y="6311900"/>
            <a:ext cx="406400" cy="40640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00" r="2284" b="11992"/>
          <a:stretch>
            <a:fillRect/>
          </a:stretch>
        </p:blipFill>
        <p:spPr>
          <a:xfrm>
            <a:off x="4339400" y="923192"/>
            <a:ext cx="3433000" cy="10726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150"/>
                            </p:stCondLst>
                            <p:childTnLst>
                              <p:par>
                                <p:cTn id="18" presetID="8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35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85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350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85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 numSld="100">
                <p:cTn id="41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8" grpId="0" animBg="1"/>
      <p:bldP spid="15" grpId="0"/>
      <p:bldP spid="16" grpId="0"/>
      <p:bldP spid="13" grpId="0"/>
      <p:bldP spid="14" grpId="0"/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联系方式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9" name="内容占位符 3"/>
          <p:cNvSpPr>
            <a:spLocks noGrp="1"/>
          </p:cNvSpPr>
          <p:nvPr/>
        </p:nvSpPr>
        <p:spPr>
          <a:xfrm>
            <a:off x="1199708" y="2150508"/>
            <a:ext cx="1047423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sz="3200" b="1" dirty="0"/>
              <a:t>任课教师：陆勇</a:t>
            </a:r>
            <a:endParaRPr lang="en-US" altLang="zh-CN" sz="3200" b="1" dirty="0"/>
          </a:p>
          <a:p>
            <a:pPr>
              <a:lnSpc>
                <a:spcPct val="110000"/>
              </a:lnSpc>
            </a:pPr>
            <a:r>
              <a:rPr lang="zh-CN" altLang="en-US" sz="3200" b="1" dirty="0"/>
              <a:t>邮件：</a:t>
            </a:r>
            <a:r>
              <a:rPr lang="en-US" altLang="zh-CN" sz="3200" b="1" dirty="0"/>
              <a:t>stsluy@mail.sysu.edu.cn</a:t>
            </a:r>
          </a:p>
          <a:p>
            <a:pPr>
              <a:lnSpc>
                <a:spcPct val="110000"/>
              </a:lnSpc>
            </a:pPr>
            <a:r>
              <a:rPr lang="zh-CN" altLang="en-US" sz="3200" b="1" dirty="0"/>
              <a:t>电话：</a:t>
            </a:r>
            <a:r>
              <a:rPr lang="en-US" altLang="zh-CN" sz="3200" b="1" dirty="0"/>
              <a:t>13600058633</a:t>
            </a:r>
            <a:r>
              <a:rPr lang="zh-CN" altLang="en-US" sz="3200" b="1" dirty="0"/>
              <a:t>（微信同号）</a:t>
            </a:r>
            <a:endParaRPr lang="en-US" altLang="zh-CN" sz="3200" b="1" dirty="0"/>
          </a:p>
          <a:p>
            <a:pPr>
              <a:lnSpc>
                <a:spcPct val="110000"/>
              </a:lnSpc>
            </a:pPr>
            <a:endParaRPr lang="en-US" altLang="zh-CN" sz="3200" b="1" dirty="0"/>
          </a:p>
          <a:p>
            <a:pPr>
              <a:lnSpc>
                <a:spcPct val="110000"/>
              </a:lnSpc>
            </a:pPr>
            <a:r>
              <a:rPr lang="zh-CN" altLang="en-US" sz="3200" b="1" dirty="0"/>
              <a:t>本课程助教：刘祎铭、刘禹辰</a:t>
            </a:r>
            <a:endParaRPr lang="en-US" altLang="zh-CN" sz="3200" b="1" dirty="0"/>
          </a:p>
          <a:p>
            <a:pPr>
              <a:lnSpc>
                <a:spcPct val="110000"/>
              </a:lnSpc>
            </a:pPr>
            <a:r>
              <a:rPr lang="zh-CN" altLang="en-US" sz="3200" b="1" dirty="0"/>
              <a:t>本课程</a:t>
            </a:r>
            <a:r>
              <a:rPr lang="en-US" altLang="zh-CN" sz="3200" b="1" dirty="0"/>
              <a:t>QQ</a:t>
            </a:r>
            <a:r>
              <a:rPr lang="zh-CN" altLang="en-US" sz="3200" b="1" dirty="0"/>
              <a:t>群：</a:t>
            </a:r>
            <a:r>
              <a:rPr lang="en-US" altLang="zh-CN" sz="3200" b="1" dirty="0"/>
              <a:t>116762458</a:t>
            </a:r>
            <a:r>
              <a:rPr lang="zh-CN" altLang="en-US" sz="3200" b="1" dirty="0"/>
              <a:t>，加群密码：</a:t>
            </a:r>
            <a:r>
              <a:rPr lang="en-US" altLang="zh-CN" sz="3200" b="1" dirty="0"/>
              <a:t>20230922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784629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1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本课程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QQ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群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4AEB2A77-BC2C-45E1-B1C0-11C24EA622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8452" y="1624731"/>
            <a:ext cx="4595095" cy="4826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637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1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8726363-F5A0-42FA-B4ED-1E46D5E897E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1379537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计算机使用水平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1D7F10B-8FDB-4809-B02F-4CED3BD20D8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532743" y="2078037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没接触过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D665182-7911-41A4-BBD8-C87625A445F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532743" y="2763837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初学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3BD7706-E183-4B99-80AB-7C0F5DFB2DC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532743" y="3449637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一般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E9A7F4A-59C9-4A68-A5E6-57F47E011745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532743" y="4135437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高手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060F6EDA-77E6-42D4-B9B3-B8305A9E2C06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665968" y="21423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B0EC98C1-1693-459E-80F0-5888D4466FF7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665968" y="2828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1B14E111-A0BD-4C40-ADB4-7C8EA06FB545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665968" y="35139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D3FE1989-8DA9-4ED1-902C-F25D61AEEF1E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665968" y="41997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B30B593-197F-4779-9006-B46A78A0F5C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8EE6BF1-667B-4BD1-BBCC-A36C9C4CEC22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2532743" y="4821237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高手（常用操作系统、办公软件熟练使用）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635FA019-EA53-4484-A084-C3FDD4D56949}"/>
              </a:ext>
            </a:extLst>
          </p:cNvPr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665968" y="48855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F02E03F8-5AFB-4567-8EF2-E947297D2A4F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98D9B749-DEDA-4F7E-97A7-C5C40E8CF7B9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76999556-082E-477D-8384-1F1DBD10A3C4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E5626AEC-6129-47C4-8EA4-E1CFFFF22510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0037CBD1-6B42-411E-9591-91C873EDCFA7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F1D174F2-A6A5-4DD7-93E0-469663F1D5B1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10003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8726363-F5A0-42FA-B4ED-1E46D5E897E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1379537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计算机应用水平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1D7F10B-8FDB-4809-B02F-4CED3BD20D8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532743" y="2078037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没学过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D665182-7911-41A4-BBD8-C87625A445F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532743" y="2763837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不满意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3BD7706-E183-4B99-80AB-7C0F5DFB2DC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532743" y="3449637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一般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E9A7F4A-59C9-4A68-A5E6-57F47E011745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532743" y="4178299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满意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060F6EDA-77E6-42D4-B9B3-B8305A9E2C06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665968" y="21423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B0EC98C1-1693-459E-80F0-5888D4466FF7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665968" y="2828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1B14E111-A0BD-4C40-ADB4-7C8EA06FB545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665968" y="35139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D3FE1989-8DA9-4ED1-902C-F25D61AEEF1E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665968" y="41997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B30B593-197F-4779-9006-B46A78A0F5C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8EE6BF1-667B-4BD1-BBCC-A36C9C4CEC22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2532743" y="4821237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精通（通过计算机等级考试）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635FA019-EA53-4484-A084-C3FDD4D56949}"/>
              </a:ext>
            </a:extLst>
          </p:cNvPr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665968" y="48855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F02E03F8-5AFB-4567-8EF2-E947297D2A4F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98D9B749-DEDA-4F7E-97A7-C5C40E8CF7B9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76999556-082E-477D-8384-1F1DBD10A3C4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E5626AEC-6129-47C4-8EA4-E1CFFFF22510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0037CBD1-6B42-411E-9591-91C873EDCFA7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F1D174F2-A6A5-4DD7-93E0-469663F1D5B1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00156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8726363-F5A0-42FA-B4ED-1E46D5E897E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1379537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计算机程序设计水平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1D7F10B-8FDB-4809-B02F-4CED3BD20D8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532743" y="2078037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没学过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D665182-7911-41A4-BBD8-C87625A445F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532743" y="2763837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不满意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3BD7706-E183-4B99-80AB-7C0F5DFB2DC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532743" y="3449637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一般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E9A7F4A-59C9-4A68-A5E6-57F47E011745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532743" y="4178299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满意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060F6EDA-77E6-42D4-B9B3-B8305A9E2C06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665968" y="21423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B0EC98C1-1693-459E-80F0-5888D4466FF7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665968" y="2828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1B14E111-A0BD-4C40-ADB4-7C8EA06FB545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665968" y="35139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D3FE1989-8DA9-4ED1-902C-F25D61AEEF1E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665968" y="41997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B30B593-197F-4779-9006-B46A78A0F5C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8EE6BF1-667B-4BD1-BBCC-A36C9C4CEC22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2532743" y="4821237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精通（参加过国际程序设计竞赛）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635FA019-EA53-4484-A084-C3FDD4D56949}"/>
              </a:ext>
            </a:extLst>
          </p:cNvPr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665968" y="48855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F02E03F8-5AFB-4567-8EF2-E947297D2A4F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98D9B749-DEDA-4F7E-97A7-C5C40E8CF7B9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76999556-082E-477D-8384-1F1DBD10A3C4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E5626AEC-6129-47C4-8EA4-E1CFFFF22510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0037CBD1-6B42-411E-9591-91C873EDCFA7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F1D174F2-A6A5-4DD7-93E0-469663F1D5B1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23316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/>
        </p:nvSpPr>
        <p:spPr>
          <a:xfrm>
            <a:off x="-1791046" y="1892300"/>
            <a:ext cx="5651845" cy="3073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C3300"/>
              </a:solidFill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-1556426" y="1998319"/>
            <a:ext cx="5261917" cy="2861362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5642044" y="1204577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b="1">
                <a:solidFill>
                  <a:prstClr val="white"/>
                </a:solidFill>
              </a:rPr>
              <a:t>01</a:t>
            </a:r>
            <a:endParaRPr lang="zh-CN" altLang="en-US" b="1" dirty="0">
              <a:solidFill>
                <a:prstClr val="white"/>
              </a:solidFill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5642044" y="2172502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b="1">
                <a:solidFill>
                  <a:prstClr val="white"/>
                </a:solidFill>
              </a:rPr>
              <a:t>02</a:t>
            </a:r>
            <a:endParaRPr lang="zh-CN" altLang="en-US" b="1" dirty="0">
              <a:solidFill>
                <a:prstClr val="white"/>
              </a:solidFill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642044" y="3140427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b="1">
                <a:solidFill>
                  <a:prstClr val="white"/>
                </a:solidFill>
              </a:rPr>
              <a:t>03</a:t>
            </a:r>
            <a:endParaRPr lang="zh-CN" altLang="en-US" b="1" dirty="0">
              <a:solidFill>
                <a:prstClr val="white"/>
              </a:soli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5642044" y="4108352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b="1">
                <a:solidFill>
                  <a:prstClr val="white"/>
                </a:solidFill>
              </a:rPr>
              <a:t>04</a:t>
            </a:r>
            <a:endParaRPr lang="zh-CN" altLang="en-US" b="1" dirty="0">
              <a:solidFill>
                <a:prstClr val="white"/>
              </a:solidFill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5642044" y="5076279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b="1">
                <a:solidFill>
                  <a:prstClr val="white"/>
                </a:solidFill>
              </a:rPr>
              <a:t>05</a:t>
            </a:r>
            <a:endParaRPr lang="zh-CN" altLang="en-US" b="1" dirty="0">
              <a:solidFill>
                <a:prstClr val="white"/>
              </a:solidFill>
            </a:endParaRPr>
          </a:p>
        </p:txBody>
      </p:sp>
      <p:sp>
        <p:nvSpPr>
          <p:cNvPr id="59" name="圆角矩形 58"/>
          <p:cNvSpPr/>
          <p:nvPr/>
        </p:nvSpPr>
        <p:spPr>
          <a:xfrm>
            <a:off x="6746944" y="1204577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2000" b="1">
                <a:solidFill>
                  <a:prstClr val="white"/>
                </a:solidFill>
              </a:rPr>
              <a:t>计算机语言基础</a:t>
            </a:r>
            <a:endParaRPr lang="zh-CN" altLang="en-US" sz="2000" b="1" dirty="0">
              <a:solidFill>
                <a:prstClr val="white"/>
              </a:solidFill>
            </a:endParaRPr>
          </a:p>
        </p:txBody>
      </p:sp>
      <p:sp>
        <p:nvSpPr>
          <p:cNvPr id="60" name="圆角矩形 59"/>
          <p:cNvSpPr/>
          <p:nvPr/>
        </p:nvSpPr>
        <p:spPr>
          <a:xfrm>
            <a:off x="6746944" y="2172502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2000" b="1">
                <a:solidFill>
                  <a:prstClr val="white"/>
                </a:solidFill>
              </a:rPr>
              <a:t>C</a:t>
            </a:r>
            <a:r>
              <a:rPr lang="zh-CN" altLang="en-US" sz="2000" b="1">
                <a:solidFill>
                  <a:prstClr val="white"/>
                </a:solidFill>
              </a:rPr>
              <a:t>语言</a:t>
            </a:r>
            <a:r>
              <a:rPr lang="en-US" altLang="zh-CN" sz="2000" b="1">
                <a:solidFill>
                  <a:prstClr val="white"/>
                </a:solidFill>
              </a:rPr>
              <a:t>IDE</a:t>
            </a:r>
            <a:r>
              <a:rPr lang="zh-CN" altLang="en-US" sz="2000" b="1">
                <a:solidFill>
                  <a:prstClr val="white"/>
                </a:solidFill>
              </a:rPr>
              <a:t>安装</a:t>
            </a:r>
            <a:endParaRPr lang="zh-CN" altLang="en-US" sz="2000" b="1" dirty="0">
              <a:solidFill>
                <a:prstClr val="white"/>
              </a:solidFill>
            </a:endParaRPr>
          </a:p>
        </p:txBody>
      </p:sp>
      <p:sp>
        <p:nvSpPr>
          <p:cNvPr id="61" name="圆角矩形 60"/>
          <p:cNvSpPr/>
          <p:nvPr/>
        </p:nvSpPr>
        <p:spPr>
          <a:xfrm>
            <a:off x="6746944" y="3140427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2000" b="1">
                <a:solidFill>
                  <a:prstClr val="white"/>
                </a:solidFill>
              </a:rPr>
              <a:t>Hello World </a:t>
            </a:r>
            <a:r>
              <a:rPr lang="zh-CN" altLang="en-US" sz="2000" b="1">
                <a:solidFill>
                  <a:prstClr val="white"/>
                </a:solidFill>
              </a:rPr>
              <a:t>程序</a:t>
            </a:r>
            <a:endParaRPr lang="zh-CN" altLang="en-US" sz="2000" b="1" dirty="0">
              <a:solidFill>
                <a:prstClr val="white"/>
              </a:solidFill>
            </a:endParaRPr>
          </a:p>
        </p:txBody>
      </p:sp>
      <p:sp>
        <p:nvSpPr>
          <p:cNvPr id="62" name="圆角矩形 61"/>
          <p:cNvSpPr/>
          <p:nvPr/>
        </p:nvSpPr>
        <p:spPr>
          <a:xfrm>
            <a:off x="6746944" y="4108352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2000" b="1">
                <a:solidFill>
                  <a:prstClr val="white"/>
                </a:solidFill>
              </a:rPr>
              <a:t>编译过程</a:t>
            </a:r>
            <a:endParaRPr lang="zh-CN" altLang="en-US" sz="2000" b="1" dirty="0">
              <a:solidFill>
                <a:prstClr val="white"/>
              </a:solidFill>
            </a:endParaRPr>
          </a:p>
        </p:txBody>
      </p:sp>
      <p:sp>
        <p:nvSpPr>
          <p:cNvPr id="63" name="圆角矩形 62"/>
          <p:cNvSpPr/>
          <p:nvPr/>
        </p:nvSpPr>
        <p:spPr>
          <a:xfrm>
            <a:off x="6746944" y="5076279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2000" b="1">
                <a:solidFill>
                  <a:prstClr val="white"/>
                </a:solidFill>
              </a:rPr>
              <a:t>程序的基础语法</a:t>
            </a:r>
            <a:endParaRPr lang="zh-CN" altLang="en-US" sz="2000" b="1" dirty="0">
              <a:solidFill>
                <a:prstClr val="white"/>
              </a:solidFill>
            </a:endParaRPr>
          </a:p>
        </p:txBody>
      </p:sp>
      <p:sp>
        <p:nvSpPr>
          <p:cNvPr id="64" name="TextBox 78"/>
          <p:cNvSpPr txBox="1"/>
          <p:nvPr/>
        </p:nvSpPr>
        <p:spPr>
          <a:xfrm>
            <a:off x="742786" y="3733289"/>
            <a:ext cx="1709762" cy="5024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665" b="1" dirty="0">
                <a:solidFill>
                  <a:schemeClr val="bg1"/>
                </a:solidFill>
                <a:latin typeface="Impact MT Std" pitchFamily="34" charset="0"/>
                <a:ea typeface="微软雅黑" panose="020B0503020204020204" pitchFamily="34" charset="-122"/>
              </a:rPr>
              <a:t>CONTENTS</a:t>
            </a:r>
            <a:endParaRPr lang="zh-CN" altLang="en-US" sz="2665" b="1" dirty="0">
              <a:solidFill>
                <a:schemeClr val="bg1"/>
              </a:solidFill>
              <a:latin typeface="Impact MT Std" pitchFamily="34" charset="0"/>
              <a:ea typeface="微软雅黑" panose="020B0503020204020204" pitchFamily="34" charset="-122"/>
            </a:endParaRPr>
          </a:p>
        </p:txBody>
      </p:sp>
      <p:sp>
        <p:nvSpPr>
          <p:cNvPr id="65" name="TextBox 79"/>
          <p:cNvSpPr txBox="1"/>
          <p:nvPr/>
        </p:nvSpPr>
        <p:spPr>
          <a:xfrm>
            <a:off x="641317" y="2677173"/>
            <a:ext cx="1912703" cy="995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 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机器语言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5731" y="2118791"/>
            <a:ext cx="6840538" cy="4144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007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1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机器语言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4" name="内容占位符 3"/>
          <p:cNvSpPr>
            <a:spLocks noGrp="1"/>
          </p:cNvSpPr>
          <p:nvPr/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dirty="0"/>
              <a:t>在计算机的内部，主要的电子元件都是由晶体管构成的，这就意味着计算机只能理解</a:t>
            </a:r>
            <a:r>
              <a:rPr lang="en-US" altLang="zh-CN" dirty="0"/>
              <a:t>0</a:t>
            </a:r>
            <a:r>
              <a:rPr lang="zh-CN" altLang="en-US" dirty="0"/>
              <a:t>（低电平）和</a:t>
            </a:r>
            <a:r>
              <a:rPr lang="en-US" altLang="zh-CN" dirty="0"/>
              <a:t>1</a:t>
            </a:r>
            <a:r>
              <a:rPr lang="zh-CN" altLang="en-US" dirty="0"/>
              <a:t>（高电平）</a:t>
            </a:r>
            <a:endParaRPr lang="en-US" altLang="zh-CN" dirty="0"/>
          </a:p>
          <a:p>
            <a:pPr>
              <a:lnSpc>
                <a:spcPct val="130000"/>
              </a:lnSpc>
            </a:pPr>
            <a:r>
              <a:rPr lang="zh-CN" altLang="en-US" dirty="0"/>
              <a:t>如果你想和计算机直接交流，就必须使用只由</a:t>
            </a:r>
            <a:r>
              <a:rPr lang="en-US" altLang="zh-CN" dirty="0"/>
              <a:t>0</a:t>
            </a:r>
            <a:r>
              <a:rPr lang="zh-CN" altLang="en-US" dirty="0"/>
              <a:t>和</a:t>
            </a:r>
            <a:r>
              <a:rPr lang="en-US" altLang="zh-CN" dirty="0"/>
              <a:t>1</a:t>
            </a:r>
            <a:r>
              <a:rPr lang="zh-CN" altLang="en-US" dirty="0"/>
              <a:t>构成的机器指令</a:t>
            </a:r>
          </a:p>
        </p:txBody>
      </p:sp>
      <p:pic>
        <p:nvPicPr>
          <p:cNvPr id="100" name="图片 99"/>
          <p:cNvPicPr/>
          <p:nvPr/>
        </p:nvPicPr>
        <p:blipFill>
          <a:blip r:embed="rId4" r:link="rId5"/>
          <a:stretch>
            <a:fillRect/>
          </a:stretch>
        </p:blipFill>
        <p:spPr>
          <a:xfrm>
            <a:off x="6827520" y="2341245"/>
            <a:ext cx="4258310" cy="26752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1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图灵与图灵机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pic>
        <p:nvPicPr>
          <p:cNvPr id="1026" name="Picture 2" descr="艾伦·麦席森·图灵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8184" y="2192137"/>
            <a:ext cx="2809875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gimg2.baidu.com/image_search/src=http%3A%2F%2Fp2.itc.cn%2Fq_70%2Fimages03%2F20200623%2Fede133bd0a5e412ab40bf69fbe4962ce.png&amp;refer=http%3A%2F%2Fp2.itc.cn&amp;app=2002&amp;size=f9999,10000&amp;q=a80&amp;n=0&amp;g=0n&amp;fmt=jpeg?sec=1635291837&amp;t=08650dcc51cb6c09ab21379a5a22ef9b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5687" y="2149474"/>
            <a:ext cx="4704443" cy="38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8888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1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冯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·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诺依曼与现代计算机体系结构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pic>
        <p:nvPicPr>
          <p:cNvPr id="6146" name="Picture 2" descr="约翰·冯·诺依曼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870" y="2195195"/>
            <a:ext cx="3000738" cy="3908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https://bkimg.cdn.bcebos.com/pic/a8773912b31bb051973f1da5367adab44aede020?x-bce-process=image/watermark,image_d2F0ZXIvYmFpa2U4MA==,g_7,xp_5,yp_5/format,f_auto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3177" y="2195195"/>
            <a:ext cx="7387953" cy="3943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2337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1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算盘、算术与现代计算机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AutoShape 2" descr="https://img2.zol.com.cn/product/11_501x2000/635/ceNLzkQwKfRSU.jp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7172" name="Picture 4" descr="http://5b0988e595225.cdn.sohucs.com/images/20180328/acab58811b1e4ef7a679e5010e90f7e4.jpe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484" y="2581623"/>
            <a:ext cx="4458071" cy="2967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8" name="Picture 10" descr="https://gimg2.baidu.com/image_search/src=http%3A%2F%2Fpic.51yuansu.com%2Fpic3%2Fcover%2F00%2F60%2F17%2F58624a86b08b3_610.jpg&amp;refer=http%3A%2F%2Fpic.51yuansu.com&amp;app=2002&amp;size=f9999,10000&amp;q=a80&amp;n=0&amp;g=0n&amp;fmt=jpeg?sec=1635292376&amp;t=d756f78554d9ed795496928b74773ef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799" y="1966671"/>
            <a:ext cx="4197307" cy="4197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7497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1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机器语言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pic>
        <p:nvPicPr>
          <p:cNvPr id="100" name="图片 99"/>
          <p:cNvPicPr/>
          <p:nvPr/>
        </p:nvPicPr>
        <p:blipFill>
          <a:blip r:embed="rId4" r:link="rId5"/>
          <a:stretch>
            <a:fillRect/>
          </a:stretch>
        </p:blipFill>
        <p:spPr>
          <a:xfrm>
            <a:off x="7000314" y="2320925"/>
            <a:ext cx="4258310" cy="26752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内容占位符 3"/>
          <p:cNvSpPr>
            <a:spLocks noGrp="1"/>
          </p:cNvSpPr>
          <p:nvPr/>
        </p:nvSpPr>
        <p:spPr>
          <a:xfrm>
            <a:off x="483235" y="1825625"/>
            <a:ext cx="6281420" cy="435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dirty="0"/>
              <a:t>机器指令又繁冗又难理解，那么程序员们就只能靠机器语言来和计算机打交道了吗？</a:t>
            </a:r>
          </a:p>
          <a:p>
            <a:pPr>
              <a:lnSpc>
                <a:spcPct val="110000"/>
              </a:lnSpc>
            </a:pPr>
            <a:r>
              <a:rPr lang="zh-CN" altLang="en-US" dirty="0"/>
              <a:t>想象一下，假设你完全不会俄语，但你又需要与俄国人打交道，有什么办法呢？</a:t>
            </a:r>
          </a:p>
          <a:p>
            <a:pPr>
              <a:lnSpc>
                <a:spcPct val="110000"/>
              </a:lnSpc>
            </a:pPr>
            <a:r>
              <a:rPr lang="zh-CN" altLang="en-US" dirty="0"/>
              <a:t>答案是借助一种中间语言，比如英语，实现汉语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→英语→俄语的翻译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1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汇编语言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4" name="内容占位符 3"/>
          <p:cNvSpPr>
            <a:spLocks noGrp="1"/>
          </p:cNvSpPr>
          <p:nvPr/>
        </p:nvSpPr>
        <p:spPr>
          <a:xfrm>
            <a:off x="1256413" y="1875244"/>
            <a:ext cx="9276907" cy="435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汇编语言正是对机器语言的翻译！</a:t>
            </a:r>
          </a:p>
          <a:p>
            <a:r>
              <a:rPr lang="zh-CN" altLang="en-US" dirty="0"/>
              <a:t>借助汇编语言，我们可以将一些常见的机器指令转化成人类可以理解的助记符，比如规定：</a:t>
            </a:r>
            <a:endParaRPr lang="en-US" altLang="zh-CN" dirty="0"/>
          </a:p>
          <a:p>
            <a:endParaRPr lang="zh-CN" altLang="en-US" dirty="0"/>
          </a:p>
          <a:p>
            <a:r>
              <a:rPr lang="en-US" altLang="zh-CN" dirty="0"/>
              <a:t>add=000000</a:t>
            </a:r>
          </a:p>
          <a:p>
            <a:r>
              <a:rPr lang="en-US" altLang="zh-CN" dirty="0"/>
              <a:t>sub=100010</a:t>
            </a:r>
          </a:p>
          <a:p>
            <a:r>
              <a:rPr lang="en-US" altLang="zh-CN" dirty="0" err="1"/>
              <a:t>mul</a:t>
            </a:r>
            <a:r>
              <a:rPr lang="en-US" altLang="zh-CN" dirty="0"/>
              <a:t>=000010</a:t>
            </a:r>
          </a:p>
          <a:p>
            <a:r>
              <a:rPr lang="en-US" altLang="zh-CN" dirty="0"/>
              <a:t>div=011010</a:t>
            </a:r>
          </a:p>
        </p:txBody>
      </p:sp>
      <p:pic>
        <p:nvPicPr>
          <p:cNvPr id="101" name="图片 100"/>
          <p:cNvPicPr/>
          <p:nvPr/>
        </p:nvPicPr>
        <p:blipFill>
          <a:blip r:embed="rId4" r:link="rId5"/>
          <a:stretch>
            <a:fillRect/>
          </a:stretch>
        </p:blipFill>
        <p:spPr>
          <a:xfrm>
            <a:off x="4412984" y="4051071"/>
            <a:ext cx="6633210" cy="141224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1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C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语言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4" name="内容占位符 3"/>
          <p:cNvSpPr>
            <a:spLocks noGrp="1"/>
          </p:cNvSpPr>
          <p:nvPr/>
        </p:nvSpPr>
        <p:spPr>
          <a:xfrm>
            <a:off x="838200" y="1815465"/>
            <a:ext cx="10236200" cy="435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</a:rPr>
              <a:t>那么更进一步的，</a:t>
            </a:r>
            <a:r>
              <a:rPr lang="en-US" altLang="zh-CN" dirty="0">
                <a:solidFill>
                  <a:schemeClr val="tx1"/>
                </a:solidFill>
              </a:rPr>
              <a:t>C</a:t>
            </a:r>
            <a:r>
              <a:rPr lang="zh-CN" altLang="en-US" dirty="0">
                <a:solidFill>
                  <a:schemeClr val="tx1"/>
                </a:solidFill>
              </a:rPr>
              <a:t>语言则是对汇编语言的翻译，使得人类更容易理解。</a:t>
            </a:r>
          </a:p>
          <a:p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最初的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C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语言只能在大型计算机上执行，被移植到微机上来出现了许多不同的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C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语言版本。</a:t>
            </a:r>
          </a:p>
          <a:p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为了改变这种情况，在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1983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年美国国家标准化协会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(ANSI)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为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C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语言制定了标准，即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ANSI C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。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1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C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语言环境设置：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IDE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4" name="内容占位符 3"/>
          <p:cNvSpPr>
            <a:spLocks noGrp="1"/>
          </p:cNvSpPr>
          <p:nvPr/>
        </p:nvSpPr>
        <p:spPr>
          <a:xfrm>
            <a:off x="956310" y="1934845"/>
            <a:ext cx="10118090" cy="42424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 err="1">
                <a:solidFill>
                  <a:schemeClr val="tx1"/>
                </a:solidFill>
              </a:rPr>
              <a:t>集成开发环境（IDE，Integrated</a:t>
            </a:r>
            <a:r>
              <a:rPr dirty="0">
                <a:solidFill>
                  <a:schemeClr val="tx1"/>
                </a:solidFill>
              </a:rPr>
              <a:t> Development </a:t>
            </a:r>
            <a:r>
              <a:rPr dirty="0" err="1">
                <a:solidFill>
                  <a:schemeClr val="tx1"/>
                </a:solidFill>
              </a:rPr>
              <a:t>Environment）是用于提供程序开发环境的应用程序，一般包括代码编辑器、编译器、调试器和图形用户界面等工具</a:t>
            </a:r>
            <a:r>
              <a:rPr dirty="0">
                <a:solidFill>
                  <a:schemeClr val="tx1"/>
                </a:solidFill>
              </a:rPr>
              <a:t>。</a:t>
            </a:r>
          </a:p>
          <a:p>
            <a:endParaRPr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对于刚刚学习</a:t>
            </a:r>
            <a:r>
              <a:rPr lang="en-US" altLang="zh-CN" dirty="0">
                <a:solidFill>
                  <a:schemeClr val="tx1"/>
                </a:solidFill>
              </a:rPr>
              <a:t>C</a:t>
            </a:r>
            <a:r>
              <a:rPr lang="zh-CN" altLang="en-US" dirty="0">
                <a:solidFill>
                  <a:schemeClr val="tx1"/>
                </a:solidFill>
              </a:rPr>
              <a:t>语言的新手，推荐使用</a:t>
            </a:r>
            <a:r>
              <a:rPr lang="en-US" altLang="zh-CN" dirty="0">
                <a:solidFill>
                  <a:schemeClr val="tx1"/>
                </a:solidFill>
                <a:hlinkClick r:id="rId4" action="ppaction://hlinkfile"/>
              </a:rPr>
              <a:t>DEV-C++</a:t>
            </a:r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 dirty="0"/>
          </a:p>
          <a:p>
            <a:r>
              <a:rPr lang="zh-CN" altLang="en-US" dirty="0">
                <a:solidFill>
                  <a:schemeClr val="tx1"/>
                </a:solidFill>
              </a:rPr>
              <a:t>可以在本课程</a:t>
            </a:r>
            <a:r>
              <a:rPr lang="en-US" altLang="zh-CN" dirty="0">
                <a:solidFill>
                  <a:schemeClr val="tx1"/>
                </a:solidFill>
              </a:rPr>
              <a:t>QQ</a:t>
            </a:r>
            <a:r>
              <a:rPr lang="zh-CN" altLang="en-US" dirty="0">
                <a:solidFill>
                  <a:schemeClr val="tx1"/>
                </a:solidFill>
              </a:rPr>
              <a:t>群里下载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1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DEV-C++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安装示例（一）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内容占位符 3"/>
          <p:cNvSpPr>
            <a:spLocks noGrp="1"/>
          </p:cNvSpPr>
          <p:nvPr/>
        </p:nvSpPr>
        <p:spPr>
          <a:xfrm>
            <a:off x="956310" y="2197823"/>
            <a:ext cx="10118090" cy="7372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</a:rPr>
              <a:t>打开</a:t>
            </a:r>
            <a:r>
              <a:rPr lang="en-US" altLang="zh-CN" dirty="0">
                <a:solidFill>
                  <a:schemeClr val="tx1"/>
                </a:solidFill>
              </a:rPr>
              <a:t>DEV-C++</a:t>
            </a:r>
            <a:r>
              <a:rPr lang="zh-CN" altLang="en-US" dirty="0">
                <a:solidFill>
                  <a:schemeClr val="tx1"/>
                </a:solidFill>
              </a:rPr>
              <a:t>官网，点击</a:t>
            </a:r>
            <a:r>
              <a:rPr lang="en-US" altLang="zh-CN" dirty="0">
                <a:solidFill>
                  <a:schemeClr val="tx1"/>
                </a:solidFill>
              </a:rPr>
              <a:t>download</a:t>
            </a:r>
            <a:r>
              <a:rPr lang="zh-CN" altLang="en-US" dirty="0">
                <a:solidFill>
                  <a:schemeClr val="tx1"/>
                </a:solidFill>
              </a:rPr>
              <a:t>下载安装包。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310" y="3429000"/>
            <a:ext cx="8983980" cy="17830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1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DEV-C++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安装示例（二）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内容占位符 3"/>
          <p:cNvSpPr>
            <a:spLocks noGrp="1"/>
          </p:cNvSpPr>
          <p:nvPr/>
        </p:nvSpPr>
        <p:spPr>
          <a:xfrm>
            <a:off x="956310" y="1934845"/>
            <a:ext cx="10118090" cy="42424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</a:rPr>
              <a:t>打开安装包，一路同意即可：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229360" y="2409825"/>
            <a:ext cx="4747260" cy="36957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005" y="2409825"/>
            <a:ext cx="4747260" cy="3695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1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DEV-C++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安装示例（三）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735" y="2392680"/>
            <a:ext cx="4747260" cy="36957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860" y="2392680"/>
            <a:ext cx="4747260" cy="3695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1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DEV-C++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安装示例（四）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4" name="内容占位符 3"/>
          <p:cNvSpPr>
            <a:spLocks noGrp="1"/>
          </p:cNvSpPr>
          <p:nvPr/>
        </p:nvSpPr>
        <p:spPr>
          <a:xfrm>
            <a:off x="956310" y="1810385"/>
            <a:ext cx="10118090" cy="4790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</a:rPr>
              <a:t>如下图即为安装完成，打开界面的样子：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310" y="2332355"/>
            <a:ext cx="6282055" cy="40551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1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第一个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C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语言程序（一）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/>
        </p:nvSpPr>
        <p:spPr>
          <a:xfrm>
            <a:off x="812800" y="1730375"/>
            <a:ext cx="10278745" cy="4657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</a:rPr>
              <a:t>点击左上角的</a:t>
            </a:r>
            <a:r>
              <a:rPr lang="en-US" altLang="zh-CN">
                <a:solidFill>
                  <a:schemeClr val="tx1"/>
                </a:solidFill>
              </a:rPr>
              <a:t>File/New/Source File</a:t>
            </a:r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Ctrl+N</a:t>
            </a:r>
            <a:r>
              <a:rPr lang="zh-CN" altLang="en-US">
                <a:solidFill>
                  <a:schemeClr val="tx1"/>
                </a:solidFill>
              </a:rPr>
              <a:t>也可）创建新文件：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320" y="2357755"/>
            <a:ext cx="6519545" cy="41967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1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第一个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C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语言程序（二）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/>
        </p:nvSpPr>
        <p:spPr>
          <a:xfrm>
            <a:off x="812800" y="1730375"/>
            <a:ext cx="10278745" cy="4657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sym typeface="+mn-ea"/>
              </a:rPr>
              <a:t>在新打开的编辑界面中输入如下代码：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6286" y="2455908"/>
            <a:ext cx="6489065" cy="41884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1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第一个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C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语言程序（三）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/>
        </p:nvSpPr>
        <p:spPr>
          <a:xfrm>
            <a:off x="812800" y="1730375"/>
            <a:ext cx="10278745" cy="4657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>
                <a:sym typeface="+mn-ea"/>
              </a:rPr>
              <a:t>点击左上角的</a:t>
            </a:r>
            <a:r>
              <a:rPr lang="en-US" altLang="zh-CN" dirty="0">
                <a:sym typeface="+mn-ea"/>
              </a:rPr>
              <a:t>File/Save</a:t>
            </a:r>
            <a:r>
              <a:rPr lang="zh-CN" altLang="en-US" dirty="0">
                <a:sym typeface="+mn-ea"/>
              </a:rPr>
              <a:t>（</a:t>
            </a:r>
            <a:r>
              <a:rPr lang="en-US" altLang="zh-CN" dirty="0" err="1">
                <a:sym typeface="+mn-ea"/>
              </a:rPr>
              <a:t>Ctrl+S</a:t>
            </a:r>
            <a:r>
              <a:rPr lang="zh-CN" altLang="en-US" dirty="0">
                <a:sym typeface="+mn-ea"/>
              </a:rPr>
              <a:t>也可）保存文件。</a:t>
            </a:r>
          </a:p>
          <a:p>
            <a:pPr marL="0" indent="0">
              <a:buNone/>
            </a:pPr>
            <a:r>
              <a:rPr lang="zh-CN" altLang="en-US" dirty="0">
                <a:sym typeface="+mn-ea"/>
              </a:rPr>
              <a:t>文件名填写为</a:t>
            </a:r>
            <a:r>
              <a:rPr lang="en-US" altLang="zh-CN" dirty="0" err="1">
                <a:sym typeface="+mn-ea"/>
              </a:rPr>
              <a:t>helloworld.c</a:t>
            </a:r>
            <a:r>
              <a:rPr lang="zh-CN" altLang="en-US" dirty="0">
                <a:sym typeface="+mn-ea"/>
              </a:rPr>
              <a:t>，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保存类型选择为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 C source file</a:t>
            </a:r>
            <a:r>
              <a:rPr lang="en-US" altLang="zh-CN" dirty="0">
                <a:sym typeface="+mn-ea"/>
              </a:rPr>
              <a:t>.</a:t>
            </a:r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3486" y="2824390"/>
            <a:ext cx="5952490" cy="38430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1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第一个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C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语言程序（四）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/>
        </p:nvSpPr>
        <p:spPr>
          <a:xfrm>
            <a:off x="812800" y="1730375"/>
            <a:ext cx="10278745" cy="4657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>
                <a:sym typeface="+mn-ea"/>
              </a:rPr>
              <a:t>按快捷键</a:t>
            </a:r>
            <a:r>
              <a:rPr lang="en-US" altLang="zh-CN" dirty="0">
                <a:sym typeface="+mn-ea"/>
              </a:rPr>
              <a:t>&lt;F11&gt; </a:t>
            </a:r>
            <a:r>
              <a:rPr lang="zh-CN" altLang="en-US" dirty="0">
                <a:sym typeface="+mn-ea"/>
              </a:rPr>
              <a:t>或 点击左上角 </a:t>
            </a:r>
            <a:r>
              <a:rPr lang="en-US" altLang="zh-CN" dirty="0" err="1">
                <a:sym typeface="+mn-ea"/>
              </a:rPr>
              <a:t>Excute</a:t>
            </a:r>
            <a:r>
              <a:rPr lang="en-US" altLang="zh-CN" dirty="0">
                <a:sym typeface="+mn-ea"/>
              </a:rPr>
              <a:t>/Compile or Run </a:t>
            </a:r>
            <a:r>
              <a:rPr lang="zh-CN" altLang="en-US" b="1" dirty="0">
                <a:sym typeface="+mn-ea"/>
              </a:rPr>
              <a:t>编译</a:t>
            </a:r>
            <a:r>
              <a:rPr lang="zh-CN" altLang="en-US" dirty="0">
                <a:sym typeface="+mn-ea"/>
              </a:rPr>
              <a:t>并</a:t>
            </a:r>
            <a:r>
              <a:rPr lang="zh-CN" altLang="en-US" b="1" dirty="0">
                <a:sym typeface="+mn-ea"/>
              </a:rPr>
              <a:t>运行</a:t>
            </a:r>
            <a:r>
              <a:rPr lang="zh-CN" altLang="en-US" dirty="0">
                <a:sym typeface="+mn-ea"/>
              </a:rPr>
              <a:t>程序。</a:t>
            </a:r>
            <a:r>
              <a:rPr lang="zh-CN" altLang="en-US" sz="1800" dirty="0">
                <a:sym typeface="+mn-ea"/>
              </a:rPr>
              <a:t>注意以下红色区域的内容，必须 </a:t>
            </a:r>
            <a:r>
              <a:rPr lang="en-US" altLang="zh-CN" sz="1800" dirty="0">
                <a:sym typeface="+mn-ea"/>
              </a:rPr>
              <a:t>Errors </a:t>
            </a:r>
            <a:r>
              <a:rPr lang="zh-CN" altLang="en-US" sz="1800" dirty="0">
                <a:sym typeface="+mn-ea"/>
              </a:rPr>
              <a:t>和 </a:t>
            </a:r>
            <a:r>
              <a:rPr lang="en-US" altLang="zh-CN" sz="1800" dirty="0">
                <a:sym typeface="+mn-ea"/>
              </a:rPr>
              <a:t>Warnings </a:t>
            </a:r>
            <a:r>
              <a:rPr lang="zh-CN" altLang="en-US" sz="1800" dirty="0">
                <a:sym typeface="+mn-ea"/>
              </a:rPr>
              <a:t>都是 </a:t>
            </a:r>
            <a:r>
              <a:rPr lang="en-US" altLang="zh-CN" sz="1800" dirty="0">
                <a:sym typeface="+mn-ea"/>
              </a:rPr>
              <a:t>0</a:t>
            </a:r>
            <a:r>
              <a:rPr lang="zh-CN" altLang="en-US" sz="1800">
                <a:sym typeface="+mn-ea"/>
              </a:rPr>
              <a:t>。</a:t>
            </a:r>
            <a:endParaRPr lang="zh-CN" altLang="en-US" dirty="0">
              <a:sym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100D8C0-3A0D-3DA4-70C3-78166B38FB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876" y="2621278"/>
            <a:ext cx="4587891" cy="385807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C42A5119-1BC7-692C-32D6-7A791457BE99}"/>
              </a:ext>
            </a:extLst>
          </p:cNvPr>
          <p:cNvSpPr txBox="1"/>
          <p:nvPr/>
        </p:nvSpPr>
        <p:spPr>
          <a:xfrm>
            <a:off x="6662633" y="2743200"/>
            <a:ext cx="4184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如果有</a:t>
            </a:r>
            <a:r>
              <a:rPr lang="en-US" altLang="zh-CN" dirty="0"/>
              <a:t>Warning</a:t>
            </a:r>
            <a:r>
              <a:rPr lang="zh-CN" altLang="en-US" dirty="0"/>
              <a:t>，可能需要配置为</a:t>
            </a:r>
            <a:r>
              <a:rPr lang="en-US" altLang="zh-CN" dirty="0"/>
              <a:t>C99</a:t>
            </a:r>
            <a:r>
              <a:rPr lang="zh-CN" altLang="en-US" dirty="0"/>
              <a:t>：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9FDA9A9-3F5F-343B-42FF-3FAEF844BF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9249" y="3142938"/>
            <a:ext cx="3967549" cy="333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054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1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第一个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C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语言程序（五）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/>
        </p:nvSpPr>
        <p:spPr>
          <a:xfrm>
            <a:off x="812800" y="1730375"/>
            <a:ext cx="10278745" cy="4657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sym typeface="+mn-ea"/>
              </a:rPr>
              <a:t>运行结果：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1314" y="2390140"/>
            <a:ext cx="8036560" cy="41992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1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编译过程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6131904" y="1887462"/>
            <a:ext cx="2447925" cy="122555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/>
              <a:t>0100100100100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/>
              <a:t>1001010000111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/>
              <a:t>………………</a:t>
            </a: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6131904" y="3543224"/>
            <a:ext cx="2447925" cy="122555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/>
              <a:t>0111100101010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/>
              <a:t>0101000100101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/>
              <a:t>………………</a:t>
            </a:r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6131904" y="5197399"/>
            <a:ext cx="2447925" cy="122555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/>
              <a:t>0001110101100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/>
              <a:t>1000100101000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/>
              <a:t>………………</a:t>
            </a: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1666266" y="3470199"/>
            <a:ext cx="1512888" cy="12954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/>
              <a:t>int i, j, a;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/>
              <a:t>a = i + j;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/>
              <a:t>………</a:t>
            </a:r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3610954" y="2103362"/>
            <a:ext cx="1800225" cy="792162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</a:rPr>
              <a:t>compliler1</a:t>
            </a:r>
          </a:p>
        </p:txBody>
      </p:sp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3610954" y="3687687"/>
            <a:ext cx="1800225" cy="792162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</a:rPr>
              <a:t>compliler2</a:t>
            </a:r>
          </a:p>
        </p:txBody>
      </p:sp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3610954" y="5414887"/>
            <a:ext cx="1800225" cy="792162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</a:rPr>
              <a:t>compliler3</a:t>
            </a:r>
          </a:p>
        </p:txBody>
      </p:sp>
      <p:pic>
        <p:nvPicPr>
          <p:cNvPr id="16" name="Picture 1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6091" y="2103362"/>
            <a:ext cx="1001713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AutoShape 16"/>
          <p:cNvSpPr>
            <a:spLocks noChangeArrowheads="1"/>
          </p:cNvSpPr>
          <p:nvPr/>
        </p:nvSpPr>
        <p:spPr bwMode="auto">
          <a:xfrm>
            <a:off x="3250591" y="3903587"/>
            <a:ext cx="288925" cy="358775"/>
          </a:xfrm>
          <a:prstGeom prst="rightArrow">
            <a:avLst>
              <a:gd name="adj1" fmla="val 50000"/>
              <a:gd name="adj2" fmla="val 25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800"/>
          </a:p>
        </p:txBody>
      </p:sp>
      <p:sp>
        <p:nvSpPr>
          <p:cNvPr id="18" name="AutoShape 17"/>
          <p:cNvSpPr>
            <a:spLocks noChangeArrowheads="1"/>
          </p:cNvSpPr>
          <p:nvPr/>
        </p:nvSpPr>
        <p:spPr bwMode="auto">
          <a:xfrm>
            <a:off x="5555641" y="3903587"/>
            <a:ext cx="431800" cy="358775"/>
          </a:xfrm>
          <a:prstGeom prst="rightArrow">
            <a:avLst>
              <a:gd name="adj1" fmla="val 50000"/>
              <a:gd name="adj2" fmla="val 30088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800"/>
          </a:p>
        </p:txBody>
      </p:sp>
      <p:sp>
        <p:nvSpPr>
          <p:cNvPr id="19" name="AutoShape 18"/>
          <p:cNvSpPr>
            <a:spLocks noChangeArrowheads="1"/>
          </p:cNvSpPr>
          <p:nvPr/>
        </p:nvSpPr>
        <p:spPr bwMode="auto">
          <a:xfrm>
            <a:off x="5555641" y="5632374"/>
            <a:ext cx="431800" cy="358775"/>
          </a:xfrm>
          <a:prstGeom prst="rightArrow">
            <a:avLst>
              <a:gd name="adj1" fmla="val 50000"/>
              <a:gd name="adj2" fmla="val 30088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800"/>
          </a:p>
        </p:txBody>
      </p:sp>
      <p:sp>
        <p:nvSpPr>
          <p:cNvPr id="20" name="AutoShape 19"/>
          <p:cNvSpPr>
            <a:spLocks noChangeArrowheads="1"/>
          </p:cNvSpPr>
          <p:nvPr/>
        </p:nvSpPr>
        <p:spPr bwMode="auto">
          <a:xfrm>
            <a:off x="5555641" y="2319262"/>
            <a:ext cx="431800" cy="358775"/>
          </a:xfrm>
          <a:prstGeom prst="rightArrow">
            <a:avLst>
              <a:gd name="adj1" fmla="val 50000"/>
              <a:gd name="adj2" fmla="val 30088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800"/>
          </a:p>
        </p:txBody>
      </p:sp>
      <p:sp>
        <p:nvSpPr>
          <p:cNvPr id="21" name="AutoShape 20"/>
          <p:cNvSpPr>
            <a:spLocks noChangeArrowheads="1"/>
          </p:cNvSpPr>
          <p:nvPr/>
        </p:nvSpPr>
        <p:spPr bwMode="auto">
          <a:xfrm rot="19502961">
            <a:off x="2764816" y="2797099"/>
            <a:ext cx="792163" cy="430213"/>
          </a:xfrm>
          <a:prstGeom prst="rightArrow">
            <a:avLst>
              <a:gd name="adj1" fmla="val 50000"/>
              <a:gd name="adj2" fmla="val 4603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800"/>
          </a:p>
        </p:txBody>
      </p:sp>
      <p:sp>
        <p:nvSpPr>
          <p:cNvPr id="23" name="AutoShape 21"/>
          <p:cNvSpPr>
            <a:spLocks noChangeArrowheads="1"/>
          </p:cNvSpPr>
          <p:nvPr/>
        </p:nvSpPr>
        <p:spPr bwMode="auto">
          <a:xfrm rot="2678707">
            <a:off x="2818791" y="4983087"/>
            <a:ext cx="792163" cy="430212"/>
          </a:xfrm>
          <a:prstGeom prst="rightArrow">
            <a:avLst>
              <a:gd name="adj1" fmla="val 50000"/>
              <a:gd name="adj2" fmla="val 4603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800"/>
          </a:p>
        </p:txBody>
      </p:sp>
      <p:sp>
        <p:nvSpPr>
          <p:cNvPr id="24" name="AutoShape 22"/>
          <p:cNvSpPr>
            <a:spLocks noChangeArrowheads="1"/>
          </p:cNvSpPr>
          <p:nvPr/>
        </p:nvSpPr>
        <p:spPr bwMode="auto">
          <a:xfrm>
            <a:off x="8651266" y="2319262"/>
            <a:ext cx="431800" cy="358775"/>
          </a:xfrm>
          <a:prstGeom prst="rightArrow">
            <a:avLst>
              <a:gd name="adj1" fmla="val 50000"/>
              <a:gd name="adj2" fmla="val 30088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800"/>
          </a:p>
        </p:txBody>
      </p:sp>
      <p:sp>
        <p:nvSpPr>
          <p:cNvPr id="25" name="AutoShape 23"/>
          <p:cNvSpPr>
            <a:spLocks noChangeArrowheads="1"/>
          </p:cNvSpPr>
          <p:nvPr/>
        </p:nvSpPr>
        <p:spPr bwMode="auto">
          <a:xfrm>
            <a:off x="8651266" y="4048049"/>
            <a:ext cx="431800" cy="358775"/>
          </a:xfrm>
          <a:prstGeom prst="rightArrow">
            <a:avLst>
              <a:gd name="adj1" fmla="val 50000"/>
              <a:gd name="adj2" fmla="val 30088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800"/>
          </a:p>
        </p:txBody>
      </p:sp>
      <p:sp>
        <p:nvSpPr>
          <p:cNvPr id="26" name="AutoShape 24"/>
          <p:cNvSpPr>
            <a:spLocks noChangeArrowheads="1"/>
          </p:cNvSpPr>
          <p:nvPr/>
        </p:nvSpPr>
        <p:spPr bwMode="auto">
          <a:xfrm>
            <a:off x="8651266" y="5632374"/>
            <a:ext cx="431800" cy="358775"/>
          </a:xfrm>
          <a:prstGeom prst="rightArrow">
            <a:avLst>
              <a:gd name="adj1" fmla="val 50000"/>
              <a:gd name="adj2" fmla="val 30088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800"/>
          </a:p>
        </p:txBody>
      </p:sp>
      <p:pic>
        <p:nvPicPr>
          <p:cNvPr id="27" name="Picture 26" descr="it?u=3554832635,1348476244">
            <a:hlinkClick r:id="rId5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6091" y="3614662"/>
            <a:ext cx="935038" cy="94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28" descr="u=1359697081,2114493939&amp;gp=48">
            <a:hlinkClick r:id="rId7"/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5466" y="5270424"/>
            <a:ext cx="1000125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71819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1" grpId="0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编译过程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grpSp>
        <p:nvGrpSpPr>
          <p:cNvPr id="29" name="Group 30"/>
          <p:cNvGrpSpPr>
            <a:grpSpLocks/>
          </p:cNvGrpSpPr>
          <p:nvPr/>
        </p:nvGrpSpPr>
        <p:grpSpPr bwMode="auto">
          <a:xfrm>
            <a:off x="7329814" y="4430417"/>
            <a:ext cx="2209800" cy="2286000"/>
            <a:chOff x="3552" y="2678"/>
            <a:chExt cx="1392" cy="1440"/>
          </a:xfrm>
        </p:grpSpPr>
        <p:sp>
          <p:nvSpPr>
            <p:cNvPr id="30" name="AutoShape 31"/>
            <p:cNvSpPr>
              <a:spLocks noChangeArrowheads="1"/>
            </p:cNvSpPr>
            <p:nvPr/>
          </p:nvSpPr>
          <p:spPr bwMode="auto">
            <a:xfrm>
              <a:off x="4067" y="2678"/>
              <a:ext cx="362" cy="594"/>
            </a:xfrm>
            <a:prstGeom prst="upArrow">
              <a:avLst>
                <a:gd name="adj1" fmla="val 50000"/>
                <a:gd name="adj2" fmla="val 82037"/>
              </a:avLst>
            </a:prstGeom>
            <a:solidFill>
              <a:srgbClr val="FF9933"/>
            </a:solidFill>
            <a:ln>
              <a:noFill/>
            </a:ln>
            <a:effectLst>
              <a:outerShdw dist="8980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0000"/>
                </a:buClr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800"/>
            </a:p>
          </p:txBody>
        </p:sp>
        <p:sp>
          <p:nvSpPr>
            <p:cNvPr id="31" name="Rectangle 32"/>
            <p:cNvSpPr>
              <a:spLocks noChangeArrowheads="1"/>
            </p:cNvSpPr>
            <p:nvPr/>
          </p:nvSpPr>
          <p:spPr bwMode="auto">
            <a:xfrm>
              <a:off x="3552" y="3272"/>
              <a:ext cx="1392" cy="846"/>
            </a:xfrm>
            <a:prstGeom prst="rect">
              <a:avLst/>
            </a:prstGeom>
            <a:solidFill>
              <a:srgbClr val="FF9933"/>
            </a:solidFill>
            <a:ln>
              <a:noFill/>
            </a:ln>
            <a:effectLst>
              <a:outerShdw dist="8980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lr>
                  <a:srgbClr val="FF0000"/>
                </a:buClr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 b="1">
                  <a:solidFill>
                    <a:srgbClr val="000000"/>
                  </a:solidFill>
                  <a:latin typeface="New York" charset="0"/>
                </a:rPr>
                <a:t>other code </a:t>
              </a: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 b="1">
                  <a:solidFill>
                    <a:srgbClr val="000000"/>
                  </a:solidFill>
                  <a:latin typeface="New York" charset="0"/>
                </a:rPr>
                <a:t>from libraries,</a:t>
              </a: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 b="1">
                  <a:solidFill>
                    <a:srgbClr val="000000"/>
                  </a:solidFill>
                  <a:latin typeface="New York" charset="0"/>
                </a:rPr>
                <a:t> etc.</a:t>
              </a:r>
            </a:p>
          </p:txBody>
        </p:sp>
      </p:grpSp>
      <p:grpSp>
        <p:nvGrpSpPr>
          <p:cNvPr id="32" name="Group 33"/>
          <p:cNvGrpSpPr>
            <a:grpSpLocks/>
          </p:cNvGrpSpPr>
          <p:nvPr/>
        </p:nvGrpSpPr>
        <p:grpSpPr bwMode="auto">
          <a:xfrm>
            <a:off x="2129164" y="2803230"/>
            <a:ext cx="8458200" cy="1409700"/>
            <a:chOff x="276" y="1653"/>
            <a:chExt cx="5328" cy="888"/>
          </a:xfrm>
        </p:grpSpPr>
        <p:sp>
          <p:nvSpPr>
            <p:cNvPr id="36" name="Rectangle 34"/>
            <p:cNvSpPr>
              <a:spLocks noChangeArrowheads="1"/>
            </p:cNvSpPr>
            <p:nvPr/>
          </p:nvSpPr>
          <p:spPr bwMode="auto">
            <a:xfrm>
              <a:off x="4116" y="1653"/>
              <a:ext cx="1488" cy="888"/>
            </a:xfrm>
            <a:prstGeom prst="rect">
              <a:avLst/>
            </a:prstGeom>
            <a:solidFill>
              <a:srgbClr val="FF9933"/>
            </a:solidFill>
            <a:ln>
              <a:noFill/>
            </a:ln>
            <a:effectLst>
              <a:outerShdw dist="8980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lr>
                  <a:srgbClr val="FF0000"/>
                </a:buClr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 b="1">
                  <a:solidFill>
                    <a:srgbClr val="000000"/>
                  </a:solidFill>
                  <a:latin typeface="New York" charset="0"/>
                </a:rPr>
                <a:t>written in </a:t>
              </a: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 b="1">
                  <a:solidFill>
                    <a:srgbClr val="000000"/>
                  </a:solidFill>
                  <a:latin typeface="New York" charset="0"/>
                </a:rPr>
                <a:t>machine </a:t>
              </a: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 b="1">
                  <a:solidFill>
                    <a:srgbClr val="000000"/>
                  </a:solidFill>
                  <a:latin typeface="New York" charset="0"/>
                </a:rPr>
                <a:t>language</a:t>
              </a:r>
              <a:endParaRPr kumimoji="0" lang="en-US" altLang="zh-CN" sz="1800" b="1">
                <a:solidFill>
                  <a:srgbClr val="000000"/>
                </a:solidFill>
                <a:latin typeface="New York" charset="0"/>
              </a:endParaRP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zh-CN" sz="1800" b="1">
                <a:solidFill>
                  <a:srgbClr val="000000"/>
                </a:solidFill>
                <a:latin typeface="New York" charset="0"/>
              </a:endParaRPr>
            </a:p>
          </p:txBody>
        </p:sp>
        <p:grpSp>
          <p:nvGrpSpPr>
            <p:cNvPr id="37" name="Group 35"/>
            <p:cNvGrpSpPr>
              <a:grpSpLocks/>
            </p:cNvGrpSpPr>
            <p:nvPr/>
          </p:nvGrpSpPr>
          <p:grpSpPr bwMode="auto">
            <a:xfrm>
              <a:off x="2100" y="1653"/>
              <a:ext cx="1872" cy="881"/>
              <a:chOff x="2100" y="1653"/>
              <a:chExt cx="1872" cy="881"/>
            </a:xfrm>
          </p:grpSpPr>
          <p:sp>
            <p:nvSpPr>
              <p:cNvPr id="41" name="Rectangle 36"/>
              <p:cNvSpPr>
                <a:spLocks noChangeArrowheads="1"/>
              </p:cNvSpPr>
              <p:nvPr/>
            </p:nvSpPr>
            <p:spPr bwMode="auto">
              <a:xfrm>
                <a:off x="2100" y="1653"/>
                <a:ext cx="1434" cy="881"/>
              </a:xfrm>
              <a:prstGeom prst="rect">
                <a:avLst/>
              </a:prstGeom>
              <a:solidFill>
                <a:srgbClr val="FF9933"/>
              </a:solidFill>
              <a:ln>
                <a:noFill/>
              </a:ln>
              <a:effectLst>
                <a:outerShdw dist="89803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/>
              <a:lstStyle>
                <a:lvl1pPr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2000" b="1">
                    <a:solidFill>
                      <a:srgbClr val="000000"/>
                    </a:solidFill>
                    <a:latin typeface="New York" charset="0"/>
                  </a:rPr>
                  <a:t>written in </a:t>
                </a:r>
              </a:p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2000" b="1">
                    <a:solidFill>
                      <a:srgbClr val="000000"/>
                    </a:solidFill>
                    <a:latin typeface="New York" charset="0"/>
                  </a:rPr>
                  <a:t>machine </a:t>
                </a:r>
              </a:p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2000" b="1">
                    <a:solidFill>
                      <a:srgbClr val="000000"/>
                    </a:solidFill>
                    <a:latin typeface="New York" charset="0"/>
                  </a:rPr>
                  <a:t>language</a:t>
                </a:r>
              </a:p>
            </p:txBody>
          </p:sp>
          <p:sp>
            <p:nvSpPr>
              <p:cNvPr id="42" name="AutoShape 37"/>
              <p:cNvSpPr>
                <a:spLocks noChangeArrowheads="1"/>
              </p:cNvSpPr>
              <p:nvPr/>
            </p:nvSpPr>
            <p:spPr bwMode="auto">
              <a:xfrm>
                <a:off x="3534" y="1829"/>
                <a:ext cx="438" cy="529"/>
              </a:xfrm>
              <a:prstGeom prst="rightArrow">
                <a:avLst>
                  <a:gd name="adj1" fmla="val 50000"/>
                  <a:gd name="adj2" fmla="val 50005"/>
                </a:avLst>
              </a:prstGeom>
              <a:solidFill>
                <a:srgbClr val="FF9933"/>
              </a:solidFill>
              <a:ln>
                <a:noFill/>
              </a:ln>
              <a:effectLst>
                <a:outerShdw dist="89803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/>
              </a:p>
            </p:txBody>
          </p:sp>
        </p:grpSp>
        <p:grpSp>
          <p:nvGrpSpPr>
            <p:cNvPr id="38" name="Group 38"/>
            <p:cNvGrpSpPr>
              <a:grpSpLocks/>
            </p:cNvGrpSpPr>
            <p:nvPr/>
          </p:nvGrpSpPr>
          <p:grpSpPr bwMode="auto">
            <a:xfrm>
              <a:off x="276" y="1653"/>
              <a:ext cx="1680" cy="867"/>
              <a:chOff x="276" y="1653"/>
              <a:chExt cx="1680" cy="867"/>
            </a:xfrm>
          </p:grpSpPr>
          <p:sp>
            <p:nvSpPr>
              <p:cNvPr id="39" name="Rectangle 39"/>
              <p:cNvSpPr>
                <a:spLocks noChangeArrowheads="1"/>
              </p:cNvSpPr>
              <p:nvPr/>
            </p:nvSpPr>
            <p:spPr bwMode="auto">
              <a:xfrm>
                <a:off x="276" y="1653"/>
                <a:ext cx="1288" cy="867"/>
              </a:xfrm>
              <a:prstGeom prst="rect">
                <a:avLst/>
              </a:prstGeom>
              <a:solidFill>
                <a:srgbClr val="FF9933"/>
              </a:solidFill>
              <a:ln>
                <a:noFill/>
              </a:ln>
              <a:effectLst>
                <a:outerShdw dist="89803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/>
              <a:lstStyle>
                <a:lvl1pPr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2000" b="1">
                    <a:solidFill>
                      <a:srgbClr val="000000"/>
                    </a:solidFill>
                    <a:latin typeface="New York" charset="0"/>
                  </a:rPr>
                  <a:t>written in </a:t>
                </a:r>
              </a:p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2000" b="1">
                    <a:solidFill>
                      <a:srgbClr val="000000"/>
                    </a:solidFill>
                    <a:latin typeface="New York" charset="0"/>
                  </a:rPr>
                  <a:t>C</a:t>
                </a:r>
                <a:endParaRPr kumimoji="0" lang="en-US" altLang="zh-CN" sz="1800" b="1">
                  <a:solidFill>
                    <a:srgbClr val="000000"/>
                  </a:solidFill>
                  <a:latin typeface="New York" charset="0"/>
                </a:endParaRPr>
              </a:p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zh-CN" sz="1800" b="1">
                  <a:solidFill>
                    <a:srgbClr val="000000"/>
                  </a:solidFill>
                  <a:latin typeface="New York" charset="0"/>
                </a:endParaRPr>
              </a:p>
            </p:txBody>
          </p:sp>
          <p:sp>
            <p:nvSpPr>
              <p:cNvPr id="40" name="AutoShape 40"/>
              <p:cNvSpPr>
                <a:spLocks noChangeArrowheads="1"/>
              </p:cNvSpPr>
              <p:nvPr/>
            </p:nvSpPr>
            <p:spPr bwMode="auto">
              <a:xfrm>
                <a:off x="1564" y="1826"/>
                <a:ext cx="392" cy="521"/>
              </a:xfrm>
              <a:prstGeom prst="rightArrow">
                <a:avLst>
                  <a:gd name="adj1" fmla="val 50000"/>
                  <a:gd name="adj2" fmla="val 50005"/>
                </a:avLst>
              </a:prstGeom>
              <a:solidFill>
                <a:srgbClr val="FF9933"/>
              </a:solidFill>
              <a:ln>
                <a:noFill/>
              </a:ln>
              <a:effectLst>
                <a:outerShdw dist="89803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0000"/>
                  </a:buClr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/>
              </a:p>
            </p:txBody>
          </p:sp>
        </p:grpSp>
      </p:grpSp>
      <p:grpSp>
        <p:nvGrpSpPr>
          <p:cNvPr id="43" name="Group 41"/>
          <p:cNvGrpSpPr>
            <a:grpSpLocks/>
          </p:cNvGrpSpPr>
          <p:nvPr/>
        </p:nvGrpSpPr>
        <p:grpSpPr bwMode="auto">
          <a:xfrm>
            <a:off x="3503939" y="4384380"/>
            <a:ext cx="4683125" cy="519112"/>
            <a:chOff x="1142" y="2649"/>
            <a:chExt cx="2950" cy="327"/>
          </a:xfrm>
        </p:grpSpPr>
        <p:sp>
          <p:nvSpPr>
            <p:cNvPr id="44" name="Rectangle 42"/>
            <p:cNvSpPr>
              <a:spLocks noChangeArrowheads="1"/>
            </p:cNvSpPr>
            <p:nvPr/>
          </p:nvSpPr>
          <p:spPr bwMode="auto">
            <a:xfrm>
              <a:off x="1142" y="2649"/>
              <a:ext cx="130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800" b="1">
                  <a:solidFill>
                    <a:schemeClr val="tx2"/>
                  </a:solidFill>
                </a:rPr>
                <a:t>via compiler</a:t>
              </a:r>
            </a:p>
          </p:txBody>
        </p:sp>
        <p:sp>
          <p:nvSpPr>
            <p:cNvPr id="45" name="Rectangle 43"/>
            <p:cNvSpPr>
              <a:spLocks noChangeArrowheads="1"/>
            </p:cNvSpPr>
            <p:nvPr/>
          </p:nvSpPr>
          <p:spPr bwMode="auto">
            <a:xfrm>
              <a:off x="3062" y="2649"/>
              <a:ext cx="103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800" b="1">
                  <a:solidFill>
                    <a:schemeClr val="tx2"/>
                  </a:solidFill>
                </a:rPr>
                <a:t>via linker</a:t>
              </a:r>
            </a:p>
          </p:txBody>
        </p:sp>
      </p:grpSp>
      <p:grpSp>
        <p:nvGrpSpPr>
          <p:cNvPr id="46" name="Group 44"/>
          <p:cNvGrpSpPr>
            <a:grpSpLocks/>
          </p:cNvGrpSpPr>
          <p:nvPr/>
        </p:nvGrpSpPr>
        <p:grpSpPr bwMode="auto">
          <a:xfrm>
            <a:off x="2360939" y="2250778"/>
            <a:ext cx="8134350" cy="479424"/>
            <a:chOff x="422" y="1305"/>
            <a:chExt cx="5124" cy="302"/>
          </a:xfrm>
        </p:grpSpPr>
        <p:sp>
          <p:nvSpPr>
            <p:cNvPr id="47" name="Rectangle 45"/>
            <p:cNvSpPr>
              <a:spLocks noChangeArrowheads="1"/>
            </p:cNvSpPr>
            <p:nvPr/>
          </p:nvSpPr>
          <p:spPr bwMode="auto">
            <a:xfrm>
              <a:off x="422" y="1305"/>
              <a:ext cx="92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 b="1">
                  <a:solidFill>
                    <a:srgbClr val="990000"/>
                  </a:solidFill>
                </a:rPr>
                <a:t>SOURCE</a:t>
              </a:r>
            </a:p>
          </p:txBody>
        </p:sp>
        <p:sp>
          <p:nvSpPr>
            <p:cNvPr id="48" name="Rectangle 46"/>
            <p:cNvSpPr>
              <a:spLocks noChangeArrowheads="1"/>
            </p:cNvSpPr>
            <p:nvPr/>
          </p:nvSpPr>
          <p:spPr bwMode="auto">
            <a:xfrm>
              <a:off x="2294" y="1305"/>
              <a:ext cx="89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 b="1">
                  <a:solidFill>
                    <a:srgbClr val="990000"/>
                  </a:solidFill>
                </a:rPr>
                <a:t>OBJECT</a:t>
              </a:r>
            </a:p>
          </p:txBody>
        </p:sp>
        <p:sp>
          <p:nvSpPr>
            <p:cNvPr id="49" name="Rectangle 47"/>
            <p:cNvSpPr>
              <a:spLocks noChangeArrowheads="1"/>
            </p:cNvSpPr>
            <p:nvPr/>
          </p:nvSpPr>
          <p:spPr bwMode="auto">
            <a:xfrm>
              <a:off x="4106" y="1316"/>
              <a:ext cx="144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 b="1">
                  <a:solidFill>
                    <a:srgbClr val="990000"/>
                  </a:solidFill>
                </a:rPr>
                <a:t>EXECUTABLE</a:t>
              </a:r>
            </a:p>
          </p:txBody>
        </p:sp>
      </p:grpSp>
      <p:grpSp>
        <p:nvGrpSpPr>
          <p:cNvPr id="50" name="Group 48"/>
          <p:cNvGrpSpPr>
            <a:grpSpLocks/>
          </p:cNvGrpSpPr>
          <p:nvPr/>
        </p:nvGrpSpPr>
        <p:grpSpPr bwMode="auto">
          <a:xfrm>
            <a:off x="2360939" y="1774532"/>
            <a:ext cx="7577138" cy="461963"/>
            <a:chOff x="422" y="1005"/>
            <a:chExt cx="4773" cy="291"/>
          </a:xfrm>
        </p:grpSpPr>
        <p:sp>
          <p:nvSpPr>
            <p:cNvPr id="52" name="Rectangle 49"/>
            <p:cNvSpPr>
              <a:spLocks noChangeArrowheads="1"/>
            </p:cNvSpPr>
            <p:nvPr/>
          </p:nvSpPr>
          <p:spPr bwMode="auto">
            <a:xfrm>
              <a:off x="422" y="1005"/>
              <a:ext cx="89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 b="1"/>
                <a:t>myprog.c</a:t>
              </a:r>
            </a:p>
          </p:txBody>
        </p:sp>
        <p:sp>
          <p:nvSpPr>
            <p:cNvPr id="53" name="Rectangle 50"/>
            <p:cNvSpPr>
              <a:spLocks noChangeArrowheads="1"/>
            </p:cNvSpPr>
            <p:nvPr/>
          </p:nvSpPr>
          <p:spPr bwMode="auto">
            <a:xfrm>
              <a:off x="2294" y="1005"/>
              <a:ext cx="107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 b="1"/>
                <a:t>myprog.obj</a:t>
              </a:r>
            </a:p>
          </p:txBody>
        </p:sp>
        <p:sp>
          <p:nvSpPr>
            <p:cNvPr id="54" name="Rectangle 51"/>
            <p:cNvSpPr>
              <a:spLocks noChangeArrowheads="1"/>
            </p:cNvSpPr>
            <p:nvPr/>
          </p:nvSpPr>
          <p:spPr bwMode="auto">
            <a:xfrm>
              <a:off x="4118" y="1005"/>
              <a:ext cx="107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 b="1"/>
                <a:t>myprog.exe</a:t>
              </a:r>
            </a:p>
          </p:txBody>
        </p:sp>
      </p:grpSp>
      <p:grpSp>
        <p:nvGrpSpPr>
          <p:cNvPr id="55" name="Group 61"/>
          <p:cNvGrpSpPr>
            <a:grpSpLocks/>
          </p:cNvGrpSpPr>
          <p:nvPr/>
        </p:nvGrpSpPr>
        <p:grpSpPr bwMode="auto">
          <a:xfrm>
            <a:off x="1798964" y="1663405"/>
            <a:ext cx="2447925" cy="4403725"/>
            <a:chOff x="68" y="935"/>
            <a:chExt cx="1542" cy="2774"/>
          </a:xfrm>
        </p:grpSpPr>
        <p:sp>
          <p:nvSpPr>
            <p:cNvPr id="56" name="Oval 52"/>
            <p:cNvSpPr>
              <a:spLocks noChangeArrowheads="1"/>
            </p:cNvSpPr>
            <p:nvPr/>
          </p:nvSpPr>
          <p:spPr bwMode="auto">
            <a:xfrm>
              <a:off x="295" y="935"/>
              <a:ext cx="1315" cy="409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0000"/>
                </a:buClr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800"/>
            </a:p>
          </p:txBody>
        </p:sp>
        <p:sp>
          <p:nvSpPr>
            <p:cNvPr id="57" name="Line 53"/>
            <p:cNvSpPr>
              <a:spLocks noChangeShapeType="1"/>
            </p:cNvSpPr>
            <p:nvPr/>
          </p:nvSpPr>
          <p:spPr bwMode="auto">
            <a:xfrm flipH="1">
              <a:off x="431" y="1253"/>
              <a:ext cx="362" cy="1905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" name="Rectangle 55"/>
            <p:cNvSpPr>
              <a:spLocks noChangeArrowheads="1"/>
            </p:cNvSpPr>
            <p:nvPr/>
          </p:nvSpPr>
          <p:spPr bwMode="auto">
            <a:xfrm>
              <a:off x="68" y="3113"/>
              <a:ext cx="1274" cy="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800" b="1">
                  <a:solidFill>
                    <a:srgbClr val="FF0000"/>
                  </a:solidFill>
                </a:rPr>
                <a:t>This is what</a:t>
              </a:r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800" b="1">
                  <a:solidFill>
                    <a:srgbClr val="FF0000"/>
                  </a:solidFill>
                </a:rPr>
                <a:t>we write</a:t>
              </a:r>
            </a:p>
          </p:txBody>
        </p:sp>
      </p:grpSp>
      <p:grpSp>
        <p:nvGrpSpPr>
          <p:cNvPr id="59" name="Group 62"/>
          <p:cNvGrpSpPr>
            <a:grpSpLocks/>
          </p:cNvGrpSpPr>
          <p:nvPr/>
        </p:nvGrpSpPr>
        <p:grpSpPr bwMode="auto">
          <a:xfrm>
            <a:off x="4102427" y="4328817"/>
            <a:ext cx="4105275" cy="2374900"/>
            <a:chOff x="1519" y="2614"/>
            <a:chExt cx="2586" cy="1496"/>
          </a:xfrm>
        </p:grpSpPr>
        <p:sp>
          <p:nvSpPr>
            <p:cNvPr id="60" name="Rectangle 56"/>
            <p:cNvSpPr>
              <a:spLocks noChangeArrowheads="1"/>
            </p:cNvSpPr>
            <p:nvPr/>
          </p:nvSpPr>
          <p:spPr bwMode="auto">
            <a:xfrm>
              <a:off x="1655" y="3245"/>
              <a:ext cx="1367" cy="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rgbClr val="FF0000"/>
                </a:buClr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800" b="1">
                  <a:solidFill>
                    <a:srgbClr val="FF0000"/>
                  </a:solidFill>
                </a:rPr>
                <a:t>Integrated in</a:t>
              </a:r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800" b="1">
                  <a:solidFill>
                    <a:srgbClr val="FF0000"/>
                  </a:solidFill>
                </a:rPr>
                <a:t>development</a:t>
              </a:r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800" b="1">
                  <a:solidFill>
                    <a:srgbClr val="FF0000"/>
                  </a:solidFill>
                </a:rPr>
                <a:t>platforms</a:t>
              </a:r>
            </a:p>
          </p:txBody>
        </p:sp>
        <p:sp>
          <p:nvSpPr>
            <p:cNvPr id="61" name="Oval 57"/>
            <p:cNvSpPr>
              <a:spLocks noChangeArrowheads="1"/>
            </p:cNvSpPr>
            <p:nvPr/>
          </p:nvSpPr>
          <p:spPr bwMode="auto">
            <a:xfrm>
              <a:off x="1519" y="2614"/>
              <a:ext cx="998" cy="409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0000"/>
                </a:buClr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800"/>
            </a:p>
          </p:txBody>
        </p:sp>
        <p:sp>
          <p:nvSpPr>
            <p:cNvPr id="62" name="Oval 58"/>
            <p:cNvSpPr>
              <a:spLocks noChangeArrowheads="1"/>
            </p:cNvSpPr>
            <p:nvPr/>
          </p:nvSpPr>
          <p:spPr bwMode="auto">
            <a:xfrm>
              <a:off x="3424" y="2614"/>
              <a:ext cx="681" cy="409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0000"/>
                </a:buClr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800"/>
            </a:p>
          </p:txBody>
        </p:sp>
        <p:sp>
          <p:nvSpPr>
            <p:cNvPr id="63" name="Line 59"/>
            <p:cNvSpPr>
              <a:spLocks noChangeShapeType="1"/>
            </p:cNvSpPr>
            <p:nvPr/>
          </p:nvSpPr>
          <p:spPr bwMode="auto">
            <a:xfrm>
              <a:off x="2064" y="3067"/>
              <a:ext cx="90" cy="27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" name="Line 60"/>
            <p:cNvSpPr>
              <a:spLocks noChangeShapeType="1"/>
            </p:cNvSpPr>
            <p:nvPr/>
          </p:nvSpPr>
          <p:spPr bwMode="auto">
            <a:xfrm flipH="1">
              <a:off x="2608" y="2976"/>
              <a:ext cx="862" cy="31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55013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1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C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语言程序的基本语法：注释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4" name="内容占位符 2"/>
          <p:cNvSpPr>
            <a:spLocks noGrp="1"/>
          </p:cNvSpPr>
          <p:nvPr/>
        </p:nvSpPr>
        <p:spPr>
          <a:xfrm>
            <a:off x="737870" y="1805305"/>
            <a:ext cx="10380980" cy="4201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en-US" altLang="zh-CN" dirty="0" err="1">
                <a:sym typeface="+mn-ea"/>
              </a:rPr>
              <a:t>helloworld.c</a:t>
            </a:r>
            <a:r>
              <a:rPr lang="zh-CN" altLang="en-US" dirty="0">
                <a:sym typeface="+mn-ea"/>
              </a:rPr>
              <a:t>代码虽短，但五脏俱全，我们尝试解析一下该代码。</a:t>
            </a:r>
          </a:p>
          <a:p>
            <a:pPr marL="0" indent="0">
              <a:lnSpc>
                <a:spcPct val="130000"/>
              </a:lnSpc>
              <a:buNone/>
            </a:pPr>
            <a:endParaRPr lang="zh-CN" altLang="en-US" dirty="0">
              <a:sym typeface="+mn-ea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zh-CN" altLang="en-US" dirty="0">
                <a:sym typeface="+mn-ea"/>
              </a:rPr>
              <a:t>首先</a:t>
            </a:r>
            <a:r>
              <a:rPr lang="en-US" altLang="zh-CN" dirty="0">
                <a:sym typeface="+mn-ea"/>
              </a:rPr>
              <a:t>/**/</a:t>
            </a:r>
            <a:r>
              <a:rPr lang="zh-CN" altLang="en-US" dirty="0">
                <a:sym typeface="+mn-ea"/>
              </a:rPr>
              <a:t>括起来的部分是</a:t>
            </a:r>
            <a:r>
              <a:rPr lang="zh-CN" altLang="en-US" b="1" dirty="0">
                <a:sym typeface="+mn-ea"/>
              </a:rPr>
              <a:t>注释</a:t>
            </a:r>
            <a:endParaRPr lang="zh-CN" altLang="en-US" dirty="0">
              <a:sym typeface="+mn-ea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zh-CN" altLang="en-US" b="1" dirty="0">
                <a:sym typeface="+mn-ea"/>
              </a:rPr>
              <a:t>注释</a:t>
            </a:r>
            <a:r>
              <a:rPr lang="zh-CN" altLang="en-US" dirty="0">
                <a:sym typeface="+mn-ea"/>
              </a:rPr>
              <a:t>在代码中并不起到实际的作用</a:t>
            </a:r>
            <a:r>
              <a:rPr lang="en-US" altLang="zh-CN" dirty="0">
                <a:sym typeface="+mn-ea"/>
              </a:rPr>
              <a:t>——</a:t>
            </a:r>
            <a:r>
              <a:rPr lang="zh-CN" altLang="en-US" dirty="0">
                <a:sym typeface="+mn-ea"/>
              </a:rPr>
              <a:t>仅是为了方便阅读代码而做的注解。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5887" y="2625453"/>
            <a:ext cx="5688965" cy="3448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1" grpId="0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C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语言程序的基本语法：头文件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内容占位符 2"/>
          <p:cNvSpPr>
            <a:spLocks noGrp="1"/>
          </p:cNvSpPr>
          <p:nvPr/>
        </p:nvSpPr>
        <p:spPr>
          <a:xfrm>
            <a:off x="737870" y="1805305"/>
            <a:ext cx="10380980" cy="4201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endParaRPr lang="zh-CN" altLang="en-US" dirty="0">
              <a:sym typeface="+mn-ea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dirty="0">
                <a:sym typeface="+mn-ea"/>
              </a:rPr>
              <a:t>#include&lt;&gt;</a:t>
            </a:r>
            <a:r>
              <a:rPr lang="zh-CN" altLang="en-US" dirty="0">
                <a:sym typeface="+mn-ea"/>
              </a:rPr>
              <a:t>括起来的部分是</a:t>
            </a:r>
            <a:r>
              <a:rPr lang="zh-CN" altLang="en-US" b="1" dirty="0">
                <a:sym typeface="+mn-ea"/>
              </a:rPr>
              <a:t>头文件</a:t>
            </a:r>
          </a:p>
          <a:p>
            <a:pPr marL="0" indent="0">
              <a:lnSpc>
                <a:spcPct val="110000"/>
              </a:lnSpc>
              <a:buNone/>
            </a:pPr>
            <a:endParaRPr lang="zh-CN" altLang="en-US" dirty="0">
              <a:sym typeface="+mn-ea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dirty="0">
                <a:sym typeface="+mn-ea"/>
              </a:rPr>
              <a:t>不同头文件包含了不同的预先写好的代码。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dirty="0">
                <a:sym typeface="+mn-ea"/>
              </a:rPr>
              <a:t>比如</a:t>
            </a:r>
            <a:r>
              <a:rPr lang="en-US" altLang="zh-CN" dirty="0" err="1">
                <a:sym typeface="+mn-ea"/>
              </a:rPr>
              <a:t>helloworld.c</a:t>
            </a:r>
            <a:r>
              <a:rPr lang="zh-CN" altLang="en-US" dirty="0">
                <a:sym typeface="+mn-ea"/>
              </a:rPr>
              <a:t>中的头文件</a:t>
            </a:r>
            <a:r>
              <a:rPr lang="en-US" altLang="zh-CN" dirty="0" err="1">
                <a:sym typeface="+mn-ea"/>
              </a:rPr>
              <a:t>stdio.h</a:t>
            </a:r>
            <a:r>
              <a:rPr lang="en-US" altLang="zh-CN" dirty="0">
                <a:sym typeface="+mn-ea"/>
              </a:rPr>
              <a:t>(</a:t>
            </a:r>
            <a:r>
              <a:rPr lang="zh-CN" altLang="en-US" dirty="0">
                <a:sym typeface="+mn-ea"/>
              </a:rPr>
              <a:t>标准输入输出头文件</a:t>
            </a:r>
            <a:r>
              <a:rPr lang="en-US" altLang="zh-CN" dirty="0">
                <a:sym typeface="+mn-ea"/>
              </a:rPr>
              <a:t>)</a:t>
            </a:r>
            <a:r>
              <a:rPr lang="zh-CN" altLang="en-US" dirty="0">
                <a:sym typeface="+mn-ea"/>
              </a:rPr>
              <a:t>即包含了下面将会用到的</a:t>
            </a:r>
            <a:r>
              <a:rPr lang="en-US" altLang="zh-CN" dirty="0" err="1">
                <a:sym typeface="+mn-ea"/>
              </a:rPr>
              <a:t>printf</a:t>
            </a:r>
            <a:r>
              <a:rPr lang="en-US" altLang="zh-CN" dirty="0">
                <a:sym typeface="+mn-ea"/>
              </a:rPr>
              <a:t>.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0089" y="2473325"/>
            <a:ext cx="2429510" cy="3676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1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C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语言程序的基本语法：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main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函数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/>
        </p:nvSpPr>
        <p:spPr>
          <a:xfrm>
            <a:off x="670832" y="2049516"/>
            <a:ext cx="10380980" cy="1506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ym typeface="+mn-ea"/>
              </a:rPr>
              <a:t>main</a:t>
            </a:r>
            <a:r>
              <a:rPr lang="zh-CN" altLang="en-US" b="1" dirty="0">
                <a:sym typeface="+mn-ea"/>
              </a:rPr>
              <a:t>函数</a:t>
            </a:r>
            <a:r>
              <a:rPr lang="zh-CN" altLang="en-US" dirty="0">
                <a:sym typeface="+mn-ea"/>
              </a:rPr>
              <a:t>是整份代码的入口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dirty="0">
                <a:sym typeface="+mn-ea"/>
              </a:rPr>
              <a:t>紧随其后的花括号内部将定义</a:t>
            </a:r>
            <a:r>
              <a:rPr lang="en-US" altLang="zh-CN" dirty="0">
                <a:sym typeface="+mn-ea"/>
              </a:rPr>
              <a:t>main</a:t>
            </a:r>
            <a:r>
              <a:rPr lang="zh-CN" altLang="en-US" dirty="0">
                <a:sym typeface="+mn-ea"/>
              </a:rPr>
              <a:t>函数具体的实现。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zh-CN" dirty="0"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5425" y="3751944"/>
            <a:ext cx="4121150" cy="19088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1" grpId="0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C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语言程序的基本语法：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main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函数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/>
        </p:nvSpPr>
        <p:spPr>
          <a:xfrm>
            <a:off x="737870" y="1805304"/>
            <a:ext cx="10380980" cy="46608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altLang="zh-CN" sz="3200" b="1" dirty="0" err="1">
                <a:sym typeface="+mn-ea"/>
              </a:rPr>
              <a:t>printf</a:t>
            </a:r>
            <a:r>
              <a:rPr lang="zh-CN" altLang="en-US" sz="3200" dirty="0">
                <a:sym typeface="+mn-ea"/>
              </a:rPr>
              <a:t>也是一个函数，在</a:t>
            </a:r>
            <a:r>
              <a:rPr lang="en-US" altLang="zh-CN" sz="3200" dirty="0" err="1">
                <a:sym typeface="+mn-ea"/>
              </a:rPr>
              <a:t>stdio.h</a:t>
            </a:r>
            <a:r>
              <a:rPr lang="zh-CN" altLang="en-US" sz="3200" dirty="0">
                <a:sym typeface="+mn-ea"/>
              </a:rPr>
              <a:t>头文件中定义的函数。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3200" dirty="0">
                <a:sym typeface="+mn-ea"/>
              </a:rPr>
              <a:t>该函数可以帮助程序员们将有用的信息打印到标准输出中。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zh-CN" sz="3200" dirty="0">
              <a:sym typeface="+mn-ea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sz="3200" dirty="0">
              <a:sym typeface="+mn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3200" dirty="0">
                <a:sym typeface="+mn-ea"/>
              </a:rPr>
              <a:t>这里打印的是</a:t>
            </a:r>
            <a:r>
              <a:rPr lang="en-US" altLang="zh-CN" sz="3200" dirty="0">
                <a:sym typeface="+mn-ea"/>
              </a:rPr>
              <a:t>Hello World!</a:t>
            </a:r>
            <a:r>
              <a:rPr lang="zh-CN" altLang="en-US" sz="3200" dirty="0">
                <a:sym typeface="+mn-ea"/>
              </a:rPr>
              <a:t>。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3200" dirty="0">
                <a:sym typeface="+mn-ea"/>
              </a:rPr>
              <a:t>尝试修改此处，看下是否能打印出其他的信息？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9583" y="3594191"/>
            <a:ext cx="3802380" cy="3517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1" grpId="0" bldLvl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C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语言程序的基本语法：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return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/>
        </p:nvSpPr>
        <p:spPr>
          <a:xfrm>
            <a:off x="905510" y="1978184"/>
            <a:ext cx="10380980" cy="44285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altLang="zh-CN" b="1" dirty="0">
                <a:sym typeface="+mn-ea"/>
              </a:rPr>
              <a:t>return</a:t>
            </a:r>
            <a:r>
              <a:rPr lang="zh-CN" altLang="en-US" dirty="0">
                <a:sym typeface="+mn-ea"/>
              </a:rPr>
              <a:t>通常意味这一个函数的结束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dirty="0">
                <a:sym typeface="+mn-ea"/>
              </a:rPr>
              <a:t>正如其名字所表示的，</a:t>
            </a:r>
            <a:r>
              <a:rPr lang="en-US" altLang="zh-CN" dirty="0">
                <a:sym typeface="+mn-ea"/>
              </a:rPr>
              <a:t>return</a:t>
            </a:r>
            <a:r>
              <a:rPr lang="zh-CN" dirty="0">
                <a:sym typeface="+mn-ea"/>
              </a:rPr>
              <a:t>将</a:t>
            </a:r>
            <a:r>
              <a:rPr lang="zh-CN" b="1" dirty="0">
                <a:sym typeface="+mn-ea"/>
              </a:rPr>
              <a:t>返回</a:t>
            </a:r>
            <a:r>
              <a:rPr lang="zh-CN" dirty="0">
                <a:sym typeface="+mn-ea"/>
              </a:rPr>
              <a:t>紧随在它后面的表达式</a:t>
            </a:r>
            <a:r>
              <a:rPr lang="zh-CN" altLang="en-US" dirty="0">
                <a:sym typeface="+mn-ea"/>
              </a:rPr>
              <a:t>。</a:t>
            </a:r>
          </a:p>
          <a:p>
            <a:pPr marL="0" indent="0">
              <a:lnSpc>
                <a:spcPct val="120000"/>
              </a:lnSpc>
              <a:buNone/>
            </a:pPr>
            <a:endParaRPr lang="zh-CN" altLang="en-US" sz="2000" dirty="0">
              <a:sym typeface="+mn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dirty="0">
                <a:sym typeface="+mn-ea"/>
              </a:rPr>
              <a:t>这里</a:t>
            </a:r>
            <a:r>
              <a:rPr lang="en-US" altLang="zh-CN" dirty="0">
                <a:sym typeface="+mn-ea"/>
              </a:rPr>
              <a:t>return</a:t>
            </a:r>
            <a:r>
              <a:rPr lang="zh-CN" altLang="en-US" dirty="0">
                <a:sym typeface="+mn-ea"/>
              </a:rPr>
              <a:t>的表达式是</a:t>
            </a:r>
            <a:r>
              <a:rPr lang="en-US" altLang="zh-CN" dirty="0">
                <a:sym typeface="+mn-ea"/>
              </a:rPr>
              <a:t>0</a:t>
            </a:r>
            <a:r>
              <a:rPr lang="zh-CN" altLang="en-US" dirty="0">
                <a:sym typeface="+mn-ea"/>
              </a:rPr>
              <a:t>，也就是说</a:t>
            </a:r>
            <a:r>
              <a:rPr lang="en-US" altLang="zh-CN" dirty="0">
                <a:sym typeface="+mn-ea"/>
              </a:rPr>
              <a:t>main</a:t>
            </a:r>
            <a:r>
              <a:rPr lang="zh-CN" altLang="en-US" dirty="0">
                <a:sym typeface="+mn-ea"/>
              </a:rPr>
              <a:t>函数返回了</a:t>
            </a:r>
            <a:r>
              <a:rPr lang="en-US" altLang="zh-CN" dirty="0">
                <a:sym typeface="+mn-ea"/>
              </a:rPr>
              <a:t>0</a:t>
            </a:r>
            <a:r>
              <a:rPr lang="zh-CN" altLang="en-US" dirty="0">
                <a:sym typeface="+mn-ea"/>
              </a:rPr>
              <a:t>。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dirty="0">
                <a:sym typeface="+mn-ea"/>
              </a:rPr>
              <a:t>返回给谁呢？返回给了计算机，告诉计算机这份代码成功执行了。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dirty="0">
                <a:sym typeface="+mn-ea"/>
              </a:rPr>
              <a:t>如果</a:t>
            </a:r>
            <a:r>
              <a:rPr lang="en-US" altLang="zh-CN" dirty="0">
                <a:sym typeface="+mn-ea"/>
              </a:rPr>
              <a:t>main</a:t>
            </a:r>
            <a:r>
              <a:rPr lang="zh-CN" altLang="en-US" dirty="0">
                <a:sym typeface="+mn-ea"/>
              </a:rPr>
              <a:t>函数返回的不是</a:t>
            </a:r>
            <a:r>
              <a:rPr lang="en-US" altLang="zh-CN" dirty="0">
                <a:sym typeface="+mn-ea"/>
              </a:rPr>
              <a:t>0</a:t>
            </a:r>
            <a:r>
              <a:rPr lang="zh-CN" altLang="en-US" dirty="0">
                <a:sym typeface="+mn-ea"/>
              </a:rPr>
              <a:t>，那么计算机就会认为此代码没有成功执行，产生了错误</a:t>
            </a:r>
            <a:r>
              <a:rPr lang="en-US" altLang="zh-CN" dirty="0">
                <a:sym typeface="+mn-ea"/>
              </a:rPr>
              <a:t>(Error)</a:t>
            </a:r>
            <a:r>
              <a:rPr lang="zh-CN" altLang="en-US" dirty="0">
                <a:sym typeface="+mn-ea"/>
              </a:rPr>
              <a:t>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4342" y="1978184"/>
            <a:ext cx="1859915" cy="4845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1" grpId="0" bldLvl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C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语言程序的基本语法：分号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/>
        </p:nvSpPr>
        <p:spPr>
          <a:xfrm>
            <a:off x="737870" y="2053771"/>
            <a:ext cx="10380980" cy="39526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zh-CN" altLang="en-US" sz="3200" dirty="0">
                <a:sym typeface="+mn-ea"/>
              </a:rPr>
              <a:t>细心的同学可能已经发现了，</a:t>
            </a:r>
            <a:r>
              <a:rPr lang="en-US" altLang="zh-CN" sz="3200" dirty="0">
                <a:sym typeface="+mn-ea"/>
              </a:rPr>
              <a:t>main</a:t>
            </a:r>
            <a:r>
              <a:rPr lang="zh-CN" altLang="en-US" sz="3200" dirty="0">
                <a:sym typeface="+mn-ea"/>
              </a:rPr>
              <a:t>函数的两行代码都具有分号；</a:t>
            </a:r>
          </a:p>
          <a:p>
            <a:pPr marL="0" indent="0">
              <a:lnSpc>
                <a:spcPct val="120000"/>
              </a:lnSpc>
              <a:buNone/>
            </a:pPr>
            <a:endParaRPr lang="zh-CN" altLang="en-US" sz="3200" dirty="0">
              <a:sym typeface="+mn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3200" dirty="0">
                <a:sym typeface="+mn-ea"/>
              </a:rPr>
              <a:t>分号在</a:t>
            </a:r>
            <a:r>
              <a:rPr lang="en-US" altLang="zh-CN" sz="3200" dirty="0">
                <a:sym typeface="+mn-ea"/>
              </a:rPr>
              <a:t>C</a:t>
            </a:r>
            <a:r>
              <a:rPr lang="zh-CN" altLang="en-US" sz="3200" dirty="0">
                <a:sym typeface="+mn-ea"/>
              </a:rPr>
              <a:t>语言中实际上与汉语的句号是一致的，它表明了一个代码语句的结束。</a:t>
            </a:r>
            <a:endParaRPr lang="en-US" altLang="zh-CN" sz="3200" dirty="0">
              <a:sym typeface="+mn-ea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3200" dirty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1" grpId="0" bldLvl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程序执行过程</a:t>
            </a:r>
            <a:endParaRPr lang="en-US" altLang="zh-CN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grpSp>
        <p:nvGrpSpPr>
          <p:cNvPr id="8" name="Group 3"/>
          <p:cNvGrpSpPr>
            <a:grpSpLocks/>
          </p:cNvGrpSpPr>
          <p:nvPr/>
        </p:nvGrpSpPr>
        <p:grpSpPr bwMode="auto">
          <a:xfrm>
            <a:off x="2817812" y="1984962"/>
            <a:ext cx="6219825" cy="4476474"/>
            <a:chOff x="1152" y="1392"/>
            <a:chExt cx="3072" cy="2211"/>
          </a:xfrm>
        </p:grpSpPr>
        <p:sp>
          <p:nvSpPr>
            <p:cNvPr id="9" name="Rectangle 4"/>
            <p:cNvSpPr>
              <a:spLocks noChangeArrowheads="1"/>
            </p:cNvSpPr>
            <p:nvPr/>
          </p:nvSpPr>
          <p:spPr bwMode="auto">
            <a:xfrm>
              <a:off x="2304" y="1488"/>
              <a:ext cx="1392" cy="336"/>
            </a:xfrm>
            <a:prstGeom prst="rect">
              <a:avLst/>
            </a:prstGeom>
            <a:solidFill>
              <a:srgbClr val="E6E6E6"/>
            </a:solidFill>
            <a:ln w="9525" algn="ctr">
              <a:solidFill>
                <a:srgbClr val="E6E6E6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16623" tIns="58311" rIns="116623" bIns="58311" anchor="ctr"/>
            <a:lstStyle>
              <a:lvl1pPr defTabSz="1166813">
                <a:spcBef>
                  <a:spcPct val="20000"/>
                </a:spcBef>
                <a:buClr>
                  <a:srgbClr val="FF0000"/>
                </a:buClr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82613" indent="-285750" defTabSz="1166813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66813" indent="-228600" defTabSz="1166813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49425" indent="-228600" defTabSz="1166813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332038" indent="-228600" defTabSz="1166813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89238" indent="-228600" defTabSz="11668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46438" indent="-228600" defTabSz="11668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703638" indent="-228600" defTabSz="11668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60838" indent="-228600" defTabSz="11668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300" b="1">
                  <a:latin typeface="Arial" panose="020B0604020202020204" pitchFamily="34" charset="0"/>
                </a:rPr>
                <a:t>Code Area</a:t>
              </a:r>
            </a:p>
          </p:txBody>
        </p:sp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>
              <a:off x="2304" y="1824"/>
              <a:ext cx="1392" cy="336"/>
            </a:xfrm>
            <a:prstGeom prst="rect">
              <a:avLst/>
            </a:prstGeom>
            <a:solidFill>
              <a:srgbClr val="E6E6E6"/>
            </a:solidFill>
            <a:ln w="9525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16623" tIns="58311" rIns="116623" bIns="58311" anchor="ctr"/>
            <a:lstStyle>
              <a:lvl1pPr defTabSz="1166813">
                <a:spcBef>
                  <a:spcPct val="20000"/>
                </a:spcBef>
                <a:buClr>
                  <a:srgbClr val="FF0000"/>
                </a:buClr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82613" indent="-285750" defTabSz="1166813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66813" indent="-228600" defTabSz="1166813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49425" indent="-228600" defTabSz="1166813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332038" indent="-228600" defTabSz="1166813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89238" indent="-228600" defTabSz="11668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46438" indent="-228600" defTabSz="11668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703638" indent="-228600" defTabSz="11668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60838" indent="-228600" defTabSz="11668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300" b="1">
                  <a:latin typeface="Arial" panose="020B0604020202020204" pitchFamily="34" charset="0"/>
                </a:rPr>
                <a:t>Static Area</a:t>
              </a:r>
            </a:p>
          </p:txBody>
        </p:sp>
        <p:sp>
          <p:nvSpPr>
            <p:cNvPr id="11" name="Rectangle 6"/>
            <p:cNvSpPr>
              <a:spLocks noChangeArrowheads="1"/>
            </p:cNvSpPr>
            <p:nvPr/>
          </p:nvSpPr>
          <p:spPr bwMode="auto">
            <a:xfrm>
              <a:off x="2304" y="2160"/>
              <a:ext cx="1392" cy="336"/>
            </a:xfrm>
            <a:prstGeom prst="rect">
              <a:avLst/>
            </a:prstGeom>
            <a:solidFill>
              <a:srgbClr val="E6E6E6"/>
            </a:solidFill>
            <a:ln w="9525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16623" tIns="58311" rIns="116623" bIns="58311" anchor="ctr"/>
            <a:lstStyle>
              <a:lvl1pPr defTabSz="1166813">
                <a:spcBef>
                  <a:spcPct val="20000"/>
                </a:spcBef>
                <a:buClr>
                  <a:srgbClr val="FF0000"/>
                </a:buClr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82613" indent="-285750" defTabSz="1166813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66813" indent="-228600" defTabSz="1166813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49425" indent="-228600" defTabSz="1166813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332038" indent="-228600" defTabSz="1166813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89238" indent="-228600" defTabSz="11668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46438" indent="-228600" defTabSz="11668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703638" indent="-228600" defTabSz="11668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60838" indent="-228600" defTabSz="11668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300" b="1">
                  <a:latin typeface="Arial" panose="020B0604020202020204" pitchFamily="34" charset="0"/>
                </a:rPr>
                <a:t>Heap</a:t>
              </a:r>
            </a:p>
          </p:txBody>
        </p:sp>
        <p:sp>
          <p:nvSpPr>
            <p:cNvPr id="12" name="Rectangle 7"/>
            <p:cNvSpPr>
              <a:spLocks noChangeArrowheads="1"/>
            </p:cNvSpPr>
            <p:nvPr/>
          </p:nvSpPr>
          <p:spPr bwMode="auto">
            <a:xfrm>
              <a:off x="2304" y="2496"/>
              <a:ext cx="1392" cy="72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16623" tIns="58311" rIns="116623" bIns="58311" anchor="ctr"/>
            <a:lstStyle>
              <a:lvl1pPr defTabSz="1166813">
                <a:spcBef>
                  <a:spcPct val="20000"/>
                </a:spcBef>
                <a:buClr>
                  <a:srgbClr val="FF0000"/>
                </a:buClr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82613" indent="-285750" defTabSz="1166813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66813" indent="-228600" defTabSz="1166813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49425" indent="-228600" defTabSz="1166813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332038" indent="-228600" defTabSz="1166813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89238" indent="-228600" defTabSz="11668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46438" indent="-228600" defTabSz="11668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703638" indent="-228600" defTabSz="11668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60838" indent="-228600" defTabSz="11668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300" i="1">
                  <a:solidFill>
                    <a:srgbClr val="FF3300"/>
                  </a:solidFill>
                  <a:latin typeface="Palatino Linotype" panose="02040502050505030304" pitchFamily="18" charset="0"/>
                </a:rPr>
                <a:t>Free Memory</a:t>
              </a:r>
            </a:p>
          </p:txBody>
        </p:sp>
        <p:sp>
          <p:nvSpPr>
            <p:cNvPr id="13" name="Rectangle 8"/>
            <p:cNvSpPr>
              <a:spLocks noChangeArrowheads="1"/>
            </p:cNvSpPr>
            <p:nvPr/>
          </p:nvSpPr>
          <p:spPr bwMode="auto">
            <a:xfrm>
              <a:off x="2304" y="3216"/>
              <a:ext cx="1392" cy="288"/>
            </a:xfrm>
            <a:prstGeom prst="rect">
              <a:avLst/>
            </a:prstGeom>
            <a:solidFill>
              <a:srgbClr val="E6E6E6"/>
            </a:solidFill>
            <a:ln w="9525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16623" tIns="58311" rIns="116623" bIns="58311" anchor="ctr"/>
            <a:lstStyle>
              <a:lvl1pPr defTabSz="1166813">
                <a:spcBef>
                  <a:spcPct val="20000"/>
                </a:spcBef>
                <a:buClr>
                  <a:srgbClr val="FF0000"/>
                </a:buClr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82613" indent="-285750" defTabSz="1166813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66813" indent="-228600" defTabSz="1166813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49425" indent="-228600" defTabSz="1166813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332038" indent="-228600" defTabSz="1166813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89238" indent="-228600" defTabSz="11668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46438" indent="-228600" defTabSz="11668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703638" indent="-228600" defTabSz="11668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60838" indent="-228600" defTabSz="11668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300" b="1">
                  <a:latin typeface="Arial" panose="020B0604020202020204" pitchFamily="34" charset="0"/>
                </a:rPr>
                <a:t>Stack</a:t>
              </a:r>
            </a:p>
          </p:txBody>
        </p:sp>
        <p:sp>
          <p:nvSpPr>
            <p:cNvPr id="14" name="AutoShape 9"/>
            <p:cNvSpPr>
              <a:spLocks noChangeArrowheads="1"/>
            </p:cNvSpPr>
            <p:nvPr/>
          </p:nvSpPr>
          <p:spPr bwMode="auto">
            <a:xfrm>
              <a:off x="2928" y="2976"/>
              <a:ext cx="159" cy="224"/>
            </a:xfrm>
            <a:prstGeom prst="upArrow">
              <a:avLst>
                <a:gd name="adj1" fmla="val 32287"/>
                <a:gd name="adj2" fmla="val 46960"/>
              </a:avLst>
            </a:prstGeom>
            <a:noFill/>
            <a:ln w="9525" algn="ctr">
              <a:solidFill>
                <a:srgbClr val="CC66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0000"/>
                </a:buClr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15" name="AutoShape 10"/>
            <p:cNvSpPr>
              <a:spLocks noChangeArrowheads="1"/>
            </p:cNvSpPr>
            <p:nvPr/>
          </p:nvSpPr>
          <p:spPr bwMode="auto">
            <a:xfrm flipV="1">
              <a:off x="2928" y="2518"/>
              <a:ext cx="159" cy="224"/>
            </a:xfrm>
            <a:prstGeom prst="upArrow">
              <a:avLst>
                <a:gd name="adj1" fmla="val 32287"/>
                <a:gd name="adj2" fmla="val 46960"/>
              </a:avLst>
            </a:prstGeom>
            <a:noFill/>
            <a:ln w="9525" algn="ctr">
              <a:solidFill>
                <a:srgbClr val="A5002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0000"/>
                </a:buClr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16" name="Text Box 11"/>
            <p:cNvSpPr txBox="1">
              <a:spLocks noChangeArrowheads="1"/>
            </p:cNvSpPr>
            <p:nvPr/>
          </p:nvSpPr>
          <p:spPr bwMode="auto">
            <a:xfrm>
              <a:off x="3696" y="1392"/>
              <a:ext cx="528" cy="1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16623" tIns="58311" rIns="116623" bIns="58311">
              <a:spAutoFit/>
            </a:bodyPr>
            <a:lstStyle>
              <a:lvl1pPr defTabSz="1166813">
                <a:spcBef>
                  <a:spcPct val="20000"/>
                </a:spcBef>
                <a:buClr>
                  <a:srgbClr val="FF0000"/>
                </a:buClr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82613" indent="-285750" defTabSz="1166813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66813" indent="-228600" defTabSz="1166813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49425" indent="-228600" defTabSz="1166813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332038" indent="-228600" defTabSz="1166813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89238" indent="-228600" defTabSz="11668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46438" indent="-228600" defTabSz="11668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703638" indent="-228600" defTabSz="11668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60838" indent="-228600" defTabSz="11668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kumimoji="0" lang="en-US" altLang="zh-CN" sz="1800" b="1">
                  <a:latin typeface="Arial" panose="020B0604020202020204" pitchFamily="34" charset="0"/>
                </a:rPr>
                <a:t>Low</a:t>
              </a:r>
            </a:p>
          </p:txBody>
        </p:sp>
        <p:sp>
          <p:nvSpPr>
            <p:cNvPr id="17" name="Text Box 12"/>
            <p:cNvSpPr txBox="1">
              <a:spLocks noChangeArrowheads="1"/>
            </p:cNvSpPr>
            <p:nvPr/>
          </p:nvSpPr>
          <p:spPr bwMode="auto">
            <a:xfrm>
              <a:off x="3696" y="3408"/>
              <a:ext cx="528" cy="1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16623" tIns="58311" rIns="116623" bIns="58311">
              <a:spAutoFit/>
            </a:bodyPr>
            <a:lstStyle>
              <a:lvl1pPr defTabSz="1166813">
                <a:spcBef>
                  <a:spcPct val="20000"/>
                </a:spcBef>
                <a:buClr>
                  <a:srgbClr val="FF0000"/>
                </a:buClr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82613" indent="-285750" defTabSz="1166813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66813" indent="-228600" defTabSz="1166813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49425" indent="-228600" defTabSz="1166813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332038" indent="-228600" defTabSz="1166813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89238" indent="-228600" defTabSz="11668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46438" indent="-228600" defTabSz="11668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703638" indent="-228600" defTabSz="11668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60838" indent="-228600" defTabSz="11668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kumimoji="0" lang="en-US" altLang="zh-CN" sz="1800" b="1">
                  <a:latin typeface="Arial" panose="020B0604020202020204" pitchFamily="34" charset="0"/>
                </a:rPr>
                <a:t>High</a:t>
              </a:r>
            </a:p>
          </p:txBody>
        </p:sp>
        <p:sp>
          <p:nvSpPr>
            <p:cNvPr id="18" name="Text Box 13"/>
            <p:cNvSpPr txBox="1">
              <a:spLocks noChangeArrowheads="1"/>
            </p:cNvSpPr>
            <p:nvPr/>
          </p:nvSpPr>
          <p:spPr bwMode="auto">
            <a:xfrm>
              <a:off x="1152" y="3216"/>
              <a:ext cx="1152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16623" tIns="58311" rIns="116623" bIns="58311">
              <a:spAutoFit/>
            </a:bodyPr>
            <a:lstStyle>
              <a:lvl1pPr defTabSz="1166813">
                <a:spcBef>
                  <a:spcPct val="20000"/>
                </a:spcBef>
                <a:buClr>
                  <a:srgbClr val="FF0000"/>
                </a:buClr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82613" indent="-285750" defTabSz="1166813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66813" indent="-228600" defTabSz="1166813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49425" indent="-228600" defTabSz="1166813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332038" indent="-228600" defTabSz="1166813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89238" indent="-228600" defTabSz="11668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46438" indent="-228600" defTabSz="11668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703638" indent="-228600" defTabSz="11668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60838" indent="-228600" defTabSz="11668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50000"/>
                </a:spcBef>
                <a:buClrTx/>
                <a:buFontTx/>
                <a:buNone/>
              </a:pPr>
              <a:r>
                <a:rPr kumimoji="0" lang="en-US" altLang="zh-CN" sz="1500">
                  <a:solidFill>
                    <a:srgbClr val="0033CC"/>
                  </a:solidFill>
                  <a:latin typeface="Verdana" panose="020B0604030504040204" pitchFamily="34" charset="0"/>
                </a:rPr>
                <a:t>Activation Record</a:t>
              </a:r>
            </a:p>
          </p:txBody>
        </p:sp>
        <p:sp>
          <p:nvSpPr>
            <p:cNvPr id="19" name="Text Box 14"/>
            <p:cNvSpPr txBox="1">
              <a:spLocks noChangeArrowheads="1"/>
            </p:cNvSpPr>
            <p:nvPr/>
          </p:nvSpPr>
          <p:spPr bwMode="auto">
            <a:xfrm>
              <a:off x="1152" y="2160"/>
              <a:ext cx="1152" cy="3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16623" tIns="58311" rIns="116623" bIns="58311">
              <a:spAutoFit/>
            </a:bodyPr>
            <a:lstStyle>
              <a:lvl1pPr defTabSz="1166813">
                <a:spcBef>
                  <a:spcPct val="20000"/>
                </a:spcBef>
                <a:buClr>
                  <a:srgbClr val="FF0000"/>
                </a:buClr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82613" indent="-285750" defTabSz="1166813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66813" indent="-228600" defTabSz="1166813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49425" indent="-228600" defTabSz="1166813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332038" indent="-228600" defTabSz="1166813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89238" indent="-228600" defTabSz="11668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46438" indent="-228600" defTabSz="11668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703638" indent="-228600" defTabSz="11668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60838" indent="-228600" defTabSz="11668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50000"/>
                </a:spcBef>
                <a:buClrTx/>
                <a:buFontTx/>
                <a:buNone/>
              </a:pPr>
              <a:r>
                <a:rPr kumimoji="0" lang="en-US" altLang="zh-CN" sz="1500" b="1">
                  <a:solidFill>
                    <a:srgbClr val="0033CC"/>
                  </a:solidFill>
                  <a:latin typeface="Verdana" panose="020B0604030504040204" pitchFamily="34" charset="0"/>
                </a:rPr>
                <a:t>new </a:t>
              </a:r>
              <a:r>
                <a:rPr kumimoji="0" lang="en-US" altLang="zh-CN" sz="1500">
                  <a:solidFill>
                    <a:srgbClr val="0033CC"/>
                  </a:solidFill>
                  <a:latin typeface="Verdana" panose="020B0604030504040204" pitchFamily="34" charset="0"/>
                </a:rPr>
                <a:t>/ </a:t>
              </a:r>
              <a:r>
                <a:rPr kumimoji="0" lang="en-US" altLang="zh-CN" sz="1500" b="1">
                  <a:solidFill>
                    <a:srgbClr val="0033CC"/>
                  </a:solidFill>
                  <a:latin typeface="Verdana" panose="020B0604030504040204" pitchFamily="34" charset="0"/>
                </a:rPr>
                <a:t>delete</a:t>
              </a:r>
            </a:p>
            <a:p>
              <a:pPr algn="r">
                <a:spcBef>
                  <a:spcPct val="50000"/>
                </a:spcBef>
                <a:buClrTx/>
                <a:buFontTx/>
                <a:buNone/>
              </a:pPr>
              <a:r>
                <a:rPr kumimoji="0" lang="en-US" altLang="zh-CN" sz="1500">
                  <a:solidFill>
                    <a:srgbClr val="0033CC"/>
                  </a:solidFill>
                  <a:latin typeface="Verdana" panose="020B0604030504040204" pitchFamily="34" charset="0"/>
                </a:rPr>
                <a:t>malloc / free</a:t>
              </a:r>
            </a:p>
          </p:txBody>
        </p:sp>
        <p:sp>
          <p:nvSpPr>
            <p:cNvPr id="20" name="Text Box 15"/>
            <p:cNvSpPr txBox="1">
              <a:spLocks noChangeArrowheads="1"/>
            </p:cNvSpPr>
            <p:nvPr/>
          </p:nvSpPr>
          <p:spPr bwMode="auto">
            <a:xfrm>
              <a:off x="1152" y="1872"/>
              <a:ext cx="1152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16623" tIns="58311" rIns="116623" bIns="58311">
              <a:spAutoFit/>
            </a:bodyPr>
            <a:lstStyle>
              <a:lvl1pPr defTabSz="1166813">
                <a:spcBef>
                  <a:spcPct val="20000"/>
                </a:spcBef>
                <a:buClr>
                  <a:srgbClr val="FF0000"/>
                </a:buClr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82613" indent="-285750" defTabSz="1166813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66813" indent="-228600" defTabSz="1166813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49425" indent="-228600" defTabSz="1166813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332038" indent="-228600" defTabSz="1166813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89238" indent="-228600" defTabSz="11668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46438" indent="-228600" defTabSz="11668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703638" indent="-228600" defTabSz="11668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60838" indent="-228600" defTabSz="116681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50000"/>
                </a:spcBef>
                <a:buClrTx/>
                <a:buFontTx/>
                <a:buNone/>
              </a:pPr>
              <a:r>
                <a:rPr kumimoji="0" lang="en-US" altLang="zh-CN" sz="1500">
                  <a:solidFill>
                    <a:srgbClr val="0033CC"/>
                  </a:solidFill>
                  <a:latin typeface="Verdana" panose="020B0604030504040204" pitchFamily="34" charset="0"/>
                </a:rPr>
                <a:t>global and </a:t>
              </a:r>
              <a:r>
                <a:rPr kumimoji="0" lang="en-US" altLang="zh-CN" sz="1500" b="1">
                  <a:solidFill>
                    <a:srgbClr val="0033CC"/>
                  </a:solidFill>
                  <a:latin typeface="Verdana" panose="020B0604030504040204" pitchFamily="34" charset="0"/>
                </a:rPr>
                <a:t>static</a:t>
              </a:r>
            </a:p>
          </p:txBody>
        </p:sp>
        <p:sp>
          <p:nvSpPr>
            <p:cNvPr id="21" name="Rectangle 16"/>
            <p:cNvSpPr>
              <a:spLocks noChangeArrowheads="1"/>
            </p:cNvSpPr>
            <p:nvPr/>
          </p:nvSpPr>
          <p:spPr bwMode="auto">
            <a:xfrm>
              <a:off x="2304" y="1488"/>
              <a:ext cx="1392" cy="201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0000"/>
                </a:buClr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674959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1" grpId="0" bldLvl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>
            <p:custDataLst>
              <p:tags r:id="rId2"/>
            </p:custDataLst>
          </p:nvPr>
        </p:nvSpPr>
        <p:spPr>
          <a:xfrm>
            <a:off x="1219200" y="1264602"/>
            <a:ext cx="904411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1.Which of the following is not one of the three general types of computer lan-guages?</a:t>
            </a:r>
            <a:endParaRPr lang="zh-CN" altLang="en-US" sz="260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2438400" y="2863691"/>
            <a:ext cx="34309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Machine languages.</a:t>
            </a:r>
            <a:endParaRPr lang="zh-CN" altLang="en-US" sz="260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2438400" y="3720941"/>
            <a:ext cx="3586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Assembly languages.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TextBox 12"/>
          <p:cNvSpPr txBox="1"/>
          <p:nvPr>
            <p:custDataLst>
              <p:tags r:id="rId7"/>
            </p:custDataLst>
          </p:nvPr>
        </p:nvSpPr>
        <p:spPr>
          <a:xfrm>
            <a:off x="2438400" y="4578191"/>
            <a:ext cx="3782822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High-Level languages.</a:t>
            </a:r>
            <a:endParaRPr lang="zh-CN" altLang="en-US" sz="260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5" name="TextBox 14"/>
          <p:cNvSpPr txBox="1"/>
          <p:nvPr>
            <p:custDataLst>
              <p:tags r:id="rId9"/>
            </p:custDataLst>
          </p:nvPr>
        </p:nvSpPr>
        <p:spPr>
          <a:xfrm>
            <a:off x="2438400" y="5435441"/>
            <a:ext cx="3253931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Spoken languages.</a:t>
            </a:r>
            <a:endParaRPr lang="zh-CN" altLang="en-US" sz="260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7" name="圆角矩形 16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7" name="组合 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170508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>
            <p:custDataLst>
              <p:tags r:id="rId2"/>
            </p:custDataLst>
          </p:nvPr>
        </p:nvSpPr>
        <p:spPr>
          <a:xfrm>
            <a:off x="1219200" y="1462723"/>
            <a:ext cx="9379776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2.Which of the following languages was an ancestor of C?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2438400" y="2863691"/>
            <a:ext cx="513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2438400" y="3720941"/>
            <a:ext cx="75755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A+</a:t>
            </a:r>
            <a:endParaRPr lang="zh-CN" altLang="en-US" sz="260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TextBox 12"/>
          <p:cNvSpPr txBox="1"/>
          <p:nvPr>
            <p:custDataLst>
              <p:tags r:id="rId7"/>
            </p:custDataLst>
          </p:nvPr>
        </p:nvSpPr>
        <p:spPr>
          <a:xfrm>
            <a:off x="2438400" y="4578191"/>
            <a:ext cx="489268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260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5" name="TextBox 14"/>
          <p:cNvSpPr txBox="1"/>
          <p:nvPr>
            <p:custDataLst>
              <p:tags r:id="rId9"/>
            </p:custDataLst>
          </p:nvPr>
        </p:nvSpPr>
        <p:spPr>
          <a:xfrm>
            <a:off x="2438400" y="5435441"/>
            <a:ext cx="733743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B+</a:t>
            </a:r>
            <a:endParaRPr lang="zh-CN" altLang="en-US" sz="260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7" name="圆角矩形 16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7" name="组合 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914990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>
            <p:custDataLst>
              <p:tags r:id="rId2"/>
            </p:custDataLst>
          </p:nvPr>
        </p:nvSpPr>
        <p:spPr>
          <a:xfrm>
            <a:off x="1219200" y="1462723"/>
            <a:ext cx="6683693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3.The compile stage is when ____________.</a:t>
            </a:r>
            <a:endParaRPr lang="zh-CN" altLang="en-US" sz="260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2438400" y="2899782"/>
            <a:ext cx="8082915" cy="415498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1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the object code is linked with code for functions in other files</a:t>
            </a:r>
            <a:endParaRPr lang="zh-CN" altLang="en-US" sz="210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2438400" y="3741643"/>
            <a:ext cx="8143177" cy="446276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3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the C program is translated into machine language code</a:t>
            </a:r>
            <a:endParaRPr lang="zh-CN" altLang="en-US" sz="230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TextBox 12"/>
          <p:cNvSpPr txBox="1"/>
          <p:nvPr>
            <p:custDataLst>
              <p:tags r:id="rId7"/>
            </p:custDataLst>
          </p:nvPr>
        </p:nvSpPr>
        <p:spPr>
          <a:xfrm>
            <a:off x="2438400" y="4578191"/>
            <a:ext cx="809117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the program is executed one instruction at a time</a:t>
            </a:r>
            <a:endParaRPr lang="zh-CN" altLang="en-US" sz="260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5" name="TextBox 14"/>
          <p:cNvSpPr txBox="1"/>
          <p:nvPr>
            <p:custDataLst>
              <p:tags r:id="rId9"/>
            </p:custDataLst>
          </p:nvPr>
        </p:nvSpPr>
        <p:spPr>
          <a:xfrm>
            <a:off x="2438400" y="5435441"/>
            <a:ext cx="5561457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the program is placed in memory</a:t>
            </a:r>
            <a:endParaRPr lang="zh-CN" altLang="en-US" sz="260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7" name="圆角矩形 16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7" name="组合 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846818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>
            <p:custDataLst>
              <p:tags r:id="rId2"/>
            </p:custDataLst>
          </p:nvPr>
        </p:nvSpPr>
        <p:spPr>
          <a:xfrm>
            <a:off x="1219200" y="1462723"/>
            <a:ext cx="4962589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4.The linker creates __________.</a:t>
            </a:r>
            <a:endParaRPr lang="zh-CN" altLang="en-US" sz="260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2438400" y="2863691"/>
            <a:ext cx="353930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an executable image</a:t>
            </a:r>
            <a:endParaRPr lang="zh-CN" altLang="en-US" sz="260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2438400" y="3720941"/>
            <a:ext cx="4052888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a preprocessor directive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TextBox 12"/>
          <p:cNvSpPr txBox="1"/>
          <p:nvPr>
            <p:custDataLst>
              <p:tags r:id="rId7"/>
            </p:custDataLst>
          </p:nvPr>
        </p:nvSpPr>
        <p:spPr>
          <a:xfrm>
            <a:off x="2438400" y="4578191"/>
            <a:ext cx="2137093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object code</a:t>
            </a:r>
            <a:endParaRPr lang="zh-CN" altLang="en-US" sz="260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5" name="TextBox 14"/>
          <p:cNvSpPr txBox="1"/>
          <p:nvPr>
            <p:custDataLst>
              <p:tags r:id="rId9"/>
            </p:custDataLst>
          </p:nvPr>
        </p:nvSpPr>
        <p:spPr>
          <a:xfrm>
            <a:off x="2438400" y="5435441"/>
            <a:ext cx="2765806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an input stream</a:t>
            </a:r>
            <a:endParaRPr lang="zh-CN" altLang="en-US" sz="260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7" name="圆角矩形 16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7" name="组合 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43748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olling"/>
  <p:tag name="ANONYMOUSPOLLING" val="False"/>
  <p:tag name="PROBLEMSCORE" val="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olling"/>
  <p:tag name="ANONYMOUSPOLLING" val="False"/>
  <p:tag name="PROBLEMSCORE" val="0.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olling"/>
  <p:tag name="ANONYMOUSPOLLING" val="False"/>
  <p:tag name="PROBLEMSCORE" val="0.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5820,&quot;width&quot;:7476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​​">
  <a:themeElements>
    <a:clrScheme name="自定义 2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004723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686</TotalTime>
  <Words>1563</Words>
  <Application>Microsoft Office PowerPoint</Application>
  <PresentationFormat>宽屏</PresentationFormat>
  <Paragraphs>344</Paragraphs>
  <Slides>38</Slides>
  <Notes>31</Notes>
  <HiddenSlides>0</HiddenSlides>
  <MMClips>1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51" baseType="lpstr">
      <vt:lpstr>FandolSong</vt:lpstr>
      <vt:lpstr>Impact MT Std</vt:lpstr>
      <vt:lpstr>Microsoft Yahei</vt:lpstr>
      <vt:lpstr>New York</vt:lpstr>
      <vt:lpstr>等线</vt:lpstr>
      <vt:lpstr>等线 Light</vt:lpstr>
      <vt:lpstr>宋体</vt:lpstr>
      <vt:lpstr>微软雅黑</vt:lpstr>
      <vt:lpstr>Arial</vt:lpstr>
      <vt:lpstr>Palatino Linotype</vt:lpstr>
      <vt:lpstr>Times New Roman</vt:lpstr>
      <vt:lpstr>Verdana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答辩-19</dc:title>
  <dc:creator>LP</dc:creator>
  <cp:lastModifiedBy>stsluy</cp:lastModifiedBy>
  <cp:revision>180</cp:revision>
  <dcterms:created xsi:type="dcterms:W3CDTF">2016-11-24T09:20:00Z</dcterms:created>
  <dcterms:modified xsi:type="dcterms:W3CDTF">2023-09-22T04:19:12Z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2052-11.1.0.10700</vt:lpwstr>
  </property>
  <property fmtid="{D5CDD505-2E9C-101B-9397-08002B2CF9AE}" pid="3" name="ICV">
    <vt:lpwstr>7E38F6AF0AEB4547AE4ACB4243E3DBEC</vt:lpwstr>
  </property>
</Properties>
</file>