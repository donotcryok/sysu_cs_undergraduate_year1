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7" r:id="rId2"/>
    <p:sldId id="258" r:id="rId3"/>
    <p:sldId id="299" r:id="rId4"/>
    <p:sldId id="260" r:id="rId5"/>
    <p:sldId id="300" r:id="rId6"/>
    <p:sldId id="263" r:id="rId7"/>
    <p:sldId id="265" r:id="rId8"/>
    <p:sldId id="262" r:id="rId9"/>
    <p:sldId id="301" r:id="rId10"/>
    <p:sldId id="285" r:id="rId11"/>
    <p:sldId id="302" r:id="rId12"/>
    <p:sldId id="288" r:id="rId13"/>
    <p:sldId id="305" r:id="rId14"/>
    <p:sldId id="304" r:id="rId15"/>
    <p:sldId id="303" r:id="rId16"/>
    <p:sldId id="306" r:id="rId17"/>
    <p:sldId id="267" r:id="rId18"/>
    <p:sldId id="270" r:id="rId19"/>
    <p:sldId id="271" r:id="rId20"/>
    <p:sldId id="273" r:id="rId21"/>
    <p:sldId id="274" r:id="rId22"/>
    <p:sldId id="275" r:id="rId23"/>
    <p:sldId id="290" r:id="rId24"/>
    <p:sldId id="276" r:id="rId25"/>
    <p:sldId id="278" r:id="rId26"/>
    <p:sldId id="280" r:id="rId27"/>
    <p:sldId id="281" r:id="rId28"/>
    <p:sldId id="282" r:id="rId29"/>
    <p:sldId id="283" r:id="rId30"/>
    <p:sldId id="291" r:id="rId31"/>
    <p:sldId id="307" r:id="rId32"/>
    <p:sldId id="292"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23"/>
    <a:srgbClr val="014723"/>
    <a:srgbClr val="FF5D5D"/>
    <a:srgbClr val="C00000"/>
    <a:srgbClr val="CC3300"/>
    <a:srgbClr val="3A6695"/>
    <a:srgbClr val="9CC5FD"/>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1" autoAdjust="0"/>
    <p:restoredTop sz="93462" autoAdjust="0"/>
  </p:normalViewPr>
  <p:slideViewPr>
    <p:cSldViewPr snapToGrid="0">
      <p:cViewPr varScale="1">
        <p:scale>
          <a:sx n="82" d="100"/>
          <a:sy n="82" d="100"/>
        </p:scale>
        <p:origin x="912" y="38"/>
      </p:cViewPr>
      <p:guideLst>
        <p:guide orient="horz" pos="2160"/>
        <p:guide pos="3828"/>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2023/10/8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高级语言，是合适人类阅读的语言；这个程序包含四部分</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extLst>
      <p:ext uri="{BB962C8B-B14F-4D97-AF65-F5344CB8AC3E}">
        <p14:creationId xmlns:p14="http://schemas.microsoft.com/office/powerpoint/2010/main" val="1207908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extLst>
      <p:ext uri="{BB962C8B-B14F-4D97-AF65-F5344CB8AC3E}">
        <p14:creationId xmlns:p14="http://schemas.microsoft.com/office/powerpoint/2010/main" val="1006907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509444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127316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74090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1721768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790254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注意：输出格式类型与变量类型不一致，可能得不到期望输出，结果与编译器有关。</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4070462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3997168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1223333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注意：输出格式类型与变量类型不一致，可能得不到期望输出，结果与编译器有关。</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314652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2535480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学会把大象装进冰箱的方法</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366862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4172987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1616164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1680493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530566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2447071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3107531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3338509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2534328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556910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16942064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3543098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718591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7344911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1992908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32</a:t>
            </a:fld>
            <a:endParaRPr lang="zh-CN" altLang="en-US"/>
          </a:p>
        </p:txBody>
      </p:sp>
    </p:spTree>
    <p:extLst>
      <p:ext uri="{BB962C8B-B14F-4D97-AF65-F5344CB8AC3E}">
        <p14:creationId xmlns:p14="http://schemas.microsoft.com/office/powerpoint/2010/main" val="2667499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zh.cppreference.com/w/c/language/declaratio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zh.cppreference.com/w/c/io/fprint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s://zh.cppreference.com/w/c/language/integer_constant" TargetMode="Externa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860974" y="2834350"/>
            <a:ext cx="8652374" cy="1015663"/>
          </a:xfrm>
          <a:prstGeom prst="rect">
            <a:avLst/>
          </a:prstGeom>
          <a:noFill/>
        </p:spPr>
        <p:txBody>
          <a:bodyPr wrap="square" rtlCol="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变量</a:t>
            </a:r>
            <a:r>
              <a:rPr lang="zh-CN" altLang="en-US" sz="3600" b="1" dirty="0">
                <a:solidFill>
                  <a:schemeClr val="bg1">
                    <a:lumMod val="95000"/>
                  </a:schemeClr>
                </a:solidFill>
                <a:latin typeface="微软雅黑" panose="020B0503020204020204" pitchFamily="34" charset="-122"/>
                <a:ea typeface="微软雅黑" panose="020B0503020204020204" pitchFamily="34" charset="-122"/>
              </a:rPr>
              <a:t>、</a:t>
            </a: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常量和存储类（</a:t>
            </a:r>
            <a:r>
              <a:rPr lang="en-US" altLang="zh-CN" sz="6000" b="1" dirty="0">
                <a:solidFill>
                  <a:schemeClr val="bg1">
                    <a:lumMod val="95000"/>
                  </a:schemeClr>
                </a:solidFill>
                <a:latin typeface="微软雅黑" panose="020B0503020204020204" pitchFamily="34" charset="-122"/>
                <a:ea typeface="微软雅黑" panose="020B0503020204020204" pitchFamily="34" charset="-122"/>
              </a:rPr>
              <a:t>1</a:t>
            </a: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
        <p:nvSpPr>
          <p:cNvPr id="17" name="TextBox 6"/>
          <p:cNvSpPr txBox="1"/>
          <p:nvPr/>
        </p:nvSpPr>
        <p:spPr>
          <a:xfrm>
            <a:off x="5270366" y="5644929"/>
            <a:ext cx="1979982"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14723"/>
                </a:solidFill>
                <a:latin typeface="微软雅黑" panose="020B0503020204020204" pitchFamily="34" charset="-122"/>
                <a:ea typeface="微软雅黑" panose="020B0503020204020204" pitchFamily="34" charset="-122"/>
              </a:rPr>
              <a:t>讲课人</a:t>
            </a:r>
            <a:r>
              <a:rPr lang="zh-CN" altLang="en-US" dirty="0">
                <a:solidFill>
                  <a:srgbClr val="014723"/>
                </a:solidFill>
                <a:latin typeface="微软雅黑" panose="020B0503020204020204" pitchFamily="34" charset="-122"/>
                <a:ea typeface="微软雅黑" panose="020B0503020204020204" pitchFamily="34" charset="-122"/>
              </a:rPr>
              <a:t>：课题组</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18" name="Freeform 7"/>
          <p:cNvSpPr>
            <a:spLocks noChangeAspect="1" noEditPoints="1"/>
          </p:cNvSpPr>
          <p:nvPr/>
        </p:nvSpPr>
        <p:spPr bwMode="auto">
          <a:xfrm>
            <a:off x="4549092"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3300"/>
              </a:solidFill>
            </a:endParaRPr>
          </a:p>
        </p:txBody>
      </p:sp>
      <p:sp>
        <p:nvSpPr>
          <p:cNvPr id="2" name="圆角矩形 1"/>
          <p:cNvSpPr/>
          <p:nvPr/>
        </p:nvSpPr>
        <p:spPr>
          <a:xfrm>
            <a:off x="-1556426" y="1998319"/>
            <a:ext cx="5261917" cy="2861362"/>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642044" y="120457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642044" y="217250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642044" y="314042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642044" y="410835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642044" y="5076279"/>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6746944" y="120457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变量</a:t>
            </a:r>
          </a:p>
        </p:txBody>
      </p:sp>
      <p:sp>
        <p:nvSpPr>
          <p:cNvPr id="60" name="圆角矩形 59"/>
          <p:cNvSpPr/>
          <p:nvPr/>
        </p:nvSpPr>
        <p:spPr>
          <a:xfrm>
            <a:off x="6787948" y="314042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常量</a:t>
            </a:r>
          </a:p>
        </p:txBody>
      </p:sp>
      <p:sp>
        <p:nvSpPr>
          <p:cNvPr id="61" name="圆角矩形 60"/>
          <p:cNvSpPr/>
          <p:nvPr/>
        </p:nvSpPr>
        <p:spPr>
          <a:xfrm>
            <a:off x="6787948" y="410835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存储类</a:t>
            </a:r>
          </a:p>
        </p:txBody>
      </p:sp>
      <p:sp>
        <p:nvSpPr>
          <p:cNvPr id="62" name="圆角矩形 61"/>
          <p:cNvSpPr/>
          <p:nvPr/>
        </p:nvSpPr>
        <p:spPr>
          <a:xfrm>
            <a:off x="6787948" y="217800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输入输出</a:t>
            </a:r>
          </a:p>
        </p:txBody>
      </p:sp>
      <p:sp>
        <p:nvSpPr>
          <p:cNvPr id="63" name="圆角矩形 62"/>
          <p:cNvSpPr/>
          <p:nvPr/>
        </p:nvSpPr>
        <p:spPr>
          <a:xfrm>
            <a:off x="6746944" y="5076279"/>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强制类型转换</a:t>
            </a:r>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一个简单的 </a:t>
            </a:r>
            <a:r>
              <a:rPr lang="en-US" altLang="zh-CN" sz="2800" b="1" dirty="0">
                <a:solidFill>
                  <a:schemeClr val="bg1"/>
                </a:solidFill>
              </a:rPr>
              <a:t>C </a:t>
            </a:r>
            <a:r>
              <a:rPr lang="zh-CN" altLang="en-US" sz="2800" b="1" dirty="0">
                <a:solidFill>
                  <a:schemeClr val="bg1"/>
                </a:solidFill>
              </a:rPr>
              <a:t>程序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8422020" y="4238064"/>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7" y="1664919"/>
            <a:ext cx="7279557" cy="4832092"/>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/*compute area*/</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/*define vars and constants*/ </a:t>
            </a:r>
          </a:p>
          <a:p>
            <a:r>
              <a:rPr lang="en-US" altLang="zh-CN" sz="1600" dirty="0">
                <a:latin typeface="Consolas" panose="020B0609020204030204" pitchFamily="49" charset="0"/>
              </a:rPr>
              <a:t>	double radius, area;</a:t>
            </a:r>
          </a:p>
          <a:p>
            <a:r>
              <a:rPr lang="en-US" altLang="zh-CN" sz="1600" dirty="0">
                <a:latin typeface="Consolas" panose="020B0609020204030204" pitchFamily="49" charset="0"/>
              </a:rPr>
              <a:t>	const double PI = 3.14;</a:t>
            </a:r>
          </a:p>
          <a:p>
            <a:r>
              <a:rPr lang="en-US" altLang="zh-CN" sz="1600" dirty="0">
                <a:latin typeface="Consolas" panose="020B0609020204030204" pitchFamily="49" charset="0"/>
              </a:rPr>
              <a:t>	</a:t>
            </a:r>
          </a:p>
          <a:p>
            <a:r>
              <a:rPr lang="en-US" altLang="zh-CN" sz="1600" dirty="0">
                <a:latin typeface="Consolas" panose="020B0609020204030204" pitchFamily="49" charset="0"/>
              </a:rPr>
              <a:t>	/*input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lf</a:t>
            </a:r>
            <a:r>
              <a:rPr lang="en-US" altLang="zh-CN" sz="1600" dirty="0">
                <a:latin typeface="Consolas" panose="020B0609020204030204" pitchFamily="49" charset="0"/>
              </a:rPr>
              <a:t>",&amp;radius);</a:t>
            </a:r>
          </a:p>
          <a:p>
            <a:r>
              <a:rPr lang="en-US" altLang="zh-CN" sz="1600" dirty="0">
                <a:latin typeface="Consolas" panose="020B0609020204030204" pitchFamily="49" charset="0"/>
              </a:rPr>
              <a:t>	</a:t>
            </a:r>
          </a:p>
          <a:p>
            <a:r>
              <a:rPr lang="en-US" altLang="zh-CN" sz="1600" dirty="0">
                <a:latin typeface="Consolas" panose="020B0609020204030204" pitchFamily="49" charset="0"/>
              </a:rPr>
              <a:t>	/*compute area*/</a:t>
            </a:r>
          </a:p>
          <a:p>
            <a:r>
              <a:rPr lang="en-US" altLang="zh-CN" sz="1600" dirty="0">
                <a:latin typeface="Consolas" panose="020B0609020204030204" pitchFamily="49" charset="0"/>
              </a:rPr>
              <a:t>	area = radius * radius * PI;</a:t>
            </a:r>
          </a:p>
          <a:p>
            <a:r>
              <a:rPr lang="en-US" altLang="zh-CN" sz="1600" dirty="0">
                <a:latin typeface="Consolas" panose="020B0609020204030204" pitchFamily="49" charset="0"/>
              </a:rPr>
              <a:t>	</a:t>
            </a:r>
          </a:p>
          <a:p>
            <a:r>
              <a:rPr lang="en-US" altLang="zh-CN" sz="1600" dirty="0">
                <a:latin typeface="Consolas" panose="020B0609020204030204" pitchFamily="49" charset="0"/>
              </a:rPr>
              <a:t>	/*output results*/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("the area for the circle of radius %</a:t>
            </a:r>
            <a:r>
              <a:rPr lang="en-US" altLang="zh-CN" sz="1600" dirty="0" err="1">
                <a:latin typeface="Consolas" panose="020B0609020204030204" pitchFamily="49" charset="0"/>
              </a:rPr>
              <a:t>lf</a:t>
            </a:r>
            <a:r>
              <a:rPr lang="en-US" altLang="zh-CN" sz="1600" dirty="0">
                <a:latin typeface="Consolas" panose="020B0609020204030204" pitchFamily="49" charset="0"/>
              </a:rPr>
              <a:t> is %</a:t>
            </a:r>
            <a:r>
              <a:rPr lang="en-US" altLang="zh-CN" sz="1600" dirty="0" err="1">
                <a:latin typeface="Consolas" panose="020B0609020204030204" pitchFamily="49" charset="0"/>
              </a:rPr>
              <a:t>lf</a:t>
            </a:r>
            <a:r>
              <a:rPr lang="en-US" altLang="zh-CN" sz="1600" dirty="0">
                <a:latin typeface="Consolas" panose="020B0609020204030204" pitchFamily="49" charset="0"/>
              </a:rPr>
              <a:t>", </a:t>
            </a:r>
          </a:p>
          <a:p>
            <a:r>
              <a:rPr lang="en-US" altLang="zh-CN" sz="1600" dirty="0">
                <a:latin typeface="Consolas" panose="020B0609020204030204" pitchFamily="49" charset="0"/>
              </a:rPr>
              <a:t>		radius, area);</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517219" y="4607396"/>
            <a:ext cx="2802005" cy="1384995"/>
          </a:xfrm>
          <a:prstGeom prst="rect">
            <a:avLst/>
          </a:prstGeom>
          <a:noFill/>
          <a:ln>
            <a:solidFill>
              <a:schemeClr val="tx1"/>
            </a:solidFill>
          </a:ln>
        </p:spPr>
        <p:txBody>
          <a:bodyPr wrap="square">
            <a:spAutoFit/>
          </a:bodyPr>
          <a:lstStyle/>
          <a:p>
            <a:r>
              <a:rPr lang="en-US" altLang="zh-CN" sz="1200" dirty="0"/>
              <a:t>input radius:5</a:t>
            </a:r>
          </a:p>
          <a:p>
            <a:r>
              <a:rPr lang="en-US" altLang="zh-CN" sz="1200" dirty="0"/>
              <a:t>the area for the circle of radius 5.000000 is 78.500000</a:t>
            </a:r>
          </a:p>
          <a:p>
            <a:r>
              <a:rPr lang="en-US" altLang="zh-CN" sz="1200" dirty="0"/>
              <a:t>--------------------------------</a:t>
            </a:r>
          </a:p>
          <a:p>
            <a:r>
              <a:rPr lang="en-US" altLang="zh-CN" sz="1200" dirty="0"/>
              <a:t>Process exited after 3.542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8517219" y="1664919"/>
            <a:ext cx="2574949" cy="2308324"/>
          </a:xfrm>
          <a:prstGeom prst="rect">
            <a:avLst/>
          </a:prstGeom>
          <a:noFill/>
        </p:spPr>
        <p:txBody>
          <a:bodyPr wrap="square" rtlCol="0">
            <a:spAutoFit/>
          </a:bodyPr>
          <a:lstStyle/>
          <a:p>
            <a:r>
              <a:rPr lang="zh-CN" altLang="en-US" dirty="0"/>
              <a:t>这是一个简单的程序：</a:t>
            </a:r>
            <a:endParaRPr lang="en-US" altLang="zh-CN" dirty="0"/>
          </a:p>
          <a:p>
            <a:r>
              <a:rPr lang="zh-CN" altLang="en-US" dirty="0"/>
              <a:t>①从键盘接收一个实数作为半径；②计算面积；③打印圆的面积。</a:t>
            </a:r>
            <a:endParaRPr lang="en-US" altLang="zh-CN" dirty="0"/>
          </a:p>
          <a:p>
            <a:endParaRPr lang="en-US" altLang="zh-CN" dirty="0"/>
          </a:p>
          <a:p>
            <a:r>
              <a:rPr lang="zh-CN" altLang="en-US" dirty="0"/>
              <a:t>该程序非常接近自然语言，易于理解。</a:t>
            </a:r>
            <a:endParaRPr lang="en-US" altLang="zh-CN" dirty="0"/>
          </a:p>
          <a:p>
            <a:r>
              <a:rPr lang="zh-CN" altLang="en-US" dirty="0"/>
              <a:t>它包含哪些语言元素？</a:t>
            </a:r>
          </a:p>
        </p:txBody>
      </p:sp>
    </p:spTree>
    <p:extLst>
      <p:ext uri="{BB962C8B-B14F-4D97-AF65-F5344CB8AC3E}">
        <p14:creationId xmlns:p14="http://schemas.microsoft.com/office/powerpoint/2010/main" val="2824049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Variables</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mc:AlternateContent xmlns:mc="http://schemas.openxmlformats.org/markup-compatibility/2006" xmlns:a14="http://schemas.microsoft.com/office/drawing/2010/main">
        <mc:Choice Requires="a14">
          <p:sp>
            <p:nvSpPr>
              <p:cNvPr id="55" name="学论网-www.xuelun.me"/>
              <p:cNvSpPr txBox="1"/>
              <p:nvPr/>
            </p:nvSpPr>
            <p:spPr>
              <a:xfrm>
                <a:off x="992395" y="1766488"/>
                <a:ext cx="10207210" cy="4308872"/>
              </a:xfrm>
              <a:prstGeom prst="rect">
                <a:avLst/>
              </a:prstGeom>
              <a:noFill/>
              <a:ln>
                <a:noFill/>
              </a:ln>
            </p:spPr>
            <p:txBody>
              <a:bodyPr wrap="square" lIns="0" tIns="0" rIns="0" bIns="0" rtlCol="0">
                <a:spAutoFit/>
              </a:bodyPr>
              <a:lstStyle/>
              <a:p>
                <a:r>
                  <a:rPr lang="en-US" altLang="zh-CN" sz="2800" b="1" dirty="0"/>
                  <a:t>【</a:t>
                </a:r>
                <a:r>
                  <a:rPr lang="zh-CN" altLang="en-US" sz="2800" b="1" dirty="0"/>
                  <a:t>数学</a:t>
                </a:r>
                <a:r>
                  <a:rPr lang="en-US" altLang="zh-CN" sz="2800" b="1" dirty="0"/>
                  <a:t>】</a:t>
                </a:r>
                <a:r>
                  <a:rPr lang="zh-CN" altLang="en-US" sz="2800" b="1" dirty="0"/>
                  <a:t>变量</a:t>
                </a:r>
                <a:r>
                  <a:rPr lang="zh-CN" altLang="en-US" sz="2800" dirty="0"/>
                  <a:t>是用于指代特定的</a:t>
                </a:r>
                <a:r>
                  <a:rPr lang="zh-CN" altLang="en-US" sz="2800" b="1" dirty="0"/>
                  <a:t>值（</a:t>
                </a:r>
                <a:r>
                  <a:rPr lang="en-US" altLang="zh-CN" sz="2800" b="1" dirty="0"/>
                  <a:t>Value</a:t>
                </a:r>
                <a:r>
                  <a:rPr lang="zh-CN" altLang="en-US" sz="2800" b="1" dirty="0"/>
                  <a:t>）</a:t>
                </a:r>
                <a:r>
                  <a:rPr lang="zh-CN" altLang="en-US" sz="2800" dirty="0"/>
                  <a:t>的</a:t>
                </a:r>
                <a:r>
                  <a:rPr lang="zh-CN" altLang="en-US" sz="2800" b="1" dirty="0"/>
                  <a:t>符号（</a:t>
                </a:r>
                <a:r>
                  <a:rPr lang="en-US" altLang="zh-CN" sz="2800" b="1" dirty="0"/>
                  <a:t>Symbolic</a:t>
                </a:r>
                <a:r>
                  <a:rPr lang="zh-CN" altLang="en-US" sz="2800" b="1" dirty="0"/>
                  <a:t>）。</a:t>
                </a:r>
                <a:r>
                  <a:rPr lang="zh-CN" altLang="en-US" sz="2800" dirty="0"/>
                  <a:t>例如</a:t>
                </a:r>
                <a:endParaRPr lang="en-US" altLang="zh-CN" sz="2800"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𝒚</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𝒇</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𝒙</m:t>
                          </m:r>
                        </m:e>
                      </m:d>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𝟐</m:t>
                      </m:r>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𝟑</m:t>
                      </m:r>
                    </m:oMath>
                  </m:oMathPara>
                </a14:m>
                <a:endParaRPr lang="en-US" altLang="zh-CN" sz="2800" b="1" dirty="0"/>
              </a:p>
              <a:p>
                <a:r>
                  <a:rPr lang="zh-CN" altLang="en-US" sz="2800" dirty="0"/>
                  <a:t>这里，</a:t>
                </a:r>
                <a14:m>
                  <m:oMath xmlns:m="http://schemas.openxmlformats.org/officeDocument/2006/math">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𝑓</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oMath>
                </a14:m>
                <a:r>
                  <a:rPr lang="en-US" altLang="zh-CN" sz="2800" dirty="0"/>
                  <a:t> </a:t>
                </a:r>
                <a:r>
                  <a:rPr lang="zh-CN" altLang="en-US" sz="2800" dirty="0"/>
                  <a:t>都是变量，表示可变化的值</a:t>
                </a:r>
                <a:endParaRPr lang="en-US" altLang="zh-CN" sz="2800" dirty="0"/>
              </a:p>
              <a:p>
                <a:endParaRPr lang="en-US" altLang="zh-CN" sz="2800" b="1" dirty="0"/>
              </a:p>
              <a:p>
                <a:r>
                  <a:rPr lang="en-US" altLang="zh-CN" sz="2800" b="1" dirty="0"/>
                  <a:t>【</a:t>
                </a:r>
                <a:r>
                  <a:rPr lang="zh-CN" altLang="en-US" sz="2800" b="1" dirty="0"/>
                  <a:t>计算机</a:t>
                </a:r>
                <a:r>
                  <a:rPr lang="en-US" altLang="zh-CN" sz="2800" b="1" dirty="0"/>
                  <a:t>】</a:t>
                </a:r>
                <a:r>
                  <a:rPr lang="zh-CN" altLang="en-US" sz="2800" b="1" dirty="0"/>
                  <a:t>变量</a:t>
                </a:r>
                <a:r>
                  <a:rPr lang="zh-CN" altLang="en-US" sz="2800" dirty="0"/>
                  <a:t>是</a:t>
                </a:r>
                <a:r>
                  <a:rPr lang="zh-CN" altLang="en-US" sz="2800" b="1" dirty="0"/>
                  <a:t>储存</a:t>
                </a:r>
                <a:r>
                  <a:rPr lang="zh-CN" altLang="en-US" sz="2800" dirty="0"/>
                  <a:t>某个值或</a:t>
                </a:r>
                <a:r>
                  <a:rPr lang="zh-CN" altLang="en-US" sz="2800" b="1" dirty="0"/>
                  <a:t>对象（</a:t>
                </a:r>
                <a:r>
                  <a:rPr lang="en-US" altLang="zh-CN" sz="2800" b="1" dirty="0"/>
                  <a:t>Object</a:t>
                </a:r>
                <a:r>
                  <a:rPr lang="zh-CN" altLang="en-US" sz="2800" b="1" dirty="0"/>
                  <a:t>）</a:t>
                </a:r>
                <a:r>
                  <a:rPr lang="zh-CN" altLang="en-US" sz="2800" dirty="0"/>
                  <a:t>的</a:t>
                </a:r>
                <a:r>
                  <a:rPr lang="zh-CN" altLang="en-US" sz="2800" b="1" dirty="0"/>
                  <a:t>单元</a:t>
                </a:r>
                <a:r>
                  <a:rPr lang="zh-CN" altLang="en-US" sz="2800" dirty="0"/>
                  <a:t>名称。例如</a:t>
                </a:r>
                <a:endParaRPr lang="en-US" altLang="zh-CN" sz="2800"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𝟑</m:t>
                      </m:r>
                      <m:r>
                        <a:rPr lang="en-US" altLang="zh-CN" sz="2800" b="1" i="1" smtClean="0">
                          <a:latin typeface="Cambria Math" panose="02040503050406030204" pitchFamily="18" charset="0"/>
                        </a:rPr>
                        <m:t>;</m:t>
                      </m:r>
                    </m:oMath>
                  </m:oMathPara>
                </a14:m>
                <a:endParaRPr lang="en-US" altLang="zh-CN" sz="2800" b="1"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𝒚</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oMath>
                  </m:oMathPara>
                </a14:m>
                <a:endParaRPr lang="en-US" altLang="zh-CN" sz="2800" b="1" dirty="0"/>
              </a:p>
              <a:p>
                <a:r>
                  <a:rPr lang="zh-CN" altLang="en-US" sz="2800" dirty="0"/>
                  <a:t>这里：</a:t>
                </a:r>
                <a14:m>
                  <m:oMath xmlns:m="http://schemas.openxmlformats.org/officeDocument/2006/math">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oMath>
                </a14:m>
                <a:r>
                  <a:rPr lang="en-US" altLang="zh-CN" sz="2800" dirty="0"/>
                  <a:t> </a:t>
                </a:r>
                <a:r>
                  <a:rPr lang="zh-CN" altLang="en-US" sz="2800" dirty="0"/>
                  <a:t>是两个</a:t>
                </a:r>
                <a:r>
                  <a:rPr lang="zh-CN" altLang="en-US" sz="2800" b="1" dirty="0"/>
                  <a:t>存储单元</a:t>
                </a:r>
                <a:r>
                  <a:rPr lang="zh-CN" altLang="en-US" sz="2800" dirty="0"/>
                  <a:t>，经过上述语句后，都存储了数值 </a:t>
                </a:r>
                <a:r>
                  <a:rPr lang="en-US" altLang="zh-CN" sz="2800" dirty="0"/>
                  <a:t>3</a:t>
                </a:r>
              </a:p>
            </p:txBody>
          </p:sp>
        </mc:Choice>
        <mc:Fallback xmlns="">
          <p:sp>
            <p:nvSpPr>
              <p:cNvPr id="55" name="学论网-www.xuelun.me"/>
              <p:cNvSpPr txBox="1">
                <a:spLocks noRot="1" noChangeAspect="1" noMove="1" noResize="1" noEditPoints="1" noAdjustHandles="1" noChangeArrowheads="1" noChangeShapeType="1" noTextEdit="1"/>
              </p:cNvSpPr>
              <p:nvPr/>
            </p:nvSpPr>
            <p:spPr>
              <a:xfrm>
                <a:off x="992395" y="1766488"/>
                <a:ext cx="10207210" cy="4308872"/>
              </a:xfrm>
              <a:prstGeom prst="rect">
                <a:avLst/>
              </a:prstGeom>
              <a:blipFill>
                <a:blip r:embed="rId3"/>
                <a:stretch>
                  <a:fillRect l="-2151" t="-2687" r="-5556" b="-3960"/>
                </a:stretch>
              </a:blipFill>
              <a:ln>
                <a:noFill/>
              </a:ln>
            </p:spPr>
            <p:txBody>
              <a:bodyPr/>
              <a:lstStyle/>
              <a:p>
                <a:r>
                  <a:rPr lang="zh-CN" altLang="en-US">
                    <a:noFill/>
                  </a:rPr>
                  <a:t> </a:t>
                </a:r>
              </a:p>
            </p:txBody>
          </p:sp>
        </mc:Fallback>
      </mc:AlternateContent>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Variable</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）类型（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Types</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mc:AlternateContent xmlns:mc="http://schemas.openxmlformats.org/markup-compatibility/2006" xmlns:a14="http://schemas.microsoft.com/office/drawing/2010/main">
        <mc:Choice Requires="a14">
          <p:sp>
            <p:nvSpPr>
              <p:cNvPr id="55" name="学论网-www.xuelun.me"/>
              <p:cNvSpPr txBox="1"/>
              <p:nvPr/>
            </p:nvSpPr>
            <p:spPr>
              <a:xfrm>
                <a:off x="992395" y="1766488"/>
                <a:ext cx="10207210" cy="3939796"/>
              </a:xfrm>
              <a:prstGeom prst="rect">
                <a:avLst/>
              </a:prstGeom>
              <a:noFill/>
              <a:ln>
                <a:noFill/>
              </a:ln>
            </p:spPr>
            <p:txBody>
              <a:bodyPr wrap="square" lIns="0" tIns="0" rIns="0" bIns="0" rtlCol="0">
                <a:spAutoFit/>
              </a:bodyPr>
              <a:lstStyle/>
              <a:p>
                <a:r>
                  <a:rPr lang="en-US" altLang="zh-CN" sz="2800" b="1" dirty="0"/>
                  <a:t>C</a:t>
                </a:r>
                <a:r>
                  <a:rPr lang="zh-CN" altLang="en-US" sz="2800" b="1" dirty="0"/>
                  <a:t>语言</a:t>
                </a:r>
                <a:r>
                  <a:rPr lang="zh-CN" altLang="en-US" sz="2800" dirty="0"/>
                  <a:t>中</a:t>
                </a:r>
                <a:r>
                  <a:rPr lang="zh-CN" altLang="en-US" sz="2800" b="1" dirty="0"/>
                  <a:t>变量</a:t>
                </a:r>
                <a:r>
                  <a:rPr lang="zh-CN" altLang="en-US" sz="2800" dirty="0"/>
                  <a:t>只能</a:t>
                </a:r>
                <a:r>
                  <a:rPr lang="zh-CN" altLang="en-US" sz="2800" b="1" dirty="0"/>
                  <a:t>储存</a:t>
                </a:r>
                <a:r>
                  <a:rPr lang="zh-CN" altLang="en-US" sz="2800" dirty="0"/>
                  <a:t>数值。数值分为</a:t>
                </a:r>
                <a:endParaRPr lang="en-US" altLang="zh-CN" sz="2800" dirty="0"/>
              </a:p>
              <a:p>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smtClean="0">
                                  <a:latin typeface="Cambria Math" panose="02040503050406030204" pitchFamily="18" charset="0"/>
                                </a:rPr>
                              </m:ctrlPr>
                            </m:mPr>
                            <m:mr>
                              <m:e>
                                <m:r>
                                  <m:rPr>
                                    <m:brk m:alnAt="7"/>
                                  </m:rPr>
                                  <a:rPr lang="zh-CN" altLang="en-US" sz="2800" i="1">
                                    <a:latin typeface="Cambria Math" panose="02040503050406030204" pitchFamily="18" charset="0"/>
                                  </a:rPr>
                                  <m:t>整</m:t>
                                </m:r>
                                <m:r>
                                  <a:rPr lang="zh-CN" altLang="en-US" sz="2800" i="1">
                                    <a:latin typeface="Cambria Math" panose="02040503050406030204" pitchFamily="18" charset="0"/>
                                  </a:rPr>
                                  <m:t>数</m:t>
                                </m:r>
                                <m:r>
                                  <a:rPr lang="zh-CN" altLang="en-US" sz="2800" i="1" smtClean="0">
                                    <a:latin typeface="Cambria Math" panose="02040503050406030204" pitchFamily="18" charset="0"/>
                                  </a:rPr>
                                  <m:t>（</m:t>
                                </m:r>
                                <m:r>
                                  <m:rPr>
                                    <m:sty m:val="p"/>
                                    <m:brk m:alnAt="7"/>
                                  </m:rPr>
                                  <a:rPr lang="en-US" altLang="zh-CN" sz="2800" i="1">
                                    <a:latin typeface="Cambria Math" panose="02040503050406030204" pitchFamily="18" charset="0"/>
                                  </a:rPr>
                                  <m:t>i</m:t>
                                </m:r>
                                <m:r>
                                  <m:rPr>
                                    <m:sty m:val="p"/>
                                  </m:rPr>
                                  <a:rPr lang="en-US" altLang="zh-CN" sz="2800" i="1">
                                    <a:latin typeface="Cambria Math" panose="02040503050406030204" pitchFamily="18" charset="0"/>
                                  </a:rPr>
                                  <m:t>nt</m:t>
                                </m:r>
                                <m:r>
                                  <m:rPr>
                                    <m:brk m:alnAt="7"/>
                                  </m:rPr>
                                  <a:rPr lang="zh-CN" altLang="en-US" sz="2800" i="1">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smtClean="0">
                                            <a:latin typeface="Cambria Math" panose="02040503050406030204" pitchFamily="18" charset="0"/>
                                          </a:rPr>
                                        </m:ctrlPr>
                                      </m:mPr>
                                      <m:mr>
                                        <m:e>
                                          <m:r>
                                            <m:rPr>
                                              <m:brk m:alnAt="7"/>
                                            </m:rPr>
                                            <a:rPr lang="zh-CN" altLang="en-US" sz="2800" i="1">
                                              <a:latin typeface="Cambria Math" panose="02040503050406030204" pitchFamily="18" charset="0"/>
                                            </a:rPr>
                                            <m:t>自</m:t>
                                          </m:r>
                                          <m:r>
                                            <a:rPr lang="zh-CN" altLang="en-US" sz="2800" i="1">
                                              <a:latin typeface="Cambria Math" panose="02040503050406030204" pitchFamily="18" charset="0"/>
                                            </a:rPr>
                                            <m:t>然</m:t>
                                          </m:r>
                                          <m:r>
                                            <a:rPr lang="zh-CN" altLang="en-US" sz="2800" i="1" smtClean="0">
                                              <a:latin typeface="Cambria Math" panose="02040503050406030204" pitchFamily="18" charset="0"/>
                                            </a:rPr>
                                            <m:t>数</m:t>
                                          </m:r>
                                          <m:r>
                                            <a:rPr lang="zh-CN" altLang="en-US" sz="2800" i="1">
                                              <a:latin typeface="Cambria Math" panose="02040503050406030204" pitchFamily="18" charset="0"/>
                                            </a:rPr>
                                            <m:t>（</m:t>
                                          </m:r>
                                          <m:r>
                                            <m:rPr>
                                              <m:sty m:val="p"/>
                                              <m:brk m:alnAt="7"/>
                                            </m:rPr>
                                            <a:rPr lang="en-US" altLang="zh-CN" sz="2800" i="1" smtClean="0">
                                              <a:latin typeface="Cambria Math" panose="02040503050406030204" pitchFamily="18" charset="0"/>
                                            </a:rPr>
                                            <m:t>u</m:t>
                                          </m:r>
                                          <m:r>
                                            <m:rPr>
                                              <m:sty m:val="p"/>
                                            </m:rPr>
                                            <a:rPr lang="en-US" altLang="zh-CN" sz="2800" i="1" smtClean="0">
                                              <a:latin typeface="Cambria Math" panose="02040503050406030204" pitchFamily="18" charset="0"/>
                                            </a:rPr>
                                            <m:t>nsign</m:t>
                                          </m:r>
                                          <m:r>
                                            <m:rPr>
                                              <m:sty m:val="p"/>
                                            </m:rPr>
                                            <a:rPr lang="en-US" altLang="zh-CN" sz="2800" i="1">
                                              <a:latin typeface="Cambria Math" panose="02040503050406030204" pitchFamily="18" charset="0"/>
                                            </a:rPr>
                                            <m:t>ed</m:t>
                                          </m:r>
                                          <m:r>
                                            <m:rPr>
                                              <m:brk m:alnAt="7"/>
                                            </m:rPr>
                                            <a:rPr lang="zh-CN" altLang="en-US" sz="2800" i="1" smtClean="0">
                                              <a:latin typeface="Cambria Math" panose="02040503050406030204" pitchFamily="18" charset="0"/>
                                            </a:rPr>
                                            <m:t>）</m:t>
                                          </m:r>
                                        </m:e>
                                      </m:mr>
                                      <m:mr>
                                        <m:e>
                                          <m:r>
                                            <a:rPr lang="zh-CN" altLang="en-US" sz="2800" b="1" i="1">
                                              <a:latin typeface="Cambria Math" panose="02040503050406030204" pitchFamily="18" charset="0"/>
                                            </a:rPr>
                                            <m:t>有</m:t>
                                          </m:r>
                                          <m:r>
                                            <a:rPr lang="zh-CN" altLang="en-US" sz="2800" b="1" i="1" smtClean="0">
                                              <a:latin typeface="Cambria Math" panose="02040503050406030204" pitchFamily="18" charset="0"/>
                                            </a:rPr>
                                            <m:t>符号</m:t>
                                          </m:r>
                                          <m:r>
                                            <a:rPr lang="zh-CN" altLang="en-US" sz="2800" b="1" i="1">
                                              <a:latin typeface="Cambria Math" panose="02040503050406030204" pitchFamily="18" charset="0"/>
                                            </a:rPr>
                                            <m:t>数</m:t>
                                          </m:r>
                                          <m:r>
                                            <a:rPr lang="zh-CN" altLang="en-US" sz="2800" i="1" smtClean="0">
                                              <a:latin typeface="Cambria Math" panose="02040503050406030204" pitchFamily="18" charset="0"/>
                                            </a:rPr>
                                            <m:t>（</m:t>
                                          </m:r>
                                          <m:r>
                                            <m:rPr>
                                              <m:sty m:val="p"/>
                                            </m:rPr>
                                            <a:rPr lang="en-US" altLang="zh-CN" sz="2800" i="1">
                                              <a:latin typeface="Cambria Math" panose="02040503050406030204" pitchFamily="18" charset="0"/>
                                            </a:rPr>
                                            <m:t>signed</m:t>
                                          </m:r>
                                          <m:r>
                                            <a:rPr lang="zh-CN" altLang="en-US" sz="2800" i="1">
                                              <a:latin typeface="Cambria Math" panose="02040503050406030204" pitchFamily="18" charset="0"/>
                                            </a:rPr>
                                            <m:t>）</m:t>
                                          </m:r>
                                        </m:e>
                                      </m:mr>
                                    </m:m>
                                  </m:e>
                                </m:d>
                              </m:e>
                            </m:mr>
                            <m:mr>
                              <m:e>
                                <m:r>
                                  <a:rPr lang="zh-CN" altLang="en-US" sz="2800" i="1">
                                    <a:latin typeface="Cambria Math" panose="02040503050406030204" pitchFamily="18" charset="0"/>
                                  </a:rPr>
                                  <m:t>实数</m:t>
                                </m:r>
                                <m:r>
                                  <a:rPr lang="zh-CN" altLang="en-US" sz="2800" i="1" smtClean="0">
                                    <a:latin typeface="Cambria Math" panose="02040503050406030204" pitchFamily="18" charset="0"/>
                                  </a:rPr>
                                  <m:t>（</m:t>
                                </m:r>
                                <m:r>
                                  <m:rPr>
                                    <m:sty m:val="p"/>
                                  </m:rPr>
                                  <a:rPr lang="en-US" altLang="zh-CN" sz="2800" i="1">
                                    <a:latin typeface="Cambria Math" panose="02040503050406030204" pitchFamily="18" charset="0"/>
                                  </a:rPr>
                                  <m:t>real</m:t>
                                </m:r>
                                <m:r>
                                  <a:rPr lang="zh-CN" altLang="en-US" sz="2800" i="1">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smtClean="0">
                                            <a:latin typeface="Cambria Math" panose="02040503050406030204" pitchFamily="18" charset="0"/>
                                          </a:rPr>
                                        </m:ctrlPr>
                                      </m:mPr>
                                      <m:mr>
                                        <m:e>
                                          <m:r>
                                            <m:rPr>
                                              <m:brk m:alnAt="7"/>
                                            </m:rPr>
                                            <a:rPr lang="zh-CN" altLang="en-US" sz="2800" i="1">
                                              <a:latin typeface="Cambria Math" panose="02040503050406030204" pitchFamily="18" charset="0"/>
                                            </a:rPr>
                                            <m:t>浮</m:t>
                                          </m:r>
                                          <m:r>
                                            <a:rPr lang="zh-CN" altLang="en-US" sz="2800" i="1">
                                              <a:latin typeface="Cambria Math" panose="02040503050406030204" pitchFamily="18" charset="0"/>
                                            </a:rPr>
                                            <m:t>点数</m:t>
                                          </m:r>
                                          <m:r>
                                            <a:rPr lang="zh-CN" altLang="en-US" sz="2800" i="1" smtClean="0">
                                              <a:latin typeface="Cambria Math" panose="02040503050406030204" pitchFamily="18" charset="0"/>
                                            </a:rPr>
                                            <m:t>（</m:t>
                                          </m:r>
                                          <m:r>
                                            <m:rPr>
                                              <m:sty m:val="p"/>
                                              <m:brk m:alnAt="7"/>
                                            </m:rPr>
                                            <a:rPr lang="en-US" altLang="zh-CN" sz="2800" i="1">
                                              <a:latin typeface="Cambria Math" panose="02040503050406030204" pitchFamily="18" charset="0"/>
                                            </a:rPr>
                                            <m:t>f</m:t>
                                          </m:r>
                                          <m:r>
                                            <m:rPr>
                                              <m:sty m:val="p"/>
                                            </m:rPr>
                                            <a:rPr lang="en-US" altLang="zh-CN" sz="2800" i="1">
                                              <a:latin typeface="Cambria Math" panose="02040503050406030204" pitchFamily="18" charset="0"/>
                                            </a:rPr>
                                            <m:t>loat</m:t>
                                          </m:r>
                                          <m:r>
                                            <m:rPr>
                                              <m:brk m:alnAt="7"/>
                                            </m:rPr>
                                            <a:rPr lang="zh-CN" altLang="en-US" sz="2800" i="1">
                                              <a:latin typeface="Cambria Math" panose="02040503050406030204" pitchFamily="18" charset="0"/>
                                            </a:rPr>
                                            <m:t>）</m:t>
                                          </m:r>
                                        </m:e>
                                      </m:mr>
                                      <m:mr>
                                        <m:e>
                                          <m:r>
                                            <a:rPr lang="zh-CN" altLang="en-US" sz="2800" i="1">
                                              <a:latin typeface="Cambria Math" panose="02040503050406030204" pitchFamily="18" charset="0"/>
                                            </a:rPr>
                                            <m:t>双</m:t>
                                          </m:r>
                                          <m:r>
                                            <a:rPr lang="zh-CN" altLang="en-US" sz="2800" i="1" smtClean="0">
                                              <a:latin typeface="Cambria Math" panose="02040503050406030204" pitchFamily="18" charset="0"/>
                                            </a:rPr>
                                            <m:t>精度</m:t>
                                          </m:r>
                                          <m:r>
                                            <a:rPr lang="zh-CN" altLang="en-US" sz="2800" i="1">
                                              <a:latin typeface="Cambria Math" panose="02040503050406030204" pitchFamily="18" charset="0"/>
                                            </a:rPr>
                                            <m:t>数</m:t>
                                          </m:r>
                                          <m:r>
                                            <a:rPr lang="zh-CN" altLang="en-US" sz="2800" i="1" smtClean="0">
                                              <a:latin typeface="Cambria Math" panose="02040503050406030204" pitchFamily="18" charset="0"/>
                                            </a:rPr>
                                            <m:t>（</m:t>
                                          </m:r>
                                          <m:r>
                                            <a:rPr lang="en-US" altLang="zh-CN" sz="2800" b="0" i="1" smtClean="0">
                                              <a:latin typeface="Cambria Math" panose="02040503050406030204" pitchFamily="18" charset="0"/>
                                            </a:rPr>
                                            <m:t>𝑑𝑜𝑢𝑏𝑙𝑒</m:t>
                                          </m:r>
                                          <m:r>
                                            <a:rPr lang="zh-CN" altLang="en-US" sz="2800" i="1">
                                              <a:latin typeface="Cambria Math" panose="02040503050406030204" pitchFamily="18" charset="0"/>
                                            </a:rPr>
                                            <m:t>）</m:t>
                                          </m:r>
                                        </m:e>
                                      </m:mr>
                                    </m:m>
                                  </m:e>
                                </m:d>
                              </m:e>
                            </m:mr>
                          </m:m>
                        </m:e>
                      </m:d>
                    </m:oMath>
                  </m:oMathPara>
                </a14:m>
                <a:endParaRPr lang="en-US" altLang="zh-CN" sz="2800" dirty="0"/>
              </a:p>
              <a:p>
                <a:endParaRPr lang="en-US" altLang="zh-CN" sz="2800" dirty="0"/>
              </a:p>
              <a:p>
                <a:r>
                  <a:rPr lang="zh-CN" altLang="en-US" sz="2800" dirty="0"/>
                  <a:t>用 </a:t>
                </a:r>
                <a:r>
                  <a:rPr lang="en-US" altLang="zh-CN" sz="2800" b="1" dirty="0">
                    <a:solidFill>
                      <a:srgbClr val="C00000"/>
                    </a:solidFill>
                  </a:rPr>
                  <a:t>char,  short</a:t>
                </a:r>
                <a:r>
                  <a:rPr lang="zh-CN" altLang="en-US" sz="2800" b="1" dirty="0">
                    <a:solidFill>
                      <a:srgbClr val="C00000"/>
                    </a:solidFill>
                  </a:rPr>
                  <a:t>，</a:t>
                </a:r>
                <a:r>
                  <a:rPr lang="en-US" altLang="zh-CN" sz="2800" b="1" dirty="0">
                    <a:solidFill>
                      <a:srgbClr val="C00000"/>
                    </a:solidFill>
                  </a:rPr>
                  <a:t>int</a:t>
                </a:r>
                <a:r>
                  <a:rPr lang="zh-CN" altLang="en-US" sz="2800" b="1" dirty="0">
                    <a:solidFill>
                      <a:srgbClr val="C00000"/>
                    </a:solidFill>
                  </a:rPr>
                  <a:t>，</a:t>
                </a:r>
                <a:r>
                  <a:rPr lang="en-US" altLang="zh-CN" sz="2800" b="1" dirty="0">
                    <a:solidFill>
                      <a:srgbClr val="C00000"/>
                    </a:solidFill>
                  </a:rPr>
                  <a:t>long </a:t>
                </a:r>
                <a:r>
                  <a:rPr lang="zh-CN" altLang="en-US" sz="2800" dirty="0"/>
                  <a:t>存储不同</a:t>
                </a:r>
                <a:r>
                  <a:rPr lang="zh-CN" altLang="en-US" sz="2800" dirty="0">
                    <a:solidFill>
                      <a:srgbClr val="C00000"/>
                    </a:solidFill>
                  </a:rPr>
                  <a:t>范围</a:t>
                </a:r>
                <a:r>
                  <a:rPr lang="zh-CN" altLang="en-US" sz="2800" dirty="0"/>
                  <a:t>的整数</a:t>
                </a:r>
                <a:endParaRPr lang="en-US" altLang="zh-CN" sz="2800" dirty="0"/>
              </a:p>
              <a:p>
                <a:r>
                  <a:rPr lang="zh-CN" altLang="en-US" sz="2800" dirty="0"/>
                  <a:t>用 </a:t>
                </a:r>
                <a:r>
                  <a:rPr lang="en-US" altLang="zh-CN" sz="2800" b="1" dirty="0">
                    <a:solidFill>
                      <a:srgbClr val="C00000"/>
                    </a:solidFill>
                  </a:rPr>
                  <a:t>float, double </a:t>
                </a:r>
                <a:r>
                  <a:rPr lang="zh-CN" altLang="en-US" sz="2800" dirty="0"/>
                  <a:t>存储不同</a:t>
                </a:r>
                <a:r>
                  <a:rPr lang="zh-CN" altLang="en-US" sz="2800" dirty="0">
                    <a:solidFill>
                      <a:srgbClr val="C00000"/>
                    </a:solidFill>
                  </a:rPr>
                  <a:t>精度</a:t>
                </a:r>
                <a:r>
                  <a:rPr lang="zh-CN" altLang="en-US" sz="2800" dirty="0"/>
                  <a:t>的实数</a:t>
                </a:r>
                <a:endParaRPr lang="en-US" altLang="zh-CN" sz="2800" dirty="0"/>
              </a:p>
            </p:txBody>
          </p:sp>
        </mc:Choice>
        <mc:Fallback xmlns="">
          <p:sp>
            <p:nvSpPr>
              <p:cNvPr id="55" name="学论网-www.xuelun.me"/>
              <p:cNvSpPr txBox="1">
                <a:spLocks noRot="1" noChangeAspect="1" noMove="1" noResize="1" noEditPoints="1" noAdjustHandles="1" noChangeArrowheads="1" noChangeShapeType="1" noTextEdit="1"/>
              </p:cNvSpPr>
              <p:nvPr/>
            </p:nvSpPr>
            <p:spPr>
              <a:xfrm>
                <a:off x="992395" y="1766488"/>
                <a:ext cx="10207210" cy="3939796"/>
              </a:xfrm>
              <a:prstGeom prst="rect">
                <a:avLst/>
              </a:prstGeom>
              <a:blipFill>
                <a:blip r:embed="rId3"/>
                <a:stretch>
                  <a:fillRect l="-2151" t="-2941" b="-4334"/>
                </a:stretch>
              </a:blipFill>
              <a:ln>
                <a:noFill/>
              </a:ln>
            </p:spPr>
            <p:txBody>
              <a:bodyPr/>
              <a:lstStyle/>
              <a:p>
                <a:r>
                  <a:rPr lang="zh-CN" altLang="en-US">
                    <a:noFill/>
                  </a:rPr>
                  <a:t> </a:t>
                </a:r>
              </a:p>
            </p:txBody>
          </p:sp>
        </mc:Fallback>
      </mc:AlternateContent>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Tree>
    <p:extLst>
      <p:ext uri="{BB962C8B-B14F-4D97-AF65-F5344CB8AC3E}">
        <p14:creationId xmlns:p14="http://schemas.microsoft.com/office/powerpoint/2010/main" val="416066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常见基本变量类型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6" name="图片 5">
            <a:extLst>
              <a:ext uri="{FF2B5EF4-FFF2-40B4-BE49-F238E27FC236}">
                <a16:creationId xmlns:a16="http://schemas.microsoft.com/office/drawing/2014/main" id="{BE82467F-6FC6-498C-BE08-C27DB0741866}"/>
              </a:ext>
            </a:extLst>
          </p:cNvPr>
          <p:cNvPicPr>
            <a:picLocks noChangeAspect="1"/>
          </p:cNvPicPr>
          <p:nvPr/>
        </p:nvPicPr>
        <p:blipFill>
          <a:blip r:embed="rId4"/>
          <a:stretch>
            <a:fillRect/>
          </a:stretch>
        </p:blipFill>
        <p:spPr>
          <a:xfrm>
            <a:off x="270588" y="1622674"/>
            <a:ext cx="11249640" cy="5028812"/>
          </a:xfrm>
          <a:prstGeom prst="rect">
            <a:avLst/>
          </a:prstGeom>
        </p:spPr>
      </p:pic>
    </p:spTree>
    <p:extLst>
      <p:ext uri="{BB962C8B-B14F-4D97-AF65-F5344CB8AC3E}">
        <p14:creationId xmlns:p14="http://schemas.microsoft.com/office/powerpoint/2010/main" val="3325522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变量的定义（</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Definition</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540CE0D-7128-4B5F-BC13-2B3E34B957DF}"/>
                  </a:ext>
                </a:extLst>
              </p:cNvPr>
              <p:cNvSpPr txBox="1"/>
              <p:nvPr/>
            </p:nvSpPr>
            <p:spPr>
              <a:xfrm>
                <a:off x="1455576" y="1931437"/>
                <a:ext cx="9806473" cy="2730235"/>
              </a:xfrm>
              <a:prstGeom prst="rect">
                <a:avLst/>
              </a:prstGeom>
              <a:noFill/>
            </p:spPr>
            <p:txBody>
              <a:bodyPr wrap="square" rtlCol="0">
                <a:spAutoFit/>
              </a:bodyPr>
              <a:lstStyle/>
              <a:p>
                <a:r>
                  <a:rPr lang="zh-CN" altLang="en-US" sz="2800" b="0" i="0" dirty="0">
                    <a:solidFill>
                      <a:srgbClr val="333333"/>
                    </a:solidFill>
                    <a:effectLst/>
                    <a:latin typeface="Helvetica Neue"/>
                  </a:rPr>
                  <a:t>变量定义就是告诉编译器在内存中创建变量的存储，并制定用这个名称（标识符）访问、或修改存储的内容。具体的语法：</a:t>
                </a:r>
                <a:endParaRPr lang="en-US" altLang="zh-CN" sz="2800" b="0" i="0" dirty="0">
                  <a:solidFill>
                    <a:srgbClr val="333333"/>
                  </a:solidFill>
                  <a:effectLst/>
                  <a:latin typeface="Helvetica Neue"/>
                </a:endParaRPr>
              </a:p>
              <a:p>
                <a:pPr/>
                <a14:m>
                  <m:oMathPara xmlns:m="http://schemas.openxmlformats.org/officeDocument/2006/math">
                    <m:oMathParaPr>
                      <m:jc m:val="centerGroup"/>
                    </m:oMathParaPr>
                    <m:oMath xmlns:m="http://schemas.openxmlformats.org/officeDocument/2006/math">
                      <m:r>
                        <a:rPr lang="en-US" altLang="zh-CN" sz="2800" b="1" i="1" smtClean="0">
                          <a:solidFill>
                            <a:srgbClr val="333333"/>
                          </a:solidFill>
                          <a:latin typeface="Cambria Math" panose="02040503050406030204" pitchFamily="18" charset="0"/>
                        </a:rPr>
                        <m:t>𝒕𝒚𝒑𝒆</m:t>
                      </m:r>
                      <m:r>
                        <a:rPr lang="en-US" altLang="zh-CN" sz="2800" b="0" i="1" smtClean="0">
                          <a:solidFill>
                            <a:srgbClr val="333333"/>
                          </a:solidFill>
                          <a:latin typeface="Cambria Math" panose="02040503050406030204" pitchFamily="18" charset="0"/>
                        </a:rPr>
                        <m:t> </m:t>
                      </m:r>
                      <m:r>
                        <a:rPr lang="en-US" altLang="zh-CN" sz="2800" b="0" i="1" smtClean="0">
                          <a:solidFill>
                            <a:srgbClr val="333333"/>
                          </a:solidFill>
                          <a:latin typeface="Cambria Math" panose="02040503050406030204" pitchFamily="18" charset="0"/>
                        </a:rPr>
                        <m:t>𝑣𝑎𝑟𝑖𝑎𝑏𝑙𝑒</m:t>
                      </m:r>
                      <m:r>
                        <a:rPr lang="en-US" altLang="zh-CN" sz="2800" b="0" i="1" smtClean="0">
                          <a:solidFill>
                            <a:srgbClr val="333333"/>
                          </a:solidFill>
                          <a:latin typeface="Cambria Math" panose="02040503050406030204" pitchFamily="18" charset="0"/>
                        </a:rPr>
                        <m:t>_</m:t>
                      </m:r>
                      <m:r>
                        <a:rPr lang="en-US" altLang="zh-CN" sz="2800" b="0" i="1" smtClean="0">
                          <a:solidFill>
                            <a:srgbClr val="333333"/>
                          </a:solidFill>
                          <a:latin typeface="Cambria Math" panose="02040503050406030204" pitchFamily="18" charset="0"/>
                        </a:rPr>
                        <m:t>𝑙𝑖𝑠𝑡</m:t>
                      </m:r>
                      <m:r>
                        <a:rPr lang="en-US" altLang="zh-CN" sz="2800" b="0" i="1" smtClean="0">
                          <a:solidFill>
                            <a:srgbClr val="333333"/>
                          </a:solidFill>
                          <a:latin typeface="Cambria Math" panose="02040503050406030204" pitchFamily="18" charset="0"/>
                        </a:rPr>
                        <m:t>;</m:t>
                      </m:r>
                    </m:oMath>
                  </m:oMathPara>
                </a14:m>
                <a:endParaRPr lang="en-US" altLang="zh-CN" sz="2800" dirty="0">
                  <a:solidFill>
                    <a:srgbClr val="333333"/>
                  </a:solidFill>
                  <a:latin typeface="Helvetica Neue"/>
                </a:endParaRPr>
              </a:p>
              <a:p>
                <a:r>
                  <a:rPr lang="zh-CN" altLang="en-US" sz="2800" b="0" i="0" dirty="0">
                    <a:solidFill>
                      <a:srgbClr val="333333"/>
                    </a:solidFill>
                    <a:effectLst/>
                    <a:latin typeface="Helvetica Neue"/>
                  </a:rPr>
                  <a:t>这里，</a:t>
                </a:r>
                <a14:m>
                  <m:oMath xmlns:m="http://schemas.openxmlformats.org/officeDocument/2006/math">
                    <m:r>
                      <a:rPr lang="en-US" altLang="zh-CN" sz="2800" b="1" i="1" dirty="0" smtClean="0">
                        <a:solidFill>
                          <a:srgbClr val="333333"/>
                        </a:solidFill>
                        <a:effectLst/>
                        <a:latin typeface="Cambria Math" panose="02040503050406030204" pitchFamily="18" charset="0"/>
                      </a:rPr>
                      <m:t>𝒕𝒚𝒑𝒆</m:t>
                    </m:r>
                  </m:oMath>
                </a14:m>
                <a:r>
                  <a:rPr lang="zh-CN" altLang="en-US" sz="2800" b="0" i="0" dirty="0">
                    <a:solidFill>
                      <a:srgbClr val="333333"/>
                    </a:solidFill>
                    <a:effectLst/>
                    <a:latin typeface="Helvetica Neue"/>
                  </a:rPr>
                  <a:t> 是一个有效的 </a:t>
                </a:r>
                <a:r>
                  <a:rPr lang="en-US" altLang="zh-CN" sz="2800" b="0" i="0" dirty="0">
                    <a:solidFill>
                      <a:srgbClr val="333333"/>
                    </a:solidFill>
                    <a:effectLst/>
                    <a:latin typeface="Helvetica Neue"/>
                  </a:rPr>
                  <a:t>C </a:t>
                </a:r>
                <a:r>
                  <a:rPr lang="zh-CN" altLang="en-US" sz="2800" b="0" i="0" dirty="0">
                    <a:solidFill>
                      <a:srgbClr val="333333"/>
                    </a:solidFill>
                    <a:effectLst/>
                    <a:latin typeface="Helvetica Neue"/>
                  </a:rPr>
                  <a:t>数据类型，</a:t>
                </a:r>
                <a14:m>
                  <m:oMath xmlns:m="http://schemas.openxmlformats.org/officeDocument/2006/math">
                    <m:r>
                      <a:rPr lang="en-US" altLang="zh-CN" sz="2800" b="0" i="1" dirty="0" smtClean="0">
                        <a:solidFill>
                          <a:srgbClr val="333333"/>
                        </a:solidFill>
                        <a:effectLst/>
                        <a:latin typeface="Cambria Math" panose="02040503050406030204" pitchFamily="18" charset="0"/>
                      </a:rPr>
                      <m:t>𝑣𝑎𝑟𝑖𝑎𝑏𝑙𝑒</m:t>
                    </m:r>
                    <m:r>
                      <a:rPr lang="en-US" altLang="zh-CN" sz="2800" b="0" i="1" dirty="0" smtClean="0">
                        <a:solidFill>
                          <a:srgbClr val="333333"/>
                        </a:solidFill>
                        <a:effectLst/>
                        <a:latin typeface="Cambria Math" panose="02040503050406030204" pitchFamily="18" charset="0"/>
                      </a:rPr>
                      <m:t>_</m:t>
                    </m:r>
                    <m:r>
                      <a:rPr lang="en-US" altLang="zh-CN" sz="2800" b="0" i="1" dirty="0" smtClean="0">
                        <a:solidFill>
                          <a:srgbClr val="333333"/>
                        </a:solidFill>
                        <a:effectLst/>
                        <a:latin typeface="Cambria Math" panose="02040503050406030204" pitchFamily="18" charset="0"/>
                      </a:rPr>
                      <m:t>𝑙𝑖𝑠𝑡</m:t>
                    </m:r>
                    <m:r>
                      <a:rPr lang="zh-CN" altLang="en-US" sz="2800" b="0" i="1" dirty="0">
                        <a:solidFill>
                          <a:srgbClr val="333333"/>
                        </a:solidFill>
                        <a:effectLst/>
                        <a:latin typeface="Cambria Math" panose="02040503050406030204" pitchFamily="18" charset="0"/>
                      </a:rPr>
                      <m:t> </m:t>
                    </m:r>
                  </m:oMath>
                </a14:m>
                <a:r>
                  <a:rPr lang="zh-CN" altLang="en-US" sz="2800" b="0" i="0" dirty="0">
                    <a:solidFill>
                      <a:srgbClr val="333333"/>
                    </a:solidFill>
                    <a:effectLst/>
                    <a:latin typeface="Helvetica Neue"/>
                  </a:rPr>
                  <a:t>可以由一个或多个标识符名称组成，多个标识符之间用逗号分隔。下面列出几个有效的声明：</a:t>
                </a:r>
                <a:endParaRPr lang="zh-CN" altLang="en-US" sz="2800" dirty="0"/>
              </a:p>
            </p:txBody>
          </p:sp>
        </mc:Choice>
        <mc:Fallback xmlns="">
          <p:sp>
            <p:nvSpPr>
              <p:cNvPr id="3" name="文本框 2">
                <a:extLst>
                  <a:ext uri="{FF2B5EF4-FFF2-40B4-BE49-F238E27FC236}">
                    <a16:creationId xmlns:a16="http://schemas.microsoft.com/office/drawing/2014/main" id="{D540CE0D-7128-4B5F-BC13-2B3E34B957DF}"/>
                  </a:ext>
                </a:extLst>
              </p:cNvPr>
              <p:cNvSpPr txBox="1">
                <a:spLocks noRot="1" noChangeAspect="1" noMove="1" noResize="1" noEditPoints="1" noAdjustHandles="1" noChangeArrowheads="1" noChangeShapeType="1" noTextEdit="1"/>
              </p:cNvSpPr>
              <p:nvPr/>
            </p:nvSpPr>
            <p:spPr>
              <a:xfrm>
                <a:off x="1455576" y="1931437"/>
                <a:ext cx="9806473" cy="2730235"/>
              </a:xfrm>
              <a:prstGeom prst="rect">
                <a:avLst/>
              </a:prstGeom>
              <a:blipFill>
                <a:blip r:embed="rId4"/>
                <a:stretch>
                  <a:fillRect l="-1306" t="-2679" r="-746" b="-5134"/>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C6812394-85BA-EF55-C544-8DDDF53DDD37}"/>
              </a:ext>
            </a:extLst>
          </p:cNvPr>
          <p:cNvSpPr txBox="1"/>
          <p:nvPr/>
        </p:nvSpPr>
        <p:spPr>
          <a:xfrm>
            <a:off x="3012943" y="4672062"/>
            <a:ext cx="3550972" cy="1323439"/>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/*define vars and constants*/ </a:t>
            </a:r>
          </a:p>
          <a:p>
            <a:r>
              <a:rPr lang="en-US" altLang="zh-CN" sz="1600" b="1" dirty="0">
                <a:latin typeface="Consolas" panose="020B0609020204030204" pitchFamily="49" charset="0"/>
              </a:rPr>
              <a:t>double</a:t>
            </a:r>
            <a:r>
              <a:rPr lang="en-US" altLang="zh-CN" sz="1600" dirty="0">
                <a:latin typeface="Consolas" panose="020B0609020204030204" pitchFamily="49" charset="0"/>
              </a:rPr>
              <a:t> radius, area</a:t>
            </a:r>
            <a:r>
              <a:rPr lang="en-US" altLang="zh-CN" sz="1600" dirty="0">
                <a:solidFill>
                  <a:srgbClr val="FF0000"/>
                </a:solidFill>
                <a:latin typeface="Consolas" panose="020B0609020204030204" pitchFamily="49" charset="0"/>
              </a:rPr>
              <a:t>;</a:t>
            </a:r>
          </a:p>
          <a:p>
            <a:r>
              <a:rPr lang="en-US" altLang="zh-CN" sz="1600" dirty="0">
                <a:latin typeface="Consolas" panose="020B0609020204030204" pitchFamily="49" charset="0"/>
              </a:rPr>
              <a:t>	</a:t>
            </a:r>
          </a:p>
          <a:p>
            <a:r>
              <a:rPr lang="en-US" altLang="zh-CN" sz="1600" b="1" dirty="0">
                <a:latin typeface="Consolas" panose="020B0609020204030204" pitchFamily="49" charset="0"/>
              </a:rPr>
              <a:t>int</a:t>
            </a:r>
            <a:r>
              <a:rPr lang="en-US" altLang="zh-CN" sz="1600" dirty="0">
                <a:latin typeface="Consolas" panose="020B0609020204030204" pitchFamily="49" charset="0"/>
              </a:rPr>
              <a:t> </a:t>
            </a:r>
            <a:r>
              <a:rPr lang="en-US" altLang="zh-CN" sz="1600" dirty="0" err="1">
                <a:latin typeface="Consolas" panose="020B0609020204030204" pitchFamily="49" charset="0"/>
              </a:rPr>
              <a:t>i,j</a:t>
            </a:r>
            <a:r>
              <a:rPr lang="en-US" altLang="zh-CN" sz="1600" dirty="0">
                <a:solidFill>
                  <a:srgbClr val="FF0000"/>
                </a:solidFill>
                <a:latin typeface="Consolas" panose="020B0609020204030204" pitchFamily="49" charset="0"/>
              </a:rPr>
              <a:t>;</a:t>
            </a:r>
          </a:p>
          <a:p>
            <a:r>
              <a:rPr lang="en-US" altLang="zh-CN" sz="1600" b="1" dirty="0">
                <a:latin typeface="Consolas" panose="020B0609020204030204" pitchFamily="49" charset="0"/>
              </a:rPr>
              <a:t>char</a:t>
            </a:r>
            <a:r>
              <a:rPr lang="en-US" altLang="zh-CN" sz="1600" dirty="0">
                <a:latin typeface="Consolas" panose="020B0609020204030204" pitchFamily="49" charset="0"/>
              </a:rPr>
              <a:t> c</a:t>
            </a:r>
            <a:r>
              <a:rPr lang="en-US" altLang="zh-CN" sz="1600" dirty="0">
                <a:solidFill>
                  <a:srgbClr val="FF0000"/>
                </a:solidFill>
                <a:latin typeface="Consolas" panose="020B0609020204030204" pitchFamily="49" charset="0"/>
              </a:rPr>
              <a:t>;</a:t>
            </a:r>
            <a:endParaRPr lang="zh-CN" altLang="en-US" sz="1600" dirty="0">
              <a:solidFill>
                <a:srgbClr val="FF0000"/>
              </a:solidFill>
              <a:latin typeface="Consolas" panose="020B0609020204030204" pitchFamily="49" charset="0"/>
            </a:endParaRPr>
          </a:p>
        </p:txBody>
      </p:sp>
      <p:sp>
        <p:nvSpPr>
          <p:cNvPr id="5" name="文本框 4">
            <a:extLst>
              <a:ext uri="{FF2B5EF4-FFF2-40B4-BE49-F238E27FC236}">
                <a16:creationId xmlns:a16="http://schemas.microsoft.com/office/drawing/2014/main" id="{E499DCF2-27E7-5532-92DB-F5A6274900D5}"/>
              </a:ext>
            </a:extLst>
          </p:cNvPr>
          <p:cNvSpPr txBox="1"/>
          <p:nvPr/>
        </p:nvSpPr>
        <p:spPr>
          <a:xfrm>
            <a:off x="7115921" y="4829132"/>
            <a:ext cx="2721054" cy="923330"/>
          </a:xfrm>
          <a:prstGeom prst="rect">
            <a:avLst/>
          </a:prstGeom>
          <a:noFill/>
        </p:spPr>
        <p:txBody>
          <a:bodyPr wrap="square" rtlCol="0">
            <a:spAutoFit/>
          </a:bodyPr>
          <a:lstStyle/>
          <a:p>
            <a:r>
              <a:rPr lang="zh-CN" altLang="en-US" dirty="0">
                <a:solidFill>
                  <a:srgbClr val="FF0000"/>
                </a:solidFill>
              </a:rPr>
              <a:t>通常，我们使用熟悉的单词作为变量名称，例如 </a:t>
            </a:r>
            <a:r>
              <a:rPr lang="en-US" altLang="zh-CN" dirty="0">
                <a:solidFill>
                  <a:srgbClr val="FF0000"/>
                </a:solidFill>
              </a:rPr>
              <a:t>radius, height, width </a:t>
            </a:r>
            <a:r>
              <a:rPr lang="zh-CN" altLang="en-US" dirty="0">
                <a:solidFill>
                  <a:srgbClr val="FF0000"/>
                </a:solidFill>
              </a:rPr>
              <a:t>等</a:t>
            </a:r>
          </a:p>
        </p:txBody>
      </p:sp>
    </p:spTree>
    <p:extLst>
      <p:ext uri="{BB962C8B-B14F-4D97-AF65-F5344CB8AC3E}">
        <p14:creationId xmlns:p14="http://schemas.microsoft.com/office/powerpoint/2010/main" val="114239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变量定义并初始化</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a:extLst>
              <a:ext uri="{FF2B5EF4-FFF2-40B4-BE49-F238E27FC236}">
                <a16:creationId xmlns:a16="http://schemas.microsoft.com/office/drawing/2014/main" id="{3D8FEEDE-8C98-48DD-BF21-0DE293C6121E}"/>
              </a:ext>
            </a:extLst>
          </p:cNvPr>
          <p:cNvSpPr txBox="1"/>
          <p:nvPr/>
        </p:nvSpPr>
        <p:spPr>
          <a:xfrm>
            <a:off x="1380931" y="1912776"/>
            <a:ext cx="9937102" cy="954107"/>
          </a:xfrm>
          <a:prstGeom prst="rect">
            <a:avLst/>
          </a:prstGeom>
          <a:noFill/>
        </p:spPr>
        <p:txBody>
          <a:bodyPr wrap="square" rtlCol="0">
            <a:spAutoFit/>
          </a:bodyPr>
          <a:lstStyle/>
          <a:p>
            <a:r>
              <a:rPr lang="zh-CN" altLang="en-US" sz="2800" b="0" i="0" dirty="0">
                <a:solidFill>
                  <a:srgbClr val="333333"/>
                </a:solidFill>
                <a:effectLst/>
                <a:latin typeface="Helvetica Neue"/>
              </a:rPr>
              <a:t>变量可以在声明的时候被初始化（指定一个初始值）。初始化器由一个等号，后跟一个常量表达式组成，例如：</a:t>
            </a:r>
            <a:endParaRPr lang="zh-CN" altLang="en-US" sz="2800" dirty="0"/>
          </a:p>
        </p:txBody>
      </p:sp>
      <p:sp>
        <p:nvSpPr>
          <p:cNvPr id="17" name="文本框 16">
            <a:extLst>
              <a:ext uri="{FF2B5EF4-FFF2-40B4-BE49-F238E27FC236}">
                <a16:creationId xmlns:a16="http://schemas.microsoft.com/office/drawing/2014/main" id="{A37AC26E-8148-4992-8A10-5C8F38C8E05E}"/>
              </a:ext>
            </a:extLst>
          </p:cNvPr>
          <p:cNvSpPr txBox="1"/>
          <p:nvPr/>
        </p:nvSpPr>
        <p:spPr>
          <a:xfrm>
            <a:off x="1312452" y="4528972"/>
            <a:ext cx="10189028" cy="523220"/>
          </a:xfrm>
          <a:prstGeom prst="rect">
            <a:avLst/>
          </a:prstGeom>
          <a:noFill/>
        </p:spPr>
        <p:txBody>
          <a:bodyPr wrap="square" rtlCol="0">
            <a:spAutoFit/>
          </a:bodyPr>
          <a:lstStyle/>
          <a:p>
            <a:r>
              <a:rPr lang="zh-CN" altLang="en-US" sz="2800" dirty="0">
                <a:latin typeface="+mn-ea"/>
              </a:rPr>
              <a:t>注意，这样对于</a:t>
            </a:r>
            <a:r>
              <a:rPr lang="en-US" altLang="zh-CN" sz="2800" dirty="0">
                <a:latin typeface="+mn-ea"/>
              </a:rPr>
              <a:t>a</a:t>
            </a:r>
            <a:r>
              <a:rPr lang="zh-CN" altLang="en-US" sz="2800" dirty="0">
                <a:latin typeface="+mn-ea"/>
              </a:rPr>
              <a:t>、</a:t>
            </a:r>
            <a:r>
              <a:rPr lang="en-US" altLang="zh-CN" sz="2800" dirty="0">
                <a:latin typeface="+mn-ea"/>
              </a:rPr>
              <a:t>b</a:t>
            </a:r>
            <a:r>
              <a:rPr lang="zh-CN" altLang="en-US" sz="2800" dirty="0">
                <a:latin typeface="+mn-ea"/>
              </a:rPr>
              <a:t>的定义及初始化是不允许的！！！</a:t>
            </a:r>
          </a:p>
        </p:txBody>
      </p:sp>
      <p:sp>
        <p:nvSpPr>
          <p:cNvPr id="5" name="文本框 4">
            <a:extLst>
              <a:ext uri="{FF2B5EF4-FFF2-40B4-BE49-F238E27FC236}">
                <a16:creationId xmlns:a16="http://schemas.microsoft.com/office/drawing/2014/main" id="{4F417A4C-5412-FE86-1399-C905C028FCFD}"/>
              </a:ext>
            </a:extLst>
          </p:cNvPr>
          <p:cNvSpPr txBox="1"/>
          <p:nvPr/>
        </p:nvSpPr>
        <p:spPr>
          <a:xfrm>
            <a:off x="210065" y="6450254"/>
            <a:ext cx="4456669" cy="307777"/>
          </a:xfrm>
          <a:prstGeom prst="rect">
            <a:avLst/>
          </a:prstGeom>
          <a:noFill/>
        </p:spPr>
        <p:txBody>
          <a:bodyPr wrap="none" rtlCol="0">
            <a:spAutoFit/>
          </a:bodyPr>
          <a:lstStyle/>
          <a:p>
            <a:r>
              <a:rPr lang="zh-CN" altLang="en-US" sz="1400" dirty="0"/>
              <a:t>更多关于定义与声明的知识：</a:t>
            </a:r>
            <a:r>
              <a:rPr lang="zh-CN" altLang="en-US" sz="1400" dirty="0">
                <a:hlinkClick r:id="rId4"/>
              </a:rPr>
              <a:t>声明 </a:t>
            </a:r>
            <a:r>
              <a:rPr lang="en-US" altLang="zh-CN" sz="1400" dirty="0">
                <a:hlinkClick r:id="rId4"/>
              </a:rPr>
              <a:t>- cppreference.com</a:t>
            </a:r>
            <a:endParaRPr lang="zh-CN" altLang="en-US" sz="1400" dirty="0"/>
          </a:p>
        </p:txBody>
      </p:sp>
      <p:sp>
        <p:nvSpPr>
          <p:cNvPr id="6" name="文本框 5">
            <a:extLst>
              <a:ext uri="{FF2B5EF4-FFF2-40B4-BE49-F238E27FC236}">
                <a16:creationId xmlns:a16="http://schemas.microsoft.com/office/drawing/2014/main" id="{339ECC8F-E09F-B02C-26A6-1256C349C476}"/>
              </a:ext>
            </a:extLst>
          </p:cNvPr>
          <p:cNvSpPr txBox="1"/>
          <p:nvPr/>
        </p:nvSpPr>
        <p:spPr>
          <a:xfrm>
            <a:off x="3771805" y="2959312"/>
            <a:ext cx="3550972" cy="1323439"/>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/*define vars and constants*/ </a:t>
            </a:r>
          </a:p>
          <a:p>
            <a:r>
              <a:rPr lang="en-US" altLang="zh-CN" sz="1600" b="1" dirty="0">
                <a:latin typeface="Consolas" panose="020B0609020204030204" pitchFamily="49" charset="0"/>
              </a:rPr>
              <a:t>double</a:t>
            </a:r>
            <a:r>
              <a:rPr lang="en-US" altLang="zh-CN" sz="1600" dirty="0">
                <a:latin typeface="Consolas" panose="020B0609020204030204" pitchFamily="49" charset="0"/>
              </a:rPr>
              <a:t> radius = 5</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  </a:t>
            </a:r>
          </a:p>
          <a:p>
            <a:r>
              <a:rPr lang="en-US" altLang="zh-CN" sz="1600" b="1" dirty="0">
                <a:latin typeface="Consolas" panose="020B0609020204030204" pitchFamily="49" charset="0"/>
              </a:rPr>
              <a:t>double</a:t>
            </a:r>
            <a:r>
              <a:rPr lang="en-US" altLang="zh-CN" sz="1600" dirty="0">
                <a:latin typeface="Consolas" panose="020B0609020204030204" pitchFamily="49" charset="0"/>
              </a:rPr>
              <a:t> area</a:t>
            </a:r>
            <a:r>
              <a:rPr lang="en-US" altLang="zh-CN" sz="1600" dirty="0">
                <a:solidFill>
                  <a:srgbClr val="FF0000"/>
                </a:solidFill>
                <a:latin typeface="Consolas" panose="020B0609020204030204" pitchFamily="49" charset="0"/>
              </a:rPr>
              <a:t>;</a:t>
            </a:r>
          </a:p>
          <a:p>
            <a:r>
              <a:rPr lang="en-US" altLang="zh-CN" sz="1600" dirty="0">
                <a:latin typeface="Consolas" panose="020B0609020204030204" pitchFamily="49" charset="0"/>
              </a:rPr>
              <a:t>	</a:t>
            </a:r>
          </a:p>
          <a:p>
            <a:r>
              <a:rPr lang="en-US" altLang="zh-CN" sz="1600" b="1" dirty="0">
                <a:latin typeface="Consolas" panose="020B0609020204030204" pitchFamily="49" charset="0"/>
              </a:rPr>
              <a:t>int</a:t>
            </a:r>
            <a:r>
              <a:rPr lang="en-US" altLang="zh-CN" sz="1600" dirty="0">
                <a:latin typeface="Consolas" panose="020B0609020204030204" pitchFamily="49" charset="0"/>
              </a:rPr>
              <a:t> i = 0, j = 0</a:t>
            </a:r>
            <a:r>
              <a:rPr lang="en-US" altLang="zh-CN" sz="1600" dirty="0">
                <a:solidFill>
                  <a:srgbClr val="FF0000"/>
                </a:solidFill>
                <a:latin typeface="Consolas" panose="020B0609020204030204" pitchFamily="49" charset="0"/>
              </a:rPr>
              <a:t>;</a:t>
            </a:r>
          </a:p>
        </p:txBody>
      </p:sp>
      <p:sp>
        <p:nvSpPr>
          <p:cNvPr id="7" name="文本框 6">
            <a:extLst>
              <a:ext uri="{FF2B5EF4-FFF2-40B4-BE49-F238E27FC236}">
                <a16:creationId xmlns:a16="http://schemas.microsoft.com/office/drawing/2014/main" id="{5E5CF4FE-DA59-AE35-9753-E1A42F13E102}"/>
              </a:ext>
            </a:extLst>
          </p:cNvPr>
          <p:cNvSpPr txBox="1"/>
          <p:nvPr/>
        </p:nvSpPr>
        <p:spPr>
          <a:xfrm>
            <a:off x="3726824" y="5051454"/>
            <a:ext cx="1755609" cy="338554"/>
          </a:xfrm>
          <a:prstGeom prst="rect">
            <a:avLst/>
          </a:prstGeom>
          <a:noFill/>
          <a:ln>
            <a:solidFill>
              <a:schemeClr val="bg1">
                <a:lumMod val="75000"/>
              </a:schemeClr>
            </a:solidFill>
          </a:ln>
        </p:spPr>
        <p:txBody>
          <a:bodyPr wrap="none" rtlCol="0">
            <a:spAutoFit/>
          </a:bodyPr>
          <a:lstStyle/>
          <a:p>
            <a:r>
              <a:rPr lang="en-US" altLang="zh-CN" sz="1600" b="1" dirty="0">
                <a:solidFill>
                  <a:schemeClr val="bg1">
                    <a:lumMod val="65000"/>
                  </a:schemeClr>
                </a:solidFill>
                <a:latin typeface="Consolas" panose="020B0609020204030204" pitchFamily="49" charset="0"/>
              </a:rPr>
              <a:t>int</a:t>
            </a:r>
            <a:r>
              <a:rPr lang="en-US" altLang="zh-CN" sz="1600" dirty="0">
                <a:solidFill>
                  <a:schemeClr val="bg1">
                    <a:lumMod val="65000"/>
                  </a:schemeClr>
                </a:solidFill>
                <a:latin typeface="Consolas" panose="020B0609020204030204" pitchFamily="49" charset="0"/>
              </a:rPr>
              <a:t> a = b = 3;</a:t>
            </a:r>
          </a:p>
        </p:txBody>
      </p:sp>
    </p:spTree>
    <p:extLst>
      <p:ext uri="{BB962C8B-B14F-4D97-AF65-F5344CB8AC3E}">
        <p14:creationId xmlns:p14="http://schemas.microsoft.com/office/powerpoint/2010/main" val="759716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变量使用与赋值</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a:extLst>
              <a:ext uri="{FF2B5EF4-FFF2-40B4-BE49-F238E27FC236}">
                <a16:creationId xmlns:a16="http://schemas.microsoft.com/office/drawing/2014/main" id="{3D8FEEDE-8C98-48DD-BF21-0DE293C6121E}"/>
              </a:ext>
            </a:extLst>
          </p:cNvPr>
          <p:cNvSpPr txBox="1"/>
          <p:nvPr/>
        </p:nvSpPr>
        <p:spPr>
          <a:xfrm>
            <a:off x="1380931" y="1912776"/>
            <a:ext cx="9937102" cy="954107"/>
          </a:xfrm>
          <a:prstGeom prst="rect">
            <a:avLst/>
          </a:prstGeom>
          <a:noFill/>
        </p:spPr>
        <p:txBody>
          <a:bodyPr wrap="square" rtlCol="0">
            <a:spAutoFit/>
          </a:bodyPr>
          <a:lstStyle/>
          <a:p>
            <a:r>
              <a:rPr lang="zh-CN" altLang="en-US" sz="2800" dirty="0">
                <a:solidFill>
                  <a:srgbClr val="333333"/>
                </a:solidFill>
                <a:latin typeface="Helvetica Neue"/>
              </a:rPr>
              <a:t>定义或声明后的</a:t>
            </a:r>
            <a:r>
              <a:rPr lang="zh-CN" altLang="en-US" sz="2800" b="0" i="0" dirty="0">
                <a:solidFill>
                  <a:srgbClr val="333333"/>
                </a:solidFill>
                <a:effectLst/>
                <a:latin typeface="Helvetica Neue"/>
              </a:rPr>
              <a:t>变量，可用 </a:t>
            </a:r>
            <a:r>
              <a:rPr lang="en-US" altLang="zh-CN" sz="2800" b="0" i="0" dirty="0">
                <a:solidFill>
                  <a:srgbClr val="333333"/>
                </a:solidFill>
                <a:effectLst/>
                <a:latin typeface="Helvetica Neue"/>
              </a:rPr>
              <a:t>“=” </a:t>
            </a:r>
            <a:r>
              <a:rPr lang="zh-CN" altLang="en-US" sz="2800" b="0" i="0" dirty="0">
                <a:solidFill>
                  <a:srgbClr val="333333"/>
                </a:solidFill>
                <a:effectLst/>
                <a:latin typeface="Helvetica Neue"/>
              </a:rPr>
              <a:t>赋予值，称为</a:t>
            </a:r>
            <a:r>
              <a:rPr lang="zh-CN" altLang="en-US" sz="2800" b="1" i="0" dirty="0">
                <a:solidFill>
                  <a:srgbClr val="333333"/>
                </a:solidFill>
                <a:effectLst/>
                <a:latin typeface="Helvetica Neue"/>
              </a:rPr>
              <a:t>赋值</a:t>
            </a:r>
            <a:r>
              <a:rPr lang="zh-CN" altLang="en-US" sz="2800" i="0" dirty="0">
                <a:solidFill>
                  <a:srgbClr val="333333"/>
                </a:solidFill>
                <a:effectLst/>
                <a:latin typeface="Helvetica Neue"/>
              </a:rPr>
              <a:t>（</a:t>
            </a:r>
            <a:r>
              <a:rPr lang="en-US" altLang="zh-CN" i="0" dirty="0">
                <a:solidFill>
                  <a:srgbClr val="333333"/>
                </a:solidFill>
                <a:effectLst/>
                <a:latin typeface="Helvetica Neue"/>
              </a:rPr>
              <a:t>assignment</a:t>
            </a:r>
            <a:r>
              <a:rPr lang="zh-CN" altLang="en-US" sz="2800" i="0" dirty="0">
                <a:solidFill>
                  <a:srgbClr val="333333"/>
                </a:solidFill>
                <a:effectLst/>
                <a:latin typeface="Helvetica Neue"/>
              </a:rPr>
              <a:t>）</a:t>
            </a:r>
            <a:r>
              <a:rPr lang="zh-CN" altLang="en-US" sz="2800" b="0" i="0" dirty="0">
                <a:solidFill>
                  <a:srgbClr val="333333"/>
                </a:solidFill>
                <a:effectLst/>
                <a:latin typeface="Helvetica Neue"/>
              </a:rPr>
              <a:t>；</a:t>
            </a:r>
            <a:endParaRPr lang="en-US" altLang="zh-CN" sz="2800" b="0" i="0" dirty="0">
              <a:solidFill>
                <a:srgbClr val="333333"/>
              </a:solidFill>
              <a:effectLst/>
              <a:latin typeface="Helvetica Neue"/>
            </a:endParaRPr>
          </a:p>
          <a:p>
            <a:r>
              <a:rPr lang="zh-CN" altLang="en-US" sz="2800" dirty="0">
                <a:solidFill>
                  <a:srgbClr val="333333"/>
                </a:solidFill>
                <a:latin typeface="Helvetica Neue"/>
              </a:rPr>
              <a:t>有定义的变量可以在表达式中使用。</a:t>
            </a:r>
            <a:r>
              <a:rPr lang="zh-CN" altLang="en-US" sz="2800" b="0" i="0" dirty="0">
                <a:solidFill>
                  <a:srgbClr val="333333"/>
                </a:solidFill>
                <a:effectLst/>
                <a:latin typeface="Helvetica Neue"/>
              </a:rPr>
              <a:t>例如：</a:t>
            </a:r>
            <a:endParaRPr lang="zh-CN" altLang="en-US" sz="2800" dirty="0"/>
          </a:p>
        </p:txBody>
      </p:sp>
      <p:sp>
        <p:nvSpPr>
          <p:cNvPr id="17" name="文本框 16">
            <a:extLst>
              <a:ext uri="{FF2B5EF4-FFF2-40B4-BE49-F238E27FC236}">
                <a16:creationId xmlns:a16="http://schemas.microsoft.com/office/drawing/2014/main" id="{A37AC26E-8148-4992-8A10-5C8F38C8E05E}"/>
              </a:ext>
            </a:extLst>
          </p:cNvPr>
          <p:cNvSpPr txBox="1"/>
          <p:nvPr/>
        </p:nvSpPr>
        <p:spPr>
          <a:xfrm>
            <a:off x="1344678" y="4702185"/>
            <a:ext cx="10189028" cy="1384995"/>
          </a:xfrm>
          <a:prstGeom prst="rect">
            <a:avLst/>
          </a:prstGeom>
          <a:noFill/>
        </p:spPr>
        <p:txBody>
          <a:bodyPr wrap="square" rtlCol="0">
            <a:spAutoFit/>
          </a:bodyPr>
          <a:lstStyle/>
          <a:p>
            <a:r>
              <a:rPr lang="zh-CN" altLang="en-US" sz="2800" dirty="0">
                <a:latin typeface="+mn-ea"/>
              </a:rPr>
              <a:t>最后一个语句是赋值语句。等号右边是一个表达式，它使用</a:t>
            </a:r>
            <a:r>
              <a:rPr lang="en-US" altLang="zh-CN" sz="2800" dirty="0">
                <a:latin typeface="+mn-ea"/>
              </a:rPr>
              <a:t>radius</a:t>
            </a:r>
            <a:r>
              <a:rPr lang="zh-CN" altLang="en-US" sz="2800" dirty="0">
                <a:latin typeface="+mn-ea"/>
              </a:rPr>
              <a:t>变量的值计算出圆面积，通过赋值把结果值写入左边 </a:t>
            </a:r>
            <a:r>
              <a:rPr lang="en-US" altLang="zh-CN" sz="2800" dirty="0">
                <a:latin typeface="+mn-ea"/>
              </a:rPr>
              <a:t>area </a:t>
            </a:r>
            <a:r>
              <a:rPr lang="zh-CN" altLang="en-US" sz="2800" dirty="0">
                <a:latin typeface="+mn-ea"/>
              </a:rPr>
              <a:t>这个变量之中。</a:t>
            </a:r>
          </a:p>
        </p:txBody>
      </p:sp>
      <p:sp>
        <p:nvSpPr>
          <p:cNvPr id="6" name="文本框 5">
            <a:extLst>
              <a:ext uri="{FF2B5EF4-FFF2-40B4-BE49-F238E27FC236}">
                <a16:creationId xmlns:a16="http://schemas.microsoft.com/office/drawing/2014/main" id="{339ECC8F-E09F-B02C-26A6-1256C349C476}"/>
              </a:ext>
            </a:extLst>
          </p:cNvPr>
          <p:cNvSpPr txBox="1"/>
          <p:nvPr/>
        </p:nvSpPr>
        <p:spPr>
          <a:xfrm>
            <a:off x="3771805" y="2959312"/>
            <a:ext cx="3550972" cy="1569660"/>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/*define vars and constants*/ </a:t>
            </a:r>
          </a:p>
          <a:p>
            <a:r>
              <a:rPr lang="en-US" altLang="zh-CN" sz="1600" b="1" dirty="0">
                <a:latin typeface="Consolas" panose="020B0609020204030204" pitchFamily="49" charset="0"/>
              </a:rPr>
              <a:t>double</a:t>
            </a:r>
            <a:r>
              <a:rPr lang="en-US" altLang="zh-CN" sz="1600" dirty="0">
                <a:latin typeface="Consolas" panose="020B0609020204030204" pitchFamily="49" charset="0"/>
              </a:rPr>
              <a:t> radius = 5</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  </a:t>
            </a:r>
          </a:p>
          <a:p>
            <a:r>
              <a:rPr lang="en-US" altLang="zh-CN" sz="1600" b="1" dirty="0">
                <a:latin typeface="Consolas" panose="020B0609020204030204" pitchFamily="49" charset="0"/>
              </a:rPr>
              <a:t>double</a:t>
            </a:r>
            <a:r>
              <a:rPr lang="en-US" altLang="zh-CN" sz="1600" dirty="0">
                <a:latin typeface="Consolas" panose="020B0609020204030204" pitchFamily="49" charset="0"/>
              </a:rPr>
              <a:t> area</a:t>
            </a:r>
            <a:r>
              <a:rPr lang="en-US" altLang="zh-CN" sz="1600" dirty="0">
                <a:solidFill>
                  <a:srgbClr val="FF0000"/>
                </a:solidFill>
                <a:latin typeface="Consolas" panose="020B0609020204030204" pitchFamily="49" charset="0"/>
              </a:rPr>
              <a:t>;</a:t>
            </a:r>
          </a:p>
          <a:p>
            <a:endParaRPr lang="en-US" altLang="zh-CN" sz="1600" dirty="0">
              <a:latin typeface="Consolas" panose="020B0609020204030204" pitchFamily="49" charset="0"/>
            </a:endParaRPr>
          </a:p>
          <a:p>
            <a:r>
              <a:rPr lang="en-US" altLang="zh-CN" sz="1600" dirty="0">
                <a:latin typeface="Consolas" panose="020B0609020204030204" pitchFamily="49" charset="0"/>
              </a:rPr>
              <a:t>/*compute area*/	</a:t>
            </a:r>
          </a:p>
          <a:p>
            <a:r>
              <a:rPr lang="en-US" altLang="zh-CN" sz="1600" dirty="0">
                <a:latin typeface="Consolas" panose="020B0609020204030204" pitchFamily="49" charset="0"/>
              </a:rPr>
              <a:t>area</a:t>
            </a:r>
            <a:r>
              <a:rPr lang="en-US" altLang="zh-CN" sz="1600" b="1" dirty="0">
                <a:latin typeface="Consolas" panose="020B0609020204030204" pitchFamily="49" charset="0"/>
              </a:rPr>
              <a:t> </a:t>
            </a:r>
            <a:r>
              <a:rPr lang="en-US" altLang="zh-CN" sz="1600" dirty="0">
                <a:latin typeface="Consolas" panose="020B0609020204030204" pitchFamily="49" charset="0"/>
              </a:rPr>
              <a:t>= radius </a:t>
            </a:r>
            <a:r>
              <a:rPr lang="zh-CN" altLang="en-US" sz="1600" dirty="0">
                <a:latin typeface="Consolas" panose="020B0609020204030204" pitchFamily="49" charset="0"/>
              </a:rPr>
              <a:t>* </a:t>
            </a:r>
            <a:r>
              <a:rPr lang="en-US" altLang="zh-CN" sz="1600" dirty="0">
                <a:latin typeface="Consolas" panose="020B0609020204030204" pitchFamily="49" charset="0"/>
              </a:rPr>
              <a:t>radius </a:t>
            </a:r>
            <a:r>
              <a:rPr lang="zh-CN" altLang="en-US" sz="1600" dirty="0">
                <a:latin typeface="Consolas" panose="020B0609020204030204" pitchFamily="49" charset="0"/>
              </a:rPr>
              <a:t>* </a:t>
            </a:r>
            <a:r>
              <a:rPr lang="en-US" altLang="zh-CN" sz="1600" dirty="0">
                <a:latin typeface="Consolas" panose="020B0609020204030204" pitchFamily="49" charset="0"/>
              </a:rPr>
              <a:t>3.14</a:t>
            </a:r>
            <a:r>
              <a:rPr lang="en-US" altLang="zh-CN" sz="1600" dirty="0">
                <a:solidFill>
                  <a:srgbClr val="FF0000"/>
                </a:solidFill>
                <a:latin typeface="Consolas" panose="020B0609020204030204" pitchFamily="49" charset="0"/>
              </a:rPr>
              <a:t>;</a:t>
            </a:r>
          </a:p>
        </p:txBody>
      </p:sp>
    </p:spTree>
    <p:extLst>
      <p:ext uri="{BB962C8B-B14F-4D97-AF65-F5344CB8AC3E}">
        <p14:creationId xmlns:p14="http://schemas.microsoft.com/office/powerpoint/2010/main" val="3241357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输入（</a:t>
            </a:r>
            <a:r>
              <a:rPr lang="en-US" altLang="zh-CN" sz="24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input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）与输出（</a:t>
            </a:r>
            <a:r>
              <a:rPr lang="en-US" altLang="zh-CN" sz="24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output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588905" cy="4401205"/>
          </a:xfrm>
          <a:prstGeom prst="rect">
            <a:avLst/>
          </a:prstGeom>
          <a:noFill/>
        </p:spPr>
        <p:txBody>
          <a:bodyPr wrap="square" rtlCol="0">
            <a:spAutoFit/>
          </a:bodyPr>
          <a:lstStyle/>
          <a:p>
            <a:r>
              <a:rPr lang="zh-CN" altLang="en-US" sz="2800" b="0" i="0" dirty="0">
                <a:solidFill>
                  <a:srgbClr val="333333"/>
                </a:solidFill>
                <a:effectLst/>
                <a:latin typeface="+mn-ea"/>
              </a:rPr>
              <a:t>如何输出变量的内容让我们看到？</a:t>
            </a:r>
            <a:endParaRPr lang="en-US" altLang="zh-CN" sz="2800" b="0" i="0" dirty="0">
              <a:solidFill>
                <a:srgbClr val="333333"/>
              </a:solidFill>
              <a:effectLst/>
              <a:latin typeface="+mn-ea"/>
            </a:endParaRPr>
          </a:p>
          <a:p>
            <a:endParaRPr lang="en-US" altLang="zh-CN" sz="2800" dirty="0">
              <a:solidFill>
                <a:srgbClr val="333333"/>
              </a:solidFill>
              <a:latin typeface="+mn-ea"/>
            </a:endParaRPr>
          </a:p>
          <a:p>
            <a:r>
              <a:rPr lang="zh-CN" altLang="en-US" sz="2800" b="0" i="0" dirty="0">
                <a:solidFill>
                  <a:srgbClr val="333333"/>
                </a:solidFill>
                <a:effectLst/>
                <a:latin typeface="+mn-ea"/>
              </a:rPr>
              <a:t>把内存中变量或表达式计算结果在显示器、打印机或磁盘文件等外部设备，称为输出。默认的输出设备称为</a:t>
            </a:r>
            <a:r>
              <a:rPr lang="zh-CN" altLang="en-US" sz="2800" b="1" i="0" dirty="0">
                <a:solidFill>
                  <a:srgbClr val="333333"/>
                </a:solidFill>
                <a:effectLst/>
                <a:latin typeface="+mn-ea"/>
              </a:rPr>
              <a:t>标准输出</a:t>
            </a:r>
            <a:r>
              <a:rPr lang="zh-CN" altLang="en-US" sz="2800" b="0" i="0" dirty="0">
                <a:solidFill>
                  <a:srgbClr val="333333"/>
                </a:solidFill>
                <a:effectLst/>
                <a:latin typeface="+mn-ea"/>
              </a:rPr>
              <a:t>（</a:t>
            </a:r>
            <a:r>
              <a:rPr lang="en-US" altLang="zh-CN" sz="2400" b="0" i="0" dirty="0">
                <a:solidFill>
                  <a:srgbClr val="333333"/>
                </a:solidFill>
                <a:effectLst/>
                <a:latin typeface="+mn-ea"/>
              </a:rPr>
              <a:t>standard output</a:t>
            </a:r>
            <a:r>
              <a:rPr lang="zh-CN" altLang="en-US" sz="2800" b="0" i="0" dirty="0">
                <a:solidFill>
                  <a:srgbClr val="333333"/>
                </a:solidFill>
                <a:effectLst/>
                <a:latin typeface="+mn-ea"/>
              </a:rPr>
              <a:t>）</a:t>
            </a:r>
            <a:r>
              <a:rPr lang="zh-CN" altLang="en-US" sz="2800" dirty="0">
                <a:solidFill>
                  <a:srgbClr val="333333"/>
                </a:solidFill>
                <a:latin typeface="+mn-ea"/>
              </a:rPr>
              <a:t>，一般是</a:t>
            </a:r>
            <a:r>
              <a:rPr lang="zh-CN" altLang="en-US" sz="2800" b="1" dirty="0">
                <a:solidFill>
                  <a:srgbClr val="333333"/>
                </a:solidFill>
                <a:latin typeface="+mn-ea"/>
              </a:rPr>
              <a:t>控制台</a:t>
            </a:r>
            <a:r>
              <a:rPr lang="zh-CN" altLang="en-US" sz="2800" dirty="0">
                <a:solidFill>
                  <a:srgbClr val="333333"/>
                </a:solidFill>
                <a:latin typeface="+mn-ea"/>
              </a:rPr>
              <a:t>（</a:t>
            </a:r>
            <a:r>
              <a:rPr lang="en-US" altLang="zh-CN" sz="2400" dirty="0">
                <a:solidFill>
                  <a:srgbClr val="333333"/>
                </a:solidFill>
                <a:latin typeface="+mn-ea"/>
              </a:rPr>
              <a:t>console</a:t>
            </a:r>
            <a:r>
              <a:rPr lang="zh-CN" altLang="en-US" sz="2800" dirty="0">
                <a:solidFill>
                  <a:srgbClr val="333333"/>
                </a:solidFill>
                <a:latin typeface="+mn-ea"/>
              </a:rPr>
              <a:t>）。</a:t>
            </a:r>
            <a:endParaRPr lang="en-US" altLang="zh-CN" sz="2800" b="0" i="0" dirty="0">
              <a:solidFill>
                <a:srgbClr val="333333"/>
              </a:solidFill>
              <a:effectLst/>
              <a:latin typeface="+mn-ea"/>
            </a:endParaRPr>
          </a:p>
          <a:p>
            <a:r>
              <a:rPr lang="zh-CN" altLang="en-US" sz="2800" dirty="0">
                <a:solidFill>
                  <a:srgbClr val="333333"/>
                </a:solidFill>
                <a:latin typeface="+mn-ea"/>
              </a:rPr>
              <a:t>从外部设备，如键盘，读入数据到内存变量，称为输入。</a:t>
            </a:r>
            <a:r>
              <a:rPr lang="zh-CN" altLang="en-US" sz="2800" b="0" i="0" dirty="0">
                <a:solidFill>
                  <a:srgbClr val="333333"/>
                </a:solidFill>
                <a:effectLst/>
                <a:latin typeface="+mn-ea"/>
              </a:rPr>
              <a:t>默认的输入设备称为</a:t>
            </a:r>
            <a:r>
              <a:rPr lang="zh-CN" altLang="en-US" sz="2800" b="1" i="0" dirty="0">
                <a:solidFill>
                  <a:srgbClr val="333333"/>
                </a:solidFill>
                <a:effectLst/>
                <a:latin typeface="+mn-ea"/>
              </a:rPr>
              <a:t>标准输入</a:t>
            </a:r>
            <a:r>
              <a:rPr lang="zh-CN" altLang="en-US" sz="2800" b="0" i="0" dirty="0">
                <a:solidFill>
                  <a:srgbClr val="333333"/>
                </a:solidFill>
                <a:effectLst/>
                <a:latin typeface="+mn-ea"/>
              </a:rPr>
              <a:t>（</a:t>
            </a:r>
            <a:r>
              <a:rPr lang="en-US" altLang="zh-CN" sz="2400" b="0" i="0" dirty="0">
                <a:solidFill>
                  <a:srgbClr val="333333"/>
                </a:solidFill>
                <a:effectLst/>
                <a:latin typeface="+mn-ea"/>
              </a:rPr>
              <a:t>standard input</a:t>
            </a:r>
            <a:r>
              <a:rPr lang="zh-CN" altLang="en-US" sz="2800" b="0" i="0" dirty="0">
                <a:solidFill>
                  <a:srgbClr val="333333"/>
                </a:solidFill>
                <a:effectLst/>
                <a:latin typeface="+mn-ea"/>
              </a:rPr>
              <a:t>）</a:t>
            </a:r>
            <a:r>
              <a:rPr lang="zh-CN" altLang="en-US" sz="2800" dirty="0">
                <a:solidFill>
                  <a:srgbClr val="333333"/>
                </a:solidFill>
                <a:latin typeface="+mn-ea"/>
              </a:rPr>
              <a:t>，一般是</a:t>
            </a:r>
            <a:r>
              <a:rPr lang="zh-CN" altLang="en-US" sz="2800" b="1" dirty="0">
                <a:solidFill>
                  <a:srgbClr val="333333"/>
                </a:solidFill>
                <a:latin typeface="+mn-ea"/>
              </a:rPr>
              <a:t>键盘</a:t>
            </a:r>
            <a:r>
              <a:rPr lang="zh-CN" altLang="en-US" sz="2800" dirty="0">
                <a:solidFill>
                  <a:srgbClr val="333333"/>
                </a:solidFill>
                <a:latin typeface="+mn-ea"/>
              </a:rPr>
              <a:t>（ </a:t>
            </a:r>
            <a:r>
              <a:rPr lang="en-US" altLang="zh-CN" sz="2400" dirty="0">
                <a:solidFill>
                  <a:srgbClr val="333333"/>
                </a:solidFill>
                <a:latin typeface="+mn-ea"/>
              </a:rPr>
              <a:t>keyboard</a:t>
            </a:r>
            <a:r>
              <a:rPr lang="zh-CN" altLang="en-US" sz="2800" dirty="0">
                <a:solidFill>
                  <a:srgbClr val="333333"/>
                </a:solidFill>
                <a:latin typeface="+mn-ea"/>
              </a:rPr>
              <a:t>）。</a:t>
            </a:r>
            <a:endParaRPr lang="en-US" altLang="zh-CN" sz="2800" dirty="0">
              <a:solidFill>
                <a:srgbClr val="333333"/>
              </a:solidFill>
              <a:latin typeface="+mn-ea"/>
            </a:endParaRPr>
          </a:p>
          <a:p>
            <a:endParaRPr lang="en-US" altLang="zh-CN" sz="2800" b="0" i="0" dirty="0">
              <a:solidFill>
                <a:srgbClr val="333333"/>
              </a:solidFill>
              <a:effectLst/>
              <a:latin typeface="+mn-ea"/>
            </a:endParaRPr>
          </a:p>
          <a:p>
            <a:r>
              <a:rPr lang="zh-CN" altLang="en-US" sz="2800" b="0" i="0" dirty="0">
                <a:solidFill>
                  <a:srgbClr val="333333"/>
                </a:solidFill>
                <a:effectLst/>
                <a:latin typeface="+mn-ea"/>
              </a:rPr>
              <a:t>操作方法主要是是 </a:t>
            </a:r>
            <a:r>
              <a:rPr lang="en-US" altLang="zh-CN" sz="2800" b="1" i="0" dirty="0" err="1">
                <a:solidFill>
                  <a:srgbClr val="C00000"/>
                </a:solidFill>
                <a:effectLst/>
                <a:latin typeface="+mn-ea"/>
              </a:rPr>
              <a:t>printf</a:t>
            </a:r>
            <a:r>
              <a:rPr lang="zh-CN" altLang="en-US" sz="2800" b="1" i="0" dirty="0">
                <a:solidFill>
                  <a:srgbClr val="C00000"/>
                </a:solidFill>
                <a:effectLst/>
                <a:latin typeface="+mn-ea"/>
              </a:rPr>
              <a:t>、</a:t>
            </a:r>
            <a:r>
              <a:rPr lang="en-US" altLang="zh-CN" sz="2800" b="1" i="0" dirty="0" err="1">
                <a:solidFill>
                  <a:srgbClr val="C00000"/>
                </a:solidFill>
                <a:effectLst/>
                <a:latin typeface="+mn-ea"/>
              </a:rPr>
              <a:t>scanf</a:t>
            </a:r>
            <a:r>
              <a:rPr lang="zh-CN" altLang="en-US" sz="2800" b="1" i="0" dirty="0">
                <a:solidFill>
                  <a:srgbClr val="333333"/>
                </a:solidFill>
                <a:effectLst/>
                <a:latin typeface="+mn-ea"/>
              </a:rPr>
              <a:t>、</a:t>
            </a:r>
            <a:r>
              <a:rPr lang="en-US" altLang="zh-CN" sz="2800" i="0" dirty="0">
                <a:solidFill>
                  <a:srgbClr val="333333"/>
                </a:solidFill>
                <a:effectLst/>
                <a:latin typeface="+mn-ea"/>
              </a:rPr>
              <a:t>puts</a:t>
            </a:r>
            <a:r>
              <a:rPr lang="zh-CN" altLang="en-US" sz="2800" i="0" dirty="0">
                <a:solidFill>
                  <a:srgbClr val="333333"/>
                </a:solidFill>
                <a:effectLst/>
                <a:latin typeface="+mn-ea"/>
              </a:rPr>
              <a:t>、</a:t>
            </a:r>
            <a:r>
              <a:rPr lang="en-US" altLang="zh-CN" sz="2800" i="0" dirty="0">
                <a:solidFill>
                  <a:srgbClr val="333333"/>
                </a:solidFill>
                <a:effectLst/>
                <a:latin typeface="+mn-ea"/>
              </a:rPr>
              <a:t>gets</a:t>
            </a:r>
            <a:r>
              <a:rPr lang="zh-CN" altLang="en-US" sz="2800" i="0" dirty="0">
                <a:solidFill>
                  <a:srgbClr val="333333"/>
                </a:solidFill>
                <a:effectLst/>
                <a:latin typeface="+mn-ea"/>
              </a:rPr>
              <a:t>，</a:t>
            </a:r>
            <a:r>
              <a:rPr lang="en-US" altLang="zh-CN" sz="2800" i="0" dirty="0" err="1">
                <a:solidFill>
                  <a:srgbClr val="333333"/>
                </a:solidFill>
                <a:effectLst/>
                <a:latin typeface="+mn-ea"/>
              </a:rPr>
              <a:t>getchar</a:t>
            </a:r>
            <a:r>
              <a:rPr lang="zh-CN" altLang="en-US" sz="2800" i="0" dirty="0">
                <a:solidFill>
                  <a:srgbClr val="333333"/>
                </a:solidFill>
                <a:effectLst/>
                <a:latin typeface="+mn-ea"/>
              </a:rPr>
              <a:t>、</a:t>
            </a:r>
            <a:r>
              <a:rPr lang="en-US" altLang="zh-CN" sz="2800" i="0" dirty="0" err="1">
                <a:solidFill>
                  <a:srgbClr val="333333"/>
                </a:solidFill>
                <a:effectLst/>
                <a:latin typeface="+mn-ea"/>
              </a:rPr>
              <a:t>putcahr</a:t>
            </a:r>
            <a:r>
              <a:rPr lang="zh-CN" altLang="en-US" sz="2800" b="0" i="0" dirty="0">
                <a:solidFill>
                  <a:srgbClr val="333333"/>
                </a:solidFill>
                <a:effectLst/>
                <a:latin typeface="+mn-ea"/>
              </a:rPr>
              <a:t>等。这些函数在 </a:t>
            </a:r>
            <a:r>
              <a:rPr lang="en-US" altLang="zh-CN" sz="2800" b="0" i="0" dirty="0" err="1">
                <a:solidFill>
                  <a:srgbClr val="333333"/>
                </a:solidFill>
                <a:effectLst/>
                <a:latin typeface="+mn-ea"/>
              </a:rPr>
              <a:t>stdio.h</a:t>
            </a:r>
            <a:r>
              <a:rPr lang="en-US" altLang="zh-CN" sz="2800" b="0" i="0" dirty="0">
                <a:solidFill>
                  <a:srgbClr val="333333"/>
                </a:solidFill>
                <a:effectLst/>
                <a:latin typeface="+mn-ea"/>
              </a:rPr>
              <a:t> </a:t>
            </a:r>
            <a:r>
              <a:rPr lang="zh-CN" altLang="en-US" sz="2800" b="0" i="0" dirty="0">
                <a:solidFill>
                  <a:srgbClr val="333333"/>
                </a:solidFill>
                <a:effectLst/>
                <a:latin typeface="+mn-ea"/>
              </a:rPr>
              <a:t>中定义。</a:t>
            </a:r>
            <a:endParaRPr lang="en-US" altLang="zh-CN" sz="2800" b="0" i="0" dirty="0">
              <a:solidFill>
                <a:srgbClr val="333333"/>
              </a:solidFill>
              <a:effectLst/>
              <a:latin typeface="+mn-ea"/>
            </a:endParaRPr>
          </a:p>
        </p:txBody>
      </p:sp>
    </p:spTree>
    <p:extLst>
      <p:ext uri="{BB962C8B-B14F-4D97-AF65-F5344CB8AC3E}">
        <p14:creationId xmlns:p14="http://schemas.microsoft.com/office/powerpoint/2010/main" val="152464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变量输出的案例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8422020" y="4238064"/>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8" y="1664919"/>
            <a:ext cx="6561928" cy="4031873"/>
          </a:xfrm>
          <a:prstGeom prst="rect">
            <a:avLst/>
          </a:prstGeom>
          <a:noFill/>
          <a:ln>
            <a:solidFill>
              <a:schemeClr val="bg1">
                <a:lumMod val="75000"/>
              </a:schemeClr>
            </a:solidFill>
          </a:ln>
        </p:spPr>
        <p:txBody>
          <a:bodyPr wrap="square" rtlCol="0">
            <a:spAutoFit/>
          </a:bodyPr>
          <a:lstStyle/>
          <a:p>
            <a:r>
              <a:rPr lang="en-US" altLang="zh-CN" sz="1600" dirty="0">
                <a:latin typeface="Consolas" panose="020B0609020204030204" pitchFamily="49" charset="0"/>
              </a:rPr>
              <a:t>/*compute area primary*/</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/*define vars and constants*/ </a:t>
            </a:r>
          </a:p>
          <a:p>
            <a:r>
              <a:rPr lang="en-US" altLang="zh-CN" sz="1600" dirty="0">
                <a:latin typeface="Consolas" panose="020B0609020204030204" pitchFamily="49" charset="0"/>
              </a:rPr>
              <a:t>	double radius = 5; </a:t>
            </a:r>
          </a:p>
          <a:p>
            <a:r>
              <a:rPr lang="en-US" altLang="zh-CN" sz="1600" dirty="0">
                <a:latin typeface="Consolas" panose="020B0609020204030204" pitchFamily="49" charset="0"/>
              </a:rPr>
              <a:t>	double area;</a:t>
            </a:r>
          </a:p>
          <a:p>
            <a:r>
              <a:rPr lang="en-US" altLang="zh-CN" sz="1600" dirty="0">
                <a:latin typeface="Consolas" panose="020B0609020204030204" pitchFamily="49" charset="0"/>
              </a:rPr>
              <a:t>	</a:t>
            </a:r>
          </a:p>
          <a:p>
            <a:r>
              <a:rPr lang="en-US" altLang="zh-CN" sz="1600" dirty="0">
                <a:latin typeface="Consolas" panose="020B0609020204030204" pitchFamily="49" charset="0"/>
              </a:rPr>
              <a:t>	/*compute area*/</a:t>
            </a:r>
          </a:p>
          <a:p>
            <a:r>
              <a:rPr lang="en-US" altLang="zh-CN" sz="1600" dirty="0">
                <a:latin typeface="Consolas" panose="020B0609020204030204" pitchFamily="49" charset="0"/>
              </a:rPr>
              <a:t>	area = radius * radius * 3.14;</a:t>
            </a:r>
          </a:p>
          <a:p>
            <a:r>
              <a:rPr lang="en-US" altLang="zh-CN" sz="1600" dirty="0">
                <a:latin typeface="Consolas" panose="020B0609020204030204" pitchFamily="49" charset="0"/>
              </a:rPr>
              <a:t>	</a:t>
            </a:r>
          </a:p>
          <a:p>
            <a:r>
              <a:rPr lang="en-US" altLang="zh-CN" sz="1600" dirty="0">
                <a:latin typeface="Consolas" panose="020B0609020204030204" pitchFamily="49" charset="0"/>
              </a:rPr>
              <a:t>	/*output results*/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("the area for the circle of </a:t>
            </a:r>
            <a:r>
              <a:rPr lang="en-US" altLang="zh-CN" sz="1600" dirty="0" err="1">
                <a:latin typeface="Consolas" panose="020B0609020204030204" pitchFamily="49" charset="0"/>
              </a:rPr>
              <a:t>redius</a:t>
            </a:r>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a:t>
            </a:r>
            <a:r>
              <a:rPr lang="en-US" altLang="zh-CN" sz="1600" b="1" dirty="0" err="1">
                <a:solidFill>
                  <a:srgbClr val="C00000"/>
                </a:solidFill>
                <a:latin typeface="Consolas" panose="020B0609020204030204" pitchFamily="49" charset="0"/>
              </a:rPr>
              <a:t>lf</a:t>
            </a:r>
            <a:r>
              <a:rPr lang="en-US" altLang="zh-CN" sz="1600" b="1" dirty="0">
                <a:solidFill>
                  <a:srgbClr val="C00000"/>
                </a:solidFill>
                <a:latin typeface="Consolas" panose="020B0609020204030204" pitchFamily="49" charset="0"/>
              </a:rPr>
              <a:t> </a:t>
            </a:r>
            <a:r>
              <a:rPr lang="en-US" altLang="zh-CN" sz="1600" dirty="0">
                <a:latin typeface="Consolas" panose="020B0609020204030204" pitchFamily="49" charset="0"/>
              </a:rPr>
              <a:t>is </a:t>
            </a:r>
            <a:r>
              <a:rPr lang="en-US" altLang="zh-CN" sz="1600" b="1" dirty="0">
                <a:solidFill>
                  <a:srgbClr val="C00000"/>
                </a:solidFill>
                <a:latin typeface="Consolas" panose="020B0609020204030204" pitchFamily="49" charset="0"/>
              </a:rPr>
              <a:t>%</a:t>
            </a:r>
            <a:r>
              <a:rPr lang="en-US" altLang="zh-CN" sz="1600" b="1" dirty="0" err="1">
                <a:solidFill>
                  <a:srgbClr val="C00000"/>
                </a:solidFill>
                <a:latin typeface="Consolas" panose="020B0609020204030204" pitchFamily="49" charset="0"/>
              </a:rPr>
              <a:t>lf</a:t>
            </a:r>
            <a:r>
              <a:rPr lang="en-US" altLang="zh-CN" sz="1600" dirty="0">
                <a:latin typeface="Consolas" panose="020B0609020204030204" pitchFamily="49" charset="0"/>
              </a:rPr>
              <a:t>\n", </a:t>
            </a:r>
          </a:p>
          <a:p>
            <a:r>
              <a:rPr lang="en-US" altLang="zh-CN" sz="1600" dirty="0">
                <a:latin typeface="Consolas" panose="020B0609020204030204" pitchFamily="49" charset="0"/>
              </a:rPr>
              <a:t>		radius, area);</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517219" y="4607396"/>
            <a:ext cx="2802005" cy="1384995"/>
          </a:xfrm>
          <a:prstGeom prst="rect">
            <a:avLst/>
          </a:prstGeom>
          <a:noFill/>
          <a:ln>
            <a:solidFill>
              <a:schemeClr val="tx1"/>
            </a:solidFill>
          </a:ln>
        </p:spPr>
        <p:txBody>
          <a:bodyPr wrap="square">
            <a:spAutoFit/>
          </a:bodyPr>
          <a:lstStyle/>
          <a:p>
            <a:r>
              <a:rPr lang="en-US" altLang="zh-CN" sz="1200" dirty="0"/>
              <a:t>input radius:5</a:t>
            </a:r>
          </a:p>
          <a:p>
            <a:r>
              <a:rPr lang="en-US" altLang="zh-CN" sz="1200" dirty="0"/>
              <a:t>the area for the circle of radius 5.000000 is 78.500000</a:t>
            </a:r>
          </a:p>
          <a:p>
            <a:r>
              <a:rPr lang="en-US" altLang="zh-CN" sz="1200" dirty="0"/>
              <a:t>--------------------------------</a:t>
            </a:r>
          </a:p>
          <a:p>
            <a:r>
              <a:rPr lang="en-US" altLang="zh-CN" sz="1200" dirty="0"/>
              <a:t>Process exited after 3.542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7955682" y="1662166"/>
            <a:ext cx="3363542" cy="2462213"/>
          </a:xfrm>
          <a:prstGeom prst="rect">
            <a:avLst/>
          </a:prstGeom>
          <a:noFill/>
        </p:spPr>
        <p:txBody>
          <a:bodyPr wrap="square" rtlCol="0">
            <a:spAutoFit/>
          </a:bodyPr>
          <a:lstStyle/>
          <a:p>
            <a:r>
              <a:rPr lang="zh-CN" altLang="en-US" dirty="0"/>
              <a:t>使用 </a:t>
            </a:r>
            <a:r>
              <a:rPr lang="en-US" altLang="zh-CN" dirty="0" err="1"/>
              <a:t>printf</a:t>
            </a:r>
            <a:r>
              <a:rPr lang="en-US" altLang="zh-CN" dirty="0"/>
              <a:t> </a:t>
            </a:r>
            <a:r>
              <a:rPr lang="zh-CN" altLang="en-US" dirty="0"/>
              <a:t>输出到标准输出设备；</a:t>
            </a:r>
            <a:endParaRPr lang="en-US" altLang="zh-CN" dirty="0"/>
          </a:p>
          <a:p>
            <a:r>
              <a:rPr lang="en-US" altLang="zh-CN" dirty="0" err="1"/>
              <a:t>printf</a:t>
            </a:r>
            <a:r>
              <a:rPr lang="en-US" altLang="zh-CN" dirty="0"/>
              <a:t> </a:t>
            </a:r>
            <a:r>
              <a:rPr lang="zh-CN" altLang="en-US" dirty="0"/>
              <a:t>语法格式：</a:t>
            </a:r>
            <a:endParaRPr lang="en-US" altLang="zh-CN" dirty="0"/>
          </a:p>
          <a:p>
            <a:pPr marL="285750" indent="-285750">
              <a:buFont typeface="Arial" panose="020B0604020202020204" pitchFamily="34" charset="0"/>
              <a:buChar char="•"/>
            </a:pPr>
            <a:r>
              <a:rPr lang="en-US" altLang="zh-CN" dirty="0" err="1"/>
              <a:t>printf</a:t>
            </a:r>
            <a:r>
              <a:rPr lang="en-US" altLang="zh-CN" dirty="0"/>
              <a:t>(</a:t>
            </a:r>
            <a:r>
              <a:rPr lang="zh-CN" altLang="en-US" dirty="0"/>
              <a:t> 格式化字符串，变量或表达式列表）</a:t>
            </a:r>
            <a:r>
              <a:rPr lang="en-US" altLang="zh-CN" dirty="0"/>
              <a:t>;</a:t>
            </a:r>
          </a:p>
          <a:p>
            <a:pPr marL="285750" indent="-285750">
              <a:buFont typeface="Arial" panose="020B0604020202020204" pitchFamily="34" charset="0"/>
              <a:buChar char="•"/>
            </a:pPr>
            <a:r>
              <a:rPr lang="zh-CN" altLang="en-US" dirty="0"/>
              <a:t>格式化字符串中指示符：</a:t>
            </a:r>
            <a:endParaRPr lang="en-US" altLang="zh-CN" dirty="0"/>
          </a:p>
          <a:p>
            <a:pPr marL="742950" lvl="1" indent="-285750">
              <a:buFont typeface="Wingdings" panose="05000000000000000000" pitchFamily="2" charset="2"/>
              <a:buChar char="Ø"/>
            </a:pPr>
            <a:r>
              <a:rPr lang="en-US" altLang="zh-CN" sz="1600" dirty="0"/>
              <a:t>% </a:t>
            </a:r>
            <a:r>
              <a:rPr lang="zh-CN" altLang="en-US" sz="1600" dirty="0"/>
              <a:t>是输出引导符</a:t>
            </a:r>
            <a:endParaRPr lang="en-US" altLang="zh-CN" sz="1600" dirty="0"/>
          </a:p>
          <a:p>
            <a:pPr marL="742950" lvl="1" indent="-285750">
              <a:buFont typeface="Wingdings" panose="05000000000000000000" pitchFamily="2" charset="2"/>
              <a:buChar char="Ø"/>
            </a:pPr>
            <a:r>
              <a:rPr lang="en-US" altLang="zh-CN" sz="1600" b="1" dirty="0" err="1"/>
              <a:t>hhd,hd</a:t>
            </a:r>
            <a:r>
              <a:rPr lang="en-US" altLang="zh-CN" sz="1600" b="1" dirty="0"/>
              <a:t>, d, </a:t>
            </a:r>
            <a:r>
              <a:rPr lang="en-US" altLang="zh-CN" sz="1600" b="1" dirty="0" err="1"/>
              <a:t>ld</a:t>
            </a:r>
            <a:r>
              <a:rPr lang="en-US" altLang="zh-CN" sz="1600" b="1" dirty="0"/>
              <a:t> </a:t>
            </a:r>
            <a:r>
              <a:rPr lang="zh-CN" altLang="en-US" sz="1600" dirty="0"/>
              <a:t>对应 </a:t>
            </a:r>
            <a:r>
              <a:rPr lang="en-US" altLang="zh-CN" sz="1600" dirty="0"/>
              <a:t>char, short, int, long int</a:t>
            </a:r>
          </a:p>
          <a:p>
            <a:pPr marL="742950" lvl="1" indent="-285750">
              <a:buFont typeface="Wingdings" panose="05000000000000000000" pitchFamily="2" charset="2"/>
              <a:buChar char="Ø"/>
            </a:pPr>
            <a:r>
              <a:rPr lang="en-US" altLang="zh-CN" sz="1600" b="1" dirty="0" err="1"/>
              <a:t>f,lf</a:t>
            </a:r>
            <a:r>
              <a:rPr lang="en-US" altLang="zh-CN" sz="1600" b="1" dirty="0"/>
              <a:t> </a:t>
            </a:r>
            <a:r>
              <a:rPr lang="zh-CN" altLang="en-US" sz="1600" dirty="0"/>
              <a:t>对应 </a:t>
            </a:r>
            <a:r>
              <a:rPr lang="en-US" altLang="zh-CN" sz="1600" dirty="0"/>
              <a:t>float,</a:t>
            </a:r>
            <a:r>
              <a:rPr lang="zh-CN" altLang="en-US" sz="1600" dirty="0"/>
              <a:t> </a:t>
            </a:r>
            <a:r>
              <a:rPr lang="en-US" altLang="zh-CN" sz="1600" dirty="0"/>
              <a:t>double</a:t>
            </a:r>
          </a:p>
        </p:txBody>
      </p:sp>
      <p:sp>
        <p:nvSpPr>
          <p:cNvPr id="3" name="文本框 2">
            <a:extLst>
              <a:ext uri="{FF2B5EF4-FFF2-40B4-BE49-F238E27FC236}">
                <a16:creationId xmlns:a16="http://schemas.microsoft.com/office/drawing/2014/main" id="{A6B90ACC-076C-647E-B7A3-300A5612C940}"/>
              </a:ext>
            </a:extLst>
          </p:cNvPr>
          <p:cNvSpPr txBox="1"/>
          <p:nvPr/>
        </p:nvSpPr>
        <p:spPr>
          <a:xfrm>
            <a:off x="1239157" y="5657671"/>
            <a:ext cx="4801314" cy="923330"/>
          </a:xfrm>
          <a:prstGeom prst="rect">
            <a:avLst/>
          </a:prstGeom>
          <a:noFill/>
        </p:spPr>
        <p:txBody>
          <a:bodyPr wrap="none" rtlCol="0">
            <a:spAutoFit/>
          </a:bodyPr>
          <a:lstStyle/>
          <a:p>
            <a:r>
              <a:rPr lang="zh-CN" altLang="en-US" dirty="0">
                <a:solidFill>
                  <a:srgbClr val="C00000"/>
                </a:solidFill>
              </a:rPr>
              <a:t>注意：</a:t>
            </a:r>
            <a:endParaRPr lang="en-US" altLang="zh-CN" dirty="0">
              <a:solidFill>
                <a:srgbClr val="C00000"/>
              </a:solidFill>
            </a:endParaRPr>
          </a:p>
          <a:p>
            <a:r>
              <a:rPr lang="zh-CN" altLang="en-US" dirty="0">
                <a:solidFill>
                  <a:srgbClr val="C00000"/>
                </a:solidFill>
              </a:rPr>
              <a:t>①格式化字符中转换数据的个数与参数一致；</a:t>
            </a:r>
            <a:endParaRPr lang="en-US" altLang="zh-CN" dirty="0">
              <a:solidFill>
                <a:srgbClr val="C00000"/>
              </a:solidFill>
            </a:endParaRPr>
          </a:p>
          <a:p>
            <a:r>
              <a:rPr lang="zh-CN" altLang="zh-CN" dirty="0">
                <a:solidFill>
                  <a:srgbClr val="C00000"/>
                </a:solidFill>
              </a:rPr>
              <a:t>②</a:t>
            </a:r>
            <a:r>
              <a:rPr lang="zh-CN" altLang="en-US" dirty="0">
                <a:solidFill>
                  <a:srgbClr val="C00000"/>
                </a:solidFill>
              </a:rPr>
              <a:t>转换数据类型与参数类型一致。</a:t>
            </a:r>
            <a:endParaRPr lang="en-US" altLang="zh-CN" dirty="0">
              <a:solidFill>
                <a:srgbClr val="C00000"/>
              </a:solidFill>
            </a:endParaRPr>
          </a:p>
        </p:txBody>
      </p:sp>
    </p:spTree>
    <p:extLst>
      <p:ext uri="{BB962C8B-B14F-4D97-AF65-F5344CB8AC3E}">
        <p14:creationId xmlns:p14="http://schemas.microsoft.com/office/powerpoint/2010/main" val="242457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格式化（</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format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）与指示符</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1135117" y="1878349"/>
            <a:ext cx="6202605" cy="4360291"/>
          </a:xfrm>
          <a:prstGeom prst="rect">
            <a:avLst/>
          </a:prstGeom>
          <a:noFill/>
        </p:spPr>
        <p:txBody>
          <a:bodyPr wrap="square" rtlCol="0">
            <a:normAutofit fontScale="47500" lnSpcReduction="20000"/>
          </a:bodyPr>
          <a:lstStyle/>
          <a:p>
            <a:pPr marL="0" marR="0" lvl="0" indent="0" algn="l" defTabSz="914400" rtl="0" eaLnBrk="0" fontAlgn="base" latinLnBrk="0" hangingPunct="0">
              <a:lnSpc>
                <a:spcPct val="120000"/>
              </a:lnSpc>
              <a:spcBef>
                <a:spcPct val="0"/>
              </a:spcBef>
              <a:spcAft>
                <a:spcPct val="0"/>
              </a:spcAft>
              <a:buClrTx/>
              <a:buSzTx/>
              <a:buFontTx/>
              <a:buNone/>
              <a:tabLst/>
            </a:pPr>
            <a:r>
              <a:rPr lang="zh-CN" altLang="en-US" sz="2800" b="1" dirty="0">
                <a:latin typeface="+mn-ea"/>
              </a:rPr>
              <a:t>格式字符串</a:t>
            </a:r>
            <a:r>
              <a:rPr lang="zh-CN" altLang="en-US" sz="2800" dirty="0">
                <a:latin typeface="+mn-ea"/>
              </a:rPr>
              <a:t>由</a:t>
            </a:r>
            <a:r>
              <a:rPr lang="zh-CN" altLang="en-US" sz="2800" b="1" dirty="0">
                <a:latin typeface="+mn-ea"/>
              </a:rPr>
              <a:t>普通字符</a:t>
            </a:r>
            <a:r>
              <a:rPr lang="zh-CN" altLang="en-US" sz="2800" dirty="0">
                <a:latin typeface="+mn-ea"/>
              </a:rPr>
              <a:t>（除了 </a:t>
            </a:r>
            <a:r>
              <a:rPr lang="en-US" altLang="zh-CN" sz="2800" dirty="0">
                <a:latin typeface="+mn-ea"/>
              </a:rPr>
              <a:t>% </a:t>
            </a:r>
            <a:r>
              <a:rPr lang="zh-CN" altLang="en-US" sz="2800" dirty="0">
                <a:latin typeface="+mn-ea"/>
              </a:rPr>
              <a:t>）和</a:t>
            </a:r>
            <a:r>
              <a:rPr lang="zh-CN" altLang="en-US" sz="2800" b="1" dirty="0">
                <a:latin typeface="+mn-ea"/>
              </a:rPr>
              <a:t>转换指示</a:t>
            </a:r>
            <a:r>
              <a:rPr lang="zh-CN" altLang="en-US" sz="2800" dirty="0">
                <a:latin typeface="+mn-ea"/>
              </a:rPr>
              <a:t>构成，前者被复制到输出而无更改。</a:t>
            </a:r>
            <a:endParaRPr lang="en-US" altLang="zh-CN" sz="2800" dirty="0">
              <a:latin typeface="+mn-ea"/>
            </a:endParaRPr>
          </a:p>
          <a:p>
            <a:pPr marL="0" marR="0" lvl="0" indent="0" algn="l" defTabSz="914400" rtl="0" eaLnBrk="0" fontAlgn="base" latinLnBrk="0" hangingPunct="0">
              <a:lnSpc>
                <a:spcPct val="120000"/>
              </a:lnSpc>
              <a:spcBef>
                <a:spcPct val="0"/>
              </a:spcBef>
              <a:spcAft>
                <a:spcPct val="0"/>
              </a:spcAft>
              <a:buClrTx/>
              <a:buSzTx/>
              <a:buFontTx/>
              <a:buNone/>
              <a:tabLst/>
            </a:pPr>
            <a:r>
              <a:rPr lang="zh-CN" altLang="en-US" sz="2800" dirty="0">
                <a:latin typeface="+mn-ea"/>
              </a:rPr>
              <a:t>每个转换指示拥有下列格式：</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zh-CN" altLang="en-US" sz="2800" dirty="0">
                <a:latin typeface="+mn-ea"/>
              </a:rPr>
              <a:t>引入的 </a:t>
            </a:r>
            <a:r>
              <a:rPr lang="en-US" altLang="zh-CN" sz="2800" dirty="0">
                <a:latin typeface="+mn-ea"/>
              </a:rPr>
              <a:t>% </a:t>
            </a:r>
            <a:r>
              <a:rPr lang="zh-CN" altLang="en-US" sz="2800" dirty="0">
                <a:latin typeface="+mn-ea"/>
              </a:rPr>
              <a:t>字符</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2800" dirty="0">
                <a:latin typeface="+mn-ea"/>
              </a:rPr>
              <a:t>(</a:t>
            </a:r>
            <a:r>
              <a:rPr lang="zh-CN" altLang="en-US" sz="2800" dirty="0">
                <a:latin typeface="+mn-ea"/>
              </a:rPr>
              <a:t>可选</a:t>
            </a:r>
            <a:r>
              <a:rPr lang="en-US" altLang="zh-CN" sz="2800" dirty="0">
                <a:latin typeface="+mn-ea"/>
              </a:rPr>
              <a:t>)</a:t>
            </a:r>
            <a:r>
              <a:rPr lang="zh-CN" altLang="en-US" sz="2800" dirty="0">
                <a:latin typeface="+mn-ea"/>
              </a:rPr>
              <a:t>一或多个修改转换行为的标签：</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2200" dirty="0">
                <a:latin typeface="+mn-ea"/>
              </a:rPr>
              <a:t>- </a:t>
            </a:r>
            <a:r>
              <a:rPr lang="zh-CN" altLang="en-US" sz="2200" dirty="0">
                <a:latin typeface="+mn-ea"/>
              </a:rPr>
              <a:t>：转换结果在域内左校正（默认为右校正）</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2200" dirty="0">
                <a:latin typeface="+mn-ea"/>
              </a:rPr>
              <a:t>+ </a:t>
            </a:r>
            <a:r>
              <a:rPr lang="zh-CN" altLang="en-US" sz="2200" dirty="0">
                <a:latin typeface="+mn-ea"/>
              </a:rPr>
              <a:t>：有符号转换的符号始终前置于转换结果（默认结果前置负号仅当它为负）</a:t>
            </a:r>
          </a:p>
          <a:p>
            <a:pPr marL="914400" lvl="1" indent="-457200" eaLnBrk="0" fontAlgn="base" hangingPunct="0">
              <a:lnSpc>
                <a:spcPct val="120000"/>
              </a:lnSpc>
              <a:spcBef>
                <a:spcPct val="0"/>
              </a:spcBef>
              <a:spcAft>
                <a:spcPct val="0"/>
              </a:spcAft>
              <a:buFont typeface="Wingdings" panose="05000000000000000000" pitchFamily="2" charset="2"/>
              <a:buChar char="Ø"/>
            </a:pPr>
            <a:r>
              <a:rPr lang="zh-CN" altLang="en-US" sz="2200" dirty="0">
                <a:latin typeface="+mn-ea"/>
              </a:rPr>
              <a:t>空格：若有符号转换的结果不以符号开始，或为空，则前置空格于结果。若存在 </a:t>
            </a:r>
            <a:r>
              <a:rPr lang="en-US" altLang="zh-CN" sz="2200" dirty="0">
                <a:latin typeface="+mn-ea"/>
              </a:rPr>
              <a:t>+ </a:t>
            </a:r>
            <a:r>
              <a:rPr lang="zh-CN" altLang="en-US" sz="2200" dirty="0">
                <a:latin typeface="+mn-ea"/>
              </a:rPr>
              <a:t>标签则忽略空格。</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2200" dirty="0">
                <a:latin typeface="+mn-ea"/>
              </a:rPr>
              <a:t># </a:t>
            </a:r>
            <a:r>
              <a:rPr lang="zh-CN" altLang="en-US" sz="2200" dirty="0">
                <a:latin typeface="+mn-ea"/>
              </a:rPr>
              <a:t>：进行替用形式的转换。准确的效果见下表，其他情况下行为未定义。</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2200" dirty="0">
                <a:latin typeface="+mn-ea"/>
              </a:rPr>
              <a:t>0 </a:t>
            </a:r>
            <a:r>
              <a:rPr lang="zh-CN" altLang="en-US" sz="2200" dirty="0">
                <a:latin typeface="+mn-ea"/>
              </a:rPr>
              <a:t>：对于整数和浮点数转换，使用前导零代替空格字符填充域。对于整数，若显式指定精度，则忽略此标签。对于其他转换，使用此标签导致未定义行为。若存在 </a:t>
            </a:r>
            <a:r>
              <a:rPr lang="en-US" altLang="zh-CN" sz="2200" dirty="0">
                <a:latin typeface="+mn-ea"/>
              </a:rPr>
              <a:t>- </a:t>
            </a:r>
            <a:r>
              <a:rPr lang="zh-CN" altLang="en-US" sz="2200" dirty="0">
                <a:latin typeface="+mn-ea"/>
              </a:rPr>
              <a:t>标签则忽略 </a:t>
            </a:r>
            <a:r>
              <a:rPr lang="en-US" altLang="zh-CN" sz="2200" dirty="0">
                <a:latin typeface="+mn-ea"/>
              </a:rPr>
              <a:t>0 </a:t>
            </a:r>
            <a:r>
              <a:rPr lang="zh-CN" altLang="en-US" sz="2500" dirty="0">
                <a:latin typeface="+mn-ea"/>
              </a:rPr>
              <a:t>。</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2800" dirty="0">
                <a:latin typeface="+mn-ea"/>
              </a:rPr>
              <a:t>(</a:t>
            </a:r>
            <a:r>
              <a:rPr lang="zh-CN" altLang="en-US" sz="2800" dirty="0">
                <a:latin typeface="+mn-ea"/>
              </a:rPr>
              <a:t>可选</a:t>
            </a:r>
            <a:r>
              <a:rPr lang="en-US" altLang="zh-CN" sz="2800" dirty="0">
                <a:latin typeface="+mn-ea"/>
              </a:rPr>
              <a:t>)</a:t>
            </a:r>
            <a:r>
              <a:rPr lang="zh-CN" altLang="en-US" sz="2800" dirty="0">
                <a:latin typeface="+mn-ea"/>
              </a:rPr>
              <a:t>指定最小域宽的整数值或 * 。若有要求，则结果会以空格字符（默认情况）填充，在右校正时于左，左校正时于右。使用 * 的情况下，以一个额外的 </a:t>
            </a:r>
            <a:r>
              <a:rPr lang="en-US" altLang="zh-CN" sz="2800" dirty="0">
                <a:latin typeface="+mn-ea"/>
              </a:rPr>
              <a:t>int </a:t>
            </a:r>
            <a:r>
              <a:rPr lang="zh-CN" altLang="en-US" sz="2800" dirty="0">
                <a:latin typeface="+mn-ea"/>
              </a:rPr>
              <a:t>类型参数指定宽度。若参数值为负数，则它导致指定 </a:t>
            </a:r>
            <a:r>
              <a:rPr lang="en-US" altLang="zh-CN" sz="2800" dirty="0">
                <a:latin typeface="+mn-ea"/>
              </a:rPr>
              <a:t>- </a:t>
            </a:r>
            <a:r>
              <a:rPr lang="zh-CN" altLang="en-US" sz="2800" dirty="0">
                <a:latin typeface="+mn-ea"/>
              </a:rPr>
              <a:t>标签和正域宽。（注意：这是最小宽度：决不被截断值）。</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2800" dirty="0">
                <a:latin typeface="+mn-ea"/>
              </a:rPr>
              <a:t>(</a:t>
            </a:r>
            <a:r>
              <a:rPr lang="zh-CN" altLang="en-US" sz="2800" dirty="0">
                <a:latin typeface="+mn-ea"/>
              </a:rPr>
              <a:t>可选</a:t>
            </a:r>
            <a:r>
              <a:rPr lang="en-US" altLang="zh-CN" sz="2800" dirty="0">
                <a:latin typeface="+mn-ea"/>
              </a:rPr>
              <a:t>)</a:t>
            </a:r>
            <a:r>
              <a:rPr lang="zh-CN" altLang="en-US" sz="2800" dirty="0">
                <a:latin typeface="+mn-ea"/>
              </a:rPr>
              <a:t>后随整数或 * 或两者皆无的 </a:t>
            </a:r>
            <a:r>
              <a:rPr lang="en-US" altLang="zh-CN" sz="2800" dirty="0">
                <a:latin typeface="+mn-ea"/>
              </a:rPr>
              <a:t>. </a:t>
            </a:r>
            <a:r>
              <a:rPr lang="zh-CN" altLang="en-US" sz="2800" dirty="0">
                <a:latin typeface="+mn-ea"/>
              </a:rPr>
              <a:t>指示转换的精度。在使用 * 的情况下，精度由额外的 </a:t>
            </a:r>
            <a:r>
              <a:rPr lang="en-US" altLang="zh-CN" sz="2800" dirty="0">
                <a:latin typeface="+mn-ea"/>
              </a:rPr>
              <a:t>int </a:t>
            </a:r>
            <a:r>
              <a:rPr lang="zh-CN" altLang="en-US" sz="2800" dirty="0">
                <a:latin typeface="+mn-ea"/>
              </a:rPr>
              <a:t>类型参数指定。若此参数的值为负数，则它被忽略。若既不使用数字亦不使用 * ，则精度采用零。精度的准确效果见下表。</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2800" dirty="0">
                <a:latin typeface="+mn-ea"/>
              </a:rPr>
              <a:t>(</a:t>
            </a:r>
            <a:r>
              <a:rPr lang="zh-CN" altLang="en-US" sz="2800" dirty="0">
                <a:latin typeface="+mn-ea"/>
              </a:rPr>
              <a:t>可选</a:t>
            </a:r>
            <a:r>
              <a:rPr lang="en-US" altLang="zh-CN" sz="2800" dirty="0">
                <a:latin typeface="+mn-ea"/>
              </a:rPr>
              <a:t>)</a:t>
            </a:r>
            <a:r>
              <a:rPr lang="zh-CN" altLang="en-US" sz="2800" dirty="0">
                <a:latin typeface="+mn-ea"/>
              </a:rPr>
              <a:t>指定参数大小的长度修饰符</a:t>
            </a:r>
          </a:p>
          <a:p>
            <a:pPr marL="0" marR="0" lvl="0" indent="0" algn="l" defTabSz="914400" rtl="0" eaLnBrk="0" fontAlgn="base" latinLnBrk="0" hangingPunct="0">
              <a:lnSpc>
                <a:spcPct val="100000"/>
              </a:lnSpc>
              <a:spcBef>
                <a:spcPct val="0"/>
              </a:spcBef>
              <a:spcAft>
                <a:spcPct val="0"/>
              </a:spcAft>
              <a:buClrTx/>
              <a:buSzTx/>
              <a:buFontTx/>
              <a:buNone/>
              <a:tabLst/>
            </a:pPr>
            <a:endParaRPr lang="zh-CN" altLang="zh-CN" sz="2800" dirty="0">
              <a:latin typeface="+mn-ea"/>
            </a:endParaRPr>
          </a:p>
        </p:txBody>
      </p:sp>
      <p:sp>
        <p:nvSpPr>
          <p:cNvPr id="2" name="文本框 1">
            <a:extLst>
              <a:ext uri="{FF2B5EF4-FFF2-40B4-BE49-F238E27FC236}">
                <a16:creationId xmlns:a16="http://schemas.microsoft.com/office/drawing/2014/main" id="{6B6A656C-E7E0-0CE0-9CAC-78399DD7B6B0}"/>
              </a:ext>
            </a:extLst>
          </p:cNvPr>
          <p:cNvSpPr txBox="1"/>
          <p:nvPr/>
        </p:nvSpPr>
        <p:spPr>
          <a:xfrm>
            <a:off x="7684563" y="1878349"/>
            <a:ext cx="3805651" cy="4031873"/>
          </a:xfrm>
          <a:prstGeom prst="rect">
            <a:avLst/>
          </a:prstGeom>
          <a:noFill/>
          <a:ln>
            <a:solidFill>
              <a:schemeClr val="bg1">
                <a:lumMod val="75000"/>
              </a:schemeClr>
            </a:solidFill>
          </a:ln>
        </p:spPr>
        <p:txBody>
          <a:bodyPr wrap="square" rtlCol="0">
            <a:spAutoFit/>
          </a:bodyPr>
          <a:lstStyle/>
          <a:p>
            <a:r>
              <a:rPr lang="en-US" altLang="zh-CN" sz="1600" dirty="0">
                <a:latin typeface="Consolas" panose="020B0609020204030204" pitchFamily="49" charset="0"/>
              </a:rPr>
              <a:t>/*format testing*/</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double radius = 5;</a:t>
            </a:r>
          </a:p>
          <a:p>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a:t>
            </a:r>
            <a:r>
              <a:rPr lang="en-US" altLang="zh-CN" sz="1600" dirty="0" err="1">
                <a:latin typeface="Consolas" panose="020B0609020204030204" pitchFamily="49" charset="0"/>
              </a:rPr>
              <a:t>lf</a:t>
            </a:r>
            <a:r>
              <a:rPr lang="en-US" altLang="zh-CN" sz="1600" dirty="0">
                <a:latin typeface="Consolas" panose="020B0609020204030204" pitchFamily="49" charset="0"/>
              </a:rPr>
              <a:t>\</a:t>
            </a:r>
            <a:r>
              <a:rPr lang="en-US" altLang="zh-CN" sz="1600" dirty="0" err="1">
                <a:latin typeface="Consolas" panose="020B0609020204030204" pitchFamily="49" charset="0"/>
              </a:rPr>
              <a:t>n",radius</a:t>
            </a:r>
            <a:r>
              <a:rPr lang="en-US" altLang="zh-CN" sz="1600" dirty="0">
                <a:latin typeface="Consolas" panose="020B0609020204030204" pitchFamily="49" charset="0"/>
              </a:rPr>
              <a:t>); /*default 8.6lf*/</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("%10lf\</a:t>
            </a:r>
            <a:r>
              <a:rPr lang="en-US" altLang="zh-CN" sz="1600" dirty="0" err="1">
                <a:latin typeface="Consolas" panose="020B0609020204030204" pitchFamily="49" charset="0"/>
              </a:rPr>
              <a:t>n",radius</a:t>
            </a:r>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 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("%010.2lf\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return 0;</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6FA83F8F-2643-7935-6F4D-9AF5359BA641}"/>
              </a:ext>
            </a:extLst>
          </p:cNvPr>
          <p:cNvSpPr txBox="1"/>
          <p:nvPr/>
        </p:nvSpPr>
        <p:spPr>
          <a:xfrm>
            <a:off x="941426" y="6434020"/>
            <a:ext cx="8326318" cy="307777"/>
          </a:xfrm>
          <a:prstGeom prst="rect">
            <a:avLst/>
          </a:prstGeom>
          <a:noFill/>
        </p:spPr>
        <p:txBody>
          <a:bodyPr wrap="none" rtlCol="0">
            <a:spAutoFit/>
          </a:bodyPr>
          <a:lstStyle/>
          <a:p>
            <a:r>
              <a:rPr lang="zh-CN" altLang="en-US" sz="1400" dirty="0"/>
              <a:t>详细格式指示符：</a:t>
            </a:r>
            <a:r>
              <a:rPr lang="en-US" altLang="zh-CN" sz="1400" dirty="0" err="1">
                <a:hlinkClick r:id="rId4"/>
              </a:rPr>
              <a:t>printf</a:t>
            </a:r>
            <a:r>
              <a:rPr lang="en-US" altLang="zh-CN" sz="1400" dirty="0">
                <a:hlinkClick r:id="rId4"/>
              </a:rPr>
              <a:t>, </a:t>
            </a:r>
            <a:r>
              <a:rPr lang="en-US" altLang="zh-CN" sz="1400" dirty="0" err="1">
                <a:hlinkClick r:id="rId4"/>
              </a:rPr>
              <a:t>fprintf</a:t>
            </a:r>
            <a:r>
              <a:rPr lang="en-US" altLang="zh-CN" sz="1400" dirty="0">
                <a:hlinkClick r:id="rId4"/>
              </a:rPr>
              <a:t>, </a:t>
            </a:r>
            <a:r>
              <a:rPr lang="en-US" altLang="zh-CN" sz="1400" dirty="0" err="1">
                <a:hlinkClick r:id="rId4"/>
              </a:rPr>
              <a:t>sprintf</a:t>
            </a:r>
            <a:r>
              <a:rPr lang="en-US" altLang="zh-CN" sz="1400" dirty="0">
                <a:hlinkClick r:id="rId4"/>
              </a:rPr>
              <a:t>, </a:t>
            </a:r>
            <a:r>
              <a:rPr lang="en-US" altLang="zh-CN" sz="1400" dirty="0" err="1">
                <a:hlinkClick r:id="rId4"/>
              </a:rPr>
              <a:t>snprintf</a:t>
            </a:r>
            <a:r>
              <a:rPr lang="en-US" altLang="zh-CN" sz="1400" dirty="0">
                <a:hlinkClick r:id="rId4"/>
              </a:rPr>
              <a:t>, </a:t>
            </a:r>
            <a:r>
              <a:rPr lang="en-US" altLang="zh-CN" sz="1400" dirty="0" err="1">
                <a:hlinkClick r:id="rId4"/>
              </a:rPr>
              <a:t>printf_s</a:t>
            </a:r>
            <a:r>
              <a:rPr lang="en-US" altLang="zh-CN" sz="1400" dirty="0">
                <a:hlinkClick r:id="rId4"/>
              </a:rPr>
              <a:t>, </a:t>
            </a:r>
            <a:r>
              <a:rPr lang="en-US" altLang="zh-CN" sz="1400" dirty="0" err="1">
                <a:hlinkClick r:id="rId4"/>
              </a:rPr>
              <a:t>fprintf_s</a:t>
            </a:r>
            <a:r>
              <a:rPr lang="en-US" altLang="zh-CN" sz="1400" dirty="0">
                <a:hlinkClick r:id="rId4"/>
              </a:rPr>
              <a:t>, </a:t>
            </a:r>
            <a:r>
              <a:rPr lang="en-US" altLang="zh-CN" sz="1400" dirty="0" err="1">
                <a:hlinkClick r:id="rId4"/>
              </a:rPr>
              <a:t>sprintf_s</a:t>
            </a:r>
            <a:r>
              <a:rPr lang="en-US" altLang="zh-CN" sz="1400" dirty="0">
                <a:hlinkClick r:id="rId4"/>
              </a:rPr>
              <a:t>, </a:t>
            </a:r>
            <a:r>
              <a:rPr lang="en-US" altLang="zh-CN" sz="1400" dirty="0" err="1">
                <a:hlinkClick r:id="rId4"/>
              </a:rPr>
              <a:t>snprintf_s</a:t>
            </a:r>
            <a:r>
              <a:rPr lang="en-US" altLang="zh-CN" sz="1400" dirty="0">
                <a:hlinkClick r:id="rId4"/>
              </a:rPr>
              <a:t> - cppreference.com</a:t>
            </a:r>
            <a:endParaRPr lang="zh-CN" altLang="en-US" sz="1400" dirty="0"/>
          </a:p>
        </p:txBody>
      </p:sp>
    </p:spTree>
    <p:extLst>
      <p:ext uri="{BB962C8B-B14F-4D97-AF65-F5344CB8AC3E}">
        <p14:creationId xmlns:p14="http://schemas.microsoft.com/office/powerpoint/2010/main" val="359722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课堂练习</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588905" cy="2677656"/>
          </a:xfrm>
          <a:prstGeom prst="rect">
            <a:avLst/>
          </a:prstGeom>
          <a:noFill/>
        </p:spPr>
        <p:txBody>
          <a:bodyPr wrap="square" rtlCol="0">
            <a:spAutoFit/>
          </a:bodyPr>
          <a:lstStyle/>
          <a:p>
            <a:r>
              <a:rPr lang="zh-CN" altLang="en-US" sz="2800" b="0" i="0" dirty="0">
                <a:solidFill>
                  <a:srgbClr val="333333"/>
                </a:solidFill>
                <a:effectLst/>
                <a:latin typeface="+mn-ea"/>
              </a:rPr>
              <a:t>将下面自然语言翻译成 </a:t>
            </a:r>
            <a:r>
              <a:rPr lang="en-US" altLang="zh-CN" sz="2800" b="0" i="0" dirty="0">
                <a:solidFill>
                  <a:srgbClr val="333333"/>
                </a:solidFill>
                <a:effectLst/>
                <a:latin typeface="+mn-ea"/>
              </a:rPr>
              <a:t>C </a:t>
            </a:r>
            <a:r>
              <a:rPr lang="zh-CN" altLang="en-US" sz="2800" b="0" i="0" dirty="0">
                <a:solidFill>
                  <a:srgbClr val="333333"/>
                </a:solidFill>
                <a:effectLst/>
                <a:latin typeface="+mn-ea"/>
              </a:rPr>
              <a:t>代码</a:t>
            </a:r>
            <a:endParaRPr lang="en-US" altLang="zh-CN" sz="2800" b="0" i="0" dirty="0">
              <a:solidFill>
                <a:srgbClr val="333333"/>
              </a:solidFill>
              <a:effectLst/>
              <a:latin typeface="+mn-ea"/>
            </a:endParaRPr>
          </a:p>
          <a:p>
            <a:endParaRPr lang="en-US" altLang="zh-CN" sz="2800" dirty="0">
              <a:solidFill>
                <a:srgbClr val="333333"/>
              </a:solidFill>
              <a:latin typeface="+mn-ea"/>
            </a:endParaRPr>
          </a:p>
          <a:p>
            <a:pPr marL="457200" indent="-457200">
              <a:buFont typeface="Arial" panose="020B0604020202020204" pitchFamily="34" charset="0"/>
              <a:buChar char="•"/>
            </a:pPr>
            <a:r>
              <a:rPr lang="zh-CN" altLang="en-US" sz="2800" dirty="0">
                <a:solidFill>
                  <a:srgbClr val="333333"/>
                </a:solidFill>
                <a:latin typeface="+mn-ea"/>
              </a:rPr>
              <a:t>第一步：使用一个名为 </a:t>
            </a:r>
            <a:r>
              <a:rPr lang="en-US" altLang="zh-CN" sz="2800" dirty="0">
                <a:solidFill>
                  <a:srgbClr val="333333"/>
                </a:solidFill>
                <a:latin typeface="+mn-ea"/>
              </a:rPr>
              <a:t>miles </a:t>
            </a:r>
            <a:r>
              <a:rPr lang="zh-CN" altLang="en-US" sz="2800" dirty="0">
                <a:solidFill>
                  <a:srgbClr val="333333"/>
                </a:solidFill>
                <a:latin typeface="+mn-ea"/>
              </a:rPr>
              <a:t>初始值为 </a:t>
            </a:r>
            <a:r>
              <a:rPr lang="en-US" altLang="zh-CN" sz="2800" dirty="0">
                <a:solidFill>
                  <a:srgbClr val="333333"/>
                </a:solidFill>
                <a:latin typeface="+mn-ea"/>
              </a:rPr>
              <a:t>100 </a:t>
            </a:r>
            <a:r>
              <a:rPr lang="zh-CN" altLang="en-US" sz="2800" dirty="0">
                <a:solidFill>
                  <a:srgbClr val="333333"/>
                </a:solidFill>
                <a:latin typeface="+mn-ea"/>
              </a:rPr>
              <a:t>的实数变量。</a:t>
            </a:r>
            <a:endParaRPr lang="en-US" altLang="zh-CN" sz="2800" dirty="0">
              <a:solidFill>
                <a:srgbClr val="333333"/>
              </a:solidFill>
              <a:latin typeface="+mn-ea"/>
            </a:endParaRPr>
          </a:p>
          <a:p>
            <a:pPr marL="457200" indent="-457200">
              <a:buFont typeface="Arial" panose="020B0604020202020204" pitchFamily="34" charset="0"/>
              <a:buChar char="•"/>
            </a:pPr>
            <a:r>
              <a:rPr lang="zh-CN" altLang="en-US" sz="2800" dirty="0">
                <a:solidFill>
                  <a:srgbClr val="333333"/>
                </a:solidFill>
                <a:latin typeface="+mn-ea"/>
              </a:rPr>
              <a:t>第二步：将 </a:t>
            </a:r>
            <a:r>
              <a:rPr lang="en-US" altLang="zh-CN" sz="2800" dirty="0">
                <a:solidFill>
                  <a:srgbClr val="333333"/>
                </a:solidFill>
                <a:latin typeface="+mn-ea"/>
              </a:rPr>
              <a:t>miles </a:t>
            </a:r>
            <a:r>
              <a:rPr lang="zh-CN" altLang="en-US" sz="2800" dirty="0">
                <a:solidFill>
                  <a:srgbClr val="333333"/>
                </a:solidFill>
                <a:latin typeface="+mn-ea"/>
              </a:rPr>
              <a:t>乘以 </a:t>
            </a:r>
            <a:r>
              <a:rPr lang="en-US" altLang="zh-CN" sz="2800" dirty="0">
                <a:solidFill>
                  <a:srgbClr val="333333"/>
                </a:solidFill>
                <a:latin typeface="+mn-ea"/>
              </a:rPr>
              <a:t>1.609 </a:t>
            </a:r>
            <a:r>
              <a:rPr lang="zh-CN" altLang="en-US" sz="2800" dirty="0">
                <a:solidFill>
                  <a:srgbClr val="333333"/>
                </a:solidFill>
                <a:latin typeface="+mn-ea"/>
              </a:rPr>
              <a:t>并将它赋值给一个名为 </a:t>
            </a:r>
            <a:r>
              <a:rPr lang="en-US" altLang="zh-CN" sz="2800" dirty="0">
                <a:solidFill>
                  <a:srgbClr val="333333"/>
                </a:solidFill>
                <a:latin typeface="+mn-ea"/>
              </a:rPr>
              <a:t>kilometers </a:t>
            </a:r>
            <a:r>
              <a:rPr lang="zh-CN" altLang="en-US" sz="2800" dirty="0">
                <a:solidFill>
                  <a:srgbClr val="333333"/>
                </a:solidFill>
                <a:latin typeface="+mn-ea"/>
              </a:rPr>
              <a:t>的变量。</a:t>
            </a:r>
            <a:endParaRPr lang="en-US" altLang="zh-CN" sz="2800" dirty="0">
              <a:solidFill>
                <a:srgbClr val="333333"/>
              </a:solidFill>
              <a:latin typeface="+mn-ea"/>
            </a:endParaRPr>
          </a:p>
          <a:p>
            <a:pPr marL="457200" indent="-457200">
              <a:buFont typeface="Arial" panose="020B0604020202020204" pitchFamily="34" charset="0"/>
              <a:buChar char="•"/>
            </a:pPr>
            <a:r>
              <a:rPr lang="zh-CN" altLang="en-US" sz="2800" dirty="0">
                <a:solidFill>
                  <a:srgbClr val="333333"/>
                </a:solidFill>
                <a:latin typeface="+mn-ea"/>
              </a:rPr>
              <a:t>第三步：显示 </a:t>
            </a:r>
            <a:r>
              <a:rPr lang="en-US" altLang="zh-CN" sz="2800" dirty="0">
                <a:solidFill>
                  <a:srgbClr val="333333"/>
                </a:solidFill>
                <a:latin typeface="+mn-ea"/>
              </a:rPr>
              <a:t>kilometers </a:t>
            </a:r>
            <a:r>
              <a:rPr lang="zh-CN" altLang="en-US" sz="2800" dirty="0">
                <a:solidFill>
                  <a:srgbClr val="333333"/>
                </a:solidFill>
                <a:latin typeface="+mn-ea"/>
              </a:rPr>
              <a:t>的值，小数部分保留两位。</a:t>
            </a:r>
            <a:endParaRPr lang="en-US" altLang="zh-CN" sz="2800" dirty="0">
              <a:solidFill>
                <a:srgbClr val="333333"/>
              </a:solidFill>
              <a:latin typeface="+mn-ea"/>
            </a:endParaRPr>
          </a:p>
        </p:txBody>
      </p:sp>
    </p:spTree>
    <p:extLst>
      <p:ext uri="{BB962C8B-B14F-4D97-AF65-F5344CB8AC3E}">
        <p14:creationId xmlns:p14="http://schemas.microsoft.com/office/powerpoint/2010/main" val="2029515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输入变量的案例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7955682" y="4311828"/>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8" y="1664919"/>
            <a:ext cx="6561928" cy="2800767"/>
          </a:xfrm>
          <a:prstGeom prst="rect">
            <a:avLst/>
          </a:prstGeom>
          <a:noFill/>
          <a:ln>
            <a:solidFill>
              <a:schemeClr val="bg1">
                <a:lumMod val="75000"/>
              </a:schemeClr>
            </a:solidFill>
          </a:ln>
        </p:spPr>
        <p:txBody>
          <a:bodyPr wrap="square" rtlCol="0">
            <a:spAutoFit/>
          </a:bodyPr>
          <a:lstStyle/>
          <a:p>
            <a:r>
              <a:rPr lang="en-US" altLang="zh-CN" sz="1600" dirty="0">
                <a:latin typeface="Consolas" panose="020B0609020204030204" pitchFamily="49" charset="0"/>
              </a:rPr>
              <a:t>/*io simple*/</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int </a:t>
            </a:r>
            <a:r>
              <a:rPr lang="en-US" altLang="zh-CN" sz="1600" dirty="0" err="1">
                <a:latin typeface="Consolas" panose="020B0609020204030204" pitchFamily="49" charset="0"/>
              </a:rPr>
              <a:t>a,b,c</a:t>
            </a:r>
            <a:r>
              <a:rPr lang="en-US" altLang="zh-CN" sz="1600" dirty="0">
                <a:latin typeface="Consolas" panose="020B0609020204030204" pitchFamily="49" charset="0"/>
              </a:rPr>
              <a:t>;</a:t>
            </a:r>
          </a:p>
          <a:p>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a:t>
            </a:r>
            <a:r>
              <a:rPr lang="zh-CN" altLang="en-US" sz="1600" dirty="0">
                <a:latin typeface="Consolas" panose="020B0609020204030204" pitchFamily="49" charset="0"/>
              </a:rPr>
              <a:t>请输入：</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b="1"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d%d</a:t>
            </a:r>
            <a:r>
              <a:rPr lang="en-US" altLang="zh-CN" sz="1600" b="1" dirty="0">
                <a:solidFill>
                  <a:srgbClr val="C00000"/>
                </a:solidFill>
                <a:latin typeface="Consolas" panose="020B0609020204030204" pitchFamily="49" charset="0"/>
              </a:rPr>
              <a:t>,</a:t>
            </a:r>
            <a:r>
              <a:rPr lang="en-US" altLang="zh-CN" sz="1600" dirty="0">
                <a:latin typeface="Consolas" panose="020B0609020204030204" pitchFamily="49" charset="0"/>
              </a:rPr>
              <a:t>%</a:t>
            </a:r>
            <a:r>
              <a:rPr lang="en-US" altLang="zh-CN" sz="1600" dirty="0" err="1">
                <a:latin typeface="Consolas" panose="020B0609020204030204" pitchFamily="49" charset="0"/>
              </a:rPr>
              <a:t>d",</a:t>
            </a:r>
            <a:r>
              <a:rPr lang="en-US" altLang="zh-CN" sz="1600" dirty="0" err="1">
                <a:solidFill>
                  <a:srgbClr val="C00000"/>
                </a:solidFill>
                <a:latin typeface="Consolas" panose="020B0609020204030204" pitchFamily="49" charset="0"/>
              </a:rPr>
              <a:t>&amp;</a:t>
            </a:r>
            <a:r>
              <a:rPr lang="en-US" altLang="zh-CN" sz="1600" dirty="0" err="1">
                <a:latin typeface="Consolas" panose="020B0609020204030204" pitchFamily="49" charset="0"/>
              </a:rPr>
              <a:t>a,</a:t>
            </a:r>
            <a:r>
              <a:rPr lang="en-US" altLang="zh-CN" sz="1600" dirty="0" err="1">
                <a:solidFill>
                  <a:srgbClr val="C00000"/>
                </a:solidFill>
                <a:latin typeface="Consolas" panose="020B0609020204030204" pitchFamily="49" charset="0"/>
              </a:rPr>
              <a:t>&amp;</a:t>
            </a:r>
            <a:r>
              <a:rPr lang="en-US" altLang="zh-CN" sz="1600" dirty="0" err="1">
                <a:latin typeface="Consolas" panose="020B0609020204030204" pitchFamily="49" charset="0"/>
              </a:rPr>
              <a:t>b,</a:t>
            </a:r>
            <a:r>
              <a:rPr lang="en-US" altLang="zh-CN" sz="1600" dirty="0" err="1">
                <a:solidFill>
                  <a:srgbClr val="C00000"/>
                </a:solidFill>
                <a:latin typeface="Consolas" panose="020B0609020204030204" pitchFamily="49" charset="0"/>
              </a:rPr>
              <a:t>&amp;</a:t>
            </a:r>
            <a:r>
              <a:rPr lang="en-US" altLang="zh-CN" sz="1600" dirty="0" err="1">
                <a:latin typeface="Consolas" panose="020B0609020204030204" pitchFamily="49" charset="0"/>
              </a:rPr>
              <a:t>c</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a:t>
            </a:r>
            <a:r>
              <a:rPr lang="en-US" altLang="zh-CN" sz="1600" dirty="0" err="1">
                <a:latin typeface="Consolas" panose="020B0609020204030204" pitchFamily="49" charset="0"/>
              </a:rPr>
              <a:t>d,%d,%d</a:t>
            </a:r>
            <a:r>
              <a:rPr lang="en-US" altLang="zh-CN" sz="1600" dirty="0">
                <a:latin typeface="Consolas" panose="020B0609020204030204" pitchFamily="49" charset="0"/>
              </a:rPr>
              <a:t>\n",</a:t>
            </a:r>
            <a:r>
              <a:rPr lang="en-US" altLang="zh-CN" sz="1600" dirty="0" err="1">
                <a:latin typeface="Consolas" panose="020B0609020204030204" pitchFamily="49" charset="0"/>
              </a:rPr>
              <a:t>a,b,c</a:t>
            </a:r>
            <a:r>
              <a:rPr lang="en-US" altLang="zh-CN" sz="1600" dirty="0">
                <a:latin typeface="Consolas" panose="020B0609020204030204" pitchFamily="49" charset="0"/>
              </a:rPr>
              <a:t>);</a:t>
            </a:r>
          </a:p>
          <a:p>
            <a:r>
              <a:rPr lang="en-US" altLang="zh-CN" sz="1600" dirty="0">
                <a:latin typeface="Consolas" panose="020B0609020204030204" pitchFamily="49" charset="0"/>
              </a:rPr>
              <a:t>	return 0; </a:t>
            </a:r>
          </a:p>
          <a:p>
            <a:r>
              <a:rPr lang="en-US" altLang="zh-CN" sz="1600" dirty="0">
                <a:latin typeface="Consolas" panose="020B0609020204030204" pitchFamily="49" charset="0"/>
              </a:rPr>
              <a:t>} </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050881" y="4681160"/>
            <a:ext cx="2802005" cy="1384995"/>
          </a:xfrm>
          <a:prstGeom prst="rect">
            <a:avLst/>
          </a:prstGeom>
          <a:noFill/>
          <a:ln>
            <a:solidFill>
              <a:schemeClr val="tx1"/>
            </a:solidFill>
          </a:ln>
        </p:spPr>
        <p:txBody>
          <a:bodyPr wrap="square">
            <a:spAutoFit/>
          </a:bodyPr>
          <a:lstStyle/>
          <a:p>
            <a:r>
              <a:rPr lang="zh-CN" altLang="en-US" sz="1200" dirty="0"/>
              <a:t>请输入：</a:t>
            </a:r>
            <a:r>
              <a:rPr lang="en-US" altLang="zh-CN" sz="1200" dirty="0"/>
              <a:t>1 2,3</a:t>
            </a:r>
          </a:p>
          <a:p>
            <a:r>
              <a:rPr lang="en-US" altLang="zh-CN" sz="1200" dirty="0"/>
              <a:t>1,2,3</a:t>
            </a:r>
          </a:p>
          <a:p>
            <a:endParaRPr lang="en-US" altLang="zh-CN" sz="1200" dirty="0"/>
          </a:p>
          <a:p>
            <a:r>
              <a:rPr lang="en-US" altLang="zh-CN" sz="1200" dirty="0"/>
              <a:t>--------------------------------</a:t>
            </a:r>
          </a:p>
          <a:p>
            <a:r>
              <a:rPr lang="en-US" altLang="zh-CN" sz="1200" dirty="0"/>
              <a:t>Process exited after 6.917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7955682" y="1662166"/>
            <a:ext cx="3363542" cy="2462213"/>
          </a:xfrm>
          <a:prstGeom prst="rect">
            <a:avLst/>
          </a:prstGeom>
          <a:noFill/>
        </p:spPr>
        <p:txBody>
          <a:bodyPr wrap="square" rtlCol="0">
            <a:spAutoFit/>
          </a:bodyPr>
          <a:lstStyle/>
          <a:p>
            <a:r>
              <a:rPr lang="zh-CN" altLang="en-US" dirty="0"/>
              <a:t>使用 </a:t>
            </a:r>
            <a:r>
              <a:rPr lang="en-US" altLang="zh-CN" dirty="0" err="1"/>
              <a:t>scanf</a:t>
            </a:r>
            <a:r>
              <a:rPr lang="en-US" altLang="zh-CN" dirty="0"/>
              <a:t> </a:t>
            </a:r>
            <a:r>
              <a:rPr lang="zh-CN" altLang="en-US" dirty="0"/>
              <a:t>从标准输入读入；</a:t>
            </a:r>
            <a:endParaRPr lang="en-US" altLang="zh-CN" dirty="0"/>
          </a:p>
          <a:p>
            <a:r>
              <a:rPr lang="en-US" altLang="zh-CN" dirty="0" err="1"/>
              <a:t>scanf</a:t>
            </a:r>
            <a:r>
              <a:rPr lang="en-US" altLang="zh-CN" dirty="0"/>
              <a:t> </a:t>
            </a:r>
            <a:r>
              <a:rPr lang="zh-CN" altLang="en-US" dirty="0"/>
              <a:t>语法格式：</a:t>
            </a:r>
            <a:endParaRPr lang="en-US" altLang="zh-CN" dirty="0"/>
          </a:p>
          <a:p>
            <a:pPr marL="285750" indent="-285750">
              <a:buFont typeface="Arial" panose="020B0604020202020204" pitchFamily="34" charset="0"/>
              <a:buChar char="•"/>
            </a:pPr>
            <a:r>
              <a:rPr lang="en-US" altLang="zh-CN" dirty="0" err="1"/>
              <a:t>scanf</a:t>
            </a:r>
            <a:r>
              <a:rPr lang="en-US" altLang="zh-CN" dirty="0"/>
              <a:t>(</a:t>
            </a:r>
            <a:r>
              <a:rPr lang="zh-CN" altLang="en-US" dirty="0"/>
              <a:t> 格式化字符串，变量</a:t>
            </a:r>
            <a:r>
              <a:rPr lang="zh-CN" altLang="en-US" b="1" dirty="0">
                <a:solidFill>
                  <a:srgbClr val="C00000"/>
                </a:solidFill>
              </a:rPr>
              <a:t>地址</a:t>
            </a:r>
            <a:r>
              <a:rPr lang="zh-CN" altLang="en-US" dirty="0"/>
              <a:t>列表）</a:t>
            </a:r>
            <a:r>
              <a:rPr lang="en-US" altLang="zh-CN" dirty="0"/>
              <a:t>;</a:t>
            </a:r>
          </a:p>
          <a:p>
            <a:pPr marL="285750" indent="-285750">
              <a:buFont typeface="Arial" panose="020B0604020202020204" pitchFamily="34" charset="0"/>
              <a:buChar char="•"/>
            </a:pPr>
            <a:r>
              <a:rPr lang="zh-CN" altLang="en-US" dirty="0"/>
              <a:t>格式化字符串：</a:t>
            </a:r>
            <a:endParaRPr lang="en-US" altLang="zh-CN" dirty="0"/>
          </a:p>
          <a:p>
            <a:pPr marL="742950" lvl="1" indent="-285750">
              <a:buFont typeface="Wingdings" panose="05000000000000000000" pitchFamily="2" charset="2"/>
              <a:buChar char="Ø"/>
            </a:pPr>
            <a:r>
              <a:rPr lang="en-US" altLang="zh-CN" sz="1600" dirty="0"/>
              <a:t>% </a:t>
            </a:r>
            <a:r>
              <a:rPr lang="zh-CN" altLang="en-US" sz="1600" dirty="0"/>
              <a:t>是输出引导符</a:t>
            </a:r>
            <a:endParaRPr lang="en-US" altLang="zh-CN" sz="1600" dirty="0"/>
          </a:p>
          <a:p>
            <a:pPr marL="742950" lvl="1" indent="-285750">
              <a:buFont typeface="Wingdings" panose="05000000000000000000" pitchFamily="2" charset="2"/>
              <a:buChar char="Ø"/>
            </a:pPr>
            <a:r>
              <a:rPr lang="en-US" altLang="zh-CN" sz="1600" b="1" dirty="0" err="1"/>
              <a:t>hhd,hd</a:t>
            </a:r>
            <a:r>
              <a:rPr lang="en-US" altLang="zh-CN" sz="1600" b="1" dirty="0"/>
              <a:t>, d, </a:t>
            </a:r>
            <a:r>
              <a:rPr lang="en-US" altLang="zh-CN" sz="1600" b="1" dirty="0" err="1"/>
              <a:t>ld</a:t>
            </a:r>
            <a:r>
              <a:rPr lang="en-US" altLang="zh-CN" sz="1600" b="1" dirty="0"/>
              <a:t> </a:t>
            </a:r>
            <a:r>
              <a:rPr lang="zh-CN" altLang="en-US" sz="1600" dirty="0"/>
              <a:t>对应 </a:t>
            </a:r>
            <a:r>
              <a:rPr lang="en-US" altLang="zh-CN" sz="1600" dirty="0"/>
              <a:t>char, short, int, long int</a:t>
            </a:r>
          </a:p>
          <a:p>
            <a:pPr marL="742950" lvl="1" indent="-285750">
              <a:buFont typeface="Wingdings" panose="05000000000000000000" pitchFamily="2" charset="2"/>
              <a:buChar char="Ø"/>
            </a:pPr>
            <a:r>
              <a:rPr lang="en-US" altLang="zh-CN" sz="1600" b="1" dirty="0" err="1"/>
              <a:t>f,lf</a:t>
            </a:r>
            <a:r>
              <a:rPr lang="en-US" altLang="zh-CN" sz="1600" b="1" dirty="0"/>
              <a:t> </a:t>
            </a:r>
            <a:r>
              <a:rPr lang="zh-CN" altLang="en-US" sz="1600" dirty="0"/>
              <a:t>对应 </a:t>
            </a:r>
            <a:r>
              <a:rPr lang="en-US" altLang="zh-CN" sz="1600" dirty="0"/>
              <a:t>float,</a:t>
            </a:r>
            <a:r>
              <a:rPr lang="zh-CN" altLang="en-US" sz="1600" dirty="0"/>
              <a:t> </a:t>
            </a:r>
            <a:r>
              <a:rPr lang="en-US" altLang="zh-CN" sz="1600" dirty="0"/>
              <a:t>double</a:t>
            </a:r>
          </a:p>
        </p:txBody>
      </p:sp>
      <p:sp>
        <p:nvSpPr>
          <p:cNvPr id="3" name="文本框 2">
            <a:extLst>
              <a:ext uri="{FF2B5EF4-FFF2-40B4-BE49-F238E27FC236}">
                <a16:creationId xmlns:a16="http://schemas.microsoft.com/office/drawing/2014/main" id="{9DA2BCC9-D2B2-7267-21A5-C304BEE204DC}"/>
              </a:ext>
            </a:extLst>
          </p:cNvPr>
          <p:cNvSpPr txBox="1"/>
          <p:nvPr/>
        </p:nvSpPr>
        <p:spPr>
          <a:xfrm>
            <a:off x="986908" y="4773492"/>
            <a:ext cx="5775940" cy="1200329"/>
          </a:xfrm>
          <a:prstGeom prst="rect">
            <a:avLst/>
          </a:prstGeom>
          <a:noFill/>
        </p:spPr>
        <p:txBody>
          <a:bodyPr wrap="none" rtlCol="0">
            <a:spAutoFit/>
          </a:bodyPr>
          <a:lstStyle/>
          <a:p>
            <a:r>
              <a:rPr lang="zh-CN" altLang="en-US" dirty="0">
                <a:solidFill>
                  <a:srgbClr val="C00000"/>
                </a:solidFill>
              </a:rPr>
              <a:t>注意：</a:t>
            </a:r>
            <a:endParaRPr lang="en-US" altLang="zh-CN" dirty="0">
              <a:solidFill>
                <a:srgbClr val="C00000"/>
              </a:solidFill>
            </a:endParaRPr>
          </a:p>
          <a:p>
            <a:r>
              <a:rPr lang="zh-CN" altLang="en-US" dirty="0">
                <a:solidFill>
                  <a:srgbClr val="C00000"/>
                </a:solidFill>
              </a:rPr>
              <a:t>①格式化字符中普通字符必须与输入的一样；</a:t>
            </a:r>
            <a:endParaRPr lang="en-US" altLang="zh-CN" dirty="0">
              <a:solidFill>
                <a:srgbClr val="C00000"/>
              </a:solidFill>
            </a:endParaRPr>
          </a:p>
          <a:p>
            <a:r>
              <a:rPr lang="zh-CN" altLang="zh-CN" dirty="0">
                <a:solidFill>
                  <a:srgbClr val="C00000"/>
                </a:solidFill>
              </a:rPr>
              <a:t>②</a:t>
            </a:r>
            <a:r>
              <a:rPr lang="zh-CN" altLang="en-US" dirty="0">
                <a:solidFill>
                  <a:srgbClr val="C00000"/>
                </a:solidFill>
              </a:rPr>
              <a:t>变量数量和类型必须与格式化字符串需要的类型一致</a:t>
            </a:r>
            <a:r>
              <a:rPr lang="en-US" altLang="zh-CN" dirty="0">
                <a:solidFill>
                  <a:srgbClr val="C00000"/>
                </a:solidFill>
              </a:rPr>
              <a:t>;</a:t>
            </a:r>
          </a:p>
          <a:p>
            <a:r>
              <a:rPr lang="en-US" altLang="zh-CN" dirty="0">
                <a:solidFill>
                  <a:srgbClr val="C00000"/>
                </a:solidFill>
              </a:rPr>
              <a:t>③</a:t>
            </a:r>
            <a:r>
              <a:rPr lang="zh-CN" altLang="en-US" dirty="0">
                <a:solidFill>
                  <a:srgbClr val="C00000"/>
                </a:solidFill>
              </a:rPr>
              <a:t>必须是变量的地址。</a:t>
            </a:r>
          </a:p>
        </p:txBody>
      </p:sp>
    </p:spTree>
    <p:extLst>
      <p:ext uri="{BB962C8B-B14F-4D97-AF65-F5344CB8AC3E}">
        <p14:creationId xmlns:p14="http://schemas.microsoft.com/office/powerpoint/2010/main" val="138937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err="1">
                <a:gradFill>
                  <a:gsLst>
                    <a:gs pos="100000">
                      <a:schemeClr val="bg1"/>
                    </a:gs>
                    <a:gs pos="0">
                      <a:schemeClr val="bg1">
                        <a:lumMod val="95000"/>
                      </a:schemeClr>
                    </a:gs>
                  </a:gsLst>
                  <a:path path="circle">
                    <a:fillToRect l="100000" b="100000"/>
                  </a:path>
                </a:gradFill>
                <a:ea typeface="微软雅黑" panose="020B0503020204020204" pitchFamily="34" charset="-122"/>
              </a:rPr>
              <a:t>Printf</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和 </a:t>
            </a:r>
            <a:r>
              <a:rPr lang="en-US" altLang="zh-CN" sz="2800" b="1" kern="0" dirty="0" err="1">
                <a:gradFill>
                  <a:gsLst>
                    <a:gs pos="100000">
                      <a:schemeClr val="bg1"/>
                    </a:gs>
                    <a:gs pos="0">
                      <a:schemeClr val="bg1">
                        <a:lumMod val="95000"/>
                      </a:schemeClr>
                    </a:gs>
                  </a:gsLst>
                  <a:path path="circle">
                    <a:fillToRect l="100000" b="100000"/>
                  </a:path>
                </a:gradFill>
                <a:ea typeface="微软雅黑" panose="020B0503020204020204" pitchFamily="34" charset="-122"/>
              </a:rPr>
              <a:t>scanf</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函数格式简表</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597160" y="2044005"/>
            <a:ext cx="10804849"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2800" dirty="0" err="1">
                <a:latin typeface="+mn-ea"/>
              </a:rPr>
              <a:t>printf</a:t>
            </a:r>
            <a:r>
              <a:rPr lang="zh-CN" altLang="en-US" sz="2800" dirty="0">
                <a:latin typeface="+mn-ea"/>
              </a:rPr>
              <a:t>调用格式：</a:t>
            </a:r>
            <a:r>
              <a:rPr lang="zh-CN" altLang="zh-CN" sz="2800" dirty="0">
                <a:latin typeface="+mn-ea"/>
              </a:rPr>
              <a:t>printf("&lt;格式化字符串&gt;", &lt;参量表&gt;); </a:t>
            </a:r>
            <a:endParaRPr lang="en-US" altLang="zh-CN" sz="2800" dirty="0">
              <a:latin typeface="+mn-ea"/>
            </a:endParaRPr>
          </a:p>
          <a:p>
            <a:pPr eaLnBrk="0" fontAlgn="base" hangingPunct="0">
              <a:spcBef>
                <a:spcPct val="0"/>
              </a:spcBef>
              <a:spcAft>
                <a:spcPct val="0"/>
              </a:spcAft>
            </a:pPr>
            <a:r>
              <a:rPr lang="en-US" altLang="zh-CN" sz="2800" dirty="0" err="1">
                <a:latin typeface="+mn-ea"/>
              </a:rPr>
              <a:t>scanf</a:t>
            </a:r>
            <a:r>
              <a:rPr lang="zh-CN" altLang="en-US" sz="2800" dirty="0">
                <a:latin typeface="+mn-ea"/>
              </a:rPr>
              <a:t>调用格式：</a:t>
            </a:r>
            <a:r>
              <a:rPr lang="en-US" altLang="zh-CN" sz="2800" dirty="0" err="1">
                <a:latin typeface="+mn-ea"/>
              </a:rPr>
              <a:t>scanf</a:t>
            </a:r>
            <a:r>
              <a:rPr lang="en-US" altLang="zh-CN" sz="2800" dirty="0">
                <a:latin typeface="+mn-ea"/>
              </a:rPr>
              <a:t>("&lt;</a:t>
            </a:r>
            <a:r>
              <a:rPr lang="zh-CN" altLang="en-US" sz="2800" dirty="0">
                <a:latin typeface="+mn-ea"/>
              </a:rPr>
              <a:t>格式化字符串</a:t>
            </a:r>
            <a:r>
              <a:rPr lang="en-US" altLang="zh-CN" sz="2800" dirty="0">
                <a:latin typeface="+mn-ea"/>
              </a:rPr>
              <a:t>&gt;"</a:t>
            </a:r>
            <a:r>
              <a:rPr lang="zh-CN" altLang="en-US" sz="2800" dirty="0">
                <a:latin typeface="+mn-ea"/>
              </a:rPr>
              <a:t>，</a:t>
            </a:r>
            <a:r>
              <a:rPr lang="en-US" altLang="zh-CN" sz="2800" dirty="0">
                <a:latin typeface="+mn-ea"/>
              </a:rPr>
              <a:t>&lt;</a:t>
            </a:r>
            <a:r>
              <a:rPr lang="zh-CN" altLang="en-US" sz="2800" dirty="0">
                <a:latin typeface="+mn-ea"/>
              </a:rPr>
              <a:t>地址表</a:t>
            </a:r>
            <a:r>
              <a:rPr lang="en-US" altLang="zh-CN" sz="2800" dirty="0">
                <a:latin typeface="+mn-ea"/>
              </a:rPr>
              <a:t>&gt;);</a:t>
            </a:r>
          </a:p>
          <a:p>
            <a:pPr eaLnBrk="0" fontAlgn="base" hangingPunct="0">
              <a:spcBef>
                <a:spcPct val="0"/>
              </a:spcBef>
              <a:spcAft>
                <a:spcPct val="0"/>
              </a:spcAft>
            </a:pPr>
            <a:r>
              <a:rPr lang="zh-CN" altLang="en-US" sz="2800" dirty="0">
                <a:latin typeface="+mn-ea"/>
              </a:rPr>
              <a:t>常见格式化控制符：</a:t>
            </a:r>
            <a:endParaRPr lang="en-US" altLang="zh-CN" sz="2800" dirty="0">
              <a:latin typeface="+mn-ea"/>
            </a:endParaRPr>
          </a:p>
          <a:p>
            <a:pPr eaLnBrk="0" fontAlgn="base" hangingPunct="0">
              <a:spcBef>
                <a:spcPct val="0"/>
              </a:spcBef>
              <a:spcAft>
                <a:spcPct val="0"/>
              </a:spcAft>
            </a:pPr>
            <a:endParaRPr lang="en-US" altLang="zh-CN" sz="2800" dirty="0">
              <a:latin typeface="+mn-ea"/>
            </a:endParaRPr>
          </a:p>
          <a:p>
            <a:pPr marL="0" marR="0" lvl="0" indent="0" algn="l" defTabSz="914400" rtl="0" eaLnBrk="0" fontAlgn="base" latinLnBrk="0" hangingPunct="0">
              <a:lnSpc>
                <a:spcPct val="100000"/>
              </a:lnSpc>
              <a:spcBef>
                <a:spcPct val="0"/>
              </a:spcBef>
              <a:spcAft>
                <a:spcPct val="0"/>
              </a:spcAft>
              <a:buClrTx/>
              <a:buSzTx/>
              <a:buFontTx/>
              <a:buNone/>
              <a:tabLst/>
            </a:pPr>
            <a:endParaRPr lang="zh-CN" altLang="zh-CN" sz="2800" dirty="0">
              <a:latin typeface="+mn-ea"/>
            </a:endParaRPr>
          </a:p>
        </p:txBody>
      </p:sp>
      <p:pic>
        <p:nvPicPr>
          <p:cNvPr id="9" name="图片 8">
            <a:extLst>
              <a:ext uri="{FF2B5EF4-FFF2-40B4-BE49-F238E27FC236}">
                <a16:creationId xmlns:a16="http://schemas.microsoft.com/office/drawing/2014/main" id="{6BC1522B-0CF8-41A0-8005-7C4DC9015DDA}"/>
              </a:ext>
            </a:extLst>
          </p:cNvPr>
          <p:cNvPicPr>
            <a:picLocks noChangeAspect="1"/>
          </p:cNvPicPr>
          <p:nvPr/>
        </p:nvPicPr>
        <p:blipFill>
          <a:blip r:embed="rId4"/>
          <a:stretch>
            <a:fillRect/>
          </a:stretch>
        </p:blipFill>
        <p:spPr>
          <a:xfrm>
            <a:off x="597161" y="3429000"/>
            <a:ext cx="4873688" cy="2918713"/>
          </a:xfrm>
          <a:prstGeom prst="rect">
            <a:avLst/>
          </a:prstGeom>
        </p:spPr>
      </p:pic>
      <p:pic>
        <p:nvPicPr>
          <p:cNvPr id="11" name="图片 10">
            <a:extLst>
              <a:ext uri="{FF2B5EF4-FFF2-40B4-BE49-F238E27FC236}">
                <a16:creationId xmlns:a16="http://schemas.microsoft.com/office/drawing/2014/main" id="{24354056-866A-43D2-A6EC-91589ADA07FB}"/>
              </a:ext>
            </a:extLst>
          </p:cNvPr>
          <p:cNvPicPr>
            <a:picLocks noChangeAspect="1"/>
          </p:cNvPicPr>
          <p:nvPr/>
        </p:nvPicPr>
        <p:blipFill>
          <a:blip r:embed="rId5"/>
          <a:stretch>
            <a:fillRect/>
          </a:stretch>
        </p:blipFill>
        <p:spPr>
          <a:xfrm>
            <a:off x="5470850" y="3429000"/>
            <a:ext cx="5931160" cy="2606266"/>
          </a:xfrm>
          <a:prstGeom prst="rect">
            <a:avLst/>
          </a:prstGeom>
        </p:spPr>
      </p:pic>
    </p:spTree>
    <p:extLst>
      <p:ext uri="{BB962C8B-B14F-4D97-AF65-F5344CB8AC3E}">
        <p14:creationId xmlns:p14="http://schemas.microsoft.com/office/powerpoint/2010/main" val="3701825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一个简单、完整的 </a:t>
            </a:r>
            <a:r>
              <a:rPr lang="en-US" altLang="zh-CN" sz="2800" b="1" dirty="0">
                <a:solidFill>
                  <a:schemeClr val="bg1"/>
                </a:solidFill>
              </a:rPr>
              <a:t>C </a:t>
            </a:r>
            <a:r>
              <a:rPr lang="zh-CN" altLang="en-US" sz="2800" b="1" dirty="0">
                <a:solidFill>
                  <a:schemeClr val="bg1"/>
                </a:solidFill>
              </a:rPr>
              <a:t>程序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8422020" y="4238064"/>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7" y="1664919"/>
            <a:ext cx="7279557" cy="4832092"/>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/*compute area*/</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/*define vars and constants*/ </a:t>
            </a:r>
          </a:p>
          <a:p>
            <a:r>
              <a:rPr lang="en-US" altLang="zh-CN" sz="1600" dirty="0">
                <a:latin typeface="Consolas" panose="020B0609020204030204" pitchFamily="49" charset="0"/>
              </a:rPr>
              <a:t>	double radius, area;</a:t>
            </a:r>
          </a:p>
          <a:p>
            <a:r>
              <a:rPr lang="en-US" altLang="zh-CN" sz="1600" dirty="0">
                <a:latin typeface="Consolas" panose="020B0609020204030204" pitchFamily="49" charset="0"/>
              </a:rPr>
              <a:t>	const double PI = 3.14;</a:t>
            </a:r>
          </a:p>
          <a:p>
            <a:r>
              <a:rPr lang="en-US" altLang="zh-CN" sz="1600" dirty="0">
                <a:latin typeface="Consolas" panose="020B0609020204030204" pitchFamily="49" charset="0"/>
              </a:rPr>
              <a:t>	</a:t>
            </a:r>
          </a:p>
          <a:p>
            <a:r>
              <a:rPr lang="en-US" altLang="zh-CN" sz="1600" dirty="0">
                <a:latin typeface="Consolas" panose="020B0609020204030204" pitchFamily="49" charset="0"/>
              </a:rPr>
              <a:t>	/*input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lf</a:t>
            </a:r>
            <a:r>
              <a:rPr lang="en-US" altLang="zh-CN" sz="1600" dirty="0">
                <a:latin typeface="Consolas" panose="020B0609020204030204" pitchFamily="49" charset="0"/>
              </a:rPr>
              <a:t>",&amp;radius);</a:t>
            </a:r>
          </a:p>
          <a:p>
            <a:r>
              <a:rPr lang="en-US" altLang="zh-CN" sz="1600" dirty="0">
                <a:latin typeface="Consolas" panose="020B0609020204030204" pitchFamily="49" charset="0"/>
              </a:rPr>
              <a:t>	</a:t>
            </a:r>
          </a:p>
          <a:p>
            <a:r>
              <a:rPr lang="en-US" altLang="zh-CN" sz="1600" dirty="0">
                <a:latin typeface="Consolas" panose="020B0609020204030204" pitchFamily="49" charset="0"/>
              </a:rPr>
              <a:t>	/*compute area*/</a:t>
            </a:r>
          </a:p>
          <a:p>
            <a:r>
              <a:rPr lang="en-US" altLang="zh-CN" sz="1600" dirty="0">
                <a:latin typeface="Consolas" panose="020B0609020204030204" pitchFamily="49" charset="0"/>
              </a:rPr>
              <a:t>	area = radius * radius * PI;</a:t>
            </a:r>
          </a:p>
          <a:p>
            <a:r>
              <a:rPr lang="en-US" altLang="zh-CN" sz="1600" dirty="0">
                <a:latin typeface="Consolas" panose="020B0609020204030204" pitchFamily="49" charset="0"/>
              </a:rPr>
              <a:t>	</a:t>
            </a:r>
          </a:p>
          <a:p>
            <a:r>
              <a:rPr lang="en-US" altLang="zh-CN" sz="1600" dirty="0">
                <a:latin typeface="Consolas" panose="020B0609020204030204" pitchFamily="49" charset="0"/>
              </a:rPr>
              <a:t>	/*output results*/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("the area for the circle of radius %</a:t>
            </a:r>
            <a:r>
              <a:rPr lang="en-US" altLang="zh-CN" sz="1600" dirty="0" err="1">
                <a:latin typeface="Consolas" panose="020B0609020204030204" pitchFamily="49" charset="0"/>
              </a:rPr>
              <a:t>lf</a:t>
            </a:r>
            <a:r>
              <a:rPr lang="en-US" altLang="zh-CN" sz="1600" dirty="0">
                <a:latin typeface="Consolas" panose="020B0609020204030204" pitchFamily="49" charset="0"/>
              </a:rPr>
              <a:t> is %</a:t>
            </a:r>
            <a:r>
              <a:rPr lang="en-US" altLang="zh-CN" sz="1600" dirty="0" err="1">
                <a:latin typeface="Consolas" panose="020B0609020204030204" pitchFamily="49" charset="0"/>
              </a:rPr>
              <a:t>lf</a:t>
            </a:r>
            <a:r>
              <a:rPr lang="en-US" altLang="zh-CN" sz="1600" dirty="0">
                <a:latin typeface="Consolas" panose="020B0609020204030204" pitchFamily="49" charset="0"/>
              </a:rPr>
              <a:t>", </a:t>
            </a:r>
          </a:p>
          <a:p>
            <a:r>
              <a:rPr lang="en-US" altLang="zh-CN" sz="1600" dirty="0">
                <a:latin typeface="Consolas" panose="020B0609020204030204" pitchFamily="49" charset="0"/>
              </a:rPr>
              <a:t>		radius, area);</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517219" y="4607396"/>
            <a:ext cx="2802005" cy="1384995"/>
          </a:xfrm>
          <a:prstGeom prst="rect">
            <a:avLst/>
          </a:prstGeom>
          <a:noFill/>
          <a:ln>
            <a:solidFill>
              <a:schemeClr val="tx1"/>
            </a:solidFill>
          </a:ln>
        </p:spPr>
        <p:txBody>
          <a:bodyPr wrap="square">
            <a:spAutoFit/>
          </a:bodyPr>
          <a:lstStyle/>
          <a:p>
            <a:r>
              <a:rPr lang="en-US" altLang="zh-CN" sz="1200" dirty="0"/>
              <a:t>input radius:5</a:t>
            </a:r>
          </a:p>
          <a:p>
            <a:r>
              <a:rPr lang="en-US" altLang="zh-CN" sz="1200" dirty="0"/>
              <a:t>the area for the circle of radius 5.000000 is 78.500000</a:t>
            </a:r>
          </a:p>
          <a:p>
            <a:r>
              <a:rPr lang="en-US" altLang="zh-CN" sz="1200" dirty="0"/>
              <a:t>--------------------------------</a:t>
            </a:r>
          </a:p>
          <a:p>
            <a:r>
              <a:rPr lang="en-US" altLang="zh-CN" sz="1200" dirty="0"/>
              <a:t>Process exited after 3.542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8517219" y="1664919"/>
            <a:ext cx="2574949" cy="2308324"/>
          </a:xfrm>
          <a:prstGeom prst="rect">
            <a:avLst/>
          </a:prstGeom>
          <a:noFill/>
        </p:spPr>
        <p:txBody>
          <a:bodyPr wrap="square" rtlCol="0">
            <a:spAutoFit/>
          </a:bodyPr>
          <a:lstStyle/>
          <a:p>
            <a:r>
              <a:rPr lang="zh-CN" altLang="en-US" dirty="0"/>
              <a:t>对于单一</a:t>
            </a:r>
            <a:r>
              <a:rPr lang="en-US" altLang="zh-CN" dirty="0"/>
              <a:t>main</a:t>
            </a:r>
            <a:r>
              <a:rPr lang="zh-CN" altLang="en-US" dirty="0"/>
              <a:t>函数的程序，多数会呈现四个步骤：</a:t>
            </a:r>
            <a:endParaRPr lang="en-US" altLang="zh-CN" dirty="0"/>
          </a:p>
          <a:p>
            <a:endParaRPr lang="en-US" altLang="zh-CN" dirty="0"/>
          </a:p>
          <a:p>
            <a:pPr marL="285750" indent="-285750">
              <a:buFont typeface="Arial" panose="020B0604020202020204" pitchFamily="34" charset="0"/>
              <a:buChar char="•"/>
            </a:pPr>
            <a:r>
              <a:rPr lang="zh-CN" altLang="en-US" dirty="0"/>
              <a:t>定义变量</a:t>
            </a:r>
            <a:endParaRPr lang="en-US" altLang="zh-CN" dirty="0"/>
          </a:p>
          <a:p>
            <a:pPr marL="285750" indent="-285750">
              <a:buFont typeface="Arial" panose="020B0604020202020204" pitchFamily="34" charset="0"/>
              <a:buChar char="•"/>
            </a:pPr>
            <a:r>
              <a:rPr lang="zh-CN" altLang="en-US" dirty="0"/>
              <a:t>输入数据</a:t>
            </a:r>
            <a:endParaRPr lang="en-US" altLang="zh-CN" dirty="0"/>
          </a:p>
          <a:p>
            <a:pPr marL="285750" indent="-285750">
              <a:buFont typeface="Arial" panose="020B0604020202020204" pitchFamily="34" charset="0"/>
              <a:buChar char="•"/>
            </a:pPr>
            <a:r>
              <a:rPr lang="zh-CN" altLang="en-US" dirty="0"/>
              <a:t>处理或计算</a:t>
            </a:r>
            <a:endParaRPr lang="en-US" altLang="zh-CN" dirty="0"/>
          </a:p>
          <a:p>
            <a:pPr marL="285750" indent="-285750">
              <a:buFont typeface="Arial" panose="020B0604020202020204" pitchFamily="34" charset="0"/>
              <a:buChar char="•"/>
            </a:pPr>
            <a:r>
              <a:rPr lang="zh-CN" altLang="en-US" dirty="0"/>
              <a:t>输出数据</a:t>
            </a:r>
          </a:p>
        </p:txBody>
      </p:sp>
    </p:spTree>
    <p:extLst>
      <p:ext uri="{BB962C8B-B14F-4D97-AF65-F5344CB8AC3E}">
        <p14:creationId xmlns:p14="http://schemas.microsoft.com/office/powerpoint/2010/main" val="2028350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常量（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constant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字面量（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literal</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261258" y="1856792"/>
            <a:ext cx="11635273" cy="3539430"/>
          </a:xfrm>
          <a:prstGeom prst="rect">
            <a:avLst/>
          </a:prstGeom>
          <a:noFill/>
        </p:spPr>
        <p:txBody>
          <a:bodyPr wrap="square" rtlCol="0">
            <a:spAutoFit/>
          </a:bodyPr>
          <a:lstStyle/>
          <a:p>
            <a:pPr algn="l" latinLnBrk="1"/>
            <a:r>
              <a:rPr lang="zh-CN" altLang="en-US" sz="2800" b="0" i="0" dirty="0">
                <a:solidFill>
                  <a:srgbClr val="333333"/>
                </a:solidFill>
                <a:effectLst/>
                <a:latin typeface="Helvetica Neue"/>
              </a:rPr>
              <a:t>常量是固定值，在程序执行期间不会改变。</a:t>
            </a:r>
            <a:endParaRPr lang="en-US" altLang="zh-CN" sz="2800" b="0" i="0" dirty="0">
              <a:solidFill>
                <a:srgbClr val="333333"/>
              </a:solidFill>
              <a:effectLst/>
              <a:latin typeface="Helvetica Neue"/>
            </a:endParaRPr>
          </a:p>
          <a:p>
            <a:pPr algn="l" latinLnBrk="1"/>
            <a:r>
              <a:rPr lang="zh-CN" altLang="en-US" sz="2800" b="0" i="0" dirty="0">
                <a:solidFill>
                  <a:srgbClr val="333333"/>
                </a:solidFill>
                <a:effectLst/>
                <a:latin typeface="Helvetica Neue"/>
              </a:rPr>
              <a:t>常量可以是任何的基本数据类型，比如整数常量、浮点常量、字符常量；也可以是复合数据类型（称为</a:t>
            </a:r>
            <a:r>
              <a:rPr lang="zh-CN" altLang="en-US" sz="2800" b="1" i="0" dirty="0">
                <a:solidFill>
                  <a:srgbClr val="333333"/>
                </a:solidFill>
                <a:effectLst/>
                <a:latin typeface="Helvetica Neue"/>
              </a:rPr>
              <a:t>字面量</a:t>
            </a:r>
            <a:r>
              <a:rPr lang="zh-CN" altLang="en-US" sz="2800" b="0" i="0" dirty="0">
                <a:solidFill>
                  <a:srgbClr val="333333"/>
                </a:solidFill>
                <a:effectLst/>
                <a:latin typeface="Helvetica Neue"/>
              </a:rPr>
              <a:t>），如字符串字面量。</a:t>
            </a:r>
            <a:endParaRPr lang="en-US" altLang="zh-CN" sz="2800" b="0" i="0" dirty="0">
              <a:solidFill>
                <a:srgbClr val="333333"/>
              </a:solidFill>
              <a:effectLst/>
              <a:latin typeface="Helvetica Neue"/>
            </a:endParaRPr>
          </a:p>
          <a:p>
            <a:pPr algn="l" latinLnBrk="1"/>
            <a:endParaRPr lang="zh-CN" altLang="en-US" sz="2800" b="0" i="0" dirty="0">
              <a:solidFill>
                <a:srgbClr val="333333"/>
              </a:solidFill>
              <a:effectLst/>
              <a:latin typeface="Helvetica Neue"/>
            </a:endParaRPr>
          </a:p>
          <a:p>
            <a:pPr algn="l" latinLnBrk="1"/>
            <a:r>
              <a:rPr lang="zh-CN" altLang="en-US" sz="2800" b="1" i="0" dirty="0">
                <a:solidFill>
                  <a:srgbClr val="333333"/>
                </a:solidFill>
                <a:effectLst/>
                <a:latin typeface="Helvetica Neue"/>
              </a:rPr>
              <a:t>常量</a:t>
            </a:r>
            <a:r>
              <a:rPr lang="zh-CN" altLang="en-US" sz="2800" b="0" i="0" dirty="0">
                <a:solidFill>
                  <a:srgbClr val="333333"/>
                </a:solidFill>
                <a:effectLst/>
                <a:latin typeface="Helvetica Neue"/>
              </a:rPr>
              <a:t>就像是常规的变量，只不过常量的值在定义后不能进行修改。</a:t>
            </a:r>
            <a:endParaRPr lang="en-US" altLang="zh-CN" sz="2800" b="0" i="0" dirty="0">
              <a:solidFill>
                <a:srgbClr val="333333"/>
              </a:solidFill>
              <a:effectLst/>
              <a:latin typeface="Helvetica Neue"/>
            </a:endParaRPr>
          </a:p>
          <a:p>
            <a:pPr algn="l" latinLnBrk="1"/>
            <a:endParaRPr lang="en-US" altLang="zh-CN" sz="2800" b="0" i="0" dirty="0">
              <a:solidFill>
                <a:srgbClr val="333333"/>
              </a:solidFill>
              <a:effectLst/>
              <a:latin typeface="Helvetica Neue"/>
            </a:endParaRPr>
          </a:p>
          <a:p>
            <a:pPr algn="l" latinLnBrk="1"/>
            <a:r>
              <a:rPr lang="zh-CN" altLang="en-US" sz="2800" dirty="0">
                <a:solidFill>
                  <a:srgbClr val="333333"/>
                </a:solidFill>
                <a:latin typeface="Helvetica Neue"/>
              </a:rPr>
              <a:t>常见的常量类型包括整数常量，浮点常量，字符常量，字符串字面量等。</a:t>
            </a:r>
            <a:endParaRPr lang="zh-CN" altLang="en-US" sz="2800" b="0" i="0" dirty="0">
              <a:solidFill>
                <a:srgbClr val="333333"/>
              </a:solidFill>
              <a:effectLst/>
              <a:latin typeface="Helvetica Neue"/>
            </a:endParaRPr>
          </a:p>
          <a:p>
            <a:endParaRPr lang="zh-CN" altLang="en-US" sz="2800" dirty="0"/>
          </a:p>
        </p:txBody>
      </p:sp>
    </p:spTree>
    <p:extLst>
      <p:ext uri="{BB962C8B-B14F-4D97-AF65-F5344CB8AC3E}">
        <p14:creationId xmlns:p14="http://schemas.microsoft.com/office/powerpoint/2010/main" val="1938097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整数常量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373910" y="1750283"/>
            <a:ext cx="11635273" cy="2308324"/>
          </a:xfrm>
          <a:prstGeom prst="rect">
            <a:avLst/>
          </a:prstGeom>
          <a:noFill/>
        </p:spPr>
        <p:txBody>
          <a:bodyPr wrap="square" rtlCol="0">
            <a:spAutoFit/>
          </a:bodyPr>
          <a:lstStyle/>
          <a:p>
            <a:pPr algn="l" latinLnBrk="1"/>
            <a:r>
              <a:rPr lang="zh-CN" altLang="en-US" sz="2400" b="0" i="0" dirty="0">
                <a:solidFill>
                  <a:srgbClr val="333333"/>
                </a:solidFill>
                <a:effectLst/>
                <a:latin typeface="Helvetica Neue"/>
              </a:rPr>
              <a:t>整数常量可以是</a:t>
            </a:r>
            <a:r>
              <a:rPr lang="zh-CN" altLang="en-US" sz="2400" b="1" i="0" dirty="0">
                <a:solidFill>
                  <a:srgbClr val="333333"/>
                </a:solidFill>
                <a:effectLst/>
                <a:latin typeface="Helvetica Neue"/>
              </a:rPr>
              <a:t>十进制</a:t>
            </a:r>
            <a:r>
              <a:rPr lang="zh-CN" altLang="en-US" sz="2400" b="0" i="0" dirty="0">
                <a:solidFill>
                  <a:srgbClr val="333333"/>
                </a:solidFill>
                <a:effectLst/>
                <a:latin typeface="Helvetica Neue"/>
              </a:rPr>
              <a:t>，也可以是</a:t>
            </a:r>
            <a:r>
              <a:rPr lang="zh-CN" altLang="en-US" sz="2400" b="1" i="0" dirty="0">
                <a:solidFill>
                  <a:schemeClr val="bg1">
                    <a:lumMod val="50000"/>
                  </a:schemeClr>
                </a:solidFill>
                <a:effectLst/>
                <a:latin typeface="Helvetica Neue"/>
              </a:rPr>
              <a:t>二进制、八进制或十六进制</a:t>
            </a:r>
            <a:r>
              <a:rPr lang="zh-CN" altLang="en-US" sz="2400" b="0" i="0" dirty="0">
                <a:solidFill>
                  <a:srgbClr val="333333"/>
                </a:solidFill>
                <a:effectLst/>
                <a:latin typeface="Helvetica Neue"/>
              </a:rPr>
              <a:t>。</a:t>
            </a:r>
            <a:endParaRPr lang="en-US" altLang="zh-CN" sz="2400" b="0" i="0" dirty="0">
              <a:solidFill>
                <a:srgbClr val="333333"/>
              </a:solidFill>
              <a:effectLst/>
              <a:latin typeface="Helvetica Neue"/>
            </a:endParaRPr>
          </a:p>
          <a:p>
            <a:pPr algn="l" latinLnBrk="1"/>
            <a:endParaRPr lang="en-US" altLang="zh-CN" sz="2400" dirty="0">
              <a:solidFill>
                <a:srgbClr val="333333"/>
              </a:solidFill>
              <a:latin typeface="Helvetica Neue"/>
            </a:endParaRPr>
          </a:p>
          <a:p>
            <a:pPr algn="l" latinLnBrk="1"/>
            <a:r>
              <a:rPr lang="zh-CN" altLang="en-US" sz="2400" b="0" i="0" dirty="0">
                <a:solidFill>
                  <a:srgbClr val="333333"/>
                </a:solidFill>
                <a:effectLst/>
                <a:latin typeface="Helvetica Neue"/>
              </a:rPr>
              <a:t>用整数前缀表示非十进制。例如：</a:t>
            </a:r>
            <a:r>
              <a:rPr lang="zh-CN" altLang="en-US" sz="2400" b="0" i="0" dirty="0">
                <a:solidFill>
                  <a:schemeClr val="bg1">
                    <a:lumMod val="50000"/>
                  </a:schemeClr>
                </a:solidFill>
                <a:effectLst/>
                <a:latin typeface="Helvetica Neue"/>
              </a:rPr>
              <a:t>二进制：前缀</a:t>
            </a:r>
            <a:r>
              <a:rPr lang="en-US" altLang="zh-CN" sz="2400" b="0" i="0" dirty="0">
                <a:solidFill>
                  <a:schemeClr val="bg1">
                    <a:lumMod val="50000"/>
                  </a:schemeClr>
                </a:solidFill>
                <a:effectLst/>
                <a:latin typeface="Helvetica Neue"/>
              </a:rPr>
              <a:t>0b ; </a:t>
            </a:r>
            <a:r>
              <a:rPr lang="zh-CN" altLang="en-US" sz="2400" b="0" i="0" dirty="0">
                <a:solidFill>
                  <a:srgbClr val="333333"/>
                </a:solidFill>
                <a:effectLst/>
                <a:latin typeface="Helvetica Neue"/>
              </a:rPr>
              <a:t>八进制：前缀</a:t>
            </a:r>
            <a:r>
              <a:rPr lang="en-US" altLang="zh-CN" sz="2400" b="0" i="0" dirty="0">
                <a:solidFill>
                  <a:srgbClr val="333333"/>
                </a:solidFill>
                <a:effectLst/>
                <a:latin typeface="Helvetica Neue"/>
              </a:rPr>
              <a:t>0</a:t>
            </a:r>
            <a:r>
              <a:rPr lang="zh-CN" altLang="en-US" sz="2400" dirty="0">
                <a:solidFill>
                  <a:srgbClr val="333333"/>
                </a:solidFill>
                <a:latin typeface="Helvetica Neue"/>
              </a:rPr>
              <a:t>；十六进制：前缀</a:t>
            </a:r>
            <a:r>
              <a:rPr lang="en-US" altLang="zh-CN" sz="2400" dirty="0">
                <a:solidFill>
                  <a:srgbClr val="333333"/>
                </a:solidFill>
                <a:latin typeface="Helvetica Neue"/>
              </a:rPr>
              <a:t>0x</a:t>
            </a:r>
          </a:p>
          <a:p>
            <a:pPr algn="l" latinLnBrk="1"/>
            <a:r>
              <a:rPr lang="zh-CN" altLang="en-US" sz="2400" dirty="0">
                <a:solidFill>
                  <a:srgbClr val="333333"/>
                </a:solidFill>
                <a:latin typeface="Helvetica Neue"/>
              </a:rPr>
              <a:t>用整数后缀表示无符号整数（</a:t>
            </a:r>
            <a:r>
              <a:rPr lang="en-US" altLang="zh-CN" sz="2400" dirty="0">
                <a:solidFill>
                  <a:srgbClr val="333333"/>
                </a:solidFill>
                <a:latin typeface="Helvetica Neue"/>
              </a:rPr>
              <a:t>u/U</a:t>
            </a:r>
            <a:r>
              <a:rPr lang="zh-CN" altLang="en-US" sz="2400" dirty="0">
                <a:solidFill>
                  <a:srgbClr val="333333"/>
                </a:solidFill>
                <a:latin typeface="Helvetica Neue"/>
              </a:rPr>
              <a:t>）以及长整数（</a:t>
            </a:r>
            <a:r>
              <a:rPr lang="en-US" altLang="zh-CN" sz="2400" dirty="0">
                <a:solidFill>
                  <a:srgbClr val="333333"/>
                </a:solidFill>
                <a:latin typeface="Helvetica Neue"/>
              </a:rPr>
              <a:t>l/L</a:t>
            </a:r>
            <a:r>
              <a:rPr lang="zh-CN" altLang="en-US" sz="2400" dirty="0">
                <a:solidFill>
                  <a:srgbClr val="333333"/>
                </a:solidFill>
                <a:latin typeface="Helvetica Neue"/>
              </a:rPr>
              <a:t>）</a:t>
            </a:r>
            <a:endParaRPr lang="en-US" altLang="zh-CN" sz="2400" dirty="0">
              <a:solidFill>
                <a:srgbClr val="333333"/>
              </a:solidFill>
              <a:latin typeface="Helvetica Neue"/>
            </a:endParaRPr>
          </a:p>
          <a:p>
            <a:pPr algn="l" latinLnBrk="1"/>
            <a:r>
              <a:rPr lang="zh-CN" altLang="en-US" sz="2400" b="0" i="0" dirty="0">
                <a:solidFill>
                  <a:srgbClr val="333333"/>
                </a:solidFill>
                <a:effectLst/>
                <a:latin typeface="Helvetica Neue"/>
              </a:rPr>
              <a:t>下面是几个例子：</a:t>
            </a:r>
            <a:endParaRPr lang="en-US" altLang="zh-CN" sz="2400" b="0" i="0" dirty="0">
              <a:solidFill>
                <a:srgbClr val="333333"/>
              </a:solidFill>
              <a:effectLst/>
              <a:latin typeface="Helvetica Neue"/>
            </a:endParaRPr>
          </a:p>
        </p:txBody>
      </p:sp>
      <p:pic>
        <p:nvPicPr>
          <p:cNvPr id="8" name="图片 7">
            <a:extLst>
              <a:ext uri="{FF2B5EF4-FFF2-40B4-BE49-F238E27FC236}">
                <a16:creationId xmlns:a16="http://schemas.microsoft.com/office/drawing/2014/main" id="{C5DA7DB8-D5BF-49E0-AF3D-89A67F3BC4F8}"/>
              </a:ext>
            </a:extLst>
          </p:cNvPr>
          <p:cNvPicPr>
            <a:picLocks noChangeAspect="1"/>
          </p:cNvPicPr>
          <p:nvPr/>
        </p:nvPicPr>
        <p:blipFill>
          <a:blip r:embed="rId4"/>
          <a:stretch>
            <a:fillRect/>
          </a:stretch>
        </p:blipFill>
        <p:spPr>
          <a:xfrm>
            <a:off x="373910" y="4279811"/>
            <a:ext cx="7064352" cy="1897544"/>
          </a:xfrm>
          <a:prstGeom prst="rect">
            <a:avLst/>
          </a:prstGeom>
        </p:spPr>
      </p:pic>
      <p:sp>
        <p:nvSpPr>
          <p:cNvPr id="9" name="文本框 8">
            <a:extLst>
              <a:ext uri="{FF2B5EF4-FFF2-40B4-BE49-F238E27FC236}">
                <a16:creationId xmlns:a16="http://schemas.microsoft.com/office/drawing/2014/main" id="{815D794E-3800-4938-9F32-94DE72C072B6}"/>
              </a:ext>
            </a:extLst>
          </p:cNvPr>
          <p:cNvSpPr txBox="1"/>
          <p:nvPr/>
        </p:nvSpPr>
        <p:spPr>
          <a:xfrm>
            <a:off x="7893697" y="4279810"/>
            <a:ext cx="3563196" cy="1477328"/>
          </a:xfrm>
          <a:prstGeom prst="rect">
            <a:avLst/>
          </a:prstGeom>
          <a:noFill/>
        </p:spPr>
        <p:txBody>
          <a:bodyPr wrap="square" rtlCol="0">
            <a:spAutoFit/>
          </a:bodyPr>
          <a:lstStyle/>
          <a:p>
            <a:r>
              <a:rPr lang="zh-CN" altLang="en-US" dirty="0">
                <a:solidFill>
                  <a:srgbClr val="FF0000"/>
                </a:solidFill>
              </a:rPr>
              <a:t>注：</a:t>
            </a:r>
            <a:r>
              <a:rPr lang="en-US" altLang="zh-CN" dirty="0">
                <a:solidFill>
                  <a:srgbClr val="FF0000"/>
                </a:solidFill>
              </a:rPr>
              <a:t>C23</a:t>
            </a:r>
            <a:r>
              <a:rPr lang="zh-CN" altLang="en-US" dirty="0">
                <a:solidFill>
                  <a:srgbClr val="FF0000"/>
                </a:solidFill>
              </a:rPr>
              <a:t>开始，才有二进制常量表示方法。</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本课程标准为</a:t>
            </a:r>
            <a:r>
              <a:rPr lang="en-US" altLang="zh-CN" dirty="0">
                <a:solidFill>
                  <a:srgbClr val="FF0000"/>
                </a:solidFill>
              </a:rPr>
              <a:t>C99</a:t>
            </a:r>
            <a:r>
              <a:rPr lang="zh-CN" altLang="en-US" dirty="0">
                <a:solidFill>
                  <a:srgbClr val="FF0000"/>
                </a:solidFill>
              </a:rPr>
              <a:t>，二进制常量可能编译无法通过！！！</a:t>
            </a:r>
          </a:p>
        </p:txBody>
      </p:sp>
      <p:sp>
        <p:nvSpPr>
          <p:cNvPr id="2" name="文本框 1">
            <a:extLst>
              <a:ext uri="{FF2B5EF4-FFF2-40B4-BE49-F238E27FC236}">
                <a16:creationId xmlns:a16="http://schemas.microsoft.com/office/drawing/2014/main" id="{DF875966-FEBE-3209-5F3D-46CBC78EBA55}"/>
              </a:ext>
            </a:extLst>
          </p:cNvPr>
          <p:cNvSpPr txBox="1"/>
          <p:nvPr/>
        </p:nvSpPr>
        <p:spPr>
          <a:xfrm>
            <a:off x="373910" y="6398559"/>
            <a:ext cx="4238661" cy="338554"/>
          </a:xfrm>
          <a:prstGeom prst="rect">
            <a:avLst/>
          </a:prstGeom>
          <a:noFill/>
        </p:spPr>
        <p:txBody>
          <a:bodyPr wrap="none" rtlCol="0">
            <a:spAutoFit/>
          </a:bodyPr>
          <a:lstStyle/>
          <a:p>
            <a:r>
              <a:rPr lang="zh-CN" altLang="en-US" sz="1600" dirty="0"/>
              <a:t>详细说明参见：</a:t>
            </a:r>
            <a:r>
              <a:rPr lang="zh-CN" altLang="en-US" sz="1600" dirty="0">
                <a:hlinkClick r:id="rId5"/>
              </a:rPr>
              <a:t>整数常量 </a:t>
            </a:r>
            <a:r>
              <a:rPr lang="en-US" altLang="zh-CN" sz="1600" dirty="0">
                <a:hlinkClick r:id="rId5"/>
              </a:rPr>
              <a:t>- cppreference.com</a:t>
            </a:r>
            <a:endParaRPr lang="zh-CN" altLang="en-US" sz="1600" dirty="0"/>
          </a:p>
        </p:txBody>
      </p:sp>
    </p:spTree>
    <p:extLst>
      <p:ext uri="{BB962C8B-B14F-4D97-AF65-F5344CB8AC3E}">
        <p14:creationId xmlns:p14="http://schemas.microsoft.com/office/powerpoint/2010/main" val="1086570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浮点常量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261258" y="1856792"/>
            <a:ext cx="11635273" cy="1938992"/>
          </a:xfrm>
          <a:prstGeom prst="rect">
            <a:avLst/>
          </a:prstGeom>
          <a:noFill/>
        </p:spPr>
        <p:txBody>
          <a:bodyPr wrap="square" rtlCol="0">
            <a:spAutoFit/>
          </a:bodyPr>
          <a:lstStyle/>
          <a:p>
            <a:pPr algn="l" latinLnBrk="1"/>
            <a:r>
              <a:rPr lang="en-US" altLang="zh-CN" sz="2400" b="0" i="0" dirty="0">
                <a:solidFill>
                  <a:srgbClr val="000000"/>
                </a:solidFill>
                <a:effectLst/>
                <a:latin typeface="+mn-ea"/>
              </a:rPr>
              <a:t> •</a:t>
            </a:r>
            <a:r>
              <a:rPr lang="zh-CN" altLang="en-US" sz="2400" b="0" i="0" dirty="0">
                <a:solidFill>
                  <a:srgbClr val="333333"/>
                </a:solidFill>
                <a:effectLst/>
                <a:latin typeface="Helvetica Neue"/>
              </a:rPr>
              <a:t>浮点常量由整数部分、小数点、小数和指数部分组成，可以使用小数形式或者指数形式来表示浮点常量。</a:t>
            </a:r>
          </a:p>
          <a:p>
            <a:pPr algn="l" latinLnBrk="1"/>
            <a:r>
              <a:rPr lang="en-US" altLang="zh-CN" sz="2400" b="0" i="0" dirty="0">
                <a:solidFill>
                  <a:srgbClr val="000000"/>
                </a:solidFill>
                <a:effectLst/>
                <a:latin typeface="+mn-ea"/>
              </a:rPr>
              <a:t> •</a:t>
            </a:r>
            <a:r>
              <a:rPr lang="zh-CN" altLang="en-US" sz="2400" b="0" i="0" dirty="0">
                <a:solidFill>
                  <a:srgbClr val="333333"/>
                </a:solidFill>
                <a:effectLst/>
                <a:latin typeface="Helvetica Neue"/>
              </a:rPr>
              <a:t>小数形式表示时，必须包含整数部分、小数部分，或同时包含两者。</a:t>
            </a:r>
            <a:endParaRPr lang="en-US" altLang="zh-CN" sz="2400" b="0" i="0" dirty="0">
              <a:solidFill>
                <a:srgbClr val="333333"/>
              </a:solidFill>
              <a:effectLst/>
              <a:latin typeface="Helvetica Neue"/>
            </a:endParaRPr>
          </a:p>
          <a:p>
            <a:pPr algn="l" latinLnBrk="1"/>
            <a:r>
              <a:rPr lang="en-US" altLang="zh-CN" sz="2400" b="0" i="0" dirty="0">
                <a:solidFill>
                  <a:srgbClr val="000000"/>
                </a:solidFill>
                <a:effectLst/>
                <a:latin typeface="+mn-ea"/>
              </a:rPr>
              <a:t> •</a:t>
            </a:r>
            <a:r>
              <a:rPr lang="zh-CN" altLang="en-US" sz="2400" b="0" i="0" dirty="0">
                <a:solidFill>
                  <a:srgbClr val="333333"/>
                </a:solidFill>
                <a:effectLst/>
                <a:latin typeface="Helvetica Neue"/>
              </a:rPr>
              <a:t>指数形式表示时， </a:t>
            </a:r>
            <a:r>
              <a:rPr lang="en-US" altLang="zh-CN" sz="2400" b="0" i="0" dirty="0">
                <a:solidFill>
                  <a:srgbClr val="333333"/>
                </a:solidFill>
                <a:effectLst/>
                <a:latin typeface="Helvetica Neue"/>
              </a:rPr>
              <a:t>e</a:t>
            </a:r>
            <a:r>
              <a:rPr lang="zh-CN" altLang="en-US" sz="2400" b="0" i="0" dirty="0">
                <a:solidFill>
                  <a:srgbClr val="333333"/>
                </a:solidFill>
                <a:effectLst/>
                <a:latin typeface="Helvetica Neue"/>
              </a:rPr>
              <a:t>前面为尾数部分，必须有数，</a:t>
            </a:r>
            <a:r>
              <a:rPr lang="en-US" altLang="zh-CN" sz="2400" b="0" i="0" dirty="0">
                <a:solidFill>
                  <a:srgbClr val="333333"/>
                </a:solidFill>
                <a:effectLst/>
                <a:latin typeface="Helvetica Neue"/>
              </a:rPr>
              <a:t>e</a:t>
            </a:r>
            <a:r>
              <a:rPr lang="zh-CN" altLang="en-US" sz="2400" b="0" i="0" dirty="0">
                <a:solidFill>
                  <a:srgbClr val="333333"/>
                </a:solidFill>
                <a:effectLst/>
                <a:latin typeface="Helvetica Neue"/>
              </a:rPr>
              <a:t>后为指数部分，必须为整数</a:t>
            </a:r>
            <a:endParaRPr lang="en-US" altLang="zh-CN" sz="2400" b="0" i="0" dirty="0">
              <a:solidFill>
                <a:srgbClr val="333333"/>
              </a:solidFill>
              <a:effectLst/>
              <a:latin typeface="Helvetica Neue"/>
            </a:endParaRPr>
          </a:p>
          <a:p>
            <a:pPr algn="l" latinLnBrk="1"/>
            <a:r>
              <a:rPr lang="zh-CN" altLang="en-US" sz="2400" b="0" i="0" dirty="0">
                <a:solidFill>
                  <a:srgbClr val="333333"/>
                </a:solidFill>
                <a:effectLst/>
                <a:latin typeface="Helvetica Neue"/>
              </a:rPr>
              <a:t>下面是几个例子：</a:t>
            </a:r>
          </a:p>
        </p:txBody>
      </p:sp>
      <p:pic>
        <p:nvPicPr>
          <p:cNvPr id="4" name="图片 3">
            <a:extLst>
              <a:ext uri="{FF2B5EF4-FFF2-40B4-BE49-F238E27FC236}">
                <a16:creationId xmlns:a16="http://schemas.microsoft.com/office/drawing/2014/main" id="{9F584C3D-5706-4481-ABAE-01F3578771F7}"/>
              </a:ext>
            </a:extLst>
          </p:cNvPr>
          <p:cNvPicPr>
            <a:picLocks noChangeAspect="1"/>
          </p:cNvPicPr>
          <p:nvPr/>
        </p:nvPicPr>
        <p:blipFill>
          <a:blip r:embed="rId4"/>
          <a:stretch>
            <a:fillRect/>
          </a:stretch>
        </p:blipFill>
        <p:spPr>
          <a:xfrm>
            <a:off x="425752" y="4395629"/>
            <a:ext cx="6881456" cy="1867062"/>
          </a:xfrm>
          <a:prstGeom prst="rect">
            <a:avLst/>
          </a:prstGeom>
        </p:spPr>
      </p:pic>
    </p:spTree>
    <p:extLst>
      <p:ext uri="{BB962C8B-B14F-4D97-AF65-F5344CB8AC3E}">
        <p14:creationId xmlns:p14="http://schemas.microsoft.com/office/powerpoint/2010/main" val="1813170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字符常量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261259" y="1856792"/>
            <a:ext cx="6568750" cy="3911392"/>
          </a:xfrm>
          <a:prstGeom prst="rect">
            <a:avLst/>
          </a:prstGeom>
          <a:noFill/>
        </p:spPr>
        <p:txBody>
          <a:bodyPr wrap="square" rtlCol="0">
            <a:spAutoFit/>
          </a:bodyPr>
          <a:lstStyle/>
          <a:p>
            <a:pPr algn="l" latinLnBrk="1">
              <a:lnSpc>
                <a:spcPct val="150000"/>
              </a:lnSpc>
            </a:pPr>
            <a:r>
              <a:rPr lang="zh-CN" altLang="en-US" sz="2400" dirty="0">
                <a:solidFill>
                  <a:srgbClr val="000000"/>
                </a:solidFill>
                <a:latin typeface="+mn-ea"/>
              </a:rPr>
              <a:t>英文字母用</a:t>
            </a:r>
            <a:r>
              <a:rPr lang="en-US" altLang="zh-CN" sz="2400" dirty="0">
                <a:solidFill>
                  <a:srgbClr val="000000"/>
                </a:solidFill>
                <a:latin typeface="+mn-ea"/>
              </a:rPr>
              <a:t>0-127</a:t>
            </a:r>
            <a:r>
              <a:rPr lang="zh-CN" altLang="en-US" sz="2400" dirty="0">
                <a:solidFill>
                  <a:srgbClr val="000000"/>
                </a:solidFill>
                <a:latin typeface="+mn-ea"/>
              </a:rPr>
              <a:t>的整数表示，类型为 </a:t>
            </a:r>
            <a:r>
              <a:rPr lang="en-US" altLang="zh-CN" sz="2400" dirty="0">
                <a:solidFill>
                  <a:srgbClr val="000000"/>
                </a:solidFill>
                <a:latin typeface="+mn-ea"/>
              </a:rPr>
              <a:t>char</a:t>
            </a:r>
            <a:endParaRPr lang="en-US" altLang="zh-CN" sz="2400" b="0" i="0" dirty="0">
              <a:solidFill>
                <a:srgbClr val="000000"/>
              </a:solidFill>
              <a:effectLst/>
              <a:latin typeface="+mn-ea"/>
            </a:endParaRPr>
          </a:p>
          <a:p>
            <a:pPr algn="l" latinLnBrk="1">
              <a:lnSpc>
                <a:spcPct val="150000"/>
              </a:lnSpc>
            </a:pPr>
            <a:endParaRPr lang="en-US" altLang="zh-CN" sz="2400" dirty="0">
              <a:solidFill>
                <a:srgbClr val="000000"/>
              </a:solidFill>
              <a:latin typeface="+mn-ea"/>
            </a:endParaRPr>
          </a:p>
          <a:p>
            <a:pPr algn="l" latinLnBrk="1">
              <a:lnSpc>
                <a:spcPct val="150000"/>
              </a:lnSpc>
            </a:pPr>
            <a:r>
              <a:rPr lang="zh-CN" altLang="en-US" sz="2400" b="0" i="0" dirty="0">
                <a:solidFill>
                  <a:srgbClr val="000000"/>
                </a:solidFill>
                <a:effectLst/>
                <a:latin typeface="+mn-ea"/>
              </a:rPr>
              <a:t>常见的主要有两种表示方法：</a:t>
            </a:r>
            <a:endParaRPr lang="en-US" altLang="zh-CN" sz="2400" b="0" i="0" dirty="0">
              <a:solidFill>
                <a:srgbClr val="000000"/>
              </a:solidFill>
              <a:effectLst/>
              <a:latin typeface="+mn-ea"/>
            </a:endParaRPr>
          </a:p>
          <a:p>
            <a:pPr algn="l" latinLnBrk="1">
              <a:lnSpc>
                <a:spcPct val="150000"/>
              </a:lnSpc>
            </a:pPr>
            <a:r>
              <a:rPr lang="en-US" altLang="zh-CN" sz="2400" b="0" i="0" dirty="0">
                <a:solidFill>
                  <a:srgbClr val="000000"/>
                </a:solidFill>
                <a:effectLst/>
                <a:latin typeface="+mn-ea"/>
              </a:rPr>
              <a:t>•</a:t>
            </a:r>
            <a:r>
              <a:rPr lang="zh-CN" altLang="en-US" sz="2400" b="0" i="0" dirty="0">
                <a:solidFill>
                  <a:srgbClr val="333333"/>
                </a:solidFill>
                <a:effectLst/>
                <a:latin typeface="+mn-ea"/>
              </a:rPr>
              <a:t>直接表示：</a:t>
            </a:r>
            <a:r>
              <a:rPr lang="zh-CN" altLang="en-US" sz="2400" b="0" i="0" dirty="0">
                <a:solidFill>
                  <a:srgbClr val="FF0000"/>
                </a:solidFill>
                <a:effectLst/>
                <a:latin typeface="+mn-ea"/>
              </a:rPr>
              <a:t> ’</a:t>
            </a:r>
            <a:r>
              <a:rPr lang="zh-CN" altLang="en-US" sz="2400" b="0" i="0" dirty="0">
                <a:solidFill>
                  <a:srgbClr val="333333"/>
                </a:solidFill>
                <a:effectLst/>
                <a:latin typeface="+mn-ea"/>
              </a:rPr>
              <a:t>空格或大部分可见的图形字符</a:t>
            </a:r>
            <a:r>
              <a:rPr lang="zh-CN" altLang="en-US" sz="2400" b="0" i="0" dirty="0">
                <a:solidFill>
                  <a:srgbClr val="FF0000"/>
                </a:solidFill>
                <a:effectLst/>
                <a:latin typeface="+mn-ea"/>
              </a:rPr>
              <a:t>’</a:t>
            </a:r>
          </a:p>
          <a:p>
            <a:pPr algn="l" latinLnBrk="1">
              <a:lnSpc>
                <a:spcPct val="150000"/>
              </a:lnSpc>
            </a:pPr>
            <a:r>
              <a:rPr lang="en-US" altLang="zh-CN" sz="2400" b="0" i="0" dirty="0">
                <a:solidFill>
                  <a:srgbClr val="000000"/>
                </a:solidFill>
                <a:effectLst/>
                <a:latin typeface="+mn-ea"/>
              </a:rPr>
              <a:t>•</a:t>
            </a:r>
            <a:r>
              <a:rPr lang="zh-CN" altLang="en-US" sz="2400" b="0" i="0" dirty="0">
                <a:solidFill>
                  <a:srgbClr val="333333"/>
                </a:solidFill>
                <a:effectLst/>
                <a:latin typeface="+mn-ea"/>
              </a:rPr>
              <a:t> 转义符表示：</a:t>
            </a:r>
            <a:r>
              <a:rPr lang="en-US" altLang="zh-CN" sz="2400" b="0" i="0" dirty="0">
                <a:solidFill>
                  <a:srgbClr val="FF0000"/>
                </a:solidFill>
                <a:effectLst/>
                <a:latin typeface="+mn-ea"/>
              </a:rPr>
              <a:t>’</a:t>
            </a:r>
            <a:r>
              <a:rPr lang="en-US" altLang="zh-CN" sz="2400" b="0" i="0" dirty="0">
                <a:solidFill>
                  <a:srgbClr val="333333"/>
                </a:solidFill>
                <a:effectLst/>
                <a:latin typeface="+mn-ea"/>
              </a:rPr>
              <a:t>\</a:t>
            </a:r>
            <a:r>
              <a:rPr lang="zh-CN" altLang="en-US" sz="2400" b="0" i="0" dirty="0">
                <a:solidFill>
                  <a:srgbClr val="333333"/>
                </a:solidFill>
                <a:effectLst/>
                <a:latin typeface="+mn-ea"/>
              </a:rPr>
              <a:t>字符、八</a:t>
            </a:r>
            <a:r>
              <a:rPr lang="zh-CN" altLang="en-US" sz="2400" dirty="0">
                <a:solidFill>
                  <a:srgbClr val="333333"/>
                </a:solidFill>
                <a:latin typeface="+mn-ea"/>
              </a:rPr>
              <a:t>、</a:t>
            </a:r>
            <a:r>
              <a:rPr lang="zh-CN" altLang="en-US" sz="2400" b="0" i="0" dirty="0">
                <a:solidFill>
                  <a:srgbClr val="333333"/>
                </a:solidFill>
                <a:effectLst/>
                <a:latin typeface="+mn-ea"/>
              </a:rPr>
              <a:t>十六进制数</a:t>
            </a:r>
            <a:r>
              <a:rPr lang="en-US" altLang="zh-CN" sz="2400" b="0" i="0" dirty="0">
                <a:solidFill>
                  <a:srgbClr val="FF0000"/>
                </a:solidFill>
                <a:effectLst/>
                <a:latin typeface="+mn-ea"/>
              </a:rPr>
              <a:t>’</a:t>
            </a:r>
          </a:p>
          <a:p>
            <a:pPr algn="l" latinLnBrk="1">
              <a:lnSpc>
                <a:spcPct val="150000"/>
              </a:lnSpc>
            </a:pPr>
            <a:endParaRPr lang="en-US" altLang="zh-CN" sz="2400" b="0" i="0" dirty="0">
              <a:solidFill>
                <a:srgbClr val="333333"/>
              </a:solidFill>
              <a:effectLst/>
              <a:latin typeface="+mn-ea"/>
            </a:endParaRPr>
          </a:p>
          <a:p>
            <a:pPr algn="l" latinLnBrk="1">
              <a:lnSpc>
                <a:spcPct val="150000"/>
              </a:lnSpc>
            </a:pPr>
            <a:r>
              <a:rPr lang="zh-CN" altLang="en-US" sz="2400" b="0" i="0" dirty="0">
                <a:solidFill>
                  <a:srgbClr val="000000"/>
                </a:solidFill>
                <a:effectLst/>
                <a:latin typeface="+mn-ea"/>
              </a:rPr>
              <a:t>右图是一些常见的转义</a:t>
            </a:r>
            <a:r>
              <a:rPr lang="zh-CN" altLang="en-US" sz="2400" dirty="0">
                <a:solidFill>
                  <a:srgbClr val="000000"/>
                </a:solidFill>
                <a:latin typeface="+mn-ea"/>
              </a:rPr>
              <a:t>符。</a:t>
            </a:r>
            <a:endParaRPr lang="zh-CN" altLang="en-US" sz="2400" b="0" i="0" dirty="0">
              <a:solidFill>
                <a:srgbClr val="333333"/>
              </a:solidFill>
              <a:effectLst/>
              <a:latin typeface="Helvetica Neue"/>
            </a:endParaRPr>
          </a:p>
        </p:txBody>
      </p:sp>
      <p:graphicFrame>
        <p:nvGraphicFramePr>
          <p:cNvPr id="2" name="表格 1">
            <a:extLst>
              <a:ext uri="{FF2B5EF4-FFF2-40B4-BE49-F238E27FC236}">
                <a16:creationId xmlns:a16="http://schemas.microsoft.com/office/drawing/2014/main" id="{2C837DDD-3882-496F-9099-B9A5D5E95956}"/>
              </a:ext>
            </a:extLst>
          </p:cNvPr>
          <p:cNvGraphicFramePr>
            <a:graphicFrameLocks noGrp="1"/>
          </p:cNvGraphicFramePr>
          <p:nvPr>
            <p:extLst>
              <p:ext uri="{D42A27DB-BD31-4B8C-83A1-F6EECF244321}">
                <p14:modId xmlns:p14="http://schemas.microsoft.com/office/powerpoint/2010/main" val="457287876"/>
              </p:ext>
            </p:extLst>
          </p:nvPr>
        </p:nvGraphicFramePr>
        <p:xfrm>
          <a:off x="7527444" y="1856792"/>
          <a:ext cx="3890114" cy="4382544"/>
        </p:xfrm>
        <a:graphic>
          <a:graphicData uri="http://schemas.openxmlformats.org/drawingml/2006/table">
            <a:tbl>
              <a:tblPr/>
              <a:tblGrid>
                <a:gridCol w="988293">
                  <a:extLst>
                    <a:ext uri="{9D8B030D-6E8A-4147-A177-3AD203B41FA5}">
                      <a16:colId xmlns:a16="http://schemas.microsoft.com/office/drawing/2014/main" val="3631317690"/>
                    </a:ext>
                  </a:extLst>
                </a:gridCol>
                <a:gridCol w="2901821">
                  <a:extLst>
                    <a:ext uri="{9D8B030D-6E8A-4147-A177-3AD203B41FA5}">
                      <a16:colId xmlns:a16="http://schemas.microsoft.com/office/drawing/2014/main" val="3100093841"/>
                    </a:ext>
                  </a:extLst>
                </a:gridCol>
              </a:tblGrid>
              <a:tr h="264099">
                <a:tc>
                  <a:txBody>
                    <a:bodyPr/>
                    <a:lstStyle/>
                    <a:p>
                      <a:pPr algn="l" fontAlgn="t"/>
                      <a:r>
                        <a:rPr lang="zh-CN" altLang="en-US" sz="1500" dirty="0">
                          <a:solidFill>
                            <a:srgbClr val="FFFFFF"/>
                          </a:solidFill>
                          <a:effectLst/>
                        </a:rPr>
                        <a:t>转义符</a:t>
                      </a:r>
                    </a:p>
                  </a:txBody>
                  <a:tcPr marL="18864" marR="18864" marT="18864" marB="18864">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004723"/>
                    </a:solidFill>
                  </a:tcPr>
                </a:tc>
                <a:tc>
                  <a:txBody>
                    <a:bodyPr/>
                    <a:lstStyle/>
                    <a:p>
                      <a:pPr algn="l" fontAlgn="t"/>
                      <a:r>
                        <a:rPr lang="zh-CN" altLang="en-US" sz="1500" dirty="0">
                          <a:solidFill>
                            <a:srgbClr val="FFFFFF"/>
                          </a:solidFill>
                          <a:effectLst/>
                        </a:rPr>
                        <a:t>含义</a:t>
                      </a:r>
                    </a:p>
                  </a:txBody>
                  <a:tcPr marL="18864" marR="18864" marT="18864" marB="18864">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004723"/>
                    </a:solidFill>
                  </a:tcPr>
                </a:tc>
                <a:extLst>
                  <a:ext uri="{0D108BD9-81ED-4DB2-BD59-A6C34878D82A}">
                    <a16:rowId xmlns:a16="http://schemas.microsoft.com/office/drawing/2014/main" val="1582113223"/>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altLang="zh-CN" sz="1500" dirty="0">
                          <a:effectLst/>
                        </a:rPr>
                        <a:t>\ </a:t>
                      </a:r>
                      <a:r>
                        <a:rPr lang="zh-CN" altLang="en-US" sz="1500" dirty="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740206939"/>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altLang="zh-CN" sz="1500">
                          <a:effectLst/>
                        </a:rPr>
                        <a:t>' </a:t>
                      </a:r>
                      <a:r>
                        <a:rPr lang="zh-CN" altLang="en-US" sz="150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245748186"/>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altLang="zh-CN" sz="1500">
                          <a:effectLst/>
                        </a:rPr>
                        <a:t>" </a:t>
                      </a:r>
                      <a:r>
                        <a:rPr lang="zh-CN" altLang="en-US" sz="150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229469577"/>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altLang="zh-CN" sz="1500">
                          <a:effectLst/>
                        </a:rPr>
                        <a:t>? </a:t>
                      </a:r>
                      <a:r>
                        <a:rPr lang="zh-CN" altLang="en-US" sz="150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581013825"/>
                  </a:ext>
                </a:extLst>
              </a:tr>
              <a:tr h="314403">
                <a:tc>
                  <a:txBody>
                    <a:bodyPr/>
                    <a:lstStyle/>
                    <a:p>
                      <a:pPr fontAlgn="t"/>
                      <a:r>
                        <a:rPr lang="en-US" sz="1500">
                          <a:effectLst/>
                        </a:rPr>
                        <a:t>\a</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dirty="0">
                          <a:effectLst/>
                        </a:rPr>
                        <a:t>警报铃声</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421503888"/>
                  </a:ext>
                </a:extLst>
              </a:tr>
              <a:tr h="314403">
                <a:tc>
                  <a:txBody>
                    <a:bodyPr/>
                    <a:lstStyle/>
                    <a:p>
                      <a:pPr fontAlgn="t"/>
                      <a:r>
                        <a:rPr lang="en-US" sz="1500">
                          <a:effectLst/>
                        </a:rPr>
                        <a:t>\b</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a:effectLst/>
                        </a:rPr>
                        <a:t>退格键</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2033273886"/>
                  </a:ext>
                </a:extLst>
              </a:tr>
              <a:tr h="314403">
                <a:tc>
                  <a:txBody>
                    <a:bodyPr/>
                    <a:lstStyle/>
                    <a:p>
                      <a:pPr fontAlgn="t"/>
                      <a:r>
                        <a:rPr lang="en-US" sz="1500">
                          <a:effectLst/>
                        </a:rPr>
                        <a:t>\f</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dirty="0">
                          <a:effectLst/>
                        </a:rPr>
                        <a:t>换页符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780239443"/>
                  </a:ext>
                </a:extLst>
              </a:tr>
              <a:tr h="314403">
                <a:tc>
                  <a:txBody>
                    <a:bodyPr/>
                    <a:lstStyle/>
                    <a:p>
                      <a:pPr fontAlgn="t"/>
                      <a:r>
                        <a:rPr lang="en-US" sz="1500">
                          <a:effectLst/>
                        </a:rPr>
                        <a:t>\n</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a:effectLst/>
                        </a:rPr>
                        <a:t>换行符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6075450"/>
                  </a:ext>
                </a:extLst>
              </a:tr>
              <a:tr h="314403">
                <a:tc>
                  <a:txBody>
                    <a:bodyPr/>
                    <a:lstStyle/>
                    <a:p>
                      <a:pPr fontAlgn="t"/>
                      <a:r>
                        <a:rPr lang="en-US" sz="1500">
                          <a:effectLst/>
                        </a:rPr>
                        <a:t>\r</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a:effectLst/>
                        </a:rPr>
                        <a:t>回车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082298518"/>
                  </a:ext>
                </a:extLst>
              </a:tr>
              <a:tr h="314403">
                <a:tc>
                  <a:txBody>
                    <a:bodyPr/>
                    <a:lstStyle/>
                    <a:p>
                      <a:pPr fontAlgn="t"/>
                      <a:r>
                        <a:rPr lang="en-US" sz="1500">
                          <a:effectLst/>
                        </a:rPr>
                        <a:t>\t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a:effectLst/>
                        </a:rPr>
                        <a:t>水平制表符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605448082"/>
                  </a:ext>
                </a:extLst>
              </a:tr>
              <a:tr h="314403">
                <a:tc>
                  <a:txBody>
                    <a:bodyPr/>
                    <a:lstStyle/>
                    <a:p>
                      <a:pPr fontAlgn="t"/>
                      <a:r>
                        <a:rPr lang="en-US" sz="1500">
                          <a:effectLst/>
                        </a:rPr>
                        <a:t>\v</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a:effectLst/>
                        </a:rPr>
                        <a:t>垂直制表符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264051462"/>
                  </a:ext>
                </a:extLst>
              </a:tr>
              <a:tr h="314403">
                <a:tc>
                  <a:txBody>
                    <a:bodyPr/>
                    <a:lstStyle/>
                    <a:p>
                      <a:pPr fontAlgn="t"/>
                      <a:r>
                        <a:rPr lang="en-US" sz="1500" dirty="0">
                          <a:effectLst/>
                        </a:rPr>
                        <a:t>\</a:t>
                      </a:r>
                      <a:r>
                        <a:rPr lang="en-US" sz="1500" dirty="0" err="1">
                          <a:effectLst/>
                        </a:rPr>
                        <a:t>ooo</a:t>
                      </a:r>
                      <a:endParaRPr lang="en-US" sz="1500" dirty="0">
                        <a:effectLst/>
                      </a:endParaRP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dirty="0">
                          <a:effectLst/>
                        </a:rPr>
                        <a:t>一到三位的八进制数</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252479949"/>
                  </a:ext>
                </a:extLst>
              </a:tr>
              <a:tr h="314403">
                <a:tc>
                  <a:txBody>
                    <a:bodyPr/>
                    <a:lstStyle/>
                    <a:p>
                      <a:pPr fontAlgn="t"/>
                      <a:r>
                        <a:rPr lang="en-US" sz="1500">
                          <a:effectLst/>
                        </a:rPr>
                        <a:t>\xhh . . .</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dirty="0">
                          <a:effectLst/>
                        </a:rPr>
                        <a:t>一个或多个数字的十六进制数</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285120248"/>
                  </a:ext>
                </a:extLst>
              </a:tr>
            </a:tbl>
          </a:graphicData>
        </a:graphic>
      </p:graphicFrame>
    </p:spTree>
    <p:extLst>
      <p:ext uri="{BB962C8B-B14F-4D97-AF65-F5344CB8AC3E}">
        <p14:creationId xmlns:p14="http://schemas.microsoft.com/office/powerpoint/2010/main" val="2226637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字符串字面量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9553206" cy="1685846"/>
          </a:xfrm>
          <a:prstGeom prst="rect">
            <a:avLst/>
          </a:prstGeom>
          <a:noFill/>
        </p:spPr>
        <p:txBody>
          <a:bodyPr wrap="square" rtlCol="0">
            <a:spAutoFit/>
          </a:bodyPr>
          <a:lstStyle/>
          <a:p>
            <a:pPr algn="l" latinLnBrk="1">
              <a:lnSpc>
                <a:spcPct val="150000"/>
              </a:lnSpc>
            </a:pPr>
            <a:r>
              <a:rPr lang="en-US" altLang="zh-CN" sz="2400" b="0" i="0" dirty="0">
                <a:solidFill>
                  <a:srgbClr val="000000"/>
                </a:solidFill>
                <a:effectLst/>
                <a:latin typeface="+mn-ea"/>
              </a:rPr>
              <a:t>•</a:t>
            </a:r>
            <a:r>
              <a:rPr lang="zh-CN" altLang="en-US" sz="2400" b="0" i="0" dirty="0">
                <a:solidFill>
                  <a:srgbClr val="000000"/>
                </a:solidFill>
                <a:effectLst/>
                <a:latin typeface="+mn-ea"/>
              </a:rPr>
              <a:t>含义</a:t>
            </a:r>
            <a:r>
              <a:rPr lang="en-US" altLang="zh-CN" sz="2400" b="0" i="0" dirty="0">
                <a:solidFill>
                  <a:srgbClr val="000000"/>
                </a:solidFill>
                <a:effectLst/>
                <a:latin typeface="+mn-ea"/>
              </a:rPr>
              <a:t>:</a:t>
            </a:r>
            <a:r>
              <a:rPr lang="zh-CN" altLang="en-US" sz="2400" b="0" i="0" dirty="0">
                <a:solidFill>
                  <a:srgbClr val="000000"/>
                </a:solidFill>
                <a:effectLst/>
                <a:latin typeface="+mn-ea"/>
              </a:rPr>
              <a:t>连续多个字符组成的字符序列</a:t>
            </a:r>
            <a:endParaRPr lang="en-US" altLang="zh-CN" sz="2400" b="0" i="0" dirty="0">
              <a:solidFill>
                <a:srgbClr val="000000"/>
              </a:solidFill>
              <a:effectLst/>
              <a:latin typeface="+mn-ea"/>
            </a:endParaRPr>
          </a:p>
          <a:p>
            <a:pPr algn="l" latinLnBrk="1">
              <a:lnSpc>
                <a:spcPct val="150000"/>
              </a:lnSpc>
            </a:pPr>
            <a:r>
              <a:rPr lang="en-US" altLang="zh-CN" sz="2400" b="0" i="0" dirty="0">
                <a:solidFill>
                  <a:srgbClr val="000000"/>
                </a:solidFill>
                <a:effectLst/>
                <a:latin typeface="+mn-ea"/>
              </a:rPr>
              <a:t>•</a:t>
            </a:r>
            <a:r>
              <a:rPr lang="zh-CN" altLang="en-US" sz="2400" dirty="0">
                <a:solidFill>
                  <a:srgbClr val="000000"/>
                </a:solidFill>
                <a:latin typeface="+mn-ea"/>
              </a:rPr>
              <a:t>表示：</a:t>
            </a:r>
            <a:r>
              <a:rPr lang="zh-CN" altLang="en-US" sz="2400" b="0" i="0" dirty="0">
                <a:solidFill>
                  <a:srgbClr val="333333"/>
                </a:solidFill>
                <a:effectLst/>
                <a:latin typeface="Helvetica Neue"/>
              </a:rPr>
              <a:t>括在双引号中，可以是图形字符，也可以是转义符</a:t>
            </a:r>
            <a:endParaRPr lang="en-US" altLang="zh-CN" sz="2400" b="0" i="0" dirty="0">
              <a:solidFill>
                <a:srgbClr val="333333"/>
              </a:solidFill>
              <a:effectLst/>
              <a:latin typeface="Helvetica Neue"/>
            </a:endParaRPr>
          </a:p>
          <a:p>
            <a:pPr algn="l" latinLnBrk="1">
              <a:lnSpc>
                <a:spcPct val="150000"/>
              </a:lnSpc>
            </a:pPr>
            <a:r>
              <a:rPr lang="en-US" altLang="zh-CN" sz="2400" b="0" i="0" dirty="0">
                <a:solidFill>
                  <a:srgbClr val="000000"/>
                </a:solidFill>
                <a:effectLst/>
                <a:latin typeface="+mn-ea"/>
              </a:rPr>
              <a:t>•</a:t>
            </a:r>
            <a:r>
              <a:rPr lang="zh-CN" altLang="en-US" sz="2400" dirty="0">
                <a:solidFill>
                  <a:srgbClr val="333333"/>
                </a:solidFill>
                <a:latin typeface="Helvetica Neue"/>
              </a:rPr>
              <a:t>例如：</a:t>
            </a:r>
            <a:endParaRPr lang="en-US" altLang="zh-CN" sz="2400" dirty="0">
              <a:solidFill>
                <a:srgbClr val="333333"/>
              </a:solidFill>
              <a:latin typeface="Helvetica Neue"/>
            </a:endParaRPr>
          </a:p>
        </p:txBody>
      </p:sp>
      <p:pic>
        <p:nvPicPr>
          <p:cNvPr id="7" name="图片 6">
            <a:extLst>
              <a:ext uri="{FF2B5EF4-FFF2-40B4-BE49-F238E27FC236}">
                <a16:creationId xmlns:a16="http://schemas.microsoft.com/office/drawing/2014/main" id="{4317866F-AEA2-42CD-9831-06BE3C726D80}"/>
              </a:ext>
            </a:extLst>
          </p:cNvPr>
          <p:cNvPicPr>
            <a:picLocks noChangeAspect="1"/>
          </p:cNvPicPr>
          <p:nvPr/>
        </p:nvPicPr>
        <p:blipFill>
          <a:blip r:embed="rId4"/>
          <a:stretch>
            <a:fillRect/>
          </a:stretch>
        </p:blipFill>
        <p:spPr>
          <a:xfrm>
            <a:off x="1760376" y="3106761"/>
            <a:ext cx="6431837" cy="1165961"/>
          </a:xfrm>
          <a:prstGeom prst="rect">
            <a:avLst/>
          </a:prstGeom>
        </p:spPr>
      </p:pic>
    </p:spTree>
    <p:extLst>
      <p:ext uri="{BB962C8B-B14F-4D97-AF65-F5344CB8AC3E}">
        <p14:creationId xmlns:p14="http://schemas.microsoft.com/office/powerpoint/2010/main" val="1153499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常量定义声明</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9553206" cy="3970318"/>
          </a:xfrm>
          <a:prstGeom prst="rect">
            <a:avLst/>
          </a:prstGeom>
          <a:noFill/>
        </p:spPr>
        <p:txBody>
          <a:bodyPr wrap="square" rtlCol="0">
            <a:spAutoFit/>
          </a:bodyPr>
          <a:lstStyle/>
          <a:p>
            <a:pPr algn="l" latinLnBrk="1"/>
            <a:r>
              <a:rPr lang="en-US" altLang="zh-CN" sz="2800" b="0" i="0" dirty="0">
                <a:solidFill>
                  <a:srgbClr val="000000"/>
                </a:solidFill>
                <a:effectLst/>
                <a:latin typeface="+mn-ea"/>
              </a:rPr>
              <a:t>•</a:t>
            </a:r>
            <a:r>
              <a:rPr lang="zh-CN" altLang="en-US" sz="2800" b="0" i="0" dirty="0">
                <a:solidFill>
                  <a:srgbClr val="333333"/>
                </a:solidFill>
                <a:effectLst/>
                <a:latin typeface="+mn-ea"/>
              </a:rPr>
              <a:t>在 </a:t>
            </a:r>
            <a:r>
              <a:rPr lang="en-US" altLang="zh-CN" sz="2800" b="0" i="0" dirty="0">
                <a:solidFill>
                  <a:srgbClr val="333333"/>
                </a:solidFill>
                <a:effectLst/>
                <a:latin typeface="+mn-ea"/>
              </a:rPr>
              <a:t>C </a:t>
            </a:r>
            <a:r>
              <a:rPr lang="zh-CN" altLang="en-US" sz="2800" b="0" i="0" dirty="0">
                <a:solidFill>
                  <a:srgbClr val="333333"/>
                </a:solidFill>
                <a:effectLst/>
                <a:latin typeface="+mn-ea"/>
              </a:rPr>
              <a:t>中，有两种简单的定义常量的方式：</a:t>
            </a:r>
            <a:endParaRPr lang="en-US" altLang="zh-CN" sz="2800" b="0" i="0" dirty="0">
              <a:solidFill>
                <a:srgbClr val="333333"/>
              </a:solidFill>
              <a:effectLst/>
              <a:latin typeface="+mn-ea"/>
            </a:endParaRPr>
          </a:p>
          <a:p>
            <a:pPr algn="l" latinLnBrk="1"/>
            <a:r>
              <a:rPr lang="en-US" altLang="zh-CN" sz="2800" b="0" i="0" dirty="0">
                <a:solidFill>
                  <a:srgbClr val="000000"/>
                </a:solidFill>
                <a:effectLst/>
                <a:latin typeface="+mn-ea"/>
              </a:rPr>
              <a:t>•</a:t>
            </a:r>
            <a:r>
              <a:rPr lang="zh-CN" altLang="en-US" sz="2800" b="0" i="0" dirty="0">
                <a:solidFill>
                  <a:srgbClr val="333333"/>
                </a:solidFill>
                <a:effectLst/>
                <a:latin typeface="+mn-ea"/>
              </a:rPr>
              <a:t>使用 </a:t>
            </a:r>
            <a:r>
              <a:rPr lang="en-US" altLang="zh-CN" sz="2800" b="1" i="0" dirty="0">
                <a:solidFill>
                  <a:srgbClr val="333333"/>
                </a:solidFill>
                <a:effectLst/>
                <a:latin typeface="+mn-ea"/>
              </a:rPr>
              <a:t>#define</a:t>
            </a:r>
            <a:r>
              <a:rPr lang="zh-CN" altLang="en-US" sz="2800" b="0" i="0" dirty="0">
                <a:solidFill>
                  <a:srgbClr val="333333"/>
                </a:solidFill>
                <a:effectLst/>
                <a:latin typeface="+mn-ea"/>
              </a:rPr>
              <a:t> 预处理器。</a:t>
            </a:r>
            <a:endParaRPr lang="en-US" altLang="zh-CN" sz="2800" b="0" i="0" dirty="0">
              <a:solidFill>
                <a:srgbClr val="333333"/>
              </a:solidFill>
              <a:effectLst/>
              <a:latin typeface="+mn-ea"/>
            </a:endParaRPr>
          </a:p>
          <a:p>
            <a:pPr algn="l" latinLnBrk="1"/>
            <a:endParaRPr lang="en-US" altLang="zh-CN" sz="2800" dirty="0">
              <a:solidFill>
                <a:srgbClr val="333333"/>
              </a:solidFill>
              <a:latin typeface="+mn-ea"/>
            </a:endParaRPr>
          </a:p>
          <a:p>
            <a:pPr algn="l" latinLnBrk="1"/>
            <a:endParaRPr lang="en-US" altLang="zh-CN" sz="2800" b="0" i="0" dirty="0">
              <a:solidFill>
                <a:srgbClr val="333333"/>
              </a:solidFill>
              <a:effectLst/>
              <a:latin typeface="+mn-ea"/>
            </a:endParaRPr>
          </a:p>
          <a:p>
            <a:pPr algn="l" latinLnBrk="1"/>
            <a:endParaRPr lang="en-US" altLang="zh-CN" sz="2800" b="0" i="0" dirty="0">
              <a:solidFill>
                <a:srgbClr val="333333"/>
              </a:solidFill>
              <a:effectLst/>
              <a:latin typeface="+mn-ea"/>
            </a:endParaRPr>
          </a:p>
          <a:p>
            <a:pPr algn="l" latinLnBrk="1"/>
            <a:r>
              <a:rPr lang="en-US" altLang="zh-CN" sz="2800" b="0" i="0" dirty="0">
                <a:solidFill>
                  <a:srgbClr val="000000"/>
                </a:solidFill>
                <a:effectLst/>
                <a:latin typeface="+mn-ea"/>
              </a:rPr>
              <a:t>•</a:t>
            </a:r>
            <a:r>
              <a:rPr lang="zh-CN" altLang="en-US" sz="2800" b="0" i="0" dirty="0">
                <a:solidFill>
                  <a:srgbClr val="333333"/>
                </a:solidFill>
                <a:effectLst/>
                <a:latin typeface="+mn-ea"/>
              </a:rPr>
              <a:t>使用 </a:t>
            </a:r>
            <a:r>
              <a:rPr lang="en-US" altLang="zh-CN" sz="2800" b="1" i="0" dirty="0">
                <a:solidFill>
                  <a:srgbClr val="333333"/>
                </a:solidFill>
                <a:effectLst/>
                <a:latin typeface="+mn-ea"/>
              </a:rPr>
              <a:t>const</a:t>
            </a:r>
            <a:r>
              <a:rPr lang="zh-CN" altLang="en-US" sz="2800" b="0" i="0" dirty="0">
                <a:solidFill>
                  <a:srgbClr val="333333"/>
                </a:solidFill>
                <a:effectLst/>
                <a:latin typeface="+mn-ea"/>
              </a:rPr>
              <a:t> 关键字。</a:t>
            </a:r>
            <a:endParaRPr lang="en-US" altLang="zh-CN" sz="2800" b="0" i="0" dirty="0">
              <a:solidFill>
                <a:srgbClr val="333333"/>
              </a:solidFill>
              <a:effectLst/>
              <a:latin typeface="+mn-ea"/>
            </a:endParaRPr>
          </a:p>
          <a:p>
            <a:pPr algn="l" latinLnBrk="1"/>
            <a:endParaRPr lang="en-US" altLang="zh-CN" sz="2800" b="0" i="0" dirty="0">
              <a:solidFill>
                <a:srgbClr val="333333"/>
              </a:solidFill>
              <a:effectLst/>
              <a:latin typeface="+mn-ea"/>
            </a:endParaRPr>
          </a:p>
          <a:p>
            <a:pPr algn="l" latinLnBrk="1"/>
            <a:endParaRPr lang="en-US" altLang="zh-CN" sz="2800" dirty="0">
              <a:solidFill>
                <a:srgbClr val="333333"/>
              </a:solidFill>
              <a:latin typeface="+mn-ea"/>
            </a:endParaRPr>
          </a:p>
          <a:p>
            <a:pPr algn="l" latinLnBrk="1"/>
            <a:endParaRPr lang="zh-CN" altLang="en-US" sz="2800" b="0" i="0" dirty="0">
              <a:solidFill>
                <a:srgbClr val="333333"/>
              </a:solidFill>
              <a:effectLst/>
              <a:latin typeface="+mn-ea"/>
            </a:endParaRPr>
          </a:p>
        </p:txBody>
      </p:sp>
      <p:pic>
        <p:nvPicPr>
          <p:cNvPr id="4" name="图片 3">
            <a:extLst>
              <a:ext uri="{FF2B5EF4-FFF2-40B4-BE49-F238E27FC236}">
                <a16:creationId xmlns:a16="http://schemas.microsoft.com/office/drawing/2014/main" id="{6E8F2506-BAB6-45DB-80D0-529C4C467AD2}"/>
              </a:ext>
            </a:extLst>
          </p:cNvPr>
          <p:cNvPicPr>
            <a:picLocks noChangeAspect="1"/>
          </p:cNvPicPr>
          <p:nvPr/>
        </p:nvPicPr>
        <p:blipFill>
          <a:blip r:embed="rId4"/>
          <a:stretch>
            <a:fillRect/>
          </a:stretch>
        </p:blipFill>
        <p:spPr>
          <a:xfrm>
            <a:off x="1026961" y="2729979"/>
            <a:ext cx="2430991" cy="975445"/>
          </a:xfrm>
          <a:prstGeom prst="rect">
            <a:avLst/>
          </a:prstGeom>
        </p:spPr>
      </p:pic>
      <p:pic>
        <p:nvPicPr>
          <p:cNvPr id="6" name="图片 5">
            <a:extLst>
              <a:ext uri="{FF2B5EF4-FFF2-40B4-BE49-F238E27FC236}">
                <a16:creationId xmlns:a16="http://schemas.microsoft.com/office/drawing/2014/main" id="{E773433E-7EF0-4558-B2B9-068711EDBA70}"/>
              </a:ext>
            </a:extLst>
          </p:cNvPr>
          <p:cNvPicPr>
            <a:picLocks noChangeAspect="1"/>
          </p:cNvPicPr>
          <p:nvPr/>
        </p:nvPicPr>
        <p:blipFill>
          <a:blip r:embed="rId5"/>
          <a:stretch>
            <a:fillRect/>
          </a:stretch>
        </p:blipFill>
        <p:spPr>
          <a:xfrm>
            <a:off x="929657" y="4385805"/>
            <a:ext cx="3185436" cy="335309"/>
          </a:xfrm>
          <a:prstGeom prst="rect">
            <a:avLst/>
          </a:prstGeom>
        </p:spPr>
      </p:pic>
    </p:spTree>
    <p:extLst>
      <p:ext uri="{BB962C8B-B14F-4D97-AF65-F5344CB8AC3E}">
        <p14:creationId xmlns:p14="http://schemas.microsoft.com/office/powerpoint/2010/main" val="3435755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字符串（</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string</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）的定义、输入与输出</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35337874-EEBF-422D-998E-5E2F1C2604CA}"/>
              </a:ext>
            </a:extLst>
          </p:cNvPr>
          <p:cNvSpPr txBox="1"/>
          <p:nvPr/>
        </p:nvSpPr>
        <p:spPr>
          <a:xfrm>
            <a:off x="1203649" y="1838131"/>
            <a:ext cx="10021077" cy="369332"/>
          </a:xfrm>
          <a:prstGeom prst="rect">
            <a:avLst/>
          </a:prstGeom>
          <a:noFill/>
        </p:spPr>
        <p:txBody>
          <a:bodyPr wrap="square" rtlCol="0">
            <a:spAutoFit/>
          </a:bodyPr>
          <a:lstStyle/>
          <a:p>
            <a:r>
              <a:rPr lang="zh-CN" altLang="en-US" dirty="0"/>
              <a:t>示例：</a:t>
            </a:r>
          </a:p>
        </p:txBody>
      </p:sp>
      <p:sp>
        <p:nvSpPr>
          <p:cNvPr id="6" name="文本框 5">
            <a:extLst>
              <a:ext uri="{FF2B5EF4-FFF2-40B4-BE49-F238E27FC236}">
                <a16:creationId xmlns:a16="http://schemas.microsoft.com/office/drawing/2014/main" id="{90097181-4CC8-4CA2-A60B-3B4411657E30}"/>
              </a:ext>
            </a:extLst>
          </p:cNvPr>
          <p:cNvSpPr txBox="1"/>
          <p:nvPr/>
        </p:nvSpPr>
        <p:spPr>
          <a:xfrm>
            <a:off x="6354147" y="1838131"/>
            <a:ext cx="1278293" cy="369332"/>
          </a:xfrm>
          <a:prstGeom prst="rect">
            <a:avLst/>
          </a:prstGeom>
          <a:noFill/>
        </p:spPr>
        <p:txBody>
          <a:bodyPr wrap="square" rtlCol="0">
            <a:spAutoFit/>
          </a:bodyPr>
          <a:lstStyle/>
          <a:p>
            <a:r>
              <a:rPr lang="zh-CN" altLang="en-US" dirty="0"/>
              <a:t>运行结果：</a:t>
            </a:r>
          </a:p>
        </p:txBody>
      </p:sp>
      <p:pic>
        <p:nvPicPr>
          <p:cNvPr id="3" name="图片 2">
            <a:extLst>
              <a:ext uri="{FF2B5EF4-FFF2-40B4-BE49-F238E27FC236}">
                <a16:creationId xmlns:a16="http://schemas.microsoft.com/office/drawing/2014/main" id="{58162B11-5A29-462E-9E98-531275535DE6}"/>
              </a:ext>
            </a:extLst>
          </p:cNvPr>
          <p:cNvPicPr>
            <a:picLocks noChangeAspect="1"/>
          </p:cNvPicPr>
          <p:nvPr/>
        </p:nvPicPr>
        <p:blipFill>
          <a:blip r:embed="rId4"/>
          <a:stretch>
            <a:fillRect/>
          </a:stretch>
        </p:blipFill>
        <p:spPr>
          <a:xfrm>
            <a:off x="1179689" y="2410447"/>
            <a:ext cx="3292125" cy="2918713"/>
          </a:xfrm>
          <a:prstGeom prst="rect">
            <a:avLst/>
          </a:prstGeom>
        </p:spPr>
      </p:pic>
      <p:pic>
        <p:nvPicPr>
          <p:cNvPr id="10" name="图片 9">
            <a:extLst>
              <a:ext uri="{FF2B5EF4-FFF2-40B4-BE49-F238E27FC236}">
                <a16:creationId xmlns:a16="http://schemas.microsoft.com/office/drawing/2014/main" id="{27FA24A3-259E-4AC3-90FF-0445E684654A}"/>
              </a:ext>
            </a:extLst>
          </p:cNvPr>
          <p:cNvPicPr>
            <a:picLocks noChangeAspect="1"/>
          </p:cNvPicPr>
          <p:nvPr/>
        </p:nvPicPr>
        <p:blipFill>
          <a:blip r:embed="rId5"/>
          <a:stretch>
            <a:fillRect/>
          </a:stretch>
        </p:blipFill>
        <p:spPr>
          <a:xfrm>
            <a:off x="6447453" y="2320925"/>
            <a:ext cx="3696020" cy="792549"/>
          </a:xfrm>
          <a:prstGeom prst="rect">
            <a:avLst/>
          </a:prstGeom>
        </p:spPr>
      </p:pic>
      <p:sp>
        <p:nvSpPr>
          <p:cNvPr id="16" name="文本框 15">
            <a:extLst>
              <a:ext uri="{FF2B5EF4-FFF2-40B4-BE49-F238E27FC236}">
                <a16:creationId xmlns:a16="http://schemas.microsoft.com/office/drawing/2014/main" id="{65924F48-406D-4E8F-97A1-ACA2F967E325}"/>
              </a:ext>
            </a:extLst>
          </p:cNvPr>
          <p:cNvSpPr txBox="1"/>
          <p:nvPr/>
        </p:nvSpPr>
        <p:spPr>
          <a:xfrm>
            <a:off x="7632440" y="4935894"/>
            <a:ext cx="3825552" cy="923330"/>
          </a:xfrm>
          <a:prstGeom prst="rect">
            <a:avLst/>
          </a:prstGeom>
          <a:noFill/>
        </p:spPr>
        <p:txBody>
          <a:bodyPr wrap="square" rtlCol="0">
            <a:spAutoFit/>
          </a:bodyPr>
          <a:lstStyle/>
          <a:p>
            <a:r>
              <a:rPr lang="en-US" altLang="zh-CN" dirty="0"/>
              <a:t>PS: </a:t>
            </a:r>
            <a:r>
              <a:rPr lang="zh-CN" altLang="en-US" dirty="0"/>
              <a:t>读取字符串的时候不需要加</a:t>
            </a:r>
            <a:r>
              <a:rPr lang="en-US" altLang="zh-CN" dirty="0"/>
              <a:t>&amp;</a:t>
            </a:r>
            <a:r>
              <a:rPr lang="zh-CN" altLang="en-US" dirty="0"/>
              <a:t>，因为这里</a:t>
            </a:r>
            <a:r>
              <a:rPr lang="en-US" altLang="zh-CN" dirty="0"/>
              <a:t>str</a:t>
            </a:r>
            <a:r>
              <a:rPr lang="zh-CN" altLang="en-US" dirty="0"/>
              <a:t>本身就是指针，已经可以认为是地址了。</a:t>
            </a:r>
          </a:p>
        </p:txBody>
      </p:sp>
      <p:sp>
        <p:nvSpPr>
          <p:cNvPr id="4" name="文本框 3">
            <a:extLst>
              <a:ext uri="{FF2B5EF4-FFF2-40B4-BE49-F238E27FC236}">
                <a16:creationId xmlns:a16="http://schemas.microsoft.com/office/drawing/2014/main" id="{E856B7CD-24B1-EC8E-FC73-61A8581B7883}"/>
              </a:ext>
            </a:extLst>
          </p:cNvPr>
          <p:cNvSpPr txBox="1"/>
          <p:nvPr/>
        </p:nvSpPr>
        <p:spPr>
          <a:xfrm>
            <a:off x="1114233" y="5397559"/>
            <a:ext cx="1289135" cy="307777"/>
          </a:xfrm>
          <a:prstGeom prst="rect">
            <a:avLst/>
          </a:prstGeom>
          <a:noFill/>
        </p:spPr>
        <p:txBody>
          <a:bodyPr wrap="none" rtlCol="0">
            <a:spAutoFit/>
          </a:bodyPr>
          <a:lstStyle/>
          <a:p>
            <a:r>
              <a:rPr lang="en-US" altLang="zh-CN" sz="1400" dirty="0" err="1">
                <a:solidFill>
                  <a:schemeClr val="bg1">
                    <a:lumMod val="50000"/>
                  </a:schemeClr>
                </a:solidFill>
              </a:rPr>
              <a:t>io_str_simple.c</a:t>
            </a:r>
            <a:endParaRPr lang="zh-CN" altLang="en-US" sz="1400" dirty="0">
              <a:solidFill>
                <a:schemeClr val="bg1">
                  <a:lumMod val="50000"/>
                </a:schemeClr>
              </a:solidFill>
            </a:endParaRPr>
          </a:p>
        </p:txBody>
      </p:sp>
    </p:spTree>
    <p:extLst>
      <p:ext uri="{BB962C8B-B14F-4D97-AF65-F5344CB8AC3E}">
        <p14:creationId xmlns:p14="http://schemas.microsoft.com/office/powerpoint/2010/main" val="1744251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9553206" cy="4401205"/>
          </a:xfrm>
          <a:prstGeom prst="rect">
            <a:avLst/>
          </a:prstGeom>
          <a:noFill/>
        </p:spPr>
        <p:txBody>
          <a:bodyPr wrap="square" rtlCol="0">
            <a:spAutoFit/>
          </a:bodyPr>
          <a:lstStyle/>
          <a:p>
            <a:pPr algn="l" latinLnBrk="1"/>
            <a:endParaRPr lang="en-US" altLang="zh-CN" sz="2800" b="0" i="0" dirty="0">
              <a:solidFill>
                <a:srgbClr val="333333"/>
              </a:solidFill>
              <a:effectLst/>
              <a:latin typeface="+mn-ea"/>
            </a:endParaRPr>
          </a:p>
          <a:p>
            <a:pPr algn="l" latinLnBrk="1"/>
            <a:r>
              <a:rPr lang="zh-CN" altLang="en-US" sz="2800" b="0" i="0" dirty="0">
                <a:solidFill>
                  <a:srgbClr val="333333"/>
                </a:solidFill>
                <a:effectLst/>
                <a:latin typeface="Helvetica Neue"/>
              </a:rPr>
              <a:t>存储类定义了 </a:t>
            </a:r>
            <a:r>
              <a:rPr lang="en-US" altLang="zh-CN" sz="2800" b="0" i="0" dirty="0">
                <a:solidFill>
                  <a:srgbClr val="333333"/>
                </a:solidFill>
                <a:effectLst/>
                <a:latin typeface="Helvetica Neue"/>
              </a:rPr>
              <a:t>C </a:t>
            </a:r>
            <a:r>
              <a:rPr lang="zh-CN" altLang="en-US" sz="2800" b="0" i="0" dirty="0">
                <a:solidFill>
                  <a:srgbClr val="333333"/>
                </a:solidFill>
                <a:effectLst/>
                <a:latin typeface="Helvetica Neue"/>
              </a:rPr>
              <a:t>程序中变量</a:t>
            </a:r>
            <a:r>
              <a:rPr lang="en-US" altLang="zh-CN" sz="2800" b="0" i="0" dirty="0">
                <a:solidFill>
                  <a:srgbClr val="333333"/>
                </a:solidFill>
                <a:effectLst/>
                <a:latin typeface="Helvetica Neue"/>
              </a:rPr>
              <a:t>/</a:t>
            </a:r>
            <a:r>
              <a:rPr lang="zh-CN" altLang="en-US" sz="2800" b="0" i="0" dirty="0">
                <a:solidFill>
                  <a:srgbClr val="333333"/>
                </a:solidFill>
                <a:effectLst/>
                <a:latin typeface="Helvetica Neue"/>
              </a:rPr>
              <a:t>函数的范围（可见性）和生命周期。这些说明符放置在它们所修饰的类型之前。</a:t>
            </a:r>
            <a:endParaRPr lang="en-US" altLang="zh-CN" sz="2800" b="0" i="0" dirty="0">
              <a:solidFill>
                <a:srgbClr val="333333"/>
              </a:solidFill>
              <a:effectLst/>
              <a:latin typeface="Helvetica Neue"/>
            </a:endParaRPr>
          </a:p>
          <a:p>
            <a:pPr algn="l" latinLnBrk="1"/>
            <a:r>
              <a:rPr lang="zh-CN" altLang="en-US" sz="2800" b="0" i="0" dirty="0">
                <a:solidFill>
                  <a:srgbClr val="333333"/>
                </a:solidFill>
                <a:effectLst/>
                <a:latin typeface="Helvetica Neue"/>
              </a:rPr>
              <a:t>下面是 </a:t>
            </a:r>
            <a:r>
              <a:rPr lang="en-US" altLang="zh-CN" sz="2800" b="0" i="0" dirty="0">
                <a:solidFill>
                  <a:srgbClr val="333333"/>
                </a:solidFill>
                <a:effectLst/>
                <a:latin typeface="Helvetica Neue"/>
              </a:rPr>
              <a:t>C </a:t>
            </a:r>
            <a:r>
              <a:rPr lang="zh-CN" altLang="en-US" sz="2800" b="0" i="0" dirty="0">
                <a:solidFill>
                  <a:srgbClr val="333333"/>
                </a:solidFill>
                <a:effectLst/>
                <a:latin typeface="Helvetica Neue"/>
              </a:rPr>
              <a:t>中可用的存储类：</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auto</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register</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static</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extern</a:t>
            </a:r>
          </a:p>
          <a:p>
            <a:pPr algn="l" latinLnBrk="1"/>
            <a:endParaRPr lang="en-US" altLang="zh-CN" sz="2800" dirty="0">
              <a:solidFill>
                <a:srgbClr val="333333"/>
              </a:solidFill>
              <a:latin typeface="+mn-ea"/>
            </a:endParaRPr>
          </a:p>
          <a:p>
            <a:pPr algn="l" latinLnBrk="1"/>
            <a:endParaRPr lang="zh-CN" altLang="en-US" sz="2800" b="0" i="0" dirty="0">
              <a:solidFill>
                <a:srgbClr val="333333"/>
              </a:solidFill>
              <a:effectLst/>
              <a:latin typeface="+mn-ea"/>
            </a:endParaRPr>
          </a:p>
        </p:txBody>
      </p:sp>
    </p:spTree>
    <p:extLst>
      <p:ext uri="{BB962C8B-B14F-4D97-AF65-F5344CB8AC3E}">
        <p14:creationId xmlns:p14="http://schemas.microsoft.com/office/powerpoint/2010/main" val="3414449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auto</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672880" cy="1815882"/>
          </a:xfrm>
          <a:prstGeom prst="rect">
            <a:avLst/>
          </a:prstGeom>
          <a:noFill/>
        </p:spPr>
        <p:txBody>
          <a:bodyPr wrap="square" rtlCol="0">
            <a:spAutoFit/>
          </a:bodyPr>
          <a:lstStyle/>
          <a:p>
            <a:pPr algn="l" latinLnBrk="1"/>
            <a:r>
              <a:rPr lang="en-US" altLang="zh-CN" sz="2800" b="1" i="0" dirty="0">
                <a:solidFill>
                  <a:srgbClr val="333333"/>
                </a:solidFill>
                <a:effectLst/>
                <a:latin typeface="Helvetica Neue"/>
              </a:rPr>
              <a:t>auto</a:t>
            </a:r>
            <a:r>
              <a:rPr lang="zh-CN" altLang="en-US" sz="2800" b="0" i="0" dirty="0">
                <a:solidFill>
                  <a:srgbClr val="333333"/>
                </a:solidFill>
                <a:effectLst/>
                <a:latin typeface="Helvetica Neue"/>
              </a:rPr>
              <a:t> 存储类是所有局部变量默认的存储类。即函数内部定义的变量</a:t>
            </a:r>
            <a:endParaRPr lang="en-US" altLang="zh-CN" sz="2800" b="0" i="0" dirty="0">
              <a:solidFill>
                <a:srgbClr val="333333"/>
              </a:solidFill>
              <a:effectLst/>
              <a:latin typeface="Helvetica Neue"/>
            </a:endParaRPr>
          </a:p>
          <a:p>
            <a:pPr algn="l" latinLnBrk="1"/>
            <a:endParaRPr lang="en-US" altLang="zh-CN" sz="2800" dirty="0">
              <a:solidFill>
                <a:srgbClr val="333333"/>
              </a:solidFill>
              <a:latin typeface="Helvetica Neue"/>
            </a:endParaRPr>
          </a:p>
          <a:p>
            <a:pPr algn="l" latinLnBrk="1"/>
            <a:r>
              <a:rPr lang="zh-CN" altLang="en-US" sz="2800" b="0" i="0" dirty="0">
                <a:solidFill>
                  <a:srgbClr val="333333"/>
                </a:solidFill>
                <a:effectLst/>
                <a:latin typeface="+mn-ea"/>
              </a:rPr>
              <a:t>下面定义的两个变量类型是一样的，</a:t>
            </a:r>
            <a:r>
              <a:rPr lang="en-US" altLang="zh-CN" sz="2800" b="1" i="0" dirty="0">
                <a:solidFill>
                  <a:srgbClr val="333333"/>
                </a:solidFill>
                <a:effectLst/>
                <a:latin typeface="+mn-ea"/>
              </a:rPr>
              <a:t>auto</a:t>
            </a:r>
            <a:r>
              <a:rPr lang="zh-CN" altLang="en-US" sz="2800" dirty="0">
                <a:solidFill>
                  <a:srgbClr val="333333"/>
                </a:solidFill>
                <a:latin typeface="+mn-ea"/>
              </a:rPr>
              <a:t>相当于</a:t>
            </a:r>
            <a:r>
              <a:rPr lang="zh-CN" altLang="en-US" sz="2800" b="0" i="0" dirty="0">
                <a:solidFill>
                  <a:srgbClr val="333333"/>
                </a:solidFill>
                <a:effectLst/>
                <a:latin typeface="+mn-ea"/>
              </a:rPr>
              <a:t>限定变量只能在函数内部使用。</a:t>
            </a:r>
          </a:p>
        </p:txBody>
      </p:sp>
      <p:pic>
        <p:nvPicPr>
          <p:cNvPr id="4" name="图片 3">
            <a:extLst>
              <a:ext uri="{FF2B5EF4-FFF2-40B4-BE49-F238E27FC236}">
                <a16:creationId xmlns:a16="http://schemas.microsoft.com/office/drawing/2014/main" id="{1DE64C1D-2321-476C-8790-F813D3719184}"/>
              </a:ext>
            </a:extLst>
          </p:cNvPr>
          <p:cNvPicPr>
            <a:picLocks noChangeAspect="1"/>
          </p:cNvPicPr>
          <p:nvPr/>
        </p:nvPicPr>
        <p:blipFill>
          <a:blip r:embed="rId4"/>
          <a:stretch>
            <a:fillRect/>
          </a:stretch>
        </p:blipFill>
        <p:spPr>
          <a:xfrm>
            <a:off x="813104" y="3614511"/>
            <a:ext cx="3741744" cy="1714649"/>
          </a:xfrm>
          <a:prstGeom prst="rect">
            <a:avLst/>
          </a:prstGeom>
        </p:spPr>
      </p:pic>
    </p:spTree>
    <p:extLst>
      <p:ext uri="{BB962C8B-B14F-4D97-AF65-F5344CB8AC3E}">
        <p14:creationId xmlns:p14="http://schemas.microsoft.com/office/powerpoint/2010/main" val="2808492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register</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672880" cy="3108543"/>
          </a:xfrm>
          <a:prstGeom prst="rect">
            <a:avLst/>
          </a:prstGeom>
          <a:noFill/>
        </p:spPr>
        <p:txBody>
          <a:bodyPr wrap="square" rtlCol="0">
            <a:spAutoFit/>
          </a:bodyPr>
          <a:lstStyle/>
          <a:p>
            <a:pPr algn="l" latinLnBrk="1"/>
            <a:r>
              <a:rPr lang="en-US" altLang="zh-CN" sz="2800" b="1" i="0" dirty="0">
                <a:solidFill>
                  <a:srgbClr val="000000"/>
                </a:solidFill>
                <a:effectLst/>
                <a:latin typeface="PingFang SC"/>
              </a:rPr>
              <a:t>register</a:t>
            </a:r>
            <a:r>
              <a:rPr lang="zh-CN" altLang="en-US" sz="2800" b="0" i="0" dirty="0">
                <a:solidFill>
                  <a:srgbClr val="000000"/>
                </a:solidFill>
                <a:effectLst/>
                <a:latin typeface="PingFang SC"/>
              </a:rPr>
              <a:t> 存储类用于定义存储在寄存器中而不是 </a:t>
            </a:r>
            <a:r>
              <a:rPr lang="en-US" altLang="zh-CN" sz="2800" b="0" i="0" dirty="0">
                <a:solidFill>
                  <a:srgbClr val="000000"/>
                </a:solidFill>
                <a:effectLst/>
                <a:latin typeface="PingFang SC"/>
              </a:rPr>
              <a:t>RAM </a:t>
            </a:r>
            <a:r>
              <a:rPr lang="zh-CN" altLang="en-US" sz="2800" b="0" i="0" dirty="0">
                <a:solidFill>
                  <a:srgbClr val="000000"/>
                </a:solidFill>
                <a:effectLst/>
                <a:latin typeface="PingFang SC"/>
              </a:rPr>
              <a:t>中的局部变量。</a:t>
            </a:r>
            <a:endParaRPr lang="en-US" altLang="zh-CN" sz="2800" b="0" i="0" dirty="0">
              <a:solidFill>
                <a:srgbClr val="000000"/>
              </a:solidFill>
              <a:effectLst/>
              <a:latin typeface="PingFang SC"/>
            </a:endParaRPr>
          </a:p>
          <a:p>
            <a:pPr algn="l" latinLnBrk="1"/>
            <a:endParaRPr lang="en-US" altLang="zh-CN" sz="2800" dirty="0">
              <a:solidFill>
                <a:srgbClr val="000000"/>
              </a:solidFill>
              <a:latin typeface="PingFang SC"/>
            </a:endParaRPr>
          </a:p>
          <a:p>
            <a:pPr algn="l" latinLnBrk="1"/>
            <a:endParaRPr lang="en-US" altLang="zh-CN" sz="2800" b="0" i="0" dirty="0">
              <a:solidFill>
                <a:srgbClr val="000000"/>
              </a:solidFill>
              <a:effectLst/>
              <a:latin typeface="PingFang SC"/>
            </a:endParaRPr>
          </a:p>
          <a:p>
            <a:pPr algn="l" latinLnBrk="1"/>
            <a:endParaRPr lang="en-US" altLang="zh-CN" sz="2800" b="0" i="0" dirty="0">
              <a:solidFill>
                <a:srgbClr val="000000"/>
              </a:solidFill>
              <a:effectLst/>
              <a:latin typeface="PingFang SC"/>
            </a:endParaRPr>
          </a:p>
          <a:p>
            <a:pPr algn="l" latinLnBrk="1"/>
            <a:r>
              <a:rPr lang="zh-CN" altLang="en-US" sz="2800" b="0" i="0" dirty="0">
                <a:solidFill>
                  <a:srgbClr val="000000"/>
                </a:solidFill>
                <a:effectLst/>
                <a:latin typeface="PingFang SC"/>
              </a:rPr>
              <a:t>意味着变量的最大尺寸等于寄存器的大小，且不能对它应用一元的 </a:t>
            </a:r>
            <a:r>
              <a:rPr lang="en-US" altLang="zh-CN" sz="2800" b="0" i="0" dirty="0">
                <a:solidFill>
                  <a:srgbClr val="000000"/>
                </a:solidFill>
                <a:effectLst/>
                <a:latin typeface="PingFang SC"/>
              </a:rPr>
              <a:t>‘&amp;’ </a:t>
            </a:r>
            <a:r>
              <a:rPr lang="zh-CN" altLang="en-US" sz="2800" b="0" i="0" dirty="0">
                <a:solidFill>
                  <a:srgbClr val="000000"/>
                </a:solidFill>
                <a:effectLst/>
                <a:latin typeface="PingFang SC"/>
              </a:rPr>
              <a:t>运算符（因为它没有内存位置）。所以下面这样写是错的。</a:t>
            </a:r>
            <a:endParaRPr lang="zh-CN" altLang="en-US" sz="2800" b="0" i="0" dirty="0">
              <a:solidFill>
                <a:srgbClr val="333333"/>
              </a:solidFill>
              <a:effectLst/>
              <a:latin typeface="+mn-ea"/>
            </a:endParaRPr>
          </a:p>
        </p:txBody>
      </p:sp>
      <p:pic>
        <p:nvPicPr>
          <p:cNvPr id="7" name="图片 6">
            <a:extLst>
              <a:ext uri="{FF2B5EF4-FFF2-40B4-BE49-F238E27FC236}">
                <a16:creationId xmlns:a16="http://schemas.microsoft.com/office/drawing/2014/main" id="{0A79D59B-2204-4FA1-8664-FEC127DF7204}"/>
              </a:ext>
            </a:extLst>
          </p:cNvPr>
          <p:cNvPicPr>
            <a:picLocks noChangeAspect="1"/>
          </p:cNvPicPr>
          <p:nvPr/>
        </p:nvPicPr>
        <p:blipFill>
          <a:blip r:embed="rId4"/>
          <a:stretch>
            <a:fillRect/>
          </a:stretch>
        </p:blipFill>
        <p:spPr>
          <a:xfrm>
            <a:off x="813104" y="2224936"/>
            <a:ext cx="3756986" cy="1204064"/>
          </a:xfrm>
          <a:prstGeom prst="rect">
            <a:avLst/>
          </a:prstGeom>
        </p:spPr>
      </p:pic>
      <p:pic>
        <p:nvPicPr>
          <p:cNvPr id="4" name="图片 3">
            <a:extLst>
              <a:ext uri="{FF2B5EF4-FFF2-40B4-BE49-F238E27FC236}">
                <a16:creationId xmlns:a16="http://schemas.microsoft.com/office/drawing/2014/main" id="{2277E00B-1F41-4D19-95FB-1A849DC8FF66}"/>
              </a:ext>
            </a:extLst>
          </p:cNvPr>
          <p:cNvPicPr>
            <a:picLocks noChangeAspect="1"/>
          </p:cNvPicPr>
          <p:nvPr/>
        </p:nvPicPr>
        <p:blipFill>
          <a:blip r:embed="rId5"/>
          <a:stretch>
            <a:fillRect/>
          </a:stretch>
        </p:blipFill>
        <p:spPr>
          <a:xfrm>
            <a:off x="958248" y="4894086"/>
            <a:ext cx="3756986" cy="1378660"/>
          </a:xfrm>
          <a:prstGeom prst="rect">
            <a:avLst/>
          </a:prstGeom>
        </p:spPr>
      </p:pic>
    </p:spTree>
    <p:extLst>
      <p:ext uri="{BB962C8B-B14F-4D97-AF65-F5344CB8AC3E}">
        <p14:creationId xmlns:p14="http://schemas.microsoft.com/office/powerpoint/2010/main" val="3758766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a:gradFill>
                  <a:gsLst>
                    <a:gs pos="100000">
                      <a:schemeClr val="bg1"/>
                    </a:gs>
                    <a:gs pos="0">
                      <a:schemeClr val="bg1">
                        <a:lumMod val="95000"/>
                      </a:schemeClr>
                    </a:gs>
                  </a:gsLst>
                  <a:path path="circle">
                    <a:fillToRect l="100000" b="100000"/>
                  </a:path>
                </a:gradFill>
                <a:ea typeface="微软雅黑" panose="020B0503020204020204" pitchFamily="34" charset="-122"/>
              </a:rPr>
              <a:t>static</a:t>
            </a:r>
            <a:r>
              <a:rPr lang="zh-CN" altLang="en-US" sz="2800" b="1" kern="0">
                <a:gradFill>
                  <a:gsLst>
                    <a:gs pos="100000">
                      <a:schemeClr val="bg1"/>
                    </a:gs>
                    <a:gs pos="0">
                      <a:schemeClr val="bg1">
                        <a:lumMod val="95000"/>
                      </a:schemeClr>
                    </a:gs>
                  </a:gsLst>
                  <a:path path="circle">
                    <a:fillToRect l="100000" b="100000"/>
                  </a:path>
                </a:gradFill>
                <a:ea typeface="微软雅黑" panose="020B0503020204020204" pitchFamily="34" charset="-122"/>
              </a:rPr>
              <a:t>存储</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681135" y="1766488"/>
            <a:ext cx="10804849" cy="3539430"/>
          </a:xfrm>
          <a:prstGeom prst="rect">
            <a:avLst/>
          </a:prstGeom>
          <a:noFill/>
        </p:spPr>
        <p:txBody>
          <a:bodyPr wrap="square" rtlCol="0">
            <a:spAutoFit/>
          </a:bodyPr>
          <a:lstStyle/>
          <a:p>
            <a:pPr algn="l"/>
            <a:r>
              <a:rPr lang="en-US" altLang="zh-CN" sz="2800" b="0" i="0" dirty="0">
                <a:solidFill>
                  <a:srgbClr val="000000"/>
                </a:solidFill>
                <a:effectLst/>
                <a:latin typeface="+mn-ea"/>
              </a:rPr>
              <a:t>•</a:t>
            </a:r>
            <a:r>
              <a:rPr lang="zh-CN" altLang="en-US" sz="2800" b="0" i="0" dirty="0">
                <a:solidFill>
                  <a:srgbClr val="121212"/>
                </a:solidFill>
                <a:effectLst/>
                <a:latin typeface="+mn-ea"/>
              </a:rPr>
              <a:t>用</a:t>
            </a:r>
            <a:r>
              <a:rPr lang="en-US" altLang="zh-CN" sz="2800" b="1" dirty="0">
                <a:solidFill>
                  <a:srgbClr val="121212"/>
                </a:solidFill>
                <a:effectLst/>
                <a:latin typeface="+mn-ea"/>
              </a:rPr>
              <a:t>static</a:t>
            </a:r>
            <a:r>
              <a:rPr lang="zh-CN" altLang="en-US" sz="2800" b="0" i="0" dirty="0">
                <a:solidFill>
                  <a:srgbClr val="121212"/>
                </a:solidFill>
                <a:effectLst/>
                <a:latin typeface="+mn-ea"/>
              </a:rPr>
              <a:t>修饰变量后，变量的生命周期变成程序结束为止。</a:t>
            </a:r>
            <a:endParaRPr lang="en-US" altLang="zh-CN" sz="2800" b="0" i="0" dirty="0">
              <a:solidFill>
                <a:srgbClr val="121212"/>
              </a:solidFill>
              <a:effectLst/>
              <a:latin typeface="+mn-ea"/>
            </a:endParaRPr>
          </a:p>
          <a:p>
            <a:pPr algn="l"/>
            <a:r>
              <a:rPr lang="en-US" altLang="zh-CN" sz="2800" b="0" i="0" dirty="0">
                <a:solidFill>
                  <a:srgbClr val="000000"/>
                </a:solidFill>
                <a:effectLst/>
                <a:latin typeface="+mn-ea"/>
              </a:rPr>
              <a:t>•</a:t>
            </a:r>
            <a:r>
              <a:rPr lang="zh-CN" altLang="en-US" sz="2800" b="0" i="0" dirty="0">
                <a:solidFill>
                  <a:srgbClr val="000000"/>
                </a:solidFill>
                <a:effectLst/>
                <a:latin typeface="+mn-ea"/>
              </a:rPr>
              <a:t>用</a:t>
            </a:r>
            <a:r>
              <a:rPr lang="en-US" altLang="zh-CN" sz="2800" b="1" i="0" dirty="0">
                <a:solidFill>
                  <a:srgbClr val="000000"/>
                </a:solidFill>
                <a:effectLst/>
                <a:latin typeface="+mn-ea"/>
              </a:rPr>
              <a:t>static</a:t>
            </a:r>
            <a:r>
              <a:rPr lang="zh-CN" altLang="en-US" sz="2800" b="0" i="0" dirty="0">
                <a:solidFill>
                  <a:srgbClr val="121212"/>
                </a:solidFill>
                <a:effectLst/>
                <a:latin typeface="+mn-ea"/>
              </a:rPr>
              <a:t>修饰全局变量，则全局变量的作用域从原来的整个程序，     </a:t>
            </a:r>
            <a:r>
              <a:rPr lang="en-US" altLang="zh-CN" sz="2800" dirty="0">
                <a:solidFill>
                  <a:srgbClr val="121212"/>
                </a:solidFill>
                <a:latin typeface="+mn-ea"/>
              </a:rPr>
              <a:t>   </a:t>
            </a:r>
            <a:r>
              <a:rPr lang="zh-CN" altLang="en-US" sz="2800" b="0" i="0" dirty="0">
                <a:solidFill>
                  <a:srgbClr val="121212"/>
                </a:solidFill>
                <a:effectLst/>
                <a:latin typeface="+mn-ea"/>
              </a:rPr>
              <a:t>变为静态全局变量所在的文件内部；修饰局部变量，作用域不变。</a:t>
            </a:r>
            <a:endParaRPr lang="en-US" altLang="zh-CN" sz="2800" b="0" i="0" dirty="0">
              <a:solidFill>
                <a:srgbClr val="121212"/>
              </a:solidFill>
              <a:effectLst/>
              <a:latin typeface="+mn-ea"/>
            </a:endParaRPr>
          </a:p>
          <a:p>
            <a:pPr algn="l"/>
            <a:r>
              <a:rPr lang="en-US" altLang="zh-CN" sz="2800" b="0" i="0" dirty="0">
                <a:solidFill>
                  <a:srgbClr val="000000"/>
                </a:solidFill>
                <a:effectLst/>
                <a:latin typeface="+mn-ea"/>
              </a:rPr>
              <a:t>•</a:t>
            </a:r>
            <a:r>
              <a:rPr lang="zh-CN" altLang="en-US" sz="2800" b="0" i="0" dirty="0">
                <a:solidFill>
                  <a:srgbClr val="121212"/>
                </a:solidFill>
                <a:effectLst/>
                <a:latin typeface="-apple-system"/>
              </a:rPr>
              <a:t>用</a:t>
            </a:r>
            <a:r>
              <a:rPr lang="en-US" altLang="zh-CN" sz="2800" b="1" dirty="0">
                <a:solidFill>
                  <a:srgbClr val="121212"/>
                </a:solidFill>
                <a:effectLst/>
                <a:latin typeface="-apple-system"/>
              </a:rPr>
              <a:t>static</a:t>
            </a:r>
            <a:r>
              <a:rPr lang="zh-CN" altLang="en-US" sz="2800" b="0" i="0" dirty="0">
                <a:solidFill>
                  <a:srgbClr val="121212"/>
                </a:solidFill>
                <a:effectLst/>
                <a:latin typeface="-apple-system"/>
              </a:rPr>
              <a:t>修饰的变量，存储位置是全局数据区（即静态区）。</a:t>
            </a:r>
            <a:endParaRPr lang="en-US" altLang="zh-CN" sz="2800" b="0" i="0" dirty="0">
              <a:solidFill>
                <a:srgbClr val="121212"/>
              </a:solidFill>
              <a:effectLst/>
              <a:latin typeface="-apple-system"/>
            </a:endParaRPr>
          </a:p>
          <a:p>
            <a:pPr algn="l"/>
            <a:endParaRPr lang="en-US" altLang="zh-CN" sz="2800" dirty="0">
              <a:solidFill>
                <a:srgbClr val="121212"/>
              </a:solidFill>
              <a:latin typeface="-apple-system"/>
            </a:endParaRPr>
          </a:p>
          <a:p>
            <a:pPr algn="l"/>
            <a:r>
              <a:rPr lang="zh-CN" altLang="en-US" sz="2800" b="0" i="0" dirty="0">
                <a:solidFill>
                  <a:srgbClr val="121212"/>
                </a:solidFill>
                <a:effectLst/>
                <a:latin typeface="-apple-system"/>
              </a:rPr>
              <a:t> </a:t>
            </a:r>
            <a:r>
              <a:rPr lang="en-US" altLang="zh-CN" sz="2800" b="0" i="0" dirty="0">
                <a:solidFill>
                  <a:srgbClr val="121212"/>
                </a:solidFill>
                <a:effectLst/>
                <a:latin typeface="-apple-system"/>
              </a:rPr>
              <a:t>PS</a:t>
            </a:r>
            <a:r>
              <a:rPr lang="zh-CN" altLang="en-US" sz="2800" b="0" i="0" dirty="0">
                <a:solidFill>
                  <a:srgbClr val="121212"/>
                </a:solidFill>
                <a:effectLst/>
                <a:latin typeface="-apple-system"/>
              </a:rPr>
              <a:t>：修饰之前，全局变量存储在全局数据区，局部变量存储在栈区。</a:t>
            </a:r>
            <a:endParaRPr lang="en-US" altLang="zh-CN" sz="2800" b="0" i="0" dirty="0">
              <a:solidFill>
                <a:srgbClr val="121212"/>
              </a:solidFill>
              <a:effectLst/>
              <a:latin typeface="+mn-ea"/>
            </a:endParaRPr>
          </a:p>
          <a:p>
            <a:pPr algn="l"/>
            <a:endParaRPr lang="zh-CN" altLang="en-US" sz="2800" b="0" i="0" dirty="0">
              <a:solidFill>
                <a:srgbClr val="121212"/>
              </a:solidFill>
              <a:effectLst/>
              <a:latin typeface="+mn-ea"/>
            </a:endParaRPr>
          </a:p>
          <a:p>
            <a:pPr algn="l"/>
            <a:endParaRPr lang="zh-CN" altLang="en-US" sz="2800" b="0" i="0" dirty="0">
              <a:solidFill>
                <a:srgbClr val="121212"/>
              </a:solidFill>
              <a:effectLst/>
              <a:latin typeface="+mn-ea"/>
            </a:endParaRPr>
          </a:p>
        </p:txBody>
      </p:sp>
    </p:spTree>
    <p:extLst>
      <p:ext uri="{BB962C8B-B14F-4D97-AF65-F5344CB8AC3E}">
        <p14:creationId xmlns:p14="http://schemas.microsoft.com/office/powerpoint/2010/main" val="678858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extern</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681135" y="1766488"/>
            <a:ext cx="10804849" cy="2677656"/>
          </a:xfrm>
          <a:prstGeom prst="rect">
            <a:avLst/>
          </a:prstGeom>
          <a:noFill/>
        </p:spPr>
        <p:txBody>
          <a:bodyPr wrap="square" rtlCol="0">
            <a:spAutoFit/>
          </a:bodyPr>
          <a:lstStyle/>
          <a:p>
            <a:r>
              <a:rPr lang="en-US" altLang="zh-CN" sz="2800" b="1" dirty="0"/>
              <a:t>extern</a:t>
            </a:r>
            <a:r>
              <a:rPr lang="zh-CN" altLang="en-US" sz="2800" dirty="0"/>
              <a:t> 存储类用于提供一个全局变量的引用，全局变量对所有的程序文件都是可见的。当有多个文件且定义了一个可以在其他文件中使用的全局变量或函数时，可以在其他文件中使用 </a:t>
            </a:r>
            <a:r>
              <a:rPr lang="en-US" altLang="zh-CN" sz="2800" b="1" dirty="0"/>
              <a:t>extern</a:t>
            </a:r>
            <a:r>
              <a:rPr lang="zh-CN" altLang="en-US" sz="2800" dirty="0"/>
              <a:t> 来得到已定义的变量或函数的引用。</a:t>
            </a:r>
            <a:br>
              <a:rPr lang="zh-CN" altLang="en-US" sz="2800" dirty="0"/>
            </a:br>
            <a:r>
              <a:rPr lang="zh-CN" altLang="en-US" sz="2800" dirty="0"/>
              <a:t>下面是一个例子：</a:t>
            </a:r>
            <a:endParaRPr lang="en-US" altLang="zh-CN" sz="2800" dirty="0"/>
          </a:p>
          <a:p>
            <a:r>
              <a:rPr lang="en-US" altLang="zh-CN" sz="1600" dirty="0"/>
              <a:t> </a:t>
            </a:r>
            <a:r>
              <a:rPr lang="zh-CN" altLang="en-US" sz="1600" dirty="0"/>
              <a:t>第一个文件：</a:t>
            </a:r>
            <a:r>
              <a:rPr lang="en-US" altLang="zh-CN" sz="1600" dirty="0"/>
              <a:t>		</a:t>
            </a:r>
            <a:r>
              <a:rPr lang="zh-CN" altLang="en-US" sz="1600" dirty="0"/>
              <a:t>第二个文件</a:t>
            </a:r>
            <a:r>
              <a:rPr lang="en-US" altLang="zh-CN" sz="2800" dirty="0"/>
              <a:t>			</a:t>
            </a:r>
            <a:r>
              <a:rPr lang="zh-CN" altLang="en-US" sz="1600" dirty="0"/>
              <a:t>编译运行结果：</a:t>
            </a:r>
            <a:r>
              <a:rPr lang="en-US" altLang="zh-CN" sz="1600" dirty="0"/>
              <a:t>	</a:t>
            </a:r>
            <a:endParaRPr lang="zh-CN" altLang="en-US" sz="2800" dirty="0"/>
          </a:p>
        </p:txBody>
      </p:sp>
      <p:pic>
        <p:nvPicPr>
          <p:cNvPr id="8" name="图片 7">
            <a:extLst>
              <a:ext uri="{FF2B5EF4-FFF2-40B4-BE49-F238E27FC236}">
                <a16:creationId xmlns:a16="http://schemas.microsoft.com/office/drawing/2014/main" id="{00E41E87-CE68-4D6A-BCED-B96F4BC841FE}"/>
              </a:ext>
            </a:extLst>
          </p:cNvPr>
          <p:cNvPicPr>
            <a:picLocks noChangeAspect="1"/>
          </p:cNvPicPr>
          <p:nvPr/>
        </p:nvPicPr>
        <p:blipFill>
          <a:blip r:embed="rId4"/>
          <a:stretch>
            <a:fillRect/>
          </a:stretch>
        </p:blipFill>
        <p:spPr>
          <a:xfrm>
            <a:off x="706016" y="4353715"/>
            <a:ext cx="2126164" cy="975445"/>
          </a:xfrm>
          <a:prstGeom prst="rect">
            <a:avLst/>
          </a:prstGeom>
        </p:spPr>
      </p:pic>
      <p:pic>
        <p:nvPicPr>
          <p:cNvPr id="12" name="图片 11">
            <a:extLst>
              <a:ext uri="{FF2B5EF4-FFF2-40B4-BE49-F238E27FC236}">
                <a16:creationId xmlns:a16="http://schemas.microsoft.com/office/drawing/2014/main" id="{3BED6C0C-2D24-4E75-8F64-7C9A20751BE0}"/>
              </a:ext>
            </a:extLst>
          </p:cNvPr>
          <p:cNvPicPr>
            <a:picLocks noChangeAspect="1"/>
          </p:cNvPicPr>
          <p:nvPr/>
        </p:nvPicPr>
        <p:blipFill>
          <a:blip r:embed="rId5"/>
          <a:stretch>
            <a:fillRect/>
          </a:stretch>
        </p:blipFill>
        <p:spPr>
          <a:xfrm>
            <a:off x="3558641" y="4444144"/>
            <a:ext cx="3040643" cy="1821338"/>
          </a:xfrm>
          <a:prstGeom prst="rect">
            <a:avLst/>
          </a:prstGeom>
        </p:spPr>
      </p:pic>
      <p:pic>
        <p:nvPicPr>
          <p:cNvPr id="14" name="图片 13">
            <a:extLst>
              <a:ext uri="{FF2B5EF4-FFF2-40B4-BE49-F238E27FC236}">
                <a16:creationId xmlns:a16="http://schemas.microsoft.com/office/drawing/2014/main" id="{174986AB-2038-4F4A-9473-29C6244074A2}"/>
              </a:ext>
            </a:extLst>
          </p:cNvPr>
          <p:cNvPicPr>
            <a:picLocks noChangeAspect="1"/>
          </p:cNvPicPr>
          <p:nvPr/>
        </p:nvPicPr>
        <p:blipFill>
          <a:blip r:embed="rId6"/>
          <a:stretch>
            <a:fillRect/>
          </a:stretch>
        </p:blipFill>
        <p:spPr>
          <a:xfrm>
            <a:off x="7093692" y="4414820"/>
            <a:ext cx="4983912" cy="624894"/>
          </a:xfrm>
          <a:prstGeom prst="rect">
            <a:avLst/>
          </a:prstGeom>
        </p:spPr>
      </p:pic>
    </p:spTree>
    <p:extLst>
      <p:ext uri="{BB962C8B-B14F-4D97-AF65-F5344CB8AC3E}">
        <p14:creationId xmlns:p14="http://schemas.microsoft.com/office/powerpoint/2010/main" val="699264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extern</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597160" y="2044005"/>
            <a:ext cx="10804849" cy="1384995"/>
          </a:xfrm>
          <a:prstGeom prst="rect">
            <a:avLst/>
          </a:prstGeom>
          <a:noFill/>
        </p:spPr>
        <p:txBody>
          <a:bodyPr wrap="square" rtlCol="0">
            <a:spAutoFit/>
          </a:bodyPr>
          <a:lstStyle/>
          <a:p>
            <a:r>
              <a:rPr lang="zh-CN" altLang="en-US" sz="2800" dirty="0"/>
              <a:t>如果把</a:t>
            </a:r>
            <a:r>
              <a:rPr lang="en-US" altLang="zh-CN" sz="2800" dirty="0" err="1"/>
              <a:t>a.c</a:t>
            </a:r>
            <a:r>
              <a:rPr lang="zh-CN" altLang="en-US" sz="2800" dirty="0"/>
              <a:t>中</a:t>
            </a:r>
            <a:r>
              <a:rPr lang="en-US" altLang="zh-CN" sz="2800" dirty="0"/>
              <a:t>a</a:t>
            </a:r>
            <a:r>
              <a:rPr lang="zh-CN" altLang="en-US" sz="2800" dirty="0"/>
              <a:t>的定义加上</a:t>
            </a:r>
            <a:r>
              <a:rPr lang="en-US" altLang="zh-CN" sz="2800" dirty="0"/>
              <a:t>static</a:t>
            </a:r>
            <a:r>
              <a:rPr lang="zh-CN" altLang="en-US" sz="2800" dirty="0"/>
              <a:t>就会编译错误，因为用</a:t>
            </a:r>
            <a:r>
              <a:rPr lang="en-US" altLang="zh-CN" sz="2800" dirty="0"/>
              <a:t>static</a:t>
            </a:r>
            <a:r>
              <a:rPr lang="zh-CN" altLang="en-US" sz="2800" dirty="0"/>
              <a:t>修饰后对于其他文件就是不可见的了。</a:t>
            </a:r>
            <a:endParaRPr lang="en-US" altLang="zh-CN" sz="2800" dirty="0"/>
          </a:p>
          <a:p>
            <a:r>
              <a:rPr lang="zh-CN" altLang="en-US" sz="1600" dirty="0"/>
              <a:t>第一个文件：</a:t>
            </a:r>
            <a:r>
              <a:rPr lang="en-US" altLang="zh-CN" sz="1600" dirty="0"/>
              <a:t>	</a:t>
            </a:r>
            <a:r>
              <a:rPr lang="en-US" altLang="zh-CN" sz="2800" dirty="0"/>
              <a:t>	</a:t>
            </a:r>
            <a:r>
              <a:rPr lang="zh-CN" altLang="en-US" sz="1600" dirty="0"/>
              <a:t>编译结果：</a:t>
            </a:r>
            <a:r>
              <a:rPr lang="en-US" altLang="zh-CN" sz="1600" dirty="0"/>
              <a:t>	</a:t>
            </a:r>
            <a:endParaRPr lang="zh-CN" altLang="en-US" sz="2800" dirty="0"/>
          </a:p>
        </p:txBody>
      </p:sp>
      <p:pic>
        <p:nvPicPr>
          <p:cNvPr id="4" name="图片 3">
            <a:extLst>
              <a:ext uri="{FF2B5EF4-FFF2-40B4-BE49-F238E27FC236}">
                <a16:creationId xmlns:a16="http://schemas.microsoft.com/office/drawing/2014/main" id="{14E13DA8-5560-400A-A3CD-0CFA78E43181}"/>
              </a:ext>
            </a:extLst>
          </p:cNvPr>
          <p:cNvPicPr>
            <a:picLocks noChangeAspect="1"/>
          </p:cNvPicPr>
          <p:nvPr/>
        </p:nvPicPr>
        <p:blipFill>
          <a:blip r:embed="rId4"/>
          <a:stretch>
            <a:fillRect/>
          </a:stretch>
        </p:blipFill>
        <p:spPr>
          <a:xfrm>
            <a:off x="3402224" y="3440961"/>
            <a:ext cx="8606275" cy="617273"/>
          </a:xfrm>
          <a:prstGeom prst="rect">
            <a:avLst/>
          </a:prstGeom>
        </p:spPr>
      </p:pic>
      <p:pic>
        <p:nvPicPr>
          <p:cNvPr id="6" name="图片 5">
            <a:extLst>
              <a:ext uri="{FF2B5EF4-FFF2-40B4-BE49-F238E27FC236}">
                <a16:creationId xmlns:a16="http://schemas.microsoft.com/office/drawing/2014/main" id="{59559788-DDB2-4448-9D51-7EEA21386F72}"/>
              </a:ext>
            </a:extLst>
          </p:cNvPr>
          <p:cNvPicPr>
            <a:picLocks noChangeAspect="1"/>
          </p:cNvPicPr>
          <p:nvPr/>
        </p:nvPicPr>
        <p:blipFill>
          <a:blip r:embed="rId5"/>
          <a:stretch>
            <a:fillRect/>
          </a:stretch>
        </p:blipFill>
        <p:spPr>
          <a:xfrm>
            <a:off x="597160" y="3440961"/>
            <a:ext cx="2400508" cy="1005927"/>
          </a:xfrm>
          <a:prstGeom prst="rect">
            <a:avLst/>
          </a:prstGeom>
        </p:spPr>
      </p:pic>
    </p:spTree>
    <p:extLst>
      <p:ext uri="{BB962C8B-B14F-4D97-AF65-F5344CB8AC3E}">
        <p14:creationId xmlns:p14="http://schemas.microsoft.com/office/powerpoint/2010/main" val="3817377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强制类型转换</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a:extLst>
              <a:ext uri="{FF2B5EF4-FFF2-40B4-BE49-F238E27FC236}">
                <a16:creationId xmlns:a16="http://schemas.microsoft.com/office/drawing/2014/main" id="{E3E63B84-E0FC-4660-B869-F32CB3E39636}"/>
              </a:ext>
            </a:extLst>
          </p:cNvPr>
          <p:cNvSpPr txBox="1"/>
          <p:nvPr/>
        </p:nvSpPr>
        <p:spPr>
          <a:xfrm>
            <a:off x="813104" y="1950098"/>
            <a:ext cx="10439614" cy="1384995"/>
          </a:xfrm>
          <a:prstGeom prst="rect">
            <a:avLst/>
          </a:prstGeom>
          <a:noFill/>
        </p:spPr>
        <p:txBody>
          <a:bodyPr wrap="square" rtlCol="0">
            <a:spAutoFit/>
          </a:bodyPr>
          <a:lstStyle/>
          <a:p>
            <a:r>
              <a:rPr lang="zh-CN" altLang="en-US" sz="2800" b="1" i="0" dirty="0">
                <a:solidFill>
                  <a:srgbClr val="333333"/>
                </a:solidFill>
                <a:effectLst/>
                <a:latin typeface="+mn-ea"/>
              </a:rPr>
              <a:t>强制类型转换</a:t>
            </a:r>
            <a:r>
              <a:rPr lang="zh-CN" altLang="en-US" sz="2800" i="0" dirty="0">
                <a:solidFill>
                  <a:srgbClr val="333333"/>
                </a:solidFill>
                <a:effectLst/>
                <a:latin typeface="+mn-ea"/>
              </a:rPr>
              <a:t>是把变量从一种类型转换为另一种数据类型。例如，</a:t>
            </a:r>
            <a:r>
              <a:rPr lang="zh-CN" altLang="en-US" sz="2800" b="0" i="0" dirty="0">
                <a:solidFill>
                  <a:srgbClr val="333333"/>
                </a:solidFill>
                <a:effectLst/>
                <a:latin typeface="+mn-ea"/>
              </a:rPr>
              <a:t>如果要把一个 </a:t>
            </a:r>
            <a:r>
              <a:rPr lang="en-US" altLang="zh-CN" sz="2800" b="0" i="0" dirty="0">
                <a:solidFill>
                  <a:srgbClr val="333333"/>
                </a:solidFill>
                <a:effectLst/>
                <a:latin typeface="+mn-ea"/>
              </a:rPr>
              <a:t>long </a:t>
            </a:r>
            <a:r>
              <a:rPr lang="zh-CN" altLang="en-US" sz="2800" b="0" i="0" dirty="0">
                <a:solidFill>
                  <a:srgbClr val="333333"/>
                </a:solidFill>
                <a:effectLst/>
                <a:latin typeface="+mn-ea"/>
              </a:rPr>
              <a:t>类型的值转到一个</a:t>
            </a:r>
            <a:r>
              <a:rPr lang="en-US" altLang="zh-CN" sz="2800" b="0" i="0" dirty="0">
                <a:solidFill>
                  <a:srgbClr val="333333"/>
                </a:solidFill>
                <a:effectLst/>
                <a:latin typeface="+mn-ea"/>
              </a:rPr>
              <a:t>int</a:t>
            </a:r>
            <a:r>
              <a:rPr lang="zh-CN" altLang="en-US" sz="2800" b="0" i="0" dirty="0">
                <a:solidFill>
                  <a:srgbClr val="333333"/>
                </a:solidFill>
                <a:effectLst/>
                <a:latin typeface="+mn-ea"/>
              </a:rPr>
              <a:t>中，使用</a:t>
            </a:r>
            <a:r>
              <a:rPr lang="zh-CN" altLang="en-US" sz="2800" b="1" i="0" dirty="0">
                <a:solidFill>
                  <a:srgbClr val="333333"/>
                </a:solidFill>
                <a:effectLst/>
                <a:latin typeface="+mn-ea"/>
              </a:rPr>
              <a:t>强制类型转换运算符</a:t>
            </a:r>
            <a:r>
              <a:rPr lang="zh-CN" altLang="en-US" sz="2800" b="0" i="0" dirty="0">
                <a:solidFill>
                  <a:srgbClr val="333333"/>
                </a:solidFill>
                <a:effectLst/>
                <a:latin typeface="+mn-ea"/>
              </a:rPr>
              <a:t>来把值显式地从一种类型转换为另一种类型，如下所示：</a:t>
            </a:r>
            <a:endParaRPr lang="zh-CN" altLang="en-US" sz="2800" dirty="0">
              <a:latin typeface="+mn-ea"/>
            </a:endParaRPr>
          </a:p>
        </p:txBody>
      </p:sp>
      <p:sp>
        <p:nvSpPr>
          <p:cNvPr id="15" name="文本框 14">
            <a:extLst>
              <a:ext uri="{FF2B5EF4-FFF2-40B4-BE49-F238E27FC236}">
                <a16:creationId xmlns:a16="http://schemas.microsoft.com/office/drawing/2014/main" id="{75DA284F-E46E-4DAD-89BA-DB4C716116D4}"/>
              </a:ext>
            </a:extLst>
          </p:cNvPr>
          <p:cNvSpPr txBox="1"/>
          <p:nvPr/>
        </p:nvSpPr>
        <p:spPr>
          <a:xfrm>
            <a:off x="6400800" y="3429000"/>
            <a:ext cx="1647825" cy="369332"/>
          </a:xfrm>
          <a:prstGeom prst="rect">
            <a:avLst/>
          </a:prstGeom>
          <a:noFill/>
        </p:spPr>
        <p:txBody>
          <a:bodyPr wrap="square" rtlCol="0">
            <a:spAutoFit/>
          </a:bodyPr>
          <a:lstStyle/>
          <a:p>
            <a:r>
              <a:rPr lang="zh-CN" altLang="en-US" dirty="0"/>
              <a:t>运行结果：</a:t>
            </a:r>
          </a:p>
        </p:txBody>
      </p:sp>
      <p:sp>
        <p:nvSpPr>
          <p:cNvPr id="19" name="文本框 18">
            <a:extLst>
              <a:ext uri="{FF2B5EF4-FFF2-40B4-BE49-F238E27FC236}">
                <a16:creationId xmlns:a16="http://schemas.microsoft.com/office/drawing/2014/main" id="{EA8D3F15-EDF6-4648-8DA7-800D3C6073FD}"/>
              </a:ext>
            </a:extLst>
          </p:cNvPr>
          <p:cNvSpPr txBox="1"/>
          <p:nvPr/>
        </p:nvSpPr>
        <p:spPr>
          <a:xfrm>
            <a:off x="6400800" y="4552950"/>
            <a:ext cx="4537593" cy="923330"/>
          </a:xfrm>
          <a:prstGeom prst="rect">
            <a:avLst/>
          </a:prstGeom>
          <a:noFill/>
        </p:spPr>
        <p:txBody>
          <a:bodyPr wrap="square" rtlCol="0">
            <a:spAutoFit/>
          </a:bodyPr>
          <a:lstStyle/>
          <a:p>
            <a:r>
              <a:rPr lang="en-US" altLang="zh-CN" dirty="0"/>
              <a:t>PS</a:t>
            </a:r>
            <a:r>
              <a:rPr lang="zh-CN" altLang="en-US" dirty="0"/>
              <a:t>：这里输出结果会有差异，是因为对于整数</a:t>
            </a:r>
            <a:r>
              <a:rPr lang="en-US" altLang="zh-CN" dirty="0"/>
              <a:t>a</a:t>
            </a:r>
            <a:r>
              <a:rPr lang="zh-CN" altLang="en-US" dirty="0"/>
              <a:t>、</a:t>
            </a:r>
            <a:r>
              <a:rPr lang="en-US" altLang="zh-CN" dirty="0"/>
              <a:t>b</a:t>
            </a:r>
            <a:r>
              <a:rPr lang="zh-CN" altLang="en-US" dirty="0"/>
              <a:t>默认是整数的除法，需要强制转换后才能变成实数的除法。</a:t>
            </a:r>
          </a:p>
        </p:txBody>
      </p:sp>
      <p:pic>
        <p:nvPicPr>
          <p:cNvPr id="21" name="图片 20">
            <a:extLst>
              <a:ext uri="{FF2B5EF4-FFF2-40B4-BE49-F238E27FC236}">
                <a16:creationId xmlns:a16="http://schemas.microsoft.com/office/drawing/2014/main" id="{D9DDD901-7191-4A0D-97C1-2DE164421738}"/>
              </a:ext>
            </a:extLst>
          </p:cNvPr>
          <p:cNvPicPr>
            <a:picLocks noChangeAspect="1"/>
          </p:cNvPicPr>
          <p:nvPr/>
        </p:nvPicPr>
        <p:blipFill>
          <a:blip r:embed="rId4"/>
          <a:stretch>
            <a:fillRect/>
          </a:stretch>
        </p:blipFill>
        <p:spPr>
          <a:xfrm>
            <a:off x="866376" y="3428999"/>
            <a:ext cx="4610500" cy="2735817"/>
          </a:xfrm>
          <a:prstGeom prst="rect">
            <a:avLst/>
          </a:prstGeom>
        </p:spPr>
      </p:pic>
      <p:pic>
        <p:nvPicPr>
          <p:cNvPr id="26" name="图片 25">
            <a:extLst>
              <a:ext uri="{FF2B5EF4-FFF2-40B4-BE49-F238E27FC236}">
                <a16:creationId xmlns:a16="http://schemas.microsoft.com/office/drawing/2014/main" id="{069C0B2A-9049-4C49-B5D9-E8BE9E386965}"/>
              </a:ext>
            </a:extLst>
          </p:cNvPr>
          <p:cNvPicPr>
            <a:picLocks noChangeAspect="1"/>
          </p:cNvPicPr>
          <p:nvPr/>
        </p:nvPicPr>
        <p:blipFill>
          <a:blip r:embed="rId5"/>
          <a:stretch>
            <a:fillRect/>
          </a:stretch>
        </p:blipFill>
        <p:spPr>
          <a:xfrm>
            <a:off x="7600830" y="3497316"/>
            <a:ext cx="1371719" cy="602032"/>
          </a:xfrm>
          <a:prstGeom prst="rect">
            <a:avLst/>
          </a:prstGeom>
        </p:spPr>
      </p:pic>
    </p:spTree>
    <p:extLst>
      <p:ext uri="{BB962C8B-B14F-4D97-AF65-F5344CB8AC3E}">
        <p14:creationId xmlns:p14="http://schemas.microsoft.com/office/powerpoint/2010/main" val="1823998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课堂练习</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588905" cy="523220"/>
          </a:xfrm>
          <a:prstGeom prst="rect">
            <a:avLst/>
          </a:prstGeom>
          <a:noFill/>
        </p:spPr>
        <p:txBody>
          <a:bodyPr wrap="square" rtlCol="0">
            <a:spAutoFit/>
          </a:bodyPr>
          <a:lstStyle/>
          <a:p>
            <a:r>
              <a:rPr lang="zh-CN" altLang="en-US" sz="2800" dirty="0">
                <a:solidFill>
                  <a:srgbClr val="333333"/>
                </a:solidFill>
                <a:latin typeface="+mn-ea"/>
              </a:rPr>
              <a:t>编写</a:t>
            </a:r>
            <a:r>
              <a:rPr lang="zh-CN" altLang="en-US" sz="2800" b="0" i="0" dirty="0">
                <a:solidFill>
                  <a:srgbClr val="333333"/>
                </a:solidFill>
                <a:effectLst/>
                <a:latin typeface="+mn-ea"/>
              </a:rPr>
              <a:t> </a:t>
            </a:r>
            <a:r>
              <a:rPr lang="en-US" altLang="zh-CN" sz="2800" b="0" i="0" dirty="0">
                <a:solidFill>
                  <a:srgbClr val="333333"/>
                </a:solidFill>
                <a:effectLst/>
                <a:latin typeface="+mn-ea"/>
              </a:rPr>
              <a:t>C </a:t>
            </a:r>
            <a:r>
              <a:rPr lang="zh-CN" altLang="en-US" sz="2800" dirty="0">
                <a:solidFill>
                  <a:srgbClr val="333333"/>
                </a:solidFill>
                <a:latin typeface="+mn-ea"/>
              </a:rPr>
              <a:t>程序</a:t>
            </a:r>
            <a:endParaRPr lang="en-US" altLang="zh-CN" sz="2800" dirty="0">
              <a:solidFill>
                <a:srgbClr val="333333"/>
              </a:solidFill>
              <a:latin typeface="+mn-ea"/>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A2BE336-AF5B-D9A5-C3A8-8031C76AF7B8}"/>
                  </a:ext>
                </a:extLst>
              </p:cNvPr>
              <p:cNvSpPr txBox="1"/>
              <p:nvPr/>
            </p:nvSpPr>
            <p:spPr>
              <a:xfrm>
                <a:off x="813104" y="2596009"/>
                <a:ext cx="10484015" cy="2862322"/>
              </a:xfrm>
              <a:prstGeom prst="rect">
                <a:avLst/>
              </a:prstGeom>
              <a:noFill/>
              <a:ln>
                <a:solidFill>
                  <a:schemeClr val="bg1">
                    <a:lumMod val="50000"/>
                  </a:schemeClr>
                </a:solidFill>
              </a:ln>
            </p:spPr>
            <p:txBody>
              <a:bodyPr wrap="square">
                <a:spAutoFit/>
              </a:bodyPr>
              <a:lstStyle/>
              <a:p>
                <a:r>
                  <a:rPr lang="zh-CN" altLang="en-US" dirty="0"/>
                  <a:t>（计算圆柱体的体积）编写一个读取圆柱的半径和高并，利用下面的公式计算圆柱体底面积和体积的程序：</a:t>
                </a:r>
              </a:p>
              <a:p>
                <a:endParaRPr lang="en-US" altLang="zh-CN" dirty="0"/>
              </a:p>
              <a:p>
                <a:pPr/>
                <a14:m>
                  <m:oMathPara xmlns:m="http://schemas.openxmlformats.org/officeDocument/2006/math">
                    <m:oMathParaPr>
                      <m:jc m:val="centerGroup"/>
                    </m:oMathParaPr>
                    <m:oMath xmlns:m="http://schemas.openxmlformats.org/officeDocument/2006/math">
                      <m:r>
                        <a:rPr lang="zh-CN" altLang="en-US" i="1" dirty="0" smtClean="0">
                          <a:latin typeface="Cambria Math" panose="02040503050406030204" pitchFamily="18" charset="0"/>
                        </a:rPr>
                        <m:t>𝑎𝑟𝑒𝑎</m:t>
                      </m:r>
                      <m:r>
                        <a:rPr lang="zh-CN" altLang="en-US" i="1" dirty="0">
                          <a:latin typeface="Cambria Math" panose="02040503050406030204" pitchFamily="18" charset="0"/>
                        </a:rPr>
                        <m:t>=</m:t>
                      </m:r>
                      <m:r>
                        <a:rPr lang="zh-CN" altLang="en-US" i="1" dirty="0" smtClean="0">
                          <a:latin typeface="Cambria Math" panose="02040503050406030204" pitchFamily="18" charset="0"/>
                        </a:rPr>
                        <m:t>𝑟𝑎𝑑</m:t>
                      </m:r>
                      <m:r>
                        <a:rPr lang="en-US" altLang="zh-CN" i="1" dirty="0" err="1" smtClean="0">
                          <a:latin typeface="Cambria Math" panose="02040503050406030204" pitchFamily="18" charset="0"/>
                        </a:rPr>
                        <m:t>𝑖𝑢𝑠</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𝑟𝑎𝑑𝑖𝑢𝑠</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m:t>
                      </m:r>
                      <m:r>
                        <a:rPr lang="en-US" altLang="zh-CN" b="0" i="1" dirty="0" smtClean="0">
                          <a:latin typeface="Cambria Math" panose="02040503050406030204" pitchFamily="18" charset="0"/>
                        </a:rPr>
                        <m:t> </m:t>
                      </m:r>
                      <m:r>
                        <a:rPr lang="zh-CN" altLang="en-US" b="0" i="1" dirty="0" smtClean="0">
                          <a:latin typeface="Cambria Math" panose="02040503050406030204" pitchFamily="18" charset="0"/>
                        </a:rPr>
                        <m:t>𝜋</m:t>
                      </m:r>
                      <m:r>
                        <a:rPr lang="zh-CN" altLang="en-US" i="1" dirty="0" smtClean="0">
                          <a:latin typeface="Cambria Math" panose="02040503050406030204" pitchFamily="18" charset="0"/>
                        </a:rPr>
                        <m:t> </m:t>
                      </m:r>
                    </m:oMath>
                  </m:oMathPara>
                </a14:m>
                <a:endParaRPr lang="zh-CN" altLang="en-US" dirty="0"/>
              </a:p>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𝑣𝑜</m:t>
                      </m:r>
                      <m:r>
                        <a:rPr lang="zh-CN" altLang="en-US" i="1" dirty="0" smtClean="0">
                          <a:latin typeface="Cambria Math" panose="02040503050406030204" pitchFamily="18" charset="0"/>
                        </a:rPr>
                        <m:t>𝐼𝑢𝑚𝑒</m:t>
                      </m:r>
                      <m:r>
                        <a:rPr lang="zh-CN" altLang="en-US" i="1" dirty="0" smtClean="0">
                          <a:latin typeface="Cambria Math" panose="02040503050406030204" pitchFamily="18" charset="0"/>
                        </a:rPr>
                        <m:t> = </m:t>
                      </m:r>
                      <m:r>
                        <a:rPr lang="zh-CN" altLang="en-US" i="1" dirty="0" smtClean="0">
                          <a:latin typeface="Cambria Math" panose="02040503050406030204" pitchFamily="18" charset="0"/>
                        </a:rPr>
                        <m:t>𝑎𝑟𝑒𝑎</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𝑙𝑒𝑛𝑔𝑡h</m:t>
                      </m:r>
                    </m:oMath>
                  </m:oMathPara>
                </a14:m>
                <a:endParaRPr lang="zh-CN" altLang="en-US" dirty="0"/>
              </a:p>
              <a:p>
                <a:endParaRPr lang="en-US" altLang="zh-CN" dirty="0"/>
              </a:p>
              <a:p>
                <a:r>
                  <a:rPr lang="zh-CN" altLang="en-US" dirty="0"/>
                  <a:t>这里是运行示例：</a:t>
                </a:r>
              </a:p>
              <a:p>
                <a:r>
                  <a:rPr lang="zh-CN" altLang="en-US" dirty="0"/>
                  <a:t>Enter the radius and </a:t>
                </a:r>
                <a:r>
                  <a:rPr lang="en-US" altLang="zh-CN" dirty="0"/>
                  <a:t>l</a:t>
                </a:r>
                <a:r>
                  <a:rPr lang="zh-CN" altLang="en-US" dirty="0"/>
                  <a:t>ength </a:t>
                </a:r>
                <a:r>
                  <a:rPr lang="en-US" altLang="zh-CN" dirty="0"/>
                  <a:t>o</a:t>
                </a:r>
                <a:r>
                  <a:rPr lang="zh-CN" altLang="en-US" dirty="0"/>
                  <a:t>f a cylinder：5</a:t>
                </a:r>
                <a:r>
                  <a:rPr lang="en-US" altLang="zh-CN" dirty="0"/>
                  <a:t>.5,12</a:t>
                </a:r>
                <a:endParaRPr lang="zh-CN" altLang="en-US" dirty="0"/>
              </a:p>
              <a:p>
                <a:r>
                  <a:rPr lang="zh-CN" altLang="en-US" dirty="0"/>
                  <a:t>The area </a:t>
                </a:r>
                <a:r>
                  <a:rPr lang="en-US" altLang="zh-CN" dirty="0"/>
                  <a:t>is</a:t>
                </a:r>
                <a:r>
                  <a:rPr lang="zh-CN" altLang="en-US" dirty="0"/>
                  <a:t> 95</a:t>
                </a:r>
                <a:r>
                  <a:rPr lang="en-US" altLang="zh-CN" dirty="0"/>
                  <a:t>.</a:t>
                </a:r>
                <a:r>
                  <a:rPr lang="zh-CN" altLang="en-US" dirty="0"/>
                  <a:t>03</a:t>
                </a:r>
              </a:p>
              <a:p>
                <a:r>
                  <a:rPr lang="zh-CN" altLang="en-US" dirty="0"/>
                  <a:t>The volume </a:t>
                </a:r>
                <a:r>
                  <a:rPr lang="en-US" altLang="zh-CN" dirty="0"/>
                  <a:t>is</a:t>
                </a:r>
                <a:r>
                  <a:rPr lang="zh-CN" altLang="en-US" dirty="0"/>
                  <a:t> 1140</a:t>
                </a:r>
                <a:r>
                  <a:rPr lang="en-US" altLang="zh-CN" dirty="0"/>
                  <a:t>.40</a:t>
                </a:r>
                <a:endParaRPr lang="zh-CN" altLang="en-US" dirty="0"/>
              </a:p>
            </p:txBody>
          </p:sp>
        </mc:Choice>
        <mc:Fallback xmlns="">
          <p:sp>
            <p:nvSpPr>
              <p:cNvPr id="5" name="文本框 4">
                <a:extLst>
                  <a:ext uri="{FF2B5EF4-FFF2-40B4-BE49-F238E27FC236}">
                    <a16:creationId xmlns:a16="http://schemas.microsoft.com/office/drawing/2014/main" id="{DA2BE336-AF5B-D9A5-C3A8-8031C76AF7B8}"/>
                  </a:ext>
                </a:extLst>
              </p:cNvPr>
              <p:cNvSpPr txBox="1">
                <a:spLocks noRot="1" noChangeAspect="1" noMove="1" noResize="1" noEditPoints="1" noAdjustHandles="1" noChangeArrowheads="1" noChangeShapeType="1" noTextEdit="1"/>
              </p:cNvSpPr>
              <p:nvPr/>
            </p:nvSpPr>
            <p:spPr>
              <a:xfrm>
                <a:off x="813104" y="2596009"/>
                <a:ext cx="10484015" cy="2862322"/>
              </a:xfrm>
              <a:prstGeom prst="rect">
                <a:avLst/>
              </a:prstGeom>
              <a:blipFill>
                <a:blip r:embed="rId4"/>
                <a:stretch>
                  <a:fillRect l="-407" t="-1062" r="-465" b="-2335"/>
                </a:stretch>
              </a:blipFill>
              <a:ln>
                <a:solidFill>
                  <a:schemeClr val="bg1">
                    <a:lumMod val="5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606033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0624F31-998C-44D3-BAFB-ADD006D3547E}"/>
              </a:ext>
            </a:extLst>
          </p:cNvPr>
          <p:cNvPicPr>
            <a:picLocks noChangeAspect="1"/>
          </p:cNvPicPr>
          <p:nvPr/>
        </p:nvPicPr>
        <p:blipFill rotWithShape="1">
          <a:blip r:embed="rId3">
            <a:extLst>
              <a:ext uri="{28A0092B-C50C-407E-A947-70E740481C1C}">
                <a14:useLocalDpi xmlns:a14="http://schemas.microsoft.com/office/drawing/2010/main" val="0"/>
              </a:ext>
            </a:extLst>
          </a:blip>
          <a:srcRect t="21604" b="46967"/>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161452" y="2867904"/>
            <a:ext cx="1886392" cy="1015663"/>
          </a:xfrm>
          <a:prstGeom prst="rect">
            <a:avLst/>
          </a:prstGeom>
          <a:noFill/>
        </p:spPr>
        <p:txBody>
          <a:bodyPr wrap="square" rtlCol="0" anchor="ctr" anchorCtr="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谢谢</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4668977" y="5644929"/>
            <a:ext cx="2879266" cy="400085"/>
          </a:xfrm>
          <a:prstGeom prst="rect">
            <a:avLst/>
          </a:prstGeom>
          <a:noFill/>
        </p:spPr>
        <p:txBody>
          <a:bodyPr wrap="none" lIns="91416" tIns="45708" rIns="91416" bIns="45708" rtlCol="0">
            <a:spAutoFit/>
          </a:bodyPr>
          <a:lstStyle/>
          <a:p>
            <a:pPr algn="ctr"/>
            <a:r>
              <a:rPr lang="zh-CN" altLang="en-US" sz="2000" b="1" dirty="0">
                <a:solidFill>
                  <a:srgbClr val="014723"/>
                </a:solidFill>
                <a:latin typeface="微软雅黑" panose="020B0503020204020204" pitchFamily="34" charset="-122"/>
                <a:ea typeface="微软雅黑" panose="020B0503020204020204" pitchFamily="34" charset="-122"/>
              </a:rPr>
              <a:t>中山大学</a:t>
            </a:r>
            <a:r>
              <a:rPr lang="en-US" altLang="zh-CN" sz="2000" b="1" dirty="0">
                <a:solidFill>
                  <a:srgbClr val="014723"/>
                </a:solidFill>
                <a:latin typeface="微软雅黑" panose="020B0503020204020204" pitchFamily="34" charset="-122"/>
                <a:ea typeface="微软雅黑" panose="020B0503020204020204" pitchFamily="34" charset="-122"/>
              </a:rPr>
              <a:t>MOOC</a:t>
            </a:r>
            <a:r>
              <a:rPr lang="zh-CN" altLang="en-US" sz="2000" b="1" dirty="0">
                <a:solidFill>
                  <a:srgbClr val="014723"/>
                </a:solidFill>
                <a:latin typeface="微软雅黑" panose="020B0503020204020204" pitchFamily="34" charset="-122"/>
                <a:ea typeface="微软雅黑" panose="020B0503020204020204" pitchFamily="34" charset="-122"/>
              </a:rPr>
              <a:t>课程组</a:t>
            </a:r>
            <a:endParaRPr lang="zh-CN" altLang="en-US" sz="2000" dirty="0">
              <a:solidFill>
                <a:srgbClr val="014723"/>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4217546" y="56118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14723"/>
          </a:solidFill>
          <a:ln>
            <a:noFill/>
          </a:ln>
        </p:spPr>
        <p:txBody>
          <a:bodyPr vert="horz" wrap="square" lIns="91416" tIns="45708" rIns="91416" bIns="45708" numCol="1" anchor="t" anchorCtr="0" compatLnSpc="1"/>
          <a:lstStyle/>
          <a:p>
            <a:endParaRPr lang="zh-CN" altLang="en-US" sz="2800">
              <a:solidFill>
                <a:srgbClr val="C00000"/>
              </a:solidFill>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a16="http://schemas.microsoft.com/office/drawing/2014/main" id="{DC754B86-73A7-4A82-964F-FD1E97816B9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p:blipFill>
        <p:spPr>
          <a:xfrm>
            <a:off x="4339400" y="923192"/>
            <a:ext cx="3433000" cy="1072662"/>
          </a:xfrm>
          <a:prstGeom prst="rect">
            <a:avLst/>
          </a:prstGeom>
        </p:spPr>
      </p:pic>
    </p:spTree>
  </p:cSld>
  <p:clrMapOvr>
    <a:masterClrMapping/>
  </p:clrMapOvr>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55F51"/>
      </a:dk2>
      <a:lt2>
        <a:srgbClr val="E3DED1"/>
      </a:lt2>
      <a:accent1>
        <a:srgbClr val="004723"/>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3667</TotalTime>
  <Words>3255</Words>
  <Application>Microsoft Office PowerPoint</Application>
  <PresentationFormat>宽屏</PresentationFormat>
  <Paragraphs>448</Paragraphs>
  <Slides>32</Slides>
  <Notes>32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32</vt:i4>
      </vt:variant>
    </vt:vector>
  </HeadingPairs>
  <TitlesOfParts>
    <vt:vector size="44" baseType="lpstr">
      <vt:lpstr>-apple-system</vt:lpstr>
      <vt:lpstr>Helvetica Neue</vt:lpstr>
      <vt:lpstr>Impact MT Std</vt:lpstr>
      <vt:lpstr>PingFang SC</vt:lpstr>
      <vt:lpstr>等线</vt:lpstr>
      <vt:lpstr>等线 Light</vt:lpstr>
      <vt:lpstr>微软雅黑</vt:lpstr>
      <vt:lpstr>Arial</vt:lpstr>
      <vt:lpstr>Cambria Math</vt:lpstr>
      <vt:lpstr>Consolas</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stsluy</cp:lastModifiedBy>
  <cp:revision>364</cp:revision>
  <dcterms:created xsi:type="dcterms:W3CDTF">2016-11-24T09:20:00Z</dcterms:created>
  <dcterms:modified xsi:type="dcterms:W3CDTF">2023-10-08T03:27:59Z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2052-11.1.0.10667</vt:lpwstr>
  </property>
  <property fmtid="{D5CDD505-2E9C-101B-9397-08002B2CF9AE}" pid="3" name="ICV">
    <vt:lpwstr>7E38F6AF0AEB4547AE4ACB4243E3DBEC</vt:lpwstr>
  </property>
</Properties>
</file>