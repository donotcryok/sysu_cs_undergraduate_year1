
<file path=[Content_Types].xml><?xml version="1.0" encoding="utf-8"?>
<Types xmlns="http://schemas.openxmlformats.org/package/2006/content-types">
  <Default Extension="png" ContentType="image/png"/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0"/>
  </p:notesMasterIdLst>
  <p:sldIdLst>
    <p:sldId id="257" r:id="rId2"/>
    <p:sldId id="339" r:id="rId3"/>
    <p:sldId id="356" r:id="rId4"/>
    <p:sldId id="357" r:id="rId5"/>
    <p:sldId id="358" r:id="rId6"/>
    <p:sldId id="355" r:id="rId7"/>
    <p:sldId id="308" r:id="rId8"/>
    <p:sldId id="258" r:id="rId9"/>
    <p:sldId id="297" r:id="rId10"/>
    <p:sldId id="295" r:id="rId11"/>
    <p:sldId id="303" r:id="rId12"/>
    <p:sldId id="304" r:id="rId13"/>
    <p:sldId id="305" r:id="rId14"/>
    <p:sldId id="306" r:id="rId15"/>
    <p:sldId id="309" r:id="rId16"/>
    <p:sldId id="310" r:id="rId17"/>
    <p:sldId id="359" r:id="rId18"/>
    <p:sldId id="360" r:id="rId19"/>
    <p:sldId id="336" r:id="rId20"/>
    <p:sldId id="331" r:id="rId21"/>
    <p:sldId id="311" r:id="rId22"/>
    <p:sldId id="312" r:id="rId23"/>
    <p:sldId id="337" r:id="rId24"/>
    <p:sldId id="313" r:id="rId25"/>
    <p:sldId id="314" r:id="rId26"/>
    <p:sldId id="315" r:id="rId27"/>
    <p:sldId id="316" r:id="rId28"/>
    <p:sldId id="319" r:id="rId29"/>
    <p:sldId id="317" r:id="rId30"/>
    <p:sldId id="338" r:id="rId31"/>
    <p:sldId id="318" r:id="rId32"/>
    <p:sldId id="320" r:id="rId33"/>
    <p:sldId id="321" r:id="rId34"/>
    <p:sldId id="322" r:id="rId35"/>
    <p:sldId id="323" r:id="rId36"/>
    <p:sldId id="324" r:id="rId37"/>
    <p:sldId id="325" r:id="rId38"/>
    <p:sldId id="327" r:id="rId39"/>
    <p:sldId id="326" r:id="rId40"/>
    <p:sldId id="328" r:id="rId41"/>
    <p:sldId id="329" r:id="rId42"/>
    <p:sldId id="330" r:id="rId43"/>
    <p:sldId id="332" r:id="rId44"/>
    <p:sldId id="333" r:id="rId45"/>
    <p:sldId id="334" r:id="rId46"/>
    <p:sldId id="335" r:id="rId47"/>
    <p:sldId id="361" r:id="rId48"/>
    <p:sldId id="292" r:id="rId4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2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723"/>
    <a:srgbClr val="014723"/>
    <a:srgbClr val="FF5D5D"/>
    <a:srgbClr val="C00000"/>
    <a:srgbClr val="CC3300"/>
    <a:srgbClr val="3A6695"/>
    <a:srgbClr val="9CC5FD"/>
    <a:srgbClr val="134263"/>
    <a:srgbClr val="1E2B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911" autoAdjust="0"/>
    <p:restoredTop sz="85589" autoAdjust="0"/>
  </p:normalViewPr>
  <p:slideViewPr>
    <p:cSldViewPr snapToGrid="0">
      <p:cViewPr varScale="1">
        <p:scale>
          <a:sx n="75" d="100"/>
          <a:sy n="75" d="100"/>
        </p:scale>
        <p:origin x="1169" y="31"/>
      </p:cViewPr>
      <p:guideLst>
        <p:guide orient="horz" pos="2160"/>
        <p:guide pos="382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CE4261-0CDD-45A3-84C2-311859DE5B03}" type="datetimeFigureOut">
              <a:rPr lang="zh-CN" altLang="en-US" smtClean="0"/>
              <a:t>2023/10/12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F711DA-82CB-44C8-99EC-9CE596A896F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so.csdn.net/so/search?q=%E6%95%B4%E5%9E%8B&amp;spm=1001.2101.3001.7020" TargetMode="External"/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如何修改程序，使得输出为其他答案？</a:t>
            </a:r>
            <a:r>
              <a:rPr lang="zh-CN" altLang="en-US" dirty="0">
                <a:solidFill>
                  <a:srgbClr val="FF0000"/>
                </a:solidFill>
              </a:rPr>
              <a:t>输出之前必须要先赋值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76399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为什么用 </a:t>
            </a:r>
            <a:r>
              <a:rPr lang="en-US" altLang="zh-CN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？ 数字不用 </a:t>
            </a:r>
            <a:r>
              <a:rPr lang="en-US" altLang="zh-CN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0 ..</a:t>
            </a:r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9?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数的表示。</a:t>
            </a:r>
            <a:endParaRPr lang="en-US" altLang="zh-CN" sz="12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理解范围、溢出与精度的对</a:t>
            </a:r>
            <a:r>
              <a:rPr lang="en-US" altLang="zh-CN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语言的重要性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67739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没达到期望的结果，但这个程序即没有任何</a:t>
            </a:r>
            <a:r>
              <a:rPr lang="en-US" altLang="zh-CN" dirty="0"/>
              <a:t>error</a:t>
            </a:r>
            <a:r>
              <a:rPr lang="zh-CN" altLang="en-US" dirty="0"/>
              <a:t>，也没有</a:t>
            </a:r>
            <a:r>
              <a:rPr lang="en-US" altLang="zh-CN" dirty="0"/>
              <a:t>warning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对于</a:t>
            </a:r>
            <a:r>
              <a:rPr lang="en-US" altLang="zh-CN" dirty="0"/>
              <a:t>C</a:t>
            </a:r>
            <a:r>
              <a:rPr lang="zh-CN" altLang="en-US" dirty="0"/>
              <a:t>语言，这是正确的表达。理解它需要你学习一些计算机关于数的表示知识！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17629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一个自然数的值，表示它包含多少个</a:t>
            </a:r>
            <a:r>
              <a:rPr lang="en-US" altLang="zh-CN" dirty="0"/>
              <a:t>1</a:t>
            </a:r>
            <a:r>
              <a:rPr lang="zh-CN" altLang="en-US" dirty="0"/>
              <a:t>（结绳计数法）。</a:t>
            </a:r>
            <a:endParaRPr lang="en-US" altLang="zh-CN" dirty="0"/>
          </a:p>
          <a:p>
            <a:r>
              <a:rPr lang="zh-CN" altLang="en-US" dirty="0"/>
              <a:t>关于数的系统，则建立在自然数（</a:t>
            </a:r>
            <a:r>
              <a:rPr lang="en-US" altLang="zh-CN" dirty="0"/>
              <a:t>0</a:t>
            </a:r>
            <a:r>
              <a:rPr lang="zh-CN" altLang="en-US" dirty="0"/>
              <a:t>值 和 </a:t>
            </a:r>
            <a:r>
              <a:rPr lang="en-US" altLang="zh-CN" dirty="0"/>
              <a:t>+1</a:t>
            </a:r>
            <a:r>
              <a:rPr lang="zh-CN" altLang="en-US" dirty="0"/>
              <a:t>运算）基础上。</a:t>
            </a:r>
            <a:endParaRPr lang="en-US" altLang="zh-CN" dirty="0"/>
          </a:p>
          <a:p>
            <a:r>
              <a:rPr lang="en-US" altLang="zh-CN" sz="1200" dirty="0">
                <a:solidFill>
                  <a:srgbClr val="FF0000"/>
                </a:solidFill>
              </a:rPr>
              <a:t>Quotient  </a:t>
            </a:r>
            <a:r>
              <a:rPr lang="zh-CN" altLang="en-US" sz="1200" dirty="0">
                <a:solidFill>
                  <a:srgbClr val="FF0000"/>
                </a:solidFill>
              </a:rPr>
              <a:t>商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77080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可能是十进制，八进制，</a:t>
            </a:r>
            <a:r>
              <a:rPr lang="en-US" altLang="zh-CN" dirty="0"/>
              <a:t>16</a:t>
            </a:r>
            <a:r>
              <a:rPr lang="zh-CN" altLang="en-US" dirty="0"/>
              <a:t>进制数值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21093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93149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14307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03907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现实中为什么会使用不同进制？</a:t>
            </a:r>
            <a:endParaRPr lang="en-US" altLang="zh-CN" dirty="0"/>
          </a:p>
          <a:p>
            <a:r>
              <a:rPr lang="zh-CN" altLang="en-US" dirty="0"/>
              <a:t>也许是我们有 </a:t>
            </a:r>
            <a:r>
              <a:rPr lang="en-US" altLang="zh-CN" dirty="0"/>
              <a:t>10</a:t>
            </a:r>
            <a:r>
              <a:rPr lang="zh-CN" altLang="en-US" dirty="0"/>
              <a:t>个 指头，十进制易于扳指计数。</a:t>
            </a:r>
            <a:endParaRPr lang="en-US" altLang="zh-CN" dirty="0"/>
          </a:p>
          <a:p>
            <a:r>
              <a:rPr lang="zh-CN" altLang="en-US" dirty="0"/>
              <a:t>同样，一年有</a:t>
            </a:r>
            <a:r>
              <a:rPr lang="en-US" altLang="zh-CN" dirty="0"/>
              <a:t>365</a:t>
            </a:r>
            <a:r>
              <a:rPr lang="zh-CN" altLang="en-US" dirty="0"/>
              <a:t>天，则是由地球公转，自转物理定律决定的</a:t>
            </a:r>
            <a:r>
              <a:rPr lang="en-US" altLang="zh-CN" dirty="0"/>
              <a:t>…</a:t>
            </a:r>
          </a:p>
          <a:p>
            <a:r>
              <a:rPr lang="zh-CN" altLang="en-US" dirty="0"/>
              <a:t>在电子计算机中，用电压表示</a:t>
            </a:r>
            <a:r>
              <a:rPr lang="en-US" altLang="zh-CN" dirty="0"/>
              <a:t>1</a:t>
            </a:r>
            <a:r>
              <a:rPr lang="zh-CN" altLang="en-US" dirty="0"/>
              <a:t>和</a:t>
            </a:r>
            <a:r>
              <a:rPr lang="en-US" altLang="zh-CN" dirty="0"/>
              <a:t>0</a:t>
            </a:r>
            <a:r>
              <a:rPr lang="zh-CN" altLang="en-US" dirty="0"/>
              <a:t>，做出的计算电路最便宜，所以自然使用二进制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77330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现实中为什么会使用不同进制？</a:t>
            </a:r>
            <a:endParaRPr lang="en-US" altLang="zh-CN" dirty="0"/>
          </a:p>
          <a:p>
            <a:r>
              <a:rPr lang="zh-CN" altLang="en-US" dirty="0"/>
              <a:t>也许是我们有 </a:t>
            </a:r>
            <a:r>
              <a:rPr lang="en-US" altLang="zh-CN" dirty="0"/>
              <a:t>10</a:t>
            </a:r>
            <a:r>
              <a:rPr lang="zh-CN" altLang="en-US" dirty="0"/>
              <a:t>个 指头，十进制易于扳指计数。</a:t>
            </a:r>
            <a:endParaRPr lang="en-US" altLang="zh-CN" dirty="0"/>
          </a:p>
          <a:p>
            <a:r>
              <a:rPr lang="zh-CN" altLang="en-US" dirty="0"/>
              <a:t>同样，一年有</a:t>
            </a:r>
            <a:r>
              <a:rPr lang="en-US" altLang="zh-CN" dirty="0"/>
              <a:t>365</a:t>
            </a:r>
            <a:r>
              <a:rPr lang="zh-CN" altLang="en-US" dirty="0"/>
              <a:t>天，则是由地球公转，自转物理定律决定的</a:t>
            </a:r>
            <a:r>
              <a:rPr lang="en-US" altLang="zh-CN" dirty="0"/>
              <a:t>…</a:t>
            </a:r>
          </a:p>
          <a:p>
            <a:r>
              <a:rPr lang="zh-CN" altLang="en-US" dirty="0"/>
              <a:t>在电子计算机中，表示用电压表示</a:t>
            </a:r>
            <a:r>
              <a:rPr lang="en-US" altLang="zh-CN" dirty="0"/>
              <a:t>1</a:t>
            </a:r>
            <a:r>
              <a:rPr lang="zh-CN" altLang="en-US" dirty="0"/>
              <a:t>和</a:t>
            </a:r>
            <a:r>
              <a:rPr lang="en-US" altLang="zh-CN" dirty="0"/>
              <a:t>0</a:t>
            </a:r>
            <a:r>
              <a:rPr lang="zh-CN" altLang="en-US" dirty="0"/>
              <a:t>，做出的计算电路最便宜，所以自然使用二进制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01906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现实中为什么会使用不同进制？</a:t>
            </a:r>
            <a:endParaRPr lang="en-US" altLang="zh-CN" dirty="0"/>
          </a:p>
          <a:p>
            <a:r>
              <a:rPr lang="zh-CN" altLang="en-US" dirty="0"/>
              <a:t>也许是我们有 </a:t>
            </a:r>
            <a:r>
              <a:rPr lang="en-US" altLang="zh-CN" dirty="0"/>
              <a:t>10</a:t>
            </a:r>
            <a:r>
              <a:rPr lang="zh-CN" altLang="en-US" dirty="0"/>
              <a:t>个 指头，十进制易于扳指计数。</a:t>
            </a:r>
            <a:endParaRPr lang="en-US" altLang="zh-CN" dirty="0"/>
          </a:p>
          <a:p>
            <a:r>
              <a:rPr lang="zh-CN" altLang="en-US" dirty="0"/>
              <a:t>同样，一年有</a:t>
            </a:r>
            <a:r>
              <a:rPr lang="en-US" altLang="zh-CN" dirty="0"/>
              <a:t>365</a:t>
            </a:r>
            <a:r>
              <a:rPr lang="zh-CN" altLang="en-US" dirty="0"/>
              <a:t>天，则是由地球公转，自转物理定律决定的</a:t>
            </a:r>
            <a:r>
              <a:rPr lang="en-US" altLang="zh-CN" dirty="0"/>
              <a:t>…</a:t>
            </a:r>
          </a:p>
          <a:p>
            <a:r>
              <a:rPr lang="zh-CN" altLang="en-US" dirty="0"/>
              <a:t>在电子计算机中，表示用电压表示</a:t>
            </a:r>
            <a:r>
              <a:rPr lang="en-US" altLang="zh-CN" dirty="0"/>
              <a:t>1</a:t>
            </a:r>
            <a:r>
              <a:rPr lang="zh-CN" altLang="en-US" dirty="0"/>
              <a:t>和</a:t>
            </a:r>
            <a:r>
              <a:rPr lang="en-US" altLang="zh-CN" dirty="0"/>
              <a:t>0</a:t>
            </a:r>
            <a:r>
              <a:rPr lang="zh-CN" altLang="en-US" dirty="0"/>
              <a:t>，做出的计算电路最便宜，所以自然使用二进制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569815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FF0000"/>
                </a:solidFill>
              </a:rPr>
              <a:t>“</a:t>
            </a:r>
            <a:r>
              <a:rPr lang="en-US" altLang="zh-CN" sz="1200" dirty="0">
                <a:solidFill>
                  <a:srgbClr val="FF0000"/>
                </a:solidFill>
              </a:rPr>
              <a:t>%b</a:t>
            </a:r>
            <a:r>
              <a:rPr lang="zh-CN" altLang="en-US" sz="1200" dirty="0">
                <a:solidFill>
                  <a:srgbClr val="FF0000"/>
                </a:solidFill>
              </a:rPr>
              <a:t>” 直接打印出二进制？</a:t>
            </a:r>
            <a:endParaRPr lang="en-US" altLang="zh-CN" dirty="0"/>
          </a:p>
          <a:p>
            <a:r>
              <a:rPr lang="en-US" altLang="zh-CN" dirty="0"/>
              <a:t>C99</a:t>
            </a:r>
            <a:r>
              <a:rPr lang="zh-CN" altLang="en-US" dirty="0"/>
              <a:t>没有这样的转换指示，因为没有人乐意读长长的</a:t>
            </a:r>
            <a:r>
              <a:rPr lang="en-US" altLang="zh-CN" dirty="0"/>
              <a:t>0</a:t>
            </a:r>
            <a:r>
              <a:rPr lang="zh-CN" altLang="en-US" dirty="0"/>
              <a:t>或</a:t>
            </a:r>
            <a:r>
              <a:rPr lang="en-US" altLang="zh-CN" dirty="0"/>
              <a:t>1</a:t>
            </a:r>
            <a:r>
              <a:rPr lang="zh-CN" altLang="en-US" dirty="0"/>
              <a:t>的串。</a:t>
            </a:r>
            <a:endParaRPr lang="en-US" altLang="zh-CN" dirty="0"/>
          </a:p>
          <a:p>
            <a:r>
              <a:rPr lang="zh-CN" altLang="en-US" dirty="0"/>
              <a:t>（注意：记住位置表示公式，这是要考的）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387714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这个表格可以帮助我们翻译成不同进制。</a:t>
            </a:r>
            <a:endParaRPr lang="en-US" altLang="zh-CN" dirty="0"/>
          </a:p>
          <a:p>
            <a:r>
              <a:rPr lang="zh-CN" altLang="en-US" dirty="0"/>
              <a:t>二进制从右向左</a:t>
            </a:r>
            <a:r>
              <a:rPr lang="en-US" altLang="zh-CN" dirty="0"/>
              <a:t>4</a:t>
            </a:r>
            <a:r>
              <a:rPr lang="zh-CN" altLang="en-US" dirty="0"/>
              <a:t>个一组转为</a:t>
            </a:r>
            <a:r>
              <a:rPr lang="en-US" altLang="zh-CN" dirty="0"/>
              <a:t>16</a:t>
            </a:r>
            <a:r>
              <a:rPr lang="zh-CN" altLang="en-US" dirty="0"/>
              <a:t>进制，</a:t>
            </a:r>
            <a:r>
              <a:rPr lang="en-US" altLang="zh-CN" dirty="0"/>
              <a:t>3</a:t>
            </a:r>
            <a:r>
              <a:rPr lang="zh-CN" altLang="en-US" dirty="0"/>
              <a:t>个一组转为</a:t>
            </a:r>
            <a:r>
              <a:rPr lang="en-US" altLang="zh-CN" dirty="0"/>
              <a:t>8</a:t>
            </a:r>
            <a:r>
              <a:rPr lang="zh-CN" altLang="en-US" dirty="0"/>
              <a:t>进制。</a:t>
            </a:r>
            <a:r>
              <a:rPr lang="en-US" altLang="zh-CN" dirty="0"/>
              <a:t>Why</a:t>
            </a:r>
            <a:r>
              <a:rPr lang="zh-CN" altLang="en-US" dirty="0"/>
              <a:t>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470057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11010111</a:t>
            </a:r>
            <a:r>
              <a:rPr lang="zh-CN" altLang="en-US" dirty="0"/>
              <a:t>，</a:t>
            </a:r>
            <a:r>
              <a:rPr lang="en-US" altLang="zh-CN" dirty="0"/>
              <a:t>327</a:t>
            </a:r>
            <a:r>
              <a:rPr lang="zh-CN" altLang="en-US" dirty="0"/>
              <a:t>，</a:t>
            </a:r>
            <a:r>
              <a:rPr lang="en-US" altLang="zh-CN" dirty="0"/>
              <a:t>D7</a:t>
            </a:r>
          </a:p>
          <a:p>
            <a:r>
              <a:rPr lang="zh-CN" altLang="en-US" dirty="0"/>
              <a:t>现实中为什么会使用不同进制？</a:t>
            </a:r>
            <a:endParaRPr lang="en-US" altLang="zh-CN" dirty="0"/>
          </a:p>
          <a:p>
            <a:r>
              <a:rPr lang="zh-CN" altLang="en-US" dirty="0"/>
              <a:t>也许是我们有 </a:t>
            </a:r>
            <a:r>
              <a:rPr lang="en-US" altLang="zh-CN" dirty="0"/>
              <a:t>10</a:t>
            </a:r>
            <a:r>
              <a:rPr lang="zh-CN" altLang="en-US" dirty="0"/>
              <a:t>个 指头，十进制易于扳指计数。</a:t>
            </a:r>
            <a:endParaRPr lang="en-US" altLang="zh-CN" dirty="0"/>
          </a:p>
          <a:p>
            <a:r>
              <a:rPr lang="zh-CN" altLang="en-US" dirty="0"/>
              <a:t>同样，一年有</a:t>
            </a:r>
            <a:r>
              <a:rPr lang="en-US" altLang="zh-CN" dirty="0"/>
              <a:t>365</a:t>
            </a:r>
            <a:r>
              <a:rPr lang="zh-CN" altLang="en-US" dirty="0"/>
              <a:t>天，则是由地球公转，自转物理定律决定的</a:t>
            </a:r>
            <a:r>
              <a:rPr lang="en-US" altLang="zh-CN" dirty="0"/>
              <a:t>…</a:t>
            </a:r>
          </a:p>
          <a:p>
            <a:r>
              <a:rPr lang="zh-CN" altLang="en-US" dirty="0"/>
              <a:t>在电子计算机中，表示用电压表示</a:t>
            </a:r>
            <a:r>
              <a:rPr lang="en-US" altLang="zh-CN" dirty="0"/>
              <a:t>1</a:t>
            </a:r>
            <a:r>
              <a:rPr lang="zh-CN" altLang="en-US" dirty="0"/>
              <a:t>和</a:t>
            </a:r>
            <a:r>
              <a:rPr lang="en-US" altLang="zh-CN" dirty="0"/>
              <a:t>0</a:t>
            </a:r>
            <a:r>
              <a:rPr lang="zh-CN" altLang="en-US" dirty="0"/>
              <a:t>，做出的计算电路最便宜，所以自然使用二进制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58381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1"/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#include &lt;</a:t>
            </a:r>
            <a:r>
              <a:rPr lang="en-US" altLang="zh-CN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limits.h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   //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整型数的最大最小值定义在该文件下</a:t>
            </a:r>
          </a:p>
          <a:p>
            <a:pPr latinLnBrk="1"/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#include &lt;</a:t>
            </a:r>
            <a:r>
              <a:rPr lang="en-US" altLang="zh-CN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float.h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   //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浮点数数的最大最小值定义在该文件下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CHAR_MIN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CHAR_MAX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分别表示有符号小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整型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的最小值和最大值，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UCHAR_MAX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表示无符号小整型的最大值；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SHRT_MIN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SHRT_MAX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分别表示有符号短整型的最小值和最大值，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USHRT_MAX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表示无符号短整型的最大值；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INT_MIN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INT_MAX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分别表示有符号基本整型的最小值和最大值，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UINT_MAX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表示无符号基本整型的最大值；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LONG_MIN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LONG_MAX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分别表示有符号长整型的最小值和最大值；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ULONG_MAX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表示无符号长整型的最大值．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FLT_MIN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FLT_MAX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分别表示单精度实数的最小绝对值和最大绝对值；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DBL_MIN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DBL_MAX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分别表示双精度实数的最小绝对值和最大绝对值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600551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绝大多数计算并不需要很大很大的数，因此我们用有限的二进制位，表示合适大小的数字。（离散和有限是计算机中重要概念）</a:t>
            </a:r>
            <a:endParaRPr lang="en-US" altLang="zh-CN" dirty="0"/>
          </a:p>
          <a:p>
            <a:r>
              <a:rPr lang="zh-CN" altLang="en-US" dirty="0"/>
              <a:t>如果你能正确回答程序结果，你对计算机的数值表示就算学到了精通！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22160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计算机中保存的只有</a:t>
            </a:r>
            <a:r>
              <a:rPr lang="en-US" altLang="zh-CN" dirty="0"/>
              <a:t>0</a:t>
            </a:r>
            <a:r>
              <a:rPr lang="zh-CN" altLang="en-US" dirty="0"/>
              <a:t>和</a:t>
            </a:r>
            <a:r>
              <a:rPr lang="en-US" altLang="zh-CN" dirty="0"/>
              <a:t>1</a:t>
            </a:r>
            <a:r>
              <a:rPr lang="zh-CN" altLang="en-US" dirty="0"/>
              <a:t>，没有负号。直观的想法就是拿一半数出来表示负数。目前采用的称为“补数方法”。</a:t>
            </a:r>
            <a:endParaRPr lang="en-US" altLang="zh-CN" dirty="0"/>
          </a:p>
          <a:p>
            <a:r>
              <a:rPr lang="zh-CN" altLang="en-US" dirty="0"/>
              <a:t>补数法有两个特殊的数，</a:t>
            </a:r>
            <a:r>
              <a:rPr lang="en-US" altLang="zh-CN" dirty="0"/>
              <a:t>0</a:t>
            </a:r>
            <a:r>
              <a:rPr lang="zh-CN" altLang="en-US" dirty="0"/>
              <a:t>和</a:t>
            </a:r>
            <a:r>
              <a:rPr lang="en-US" altLang="zh-CN" dirty="0"/>
              <a:t>-128</a:t>
            </a:r>
            <a:r>
              <a:rPr lang="zh-CN" altLang="en-US" dirty="0"/>
              <a:t>，它们的补是自己（抛弃进位）。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088432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在</a:t>
            </a:r>
            <a:r>
              <a:rPr lang="en-US" altLang="zh-CN" dirty="0"/>
              <a:t>CPU</a:t>
            </a:r>
            <a:r>
              <a:rPr lang="zh-CN" altLang="en-US" dirty="0"/>
              <a:t>中，只有加法电路，没有减法电路。 因为 </a:t>
            </a:r>
            <a:r>
              <a:rPr lang="en-US" altLang="zh-CN" dirty="0"/>
              <a:t>a – b = a + (-b) </a:t>
            </a:r>
            <a:r>
              <a:rPr lang="zh-CN" altLang="en-US" dirty="0"/>
              <a:t>即 </a:t>
            </a:r>
            <a:r>
              <a:rPr lang="en-US" altLang="zh-CN" dirty="0"/>
              <a:t>a </a:t>
            </a:r>
            <a:r>
              <a:rPr lang="zh-CN" altLang="en-US" dirty="0"/>
              <a:t>加 </a:t>
            </a:r>
            <a:r>
              <a:rPr lang="en-US" altLang="zh-CN" dirty="0"/>
              <a:t>b</a:t>
            </a:r>
            <a:r>
              <a:rPr lang="zh-CN" altLang="en-US" dirty="0"/>
              <a:t>的补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585561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选择合适进制表示，可以使得程序更加易于阅读，修改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825688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0xF9</a:t>
            </a:r>
          </a:p>
          <a:p>
            <a:r>
              <a:rPr lang="en-US" altLang="zh-CN" dirty="0"/>
              <a:t>0003, 0372, 0011</a:t>
            </a:r>
            <a:br>
              <a:rPr lang="en-US" altLang="zh-CN" dirty="0"/>
            </a:br>
            <a:r>
              <a:rPr lang="zh-CN" altLang="en-US" dirty="0"/>
              <a:t>现实中为什么会使用不同进制？</a:t>
            </a:r>
            <a:endParaRPr lang="en-US" altLang="zh-CN" dirty="0"/>
          </a:p>
          <a:p>
            <a:r>
              <a:rPr lang="zh-CN" altLang="en-US" dirty="0"/>
              <a:t>也许是我们有 </a:t>
            </a:r>
            <a:r>
              <a:rPr lang="en-US" altLang="zh-CN" dirty="0"/>
              <a:t>10</a:t>
            </a:r>
            <a:r>
              <a:rPr lang="zh-CN" altLang="en-US" dirty="0"/>
              <a:t>个 指头，十进制易于扳指计数。</a:t>
            </a:r>
            <a:endParaRPr lang="en-US" altLang="zh-CN" dirty="0"/>
          </a:p>
          <a:p>
            <a:r>
              <a:rPr lang="zh-CN" altLang="en-US" dirty="0"/>
              <a:t>同样，一年有</a:t>
            </a:r>
            <a:r>
              <a:rPr lang="en-US" altLang="zh-CN" dirty="0"/>
              <a:t>365</a:t>
            </a:r>
            <a:r>
              <a:rPr lang="zh-CN" altLang="en-US" dirty="0"/>
              <a:t>天，则是由地球公转，自转物理定律决定的</a:t>
            </a:r>
            <a:r>
              <a:rPr lang="en-US" altLang="zh-CN" dirty="0"/>
              <a:t>…</a:t>
            </a:r>
          </a:p>
          <a:p>
            <a:r>
              <a:rPr lang="zh-CN" altLang="en-US" dirty="0"/>
              <a:t>在电子计算机中，表示用电压表示</a:t>
            </a:r>
            <a:r>
              <a:rPr lang="en-US" altLang="zh-CN" dirty="0"/>
              <a:t>1</a:t>
            </a:r>
            <a:r>
              <a:rPr lang="zh-CN" altLang="en-US" dirty="0"/>
              <a:t>和</a:t>
            </a:r>
            <a:r>
              <a:rPr lang="en-US" altLang="zh-CN" dirty="0"/>
              <a:t>0</a:t>
            </a:r>
            <a:r>
              <a:rPr lang="zh-CN" altLang="en-US" dirty="0"/>
              <a:t>，做出的计算电路最便宜，所以自然使用二进制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554522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超出表示范围，就成为溢出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607770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573092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460225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如何防范、检测程序错误？软件测试体系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345896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695325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822423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94036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150474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093901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1.</a:t>
            </a:r>
            <a:r>
              <a:rPr lang="zh-CN" altLang="en-US" dirty="0"/>
              <a:t>把实数的整数和小数部分分别转为二进制。</a:t>
            </a:r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dirty="0"/>
              <a:t>表示成二进制科学计数法</a:t>
            </a:r>
            <a:endParaRPr lang="en-US" altLang="zh-CN" dirty="0"/>
          </a:p>
          <a:p>
            <a:r>
              <a:rPr lang="en-US" altLang="zh-CN" dirty="0"/>
              <a:t>3.</a:t>
            </a:r>
            <a:r>
              <a:rPr lang="zh-CN" altLang="en-US" dirty="0"/>
              <a:t>按</a:t>
            </a:r>
            <a:r>
              <a:rPr lang="en-US" altLang="zh-CN" dirty="0"/>
              <a:t>IEEE</a:t>
            </a:r>
            <a:r>
              <a:rPr lang="zh-CN" altLang="en-US" dirty="0"/>
              <a:t>规范，计算符号位，指数部分，小数部分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673113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608546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380588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044705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923215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163335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pPr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74997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t>2023/10/12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t>2023/10/12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t>2023/10/12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t>2023/10/12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t>2023/10/12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t>2023/10/12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t>2023/10/12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t>2023/10/12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t>2023/10/12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t>2023/10/12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t>2023/10/12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4536CA-A6C4-4358-AF93-5CCBD70D248C}" type="datetimeFigureOut">
              <a:rPr lang="zh-CN" altLang="en-US" smtClean="0"/>
              <a:t>2023/10/12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image" Target="../media/image3.tmp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13" Type="http://schemas.openxmlformats.org/officeDocument/2006/relationships/tags" Target="../tags/tag30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12" Type="http://schemas.openxmlformats.org/officeDocument/2006/relationships/tags" Target="../tags/tag29.xml"/><Relationship Id="rId17" Type="http://schemas.openxmlformats.org/officeDocument/2006/relationships/tags" Target="../tags/tag34.xml"/><Relationship Id="rId2" Type="http://schemas.openxmlformats.org/officeDocument/2006/relationships/tags" Target="../tags/tag19.xml"/><Relationship Id="rId16" Type="http://schemas.openxmlformats.org/officeDocument/2006/relationships/tags" Target="../tags/tag33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tags" Target="../tags/tag28.xml"/><Relationship Id="rId5" Type="http://schemas.openxmlformats.org/officeDocument/2006/relationships/tags" Target="../tags/tag22.xml"/><Relationship Id="rId15" Type="http://schemas.openxmlformats.org/officeDocument/2006/relationships/tags" Target="../tags/tag32.xml"/><Relationship Id="rId10" Type="http://schemas.openxmlformats.org/officeDocument/2006/relationships/tags" Target="../tags/tag27.xml"/><Relationship Id="rId19" Type="http://schemas.openxmlformats.org/officeDocument/2006/relationships/image" Target="../media/image3.tmp"/><Relationship Id="rId4" Type="http://schemas.openxmlformats.org/officeDocument/2006/relationships/tags" Target="../tags/tag21.xml"/><Relationship Id="rId9" Type="http://schemas.openxmlformats.org/officeDocument/2006/relationships/tags" Target="../tags/tag26.xml"/><Relationship Id="rId14" Type="http://schemas.openxmlformats.org/officeDocument/2006/relationships/tags" Target="../tags/tag3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42.xml"/><Relationship Id="rId13" Type="http://schemas.openxmlformats.org/officeDocument/2006/relationships/tags" Target="../tags/tag47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37.xml"/><Relationship Id="rId7" Type="http://schemas.openxmlformats.org/officeDocument/2006/relationships/tags" Target="../tags/tag41.xml"/><Relationship Id="rId12" Type="http://schemas.openxmlformats.org/officeDocument/2006/relationships/tags" Target="../tags/tag46.xml"/><Relationship Id="rId17" Type="http://schemas.openxmlformats.org/officeDocument/2006/relationships/tags" Target="../tags/tag51.xml"/><Relationship Id="rId2" Type="http://schemas.openxmlformats.org/officeDocument/2006/relationships/tags" Target="../tags/tag36.xml"/><Relationship Id="rId16" Type="http://schemas.openxmlformats.org/officeDocument/2006/relationships/tags" Target="../tags/tag50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11" Type="http://schemas.openxmlformats.org/officeDocument/2006/relationships/tags" Target="../tags/tag45.xml"/><Relationship Id="rId5" Type="http://schemas.openxmlformats.org/officeDocument/2006/relationships/tags" Target="../tags/tag39.xml"/><Relationship Id="rId15" Type="http://schemas.openxmlformats.org/officeDocument/2006/relationships/tags" Target="../tags/tag49.xml"/><Relationship Id="rId10" Type="http://schemas.openxmlformats.org/officeDocument/2006/relationships/tags" Target="../tags/tag44.xml"/><Relationship Id="rId19" Type="http://schemas.openxmlformats.org/officeDocument/2006/relationships/image" Target="../media/image3.tmp"/><Relationship Id="rId4" Type="http://schemas.openxmlformats.org/officeDocument/2006/relationships/tags" Target="../tags/tag38.xml"/><Relationship Id="rId9" Type="http://schemas.openxmlformats.org/officeDocument/2006/relationships/tags" Target="../tags/tag43.xml"/><Relationship Id="rId14" Type="http://schemas.openxmlformats.org/officeDocument/2006/relationships/tags" Target="../tags/tag48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59.xml"/><Relationship Id="rId13" Type="http://schemas.openxmlformats.org/officeDocument/2006/relationships/tags" Target="../tags/tag64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54.xml"/><Relationship Id="rId7" Type="http://schemas.openxmlformats.org/officeDocument/2006/relationships/tags" Target="../tags/tag58.xml"/><Relationship Id="rId12" Type="http://schemas.openxmlformats.org/officeDocument/2006/relationships/tags" Target="../tags/tag63.xml"/><Relationship Id="rId17" Type="http://schemas.openxmlformats.org/officeDocument/2006/relationships/tags" Target="../tags/tag68.xml"/><Relationship Id="rId2" Type="http://schemas.openxmlformats.org/officeDocument/2006/relationships/tags" Target="../tags/tag53.xml"/><Relationship Id="rId16" Type="http://schemas.openxmlformats.org/officeDocument/2006/relationships/tags" Target="../tags/tag67.xml"/><Relationship Id="rId20" Type="http://schemas.openxmlformats.org/officeDocument/2006/relationships/image" Target="../media/image3.tmp"/><Relationship Id="rId1" Type="http://schemas.openxmlformats.org/officeDocument/2006/relationships/tags" Target="../tags/tag52.xml"/><Relationship Id="rId6" Type="http://schemas.openxmlformats.org/officeDocument/2006/relationships/tags" Target="../tags/tag57.xml"/><Relationship Id="rId11" Type="http://schemas.openxmlformats.org/officeDocument/2006/relationships/tags" Target="../tags/tag62.xml"/><Relationship Id="rId5" Type="http://schemas.openxmlformats.org/officeDocument/2006/relationships/tags" Target="../tags/tag56.xml"/><Relationship Id="rId15" Type="http://schemas.openxmlformats.org/officeDocument/2006/relationships/tags" Target="../tags/tag66.xml"/><Relationship Id="rId10" Type="http://schemas.openxmlformats.org/officeDocument/2006/relationships/tags" Target="../tags/tag61.xml"/><Relationship Id="rId19" Type="http://schemas.openxmlformats.org/officeDocument/2006/relationships/notesSlide" Target="../notesSlides/notesSlide3.xml"/><Relationship Id="rId4" Type="http://schemas.openxmlformats.org/officeDocument/2006/relationships/tags" Target="../tags/tag55.xml"/><Relationship Id="rId9" Type="http://schemas.openxmlformats.org/officeDocument/2006/relationships/tags" Target="../tags/tag60.xml"/><Relationship Id="rId14" Type="http://schemas.openxmlformats.org/officeDocument/2006/relationships/tags" Target="../tags/tag6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file:///C:\Users\Administrator\AppData\Local\Temp\wps\INetCache\e03d4cadbe01997e63cbafd725455952" TargetMode="External"/><Relationship Id="rId4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tags" Target="../tags/tag76.xml"/><Relationship Id="rId13" Type="http://schemas.openxmlformats.org/officeDocument/2006/relationships/tags" Target="../tags/tag81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71.xml"/><Relationship Id="rId7" Type="http://schemas.openxmlformats.org/officeDocument/2006/relationships/tags" Target="../tags/tag75.xml"/><Relationship Id="rId12" Type="http://schemas.openxmlformats.org/officeDocument/2006/relationships/tags" Target="../tags/tag80.xml"/><Relationship Id="rId17" Type="http://schemas.openxmlformats.org/officeDocument/2006/relationships/tags" Target="../tags/tag85.xml"/><Relationship Id="rId2" Type="http://schemas.openxmlformats.org/officeDocument/2006/relationships/tags" Target="../tags/tag70.xml"/><Relationship Id="rId16" Type="http://schemas.openxmlformats.org/officeDocument/2006/relationships/tags" Target="../tags/tag84.xml"/><Relationship Id="rId1" Type="http://schemas.openxmlformats.org/officeDocument/2006/relationships/tags" Target="../tags/tag69.xml"/><Relationship Id="rId6" Type="http://schemas.openxmlformats.org/officeDocument/2006/relationships/tags" Target="../tags/tag74.xml"/><Relationship Id="rId11" Type="http://schemas.openxmlformats.org/officeDocument/2006/relationships/tags" Target="../tags/tag79.xml"/><Relationship Id="rId5" Type="http://schemas.openxmlformats.org/officeDocument/2006/relationships/tags" Target="../tags/tag73.xml"/><Relationship Id="rId15" Type="http://schemas.openxmlformats.org/officeDocument/2006/relationships/tags" Target="../tags/tag83.xml"/><Relationship Id="rId10" Type="http://schemas.openxmlformats.org/officeDocument/2006/relationships/tags" Target="../tags/tag78.xml"/><Relationship Id="rId19" Type="http://schemas.openxmlformats.org/officeDocument/2006/relationships/image" Target="../media/image3.tmp"/><Relationship Id="rId4" Type="http://schemas.openxmlformats.org/officeDocument/2006/relationships/tags" Target="../tags/tag72.xml"/><Relationship Id="rId9" Type="http://schemas.openxmlformats.org/officeDocument/2006/relationships/tags" Target="../tags/tag77.xml"/><Relationship Id="rId14" Type="http://schemas.openxmlformats.org/officeDocument/2006/relationships/tags" Target="../tags/tag8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tags" Target="../tags/tag93.xml"/><Relationship Id="rId13" Type="http://schemas.openxmlformats.org/officeDocument/2006/relationships/tags" Target="../tags/tag98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88.xml"/><Relationship Id="rId7" Type="http://schemas.openxmlformats.org/officeDocument/2006/relationships/tags" Target="../tags/tag92.xml"/><Relationship Id="rId12" Type="http://schemas.openxmlformats.org/officeDocument/2006/relationships/tags" Target="../tags/tag97.xml"/><Relationship Id="rId17" Type="http://schemas.openxmlformats.org/officeDocument/2006/relationships/tags" Target="../tags/tag102.xml"/><Relationship Id="rId2" Type="http://schemas.openxmlformats.org/officeDocument/2006/relationships/tags" Target="../tags/tag87.xml"/><Relationship Id="rId16" Type="http://schemas.openxmlformats.org/officeDocument/2006/relationships/tags" Target="../tags/tag101.xml"/><Relationship Id="rId1" Type="http://schemas.openxmlformats.org/officeDocument/2006/relationships/tags" Target="../tags/tag86.xml"/><Relationship Id="rId6" Type="http://schemas.openxmlformats.org/officeDocument/2006/relationships/tags" Target="../tags/tag91.xml"/><Relationship Id="rId11" Type="http://schemas.openxmlformats.org/officeDocument/2006/relationships/tags" Target="../tags/tag96.xml"/><Relationship Id="rId5" Type="http://schemas.openxmlformats.org/officeDocument/2006/relationships/tags" Target="../tags/tag90.xml"/><Relationship Id="rId15" Type="http://schemas.openxmlformats.org/officeDocument/2006/relationships/tags" Target="../tags/tag100.xml"/><Relationship Id="rId10" Type="http://schemas.openxmlformats.org/officeDocument/2006/relationships/tags" Target="../tags/tag95.xml"/><Relationship Id="rId19" Type="http://schemas.openxmlformats.org/officeDocument/2006/relationships/image" Target="../media/image3.tmp"/><Relationship Id="rId4" Type="http://schemas.openxmlformats.org/officeDocument/2006/relationships/tags" Target="../tags/tag89.xml"/><Relationship Id="rId9" Type="http://schemas.openxmlformats.org/officeDocument/2006/relationships/tags" Target="../tags/tag94.xml"/><Relationship Id="rId14" Type="http://schemas.openxmlformats.org/officeDocument/2006/relationships/tags" Target="../tags/tag9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tags" Target="../tags/tag110.xml"/><Relationship Id="rId3" Type="http://schemas.openxmlformats.org/officeDocument/2006/relationships/tags" Target="../tags/tag105.xml"/><Relationship Id="rId7" Type="http://schemas.openxmlformats.org/officeDocument/2006/relationships/tags" Target="../tags/tag109.xml"/><Relationship Id="rId12" Type="http://schemas.openxmlformats.org/officeDocument/2006/relationships/image" Target="../media/image3.tmp"/><Relationship Id="rId2" Type="http://schemas.openxmlformats.org/officeDocument/2006/relationships/tags" Target="../tags/tag104.xml"/><Relationship Id="rId1" Type="http://schemas.openxmlformats.org/officeDocument/2006/relationships/tags" Target="../tags/tag103.xml"/><Relationship Id="rId6" Type="http://schemas.openxmlformats.org/officeDocument/2006/relationships/tags" Target="../tags/tag108.xml"/><Relationship Id="rId11" Type="http://schemas.openxmlformats.org/officeDocument/2006/relationships/slideLayout" Target="../slideLayouts/slideLayout7.xml"/><Relationship Id="rId5" Type="http://schemas.openxmlformats.org/officeDocument/2006/relationships/tags" Target="../tags/tag107.xml"/><Relationship Id="rId10" Type="http://schemas.openxmlformats.org/officeDocument/2006/relationships/tags" Target="../tags/tag112.xml"/><Relationship Id="rId4" Type="http://schemas.openxmlformats.org/officeDocument/2006/relationships/tags" Target="../tags/tag106.xml"/><Relationship Id="rId9" Type="http://schemas.openxmlformats.org/officeDocument/2006/relationships/tags" Target="../tags/tag11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zh.cppreference.com/w/c/language/expressions" TargetMode="Externa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coolshell.cn/articles/11466.html" TargetMode="External"/><Relationship Id="rId4" Type="http://schemas.openxmlformats.org/officeDocument/2006/relationships/image" Target="../media/image9.jpe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zh.cppreference.com/w/c/language/integer_constant" TargetMode="Externa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tags" Target="../tags/tag120.xml"/><Relationship Id="rId13" Type="http://schemas.openxmlformats.org/officeDocument/2006/relationships/tags" Target="../tags/tag125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115.xml"/><Relationship Id="rId7" Type="http://schemas.openxmlformats.org/officeDocument/2006/relationships/tags" Target="../tags/tag119.xml"/><Relationship Id="rId12" Type="http://schemas.openxmlformats.org/officeDocument/2006/relationships/tags" Target="../tags/tag124.xml"/><Relationship Id="rId17" Type="http://schemas.openxmlformats.org/officeDocument/2006/relationships/tags" Target="../tags/tag129.xml"/><Relationship Id="rId2" Type="http://schemas.openxmlformats.org/officeDocument/2006/relationships/tags" Target="../tags/tag114.xml"/><Relationship Id="rId16" Type="http://schemas.openxmlformats.org/officeDocument/2006/relationships/tags" Target="../tags/tag128.xml"/><Relationship Id="rId1" Type="http://schemas.openxmlformats.org/officeDocument/2006/relationships/tags" Target="../tags/tag113.xml"/><Relationship Id="rId6" Type="http://schemas.openxmlformats.org/officeDocument/2006/relationships/tags" Target="../tags/tag118.xml"/><Relationship Id="rId11" Type="http://schemas.openxmlformats.org/officeDocument/2006/relationships/tags" Target="../tags/tag123.xml"/><Relationship Id="rId5" Type="http://schemas.openxmlformats.org/officeDocument/2006/relationships/tags" Target="../tags/tag117.xml"/><Relationship Id="rId15" Type="http://schemas.openxmlformats.org/officeDocument/2006/relationships/tags" Target="../tags/tag127.xml"/><Relationship Id="rId10" Type="http://schemas.openxmlformats.org/officeDocument/2006/relationships/tags" Target="../tags/tag122.xml"/><Relationship Id="rId19" Type="http://schemas.openxmlformats.org/officeDocument/2006/relationships/image" Target="../media/image3.tmp"/><Relationship Id="rId4" Type="http://schemas.openxmlformats.org/officeDocument/2006/relationships/tags" Target="../tags/tag116.xml"/><Relationship Id="rId9" Type="http://schemas.openxmlformats.org/officeDocument/2006/relationships/tags" Target="../tags/tag121.xml"/><Relationship Id="rId14" Type="http://schemas.openxmlformats.org/officeDocument/2006/relationships/tags" Target="../tags/tag12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zh.cppreference.com/w/c/language/arithmetic_types" TargetMode="External"/><Relationship Id="rId4" Type="http://schemas.openxmlformats.org/officeDocument/2006/relationships/hyperlink" Target="https://zh.cppreference.com/w/c/language/floating_constant" TargetMode="Externa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tags" Target="../tags/tag137.xml"/><Relationship Id="rId13" Type="http://schemas.openxmlformats.org/officeDocument/2006/relationships/tags" Target="../tags/tag142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132.xml"/><Relationship Id="rId7" Type="http://schemas.openxmlformats.org/officeDocument/2006/relationships/tags" Target="../tags/tag136.xml"/><Relationship Id="rId12" Type="http://schemas.openxmlformats.org/officeDocument/2006/relationships/tags" Target="../tags/tag141.xml"/><Relationship Id="rId17" Type="http://schemas.openxmlformats.org/officeDocument/2006/relationships/tags" Target="../tags/tag146.xml"/><Relationship Id="rId2" Type="http://schemas.openxmlformats.org/officeDocument/2006/relationships/tags" Target="../tags/tag131.xml"/><Relationship Id="rId16" Type="http://schemas.openxmlformats.org/officeDocument/2006/relationships/tags" Target="../tags/tag145.xml"/><Relationship Id="rId1" Type="http://schemas.openxmlformats.org/officeDocument/2006/relationships/tags" Target="../tags/tag130.xml"/><Relationship Id="rId6" Type="http://schemas.openxmlformats.org/officeDocument/2006/relationships/tags" Target="../tags/tag135.xml"/><Relationship Id="rId11" Type="http://schemas.openxmlformats.org/officeDocument/2006/relationships/tags" Target="../tags/tag140.xml"/><Relationship Id="rId5" Type="http://schemas.openxmlformats.org/officeDocument/2006/relationships/tags" Target="../tags/tag134.xml"/><Relationship Id="rId15" Type="http://schemas.openxmlformats.org/officeDocument/2006/relationships/tags" Target="../tags/tag144.xml"/><Relationship Id="rId10" Type="http://schemas.openxmlformats.org/officeDocument/2006/relationships/tags" Target="../tags/tag139.xml"/><Relationship Id="rId19" Type="http://schemas.openxmlformats.org/officeDocument/2006/relationships/image" Target="../media/image3.tmp"/><Relationship Id="rId4" Type="http://schemas.openxmlformats.org/officeDocument/2006/relationships/tags" Target="../tags/tag133.xml"/><Relationship Id="rId9" Type="http://schemas.openxmlformats.org/officeDocument/2006/relationships/tags" Target="../tags/tag138.xml"/><Relationship Id="rId14" Type="http://schemas.openxmlformats.org/officeDocument/2006/relationships/tags" Target="../tags/tag14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604" b="46967"/>
          <a:stretch>
            <a:fillRect/>
          </a:stretch>
        </p:blipFill>
        <p:spPr>
          <a:xfrm>
            <a:off x="0" y="2176476"/>
            <a:ext cx="12209296" cy="2877923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0" y="2176477"/>
            <a:ext cx="12192000" cy="2877922"/>
          </a:xfrm>
          <a:prstGeom prst="rect">
            <a:avLst/>
          </a:prstGeom>
          <a:gradFill>
            <a:gsLst>
              <a:gs pos="0">
                <a:srgbClr val="014723"/>
              </a:gs>
              <a:gs pos="59000">
                <a:srgbClr val="014723">
                  <a:alpha val="60000"/>
                </a:srgbClr>
              </a:gs>
              <a:gs pos="100000">
                <a:srgbClr val="014723">
                  <a:alpha val="10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1860974" y="2834350"/>
            <a:ext cx="865237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60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</a:t>
            </a:r>
            <a:r>
              <a:rPr lang="zh-CN" altLang="en-US" sz="36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60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常量和存储类（</a:t>
            </a:r>
            <a:r>
              <a:rPr lang="en-US" altLang="zh-CN" sz="60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60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16" name="TextBox 10"/>
          <p:cNvSpPr txBox="1"/>
          <p:nvPr/>
        </p:nvSpPr>
        <p:spPr>
          <a:xfrm>
            <a:off x="2565806" y="3990096"/>
            <a:ext cx="7060388" cy="523196"/>
          </a:xfrm>
          <a:prstGeom prst="rect">
            <a:avLst/>
          </a:prstGeom>
          <a:noFill/>
        </p:spPr>
        <p:txBody>
          <a:bodyPr wrap="square" lIns="91416" tIns="45708" rIns="91416" bIns="45708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/>
            <a:r>
              <a:rPr lang="zh-CN" altLang="en-US" sz="28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中山大学计算机学院</a:t>
            </a:r>
            <a:endParaRPr lang="en-US" altLang="zh-CN" sz="280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200" r="2284" b="11992"/>
          <a:stretch>
            <a:fillRect/>
          </a:stretch>
        </p:blipFill>
        <p:spPr>
          <a:xfrm>
            <a:off x="4339400" y="923192"/>
            <a:ext cx="3433000" cy="1072662"/>
          </a:xfrm>
          <a:prstGeom prst="rect">
            <a:avLst/>
          </a:prstGeom>
        </p:spPr>
      </p:pic>
      <p:sp>
        <p:nvSpPr>
          <p:cNvPr id="17" name="TextBox 6"/>
          <p:cNvSpPr txBox="1"/>
          <p:nvPr/>
        </p:nvSpPr>
        <p:spPr>
          <a:xfrm>
            <a:off x="5398606" y="5644929"/>
            <a:ext cx="1723500" cy="400085"/>
          </a:xfrm>
          <a:prstGeom prst="rect">
            <a:avLst/>
          </a:prstGeom>
          <a:noFill/>
        </p:spPr>
        <p:txBody>
          <a:bodyPr wrap="none" lIns="91416" tIns="45708" rIns="91416" bIns="45708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chemeClr val="accent2"/>
                </a:solidFill>
                <a:latin typeface="+mn-ea"/>
                <a:ea typeface="+mn-ea"/>
              </a:defRPr>
            </a:lvl1pPr>
          </a:lstStyle>
          <a:p>
            <a:pPr algn="ctr"/>
            <a:r>
              <a:rPr lang="zh-CN" altLang="en-US" b="1" dirty="0">
                <a:solidFill>
                  <a:srgbClr val="0147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讲课人</a:t>
            </a:r>
            <a:r>
              <a:rPr lang="zh-CN" altLang="en-US" dirty="0">
                <a:solidFill>
                  <a:srgbClr val="0147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：陆勇</a:t>
            </a:r>
            <a:endParaRPr lang="en-US" altLang="zh-CN" dirty="0">
              <a:solidFill>
                <a:srgbClr val="01472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Freeform 7"/>
          <p:cNvSpPr>
            <a:spLocks noChangeAspect="1" noEditPoints="1"/>
          </p:cNvSpPr>
          <p:nvPr/>
        </p:nvSpPr>
        <p:spPr bwMode="auto">
          <a:xfrm>
            <a:off x="4549092" y="5611849"/>
            <a:ext cx="462900" cy="466244"/>
          </a:xfrm>
          <a:custGeom>
            <a:avLst/>
            <a:gdLst>
              <a:gd name="T0" fmla="*/ 661 w 904"/>
              <a:gd name="T1" fmla="*/ 461 h 905"/>
              <a:gd name="T2" fmla="*/ 661 w 904"/>
              <a:gd name="T3" fmla="*/ 339 h 905"/>
              <a:gd name="T4" fmla="*/ 605 w 904"/>
              <a:gd name="T5" fmla="*/ 339 h 905"/>
              <a:gd name="T6" fmla="*/ 605 w 904"/>
              <a:gd name="T7" fmla="*/ 461 h 905"/>
              <a:gd name="T8" fmla="*/ 456 w 904"/>
              <a:gd name="T9" fmla="*/ 610 h 905"/>
              <a:gd name="T10" fmla="*/ 453 w 904"/>
              <a:gd name="T11" fmla="*/ 610 h 905"/>
              <a:gd name="T12" fmla="*/ 452 w 904"/>
              <a:gd name="T13" fmla="*/ 610 h 905"/>
              <a:gd name="T14" fmla="*/ 451 w 904"/>
              <a:gd name="T15" fmla="*/ 610 h 905"/>
              <a:gd name="T16" fmla="*/ 448 w 904"/>
              <a:gd name="T17" fmla="*/ 610 h 905"/>
              <a:gd name="T18" fmla="*/ 299 w 904"/>
              <a:gd name="T19" fmla="*/ 461 h 905"/>
              <a:gd name="T20" fmla="*/ 299 w 904"/>
              <a:gd name="T21" fmla="*/ 339 h 905"/>
              <a:gd name="T22" fmla="*/ 244 w 904"/>
              <a:gd name="T23" fmla="*/ 339 h 905"/>
              <a:gd name="T24" fmla="*/ 244 w 904"/>
              <a:gd name="T25" fmla="*/ 461 h 905"/>
              <a:gd name="T26" fmla="*/ 419 w 904"/>
              <a:gd name="T27" fmla="*/ 664 h 905"/>
              <a:gd name="T28" fmla="*/ 419 w 904"/>
              <a:gd name="T29" fmla="*/ 752 h 905"/>
              <a:gd name="T30" fmla="*/ 295 w 904"/>
              <a:gd name="T31" fmla="*/ 787 h 905"/>
              <a:gd name="T32" fmla="*/ 610 w 904"/>
              <a:gd name="T33" fmla="*/ 787 h 905"/>
              <a:gd name="T34" fmla="*/ 484 w 904"/>
              <a:gd name="T35" fmla="*/ 751 h 905"/>
              <a:gd name="T36" fmla="*/ 484 w 904"/>
              <a:gd name="T37" fmla="*/ 664 h 905"/>
              <a:gd name="T38" fmla="*/ 661 w 904"/>
              <a:gd name="T39" fmla="*/ 461 h 905"/>
              <a:gd name="T40" fmla="*/ 450 w 904"/>
              <a:gd name="T41" fmla="*/ 558 h 905"/>
              <a:gd name="T42" fmla="*/ 452 w 904"/>
              <a:gd name="T43" fmla="*/ 558 h 905"/>
              <a:gd name="T44" fmla="*/ 454 w 904"/>
              <a:gd name="T45" fmla="*/ 558 h 905"/>
              <a:gd name="T46" fmla="*/ 554 w 904"/>
              <a:gd name="T47" fmla="*/ 459 h 905"/>
              <a:gd name="T48" fmla="*/ 554 w 904"/>
              <a:gd name="T49" fmla="*/ 218 h 905"/>
              <a:gd name="T50" fmla="*/ 454 w 904"/>
              <a:gd name="T51" fmla="*/ 118 h 905"/>
              <a:gd name="T52" fmla="*/ 452 w 904"/>
              <a:gd name="T53" fmla="*/ 118 h 905"/>
              <a:gd name="T54" fmla="*/ 450 w 904"/>
              <a:gd name="T55" fmla="*/ 118 h 905"/>
              <a:gd name="T56" fmla="*/ 351 w 904"/>
              <a:gd name="T57" fmla="*/ 218 h 905"/>
              <a:gd name="T58" fmla="*/ 351 w 904"/>
              <a:gd name="T59" fmla="*/ 459 h 905"/>
              <a:gd name="T60" fmla="*/ 450 w 904"/>
              <a:gd name="T61" fmla="*/ 558 h 905"/>
              <a:gd name="T62" fmla="*/ 452 w 904"/>
              <a:gd name="T63" fmla="*/ 0 h 905"/>
              <a:gd name="T64" fmla="*/ 904 w 904"/>
              <a:gd name="T65" fmla="*/ 453 h 905"/>
              <a:gd name="T66" fmla="*/ 452 w 904"/>
              <a:gd name="T67" fmla="*/ 905 h 905"/>
              <a:gd name="T68" fmla="*/ 0 w 904"/>
              <a:gd name="T69" fmla="*/ 453 h 905"/>
              <a:gd name="T70" fmla="*/ 452 w 904"/>
              <a:gd name="T71" fmla="*/ 0 h 9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904" h="905">
                <a:moveTo>
                  <a:pt x="661" y="461"/>
                </a:moveTo>
                <a:lnTo>
                  <a:pt x="661" y="339"/>
                </a:lnTo>
                <a:cubicBezTo>
                  <a:pt x="661" y="304"/>
                  <a:pt x="605" y="304"/>
                  <a:pt x="605" y="339"/>
                </a:cubicBezTo>
                <a:lnTo>
                  <a:pt x="605" y="461"/>
                </a:lnTo>
                <a:cubicBezTo>
                  <a:pt x="605" y="543"/>
                  <a:pt x="538" y="610"/>
                  <a:pt x="456" y="610"/>
                </a:cubicBezTo>
                <a:cubicBezTo>
                  <a:pt x="455" y="610"/>
                  <a:pt x="454" y="610"/>
                  <a:pt x="453" y="610"/>
                </a:cubicBezTo>
                <a:lnTo>
                  <a:pt x="452" y="610"/>
                </a:lnTo>
                <a:lnTo>
                  <a:pt x="451" y="610"/>
                </a:lnTo>
                <a:cubicBezTo>
                  <a:pt x="450" y="610"/>
                  <a:pt x="449" y="610"/>
                  <a:pt x="448" y="610"/>
                </a:cubicBezTo>
                <a:cubicBezTo>
                  <a:pt x="366" y="610"/>
                  <a:pt x="299" y="543"/>
                  <a:pt x="299" y="461"/>
                </a:cubicBezTo>
                <a:lnTo>
                  <a:pt x="299" y="339"/>
                </a:lnTo>
                <a:cubicBezTo>
                  <a:pt x="299" y="304"/>
                  <a:pt x="244" y="304"/>
                  <a:pt x="244" y="339"/>
                </a:cubicBezTo>
                <a:cubicBezTo>
                  <a:pt x="244" y="355"/>
                  <a:pt x="244" y="461"/>
                  <a:pt x="244" y="461"/>
                </a:cubicBezTo>
                <a:cubicBezTo>
                  <a:pt x="244" y="564"/>
                  <a:pt x="320" y="650"/>
                  <a:pt x="419" y="664"/>
                </a:cubicBezTo>
                <a:lnTo>
                  <a:pt x="419" y="752"/>
                </a:lnTo>
                <a:lnTo>
                  <a:pt x="295" y="787"/>
                </a:lnTo>
                <a:lnTo>
                  <a:pt x="610" y="787"/>
                </a:lnTo>
                <a:lnTo>
                  <a:pt x="484" y="751"/>
                </a:lnTo>
                <a:lnTo>
                  <a:pt x="484" y="664"/>
                </a:lnTo>
                <a:cubicBezTo>
                  <a:pt x="584" y="650"/>
                  <a:pt x="661" y="564"/>
                  <a:pt x="661" y="461"/>
                </a:cubicBezTo>
                <a:close/>
                <a:moveTo>
                  <a:pt x="450" y="558"/>
                </a:moveTo>
                <a:cubicBezTo>
                  <a:pt x="451" y="558"/>
                  <a:pt x="451" y="558"/>
                  <a:pt x="452" y="558"/>
                </a:cubicBezTo>
                <a:cubicBezTo>
                  <a:pt x="453" y="558"/>
                  <a:pt x="453" y="558"/>
                  <a:pt x="454" y="558"/>
                </a:cubicBezTo>
                <a:cubicBezTo>
                  <a:pt x="509" y="558"/>
                  <a:pt x="554" y="514"/>
                  <a:pt x="554" y="459"/>
                </a:cubicBezTo>
                <a:lnTo>
                  <a:pt x="554" y="218"/>
                </a:lnTo>
                <a:cubicBezTo>
                  <a:pt x="554" y="163"/>
                  <a:pt x="509" y="118"/>
                  <a:pt x="454" y="118"/>
                </a:cubicBezTo>
                <a:cubicBezTo>
                  <a:pt x="453" y="118"/>
                  <a:pt x="453" y="118"/>
                  <a:pt x="452" y="118"/>
                </a:cubicBezTo>
                <a:cubicBezTo>
                  <a:pt x="452" y="118"/>
                  <a:pt x="451" y="118"/>
                  <a:pt x="450" y="118"/>
                </a:cubicBezTo>
                <a:cubicBezTo>
                  <a:pt x="395" y="118"/>
                  <a:pt x="351" y="163"/>
                  <a:pt x="351" y="218"/>
                </a:cubicBezTo>
                <a:lnTo>
                  <a:pt x="351" y="459"/>
                </a:lnTo>
                <a:cubicBezTo>
                  <a:pt x="351" y="514"/>
                  <a:pt x="395" y="558"/>
                  <a:pt x="450" y="558"/>
                </a:cubicBezTo>
                <a:close/>
                <a:moveTo>
                  <a:pt x="452" y="0"/>
                </a:moveTo>
                <a:cubicBezTo>
                  <a:pt x="702" y="0"/>
                  <a:pt x="904" y="203"/>
                  <a:pt x="904" y="453"/>
                </a:cubicBezTo>
                <a:cubicBezTo>
                  <a:pt x="904" y="702"/>
                  <a:pt x="702" y="905"/>
                  <a:pt x="452" y="905"/>
                </a:cubicBezTo>
                <a:cubicBezTo>
                  <a:pt x="202" y="905"/>
                  <a:pt x="0" y="702"/>
                  <a:pt x="0" y="453"/>
                </a:cubicBezTo>
                <a:cubicBezTo>
                  <a:pt x="0" y="203"/>
                  <a:pt x="202" y="0"/>
                  <a:pt x="452" y="0"/>
                </a:cubicBezTo>
                <a:close/>
              </a:path>
            </a:pathLst>
          </a:custGeom>
          <a:solidFill>
            <a:srgbClr val="014723"/>
          </a:solidFill>
          <a:ln>
            <a:noFill/>
          </a:ln>
        </p:spPr>
        <p:txBody>
          <a:bodyPr vert="horz" wrap="square" lIns="91416" tIns="45708" rIns="91416" bIns="45708" numCol="1" anchor="t" anchorCtr="0" compatLnSpc="1"/>
          <a:lstStyle/>
          <a:p>
            <a:endParaRPr lang="zh-CN" altLang="en-US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604" b="46967"/>
          <a:stretch>
            <a:fillRect/>
          </a:stretch>
        </p:blipFill>
        <p:spPr>
          <a:xfrm>
            <a:off x="0" y="2176476"/>
            <a:ext cx="12209296" cy="2877923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0" y="2176477"/>
            <a:ext cx="12192000" cy="2877922"/>
          </a:xfrm>
          <a:prstGeom prst="rect">
            <a:avLst/>
          </a:prstGeom>
          <a:gradFill>
            <a:gsLst>
              <a:gs pos="0">
                <a:srgbClr val="014723"/>
              </a:gs>
              <a:gs pos="59000">
                <a:srgbClr val="014723">
                  <a:alpha val="60000"/>
                </a:srgbClr>
              </a:gs>
              <a:gs pos="100000">
                <a:srgbClr val="014723">
                  <a:alpha val="10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2559161" y="2793810"/>
            <a:ext cx="699347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复习</a:t>
            </a:r>
          </a:p>
        </p:txBody>
      </p:sp>
      <p:sp>
        <p:nvSpPr>
          <p:cNvPr id="16" name="TextBox 10"/>
          <p:cNvSpPr txBox="1"/>
          <p:nvPr/>
        </p:nvSpPr>
        <p:spPr>
          <a:xfrm>
            <a:off x="2565806" y="3990096"/>
            <a:ext cx="7060388" cy="523196"/>
          </a:xfrm>
          <a:prstGeom prst="rect">
            <a:avLst/>
          </a:prstGeom>
          <a:noFill/>
        </p:spPr>
        <p:txBody>
          <a:bodyPr wrap="square" lIns="91416" tIns="45708" rIns="91416" bIns="45708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/>
            <a:r>
              <a:rPr lang="en-US" altLang="zh-CN" sz="2800" dirty="0">
                <a:solidFill>
                  <a:schemeClr val="bg1">
                    <a:lumMod val="95000"/>
                  </a:schemeClr>
                </a:solidFill>
              </a:rPr>
              <a:t>Reviews</a:t>
            </a:r>
            <a:endParaRPr lang="en-US" altLang="zh-CN" sz="280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200" r="2284" b="11992"/>
          <a:stretch>
            <a:fillRect/>
          </a:stretch>
        </p:blipFill>
        <p:spPr>
          <a:xfrm>
            <a:off x="4339400" y="923192"/>
            <a:ext cx="3433000" cy="107266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50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850"/>
                            </p:stCondLst>
                            <p:childTnLst>
                              <p:par>
                                <p:cTn id="15" presetID="8" presetClass="entr" presetSubtype="3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1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5" grpId="0"/>
      <p:bldP spid="1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42985A1-09F2-461C-B2E9-1DEFF6A81D2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在一个简单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代码中，语句  </a:t>
            </a:r>
            <a:r>
              <a:rPr lang="en-US" altLang="zh-CN" sz="2600" i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x = y + 2; 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应该出现在以下哪部分代码之中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7A9C1A0-BFC3-4F53-B6C8-7BC5A22F2018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定义变量与常量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CDEB2B1-1426-4B80-B17F-05AB39424518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输入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7755826-3D58-4AC6-A221-2C2A34E35D5D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计算结果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8D08B83-F0DE-4E8B-91F0-6CDF2697558B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输出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5F4EE4F6-CDDF-4639-A53F-45750D21C6FA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A315F384-ABBB-459D-83B7-85C3AE15CE8D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407BF0DA-91AF-46D7-BB85-0287053854AE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19276743-3C91-4EA9-BF73-B3EFB3984231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C6CC2585-67AC-40D5-9925-2D5D5388E1E1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9F6CA712-D23C-4C9C-9BF8-25273C75BBEB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20340392-89BA-48CE-99B8-7F6B50345603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BC93DC6E-D843-4ED6-A251-562D7261FFF0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4866679F-0F4B-4AD3-B2CF-A96F53507058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7587A142-CDD7-40A3-8149-8FA80BD5A79B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A8EB8CB4-968D-4FBD-BBB3-C08EC5CFDEF5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836047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42985A1-09F2-461C-B2E9-1DEFF6A81D2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在一个简单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代码中，以下哪些陈述是正确的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7A9C1A0-BFC3-4F53-B6C8-7BC5A22F2018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输入前必须定义变量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CDEB2B1-1426-4B80-B17F-05AB39424518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计算前变量必须有初始值或输入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7755826-3D58-4AC6-A221-2C2A34E35D5D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先输出再输入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8D08B83-F0DE-4E8B-91F0-6CDF2697558B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输出应该放在计算之后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F4EE4F6-CDDF-4639-A53F-45750D21C6FA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28503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315F384-ABBB-459D-83B7-85C3AE15CE8D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70760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07BF0DA-91AF-46D7-BB85-0287053854AE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56485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9276743-3C91-4EA9-BF73-B3EFB3984231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C6CC2585-67AC-40D5-9925-2D5D5388E1E1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B3A29728-918E-86D3-D74E-2A5CB4ED1CF5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20340392-89BA-48CE-99B8-7F6B50345603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BC93DC6E-D843-4ED6-A251-562D7261FFF0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4866679F-0F4B-4AD3-B2CF-A96F53507058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多选题</a:t>
              </a:r>
            </a:p>
          </p:txBody>
        </p:sp>
        <p:sp>
          <p:nvSpPr>
            <p:cNvPr id="2" name="TipText">
              <a:extLst>
                <a:ext uri="{FF2B5EF4-FFF2-40B4-BE49-F238E27FC236}">
                  <a16:creationId xmlns:a16="http://schemas.microsoft.com/office/drawing/2014/main" id="{4FE59702-5E07-C85C-CD44-E9AB451EA8DA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A8EB8CB4-968D-4FBD-BBB3-C08EC5CFDEF5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040469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42985A1-09F2-461C-B2E9-1DEFF6A81D2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以下输入，哪些可被语句正确读入变量？</a:t>
            </a:r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	int 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a,b,c,d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;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	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scanf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("%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d%d%d%d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",&amp;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a,&amp;b,&amp;c,&amp;d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);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7A9C1A0-BFC3-4F53-B6C8-7BC5A22F2018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1 2 3 4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CDEB2B1-1426-4B80-B17F-05AB39424518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1 2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3 4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7755826-3D58-4AC6-A221-2C2A34E35D5D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1 2 3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4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8D08B83-F0DE-4E8B-91F0-6CDF2697558B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1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4</a:t>
            </a:r>
            <a:endParaRPr lang="zh-CN" altLang="en-US" sz="14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F4EE4F6-CDDF-4639-A53F-45750D21C6FA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28503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315F384-ABBB-459D-83B7-85C3AE15CE8D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70760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07BF0DA-91AF-46D7-BB85-0287053854AE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5648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9276743-3C91-4EA9-BF73-B3EFB3984231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C6CC2585-67AC-40D5-9925-2D5D5388E1E1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B3A29728-918E-86D3-D74E-2A5CB4ED1CF5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20340392-89BA-48CE-99B8-7F6B50345603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BC93DC6E-D843-4ED6-A251-562D7261FFF0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4866679F-0F4B-4AD3-B2CF-A96F53507058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多选题</a:t>
              </a:r>
            </a:p>
          </p:txBody>
        </p:sp>
        <p:sp>
          <p:nvSpPr>
            <p:cNvPr id="2" name="TipText">
              <a:extLst>
                <a:ext uri="{FF2B5EF4-FFF2-40B4-BE49-F238E27FC236}">
                  <a16:creationId xmlns:a16="http://schemas.microsoft.com/office/drawing/2014/main" id="{4FE59702-5E07-C85C-CD44-E9AB451EA8DA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A8EB8CB4-968D-4FBD-BBB3-C08EC5CFDEF5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346117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6FB40BF-1A0A-4FF7-9554-3C1F233E17F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在语句</a:t>
            </a:r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r>
              <a:rPr lang="en-US" altLang="zh-CN" sz="2600" b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   double x=9.0, y;</a:t>
            </a:r>
          </a:p>
          <a:p>
            <a:r>
              <a:rPr lang="zh-CN" altLang="en-US" sz="2600" b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的下一句，以下哪些语句是正确的？</a:t>
            </a:r>
            <a:endParaRPr lang="en-US" altLang="zh-CN" sz="2600" b="0" dirty="0">
              <a:solidFill>
                <a:srgbClr val="000000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endParaRPr lang="en-US" altLang="zh-CN" sz="2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BE1F3BC-1140-4F7B-849D-92AD8AE6E10A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scanf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("%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lf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",x);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FB6BC82-B8D2-42D2-8198-6D1B3259A6A6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scanf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("%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f",&amp;x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);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F6CC6C-9A15-4B22-B15C-2C171A63A5CF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s-E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printf("%lf,%lf",x,y);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36653BE-801C-4569-8495-650159018843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以上都不对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A28D6A1-5EC2-4056-B7A7-CE00E28AD6E2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2850356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0BE0E8A-0552-4AA7-96F6-84FCEFDAD545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707606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C3AEBE5-2C15-4D96-86FC-BBCCDA9B6F74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56485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7C11463-BFBC-45C8-8674-79BB3F4F3DD0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B88CAE03-27A6-4CA9-A970-87E0E5FC92EA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1AB54257-3D43-E8FA-AAE3-CBD57C0FE33B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305461E9-3488-4536-8475-BC71B0B7C73A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E3B8E1E8-ECDE-42ED-BCDC-765CA3AB89C3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7E8D3FFC-79D4-47CE-A81D-929A38595F52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多选题</a:t>
              </a:r>
            </a:p>
          </p:txBody>
        </p:sp>
        <p:sp>
          <p:nvSpPr>
            <p:cNvPr id="2" name="TipText">
              <a:extLst>
                <a:ext uri="{FF2B5EF4-FFF2-40B4-BE49-F238E27FC236}">
                  <a16:creationId xmlns:a16="http://schemas.microsoft.com/office/drawing/2014/main" id="{0FDB46AA-B450-D49E-3702-51B27B79163B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120A0719-01AA-4237-97B5-DAF6C6E74FA1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296437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/>
          <p:cNvSpPr txBox="1"/>
          <p:nvPr/>
        </p:nvSpPr>
        <p:spPr>
          <a:xfrm>
            <a:off x="813104" y="1108968"/>
            <a:ext cx="1625296" cy="38426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问题提出：变量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…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值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…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内存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…?</a:t>
            </a:r>
            <a:endParaRPr lang="zh-CN" altLang="en-US" sz="2800" b="1" kern="0" dirty="0">
              <a:gradFill>
                <a:gsLst>
                  <a:gs pos="100000">
                    <a:schemeClr val="bg1"/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l="100000" b="100000"/>
                </a:path>
              </a:gradFill>
              <a:ea typeface="微软雅黑" panose="020B0503020204020204" pitchFamily="34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4" name="内容占位符 3"/>
          <p:cNvSpPr>
            <a:spLocks noGrp="1"/>
          </p:cNvSpPr>
          <p:nvPr/>
        </p:nvSpPr>
        <p:spPr>
          <a:xfrm>
            <a:off x="5862404" y="2998167"/>
            <a:ext cx="5181600" cy="28593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70000"/>
              </a:lnSpc>
              <a:spcBef>
                <a:spcPts val="6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dirty="0"/>
              <a:t>在计算机的内部：</a:t>
            </a:r>
            <a:endParaRPr lang="en-US" altLang="zh-CN" dirty="0"/>
          </a:p>
          <a:p>
            <a:r>
              <a:rPr lang="en-US" altLang="zh-CN" dirty="0"/>
              <a:t>5 </a:t>
            </a:r>
            <a:r>
              <a:rPr lang="zh-CN" altLang="en-US" dirty="0"/>
              <a:t>变成</a:t>
            </a:r>
            <a:r>
              <a:rPr lang="en-US" altLang="zh-CN" dirty="0"/>
              <a:t>0</a:t>
            </a:r>
            <a:r>
              <a:rPr lang="zh-CN" altLang="en-US" dirty="0"/>
              <a:t>，</a:t>
            </a:r>
            <a:r>
              <a:rPr lang="en-US" altLang="zh-CN" dirty="0"/>
              <a:t>1</a:t>
            </a:r>
            <a:r>
              <a:rPr lang="zh-CN" altLang="en-US" dirty="0"/>
              <a:t>是什么样的？</a:t>
            </a:r>
            <a:endParaRPr lang="en-US" altLang="zh-CN" dirty="0"/>
          </a:p>
          <a:p>
            <a:r>
              <a:rPr lang="en-US" altLang="zh-CN" dirty="0"/>
              <a:t>radius </a:t>
            </a:r>
            <a:r>
              <a:rPr lang="zh-CN" altLang="en-US" dirty="0"/>
              <a:t>与 </a:t>
            </a:r>
            <a:r>
              <a:rPr lang="en-US" altLang="zh-CN" dirty="0"/>
              <a:t>&amp;radius </a:t>
            </a:r>
            <a:r>
              <a:rPr lang="zh-CN" altLang="en-US" dirty="0"/>
              <a:t>的含义？</a:t>
            </a:r>
            <a:endParaRPr lang="en-US" altLang="zh-CN" dirty="0"/>
          </a:p>
          <a:p>
            <a:r>
              <a:rPr lang="en-US" altLang="zh-CN" dirty="0"/>
              <a:t>double </a:t>
            </a:r>
            <a:r>
              <a:rPr lang="zh-CN" altLang="en-US" dirty="0"/>
              <a:t>和 </a:t>
            </a:r>
            <a:r>
              <a:rPr lang="en-US" altLang="zh-CN" dirty="0"/>
              <a:t>int </a:t>
            </a:r>
            <a:r>
              <a:rPr lang="zh-CN" altLang="en-US" dirty="0"/>
              <a:t>类型的 </a:t>
            </a:r>
            <a:r>
              <a:rPr lang="en-US" altLang="zh-CN" dirty="0"/>
              <a:t>5</a:t>
            </a:r>
            <a:r>
              <a:rPr lang="zh-CN" altLang="en-US" dirty="0"/>
              <a:t>，在内存中一样吗？</a:t>
            </a:r>
            <a:r>
              <a:rPr lang="en-US" altLang="zh-CN" dirty="0"/>
              <a:t> </a:t>
            </a:r>
            <a:endParaRPr lang="zh-CN" altLang="en-US" dirty="0"/>
          </a:p>
        </p:txBody>
      </p:sp>
      <p:pic>
        <p:nvPicPr>
          <p:cNvPr id="100" name="图片 99"/>
          <p:cNvPicPr/>
          <p:nvPr/>
        </p:nvPicPr>
        <p:blipFill>
          <a:blip r:embed="rId4" r:link="rId5"/>
          <a:stretch>
            <a:fillRect/>
          </a:stretch>
        </p:blipFill>
        <p:spPr>
          <a:xfrm>
            <a:off x="1011336" y="2481362"/>
            <a:ext cx="4258310" cy="267525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9113E932-34AD-04F9-81DD-6B56C0250C8B}"/>
              </a:ext>
            </a:extLst>
          </p:cNvPr>
          <p:cNvSpPr txBox="1"/>
          <p:nvPr/>
        </p:nvSpPr>
        <p:spPr>
          <a:xfrm>
            <a:off x="5862404" y="2112030"/>
            <a:ext cx="5181600" cy="461665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Consolas" panose="020B0609020204030204" pitchFamily="49" charset="0"/>
              </a:rPr>
              <a:t>double radius = 5;</a:t>
            </a:r>
            <a:endParaRPr lang="zh-CN" altLang="en-US" sz="2400" b="1" dirty="0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096B16DF-E6E1-C12E-BA0B-5125C5B47303}"/>
              </a:ext>
            </a:extLst>
          </p:cNvPr>
          <p:cNvSpPr/>
          <p:nvPr/>
        </p:nvSpPr>
        <p:spPr>
          <a:xfrm>
            <a:off x="2693037" y="4283717"/>
            <a:ext cx="653758" cy="14414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E460BE87-183C-A083-1490-19C0E7AC07DB}"/>
              </a:ext>
            </a:extLst>
          </p:cNvPr>
          <p:cNvSpPr/>
          <p:nvPr/>
        </p:nvSpPr>
        <p:spPr>
          <a:xfrm>
            <a:off x="2366158" y="3151441"/>
            <a:ext cx="653758" cy="14414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51" grpId="0" bldLvl="0" animBg="1"/>
      <p:bldP spid="4" grpId="0"/>
      <p:bldP spid="3" grpId="0" animBg="1"/>
      <p:bldP spid="2" grpId="0" animBg="1"/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/>
        </p:nvSpPr>
        <p:spPr>
          <a:xfrm>
            <a:off x="-1791046" y="1892300"/>
            <a:ext cx="5651845" cy="3073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CC3300"/>
              </a:solidFill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-1556426" y="1998319"/>
            <a:ext cx="5261917" cy="2861362"/>
          </a:xfrm>
          <a:prstGeom prst="roundRect">
            <a:avLst>
              <a:gd name="adj" fmla="val 50000"/>
            </a:avLst>
          </a:prstGeom>
          <a:solidFill>
            <a:srgbClr val="014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5642044" y="1204577"/>
            <a:ext cx="911156" cy="577144"/>
          </a:xfrm>
          <a:prstGeom prst="roundRect">
            <a:avLst>
              <a:gd name="adj" fmla="val 50000"/>
            </a:avLst>
          </a:prstGeom>
          <a:solidFill>
            <a:srgbClr val="014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01</a:t>
            </a:r>
            <a:endParaRPr lang="zh-CN" altLang="en-US" b="1" dirty="0"/>
          </a:p>
        </p:txBody>
      </p:sp>
      <p:sp>
        <p:nvSpPr>
          <p:cNvPr id="6" name="圆角矩形 5"/>
          <p:cNvSpPr/>
          <p:nvPr/>
        </p:nvSpPr>
        <p:spPr>
          <a:xfrm>
            <a:off x="5642044" y="2172502"/>
            <a:ext cx="911156" cy="577144"/>
          </a:xfrm>
          <a:prstGeom prst="roundRect">
            <a:avLst>
              <a:gd name="adj" fmla="val 50000"/>
            </a:avLst>
          </a:prstGeom>
          <a:solidFill>
            <a:srgbClr val="014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02</a:t>
            </a:r>
            <a:endParaRPr lang="zh-CN" altLang="en-US" b="1" dirty="0"/>
          </a:p>
        </p:txBody>
      </p:sp>
      <p:sp>
        <p:nvSpPr>
          <p:cNvPr id="7" name="圆角矩形 6"/>
          <p:cNvSpPr/>
          <p:nvPr/>
        </p:nvSpPr>
        <p:spPr>
          <a:xfrm>
            <a:off x="5642044" y="3140427"/>
            <a:ext cx="911156" cy="577144"/>
          </a:xfrm>
          <a:prstGeom prst="roundRect">
            <a:avLst>
              <a:gd name="adj" fmla="val 50000"/>
            </a:avLst>
          </a:prstGeom>
          <a:solidFill>
            <a:srgbClr val="014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03</a:t>
            </a:r>
            <a:endParaRPr lang="zh-CN" altLang="en-US" b="1" dirty="0"/>
          </a:p>
        </p:txBody>
      </p:sp>
      <p:sp>
        <p:nvSpPr>
          <p:cNvPr id="8" name="圆角矩形 7"/>
          <p:cNvSpPr/>
          <p:nvPr/>
        </p:nvSpPr>
        <p:spPr>
          <a:xfrm>
            <a:off x="5642044" y="4108352"/>
            <a:ext cx="911156" cy="577144"/>
          </a:xfrm>
          <a:prstGeom prst="roundRect">
            <a:avLst>
              <a:gd name="adj" fmla="val 50000"/>
            </a:avLst>
          </a:prstGeom>
          <a:solidFill>
            <a:srgbClr val="014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04</a:t>
            </a:r>
            <a:endParaRPr lang="zh-CN" altLang="en-US" b="1" dirty="0"/>
          </a:p>
        </p:txBody>
      </p:sp>
      <p:sp>
        <p:nvSpPr>
          <p:cNvPr id="9" name="圆角矩形 8"/>
          <p:cNvSpPr/>
          <p:nvPr/>
        </p:nvSpPr>
        <p:spPr>
          <a:xfrm>
            <a:off x="5642044" y="5076279"/>
            <a:ext cx="911156" cy="577144"/>
          </a:xfrm>
          <a:prstGeom prst="roundRect">
            <a:avLst>
              <a:gd name="adj" fmla="val 50000"/>
            </a:avLst>
          </a:prstGeom>
          <a:solidFill>
            <a:srgbClr val="014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05</a:t>
            </a:r>
            <a:endParaRPr lang="zh-CN" altLang="en-US" b="1" dirty="0"/>
          </a:p>
        </p:txBody>
      </p:sp>
      <p:sp>
        <p:nvSpPr>
          <p:cNvPr id="59" name="圆角矩形 58"/>
          <p:cNvSpPr/>
          <p:nvPr/>
        </p:nvSpPr>
        <p:spPr>
          <a:xfrm>
            <a:off x="6746944" y="1204577"/>
            <a:ext cx="3476556" cy="577144"/>
          </a:xfrm>
          <a:prstGeom prst="roundRect">
            <a:avLst>
              <a:gd name="adj" fmla="val 50000"/>
            </a:avLst>
          </a:prstGeom>
          <a:solidFill>
            <a:srgbClr val="014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进制</a:t>
            </a:r>
            <a:r>
              <a:rPr lang="en-US" altLang="zh-CN" sz="2000" b="1" dirty="0"/>
              <a:t>/</a:t>
            </a:r>
            <a:r>
              <a:rPr lang="zh-CN" altLang="en-US" sz="2000" b="1" dirty="0"/>
              <a:t>位置计数法</a:t>
            </a:r>
          </a:p>
        </p:txBody>
      </p:sp>
      <p:sp>
        <p:nvSpPr>
          <p:cNvPr id="60" name="圆角矩形 59"/>
          <p:cNvSpPr/>
          <p:nvPr/>
        </p:nvSpPr>
        <p:spPr>
          <a:xfrm>
            <a:off x="6746944" y="2172502"/>
            <a:ext cx="3476556" cy="577144"/>
          </a:xfrm>
          <a:prstGeom prst="roundRect">
            <a:avLst>
              <a:gd name="adj" fmla="val 50000"/>
            </a:avLst>
          </a:prstGeom>
          <a:solidFill>
            <a:srgbClr val="014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二进制</a:t>
            </a:r>
            <a:r>
              <a:rPr lang="en-US" altLang="zh-CN" sz="2000" b="1" dirty="0"/>
              <a:t>/</a:t>
            </a:r>
            <a:r>
              <a:rPr lang="zh-CN" altLang="en-US" sz="2000" b="1" dirty="0"/>
              <a:t>进制转换</a:t>
            </a:r>
          </a:p>
        </p:txBody>
      </p:sp>
      <p:sp>
        <p:nvSpPr>
          <p:cNvPr id="61" name="圆角矩形 60"/>
          <p:cNvSpPr/>
          <p:nvPr/>
        </p:nvSpPr>
        <p:spPr>
          <a:xfrm>
            <a:off x="6746944" y="3140427"/>
            <a:ext cx="3476556" cy="577144"/>
          </a:xfrm>
          <a:prstGeom prst="roundRect">
            <a:avLst>
              <a:gd name="adj" fmla="val 50000"/>
            </a:avLst>
          </a:prstGeom>
          <a:solidFill>
            <a:srgbClr val="014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负数与二进制补数</a:t>
            </a:r>
          </a:p>
        </p:txBody>
      </p:sp>
      <p:sp>
        <p:nvSpPr>
          <p:cNvPr id="62" name="圆角矩形 61"/>
          <p:cNvSpPr/>
          <p:nvPr/>
        </p:nvSpPr>
        <p:spPr>
          <a:xfrm>
            <a:off x="6746944" y="4108352"/>
            <a:ext cx="3476556" cy="577144"/>
          </a:xfrm>
          <a:prstGeom prst="roundRect">
            <a:avLst>
              <a:gd name="adj" fmla="val 50000"/>
            </a:avLst>
          </a:prstGeom>
          <a:solidFill>
            <a:srgbClr val="014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溢出与检出</a:t>
            </a:r>
          </a:p>
        </p:txBody>
      </p:sp>
      <p:sp>
        <p:nvSpPr>
          <p:cNvPr id="63" name="圆角矩形 62"/>
          <p:cNvSpPr/>
          <p:nvPr/>
        </p:nvSpPr>
        <p:spPr>
          <a:xfrm>
            <a:off x="6746944" y="5076279"/>
            <a:ext cx="3476556" cy="577144"/>
          </a:xfrm>
          <a:prstGeom prst="roundRect">
            <a:avLst>
              <a:gd name="adj" fmla="val 50000"/>
            </a:avLst>
          </a:prstGeom>
          <a:solidFill>
            <a:srgbClr val="014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浮点表示与精度</a:t>
            </a:r>
          </a:p>
        </p:txBody>
      </p:sp>
      <p:sp>
        <p:nvSpPr>
          <p:cNvPr id="64" name="TextBox 78"/>
          <p:cNvSpPr txBox="1"/>
          <p:nvPr/>
        </p:nvSpPr>
        <p:spPr>
          <a:xfrm>
            <a:off x="565975" y="3733289"/>
            <a:ext cx="2063385" cy="5027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665" b="1" dirty="0">
                <a:solidFill>
                  <a:schemeClr val="bg1"/>
                </a:solidFill>
                <a:latin typeface="Impact MT Std" pitchFamily="34" charset="0"/>
                <a:ea typeface="微软雅黑" panose="020B0503020204020204" pitchFamily="34" charset="-122"/>
              </a:rPr>
              <a:t>CONTENTS</a:t>
            </a:r>
            <a:endParaRPr lang="zh-CN" altLang="en-US" sz="2665" b="1" dirty="0">
              <a:solidFill>
                <a:schemeClr val="bg1"/>
              </a:solidFill>
              <a:latin typeface="Impact MT Std" pitchFamily="34" charset="0"/>
              <a:ea typeface="微软雅黑" panose="020B0503020204020204" pitchFamily="34" charset="-122"/>
            </a:endParaRPr>
          </a:p>
        </p:txBody>
      </p:sp>
      <p:sp>
        <p:nvSpPr>
          <p:cNvPr id="65" name="TextBox 79"/>
          <p:cNvSpPr txBox="1"/>
          <p:nvPr/>
        </p:nvSpPr>
        <p:spPr>
          <a:xfrm>
            <a:off x="641317" y="2677173"/>
            <a:ext cx="1912703" cy="995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865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 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604" b="46967"/>
          <a:stretch>
            <a:fillRect/>
          </a:stretch>
        </p:blipFill>
        <p:spPr>
          <a:xfrm>
            <a:off x="0" y="2176476"/>
            <a:ext cx="12209296" cy="2877923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0" y="2176477"/>
            <a:ext cx="12192000" cy="2877922"/>
          </a:xfrm>
          <a:prstGeom prst="rect">
            <a:avLst/>
          </a:prstGeom>
          <a:gradFill>
            <a:gsLst>
              <a:gs pos="0">
                <a:srgbClr val="014723"/>
              </a:gs>
              <a:gs pos="59000">
                <a:srgbClr val="014723">
                  <a:alpha val="60000"/>
                </a:srgbClr>
              </a:gs>
              <a:gs pos="100000">
                <a:srgbClr val="014723">
                  <a:alpha val="10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2559161" y="2793810"/>
            <a:ext cx="699347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整数及其表示</a:t>
            </a:r>
          </a:p>
        </p:txBody>
      </p:sp>
      <p:sp>
        <p:nvSpPr>
          <p:cNvPr id="16" name="TextBox 10"/>
          <p:cNvSpPr txBox="1"/>
          <p:nvPr/>
        </p:nvSpPr>
        <p:spPr>
          <a:xfrm>
            <a:off x="2565806" y="3990096"/>
            <a:ext cx="7060388" cy="523196"/>
          </a:xfrm>
          <a:prstGeom prst="rect">
            <a:avLst/>
          </a:prstGeom>
          <a:noFill/>
        </p:spPr>
        <p:txBody>
          <a:bodyPr wrap="square" lIns="91416" tIns="45708" rIns="91416" bIns="45708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/>
            <a:r>
              <a:rPr lang="en-US" altLang="zh-CN" sz="2800" dirty="0">
                <a:solidFill>
                  <a:schemeClr val="bg1">
                    <a:lumMod val="95000"/>
                  </a:schemeClr>
                </a:solidFill>
              </a:rPr>
              <a:t>Integers and their representation</a:t>
            </a:r>
            <a:endParaRPr lang="en-US" altLang="zh-CN" sz="280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200" r="2284" b="11992"/>
          <a:stretch>
            <a:fillRect/>
          </a:stretch>
        </p:blipFill>
        <p:spPr>
          <a:xfrm>
            <a:off x="4339400" y="923192"/>
            <a:ext cx="3433000" cy="1072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082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50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250"/>
                            </p:stCondLst>
                            <p:childTnLst>
                              <p:par>
                                <p:cTn id="15" presetID="8" presetClass="entr" presetSubtype="3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1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5" grpId="0"/>
      <p:bldP spid="1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整数（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Integers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）与变量（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Vars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，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Variables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）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D7D6E61E-1528-42CC-9840-F029770CBA61}"/>
              </a:ext>
            </a:extLst>
          </p:cNvPr>
          <p:cNvSpPr txBox="1"/>
          <p:nvPr/>
        </p:nvSpPr>
        <p:spPr>
          <a:xfrm>
            <a:off x="1697778" y="1634558"/>
            <a:ext cx="7739474" cy="341632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/*unsigned int add*/</a:t>
            </a:r>
          </a:p>
          <a:p>
            <a:r>
              <a:rPr lang="en-US" altLang="zh-CN" dirty="0">
                <a:solidFill>
                  <a:srgbClr val="AF00DB"/>
                </a:solidFill>
                <a:latin typeface="Consolas" panose="020B0609020204030204" pitchFamily="49" charset="0"/>
              </a:rPr>
              <a:t>#</a:t>
            </a:r>
            <a:r>
              <a:rPr lang="en-US" altLang="zh-C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include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stdio.h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{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 Add two int.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altLang="zh-C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 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详细说明见：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https://zh.cppreference.com/w/c/io/fprintf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%u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 add 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%u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 equal 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%u</a:t>
            </a:r>
            <a:r>
              <a:rPr lang="en-US" altLang="zh-CN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zh-C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altLang="zh-C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879A1D15-BF24-4F03-B35B-9B85E80A9581}"/>
              </a:ext>
            </a:extLst>
          </p:cNvPr>
          <p:cNvGrpSpPr/>
          <p:nvPr/>
        </p:nvGrpSpPr>
        <p:grpSpPr>
          <a:xfrm>
            <a:off x="3060290" y="2062540"/>
            <a:ext cx="8893277" cy="3950689"/>
            <a:chOff x="3060290" y="2062540"/>
            <a:chExt cx="8893277" cy="3950689"/>
          </a:xfrm>
        </p:grpSpPr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A7D0C2C7-E508-42AC-8BC0-0EC59916124E}"/>
                </a:ext>
              </a:extLst>
            </p:cNvPr>
            <p:cNvSpPr txBox="1"/>
            <p:nvPr/>
          </p:nvSpPr>
          <p:spPr>
            <a:xfrm>
              <a:off x="6902246" y="2062540"/>
              <a:ext cx="5051321" cy="92333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b="0" dirty="0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unsigned</a:t>
              </a:r>
              <a:r>
                <a:rPr lang="en-US" altLang="zh-CN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altLang="zh-CN" b="0" dirty="0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int</a:t>
              </a:r>
              <a:r>
                <a:rPr lang="en-US" altLang="zh-CN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zh-CN" altLang="en-US" b="1" dirty="0"/>
                <a:t>申明（</a:t>
              </a:r>
              <a:r>
                <a:rPr lang="en-US" altLang="zh-CN" b="1" dirty="0"/>
                <a:t>declaration</a:t>
              </a:r>
              <a:r>
                <a:rPr lang="zh-CN" altLang="en-US" dirty="0"/>
                <a:t>）整数变量</a:t>
              </a:r>
              <a:endParaRPr lang="en-US" altLang="zh-CN" dirty="0"/>
            </a:p>
            <a:p>
              <a:r>
                <a:rPr lang="en-US" altLang="zh-CN" b="0" dirty="0" err="1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i</a:t>
              </a:r>
              <a:r>
                <a:rPr lang="en-US" altLang="zh-CN" b="0" dirty="0" err="1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,</a:t>
              </a:r>
              <a:r>
                <a:rPr lang="en-US" altLang="zh-CN" b="0" dirty="0" err="1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j</a:t>
              </a:r>
              <a:r>
                <a:rPr lang="zh-CN" altLang="en-US" dirty="0"/>
                <a:t> 两个变量。类似两个房间，标牌是</a:t>
              </a:r>
              <a:r>
                <a:rPr lang="en-US" altLang="zh-CN" b="0" dirty="0" err="1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i</a:t>
              </a:r>
              <a:r>
                <a:rPr lang="zh-CN" altLang="en-US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和</a:t>
              </a:r>
              <a:r>
                <a:rPr lang="en-US" altLang="zh-CN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j</a:t>
              </a:r>
              <a:r>
                <a:rPr lang="zh-CN" altLang="en-US" dirty="0"/>
                <a:t> </a:t>
              </a:r>
            </a:p>
            <a:p>
              <a:r>
                <a:rPr lang="en-US" altLang="zh-CN" b="0" dirty="0" err="1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i</a:t>
              </a:r>
              <a:r>
                <a:rPr lang="zh-CN" altLang="en-US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和</a:t>
              </a:r>
              <a:r>
                <a:rPr lang="en-US" altLang="zh-CN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j</a:t>
              </a:r>
              <a:r>
                <a:rPr lang="zh-CN" altLang="en-US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又称为变量名，是保存</a:t>
              </a:r>
              <a:r>
                <a:rPr lang="zh-CN" altLang="en-US" b="1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值的代称</a:t>
              </a:r>
              <a:endParaRPr lang="zh-CN" altLang="en-US" b="1" dirty="0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EF9C2D5A-B761-4CDE-B98B-8297058B3A4E}"/>
                </a:ext>
              </a:extLst>
            </p:cNvPr>
            <p:cNvSpPr txBox="1"/>
            <p:nvPr/>
          </p:nvSpPr>
          <p:spPr>
            <a:xfrm>
              <a:off x="6902246" y="3149998"/>
              <a:ext cx="4543605" cy="64633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赋值语句</a:t>
              </a:r>
              <a:endParaRPr lang="en-US" altLang="zh-CN" dirty="0"/>
            </a:p>
            <a:p>
              <a:r>
                <a:rPr lang="en-US" altLang="zh-CN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= </a:t>
              </a:r>
              <a:r>
                <a:rPr lang="zh-CN" altLang="en-US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是赋值运行，给</a:t>
              </a:r>
              <a:r>
                <a:rPr lang="en-US" altLang="zh-CN" b="0" dirty="0" err="1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i</a:t>
              </a:r>
              <a:r>
                <a:rPr lang="zh-CN" altLang="en-US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房间赋予数值 </a:t>
              </a:r>
              <a:r>
                <a:rPr lang="en-US" altLang="zh-CN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2</a:t>
              </a:r>
              <a:endParaRPr lang="zh-CN" altLang="en-US" dirty="0"/>
            </a:p>
          </p:txBody>
        </p: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3B5521EF-1870-4137-9F5C-B3E8FB38E437}"/>
                </a:ext>
              </a:extLst>
            </p:cNvPr>
            <p:cNvCxnSpPr>
              <a:endCxn id="4" idx="1"/>
            </p:cNvCxnSpPr>
            <p:nvPr/>
          </p:nvCxnSpPr>
          <p:spPr>
            <a:xfrm flipV="1">
              <a:off x="4424516" y="2524205"/>
              <a:ext cx="2477730" cy="625793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B825744A-6188-4298-B73F-A07BDD3BD1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60290" y="3429001"/>
              <a:ext cx="3782962" cy="110612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4239D308-364C-49CF-BE0D-A040EBAE9C5C}"/>
                </a:ext>
              </a:extLst>
            </p:cNvPr>
            <p:cNvSpPr txBox="1"/>
            <p:nvPr/>
          </p:nvSpPr>
          <p:spPr>
            <a:xfrm>
              <a:off x="6902245" y="5089899"/>
              <a:ext cx="4543605" cy="92333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b="0" dirty="0">
                  <a:solidFill>
                    <a:srgbClr val="A31515"/>
                  </a:solidFill>
                  <a:effectLst/>
                  <a:latin typeface="Consolas" panose="020B0609020204030204" pitchFamily="49" charset="0"/>
                </a:rPr>
                <a:t>"</a:t>
              </a:r>
              <a:r>
                <a:rPr lang="en-US" altLang="zh-CN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%u</a:t>
              </a:r>
              <a:r>
                <a:rPr lang="en-US" altLang="zh-CN" b="0" dirty="0">
                  <a:solidFill>
                    <a:srgbClr val="A31515"/>
                  </a:solidFill>
                  <a:effectLst/>
                  <a:latin typeface="Consolas" panose="020B0609020204030204" pitchFamily="49" charset="0"/>
                </a:rPr>
                <a:t> add </a:t>
              </a:r>
              <a:r>
                <a:rPr lang="en-US" altLang="zh-CN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%u</a:t>
              </a:r>
              <a:r>
                <a:rPr lang="en-US" altLang="zh-CN" b="0" dirty="0">
                  <a:solidFill>
                    <a:srgbClr val="A31515"/>
                  </a:solidFill>
                  <a:effectLst/>
                  <a:latin typeface="Consolas" panose="020B0609020204030204" pitchFamily="49" charset="0"/>
                </a:rPr>
                <a:t> equal </a:t>
              </a:r>
              <a:r>
                <a:rPr lang="en-US" altLang="zh-CN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%u</a:t>
              </a:r>
              <a:r>
                <a:rPr lang="en-US" altLang="zh-CN" b="0" dirty="0">
                  <a:solidFill>
                    <a:srgbClr val="EE0000"/>
                  </a:solidFill>
                  <a:effectLst/>
                  <a:latin typeface="Consolas" panose="020B0609020204030204" pitchFamily="49" charset="0"/>
                </a:rPr>
                <a:t>\n</a:t>
              </a:r>
              <a:r>
                <a:rPr lang="en-US" altLang="zh-CN" b="0" dirty="0">
                  <a:solidFill>
                    <a:srgbClr val="A31515"/>
                  </a:solidFill>
                  <a:effectLst/>
                  <a:latin typeface="Consolas" panose="020B0609020204030204" pitchFamily="49" charset="0"/>
                </a:rPr>
                <a:t>" </a:t>
              </a:r>
              <a:r>
                <a:rPr lang="zh-CN" altLang="en-US" b="0" dirty="0">
                  <a:effectLst/>
                  <a:latin typeface="Consolas" panose="020B0609020204030204" pitchFamily="49" charset="0"/>
                </a:rPr>
                <a:t>格式化模板</a:t>
              </a:r>
              <a:endParaRPr lang="en-US" altLang="zh-CN" b="0" dirty="0">
                <a:effectLst/>
                <a:latin typeface="Consolas" panose="020B0609020204030204" pitchFamily="49" charset="0"/>
              </a:endParaRPr>
            </a:p>
            <a:p>
              <a:r>
                <a:rPr lang="en-US" altLang="zh-CN" dirty="0">
                  <a:latin typeface="Consolas" panose="020B0609020204030204" pitchFamily="49" charset="0"/>
                </a:rPr>
                <a:t>%u </a:t>
              </a:r>
              <a:r>
                <a:rPr lang="zh-CN" altLang="en-US" dirty="0">
                  <a:latin typeface="Consolas" panose="020B0609020204030204" pitchFamily="49" charset="0"/>
                </a:rPr>
                <a:t>其中 </a:t>
              </a:r>
              <a:r>
                <a:rPr lang="en-US" altLang="zh-CN" dirty="0">
                  <a:latin typeface="Consolas" panose="020B0609020204030204" pitchFamily="49" charset="0"/>
                </a:rPr>
                <a:t>%</a:t>
              </a:r>
              <a:r>
                <a:rPr lang="zh-CN" altLang="en-US" dirty="0">
                  <a:latin typeface="Consolas" panose="020B0609020204030204" pitchFamily="49" charset="0"/>
                </a:rPr>
                <a:t>是引导符，</a:t>
              </a:r>
              <a:r>
                <a:rPr lang="en-US" altLang="zh-CN" dirty="0">
                  <a:latin typeface="Consolas" panose="020B0609020204030204" pitchFamily="49" charset="0"/>
                </a:rPr>
                <a:t>u</a:t>
              </a:r>
              <a:r>
                <a:rPr lang="zh-CN" altLang="en-US" dirty="0">
                  <a:latin typeface="Consolas" panose="020B0609020204030204" pitchFamily="49" charset="0"/>
                </a:rPr>
                <a:t>是无符号整数</a:t>
              </a:r>
              <a:endParaRPr lang="en-US" altLang="zh-CN" dirty="0">
                <a:latin typeface="Consolas" panose="020B0609020204030204" pitchFamily="49" charset="0"/>
              </a:endParaRPr>
            </a:p>
            <a:p>
              <a:r>
                <a:rPr lang="zh-CN" altLang="en-US" dirty="0">
                  <a:latin typeface="Consolas" panose="020B0609020204030204" pitchFamily="49" charset="0"/>
                </a:rPr>
                <a:t>这个模板要填</a:t>
              </a:r>
              <a:r>
                <a:rPr lang="en-US" altLang="zh-CN" dirty="0">
                  <a:latin typeface="Consolas" panose="020B0609020204030204" pitchFamily="49" charset="0"/>
                </a:rPr>
                <a:t>3</a:t>
              </a:r>
              <a:r>
                <a:rPr lang="zh-CN" altLang="en-US" dirty="0">
                  <a:latin typeface="Consolas" panose="020B0609020204030204" pitchFamily="49" charset="0"/>
                </a:rPr>
                <a:t>个数字</a:t>
              </a:r>
              <a:r>
                <a:rPr lang="en-US" altLang="zh-CN" b="0" dirty="0"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b="0" dirty="0" err="1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i</a:t>
              </a:r>
              <a:r>
                <a:rPr lang="en-US" altLang="zh-CN" b="0" dirty="0" err="1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,</a:t>
              </a:r>
              <a:r>
                <a:rPr lang="en-US" altLang="zh-CN" b="0" dirty="0" err="1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j</a:t>
              </a:r>
              <a:r>
                <a:rPr lang="en-US" altLang="zh-CN" b="0" dirty="0" err="1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,</a:t>
              </a:r>
              <a:r>
                <a:rPr lang="en-US" altLang="zh-CN" b="0" dirty="0" err="1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i</a:t>
              </a:r>
              <a:r>
                <a:rPr lang="en-US" altLang="zh-CN" b="0" dirty="0" err="1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+</a:t>
              </a:r>
              <a:r>
                <a:rPr lang="en-US" altLang="zh-CN" b="0" dirty="0" err="1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j</a:t>
              </a:r>
              <a:endParaRPr lang="zh-CN" altLang="en-US" dirty="0"/>
            </a:p>
          </p:txBody>
        </p: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78F729BB-54DD-4C52-ACD0-C6CF62AF75A7}"/>
                </a:ext>
              </a:extLst>
            </p:cNvPr>
            <p:cNvCxnSpPr>
              <a:cxnSpLocks/>
              <a:endCxn id="17" idx="1"/>
            </p:cNvCxnSpPr>
            <p:nvPr/>
          </p:nvCxnSpPr>
          <p:spPr>
            <a:xfrm>
              <a:off x="4055806" y="4431890"/>
              <a:ext cx="2846439" cy="1119674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63B74445-E2D6-42DE-91F0-CA3DDC87C3F1}"/>
              </a:ext>
            </a:extLst>
          </p:cNvPr>
          <p:cNvSpPr txBox="1"/>
          <p:nvPr/>
        </p:nvSpPr>
        <p:spPr>
          <a:xfrm>
            <a:off x="1252138" y="5339987"/>
            <a:ext cx="4315377" cy="369332"/>
          </a:xfrm>
          <a:prstGeom prst="rect">
            <a:avLst/>
          </a:prstGeom>
          <a:noFill/>
          <a:ln>
            <a:solidFill>
              <a:schemeClr val="accent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/>
              <a:t>将 </a:t>
            </a:r>
            <a:r>
              <a:rPr lang="en-US" altLang="zh-CN" dirty="0"/>
              <a:t>j=3</a:t>
            </a:r>
            <a:r>
              <a:rPr lang="zh-CN" altLang="en-US" dirty="0"/>
              <a:t>；修改为 </a:t>
            </a:r>
            <a:r>
              <a:rPr lang="en-US" altLang="zh-CN" dirty="0"/>
              <a:t>j=-3</a:t>
            </a:r>
            <a:r>
              <a:rPr lang="zh-CN" altLang="en-US" dirty="0"/>
              <a:t>； 请问输出结果是：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CBF24638-7409-4455-8E52-51516B730462}"/>
              </a:ext>
            </a:extLst>
          </p:cNvPr>
          <p:cNvSpPr txBox="1"/>
          <p:nvPr/>
        </p:nvSpPr>
        <p:spPr>
          <a:xfrm>
            <a:off x="1252138" y="5787361"/>
            <a:ext cx="4315377" cy="369332"/>
          </a:xfrm>
          <a:prstGeom prst="rect">
            <a:avLst/>
          </a:prstGeom>
          <a:noFill/>
          <a:ln>
            <a:solidFill>
              <a:schemeClr val="accent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2 add 4294967293 equal 4294967295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64032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bldLvl="0" animBg="1"/>
      <p:bldP spid="19" grpId="0" animBg="1"/>
      <p:bldP spid="2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数（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Number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）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4" name="内容占位符 3"/>
          <p:cNvSpPr>
            <a:spLocks noGrp="1"/>
          </p:cNvSpPr>
          <p:nvPr/>
        </p:nvSpPr>
        <p:spPr>
          <a:xfrm>
            <a:off x="838200" y="1815465"/>
            <a:ext cx="10236200" cy="4351655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70000"/>
              </a:lnSpc>
              <a:spcBef>
                <a:spcPts val="6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dirty="0"/>
              <a:t>自然数（</a:t>
            </a:r>
            <a:r>
              <a:rPr lang="en-US" altLang="zh-CN" dirty="0"/>
              <a:t>Natural Numbers</a:t>
            </a:r>
            <a:r>
              <a:rPr lang="zh-CN" altLang="en-US" dirty="0"/>
              <a:t>），无符号整数（</a:t>
            </a:r>
            <a:r>
              <a:rPr lang="en-US" altLang="zh-CN" dirty="0"/>
              <a:t>unsigned integers</a:t>
            </a:r>
            <a:r>
              <a:rPr lang="zh-CN" altLang="en-US" dirty="0"/>
              <a:t>）</a:t>
            </a:r>
          </a:p>
          <a:p>
            <a:pPr lvl="1">
              <a:lnSpc>
                <a:spcPct val="120000"/>
              </a:lnSpc>
            </a:pPr>
            <a:r>
              <a:rPr lang="en-US" altLang="zh-CN" sz="2000" dirty="0">
                <a:solidFill>
                  <a:srgbClr val="FF0000"/>
                </a:solidFill>
              </a:rPr>
              <a:t>Zero</a:t>
            </a:r>
            <a:r>
              <a:rPr lang="en-US" altLang="zh-CN" sz="2000" dirty="0"/>
              <a:t> and any number obtained by </a:t>
            </a:r>
            <a:r>
              <a:rPr lang="en-US" altLang="zh-CN" sz="2000" dirty="0">
                <a:solidFill>
                  <a:srgbClr val="FF0000"/>
                </a:solidFill>
              </a:rPr>
              <a:t>repeatedly adding one </a:t>
            </a:r>
            <a:r>
              <a:rPr lang="en-US" altLang="zh-CN" sz="2000" dirty="0"/>
              <a:t>to it.</a:t>
            </a:r>
          </a:p>
          <a:p>
            <a:pPr lvl="1">
              <a:lnSpc>
                <a:spcPct val="120000"/>
              </a:lnSpc>
            </a:pPr>
            <a:r>
              <a:rPr lang="en-US" altLang="zh-CN" sz="2000" dirty="0"/>
              <a:t>Examples:   100, 0, 45645, 32</a:t>
            </a:r>
            <a:endParaRPr lang="en-US" altLang="zh-CN" dirty="0"/>
          </a:p>
          <a:p>
            <a:pPr>
              <a:lnSpc>
                <a:spcPct val="120000"/>
              </a:lnSpc>
            </a:pPr>
            <a:r>
              <a:rPr lang="zh-CN" altLang="en-US" sz="2400" dirty="0"/>
              <a:t>负数（</a:t>
            </a:r>
            <a:r>
              <a:rPr lang="en-US" altLang="zh-CN" sz="2400" dirty="0"/>
              <a:t>Negative Numbers</a:t>
            </a:r>
            <a:r>
              <a:rPr lang="zh-CN" altLang="en-US" sz="2400" dirty="0"/>
              <a:t>）</a:t>
            </a:r>
            <a:endParaRPr lang="en-US" altLang="zh-CN" sz="2400" dirty="0"/>
          </a:p>
          <a:p>
            <a:pPr lvl="1">
              <a:lnSpc>
                <a:spcPct val="120000"/>
              </a:lnSpc>
            </a:pPr>
            <a:r>
              <a:rPr lang="en-US" altLang="zh-CN" sz="2000" dirty="0"/>
              <a:t>A value less than 0, with a – sign</a:t>
            </a:r>
          </a:p>
          <a:p>
            <a:pPr lvl="1">
              <a:lnSpc>
                <a:spcPct val="120000"/>
              </a:lnSpc>
            </a:pPr>
            <a:r>
              <a:rPr lang="en-US" altLang="zh-CN" sz="2000" dirty="0"/>
              <a:t>Examples:  -24,  -1, -45645, -32</a:t>
            </a:r>
          </a:p>
          <a:p>
            <a:pPr>
              <a:lnSpc>
                <a:spcPct val="120000"/>
              </a:lnSpc>
            </a:pPr>
            <a:r>
              <a:rPr lang="zh-CN" altLang="en-US" sz="2400" dirty="0"/>
              <a:t>整数（</a:t>
            </a:r>
            <a:r>
              <a:rPr lang="en-US" altLang="zh-CN" sz="2400" dirty="0"/>
              <a:t>Integers</a:t>
            </a:r>
            <a:r>
              <a:rPr lang="zh-CN" altLang="en-US" sz="2400" dirty="0"/>
              <a:t>）</a:t>
            </a:r>
            <a:endParaRPr lang="en-US" altLang="zh-CN" sz="2400" dirty="0"/>
          </a:p>
          <a:p>
            <a:pPr lvl="1">
              <a:lnSpc>
                <a:spcPct val="120000"/>
              </a:lnSpc>
            </a:pPr>
            <a:r>
              <a:rPr lang="en-US" altLang="zh-CN" sz="2000" dirty="0"/>
              <a:t>A natural number, a negative number, zero</a:t>
            </a:r>
          </a:p>
          <a:p>
            <a:pPr lvl="1">
              <a:lnSpc>
                <a:spcPct val="120000"/>
              </a:lnSpc>
            </a:pPr>
            <a:r>
              <a:rPr lang="en-US" altLang="zh-CN" sz="2000" dirty="0"/>
              <a:t>Examples:   249, 0, - 45645, - 32</a:t>
            </a:r>
          </a:p>
          <a:p>
            <a:pPr>
              <a:lnSpc>
                <a:spcPct val="120000"/>
              </a:lnSpc>
            </a:pPr>
            <a:r>
              <a:rPr lang="zh-CN" altLang="en-US" sz="2400" dirty="0"/>
              <a:t>有理数（</a:t>
            </a:r>
            <a:r>
              <a:rPr lang="en-US" altLang="zh-CN" sz="2400" dirty="0"/>
              <a:t>Rational Numbers</a:t>
            </a:r>
            <a:r>
              <a:rPr lang="zh-CN" altLang="en-US" sz="2400" dirty="0"/>
              <a:t>）</a:t>
            </a:r>
            <a:endParaRPr lang="en-US" altLang="zh-CN" sz="2400" dirty="0"/>
          </a:p>
          <a:p>
            <a:pPr lvl="1">
              <a:lnSpc>
                <a:spcPct val="120000"/>
              </a:lnSpc>
            </a:pPr>
            <a:r>
              <a:rPr lang="en-US" altLang="zh-CN" sz="2000" dirty="0">
                <a:solidFill>
                  <a:srgbClr val="FF0000"/>
                </a:solidFill>
              </a:rPr>
              <a:t>An integer </a:t>
            </a:r>
            <a:r>
              <a:rPr lang="en-US" altLang="zh-CN" sz="2000" dirty="0"/>
              <a:t>or the </a:t>
            </a:r>
            <a:r>
              <a:rPr lang="en-US" altLang="zh-CN" sz="2000" dirty="0">
                <a:solidFill>
                  <a:srgbClr val="FF0000"/>
                </a:solidFill>
              </a:rPr>
              <a:t>quotient of two integers </a:t>
            </a:r>
          </a:p>
          <a:p>
            <a:pPr lvl="1">
              <a:lnSpc>
                <a:spcPct val="120000"/>
              </a:lnSpc>
            </a:pPr>
            <a:r>
              <a:rPr lang="en-US" altLang="zh-CN" sz="2000" dirty="0"/>
              <a:t>Examples:  -249,  -1, 0, 3/7, -2/5 </a:t>
            </a:r>
          </a:p>
          <a:p>
            <a:pPr lvl="1">
              <a:lnSpc>
                <a:spcPct val="120000"/>
              </a:lnSpc>
            </a:pPr>
            <a:endParaRPr lang="en-US" altLang="zh-CN" sz="2000" dirty="0"/>
          </a:p>
          <a:p>
            <a:pPr>
              <a:lnSpc>
                <a:spcPct val="120000"/>
              </a:lnSpc>
            </a:pP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480948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bldLvl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自然数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A727FC93-B00B-4B55-8D15-076EBAD4C6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6329" y="2199968"/>
            <a:ext cx="7543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endParaRPr lang="zh-CN" altLang="en-US" sz="2800"/>
          </a:p>
        </p:txBody>
      </p:sp>
      <p:sp>
        <p:nvSpPr>
          <p:cNvPr id="8" name="Text Box 16">
            <a:extLst>
              <a:ext uri="{FF2B5EF4-FFF2-40B4-BE49-F238E27FC236}">
                <a16:creationId xmlns:a16="http://schemas.microsoft.com/office/drawing/2014/main" id="{B3F78B7F-2895-42F5-8DC0-3CA7AA9E1B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6329" y="2199968"/>
            <a:ext cx="7543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endParaRPr lang="zh-CN" altLang="en-US" sz="2800"/>
          </a:p>
        </p:txBody>
      </p:sp>
      <p:sp>
        <p:nvSpPr>
          <p:cNvPr id="9" name="Text Box 17">
            <a:extLst>
              <a:ext uri="{FF2B5EF4-FFF2-40B4-BE49-F238E27FC236}">
                <a16:creationId xmlns:a16="http://schemas.microsoft.com/office/drawing/2014/main" id="{40F8A333-B89E-478F-8B3A-5F0036E8E9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0129" y="2123768"/>
            <a:ext cx="70580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dirty="0"/>
              <a:t>用</a:t>
            </a:r>
            <a:r>
              <a:rPr lang="en-US" altLang="zh-CN" sz="2800" dirty="0"/>
              <a:t> </a:t>
            </a:r>
            <a:r>
              <a:rPr lang="zh-CN" altLang="en-US" sz="2800" dirty="0"/>
              <a:t>“</a:t>
            </a:r>
            <a:r>
              <a:rPr lang="en-US" altLang="zh-CN" sz="2800" dirty="0"/>
              <a:t>642</a:t>
            </a:r>
            <a:r>
              <a:rPr lang="zh-CN" altLang="en-US" sz="2800" dirty="0"/>
              <a:t>”表示多少个一</a:t>
            </a:r>
            <a:r>
              <a:rPr lang="en-US" altLang="zh-CN" sz="2800" i="1" dirty="0"/>
              <a:t>?</a:t>
            </a:r>
          </a:p>
        </p:txBody>
      </p:sp>
      <p:sp>
        <p:nvSpPr>
          <p:cNvPr id="10" name="Text Box 18">
            <a:extLst>
              <a:ext uri="{FF2B5EF4-FFF2-40B4-BE49-F238E27FC236}">
                <a16:creationId xmlns:a16="http://schemas.microsoft.com/office/drawing/2014/main" id="{8748AB4E-8523-4541-8346-389CE75FD4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8329" y="2885768"/>
            <a:ext cx="6124575" cy="2678113"/>
          </a:xfrm>
          <a:prstGeom prst="rect">
            <a:avLst/>
          </a:prstGeom>
          <a:solidFill>
            <a:srgbClr val="EAEA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dirty="0"/>
              <a:t>600 + 40 + 2 ?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b="0" dirty="0"/>
              <a:t>也可能</a:t>
            </a:r>
            <a:endParaRPr lang="en-US" altLang="zh-CN" b="0" dirty="0"/>
          </a:p>
          <a:p>
            <a:pPr eaLnBrk="1" hangingPunct="1">
              <a:spcBef>
                <a:spcPct val="50000"/>
              </a:spcBef>
            </a:pPr>
            <a:r>
              <a:rPr lang="en-US" altLang="zh-CN" dirty="0"/>
              <a:t>384 + 32 + 2 ?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b="0" dirty="0"/>
              <a:t>也可能是</a:t>
            </a:r>
            <a:r>
              <a:rPr lang="en-US" altLang="zh-CN" b="0" dirty="0"/>
              <a:t>…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dirty="0"/>
              <a:t>1536 + 64 + 2 ?</a:t>
            </a:r>
          </a:p>
        </p:txBody>
      </p:sp>
    </p:spTree>
    <p:extLst>
      <p:ext uri="{BB962C8B-B14F-4D97-AF65-F5344CB8AC3E}">
        <p14:creationId xmlns:p14="http://schemas.microsoft.com/office/powerpoint/2010/main" val="3732783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bldLvl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进位制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/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位值计数法（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Positional Notation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）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9" name="Text Box 8">
            <a:extLst>
              <a:ext uri="{FF2B5EF4-FFF2-40B4-BE49-F238E27FC236}">
                <a16:creationId xmlns:a16="http://schemas.microsoft.com/office/drawing/2014/main" id="{5B7C5928-CAB7-4B84-99CA-EB16221E52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3878" y="2037736"/>
            <a:ext cx="7543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endParaRPr lang="zh-CN" altLang="en-US" sz="2800"/>
          </a:p>
        </p:txBody>
      </p:sp>
      <p:sp>
        <p:nvSpPr>
          <p:cNvPr id="10" name="Text Box 9">
            <a:extLst>
              <a:ext uri="{FF2B5EF4-FFF2-40B4-BE49-F238E27FC236}">
                <a16:creationId xmlns:a16="http://schemas.microsoft.com/office/drawing/2014/main" id="{43D53284-FD13-45B9-8BC4-3FF54B00CC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7678" y="1809136"/>
            <a:ext cx="8153400" cy="2739211"/>
          </a:xfrm>
          <a:prstGeom prst="rect">
            <a:avLst/>
          </a:prstGeom>
          <a:solidFill>
            <a:srgbClr val="EAEA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/>
              <a:t>为什么</a:t>
            </a:r>
            <a:r>
              <a:rPr lang="en-US" altLang="zh-CN" dirty="0"/>
              <a:t>…</a:t>
            </a:r>
          </a:p>
          <a:p>
            <a:pPr eaLnBrk="1" hangingPunct="1"/>
            <a:r>
              <a:rPr lang="en-US" altLang="zh-CN" sz="2800" dirty="0"/>
              <a:t>642 </a:t>
            </a:r>
            <a:r>
              <a:rPr lang="zh-CN" altLang="en-US" sz="2800" dirty="0"/>
              <a:t>用基（</a:t>
            </a:r>
            <a:r>
              <a:rPr lang="en-US" altLang="zh-CN" sz="2800" dirty="0"/>
              <a:t>Base</a:t>
            </a:r>
            <a:r>
              <a:rPr lang="zh-CN" altLang="en-US" sz="2800" dirty="0"/>
              <a:t>）为 </a:t>
            </a:r>
            <a:r>
              <a:rPr lang="en-US" altLang="zh-CN" sz="2800" dirty="0"/>
              <a:t>10</a:t>
            </a:r>
            <a:r>
              <a:rPr lang="zh-CN" altLang="en-US" sz="2800" dirty="0"/>
              <a:t>位值计数法</a:t>
            </a:r>
            <a:r>
              <a:rPr lang="en-US" altLang="zh-CN" sz="2800" dirty="0"/>
              <a:t>:</a:t>
            </a:r>
          </a:p>
          <a:p>
            <a:pPr eaLnBrk="1" hangingPunct="1"/>
            <a:r>
              <a:rPr lang="en-US" altLang="zh-CN" dirty="0"/>
              <a:t>		  </a:t>
            </a:r>
          </a:p>
          <a:p>
            <a:pPr eaLnBrk="1" hangingPunct="1"/>
            <a:r>
              <a:rPr lang="en-US" altLang="zh-CN" dirty="0"/>
              <a:t>	</a:t>
            </a:r>
            <a:r>
              <a:rPr lang="en-US" altLang="zh-CN" dirty="0">
                <a:cs typeface="Arial" panose="020B0604020202020204" pitchFamily="34" charset="0"/>
              </a:rPr>
              <a:t>   6 x 10</a:t>
            </a:r>
            <a:r>
              <a:rPr lang="en-US" altLang="zh-CN" baseline="20000" dirty="0">
                <a:cs typeface="Arial" panose="020B0604020202020204" pitchFamily="34" charset="0"/>
              </a:rPr>
              <a:t>2</a:t>
            </a:r>
            <a:r>
              <a:rPr lang="en-US" altLang="zh-CN" dirty="0">
                <a:cs typeface="Arial" panose="020B0604020202020204" pitchFamily="34" charset="0"/>
              </a:rPr>
              <a:t>  =  6 x 100   = 600</a:t>
            </a:r>
          </a:p>
          <a:p>
            <a:pPr eaLnBrk="1" hangingPunct="1"/>
            <a:r>
              <a:rPr lang="en-US" altLang="zh-CN" dirty="0">
                <a:cs typeface="Arial" panose="020B0604020202020204" pitchFamily="34" charset="0"/>
              </a:rPr>
              <a:t>      	+ 4 x 10</a:t>
            </a:r>
            <a:r>
              <a:rPr lang="en-US" altLang="zh-CN" baseline="20000" dirty="0">
                <a:cs typeface="Arial" panose="020B0604020202020204" pitchFamily="34" charset="0"/>
              </a:rPr>
              <a:t>1</a:t>
            </a:r>
            <a:r>
              <a:rPr lang="en-US" altLang="zh-CN" dirty="0">
                <a:cs typeface="Arial" panose="020B0604020202020204" pitchFamily="34" charset="0"/>
              </a:rPr>
              <a:t>  =   4 x 10    = 40</a:t>
            </a:r>
          </a:p>
          <a:p>
            <a:pPr eaLnBrk="1" hangingPunct="1"/>
            <a:r>
              <a:rPr lang="en-US" altLang="zh-CN" dirty="0">
                <a:cs typeface="Arial" panose="020B0604020202020204" pitchFamily="34" charset="0"/>
              </a:rPr>
              <a:t>       	+ 2 x 10º  =    2 x 1     = 2      = </a:t>
            </a:r>
            <a:r>
              <a:rPr lang="zh-CN" altLang="en-US" dirty="0">
                <a:cs typeface="Arial" panose="020B0604020202020204" pitchFamily="34" charset="0"/>
              </a:rPr>
              <a:t>（</a:t>
            </a:r>
            <a:r>
              <a:rPr lang="en-US" altLang="zh-CN" dirty="0">
                <a:cs typeface="Arial" panose="020B0604020202020204" pitchFamily="34" charset="0"/>
              </a:rPr>
              <a:t>642</a:t>
            </a:r>
            <a:r>
              <a:rPr lang="zh-CN" altLang="en-US" dirty="0">
                <a:cs typeface="Arial" panose="020B0604020202020204" pitchFamily="34" charset="0"/>
              </a:rPr>
              <a:t>）</a:t>
            </a:r>
            <a:r>
              <a:rPr lang="en-US" altLang="zh-CN" baseline="-25000" dirty="0">
                <a:cs typeface="Arial" panose="020B0604020202020204" pitchFamily="34" charset="0"/>
              </a:rPr>
              <a:t>10</a:t>
            </a:r>
          </a:p>
          <a:p>
            <a:pPr eaLnBrk="1" hangingPunct="1"/>
            <a:endParaRPr lang="en-US" altLang="zh-CN" b="0" dirty="0"/>
          </a:p>
        </p:txBody>
      </p:sp>
      <p:sp>
        <p:nvSpPr>
          <p:cNvPr id="11" name="Line 11">
            <a:extLst>
              <a:ext uri="{FF2B5EF4-FFF2-40B4-BE49-F238E27FC236}">
                <a16:creationId xmlns:a16="http://schemas.microsoft.com/office/drawing/2014/main" id="{5478257A-9251-454B-B7CE-762F825C3D8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78278" y="4018936"/>
            <a:ext cx="99060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Oval 12">
            <a:extLst>
              <a:ext uri="{FF2B5EF4-FFF2-40B4-BE49-F238E27FC236}">
                <a16:creationId xmlns:a16="http://schemas.microsoft.com/office/drawing/2014/main" id="{C171DF7B-94CB-4AA7-8BBC-8F9CB3CB7E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4476" y="4805444"/>
            <a:ext cx="2514600" cy="1371600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200" b="0" dirty="0"/>
              <a:t>这个数表示基</a:t>
            </a:r>
            <a:r>
              <a:rPr lang="en-US" altLang="zh-CN" sz="2200" b="0" dirty="0"/>
              <a:t>=10</a:t>
            </a:r>
          </a:p>
        </p:txBody>
      </p:sp>
      <p:sp>
        <p:nvSpPr>
          <p:cNvPr id="13" name="Line 13">
            <a:extLst>
              <a:ext uri="{FF2B5EF4-FFF2-40B4-BE49-F238E27FC236}">
                <a16:creationId xmlns:a16="http://schemas.microsoft.com/office/drawing/2014/main" id="{D511C121-0FA3-4141-AF80-C10F5E070EB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397478" y="3942736"/>
            <a:ext cx="2156546" cy="9604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Oval 14">
            <a:extLst>
              <a:ext uri="{FF2B5EF4-FFF2-40B4-BE49-F238E27FC236}">
                <a16:creationId xmlns:a16="http://schemas.microsoft.com/office/drawing/2014/main" id="{7B8E9729-0CFA-40DC-92D3-28AFFD667A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0478" y="4857136"/>
            <a:ext cx="2971800" cy="16002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200" b="0" dirty="0"/>
              <a:t>指数表示在数值中</a:t>
            </a:r>
            <a:endParaRPr lang="en-US" altLang="zh-CN" sz="2200" b="0" dirty="0"/>
          </a:p>
          <a:p>
            <a:pPr algn="ctr" eaLnBrk="1" hangingPunct="1"/>
            <a:r>
              <a:rPr lang="zh-CN" altLang="en-US" sz="2200" b="0" dirty="0"/>
              <a:t>的位置</a:t>
            </a:r>
            <a:endParaRPr lang="en-US" altLang="zh-CN" sz="2200" b="0" dirty="0"/>
          </a:p>
        </p:txBody>
      </p:sp>
    </p:spTree>
    <p:extLst>
      <p:ext uri="{BB962C8B-B14F-4D97-AF65-F5344CB8AC3E}">
        <p14:creationId xmlns:p14="http://schemas.microsoft.com/office/powerpoint/2010/main" val="2503639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bldLvl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进位制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/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位值计数法（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Positional Notation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）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17" name="Text Box 8">
            <a:extLst>
              <a:ext uri="{FF2B5EF4-FFF2-40B4-BE49-F238E27FC236}">
                <a16:creationId xmlns:a16="http://schemas.microsoft.com/office/drawing/2014/main" id="{4086B4E8-9EE4-48C1-9DF2-46AC6D93DB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8846" y="2133600"/>
            <a:ext cx="7543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endParaRPr lang="zh-CN" altLang="en-US" sz="2800"/>
          </a:p>
        </p:txBody>
      </p:sp>
      <p:sp>
        <p:nvSpPr>
          <p:cNvPr id="18" name="Text Box 9">
            <a:extLst>
              <a:ext uri="{FF2B5EF4-FFF2-40B4-BE49-F238E27FC236}">
                <a16:creationId xmlns:a16="http://schemas.microsoft.com/office/drawing/2014/main" id="{85224DFB-7216-4B5E-AD01-78E8105259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63646" y="2819400"/>
            <a:ext cx="6553200" cy="528638"/>
          </a:xfrm>
          <a:prstGeom prst="rect">
            <a:avLst/>
          </a:prstGeom>
          <a:solidFill>
            <a:srgbClr val="EAEAEA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>
                <a:cs typeface="Arial" panose="020B0604020202020204" pitchFamily="34" charset="0"/>
              </a:rPr>
              <a:t> </a:t>
            </a:r>
            <a:r>
              <a:rPr lang="en-US" altLang="zh-CN" sz="2800" b="0">
                <a:cs typeface="Arial" panose="020B0604020202020204" pitchFamily="34" charset="0"/>
              </a:rPr>
              <a:t>d</a:t>
            </a:r>
            <a:r>
              <a:rPr lang="en-US" altLang="zh-CN" sz="2800" b="0" baseline="-30000">
                <a:cs typeface="Arial" panose="020B0604020202020204" pitchFamily="34" charset="0"/>
              </a:rPr>
              <a:t>n</a:t>
            </a:r>
            <a:r>
              <a:rPr lang="en-US" altLang="zh-CN" sz="2800" b="0">
                <a:cs typeface="Arial" panose="020B0604020202020204" pitchFamily="34" charset="0"/>
              </a:rPr>
              <a:t> * R</a:t>
            </a:r>
            <a:r>
              <a:rPr lang="en-US" altLang="zh-CN" sz="2800" b="0" baseline="30000">
                <a:cs typeface="Arial" panose="020B0604020202020204" pitchFamily="34" charset="0"/>
              </a:rPr>
              <a:t>n-1</a:t>
            </a:r>
            <a:r>
              <a:rPr lang="en-US" altLang="zh-CN" sz="2800" b="0">
                <a:cs typeface="Arial" panose="020B0604020202020204" pitchFamily="34" charset="0"/>
              </a:rPr>
              <a:t> + d</a:t>
            </a:r>
            <a:r>
              <a:rPr lang="en-US" altLang="zh-CN" sz="2800" b="0" baseline="-30000">
                <a:cs typeface="Arial" panose="020B0604020202020204" pitchFamily="34" charset="0"/>
              </a:rPr>
              <a:t>n-1</a:t>
            </a:r>
            <a:r>
              <a:rPr lang="en-US" altLang="zh-CN" sz="2800" b="0">
                <a:cs typeface="Arial" panose="020B0604020202020204" pitchFamily="34" charset="0"/>
              </a:rPr>
              <a:t> * R</a:t>
            </a:r>
            <a:r>
              <a:rPr lang="en-US" altLang="zh-CN" sz="2800" b="0" baseline="30000">
                <a:cs typeface="Arial" panose="020B0604020202020204" pitchFamily="34" charset="0"/>
              </a:rPr>
              <a:t>n-2</a:t>
            </a:r>
            <a:r>
              <a:rPr lang="en-US" altLang="zh-CN" sz="2800" b="0">
                <a:cs typeface="Arial" panose="020B0604020202020204" pitchFamily="34" charset="0"/>
              </a:rPr>
              <a:t> + ... + d</a:t>
            </a:r>
            <a:r>
              <a:rPr lang="en-US" altLang="zh-CN" sz="2800" b="0" baseline="-30000">
                <a:cs typeface="Arial" panose="020B0604020202020204" pitchFamily="34" charset="0"/>
              </a:rPr>
              <a:t>2</a:t>
            </a:r>
            <a:r>
              <a:rPr lang="en-US" altLang="zh-CN" sz="2800" b="0">
                <a:cs typeface="Arial" panose="020B0604020202020204" pitchFamily="34" charset="0"/>
              </a:rPr>
              <a:t> * R + d</a:t>
            </a:r>
            <a:r>
              <a:rPr lang="en-US" altLang="zh-CN" sz="2800" b="0" baseline="-30000">
                <a:cs typeface="Arial" panose="020B0604020202020204" pitchFamily="34" charset="0"/>
              </a:rPr>
              <a:t>1</a:t>
            </a:r>
            <a:r>
              <a:rPr lang="en-US" altLang="zh-CN" sz="2800" b="0">
                <a:cs typeface="Arial" panose="020B0604020202020204" pitchFamily="34" charset="0"/>
              </a:rPr>
              <a:t> </a:t>
            </a:r>
          </a:p>
        </p:txBody>
      </p:sp>
      <p:sp>
        <p:nvSpPr>
          <p:cNvPr id="19" name="Text Box 11">
            <a:extLst>
              <a:ext uri="{FF2B5EF4-FFF2-40B4-BE49-F238E27FC236}">
                <a16:creationId xmlns:a16="http://schemas.microsoft.com/office/drawing/2014/main" id="{D0C98094-66B9-44EB-BBC9-29ABE0EB4A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2646" y="2133600"/>
            <a:ext cx="7696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0" dirty="0"/>
              <a:t>写成公式</a:t>
            </a:r>
            <a:r>
              <a:rPr lang="en-US" altLang="zh-CN" b="0" dirty="0"/>
              <a:t>:</a:t>
            </a:r>
          </a:p>
        </p:txBody>
      </p:sp>
      <p:sp>
        <p:nvSpPr>
          <p:cNvPr id="20" name="Text Box 12">
            <a:extLst>
              <a:ext uri="{FF2B5EF4-FFF2-40B4-BE49-F238E27FC236}">
                <a16:creationId xmlns:a16="http://schemas.microsoft.com/office/drawing/2014/main" id="{EA954648-229D-4779-877E-D87F5864D7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2795" y="5661025"/>
            <a:ext cx="6204731" cy="523220"/>
          </a:xfrm>
          <a:prstGeom prst="rect">
            <a:avLst/>
          </a:prstGeom>
          <a:solidFill>
            <a:srgbClr val="EAEAEA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0" dirty="0">
                <a:cs typeface="Arial" panose="020B0604020202020204" pitchFamily="34" charset="0"/>
              </a:rPr>
              <a:t>(642)</a:t>
            </a:r>
            <a:r>
              <a:rPr lang="en-US" altLang="zh-CN" sz="2800" b="0" baseline="-25000" dirty="0">
                <a:cs typeface="Arial" panose="020B0604020202020204" pitchFamily="34" charset="0"/>
              </a:rPr>
              <a:t>10</a:t>
            </a:r>
            <a:r>
              <a:rPr lang="en-US" altLang="zh-CN" sz="2800" b="0" dirty="0">
                <a:cs typeface="Arial" panose="020B0604020202020204" pitchFamily="34" charset="0"/>
              </a:rPr>
              <a:t>  </a:t>
            </a:r>
            <a:r>
              <a:rPr lang="zh-CN" altLang="en-US" sz="2800" b="0" dirty="0">
                <a:cs typeface="Arial" panose="020B0604020202020204" pitchFamily="34" charset="0"/>
              </a:rPr>
              <a:t>等于</a:t>
            </a:r>
            <a:r>
              <a:rPr lang="en-US" altLang="zh-CN" sz="2800" b="0" dirty="0">
                <a:cs typeface="Arial" panose="020B0604020202020204" pitchFamily="34" charset="0"/>
              </a:rPr>
              <a:t>  6</a:t>
            </a:r>
            <a:r>
              <a:rPr lang="en-US" altLang="zh-CN" sz="2800" b="0" baseline="-30000" dirty="0">
                <a:cs typeface="Arial" panose="020B0604020202020204" pitchFamily="34" charset="0"/>
              </a:rPr>
              <a:t>3</a:t>
            </a:r>
            <a:r>
              <a:rPr lang="en-US" altLang="zh-CN" sz="2800" b="0" dirty="0">
                <a:cs typeface="Arial" panose="020B0604020202020204" pitchFamily="34" charset="0"/>
              </a:rPr>
              <a:t> * 10</a:t>
            </a:r>
            <a:r>
              <a:rPr lang="en-US" altLang="zh-CN" sz="2800" b="0" baseline="30000" dirty="0">
                <a:cs typeface="Arial" panose="020B0604020202020204" pitchFamily="34" charset="0"/>
              </a:rPr>
              <a:t>2</a:t>
            </a:r>
            <a:r>
              <a:rPr lang="en-US" altLang="zh-CN" sz="2800" b="0" dirty="0">
                <a:cs typeface="Arial" panose="020B0604020202020204" pitchFamily="34" charset="0"/>
              </a:rPr>
              <a:t> +  4</a:t>
            </a:r>
            <a:r>
              <a:rPr lang="en-US" altLang="zh-CN" sz="2800" b="0" baseline="-30000" dirty="0">
                <a:cs typeface="Arial" panose="020B0604020202020204" pitchFamily="34" charset="0"/>
              </a:rPr>
              <a:t>2</a:t>
            </a:r>
            <a:r>
              <a:rPr lang="en-US" altLang="zh-CN" sz="2800" b="0" dirty="0">
                <a:cs typeface="Arial" panose="020B0604020202020204" pitchFamily="34" charset="0"/>
              </a:rPr>
              <a:t> * 10 </a:t>
            </a:r>
            <a:r>
              <a:rPr lang="en-US" altLang="zh-CN" sz="2800" b="0" baseline="30000" dirty="0">
                <a:cs typeface="Arial" panose="020B0604020202020204" pitchFamily="34" charset="0"/>
              </a:rPr>
              <a:t>+</a:t>
            </a:r>
            <a:r>
              <a:rPr lang="en-US" altLang="zh-CN" sz="2800" b="0" dirty="0">
                <a:cs typeface="Arial" panose="020B0604020202020204" pitchFamily="34" charset="0"/>
              </a:rPr>
              <a:t>  2</a:t>
            </a:r>
            <a:r>
              <a:rPr lang="en-US" altLang="zh-CN" sz="2800" b="0" baseline="-30000" dirty="0">
                <a:cs typeface="Arial" panose="020B0604020202020204" pitchFamily="34" charset="0"/>
              </a:rPr>
              <a:t>1</a:t>
            </a:r>
            <a:endParaRPr lang="en-US" altLang="zh-CN" sz="2800" b="0" dirty="0">
              <a:cs typeface="Arial" panose="020B0604020202020204" pitchFamily="34" charset="0"/>
            </a:endParaRPr>
          </a:p>
        </p:txBody>
      </p:sp>
      <p:sp>
        <p:nvSpPr>
          <p:cNvPr id="21" name="Oval 13">
            <a:extLst>
              <a:ext uri="{FF2B5EF4-FFF2-40B4-BE49-F238E27FC236}">
                <a16:creationId xmlns:a16="http://schemas.microsoft.com/office/drawing/2014/main" id="{92162257-4981-4DE6-821E-4E458E4DF7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4646" y="1295400"/>
            <a:ext cx="2286000" cy="10668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200" dirty="0"/>
              <a:t>R </a:t>
            </a:r>
            <a:r>
              <a:rPr lang="zh-CN" altLang="en-US" sz="2200" dirty="0"/>
              <a:t>数值的基</a:t>
            </a:r>
            <a:endParaRPr lang="en-US" altLang="zh-CN" sz="2200" dirty="0"/>
          </a:p>
        </p:txBody>
      </p:sp>
      <p:sp>
        <p:nvSpPr>
          <p:cNvPr id="23" name="Oval 14">
            <a:extLst>
              <a:ext uri="{FF2B5EF4-FFF2-40B4-BE49-F238E27FC236}">
                <a16:creationId xmlns:a16="http://schemas.microsoft.com/office/drawing/2014/main" id="{D3F25510-FB29-4D11-A188-C2242CFCD5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0996" y="3962400"/>
            <a:ext cx="3048000" cy="1295400"/>
          </a:xfrm>
          <a:prstGeom prst="ellipse">
            <a:avLst/>
          </a:prstGeom>
          <a:solidFill>
            <a:srgbClr val="00CC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200" dirty="0"/>
              <a:t>n </a:t>
            </a:r>
            <a:r>
              <a:rPr lang="zh-CN" altLang="en-US" sz="2200" dirty="0"/>
              <a:t>表示第几位数字</a:t>
            </a:r>
            <a:endParaRPr lang="en-US" altLang="zh-CN" sz="2200" dirty="0"/>
          </a:p>
        </p:txBody>
      </p:sp>
      <p:sp>
        <p:nvSpPr>
          <p:cNvPr id="24" name="Oval 15">
            <a:extLst>
              <a:ext uri="{FF2B5EF4-FFF2-40B4-BE49-F238E27FC236}">
                <a16:creationId xmlns:a16="http://schemas.microsoft.com/office/drawing/2014/main" id="{448C2260-9A32-4C5C-90A8-27AD392992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5401" y="3875087"/>
            <a:ext cx="3276600" cy="1600200"/>
          </a:xfrm>
          <a:prstGeom prst="ellipse">
            <a:avLst/>
          </a:prstGeom>
          <a:solidFill>
            <a:srgbClr val="FFCC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200" dirty="0"/>
              <a:t>d </a:t>
            </a:r>
            <a:r>
              <a:rPr lang="zh-CN" altLang="en-US" sz="2200" dirty="0"/>
              <a:t>是第</a:t>
            </a:r>
            <a:endParaRPr lang="en-US" altLang="zh-CN" sz="2200" dirty="0"/>
          </a:p>
          <a:p>
            <a:pPr algn="ctr" eaLnBrk="1" hangingPunct="1"/>
            <a:r>
              <a:rPr lang="en-US" altLang="zh-CN" sz="2200" dirty="0"/>
              <a:t> </a:t>
            </a:r>
            <a:r>
              <a:rPr lang="en-US" altLang="zh-CN" sz="2200" dirty="0" err="1"/>
              <a:t>i</a:t>
            </a:r>
            <a:r>
              <a:rPr lang="en-US" altLang="zh-CN" sz="2200" baseline="30000" dirty="0" err="1"/>
              <a:t>th</a:t>
            </a:r>
            <a:r>
              <a:rPr lang="en-US" altLang="zh-CN" sz="2200" baseline="30000" dirty="0"/>
              <a:t> </a:t>
            </a:r>
            <a:r>
              <a:rPr lang="zh-CN" altLang="en-US" sz="2200" dirty="0"/>
              <a:t>位的数</a:t>
            </a:r>
            <a:endParaRPr lang="en-US" altLang="zh-CN" sz="2200" dirty="0"/>
          </a:p>
        </p:txBody>
      </p:sp>
      <p:sp>
        <p:nvSpPr>
          <p:cNvPr id="25" name="Line 16">
            <a:extLst>
              <a:ext uri="{FF2B5EF4-FFF2-40B4-BE49-F238E27FC236}">
                <a16:creationId xmlns:a16="http://schemas.microsoft.com/office/drawing/2014/main" id="{7D6D3385-9FEC-402E-9BB5-56EFA7DED93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97046" y="33528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" name="Line 20">
            <a:extLst>
              <a:ext uri="{FF2B5EF4-FFF2-40B4-BE49-F238E27FC236}">
                <a16:creationId xmlns:a16="http://schemas.microsoft.com/office/drawing/2014/main" id="{DAC99C06-BF2D-41CB-A4CD-109DC98DF4D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435646" y="3276600"/>
            <a:ext cx="3810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" name="Line 21">
            <a:extLst>
              <a:ext uri="{FF2B5EF4-FFF2-40B4-BE49-F238E27FC236}">
                <a16:creationId xmlns:a16="http://schemas.microsoft.com/office/drawing/2014/main" id="{40549C6E-5C98-4B41-8F85-37272B81787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59246" y="2057400"/>
            <a:ext cx="10668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" name="下箭头 2">
            <a:extLst>
              <a:ext uri="{FF2B5EF4-FFF2-40B4-BE49-F238E27FC236}">
                <a16:creationId xmlns:a16="http://schemas.microsoft.com/office/drawing/2014/main" id="{8756A193-28C0-4FA9-9AC4-890D3B93D2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0047" y="4491614"/>
            <a:ext cx="317500" cy="419100"/>
          </a:xfrm>
          <a:prstGeom prst="downArrow">
            <a:avLst>
              <a:gd name="adj1" fmla="val 50000"/>
              <a:gd name="adj2" fmla="val 50038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7266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进位制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/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位值计数法（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Positional Notation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）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28" name="Text Box 8">
            <a:extLst>
              <a:ext uri="{FF2B5EF4-FFF2-40B4-BE49-F238E27FC236}">
                <a16:creationId xmlns:a16="http://schemas.microsoft.com/office/drawing/2014/main" id="{76CBEDB7-DECB-4818-8F21-3B0DA4695B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2241867"/>
            <a:ext cx="7543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endParaRPr lang="zh-CN" altLang="en-US" sz="2800"/>
          </a:p>
        </p:txBody>
      </p:sp>
      <p:sp>
        <p:nvSpPr>
          <p:cNvPr id="30" name="Text Box 24">
            <a:extLst>
              <a:ext uri="{FF2B5EF4-FFF2-40B4-BE49-F238E27FC236}">
                <a16:creationId xmlns:a16="http://schemas.microsoft.com/office/drawing/2014/main" id="{305BAA90-0502-41B0-9560-9DF27B8A0D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2241867"/>
            <a:ext cx="7543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endParaRPr lang="zh-CN" altLang="en-US" sz="2800"/>
          </a:p>
        </p:txBody>
      </p:sp>
      <p:sp>
        <p:nvSpPr>
          <p:cNvPr id="31" name="Text Box 25">
            <a:extLst>
              <a:ext uri="{FF2B5EF4-FFF2-40B4-BE49-F238E27FC236}">
                <a16:creationId xmlns:a16="http://schemas.microsoft.com/office/drawing/2014/main" id="{5B36231C-8B69-43A1-8F83-CD48A81BCC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2013267"/>
            <a:ext cx="7772400" cy="40934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dirty="0"/>
              <a:t>假如 </a:t>
            </a:r>
            <a:r>
              <a:rPr lang="en-US" altLang="zh-CN" sz="2800" dirty="0"/>
              <a:t>642 </a:t>
            </a:r>
            <a:r>
              <a:rPr lang="zh-CN" altLang="en-US" sz="2800" dirty="0"/>
              <a:t>表示的数的基是</a:t>
            </a:r>
            <a:r>
              <a:rPr lang="en-US" altLang="zh-CN" sz="2800" dirty="0"/>
              <a:t> 13?</a:t>
            </a:r>
            <a:r>
              <a:rPr lang="zh-CN" altLang="en-US" sz="2800" dirty="0">
                <a:solidFill>
                  <a:srgbClr val="0070C0"/>
                </a:solidFill>
              </a:rPr>
              <a:t>（</a:t>
            </a:r>
            <a:r>
              <a:rPr lang="en-US" altLang="zh-CN" sz="2800" dirty="0">
                <a:solidFill>
                  <a:srgbClr val="0070C0"/>
                </a:solidFill>
              </a:rPr>
              <a:t>13</a:t>
            </a:r>
            <a:r>
              <a:rPr lang="zh-CN" altLang="en-US" sz="2800" dirty="0">
                <a:solidFill>
                  <a:srgbClr val="0070C0"/>
                </a:solidFill>
              </a:rPr>
              <a:t>进制）</a:t>
            </a:r>
            <a:endParaRPr lang="en-US" altLang="zh-CN" sz="2800" dirty="0">
              <a:solidFill>
                <a:srgbClr val="0070C0"/>
              </a:solidFill>
            </a:endParaRPr>
          </a:p>
          <a:p>
            <a:pPr eaLnBrk="1" hangingPunct="1"/>
            <a:endParaRPr lang="en-US" altLang="zh-CN" sz="2800" dirty="0"/>
          </a:p>
          <a:p>
            <a:pPr eaLnBrk="1" hangingPunct="1"/>
            <a:r>
              <a:rPr lang="en-US" altLang="zh-CN" dirty="0"/>
              <a:t>	  </a:t>
            </a:r>
          </a:p>
          <a:p>
            <a:pPr eaLnBrk="1" hangingPunct="1"/>
            <a:r>
              <a:rPr lang="en-US" altLang="zh-CN" dirty="0"/>
              <a:t>		   </a:t>
            </a:r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sz="2800" dirty="0">
              <a:cs typeface="Arial" panose="020B0604020202020204" pitchFamily="34" charset="0"/>
            </a:endParaRPr>
          </a:p>
          <a:p>
            <a:pPr eaLnBrk="1" hangingPunct="1"/>
            <a:r>
              <a:rPr lang="en-US" altLang="zh-CN" sz="2800" dirty="0">
                <a:cs typeface="Arial" panose="020B0604020202020204" pitchFamily="34" charset="0"/>
              </a:rPr>
              <a:t>642 </a:t>
            </a:r>
            <a:r>
              <a:rPr lang="zh-CN" altLang="en-US" sz="2800" dirty="0">
                <a:cs typeface="Arial" panose="020B0604020202020204" pitchFamily="34" charset="0"/>
              </a:rPr>
              <a:t>在基</a:t>
            </a:r>
            <a:r>
              <a:rPr lang="en-US" altLang="zh-CN" sz="2800" dirty="0">
                <a:cs typeface="Arial" panose="020B0604020202020204" pitchFamily="34" charset="0"/>
              </a:rPr>
              <a:t>13</a:t>
            </a:r>
            <a:r>
              <a:rPr lang="zh-CN" altLang="en-US" sz="2800" dirty="0">
                <a:cs typeface="Arial" panose="020B0604020202020204" pitchFamily="34" charset="0"/>
              </a:rPr>
              <a:t>下</a:t>
            </a:r>
            <a:r>
              <a:rPr lang="en-US" altLang="zh-CN" sz="2800" dirty="0">
                <a:cs typeface="Arial" panose="020B0604020202020204" pitchFamily="34" charset="0"/>
              </a:rPr>
              <a:t> </a:t>
            </a:r>
            <a:r>
              <a:rPr lang="zh-CN" altLang="en-US" sz="2800" dirty="0">
                <a:solidFill>
                  <a:srgbClr val="FF0000"/>
                </a:solidFill>
                <a:cs typeface="Arial" panose="020B0604020202020204" pitchFamily="34" charset="0"/>
              </a:rPr>
              <a:t>等于</a:t>
            </a:r>
            <a:r>
              <a:rPr lang="en-US" altLang="zh-CN" sz="2800" dirty="0">
                <a:cs typeface="Arial" panose="020B0604020202020204" pitchFamily="34" charset="0"/>
              </a:rPr>
              <a:t> 1068</a:t>
            </a:r>
            <a:r>
              <a:rPr lang="zh-CN" altLang="en-US" sz="2800" dirty="0">
                <a:cs typeface="Arial" panose="020B0604020202020204" pitchFamily="34" charset="0"/>
              </a:rPr>
              <a:t>在基</a:t>
            </a:r>
            <a:r>
              <a:rPr lang="en-US" altLang="zh-CN" sz="2800" dirty="0">
                <a:cs typeface="Arial" panose="020B0604020202020204" pitchFamily="34" charset="0"/>
              </a:rPr>
              <a:t> 10</a:t>
            </a:r>
            <a:r>
              <a:rPr lang="zh-CN" altLang="en-US" sz="2800" dirty="0">
                <a:cs typeface="Arial" panose="020B0604020202020204" pitchFamily="34" charset="0"/>
              </a:rPr>
              <a:t>下的值</a:t>
            </a:r>
            <a:endParaRPr lang="en-US" altLang="zh-CN" sz="2800" dirty="0">
              <a:cs typeface="Arial" panose="020B0604020202020204" pitchFamily="34" charset="0"/>
            </a:endParaRPr>
          </a:p>
          <a:p>
            <a:pPr eaLnBrk="1" hangingPunct="1"/>
            <a:r>
              <a:rPr lang="zh-CN" altLang="en-US" sz="2800" dirty="0">
                <a:cs typeface="Arial" panose="020B0604020202020204" pitchFamily="34" charset="0"/>
              </a:rPr>
              <a:t>即同一数值在不同进制下的表示</a:t>
            </a:r>
            <a:endParaRPr lang="en-US" altLang="zh-CN" sz="2800" dirty="0"/>
          </a:p>
        </p:txBody>
      </p:sp>
      <p:sp>
        <p:nvSpPr>
          <p:cNvPr id="32" name="Text Box 31">
            <a:extLst>
              <a:ext uri="{FF2B5EF4-FFF2-40B4-BE49-F238E27FC236}">
                <a16:creationId xmlns:a16="http://schemas.microsoft.com/office/drawing/2014/main" id="{28169B23-D572-4436-A5BE-ABF303E165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2775267"/>
            <a:ext cx="6705600" cy="1570038"/>
          </a:xfrm>
          <a:prstGeom prst="rect">
            <a:avLst/>
          </a:prstGeom>
          <a:solidFill>
            <a:srgbClr val="EAEA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>
                <a:cs typeface="Arial" panose="020B0604020202020204" pitchFamily="34" charset="0"/>
              </a:rPr>
              <a:t>	+ 6 x 13</a:t>
            </a:r>
            <a:r>
              <a:rPr lang="en-US" altLang="zh-CN" baseline="20000" dirty="0">
                <a:cs typeface="Arial" panose="020B0604020202020204" pitchFamily="34" charset="0"/>
              </a:rPr>
              <a:t>2</a:t>
            </a:r>
            <a:r>
              <a:rPr lang="en-US" altLang="zh-CN" dirty="0">
                <a:cs typeface="Arial" panose="020B0604020202020204" pitchFamily="34" charset="0"/>
              </a:rPr>
              <a:t>  =  6 x 169   = 1014</a:t>
            </a:r>
          </a:p>
          <a:p>
            <a:pPr eaLnBrk="1" hangingPunct="1"/>
            <a:r>
              <a:rPr lang="en-US" altLang="zh-CN" dirty="0">
                <a:cs typeface="Arial" panose="020B0604020202020204" pitchFamily="34" charset="0"/>
              </a:rPr>
              <a:t>      	+ 4 x 13</a:t>
            </a:r>
            <a:r>
              <a:rPr lang="en-US" altLang="zh-CN" baseline="20000" dirty="0">
                <a:cs typeface="Arial" panose="020B0604020202020204" pitchFamily="34" charset="0"/>
              </a:rPr>
              <a:t>1</a:t>
            </a:r>
            <a:r>
              <a:rPr lang="en-US" altLang="zh-CN" dirty="0">
                <a:cs typeface="Arial" panose="020B0604020202020204" pitchFamily="34" charset="0"/>
              </a:rPr>
              <a:t>  =   4 x 13    = 52</a:t>
            </a:r>
          </a:p>
          <a:p>
            <a:pPr eaLnBrk="1" hangingPunct="1"/>
            <a:r>
              <a:rPr lang="en-US" altLang="zh-CN" dirty="0">
                <a:cs typeface="Arial" panose="020B0604020202020204" pitchFamily="34" charset="0"/>
              </a:rPr>
              <a:t>       	+ 2 x 13º  =    2 x 1     =   2</a:t>
            </a:r>
          </a:p>
          <a:p>
            <a:pPr eaLnBrk="1" hangingPunct="1"/>
            <a:r>
              <a:rPr lang="en-US" altLang="zh-CN" dirty="0">
                <a:cs typeface="Arial" panose="020B0604020202020204" pitchFamily="34" charset="0"/>
              </a:rPr>
              <a:t>			              =  </a:t>
            </a:r>
            <a:r>
              <a:rPr lang="zh-CN" altLang="en-US" dirty="0">
                <a:cs typeface="Arial" panose="020B0604020202020204" pitchFamily="34" charset="0"/>
              </a:rPr>
              <a:t>（</a:t>
            </a:r>
            <a:r>
              <a:rPr lang="en-US" altLang="zh-CN" dirty="0">
                <a:cs typeface="Arial" panose="020B0604020202020204" pitchFamily="34" charset="0"/>
              </a:rPr>
              <a:t>1068</a:t>
            </a:r>
            <a:r>
              <a:rPr lang="zh-CN" altLang="en-US" dirty="0">
                <a:cs typeface="Arial" panose="020B0604020202020204" pitchFamily="34" charset="0"/>
              </a:rPr>
              <a:t>）</a:t>
            </a:r>
            <a:r>
              <a:rPr lang="en-US" altLang="zh-CN" baseline="-25000" dirty="0">
                <a:cs typeface="Arial" panose="020B0604020202020204" pitchFamily="34" charset="0"/>
              </a:rPr>
              <a:t>10</a:t>
            </a:r>
            <a:r>
              <a:rPr lang="en-US" altLang="zh-CN" dirty="0">
                <a:cs typeface="Arial" panose="020B0604020202020204" pitchFamily="34" charset="0"/>
              </a:rPr>
              <a:t> </a:t>
            </a:r>
            <a:endParaRPr lang="en-US" altLang="zh-CN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7500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bldLvl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二进制数（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Binary Number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）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10" name="内容占位符 3">
            <a:extLst>
              <a:ext uri="{FF2B5EF4-FFF2-40B4-BE49-F238E27FC236}">
                <a16:creationId xmlns:a16="http://schemas.microsoft.com/office/drawing/2014/main" id="{D629388B-A0FA-4935-A200-9BF72A71C0AB}"/>
              </a:ext>
            </a:extLst>
          </p:cNvPr>
          <p:cNvSpPr>
            <a:spLocks noGrp="1"/>
          </p:cNvSpPr>
          <p:nvPr/>
        </p:nvSpPr>
        <p:spPr>
          <a:xfrm>
            <a:off x="838200" y="1815465"/>
            <a:ext cx="10236200" cy="43516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70000"/>
              </a:lnSpc>
              <a:spcBef>
                <a:spcPts val="6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b="1" dirty="0"/>
              <a:t>十进制（</a:t>
            </a:r>
            <a:r>
              <a:rPr lang="en-US" altLang="zh-CN" b="1" dirty="0"/>
              <a:t>Decimal</a:t>
            </a:r>
            <a:r>
              <a:rPr lang="zh-CN" altLang="en-US" b="1" dirty="0"/>
              <a:t>）</a:t>
            </a:r>
            <a:r>
              <a:rPr lang="zh-CN" altLang="en-US" dirty="0"/>
              <a:t>的基（</a:t>
            </a:r>
            <a:r>
              <a:rPr lang="en-US" altLang="zh-CN" dirty="0"/>
              <a:t>Base</a:t>
            </a:r>
            <a:r>
              <a:rPr lang="zh-CN" altLang="en-US" dirty="0"/>
              <a:t>）是</a:t>
            </a:r>
            <a:r>
              <a:rPr lang="en-US" altLang="zh-CN" dirty="0"/>
              <a:t>10</a:t>
            </a:r>
            <a:r>
              <a:rPr lang="zh-CN" altLang="en-US" dirty="0"/>
              <a:t>，有</a:t>
            </a:r>
            <a:r>
              <a:rPr lang="en-US" altLang="zh-CN" dirty="0"/>
              <a:t>10</a:t>
            </a:r>
            <a:r>
              <a:rPr lang="zh-CN" altLang="en-US" dirty="0"/>
              <a:t>个数字：</a:t>
            </a:r>
          </a:p>
          <a:p>
            <a:pPr lvl="1">
              <a:lnSpc>
                <a:spcPct val="120000"/>
              </a:lnSpc>
            </a:pPr>
            <a:r>
              <a:rPr lang="en-US" altLang="zh-CN" dirty="0">
                <a:solidFill>
                  <a:srgbClr val="C00000"/>
                </a:solidFill>
              </a:rPr>
              <a:t>0,1,2,3,4,5,6,7,8,9</a:t>
            </a:r>
          </a:p>
          <a:p>
            <a:pPr>
              <a:lnSpc>
                <a:spcPct val="120000"/>
              </a:lnSpc>
            </a:pPr>
            <a:r>
              <a:rPr lang="zh-CN" altLang="en-US" b="1" dirty="0"/>
              <a:t>二进制（</a:t>
            </a:r>
            <a:r>
              <a:rPr lang="en-US" altLang="zh-CN" b="1" dirty="0"/>
              <a:t>Binary</a:t>
            </a:r>
            <a:r>
              <a:rPr lang="zh-CN" altLang="en-US" b="1" dirty="0"/>
              <a:t>）</a:t>
            </a:r>
            <a:r>
              <a:rPr lang="zh-CN" altLang="en-US" dirty="0"/>
              <a:t>的基是</a:t>
            </a:r>
            <a:r>
              <a:rPr lang="en-US" altLang="zh-CN" dirty="0"/>
              <a:t>2</a:t>
            </a:r>
            <a:r>
              <a:rPr lang="zh-CN" altLang="en-US" dirty="0"/>
              <a:t>，有</a:t>
            </a:r>
            <a:r>
              <a:rPr lang="en-US" altLang="zh-CN" dirty="0"/>
              <a:t>2</a:t>
            </a:r>
            <a:r>
              <a:rPr lang="zh-CN" altLang="en-US" dirty="0"/>
              <a:t>个数字：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en-US" altLang="zh-CN" sz="2000" dirty="0">
                <a:solidFill>
                  <a:srgbClr val="C00000"/>
                </a:solidFill>
              </a:rPr>
              <a:t>0,1</a:t>
            </a:r>
          </a:p>
          <a:p>
            <a:pPr>
              <a:lnSpc>
                <a:spcPct val="120000"/>
              </a:lnSpc>
            </a:pPr>
            <a:r>
              <a:rPr lang="zh-CN" altLang="en-US" b="1" dirty="0"/>
              <a:t>十六进制（</a:t>
            </a:r>
            <a:r>
              <a:rPr lang="en-US" altLang="zh-CN" b="1" dirty="0"/>
              <a:t>Hexadecimal</a:t>
            </a:r>
            <a:r>
              <a:rPr lang="zh-CN" altLang="en-US" b="1" dirty="0"/>
              <a:t>）</a:t>
            </a:r>
            <a:r>
              <a:rPr lang="zh-CN" altLang="en-US" dirty="0"/>
              <a:t>的基是</a:t>
            </a:r>
            <a:r>
              <a:rPr lang="en-US" altLang="zh-CN" dirty="0"/>
              <a:t>16</a:t>
            </a:r>
            <a:r>
              <a:rPr lang="zh-CN" altLang="en-US" dirty="0"/>
              <a:t>，有</a:t>
            </a:r>
            <a:r>
              <a:rPr lang="en-US" altLang="zh-CN" dirty="0"/>
              <a:t>16</a:t>
            </a:r>
            <a:r>
              <a:rPr lang="zh-CN" altLang="en-US" dirty="0"/>
              <a:t>个数字：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en-US" altLang="zh-CN" sz="2000" dirty="0">
                <a:solidFill>
                  <a:srgbClr val="C00000"/>
                </a:solidFill>
              </a:rPr>
              <a:t>0,1,2,3,4,5,6,7,8,9,A,B,C,D,E,F</a:t>
            </a:r>
          </a:p>
          <a:p>
            <a:pPr>
              <a:lnSpc>
                <a:spcPct val="120000"/>
              </a:lnSpc>
            </a:pPr>
            <a:r>
              <a:rPr lang="zh-CN" altLang="en-US" b="1" dirty="0"/>
              <a:t>八进制（</a:t>
            </a:r>
            <a:r>
              <a:rPr lang="en-US" altLang="zh-CN" b="1" dirty="0"/>
              <a:t>Octal</a:t>
            </a:r>
            <a:r>
              <a:rPr lang="zh-CN" altLang="en-US" b="1" dirty="0"/>
              <a:t>）</a:t>
            </a:r>
            <a:r>
              <a:rPr lang="zh-CN" altLang="en-US" dirty="0"/>
              <a:t>的基是？，有？个数字：</a:t>
            </a:r>
          </a:p>
          <a:p>
            <a:pPr lvl="1">
              <a:lnSpc>
                <a:spcPct val="120000"/>
              </a:lnSpc>
            </a:pPr>
            <a:r>
              <a:rPr lang="zh-CN" altLang="en-US" sz="2000" dirty="0"/>
              <a:t>？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3559790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bldLvl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CABCCFAF-ECCC-4EBD-9261-9B7AFC9CD722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8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2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%u</a:t>
            </a:r>
            <a:r>
              <a:rPr lang="en-US" altLang="zh-CN" sz="28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zh-CN" sz="2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2800" dirty="0">
                <a:solidFill>
                  <a:srgbClr val="001080"/>
                </a:solidFill>
                <a:latin typeface="Consolas" panose="020B0609020204030204" pitchFamily="49" charset="0"/>
              </a:rPr>
              <a:t>011</a:t>
            </a:r>
            <a:r>
              <a:rPr lang="en-US" altLang="zh-CN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The  output  is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？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12EDE7-2DF2-48F6-8C6D-90314A2652D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E03E105-0F3F-4953-9D93-D0969313C65B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9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286382A-2931-45AD-9343-9EAE757D0E7D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11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9B39FA2-DF5A-4A72-9755-343B30DE1C49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17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A8A06E8B-C94C-4FD1-846A-353F8834E254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36B12F46-562A-43DF-8192-AB2162398F64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BFD6FA4F-B497-4A58-8E36-96749D034A9A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C2C28FE1-523D-44DA-BD1C-26E3EFEC4F22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A0AFB3CA-10AB-4575-861A-4659459B995A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E1E4E61C-1DB2-4FFC-8140-60F38AEA11B6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AFE91A35-2FF6-4FCA-87DB-DB7A692227D9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A12AF2B0-29A2-4FF4-81F9-146CE2D992D6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D6D59D1B-0F0D-4684-A2FC-B939950CE544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0094D960-104C-4CCF-8681-7E029EB04125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1F1C67BF-EA7F-4A85-9184-E649FBD47C60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568346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F6F21A7-909D-4EC5-AA0A-5D7AC1C79F89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8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2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%u</a:t>
            </a:r>
            <a:r>
              <a:rPr lang="en-US" altLang="zh-CN" sz="28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zh-CN" sz="2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2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019</a:t>
            </a:r>
            <a:r>
              <a:rPr lang="en-US" altLang="zh-CN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endParaRPr lang="en-US" altLang="zh-CN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28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The  output  is </a:t>
            </a:r>
            <a:r>
              <a:rPr lang="zh-CN" altLang="en-US" sz="28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？</a:t>
            </a:r>
            <a:r>
              <a:rPr lang="en-US" altLang="zh-CN" sz="28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endParaRPr lang="zh-CN" altLang="en-US" sz="28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B7BC249-29A4-4FC2-B2FA-ABCD0B3C5EB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10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3E3CFF6-F61B-42DA-9102-7FAC61C0C221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17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4C90912-CA35-44A9-B16F-0884F652053E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19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2C7762-49B3-4D8A-99E0-6C83516029FB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Error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427CBCD5-160F-47E4-ABA6-94A093533740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99325421-D743-4E22-97C0-FE9A7BE9BF05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C19AC970-0446-40CA-9F73-3315C883D19F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D180C324-3386-4DE4-A0CD-CB9C1223D3DF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995C722E-7467-47CE-AE67-FE8FD5D2F580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253CB4AB-377C-496B-8F9D-00CB0A271295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02108AA2-3239-4F2C-B32C-E94961912DF4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54781943-C600-4532-BC69-63F9B896FF11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395BC9E8-9904-4A8F-9648-7415247F7D25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37293B99-5F9E-4443-99E1-D57D0D57BD33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1F3C3683-FB67-463C-AFF9-DD8FB851ED2D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52104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练习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10" name="内容占位符 3">
            <a:extLst>
              <a:ext uri="{FF2B5EF4-FFF2-40B4-BE49-F238E27FC236}">
                <a16:creationId xmlns:a16="http://schemas.microsoft.com/office/drawing/2014/main" id="{D629388B-A0FA-4935-A200-9BF72A71C0AB}"/>
              </a:ext>
            </a:extLst>
          </p:cNvPr>
          <p:cNvSpPr>
            <a:spLocks noGrp="1"/>
          </p:cNvSpPr>
          <p:nvPr/>
        </p:nvSpPr>
        <p:spPr>
          <a:xfrm>
            <a:off x="838200" y="1815465"/>
            <a:ext cx="10236200" cy="43516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70000"/>
              </a:lnSpc>
              <a:spcBef>
                <a:spcPts val="6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000" dirty="0"/>
              <a:t>计算以下数的十进制值</a:t>
            </a:r>
            <a:endParaRPr lang="en-US" altLang="zh-CN" sz="2000" dirty="0"/>
          </a:p>
          <a:p>
            <a:pPr>
              <a:lnSpc>
                <a:spcPct val="120000"/>
              </a:lnSpc>
            </a:pPr>
            <a:r>
              <a:rPr lang="en-US" altLang="zh-CN" sz="2000" dirty="0"/>
              <a:t>(143)</a:t>
            </a:r>
            <a:r>
              <a:rPr lang="en-US" altLang="zh-CN" sz="2000" baseline="-25000" dirty="0"/>
              <a:t> 8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3295611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bldLvl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十进制转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R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进制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10" name="内容占位符 3">
            <a:extLst>
              <a:ext uri="{FF2B5EF4-FFF2-40B4-BE49-F238E27FC236}">
                <a16:creationId xmlns:a16="http://schemas.microsoft.com/office/drawing/2014/main" id="{D629388B-A0FA-4935-A200-9BF72A71C0AB}"/>
              </a:ext>
            </a:extLst>
          </p:cNvPr>
          <p:cNvSpPr>
            <a:spLocks noGrp="1"/>
          </p:cNvSpPr>
          <p:nvPr/>
        </p:nvSpPr>
        <p:spPr>
          <a:xfrm>
            <a:off x="838200" y="1815465"/>
            <a:ext cx="5727492" cy="43516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70000"/>
              </a:lnSpc>
              <a:spcBef>
                <a:spcPts val="6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b="1" dirty="0"/>
              <a:t>除</a:t>
            </a:r>
            <a:r>
              <a:rPr lang="en-US" altLang="zh-CN" b="1" dirty="0"/>
              <a:t>R</a:t>
            </a:r>
            <a:r>
              <a:rPr lang="zh-CN" altLang="en-US" b="1" dirty="0"/>
              <a:t>取余数倒排法</a:t>
            </a:r>
            <a:endParaRPr lang="en-US" altLang="zh-CN" b="1" dirty="0"/>
          </a:p>
          <a:p>
            <a:pPr>
              <a:lnSpc>
                <a:spcPct val="120000"/>
              </a:lnSpc>
            </a:pPr>
            <a:r>
              <a:rPr lang="zh-CN" altLang="en-US" sz="2000" b="1" dirty="0"/>
              <a:t>例如：</a:t>
            </a:r>
            <a:r>
              <a:rPr lang="en-US" altLang="zh-CN" sz="2000" b="1" dirty="0"/>
              <a:t>(89)</a:t>
            </a:r>
            <a:r>
              <a:rPr lang="en-US" altLang="zh-CN" sz="2000" b="1" baseline="-25000" dirty="0"/>
              <a:t>10</a:t>
            </a:r>
            <a:r>
              <a:rPr lang="en-US" altLang="zh-CN" sz="2000" b="1" dirty="0"/>
              <a:t> </a:t>
            </a:r>
            <a:r>
              <a:rPr lang="zh-CN" altLang="en-US" sz="2000" b="1" dirty="0"/>
              <a:t>＝ </a:t>
            </a:r>
            <a:r>
              <a:rPr lang="en-US" altLang="zh-CN" sz="2000" b="1" dirty="0"/>
              <a:t>(1011001)</a:t>
            </a:r>
            <a:r>
              <a:rPr lang="en-US" altLang="zh-CN" sz="2000" b="1" baseline="-25000" dirty="0"/>
              <a:t>2</a:t>
            </a:r>
            <a:r>
              <a:rPr lang="en-US" altLang="zh-CN" sz="2000" b="1" dirty="0"/>
              <a:t> </a:t>
            </a:r>
            <a:endParaRPr lang="en-US" altLang="zh-CN" sz="2000" dirty="0"/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1C93BFD5-6FF2-7064-AB9D-1EF25CF982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234" y="3162582"/>
            <a:ext cx="5400675" cy="299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内容占位符 3">
            <a:extLst>
              <a:ext uri="{FF2B5EF4-FFF2-40B4-BE49-F238E27FC236}">
                <a16:creationId xmlns:a16="http://schemas.microsoft.com/office/drawing/2014/main" id="{28D28C72-7F1A-32B4-477E-A64F2F77B313}"/>
              </a:ext>
            </a:extLst>
          </p:cNvPr>
          <p:cNvSpPr>
            <a:spLocks noGrp="1"/>
          </p:cNvSpPr>
          <p:nvPr/>
        </p:nvSpPr>
        <p:spPr>
          <a:xfrm>
            <a:off x="6806962" y="1714500"/>
            <a:ext cx="4411843" cy="43516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70000"/>
              </a:lnSpc>
              <a:spcBef>
                <a:spcPts val="6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endParaRPr lang="en-US" altLang="zh-CN" sz="2000" b="1" dirty="0"/>
          </a:p>
          <a:p>
            <a:pPr>
              <a:lnSpc>
                <a:spcPct val="120000"/>
              </a:lnSpc>
            </a:pPr>
            <a:r>
              <a:rPr lang="zh-CN" altLang="en-US" sz="2000" b="1" dirty="0"/>
              <a:t>例如：</a:t>
            </a:r>
            <a:r>
              <a:rPr lang="en-US" altLang="zh-CN" sz="2000" b="1" dirty="0"/>
              <a:t>(219)</a:t>
            </a:r>
            <a:r>
              <a:rPr lang="en-US" altLang="zh-CN" sz="2000" b="1" baseline="-25000" dirty="0"/>
              <a:t>10</a:t>
            </a:r>
            <a:r>
              <a:rPr lang="en-US" altLang="zh-CN" sz="2000" b="1" dirty="0"/>
              <a:t> </a:t>
            </a:r>
            <a:r>
              <a:rPr lang="zh-CN" altLang="en-US" sz="2000" b="1" dirty="0"/>
              <a:t>＝ </a:t>
            </a:r>
            <a:r>
              <a:rPr lang="en-US" altLang="zh-CN" sz="2000" b="1" dirty="0"/>
              <a:t>(DB)</a:t>
            </a:r>
            <a:r>
              <a:rPr lang="en-US" altLang="zh-CN" sz="2000" b="1" baseline="-25000" dirty="0"/>
              <a:t>16</a:t>
            </a:r>
            <a:r>
              <a:rPr lang="en-US" altLang="zh-CN" sz="2000" b="1" dirty="0"/>
              <a:t> </a:t>
            </a:r>
            <a:endParaRPr lang="en-US" altLang="zh-CN" sz="2000" dirty="0"/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BF467940-4729-AB57-78EF-F201115635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5296" y="3103562"/>
            <a:ext cx="3553813" cy="1387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7733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bldLvl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十进制转十六，八进制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10" name="内容占位符 3">
            <a:extLst>
              <a:ext uri="{FF2B5EF4-FFF2-40B4-BE49-F238E27FC236}">
                <a16:creationId xmlns:a16="http://schemas.microsoft.com/office/drawing/2014/main" id="{D629388B-A0FA-4935-A200-9BF72A71C0AB}"/>
              </a:ext>
            </a:extLst>
          </p:cNvPr>
          <p:cNvSpPr>
            <a:spLocks noGrp="1"/>
          </p:cNvSpPr>
          <p:nvPr/>
        </p:nvSpPr>
        <p:spPr>
          <a:xfrm>
            <a:off x="838200" y="1815465"/>
            <a:ext cx="4726710" cy="43516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70000"/>
              </a:lnSpc>
              <a:spcBef>
                <a:spcPts val="6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dirty="0"/>
              <a:t>十六进制数 </a:t>
            </a:r>
            <a:r>
              <a:rPr lang="en-US" altLang="zh-CN" dirty="0"/>
              <a:t>DEF </a:t>
            </a:r>
            <a:r>
              <a:rPr lang="zh-CN" altLang="en-US" dirty="0"/>
              <a:t>等于 ？十进制数？</a:t>
            </a:r>
            <a:endParaRPr lang="en-US" altLang="zh-CN" dirty="0"/>
          </a:p>
          <a:p>
            <a:pPr>
              <a:lnSpc>
                <a:spcPct val="120000"/>
              </a:lnSpc>
            </a:pPr>
            <a:endParaRPr lang="en-US" altLang="zh-CN" sz="2000" dirty="0"/>
          </a:p>
          <a:p>
            <a:pPr>
              <a:lnSpc>
                <a:spcPct val="120000"/>
              </a:lnSpc>
            </a:pPr>
            <a:endParaRPr lang="en-US" altLang="zh-CN" sz="2000" dirty="0"/>
          </a:p>
          <a:p>
            <a:pPr>
              <a:lnSpc>
                <a:spcPct val="120000"/>
              </a:lnSpc>
            </a:pPr>
            <a:endParaRPr lang="en-US" altLang="zh-CN" sz="2000" dirty="0"/>
          </a:p>
          <a:p>
            <a:pPr>
              <a:lnSpc>
                <a:spcPct val="120000"/>
              </a:lnSpc>
            </a:pPr>
            <a:endParaRPr lang="en-US" altLang="zh-CN" sz="2000" dirty="0"/>
          </a:p>
          <a:p>
            <a:pPr>
              <a:lnSpc>
                <a:spcPct val="120000"/>
              </a:lnSpc>
            </a:pPr>
            <a:endParaRPr lang="en-US" altLang="zh-CN" sz="2000" dirty="0"/>
          </a:p>
          <a:p>
            <a:pPr>
              <a:lnSpc>
                <a:spcPct val="120000"/>
              </a:lnSpc>
            </a:pPr>
            <a:endParaRPr lang="en-US" altLang="zh-CN" sz="20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F25B2B5-9831-46C8-905F-1562839F67A0}"/>
              </a:ext>
            </a:extLst>
          </p:cNvPr>
          <p:cNvSpPr txBox="1"/>
          <p:nvPr/>
        </p:nvSpPr>
        <p:spPr>
          <a:xfrm>
            <a:off x="5870523" y="1944847"/>
            <a:ext cx="5144356" cy="2308324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/*int-hex-oct*/</a:t>
            </a:r>
          </a:p>
          <a:p>
            <a:r>
              <a:rPr lang="en-US" altLang="zh-C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stdio.h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{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3567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"Hex 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%X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 Oct 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%o</a:t>
            </a:r>
            <a:r>
              <a:rPr lang="en-US" altLang="zh-CN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dirty="0" err="1">
                <a:solidFill>
                  <a:srgbClr val="001080"/>
                </a:solidFill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altLang="zh-C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Text Box 8">
            <a:extLst>
              <a:ext uri="{FF2B5EF4-FFF2-40B4-BE49-F238E27FC236}">
                <a16:creationId xmlns:a16="http://schemas.microsoft.com/office/drawing/2014/main" id="{A038C8DA-79BB-4F37-AC1D-51A4F672E4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6355" y="3193472"/>
            <a:ext cx="4470400" cy="1938992"/>
          </a:xfrm>
          <a:prstGeom prst="rect">
            <a:avLst/>
          </a:prstGeom>
          <a:solidFill>
            <a:srgbClr val="EAEA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>
                <a:cs typeface="Arial" panose="020B0604020202020204" pitchFamily="34" charset="0"/>
              </a:rPr>
              <a:t>   D x 16</a:t>
            </a:r>
            <a:r>
              <a:rPr lang="en-US" altLang="zh-CN" baseline="20000" dirty="0">
                <a:cs typeface="Arial" panose="020B0604020202020204" pitchFamily="34" charset="0"/>
              </a:rPr>
              <a:t>2</a:t>
            </a:r>
            <a:r>
              <a:rPr lang="en-US" altLang="zh-CN" dirty="0">
                <a:cs typeface="Arial" panose="020B0604020202020204" pitchFamily="34" charset="0"/>
              </a:rPr>
              <a:t>  =  13 x 256 = 3328</a:t>
            </a:r>
          </a:p>
          <a:p>
            <a:pPr eaLnBrk="1" hangingPunct="1"/>
            <a:r>
              <a:rPr lang="en-US" altLang="zh-CN" dirty="0">
                <a:cs typeface="Arial" panose="020B0604020202020204" pitchFamily="34" charset="0"/>
              </a:rPr>
              <a:t>+ E x 16</a:t>
            </a:r>
            <a:r>
              <a:rPr lang="en-US" altLang="zh-CN" baseline="20000" dirty="0">
                <a:cs typeface="Arial" panose="020B0604020202020204" pitchFamily="34" charset="0"/>
              </a:rPr>
              <a:t>1</a:t>
            </a:r>
            <a:r>
              <a:rPr lang="en-US" altLang="zh-CN" dirty="0">
                <a:cs typeface="Arial" panose="020B0604020202020204" pitchFamily="34" charset="0"/>
              </a:rPr>
              <a:t>  =  14 x  16  = 224</a:t>
            </a:r>
          </a:p>
          <a:p>
            <a:pPr eaLnBrk="1" hangingPunct="1"/>
            <a:r>
              <a:rPr lang="en-US" altLang="zh-CN" dirty="0">
                <a:cs typeface="Arial" panose="020B0604020202020204" pitchFamily="34" charset="0"/>
              </a:rPr>
              <a:t>+ F x 16º  =  15 x 1     = 15</a:t>
            </a:r>
          </a:p>
          <a:p>
            <a:pPr eaLnBrk="1" hangingPunct="1"/>
            <a:r>
              <a:rPr lang="en-US" altLang="zh-CN" dirty="0">
                <a:cs typeface="Arial" panose="020B0604020202020204" pitchFamily="34" charset="0"/>
              </a:rPr>
              <a:t>			   = 3567 in base 10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790338E-B7A8-48D0-8314-CD89097193D6}"/>
              </a:ext>
            </a:extLst>
          </p:cNvPr>
          <p:cNvSpPr txBox="1"/>
          <p:nvPr/>
        </p:nvSpPr>
        <p:spPr>
          <a:xfrm>
            <a:off x="6009067" y="5280246"/>
            <a:ext cx="4726710" cy="369332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prstClr val="black"/>
                </a:solidFill>
                <a:latin typeface="Lucida Console" panose="020B0609040504020204" pitchFamily="49" charset="0"/>
              </a:rPr>
              <a:t>Hex DEF, Oct 6757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CDFECE1-C2B8-4DAD-B6B6-945D374F3566}"/>
              </a:ext>
            </a:extLst>
          </p:cNvPr>
          <p:cNvSpPr txBox="1"/>
          <p:nvPr/>
        </p:nvSpPr>
        <p:spPr>
          <a:xfrm>
            <a:off x="5870522" y="5866100"/>
            <a:ext cx="51443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</a:rPr>
              <a:t>为什么我们不能用 “</a:t>
            </a:r>
            <a:r>
              <a:rPr lang="en-US" altLang="zh-CN" sz="2000" dirty="0">
                <a:solidFill>
                  <a:srgbClr val="FF0000"/>
                </a:solidFill>
              </a:rPr>
              <a:t>%b</a:t>
            </a:r>
            <a:r>
              <a:rPr lang="zh-CN" altLang="en-US" sz="2000" dirty="0">
                <a:solidFill>
                  <a:srgbClr val="FF0000"/>
                </a:solidFill>
              </a:rPr>
              <a:t>” 直接打印出二进制？</a:t>
            </a:r>
          </a:p>
        </p:txBody>
      </p:sp>
    </p:spTree>
    <p:extLst>
      <p:ext uri="{BB962C8B-B14F-4D97-AF65-F5344CB8AC3E}">
        <p14:creationId xmlns:p14="http://schemas.microsoft.com/office/powerpoint/2010/main" val="1670387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bldLvl="0" animBg="1"/>
      <p:bldP spid="3" grpId="0" animBg="1"/>
      <p:bldP spid="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二进制和十六进制与八进制的关系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graphicFrame>
        <p:nvGraphicFramePr>
          <p:cNvPr id="8" name="Group 86">
            <a:extLst>
              <a:ext uri="{FF2B5EF4-FFF2-40B4-BE49-F238E27FC236}">
                <a16:creationId xmlns:a16="http://schemas.microsoft.com/office/drawing/2014/main" id="{BE54A98E-99BB-4FA0-8740-24A49BC571DE}"/>
              </a:ext>
            </a:extLst>
          </p:cNvPr>
          <p:cNvGraphicFramePr>
            <a:graphicFrameLocks noGrp="1"/>
          </p:cNvGraphicFramePr>
          <p:nvPr/>
        </p:nvGraphicFramePr>
        <p:xfrm>
          <a:off x="2529755" y="2055089"/>
          <a:ext cx="3657600" cy="3565818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1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Binary</a:t>
                      </a:r>
                    </a:p>
                  </a:txBody>
                  <a:tcPr marT="45701" marB="4570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Octal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Hexa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1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0000</a:t>
                      </a:r>
                    </a:p>
                  </a:txBody>
                  <a:tcPr marT="45701" marB="4570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1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0001</a:t>
                      </a:r>
                    </a:p>
                  </a:txBody>
                  <a:tcPr marT="45701" marB="4570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1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0010</a:t>
                      </a:r>
                    </a:p>
                  </a:txBody>
                  <a:tcPr marT="45701" marB="4570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2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2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1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0011</a:t>
                      </a:r>
                    </a:p>
                  </a:txBody>
                  <a:tcPr marT="45701" marB="4570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3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3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1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0100</a:t>
                      </a:r>
                    </a:p>
                  </a:txBody>
                  <a:tcPr marT="45701" marB="4570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4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4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1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0101</a:t>
                      </a:r>
                    </a:p>
                  </a:txBody>
                  <a:tcPr marT="45701" marB="4570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5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5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1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0110</a:t>
                      </a:r>
                    </a:p>
                  </a:txBody>
                  <a:tcPr marT="45701" marB="4570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6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6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61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0111</a:t>
                      </a:r>
                    </a:p>
                  </a:txBody>
                  <a:tcPr marT="45701" marB="4570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7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7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0" name="Group 86">
            <a:extLst>
              <a:ext uri="{FF2B5EF4-FFF2-40B4-BE49-F238E27FC236}">
                <a16:creationId xmlns:a16="http://schemas.microsoft.com/office/drawing/2014/main" id="{39AD0AA6-9F29-4EA0-B88B-A45D61648929}"/>
              </a:ext>
            </a:extLst>
          </p:cNvPr>
          <p:cNvGraphicFramePr>
            <a:graphicFrameLocks noGrp="1"/>
          </p:cNvGraphicFramePr>
          <p:nvPr/>
        </p:nvGraphicFramePr>
        <p:xfrm>
          <a:off x="6741392" y="2059852"/>
          <a:ext cx="3657600" cy="3595687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Binary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Octal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Hexa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1000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8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4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1001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9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1010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A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1011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B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1100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C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1101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D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1110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E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6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1111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F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" name="矩形 1">
            <a:extLst>
              <a:ext uri="{FF2B5EF4-FFF2-40B4-BE49-F238E27FC236}">
                <a16:creationId xmlns:a16="http://schemas.microsoft.com/office/drawing/2014/main" id="{01CE44CE-9ADC-4E75-974F-85149D321C24}"/>
              </a:ext>
            </a:extLst>
          </p:cNvPr>
          <p:cNvSpPr/>
          <p:nvPr/>
        </p:nvSpPr>
        <p:spPr>
          <a:xfrm>
            <a:off x="6751839" y="5655539"/>
            <a:ext cx="364715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1" cap="none" spc="0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背，熟记！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09C51C0-DEE7-4D97-B7B6-D4F46C0D7AF9}"/>
              </a:ext>
            </a:extLst>
          </p:cNvPr>
          <p:cNvSpPr txBox="1"/>
          <p:nvPr/>
        </p:nvSpPr>
        <p:spPr>
          <a:xfrm>
            <a:off x="2281517" y="5655539"/>
            <a:ext cx="445987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Consolas" panose="020B0609020204030204" pitchFamily="49" charset="0"/>
              </a:rPr>
              <a:t>（</a:t>
            </a:r>
            <a:r>
              <a:rPr lang="en-US" altLang="zh-CN" sz="2000" dirty="0">
                <a:latin typeface="Consolas" panose="020B0609020204030204" pitchFamily="49" charset="0"/>
              </a:rPr>
              <a:t>DEF</a:t>
            </a:r>
            <a:r>
              <a:rPr lang="zh-CN" altLang="en-US" sz="2000" dirty="0">
                <a:latin typeface="Consolas" panose="020B0609020204030204" pitchFamily="49" charset="0"/>
              </a:rPr>
              <a:t>）</a:t>
            </a:r>
            <a:r>
              <a:rPr lang="en-US" altLang="zh-CN" sz="2000" baseline="-25000" dirty="0">
                <a:latin typeface="Consolas" panose="020B0609020204030204" pitchFamily="49" charset="0"/>
              </a:rPr>
              <a:t>16</a:t>
            </a:r>
            <a:r>
              <a:rPr lang="en-US" altLang="zh-CN" sz="2000" dirty="0">
                <a:latin typeface="Consolas" panose="020B0609020204030204" pitchFamily="49" charset="0"/>
              </a:rPr>
              <a:t> =</a:t>
            </a:r>
            <a:r>
              <a:rPr lang="zh-CN" altLang="en-US" sz="2000" dirty="0">
                <a:latin typeface="Consolas" panose="020B0609020204030204" pitchFamily="49" charset="0"/>
              </a:rPr>
              <a:t>（</a:t>
            </a:r>
            <a:r>
              <a:rPr lang="en-US" altLang="zh-CN" sz="2000" dirty="0">
                <a:latin typeface="Consolas" panose="020B0609020204030204" pitchFamily="49" charset="0"/>
              </a:rPr>
              <a:t>1101 1110 1111</a:t>
            </a:r>
            <a:r>
              <a:rPr lang="zh-CN" altLang="en-US" sz="2000" dirty="0">
                <a:latin typeface="Consolas" panose="020B0609020204030204" pitchFamily="49" charset="0"/>
              </a:rPr>
              <a:t>）</a:t>
            </a:r>
            <a:r>
              <a:rPr lang="en-US" altLang="zh-CN" sz="2000" baseline="-25000" dirty="0">
                <a:latin typeface="Consolas" panose="020B0609020204030204" pitchFamily="49" charset="0"/>
              </a:rPr>
              <a:t>2</a:t>
            </a:r>
          </a:p>
          <a:p>
            <a:r>
              <a:rPr lang="en-US" altLang="zh-CN" sz="2000" dirty="0">
                <a:latin typeface="Consolas" panose="020B0609020204030204" pitchFamily="49" charset="0"/>
              </a:rPr>
              <a:t>         =</a:t>
            </a:r>
            <a:r>
              <a:rPr lang="zh-CN" altLang="en-US" sz="2000" dirty="0">
                <a:latin typeface="Consolas" panose="020B0609020204030204" pitchFamily="49" charset="0"/>
              </a:rPr>
              <a:t>（</a:t>
            </a:r>
            <a:r>
              <a:rPr lang="en-US" altLang="zh-CN" sz="2000" dirty="0">
                <a:latin typeface="Consolas" panose="020B0609020204030204" pitchFamily="49" charset="0"/>
              </a:rPr>
              <a:t>110 111 101 111</a:t>
            </a:r>
            <a:r>
              <a:rPr lang="zh-CN" altLang="en-US" sz="2000" dirty="0">
                <a:latin typeface="Consolas" panose="020B0609020204030204" pitchFamily="49" charset="0"/>
              </a:rPr>
              <a:t>）</a:t>
            </a:r>
            <a:r>
              <a:rPr lang="en-US" altLang="zh-CN" sz="2000" baseline="-25000" dirty="0">
                <a:latin typeface="Consolas" panose="020B0609020204030204" pitchFamily="49" charset="0"/>
              </a:rPr>
              <a:t>2</a:t>
            </a:r>
          </a:p>
          <a:p>
            <a:r>
              <a:rPr lang="en-US" altLang="zh-CN" sz="2000" dirty="0">
                <a:latin typeface="Consolas" panose="020B0609020204030204" pitchFamily="49" charset="0"/>
              </a:rPr>
              <a:t>         =</a:t>
            </a:r>
            <a:r>
              <a:rPr lang="zh-CN" altLang="en-US" sz="2000" dirty="0">
                <a:latin typeface="Consolas" panose="020B0609020204030204" pitchFamily="49" charset="0"/>
              </a:rPr>
              <a:t>（</a:t>
            </a:r>
            <a:r>
              <a:rPr lang="en-US" altLang="zh-CN" sz="2000" dirty="0">
                <a:latin typeface="Consolas" panose="020B0609020204030204" pitchFamily="49" charset="0"/>
              </a:rPr>
              <a:t>6757</a:t>
            </a:r>
            <a:r>
              <a:rPr lang="zh-CN" altLang="en-US" sz="2000" dirty="0">
                <a:latin typeface="Consolas" panose="020B0609020204030204" pitchFamily="49" charset="0"/>
              </a:rPr>
              <a:t>）</a:t>
            </a:r>
            <a:r>
              <a:rPr lang="en-US" altLang="zh-CN" sz="2000" baseline="-25000" dirty="0">
                <a:latin typeface="Consolas" panose="020B0609020204030204" pitchFamily="49" charset="0"/>
              </a:rPr>
              <a:t>8</a:t>
            </a:r>
            <a:endParaRPr lang="zh-CN" altLang="en-US" sz="2000" baseline="-250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6990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bldLvl="0" animBg="1"/>
      <p:bldP spid="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练习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10" name="内容占位符 3">
            <a:extLst>
              <a:ext uri="{FF2B5EF4-FFF2-40B4-BE49-F238E27FC236}">
                <a16:creationId xmlns:a16="http://schemas.microsoft.com/office/drawing/2014/main" id="{D629388B-A0FA-4935-A200-9BF72A71C0AB}"/>
              </a:ext>
            </a:extLst>
          </p:cNvPr>
          <p:cNvSpPr>
            <a:spLocks noGrp="1"/>
          </p:cNvSpPr>
          <p:nvPr/>
        </p:nvSpPr>
        <p:spPr>
          <a:xfrm>
            <a:off x="838200" y="1815465"/>
            <a:ext cx="10236200" cy="43516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70000"/>
              </a:lnSpc>
              <a:spcBef>
                <a:spcPts val="6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000" dirty="0"/>
              <a:t>计算以下数的二进制值、八进制，十六进制的值</a:t>
            </a:r>
            <a:endParaRPr lang="en-US" altLang="zh-CN" sz="2000" dirty="0"/>
          </a:p>
          <a:p>
            <a:pPr>
              <a:lnSpc>
                <a:spcPct val="120000"/>
              </a:lnSpc>
            </a:pPr>
            <a:r>
              <a:rPr lang="en-US" altLang="zh-CN" sz="2000" dirty="0"/>
              <a:t>215</a:t>
            </a:r>
          </a:p>
        </p:txBody>
      </p:sp>
    </p:spTree>
    <p:extLst>
      <p:ext uri="{BB962C8B-B14F-4D97-AF65-F5344CB8AC3E}">
        <p14:creationId xmlns:p14="http://schemas.microsoft.com/office/powerpoint/2010/main" val="3403062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bldLvl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将十六进制与八进制数赋值给变量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54E6F81D-531F-4E4F-8019-8D3109C67B4C}"/>
              </a:ext>
            </a:extLst>
          </p:cNvPr>
          <p:cNvSpPr txBox="1"/>
          <p:nvPr/>
        </p:nvSpPr>
        <p:spPr>
          <a:xfrm>
            <a:off x="1193802" y="1599750"/>
            <a:ext cx="6433126" cy="2862322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/*hex-oct-int*/</a:t>
            </a:r>
          </a:p>
          <a:p>
            <a:r>
              <a:rPr lang="en-US" altLang="zh-C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stdio.h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{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0xDEF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06757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 in Decimal is 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%u</a:t>
            </a:r>
            <a:r>
              <a:rPr lang="en-US" altLang="zh-CN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"j in Decimal is 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%u</a:t>
            </a:r>
            <a:r>
              <a:rPr lang="en-US" altLang="zh-CN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lang="en-US" altLang="zh-CN" b="0" dirty="0" err="1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zh-C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altLang="zh-C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8F67DF3A-FDBA-4706-BA93-6A6077F0904B}"/>
              </a:ext>
            </a:extLst>
          </p:cNvPr>
          <p:cNvGrpSpPr/>
          <p:nvPr/>
        </p:nvGrpSpPr>
        <p:grpSpPr>
          <a:xfrm>
            <a:off x="4682836" y="2062540"/>
            <a:ext cx="7270731" cy="1110150"/>
            <a:chOff x="4682836" y="2062540"/>
            <a:chExt cx="7270731" cy="1110150"/>
          </a:xfrm>
        </p:grpSpPr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0009D7F0-DA73-4F41-9492-AE55401303BC}"/>
                </a:ext>
              </a:extLst>
            </p:cNvPr>
            <p:cNvSpPr txBox="1"/>
            <p:nvPr/>
          </p:nvSpPr>
          <p:spPr>
            <a:xfrm>
              <a:off x="6902246" y="2062540"/>
              <a:ext cx="5051321" cy="36933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b="0" dirty="0">
                  <a:solidFill>
                    <a:srgbClr val="098658"/>
                  </a:solidFill>
                  <a:effectLst/>
                  <a:latin typeface="Consolas" panose="020B0609020204030204" pitchFamily="49" charset="0"/>
                </a:rPr>
                <a:t>0x</a:t>
              </a:r>
              <a:r>
                <a:rPr lang="en-US" altLang="zh-CN" b="0" dirty="0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zh-CN" altLang="en-US" b="0" dirty="0">
                  <a:effectLst/>
                  <a:latin typeface="Consolas" panose="020B0609020204030204" pitchFamily="49" charset="0"/>
                </a:rPr>
                <a:t>开头表示是 </a:t>
              </a:r>
              <a:r>
                <a:rPr lang="zh-CN" altLang="en-US" dirty="0">
                  <a:latin typeface="Consolas" panose="020B0609020204030204" pitchFamily="49" charset="0"/>
                </a:rPr>
                <a:t>十六</a:t>
              </a:r>
              <a:r>
                <a:rPr lang="zh-CN" altLang="en-US" b="0" dirty="0">
                  <a:effectLst/>
                  <a:latin typeface="Consolas" panose="020B0609020204030204" pitchFamily="49" charset="0"/>
                </a:rPr>
                <a:t>进制的数值</a:t>
              </a:r>
              <a:endParaRPr lang="zh-CN" altLang="en-US" dirty="0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30400001-B209-4178-8037-36C1734E98EC}"/>
                </a:ext>
              </a:extLst>
            </p:cNvPr>
            <p:cNvSpPr txBox="1"/>
            <p:nvPr/>
          </p:nvSpPr>
          <p:spPr>
            <a:xfrm>
              <a:off x="6902246" y="2704467"/>
              <a:ext cx="5051321" cy="36933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b="0" dirty="0">
                  <a:solidFill>
                    <a:srgbClr val="098658"/>
                  </a:solidFill>
                  <a:effectLst/>
                  <a:latin typeface="Consolas" panose="020B0609020204030204" pitchFamily="49" charset="0"/>
                </a:rPr>
                <a:t>0</a:t>
              </a:r>
              <a:r>
                <a:rPr lang="en-US" altLang="zh-CN" b="0" dirty="0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zh-CN" altLang="en-US" b="0" dirty="0">
                  <a:effectLst/>
                  <a:latin typeface="Consolas" panose="020B0609020204030204" pitchFamily="49" charset="0"/>
                </a:rPr>
                <a:t>开头表示是 </a:t>
              </a:r>
              <a:r>
                <a:rPr lang="zh-CN" altLang="en-US" dirty="0">
                  <a:latin typeface="Consolas" panose="020B0609020204030204" pitchFamily="49" charset="0"/>
                </a:rPr>
                <a:t>八</a:t>
              </a:r>
              <a:r>
                <a:rPr lang="zh-CN" altLang="en-US" b="0" dirty="0">
                  <a:effectLst/>
                  <a:latin typeface="Consolas" panose="020B0609020204030204" pitchFamily="49" charset="0"/>
                </a:rPr>
                <a:t>进制的数值</a:t>
              </a:r>
              <a:endParaRPr lang="zh-CN" altLang="en-US" dirty="0"/>
            </a:p>
          </p:txBody>
        </p: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2811B00C-4C85-4D1A-B637-89EC15DAD37B}"/>
                </a:ext>
              </a:extLst>
            </p:cNvPr>
            <p:cNvCxnSpPr>
              <a:cxnSpLocks/>
              <a:stCxn id="14" idx="1"/>
            </p:cNvCxnSpPr>
            <p:nvPr/>
          </p:nvCxnSpPr>
          <p:spPr>
            <a:xfrm flipH="1">
              <a:off x="4682836" y="2247206"/>
              <a:ext cx="2219410" cy="641927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811A107B-735E-4904-A74D-8E3959E14ED2}"/>
                </a:ext>
              </a:extLst>
            </p:cNvPr>
            <p:cNvCxnSpPr>
              <a:cxnSpLocks/>
              <a:stCxn id="15" idx="1"/>
            </p:cNvCxnSpPr>
            <p:nvPr/>
          </p:nvCxnSpPr>
          <p:spPr>
            <a:xfrm flipH="1">
              <a:off x="4682836" y="2889133"/>
              <a:ext cx="2219410" cy="283557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文本框 22">
            <a:extLst>
              <a:ext uri="{FF2B5EF4-FFF2-40B4-BE49-F238E27FC236}">
                <a16:creationId xmlns:a16="http://schemas.microsoft.com/office/drawing/2014/main" id="{31F8A243-3F66-4142-BB1D-1D08DE013E26}"/>
              </a:ext>
            </a:extLst>
          </p:cNvPr>
          <p:cNvSpPr txBox="1"/>
          <p:nvPr/>
        </p:nvSpPr>
        <p:spPr>
          <a:xfrm>
            <a:off x="1193802" y="5107279"/>
            <a:ext cx="4726710" cy="64633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CN" dirty="0">
                <a:solidFill>
                  <a:prstClr val="black"/>
                </a:solidFill>
                <a:latin typeface="Lucida Console" panose="020B0609040504020204" pitchFamily="49" charset="0"/>
              </a:rPr>
              <a:t> in Decimal is 3567</a:t>
            </a:r>
          </a:p>
          <a:p>
            <a:r>
              <a:rPr lang="en-US" altLang="zh-CN" dirty="0">
                <a:solidFill>
                  <a:prstClr val="black"/>
                </a:solidFill>
                <a:latin typeface="Lucida Console" panose="020B0609040504020204" pitchFamily="49" charset="0"/>
              </a:rPr>
              <a:t>j in Decimal is 3567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99A76E3-1552-412A-85FF-9D13964058E0}"/>
              </a:ext>
            </a:extLst>
          </p:cNvPr>
          <p:cNvSpPr txBox="1"/>
          <p:nvPr/>
        </p:nvSpPr>
        <p:spPr>
          <a:xfrm>
            <a:off x="1123031" y="5995427"/>
            <a:ext cx="44871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</a:rPr>
              <a:t>变量 </a:t>
            </a:r>
            <a:r>
              <a:rPr lang="en-US" altLang="zh-CN" sz="2000" dirty="0" err="1">
                <a:solidFill>
                  <a:srgbClr val="FF0000"/>
                </a:solidFill>
              </a:rPr>
              <a:t>i</a:t>
            </a:r>
            <a:r>
              <a:rPr lang="en-US" altLang="zh-CN" sz="2000" dirty="0">
                <a:solidFill>
                  <a:srgbClr val="FF0000"/>
                </a:solidFill>
              </a:rPr>
              <a:t> </a:t>
            </a:r>
            <a:r>
              <a:rPr lang="zh-CN" altLang="en-US" sz="2000" dirty="0">
                <a:solidFill>
                  <a:srgbClr val="FF0000"/>
                </a:solidFill>
              </a:rPr>
              <a:t>能保存多大的数值，任意大小？</a:t>
            </a:r>
          </a:p>
        </p:txBody>
      </p:sp>
    </p:spTree>
    <p:extLst>
      <p:ext uri="{BB962C8B-B14F-4D97-AF65-F5344CB8AC3E}">
        <p14:creationId xmlns:p14="http://schemas.microsoft.com/office/powerpoint/2010/main" val="1510713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bldLvl="0" animBg="1"/>
      <p:bldP spid="23" grpId="0" animBg="1"/>
      <p:bldP spid="2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字节（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Byte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）和无符号数据类型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12" name="内容占位符 3">
            <a:extLst>
              <a:ext uri="{FF2B5EF4-FFF2-40B4-BE49-F238E27FC236}">
                <a16:creationId xmlns:a16="http://schemas.microsoft.com/office/drawing/2014/main" id="{1F0C8908-8CED-45B6-83FF-876E7025D5FE}"/>
              </a:ext>
            </a:extLst>
          </p:cNvPr>
          <p:cNvSpPr>
            <a:spLocks noGrp="1"/>
          </p:cNvSpPr>
          <p:nvPr/>
        </p:nvSpPr>
        <p:spPr>
          <a:xfrm>
            <a:off x="838201" y="1815465"/>
            <a:ext cx="4640826" cy="4351655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70000"/>
              </a:lnSpc>
              <a:spcBef>
                <a:spcPts val="6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b="1" dirty="0"/>
              <a:t>字节</a:t>
            </a:r>
            <a:r>
              <a:rPr lang="zh-CN" altLang="en-US" dirty="0"/>
              <a:t>（</a:t>
            </a:r>
            <a:r>
              <a:rPr lang="en-US" altLang="zh-CN" dirty="0"/>
              <a:t>byte/unsigned char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en-US" altLang="zh-CN" dirty="0">
                <a:solidFill>
                  <a:schemeClr val="tx1"/>
                </a:solidFill>
              </a:rPr>
              <a:t>8</a:t>
            </a:r>
            <a:r>
              <a:rPr lang="zh-CN" altLang="en-US" dirty="0">
                <a:solidFill>
                  <a:schemeClr val="tx1"/>
                </a:solidFill>
              </a:rPr>
              <a:t>位二进制数</a:t>
            </a:r>
            <a:endParaRPr lang="en-US" altLang="zh-CN" dirty="0">
              <a:solidFill>
                <a:schemeClr val="tx1"/>
              </a:solidFill>
            </a:endParaRPr>
          </a:p>
          <a:p>
            <a:pPr lvl="1">
              <a:lnSpc>
                <a:spcPct val="120000"/>
              </a:lnSpc>
            </a:pPr>
            <a:r>
              <a:rPr lang="zh-CN" altLang="en-US" dirty="0"/>
              <a:t>表示范围 </a:t>
            </a:r>
            <a:r>
              <a:rPr lang="en-US" altLang="zh-CN" dirty="0"/>
              <a:t>0 ..</a:t>
            </a:r>
            <a:r>
              <a:rPr lang="zh-CN" altLang="en-US" dirty="0"/>
              <a:t> </a:t>
            </a:r>
            <a:r>
              <a:rPr lang="en-US" altLang="zh-CN" dirty="0"/>
              <a:t>255</a:t>
            </a:r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en-US" altLang="zh-CN" baseline="30000" dirty="0"/>
              <a:t>8</a:t>
            </a:r>
            <a:r>
              <a:rPr lang="zh-CN" altLang="en-US" dirty="0"/>
              <a:t>）</a:t>
            </a:r>
            <a:endParaRPr lang="en-US" altLang="zh-CN" dirty="0"/>
          </a:p>
          <a:p>
            <a:pPr>
              <a:lnSpc>
                <a:spcPct val="120000"/>
              </a:lnSpc>
            </a:pPr>
            <a:r>
              <a:rPr lang="zh-CN" altLang="en-US" b="1" dirty="0"/>
              <a:t>字</a:t>
            </a:r>
            <a:r>
              <a:rPr lang="zh-CN" altLang="en-US" dirty="0"/>
              <a:t>（</a:t>
            </a:r>
            <a:r>
              <a:rPr lang="en-US" altLang="zh-CN" dirty="0"/>
              <a:t>word/ unsigned short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en-US" altLang="zh-CN" dirty="0"/>
              <a:t>2</a:t>
            </a:r>
            <a:r>
              <a:rPr lang="zh-CN" altLang="en-US" dirty="0"/>
              <a:t>个字节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zh-CN" altLang="en-US" dirty="0"/>
              <a:t>表示范围 </a:t>
            </a:r>
            <a:r>
              <a:rPr lang="en-US" altLang="zh-CN" dirty="0"/>
              <a:t>0..65535</a:t>
            </a:r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en-US" altLang="zh-CN" baseline="30000" dirty="0"/>
              <a:t>16</a:t>
            </a:r>
            <a:r>
              <a:rPr lang="zh-CN" altLang="en-US" dirty="0"/>
              <a:t>）</a:t>
            </a:r>
            <a:endParaRPr lang="en-US" altLang="zh-CN" dirty="0"/>
          </a:p>
          <a:p>
            <a:pPr>
              <a:lnSpc>
                <a:spcPct val="120000"/>
              </a:lnSpc>
            </a:pPr>
            <a:r>
              <a:rPr lang="zh-CN" altLang="en-US" dirty="0"/>
              <a:t>无符号整数（</a:t>
            </a:r>
            <a:r>
              <a:rPr lang="en-US" altLang="zh-CN" dirty="0"/>
              <a:t>unsigned integer</a:t>
            </a:r>
            <a:r>
              <a:rPr lang="zh-CN" altLang="en-US" dirty="0"/>
              <a:t>）</a:t>
            </a:r>
            <a:endParaRPr lang="en-US" altLang="zh-CN" dirty="0"/>
          </a:p>
          <a:p>
            <a:pPr>
              <a:lnSpc>
                <a:spcPct val="120000"/>
              </a:lnSpc>
            </a:pPr>
            <a:r>
              <a:rPr lang="zh-CN" altLang="en-US" dirty="0"/>
              <a:t>无符号长整数（</a:t>
            </a:r>
            <a:r>
              <a:rPr lang="en-US" altLang="zh-CN" dirty="0"/>
              <a:t>unsigned long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en-US" altLang="zh-CN" dirty="0"/>
              <a:t>4</a:t>
            </a:r>
            <a:r>
              <a:rPr lang="zh-CN" altLang="en-US" dirty="0"/>
              <a:t>个字节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zh-CN" altLang="en-US" dirty="0"/>
              <a:t>表示范围 </a:t>
            </a:r>
            <a:r>
              <a:rPr lang="en-US" altLang="zh-CN" dirty="0"/>
              <a:t>0.. 4294967295</a:t>
            </a:r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en-US" altLang="zh-CN" baseline="30000" dirty="0"/>
              <a:t>32</a:t>
            </a:r>
            <a:r>
              <a:rPr lang="zh-CN" altLang="en-US" dirty="0"/>
              <a:t>）</a:t>
            </a:r>
            <a:endParaRPr lang="en-US" altLang="zh-CN" dirty="0"/>
          </a:p>
          <a:p>
            <a:pPr marL="457200" lvl="1" indent="0">
              <a:lnSpc>
                <a:spcPct val="120000"/>
              </a:lnSpc>
              <a:buNone/>
            </a:pP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4ACF6EB-612A-42F2-B28B-CAE68D2292C9}"/>
              </a:ext>
            </a:extLst>
          </p:cNvPr>
          <p:cNvSpPr txBox="1"/>
          <p:nvPr/>
        </p:nvSpPr>
        <p:spPr>
          <a:xfrm>
            <a:off x="5654778" y="1687085"/>
            <a:ext cx="5841589" cy="5078313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/*byte </a:t>
            </a:r>
            <a:r>
              <a:rPr lang="en-US" altLang="zh-CN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maxmum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*/</a:t>
            </a:r>
          </a:p>
          <a:p>
            <a:r>
              <a:rPr lang="en-US" altLang="zh-C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stdio.h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#define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 UINT_MAX 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typedef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byte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typedef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short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word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{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altLang="zh-CN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byte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UINT_MAX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altLang="zh-CN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word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w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UINT_MAX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UINT_MAX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UINT_MAX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Maxmum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 byte is 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%X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 , 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%u</a:t>
            </a:r>
            <a:r>
              <a:rPr lang="en-US" altLang="zh-CN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Maxmum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 word is 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%X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 , 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%u</a:t>
            </a:r>
            <a:r>
              <a:rPr lang="en-US" altLang="zh-CN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w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w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Maxmum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 int is 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%X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 , 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%u</a:t>
            </a:r>
            <a:r>
              <a:rPr lang="en-US" altLang="zh-CN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Maxmum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 long is 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%X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 , 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%u</a:t>
            </a:r>
            <a:r>
              <a:rPr lang="en-US" altLang="zh-CN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altLang="zh-C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436FC38-893E-418B-AA39-99431644CC09}"/>
              </a:ext>
            </a:extLst>
          </p:cNvPr>
          <p:cNvSpPr txBox="1"/>
          <p:nvPr/>
        </p:nvSpPr>
        <p:spPr>
          <a:xfrm>
            <a:off x="649779" y="6374674"/>
            <a:ext cx="63466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</a:rPr>
              <a:t>为什么可以用</a:t>
            </a:r>
            <a:r>
              <a:rPr lang="en-US" altLang="zh-CN" sz="2000" dirty="0">
                <a:solidFill>
                  <a:srgbClr val="FF0000"/>
                </a:solidFill>
              </a:rPr>
              <a:t>-1</a:t>
            </a:r>
            <a:r>
              <a:rPr lang="zh-CN" altLang="en-US" sz="2000" dirty="0">
                <a:solidFill>
                  <a:srgbClr val="FF0000"/>
                </a:solidFill>
              </a:rPr>
              <a:t>表示不同类型无符号整数的最大数值？</a:t>
            </a:r>
          </a:p>
        </p:txBody>
      </p:sp>
    </p:spTree>
    <p:extLst>
      <p:ext uri="{BB962C8B-B14F-4D97-AF65-F5344CB8AC3E}">
        <p14:creationId xmlns:p14="http://schemas.microsoft.com/office/powerpoint/2010/main" val="3849896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bldLvl="0" animBg="1"/>
      <p:bldP spid="1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负数（</a:t>
            </a:r>
            <a:r>
              <a:rPr lang="en-US" altLang="zh-CN" sz="2800" b="1" kern="0" dirty="0" err="1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Negtive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）的表示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内容占位符 3">
                <a:extLst>
                  <a:ext uri="{FF2B5EF4-FFF2-40B4-BE49-F238E27FC236}">
                    <a16:creationId xmlns:a16="http://schemas.microsoft.com/office/drawing/2014/main" id="{1F0C8908-8CED-45B6-83FF-876E7025D5F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838201" y="1815465"/>
                <a:ext cx="8050618" cy="435165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92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rgbClr val="C00000"/>
                  </a:buClr>
                  <a:buSzPct val="120000"/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FandolSong" panose="00000500000000000000" charset="-122"/>
                    <a:ea typeface="FandolSong" panose="00000500000000000000" charset="-122"/>
                    <a:cs typeface="+mn-cs"/>
                  </a:defRPr>
                </a:lvl1pPr>
                <a:lvl2pPr marL="685800" indent="-228600" algn="just" defTabSz="914400" rtl="0" eaLnBrk="1" latinLnBrk="0" hangingPunct="1">
                  <a:lnSpc>
                    <a:spcPct val="70000"/>
                  </a:lnSpc>
                  <a:spcBef>
                    <a:spcPts val="600"/>
                  </a:spcBef>
                  <a:buClr>
                    <a:srgbClr val="C00000"/>
                  </a:buClr>
                  <a:buSzPct val="120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FandolSong" panose="00000500000000000000" charset="-122"/>
                    <a:ea typeface="FandolSong" panose="00000500000000000000" charset="-122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C00000"/>
                  </a:buClr>
                  <a:buSzPct val="120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FandolSong" panose="00000500000000000000" charset="-122"/>
                    <a:ea typeface="FandolSong" panose="00000500000000000000" charset="-122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C00000"/>
                  </a:buClr>
                  <a:buSzPct val="120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FandolSong" panose="00000500000000000000" charset="-122"/>
                    <a:ea typeface="FandolSong" panose="00000500000000000000" charset="-122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C00000"/>
                  </a:buClr>
                  <a:buSzPct val="120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FandolSong" panose="00000500000000000000" charset="-122"/>
                    <a:ea typeface="FandolSong" panose="00000500000000000000" charset="-122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dirty="0"/>
                  <a:t>补（</a:t>
                </a:r>
                <a:r>
                  <a:rPr lang="en-US" altLang="zh-CN" dirty="0"/>
                  <a:t>Complement </a:t>
                </a:r>
                <a:r>
                  <a:rPr lang="zh-CN" altLang="en-US" dirty="0"/>
                  <a:t>）</a:t>
                </a:r>
                <a:endParaRPr lang="en-US" altLang="zh-CN" dirty="0"/>
              </a:p>
              <a:p>
                <a:pPr lvl="1">
                  <a:lnSpc>
                    <a:spcPct val="120000"/>
                  </a:lnSpc>
                </a:pPr>
                <a:r>
                  <a:rPr lang="en-US" altLang="zh-CN" dirty="0" err="1"/>
                  <a:t>a+b</a:t>
                </a:r>
                <a:r>
                  <a:rPr lang="en-US" altLang="zh-CN" dirty="0"/>
                  <a:t> = </a:t>
                </a:r>
                <a:r>
                  <a:rPr lang="zh-CN" altLang="en-US" dirty="0"/>
                  <a:t>常数，则称 </a:t>
                </a:r>
                <a:r>
                  <a:rPr lang="en-US" altLang="zh-CN" dirty="0"/>
                  <a:t>a </a:t>
                </a:r>
                <a:r>
                  <a:rPr lang="zh-CN" altLang="en-US" dirty="0"/>
                  <a:t>是 </a:t>
                </a:r>
                <a:r>
                  <a:rPr lang="en-US" altLang="zh-CN" dirty="0"/>
                  <a:t>b </a:t>
                </a:r>
                <a:r>
                  <a:rPr lang="zh-CN" altLang="en-US" dirty="0"/>
                  <a:t>的补，</a:t>
                </a:r>
                <a:r>
                  <a:rPr lang="en-US" altLang="zh-CN" dirty="0"/>
                  <a:t>b </a:t>
                </a:r>
                <a:r>
                  <a:rPr lang="zh-CN" altLang="en-US" dirty="0"/>
                  <a:t>是 </a:t>
                </a:r>
                <a:r>
                  <a:rPr lang="en-US" altLang="zh-CN" dirty="0"/>
                  <a:t>a </a:t>
                </a:r>
                <a:r>
                  <a:rPr lang="zh-CN" altLang="en-US" dirty="0"/>
                  <a:t>的补</a:t>
                </a:r>
                <a:endParaRPr lang="en-US" altLang="zh-CN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20000"/>
                  </a:lnSpc>
                </a:pPr>
                <a:r>
                  <a:rPr lang="zh-CN" altLang="en-US" dirty="0">
                    <a:solidFill>
                      <a:srgbClr val="C00000"/>
                    </a:solidFill>
                  </a:rPr>
                  <a:t>二进制的补</a:t>
                </a:r>
                <a:endParaRPr lang="en-US" altLang="zh-CN" dirty="0">
                  <a:solidFill>
                    <a:srgbClr val="C00000"/>
                  </a:solidFill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𝑁𝑒𝑔𝑡𝑖𝑣𝑒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US" altLang="zh-CN" dirty="0"/>
              </a:p>
              <a:p>
                <a:pPr marL="457200" lvl="1" indent="0">
                  <a:lnSpc>
                    <a:spcPct val="120000"/>
                  </a:lnSpc>
                  <a:buNone/>
                </a:pPr>
                <a:r>
                  <a:rPr lang="zh-CN" altLang="en-US" dirty="0"/>
                  <a:t>其中</a:t>
                </a:r>
                <a:r>
                  <a:rPr lang="en-US" altLang="zh-CN" dirty="0"/>
                  <a:t> </a:t>
                </a:r>
                <a:r>
                  <a:rPr lang="en-US" altLang="zh-CN" b="1" i="1" dirty="0">
                    <a:solidFill>
                      <a:srgbClr val="C00000"/>
                    </a:solidFill>
                  </a:rPr>
                  <a:t>k</a:t>
                </a:r>
                <a:r>
                  <a:rPr lang="en-US" altLang="zh-CN" b="1" dirty="0">
                    <a:solidFill>
                      <a:srgbClr val="C00000"/>
                    </a:solidFill>
                  </a:rPr>
                  <a:t> </a:t>
                </a:r>
                <a:r>
                  <a:rPr lang="zh-CN" altLang="en-US" dirty="0"/>
                  <a:t>是位数</a:t>
                </a:r>
                <a:endParaRPr lang="en-US" altLang="zh-CN" dirty="0"/>
              </a:p>
              <a:p>
                <a:pPr>
                  <a:lnSpc>
                    <a:spcPct val="120000"/>
                  </a:lnSpc>
                </a:pPr>
                <a:r>
                  <a:rPr lang="zh-CN" altLang="en-US" dirty="0"/>
                  <a:t>例如： </a:t>
                </a:r>
                <a:r>
                  <a:rPr lang="en-US" altLang="zh-CN" dirty="0"/>
                  <a:t>byte </a:t>
                </a:r>
                <a:r>
                  <a:rPr lang="zh-CN" altLang="en-US" dirty="0"/>
                  <a:t>的数</a:t>
                </a:r>
                <a:endParaRPr lang="en-US" altLang="zh-CN" dirty="0"/>
              </a:p>
              <a:p>
                <a:pPr lvl="1">
                  <a:lnSpc>
                    <a:spcPct val="120000"/>
                  </a:lnSpc>
                </a:pPr>
                <a:r>
                  <a:rPr lang="zh-CN" altLang="en-US" dirty="0"/>
                  <a:t>负数 </a:t>
                </a:r>
                <a:r>
                  <a:rPr lang="en-US" altLang="zh-CN" dirty="0"/>
                  <a:t>+ </a:t>
                </a:r>
                <a:r>
                  <a:rPr lang="zh-CN" altLang="en-US" dirty="0"/>
                  <a:t>对应的正数 </a:t>
                </a:r>
                <a:r>
                  <a:rPr lang="en-US" altLang="zh-CN" dirty="0"/>
                  <a:t>= 256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zh-CN" altLang="en-US" dirty="0"/>
                  <a:t>负数第一位是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正数是</a:t>
                </a:r>
                <a:r>
                  <a:rPr lang="en-US" altLang="zh-CN" dirty="0"/>
                  <a:t>0</a:t>
                </a:r>
                <a:r>
                  <a:rPr lang="zh-CN" altLang="en-US" dirty="0"/>
                  <a:t>，所以它称为</a:t>
                </a:r>
                <a:r>
                  <a:rPr lang="zh-CN" altLang="en-US" b="1" dirty="0">
                    <a:solidFill>
                      <a:srgbClr val="C00000"/>
                    </a:solidFill>
                  </a:rPr>
                  <a:t>符号位</a:t>
                </a:r>
                <a:endParaRPr lang="en-US" altLang="zh-CN" b="1" dirty="0">
                  <a:solidFill>
                    <a:srgbClr val="C00000"/>
                  </a:solidFill>
                </a:endParaRPr>
              </a:p>
              <a:p>
                <a:pPr lvl="1">
                  <a:lnSpc>
                    <a:spcPct val="120000"/>
                  </a:lnSpc>
                </a:pPr>
                <a:r>
                  <a:rPr lang="en-US" altLang="zh-CN" dirty="0"/>
                  <a:t>-1 </a:t>
                </a:r>
                <a:r>
                  <a:rPr lang="zh-CN" altLang="en-US" dirty="0"/>
                  <a:t>即是从第</a:t>
                </a:r>
                <a:r>
                  <a:rPr lang="en-US" altLang="zh-CN" dirty="0"/>
                  <a:t>k</a:t>
                </a:r>
                <a:r>
                  <a:rPr lang="zh-CN" altLang="en-US" dirty="0"/>
                  <a:t>位借位减一，一定是全 </a:t>
                </a:r>
                <a:r>
                  <a:rPr lang="en-US" altLang="zh-CN" dirty="0"/>
                  <a:t>111…111</a:t>
                </a:r>
              </a:p>
              <a:p>
                <a:pPr>
                  <a:lnSpc>
                    <a:spcPct val="120000"/>
                  </a:lnSpc>
                </a:pPr>
                <a:endParaRPr lang="en-US" altLang="zh-CN" dirty="0"/>
              </a:p>
              <a:p>
                <a:pPr marL="457200" lvl="1" indent="0">
                  <a:lnSpc>
                    <a:spcPct val="120000"/>
                  </a:lnSpc>
                  <a:buNone/>
                </a:pP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内容占位符 3">
                <a:extLst>
                  <a:ext uri="{FF2B5EF4-FFF2-40B4-BE49-F238E27FC236}">
                    <a16:creationId xmlns:a16="http://schemas.microsoft.com/office/drawing/2014/main" id="{1F0C8908-8CED-45B6-83FF-876E7025D5F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1" y="1815465"/>
                <a:ext cx="8050618" cy="4351655"/>
              </a:xfrm>
              <a:prstGeom prst="rect">
                <a:avLst/>
              </a:prstGeom>
              <a:blipFill>
                <a:blip r:embed="rId4"/>
                <a:stretch>
                  <a:fillRect l="-1667" t="-25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图片 1">
            <a:extLst>
              <a:ext uri="{FF2B5EF4-FFF2-40B4-BE49-F238E27FC236}">
                <a16:creationId xmlns:a16="http://schemas.microsoft.com/office/drawing/2014/main" id="{ECB88895-B945-4086-A7CB-0EF43DC8E8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3345" y="871560"/>
            <a:ext cx="1908213" cy="5742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566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bldLvl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二进制补的计算方法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内容占位符 3">
                <a:extLst>
                  <a:ext uri="{FF2B5EF4-FFF2-40B4-BE49-F238E27FC236}">
                    <a16:creationId xmlns:a16="http://schemas.microsoft.com/office/drawing/2014/main" id="{1F0C8908-8CED-45B6-83FF-876E7025D5F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838201" y="1815465"/>
                <a:ext cx="8050618" cy="435165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rgbClr val="C00000"/>
                  </a:buClr>
                  <a:buSzPct val="120000"/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FandolSong" panose="00000500000000000000" charset="-122"/>
                    <a:ea typeface="FandolSong" panose="00000500000000000000" charset="-122"/>
                    <a:cs typeface="+mn-cs"/>
                  </a:defRPr>
                </a:lvl1pPr>
                <a:lvl2pPr marL="685800" indent="-228600" algn="just" defTabSz="914400" rtl="0" eaLnBrk="1" latinLnBrk="0" hangingPunct="1">
                  <a:lnSpc>
                    <a:spcPct val="70000"/>
                  </a:lnSpc>
                  <a:spcBef>
                    <a:spcPts val="600"/>
                  </a:spcBef>
                  <a:buClr>
                    <a:srgbClr val="C00000"/>
                  </a:buClr>
                  <a:buSzPct val="120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FandolSong" panose="00000500000000000000" charset="-122"/>
                    <a:ea typeface="FandolSong" panose="00000500000000000000" charset="-122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C00000"/>
                  </a:buClr>
                  <a:buSzPct val="120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FandolSong" panose="00000500000000000000" charset="-122"/>
                    <a:ea typeface="FandolSong" panose="00000500000000000000" charset="-122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C00000"/>
                  </a:buClr>
                  <a:buSzPct val="120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FandolSong" panose="00000500000000000000" charset="-122"/>
                    <a:ea typeface="FandolSong" panose="00000500000000000000" charset="-122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C00000"/>
                  </a:buClr>
                  <a:buSzPct val="120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FandolSong" panose="00000500000000000000" charset="-122"/>
                    <a:ea typeface="FandolSong" panose="00000500000000000000" charset="-122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dirty="0"/>
                  <a:t>二进制的补</a:t>
                </a:r>
                <a:endParaRPr lang="en-US" altLang="zh-CN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𝑁𝑒𝑔𝑡𝑖𝑣𝑒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altLang="zh-CN" dirty="0"/>
              </a:p>
              <a:p>
                <a:pPr>
                  <a:lnSpc>
                    <a:spcPct val="120000"/>
                  </a:lnSpc>
                </a:pPr>
                <a:r>
                  <a:rPr lang="zh-CN" altLang="en-US" dirty="0"/>
                  <a:t>那么 </a:t>
                </a:r>
                <a:r>
                  <a:rPr lang="en-US" altLang="zh-CN" dirty="0"/>
                  <a:t>22 =</a:t>
                </a:r>
                <a:r>
                  <a:rPr lang="zh-CN" altLang="en-US" dirty="0"/>
                  <a:t>（</a:t>
                </a:r>
                <a:r>
                  <a:rPr lang="en-US" altLang="zh-CN" dirty="0"/>
                  <a:t>00010110</a:t>
                </a:r>
                <a:r>
                  <a:rPr lang="zh-CN" altLang="en-US" dirty="0"/>
                  <a:t>）</a:t>
                </a:r>
                <a:r>
                  <a:rPr lang="en-US" altLang="zh-CN" baseline="-25000" dirty="0"/>
                  <a:t>2</a:t>
                </a:r>
                <a:r>
                  <a:rPr lang="zh-CN" altLang="en-US" dirty="0"/>
                  <a:t>的负数的表示是？</a:t>
                </a:r>
                <a:endParaRPr lang="en-US" altLang="zh-CN" dirty="0"/>
              </a:p>
              <a:p>
                <a:pPr>
                  <a:lnSpc>
                    <a:spcPct val="120000"/>
                  </a:lnSpc>
                </a:pPr>
                <a:endParaRPr lang="en-US" altLang="zh-CN" dirty="0"/>
              </a:p>
              <a:p>
                <a:pPr marL="457200" lvl="1" indent="0">
                  <a:lnSpc>
                    <a:spcPct val="120000"/>
                  </a:lnSpc>
                  <a:buNone/>
                </a:pP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内容占位符 3">
                <a:extLst>
                  <a:ext uri="{FF2B5EF4-FFF2-40B4-BE49-F238E27FC236}">
                    <a16:creationId xmlns:a16="http://schemas.microsoft.com/office/drawing/2014/main" id="{1F0C8908-8CED-45B6-83FF-876E7025D5F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1" y="1815465"/>
                <a:ext cx="8050618" cy="4351655"/>
              </a:xfrm>
              <a:prstGeom prst="rect">
                <a:avLst/>
              </a:prstGeom>
              <a:blipFill>
                <a:blip r:embed="rId4"/>
                <a:stretch>
                  <a:fillRect l="-1894" t="-18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图片 1">
            <a:extLst>
              <a:ext uri="{FF2B5EF4-FFF2-40B4-BE49-F238E27FC236}">
                <a16:creationId xmlns:a16="http://schemas.microsoft.com/office/drawing/2014/main" id="{ECB88895-B945-4086-A7CB-0EF43DC8E8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3345" y="871560"/>
            <a:ext cx="1908213" cy="5742930"/>
          </a:xfrm>
          <a:prstGeom prst="rect">
            <a:avLst/>
          </a:prstGeom>
        </p:spPr>
      </p:pic>
      <p:sp>
        <p:nvSpPr>
          <p:cNvPr id="8" name="Text Box 8">
            <a:extLst>
              <a:ext uri="{FF2B5EF4-FFF2-40B4-BE49-F238E27FC236}">
                <a16:creationId xmlns:a16="http://schemas.microsoft.com/office/drawing/2014/main" id="{A05D3083-690A-4836-BD48-09C1A8B4EA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1360" y="3806995"/>
            <a:ext cx="5378451" cy="1938992"/>
          </a:xfrm>
          <a:prstGeom prst="rect">
            <a:avLst/>
          </a:prstGeom>
          <a:solidFill>
            <a:srgbClr val="EAEA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0" dirty="0">
                <a:latin typeface="Consolas" panose="020B0609020204030204" pitchFamily="49" charset="0"/>
                <a:cs typeface="Arial" panose="020B0604020202020204" pitchFamily="34" charset="0"/>
              </a:rPr>
              <a:t>    1111,1111   </a:t>
            </a:r>
            <a:r>
              <a:rPr lang="en-US" altLang="zh-CN" b="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-- 2</a:t>
            </a:r>
            <a:r>
              <a:rPr lang="en-US" altLang="zh-CN" b="0" baseline="300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8</a:t>
            </a:r>
            <a:r>
              <a:rPr lang="en-US" altLang="zh-CN" b="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– 1</a:t>
            </a:r>
          </a:p>
          <a:p>
            <a:pPr eaLnBrk="1" hangingPunct="1"/>
            <a:r>
              <a:rPr lang="en-US" altLang="zh-CN" b="0" dirty="0">
                <a:latin typeface="Consolas" panose="020B0609020204030204" pitchFamily="49" charset="0"/>
                <a:cs typeface="Arial" panose="020B0604020202020204" pitchFamily="34" charset="0"/>
              </a:rPr>
              <a:t>  </a:t>
            </a:r>
            <a:r>
              <a:rPr lang="en-US" altLang="zh-CN" b="0" u="sng" dirty="0">
                <a:latin typeface="Consolas" panose="020B0609020204030204" pitchFamily="49" charset="0"/>
                <a:cs typeface="Arial" panose="020B0604020202020204" pitchFamily="34" charset="0"/>
              </a:rPr>
              <a:t>- 0001,0110</a:t>
            </a:r>
            <a:r>
              <a:rPr lang="en-US" altLang="zh-CN" b="0" dirty="0">
                <a:latin typeface="Consolas" panose="020B0609020204030204" pitchFamily="49" charset="0"/>
                <a:cs typeface="Arial" panose="020B0604020202020204" pitchFamily="34" charset="0"/>
              </a:rPr>
              <a:t>   -- </a:t>
            </a:r>
            <a:r>
              <a:rPr lang="en-US" altLang="zh-CN" b="0" dirty="0" err="1">
                <a:latin typeface="Consolas" panose="020B0609020204030204" pitchFamily="49" charset="0"/>
                <a:cs typeface="Arial" panose="020B0604020202020204" pitchFamily="34" charset="0"/>
              </a:rPr>
              <a:t>i</a:t>
            </a:r>
            <a:r>
              <a:rPr lang="zh-CN" altLang="en-US" b="0" dirty="0">
                <a:latin typeface="Consolas" panose="020B0609020204030204" pitchFamily="49" charset="0"/>
                <a:cs typeface="Arial" panose="020B0604020202020204" pitchFamily="34" charset="0"/>
              </a:rPr>
              <a:t>求二进制</a:t>
            </a:r>
            <a:endParaRPr lang="en-US" altLang="zh-CN" b="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eaLnBrk="1" hangingPunct="1"/>
            <a:r>
              <a:rPr lang="en-US" altLang="zh-CN" b="0" dirty="0">
                <a:latin typeface="Consolas" panose="020B0609020204030204" pitchFamily="49" charset="0"/>
                <a:cs typeface="Arial" panose="020B0604020202020204" pitchFamily="34" charset="0"/>
              </a:rPr>
              <a:t>    1110,1001   -- </a:t>
            </a:r>
            <a:r>
              <a:rPr lang="zh-CN" altLang="en-US" b="0" dirty="0">
                <a:latin typeface="Consolas" panose="020B0609020204030204" pitchFamily="49" charset="0"/>
                <a:cs typeface="Arial" panose="020B0604020202020204" pitchFamily="34" charset="0"/>
              </a:rPr>
              <a:t>按位求</a:t>
            </a:r>
            <a:r>
              <a:rPr lang="en-US" altLang="zh-CN" b="0" dirty="0">
                <a:latin typeface="Consolas" panose="020B0609020204030204" pitchFamily="49" charset="0"/>
                <a:cs typeface="Arial" panose="020B0604020202020204" pitchFamily="34" charset="0"/>
              </a:rPr>
              <a:t>1</a:t>
            </a:r>
            <a:r>
              <a:rPr lang="zh-CN" altLang="en-US" b="0" dirty="0">
                <a:latin typeface="Consolas" panose="020B0609020204030204" pitchFamily="49" charset="0"/>
                <a:cs typeface="Arial" panose="020B0604020202020204" pitchFamily="34" charset="0"/>
              </a:rPr>
              <a:t>的补</a:t>
            </a:r>
            <a:endParaRPr lang="en-US" altLang="zh-CN" b="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eaLnBrk="1" hangingPunct="1"/>
            <a:r>
              <a:rPr lang="en-US" altLang="zh-CN" b="0" dirty="0">
                <a:latin typeface="Consolas" panose="020B0609020204030204" pitchFamily="49" charset="0"/>
                <a:cs typeface="Arial" panose="020B0604020202020204" pitchFamily="34" charset="0"/>
              </a:rPr>
              <a:t>  </a:t>
            </a:r>
            <a:r>
              <a:rPr lang="en-US" altLang="zh-CN" b="0" u="sng" dirty="0">
                <a:latin typeface="Consolas" panose="020B0609020204030204" pitchFamily="49" charset="0"/>
                <a:cs typeface="Arial" panose="020B0604020202020204" pitchFamily="34" charset="0"/>
              </a:rPr>
              <a:t>+         1</a:t>
            </a:r>
            <a:r>
              <a:rPr lang="en-US" altLang="zh-CN" b="0" dirty="0">
                <a:latin typeface="Consolas" panose="020B0609020204030204" pitchFamily="49" charset="0"/>
                <a:cs typeface="Arial" panose="020B0604020202020204" pitchFamily="34" charset="0"/>
              </a:rPr>
              <a:t>   -- </a:t>
            </a:r>
            <a:r>
              <a:rPr lang="zh-CN" altLang="en-US" b="0" dirty="0">
                <a:latin typeface="Consolas" panose="020B0609020204030204" pitchFamily="49" charset="0"/>
                <a:cs typeface="Arial" panose="020B0604020202020204" pitchFamily="34" charset="0"/>
              </a:rPr>
              <a:t>加一</a:t>
            </a:r>
            <a:r>
              <a:rPr lang="en-US" altLang="zh-CN" b="0" dirty="0"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</a:p>
          <a:p>
            <a:pPr eaLnBrk="1" hangingPunct="1"/>
            <a:r>
              <a:rPr lang="en-US" altLang="zh-CN" b="0" dirty="0">
                <a:latin typeface="Consolas" panose="020B0609020204030204" pitchFamily="49" charset="0"/>
                <a:cs typeface="Arial" panose="020B0604020202020204" pitchFamily="34" charset="0"/>
              </a:rPr>
              <a:t>    1110,1010   -- </a:t>
            </a:r>
            <a:r>
              <a:rPr lang="zh-CN" altLang="en-US" b="0" dirty="0">
                <a:latin typeface="Consolas" panose="020B0609020204030204" pitchFamily="49" charset="0"/>
                <a:cs typeface="Arial" panose="020B0604020202020204" pitchFamily="34" charset="0"/>
              </a:rPr>
              <a:t>补数</a:t>
            </a:r>
            <a:r>
              <a:rPr lang="en-US" altLang="zh-CN" b="0" dirty="0">
                <a:latin typeface="Consolas" panose="020B0609020204030204" pitchFamily="49" charset="0"/>
                <a:cs typeface="Arial" panose="020B0604020202020204" pitchFamily="34" charset="0"/>
              </a:rPr>
              <a:t>-</a:t>
            </a:r>
            <a:r>
              <a:rPr lang="en-US" altLang="zh-CN" b="0" dirty="0" err="1">
                <a:latin typeface="Consolas" panose="020B0609020204030204" pitchFamily="49" charset="0"/>
                <a:cs typeface="Arial" panose="020B0604020202020204" pitchFamily="34" charset="0"/>
              </a:rPr>
              <a:t>i</a:t>
            </a:r>
            <a:r>
              <a:rPr lang="en-US" altLang="zh-CN" b="0" dirty="0">
                <a:latin typeface="Consolas" panose="020B0609020204030204" pitchFamily="49" charset="0"/>
                <a:cs typeface="Arial" panose="020B0604020202020204" pitchFamily="34" charset="0"/>
              </a:rPr>
              <a:t>  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9296127-563D-4F17-54E8-B7C793CAAD19}"/>
              </a:ext>
            </a:extLst>
          </p:cNvPr>
          <p:cNvSpPr txBox="1"/>
          <p:nvPr/>
        </p:nvSpPr>
        <p:spPr>
          <a:xfrm>
            <a:off x="878583" y="6023208"/>
            <a:ext cx="66640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二进制数的负数（补数），总是等于按位求反，再加一。</a:t>
            </a:r>
            <a:endParaRPr lang="en-US" altLang="zh-CN" b="1" dirty="0">
              <a:solidFill>
                <a:srgbClr val="C00000"/>
              </a:solidFill>
            </a:endParaRPr>
          </a:p>
          <a:p>
            <a:r>
              <a:rPr lang="zh-CN" altLang="en-US" dirty="0">
                <a:solidFill>
                  <a:srgbClr val="C00000"/>
                </a:solidFill>
              </a:rPr>
              <a:t>在</a:t>
            </a:r>
            <a:r>
              <a:rPr lang="en-US" altLang="zh-CN" dirty="0">
                <a:solidFill>
                  <a:srgbClr val="C00000"/>
                </a:solidFill>
              </a:rPr>
              <a:t>CPU</a:t>
            </a:r>
            <a:r>
              <a:rPr lang="zh-CN" altLang="en-US" dirty="0">
                <a:solidFill>
                  <a:srgbClr val="C00000"/>
                </a:solidFill>
              </a:rPr>
              <a:t>中，只有加法电路，没有减法电路。 因为 </a:t>
            </a:r>
            <a:r>
              <a:rPr lang="en-US" altLang="zh-CN" dirty="0">
                <a:solidFill>
                  <a:srgbClr val="C00000"/>
                </a:solidFill>
              </a:rPr>
              <a:t>a – b = a + (-b)</a:t>
            </a:r>
            <a:endParaRPr lang="zh-CN" alt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7525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bldLvl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B0052A8-3BF1-4EFE-B73E-C528CB0F07A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4915946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使用补方法计算变量</a:t>
            </a:r>
            <a:r>
              <a:rPr lang="en-US" altLang="zh-CN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zh-CN" altLang="en-US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？</a:t>
            </a:r>
            <a:endParaRPr lang="en-US" altLang="zh-CN" sz="2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en-US" altLang="zh-CN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int main() {</a:t>
            </a:r>
          </a:p>
          <a:p>
            <a:r>
              <a:rPr lang="en-US" altLang="zh-CN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char k = - </a:t>
            </a:r>
            <a:r>
              <a:rPr lang="en-US" altLang="zh-CN" sz="2800" b="0" dirty="0">
                <a:solidFill>
                  <a:srgbClr val="639EF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zh-CN" altLang="en-US" sz="2800" b="0" dirty="0">
                <a:solidFill>
                  <a:srgbClr val="639EF4"/>
                </a:solidFill>
                <a:effectLst/>
                <a:latin typeface="Consolas" panose="020B0609020204030204" pitchFamily="49" charset="0"/>
              </a:rPr>
              <a:t>填空</a:t>
            </a:r>
            <a:r>
              <a:rPr lang="en-US" altLang="zh-CN" sz="2800" b="0" dirty="0">
                <a:solidFill>
                  <a:srgbClr val="639EF4"/>
                </a:solidFill>
                <a:effectLst/>
                <a:latin typeface="Consolas" panose="020B0609020204030204" pitchFamily="49" charset="0"/>
              </a:rPr>
              <a:t>1]</a:t>
            </a:r>
            <a:r>
              <a:rPr lang="en-US" altLang="zh-CN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;</a:t>
            </a:r>
          </a:p>
          <a:p>
            <a:r>
              <a:rPr lang="en-US" altLang="zh-CN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altLang="zh-CN" sz="2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("%#X",(unsigned char)k);  </a:t>
            </a:r>
          </a:p>
          <a:p>
            <a:r>
              <a:rPr lang="en-US" altLang="zh-CN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en-US" altLang="zh-CN" sz="2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输出：</a:t>
            </a:r>
            <a:r>
              <a:rPr lang="en-US" altLang="zh-CN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0XF6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5F31CB74-8FB1-47E0-A478-3CADFA492C30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09398C8-ED19-4F75-B8CC-9A7A20E15BB4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0" y="5727383"/>
            <a:ext cx="12192000" cy="48768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6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正常使用填空题需</a:t>
            </a:r>
            <a:r>
              <a:rPr lang="en-US" altLang="zh-CN" sz="16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6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6E4ADF50-573B-46E1-9FAF-B8BEF92AE103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6" name="TitleBackground">
              <a:extLst>
                <a:ext uri="{FF2B5EF4-FFF2-40B4-BE49-F238E27FC236}">
                  <a16:creationId xmlns:a16="http://schemas.microsoft.com/office/drawing/2014/main" id="{89ED09F1-C052-4CD2-BB07-02AD95F97E24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ColorBlock">
              <a:extLst>
                <a:ext uri="{FF2B5EF4-FFF2-40B4-BE49-F238E27FC236}">
                  <a16:creationId xmlns:a16="http://schemas.microsoft.com/office/drawing/2014/main" id="{AE68262E-7BCA-4316-A48D-7E7D5D072D3A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TypeText">
              <a:extLst>
                <a:ext uri="{FF2B5EF4-FFF2-40B4-BE49-F238E27FC236}">
                  <a16:creationId xmlns:a16="http://schemas.microsoft.com/office/drawing/2014/main" id="{F03D4ECF-243B-4041-85A6-42729551B53C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</a:p>
          </p:txBody>
        </p:sp>
        <p:sp>
          <p:nvSpPr>
            <p:cNvPr id="9" name="TipText">
              <a:extLst>
                <a:ext uri="{FF2B5EF4-FFF2-40B4-BE49-F238E27FC236}">
                  <a16:creationId xmlns:a16="http://schemas.microsoft.com/office/drawing/2014/main" id="{E0BFBF66-3F7C-4AA8-B5C8-B0DC7AC36CC4}"/>
                </a:ext>
              </a:extLst>
            </p:cNvPr>
            <p:cNvSpPr txBox="1"/>
            <p:nvPr>
              <p:custDataLst>
                <p:tags r:id="rId10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53BE621A-39DB-4CC3-967B-12816A1CB4D2}"/>
              </a:ext>
            </a:extLst>
          </p:cNvPr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159118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整数类型的特征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12" name="内容占位符 3">
            <a:extLst>
              <a:ext uri="{FF2B5EF4-FFF2-40B4-BE49-F238E27FC236}">
                <a16:creationId xmlns:a16="http://schemas.microsoft.com/office/drawing/2014/main" id="{1F0C8908-8CED-45B6-83FF-876E7025D5FE}"/>
              </a:ext>
            </a:extLst>
          </p:cNvPr>
          <p:cNvSpPr>
            <a:spLocks noGrp="1"/>
          </p:cNvSpPr>
          <p:nvPr/>
        </p:nvSpPr>
        <p:spPr>
          <a:xfrm>
            <a:off x="838201" y="1815465"/>
            <a:ext cx="4492255" cy="4351655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70000"/>
              </a:lnSpc>
              <a:spcBef>
                <a:spcPts val="6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dirty="0"/>
              <a:t>字符（</a:t>
            </a:r>
            <a:r>
              <a:rPr lang="en-US" altLang="zh-CN" dirty="0"/>
              <a:t>char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en-US" altLang="zh-CN" dirty="0">
                <a:solidFill>
                  <a:schemeClr val="tx1"/>
                </a:solidFill>
              </a:rPr>
              <a:t>1</a:t>
            </a:r>
            <a:r>
              <a:rPr lang="zh-CN" altLang="en-US" dirty="0">
                <a:solidFill>
                  <a:schemeClr val="tx1"/>
                </a:solidFill>
              </a:rPr>
              <a:t>个字节</a:t>
            </a:r>
            <a:endParaRPr lang="en-US" altLang="zh-CN" dirty="0">
              <a:solidFill>
                <a:schemeClr val="tx1"/>
              </a:solidFill>
            </a:endParaRPr>
          </a:p>
          <a:p>
            <a:pPr lvl="1">
              <a:lnSpc>
                <a:spcPct val="120000"/>
              </a:lnSpc>
            </a:pPr>
            <a:r>
              <a:rPr lang="zh-CN" altLang="en-US" dirty="0"/>
              <a:t>表示范围 </a:t>
            </a:r>
            <a:r>
              <a:rPr lang="en-US" altLang="zh-CN" dirty="0"/>
              <a:t>-128 ..</a:t>
            </a:r>
            <a:r>
              <a:rPr lang="zh-CN" altLang="en-US" dirty="0"/>
              <a:t> </a:t>
            </a:r>
            <a:r>
              <a:rPr lang="en-US" altLang="zh-CN" dirty="0"/>
              <a:t>127</a:t>
            </a:r>
          </a:p>
          <a:p>
            <a:pPr>
              <a:lnSpc>
                <a:spcPct val="120000"/>
              </a:lnSpc>
            </a:pPr>
            <a:r>
              <a:rPr lang="zh-CN" altLang="en-US" dirty="0"/>
              <a:t>短整数（</a:t>
            </a:r>
            <a:r>
              <a:rPr lang="en-US" altLang="zh-CN" dirty="0"/>
              <a:t>short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en-US" altLang="zh-CN" dirty="0"/>
              <a:t>2</a:t>
            </a:r>
            <a:r>
              <a:rPr lang="zh-CN" altLang="en-US" dirty="0"/>
              <a:t>个字节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zh-CN" altLang="en-US" dirty="0"/>
              <a:t>表示范围 </a:t>
            </a:r>
            <a:r>
              <a:rPr lang="en-US" altLang="zh-CN" dirty="0"/>
              <a:t>-32768..32767</a:t>
            </a:r>
          </a:p>
          <a:p>
            <a:pPr>
              <a:lnSpc>
                <a:spcPct val="120000"/>
              </a:lnSpc>
            </a:pPr>
            <a:r>
              <a:rPr lang="zh-CN" altLang="en-US" dirty="0"/>
              <a:t>整数（</a:t>
            </a:r>
            <a:r>
              <a:rPr lang="en-US" altLang="zh-CN" dirty="0"/>
              <a:t>integer</a:t>
            </a:r>
            <a:r>
              <a:rPr lang="zh-CN" altLang="en-US" dirty="0"/>
              <a:t>）</a:t>
            </a:r>
            <a:endParaRPr lang="en-US" altLang="zh-CN" dirty="0"/>
          </a:p>
          <a:p>
            <a:pPr>
              <a:lnSpc>
                <a:spcPct val="120000"/>
              </a:lnSpc>
            </a:pPr>
            <a:r>
              <a:rPr lang="zh-CN" altLang="en-US" dirty="0"/>
              <a:t>长整数（</a:t>
            </a:r>
            <a:r>
              <a:rPr lang="en-US" altLang="zh-CN" dirty="0"/>
              <a:t>long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en-US" altLang="zh-CN" dirty="0"/>
              <a:t>4</a:t>
            </a:r>
            <a:r>
              <a:rPr lang="zh-CN" altLang="en-US" dirty="0"/>
              <a:t>个字节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zh-CN" altLang="en-US" dirty="0"/>
              <a:t>表示范围 </a:t>
            </a:r>
            <a:r>
              <a:rPr lang="en-US" altLang="zh-CN" dirty="0"/>
              <a:t>-2147483648.. 2147483647</a:t>
            </a:r>
          </a:p>
          <a:p>
            <a:pPr>
              <a:lnSpc>
                <a:spcPct val="120000"/>
              </a:lnSpc>
            </a:pPr>
            <a:endParaRPr lang="en-US" altLang="zh-CN" dirty="0"/>
          </a:p>
          <a:p>
            <a:pPr marL="457200" lvl="1" indent="0">
              <a:lnSpc>
                <a:spcPct val="120000"/>
              </a:lnSpc>
              <a:buNone/>
            </a:pP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2DBDEDC-F1BE-4617-8BBC-9F7541DF9792}"/>
              </a:ext>
            </a:extLst>
          </p:cNvPr>
          <p:cNvSpPr txBox="1"/>
          <p:nvPr/>
        </p:nvSpPr>
        <p:spPr>
          <a:xfrm>
            <a:off x="5447414" y="1780865"/>
            <a:ext cx="632991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/*short-max-min*/</a:t>
            </a:r>
          </a:p>
          <a:p>
            <a:r>
              <a:rPr lang="en-US" altLang="zh-C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stdio.h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#define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 UINT_MAX 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#define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 SHORT_MAX (unsigned short) UINT_MAX 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#define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 SHORT_MIN 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~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SHORT_MAX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{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short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altLang="zh-C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0x8000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 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 SHORT_MIN;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0x7FFF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 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 SHORT_MAX;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Minmum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 is 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%</a:t>
            </a:r>
            <a:r>
              <a:rPr lang="en-US" altLang="zh-C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hX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 , 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altLang="zh-CN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Maxmum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 is 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%</a:t>
            </a:r>
            <a:r>
              <a:rPr lang="en-US" altLang="zh-C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hX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 , 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altLang="zh-CN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altLang="zh-C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CBEA0975-D810-4F55-8DC4-29D643BA8630}"/>
              </a:ext>
            </a:extLst>
          </p:cNvPr>
          <p:cNvSpPr/>
          <p:nvPr/>
        </p:nvSpPr>
        <p:spPr>
          <a:xfrm>
            <a:off x="8211878" y="4494560"/>
            <a:ext cx="510944" cy="76554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A9473596-F19F-4BFE-921F-0ED2BB93DDB4}"/>
              </a:ext>
            </a:extLst>
          </p:cNvPr>
          <p:cNvSpPr/>
          <p:nvPr/>
        </p:nvSpPr>
        <p:spPr>
          <a:xfrm>
            <a:off x="8914916" y="4514855"/>
            <a:ext cx="467833" cy="76554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D56F0F0-BA67-4DC2-A747-CE8C99525BCF}"/>
              </a:ext>
            </a:extLst>
          </p:cNvPr>
          <p:cNvSpPr txBox="1"/>
          <p:nvPr/>
        </p:nvSpPr>
        <p:spPr>
          <a:xfrm>
            <a:off x="5915311" y="5696823"/>
            <a:ext cx="5269390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b="0" i="0" dirty="0">
                <a:solidFill>
                  <a:srgbClr val="000000"/>
                </a:solidFill>
                <a:effectLst/>
                <a:latin typeface="DejaVuSans"/>
              </a:rPr>
              <a:t>参数大小的</a:t>
            </a:r>
            <a:r>
              <a:rPr lang="zh-CN" altLang="en-US" b="0" i="1" dirty="0">
                <a:solidFill>
                  <a:srgbClr val="000000"/>
                </a:solidFill>
                <a:effectLst/>
                <a:latin typeface="DejaVuSans"/>
              </a:rPr>
              <a:t>长度修饰符，</a:t>
            </a:r>
            <a:r>
              <a:rPr lang="en-US" altLang="zh-CN" b="0" i="1" dirty="0">
                <a:solidFill>
                  <a:srgbClr val="000000"/>
                </a:solidFill>
                <a:effectLst/>
                <a:latin typeface="DejaVuSans"/>
              </a:rPr>
              <a:t>h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DejaVuSans"/>
              </a:rPr>
              <a:t>用于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DejaVuSans"/>
              </a:rPr>
              <a:t>short</a:t>
            </a:r>
            <a:r>
              <a:rPr lang="zh-CN" altLang="en-US" b="0" i="1" dirty="0">
                <a:solidFill>
                  <a:srgbClr val="000000"/>
                </a:solidFill>
                <a:effectLst/>
                <a:latin typeface="DejaVuSans"/>
              </a:rPr>
              <a:t>，</a:t>
            </a:r>
            <a:r>
              <a:rPr lang="en-US" altLang="zh-CN" b="0" i="1" dirty="0">
                <a:solidFill>
                  <a:srgbClr val="000000"/>
                </a:solidFill>
                <a:effectLst/>
                <a:latin typeface="DejaVuSans"/>
              </a:rPr>
              <a:t>l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DejaVuSans"/>
              </a:rPr>
              <a:t>用于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DejaVuSans"/>
              </a:rPr>
              <a:t>long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DejaVuSans"/>
              </a:rPr>
              <a:t>；</a:t>
            </a:r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9B67593-ACD0-429F-AA26-F68F6ACED60C}"/>
              </a:ext>
            </a:extLst>
          </p:cNvPr>
          <p:cNvSpPr txBox="1"/>
          <p:nvPr/>
        </p:nvSpPr>
        <p:spPr>
          <a:xfrm>
            <a:off x="5915310" y="6144813"/>
            <a:ext cx="5269391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dirty="0"/>
              <a:t>转换格式指定符</a:t>
            </a:r>
            <a:r>
              <a:rPr lang="zh-CN" altLang="en-US" b="0" i="1" dirty="0">
                <a:solidFill>
                  <a:srgbClr val="000000"/>
                </a:solidFill>
                <a:effectLst/>
                <a:latin typeface="DejaVuSans"/>
              </a:rPr>
              <a:t>，</a:t>
            </a:r>
            <a:r>
              <a:rPr lang="en-US" altLang="zh-CN" i="1" dirty="0">
                <a:solidFill>
                  <a:srgbClr val="000000"/>
                </a:solidFill>
                <a:latin typeface="DejaVuSans"/>
              </a:rPr>
              <a:t>d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DejaVuSans"/>
              </a:rPr>
              <a:t>用于</a:t>
            </a:r>
            <a:r>
              <a:rPr lang="zh-CN" altLang="en-US" dirty="0">
                <a:solidFill>
                  <a:srgbClr val="000000"/>
                </a:solidFill>
                <a:latin typeface="DejaVuSans"/>
              </a:rPr>
              <a:t>整数</a:t>
            </a:r>
            <a:r>
              <a:rPr lang="zh-CN" altLang="en-US" b="0" i="1" dirty="0">
                <a:solidFill>
                  <a:srgbClr val="000000"/>
                </a:solidFill>
                <a:effectLst/>
                <a:latin typeface="DejaVuSans"/>
              </a:rPr>
              <a:t>，</a:t>
            </a:r>
            <a:r>
              <a:rPr lang="en-US" altLang="zh-CN" i="1" dirty="0">
                <a:solidFill>
                  <a:srgbClr val="000000"/>
                </a:solidFill>
                <a:latin typeface="DejaVuSans"/>
              </a:rPr>
              <a:t>u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DejaVuSans"/>
              </a:rPr>
              <a:t>用于</a:t>
            </a:r>
            <a:r>
              <a:rPr lang="zh-CN" altLang="en-US" dirty="0">
                <a:solidFill>
                  <a:srgbClr val="000000"/>
                </a:solidFill>
                <a:latin typeface="DejaVuSans"/>
              </a:rPr>
              <a:t>无符号整数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DejaVuSans"/>
              </a:rPr>
              <a:t>；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46522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bldLvl="0" animBg="1"/>
      <p:bldP spid="4" grpId="0" animBg="1"/>
      <p:bldP spid="13" grpId="0" animBg="1"/>
      <p:bldP spid="5" grpId="0" animBg="1"/>
      <p:bldP spid="1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练习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10" name="内容占位符 3">
            <a:extLst>
              <a:ext uri="{FF2B5EF4-FFF2-40B4-BE49-F238E27FC236}">
                <a16:creationId xmlns:a16="http://schemas.microsoft.com/office/drawing/2014/main" id="{D629388B-A0FA-4935-A200-9BF72A71C0AB}"/>
              </a:ext>
            </a:extLst>
          </p:cNvPr>
          <p:cNvSpPr>
            <a:spLocks noGrp="1"/>
          </p:cNvSpPr>
          <p:nvPr/>
        </p:nvSpPr>
        <p:spPr>
          <a:xfrm>
            <a:off x="838200" y="1815465"/>
            <a:ext cx="10236200" cy="43516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70000"/>
              </a:lnSpc>
              <a:spcBef>
                <a:spcPts val="6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000" dirty="0"/>
              <a:t>计算以下数的 </a:t>
            </a:r>
            <a:r>
              <a:rPr lang="en-US" altLang="zh-CN" sz="2000" dirty="0"/>
              <a:t>char </a:t>
            </a:r>
            <a:r>
              <a:rPr lang="zh-CN" altLang="en-US" sz="2000" dirty="0"/>
              <a:t>类型的十六进制值</a:t>
            </a:r>
            <a:endParaRPr lang="en-US" altLang="zh-CN" sz="2000" dirty="0"/>
          </a:p>
          <a:p>
            <a:pPr>
              <a:lnSpc>
                <a:spcPct val="120000"/>
              </a:lnSpc>
            </a:pPr>
            <a:r>
              <a:rPr lang="en-US" altLang="zh-CN" sz="2000" dirty="0"/>
              <a:t>-7</a:t>
            </a:r>
          </a:p>
          <a:p>
            <a:pPr>
              <a:lnSpc>
                <a:spcPct val="120000"/>
              </a:lnSpc>
            </a:pPr>
            <a:endParaRPr lang="en-US" altLang="zh-CN" sz="2000" dirty="0"/>
          </a:p>
          <a:p>
            <a:pPr>
              <a:lnSpc>
                <a:spcPct val="120000"/>
              </a:lnSpc>
            </a:pPr>
            <a:r>
              <a:rPr lang="zh-CN" altLang="en-US" sz="2000" dirty="0"/>
              <a:t>分别写出各个变量的八进制值</a:t>
            </a:r>
            <a:endParaRPr lang="en-US" altLang="zh-CN" sz="2000" dirty="0"/>
          </a:p>
          <a:p>
            <a:pPr>
              <a:lnSpc>
                <a:spcPct val="120000"/>
              </a:lnSpc>
            </a:pPr>
            <a:r>
              <a:rPr lang="en-US" altLang="zh-CN" sz="2000" dirty="0"/>
              <a:t>char x=3;  char y=-6; char z=x-y;</a:t>
            </a:r>
          </a:p>
        </p:txBody>
      </p:sp>
    </p:spTree>
    <p:extLst>
      <p:ext uri="{BB962C8B-B14F-4D97-AF65-F5344CB8AC3E}">
        <p14:creationId xmlns:p14="http://schemas.microsoft.com/office/powerpoint/2010/main" val="3027056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bldLvl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溢出（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Overflow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）（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1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）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B0ECBCC1-F278-4931-9D5D-839E60DDF04C}"/>
              </a:ext>
            </a:extLst>
          </p:cNvPr>
          <p:cNvSpPr txBox="1"/>
          <p:nvPr/>
        </p:nvSpPr>
        <p:spPr>
          <a:xfrm>
            <a:off x="2882237" y="1572886"/>
            <a:ext cx="6383078" cy="2585323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/*overflow*/</a:t>
            </a:r>
          </a:p>
          <a:p>
            <a:r>
              <a:rPr lang="en-US" altLang="zh-C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stdio.h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{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k = 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127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  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//0x7F;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m = k + 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n = k + k + 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altLang="zh-CN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,k+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m, n);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264FD7A-E89C-43F6-A01F-6C9ADC342C88}"/>
              </a:ext>
            </a:extLst>
          </p:cNvPr>
          <p:cNvSpPr txBox="1"/>
          <p:nvPr/>
        </p:nvSpPr>
        <p:spPr>
          <a:xfrm>
            <a:off x="2764465" y="4323907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输出是：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2D9FFEF-179D-4C92-AF83-A3F607F5BCD8}"/>
              </a:ext>
            </a:extLst>
          </p:cNvPr>
          <p:cNvSpPr txBox="1"/>
          <p:nvPr/>
        </p:nvSpPr>
        <p:spPr>
          <a:xfrm>
            <a:off x="2825752" y="4802479"/>
            <a:ext cx="6383078" cy="64633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prstClr val="black"/>
                </a:solidFill>
                <a:latin typeface="Lucida Console" panose="020B0609040504020204" pitchFamily="49" charset="0"/>
              </a:rPr>
              <a:t>137, -119, 8</a:t>
            </a:r>
          </a:p>
          <a:p>
            <a:r>
              <a:rPr lang="zh-CN" altLang="en-US" dirty="0">
                <a:solidFill>
                  <a:prstClr val="black"/>
                </a:solidFill>
                <a:latin typeface="Lucida Console" panose="020B0609040504020204" pitchFamily="49" charset="0"/>
              </a:rPr>
              <a:t>这都是什么？无数草泥马在风中狂奔！</a:t>
            </a:r>
            <a:endParaRPr lang="en-US" altLang="zh-CN" dirty="0" err="1">
              <a:solidFill>
                <a:prstClr val="black"/>
              </a:solidFill>
              <a:latin typeface="Lucida Console" panose="020B0609040504020204" pitchFamily="49" charset="0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6B5BC651-406C-49CF-93F4-B6CF4AFFEAC8}"/>
              </a:ext>
            </a:extLst>
          </p:cNvPr>
          <p:cNvGrpSpPr/>
          <p:nvPr/>
        </p:nvGrpSpPr>
        <p:grpSpPr>
          <a:xfrm>
            <a:off x="4564912" y="1782368"/>
            <a:ext cx="7326614" cy="2038264"/>
            <a:chOff x="4564912" y="1782368"/>
            <a:chExt cx="7326614" cy="2038264"/>
          </a:xfrm>
        </p:grpSpPr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C5A18992-D2D6-4FFD-8CC2-A75887E6EF8C}"/>
                </a:ext>
              </a:extLst>
            </p:cNvPr>
            <p:cNvSpPr txBox="1"/>
            <p:nvPr/>
          </p:nvSpPr>
          <p:spPr>
            <a:xfrm>
              <a:off x="6166882" y="1782368"/>
              <a:ext cx="5724644" cy="64633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表达式是</a:t>
              </a:r>
              <a:r>
                <a:rPr lang="zh-CN" altLang="en-US" i="1" dirty="0"/>
                <a:t>运算符</a:t>
              </a:r>
              <a:r>
                <a:rPr lang="zh-CN" altLang="en-US" dirty="0"/>
                <a:t>及其</a:t>
              </a:r>
              <a:r>
                <a:rPr lang="zh-CN" altLang="en-US" i="1" dirty="0"/>
                <a:t>操作数</a:t>
              </a:r>
              <a:r>
                <a:rPr lang="zh-CN" altLang="en-US" dirty="0"/>
                <a:t>的序列，它指定一个运算。</a:t>
              </a:r>
              <a:endParaRPr lang="en-US" altLang="zh-CN" dirty="0"/>
            </a:p>
            <a:p>
              <a:r>
                <a:rPr lang="en-US" altLang="zh-CN" dirty="0">
                  <a:hlinkClick r:id="rId4"/>
                </a:rPr>
                <a:t>https://zh.cppreference.com/w/c/language/expressions</a:t>
              </a:r>
              <a:endParaRPr lang="en-US" altLang="zh-CN" dirty="0"/>
            </a:p>
          </p:txBody>
        </p: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C0FAAB1A-6C4B-41AD-B5F2-0B759013C3B6}"/>
                </a:ext>
              </a:extLst>
            </p:cNvPr>
            <p:cNvCxnSpPr/>
            <p:nvPr/>
          </p:nvCxnSpPr>
          <p:spPr>
            <a:xfrm>
              <a:off x="4564912" y="3260651"/>
              <a:ext cx="886046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8F66AA11-7037-46F7-AA2F-07BD11186EA0}"/>
                </a:ext>
              </a:extLst>
            </p:cNvPr>
            <p:cNvCxnSpPr>
              <a:cxnSpLocks/>
            </p:cNvCxnSpPr>
            <p:nvPr/>
          </p:nvCxnSpPr>
          <p:spPr>
            <a:xfrm>
              <a:off x="4579089" y="3537097"/>
              <a:ext cx="1360967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97F90FCE-9A1A-4657-AC8F-69E68EA6BBF6}"/>
                </a:ext>
              </a:extLst>
            </p:cNvPr>
            <p:cNvCxnSpPr>
              <a:cxnSpLocks/>
            </p:cNvCxnSpPr>
            <p:nvPr/>
          </p:nvCxnSpPr>
          <p:spPr>
            <a:xfrm>
              <a:off x="6166882" y="3820632"/>
              <a:ext cx="552895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2963B1B4-AEDF-4456-95E8-A0E94729550B}"/>
                </a:ext>
              </a:extLst>
            </p:cNvPr>
            <p:cNvCxnSpPr>
              <a:stCxn id="17" idx="2"/>
            </p:cNvCxnSpPr>
            <p:nvPr/>
          </p:nvCxnSpPr>
          <p:spPr>
            <a:xfrm flipH="1">
              <a:off x="5450958" y="2428699"/>
              <a:ext cx="3578246" cy="831952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6CDEE70E-7942-4511-8CF3-BC443D85CA96}"/>
                </a:ext>
              </a:extLst>
            </p:cNvPr>
            <p:cNvCxnSpPr>
              <a:cxnSpLocks/>
              <a:stCxn id="17" idx="2"/>
            </p:cNvCxnSpPr>
            <p:nvPr/>
          </p:nvCxnSpPr>
          <p:spPr>
            <a:xfrm flipH="1">
              <a:off x="5940056" y="2428699"/>
              <a:ext cx="3089148" cy="108524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71BC1FF4-D35D-4DD0-A8F8-CD9890CFB750}"/>
                </a:ext>
              </a:extLst>
            </p:cNvPr>
            <p:cNvCxnSpPr>
              <a:cxnSpLocks/>
              <a:stCxn id="17" idx="2"/>
            </p:cNvCxnSpPr>
            <p:nvPr/>
          </p:nvCxnSpPr>
          <p:spPr>
            <a:xfrm flipH="1">
              <a:off x="6719778" y="2428699"/>
              <a:ext cx="2309426" cy="1374573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文本框 29">
            <a:extLst>
              <a:ext uri="{FF2B5EF4-FFF2-40B4-BE49-F238E27FC236}">
                <a16:creationId xmlns:a16="http://schemas.microsoft.com/office/drawing/2014/main" id="{286C751C-5D0E-49B0-B0C5-580E2CE00891}"/>
              </a:ext>
            </a:extLst>
          </p:cNvPr>
          <p:cNvSpPr txBox="1"/>
          <p:nvPr/>
        </p:nvSpPr>
        <p:spPr>
          <a:xfrm>
            <a:off x="4876800" y="5547080"/>
            <a:ext cx="6440568" cy="113877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/>
              <a:t>这些表达式的结果是整数，当赋值给一个位数少的变量时，直接</a:t>
            </a:r>
            <a:r>
              <a:rPr lang="zh-CN" altLang="en-US" b="1" dirty="0"/>
              <a:t>抛弃高位</a:t>
            </a:r>
            <a:r>
              <a:rPr lang="zh-CN" altLang="en-US" dirty="0"/>
              <a:t>。例如：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/>
              <a:t>k+10 = 0x89,  </a:t>
            </a:r>
            <a:r>
              <a:rPr lang="zh-CN" altLang="en-US" sz="1600" dirty="0"/>
              <a:t>作为</a:t>
            </a:r>
            <a:r>
              <a:rPr lang="en-US" altLang="zh-CN" sz="1600" dirty="0"/>
              <a:t>32</a:t>
            </a:r>
            <a:r>
              <a:rPr lang="zh-CN" altLang="en-US" sz="1600" dirty="0"/>
              <a:t>位整数 </a:t>
            </a:r>
            <a:r>
              <a:rPr lang="en-US" altLang="zh-CN" sz="1600" dirty="0"/>
              <a:t>137</a:t>
            </a:r>
            <a:r>
              <a:rPr lang="zh-CN" altLang="en-US" sz="1600" dirty="0"/>
              <a:t>，作为</a:t>
            </a:r>
            <a:r>
              <a:rPr lang="en-US" altLang="zh-CN" sz="1600" dirty="0"/>
              <a:t>8</a:t>
            </a:r>
            <a:r>
              <a:rPr lang="zh-CN" altLang="en-US" sz="1600" dirty="0"/>
              <a:t>位整数</a:t>
            </a:r>
            <a:r>
              <a:rPr lang="en-US" altLang="zh-CN" sz="1600" dirty="0"/>
              <a:t>-119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/>
              <a:t>k+k+10 =0x108, </a:t>
            </a:r>
            <a:r>
              <a:rPr lang="zh-CN" altLang="en-US" sz="1600" dirty="0"/>
              <a:t>赋值</a:t>
            </a:r>
            <a:r>
              <a:rPr lang="en-US" altLang="zh-CN" sz="1600" dirty="0"/>
              <a:t>n</a:t>
            </a:r>
            <a:r>
              <a:rPr lang="zh-CN" altLang="en-US" sz="1600" dirty="0"/>
              <a:t>时，仅保留</a:t>
            </a:r>
            <a:r>
              <a:rPr lang="en-US" altLang="zh-CN" sz="1600" dirty="0"/>
              <a:t>0x08</a:t>
            </a:r>
          </a:p>
        </p:txBody>
      </p:sp>
    </p:spTree>
    <p:extLst>
      <p:ext uri="{BB962C8B-B14F-4D97-AF65-F5344CB8AC3E}">
        <p14:creationId xmlns:p14="http://schemas.microsoft.com/office/powerpoint/2010/main" val="2861692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bldLvl="0" animBg="1"/>
      <p:bldP spid="16" grpId="0" animBg="1"/>
      <p:bldP spid="30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溢出（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Overflow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）（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2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）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7FFB78E8-B0DB-4629-97B9-091C982C3F72}"/>
              </a:ext>
            </a:extLst>
          </p:cNvPr>
          <p:cNvSpPr txBox="1"/>
          <p:nvPr/>
        </p:nvSpPr>
        <p:spPr>
          <a:xfrm>
            <a:off x="2882237" y="1548692"/>
            <a:ext cx="6383078" cy="2031325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/*overflow constant*/ </a:t>
            </a:r>
          </a:p>
          <a:p>
            <a:r>
              <a:rPr lang="en-US" altLang="zh-C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stdio.h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{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255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%</a:t>
            </a:r>
            <a:r>
              <a:rPr lang="en-US" altLang="zh-C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zh-C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  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BFBC71F-A912-4E8C-B536-B718458A357B}"/>
              </a:ext>
            </a:extLst>
          </p:cNvPr>
          <p:cNvSpPr txBox="1"/>
          <p:nvPr/>
        </p:nvSpPr>
        <p:spPr>
          <a:xfrm>
            <a:off x="2825752" y="351001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输出是：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50DE262-4238-4417-9AF2-4296F931194F}"/>
              </a:ext>
            </a:extLst>
          </p:cNvPr>
          <p:cNvSpPr txBox="1"/>
          <p:nvPr/>
        </p:nvSpPr>
        <p:spPr>
          <a:xfrm>
            <a:off x="2806996" y="3844419"/>
            <a:ext cx="6401834" cy="1754326"/>
          </a:xfrm>
          <a:prstGeom prst="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100-test.c: In function 'main':</a:t>
            </a:r>
          </a:p>
          <a:p>
            <a:r>
              <a:rPr lang="en-US" altLang="zh-CN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100-test.c:4:14: warning: overflow in conversion from 'int' to 'char' changes value from '256' to '0' [-</a:t>
            </a:r>
            <a:r>
              <a:rPr lang="en-US" altLang="zh-CN" sz="18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Woverflow</a:t>
            </a:r>
            <a:r>
              <a:rPr lang="en-US" altLang="zh-CN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]</a:t>
            </a:r>
          </a:p>
          <a:p>
            <a:r>
              <a:rPr lang="en-US" altLang="zh-CN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    char k = 255+1;</a:t>
            </a:r>
          </a:p>
          <a:p>
            <a:r>
              <a:rPr lang="zh-CN" alt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      </a:t>
            </a:r>
            <a:r>
              <a:rPr lang="en-US" altLang="zh-CN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^~~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85DA5C7A-A8C8-494E-9AC8-6F9D179998A7}"/>
              </a:ext>
            </a:extLst>
          </p:cNvPr>
          <p:cNvSpPr/>
          <p:nvPr/>
        </p:nvSpPr>
        <p:spPr>
          <a:xfrm>
            <a:off x="4359349" y="4104168"/>
            <a:ext cx="708837" cy="35441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E231B5FC-B5D8-4CEB-8B16-6AF7D2A3A11F}"/>
              </a:ext>
            </a:extLst>
          </p:cNvPr>
          <p:cNvSpPr/>
          <p:nvPr/>
        </p:nvSpPr>
        <p:spPr>
          <a:xfrm>
            <a:off x="5139071" y="4118344"/>
            <a:ext cx="2537636" cy="35441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3042EE4-2673-4A55-B01E-32D20E0A42A9}"/>
              </a:ext>
            </a:extLst>
          </p:cNvPr>
          <p:cNvSpPr txBox="1"/>
          <p:nvPr/>
        </p:nvSpPr>
        <p:spPr>
          <a:xfrm>
            <a:off x="2806996" y="5630955"/>
            <a:ext cx="736131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阅读编译错误提示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如果忘记写该语句结束的分号，提示是什么？</a:t>
            </a:r>
            <a:endParaRPr lang="en-US" altLang="zh-CN" dirty="0"/>
          </a:p>
          <a:p>
            <a:r>
              <a:rPr lang="zh-CN" altLang="en-US" dirty="0"/>
              <a:t>如果你是</a:t>
            </a:r>
            <a:r>
              <a:rPr lang="en-US" altLang="zh-CN" dirty="0"/>
              <a:t>copy-paste</a:t>
            </a:r>
            <a:r>
              <a:rPr lang="zh-CN" altLang="en-US" dirty="0"/>
              <a:t>来的程序，包含汉字空格或分号，提示是什么？</a:t>
            </a:r>
          </a:p>
        </p:txBody>
      </p:sp>
    </p:spTree>
    <p:extLst>
      <p:ext uri="{BB962C8B-B14F-4D97-AF65-F5344CB8AC3E}">
        <p14:creationId xmlns:p14="http://schemas.microsoft.com/office/powerpoint/2010/main" val="544658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bldLvl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溢出（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Overflow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）的定义与检出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8" name="内容占位符 3">
            <a:extLst>
              <a:ext uri="{FF2B5EF4-FFF2-40B4-BE49-F238E27FC236}">
                <a16:creationId xmlns:a16="http://schemas.microsoft.com/office/drawing/2014/main" id="{C7057DC7-79D5-4376-8F57-871A5A84022A}"/>
              </a:ext>
            </a:extLst>
          </p:cNvPr>
          <p:cNvSpPr>
            <a:spLocks noGrp="1"/>
          </p:cNvSpPr>
          <p:nvPr/>
        </p:nvSpPr>
        <p:spPr>
          <a:xfrm>
            <a:off x="838200" y="1815465"/>
            <a:ext cx="10236200" cy="435165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70000"/>
              </a:lnSpc>
              <a:spcBef>
                <a:spcPts val="6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dirty="0"/>
              <a:t>整数溢出（</a:t>
            </a:r>
            <a:r>
              <a:rPr lang="en-US" altLang="zh-CN" dirty="0"/>
              <a:t>Overflow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zh-CN" altLang="en-US" dirty="0"/>
              <a:t>赋予变量的值超出变量类型定义的范围。例如 </a:t>
            </a:r>
            <a:r>
              <a:rPr lang="en-US" altLang="zh-CN" dirty="0"/>
              <a:t>char </a:t>
            </a:r>
            <a:r>
              <a:rPr lang="en-US" altLang="zh-CN" dirty="0" err="1"/>
              <a:t>i</a:t>
            </a:r>
            <a:r>
              <a:rPr lang="en-US" altLang="zh-CN" dirty="0"/>
              <a:t> = -129</a:t>
            </a:r>
          </a:p>
          <a:p>
            <a:pPr>
              <a:lnSpc>
                <a:spcPct val="120000"/>
              </a:lnSpc>
            </a:pPr>
            <a:r>
              <a:rPr lang="en-US" altLang="zh-CN" dirty="0"/>
              <a:t>C</a:t>
            </a:r>
            <a:r>
              <a:rPr lang="zh-CN" altLang="en-US" dirty="0"/>
              <a:t>语言语法层面可对</a:t>
            </a:r>
            <a:r>
              <a:rPr lang="zh-CN" altLang="en-US" b="1" dirty="0"/>
              <a:t>常数赋值</a:t>
            </a:r>
            <a:r>
              <a:rPr lang="zh-CN" altLang="en-US" dirty="0"/>
              <a:t>进行溢出检查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zh-CN" altLang="en-US" dirty="0"/>
              <a:t>例如 </a:t>
            </a:r>
            <a:r>
              <a:rPr lang="en-US" altLang="zh-CN" dirty="0" err="1"/>
              <a:t>i</a:t>
            </a:r>
            <a:r>
              <a:rPr lang="en-US" altLang="zh-CN" dirty="0"/>
              <a:t> = -1</a:t>
            </a:r>
            <a:r>
              <a:rPr lang="zh-CN" altLang="en-US" dirty="0"/>
              <a:t>；如果 </a:t>
            </a:r>
            <a:r>
              <a:rPr lang="en-US" altLang="zh-CN" dirty="0" err="1"/>
              <a:t>i</a:t>
            </a:r>
            <a:r>
              <a:rPr lang="en-US" altLang="zh-CN" dirty="0"/>
              <a:t> </a:t>
            </a:r>
            <a:r>
              <a:rPr lang="zh-CN" altLang="en-US" dirty="0"/>
              <a:t>是无符号数则是最大值</a:t>
            </a:r>
            <a:r>
              <a:rPr lang="en-US" altLang="zh-CN" dirty="0"/>
              <a:t> </a:t>
            </a:r>
          </a:p>
          <a:p>
            <a:pPr>
              <a:lnSpc>
                <a:spcPct val="120000"/>
              </a:lnSpc>
            </a:pPr>
            <a:endParaRPr lang="en-US" altLang="zh-CN" dirty="0"/>
          </a:p>
          <a:p>
            <a:pPr marL="0" indent="0">
              <a:lnSpc>
                <a:spcPct val="120000"/>
              </a:lnSpc>
              <a:buNone/>
            </a:pPr>
            <a:endParaRPr lang="en-US" altLang="zh-CN" dirty="0"/>
          </a:p>
          <a:p>
            <a:pPr>
              <a:lnSpc>
                <a:spcPct val="120000"/>
              </a:lnSpc>
            </a:pPr>
            <a:endParaRPr lang="en-US" altLang="zh-CN" dirty="0"/>
          </a:p>
          <a:p>
            <a:pPr>
              <a:lnSpc>
                <a:spcPct val="120000"/>
              </a:lnSpc>
            </a:pPr>
            <a:r>
              <a:rPr lang="zh-CN" altLang="en-US" dirty="0"/>
              <a:t>表达式赋值则按转换规则，而不会做任何检查</a:t>
            </a:r>
            <a:endParaRPr lang="en-US" altLang="zh-CN" dirty="0"/>
          </a:p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C00000"/>
                </a:solidFill>
              </a:rPr>
              <a:t>C</a:t>
            </a:r>
            <a:r>
              <a:rPr lang="zh-CN" altLang="en-US" dirty="0">
                <a:solidFill>
                  <a:srgbClr val="C00000"/>
                </a:solidFill>
              </a:rPr>
              <a:t>语言程序员有义务保证不发生溢出！</a:t>
            </a:r>
          </a:p>
          <a:p>
            <a:endParaRPr lang="zh-CN" altLang="en-US" dirty="0">
              <a:solidFill>
                <a:schemeClr val="tx1"/>
              </a:solidFill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CC64B79C-A7ED-41EE-A46D-D281730ED240}"/>
              </a:ext>
            </a:extLst>
          </p:cNvPr>
          <p:cNvGrpSpPr/>
          <p:nvPr/>
        </p:nvGrpSpPr>
        <p:grpSpPr>
          <a:xfrm>
            <a:off x="1733107" y="3667230"/>
            <a:ext cx="8027582" cy="1140497"/>
            <a:chOff x="1733106" y="4401542"/>
            <a:chExt cx="8027582" cy="1140497"/>
          </a:xfrm>
        </p:grpSpPr>
        <p:sp>
          <p:nvSpPr>
            <p:cNvPr id="4" name="箭头: 右 3">
              <a:extLst>
                <a:ext uri="{FF2B5EF4-FFF2-40B4-BE49-F238E27FC236}">
                  <a16:creationId xmlns:a16="http://schemas.microsoft.com/office/drawing/2014/main" id="{B94DBD14-4F22-472E-A0E0-F4303E1E603B}"/>
                </a:ext>
              </a:extLst>
            </p:cNvPr>
            <p:cNvSpPr/>
            <p:nvPr/>
          </p:nvSpPr>
          <p:spPr>
            <a:xfrm>
              <a:off x="7875181" y="4862404"/>
              <a:ext cx="1885507" cy="177647"/>
            </a:xfrm>
            <a:prstGeom prst="rightArrow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箭头: 右 11">
              <a:extLst>
                <a:ext uri="{FF2B5EF4-FFF2-40B4-BE49-F238E27FC236}">
                  <a16:creationId xmlns:a16="http://schemas.microsoft.com/office/drawing/2014/main" id="{CF3E80BD-28CD-4231-82BA-A56E7C18FCDF}"/>
                </a:ext>
              </a:extLst>
            </p:cNvPr>
            <p:cNvSpPr/>
            <p:nvPr/>
          </p:nvSpPr>
          <p:spPr>
            <a:xfrm rot="10800000">
              <a:off x="1733106" y="4878384"/>
              <a:ext cx="2044995" cy="177647"/>
            </a:xfrm>
            <a:prstGeom prst="rightArrow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0ABD66CC-9E77-4D4D-A43F-EBEAE671AC87}"/>
                </a:ext>
              </a:extLst>
            </p:cNvPr>
            <p:cNvCxnSpPr>
              <a:stCxn id="12" idx="1"/>
              <a:endCxn id="4" idx="1"/>
            </p:cNvCxnSpPr>
            <p:nvPr/>
          </p:nvCxnSpPr>
          <p:spPr>
            <a:xfrm flipV="1">
              <a:off x="3778101" y="4951228"/>
              <a:ext cx="4097080" cy="1597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DE16CE13-54E7-4303-AE50-1AD6CA355168}"/>
                </a:ext>
              </a:extLst>
            </p:cNvPr>
            <p:cNvCxnSpPr>
              <a:cxnSpLocks/>
            </p:cNvCxnSpPr>
            <p:nvPr/>
          </p:nvCxnSpPr>
          <p:spPr>
            <a:xfrm>
              <a:off x="5143794" y="4763167"/>
              <a:ext cx="0" cy="34733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9FF91D6E-9350-4E56-890E-5F9915E47F44}"/>
                </a:ext>
              </a:extLst>
            </p:cNvPr>
            <p:cNvCxnSpPr>
              <a:cxnSpLocks/>
            </p:cNvCxnSpPr>
            <p:nvPr/>
          </p:nvCxnSpPr>
          <p:spPr>
            <a:xfrm>
              <a:off x="7875181" y="4763167"/>
              <a:ext cx="0" cy="34733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E4CF7D8C-2E43-40C0-B061-EFAED426605F}"/>
                </a:ext>
              </a:extLst>
            </p:cNvPr>
            <p:cNvCxnSpPr>
              <a:cxnSpLocks/>
            </p:cNvCxnSpPr>
            <p:nvPr/>
          </p:nvCxnSpPr>
          <p:spPr>
            <a:xfrm>
              <a:off x="3778101" y="4763167"/>
              <a:ext cx="0" cy="34733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3D76F193-AB5C-40C8-AC65-F28E1B925BA5}"/>
                </a:ext>
              </a:extLst>
            </p:cNvPr>
            <p:cNvSpPr txBox="1"/>
            <p:nvPr/>
          </p:nvSpPr>
          <p:spPr>
            <a:xfrm>
              <a:off x="7960195" y="4528474"/>
              <a:ext cx="18004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大于无符号最大</a:t>
              </a: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9FDD4C2C-4AFE-4B0E-BDCB-A278FBB647F5}"/>
                </a:ext>
              </a:extLst>
            </p:cNvPr>
            <p:cNvSpPr txBox="1"/>
            <p:nvPr/>
          </p:nvSpPr>
          <p:spPr>
            <a:xfrm>
              <a:off x="1855357" y="4563707"/>
              <a:ext cx="18004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小于有符号最小</a:t>
              </a:r>
            </a:p>
          </p:txBody>
        </p:sp>
        <p:sp>
          <p:nvSpPr>
            <p:cNvPr id="23" name="箭头: 左右 22">
              <a:extLst>
                <a:ext uri="{FF2B5EF4-FFF2-40B4-BE49-F238E27FC236}">
                  <a16:creationId xmlns:a16="http://schemas.microsoft.com/office/drawing/2014/main" id="{A3EF5C3C-211A-4CD0-A0E5-C4107FF363EA}"/>
                </a:ext>
              </a:extLst>
            </p:cNvPr>
            <p:cNvSpPr/>
            <p:nvPr/>
          </p:nvSpPr>
          <p:spPr>
            <a:xfrm>
              <a:off x="3785148" y="4750902"/>
              <a:ext cx="2724339" cy="142183"/>
            </a:xfrm>
            <a:prstGeom prst="leftRightArrow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61E9E0CF-C735-4959-A3D8-A5B31507AC0C}"/>
                </a:ext>
              </a:extLst>
            </p:cNvPr>
            <p:cNvCxnSpPr>
              <a:cxnSpLocks/>
            </p:cNvCxnSpPr>
            <p:nvPr/>
          </p:nvCxnSpPr>
          <p:spPr>
            <a:xfrm>
              <a:off x="6509487" y="4763167"/>
              <a:ext cx="0" cy="34733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箭头: 左右 24">
              <a:extLst>
                <a:ext uri="{FF2B5EF4-FFF2-40B4-BE49-F238E27FC236}">
                  <a16:creationId xmlns:a16="http://schemas.microsoft.com/office/drawing/2014/main" id="{87C70D5F-C244-42E3-8366-0AB9C240824F}"/>
                </a:ext>
              </a:extLst>
            </p:cNvPr>
            <p:cNvSpPr/>
            <p:nvPr/>
          </p:nvSpPr>
          <p:spPr>
            <a:xfrm>
              <a:off x="5157930" y="5062819"/>
              <a:ext cx="2724339" cy="142183"/>
            </a:xfrm>
            <a:prstGeom prst="leftRightArrow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3E46A8A0-42CD-4421-890A-55DADBDCD70F}"/>
                </a:ext>
              </a:extLst>
            </p:cNvPr>
            <p:cNvSpPr txBox="1"/>
            <p:nvPr/>
          </p:nvSpPr>
          <p:spPr>
            <a:xfrm>
              <a:off x="5378408" y="5172707"/>
              <a:ext cx="22621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无符号整数定义区间</a:t>
              </a: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64ECA852-38EE-4AEA-96D6-10FE955E561D}"/>
                </a:ext>
              </a:extLst>
            </p:cNvPr>
            <p:cNvSpPr txBox="1"/>
            <p:nvPr/>
          </p:nvSpPr>
          <p:spPr>
            <a:xfrm>
              <a:off x="4026851" y="4401542"/>
              <a:ext cx="22621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有符号整数定义区间</a:t>
              </a: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081538C7-4A13-4614-8CF9-E3217E079987}"/>
                </a:ext>
              </a:extLst>
            </p:cNvPr>
            <p:cNvSpPr txBox="1"/>
            <p:nvPr/>
          </p:nvSpPr>
          <p:spPr>
            <a:xfrm>
              <a:off x="4997616" y="5082054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0</a:t>
              </a:r>
              <a:endParaRPr lang="zh-CN" altLang="en-US" dirty="0"/>
            </a:p>
          </p:txBody>
        </p:sp>
      </p:grpSp>
      <p:sp>
        <p:nvSpPr>
          <p:cNvPr id="19" name="矩形 18">
            <a:extLst>
              <a:ext uri="{FF2B5EF4-FFF2-40B4-BE49-F238E27FC236}">
                <a16:creationId xmlns:a16="http://schemas.microsoft.com/office/drawing/2014/main" id="{2A0320C2-7341-4A5A-AD11-B41F02337E70}"/>
              </a:ext>
            </a:extLst>
          </p:cNvPr>
          <p:cNvSpPr/>
          <p:nvPr/>
        </p:nvSpPr>
        <p:spPr>
          <a:xfrm>
            <a:off x="6869642" y="3460121"/>
            <a:ext cx="87716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1" cap="none" spc="0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</a:rPr>
              <a:t>？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4495285-9593-40EE-B081-017D3E2842A4}"/>
              </a:ext>
            </a:extLst>
          </p:cNvPr>
          <p:cNvSpPr/>
          <p:nvPr/>
        </p:nvSpPr>
        <p:spPr>
          <a:xfrm>
            <a:off x="4106316" y="4144072"/>
            <a:ext cx="87716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1" cap="none" spc="0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</a:rPr>
              <a:t>？</a:t>
            </a:r>
          </a:p>
        </p:txBody>
      </p:sp>
    </p:spTree>
    <p:extLst>
      <p:ext uri="{BB962C8B-B14F-4D97-AF65-F5344CB8AC3E}">
        <p14:creationId xmlns:p14="http://schemas.microsoft.com/office/powerpoint/2010/main" val="4178420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bldLvl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历史上最著名的缺陷（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BUG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）与溢出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8" name="内容占位符 3">
            <a:extLst>
              <a:ext uri="{FF2B5EF4-FFF2-40B4-BE49-F238E27FC236}">
                <a16:creationId xmlns:a16="http://schemas.microsoft.com/office/drawing/2014/main" id="{C7057DC7-79D5-4376-8F57-871A5A84022A}"/>
              </a:ext>
            </a:extLst>
          </p:cNvPr>
          <p:cNvSpPr>
            <a:spLocks noGrp="1"/>
          </p:cNvSpPr>
          <p:nvPr/>
        </p:nvSpPr>
        <p:spPr>
          <a:xfrm>
            <a:off x="838200" y="1815465"/>
            <a:ext cx="7682023" cy="435165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70000"/>
              </a:lnSpc>
              <a:spcBef>
                <a:spcPts val="6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dirty="0"/>
              <a:t>1996</a:t>
            </a:r>
            <a:r>
              <a:rPr lang="zh-CN" altLang="en-US" dirty="0"/>
              <a:t>年</a:t>
            </a:r>
            <a:r>
              <a:rPr lang="en-US" altLang="zh-CN" dirty="0"/>
              <a:t>6</a:t>
            </a:r>
            <a:r>
              <a:rPr lang="zh-CN" altLang="en-US" dirty="0"/>
              <a:t>月</a:t>
            </a:r>
            <a:r>
              <a:rPr lang="en-US" altLang="zh-CN" dirty="0"/>
              <a:t>4</a:t>
            </a:r>
            <a:r>
              <a:rPr lang="zh-CN" altLang="en-US" dirty="0"/>
              <a:t>日，对于</a:t>
            </a:r>
            <a:r>
              <a:rPr lang="en-US" altLang="zh-CN" dirty="0"/>
              <a:t>Ariane 5</a:t>
            </a:r>
            <a:r>
              <a:rPr lang="zh-CN" altLang="en-US" dirty="0"/>
              <a:t>火箭的初次航行来说，这样一个错误产生了灾难性的后果。发射后仅仅</a:t>
            </a:r>
            <a:r>
              <a:rPr lang="en-US" altLang="zh-CN" dirty="0"/>
              <a:t>37</a:t>
            </a:r>
            <a:r>
              <a:rPr lang="zh-CN" altLang="en-US" dirty="0"/>
              <a:t>秒，火箭偏离它的飞行路径，解体并爆炸了。</a:t>
            </a:r>
            <a:r>
              <a:rPr lang="en-US" altLang="zh-CN" dirty="0"/>
              <a:t>6</a:t>
            </a:r>
            <a:r>
              <a:rPr lang="zh-CN" altLang="en-US" dirty="0"/>
              <a:t>亿美元付之一炬。</a:t>
            </a:r>
          </a:p>
          <a:p>
            <a:pPr>
              <a:lnSpc>
                <a:spcPct val="120000"/>
              </a:lnSpc>
            </a:pPr>
            <a:r>
              <a:rPr lang="zh-CN" altLang="en-US" dirty="0"/>
              <a:t>错误分析：</a:t>
            </a:r>
          </a:p>
          <a:p>
            <a:pPr lvl="1">
              <a:lnSpc>
                <a:spcPct val="120000"/>
              </a:lnSpc>
            </a:pPr>
            <a:r>
              <a:rPr lang="en-US" altLang="zh-CN" dirty="0"/>
              <a:t>during execution of a </a:t>
            </a:r>
            <a:r>
              <a:rPr lang="en-US" altLang="zh-CN" b="1" dirty="0"/>
              <a:t>data conversion </a:t>
            </a:r>
            <a:r>
              <a:rPr lang="en-US" altLang="zh-CN" dirty="0"/>
              <a:t>from </a:t>
            </a:r>
            <a:r>
              <a:rPr lang="en-US" altLang="zh-CN" b="1" dirty="0"/>
              <a:t>64-bit floating point </a:t>
            </a:r>
            <a:r>
              <a:rPr lang="en-US" altLang="zh-CN" dirty="0"/>
              <a:t>to </a:t>
            </a:r>
            <a:r>
              <a:rPr lang="en-US" altLang="zh-CN" b="1" dirty="0"/>
              <a:t>16-bit signed integer value</a:t>
            </a:r>
            <a:r>
              <a:rPr lang="en-US" altLang="zh-CN" dirty="0"/>
              <a:t>. The floating point number which was converted had a value greater than what could be represented by a 16-bit signed integer. This resulted in an Operand Error.</a:t>
            </a:r>
          </a:p>
          <a:p>
            <a:endParaRPr lang="zh-CN" altLang="en-US" dirty="0">
              <a:solidFill>
                <a:schemeClr val="tx1"/>
              </a:solidFill>
            </a:endParaRPr>
          </a:p>
        </p:txBody>
      </p:sp>
      <p:pic>
        <p:nvPicPr>
          <p:cNvPr id="28" name="图片 7" descr="软件危机-Ariane_5_(mock-up).jpg">
            <a:extLst>
              <a:ext uri="{FF2B5EF4-FFF2-40B4-BE49-F238E27FC236}">
                <a16:creationId xmlns:a16="http://schemas.microsoft.com/office/drawing/2014/main" id="{F624BEB9-ECE9-48FF-9FF5-15977F1FA3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8176" y="1387029"/>
            <a:ext cx="2400000" cy="4951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2BF75872-CC51-4CE0-A466-CB014EFA237B}"/>
              </a:ext>
            </a:extLst>
          </p:cNvPr>
          <p:cNvSpPr txBox="1"/>
          <p:nvPr/>
        </p:nvSpPr>
        <p:spPr>
          <a:xfrm>
            <a:off x="920307" y="6268839"/>
            <a:ext cx="6329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hlinkClick r:id="rId5"/>
              </a:rPr>
              <a:t>参考阅读：</a:t>
            </a:r>
            <a:r>
              <a:rPr lang="en-US" altLang="zh-CN" dirty="0">
                <a:hlinkClick r:id="rId5"/>
              </a:rPr>
              <a:t>C</a:t>
            </a:r>
            <a:r>
              <a:rPr lang="zh-CN" altLang="en-US" dirty="0">
                <a:hlinkClick r:id="rId5"/>
              </a:rPr>
              <a:t>语言的整型溢出问题 </a:t>
            </a:r>
            <a:r>
              <a:rPr lang="en-US" altLang="zh-CN" dirty="0">
                <a:hlinkClick r:id="rId5"/>
              </a:rPr>
              <a:t>| </a:t>
            </a:r>
            <a:r>
              <a:rPr lang="zh-CN" altLang="en-US" dirty="0">
                <a:hlinkClick r:id="rId5"/>
              </a:rPr>
              <a:t>酷 壳 </a:t>
            </a:r>
            <a:r>
              <a:rPr lang="en-US" altLang="zh-CN" dirty="0">
                <a:hlinkClick r:id="rId5"/>
              </a:rPr>
              <a:t>- </a:t>
            </a:r>
            <a:r>
              <a:rPr lang="en-US" altLang="zh-CN" dirty="0" err="1">
                <a:hlinkClick r:id="rId5"/>
              </a:rPr>
              <a:t>CoolShell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78594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bldLvl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整型常量（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Constants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）的书写形式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8" name="内容占位符 3">
            <a:extLst>
              <a:ext uri="{FF2B5EF4-FFF2-40B4-BE49-F238E27FC236}">
                <a16:creationId xmlns:a16="http://schemas.microsoft.com/office/drawing/2014/main" id="{C7057DC7-79D5-4376-8F57-871A5A84022A}"/>
              </a:ext>
            </a:extLst>
          </p:cNvPr>
          <p:cNvSpPr>
            <a:spLocks noGrp="1"/>
          </p:cNvSpPr>
          <p:nvPr/>
        </p:nvSpPr>
        <p:spPr>
          <a:xfrm>
            <a:off x="838200" y="1815465"/>
            <a:ext cx="5038060" cy="4351655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70000"/>
              </a:lnSpc>
              <a:spcBef>
                <a:spcPts val="6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dirty="0"/>
              <a:t>允许整数类型的值直接用于表达式。</a:t>
            </a:r>
            <a:endParaRPr lang="en-US" altLang="zh-CN" dirty="0"/>
          </a:p>
          <a:p>
            <a:pPr>
              <a:lnSpc>
                <a:spcPct val="120000"/>
              </a:lnSpc>
            </a:pPr>
            <a:r>
              <a:rPr lang="zh-CN" altLang="en-US" dirty="0"/>
              <a:t>语法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zh-CN" altLang="en-US" dirty="0"/>
              <a:t>十进制常量 整数后缀</a:t>
            </a:r>
            <a:r>
              <a:rPr lang="en-US" altLang="zh-CN" dirty="0"/>
              <a:t>(</a:t>
            </a:r>
            <a:r>
              <a:rPr lang="zh-CN" altLang="en-US" dirty="0"/>
              <a:t>可选</a:t>
            </a:r>
            <a:r>
              <a:rPr lang="en-US" altLang="zh-CN" dirty="0"/>
              <a:t>) 	</a:t>
            </a:r>
          </a:p>
          <a:p>
            <a:pPr lvl="1">
              <a:lnSpc>
                <a:spcPct val="120000"/>
              </a:lnSpc>
            </a:pPr>
            <a:r>
              <a:rPr lang="zh-CN" altLang="en-US" dirty="0"/>
              <a:t>八进制常量 整数后缀</a:t>
            </a:r>
            <a:r>
              <a:rPr lang="en-US" altLang="zh-CN" dirty="0"/>
              <a:t>(</a:t>
            </a:r>
            <a:r>
              <a:rPr lang="zh-CN" altLang="en-US" dirty="0"/>
              <a:t>可选</a:t>
            </a:r>
            <a:r>
              <a:rPr lang="en-US" altLang="zh-CN" dirty="0"/>
              <a:t>)	</a:t>
            </a:r>
          </a:p>
          <a:p>
            <a:pPr lvl="1">
              <a:lnSpc>
                <a:spcPct val="120000"/>
              </a:lnSpc>
            </a:pPr>
            <a:r>
              <a:rPr lang="zh-CN" altLang="en-US" dirty="0"/>
              <a:t>十六进制常量 整数后缀</a:t>
            </a:r>
            <a:r>
              <a:rPr lang="en-US" altLang="zh-CN" dirty="0"/>
              <a:t>(</a:t>
            </a:r>
            <a:r>
              <a:rPr lang="zh-CN" altLang="en-US" dirty="0"/>
              <a:t>可选</a:t>
            </a:r>
            <a:r>
              <a:rPr lang="en-US" altLang="zh-CN" dirty="0"/>
              <a:t>)</a:t>
            </a:r>
          </a:p>
          <a:p>
            <a:pPr>
              <a:lnSpc>
                <a:spcPct val="120000"/>
              </a:lnSpc>
            </a:pPr>
            <a:r>
              <a:rPr lang="zh-CN" altLang="en-US" dirty="0"/>
              <a:t>整数后缀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zh-CN" altLang="en-US" b="0" i="0" dirty="0">
                <a:solidFill>
                  <a:srgbClr val="000000"/>
                </a:solidFill>
                <a:effectLst/>
                <a:latin typeface="DejaVuSans"/>
              </a:rPr>
              <a:t>无后缀</a:t>
            </a:r>
            <a:endParaRPr lang="en-US" altLang="zh-CN" b="0" i="0" dirty="0">
              <a:solidFill>
                <a:srgbClr val="000000"/>
              </a:solidFill>
              <a:effectLst/>
              <a:latin typeface="DejaVuSans"/>
            </a:endParaRPr>
          </a:p>
          <a:p>
            <a:pPr lvl="1">
              <a:lnSpc>
                <a:spcPct val="120000"/>
              </a:lnSpc>
            </a:pPr>
            <a:r>
              <a:rPr lang="en-US" altLang="zh-CN" dirty="0"/>
              <a:t>u </a:t>
            </a:r>
            <a:r>
              <a:rPr lang="zh-CN" altLang="en-US" dirty="0"/>
              <a:t>或 </a:t>
            </a:r>
            <a:r>
              <a:rPr lang="en-US" altLang="zh-CN" dirty="0"/>
              <a:t>U </a:t>
            </a:r>
            <a:r>
              <a:rPr lang="zh-CN" altLang="en-US" dirty="0"/>
              <a:t>（无符号数）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en-US" altLang="zh-CN" dirty="0"/>
              <a:t>l </a:t>
            </a:r>
            <a:r>
              <a:rPr lang="zh-CN" altLang="en-US" dirty="0"/>
              <a:t>或 </a:t>
            </a:r>
            <a:r>
              <a:rPr lang="en-US" altLang="zh-CN" dirty="0"/>
              <a:t>L </a:t>
            </a:r>
            <a:r>
              <a:rPr lang="zh-CN" altLang="en-US" dirty="0"/>
              <a:t>（长整型）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en-US" altLang="zh-CN" dirty="0" err="1"/>
              <a:t>lu</a:t>
            </a:r>
            <a:r>
              <a:rPr lang="en-US" altLang="zh-CN" dirty="0"/>
              <a:t> </a:t>
            </a:r>
            <a:r>
              <a:rPr lang="zh-CN" altLang="en-US" dirty="0"/>
              <a:t>或 </a:t>
            </a:r>
            <a:r>
              <a:rPr lang="en-US" altLang="zh-CN" dirty="0"/>
              <a:t>LU </a:t>
            </a:r>
            <a:r>
              <a:rPr lang="zh-CN" altLang="en-US" dirty="0"/>
              <a:t>（无符号长整型）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en-US" altLang="zh-CN" dirty="0" err="1"/>
              <a:t>ll</a:t>
            </a:r>
            <a:r>
              <a:rPr lang="en-US" altLang="zh-CN" dirty="0"/>
              <a:t> </a:t>
            </a:r>
            <a:r>
              <a:rPr lang="zh-CN" altLang="en-US" dirty="0"/>
              <a:t>或 </a:t>
            </a:r>
            <a:r>
              <a:rPr lang="en-US" altLang="zh-CN" dirty="0"/>
              <a:t>LL </a:t>
            </a:r>
            <a:r>
              <a:rPr lang="zh-CN" altLang="en-US" dirty="0"/>
              <a:t>（长长整型）</a:t>
            </a:r>
            <a:endParaRPr lang="en-US" altLang="zh-CN" dirty="0"/>
          </a:p>
          <a:p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B0E5925-FE0B-49B3-96FC-A354BBE8E762}"/>
              </a:ext>
            </a:extLst>
          </p:cNvPr>
          <p:cNvSpPr txBox="1"/>
          <p:nvPr/>
        </p:nvSpPr>
        <p:spPr>
          <a:xfrm>
            <a:off x="6096000" y="1968816"/>
            <a:ext cx="5257800" cy="1754326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052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0x2a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0X2A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 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420L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ll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052LL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7282BE0-49C7-4802-AF76-A78788990B2B}"/>
              </a:ext>
            </a:extLst>
          </p:cNvPr>
          <p:cNvSpPr txBox="1"/>
          <p:nvPr/>
        </p:nvSpPr>
        <p:spPr>
          <a:xfrm>
            <a:off x="6096000" y="4366437"/>
            <a:ext cx="31309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详细参考：</a:t>
            </a:r>
            <a:endParaRPr lang="en-US" altLang="zh-CN" dirty="0"/>
          </a:p>
          <a:p>
            <a:r>
              <a:rPr lang="zh-CN" altLang="en-US" dirty="0">
                <a:hlinkClick r:id="rId4"/>
              </a:rPr>
              <a:t>整数常量 </a:t>
            </a:r>
            <a:r>
              <a:rPr lang="en-US" altLang="zh-CN" dirty="0">
                <a:hlinkClick r:id="rId4"/>
              </a:rPr>
              <a:t>- cppreference.com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82830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bldLvl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24429AD7-1E80-4183-8BF3-CF6DD577AA5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请问哪些语句是错误的？</a:t>
            </a:r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r>
              <a:rPr lang="en-US" altLang="zh-CN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altLang="zh-CN" sz="2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zh-CN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sz="2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altLang="zh-CN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altLang="zh-CN" sz="2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042</a:t>
            </a:r>
            <a:r>
              <a:rPr lang="en-US" altLang="zh-CN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  </a:t>
            </a:r>
            <a:r>
              <a:rPr lang="en-US" altLang="zh-CN" sz="2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//(1)</a:t>
            </a:r>
            <a:endParaRPr lang="en-US" altLang="zh-CN" sz="2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altLang="zh-CN" sz="2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zh-CN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sz="2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</a:t>
            </a:r>
            <a:r>
              <a:rPr lang="en-US" altLang="zh-CN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altLang="zh-CN" sz="2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52LU</a:t>
            </a:r>
            <a:r>
              <a:rPr lang="en-US" altLang="zh-CN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 </a:t>
            </a:r>
            <a:r>
              <a:rPr lang="en-US" altLang="zh-CN" sz="2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//(2)</a:t>
            </a:r>
            <a:endParaRPr lang="en-US" altLang="zh-CN" sz="2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altLang="zh-CN" sz="2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zh-CN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sz="2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en-US" altLang="zh-CN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-</a:t>
            </a:r>
            <a:r>
              <a:rPr lang="en-US" altLang="zh-CN" sz="2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130</a:t>
            </a:r>
            <a:r>
              <a:rPr lang="en-US" altLang="zh-CN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 </a:t>
            </a:r>
            <a:r>
              <a:rPr lang="en-US" altLang="zh-CN" sz="2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//(3)</a:t>
            </a:r>
            <a:endParaRPr lang="en-US" altLang="zh-CN" sz="2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659FE9F-FFD9-4631-B3AC-7A9623AB04D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(1)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2730EFB-BA1C-4B84-8728-48A6D4DB22F6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(2)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1B70527-7DD0-4ABB-B467-F2A34633B357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(3)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204AEBF-09AD-49DD-8181-F2F45850059B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None of above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34A544C8-436A-4BC5-8D30-67A0EBFBFFF1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BC756ED9-D79A-4916-9B3B-7BBF6542E2A0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C8F271C0-8643-4827-B96E-0AFBA6347A0C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33FBCCE4-55C8-47B0-B22F-247994134C52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2478FA50-6247-42D1-B090-53A90E068D5C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8531F19E-8C1D-496E-9AEE-8C610F590DA4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586C2320-2D7C-415B-8D12-1A6884DE4978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CCE9B8AB-547B-4D78-B636-3A60EA232815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F3A76F45-0255-4B79-ADFE-A7206900E2CC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F9D32D8D-576C-4145-ACB1-7135BC47CB5A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A29A00CC-0021-4D19-BF31-4E8CA0D8BB54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197156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604" b="46967"/>
          <a:stretch>
            <a:fillRect/>
          </a:stretch>
        </p:blipFill>
        <p:spPr>
          <a:xfrm>
            <a:off x="0" y="2176476"/>
            <a:ext cx="12209296" cy="2877923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0" y="2176477"/>
            <a:ext cx="12192000" cy="2877922"/>
          </a:xfrm>
          <a:prstGeom prst="rect">
            <a:avLst/>
          </a:prstGeom>
          <a:gradFill>
            <a:gsLst>
              <a:gs pos="0">
                <a:srgbClr val="014723"/>
              </a:gs>
              <a:gs pos="59000">
                <a:srgbClr val="014723">
                  <a:alpha val="60000"/>
                </a:srgbClr>
              </a:gs>
              <a:gs pos="100000">
                <a:srgbClr val="014723">
                  <a:alpha val="10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1525153" y="2793810"/>
            <a:ext cx="915899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浮点数及其表示（选讲）</a:t>
            </a:r>
          </a:p>
        </p:txBody>
      </p:sp>
      <p:sp>
        <p:nvSpPr>
          <p:cNvPr id="16" name="TextBox 10"/>
          <p:cNvSpPr txBox="1"/>
          <p:nvPr/>
        </p:nvSpPr>
        <p:spPr>
          <a:xfrm>
            <a:off x="2565806" y="3990096"/>
            <a:ext cx="7060388" cy="523196"/>
          </a:xfrm>
          <a:prstGeom prst="rect">
            <a:avLst/>
          </a:prstGeom>
          <a:noFill/>
        </p:spPr>
        <p:txBody>
          <a:bodyPr wrap="square" lIns="91416" tIns="45708" rIns="91416" bIns="45708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/>
            <a:r>
              <a:rPr lang="en-US" altLang="zh-CN" sz="2800" dirty="0" err="1">
                <a:solidFill>
                  <a:schemeClr val="bg1">
                    <a:lumMod val="95000"/>
                  </a:schemeClr>
                </a:solidFill>
              </a:rPr>
              <a:t>Floatings</a:t>
            </a:r>
            <a:r>
              <a:rPr lang="en-US" altLang="zh-CN" sz="2800" dirty="0">
                <a:solidFill>
                  <a:schemeClr val="bg1">
                    <a:lumMod val="95000"/>
                  </a:schemeClr>
                </a:solidFill>
              </a:rPr>
              <a:t> and their representation</a:t>
            </a:r>
            <a:endParaRPr lang="en-US" altLang="zh-CN" sz="280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200" r="2284" b="11992"/>
          <a:stretch>
            <a:fillRect/>
          </a:stretch>
        </p:blipFill>
        <p:spPr>
          <a:xfrm>
            <a:off x="4339400" y="923192"/>
            <a:ext cx="3433000" cy="1072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508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50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750"/>
                            </p:stCondLst>
                            <p:childTnLst>
                              <p:par>
                                <p:cTn id="15" presetID="8" presetClass="entr" presetSubtype="3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1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5" grpId="0"/>
      <p:bldP spid="16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浮点数（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floating number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）与格式化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E8FA8C6C-8F30-4720-9344-001E4D696DEF}"/>
              </a:ext>
            </a:extLst>
          </p:cNvPr>
          <p:cNvSpPr txBox="1"/>
          <p:nvPr/>
        </p:nvSpPr>
        <p:spPr>
          <a:xfrm>
            <a:off x="2675860" y="1560316"/>
            <a:ext cx="6581554" cy="3693319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/*floating format*/</a:t>
            </a:r>
          </a:p>
          <a:p>
            <a:r>
              <a:rPr lang="en-US" altLang="zh-C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stdio.h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{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-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2.263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13.367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+ 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 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详细说明见：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https://zh.cppreference.com/w/c/io/fprintf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%-8.2f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 add 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%08.2f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 equal 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%.4e</a:t>
            </a:r>
            <a:r>
              <a:rPr lang="en-US" altLang="zh-CN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altLang="zh-C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F6BE1CB-6D37-4F58-B54A-02567245B932}"/>
              </a:ext>
            </a:extLst>
          </p:cNvPr>
          <p:cNvSpPr txBox="1"/>
          <p:nvPr/>
        </p:nvSpPr>
        <p:spPr>
          <a:xfrm>
            <a:off x="2675861" y="5323961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输出是：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36C83E4-C7E6-4600-BAB6-CA03E78A6B0F}"/>
              </a:ext>
            </a:extLst>
          </p:cNvPr>
          <p:cNvSpPr txBox="1"/>
          <p:nvPr/>
        </p:nvSpPr>
        <p:spPr>
          <a:xfrm>
            <a:off x="2675860" y="5676485"/>
            <a:ext cx="7006855" cy="369332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pt-BR" altLang="zh-CN" dirty="0">
                <a:solidFill>
                  <a:prstClr val="black"/>
                </a:solidFill>
                <a:latin typeface="Consolas" panose="020B0609020204030204" pitchFamily="49" charset="0"/>
              </a:rPr>
              <a:t>-2.26    add 00013.37 equal 1.1104e+001</a:t>
            </a:r>
            <a:endParaRPr lang="en-US" altLang="zh-CN" dirty="0" err="1">
              <a:solidFill>
                <a:prstClr val="black"/>
              </a:solidFill>
              <a:latin typeface="Consolas" panose="020B0609020204030204" pitchFamily="49" charset="0"/>
            </a:endParaRP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4BC96ECE-1C76-4035-B57C-3E458D594923}"/>
              </a:ext>
            </a:extLst>
          </p:cNvPr>
          <p:cNvGrpSpPr/>
          <p:nvPr/>
        </p:nvGrpSpPr>
        <p:grpSpPr>
          <a:xfrm>
            <a:off x="4664149" y="2317370"/>
            <a:ext cx="7289418" cy="3451286"/>
            <a:chOff x="4664149" y="2062540"/>
            <a:chExt cx="7289418" cy="3451286"/>
          </a:xfrm>
        </p:grpSpPr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22EFE241-D08E-419B-AD9A-7E9CC703F53C}"/>
                </a:ext>
              </a:extLst>
            </p:cNvPr>
            <p:cNvSpPr txBox="1"/>
            <p:nvPr/>
          </p:nvSpPr>
          <p:spPr>
            <a:xfrm>
              <a:off x="6599274" y="2062540"/>
              <a:ext cx="5354293" cy="36933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b="0" dirty="0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double </a:t>
              </a:r>
              <a:r>
                <a:rPr lang="zh-CN" altLang="en-US" b="0" dirty="0">
                  <a:effectLst/>
                  <a:latin typeface="Consolas" panose="020B0609020204030204" pitchFamily="49" charset="0"/>
                </a:rPr>
                <a:t>表示浮点类型，这里定义了变量 </a:t>
              </a:r>
              <a:r>
                <a:rPr lang="en-US" altLang="zh-CN" b="0" dirty="0">
                  <a:effectLst/>
                  <a:latin typeface="Consolas" panose="020B0609020204030204" pitchFamily="49" charset="0"/>
                </a:rPr>
                <a:t>x </a:t>
              </a:r>
              <a:r>
                <a:rPr lang="zh-CN" altLang="en-US" b="0" dirty="0">
                  <a:effectLst/>
                  <a:latin typeface="Consolas" panose="020B0609020204030204" pitchFamily="49" charset="0"/>
                </a:rPr>
                <a:t>和 </a:t>
              </a:r>
              <a:r>
                <a:rPr lang="en-US" altLang="zh-CN" b="0" dirty="0">
                  <a:effectLst/>
                  <a:latin typeface="Consolas" panose="020B0609020204030204" pitchFamily="49" charset="0"/>
                </a:rPr>
                <a:t>y</a:t>
              </a:r>
              <a:endParaRPr lang="zh-CN" altLang="en-US" dirty="0"/>
            </a:p>
          </p:txBody>
        </p:sp>
        <p:cxnSp>
          <p:nvCxnSpPr>
            <p:cNvPr id="5" name="直接连接符 4">
              <a:extLst>
                <a:ext uri="{FF2B5EF4-FFF2-40B4-BE49-F238E27FC236}">
                  <a16:creationId xmlns:a16="http://schemas.microsoft.com/office/drawing/2014/main" id="{4A220AFC-5A5C-49DD-A2F5-D7DAD4D630FE}"/>
                </a:ext>
              </a:extLst>
            </p:cNvPr>
            <p:cNvCxnSpPr>
              <a:stCxn id="13" idx="1"/>
            </p:cNvCxnSpPr>
            <p:nvPr/>
          </p:nvCxnSpPr>
          <p:spPr>
            <a:xfrm flipH="1">
              <a:off x="4664149" y="2247206"/>
              <a:ext cx="1935125" cy="361315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EA4E6FAA-FCE0-4E14-B9D6-FA901E73C5FB}"/>
                </a:ext>
              </a:extLst>
            </p:cNvPr>
            <p:cNvSpPr txBox="1"/>
            <p:nvPr/>
          </p:nvSpPr>
          <p:spPr>
            <a:xfrm>
              <a:off x="6599274" y="2701284"/>
              <a:ext cx="5354293" cy="36933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b="0" dirty="0">
                  <a:effectLst/>
                  <a:latin typeface="Consolas" panose="020B0609020204030204" pitchFamily="49" charset="0"/>
                </a:rPr>
                <a:t>变量赋值 </a:t>
              </a:r>
              <a:endParaRPr lang="zh-CN" altLang="en-US" dirty="0"/>
            </a:p>
          </p:txBody>
        </p: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BC0A223D-2C41-411E-AB84-4F90425F8614}"/>
                </a:ext>
              </a:extLst>
            </p:cNvPr>
            <p:cNvCxnSpPr>
              <a:cxnSpLocks/>
              <a:stCxn id="16" idx="1"/>
            </p:cNvCxnSpPr>
            <p:nvPr/>
          </p:nvCxnSpPr>
          <p:spPr>
            <a:xfrm flipH="1">
              <a:off x="4664150" y="2885950"/>
              <a:ext cx="1935124" cy="79601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31D4DF0B-DF2C-428C-932D-A0AD324A9283}"/>
                </a:ext>
              </a:extLst>
            </p:cNvPr>
            <p:cNvSpPr txBox="1"/>
            <p:nvPr/>
          </p:nvSpPr>
          <p:spPr>
            <a:xfrm>
              <a:off x="6599274" y="4407414"/>
              <a:ext cx="5354293" cy="36933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b="0" dirty="0">
                  <a:effectLst/>
                  <a:latin typeface="Consolas" panose="020B0609020204030204" pitchFamily="49" charset="0"/>
                </a:rPr>
                <a:t>精度</a:t>
              </a:r>
              <a:r>
                <a:rPr lang="en-US" altLang="zh-CN" dirty="0">
                  <a:latin typeface="Consolas" panose="020B0609020204030204" pitchFamily="49" charset="0"/>
                </a:rPr>
                <a:t>4</a:t>
              </a:r>
              <a:r>
                <a:rPr lang="zh-CN" altLang="en-US" b="0" dirty="0">
                  <a:effectLst/>
                  <a:latin typeface="Consolas" panose="020B0609020204030204" pitchFamily="49" charset="0"/>
                </a:rPr>
                <a:t>位，科学计算法输出 </a:t>
              </a:r>
              <a:endParaRPr lang="zh-CN" altLang="en-US" dirty="0"/>
            </a:p>
          </p:txBody>
        </p: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425D0680-A291-40C5-80B0-2AEB599D6F3E}"/>
                </a:ext>
              </a:extLst>
            </p:cNvPr>
            <p:cNvCxnSpPr>
              <a:cxnSpLocks/>
              <a:stCxn id="24" idx="1"/>
            </p:cNvCxnSpPr>
            <p:nvPr/>
          </p:nvCxnSpPr>
          <p:spPr>
            <a:xfrm flipH="1" flipV="1">
              <a:off x="4756298" y="4351996"/>
              <a:ext cx="1842974" cy="977164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1F9D905A-B809-4B05-8D23-006A1F703BE7}"/>
                </a:ext>
              </a:extLst>
            </p:cNvPr>
            <p:cNvSpPr txBox="1"/>
            <p:nvPr/>
          </p:nvSpPr>
          <p:spPr>
            <a:xfrm>
              <a:off x="6599273" y="4761752"/>
              <a:ext cx="5354293" cy="36933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latin typeface="Consolas" panose="020B0609020204030204" pitchFamily="49" charset="0"/>
                </a:rPr>
                <a:t>用</a:t>
              </a:r>
              <a:r>
                <a:rPr lang="en-US" altLang="zh-CN" dirty="0">
                  <a:latin typeface="Consolas" panose="020B0609020204030204" pitchFamily="49" charset="0"/>
                </a:rPr>
                <a:t>0</a:t>
              </a:r>
              <a:r>
                <a:rPr lang="zh-CN" altLang="en-US" dirty="0">
                  <a:latin typeface="Consolas" panose="020B0609020204030204" pitchFamily="49" charset="0"/>
                </a:rPr>
                <a:t>补齐</a:t>
              </a:r>
              <a:r>
                <a:rPr lang="zh-CN" altLang="en-US" b="0" dirty="0">
                  <a:effectLst/>
                  <a:latin typeface="Consolas" panose="020B0609020204030204" pitchFamily="49" charset="0"/>
                </a:rPr>
                <a:t>，宽度</a:t>
              </a:r>
              <a:r>
                <a:rPr lang="en-US" altLang="zh-CN" b="0" dirty="0">
                  <a:effectLst/>
                  <a:latin typeface="Consolas" panose="020B0609020204030204" pitchFamily="49" charset="0"/>
                </a:rPr>
                <a:t>8</a:t>
              </a:r>
              <a:r>
                <a:rPr lang="zh-CN" altLang="en-US" b="0" dirty="0">
                  <a:effectLst/>
                  <a:latin typeface="Consolas" panose="020B0609020204030204" pitchFamily="49" charset="0"/>
                </a:rPr>
                <a:t>，精度</a:t>
              </a:r>
              <a:r>
                <a:rPr lang="en-US" altLang="zh-CN" b="0" dirty="0">
                  <a:effectLst/>
                  <a:latin typeface="Consolas" panose="020B0609020204030204" pitchFamily="49" charset="0"/>
                </a:rPr>
                <a:t>2</a:t>
              </a:r>
              <a:r>
                <a:rPr lang="zh-CN" altLang="en-US" b="0" dirty="0">
                  <a:effectLst/>
                  <a:latin typeface="Consolas" panose="020B0609020204030204" pitchFamily="49" charset="0"/>
                </a:rPr>
                <a:t>位，浮点数输出 </a:t>
              </a:r>
              <a:endParaRPr lang="zh-CN" altLang="en-US" dirty="0"/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74A8E7E3-039B-4333-A003-C326CC000FC9}"/>
                </a:ext>
              </a:extLst>
            </p:cNvPr>
            <p:cNvSpPr txBox="1"/>
            <p:nvPr/>
          </p:nvSpPr>
          <p:spPr>
            <a:xfrm>
              <a:off x="6599272" y="5144494"/>
              <a:ext cx="5354293" cy="36933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b="0" dirty="0">
                  <a:effectLst/>
                  <a:latin typeface="Consolas" panose="020B0609020204030204" pitchFamily="49" charset="0"/>
                </a:rPr>
                <a:t>左对齐，宽度</a:t>
              </a:r>
              <a:r>
                <a:rPr lang="en-US" altLang="zh-CN" b="0" dirty="0">
                  <a:effectLst/>
                  <a:latin typeface="Consolas" panose="020B0609020204030204" pitchFamily="49" charset="0"/>
                </a:rPr>
                <a:t>8</a:t>
              </a:r>
              <a:r>
                <a:rPr lang="zh-CN" altLang="en-US" b="0" dirty="0">
                  <a:effectLst/>
                  <a:latin typeface="Consolas" panose="020B0609020204030204" pitchFamily="49" charset="0"/>
                </a:rPr>
                <a:t>，精度</a:t>
              </a:r>
              <a:r>
                <a:rPr lang="en-US" altLang="zh-CN" b="0" dirty="0">
                  <a:effectLst/>
                  <a:latin typeface="Consolas" panose="020B0609020204030204" pitchFamily="49" charset="0"/>
                </a:rPr>
                <a:t>2</a:t>
              </a:r>
              <a:r>
                <a:rPr lang="zh-CN" altLang="en-US" b="0" dirty="0">
                  <a:effectLst/>
                  <a:latin typeface="Consolas" panose="020B0609020204030204" pitchFamily="49" charset="0"/>
                </a:rPr>
                <a:t>位，浮点数输出 </a:t>
              </a:r>
              <a:endParaRPr lang="zh-CN" altLang="en-US" dirty="0"/>
            </a:p>
          </p:txBody>
        </p: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1C7949CF-7688-4953-978D-F8B0A22C06CD}"/>
                </a:ext>
              </a:extLst>
            </p:cNvPr>
            <p:cNvCxnSpPr>
              <a:cxnSpLocks/>
              <a:stCxn id="23" idx="1"/>
            </p:cNvCxnSpPr>
            <p:nvPr/>
          </p:nvCxnSpPr>
          <p:spPr>
            <a:xfrm flipH="1" flipV="1">
              <a:off x="5891723" y="4365406"/>
              <a:ext cx="707550" cy="581012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1C7B8B71-F0BA-40D9-AC24-01572F4F2C6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71714" y="4338376"/>
              <a:ext cx="90816" cy="76051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70124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bldLvl="0" animBg="1"/>
      <p:bldP spid="12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浮点数数据类型与常量表示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8" name="内容占位符 3">
            <a:extLst>
              <a:ext uri="{FF2B5EF4-FFF2-40B4-BE49-F238E27FC236}">
                <a16:creationId xmlns:a16="http://schemas.microsoft.com/office/drawing/2014/main" id="{C7057DC7-79D5-4376-8F57-871A5A84022A}"/>
              </a:ext>
            </a:extLst>
          </p:cNvPr>
          <p:cNvSpPr>
            <a:spLocks noGrp="1"/>
          </p:cNvSpPr>
          <p:nvPr/>
        </p:nvSpPr>
        <p:spPr>
          <a:xfrm>
            <a:off x="838200" y="1815465"/>
            <a:ext cx="5038060" cy="43516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70000"/>
              </a:lnSpc>
              <a:spcBef>
                <a:spcPts val="6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dirty="0"/>
              <a:t>双精度数（</a:t>
            </a:r>
            <a:r>
              <a:rPr lang="en-US" altLang="zh-CN" dirty="0"/>
              <a:t>double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en-US" altLang="zh-CN" dirty="0"/>
              <a:t>8</a:t>
            </a:r>
            <a:r>
              <a:rPr lang="zh-CN" altLang="en-US" dirty="0"/>
              <a:t>个字节（</a:t>
            </a:r>
            <a:r>
              <a:rPr lang="en-US" altLang="zh-CN" dirty="0"/>
              <a:t>64</a:t>
            </a:r>
            <a:r>
              <a:rPr lang="zh-CN" altLang="en-US" dirty="0"/>
              <a:t>位）</a:t>
            </a:r>
            <a:r>
              <a:rPr lang="en-US" altLang="zh-CN" dirty="0"/>
              <a:t>	</a:t>
            </a:r>
          </a:p>
          <a:p>
            <a:pPr lvl="1">
              <a:lnSpc>
                <a:spcPct val="120000"/>
              </a:lnSpc>
            </a:pPr>
            <a:r>
              <a:rPr lang="zh-CN" altLang="en-US" dirty="0"/>
              <a:t>有效数字 </a:t>
            </a:r>
            <a:r>
              <a:rPr lang="en-US" altLang="zh-CN" dirty="0"/>
              <a:t>15~16</a:t>
            </a:r>
            <a:r>
              <a:rPr lang="zh-CN" altLang="en-US" dirty="0"/>
              <a:t>位</a:t>
            </a:r>
            <a:r>
              <a:rPr lang="en-US" altLang="zh-CN" dirty="0"/>
              <a:t>	</a:t>
            </a:r>
          </a:p>
          <a:p>
            <a:pPr lvl="1">
              <a:lnSpc>
                <a:spcPct val="120000"/>
              </a:lnSpc>
            </a:pPr>
            <a:r>
              <a:rPr lang="zh-CN" altLang="en-US" dirty="0"/>
              <a:t>指数部分 </a:t>
            </a:r>
            <a:r>
              <a:rPr lang="en-US" altLang="zh-CN" dirty="0"/>
              <a:t>10</a:t>
            </a:r>
            <a:r>
              <a:rPr lang="en-US" altLang="zh-CN" baseline="30000" dirty="0"/>
              <a:t>-307</a:t>
            </a:r>
            <a:r>
              <a:rPr lang="en-US" altLang="zh-CN" dirty="0"/>
              <a:t>~10</a:t>
            </a:r>
            <a:r>
              <a:rPr lang="en-US" altLang="zh-CN" baseline="30000" dirty="0"/>
              <a:t>308</a:t>
            </a:r>
          </a:p>
          <a:p>
            <a:pPr>
              <a:lnSpc>
                <a:spcPct val="120000"/>
              </a:lnSpc>
            </a:pPr>
            <a:r>
              <a:rPr lang="zh-CN" altLang="en-US" dirty="0"/>
              <a:t>单精度数（</a:t>
            </a:r>
            <a:r>
              <a:rPr lang="en-US" altLang="zh-CN" dirty="0"/>
              <a:t>float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en-US" altLang="zh-CN" dirty="0"/>
              <a:t>4</a:t>
            </a:r>
            <a:r>
              <a:rPr lang="zh-CN" altLang="en-US" dirty="0"/>
              <a:t>个字节（</a:t>
            </a:r>
            <a:r>
              <a:rPr lang="en-US" altLang="zh-CN" dirty="0"/>
              <a:t>32</a:t>
            </a:r>
            <a:r>
              <a:rPr lang="zh-CN" altLang="en-US" dirty="0"/>
              <a:t>位）</a:t>
            </a:r>
            <a:r>
              <a:rPr lang="en-US" altLang="zh-CN" dirty="0"/>
              <a:t>	</a:t>
            </a:r>
          </a:p>
          <a:p>
            <a:pPr lvl="1">
              <a:lnSpc>
                <a:spcPct val="120000"/>
              </a:lnSpc>
            </a:pPr>
            <a:r>
              <a:rPr lang="zh-CN" altLang="en-US" dirty="0"/>
              <a:t>有效数字 </a:t>
            </a:r>
            <a:r>
              <a:rPr lang="en-US" altLang="zh-CN" dirty="0"/>
              <a:t>6	</a:t>
            </a:r>
          </a:p>
          <a:p>
            <a:pPr lvl="1">
              <a:lnSpc>
                <a:spcPct val="120000"/>
              </a:lnSpc>
            </a:pPr>
            <a:r>
              <a:rPr lang="zh-CN" altLang="en-US" dirty="0"/>
              <a:t>指数部分 </a:t>
            </a:r>
            <a:r>
              <a:rPr lang="en-US" altLang="zh-CN" dirty="0"/>
              <a:t>10</a:t>
            </a:r>
            <a:r>
              <a:rPr lang="en-US" altLang="zh-CN" baseline="30000" dirty="0"/>
              <a:t>-37</a:t>
            </a:r>
            <a:r>
              <a:rPr lang="en-US" altLang="zh-CN" dirty="0"/>
              <a:t>~10</a:t>
            </a:r>
            <a:r>
              <a:rPr lang="en-US" altLang="zh-CN" baseline="30000" dirty="0"/>
              <a:t>38</a:t>
            </a:r>
          </a:p>
          <a:p>
            <a:pPr lvl="1">
              <a:lnSpc>
                <a:spcPct val="120000"/>
              </a:lnSpc>
            </a:pPr>
            <a:endParaRPr lang="en-US" altLang="zh-CN" baseline="30000" dirty="0"/>
          </a:p>
          <a:p>
            <a:pPr marL="0" indent="0">
              <a:lnSpc>
                <a:spcPct val="120000"/>
              </a:lnSpc>
              <a:buNone/>
            </a:pPr>
            <a:endParaRPr lang="en-US" altLang="zh-CN" baseline="30000" dirty="0"/>
          </a:p>
          <a:p>
            <a:pPr marL="457200" lvl="1" indent="0">
              <a:lnSpc>
                <a:spcPct val="120000"/>
              </a:lnSpc>
              <a:buNone/>
            </a:pPr>
            <a:endParaRPr lang="en-US" altLang="zh-CN" dirty="0"/>
          </a:p>
          <a:p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B0E5925-FE0B-49B3-96FC-A354BBE8E762}"/>
              </a:ext>
            </a:extLst>
          </p:cNvPr>
          <p:cNvSpPr txBox="1"/>
          <p:nvPr/>
        </p:nvSpPr>
        <p:spPr>
          <a:xfrm>
            <a:off x="5947145" y="1933374"/>
            <a:ext cx="5257800" cy="1200329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42.0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4.2e1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42.0f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 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4.2e1f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7282BE0-49C7-4802-AF76-A78788990B2B}"/>
              </a:ext>
            </a:extLst>
          </p:cNvPr>
          <p:cNvSpPr txBox="1"/>
          <p:nvPr/>
        </p:nvSpPr>
        <p:spPr>
          <a:xfrm>
            <a:off x="5832845" y="3814996"/>
            <a:ext cx="313098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详细参考：</a:t>
            </a:r>
            <a:endParaRPr lang="en-US" altLang="zh-CN" dirty="0"/>
          </a:p>
          <a:p>
            <a:r>
              <a:rPr lang="zh-CN" altLang="en-US" dirty="0">
                <a:hlinkClick r:id="rId4"/>
              </a:rPr>
              <a:t>浮点常量 </a:t>
            </a:r>
            <a:r>
              <a:rPr lang="en-US" altLang="zh-CN" dirty="0">
                <a:hlinkClick r:id="rId4"/>
              </a:rPr>
              <a:t>- cppreference.com</a:t>
            </a:r>
            <a:endParaRPr lang="en-US" altLang="zh-CN" dirty="0"/>
          </a:p>
          <a:p>
            <a:r>
              <a:rPr lang="zh-CN" altLang="en-US" dirty="0">
                <a:hlinkClick r:id="rId5"/>
              </a:rPr>
              <a:t>算术类型 </a:t>
            </a:r>
            <a:r>
              <a:rPr lang="en-US" altLang="zh-CN" dirty="0">
                <a:hlinkClick r:id="rId5"/>
              </a:rPr>
              <a:t>- cppreference.com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26013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bldLvl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小数（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Fraction part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）转二进制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9D1C3C5-3649-4C6C-91C6-95E5C2F587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778" y="2999888"/>
            <a:ext cx="6297714" cy="2828789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ED32520-F484-4995-BCD1-32940176FD50}"/>
              </a:ext>
            </a:extLst>
          </p:cNvPr>
          <p:cNvSpPr txBox="1"/>
          <p:nvPr/>
        </p:nvSpPr>
        <p:spPr>
          <a:xfrm>
            <a:off x="524540" y="2495107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基本原理与方法：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CEE6FCD-85B9-4C2D-8F0C-407730F8B922}"/>
              </a:ext>
            </a:extLst>
          </p:cNvPr>
          <p:cNvSpPr txBox="1"/>
          <p:nvPr/>
        </p:nvSpPr>
        <p:spPr>
          <a:xfrm>
            <a:off x="7669618" y="1923848"/>
            <a:ext cx="3477234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</a:rPr>
              <a:t>   0.15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x2</a:t>
            </a:r>
            <a:r>
              <a:rPr lang="zh-CN" altLang="en-US" dirty="0">
                <a:latin typeface="Consolas" panose="020B0609020204030204" pitchFamily="49" charset="0"/>
              </a:rPr>
              <a:t> </a:t>
            </a:r>
            <a:r>
              <a:rPr lang="en-US" altLang="zh-CN" dirty="0">
                <a:latin typeface="Consolas" panose="020B0609020204030204" pitchFamily="49" charset="0"/>
              </a:rPr>
              <a:t>0.30 -- 0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x2 0.60 -- 0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x2 1.20 -- 1 *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x2 0.40 -- 0 * 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x2 0.80 -- 0 *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x2 1.60 -- 1 *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x2 1.20 -- 1 …</a:t>
            </a:r>
          </a:p>
          <a:p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0.15 =(0.00100110011001…)</a:t>
            </a:r>
            <a:r>
              <a:rPr lang="en-US" altLang="zh-CN" baseline="-25000" dirty="0"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7654892-4B23-487D-BCAA-B3E5CA17649D}"/>
              </a:ext>
            </a:extLst>
          </p:cNvPr>
          <p:cNvSpPr txBox="1"/>
          <p:nvPr/>
        </p:nvSpPr>
        <p:spPr>
          <a:xfrm>
            <a:off x="7379862" y="5064886"/>
            <a:ext cx="38702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以此，只要用二进制表示小数部分，绝大多数十进制数转二进制必然产生舍入误差（精度误差）</a:t>
            </a:r>
          </a:p>
        </p:txBody>
      </p:sp>
    </p:spTree>
    <p:extLst>
      <p:ext uri="{BB962C8B-B14F-4D97-AF65-F5344CB8AC3E}">
        <p14:creationId xmlns:p14="http://schemas.microsoft.com/office/powerpoint/2010/main" val="2087417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bldLvl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IEEE 745-2008 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标准与浮点数内存格式（了解）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666BBF5F-9F02-4163-A45F-FB24F5C570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494" y="2004052"/>
            <a:ext cx="7358063" cy="3500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288FF936-DAC1-4219-94A1-B0EEE1F03282}"/>
              </a:ext>
            </a:extLst>
          </p:cNvPr>
          <p:cNvSpPr txBox="1"/>
          <p:nvPr/>
        </p:nvSpPr>
        <p:spPr>
          <a:xfrm>
            <a:off x="246494" y="1583845"/>
            <a:ext cx="4570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单精度数与双精度数在内存中的存储格式：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94F84B1-3C24-494F-BFD7-940E35924343}"/>
              </a:ext>
            </a:extLst>
          </p:cNvPr>
          <p:cNvSpPr txBox="1"/>
          <p:nvPr/>
        </p:nvSpPr>
        <p:spPr>
          <a:xfrm>
            <a:off x="7731973" y="1885507"/>
            <a:ext cx="4490332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Consolas" panose="020B0609020204030204" pitchFamily="49" charset="0"/>
              </a:rPr>
              <a:t>例如：</a:t>
            </a:r>
            <a:r>
              <a:rPr lang="en-US" altLang="zh-CN" dirty="0">
                <a:latin typeface="Consolas" panose="020B0609020204030204" pitchFamily="49" charset="0"/>
              </a:rPr>
              <a:t>0.15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= 1.0011 0011 0011 0011 0011 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001[1] * 2</a:t>
            </a:r>
            <a:r>
              <a:rPr lang="en-US" altLang="zh-CN" baseline="30000" dirty="0">
                <a:latin typeface="Consolas" panose="020B0609020204030204" pitchFamily="49" charset="0"/>
              </a:rPr>
              <a:t>-3</a:t>
            </a:r>
          </a:p>
          <a:p>
            <a:r>
              <a:rPr lang="zh-CN" altLang="en-US" dirty="0">
                <a:latin typeface="Consolas" panose="020B0609020204030204" pitchFamily="49" charset="0"/>
              </a:rPr>
              <a:t>注意：四舍五入</a:t>
            </a:r>
            <a:endParaRPr lang="en-US" altLang="zh-CN" dirty="0">
              <a:latin typeface="Consolas" panose="020B0609020204030204" pitchFamily="49" charset="0"/>
            </a:endParaRPr>
          </a:p>
          <a:p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float x = 0.15f;</a:t>
            </a:r>
          </a:p>
          <a:p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按</a:t>
            </a:r>
            <a:r>
              <a:rPr lang="en-US" altLang="zh-CN" dirty="0">
                <a:latin typeface="Consolas" panose="020B0609020204030204" pitchFamily="49" charset="0"/>
              </a:rPr>
              <a:t>IEEE 745</a:t>
            </a:r>
            <a:r>
              <a:rPr lang="zh-CN" altLang="en-US" dirty="0">
                <a:latin typeface="Consolas" panose="020B0609020204030204" pitchFamily="49" charset="0"/>
              </a:rPr>
              <a:t>规范：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Sign  0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Exp  127-3  </a:t>
            </a:r>
            <a:r>
              <a:rPr lang="zh-CN" altLang="en-US" dirty="0">
                <a:latin typeface="Consolas" panose="020B0609020204030204" pitchFamily="49" charset="0"/>
              </a:rPr>
              <a:t>即 </a:t>
            </a:r>
            <a:r>
              <a:rPr lang="en-US" altLang="zh-CN" dirty="0">
                <a:latin typeface="Consolas" panose="020B0609020204030204" pitchFamily="49" charset="0"/>
              </a:rPr>
              <a:t>0x7C = 0111 1100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Manti 0011,0011,0011,0011,0011,010</a:t>
            </a:r>
          </a:p>
          <a:p>
            <a:endParaRPr lang="en-US" altLang="zh-CN" dirty="0"/>
          </a:p>
          <a:p>
            <a:r>
              <a:rPr lang="zh-CN" altLang="en-US" dirty="0"/>
              <a:t>结果：</a:t>
            </a:r>
            <a:endParaRPr lang="en-US" altLang="zh-CN" dirty="0"/>
          </a:p>
          <a:p>
            <a:r>
              <a:rPr lang="en-US" altLang="zh-CN" dirty="0">
                <a:latin typeface="Consolas" panose="020B0609020204030204" pitchFamily="49" charset="0"/>
              </a:rPr>
              <a:t>0011 1110 0001</a:t>
            </a:r>
            <a:r>
              <a:rPr lang="zh-CN" altLang="en-US" dirty="0">
                <a:latin typeface="Consolas" panose="020B0609020204030204" pitchFamily="49" charset="0"/>
              </a:rPr>
              <a:t> </a:t>
            </a:r>
            <a:r>
              <a:rPr lang="en-US" altLang="zh-CN" dirty="0">
                <a:latin typeface="Consolas" panose="020B0609020204030204" pitchFamily="49" charset="0"/>
              </a:rPr>
              <a:t>1001</a:t>
            </a:r>
            <a:r>
              <a:rPr lang="zh-CN" altLang="en-US" dirty="0">
                <a:latin typeface="Consolas" panose="020B0609020204030204" pitchFamily="49" charset="0"/>
              </a:rPr>
              <a:t> 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1001</a:t>
            </a:r>
            <a:r>
              <a:rPr lang="zh-CN" altLang="en-US" dirty="0">
                <a:latin typeface="Consolas" panose="020B0609020204030204" pitchFamily="49" charset="0"/>
              </a:rPr>
              <a:t> </a:t>
            </a:r>
            <a:r>
              <a:rPr lang="en-US" altLang="zh-CN" dirty="0">
                <a:latin typeface="Consolas" panose="020B0609020204030204" pitchFamily="49" charset="0"/>
              </a:rPr>
              <a:t>1001 1001 1010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x </a:t>
            </a:r>
            <a:r>
              <a:rPr lang="zh-CN" altLang="en-US" dirty="0">
                <a:latin typeface="Consolas" panose="020B0609020204030204" pitchFamily="49" charset="0"/>
              </a:rPr>
              <a:t>的二进制存储是 </a:t>
            </a:r>
            <a:r>
              <a:rPr lang="en-US" altLang="zh-CN" dirty="0">
                <a:latin typeface="Consolas" panose="020B0609020204030204" pitchFamily="49" charset="0"/>
              </a:rPr>
              <a:t>0x3E19999A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1F6FA61-7545-4397-D7B9-1349B2C02C08}"/>
              </a:ext>
            </a:extLst>
          </p:cNvPr>
          <p:cNvSpPr txBox="1"/>
          <p:nvPr/>
        </p:nvSpPr>
        <p:spPr>
          <a:xfrm>
            <a:off x="7731973" y="6396111"/>
            <a:ext cx="1359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</a:rPr>
              <a:t>print-</a:t>
            </a:r>
            <a:r>
              <a:rPr lang="en-US" altLang="zh-CN" dirty="0" err="1">
                <a:solidFill>
                  <a:schemeClr val="bg1">
                    <a:lumMod val="50000"/>
                  </a:schemeClr>
                </a:solidFill>
              </a:rPr>
              <a:t>float.c</a:t>
            </a:r>
            <a:endParaRPr lang="zh-CN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BD3EB0D-3D18-9A37-2DD9-2145E50FF387}"/>
              </a:ext>
            </a:extLst>
          </p:cNvPr>
          <p:cNvSpPr txBox="1"/>
          <p:nvPr/>
        </p:nvSpPr>
        <p:spPr>
          <a:xfrm>
            <a:off x="373910" y="5565114"/>
            <a:ext cx="4993675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实数转为二进制表示：</a:t>
            </a:r>
            <a:endParaRPr lang="en-US" altLang="zh-CN" b="1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sz="1600" dirty="0"/>
              <a:t>把实数的整数和小数部分分别转为二进制。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 sz="1600" dirty="0"/>
              <a:t>表示成二进制科学计数法。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 sz="1600" dirty="0"/>
              <a:t>按</a:t>
            </a:r>
            <a:r>
              <a:rPr lang="en-US" altLang="zh-CN" sz="1600" dirty="0"/>
              <a:t>IEEE</a:t>
            </a:r>
            <a:r>
              <a:rPr lang="zh-CN" altLang="en-US" sz="1600" dirty="0"/>
              <a:t>规范，计算符号位，指数部分，小数部分。</a:t>
            </a:r>
          </a:p>
        </p:txBody>
      </p:sp>
    </p:spTree>
    <p:extLst>
      <p:ext uri="{BB962C8B-B14F-4D97-AF65-F5344CB8AC3E}">
        <p14:creationId xmlns:p14="http://schemas.microsoft.com/office/powerpoint/2010/main" val="73455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bldLvl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溢出（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Overflow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）和精度误差（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accuracy error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）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E66DF7E2-D8E9-4C13-ABBE-58AB2FED732F}"/>
              </a:ext>
            </a:extLst>
          </p:cNvPr>
          <p:cNvSpPr txBox="1"/>
          <p:nvPr/>
        </p:nvSpPr>
        <p:spPr>
          <a:xfrm>
            <a:off x="985947" y="1663405"/>
            <a:ext cx="6327508" cy="5078313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/*floating accuracy*/</a:t>
            </a:r>
          </a:p>
          <a:p>
            <a:r>
              <a:rPr lang="en-US" altLang="zh-C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stdio.h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{ 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2.0e+307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* 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 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超出 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double 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范围的常量。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"+2.0e+308 --&gt; 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%e</a:t>
            </a:r>
            <a:r>
              <a:rPr lang="en-US" altLang="zh-CN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 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123456789.0f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"123456789f --&gt; 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%.8e</a:t>
            </a:r>
            <a:r>
              <a:rPr lang="en-US" altLang="zh-CN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 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+ 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"123456790f --&gt; 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%.8e</a:t>
            </a:r>
            <a:r>
              <a:rPr lang="en-US" altLang="zh-CN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 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+ 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此处省去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句 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y = y + 1;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+ 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"1234568XXf --&gt; 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%.8e</a:t>
            </a:r>
            <a:r>
              <a:rPr lang="en-US" altLang="zh-CN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 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FD4BF8D-AC05-448F-B50A-43E6F9E5B6C1}"/>
              </a:ext>
            </a:extLst>
          </p:cNvPr>
          <p:cNvSpPr txBox="1"/>
          <p:nvPr/>
        </p:nvSpPr>
        <p:spPr>
          <a:xfrm>
            <a:off x="7672933" y="3106298"/>
            <a:ext cx="3949022" cy="1200329"/>
          </a:xfrm>
          <a:prstGeom prst="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/>
              <a:t>+2.0e+308 --&gt; 1.#INF00e+000</a:t>
            </a:r>
          </a:p>
          <a:p>
            <a:r>
              <a:rPr lang="en-US" altLang="zh-CN" dirty="0"/>
              <a:t>123456789f --&gt; 1.23456792e+008</a:t>
            </a:r>
          </a:p>
          <a:p>
            <a:r>
              <a:rPr lang="en-US" altLang="zh-CN" dirty="0"/>
              <a:t>123456790f --&gt; 1.23456792e+008</a:t>
            </a:r>
          </a:p>
          <a:p>
            <a:r>
              <a:rPr lang="en-US" altLang="zh-CN" dirty="0"/>
              <a:t>1234568XXf --&gt; 1.23456792e+008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E708C58-ED74-42C3-9E44-F6BFAA6B927C}"/>
              </a:ext>
            </a:extLst>
          </p:cNvPr>
          <p:cNvSpPr txBox="1"/>
          <p:nvPr/>
        </p:nvSpPr>
        <p:spPr>
          <a:xfrm>
            <a:off x="7672934" y="4962889"/>
            <a:ext cx="39490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5D5D"/>
                </a:solidFill>
              </a:rPr>
              <a:t>认识用有限位数表示数据产生的问题，才能编出正确可靠的程序！</a:t>
            </a:r>
          </a:p>
        </p:txBody>
      </p:sp>
    </p:spTree>
    <p:extLst>
      <p:ext uri="{BB962C8B-B14F-4D97-AF65-F5344CB8AC3E}">
        <p14:creationId xmlns:p14="http://schemas.microsoft.com/office/powerpoint/2010/main" val="41356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bldLvl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604" b="46967"/>
          <a:stretch>
            <a:fillRect/>
          </a:stretch>
        </p:blipFill>
        <p:spPr>
          <a:xfrm>
            <a:off x="0" y="2176476"/>
            <a:ext cx="12209296" cy="2877923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0" y="2176477"/>
            <a:ext cx="12192000" cy="2877922"/>
          </a:xfrm>
          <a:prstGeom prst="rect">
            <a:avLst/>
          </a:prstGeom>
          <a:gradFill>
            <a:gsLst>
              <a:gs pos="0">
                <a:srgbClr val="014723"/>
              </a:gs>
              <a:gs pos="59000">
                <a:srgbClr val="014723">
                  <a:alpha val="60000"/>
                </a:srgbClr>
              </a:gs>
              <a:gs pos="100000">
                <a:srgbClr val="014723">
                  <a:alpha val="10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1525153" y="2793810"/>
            <a:ext cx="915899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变量在计算机内部</a:t>
            </a: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200" r="2284" b="11992"/>
          <a:stretch>
            <a:fillRect/>
          </a:stretch>
        </p:blipFill>
        <p:spPr>
          <a:xfrm>
            <a:off x="4339400" y="923192"/>
            <a:ext cx="3433000" cy="1072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568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50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5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内存（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Memory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）及其组织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4" name="内容占位符 3"/>
          <p:cNvSpPr>
            <a:spLocks noGrp="1"/>
          </p:cNvSpPr>
          <p:nvPr/>
        </p:nvSpPr>
        <p:spPr>
          <a:xfrm>
            <a:off x="838200" y="1815465"/>
            <a:ext cx="10236200" cy="43516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70000"/>
              </a:lnSpc>
              <a:spcBef>
                <a:spcPts val="6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000" dirty="0"/>
              <a:t>内存是计算机存储信息的电路</a:t>
            </a:r>
            <a:endParaRPr lang="en-US" altLang="zh-CN" sz="2000" dirty="0"/>
          </a:p>
          <a:p>
            <a:pPr>
              <a:lnSpc>
                <a:spcPct val="120000"/>
              </a:lnSpc>
            </a:pPr>
            <a:r>
              <a:rPr lang="zh-CN" altLang="en-US" sz="2000" b="1" dirty="0"/>
              <a:t>位（</a:t>
            </a:r>
            <a:r>
              <a:rPr lang="en-US" altLang="zh-CN" sz="2000" b="1" dirty="0"/>
              <a:t>bit</a:t>
            </a:r>
            <a:r>
              <a:rPr lang="zh-CN" altLang="en-US" sz="2000" b="1" dirty="0"/>
              <a:t>，比特）</a:t>
            </a:r>
            <a:r>
              <a:rPr lang="zh-CN" altLang="en-US" sz="2000" dirty="0"/>
              <a:t>：</a:t>
            </a:r>
            <a:endParaRPr lang="en-US" altLang="zh-CN" sz="2000" dirty="0"/>
          </a:p>
          <a:p>
            <a:pPr lvl="1">
              <a:lnSpc>
                <a:spcPct val="120000"/>
              </a:lnSpc>
            </a:pPr>
            <a:r>
              <a:rPr lang="zh-CN" altLang="en-US" sz="1600" dirty="0"/>
              <a:t>存储</a:t>
            </a:r>
            <a:r>
              <a:rPr lang="en-US" altLang="zh-CN" sz="1600" dirty="0"/>
              <a:t>1</a:t>
            </a:r>
            <a:r>
              <a:rPr lang="zh-CN" altLang="en-US" sz="1600" dirty="0"/>
              <a:t>位二进制数</a:t>
            </a:r>
            <a:endParaRPr lang="en-US" altLang="zh-CN" sz="1600" dirty="0"/>
          </a:p>
          <a:p>
            <a:pPr>
              <a:lnSpc>
                <a:spcPct val="120000"/>
              </a:lnSpc>
            </a:pPr>
            <a:r>
              <a:rPr lang="zh-CN" altLang="en-US" sz="2000" b="1" dirty="0"/>
              <a:t>字节（</a:t>
            </a:r>
            <a:r>
              <a:rPr lang="en-US" altLang="zh-CN" sz="2000" b="1" dirty="0"/>
              <a:t>Byte</a:t>
            </a:r>
            <a:r>
              <a:rPr lang="zh-CN" altLang="en-US" sz="2000" b="1" dirty="0"/>
              <a:t>）</a:t>
            </a:r>
            <a:endParaRPr lang="en-US" altLang="zh-CN" sz="2000" b="1" dirty="0"/>
          </a:p>
          <a:p>
            <a:pPr lvl="1">
              <a:lnSpc>
                <a:spcPct val="120000"/>
              </a:lnSpc>
            </a:pPr>
            <a:r>
              <a:rPr lang="zh-CN" altLang="en-US" sz="1600" dirty="0"/>
              <a:t>最基本的</a:t>
            </a:r>
            <a:r>
              <a:rPr lang="zh-CN" altLang="en-US" sz="1600" b="1" dirty="0"/>
              <a:t>存储单元</a:t>
            </a:r>
            <a:endParaRPr lang="en-US" altLang="zh-CN" sz="1600" b="1" dirty="0"/>
          </a:p>
          <a:p>
            <a:pPr lvl="1">
              <a:lnSpc>
                <a:spcPct val="120000"/>
              </a:lnSpc>
            </a:pPr>
            <a:r>
              <a:rPr lang="zh-CN" altLang="en-US" sz="1600" dirty="0"/>
              <a:t>包含 </a:t>
            </a:r>
            <a:r>
              <a:rPr lang="en-US" altLang="zh-CN" sz="1600" dirty="0"/>
              <a:t>8 </a:t>
            </a:r>
            <a:r>
              <a:rPr lang="zh-CN" altLang="en-US" sz="1600" dirty="0"/>
              <a:t>个 </a:t>
            </a:r>
            <a:r>
              <a:rPr lang="en-US" altLang="zh-CN" sz="1600" dirty="0"/>
              <a:t>bit</a:t>
            </a:r>
          </a:p>
          <a:p>
            <a:pPr>
              <a:lnSpc>
                <a:spcPct val="120000"/>
              </a:lnSpc>
            </a:pPr>
            <a:r>
              <a:rPr lang="zh-CN" altLang="en-US" sz="2000" b="1" dirty="0"/>
              <a:t>地址（</a:t>
            </a:r>
            <a:r>
              <a:rPr lang="en-US" altLang="zh-CN" sz="2000" b="1" dirty="0"/>
              <a:t>Address</a:t>
            </a:r>
            <a:r>
              <a:rPr lang="zh-CN" altLang="en-US" sz="2000" b="1" dirty="0"/>
              <a:t>）</a:t>
            </a:r>
            <a:endParaRPr lang="en-US" altLang="zh-CN" sz="2000" b="1" dirty="0"/>
          </a:p>
          <a:p>
            <a:pPr lvl="1">
              <a:lnSpc>
                <a:spcPct val="120000"/>
              </a:lnSpc>
            </a:pPr>
            <a:r>
              <a:rPr lang="zh-CN" altLang="en-US" sz="1600" dirty="0"/>
              <a:t>存储单元的编码</a:t>
            </a:r>
            <a:endParaRPr lang="en-US" altLang="zh-CN" sz="1600" dirty="0"/>
          </a:p>
          <a:p>
            <a:pPr>
              <a:lnSpc>
                <a:spcPct val="120000"/>
              </a:lnSpc>
            </a:pPr>
            <a:r>
              <a:rPr lang="zh-CN" altLang="en-US" sz="2000" b="1" dirty="0"/>
              <a:t>地址空间（</a:t>
            </a:r>
            <a:r>
              <a:rPr lang="en-US" altLang="zh-CN" sz="2000" b="1" dirty="0"/>
              <a:t> Address Space</a:t>
            </a:r>
            <a:r>
              <a:rPr lang="zh-CN" altLang="en-US" sz="2000" b="1" dirty="0"/>
              <a:t>）</a:t>
            </a:r>
            <a:endParaRPr lang="en-US" altLang="zh-CN" sz="2000" b="1" dirty="0"/>
          </a:p>
          <a:p>
            <a:pPr lvl="1">
              <a:lnSpc>
                <a:spcPct val="120000"/>
              </a:lnSpc>
            </a:pPr>
            <a:r>
              <a:rPr lang="en-US" altLang="zh-CN" sz="1600" dirty="0"/>
              <a:t>0 .. 2</a:t>
            </a:r>
            <a:r>
              <a:rPr lang="en-US" altLang="zh-CN" sz="1600" baseline="30000" dirty="0"/>
              <a:t>n </a:t>
            </a:r>
            <a:r>
              <a:rPr lang="zh-CN" altLang="en-US" sz="1600" dirty="0"/>
              <a:t>；例如：</a:t>
            </a:r>
            <a:r>
              <a:rPr lang="en-US" altLang="zh-CN" sz="1600" dirty="0"/>
              <a:t>n=32 </a:t>
            </a:r>
            <a:r>
              <a:rPr lang="zh-CN" altLang="en-US" sz="1600" dirty="0"/>
              <a:t>（</a:t>
            </a:r>
            <a:r>
              <a:rPr lang="en-US" altLang="zh-CN" sz="1600" dirty="0"/>
              <a:t>4G</a:t>
            </a:r>
            <a:r>
              <a:rPr lang="zh-CN" altLang="en-US" sz="1600" dirty="0"/>
              <a:t>）</a:t>
            </a:r>
            <a:endParaRPr lang="en-US" altLang="zh-CN" sz="1600" baseline="30000" dirty="0"/>
          </a:p>
          <a:p>
            <a:pPr lvl="1">
              <a:lnSpc>
                <a:spcPct val="120000"/>
              </a:lnSpc>
            </a:pPr>
            <a:endParaRPr lang="en-US" altLang="zh-CN" sz="1600" dirty="0"/>
          </a:p>
          <a:p>
            <a:pPr>
              <a:lnSpc>
                <a:spcPct val="120000"/>
              </a:lnSpc>
            </a:pPr>
            <a:endParaRPr lang="en-US" altLang="zh-CN" sz="2400" dirty="0"/>
          </a:p>
        </p:txBody>
      </p:sp>
      <p:pic>
        <p:nvPicPr>
          <p:cNvPr id="5" name="Picture 5" descr="c05p122a">
            <a:extLst>
              <a:ext uri="{FF2B5EF4-FFF2-40B4-BE49-F238E27FC236}">
                <a16:creationId xmlns:a16="http://schemas.microsoft.com/office/drawing/2014/main" id="{E16D24C0-06BA-ADAF-0670-47A05A3686AE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9386" y="1908867"/>
            <a:ext cx="4325808" cy="4157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58102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bldLvl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内存容量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4" name="内容占位符 3"/>
          <p:cNvSpPr>
            <a:spLocks noGrp="1"/>
          </p:cNvSpPr>
          <p:nvPr/>
        </p:nvSpPr>
        <p:spPr>
          <a:xfrm>
            <a:off x="838200" y="1815465"/>
            <a:ext cx="10236200" cy="43516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70000"/>
              </a:lnSpc>
              <a:spcBef>
                <a:spcPts val="6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000" dirty="0"/>
              <a:t>内存是地址用二进制表示。</a:t>
            </a:r>
            <a:endParaRPr lang="en-US" altLang="zh-CN" sz="2000" dirty="0"/>
          </a:p>
          <a:p>
            <a:pPr>
              <a:lnSpc>
                <a:spcPct val="120000"/>
              </a:lnSpc>
            </a:pPr>
            <a:r>
              <a:rPr lang="zh-CN" altLang="en-US" sz="2000" dirty="0"/>
              <a:t>每个内存存储单元使用一个唯一的地址</a:t>
            </a:r>
            <a:endParaRPr lang="en-US" altLang="zh-CN" sz="2000" dirty="0"/>
          </a:p>
          <a:p>
            <a:pPr>
              <a:lnSpc>
                <a:spcPct val="120000"/>
              </a:lnSpc>
            </a:pPr>
            <a:r>
              <a:rPr lang="zh-CN" altLang="en-US" sz="2000" dirty="0"/>
              <a:t>内存容量的单位</a:t>
            </a:r>
            <a:endParaRPr lang="en-US" altLang="zh-CN" sz="2000" dirty="0"/>
          </a:p>
          <a:p>
            <a:pPr>
              <a:lnSpc>
                <a:spcPct val="120000"/>
              </a:lnSpc>
            </a:pPr>
            <a:endParaRPr lang="en-US" altLang="zh-CN" sz="2000" dirty="0"/>
          </a:p>
          <a:p>
            <a:pPr>
              <a:lnSpc>
                <a:spcPct val="120000"/>
              </a:lnSpc>
            </a:pPr>
            <a:endParaRPr lang="en-US" altLang="zh-CN" sz="2000" dirty="0"/>
          </a:p>
          <a:p>
            <a:pPr>
              <a:lnSpc>
                <a:spcPct val="120000"/>
              </a:lnSpc>
            </a:pPr>
            <a:endParaRPr lang="en-US" altLang="zh-CN" sz="2000" dirty="0"/>
          </a:p>
          <a:p>
            <a:pPr>
              <a:lnSpc>
                <a:spcPct val="120000"/>
              </a:lnSpc>
            </a:pPr>
            <a:endParaRPr lang="en-US" altLang="zh-CN" sz="2000" dirty="0"/>
          </a:p>
          <a:p>
            <a:pPr>
              <a:lnSpc>
                <a:spcPct val="120000"/>
              </a:lnSpc>
            </a:pPr>
            <a:r>
              <a:rPr lang="zh-CN" altLang="en-US" sz="2000" dirty="0"/>
              <a:t>例如：</a:t>
            </a:r>
            <a:r>
              <a:rPr lang="en-US" altLang="zh-CN" sz="2000" dirty="0"/>
              <a:t>8G</a:t>
            </a:r>
            <a:r>
              <a:rPr lang="zh-CN" altLang="en-US" sz="2000" dirty="0"/>
              <a:t>内存，表示有</a:t>
            </a:r>
            <a:r>
              <a:rPr lang="en-US" altLang="zh-CN" sz="2000" dirty="0"/>
              <a:t>2</a:t>
            </a:r>
            <a:r>
              <a:rPr lang="en-US" altLang="zh-CN" sz="2000" baseline="30000" dirty="0"/>
              <a:t>33</a:t>
            </a:r>
            <a:r>
              <a:rPr lang="zh-CN" altLang="en-US" sz="2000" dirty="0"/>
              <a:t>个地址或存储单元或</a:t>
            </a:r>
            <a:r>
              <a:rPr lang="en-US" altLang="zh-CN" sz="2000" dirty="0"/>
              <a:t>Bytes</a:t>
            </a:r>
          </a:p>
          <a:p>
            <a:pPr lvl="1">
              <a:lnSpc>
                <a:spcPct val="120000"/>
              </a:lnSpc>
            </a:pPr>
            <a:endParaRPr lang="en-US" altLang="zh-CN" sz="1600" dirty="0"/>
          </a:p>
          <a:p>
            <a:pPr>
              <a:lnSpc>
                <a:spcPct val="120000"/>
              </a:lnSpc>
            </a:pPr>
            <a:endParaRPr lang="en-US" altLang="zh-CN" sz="2400" dirty="0"/>
          </a:p>
        </p:txBody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34D3051E-87D1-C1F5-C4EB-758AF395FE33}"/>
              </a:ext>
            </a:extLst>
          </p:cNvPr>
          <p:cNvGrpSpPr>
            <a:grpSpLocks/>
          </p:cNvGrpSpPr>
          <p:nvPr/>
        </p:nvGrpSpPr>
        <p:grpSpPr bwMode="auto">
          <a:xfrm>
            <a:off x="2479702" y="3334375"/>
            <a:ext cx="7553325" cy="1709738"/>
            <a:chOff x="-144" y="2304"/>
            <a:chExt cx="5035" cy="1077"/>
          </a:xfrm>
        </p:grpSpPr>
        <p:sp>
          <p:nvSpPr>
            <p:cNvPr id="9" name="Text Box 5">
              <a:extLst>
                <a:ext uri="{FF2B5EF4-FFF2-40B4-BE49-F238E27FC236}">
                  <a16:creationId xmlns:a16="http://schemas.microsoft.com/office/drawing/2014/main" id="{188E2043-0329-013F-266D-3BACA59876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44" y="2304"/>
              <a:ext cx="1776" cy="1077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381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" charset="0"/>
                  <a:ea typeface="宋体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charset="0"/>
                  <a:ea typeface="宋体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charset="0"/>
                  <a:ea typeface="宋体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charset="0"/>
                  <a:ea typeface="宋体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  <a:ea typeface="宋体" charset="0"/>
                </a:defRPr>
              </a:lvl9pPr>
            </a:lstStyle>
            <a:p>
              <a:pPr algn="ctr">
                <a:lnSpc>
                  <a:spcPct val="73000"/>
                </a:lnSpc>
                <a:defRPr/>
              </a:pPr>
              <a:r>
                <a:rPr lang="en-US" altLang="zh-CN" b="1" i="1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charset="0"/>
                </a:rPr>
                <a:t>Unit</a:t>
              </a:r>
              <a:br>
                <a:rPr lang="en-US" altLang="zh-CN">
                  <a:latin typeface="Times New Roman" charset="0"/>
                </a:rPr>
              </a:br>
              <a:r>
                <a:rPr lang="en-US" altLang="zh-CN">
                  <a:latin typeface="Times New Roman" charset="0"/>
                </a:rPr>
                <a:t>------------</a:t>
              </a:r>
            </a:p>
            <a:p>
              <a:pPr algn="ctr">
                <a:lnSpc>
                  <a:spcPct val="73000"/>
                </a:lnSpc>
                <a:defRPr/>
              </a:pPr>
              <a:r>
                <a:rPr lang="en-US" altLang="zh-CN">
                  <a:latin typeface="Times New Roman" charset="0"/>
                </a:rPr>
                <a:t>Kilobyte      (K)</a:t>
              </a:r>
            </a:p>
            <a:p>
              <a:pPr algn="ctr">
                <a:lnSpc>
                  <a:spcPct val="73000"/>
                </a:lnSpc>
                <a:defRPr/>
              </a:pPr>
              <a:r>
                <a:rPr lang="en-US" altLang="zh-CN">
                  <a:latin typeface="Times New Roman" charset="0"/>
                </a:rPr>
                <a:t>Megabyte    (M)</a:t>
              </a:r>
            </a:p>
            <a:p>
              <a:pPr algn="ctr">
                <a:lnSpc>
                  <a:spcPct val="73000"/>
                </a:lnSpc>
                <a:defRPr/>
              </a:pPr>
              <a:r>
                <a:rPr lang="en-US" altLang="zh-CN">
                  <a:latin typeface="Times New Roman" charset="0"/>
                </a:rPr>
                <a:t>Gigabyte     (G)</a:t>
              </a:r>
            </a:p>
            <a:p>
              <a:pPr algn="ctr">
                <a:lnSpc>
                  <a:spcPct val="73000"/>
                </a:lnSpc>
                <a:defRPr/>
              </a:pPr>
              <a:r>
                <a:rPr lang="en-US" altLang="zh-CN">
                  <a:latin typeface="Times New Roman" charset="0"/>
                </a:rPr>
                <a:t>Terabyte      (T)</a:t>
              </a:r>
            </a:p>
          </p:txBody>
        </p:sp>
        <p:sp>
          <p:nvSpPr>
            <p:cNvPr id="10" name="Text Box 6">
              <a:extLst>
                <a:ext uri="{FF2B5EF4-FFF2-40B4-BE49-F238E27FC236}">
                  <a16:creationId xmlns:a16="http://schemas.microsoft.com/office/drawing/2014/main" id="{FE48F87A-140B-C060-50B4-10FB331524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44" y="2304"/>
              <a:ext cx="1814" cy="103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38100">
              <a:solidFill>
                <a:schemeClr val="accent1">
                  <a:lumMod val="20000"/>
                  <a:lumOff val="80000"/>
                </a:schemeClr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" charset="0"/>
                  <a:ea typeface="宋体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charset="0"/>
                  <a:ea typeface="宋体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charset="0"/>
                  <a:ea typeface="宋体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charset="0"/>
                  <a:ea typeface="宋体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  <a:ea typeface="宋体" charset="0"/>
                </a:defRPr>
              </a:lvl9pPr>
            </a:lstStyle>
            <a:p>
              <a:pPr algn="ctr">
                <a:lnSpc>
                  <a:spcPct val="70000"/>
                </a:lnSpc>
                <a:defRPr/>
              </a:pPr>
              <a:r>
                <a:rPr lang="en-US" altLang="zh-CN" b="1" i="1">
                  <a:effectLst>
                    <a:outerShdw blurRad="38100" dist="38100" dir="2700000" algn="tl">
                      <a:srgbClr val="DDDDDD"/>
                    </a:outerShdw>
                  </a:effectLst>
                  <a:latin typeface="Times New Roman" charset="0"/>
                </a:rPr>
                <a:t> Number of bytes</a:t>
              </a:r>
              <a:br>
                <a:rPr lang="en-US" altLang="zh-CN">
                  <a:latin typeface="Times New Roman" charset="0"/>
                </a:rPr>
              </a:br>
              <a:r>
                <a:rPr lang="en-US" altLang="zh-CN">
                  <a:latin typeface="Times New Roman" charset="0"/>
                </a:rPr>
                <a:t>------------------------</a:t>
              </a:r>
            </a:p>
            <a:p>
              <a:pPr algn="ctr">
                <a:lnSpc>
                  <a:spcPct val="70000"/>
                </a:lnSpc>
                <a:defRPr/>
              </a:pPr>
              <a:r>
                <a:rPr lang="en-US" altLang="zh-CN">
                  <a:latin typeface="Times New Roman" charset="0"/>
                </a:rPr>
                <a:t>2</a:t>
              </a:r>
              <a:r>
                <a:rPr lang="en-US" altLang="zh-CN" baseline="30000">
                  <a:latin typeface="Times New Roman" charset="0"/>
                </a:rPr>
                <a:t>10   </a:t>
              </a:r>
              <a:r>
                <a:rPr lang="en-US" altLang="zh-CN">
                  <a:latin typeface="Times New Roman" charset="0"/>
                </a:rPr>
                <a:t>bytes</a:t>
              </a:r>
            </a:p>
            <a:p>
              <a:pPr algn="ctr">
                <a:lnSpc>
                  <a:spcPct val="70000"/>
                </a:lnSpc>
                <a:defRPr/>
              </a:pPr>
              <a:r>
                <a:rPr lang="en-US" altLang="zh-CN">
                  <a:latin typeface="Times New Roman" charset="0"/>
                </a:rPr>
                <a:t>2</a:t>
              </a:r>
              <a:r>
                <a:rPr lang="en-US" altLang="zh-CN" baseline="30000">
                  <a:latin typeface="Times New Roman" charset="0"/>
                </a:rPr>
                <a:t>20   </a:t>
              </a:r>
              <a:r>
                <a:rPr lang="en-US" altLang="zh-CN">
                  <a:latin typeface="Times New Roman" charset="0"/>
                </a:rPr>
                <a:t>bytes</a:t>
              </a:r>
            </a:p>
            <a:p>
              <a:pPr algn="ctr">
                <a:lnSpc>
                  <a:spcPct val="70000"/>
                </a:lnSpc>
                <a:defRPr/>
              </a:pPr>
              <a:r>
                <a:rPr lang="en-US" altLang="zh-CN">
                  <a:latin typeface="Times New Roman" charset="0"/>
                </a:rPr>
                <a:t>2</a:t>
              </a:r>
              <a:r>
                <a:rPr lang="en-US" altLang="zh-CN" baseline="30000">
                  <a:latin typeface="Times New Roman" charset="0"/>
                </a:rPr>
                <a:t>30   </a:t>
              </a:r>
              <a:r>
                <a:rPr lang="en-US" altLang="zh-CN">
                  <a:latin typeface="Times New Roman" charset="0"/>
                </a:rPr>
                <a:t>bytes</a:t>
              </a:r>
            </a:p>
            <a:p>
              <a:pPr algn="ctr">
                <a:lnSpc>
                  <a:spcPct val="70000"/>
                </a:lnSpc>
                <a:defRPr/>
              </a:pPr>
              <a:r>
                <a:rPr lang="en-US" altLang="zh-CN">
                  <a:latin typeface="Times New Roman" charset="0"/>
                </a:rPr>
                <a:t>2</a:t>
              </a:r>
              <a:r>
                <a:rPr lang="en-US" altLang="zh-CN" baseline="30000">
                  <a:latin typeface="Times New Roman" charset="0"/>
                </a:rPr>
                <a:t>40   </a:t>
              </a:r>
              <a:r>
                <a:rPr lang="en-US" altLang="zh-CN">
                  <a:latin typeface="Times New Roman" charset="0"/>
                </a:rPr>
                <a:t>bytes</a:t>
              </a:r>
            </a:p>
          </p:txBody>
        </p:sp>
        <p:sp>
          <p:nvSpPr>
            <p:cNvPr id="11" name="Text Box 7">
              <a:extLst>
                <a:ext uri="{FF2B5EF4-FFF2-40B4-BE49-F238E27FC236}">
                  <a16:creationId xmlns:a16="http://schemas.microsoft.com/office/drawing/2014/main" id="{1B46ABB3-61ED-C727-916C-457FA38FD2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75" y="2304"/>
              <a:ext cx="1416" cy="103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38100">
              <a:solidFill>
                <a:schemeClr val="accent5">
                  <a:lumMod val="20000"/>
                  <a:lumOff val="80000"/>
                </a:schemeClr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" charset="0"/>
                  <a:ea typeface="宋体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" charset="0"/>
                  <a:ea typeface="宋体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" charset="0"/>
                  <a:ea typeface="宋体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" charset="0"/>
                  <a:ea typeface="宋体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70000"/>
                </a:lnSpc>
                <a:defRPr/>
              </a:pPr>
              <a:r>
                <a:rPr kumimoji="0" lang="en-US" altLang="zh-CN" b="1" i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itchFamily="18" charset="0"/>
                </a:rPr>
                <a:t>Approximation</a:t>
              </a:r>
              <a:br>
                <a:rPr kumimoji="0" lang="en-US" altLang="zh-CN" dirty="0">
                  <a:latin typeface="Times New Roman" pitchFamily="18" charset="0"/>
                </a:rPr>
              </a:br>
              <a:r>
                <a:rPr kumimoji="0" lang="en-US" altLang="zh-CN" dirty="0">
                  <a:latin typeface="Times New Roman" pitchFamily="18" charset="0"/>
                </a:rPr>
                <a:t>------------</a:t>
              </a:r>
            </a:p>
            <a:p>
              <a:pPr algn="ctr">
                <a:lnSpc>
                  <a:spcPct val="70000"/>
                </a:lnSpc>
                <a:defRPr/>
              </a:pPr>
              <a:r>
                <a:rPr kumimoji="0" lang="en-US" altLang="zh-CN" dirty="0">
                  <a:latin typeface="Times New Roman" pitchFamily="18" charset="0"/>
                </a:rPr>
                <a:t>10</a:t>
              </a:r>
              <a:r>
                <a:rPr kumimoji="0" lang="en-US" altLang="zh-CN" baseline="30000" dirty="0">
                  <a:latin typeface="Times New Roman" pitchFamily="18" charset="0"/>
                </a:rPr>
                <a:t>3   </a:t>
              </a:r>
              <a:r>
                <a:rPr kumimoji="0" lang="en-US" altLang="zh-CN" dirty="0">
                  <a:latin typeface="Times New Roman" pitchFamily="18" charset="0"/>
                </a:rPr>
                <a:t>bytes</a:t>
              </a:r>
              <a:endParaRPr kumimoji="0" lang="en-US" altLang="zh-CN" baseline="30000" dirty="0">
                <a:latin typeface="Times New Roman" pitchFamily="18" charset="0"/>
              </a:endParaRPr>
            </a:p>
            <a:p>
              <a:pPr algn="ctr">
                <a:lnSpc>
                  <a:spcPct val="70000"/>
                </a:lnSpc>
                <a:defRPr/>
              </a:pPr>
              <a:r>
                <a:rPr kumimoji="0" lang="en-US" altLang="zh-CN" dirty="0">
                  <a:latin typeface="Times New Roman" pitchFamily="18" charset="0"/>
                </a:rPr>
                <a:t>10</a:t>
              </a:r>
              <a:r>
                <a:rPr kumimoji="0" lang="en-US" altLang="zh-CN" baseline="30000" dirty="0">
                  <a:latin typeface="Times New Roman" pitchFamily="18" charset="0"/>
                </a:rPr>
                <a:t>6   </a:t>
              </a:r>
              <a:r>
                <a:rPr kumimoji="0" lang="en-US" altLang="zh-CN" dirty="0">
                  <a:latin typeface="Times New Roman" pitchFamily="18" charset="0"/>
                </a:rPr>
                <a:t>bytes</a:t>
              </a:r>
              <a:endParaRPr kumimoji="0" lang="en-US" altLang="zh-CN" baseline="30000" dirty="0">
                <a:latin typeface="Times New Roman" pitchFamily="18" charset="0"/>
              </a:endParaRPr>
            </a:p>
            <a:p>
              <a:pPr algn="ctr">
                <a:lnSpc>
                  <a:spcPct val="70000"/>
                </a:lnSpc>
                <a:defRPr/>
              </a:pPr>
              <a:r>
                <a:rPr kumimoji="0" lang="en-US" altLang="zh-CN" dirty="0">
                  <a:latin typeface="Times New Roman" pitchFamily="18" charset="0"/>
                </a:rPr>
                <a:t>10</a:t>
              </a:r>
              <a:r>
                <a:rPr kumimoji="0" lang="en-US" altLang="zh-CN" baseline="30000" dirty="0">
                  <a:latin typeface="Times New Roman" pitchFamily="18" charset="0"/>
                </a:rPr>
                <a:t>9   </a:t>
              </a:r>
              <a:r>
                <a:rPr kumimoji="0" lang="en-US" altLang="zh-CN" dirty="0">
                  <a:latin typeface="Times New Roman" pitchFamily="18" charset="0"/>
                </a:rPr>
                <a:t>bytes</a:t>
              </a:r>
              <a:endParaRPr kumimoji="0" lang="en-US" altLang="zh-CN" baseline="30000" dirty="0">
                <a:latin typeface="Times New Roman" pitchFamily="18" charset="0"/>
              </a:endParaRPr>
            </a:p>
            <a:p>
              <a:pPr algn="ctr">
                <a:lnSpc>
                  <a:spcPct val="70000"/>
                </a:lnSpc>
                <a:defRPr/>
              </a:pPr>
              <a:r>
                <a:rPr kumimoji="0" lang="en-US" altLang="zh-CN" dirty="0">
                  <a:latin typeface="Times New Roman" pitchFamily="18" charset="0"/>
                </a:rPr>
                <a:t>10</a:t>
              </a:r>
              <a:r>
                <a:rPr kumimoji="0" lang="en-US" altLang="zh-CN" baseline="30000" dirty="0">
                  <a:latin typeface="Times New Roman" pitchFamily="18" charset="0"/>
                </a:rPr>
                <a:t>12  </a:t>
              </a:r>
              <a:r>
                <a:rPr kumimoji="0" lang="en-US" altLang="zh-CN" dirty="0">
                  <a:latin typeface="Times New Roman" pitchFamily="18" charset="0"/>
                </a:rPr>
                <a:t>bytes</a:t>
              </a:r>
              <a:endParaRPr kumimoji="0" lang="en-US" altLang="zh-CN" baseline="30000" dirty="0">
                <a:latin typeface="Times New Roman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51018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bldLvl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Var-Address-Value</a:t>
            </a:r>
            <a:endParaRPr lang="zh-CN" altLang="en-US" sz="2800" b="1" kern="0" dirty="0">
              <a:gradFill>
                <a:gsLst>
                  <a:gs pos="100000">
                    <a:schemeClr val="bg1"/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l="100000" b="100000"/>
                </a:path>
              </a:gradFill>
              <a:ea typeface="微软雅黑" panose="020B0503020204020204" pitchFamily="34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4" name="内容占位符 3"/>
          <p:cNvSpPr>
            <a:spLocks noGrp="1"/>
          </p:cNvSpPr>
          <p:nvPr/>
        </p:nvSpPr>
        <p:spPr>
          <a:xfrm>
            <a:off x="838200" y="1815465"/>
            <a:ext cx="10236200" cy="43516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70000"/>
              </a:lnSpc>
              <a:spcBef>
                <a:spcPts val="6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000" dirty="0"/>
              <a:t>每个变量都有类型、地址、值等属性。</a:t>
            </a:r>
            <a:endParaRPr lang="en-US" altLang="zh-CN" sz="2000" dirty="0"/>
          </a:p>
          <a:p>
            <a:pPr lvl="1">
              <a:lnSpc>
                <a:spcPct val="120000"/>
              </a:lnSpc>
            </a:pPr>
            <a:endParaRPr lang="en-US" altLang="zh-CN" sz="1600" dirty="0"/>
          </a:p>
          <a:p>
            <a:pPr>
              <a:lnSpc>
                <a:spcPct val="120000"/>
              </a:lnSpc>
            </a:pPr>
            <a:endParaRPr lang="en-US" altLang="zh-CN" sz="24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A4898E7-94D3-93C4-E213-145BE0A494F5}"/>
              </a:ext>
            </a:extLst>
          </p:cNvPr>
          <p:cNvSpPr txBox="1"/>
          <p:nvPr/>
        </p:nvSpPr>
        <p:spPr>
          <a:xfrm>
            <a:off x="738608" y="2409274"/>
            <a:ext cx="7535961" cy="341632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/*vars-address-value*/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#include&lt;stdio.h&gt;</a:t>
            </a:r>
          </a:p>
          <a:p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int main() {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	int 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5;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	float x = 5.0f;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	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("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Addr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:%p bin value:%#010x\n",&amp;i,i);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("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Addr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:%p bin value:%#010x\n",&amp;x,*(int *)&amp;x);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	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	return 0;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graphicFrame>
        <p:nvGraphicFramePr>
          <p:cNvPr id="3" name="表格 4">
            <a:extLst>
              <a:ext uri="{FF2B5EF4-FFF2-40B4-BE49-F238E27FC236}">
                <a16:creationId xmlns:a16="http://schemas.microsoft.com/office/drawing/2014/main" id="{DB293F00-D847-2BFA-0216-38B88FCF3C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2131212"/>
              </p:ext>
            </p:extLst>
          </p:nvPr>
        </p:nvGraphicFramePr>
        <p:xfrm>
          <a:off x="8694502" y="2634074"/>
          <a:ext cx="1959965" cy="2966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0457">
                  <a:extLst>
                    <a:ext uri="{9D8B030D-6E8A-4147-A177-3AD203B41FA5}">
                      <a16:colId xmlns:a16="http://schemas.microsoft.com/office/drawing/2014/main" val="2053666870"/>
                    </a:ext>
                  </a:extLst>
                </a:gridCol>
                <a:gridCol w="749508">
                  <a:extLst>
                    <a:ext uri="{9D8B030D-6E8A-4147-A177-3AD203B41FA5}">
                      <a16:colId xmlns:a16="http://schemas.microsoft.com/office/drawing/2014/main" val="15651727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62FE18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32315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/>
                        <a:t>19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2568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/>
                        <a:t>1A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A0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0577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/>
                        <a:t>1B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9640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/>
                        <a:t>62FE1C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05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07048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/>
                        <a:t>1D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72506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/>
                        <a:t>1E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51722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/>
                        <a:t>1F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7350914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25013743-3DF8-BF32-882E-F6CDA8D7A2C0}"/>
              </a:ext>
            </a:extLst>
          </p:cNvPr>
          <p:cNvSpPr txBox="1"/>
          <p:nvPr/>
        </p:nvSpPr>
        <p:spPr>
          <a:xfrm>
            <a:off x="10838438" y="4117434"/>
            <a:ext cx="245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err="1">
                <a:solidFill>
                  <a:srgbClr val="C00000"/>
                </a:solidFill>
              </a:rPr>
              <a:t>i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DD2B006-3888-CAA2-A274-8E713B57B4E5}"/>
              </a:ext>
            </a:extLst>
          </p:cNvPr>
          <p:cNvSpPr txBox="1"/>
          <p:nvPr/>
        </p:nvSpPr>
        <p:spPr>
          <a:xfrm>
            <a:off x="10798016" y="259711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C00000"/>
                </a:solidFill>
              </a:rPr>
              <a:t>x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09FEF6F-EB02-A4A3-873B-FCF3BC6D2A8B}"/>
              </a:ext>
            </a:extLst>
          </p:cNvPr>
          <p:cNvSpPr txBox="1"/>
          <p:nvPr/>
        </p:nvSpPr>
        <p:spPr>
          <a:xfrm>
            <a:off x="9058943" y="2224608"/>
            <a:ext cx="1346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地址*      值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3DD6B42-85A8-D29B-E74A-82C1D8E57509}"/>
              </a:ext>
            </a:extLst>
          </p:cNvPr>
          <p:cNvSpPr txBox="1"/>
          <p:nvPr/>
        </p:nvSpPr>
        <p:spPr>
          <a:xfrm>
            <a:off x="8599177" y="5671705"/>
            <a:ext cx="18742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*地址随运行环境浮动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E8FCEA4-978E-EE93-7E78-9F236637237E}"/>
              </a:ext>
            </a:extLst>
          </p:cNvPr>
          <p:cNvSpPr txBox="1"/>
          <p:nvPr/>
        </p:nvSpPr>
        <p:spPr>
          <a:xfrm>
            <a:off x="738608" y="5881489"/>
            <a:ext cx="55419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把整数和浮点变量的值改为负数，其二进制内容是</a:t>
            </a:r>
            <a:r>
              <a:rPr lang="en-US" altLang="zh-CN" dirty="0"/>
              <a:t>…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39877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bldLvl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0" name="TextBox 6">
            <a:extLst>
              <a:ext uri="{FF2B5EF4-FFF2-40B4-BE49-F238E27FC236}">
                <a16:creationId xmlns:a16="http://schemas.microsoft.com/office/drawing/2014/main" id="{DEB34D11-C034-A163-9D8E-3527F7248C64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419350" y="649289"/>
            <a:ext cx="7315200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/>
              <a:t>1. </a:t>
            </a:r>
            <a:r>
              <a:rPr lang="zh-CN" altLang="zh-CN" sz="2800"/>
              <a:t>下列描述中，正确的是：</a:t>
            </a:r>
            <a:r>
              <a:rPr lang="en-US" altLang="zh-CN" sz="2800"/>
              <a:t>____</a:t>
            </a:r>
          </a:p>
        </p:txBody>
      </p:sp>
      <p:sp>
        <p:nvSpPr>
          <p:cNvPr id="19461" name="TextBox 7">
            <a:extLst>
              <a:ext uri="{FF2B5EF4-FFF2-40B4-BE49-F238E27FC236}">
                <a16:creationId xmlns:a16="http://schemas.microsoft.com/office/drawing/2014/main" id="{02CC4802-81A9-8277-6160-4CAB45D2983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352800" y="2786064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/>
              <a:t>1MB=1000B</a:t>
            </a:r>
            <a:endParaRPr lang="zh-CN" altLang="en-US" sz="26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9462" name="TextBox 8">
            <a:extLst>
              <a:ext uri="{FF2B5EF4-FFF2-40B4-BE49-F238E27FC236}">
                <a16:creationId xmlns:a16="http://schemas.microsoft.com/office/drawing/2014/main" id="{7A592DB9-516D-8995-57C0-DE3813D29099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352800" y="3643314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/>
              <a:t>1MB=1000KB</a:t>
            </a:r>
            <a:endParaRPr lang="zh-CN" altLang="en-US" sz="26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9463" name="TextBox 9">
            <a:extLst>
              <a:ext uri="{FF2B5EF4-FFF2-40B4-BE49-F238E27FC236}">
                <a16:creationId xmlns:a16="http://schemas.microsoft.com/office/drawing/2014/main" id="{F85C96C3-320B-9A41-4943-F32623176A9A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352800" y="4500564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/>
              <a:t>1MB=1024B</a:t>
            </a:r>
            <a:endParaRPr lang="zh-CN" altLang="en-US" sz="26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9464" name="TextBox 10">
            <a:extLst>
              <a:ext uri="{FF2B5EF4-FFF2-40B4-BE49-F238E27FC236}">
                <a16:creationId xmlns:a16="http://schemas.microsoft.com/office/drawing/2014/main" id="{C8A65804-FFB2-2CB5-EED0-AA412C3602FB}"/>
              </a:ext>
            </a:extLst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3352800" y="5357814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/>
              <a:t>1MB=1024KB</a:t>
            </a:r>
            <a:endParaRPr lang="zh-CN" altLang="en-US" sz="24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99BDA2E5-5D39-7729-B9E1-2510658C9F8A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2638425" y="2849563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>
              <a:defRPr/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779B7A53-A14C-C13E-7F92-837CB13CD55D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2638425" y="3706813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>
              <a:defRPr/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84A7C61B-37D2-9B79-FA11-C3C91EE85BB6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2638425" y="4564063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>
              <a:defRPr/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B8B9B8D0-F862-22B7-02E8-3CD8B12ACA1D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2638425" y="5421313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>
              <a:defRPr/>
            </a:pPr>
            <a:r>
              <a:rPr lang="en-US" altLang="zh-CN" sz="1600" dirty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D</a:t>
            </a:r>
            <a:endParaRPr lang="zh-CN" altLang="en-US" sz="1600" dirty="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2F4AAB0D-06D1-C2D4-4BC1-E8DF2485DA73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7696200" y="6215063"/>
            <a:ext cx="1543050" cy="411162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>
              <a:defRPr/>
            </a:pPr>
            <a:r>
              <a:rPr lang="zh-CN" altLang="en-US" sz="1600" dirty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提交</a:t>
            </a:r>
          </a:p>
        </p:txBody>
      </p:sp>
      <p:grpSp>
        <p:nvGrpSpPr>
          <p:cNvPr id="19470" name="组合 20">
            <a:extLst>
              <a:ext uri="{FF2B5EF4-FFF2-40B4-BE49-F238E27FC236}">
                <a16:creationId xmlns:a16="http://schemas.microsoft.com/office/drawing/2014/main" id="{5A82A378-A980-180C-04E2-1651C4F35D86}"/>
              </a:ext>
            </a:extLst>
          </p:cNvPr>
          <p:cNvGrpSpPr>
            <a:grpSpLocks/>
          </p:cNvGrpSpPr>
          <p:nvPr>
            <p:custDataLst>
              <p:tags r:id="rId12"/>
            </p:custDataLst>
          </p:nvPr>
        </p:nvGrpSpPr>
        <p:grpSpPr bwMode="auto"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7" name="TitleBackground">
              <a:extLst>
                <a:ext uri="{FF2B5EF4-FFF2-40B4-BE49-F238E27FC236}">
                  <a16:creationId xmlns:a16="http://schemas.microsoft.com/office/drawing/2014/main" id="{0614D424-987D-A169-8C1F-48E522C850CB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8" name="ColorBlock">
              <a:extLst>
                <a:ext uri="{FF2B5EF4-FFF2-40B4-BE49-F238E27FC236}">
                  <a16:creationId xmlns:a16="http://schemas.microsoft.com/office/drawing/2014/main" id="{B67BBC98-1713-A22C-5966-B8CC52BD4321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9474" name="TypeText">
              <a:extLst>
                <a:ext uri="{FF2B5EF4-FFF2-40B4-BE49-F238E27FC236}">
                  <a16:creationId xmlns:a16="http://schemas.microsoft.com/office/drawing/2014/main" id="{FF21A7A9-0B75-3A7A-ABBD-47A0F9E8C645}"/>
                </a:ext>
              </a:extLst>
            </p:cNvPr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-1270000" y="0"/>
              <a:ext cx="1905000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9475" name="TipText">
              <a:extLst>
                <a:ext uri="{FF2B5EF4-FFF2-40B4-BE49-F238E27FC236}">
                  <a16:creationId xmlns:a16="http://schemas.microsoft.com/office/drawing/2014/main" id="{3F2CE73E-532D-E7D3-FDCD-4549F01D54F0}"/>
                </a:ext>
              </a:extLst>
            </p:cNvPr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1905" y="109220"/>
              <a:ext cx="2286000" cy="50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19471" name="图片 5">
            <a:extLst>
              <a:ext uri="{FF2B5EF4-FFF2-40B4-BE49-F238E27FC236}">
                <a16:creationId xmlns:a16="http://schemas.microsoft.com/office/drawing/2014/main" id="{62947D1C-F35E-0001-40FE-595DE8E7D22B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2600" y="63500"/>
            <a:ext cx="14224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  <p:transition spd="slow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A0624F31-998C-44D3-BAFB-ADD006D3547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604" b="46967"/>
          <a:stretch/>
        </p:blipFill>
        <p:spPr>
          <a:xfrm>
            <a:off x="0" y="2176476"/>
            <a:ext cx="12209296" cy="2877923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0" y="2176477"/>
            <a:ext cx="12192000" cy="2877922"/>
          </a:xfrm>
          <a:prstGeom prst="rect">
            <a:avLst/>
          </a:prstGeom>
          <a:gradFill>
            <a:gsLst>
              <a:gs pos="0">
                <a:srgbClr val="014723"/>
              </a:gs>
              <a:gs pos="59000">
                <a:srgbClr val="014723">
                  <a:alpha val="60000"/>
                </a:srgbClr>
              </a:gs>
              <a:gs pos="100000">
                <a:srgbClr val="014723">
                  <a:alpha val="10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5161452" y="2867904"/>
            <a:ext cx="1886392" cy="1015663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dist"/>
            <a:r>
              <a:rPr lang="zh-CN" altLang="en-US" sz="60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谢谢</a:t>
            </a:r>
          </a:p>
        </p:txBody>
      </p:sp>
      <p:sp>
        <p:nvSpPr>
          <p:cNvPr id="16" name="TextBox 10"/>
          <p:cNvSpPr txBox="1"/>
          <p:nvPr/>
        </p:nvSpPr>
        <p:spPr>
          <a:xfrm>
            <a:off x="2565806" y="3990096"/>
            <a:ext cx="7060388" cy="523196"/>
          </a:xfrm>
          <a:prstGeom prst="rect">
            <a:avLst/>
          </a:prstGeom>
          <a:noFill/>
        </p:spPr>
        <p:txBody>
          <a:bodyPr wrap="square" lIns="91416" tIns="45708" rIns="91416" bIns="45708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/>
            <a:r>
              <a:rPr lang="zh-CN" altLang="en-US" sz="28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中山大学计算机学院</a:t>
            </a:r>
            <a:endParaRPr lang="en-US" altLang="zh-CN" sz="280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Box 7"/>
          <p:cNvSpPr txBox="1"/>
          <p:nvPr/>
        </p:nvSpPr>
        <p:spPr>
          <a:xfrm>
            <a:off x="4668977" y="5644929"/>
            <a:ext cx="2879266" cy="400085"/>
          </a:xfrm>
          <a:prstGeom prst="rect">
            <a:avLst/>
          </a:prstGeom>
          <a:noFill/>
        </p:spPr>
        <p:txBody>
          <a:bodyPr wrap="none" lIns="91416" tIns="45708" rIns="91416" bIns="45708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0147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中山大学</a:t>
            </a:r>
            <a:r>
              <a:rPr lang="en-US" altLang="zh-CN" sz="2000" b="1" dirty="0">
                <a:solidFill>
                  <a:srgbClr val="0147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MOOC</a:t>
            </a:r>
            <a:r>
              <a:rPr lang="zh-CN" altLang="en-US" sz="2000" b="1" dirty="0">
                <a:solidFill>
                  <a:srgbClr val="0147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课程组</a:t>
            </a:r>
            <a:endParaRPr lang="zh-CN" altLang="en-US" sz="2000" dirty="0">
              <a:solidFill>
                <a:srgbClr val="01472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Freeform 8"/>
          <p:cNvSpPr>
            <a:spLocks noChangeAspect="1" noEditPoints="1"/>
          </p:cNvSpPr>
          <p:nvPr/>
        </p:nvSpPr>
        <p:spPr bwMode="auto">
          <a:xfrm>
            <a:off x="4217546" y="5611848"/>
            <a:ext cx="464288" cy="466246"/>
          </a:xfrm>
          <a:custGeom>
            <a:avLst/>
            <a:gdLst>
              <a:gd name="T0" fmla="*/ 422 w 422"/>
              <a:gd name="T1" fmla="*/ 211 h 422"/>
              <a:gd name="T2" fmla="*/ 0 w 422"/>
              <a:gd name="T3" fmla="*/ 211 h 422"/>
              <a:gd name="T4" fmla="*/ 340 w 422"/>
              <a:gd name="T5" fmla="*/ 117 h 422"/>
              <a:gd name="T6" fmla="*/ 345 w 422"/>
              <a:gd name="T7" fmla="*/ 123 h 422"/>
              <a:gd name="T8" fmla="*/ 344 w 422"/>
              <a:gd name="T9" fmla="*/ 226 h 422"/>
              <a:gd name="T10" fmla="*/ 340 w 422"/>
              <a:gd name="T11" fmla="*/ 227 h 422"/>
              <a:gd name="T12" fmla="*/ 217 w 422"/>
              <a:gd name="T13" fmla="*/ 226 h 422"/>
              <a:gd name="T14" fmla="*/ 215 w 422"/>
              <a:gd name="T15" fmla="*/ 222 h 422"/>
              <a:gd name="T16" fmla="*/ 286 w 422"/>
              <a:gd name="T17" fmla="*/ 164 h 422"/>
              <a:gd name="T18" fmla="*/ 215 w 422"/>
              <a:gd name="T19" fmla="*/ 171 h 422"/>
              <a:gd name="T20" fmla="*/ 217 w 422"/>
              <a:gd name="T21" fmla="*/ 119 h 422"/>
              <a:gd name="T22" fmla="*/ 220 w 422"/>
              <a:gd name="T23" fmla="*/ 117 h 422"/>
              <a:gd name="T24" fmla="*/ 220 w 422"/>
              <a:gd name="T25" fmla="*/ 96 h 422"/>
              <a:gd name="T26" fmla="*/ 202 w 422"/>
              <a:gd name="T27" fmla="*/ 104 h 422"/>
              <a:gd name="T28" fmla="*/ 194 w 422"/>
              <a:gd name="T29" fmla="*/ 174 h 422"/>
              <a:gd name="T30" fmla="*/ 186 w 422"/>
              <a:gd name="T31" fmla="*/ 166 h 422"/>
              <a:gd name="T32" fmla="*/ 137 w 422"/>
              <a:gd name="T33" fmla="*/ 151 h 422"/>
              <a:gd name="T34" fmla="*/ 54 w 422"/>
              <a:gd name="T35" fmla="*/ 173 h 422"/>
              <a:gd name="T36" fmla="*/ 77 w 422"/>
              <a:gd name="T37" fmla="*/ 243 h 422"/>
              <a:gd name="T38" fmla="*/ 81 w 422"/>
              <a:gd name="T39" fmla="*/ 192 h 422"/>
              <a:gd name="T40" fmla="*/ 81 w 422"/>
              <a:gd name="T41" fmla="*/ 256 h 422"/>
              <a:gd name="T42" fmla="*/ 106 w 422"/>
              <a:gd name="T43" fmla="*/ 350 h 422"/>
              <a:gd name="T44" fmla="*/ 112 w 422"/>
              <a:gd name="T45" fmla="*/ 272 h 422"/>
              <a:gd name="T46" fmla="*/ 137 w 422"/>
              <a:gd name="T47" fmla="*/ 350 h 422"/>
              <a:gd name="T48" fmla="*/ 137 w 422"/>
              <a:gd name="T49" fmla="*/ 256 h 422"/>
              <a:gd name="T50" fmla="*/ 137 w 422"/>
              <a:gd name="T51" fmla="*/ 192 h 422"/>
              <a:gd name="T52" fmla="*/ 162 w 422"/>
              <a:gd name="T53" fmla="*/ 192 h 422"/>
              <a:gd name="T54" fmla="*/ 186 w 422"/>
              <a:gd name="T55" fmla="*/ 185 h 422"/>
              <a:gd name="T56" fmla="*/ 194 w 422"/>
              <a:gd name="T57" fmla="*/ 222 h 422"/>
              <a:gd name="T58" fmla="*/ 202 w 422"/>
              <a:gd name="T59" fmla="*/ 240 h 422"/>
              <a:gd name="T60" fmla="*/ 220 w 422"/>
              <a:gd name="T61" fmla="*/ 248 h 422"/>
              <a:gd name="T62" fmla="*/ 359 w 422"/>
              <a:gd name="T63" fmla="*/ 240 h 422"/>
              <a:gd name="T64" fmla="*/ 366 w 422"/>
              <a:gd name="T65" fmla="*/ 222 h 422"/>
              <a:gd name="T66" fmla="*/ 359 w 422"/>
              <a:gd name="T67" fmla="*/ 104 h 422"/>
              <a:gd name="T68" fmla="*/ 220 w 422"/>
              <a:gd name="T69" fmla="*/ 96 h 422"/>
              <a:gd name="T70" fmla="*/ 344 w 422"/>
              <a:gd name="T71" fmla="*/ 277 h 422"/>
              <a:gd name="T72" fmla="*/ 346 w 422"/>
              <a:gd name="T73" fmla="*/ 351 h 422"/>
              <a:gd name="T74" fmla="*/ 298 w 422"/>
              <a:gd name="T75" fmla="*/ 277 h 422"/>
              <a:gd name="T76" fmla="*/ 250 w 422"/>
              <a:gd name="T77" fmla="*/ 351 h 422"/>
              <a:gd name="T78" fmla="*/ 244 w 422"/>
              <a:gd name="T79" fmla="*/ 277 h 422"/>
              <a:gd name="T80" fmla="*/ 221 w 422"/>
              <a:gd name="T81" fmla="*/ 254 h 422"/>
              <a:gd name="T82" fmla="*/ 109 w 422"/>
              <a:gd name="T83" fmla="*/ 75 h 422"/>
              <a:gd name="T84" fmla="*/ 109 w 422"/>
              <a:gd name="T85" fmla="*/ 146 h 422"/>
              <a:gd name="T86" fmla="*/ 109 w 422"/>
              <a:gd name="T87" fmla="*/ 75 h 4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422" h="422">
                <a:moveTo>
                  <a:pt x="211" y="0"/>
                </a:moveTo>
                <a:cubicBezTo>
                  <a:pt x="327" y="0"/>
                  <a:pt x="422" y="94"/>
                  <a:pt x="422" y="211"/>
                </a:cubicBezTo>
                <a:cubicBezTo>
                  <a:pt x="422" y="327"/>
                  <a:pt x="327" y="422"/>
                  <a:pt x="211" y="422"/>
                </a:cubicBezTo>
                <a:cubicBezTo>
                  <a:pt x="94" y="422"/>
                  <a:pt x="0" y="327"/>
                  <a:pt x="0" y="211"/>
                </a:cubicBezTo>
                <a:cubicBezTo>
                  <a:pt x="0" y="94"/>
                  <a:pt x="94" y="0"/>
                  <a:pt x="211" y="0"/>
                </a:cubicBezTo>
                <a:close/>
                <a:moveTo>
                  <a:pt x="340" y="117"/>
                </a:moveTo>
                <a:cubicBezTo>
                  <a:pt x="341" y="117"/>
                  <a:pt x="343" y="118"/>
                  <a:pt x="344" y="119"/>
                </a:cubicBezTo>
                <a:cubicBezTo>
                  <a:pt x="345" y="120"/>
                  <a:pt x="345" y="121"/>
                  <a:pt x="345" y="123"/>
                </a:cubicBezTo>
                <a:lnTo>
                  <a:pt x="345" y="222"/>
                </a:lnTo>
                <a:cubicBezTo>
                  <a:pt x="345" y="223"/>
                  <a:pt x="345" y="225"/>
                  <a:pt x="344" y="226"/>
                </a:cubicBezTo>
                <a:lnTo>
                  <a:pt x="344" y="226"/>
                </a:lnTo>
                <a:cubicBezTo>
                  <a:pt x="343" y="227"/>
                  <a:pt x="341" y="227"/>
                  <a:pt x="340" y="227"/>
                </a:cubicBezTo>
                <a:lnTo>
                  <a:pt x="220" y="227"/>
                </a:lnTo>
                <a:cubicBezTo>
                  <a:pt x="219" y="227"/>
                  <a:pt x="218" y="227"/>
                  <a:pt x="217" y="226"/>
                </a:cubicBezTo>
                <a:lnTo>
                  <a:pt x="217" y="226"/>
                </a:lnTo>
                <a:cubicBezTo>
                  <a:pt x="216" y="225"/>
                  <a:pt x="215" y="223"/>
                  <a:pt x="215" y="222"/>
                </a:cubicBezTo>
                <a:lnTo>
                  <a:pt x="215" y="179"/>
                </a:lnTo>
                <a:lnTo>
                  <a:pt x="286" y="164"/>
                </a:lnTo>
                <a:lnTo>
                  <a:pt x="286" y="162"/>
                </a:lnTo>
                <a:lnTo>
                  <a:pt x="215" y="171"/>
                </a:lnTo>
                <a:lnTo>
                  <a:pt x="215" y="123"/>
                </a:lnTo>
                <a:cubicBezTo>
                  <a:pt x="215" y="121"/>
                  <a:pt x="216" y="120"/>
                  <a:pt x="217" y="119"/>
                </a:cubicBezTo>
                <a:lnTo>
                  <a:pt x="217" y="119"/>
                </a:lnTo>
                <a:cubicBezTo>
                  <a:pt x="218" y="118"/>
                  <a:pt x="219" y="117"/>
                  <a:pt x="220" y="117"/>
                </a:cubicBezTo>
                <a:lnTo>
                  <a:pt x="340" y="117"/>
                </a:lnTo>
                <a:close/>
                <a:moveTo>
                  <a:pt x="220" y="96"/>
                </a:moveTo>
                <a:cubicBezTo>
                  <a:pt x="213" y="96"/>
                  <a:pt x="206" y="99"/>
                  <a:pt x="202" y="104"/>
                </a:cubicBezTo>
                <a:lnTo>
                  <a:pt x="202" y="104"/>
                </a:lnTo>
                <a:cubicBezTo>
                  <a:pt x="197" y="109"/>
                  <a:pt x="194" y="115"/>
                  <a:pt x="194" y="123"/>
                </a:cubicBezTo>
                <a:lnTo>
                  <a:pt x="194" y="174"/>
                </a:lnTo>
                <a:lnTo>
                  <a:pt x="186" y="175"/>
                </a:lnTo>
                <a:lnTo>
                  <a:pt x="186" y="166"/>
                </a:lnTo>
                <a:lnTo>
                  <a:pt x="162" y="166"/>
                </a:lnTo>
                <a:lnTo>
                  <a:pt x="137" y="151"/>
                </a:lnTo>
                <a:lnTo>
                  <a:pt x="77" y="151"/>
                </a:lnTo>
                <a:cubicBezTo>
                  <a:pt x="64" y="151"/>
                  <a:pt x="54" y="161"/>
                  <a:pt x="54" y="173"/>
                </a:cubicBezTo>
                <a:lnTo>
                  <a:pt x="54" y="243"/>
                </a:lnTo>
                <a:lnTo>
                  <a:pt x="77" y="243"/>
                </a:lnTo>
                <a:lnTo>
                  <a:pt x="77" y="192"/>
                </a:lnTo>
                <a:lnTo>
                  <a:pt x="81" y="192"/>
                </a:lnTo>
                <a:lnTo>
                  <a:pt x="81" y="243"/>
                </a:lnTo>
                <a:lnTo>
                  <a:pt x="81" y="256"/>
                </a:lnTo>
                <a:lnTo>
                  <a:pt x="81" y="350"/>
                </a:lnTo>
                <a:lnTo>
                  <a:pt x="106" y="350"/>
                </a:lnTo>
                <a:lnTo>
                  <a:pt x="106" y="272"/>
                </a:lnTo>
                <a:lnTo>
                  <a:pt x="112" y="272"/>
                </a:lnTo>
                <a:lnTo>
                  <a:pt x="112" y="350"/>
                </a:lnTo>
                <a:lnTo>
                  <a:pt x="137" y="350"/>
                </a:lnTo>
                <a:lnTo>
                  <a:pt x="137" y="336"/>
                </a:lnTo>
                <a:lnTo>
                  <a:pt x="137" y="256"/>
                </a:lnTo>
                <a:lnTo>
                  <a:pt x="137" y="243"/>
                </a:lnTo>
                <a:lnTo>
                  <a:pt x="137" y="192"/>
                </a:lnTo>
                <a:lnTo>
                  <a:pt x="137" y="177"/>
                </a:lnTo>
                <a:lnTo>
                  <a:pt x="162" y="192"/>
                </a:lnTo>
                <a:lnTo>
                  <a:pt x="186" y="192"/>
                </a:lnTo>
                <a:lnTo>
                  <a:pt x="186" y="185"/>
                </a:lnTo>
                <a:lnTo>
                  <a:pt x="194" y="184"/>
                </a:lnTo>
                <a:lnTo>
                  <a:pt x="194" y="222"/>
                </a:lnTo>
                <a:cubicBezTo>
                  <a:pt x="194" y="229"/>
                  <a:pt x="197" y="236"/>
                  <a:pt x="202" y="240"/>
                </a:cubicBezTo>
                <a:lnTo>
                  <a:pt x="202" y="240"/>
                </a:lnTo>
                <a:lnTo>
                  <a:pt x="202" y="241"/>
                </a:lnTo>
                <a:cubicBezTo>
                  <a:pt x="207" y="245"/>
                  <a:pt x="213" y="248"/>
                  <a:pt x="220" y="248"/>
                </a:cubicBezTo>
                <a:lnTo>
                  <a:pt x="340" y="248"/>
                </a:lnTo>
                <a:cubicBezTo>
                  <a:pt x="347" y="248"/>
                  <a:pt x="354" y="245"/>
                  <a:pt x="359" y="240"/>
                </a:cubicBezTo>
                <a:lnTo>
                  <a:pt x="359" y="241"/>
                </a:lnTo>
                <a:cubicBezTo>
                  <a:pt x="363" y="236"/>
                  <a:pt x="366" y="229"/>
                  <a:pt x="366" y="222"/>
                </a:cubicBezTo>
                <a:lnTo>
                  <a:pt x="366" y="123"/>
                </a:lnTo>
                <a:cubicBezTo>
                  <a:pt x="366" y="115"/>
                  <a:pt x="363" y="109"/>
                  <a:pt x="359" y="104"/>
                </a:cubicBezTo>
                <a:cubicBezTo>
                  <a:pt x="354" y="99"/>
                  <a:pt x="347" y="96"/>
                  <a:pt x="340" y="96"/>
                </a:cubicBezTo>
                <a:lnTo>
                  <a:pt x="220" y="96"/>
                </a:lnTo>
                <a:close/>
                <a:moveTo>
                  <a:pt x="344" y="254"/>
                </a:moveTo>
                <a:lnTo>
                  <a:pt x="344" y="277"/>
                </a:lnTo>
                <a:lnTo>
                  <a:pt x="325" y="277"/>
                </a:lnTo>
                <a:lnTo>
                  <a:pt x="346" y="351"/>
                </a:lnTo>
                <a:lnTo>
                  <a:pt x="319" y="351"/>
                </a:lnTo>
                <a:lnTo>
                  <a:pt x="298" y="277"/>
                </a:lnTo>
                <a:lnTo>
                  <a:pt x="271" y="277"/>
                </a:lnTo>
                <a:lnTo>
                  <a:pt x="250" y="351"/>
                </a:lnTo>
                <a:lnTo>
                  <a:pt x="223" y="351"/>
                </a:lnTo>
                <a:lnTo>
                  <a:pt x="244" y="277"/>
                </a:lnTo>
                <a:lnTo>
                  <a:pt x="221" y="277"/>
                </a:lnTo>
                <a:lnTo>
                  <a:pt x="221" y="254"/>
                </a:lnTo>
                <a:lnTo>
                  <a:pt x="344" y="254"/>
                </a:lnTo>
                <a:close/>
                <a:moveTo>
                  <a:pt x="109" y="75"/>
                </a:moveTo>
                <a:cubicBezTo>
                  <a:pt x="129" y="75"/>
                  <a:pt x="145" y="91"/>
                  <a:pt x="145" y="111"/>
                </a:cubicBezTo>
                <a:cubicBezTo>
                  <a:pt x="145" y="130"/>
                  <a:pt x="129" y="146"/>
                  <a:pt x="109" y="146"/>
                </a:cubicBezTo>
                <a:cubicBezTo>
                  <a:pt x="90" y="146"/>
                  <a:pt x="74" y="130"/>
                  <a:pt x="74" y="111"/>
                </a:cubicBezTo>
                <a:cubicBezTo>
                  <a:pt x="74" y="91"/>
                  <a:pt x="90" y="75"/>
                  <a:pt x="109" y="75"/>
                </a:cubicBezTo>
                <a:close/>
              </a:path>
            </a:pathLst>
          </a:custGeom>
          <a:solidFill>
            <a:srgbClr val="014723"/>
          </a:solidFill>
          <a:ln>
            <a:noFill/>
          </a:ln>
        </p:spPr>
        <p:txBody>
          <a:bodyPr vert="horz" wrap="square" lIns="91416" tIns="45708" rIns="91416" bIns="45708" numCol="1" anchor="t" anchorCtr="0" compatLnSpc="1"/>
          <a:lstStyle/>
          <a:p>
            <a:endParaRPr lang="zh-CN" altLang="en-US" sz="280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DC754B86-73A7-4A82-964F-FD1E97816B95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200" r="2284" b="11992"/>
          <a:stretch/>
        </p:blipFill>
        <p:spPr>
          <a:xfrm>
            <a:off x="4339400" y="923192"/>
            <a:ext cx="3433000" cy="1072662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SCORE" val="1.0"/>
  <p:tag name="RAINPROBLEMTYPE" val="MultipleChoiceMA"/>
  <p:tag name="RAINPROBLEM" val="MultipleChoiceMA"/>
  <p:tag name="PROBLEMSCORE_HALF" val="0.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SCORE" val="1.0"/>
  <p:tag name="RAINPROBLEMTYPE" val="MultipleChoiceMA"/>
  <p:tag name="RAINPROBLEM" val="MultipleChoiceMA"/>
  <p:tag name="PROBLEMSCORE_HALF" val="0.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SCORE" val="1.0"/>
  <p:tag name="RAINPROBLEMTYPE" val="MultipleChoiceMA"/>
  <p:tag name="RAINPROBLEM" val="MultipleChoiceMA"/>
  <p:tag name="PROBLEMSCORE_HALF" val="0.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MultipleChoiceMA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MultipleChoiceMA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2.0"/>
  <p:tag name="PROBLEMBLANK" val="[{&quot;num&quot;:1,&quot;caseSensitive&quot;:false,&quot;fuzzyMatch&quot;:false,&quot;Score&quot;:2.0,&quot;answers&quot;:[&quot;10&quot;]}]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3" val="PRODUCTVERSIONTIP3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Office 主题​​">
  <a:themeElements>
    <a:clrScheme name="自定义 2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004723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6662</TotalTime>
  <Words>5200</Words>
  <Application>Microsoft Office PowerPoint</Application>
  <PresentationFormat>宽屏</PresentationFormat>
  <Paragraphs>759</Paragraphs>
  <Slides>48</Slides>
  <Notes>40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48</vt:i4>
      </vt:variant>
    </vt:vector>
  </HeadingPairs>
  <TitlesOfParts>
    <vt:vector size="63" baseType="lpstr">
      <vt:lpstr>DejaVuSans</vt:lpstr>
      <vt:lpstr>FandolSong</vt:lpstr>
      <vt:lpstr>Impact MT Std</vt:lpstr>
      <vt:lpstr>Microsoft Yahei</vt:lpstr>
      <vt:lpstr>等线</vt:lpstr>
      <vt:lpstr>等线 Light</vt:lpstr>
      <vt:lpstr>宋体</vt:lpstr>
      <vt:lpstr>微软雅黑</vt:lpstr>
      <vt:lpstr>Arial</vt:lpstr>
      <vt:lpstr>Cambria Math</vt:lpstr>
      <vt:lpstr>Consolas</vt:lpstr>
      <vt:lpstr>Lucida Console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答辩-19</dc:title>
  <dc:creator>LP</dc:creator>
  <cp:lastModifiedBy>stsluy</cp:lastModifiedBy>
  <cp:revision>421</cp:revision>
  <dcterms:created xsi:type="dcterms:W3CDTF">2016-11-24T09:20:00Z</dcterms:created>
  <dcterms:modified xsi:type="dcterms:W3CDTF">2023-10-12T16:33:38Z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2052-11.1.0.10667</vt:lpwstr>
  </property>
  <property fmtid="{D5CDD505-2E9C-101B-9397-08002B2CF9AE}" pid="3" name="ICV">
    <vt:lpwstr>7E38F6AF0AEB4547AE4ACB4243E3DBEC</vt:lpwstr>
  </property>
</Properties>
</file>