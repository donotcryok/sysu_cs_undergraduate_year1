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4"/>
  </p:notesMasterIdLst>
  <p:sldIdLst>
    <p:sldId id="293" r:id="rId2"/>
    <p:sldId id="388" r:id="rId3"/>
    <p:sldId id="356" r:id="rId4"/>
    <p:sldId id="389" r:id="rId5"/>
    <p:sldId id="390" r:id="rId6"/>
    <p:sldId id="391" r:id="rId7"/>
    <p:sldId id="258" r:id="rId8"/>
    <p:sldId id="370" r:id="rId9"/>
    <p:sldId id="372" r:id="rId10"/>
    <p:sldId id="373" r:id="rId11"/>
    <p:sldId id="374" r:id="rId12"/>
    <p:sldId id="378" r:id="rId13"/>
    <p:sldId id="375" r:id="rId14"/>
    <p:sldId id="376" r:id="rId15"/>
    <p:sldId id="392" r:id="rId16"/>
    <p:sldId id="369" r:id="rId17"/>
    <p:sldId id="379" r:id="rId18"/>
    <p:sldId id="380" r:id="rId19"/>
    <p:sldId id="381" r:id="rId20"/>
    <p:sldId id="382" r:id="rId21"/>
    <p:sldId id="371" r:id="rId22"/>
    <p:sldId id="292" r:id="rId23"/>
    <p:sldId id="323" r:id="rId24"/>
    <p:sldId id="325" r:id="rId25"/>
    <p:sldId id="322" r:id="rId26"/>
    <p:sldId id="324" r:id="rId27"/>
    <p:sldId id="383" r:id="rId28"/>
    <p:sldId id="384" r:id="rId29"/>
    <p:sldId id="385" r:id="rId30"/>
    <p:sldId id="386" r:id="rId31"/>
    <p:sldId id="294" r:id="rId32"/>
    <p:sldId id="295" r:id="rId33"/>
    <p:sldId id="387" r:id="rId34"/>
    <p:sldId id="326" r:id="rId35"/>
    <p:sldId id="304" r:id="rId36"/>
    <p:sldId id="305" r:id="rId37"/>
    <p:sldId id="336" r:id="rId38"/>
    <p:sldId id="306" r:id="rId39"/>
    <p:sldId id="349" r:id="rId40"/>
    <p:sldId id="298" r:id="rId41"/>
    <p:sldId id="450" r:id="rId42"/>
    <p:sldId id="451" r:id="rId43"/>
    <p:sldId id="301" r:id="rId44"/>
    <p:sldId id="302" r:id="rId45"/>
    <p:sldId id="299" r:id="rId46"/>
    <p:sldId id="452" r:id="rId47"/>
    <p:sldId id="453" r:id="rId48"/>
    <p:sldId id="300" r:id="rId49"/>
    <p:sldId id="327" r:id="rId50"/>
    <p:sldId id="303" r:id="rId51"/>
    <p:sldId id="329" r:id="rId52"/>
    <p:sldId id="328" r:id="rId53"/>
    <p:sldId id="330" r:id="rId54"/>
    <p:sldId id="331" r:id="rId55"/>
    <p:sldId id="332" r:id="rId56"/>
    <p:sldId id="350" r:id="rId57"/>
    <p:sldId id="338" r:id="rId58"/>
    <p:sldId id="339" r:id="rId59"/>
    <p:sldId id="340" r:id="rId60"/>
    <p:sldId id="341" r:id="rId61"/>
    <p:sldId id="454" r:id="rId62"/>
    <p:sldId id="455" r:id="rId63"/>
    <p:sldId id="307" r:id="rId64"/>
    <p:sldId id="308" r:id="rId65"/>
    <p:sldId id="342" r:id="rId66"/>
    <p:sldId id="309" r:id="rId67"/>
    <p:sldId id="310" r:id="rId68"/>
    <p:sldId id="297" r:id="rId69"/>
    <p:sldId id="311" r:id="rId70"/>
    <p:sldId id="312" r:id="rId71"/>
    <p:sldId id="343" r:id="rId72"/>
    <p:sldId id="257" r:id="rId7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F00"/>
    <a:srgbClr val="014723"/>
    <a:srgbClr val="FF5D5D"/>
    <a:srgbClr val="C00000"/>
    <a:srgbClr val="CC3300"/>
    <a:srgbClr val="3A6695"/>
    <a:srgbClr val="9CC5FD"/>
    <a:srgbClr val="134263"/>
    <a:srgbClr val="1E2B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2" autoAdjust="0"/>
    <p:restoredTop sz="88647" autoAdjust="0"/>
  </p:normalViewPr>
  <p:slideViewPr>
    <p:cSldViewPr snapToGrid="0">
      <p:cViewPr varScale="1">
        <p:scale>
          <a:sx n="78" d="100"/>
          <a:sy n="78" d="100"/>
        </p:scale>
        <p:origin x="850" y="1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E4261-0CDD-45A3-84C2-311859DE5B03}" type="datetimeFigureOut">
              <a:rPr lang="zh-CN" altLang="en-US" smtClean="0"/>
              <a:t>2023/10/20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711DA-82CB-44C8-99EC-9CE596A896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773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语言也是由单词，常量，句子，符号等语法元素构成。</a:t>
            </a:r>
            <a:r>
              <a:rPr lang="en-US" altLang="zh-CN" dirty="0"/>
              <a:t>C</a:t>
            </a:r>
            <a:r>
              <a:rPr lang="zh-CN" altLang="en-US" dirty="0"/>
              <a:t>语言中所用到的单词，称为标识符。</a:t>
            </a:r>
            <a:endParaRPr lang="en-US" altLang="zh-CN" dirty="0"/>
          </a:p>
          <a:p>
            <a:r>
              <a:rPr lang="zh-CN" altLang="en-US" dirty="0"/>
              <a:t>例如：</a:t>
            </a:r>
            <a:r>
              <a:rPr lang="en-US" altLang="zh-CN" dirty="0"/>
              <a:t>include int main char cat </a:t>
            </a:r>
            <a:r>
              <a:rPr lang="en-US" altLang="zh-CN" dirty="0" err="1"/>
              <a:t>printf</a:t>
            </a:r>
            <a:r>
              <a:rPr lang="en-US" altLang="zh-CN" dirty="0"/>
              <a:t> </a:t>
            </a:r>
            <a:r>
              <a:rPr lang="zh-CN" altLang="en-US" dirty="0"/>
              <a:t>等都是标识符；符号有 </a:t>
            </a:r>
            <a:r>
              <a:rPr lang="en-US" altLang="zh-CN" dirty="0"/>
              <a:t># </a:t>
            </a:r>
            <a:r>
              <a:rPr lang="zh-CN" altLang="en-US" dirty="0"/>
              <a:t>（） </a:t>
            </a:r>
            <a:r>
              <a:rPr lang="en-US" altLang="zh-CN" dirty="0"/>
              <a:t>{} = </a:t>
            </a:r>
            <a:r>
              <a:rPr lang="zh-CN" altLang="en-US" dirty="0"/>
              <a:t>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2636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各种名字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38628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对的不一定是好的，哪些标识符才是好的？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6744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目前 </a:t>
            </a:r>
            <a:r>
              <a:rPr lang="en-US" altLang="zh-CN" dirty="0"/>
              <a:t>c </a:t>
            </a:r>
            <a:r>
              <a:rPr lang="zh-CN" altLang="en-US" dirty="0"/>
              <a:t>语言标识符书写的风格</a:t>
            </a:r>
            <a:br>
              <a:rPr lang="en-US" altLang="zh-CN" dirty="0"/>
            </a:br>
            <a:r>
              <a:rPr lang="zh-CN" altLang="en-US" b="1" dirty="0"/>
              <a:t>匈牙利风格</a:t>
            </a:r>
            <a:r>
              <a:rPr lang="en-US" altLang="zh-CN" dirty="0"/>
              <a:t>https://wenku.baidu.com/view/90cc36a11cd9ad51f01dc281e53a580217fc5090.html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784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792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6559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7739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3931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表达式是一个递归的定义。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99785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3026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后面按表达式类别，分别介绍使用不同运算符的表达式涉及的</a:t>
            </a:r>
            <a:r>
              <a:rPr lang="en-US" altLang="zh-CN" dirty="0"/>
              <a:t>5</a:t>
            </a:r>
            <a:r>
              <a:rPr lang="zh-CN" altLang="en-US" dirty="0"/>
              <a:t>个方面的语言要素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2835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23222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0243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09557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8551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2318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+a </a:t>
            </a:r>
            <a:r>
              <a:rPr lang="zh-CN" altLang="en-US" dirty="0"/>
              <a:t>是提升后的值，什么是提升？</a:t>
            </a:r>
            <a:endParaRPr lang="en-US" altLang="zh-CN" dirty="0"/>
          </a:p>
          <a:p>
            <a:r>
              <a:rPr lang="zh-CN" altLang="en-US" dirty="0"/>
              <a:t>这需要了解一些计算机做运算的一些规则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3704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963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表达式不存在 </a:t>
            </a:r>
            <a:r>
              <a:rPr lang="en-US" altLang="zh-CN" dirty="0"/>
              <a:t>short </a:t>
            </a:r>
            <a:r>
              <a:rPr lang="zh-CN" altLang="en-US" dirty="0"/>
              <a:t>或 </a:t>
            </a:r>
            <a:r>
              <a:rPr lang="en-US" altLang="zh-CN" dirty="0"/>
              <a:t>char </a:t>
            </a:r>
            <a:r>
              <a:rPr lang="zh-CN" altLang="en-US" dirty="0"/>
              <a:t>类型。</a:t>
            </a:r>
            <a:endParaRPr lang="en-US" altLang="zh-CN" dirty="0"/>
          </a:p>
          <a:p>
            <a:r>
              <a:rPr lang="zh-CN" altLang="en-US" dirty="0"/>
              <a:t>整数提升是重要概念，因为硬件（</a:t>
            </a:r>
            <a:r>
              <a:rPr lang="en-US" altLang="zh-CN" dirty="0"/>
              <a:t>CPU</a:t>
            </a:r>
            <a:r>
              <a:rPr lang="zh-CN" altLang="en-US" dirty="0"/>
              <a:t>）最小计算单位是整数，编译会自动提升为整数计算。</a:t>
            </a:r>
            <a:endParaRPr lang="en-US" altLang="zh-CN" dirty="0"/>
          </a:p>
          <a:p>
            <a:r>
              <a:rPr lang="zh-CN" altLang="en-US" dirty="0"/>
              <a:t>所以 </a:t>
            </a:r>
            <a:r>
              <a:rPr lang="en-US" altLang="zh-CN" dirty="0"/>
              <a:t>c </a:t>
            </a:r>
            <a:r>
              <a:rPr lang="zh-CN" altLang="en-US" dirty="0"/>
              <a:t>语言中除了存储需要，不会一般出现</a:t>
            </a:r>
            <a:r>
              <a:rPr lang="en-US" altLang="zh-CN" dirty="0"/>
              <a:t>short</a:t>
            </a:r>
            <a:r>
              <a:rPr lang="zh-CN" altLang="en-US" dirty="0"/>
              <a:t>，</a:t>
            </a:r>
            <a:r>
              <a:rPr lang="en-US" altLang="zh-CN" dirty="0"/>
              <a:t>char </a:t>
            </a:r>
            <a:r>
              <a:rPr lang="zh-CN" altLang="en-US" dirty="0"/>
              <a:t>类型计算或作为参数传给函数</a:t>
            </a:r>
            <a:br>
              <a:rPr lang="en-US" altLang="zh-CN" dirty="0"/>
            </a:br>
            <a:r>
              <a:rPr lang="en-US" altLang="zh-CN" dirty="0"/>
              <a:t>129</a:t>
            </a:r>
            <a:r>
              <a:rPr lang="zh-CN" altLang="en-US" dirty="0"/>
              <a:t>赋值给 </a:t>
            </a:r>
            <a:r>
              <a:rPr lang="en-US" altLang="zh-CN" dirty="0"/>
              <a:t>char </a:t>
            </a:r>
            <a:r>
              <a:rPr lang="zh-CN" altLang="en-US" dirty="0"/>
              <a:t>变量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，实际值为</a:t>
            </a:r>
            <a:r>
              <a:rPr lang="en-US" altLang="zh-CN" dirty="0"/>
              <a:t>-127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9068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72828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91812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4321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26643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01324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45459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01685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6277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41078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129675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74246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50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21601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27695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928515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1103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21461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383673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63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64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68678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66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67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68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69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70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9241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72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536CA-A6C4-4358-AF93-5CCBD70D248C}" type="datetimeFigureOut">
              <a:rPr lang="zh-CN" altLang="en-US" smtClean="0"/>
              <a:t>2023/10/20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3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3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image" Target="../media/image3.tmp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17" Type="http://schemas.openxmlformats.org/officeDocument/2006/relationships/tags" Target="../tags/tag68.xml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10" Type="http://schemas.openxmlformats.org/officeDocument/2006/relationships/tags" Target="../tags/tag61.xml"/><Relationship Id="rId19" Type="http://schemas.openxmlformats.org/officeDocument/2006/relationships/image" Target="../media/image3.tmp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zh.cppreference.com/w/c/language/identifier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zh.cppreference.com/w/c/language/identifier" TargetMode="External"/><Relationship Id="rId5" Type="http://schemas.openxmlformats.org/officeDocument/2006/relationships/hyperlink" Target="https://zh.cppreference.com/w/c/keyword" TargetMode="Externa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19" Type="http://schemas.openxmlformats.org/officeDocument/2006/relationships/image" Target="../media/image3.tmp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zh.cppreference.com/w/c/language/expressions" TargetMode="Externa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qingcms.gitee.io/cppreference/20210212/zh/c/language/value_category.html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hyperlink" Target="https://zh.cppreference.com/w/c/language/conversion" TargetMode="External"/><Relationship Id="rId4" Type="http://schemas.openxmlformats.org/officeDocument/2006/relationships/hyperlink" Target="https://zh.cppreference.com/w/c/language/arithmetic_types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zh.cppreference.com/w/c/language/conversion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zh.cppreference.com/w/c/language/cast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tags" Target="../tags/tag102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10" Type="http://schemas.openxmlformats.org/officeDocument/2006/relationships/tags" Target="../tags/tag95.xml"/><Relationship Id="rId19" Type="http://schemas.openxmlformats.org/officeDocument/2006/relationships/image" Target="../media/image3.tmp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13" Type="http://schemas.openxmlformats.org/officeDocument/2006/relationships/tags" Target="../tags/tag115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12" Type="http://schemas.openxmlformats.org/officeDocument/2006/relationships/tags" Target="../tags/tag114.xml"/><Relationship Id="rId17" Type="http://schemas.openxmlformats.org/officeDocument/2006/relationships/tags" Target="../tags/tag119.xml"/><Relationship Id="rId2" Type="http://schemas.openxmlformats.org/officeDocument/2006/relationships/tags" Target="../tags/tag104.xml"/><Relationship Id="rId16" Type="http://schemas.openxmlformats.org/officeDocument/2006/relationships/tags" Target="../tags/tag118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tags" Target="../tags/tag113.xml"/><Relationship Id="rId5" Type="http://schemas.openxmlformats.org/officeDocument/2006/relationships/tags" Target="../tags/tag107.xml"/><Relationship Id="rId15" Type="http://schemas.openxmlformats.org/officeDocument/2006/relationships/tags" Target="../tags/tag117.xml"/><Relationship Id="rId10" Type="http://schemas.openxmlformats.org/officeDocument/2006/relationships/tags" Target="../tags/tag112.xml"/><Relationship Id="rId19" Type="http://schemas.openxmlformats.org/officeDocument/2006/relationships/image" Target="../media/image3.tmp"/><Relationship Id="rId4" Type="http://schemas.openxmlformats.org/officeDocument/2006/relationships/tags" Target="../tags/tag106.xml"/><Relationship Id="rId9" Type="http://schemas.openxmlformats.org/officeDocument/2006/relationships/tags" Target="../tags/tag111.xml"/><Relationship Id="rId14" Type="http://schemas.openxmlformats.org/officeDocument/2006/relationships/tags" Target="../tags/tag11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tags" Target="../tags/tag127.xml"/><Relationship Id="rId13" Type="http://schemas.openxmlformats.org/officeDocument/2006/relationships/tags" Target="../tags/tag132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22.xml"/><Relationship Id="rId7" Type="http://schemas.openxmlformats.org/officeDocument/2006/relationships/tags" Target="../tags/tag126.xml"/><Relationship Id="rId12" Type="http://schemas.openxmlformats.org/officeDocument/2006/relationships/tags" Target="../tags/tag131.xml"/><Relationship Id="rId17" Type="http://schemas.openxmlformats.org/officeDocument/2006/relationships/tags" Target="../tags/tag136.xml"/><Relationship Id="rId2" Type="http://schemas.openxmlformats.org/officeDocument/2006/relationships/tags" Target="../tags/tag121.xml"/><Relationship Id="rId16" Type="http://schemas.openxmlformats.org/officeDocument/2006/relationships/tags" Target="../tags/tag135.xml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11" Type="http://schemas.openxmlformats.org/officeDocument/2006/relationships/tags" Target="../tags/tag130.xml"/><Relationship Id="rId5" Type="http://schemas.openxmlformats.org/officeDocument/2006/relationships/tags" Target="../tags/tag124.xml"/><Relationship Id="rId15" Type="http://schemas.openxmlformats.org/officeDocument/2006/relationships/tags" Target="../tags/tag134.xml"/><Relationship Id="rId10" Type="http://schemas.openxmlformats.org/officeDocument/2006/relationships/tags" Target="../tags/tag129.xml"/><Relationship Id="rId19" Type="http://schemas.openxmlformats.org/officeDocument/2006/relationships/image" Target="../media/image3.tmp"/><Relationship Id="rId4" Type="http://schemas.openxmlformats.org/officeDocument/2006/relationships/tags" Target="../tags/tag123.xml"/><Relationship Id="rId9" Type="http://schemas.openxmlformats.org/officeDocument/2006/relationships/tags" Target="../tags/tag128.xml"/><Relationship Id="rId14" Type="http://schemas.openxmlformats.org/officeDocument/2006/relationships/tags" Target="../tags/tag133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tags" Target="../tags/tag144.xml"/><Relationship Id="rId13" Type="http://schemas.openxmlformats.org/officeDocument/2006/relationships/tags" Target="../tags/tag149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39.xml"/><Relationship Id="rId7" Type="http://schemas.openxmlformats.org/officeDocument/2006/relationships/tags" Target="../tags/tag143.xml"/><Relationship Id="rId12" Type="http://schemas.openxmlformats.org/officeDocument/2006/relationships/tags" Target="../tags/tag148.xml"/><Relationship Id="rId17" Type="http://schemas.openxmlformats.org/officeDocument/2006/relationships/tags" Target="../tags/tag153.xml"/><Relationship Id="rId2" Type="http://schemas.openxmlformats.org/officeDocument/2006/relationships/tags" Target="../tags/tag138.xml"/><Relationship Id="rId16" Type="http://schemas.openxmlformats.org/officeDocument/2006/relationships/tags" Target="../tags/tag152.xml"/><Relationship Id="rId1" Type="http://schemas.openxmlformats.org/officeDocument/2006/relationships/tags" Target="../tags/tag137.xml"/><Relationship Id="rId6" Type="http://schemas.openxmlformats.org/officeDocument/2006/relationships/tags" Target="../tags/tag142.xml"/><Relationship Id="rId11" Type="http://schemas.openxmlformats.org/officeDocument/2006/relationships/tags" Target="../tags/tag147.xml"/><Relationship Id="rId5" Type="http://schemas.openxmlformats.org/officeDocument/2006/relationships/tags" Target="../tags/tag141.xml"/><Relationship Id="rId15" Type="http://schemas.openxmlformats.org/officeDocument/2006/relationships/tags" Target="../tags/tag151.xml"/><Relationship Id="rId10" Type="http://schemas.openxmlformats.org/officeDocument/2006/relationships/tags" Target="../tags/tag146.xml"/><Relationship Id="rId19" Type="http://schemas.openxmlformats.org/officeDocument/2006/relationships/image" Target="../media/image3.tmp"/><Relationship Id="rId4" Type="http://schemas.openxmlformats.org/officeDocument/2006/relationships/tags" Target="../tags/tag140.xml"/><Relationship Id="rId9" Type="http://schemas.openxmlformats.org/officeDocument/2006/relationships/tags" Target="../tags/tag145.xml"/><Relationship Id="rId14" Type="http://schemas.openxmlformats.org/officeDocument/2006/relationships/tags" Target="../tags/tag15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tags" Target="../tags/tag161.xml"/><Relationship Id="rId13" Type="http://schemas.openxmlformats.org/officeDocument/2006/relationships/tags" Target="../tags/tag166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56.xml"/><Relationship Id="rId7" Type="http://schemas.openxmlformats.org/officeDocument/2006/relationships/tags" Target="../tags/tag160.xml"/><Relationship Id="rId12" Type="http://schemas.openxmlformats.org/officeDocument/2006/relationships/tags" Target="../tags/tag165.xml"/><Relationship Id="rId17" Type="http://schemas.openxmlformats.org/officeDocument/2006/relationships/tags" Target="../tags/tag170.xml"/><Relationship Id="rId2" Type="http://schemas.openxmlformats.org/officeDocument/2006/relationships/tags" Target="../tags/tag155.xml"/><Relationship Id="rId16" Type="http://schemas.openxmlformats.org/officeDocument/2006/relationships/tags" Target="../tags/tag169.xml"/><Relationship Id="rId1" Type="http://schemas.openxmlformats.org/officeDocument/2006/relationships/tags" Target="../tags/tag154.xml"/><Relationship Id="rId6" Type="http://schemas.openxmlformats.org/officeDocument/2006/relationships/tags" Target="../tags/tag159.xml"/><Relationship Id="rId11" Type="http://schemas.openxmlformats.org/officeDocument/2006/relationships/tags" Target="../tags/tag164.xml"/><Relationship Id="rId5" Type="http://schemas.openxmlformats.org/officeDocument/2006/relationships/tags" Target="../tags/tag158.xml"/><Relationship Id="rId15" Type="http://schemas.openxmlformats.org/officeDocument/2006/relationships/tags" Target="../tags/tag168.xml"/><Relationship Id="rId10" Type="http://schemas.openxmlformats.org/officeDocument/2006/relationships/tags" Target="../tags/tag163.xml"/><Relationship Id="rId19" Type="http://schemas.openxmlformats.org/officeDocument/2006/relationships/image" Target="../media/image3.tmp"/><Relationship Id="rId4" Type="http://schemas.openxmlformats.org/officeDocument/2006/relationships/tags" Target="../tags/tag157.xml"/><Relationship Id="rId9" Type="http://schemas.openxmlformats.org/officeDocument/2006/relationships/tags" Target="../tags/tag162.xml"/><Relationship Id="rId14" Type="http://schemas.openxmlformats.org/officeDocument/2006/relationships/tags" Target="../tags/tag167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tags" Target="../tags/tag178.xml"/><Relationship Id="rId13" Type="http://schemas.openxmlformats.org/officeDocument/2006/relationships/tags" Target="../tags/tag18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73.xml"/><Relationship Id="rId7" Type="http://schemas.openxmlformats.org/officeDocument/2006/relationships/tags" Target="../tags/tag177.xml"/><Relationship Id="rId12" Type="http://schemas.openxmlformats.org/officeDocument/2006/relationships/tags" Target="../tags/tag182.xml"/><Relationship Id="rId17" Type="http://schemas.openxmlformats.org/officeDocument/2006/relationships/tags" Target="../tags/tag187.xml"/><Relationship Id="rId2" Type="http://schemas.openxmlformats.org/officeDocument/2006/relationships/tags" Target="../tags/tag172.xml"/><Relationship Id="rId16" Type="http://schemas.openxmlformats.org/officeDocument/2006/relationships/tags" Target="../tags/tag186.xml"/><Relationship Id="rId1" Type="http://schemas.openxmlformats.org/officeDocument/2006/relationships/tags" Target="../tags/tag171.xml"/><Relationship Id="rId6" Type="http://schemas.openxmlformats.org/officeDocument/2006/relationships/tags" Target="../tags/tag176.xml"/><Relationship Id="rId11" Type="http://schemas.openxmlformats.org/officeDocument/2006/relationships/tags" Target="../tags/tag181.xml"/><Relationship Id="rId5" Type="http://schemas.openxmlformats.org/officeDocument/2006/relationships/tags" Target="../tags/tag175.xml"/><Relationship Id="rId15" Type="http://schemas.openxmlformats.org/officeDocument/2006/relationships/tags" Target="../tags/tag185.xml"/><Relationship Id="rId10" Type="http://schemas.openxmlformats.org/officeDocument/2006/relationships/tags" Target="../tags/tag180.xml"/><Relationship Id="rId19" Type="http://schemas.openxmlformats.org/officeDocument/2006/relationships/image" Target="../media/image3.tmp"/><Relationship Id="rId4" Type="http://schemas.openxmlformats.org/officeDocument/2006/relationships/tags" Target="../tags/tag174.xml"/><Relationship Id="rId9" Type="http://schemas.openxmlformats.org/officeDocument/2006/relationships/tags" Target="../tags/tag179.xml"/><Relationship Id="rId14" Type="http://schemas.openxmlformats.org/officeDocument/2006/relationships/tags" Target="../tags/tag18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46967"/>
          <a:stretch>
            <a:fillRect/>
          </a:stretch>
        </p:blipFill>
        <p:spPr>
          <a:xfrm>
            <a:off x="0" y="2176476"/>
            <a:ext cx="12209296" cy="287792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2176477"/>
            <a:ext cx="12192000" cy="287792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6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784764" y="2867904"/>
            <a:ext cx="7225145" cy="1015663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dist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表达式与运算符</a:t>
            </a:r>
          </a:p>
        </p:txBody>
      </p:sp>
      <p:sp>
        <p:nvSpPr>
          <p:cNvPr id="16" name="TextBox 10"/>
          <p:cNvSpPr txBox="1"/>
          <p:nvPr/>
        </p:nvSpPr>
        <p:spPr>
          <a:xfrm>
            <a:off x="2565806" y="3990096"/>
            <a:ext cx="7060388" cy="523196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中山大学计算机学院</a:t>
            </a:r>
            <a:endParaRPr lang="en-US" altLang="zh-CN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00" r="2284" b="11992"/>
          <a:stretch>
            <a:fillRect/>
          </a:stretch>
        </p:blipFill>
        <p:spPr>
          <a:xfrm>
            <a:off x="4339400" y="923192"/>
            <a:ext cx="3433000" cy="1072662"/>
          </a:xfrm>
          <a:prstGeom prst="rect">
            <a:avLst/>
          </a:prstGeom>
        </p:spPr>
      </p:pic>
      <p:sp>
        <p:nvSpPr>
          <p:cNvPr id="17" name="TextBox 6"/>
          <p:cNvSpPr txBox="1"/>
          <p:nvPr/>
        </p:nvSpPr>
        <p:spPr>
          <a:xfrm>
            <a:off x="5398606" y="5644929"/>
            <a:ext cx="1723500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b="1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讲课人</a:t>
            </a:r>
            <a:r>
              <a:rPr lang="zh-CN" altLang="en-US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：陆勇</a:t>
            </a:r>
            <a:endParaRPr lang="en-US" altLang="zh-CN" dirty="0">
              <a:solidFill>
                <a:srgbClr val="0147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Freeform 7"/>
          <p:cNvSpPr>
            <a:spLocks noChangeAspect="1" noEditPoints="1"/>
          </p:cNvSpPr>
          <p:nvPr/>
        </p:nvSpPr>
        <p:spPr bwMode="auto">
          <a:xfrm>
            <a:off x="4549092" y="5611849"/>
            <a:ext cx="462900" cy="466244"/>
          </a:xfrm>
          <a:custGeom>
            <a:avLst/>
            <a:gdLst>
              <a:gd name="T0" fmla="*/ 661 w 904"/>
              <a:gd name="T1" fmla="*/ 461 h 905"/>
              <a:gd name="T2" fmla="*/ 661 w 904"/>
              <a:gd name="T3" fmla="*/ 339 h 905"/>
              <a:gd name="T4" fmla="*/ 605 w 904"/>
              <a:gd name="T5" fmla="*/ 339 h 905"/>
              <a:gd name="T6" fmla="*/ 605 w 904"/>
              <a:gd name="T7" fmla="*/ 461 h 905"/>
              <a:gd name="T8" fmla="*/ 456 w 904"/>
              <a:gd name="T9" fmla="*/ 610 h 905"/>
              <a:gd name="T10" fmla="*/ 453 w 904"/>
              <a:gd name="T11" fmla="*/ 610 h 905"/>
              <a:gd name="T12" fmla="*/ 452 w 904"/>
              <a:gd name="T13" fmla="*/ 610 h 905"/>
              <a:gd name="T14" fmla="*/ 451 w 904"/>
              <a:gd name="T15" fmla="*/ 610 h 905"/>
              <a:gd name="T16" fmla="*/ 448 w 904"/>
              <a:gd name="T17" fmla="*/ 610 h 905"/>
              <a:gd name="T18" fmla="*/ 299 w 904"/>
              <a:gd name="T19" fmla="*/ 461 h 905"/>
              <a:gd name="T20" fmla="*/ 299 w 904"/>
              <a:gd name="T21" fmla="*/ 339 h 905"/>
              <a:gd name="T22" fmla="*/ 244 w 904"/>
              <a:gd name="T23" fmla="*/ 339 h 905"/>
              <a:gd name="T24" fmla="*/ 244 w 904"/>
              <a:gd name="T25" fmla="*/ 461 h 905"/>
              <a:gd name="T26" fmla="*/ 419 w 904"/>
              <a:gd name="T27" fmla="*/ 664 h 905"/>
              <a:gd name="T28" fmla="*/ 419 w 904"/>
              <a:gd name="T29" fmla="*/ 752 h 905"/>
              <a:gd name="T30" fmla="*/ 295 w 904"/>
              <a:gd name="T31" fmla="*/ 787 h 905"/>
              <a:gd name="T32" fmla="*/ 610 w 904"/>
              <a:gd name="T33" fmla="*/ 787 h 905"/>
              <a:gd name="T34" fmla="*/ 484 w 904"/>
              <a:gd name="T35" fmla="*/ 751 h 905"/>
              <a:gd name="T36" fmla="*/ 484 w 904"/>
              <a:gd name="T37" fmla="*/ 664 h 905"/>
              <a:gd name="T38" fmla="*/ 661 w 904"/>
              <a:gd name="T39" fmla="*/ 461 h 905"/>
              <a:gd name="T40" fmla="*/ 450 w 904"/>
              <a:gd name="T41" fmla="*/ 558 h 905"/>
              <a:gd name="T42" fmla="*/ 452 w 904"/>
              <a:gd name="T43" fmla="*/ 558 h 905"/>
              <a:gd name="T44" fmla="*/ 454 w 904"/>
              <a:gd name="T45" fmla="*/ 558 h 905"/>
              <a:gd name="T46" fmla="*/ 554 w 904"/>
              <a:gd name="T47" fmla="*/ 459 h 905"/>
              <a:gd name="T48" fmla="*/ 554 w 904"/>
              <a:gd name="T49" fmla="*/ 218 h 905"/>
              <a:gd name="T50" fmla="*/ 454 w 904"/>
              <a:gd name="T51" fmla="*/ 118 h 905"/>
              <a:gd name="T52" fmla="*/ 452 w 904"/>
              <a:gd name="T53" fmla="*/ 118 h 905"/>
              <a:gd name="T54" fmla="*/ 450 w 904"/>
              <a:gd name="T55" fmla="*/ 118 h 905"/>
              <a:gd name="T56" fmla="*/ 351 w 904"/>
              <a:gd name="T57" fmla="*/ 218 h 905"/>
              <a:gd name="T58" fmla="*/ 351 w 904"/>
              <a:gd name="T59" fmla="*/ 459 h 905"/>
              <a:gd name="T60" fmla="*/ 450 w 904"/>
              <a:gd name="T61" fmla="*/ 558 h 905"/>
              <a:gd name="T62" fmla="*/ 452 w 904"/>
              <a:gd name="T63" fmla="*/ 0 h 905"/>
              <a:gd name="T64" fmla="*/ 904 w 904"/>
              <a:gd name="T65" fmla="*/ 453 h 905"/>
              <a:gd name="T66" fmla="*/ 452 w 904"/>
              <a:gd name="T67" fmla="*/ 905 h 905"/>
              <a:gd name="T68" fmla="*/ 0 w 904"/>
              <a:gd name="T69" fmla="*/ 453 h 905"/>
              <a:gd name="T70" fmla="*/ 452 w 904"/>
              <a:gd name="T71" fmla="*/ 0 h 9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904" h="905">
                <a:moveTo>
                  <a:pt x="661" y="461"/>
                </a:moveTo>
                <a:lnTo>
                  <a:pt x="661" y="339"/>
                </a:lnTo>
                <a:cubicBezTo>
                  <a:pt x="661" y="304"/>
                  <a:pt x="605" y="304"/>
                  <a:pt x="605" y="339"/>
                </a:cubicBezTo>
                <a:lnTo>
                  <a:pt x="605" y="461"/>
                </a:lnTo>
                <a:cubicBezTo>
                  <a:pt x="605" y="543"/>
                  <a:pt x="538" y="610"/>
                  <a:pt x="456" y="610"/>
                </a:cubicBezTo>
                <a:cubicBezTo>
                  <a:pt x="455" y="610"/>
                  <a:pt x="454" y="610"/>
                  <a:pt x="453" y="610"/>
                </a:cubicBezTo>
                <a:lnTo>
                  <a:pt x="452" y="610"/>
                </a:lnTo>
                <a:lnTo>
                  <a:pt x="451" y="610"/>
                </a:lnTo>
                <a:cubicBezTo>
                  <a:pt x="450" y="610"/>
                  <a:pt x="449" y="610"/>
                  <a:pt x="448" y="610"/>
                </a:cubicBezTo>
                <a:cubicBezTo>
                  <a:pt x="366" y="610"/>
                  <a:pt x="299" y="543"/>
                  <a:pt x="299" y="461"/>
                </a:cubicBezTo>
                <a:lnTo>
                  <a:pt x="299" y="339"/>
                </a:lnTo>
                <a:cubicBezTo>
                  <a:pt x="299" y="304"/>
                  <a:pt x="244" y="304"/>
                  <a:pt x="244" y="339"/>
                </a:cubicBezTo>
                <a:cubicBezTo>
                  <a:pt x="244" y="355"/>
                  <a:pt x="244" y="461"/>
                  <a:pt x="244" y="461"/>
                </a:cubicBezTo>
                <a:cubicBezTo>
                  <a:pt x="244" y="564"/>
                  <a:pt x="320" y="650"/>
                  <a:pt x="419" y="664"/>
                </a:cubicBezTo>
                <a:lnTo>
                  <a:pt x="419" y="752"/>
                </a:lnTo>
                <a:lnTo>
                  <a:pt x="295" y="787"/>
                </a:lnTo>
                <a:lnTo>
                  <a:pt x="610" y="787"/>
                </a:lnTo>
                <a:lnTo>
                  <a:pt x="484" y="751"/>
                </a:lnTo>
                <a:lnTo>
                  <a:pt x="484" y="664"/>
                </a:lnTo>
                <a:cubicBezTo>
                  <a:pt x="584" y="650"/>
                  <a:pt x="661" y="564"/>
                  <a:pt x="661" y="461"/>
                </a:cubicBezTo>
                <a:close/>
                <a:moveTo>
                  <a:pt x="450" y="558"/>
                </a:moveTo>
                <a:cubicBezTo>
                  <a:pt x="451" y="558"/>
                  <a:pt x="451" y="558"/>
                  <a:pt x="452" y="558"/>
                </a:cubicBezTo>
                <a:cubicBezTo>
                  <a:pt x="453" y="558"/>
                  <a:pt x="453" y="558"/>
                  <a:pt x="454" y="558"/>
                </a:cubicBezTo>
                <a:cubicBezTo>
                  <a:pt x="509" y="558"/>
                  <a:pt x="554" y="514"/>
                  <a:pt x="554" y="459"/>
                </a:cubicBezTo>
                <a:lnTo>
                  <a:pt x="554" y="218"/>
                </a:lnTo>
                <a:cubicBezTo>
                  <a:pt x="554" y="163"/>
                  <a:pt x="509" y="118"/>
                  <a:pt x="454" y="118"/>
                </a:cubicBezTo>
                <a:cubicBezTo>
                  <a:pt x="453" y="118"/>
                  <a:pt x="453" y="118"/>
                  <a:pt x="452" y="118"/>
                </a:cubicBezTo>
                <a:cubicBezTo>
                  <a:pt x="452" y="118"/>
                  <a:pt x="451" y="118"/>
                  <a:pt x="450" y="118"/>
                </a:cubicBezTo>
                <a:cubicBezTo>
                  <a:pt x="395" y="118"/>
                  <a:pt x="351" y="163"/>
                  <a:pt x="351" y="218"/>
                </a:cubicBezTo>
                <a:lnTo>
                  <a:pt x="351" y="459"/>
                </a:lnTo>
                <a:cubicBezTo>
                  <a:pt x="351" y="514"/>
                  <a:pt x="395" y="558"/>
                  <a:pt x="450" y="558"/>
                </a:cubicBezTo>
                <a:close/>
                <a:moveTo>
                  <a:pt x="452" y="0"/>
                </a:moveTo>
                <a:cubicBezTo>
                  <a:pt x="702" y="0"/>
                  <a:pt x="904" y="203"/>
                  <a:pt x="904" y="453"/>
                </a:cubicBezTo>
                <a:cubicBezTo>
                  <a:pt x="904" y="702"/>
                  <a:pt x="702" y="905"/>
                  <a:pt x="452" y="905"/>
                </a:cubicBezTo>
                <a:cubicBezTo>
                  <a:pt x="202" y="905"/>
                  <a:pt x="0" y="702"/>
                  <a:pt x="0" y="453"/>
                </a:cubicBezTo>
                <a:cubicBezTo>
                  <a:pt x="0" y="203"/>
                  <a:pt x="202" y="0"/>
                  <a:pt x="452" y="0"/>
                </a:cubicBezTo>
                <a:close/>
              </a:path>
            </a:pathLst>
          </a:custGeom>
          <a:solidFill>
            <a:srgbClr val="014723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zh-CN" altLang="en-US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46967"/>
          <a:stretch>
            <a:fillRect/>
          </a:stretch>
        </p:blipFill>
        <p:spPr>
          <a:xfrm>
            <a:off x="0" y="2176476"/>
            <a:ext cx="12209296" cy="287792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2176477"/>
            <a:ext cx="12192000" cy="287792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6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559161" y="2793810"/>
            <a:ext cx="69934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复习</a:t>
            </a:r>
          </a:p>
        </p:txBody>
      </p:sp>
      <p:sp>
        <p:nvSpPr>
          <p:cNvPr id="16" name="TextBox 10"/>
          <p:cNvSpPr txBox="1"/>
          <p:nvPr/>
        </p:nvSpPr>
        <p:spPr>
          <a:xfrm>
            <a:off x="2565806" y="3990096"/>
            <a:ext cx="7060388" cy="523196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en-US" altLang="zh-CN" sz="2800" dirty="0">
                <a:solidFill>
                  <a:schemeClr val="bg1">
                    <a:lumMod val="95000"/>
                  </a:schemeClr>
                </a:solidFill>
              </a:rPr>
              <a:t>Reviews</a:t>
            </a:r>
            <a:endParaRPr lang="en-US" altLang="zh-CN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00" r="2284" b="11992"/>
          <a:stretch>
            <a:fillRect/>
          </a:stretch>
        </p:blipFill>
        <p:spPr>
          <a:xfrm>
            <a:off x="4339400" y="923192"/>
            <a:ext cx="3433000" cy="10726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850"/>
                            </p:stCondLst>
                            <p:childTnLst>
                              <p:par>
                                <p:cTn id="15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42985A1-09F2-461C-B2E9-1DEFF6A81D2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为了查看一个变量在内存中的表示，常使用哪种进制打印值和地址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A9C1A0-BFC3-4F53-B6C8-7BC5A22F201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十进制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DEB2B1-1426-4B80-B17F-05AB3942451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二进制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7755826-3D58-4AC6-A221-2C2A34E35D5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八进制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8D08B83-F0DE-4E8B-91F0-6CDF2697558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十六进制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F4EE4F6-CDDF-4639-A53F-45750D21C6FA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315F384-ABBB-459D-83B7-85C3AE15CE8D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07BF0DA-91AF-46D7-BB85-0287053854AE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9276743-3C91-4EA9-BF73-B3EFB398423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6CC2585-67AC-40D5-9925-2D5D5388E1E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F6CA712-D23C-4C9C-9BF8-25273C75BBEB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20340392-89BA-48CE-99B8-7F6B5034560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BC93DC6E-D843-4ED6-A251-562D7261FFF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4866679F-0F4B-4AD3-B2CF-A96F5350705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7587A142-CDD7-40A3-8149-8FA80BD5A79B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8EB8CB4-968D-4FBD-BBB3-C08EC5CFDEF5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83604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42985A1-09F2-461C-B2E9-1DEFF6A81D2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printf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格式化字符串中，以下哪些输出格式为无符号整数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A9C1A0-BFC3-4F53-B6C8-7BC5A22F201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%d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DEB2B1-1426-4B80-B17F-05AB3942451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%u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7755826-3D58-4AC6-A221-2C2A34E35D5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%o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8D08B83-F0DE-4E8B-91F0-6CDF2697558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%x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F4EE4F6-CDDF-4639-A53F-45750D21C6FA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15F384-ABBB-459D-83B7-85C3AE15CE8D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7BF0DA-91AF-46D7-BB85-0287053854AE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9276743-3C91-4EA9-BF73-B3EFB398423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6CC2585-67AC-40D5-9925-2D5D5388E1E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B625211-C2B2-70D8-2231-D6EF778FF86D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20340392-89BA-48CE-99B8-7F6B5034560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BC93DC6E-D843-4ED6-A251-562D7261FFF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4866679F-0F4B-4AD3-B2CF-A96F5350705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2" name="TipText">
              <a:extLst>
                <a:ext uri="{FF2B5EF4-FFF2-40B4-BE49-F238E27FC236}">
                  <a16:creationId xmlns:a16="http://schemas.microsoft.com/office/drawing/2014/main" id="{8BBE2CE6-4641-7366-6F5E-432A4FC4AA2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8EB8CB4-968D-4FBD-BBB3-C08EC5CFDEF5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03412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42985A1-09F2-461C-B2E9-1DEFF6A81D2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十六进制值为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e5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，它与以下哪些数相等？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A9C1A0-BFC3-4F53-B6C8-7BC5A22F201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11010101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</a:t>
            </a:r>
            <a:r>
              <a:rPr lang="en-US" altLang="zh-CN" sz="2600" baseline="-25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endParaRPr lang="zh-CN" altLang="en-US" sz="2600" baseline="-25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DEB2B1-1426-4B80-B17F-05AB3942451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11100101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</a:t>
            </a:r>
            <a:r>
              <a:rPr lang="en-US" altLang="zh-CN" sz="2600" baseline="-25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endParaRPr lang="zh-CN" altLang="en-US" sz="2600" baseline="-25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7755826-3D58-4AC6-A221-2C2A34E35D5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345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</a:t>
            </a:r>
            <a:r>
              <a:rPr lang="en-US" altLang="zh-CN" sz="2600" baseline="-25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</a:t>
            </a:r>
            <a:endParaRPr lang="zh-CN" altLang="en-US" sz="2600" baseline="-25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8D08B83-F0DE-4E8B-91F0-6CDF2697558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229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</a:t>
            </a:r>
            <a:r>
              <a:rPr lang="en-US" altLang="zh-CN" sz="2600" baseline="-25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</a:t>
            </a:r>
            <a:endParaRPr lang="zh-CN" altLang="en-US" sz="2600" baseline="-25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F4EE4F6-CDDF-4639-A53F-45750D21C6FA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15F384-ABBB-459D-83B7-85C3AE15CE8D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7BF0DA-91AF-46D7-BB85-0287053854AE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9276743-3C91-4EA9-BF73-B3EFB398423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6CC2585-67AC-40D5-9925-2D5D5388E1E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F0F8F55B-E7DE-C338-500F-307AF6F09D16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20340392-89BA-48CE-99B8-7F6B5034560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BC93DC6E-D843-4ED6-A251-562D7261FFF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4866679F-0F4B-4AD3-B2CF-A96F5350705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2" name="TipText">
              <a:extLst>
                <a:ext uri="{FF2B5EF4-FFF2-40B4-BE49-F238E27FC236}">
                  <a16:creationId xmlns:a16="http://schemas.microsoft.com/office/drawing/2014/main" id="{AEFEBD5D-1F76-23C6-5472-0D583F8B065F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8EB8CB4-968D-4FBD-BBB3-C08EC5CFDEF5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15897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42985A1-09F2-461C-B2E9-1DEFF6A81D2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char x = ?;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printf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("%x\n",(unsigned char)x); </a:t>
            </a: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输出为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e5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，则 ？可能是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A9C1A0-BFC3-4F53-B6C8-7BC5A22F201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-27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DEB2B1-1426-4B80-B17F-05AB3942451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0345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7755826-3D58-4AC6-A221-2C2A34E35D5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229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8D08B83-F0DE-4E8B-91F0-6CDF2697558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0xE5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F4EE4F6-CDDF-4639-A53F-45750D21C6FA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15F384-ABBB-459D-83B7-85C3AE15CE8D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7BF0DA-91AF-46D7-BB85-0287053854AE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9276743-3C91-4EA9-BF73-B3EFB398423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6CC2585-67AC-40D5-9925-2D5D5388E1E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D4DBE28-7732-B5C3-4EE1-B18FF6AA39FA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20340392-89BA-48CE-99B8-7F6B5034560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BC93DC6E-D843-4ED6-A251-562D7261FFF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4866679F-0F4B-4AD3-B2CF-A96F5350705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2" name="TipText">
              <a:extLst>
                <a:ext uri="{FF2B5EF4-FFF2-40B4-BE49-F238E27FC236}">
                  <a16:creationId xmlns:a16="http://schemas.microsoft.com/office/drawing/2014/main" id="{05CF887F-EA72-167E-9934-B9A917EA27B1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8EB8CB4-968D-4FBD-BBB3-C08EC5CFDEF5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01866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/>
        </p:nvSpPr>
        <p:spPr>
          <a:xfrm>
            <a:off x="-1791046" y="1892300"/>
            <a:ext cx="5651845" cy="3073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C3300"/>
              </a:solidFill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-1556426" y="1998319"/>
            <a:ext cx="5261917" cy="2861362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5586904" y="945644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01</a:t>
            </a:r>
            <a:endParaRPr lang="zh-CN" altLang="en-US" b="1" dirty="0"/>
          </a:p>
        </p:txBody>
      </p:sp>
      <p:sp>
        <p:nvSpPr>
          <p:cNvPr id="7" name="圆角矩形 6"/>
          <p:cNvSpPr/>
          <p:nvPr/>
        </p:nvSpPr>
        <p:spPr>
          <a:xfrm>
            <a:off x="5602964" y="3864916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05</a:t>
            </a:r>
            <a:endParaRPr lang="zh-CN" altLang="en-US" b="1" dirty="0"/>
          </a:p>
        </p:txBody>
      </p:sp>
      <p:sp>
        <p:nvSpPr>
          <p:cNvPr id="8" name="圆角矩形 7"/>
          <p:cNvSpPr/>
          <p:nvPr/>
        </p:nvSpPr>
        <p:spPr>
          <a:xfrm>
            <a:off x="5602964" y="1681521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02</a:t>
            </a:r>
            <a:endParaRPr lang="zh-CN" altLang="en-US" b="1" dirty="0"/>
          </a:p>
        </p:txBody>
      </p:sp>
      <p:sp>
        <p:nvSpPr>
          <p:cNvPr id="9" name="圆角矩形 8"/>
          <p:cNvSpPr/>
          <p:nvPr/>
        </p:nvSpPr>
        <p:spPr>
          <a:xfrm>
            <a:off x="5602964" y="2415102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03</a:t>
            </a:r>
            <a:endParaRPr lang="zh-CN" altLang="en-US" b="1" dirty="0"/>
          </a:p>
        </p:txBody>
      </p:sp>
      <p:sp>
        <p:nvSpPr>
          <p:cNvPr id="59" name="圆角矩形 58"/>
          <p:cNvSpPr/>
          <p:nvPr/>
        </p:nvSpPr>
        <p:spPr>
          <a:xfrm>
            <a:off x="6691804" y="945644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算术运算符</a:t>
            </a:r>
          </a:p>
        </p:txBody>
      </p:sp>
      <p:sp>
        <p:nvSpPr>
          <p:cNvPr id="61" name="圆角矩形 60"/>
          <p:cNvSpPr/>
          <p:nvPr/>
        </p:nvSpPr>
        <p:spPr>
          <a:xfrm>
            <a:off x="6707864" y="3864916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赋值运算符</a:t>
            </a:r>
          </a:p>
        </p:txBody>
      </p:sp>
      <p:sp>
        <p:nvSpPr>
          <p:cNvPr id="62" name="圆角矩形 61"/>
          <p:cNvSpPr/>
          <p:nvPr/>
        </p:nvSpPr>
        <p:spPr>
          <a:xfrm>
            <a:off x="6707864" y="1681521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逻辑运算符</a:t>
            </a:r>
          </a:p>
        </p:txBody>
      </p:sp>
      <p:sp>
        <p:nvSpPr>
          <p:cNvPr id="63" name="圆角矩形 62"/>
          <p:cNvSpPr/>
          <p:nvPr/>
        </p:nvSpPr>
        <p:spPr>
          <a:xfrm>
            <a:off x="6707864" y="2415102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关系运算符</a:t>
            </a:r>
          </a:p>
        </p:txBody>
      </p:sp>
      <p:sp>
        <p:nvSpPr>
          <p:cNvPr id="64" name="TextBox 78"/>
          <p:cNvSpPr txBox="1"/>
          <p:nvPr/>
        </p:nvSpPr>
        <p:spPr>
          <a:xfrm>
            <a:off x="565975" y="3733289"/>
            <a:ext cx="2063385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665" b="1" dirty="0">
                <a:solidFill>
                  <a:schemeClr val="bg1"/>
                </a:solidFill>
                <a:latin typeface="Impact MT Std" pitchFamily="34" charset="0"/>
                <a:ea typeface="微软雅黑" panose="020B0503020204020204" pitchFamily="34" charset="-122"/>
              </a:rPr>
              <a:t>CONTENTS</a:t>
            </a:r>
            <a:endParaRPr lang="zh-CN" altLang="en-US" sz="2665" b="1" dirty="0">
              <a:solidFill>
                <a:schemeClr val="bg1"/>
              </a:solidFill>
              <a:latin typeface="Impact MT Std" pitchFamily="34" charset="0"/>
              <a:ea typeface="微软雅黑" panose="020B0503020204020204" pitchFamily="34" charset="-122"/>
            </a:endParaRPr>
          </a:p>
        </p:txBody>
      </p:sp>
      <p:sp>
        <p:nvSpPr>
          <p:cNvPr id="65" name="TextBox 79"/>
          <p:cNvSpPr txBox="1"/>
          <p:nvPr/>
        </p:nvSpPr>
        <p:spPr>
          <a:xfrm>
            <a:off x="641317" y="2677173"/>
            <a:ext cx="1912703" cy="995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</a:p>
        </p:txBody>
      </p:sp>
      <p:sp>
        <p:nvSpPr>
          <p:cNvPr id="16" name="圆角矩形 8"/>
          <p:cNvSpPr/>
          <p:nvPr/>
        </p:nvSpPr>
        <p:spPr>
          <a:xfrm>
            <a:off x="5602964" y="3148683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04</a:t>
            </a:r>
            <a:endParaRPr lang="zh-CN" altLang="en-US" b="1" dirty="0"/>
          </a:p>
        </p:txBody>
      </p:sp>
      <p:sp>
        <p:nvSpPr>
          <p:cNvPr id="18" name="圆角矩形 62"/>
          <p:cNvSpPr/>
          <p:nvPr/>
        </p:nvSpPr>
        <p:spPr>
          <a:xfrm>
            <a:off x="6707864" y="3148683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位运算符</a:t>
            </a:r>
          </a:p>
        </p:txBody>
      </p:sp>
      <p:sp>
        <p:nvSpPr>
          <p:cNvPr id="21" name="圆角矩形 8"/>
          <p:cNvSpPr/>
          <p:nvPr/>
        </p:nvSpPr>
        <p:spPr>
          <a:xfrm>
            <a:off x="5602964" y="4583027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06</a:t>
            </a:r>
            <a:endParaRPr lang="zh-CN" altLang="en-US" b="1" dirty="0"/>
          </a:p>
        </p:txBody>
      </p:sp>
      <p:sp>
        <p:nvSpPr>
          <p:cNvPr id="22" name="圆角矩形 62"/>
          <p:cNvSpPr/>
          <p:nvPr/>
        </p:nvSpPr>
        <p:spPr>
          <a:xfrm>
            <a:off x="6707864" y="4583027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其他运算符</a:t>
            </a:r>
          </a:p>
        </p:txBody>
      </p:sp>
      <p:sp>
        <p:nvSpPr>
          <p:cNvPr id="23" name="圆角矩形 8"/>
          <p:cNvSpPr/>
          <p:nvPr/>
        </p:nvSpPr>
        <p:spPr>
          <a:xfrm>
            <a:off x="5628259" y="5347130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07</a:t>
            </a:r>
            <a:endParaRPr lang="zh-CN" altLang="en-US" b="1" dirty="0"/>
          </a:p>
        </p:txBody>
      </p:sp>
      <p:sp>
        <p:nvSpPr>
          <p:cNvPr id="24" name="圆角矩形 62"/>
          <p:cNvSpPr/>
          <p:nvPr/>
        </p:nvSpPr>
        <p:spPr>
          <a:xfrm>
            <a:off x="6733159" y="5347130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运算符优先级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46967"/>
          <a:stretch>
            <a:fillRect/>
          </a:stretch>
        </p:blipFill>
        <p:spPr>
          <a:xfrm>
            <a:off x="0" y="2176476"/>
            <a:ext cx="12209296" cy="287792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2176477"/>
            <a:ext cx="12192000" cy="287792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6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559161" y="2793810"/>
            <a:ext cx="69934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标识符与关键字</a:t>
            </a:r>
          </a:p>
        </p:txBody>
      </p:sp>
      <p:sp>
        <p:nvSpPr>
          <p:cNvPr id="16" name="TextBox 10"/>
          <p:cNvSpPr txBox="1"/>
          <p:nvPr/>
        </p:nvSpPr>
        <p:spPr>
          <a:xfrm>
            <a:off x="2565806" y="3990096"/>
            <a:ext cx="7060388" cy="523196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en-US" altLang="zh-CN" sz="2800" dirty="0">
                <a:solidFill>
                  <a:schemeClr val="bg1">
                    <a:lumMod val="95000"/>
                  </a:schemeClr>
                </a:solidFill>
              </a:rPr>
              <a:t>Identifiers and Keywords</a:t>
            </a:r>
            <a:endParaRPr lang="en-US" altLang="zh-CN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00" r="2284" b="11992"/>
          <a:stretch>
            <a:fillRect/>
          </a:stretch>
        </p:blipFill>
        <p:spPr>
          <a:xfrm>
            <a:off x="4339400" y="923192"/>
            <a:ext cx="3433000" cy="107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653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350"/>
                            </p:stCondLst>
                            <p:childTnLst>
                              <p:par>
                                <p:cTn id="15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标识符（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Identifiers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D629388B-A0FA-4935-A200-9BF72A71C0AB}"/>
              </a:ext>
            </a:extLst>
          </p:cNvPr>
          <p:cNvSpPr>
            <a:spLocks noGrp="1"/>
          </p:cNvSpPr>
          <p:nvPr/>
        </p:nvSpPr>
        <p:spPr>
          <a:xfrm>
            <a:off x="838200" y="1815466"/>
            <a:ext cx="10205484" cy="209731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dirty="0"/>
              <a:t>标识符是</a:t>
            </a:r>
            <a:r>
              <a:rPr lang="zh-CN" altLang="en-US" b="1" dirty="0"/>
              <a:t>数字</a:t>
            </a:r>
            <a:r>
              <a:rPr lang="zh-CN" altLang="en-US" dirty="0"/>
              <a:t>、</a:t>
            </a:r>
            <a:r>
              <a:rPr lang="zh-CN" altLang="en-US" b="1" dirty="0"/>
              <a:t>下划线</a:t>
            </a:r>
            <a:r>
              <a:rPr lang="zh-CN" altLang="en-US" dirty="0"/>
              <a:t>、小写及大写拉丁</a:t>
            </a:r>
            <a:r>
              <a:rPr lang="zh-CN" altLang="en-US" b="1" dirty="0"/>
              <a:t>字母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以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\u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及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\U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转义记号指定的 </a:t>
            </a: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</a:rPr>
              <a:t>Unicode 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</a:rPr>
              <a:t>字符 </a:t>
            </a: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</a:rPr>
              <a:t>(C99 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</a:rPr>
              <a:t>起</a:t>
            </a: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</a:rPr>
              <a:t>)</a:t>
            </a:r>
            <a:r>
              <a:rPr lang="zh-CN" altLang="en-US" dirty="0"/>
              <a:t>的任意长度序列。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合法的标识符必须以</a:t>
            </a:r>
            <a:r>
              <a:rPr lang="zh-CN" altLang="en-US" dirty="0">
                <a:solidFill>
                  <a:srgbClr val="FF0000"/>
                </a:solidFill>
              </a:rPr>
              <a:t>非数字字符</a:t>
            </a:r>
            <a:r>
              <a:rPr lang="zh-CN" altLang="en-US" dirty="0"/>
              <a:t>（拉丁字母、下划线或 </a:t>
            </a:r>
            <a:r>
              <a:rPr lang="en-US" altLang="zh-CN" dirty="0"/>
              <a:t>Unicode </a:t>
            </a:r>
            <a:r>
              <a:rPr lang="zh-CN" altLang="en-US" dirty="0"/>
              <a:t>非数字字符 </a:t>
            </a:r>
            <a:r>
              <a:rPr lang="en-US" altLang="zh-CN" dirty="0"/>
              <a:t>(C99 </a:t>
            </a:r>
            <a:r>
              <a:rPr lang="zh-CN" altLang="en-US" dirty="0"/>
              <a:t>起</a:t>
            </a:r>
            <a:r>
              <a:rPr lang="en-US" altLang="zh-CN" dirty="0"/>
              <a:t>)</a:t>
            </a:r>
            <a:r>
              <a:rPr lang="zh-CN" altLang="en-US" dirty="0"/>
              <a:t>）</a:t>
            </a:r>
            <a:r>
              <a:rPr lang="zh-CN" altLang="en-US" dirty="0">
                <a:solidFill>
                  <a:srgbClr val="FF0000"/>
                </a:solidFill>
              </a:rPr>
              <a:t>开始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标识符</a:t>
            </a:r>
            <a:r>
              <a:rPr lang="zh-CN" altLang="en-US" b="1" dirty="0"/>
              <a:t>大小写有别</a:t>
            </a:r>
            <a:r>
              <a:rPr lang="zh-CN" altLang="en-US" dirty="0"/>
              <a:t>（小写和大写字母不同）。</a:t>
            </a:r>
            <a:endParaRPr lang="en-US" altLang="zh-CN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BDF7632-96AA-4198-AAA6-F57DC5BC0D77}"/>
              </a:ext>
            </a:extLst>
          </p:cNvPr>
          <p:cNvSpPr txBox="1"/>
          <p:nvPr/>
        </p:nvSpPr>
        <p:spPr>
          <a:xfrm>
            <a:off x="2550485" y="3912781"/>
            <a:ext cx="7091030" cy="258532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"cat"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"cat"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\U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0001f431 = 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"cat"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Since C99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 </a:t>
            </a:r>
            <a:r>
              <a:rPr lang="en-US" altLang="zh-CN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1Cat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"cat"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\U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0001f431);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5DDC573-44E0-41D9-A833-3D194E726B69}"/>
              </a:ext>
            </a:extLst>
          </p:cNvPr>
          <p:cNvSpPr txBox="1"/>
          <p:nvPr/>
        </p:nvSpPr>
        <p:spPr>
          <a:xfrm>
            <a:off x="5374722" y="5574774"/>
            <a:ext cx="2932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❌规则</a:t>
            </a:r>
            <a:r>
              <a:rPr lang="en-US" altLang="zh-CN" dirty="0"/>
              <a:t>2</a:t>
            </a:r>
            <a:r>
              <a:rPr lang="zh-CN" altLang="en-US" dirty="0"/>
              <a:t>，必须非数字开始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88AAFA5-90EC-4926-8919-E27DAA4E1244}"/>
              </a:ext>
            </a:extLst>
          </p:cNvPr>
          <p:cNvSpPr txBox="1"/>
          <p:nvPr/>
        </p:nvSpPr>
        <p:spPr>
          <a:xfrm>
            <a:off x="5297728" y="5020776"/>
            <a:ext cx="3557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✔规则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cat</a:t>
            </a:r>
            <a:r>
              <a:rPr lang="zh-CN" altLang="en-US" dirty="0"/>
              <a:t>与</a:t>
            </a:r>
            <a:r>
              <a:rPr lang="en-US" altLang="zh-CN" dirty="0"/>
              <a:t>Cat</a:t>
            </a:r>
            <a:r>
              <a:rPr lang="zh-CN" altLang="en-US" dirty="0"/>
              <a:t>是不同标识符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2569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20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标识符的作用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D629388B-A0FA-4935-A200-9BF72A71C0AB}"/>
              </a:ext>
            </a:extLst>
          </p:cNvPr>
          <p:cNvSpPr>
            <a:spLocks noGrp="1"/>
          </p:cNvSpPr>
          <p:nvPr/>
        </p:nvSpPr>
        <p:spPr>
          <a:xfrm>
            <a:off x="838200" y="1815466"/>
            <a:ext cx="10205484" cy="435850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dirty="0"/>
              <a:t>标识符能指代下列类型的实体</a:t>
            </a:r>
            <a:r>
              <a:rPr lang="zh-CN" altLang="en-US" b="1" dirty="0"/>
              <a:t>名称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对象（变量）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函数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标签（ </a:t>
            </a:r>
            <a:r>
              <a:rPr lang="en-US" altLang="zh-CN" dirty="0"/>
              <a:t>struct </a:t>
            </a:r>
            <a:r>
              <a:rPr lang="zh-CN" altLang="en-US" dirty="0"/>
              <a:t>、 </a:t>
            </a:r>
            <a:r>
              <a:rPr lang="en-US" altLang="zh-CN" dirty="0"/>
              <a:t>union </a:t>
            </a:r>
            <a:r>
              <a:rPr lang="zh-CN" altLang="en-US" dirty="0"/>
              <a:t>或枚举）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结构体或联合体成员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枚举常量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typedef </a:t>
            </a:r>
            <a:r>
              <a:rPr lang="zh-CN" altLang="en-US" dirty="0"/>
              <a:t>名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标号名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宏名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宏形参名</a:t>
            </a:r>
            <a:endParaRPr lang="en-US" altLang="zh-CN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23CEE26-C079-451F-9DE6-2FA630CD20B4}"/>
              </a:ext>
            </a:extLst>
          </p:cNvPr>
          <p:cNvSpPr txBox="1"/>
          <p:nvPr/>
        </p:nvSpPr>
        <p:spPr>
          <a:xfrm>
            <a:off x="1065028" y="6326003"/>
            <a:ext cx="6383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4"/>
              </a:rPr>
              <a:t>标识符 </a:t>
            </a:r>
            <a:r>
              <a:rPr lang="en-US" altLang="zh-CN" dirty="0">
                <a:hlinkClick r:id="rId4"/>
              </a:rPr>
              <a:t>- cppreference.com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640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使用有意义，可读的标识符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D629388B-A0FA-4935-A200-9BF72A71C0AB}"/>
              </a:ext>
            </a:extLst>
          </p:cNvPr>
          <p:cNvSpPr>
            <a:spLocks noGrp="1"/>
          </p:cNvSpPr>
          <p:nvPr/>
        </p:nvSpPr>
        <p:spPr>
          <a:xfrm>
            <a:off x="838200" y="1815466"/>
            <a:ext cx="10205484" cy="47483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dirty="0"/>
              <a:t>以下哪些标识符是合法的</a:t>
            </a: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以下哪些是好的标识符</a:t>
            </a:r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1AA9C13-7FD4-4665-8897-034D1995C2B1}"/>
              </a:ext>
            </a:extLst>
          </p:cNvPr>
          <p:cNvSpPr txBox="1"/>
          <p:nvPr/>
        </p:nvSpPr>
        <p:spPr>
          <a:xfrm>
            <a:off x="1066800" y="2598003"/>
            <a:ext cx="9870559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Consolas" panose="020B0609020204030204" pitchFamily="49" charset="0"/>
              </a:rPr>
              <a:t>age_of_dog</a:t>
            </a:r>
            <a:r>
              <a:rPr lang="en-US" altLang="zh-CN" sz="2400" dirty="0">
                <a:latin typeface="Consolas" panose="020B0609020204030204" pitchFamily="49" charset="0"/>
              </a:rPr>
              <a:t>   taxRateY2K    </a:t>
            </a:r>
            <a:r>
              <a:rPr lang="en-US" altLang="zh-CN" sz="2400" dirty="0" err="1">
                <a:latin typeface="Consolas" panose="020B0609020204030204" pitchFamily="49" charset="0"/>
              </a:rPr>
              <a:t>PrintHeading</a:t>
            </a:r>
            <a:r>
              <a:rPr lang="en-US" altLang="zh-CN" sz="2400" dirty="0">
                <a:latin typeface="Consolas" panose="020B0609020204030204" pitchFamily="49" charset="0"/>
              </a:rPr>
              <a:t>     _EAX</a:t>
            </a:r>
          </a:p>
          <a:p>
            <a:r>
              <a:rPr lang="en-US" altLang="zh-CN" sz="2400" dirty="0">
                <a:latin typeface="Consolas" panose="020B0609020204030204" pitchFamily="49" charset="0"/>
              </a:rPr>
              <a:t>Age#         Age-Of-Cat    </a:t>
            </a:r>
            <a:r>
              <a:rPr lang="en-US" altLang="zh-CN" sz="2400" dirty="0" err="1">
                <a:latin typeface="Consolas" panose="020B0609020204030204" pitchFamily="49" charset="0"/>
              </a:rPr>
              <a:t>ageOfHorse</a:t>
            </a:r>
            <a:r>
              <a:rPr lang="en-US" altLang="zh-CN" sz="2400" dirty="0">
                <a:latin typeface="Consolas" panose="020B0609020204030204" pitchFamily="49" charset="0"/>
              </a:rPr>
              <a:t>       2000TaxRate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6EA27C2-56DF-4846-83D4-908D3A9CF3C2}"/>
              </a:ext>
            </a:extLst>
          </p:cNvPr>
          <p:cNvSpPr txBox="1"/>
          <p:nvPr/>
        </p:nvSpPr>
        <p:spPr>
          <a:xfrm>
            <a:off x="2631206" y="2828835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✔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0763E42-D803-41E8-BA86-931466E26382}"/>
              </a:ext>
            </a:extLst>
          </p:cNvPr>
          <p:cNvSpPr txBox="1"/>
          <p:nvPr/>
        </p:nvSpPr>
        <p:spPr>
          <a:xfrm>
            <a:off x="4719145" y="2828835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✔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A5469A5-9613-45B6-818A-298EE009CB9E}"/>
              </a:ext>
            </a:extLst>
          </p:cNvPr>
          <p:cNvSpPr txBox="1"/>
          <p:nvPr/>
        </p:nvSpPr>
        <p:spPr>
          <a:xfrm>
            <a:off x="7430447" y="2828835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✔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162604D-417C-4A8A-9B60-54D87BF76A16}"/>
              </a:ext>
            </a:extLst>
          </p:cNvPr>
          <p:cNvSpPr txBox="1"/>
          <p:nvPr/>
        </p:nvSpPr>
        <p:spPr>
          <a:xfrm>
            <a:off x="9058735" y="2787248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✔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8D27341-49D2-4E14-9611-536212E5B081}"/>
              </a:ext>
            </a:extLst>
          </p:cNvPr>
          <p:cNvSpPr txBox="1"/>
          <p:nvPr/>
        </p:nvSpPr>
        <p:spPr>
          <a:xfrm>
            <a:off x="7135466" y="3156580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✔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17963DB-ACFF-4CD5-8331-25DAC7676B0D}"/>
              </a:ext>
            </a:extLst>
          </p:cNvPr>
          <p:cNvSpPr txBox="1"/>
          <p:nvPr/>
        </p:nvSpPr>
        <p:spPr>
          <a:xfrm>
            <a:off x="921489" y="4465712"/>
            <a:ext cx="9870559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</a:rPr>
              <a:t>PRINTTOPPORTION             PRINT_TOP_PORTION</a:t>
            </a:r>
          </a:p>
          <a:p>
            <a:r>
              <a:rPr lang="en-US" altLang="zh-CN" sz="2400" dirty="0" err="1">
                <a:latin typeface="Consolas" panose="020B0609020204030204" pitchFamily="49" charset="0"/>
              </a:rPr>
              <a:t>Printtopportion</a:t>
            </a:r>
            <a:r>
              <a:rPr lang="en-US" altLang="zh-CN" sz="2400" dirty="0">
                <a:latin typeface="Consolas" panose="020B0609020204030204" pitchFamily="49" charset="0"/>
              </a:rPr>
              <a:t>             </a:t>
            </a:r>
            <a:r>
              <a:rPr lang="en-US" altLang="zh-CN" sz="2400" dirty="0" err="1">
                <a:latin typeface="Consolas" panose="020B0609020204030204" pitchFamily="49" charset="0"/>
              </a:rPr>
              <a:t>printTopPortion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 err="1">
                <a:latin typeface="Consolas" panose="020B0609020204030204" pitchFamily="49" charset="0"/>
              </a:rPr>
              <a:t>Print_Top_Portion</a:t>
            </a:r>
            <a:r>
              <a:rPr lang="en-US" altLang="zh-CN" sz="2400" dirty="0">
                <a:latin typeface="Consolas" panose="020B0609020204030204" pitchFamily="49" charset="0"/>
              </a:rPr>
              <a:t>           </a:t>
            </a:r>
            <a:r>
              <a:rPr lang="en-US" altLang="zh-CN" sz="2400" dirty="0" err="1">
                <a:latin typeface="Consolas" panose="020B0609020204030204" pitchFamily="49" charset="0"/>
              </a:rPr>
              <a:t>PrintTopPortion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 err="1">
                <a:latin typeface="Consolas" panose="020B0609020204030204" pitchFamily="49" charset="0"/>
              </a:rPr>
              <a:t>pRiNtToPpOrTion</a:t>
            </a:r>
            <a:r>
              <a:rPr lang="en-US" altLang="zh-CN" sz="2400" dirty="0">
                <a:latin typeface="Consolas" panose="020B0609020204030204" pitchFamily="49" charset="0"/>
              </a:rPr>
              <a:t>             </a:t>
            </a:r>
            <a:r>
              <a:rPr lang="en-US" altLang="zh-CN" sz="2400" dirty="0" err="1">
                <a:latin typeface="Consolas" panose="020B0609020204030204" pitchFamily="49" charset="0"/>
              </a:rPr>
              <a:t>isPrintTopPortion</a:t>
            </a:r>
            <a:r>
              <a:rPr lang="en-US" altLang="zh-CN" sz="2400" dirty="0">
                <a:latin typeface="Consolas" panose="020B0609020204030204" pitchFamily="49" charset="0"/>
              </a:rPr>
              <a:t>                             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42D2FA1-1F59-9DE3-DAAE-F821C403A082}"/>
              </a:ext>
            </a:extLst>
          </p:cNvPr>
          <p:cNvGrpSpPr/>
          <p:nvPr/>
        </p:nvGrpSpPr>
        <p:grpSpPr>
          <a:xfrm>
            <a:off x="5421087" y="4234879"/>
            <a:ext cx="3788228" cy="2107864"/>
            <a:chOff x="5421087" y="4234879"/>
            <a:chExt cx="3788228" cy="2107864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5CD4CABB-85E6-4BCA-8268-911EF96FB8AB}"/>
                </a:ext>
              </a:extLst>
            </p:cNvPr>
            <p:cNvSpPr txBox="1"/>
            <p:nvPr/>
          </p:nvSpPr>
          <p:spPr>
            <a:xfrm>
              <a:off x="7064170" y="4234879"/>
              <a:ext cx="5020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✔</a:t>
              </a:r>
            </a:p>
          </p:txBody>
        </p:sp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46B22BF6-00A1-1B83-5AAD-12B4F5B14BE8}"/>
                </a:ext>
              </a:extLst>
            </p:cNvPr>
            <p:cNvSpPr/>
            <p:nvPr/>
          </p:nvSpPr>
          <p:spPr>
            <a:xfrm>
              <a:off x="5421087" y="4405086"/>
              <a:ext cx="3788228" cy="1937657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4121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6" grpId="0"/>
      <p:bldP spid="13" grpId="0"/>
      <p:bldP spid="14" grpId="0"/>
      <p:bldP spid="15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常见的标识符命名风格（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Style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D629388B-A0FA-4935-A200-9BF72A71C0AB}"/>
              </a:ext>
            </a:extLst>
          </p:cNvPr>
          <p:cNvSpPr>
            <a:spLocks noGrp="1"/>
          </p:cNvSpPr>
          <p:nvPr/>
        </p:nvSpPr>
        <p:spPr>
          <a:xfrm>
            <a:off x="838199" y="1815466"/>
            <a:ext cx="10507133" cy="483369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b="1" dirty="0"/>
              <a:t>Unix like </a:t>
            </a:r>
            <a:r>
              <a:rPr lang="zh-CN" altLang="en-US" b="1" dirty="0"/>
              <a:t>风格</a:t>
            </a:r>
            <a:r>
              <a:rPr lang="zh-CN" altLang="en-US" dirty="0"/>
              <a:t>：单词用大写或小写字母，单词间用下划线风格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大写风格：常用于常量</a:t>
            </a:r>
          </a:p>
          <a:p>
            <a:pPr lvl="2">
              <a:lnSpc>
                <a:spcPct val="120000"/>
              </a:lnSpc>
            </a:pPr>
            <a:r>
              <a:rPr lang="zh-CN" altLang="en-US" dirty="0"/>
              <a:t>例如：</a:t>
            </a:r>
            <a:r>
              <a:rPr lang="en-US" altLang="zh-CN" dirty="0"/>
              <a:t>PI</a:t>
            </a:r>
            <a:r>
              <a:rPr lang="zh-CN" altLang="en-US" dirty="0"/>
              <a:t>，</a:t>
            </a:r>
            <a:r>
              <a:rPr lang="en-US" altLang="zh-CN" dirty="0"/>
              <a:t>E, INT_MAX</a:t>
            </a:r>
            <a:endParaRPr lang="zh-CN" altLang="en-US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小写风格：常用于局部的变量、函数等</a:t>
            </a:r>
          </a:p>
          <a:p>
            <a:pPr lvl="2">
              <a:lnSpc>
                <a:spcPct val="120000"/>
              </a:lnSpc>
            </a:pPr>
            <a:r>
              <a:rPr lang="zh-CN" altLang="en-US" dirty="0"/>
              <a:t>例如：</a:t>
            </a:r>
            <a:r>
              <a:rPr lang="en-US" altLang="zh-CN" dirty="0" err="1"/>
              <a:t>printf</a:t>
            </a:r>
            <a:r>
              <a:rPr lang="zh-CN" altLang="en-US" dirty="0"/>
              <a:t>，</a:t>
            </a:r>
            <a:r>
              <a:rPr lang="en-US" altLang="zh-CN" dirty="0" err="1"/>
              <a:t>i</a:t>
            </a:r>
            <a:r>
              <a:rPr lang="zh-CN" altLang="en-US" dirty="0"/>
              <a:t>，</a:t>
            </a:r>
            <a:r>
              <a:rPr lang="en-US" altLang="zh-CN" dirty="0"/>
              <a:t>x</a:t>
            </a:r>
            <a:r>
              <a:rPr lang="zh-CN" altLang="en-US" dirty="0"/>
              <a:t>，</a:t>
            </a:r>
            <a:r>
              <a:rPr lang="en-US" altLang="zh-CN" dirty="0"/>
              <a:t>length</a:t>
            </a:r>
            <a:r>
              <a:rPr lang="zh-CN" altLang="en-US" dirty="0"/>
              <a:t>，</a:t>
            </a:r>
            <a:r>
              <a:rPr lang="en-US" altLang="zh-CN" dirty="0" err="1"/>
              <a:t>my_age</a:t>
            </a:r>
            <a:r>
              <a:rPr lang="en-US" altLang="zh-CN" dirty="0"/>
              <a:t>, </a:t>
            </a:r>
            <a:r>
              <a:rPr lang="en-US" altLang="zh-CN" dirty="0" err="1"/>
              <a:t>text_color</a:t>
            </a:r>
            <a:endParaRPr lang="zh-CN" altLang="en-US" dirty="0"/>
          </a:p>
          <a:p>
            <a:pPr>
              <a:lnSpc>
                <a:spcPct val="120000"/>
              </a:lnSpc>
            </a:pPr>
            <a:r>
              <a:rPr lang="zh-CN" altLang="en-US" b="1" dirty="0"/>
              <a:t>驼峰（</a:t>
            </a:r>
            <a:r>
              <a:rPr lang="en-US" altLang="zh-CN" b="1" dirty="0"/>
              <a:t>camelCase</a:t>
            </a:r>
            <a:r>
              <a:rPr lang="zh-CN" altLang="en-US" b="1" dirty="0"/>
              <a:t>）风格</a:t>
            </a:r>
            <a:r>
              <a:rPr lang="zh-CN" altLang="en-US" dirty="0"/>
              <a:t>：首字母大写的单词连接一起形成驼峰形象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大驼峰风格：常用于全局事物如类型名、结构名、函数等</a:t>
            </a:r>
          </a:p>
          <a:p>
            <a:pPr lvl="2">
              <a:lnSpc>
                <a:spcPct val="120000"/>
              </a:lnSpc>
            </a:pPr>
            <a:r>
              <a:rPr lang="zh-CN" altLang="en-US" dirty="0"/>
              <a:t>例如：</a:t>
            </a:r>
            <a:r>
              <a:rPr lang="en-US" altLang="zh-CN" dirty="0"/>
              <a:t>Point</a:t>
            </a:r>
            <a:r>
              <a:rPr lang="zh-CN" altLang="en-US" dirty="0"/>
              <a:t>，</a:t>
            </a:r>
            <a:r>
              <a:rPr lang="en-US" altLang="zh-CN" dirty="0"/>
              <a:t>Vector</a:t>
            </a:r>
            <a:r>
              <a:rPr lang="zh-CN" altLang="en-US" dirty="0"/>
              <a:t>，</a:t>
            </a:r>
            <a:r>
              <a:rPr lang="en-US" altLang="zh-CN" dirty="0"/>
              <a:t>Color</a:t>
            </a:r>
            <a:r>
              <a:rPr lang="zh-CN" altLang="en-US" dirty="0"/>
              <a:t>，</a:t>
            </a:r>
            <a:r>
              <a:rPr lang="en-US" altLang="zh-CN" dirty="0" err="1"/>
              <a:t>WindowStyle</a:t>
            </a:r>
            <a:r>
              <a:rPr lang="zh-CN" altLang="en-US" dirty="0"/>
              <a:t>，</a:t>
            </a:r>
            <a:r>
              <a:rPr lang="en-US" altLang="zh-CN" dirty="0" err="1"/>
              <a:t>ContextMenu</a:t>
            </a:r>
            <a:endParaRPr lang="zh-CN" altLang="en-US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小驼峰风格：常用于局部的变量、函数等</a:t>
            </a:r>
          </a:p>
          <a:p>
            <a:pPr lvl="2">
              <a:lnSpc>
                <a:spcPct val="120000"/>
              </a:lnSpc>
            </a:pPr>
            <a:r>
              <a:rPr lang="zh-CN" altLang="en-US" dirty="0"/>
              <a:t>例如：</a:t>
            </a:r>
            <a:r>
              <a:rPr lang="en-US" altLang="zh-CN" dirty="0" err="1"/>
              <a:t>myAge</a:t>
            </a:r>
            <a:r>
              <a:rPr lang="en-US" altLang="zh-CN" dirty="0"/>
              <a:t>, </a:t>
            </a:r>
            <a:r>
              <a:rPr lang="en-US" altLang="zh-CN" dirty="0" err="1"/>
              <a:t>textColor</a:t>
            </a:r>
            <a:r>
              <a:rPr lang="en-US" altLang="zh-CN" dirty="0"/>
              <a:t>, </a:t>
            </a:r>
            <a:r>
              <a:rPr lang="en-US" altLang="zh-CN" dirty="0" err="1"/>
              <a:t>firstName</a:t>
            </a:r>
            <a:r>
              <a:rPr lang="en-US" altLang="zh-CN" dirty="0"/>
              <a:t>, </a:t>
            </a:r>
            <a:r>
              <a:rPr lang="en-US" altLang="zh-CN" dirty="0" err="1"/>
              <a:t>numberOfYears</a:t>
            </a:r>
            <a:r>
              <a:rPr lang="en-US" altLang="zh-CN" dirty="0"/>
              <a:t>, </a:t>
            </a:r>
            <a:r>
              <a:rPr lang="en-US" altLang="zh-CN" dirty="0" err="1"/>
              <a:t>annualInterestRate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b="1" dirty="0"/>
              <a:t>匈牙利风格</a:t>
            </a:r>
            <a:r>
              <a:rPr lang="zh-CN" altLang="en-US" dirty="0"/>
              <a:t>：用一个前缀表示数据类型。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例如，用</a:t>
            </a:r>
            <a:r>
              <a:rPr lang="en-US" altLang="zh-CN" dirty="0"/>
              <a:t>is</a:t>
            </a:r>
            <a:r>
              <a:rPr lang="zh-CN" altLang="en-US" dirty="0"/>
              <a:t>作为前缀表示布尔数据。</a:t>
            </a:r>
            <a:r>
              <a:rPr lang="en-US" altLang="zh-CN" dirty="0" err="1"/>
              <a:t>isOk</a:t>
            </a:r>
            <a:r>
              <a:rPr lang="zh-CN" altLang="en-US" dirty="0"/>
              <a:t>；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48469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C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关键词（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keywords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D629388B-A0FA-4935-A200-9BF72A71C0AB}"/>
              </a:ext>
            </a:extLst>
          </p:cNvPr>
          <p:cNvSpPr>
            <a:spLocks noGrp="1"/>
          </p:cNvSpPr>
          <p:nvPr/>
        </p:nvSpPr>
        <p:spPr>
          <a:xfrm>
            <a:off x="838200" y="1815466"/>
            <a:ext cx="10205484" cy="73723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dirty="0"/>
              <a:t>C </a:t>
            </a:r>
            <a:r>
              <a:rPr lang="zh-CN" altLang="en-US" dirty="0"/>
              <a:t>中</a:t>
            </a:r>
            <a:r>
              <a:rPr lang="zh-CN" altLang="en-US" b="1" dirty="0"/>
              <a:t>保留的标识符（</a:t>
            </a:r>
            <a:r>
              <a:rPr lang="en-US" altLang="zh-CN" b="1" dirty="0"/>
              <a:t>Reserved identifiers</a:t>
            </a:r>
            <a:r>
              <a:rPr lang="zh-CN" altLang="en-US" b="1" dirty="0"/>
              <a:t>）</a:t>
            </a:r>
            <a:r>
              <a:rPr lang="zh-CN" altLang="en-US" dirty="0"/>
              <a:t>列表。因为语言使用这些关键词，故不可重定义它们。</a:t>
            </a:r>
            <a:endParaRPr lang="en-US" altLang="zh-CN" sz="20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E4355CF-130A-4DFD-BB77-FE7CAB93B9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411" y="2603315"/>
            <a:ext cx="7229475" cy="393382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6D0CC11-FE03-4D15-8DC0-C8FD7C420EE7}"/>
              </a:ext>
            </a:extLst>
          </p:cNvPr>
          <p:cNvSpPr txBox="1"/>
          <p:nvPr/>
        </p:nvSpPr>
        <p:spPr>
          <a:xfrm>
            <a:off x="8364279" y="3104970"/>
            <a:ext cx="32252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随着</a:t>
            </a:r>
            <a:r>
              <a:rPr lang="en-US" altLang="zh-CN" dirty="0"/>
              <a:t>C</a:t>
            </a:r>
            <a:r>
              <a:rPr lang="zh-CN" altLang="en-US" dirty="0"/>
              <a:t>语言的发展，关键字越来越多，详细参考：</a:t>
            </a:r>
            <a:endParaRPr lang="en-US" altLang="zh-CN" dirty="0"/>
          </a:p>
          <a:p>
            <a:endParaRPr lang="en-US" altLang="zh-CN" dirty="0">
              <a:hlinkClick r:id="" action="ppaction://noaction"/>
            </a:endParaRPr>
          </a:p>
          <a:p>
            <a:r>
              <a:rPr lang="en-US" altLang="zh-CN" dirty="0">
                <a:hlinkClick r:id="" action="ppaction://noaction"/>
              </a:rPr>
              <a:t>C </a:t>
            </a:r>
            <a:r>
              <a:rPr lang="zh-CN" altLang="en-US" dirty="0">
                <a:hlinkClick r:id="rId5"/>
              </a:rPr>
              <a:t>关键词 </a:t>
            </a:r>
            <a:r>
              <a:rPr lang="en-US" altLang="zh-CN" dirty="0">
                <a:hlinkClick r:id="rId5"/>
              </a:rPr>
              <a:t>- cppreference.com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hlinkClick r:id="rId6"/>
              </a:rPr>
              <a:t>标识符 </a:t>
            </a:r>
            <a:r>
              <a:rPr lang="en-US" altLang="zh-CN" dirty="0">
                <a:hlinkClick r:id="rId6"/>
              </a:rPr>
              <a:t>- cppreference.com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0243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C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关键词的记忆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D629388B-A0FA-4935-A200-9BF72A71C0AB}"/>
              </a:ext>
            </a:extLst>
          </p:cNvPr>
          <p:cNvSpPr>
            <a:spLocks noGrp="1"/>
          </p:cNvSpPr>
          <p:nvPr/>
        </p:nvSpPr>
        <p:spPr>
          <a:xfrm>
            <a:off x="838200" y="1815465"/>
            <a:ext cx="10205484" cy="425068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000" dirty="0"/>
              <a:t>C </a:t>
            </a:r>
            <a:r>
              <a:rPr lang="zh-CN" altLang="en-US" sz="2000" dirty="0"/>
              <a:t>基本数据类型名称</a:t>
            </a:r>
            <a:endParaRPr lang="en-US" altLang="zh-CN" sz="2000" dirty="0"/>
          </a:p>
          <a:p>
            <a:pPr lvl="1">
              <a:lnSpc>
                <a:spcPct val="120000"/>
              </a:lnSpc>
            </a:pPr>
            <a:r>
              <a:rPr lang="en-US" altLang="zh-CN" sz="1600" dirty="0"/>
              <a:t>char</a:t>
            </a:r>
            <a:r>
              <a:rPr lang="zh-CN" altLang="en-US" sz="1600" dirty="0"/>
              <a:t>，</a:t>
            </a:r>
            <a:r>
              <a:rPr lang="en-US" altLang="zh-CN" sz="1600" dirty="0"/>
              <a:t>short</a:t>
            </a:r>
            <a:r>
              <a:rPr lang="zh-CN" altLang="en-US" sz="1600" dirty="0"/>
              <a:t>，</a:t>
            </a:r>
            <a:r>
              <a:rPr lang="en-US" altLang="zh-CN" sz="1600" dirty="0"/>
              <a:t>int</a:t>
            </a:r>
            <a:r>
              <a:rPr lang="zh-CN" altLang="en-US" sz="1600" dirty="0"/>
              <a:t>，</a:t>
            </a:r>
            <a:r>
              <a:rPr lang="en-US" altLang="zh-CN" sz="1600" dirty="0"/>
              <a:t>long</a:t>
            </a:r>
            <a:r>
              <a:rPr lang="zh-CN" altLang="en-US" sz="1600" dirty="0"/>
              <a:t>，</a:t>
            </a:r>
            <a:r>
              <a:rPr lang="en-US" altLang="zh-CN" sz="1600" dirty="0"/>
              <a:t>float</a:t>
            </a:r>
            <a:r>
              <a:rPr lang="zh-CN" altLang="en-US" sz="1600" dirty="0"/>
              <a:t>，</a:t>
            </a:r>
            <a:r>
              <a:rPr lang="en-US" altLang="zh-CN" sz="1600" dirty="0"/>
              <a:t>double</a:t>
            </a:r>
            <a:r>
              <a:rPr lang="zh-CN" altLang="en-US" sz="1600" dirty="0"/>
              <a:t>，</a:t>
            </a:r>
            <a:r>
              <a:rPr lang="en-US" altLang="zh-CN" sz="1600" dirty="0"/>
              <a:t>void </a:t>
            </a:r>
          </a:p>
          <a:p>
            <a:pPr lvl="1">
              <a:lnSpc>
                <a:spcPct val="120000"/>
              </a:lnSpc>
            </a:pPr>
            <a:r>
              <a:rPr lang="zh-CN" altLang="en-US" sz="1600" dirty="0"/>
              <a:t>建议不要使用的标识符： 已下划线开头的首字母大写单词，如 </a:t>
            </a:r>
            <a:r>
              <a:rPr lang="en-US" altLang="zh-CN" sz="1600" dirty="0"/>
              <a:t>_Bool; </a:t>
            </a:r>
            <a:r>
              <a:rPr lang="zh-CN" altLang="en-US" sz="1600" dirty="0"/>
              <a:t>以 </a:t>
            </a:r>
            <a:r>
              <a:rPr lang="en-US" altLang="zh-CN" sz="1600" dirty="0"/>
              <a:t>_t </a:t>
            </a:r>
            <a:r>
              <a:rPr lang="zh-CN" altLang="en-US" sz="1600" dirty="0"/>
              <a:t>结尾，如 </a:t>
            </a:r>
            <a:r>
              <a:rPr lang="en-US" altLang="zh-CN" sz="1600" dirty="0" err="1"/>
              <a:t>size_t</a:t>
            </a:r>
            <a:endParaRPr lang="en-US" altLang="zh-CN" sz="1600" dirty="0"/>
          </a:p>
          <a:p>
            <a:pPr>
              <a:lnSpc>
                <a:spcPct val="120000"/>
              </a:lnSpc>
            </a:pPr>
            <a:r>
              <a:rPr lang="zh-CN" altLang="en-US" sz="2000" dirty="0"/>
              <a:t>对象的修饰、限定或属性名称</a:t>
            </a:r>
            <a:endParaRPr lang="en-US" altLang="zh-CN" sz="2000" dirty="0"/>
          </a:p>
          <a:p>
            <a:pPr lvl="1">
              <a:lnSpc>
                <a:spcPct val="120000"/>
              </a:lnSpc>
            </a:pPr>
            <a:r>
              <a:rPr lang="en-US" altLang="zh-CN" sz="1600" dirty="0"/>
              <a:t>signed</a:t>
            </a:r>
            <a:r>
              <a:rPr lang="zh-CN" altLang="en-US" sz="1600" dirty="0"/>
              <a:t>，</a:t>
            </a:r>
            <a:r>
              <a:rPr lang="en-US" altLang="zh-CN" sz="1600" dirty="0"/>
              <a:t>unsigned</a:t>
            </a:r>
            <a:r>
              <a:rPr lang="zh-CN" altLang="en-US" sz="1600" dirty="0"/>
              <a:t>，</a:t>
            </a:r>
            <a:r>
              <a:rPr lang="en-US" altLang="zh-CN" sz="1600" dirty="0"/>
              <a:t>long</a:t>
            </a:r>
            <a:r>
              <a:rPr lang="zh-CN" altLang="en-US" sz="1600" dirty="0"/>
              <a:t>，</a:t>
            </a:r>
            <a:r>
              <a:rPr lang="en-US" altLang="zh-CN" sz="1600" dirty="0"/>
              <a:t>const</a:t>
            </a:r>
            <a:r>
              <a:rPr lang="zh-CN" altLang="en-US" sz="1600" dirty="0"/>
              <a:t>，</a:t>
            </a:r>
            <a:r>
              <a:rPr lang="en-US" altLang="zh-CN" sz="1600" dirty="0"/>
              <a:t>static</a:t>
            </a:r>
            <a:r>
              <a:rPr lang="zh-CN" altLang="en-US" sz="1600" dirty="0"/>
              <a:t>，</a:t>
            </a:r>
            <a:r>
              <a:rPr lang="en-US" altLang="zh-CN" sz="1600" dirty="0"/>
              <a:t>extern</a:t>
            </a:r>
            <a:r>
              <a:rPr lang="zh-CN" altLang="en-US" sz="1600" dirty="0"/>
              <a:t>，</a:t>
            </a:r>
            <a:r>
              <a:rPr lang="en-US" altLang="zh-CN" sz="1600" dirty="0"/>
              <a:t>volatile</a:t>
            </a:r>
            <a:r>
              <a:rPr lang="zh-CN" altLang="en-US" sz="1600" dirty="0"/>
              <a:t>，</a:t>
            </a:r>
            <a:r>
              <a:rPr lang="en-US" altLang="zh-CN" sz="1600" dirty="0"/>
              <a:t>auto</a:t>
            </a:r>
            <a:r>
              <a:rPr lang="zh-CN" altLang="en-US" sz="1600" dirty="0"/>
              <a:t>，</a:t>
            </a:r>
            <a:r>
              <a:rPr lang="en-US" altLang="zh-CN" sz="1600" dirty="0"/>
              <a:t>register</a:t>
            </a:r>
          </a:p>
          <a:p>
            <a:pPr>
              <a:lnSpc>
                <a:spcPct val="120000"/>
              </a:lnSpc>
            </a:pPr>
            <a:r>
              <a:rPr lang="zh-CN" altLang="en-US" sz="2000" dirty="0"/>
              <a:t>复杂数据申明</a:t>
            </a:r>
            <a:endParaRPr lang="en-US" altLang="zh-CN" sz="2000" dirty="0"/>
          </a:p>
          <a:p>
            <a:pPr lvl="1">
              <a:lnSpc>
                <a:spcPct val="120000"/>
              </a:lnSpc>
            </a:pPr>
            <a:r>
              <a:rPr lang="en-US" altLang="zh-CN" sz="1600" dirty="0"/>
              <a:t>struct</a:t>
            </a:r>
            <a:r>
              <a:rPr lang="zh-CN" altLang="en-US" sz="1600" dirty="0"/>
              <a:t>（结构体申明），</a:t>
            </a:r>
            <a:r>
              <a:rPr lang="en-US" altLang="zh-CN" sz="1600" dirty="0"/>
              <a:t>union</a:t>
            </a:r>
            <a:r>
              <a:rPr lang="zh-CN" altLang="en-US" sz="1600" dirty="0"/>
              <a:t>（共用体申明），</a:t>
            </a:r>
            <a:r>
              <a:rPr lang="en-US" altLang="zh-CN" sz="1600" dirty="0" err="1"/>
              <a:t>enum</a:t>
            </a:r>
            <a:r>
              <a:rPr lang="zh-CN" altLang="en-US" sz="1600" dirty="0"/>
              <a:t>（枚举申明），</a:t>
            </a:r>
            <a:r>
              <a:rPr lang="en-US" altLang="zh-CN" sz="1600" dirty="0"/>
              <a:t>typedef</a:t>
            </a:r>
            <a:r>
              <a:rPr lang="zh-CN" altLang="en-US" sz="1600" dirty="0"/>
              <a:t>（类型别名申明）</a:t>
            </a:r>
            <a:endParaRPr lang="en-US" altLang="zh-CN" sz="1600" dirty="0"/>
          </a:p>
          <a:p>
            <a:pPr>
              <a:lnSpc>
                <a:spcPct val="120000"/>
              </a:lnSpc>
            </a:pPr>
            <a:r>
              <a:rPr lang="zh-CN" altLang="en-US" sz="2000" dirty="0"/>
              <a:t>特殊操作</a:t>
            </a:r>
            <a:endParaRPr lang="en-US" altLang="zh-CN" sz="2000" dirty="0"/>
          </a:p>
          <a:p>
            <a:pPr lvl="1">
              <a:lnSpc>
                <a:spcPct val="120000"/>
              </a:lnSpc>
            </a:pPr>
            <a:r>
              <a:rPr lang="en-US" altLang="zh-CN" sz="1600" dirty="0" err="1"/>
              <a:t>sizeof</a:t>
            </a:r>
            <a:endParaRPr lang="en-US" altLang="zh-CN" sz="1600" dirty="0"/>
          </a:p>
          <a:p>
            <a:pPr>
              <a:lnSpc>
                <a:spcPct val="120000"/>
              </a:lnSpc>
            </a:pPr>
            <a:r>
              <a:rPr lang="zh-CN" altLang="en-US" sz="2000" dirty="0"/>
              <a:t>程序结构控制</a:t>
            </a:r>
            <a:endParaRPr lang="en-US" altLang="zh-CN" sz="2000" dirty="0"/>
          </a:p>
          <a:p>
            <a:pPr lvl="1">
              <a:lnSpc>
                <a:spcPct val="120000"/>
              </a:lnSpc>
            </a:pPr>
            <a:r>
              <a:rPr lang="zh-CN" altLang="en-US" sz="1600" dirty="0"/>
              <a:t> </a:t>
            </a:r>
            <a:r>
              <a:rPr lang="en-US" altLang="zh-CN" sz="1600" dirty="0"/>
              <a:t>if</a:t>
            </a:r>
            <a:r>
              <a:rPr lang="zh-CN" altLang="en-US" sz="1600" dirty="0"/>
              <a:t>，</a:t>
            </a:r>
            <a:r>
              <a:rPr lang="en-US" altLang="zh-CN" sz="1600" dirty="0"/>
              <a:t>else</a:t>
            </a:r>
            <a:r>
              <a:rPr lang="zh-CN" altLang="en-US" sz="1600" dirty="0"/>
              <a:t>，</a:t>
            </a:r>
            <a:r>
              <a:rPr lang="en-US" altLang="zh-CN" sz="1600" dirty="0"/>
              <a:t>switch</a:t>
            </a:r>
            <a:r>
              <a:rPr lang="zh-CN" altLang="en-US" sz="1600" dirty="0"/>
              <a:t>，</a:t>
            </a:r>
            <a:r>
              <a:rPr lang="en-US" altLang="zh-CN" sz="1600" dirty="0"/>
              <a:t>case</a:t>
            </a:r>
            <a:r>
              <a:rPr lang="zh-CN" altLang="en-US" sz="1600" dirty="0"/>
              <a:t>，</a:t>
            </a:r>
            <a:r>
              <a:rPr lang="en-US" altLang="zh-CN" sz="1600" dirty="0"/>
              <a:t>default</a:t>
            </a:r>
            <a:r>
              <a:rPr lang="zh-CN" altLang="en-US" sz="1600" dirty="0"/>
              <a:t>，</a:t>
            </a:r>
            <a:r>
              <a:rPr lang="en-US" altLang="zh-CN" sz="1600" dirty="0"/>
              <a:t>for</a:t>
            </a:r>
            <a:r>
              <a:rPr lang="zh-CN" altLang="en-US" sz="1600" dirty="0"/>
              <a:t>，</a:t>
            </a:r>
            <a:r>
              <a:rPr lang="en-US" altLang="zh-CN" sz="1600" dirty="0"/>
              <a:t>while</a:t>
            </a:r>
            <a:r>
              <a:rPr lang="zh-CN" altLang="en-US" sz="1600" dirty="0"/>
              <a:t>，</a:t>
            </a:r>
            <a:r>
              <a:rPr lang="en-US" altLang="zh-CN" sz="1600" dirty="0"/>
              <a:t>do</a:t>
            </a:r>
            <a:r>
              <a:rPr lang="zh-CN" altLang="en-US" sz="1600" dirty="0"/>
              <a:t>，</a:t>
            </a:r>
            <a:r>
              <a:rPr lang="en-US" altLang="zh-CN" sz="1600" dirty="0"/>
              <a:t>return</a:t>
            </a:r>
            <a:r>
              <a:rPr lang="zh-CN" altLang="en-US" sz="1600" dirty="0"/>
              <a:t>，</a:t>
            </a:r>
            <a:r>
              <a:rPr lang="en-US" altLang="zh-CN" sz="1600" dirty="0"/>
              <a:t>continue</a:t>
            </a:r>
            <a:r>
              <a:rPr lang="zh-CN" altLang="en-US" sz="1600" dirty="0"/>
              <a:t>，</a:t>
            </a:r>
            <a:r>
              <a:rPr lang="en-US" altLang="zh-CN" sz="1600" dirty="0"/>
              <a:t>break</a:t>
            </a:r>
            <a:r>
              <a:rPr lang="zh-CN" altLang="en-US" sz="1600" dirty="0"/>
              <a:t>，</a:t>
            </a:r>
            <a:r>
              <a:rPr lang="en-US" altLang="zh-CN" sz="1600" dirty="0" err="1"/>
              <a:t>goto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1540046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267747A-BEC8-C008-9480-B7A9CEC1D77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语言变量必须是合法的标识符，且不能是关键字。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以下哪些可以作为变量？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04D140C-648F-D199-7918-13027114AA9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threeCats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D2FA-1DF0-F20B-9867-F1F5BD31C3F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3Cats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3563874-5BD1-C454-B6D6-3CAB91F81DE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Cat_3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3A7B954-25E4-47A3-7999-F2768C08ACB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extern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D378D72-429C-22DD-0937-9DDC8C1944A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30DD52E-D887-A5D0-B6DF-97CD4B71AB2F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E0BD59E-8A93-7EEE-3F7C-390A1C3F3AC0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13DA76B-29EC-73FF-1D2C-E87A88048F5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F39F77D-EC5A-8365-E5B8-2697B06A0E5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604CB3E-8659-9825-7409-58EC0CF55BCC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A305910C-A795-ADE3-A760-D29F1287FC4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90A288AB-D0B8-E0D4-9ACB-C033B7DED67C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9590DA1D-FF74-F825-B11F-6ACED865447E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3D10B48A-E158-A56A-FE2F-52C00503622B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59359AD-EFBE-6D28-701F-20FA1C16742A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57006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46967"/>
          <a:stretch>
            <a:fillRect/>
          </a:stretch>
        </p:blipFill>
        <p:spPr>
          <a:xfrm>
            <a:off x="0" y="2176476"/>
            <a:ext cx="12209296" cy="287792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2176477"/>
            <a:ext cx="12192000" cy="287792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6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559161" y="2793810"/>
            <a:ext cx="69934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</a:t>
            </a:r>
          </a:p>
        </p:txBody>
      </p:sp>
      <p:sp>
        <p:nvSpPr>
          <p:cNvPr id="16" name="TextBox 10"/>
          <p:cNvSpPr txBox="1"/>
          <p:nvPr/>
        </p:nvSpPr>
        <p:spPr>
          <a:xfrm>
            <a:off x="2565806" y="3990096"/>
            <a:ext cx="7060388" cy="523196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en-US" altLang="zh-CN" sz="2800" dirty="0">
                <a:solidFill>
                  <a:schemeClr val="bg1">
                    <a:lumMod val="95000"/>
                  </a:schemeClr>
                </a:solidFill>
              </a:rPr>
              <a:t>Expressions</a:t>
            </a:r>
            <a:endParaRPr lang="en-US" altLang="zh-CN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00" r="2284" b="11992"/>
          <a:stretch>
            <a:fillRect/>
          </a:stretch>
        </p:blipFill>
        <p:spPr>
          <a:xfrm>
            <a:off x="4339400" y="923192"/>
            <a:ext cx="3433000" cy="107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082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950"/>
                            </p:stCondLst>
                            <p:childTnLst>
                              <p:par>
                                <p:cTn id="15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表达式（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Expressions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D629388B-A0FA-4935-A200-9BF72A71C0AB}"/>
              </a:ext>
            </a:extLst>
          </p:cNvPr>
          <p:cNvSpPr>
            <a:spLocks noGrp="1"/>
          </p:cNvSpPr>
          <p:nvPr/>
        </p:nvSpPr>
        <p:spPr>
          <a:xfrm>
            <a:off x="838201" y="1815465"/>
            <a:ext cx="46482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400" b="1" dirty="0"/>
              <a:t>表达式</a:t>
            </a:r>
            <a:r>
              <a:rPr lang="zh-CN" altLang="en-US" sz="2400" dirty="0"/>
              <a:t>是</a:t>
            </a:r>
            <a:r>
              <a:rPr lang="zh-CN" altLang="en-US" sz="2400" b="1" dirty="0"/>
              <a:t>运算符（</a:t>
            </a:r>
            <a:r>
              <a:rPr lang="en-US" altLang="zh-CN" sz="2400" dirty="0"/>
              <a:t>Operators</a:t>
            </a:r>
            <a:r>
              <a:rPr lang="zh-CN" altLang="en-US" sz="2400" b="1" dirty="0"/>
              <a:t>）</a:t>
            </a:r>
            <a:r>
              <a:rPr lang="zh-CN" altLang="en-US" sz="2400" dirty="0"/>
              <a:t>及其</a:t>
            </a:r>
            <a:r>
              <a:rPr lang="zh-CN" altLang="en-US" sz="2400" b="1" dirty="0"/>
              <a:t>操作数（</a:t>
            </a:r>
            <a:r>
              <a:rPr lang="en-US" altLang="zh-CN" sz="2400" dirty="0"/>
              <a:t>Operands</a:t>
            </a:r>
            <a:r>
              <a:rPr lang="zh-CN" altLang="en-US" sz="2400" b="1" dirty="0"/>
              <a:t>）</a:t>
            </a:r>
            <a:r>
              <a:rPr lang="zh-CN" altLang="en-US" sz="2400" dirty="0"/>
              <a:t>的序列，它指定一个运算。例如：</a:t>
            </a:r>
            <a:endParaRPr lang="en-US" altLang="zh-CN" sz="2400" dirty="0"/>
          </a:p>
          <a:p>
            <a:pPr marL="457200" lvl="1" indent="0" algn="ctr">
              <a:lnSpc>
                <a:spcPct val="120000"/>
              </a:lnSpc>
              <a:buNone/>
            </a:pPr>
            <a:r>
              <a:rPr lang="en-US" altLang="zh-CN" sz="2000" dirty="0"/>
              <a:t>2+3</a:t>
            </a:r>
          </a:p>
          <a:p>
            <a:pPr lvl="1">
              <a:lnSpc>
                <a:spcPct val="120000"/>
              </a:lnSpc>
            </a:pPr>
            <a:r>
              <a:rPr lang="zh-CN" altLang="en-US" sz="2000" dirty="0"/>
              <a:t>其中，“</a:t>
            </a:r>
            <a:r>
              <a:rPr lang="en-US" altLang="zh-CN" sz="2000" dirty="0"/>
              <a:t>+</a:t>
            </a:r>
            <a:r>
              <a:rPr lang="zh-CN" altLang="en-US" sz="2000" dirty="0"/>
              <a:t>”是运算符，“</a:t>
            </a:r>
            <a:r>
              <a:rPr lang="en-US" altLang="zh-CN" sz="2000" dirty="0"/>
              <a:t>2</a:t>
            </a:r>
            <a:r>
              <a:rPr lang="zh-CN" altLang="en-US" sz="2000" dirty="0"/>
              <a:t>”和“</a:t>
            </a:r>
            <a:r>
              <a:rPr lang="en-US" altLang="zh-CN" sz="2000" dirty="0"/>
              <a:t>3</a:t>
            </a:r>
            <a:r>
              <a:rPr lang="zh-CN" altLang="en-US" sz="2000" dirty="0"/>
              <a:t>”是操作数</a:t>
            </a:r>
            <a:endParaRPr lang="en-US" altLang="zh-CN" sz="2000" dirty="0"/>
          </a:p>
          <a:p>
            <a:pPr lvl="1">
              <a:lnSpc>
                <a:spcPct val="120000"/>
              </a:lnSpc>
            </a:pPr>
            <a:r>
              <a:rPr lang="zh-CN" altLang="en-US" sz="2000" dirty="0"/>
              <a:t>其</a:t>
            </a:r>
            <a:r>
              <a:rPr lang="zh-CN" altLang="en-US" sz="2000" b="1" dirty="0"/>
              <a:t>结果（</a:t>
            </a:r>
            <a:r>
              <a:rPr lang="en-US" altLang="zh-CN" sz="2000" b="1" dirty="0"/>
              <a:t>Result</a:t>
            </a:r>
            <a:r>
              <a:rPr lang="zh-CN" altLang="en-US" sz="2000" b="1" dirty="0"/>
              <a:t>）</a:t>
            </a:r>
            <a:r>
              <a:rPr lang="zh-CN" altLang="en-US" sz="2000" dirty="0"/>
              <a:t>是“</a:t>
            </a:r>
            <a:r>
              <a:rPr lang="en-US" altLang="zh-CN" sz="2000" dirty="0"/>
              <a:t>5</a:t>
            </a:r>
            <a:r>
              <a:rPr lang="zh-CN" altLang="en-US" sz="2000" dirty="0"/>
              <a:t>”</a:t>
            </a:r>
            <a:endParaRPr lang="en-US" altLang="zh-CN" sz="2000" dirty="0"/>
          </a:p>
          <a:p>
            <a:pPr>
              <a:lnSpc>
                <a:spcPct val="120000"/>
              </a:lnSpc>
            </a:pPr>
            <a:r>
              <a:rPr lang="zh-CN" altLang="en-US" sz="2400" dirty="0"/>
              <a:t>常见操作符（右表）</a:t>
            </a:r>
            <a:endParaRPr lang="en-US" altLang="zh-CN" sz="2400" dirty="0"/>
          </a:p>
          <a:p>
            <a:pPr lvl="1">
              <a:lnSpc>
                <a:spcPct val="120000"/>
              </a:lnSpc>
            </a:pPr>
            <a:endParaRPr lang="en-US" altLang="zh-CN" sz="20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ACD4580-5E8A-400C-AED0-6582888FC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8021" y="2136654"/>
            <a:ext cx="6352001" cy="307752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F629A4F-85A9-4F29-8762-7CD2070680B6}"/>
              </a:ext>
            </a:extLst>
          </p:cNvPr>
          <p:cNvSpPr txBox="1"/>
          <p:nvPr/>
        </p:nvSpPr>
        <p:spPr>
          <a:xfrm>
            <a:off x="750324" y="6167120"/>
            <a:ext cx="6323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5"/>
              </a:rPr>
              <a:t>表达式 </a:t>
            </a:r>
            <a:r>
              <a:rPr lang="en-US" altLang="zh-CN" dirty="0">
                <a:hlinkClick r:id="rId5"/>
              </a:rPr>
              <a:t>- cppreference.com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7C9AA68-D772-1F98-70ED-49201F98FDD4}"/>
              </a:ext>
            </a:extLst>
          </p:cNvPr>
          <p:cNvSpPr txBox="1"/>
          <p:nvPr/>
        </p:nvSpPr>
        <p:spPr>
          <a:xfrm>
            <a:off x="7547428" y="524874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表达式的七个类别</a:t>
            </a:r>
          </a:p>
        </p:txBody>
      </p:sp>
    </p:spTree>
    <p:extLst>
      <p:ext uri="{BB962C8B-B14F-4D97-AF65-F5344CB8AC3E}">
        <p14:creationId xmlns:p14="http://schemas.microsoft.com/office/powerpoint/2010/main" val="101413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初等表达式与子表达式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D629388B-A0FA-4935-A200-9BF72A71C0AB}"/>
              </a:ext>
            </a:extLst>
          </p:cNvPr>
          <p:cNvSpPr>
            <a:spLocks noGrp="1"/>
          </p:cNvSpPr>
          <p:nvPr/>
        </p:nvSpPr>
        <p:spPr>
          <a:xfrm>
            <a:off x="838200" y="1815465"/>
            <a:ext cx="10205484" cy="43516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i="0" dirty="0">
                <a:solidFill>
                  <a:srgbClr val="000000"/>
                </a:solidFill>
                <a:effectLst/>
                <a:latin typeface="DejaVuSans"/>
              </a:rPr>
              <a:t>表达式</a:t>
            </a:r>
            <a:endParaRPr lang="en-US" altLang="zh-CN" i="0" dirty="0">
              <a:solidFill>
                <a:srgbClr val="000000"/>
              </a:solidFill>
              <a:effectLst/>
              <a:latin typeface="DejaVuSans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altLang="zh-CN" b="1" i="0" dirty="0">
                <a:solidFill>
                  <a:srgbClr val="000000"/>
                </a:solidFill>
                <a:effectLst/>
                <a:latin typeface="DejaVuSans"/>
              </a:rPr>
              <a:t>1 + 2 * 3</a:t>
            </a:r>
            <a:endParaRPr lang="zh-CN" altLang="en-US" b="1" i="0" dirty="0">
              <a:solidFill>
                <a:srgbClr val="000000"/>
              </a:solidFill>
              <a:effectLst/>
              <a:latin typeface="DejaVuSans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solidFill>
                  <a:srgbClr val="000000"/>
                </a:solidFill>
                <a:latin typeface="DejaVuSans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DejaVuSans"/>
              </a:rPr>
              <a:t>+</a:t>
            </a:r>
            <a:r>
              <a:rPr lang="zh-CN" altLang="en-US" dirty="0">
                <a:solidFill>
                  <a:srgbClr val="000000"/>
                </a:solidFill>
                <a:latin typeface="DejaVuSans"/>
              </a:rPr>
              <a:t>”是运算符，操作数“</a:t>
            </a:r>
            <a:r>
              <a:rPr lang="en-US" altLang="zh-CN" dirty="0">
                <a:solidFill>
                  <a:srgbClr val="000000"/>
                </a:solidFill>
                <a:latin typeface="DejaVuSans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DejaVuSans"/>
              </a:rPr>
              <a:t>”是</a:t>
            </a:r>
            <a:r>
              <a:rPr lang="zh-CN" altLang="en-US" b="1" dirty="0">
                <a:solidFill>
                  <a:srgbClr val="000000"/>
                </a:solidFill>
                <a:latin typeface="DejaVuSans"/>
              </a:rPr>
              <a:t>初等表达式（</a:t>
            </a:r>
            <a:r>
              <a:rPr lang="en-US" altLang="zh-CN" sz="2000" b="1" dirty="0">
                <a:solidFill>
                  <a:srgbClr val="000000"/>
                </a:solidFill>
                <a:latin typeface="DejaVuSans"/>
              </a:rPr>
              <a:t>Primary expressions</a:t>
            </a:r>
            <a:r>
              <a:rPr lang="zh-CN" altLang="en-US" b="1" dirty="0">
                <a:solidFill>
                  <a:srgbClr val="000000"/>
                </a:solidFill>
                <a:latin typeface="DejaVuSans"/>
              </a:rPr>
              <a:t>），</a:t>
            </a:r>
            <a:r>
              <a:rPr lang="zh-CN" altLang="en-US" dirty="0">
                <a:solidFill>
                  <a:srgbClr val="000000"/>
                </a:solidFill>
                <a:latin typeface="DejaVuSans"/>
              </a:rPr>
              <a:t>操作数“</a:t>
            </a:r>
            <a:r>
              <a:rPr lang="en-US" altLang="zh-CN" dirty="0">
                <a:solidFill>
                  <a:srgbClr val="000000"/>
                </a:solidFill>
                <a:latin typeface="DejaVuSans"/>
              </a:rPr>
              <a:t>2 * 3</a:t>
            </a:r>
            <a:r>
              <a:rPr lang="zh-CN" altLang="en-US" dirty="0">
                <a:solidFill>
                  <a:srgbClr val="000000"/>
                </a:solidFill>
                <a:latin typeface="DejaVuSans"/>
              </a:rPr>
              <a:t>”是</a:t>
            </a:r>
            <a:r>
              <a:rPr lang="zh-CN" altLang="en-US" b="1" dirty="0">
                <a:solidFill>
                  <a:srgbClr val="000000"/>
                </a:solidFill>
                <a:latin typeface="DejaVuSans"/>
              </a:rPr>
              <a:t>子表达式（</a:t>
            </a:r>
            <a:r>
              <a:rPr lang="en-US" altLang="zh-CN" sz="2000" b="1" dirty="0">
                <a:solidFill>
                  <a:srgbClr val="000000"/>
                </a:solidFill>
                <a:latin typeface="DejaVuSans"/>
              </a:rPr>
              <a:t>S</a:t>
            </a:r>
            <a:r>
              <a:rPr lang="en-US" altLang="zh-CN" sz="2000" b="1" i="0" dirty="0">
                <a:solidFill>
                  <a:srgbClr val="000000"/>
                </a:solidFill>
                <a:effectLst/>
                <a:latin typeface="DejaVuSans"/>
              </a:rPr>
              <a:t>ubexpressions</a:t>
            </a:r>
            <a:r>
              <a:rPr lang="zh-CN" altLang="en-US" b="1" dirty="0">
                <a:solidFill>
                  <a:srgbClr val="000000"/>
                </a:solidFill>
                <a:latin typeface="DejaVuSans"/>
              </a:rPr>
              <a:t>）</a:t>
            </a:r>
            <a:endParaRPr lang="en-US" altLang="zh-CN" b="1" dirty="0">
              <a:solidFill>
                <a:srgbClr val="000000"/>
              </a:solidFill>
              <a:latin typeface="DejaVuSans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0000"/>
                </a:solidFill>
                <a:latin typeface="DejaVuSans"/>
              </a:rPr>
              <a:t>初等表达式不能在分解，可能是以下几种</a:t>
            </a:r>
            <a:endParaRPr lang="en-US" altLang="zh-CN" dirty="0">
              <a:solidFill>
                <a:srgbClr val="000000"/>
              </a:solidFill>
              <a:latin typeface="DejaVuSans"/>
            </a:endParaRP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latin typeface="DejaVuSans"/>
              </a:rPr>
              <a:t>1) </a:t>
            </a:r>
            <a:r>
              <a:rPr lang="zh-CN" altLang="en-US" dirty="0">
                <a:solidFill>
                  <a:srgbClr val="000000"/>
                </a:solidFill>
                <a:latin typeface="DejaVuSans"/>
              </a:rPr>
              <a:t>常量及字面量（例如 </a:t>
            </a:r>
            <a:r>
              <a:rPr lang="en-US" altLang="zh-CN" dirty="0">
                <a:solidFill>
                  <a:srgbClr val="000000"/>
                </a:solidFill>
                <a:latin typeface="DejaVuSans"/>
              </a:rPr>
              <a:t>2 </a:t>
            </a:r>
            <a:r>
              <a:rPr lang="zh-CN" altLang="en-US" dirty="0">
                <a:solidFill>
                  <a:srgbClr val="000000"/>
                </a:solidFill>
                <a:latin typeface="DejaVuSans"/>
              </a:rPr>
              <a:t>或 </a:t>
            </a:r>
            <a:r>
              <a:rPr lang="en-US" altLang="zh-CN" dirty="0">
                <a:solidFill>
                  <a:srgbClr val="000000"/>
                </a:solidFill>
                <a:latin typeface="DejaVuSans"/>
              </a:rPr>
              <a:t>"Hello, world" </a:t>
            </a:r>
            <a:r>
              <a:rPr lang="zh-CN" altLang="en-US" dirty="0">
                <a:solidFill>
                  <a:srgbClr val="000000"/>
                </a:solidFill>
                <a:latin typeface="DejaVuSans"/>
              </a:rPr>
              <a:t>）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0000"/>
                </a:solidFill>
                <a:latin typeface="DejaVuSans"/>
              </a:rPr>
              <a:t>2) </a:t>
            </a:r>
            <a:r>
              <a:rPr lang="zh-CN" altLang="en-US" dirty="0">
                <a:solidFill>
                  <a:srgbClr val="000000"/>
                </a:solidFill>
                <a:latin typeface="DejaVuSans"/>
              </a:rPr>
              <a:t>适合的已声明标识符（例如 </a:t>
            </a:r>
            <a:r>
              <a:rPr lang="en-US" altLang="zh-CN" dirty="0">
                <a:solidFill>
                  <a:srgbClr val="000000"/>
                </a:solidFill>
                <a:latin typeface="DejaVuSans"/>
              </a:rPr>
              <a:t>n </a:t>
            </a:r>
            <a:r>
              <a:rPr lang="zh-CN" altLang="en-US" dirty="0">
                <a:solidFill>
                  <a:srgbClr val="000000"/>
                </a:solidFill>
                <a:latin typeface="DejaVuSans"/>
              </a:rPr>
              <a:t>或 </a:t>
            </a:r>
            <a:r>
              <a:rPr lang="en-US" altLang="zh-CN" dirty="0" err="1">
                <a:solidFill>
                  <a:srgbClr val="000000"/>
                </a:solidFill>
                <a:latin typeface="DejaVuSans"/>
              </a:rPr>
              <a:t>printf</a:t>
            </a:r>
            <a:r>
              <a:rPr lang="en-US" altLang="zh-CN" dirty="0">
                <a:solidFill>
                  <a:srgbClr val="000000"/>
                </a:solidFill>
                <a:latin typeface="DejaVuSans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DejaVuSans"/>
              </a:rPr>
              <a:t>）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DejaVuSans"/>
              </a:rPr>
              <a:t>3)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DejaVuSans"/>
              </a:rPr>
              <a:t>泛型选择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DejaVuSans"/>
              </a:rPr>
              <a:t>(C11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DejaVuSans"/>
              </a:rPr>
              <a:t>起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DejaVuSans"/>
              </a:rPr>
              <a:t>)</a:t>
            </a:r>
          </a:p>
          <a:p>
            <a:pPr>
              <a:lnSpc>
                <a:spcPct val="120000"/>
              </a:lnSpc>
            </a:pPr>
            <a:endParaRPr lang="en-US" altLang="zh-CN" dirty="0">
              <a:solidFill>
                <a:srgbClr val="000000"/>
              </a:solidFill>
              <a:latin typeface="DejaVuSans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solidFill>
                <a:srgbClr val="000000"/>
              </a:solidFill>
              <a:latin typeface="DejaVuSans"/>
            </a:endParaRPr>
          </a:p>
        </p:txBody>
      </p:sp>
    </p:spTree>
    <p:extLst>
      <p:ext uri="{BB962C8B-B14F-4D97-AF65-F5344CB8AC3E}">
        <p14:creationId xmlns:p14="http://schemas.microsoft.com/office/powerpoint/2010/main" val="3031422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表达式学习要点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D629388B-A0FA-4935-A200-9BF72A71C0AB}"/>
              </a:ext>
            </a:extLst>
          </p:cNvPr>
          <p:cNvSpPr>
            <a:spLocks noGrp="1"/>
          </p:cNvSpPr>
          <p:nvPr/>
        </p:nvSpPr>
        <p:spPr>
          <a:xfrm>
            <a:off x="838200" y="1815465"/>
            <a:ext cx="52578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dirty="0"/>
              <a:t>右边程序是经典的选择题，问哪条赋值语句是错误的？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为什么第三句是错误的？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en-US" altLang="zh-CN" dirty="0"/>
              <a:t>C </a:t>
            </a:r>
            <a:r>
              <a:rPr lang="zh-CN" altLang="en-US" dirty="0"/>
              <a:t>表达式学习的要点：</a:t>
            </a:r>
            <a:endParaRPr lang="en-US" altLang="zh-CN" dirty="0"/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dirty="0"/>
              <a:t>类型（</a:t>
            </a:r>
            <a:r>
              <a:rPr lang="en-US" altLang="zh-CN" dirty="0"/>
              <a:t>object type</a:t>
            </a:r>
            <a:r>
              <a:rPr lang="zh-CN" altLang="en-US" dirty="0"/>
              <a:t>）</a:t>
            </a:r>
            <a:endParaRPr lang="en-US" altLang="zh-CN" dirty="0"/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dirty="0"/>
              <a:t>值类别（</a:t>
            </a:r>
            <a:r>
              <a:rPr lang="en-US" altLang="zh-CN" dirty="0"/>
              <a:t>value category</a:t>
            </a:r>
            <a:r>
              <a:rPr lang="zh-CN" altLang="en-US" dirty="0"/>
              <a:t>）</a:t>
            </a:r>
            <a:endParaRPr lang="en-US" altLang="zh-CN" dirty="0"/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dirty="0"/>
              <a:t>求值顺序（结合性）</a:t>
            </a:r>
            <a:endParaRPr lang="en-US" altLang="zh-CN" dirty="0"/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dirty="0"/>
              <a:t>运算符优先级（</a:t>
            </a:r>
            <a:r>
              <a:rPr lang="en-US" altLang="zh-CN" dirty="0"/>
              <a:t>precedence</a:t>
            </a:r>
            <a:r>
              <a:rPr lang="zh-CN" altLang="en-US" dirty="0"/>
              <a:t>）</a:t>
            </a:r>
            <a:endParaRPr lang="en-US" altLang="zh-CN" dirty="0"/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dirty="0"/>
              <a:t>兼容类型与隐式转换</a:t>
            </a:r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D7A78D6-3229-47CA-8A84-E4124685F9C8}"/>
              </a:ext>
            </a:extLst>
          </p:cNvPr>
          <p:cNvSpPr txBox="1"/>
          <p:nvPr/>
        </p:nvSpPr>
        <p:spPr>
          <a:xfrm>
            <a:off x="6360663" y="1816090"/>
            <a:ext cx="5086786" cy="258532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赋值运算先算右表达式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(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赋值运算返回左值 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= 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括号改变了计算的顺序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编译提示：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= j)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不是左值表达式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19178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值类别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左值、右值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D629388B-A0FA-4935-A200-9BF72A71C0AB}"/>
              </a:ext>
            </a:extLst>
          </p:cNvPr>
          <p:cNvSpPr>
            <a:spLocks noGrp="1"/>
          </p:cNvSpPr>
          <p:nvPr/>
        </p:nvSpPr>
        <p:spPr>
          <a:xfrm>
            <a:off x="838200" y="1815465"/>
            <a:ext cx="9779000" cy="4250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000" dirty="0"/>
              <a:t>C </a:t>
            </a:r>
            <a:r>
              <a:rPr lang="zh-CN" altLang="en-US" sz="2000" dirty="0"/>
              <a:t>中每个表达式有两个独立的属性</a:t>
            </a:r>
            <a:endParaRPr lang="en-US" altLang="zh-CN" sz="2000" dirty="0"/>
          </a:p>
          <a:p>
            <a:pPr lvl="1">
              <a:lnSpc>
                <a:spcPct val="120000"/>
              </a:lnSpc>
            </a:pPr>
            <a:r>
              <a:rPr lang="zh-CN" altLang="en-US" sz="1600" dirty="0"/>
              <a:t>表达式求值得到的</a:t>
            </a:r>
            <a:r>
              <a:rPr lang="zh-CN" altLang="en-US" sz="1600" b="1" dirty="0"/>
              <a:t>数据类型</a:t>
            </a:r>
            <a:r>
              <a:rPr lang="zh-CN" altLang="en-US" sz="1600" dirty="0"/>
              <a:t>。例如：</a:t>
            </a:r>
            <a:r>
              <a:rPr lang="en-US" altLang="zh-CN" sz="1600" dirty="0"/>
              <a:t>7L </a:t>
            </a:r>
            <a:r>
              <a:rPr lang="zh-CN" altLang="en-US" sz="1600" dirty="0"/>
              <a:t>是长整型表达式</a:t>
            </a:r>
            <a:endParaRPr lang="en-US" altLang="zh-CN" sz="1600" dirty="0"/>
          </a:p>
          <a:p>
            <a:pPr lvl="1">
              <a:lnSpc>
                <a:spcPct val="120000"/>
              </a:lnSpc>
            </a:pPr>
            <a:r>
              <a:rPr lang="zh-CN" altLang="en-US" sz="1600" dirty="0"/>
              <a:t>表达式属于三个</a:t>
            </a:r>
            <a:r>
              <a:rPr lang="zh-CN" altLang="en-US" sz="1600" b="1" dirty="0"/>
              <a:t>值类别</a:t>
            </a:r>
            <a:r>
              <a:rPr lang="zh-CN" altLang="en-US" sz="1600" dirty="0"/>
              <a:t>之一：</a:t>
            </a:r>
            <a:r>
              <a:rPr lang="zh-CN" altLang="en-US" sz="1600" b="1" dirty="0"/>
              <a:t>左值</a:t>
            </a:r>
            <a:r>
              <a:rPr lang="zh-CN" altLang="en-US" sz="1600" dirty="0"/>
              <a:t>、非左值对象（</a:t>
            </a:r>
            <a:r>
              <a:rPr lang="zh-CN" altLang="en-US" sz="1600" b="1" dirty="0"/>
              <a:t>右值</a:t>
            </a:r>
            <a:r>
              <a:rPr lang="zh-CN" altLang="en-US" sz="1600" dirty="0"/>
              <a:t>）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以及函数指代器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>
              <a:lnSpc>
                <a:spcPct val="120000"/>
              </a:lnSpc>
            </a:pPr>
            <a:r>
              <a:rPr lang="zh-CN" altLang="en-US" sz="2000" dirty="0"/>
              <a:t>左值表达式</a:t>
            </a:r>
            <a:endParaRPr lang="en-US" altLang="zh-CN" sz="2000" dirty="0"/>
          </a:p>
          <a:p>
            <a:pPr lvl="1">
              <a:lnSpc>
                <a:spcPct val="120000"/>
              </a:lnSpc>
            </a:pPr>
            <a:r>
              <a:rPr lang="zh-CN" altLang="en-US" sz="1600" dirty="0"/>
              <a:t>左值表达式</a:t>
            </a:r>
            <a:r>
              <a:rPr lang="zh-CN" altLang="en-US" sz="1600" dirty="0">
                <a:solidFill>
                  <a:srgbClr val="C00000"/>
                </a:solidFill>
              </a:rPr>
              <a:t>可作为</a:t>
            </a:r>
            <a:r>
              <a:rPr lang="zh-CN" altLang="en-US" sz="1600" dirty="0"/>
              <a:t>赋值运算符的左运算数。如变量</a:t>
            </a:r>
            <a:endParaRPr lang="en-US" altLang="zh-CN" sz="1600" dirty="0"/>
          </a:p>
          <a:p>
            <a:pPr lvl="1">
              <a:lnSpc>
                <a:spcPct val="120000"/>
              </a:lnSpc>
            </a:pPr>
            <a:r>
              <a:rPr lang="zh-CN" altLang="en-US" sz="1600" dirty="0"/>
              <a:t>左值表达式求值得到对象标识（或一个内存变量）。如果表达式是左值，则</a:t>
            </a:r>
            <a:endParaRPr lang="en-US" altLang="zh-CN" sz="1600" dirty="0"/>
          </a:p>
          <a:p>
            <a:pPr lvl="2">
              <a:lnSpc>
                <a:spcPct val="120000"/>
              </a:lnSpc>
            </a:pPr>
            <a:r>
              <a:rPr lang="zh-CN" altLang="en-US" sz="1200" dirty="0"/>
              <a:t>可以取地址</a:t>
            </a:r>
            <a:endParaRPr lang="en-US" altLang="zh-CN" sz="1200" dirty="0"/>
          </a:p>
          <a:p>
            <a:pPr lvl="2">
              <a:lnSpc>
                <a:spcPct val="120000"/>
              </a:lnSpc>
            </a:pPr>
            <a:r>
              <a:rPr lang="zh-CN" altLang="en-US" sz="1200" dirty="0"/>
              <a:t>使用自增运算符</a:t>
            </a:r>
            <a:endParaRPr lang="en-US" altLang="zh-CN" sz="1200" dirty="0"/>
          </a:p>
          <a:p>
            <a:pPr>
              <a:lnSpc>
                <a:spcPct val="120000"/>
              </a:lnSpc>
            </a:pPr>
            <a:r>
              <a:rPr lang="zh-CN" altLang="en-US" sz="2000" dirty="0"/>
              <a:t>右值表达式（非左值对象）</a:t>
            </a:r>
            <a:endParaRPr lang="en-US" altLang="zh-CN" sz="2000" dirty="0"/>
          </a:p>
          <a:p>
            <a:pPr lvl="1">
              <a:lnSpc>
                <a:spcPct val="120000"/>
              </a:lnSpc>
            </a:pPr>
            <a:r>
              <a:rPr lang="zh-CN" altLang="en-US" sz="1600" dirty="0"/>
              <a:t>右值表达式</a:t>
            </a:r>
            <a:r>
              <a:rPr lang="zh-CN" altLang="en-US" sz="1600" dirty="0">
                <a:solidFill>
                  <a:srgbClr val="C00000"/>
                </a:solidFill>
              </a:rPr>
              <a:t>只能作为</a:t>
            </a:r>
            <a:r>
              <a:rPr lang="zh-CN" altLang="en-US" sz="1600" dirty="0"/>
              <a:t>赋值运算符的右运算数。如常量</a:t>
            </a:r>
          </a:p>
          <a:p>
            <a:pPr lvl="1">
              <a:lnSpc>
                <a:spcPct val="120000"/>
              </a:lnSpc>
            </a:pPr>
            <a:r>
              <a:rPr lang="zh-CN" altLang="en-US" sz="1600" dirty="0"/>
              <a:t>表达式计算结果只是一个数值，没有存储位置</a:t>
            </a:r>
            <a:endParaRPr lang="en-US" altLang="zh-CN" sz="16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060F0AE-9582-7739-9997-AD3AC126BCB3}"/>
              </a:ext>
            </a:extLst>
          </p:cNvPr>
          <p:cNvSpPr txBox="1"/>
          <p:nvPr/>
        </p:nvSpPr>
        <p:spPr>
          <a:xfrm>
            <a:off x="1020450" y="6352539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hlinkClick r:id="rId4"/>
              </a:rPr>
              <a:t>值类别 </a:t>
            </a:r>
            <a:r>
              <a:rPr lang="en-US" altLang="zh-CN" dirty="0">
                <a:hlinkClick r:id="rId4"/>
              </a:rPr>
              <a:t>(gitee.io)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9770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46967"/>
          <a:stretch>
            <a:fillRect/>
          </a:stretch>
        </p:blipFill>
        <p:spPr>
          <a:xfrm>
            <a:off x="0" y="2176476"/>
            <a:ext cx="12209296" cy="287792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2176477"/>
            <a:ext cx="12192000" cy="287792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6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559161" y="2793810"/>
            <a:ext cx="69934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运算符</a:t>
            </a:r>
          </a:p>
        </p:txBody>
      </p:sp>
      <p:sp>
        <p:nvSpPr>
          <p:cNvPr id="16" name="TextBox 10"/>
          <p:cNvSpPr txBox="1"/>
          <p:nvPr/>
        </p:nvSpPr>
        <p:spPr>
          <a:xfrm>
            <a:off x="2565806" y="3990096"/>
            <a:ext cx="7060388" cy="523196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en-US" altLang="zh-CN" sz="2800" dirty="0">
                <a:solidFill>
                  <a:schemeClr val="bg1">
                    <a:lumMod val="95000"/>
                  </a:schemeClr>
                </a:solidFill>
              </a:rPr>
              <a:t>Operators</a:t>
            </a:r>
            <a:endParaRPr lang="en-US" altLang="zh-CN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00" r="2284" b="11992"/>
          <a:stretch>
            <a:fillRect/>
          </a:stretch>
        </p:blipFill>
        <p:spPr>
          <a:xfrm>
            <a:off x="4339400" y="923192"/>
            <a:ext cx="3433000" cy="107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601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950"/>
                            </p:stCondLst>
                            <p:childTnLst>
                              <p:par>
                                <p:cTn id="15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从运算到运算符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33868" y="2062057"/>
            <a:ext cx="1038464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</a:rPr>
              <a:t>       </a:t>
            </a: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运算在数学上是一种行为，是</a:t>
            </a:r>
            <a:r>
              <a:rPr lang="zh-CN" altLang="en-US" sz="2400" i="0" dirty="0">
                <a:solidFill>
                  <a:schemeClr val="bg1">
                    <a:lumMod val="6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通过已知量的可能的组合获得新的量。运算的本质是集合之间的映射。而运算符就是反映运算类型的符号。</a:t>
            </a:r>
            <a:endParaRPr lang="en-US" altLang="zh-CN" sz="2400" i="0" dirty="0">
              <a:solidFill>
                <a:schemeClr val="bg1">
                  <a:lumMod val="6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i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例如，算术中的加法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+ 3 = 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，这里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操作数（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operands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result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，而加号“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运算符（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operator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表明这是一个加法运算。这是一个常见的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二元运算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本质上是</a:t>
            </a: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A×B</a:t>
            </a: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形式的映射。</a:t>
            </a:r>
            <a:endParaRPr lang="en-US" altLang="zh-CN" sz="2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C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语言内置了丰富的运算符，大致将其分为以下六类：算术运算符、赋值运算符、逻辑运算符、关系运算符、位运算符和其他运算符。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F21E684-A915-E814-4DC9-20C7E353D222}"/>
              </a:ext>
            </a:extLst>
          </p:cNvPr>
          <p:cNvSpPr txBox="1"/>
          <p:nvPr/>
        </p:nvSpPr>
        <p:spPr>
          <a:xfrm>
            <a:off x="1033868" y="6248400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备注：不同教材运算符分类可能不同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运算符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优先级与结合性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769238" y="2320925"/>
            <a:ext cx="6653524" cy="3416320"/>
          </a:xfrm>
          <a:prstGeom prst="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/*operator precedence*/ 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#include &lt;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 main() { 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int a = 16, b = 4, c = 2;</a:t>
            </a:r>
          </a:p>
          <a:p>
            <a:endParaRPr lang="en-US" altLang="zh-CN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int d = a + b * c;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int e = a / b * c;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"d=%d, e=%d\n", d, e);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return 0;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zh-CN" altLang="en-US" b="1" dirty="0">
              <a:latin typeface="Consolas" panose="020B0609020204030204" pitchFamily="49" charset="0"/>
            </a:endParaRPr>
          </a:p>
        </p:txBody>
      </p:sp>
      <p:sp>
        <p:nvSpPr>
          <p:cNvPr id="5" name="标注: 双弯曲线形(带强调线) 4">
            <a:extLst>
              <a:ext uri="{FF2B5EF4-FFF2-40B4-BE49-F238E27FC236}">
                <a16:creationId xmlns:a16="http://schemas.microsoft.com/office/drawing/2014/main" id="{360BBDEC-DFCE-4724-844E-C1F26C99AA44}"/>
              </a:ext>
            </a:extLst>
          </p:cNvPr>
          <p:cNvSpPr/>
          <p:nvPr/>
        </p:nvSpPr>
        <p:spPr>
          <a:xfrm>
            <a:off x="8440615" y="3597309"/>
            <a:ext cx="2291026" cy="612648"/>
          </a:xfrm>
          <a:prstGeom prst="accentCallout3">
            <a:avLst>
              <a:gd name="adj1" fmla="val 20390"/>
              <a:gd name="adj2" fmla="val 2193"/>
              <a:gd name="adj3" fmla="val 18750"/>
              <a:gd name="adj4" fmla="val -16667"/>
              <a:gd name="adj5" fmla="val 118041"/>
              <a:gd name="adj6" fmla="val -124237"/>
              <a:gd name="adj7" fmla="val 114604"/>
              <a:gd name="adj8" fmla="val -155371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乘性运算优先加减运算</a:t>
            </a:r>
          </a:p>
        </p:txBody>
      </p:sp>
      <p:sp>
        <p:nvSpPr>
          <p:cNvPr id="6" name="标注: 双弯曲线形(带强调线) 5">
            <a:extLst>
              <a:ext uri="{FF2B5EF4-FFF2-40B4-BE49-F238E27FC236}">
                <a16:creationId xmlns:a16="http://schemas.microsoft.com/office/drawing/2014/main" id="{3E3C6F22-A2DC-1C91-F394-B45DB0DC9E32}"/>
              </a:ext>
            </a:extLst>
          </p:cNvPr>
          <p:cNvSpPr/>
          <p:nvPr/>
        </p:nvSpPr>
        <p:spPr>
          <a:xfrm>
            <a:off x="8440615" y="4389154"/>
            <a:ext cx="2291026" cy="612648"/>
          </a:xfrm>
          <a:prstGeom prst="accentCallout3">
            <a:avLst>
              <a:gd name="adj1" fmla="val 20390"/>
              <a:gd name="adj2" fmla="val 2193"/>
              <a:gd name="adj3" fmla="val 18750"/>
              <a:gd name="adj4" fmla="val -16667"/>
              <a:gd name="adj5" fmla="val 27833"/>
              <a:gd name="adj6" fmla="val -124676"/>
              <a:gd name="adj7" fmla="val 24395"/>
              <a:gd name="adj8" fmla="val -179932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二元算术运算</a:t>
            </a:r>
            <a:endParaRPr lang="en-US" altLang="zh-CN" sz="1600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左结合</a:t>
            </a:r>
          </a:p>
        </p:txBody>
      </p:sp>
    </p:spTree>
    <p:extLst>
      <p:ext uri="{BB962C8B-B14F-4D97-AF65-F5344CB8AC3E}">
        <p14:creationId xmlns:p14="http://schemas.microsoft.com/office/powerpoint/2010/main" val="370693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运算符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-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优先级与结合性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578320" y="2095837"/>
            <a:ext cx="6653524" cy="3970318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/*operator eval order*/ 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#include &lt;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</a:p>
          <a:p>
            <a:endParaRPr lang="en-US" altLang="zh-CN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 main() { 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int a=4,b=2,c=3;</a:t>
            </a:r>
          </a:p>
          <a:p>
            <a:endParaRPr lang="en-US" altLang="zh-CN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("%d\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n",a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=b=c);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("%d\n", a=b==c);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("%d\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n",a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==(b=c));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("%d\n", a==(b==c));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return 0;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zh-CN" altLang="en-US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64566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运算符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-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优先级与结合性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33868" y="2062057"/>
            <a:ext cx="10492088" cy="2935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优先级，就是当多个运算符出现在同一个表达式中时，先执行哪个运算符。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结合性，就是当一个表达式中出现多个优先级相同的运算符时，先执行哪个运算符：先执行左边的叫左结合性，先执行右边的叫右结合性。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35274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676182"/>
              </p:ext>
            </p:extLst>
          </p:nvPr>
        </p:nvGraphicFramePr>
        <p:xfrm>
          <a:off x="2040346" y="173084"/>
          <a:ext cx="8127999" cy="639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类别 </a:t>
                      </a:r>
                    </a:p>
                  </a:txBody>
                  <a:tcPr marL="11430" marR="11430" marT="11430" marB="1143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运算符 </a:t>
                      </a:r>
                    </a:p>
                  </a:txBody>
                  <a:tcPr marL="11430" marR="11430" marT="11430" marB="1143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结合性 </a:t>
                      </a:r>
                    </a:p>
                  </a:txBody>
                  <a:tcPr marL="11430" marR="11430" marT="11430" marB="1143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后缀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() [] -&gt; . ++ - - 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从左到右 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一元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- ! ~ ++ - - (type)* &amp; sizeof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从右到左 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乘除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* </a:t>
                      </a:r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 %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从左到右 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加减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-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从左到右 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移位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&lt;&lt; &gt;&gt;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从左到右 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关系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 &lt;= &gt; &gt;=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从左到右 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相等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== !=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从左到右 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位与 </a:t>
                      </a:r>
                      <a:r>
                        <a:rPr 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AND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从左到右 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位异或 </a:t>
                      </a:r>
                      <a:r>
                        <a:rPr 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XOR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^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从左到右 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位或 </a:t>
                      </a:r>
                      <a:r>
                        <a:rPr 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OR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|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从左到右 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逻辑与 </a:t>
                      </a:r>
                      <a:r>
                        <a:rPr 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AND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&amp;&amp;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从左到右 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逻辑或 </a:t>
                      </a:r>
                      <a:r>
                        <a:rPr 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OR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||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从左到右 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?: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从右到左 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赋值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 += -= *= /= %=&gt;&gt;= &lt;&lt;= &amp;= ^= |=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从右到左 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逗号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从左到右 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18512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算术运算（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Arithmetic operators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D629388B-A0FA-4935-A200-9BF72A71C0AB}"/>
              </a:ext>
            </a:extLst>
          </p:cNvPr>
          <p:cNvSpPr>
            <a:spLocks noGrp="1"/>
          </p:cNvSpPr>
          <p:nvPr/>
        </p:nvSpPr>
        <p:spPr>
          <a:xfrm>
            <a:off x="838200" y="1815465"/>
            <a:ext cx="5171711" cy="4351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sz="3300" dirty="0"/>
              <a:t>算术运算符应用标准数学运算符到其操作数。</a:t>
            </a:r>
            <a:endParaRPr lang="en-US" altLang="zh-CN" sz="3300" dirty="0"/>
          </a:p>
          <a:p>
            <a:pPr>
              <a:lnSpc>
                <a:spcPct val="120000"/>
              </a:lnSpc>
            </a:pPr>
            <a:r>
              <a:rPr lang="zh-CN" altLang="en-US" dirty="0"/>
              <a:t>类型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字符，整数，实数，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复数，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布尔（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C99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）</a:t>
            </a:r>
            <a:endParaRPr lang="en-US" altLang="zh-CN" dirty="0">
              <a:solidFill>
                <a:schemeClr val="bg1">
                  <a:lumMod val="65000"/>
                </a:schemeClr>
              </a:solidFill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solidFill>
                  <a:srgbClr val="6B9F2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算术类型 </a:t>
            </a:r>
            <a:r>
              <a:rPr lang="en-US" altLang="zh-CN" dirty="0">
                <a:solidFill>
                  <a:srgbClr val="6B9F2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cppreference.com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值类别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非左值，即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不能放在赋值语句左边，不能求地址等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求值顺序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b="0" i="0" dirty="0">
                <a:solidFill>
                  <a:srgbClr val="000000"/>
                </a:solidFill>
                <a:effectLst/>
                <a:latin typeface="DejaVuSans"/>
              </a:rPr>
              <a:t>从左到右结合性（非一元操作），即</a:t>
            </a:r>
            <a:endParaRPr lang="en-US" altLang="zh-CN" dirty="0">
              <a:solidFill>
                <a:srgbClr val="000000"/>
              </a:solidFill>
              <a:latin typeface="DejaVuSans"/>
            </a:endParaRPr>
          </a:p>
          <a:p>
            <a:pPr lvl="1">
              <a:lnSpc>
                <a:spcPct val="120000"/>
              </a:lnSpc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DejaVuSans"/>
              </a:rPr>
              <a:t>a + </a:t>
            </a:r>
            <a:r>
              <a:rPr lang="en-US" altLang="zh-CN" dirty="0">
                <a:solidFill>
                  <a:srgbClr val="000000"/>
                </a:solidFill>
                <a:latin typeface="DejaVuSans"/>
              </a:rPr>
              <a:t>b + c </a:t>
            </a:r>
            <a:r>
              <a:rPr lang="zh-CN" altLang="en-US" dirty="0">
                <a:solidFill>
                  <a:srgbClr val="000000"/>
                </a:solidFill>
                <a:latin typeface="DejaVuSans"/>
              </a:rPr>
              <a:t>被分析为 （</a:t>
            </a:r>
            <a:r>
              <a:rPr lang="en-US" altLang="zh-CN" dirty="0">
                <a:solidFill>
                  <a:srgbClr val="000000"/>
                </a:solidFill>
                <a:latin typeface="DejaVuSans"/>
              </a:rPr>
              <a:t>a + b) + c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0000"/>
                </a:solidFill>
                <a:latin typeface="DejaVuSans"/>
              </a:rPr>
              <a:t>优先级：</a:t>
            </a:r>
            <a:r>
              <a:rPr lang="en-US" altLang="zh-CN" dirty="0">
                <a:solidFill>
                  <a:srgbClr val="000000"/>
                </a:solidFill>
                <a:latin typeface="DejaVuSans"/>
              </a:rPr>
              <a:t>…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0000"/>
                </a:solidFill>
                <a:latin typeface="DejaVuSans"/>
              </a:rPr>
              <a:t>隐式转换</a:t>
            </a:r>
            <a:endParaRPr lang="en-US" altLang="zh-CN" dirty="0">
              <a:solidFill>
                <a:srgbClr val="000000"/>
              </a:solidFill>
              <a:latin typeface="DejaVuSans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solidFill>
                  <a:srgbClr val="000000"/>
                </a:solidFill>
                <a:latin typeface="DejaVuSans"/>
              </a:rPr>
              <a:t>两个操作数都转为相同的类型</a:t>
            </a:r>
            <a:endParaRPr lang="en-US" altLang="zh-CN" dirty="0">
              <a:solidFill>
                <a:srgbClr val="000000"/>
              </a:solidFill>
              <a:latin typeface="DejaVuSans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hlinkClick r:id="rId5"/>
              </a:rPr>
              <a:t>隐式转换 </a:t>
            </a:r>
            <a:r>
              <a:rPr lang="en-US" altLang="zh-CN" dirty="0">
                <a:hlinkClick r:id="rId5"/>
              </a:rPr>
              <a:t>- cppreference.com</a:t>
            </a:r>
            <a:endParaRPr lang="en-US" altLang="zh-CN" dirty="0">
              <a:solidFill>
                <a:srgbClr val="000000"/>
              </a:solidFill>
              <a:latin typeface="DejaVuSans"/>
            </a:endParaRPr>
          </a:p>
          <a:p>
            <a:pPr lvl="1">
              <a:lnSpc>
                <a:spcPct val="120000"/>
              </a:lnSpc>
            </a:pPr>
            <a:endParaRPr lang="en-US" altLang="zh-CN" b="0" i="0" dirty="0">
              <a:solidFill>
                <a:srgbClr val="000000"/>
              </a:solidFill>
              <a:effectLst/>
              <a:latin typeface="DejaVuSans"/>
            </a:endParaRPr>
          </a:p>
          <a:p>
            <a:pPr lvl="1">
              <a:lnSpc>
                <a:spcPct val="120000"/>
              </a:lnSpc>
            </a:pPr>
            <a:endParaRPr lang="zh-CN" altLang="en-US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9948D3C-FC75-41B2-A2B9-58E15D16AC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1853" y="1603884"/>
            <a:ext cx="3931208" cy="4774815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953AC552-84E9-41F2-8D97-F9CC208AD881}"/>
              </a:ext>
            </a:extLst>
          </p:cNvPr>
          <p:cNvGrpSpPr/>
          <p:nvPr/>
        </p:nvGrpSpPr>
        <p:grpSpPr>
          <a:xfrm>
            <a:off x="10343061" y="1675238"/>
            <a:ext cx="580878" cy="2532926"/>
            <a:chOff x="10343061" y="1675237"/>
            <a:chExt cx="580878" cy="2638497"/>
          </a:xfrm>
        </p:grpSpPr>
        <p:sp>
          <p:nvSpPr>
            <p:cNvPr id="4" name="右大括号 3">
              <a:extLst>
                <a:ext uri="{FF2B5EF4-FFF2-40B4-BE49-F238E27FC236}">
                  <a16:creationId xmlns:a16="http://schemas.microsoft.com/office/drawing/2014/main" id="{CD2DE7E5-3143-4FA6-95B8-65339EAD8C1F}"/>
                </a:ext>
              </a:extLst>
            </p:cNvPr>
            <p:cNvSpPr/>
            <p:nvPr/>
          </p:nvSpPr>
          <p:spPr>
            <a:xfrm>
              <a:off x="10343061" y="1675237"/>
              <a:ext cx="238850" cy="2638497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39479BD5-8927-4CD8-942E-166377294A9C}"/>
                </a:ext>
              </a:extLst>
            </p:cNvPr>
            <p:cNvSpPr txBox="1"/>
            <p:nvPr/>
          </p:nvSpPr>
          <p:spPr>
            <a:xfrm>
              <a:off x="10533050" y="2477954"/>
              <a:ext cx="39088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算术运算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EC850F8-4AB9-4705-90C3-F11F7E3C26B7}"/>
              </a:ext>
            </a:extLst>
          </p:cNvPr>
          <p:cNvGrpSpPr/>
          <p:nvPr/>
        </p:nvGrpSpPr>
        <p:grpSpPr>
          <a:xfrm>
            <a:off x="10343061" y="4368738"/>
            <a:ext cx="580878" cy="1841209"/>
            <a:chOff x="10343061" y="1675237"/>
            <a:chExt cx="580878" cy="2638497"/>
          </a:xfrm>
        </p:grpSpPr>
        <p:sp>
          <p:nvSpPr>
            <p:cNvPr id="13" name="右大括号 12">
              <a:extLst>
                <a:ext uri="{FF2B5EF4-FFF2-40B4-BE49-F238E27FC236}">
                  <a16:creationId xmlns:a16="http://schemas.microsoft.com/office/drawing/2014/main" id="{2AA71FC3-8CCE-4B45-92C3-03888F0D3B8D}"/>
                </a:ext>
              </a:extLst>
            </p:cNvPr>
            <p:cNvSpPr/>
            <p:nvPr/>
          </p:nvSpPr>
          <p:spPr>
            <a:xfrm>
              <a:off x="10343061" y="1675237"/>
              <a:ext cx="238850" cy="2638497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B5030EA-3B91-4CBA-A840-59386809CF8D}"/>
                </a:ext>
              </a:extLst>
            </p:cNvPr>
            <p:cNvSpPr txBox="1"/>
            <p:nvPr/>
          </p:nvSpPr>
          <p:spPr>
            <a:xfrm>
              <a:off x="10533050" y="2477954"/>
              <a:ext cx="390889" cy="1222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位运算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3415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算术隐式转换规则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-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非整数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D629388B-A0FA-4935-A200-9BF72A71C0AB}"/>
              </a:ext>
            </a:extLst>
          </p:cNvPr>
          <p:cNvSpPr>
            <a:spLocks noGrp="1"/>
          </p:cNvSpPr>
          <p:nvPr/>
        </p:nvSpPr>
        <p:spPr>
          <a:xfrm>
            <a:off x="838199" y="1815465"/>
            <a:ext cx="10357965" cy="4351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dirty="0"/>
              <a:t>如果两个操作数类型不一样，则会发生隐式类型转换。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类型等级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complex &gt; imaginary &gt; long double &gt; double &gt; float &gt; </a:t>
            </a:r>
            <a:r>
              <a:rPr lang="zh-CN" altLang="en-US" dirty="0"/>
              <a:t>整数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低等级操作数转换到高等级，例如：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1.f + 2000000L;  // long int </a:t>
            </a:r>
            <a:r>
              <a:rPr lang="zh-CN" altLang="en-US" dirty="0"/>
              <a:t>转 </a:t>
            </a:r>
            <a:r>
              <a:rPr lang="en-US" altLang="zh-CN" dirty="0"/>
              <a:t>float</a:t>
            </a:r>
            <a:r>
              <a:rPr lang="zh-CN" altLang="en-US" dirty="0"/>
              <a:t>；执行 </a:t>
            </a:r>
            <a:r>
              <a:rPr lang="en-US" altLang="zh-CN" dirty="0"/>
              <a:t>float </a:t>
            </a:r>
            <a:r>
              <a:rPr lang="zh-CN" altLang="en-US" dirty="0"/>
              <a:t>加法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1.0 + 1.0f + 1; //</a:t>
            </a:r>
            <a:r>
              <a:rPr lang="zh-CN" altLang="en-US" dirty="0"/>
              <a:t>左结合，</a:t>
            </a:r>
            <a:r>
              <a:rPr lang="en-US" altLang="zh-CN" dirty="0"/>
              <a:t>float </a:t>
            </a:r>
            <a:r>
              <a:rPr lang="zh-CN" altLang="en-US" dirty="0"/>
              <a:t>转 </a:t>
            </a:r>
            <a:r>
              <a:rPr lang="en-US" altLang="zh-CN" dirty="0"/>
              <a:t>double</a:t>
            </a:r>
            <a:r>
              <a:rPr lang="zh-CN" altLang="en-US" dirty="0"/>
              <a:t>，执行</a:t>
            </a:r>
            <a:r>
              <a:rPr lang="en-US" altLang="zh-CN" dirty="0"/>
              <a:t>double</a:t>
            </a:r>
            <a:r>
              <a:rPr lang="zh-CN" altLang="en-US" dirty="0"/>
              <a:t>加法；</a:t>
            </a:r>
            <a:r>
              <a:rPr lang="en-US" altLang="zh-CN" dirty="0"/>
              <a:t>int </a:t>
            </a:r>
            <a:r>
              <a:rPr lang="zh-CN" altLang="en-US" dirty="0"/>
              <a:t>转 </a:t>
            </a:r>
            <a:r>
              <a:rPr lang="en-US" altLang="zh-CN" dirty="0"/>
              <a:t>double</a:t>
            </a:r>
            <a:r>
              <a:rPr lang="zh-CN" altLang="en-US" dirty="0"/>
              <a:t>，执行 </a:t>
            </a:r>
            <a:r>
              <a:rPr lang="en-US" altLang="zh-CN" dirty="0"/>
              <a:t>double </a:t>
            </a:r>
            <a:r>
              <a:rPr lang="zh-CN" altLang="en-US" dirty="0"/>
              <a:t>加法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应用：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两个整数 </a:t>
            </a:r>
            <a:r>
              <a:rPr lang="en-US" altLang="zh-CN" dirty="0" err="1">
                <a:solidFill>
                  <a:srgbClr val="C00000"/>
                </a:solidFill>
              </a:rPr>
              <a:t>i,j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dirty="0">
                <a:solidFill>
                  <a:srgbClr val="C00000"/>
                </a:solidFill>
              </a:rPr>
              <a:t>需要执行浮点除法，表达式写法：</a:t>
            </a:r>
            <a:endParaRPr lang="en-US" altLang="zh-CN" dirty="0">
              <a:solidFill>
                <a:srgbClr val="C00000"/>
              </a:solidFill>
            </a:endParaRPr>
          </a:p>
          <a:p>
            <a:pPr marL="457200" lvl="1" indent="0" algn="ctr">
              <a:lnSpc>
                <a:spcPct val="120000"/>
              </a:lnSpc>
              <a:buNone/>
            </a:pPr>
            <a:r>
              <a:rPr lang="en-US" altLang="zh-CN" dirty="0"/>
              <a:t>1.0 * </a:t>
            </a:r>
            <a:r>
              <a:rPr lang="en-US" altLang="zh-CN" dirty="0" err="1"/>
              <a:t>i</a:t>
            </a:r>
            <a:r>
              <a:rPr lang="en-US" altLang="zh-CN" dirty="0"/>
              <a:t> / j  </a:t>
            </a:r>
            <a:r>
              <a:rPr lang="zh-CN" altLang="en-US" dirty="0"/>
              <a:t>或  </a:t>
            </a:r>
            <a:r>
              <a:rPr lang="en-US" altLang="zh-CN" dirty="0"/>
              <a:t>(double)</a:t>
            </a:r>
            <a:r>
              <a:rPr lang="en-US" altLang="zh-CN" dirty="0" err="1"/>
              <a:t>i</a:t>
            </a:r>
            <a:r>
              <a:rPr lang="en-US" altLang="zh-CN" dirty="0"/>
              <a:t> / j</a:t>
            </a:r>
          </a:p>
        </p:txBody>
      </p:sp>
    </p:spTree>
    <p:extLst>
      <p:ext uri="{BB962C8B-B14F-4D97-AF65-F5344CB8AC3E}">
        <p14:creationId xmlns:p14="http://schemas.microsoft.com/office/powerpoint/2010/main" val="1698241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 dirty="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算术隐式转换（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Implicit Casting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）规则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-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整数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D629388B-A0FA-4935-A200-9BF72A71C0AB}"/>
              </a:ext>
            </a:extLst>
          </p:cNvPr>
          <p:cNvSpPr>
            <a:spLocks noGrp="1"/>
          </p:cNvSpPr>
          <p:nvPr/>
        </p:nvSpPr>
        <p:spPr>
          <a:xfrm>
            <a:off x="838200" y="1815465"/>
            <a:ext cx="52578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600" dirty="0"/>
              <a:t>整数类型等级</a:t>
            </a:r>
            <a:endParaRPr lang="en-US" altLang="zh-CN" sz="1600" dirty="0"/>
          </a:p>
          <a:p>
            <a:pPr lvl="1">
              <a:lnSpc>
                <a:spcPct val="120000"/>
              </a:lnSpc>
            </a:pPr>
            <a:r>
              <a:rPr lang="en-US" altLang="zh-CN" sz="1400" dirty="0"/>
              <a:t>long </a:t>
            </a:r>
            <a:r>
              <a:rPr lang="en-US" altLang="zh-CN" sz="1400" dirty="0" err="1"/>
              <a:t>long</a:t>
            </a:r>
            <a:r>
              <a:rPr lang="en-US" altLang="zh-CN" sz="1400" dirty="0"/>
              <a:t> &gt; long &gt;= int &gt;= short &gt; char </a:t>
            </a:r>
          </a:p>
          <a:p>
            <a:pPr>
              <a:lnSpc>
                <a:spcPct val="120000"/>
              </a:lnSpc>
            </a:pPr>
            <a:r>
              <a:rPr lang="zh-CN" altLang="en-US" sz="1600" dirty="0"/>
              <a:t>如果有高于 </a:t>
            </a:r>
            <a:r>
              <a:rPr lang="en-US" altLang="zh-CN" sz="1600" dirty="0"/>
              <a:t>int </a:t>
            </a:r>
            <a:r>
              <a:rPr lang="zh-CN" altLang="en-US" sz="1600" dirty="0"/>
              <a:t>等级，则低等级类型操作数转为高等级类型</a:t>
            </a:r>
            <a:endParaRPr lang="en-US" altLang="zh-CN" sz="1600" dirty="0"/>
          </a:p>
          <a:p>
            <a:pPr>
              <a:lnSpc>
                <a:spcPct val="120000"/>
              </a:lnSpc>
            </a:pPr>
            <a:r>
              <a:rPr lang="zh-CN" altLang="en-US" sz="1600" dirty="0"/>
              <a:t>否则操作数都自动转为对应的 </a:t>
            </a:r>
            <a:r>
              <a:rPr lang="en-US" altLang="zh-CN" sz="1600" dirty="0"/>
              <a:t>int </a:t>
            </a:r>
            <a:r>
              <a:rPr lang="zh-CN" altLang="en-US" sz="1600" dirty="0"/>
              <a:t>或 </a:t>
            </a:r>
            <a:r>
              <a:rPr lang="en-US" altLang="zh-CN" sz="1600" dirty="0"/>
              <a:t>unsigned int</a:t>
            </a:r>
            <a:r>
              <a:rPr lang="zh-CN" altLang="en-US" sz="1600" dirty="0"/>
              <a:t>，称为</a:t>
            </a:r>
            <a:r>
              <a:rPr lang="zh-CN" altLang="en-US" sz="1600" b="1" dirty="0">
                <a:solidFill>
                  <a:srgbClr val="C00000"/>
                </a:solidFill>
              </a:rPr>
              <a:t>整数提升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 lvl="1">
              <a:lnSpc>
                <a:spcPct val="120000"/>
              </a:lnSpc>
            </a:pPr>
            <a:r>
              <a:rPr lang="zh-CN" altLang="en-US" sz="1200" dirty="0"/>
              <a:t>提升后运算，</a:t>
            </a:r>
            <a:r>
              <a:rPr lang="en-US" altLang="zh-CN" sz="1200" dirty="0"/>
              <a:t>unsigned </a:t>
            </a:r>
            <a:r>
              <a:rPr lang="zh-CN" altLang="en-US" sz="1200" dirty="0"/>
              <a:t>优先</a:t>
            </a:r>
            <a:endParaRPr lang="en-US" altLang="zh-CN" sz="1200" dirty="0"/>
          </a:p>
          <a:p>
            <a:pPr>
              <a:lnSpc>
                <a:spcPct val="120000"/>
              </a:lnSpc>
            </a:pPr>
            <a:r>
              <a:rPr lang="zh-CN" altLang="en-US" sz="1600" dirty="0"/>
              <a:t>例如：</a:t>
            </a:r>
            <a:endParaRPr lang="en-US" altLang="zh-CN" sz="1600" dirty="0"/>
          </a:p>
          <a:p>
            <a:pPr lvl="1">
              <a:lnSpc>
                <a:spcPct val="120000"/>
              </a:lnSpc>
            </a:pPr>
            <a:r>
              <a:rPr lang="en-US" altLang="zh-CN" sz="1400" dirty="0" err="1"/>
              <a:t>a_char</a:t>
            </a:r>
            <a:r>
              <a:rPr lang="en-US" altLang="zh-CN" sz="1400" dirty="0"/>
              <a:t> +</a:t>
            </a:r>
            <a:r>
              <a:rPr lang="zh-CN" altLang="en-US" sz="1400" dirty="0"/>
              <a:t>‘</a:t>
            </a:r>
            <a:r>
              <a:rPr lang="en-US" altLang="zh-CN" sz="1400" dirty="0"/>
              <a:t>a</a:t>
            </a:r>
            <a:r>
              <a:rPr lang="zh-CN" altLang="en-US" sz="1400" dirty="0"/>
              <a:t>’</a:t>
            </a:r>
            <a:r>
              <a:rPr lang="en-US" altLang="zh-CN" sz="1400" dirty="0"/>
              <a:t>//</a:t>
            </a:r>
            <a:r>
              <a:rPr lang="zh-CN" altLang="en-US" sz="1400" dirty="0"/>
              <a:t>两个操作数转为</a:t>
            </a:r>
            <a:r>
              <a:rPr lang="en-US" altLang="zh-CN" sz="1400" dirty="0"/>
              <a:t>int</a:t>
            </a:r>
          </a:p>
          <a:p>
            <a:pPr lvl="1">
              <a:lnSpc>
                <a:spcPct val="120000"/>
              </a:lnSpc>
            </a:pPr>
            <a:r>
              <a:rPr lang="en-US" altLang="zh-CN" sz="1400" dirty="0"/>
              <a:t>2 + 3LLU //</a:t>
            </a:r>
            <a:r>
              <a:rPr lang="zh-CN" altLang="en-US" sz="1400" dirty="0"/>
              <a:t> </a:t>
            </a:r>
            <a:r>
              <a:rPr lang="en-US" altLang="zh-CN" sz="1400" dirty="0"/>
              <a:t>int</a:t>
            </a:r>
            <a:r>
              <a:rPr lang="zh-CN" altLang="en-US" sz="1400" dirty="0"/>
              <a:t> 转为 </a:t>
            </a:r>
            <a:r>
              <a:rPr lang="en-US" altLang="zh-CN" sz="1400" dirty="0"/>
              <a:t>unsigned long </a:t>
            </a:r>
            <a:r>
              <a:rPr lang="en-US" altLang="zh-CN" sz="1400" dirty="0" err="1"/>
              <a:t>long</a:t>
            </a:r>
            <a:endParaRPr lang="en-US" altLang="zh-CN" sz="1400" dirty="0"/>
          </a:p>
          <a:p>
            <a:pPr lvl="1">
              <a:lnSpc>
                <a:spcPct val="120000"/>
              </a:lnSpc>
            </a:pPr>
            <a:r>
              <a:rPr lang="en-US" altLang="zh-CN" sz="1400" dirty="0"/>
              <a:t>2u – 10 // 10 </a:t>
            </a:r>
            <a:r>
              <a:rPr lang="zh-CN" altLang="en-US" sz="1400" dirty="0"/>
              <a:t>转为 </a:t>
            </a:r>
            <a:r>
              <a:rPr lang="en-US" altLang="zh-CN" sz="1400" dirty="0"/>
              <a:t>unsigned int</a:t>
            </a:r>
            <a:r>
              <a:rPr lang="zh-CN" altLang="en-US" sz="1400" dirty="0"/>
              <a:t>，结果是</a:t>
            </a:r>
            <a:r>
              <a:rPr lang="en-US" altLang="zh-CN" sz="1400" dirty="0"/>
              <a:t>4294967288 </a:t>
            </a:r>
            <a:r>
              <a:rPr lang="zh-CN" altLang="en-US" sz="1400" dirty="0"/>
              <a:t>（即 </a:t>
            </a:r>
            <a:r>
              <a:rPr lang="en-US" altLang="zh-CN" sz="1400" dirty="0"/>
              <a:t>UINT_MAX-7 </a:t>
            </a:r>
            <a:r>
              <a:rPr lang="zh-CN" altLang="en-US" sz="1400" dirty="0"/>
              <a:t>）</a:t>
            </a:r>
            <a:endParaRPr lang="en-US" altLang="zh-CN" sz="1400" dirty="0"/>
          </a:p>
          <a:p>
            <a:pPr lvl="1">
              <a:lnSpc>
                <a:spcPct val="120000"/>
              </a:lnSpc>
            </a:pPr>
            <a:r>
              <a:rPr lang="en-US" altLang="zh-CN" sz="1400" dirty="0"/>
              <a:t>2u – 10LL </a:t>
            </a:r>
            <a:r>
              <a:rPr lang="zh-CN" altLang="en-US" sz="1400" dirty="0"/>
              <a:t> </a:t>
            </a:r>
            <a:r>
              <a:rPr lang="en-US" altLang="zh-CN" sz="1400" dirty="0"/>
              <a:t>//</a:t>
            </a:r>
            <a:r>
              <a:rPr lang="zh-CN" altLang="en-US" sz="1400" dirty="0"/>
              <a:t> </a:t>
            </a:r>
            <a:r>
              <a:rPr lang="en-US" altLang="zh-CN" sz="1400" dirty="0"/>
              <a:t>2 </a:t>
            </a:r>
            <a:r>
              <a:rPr lang="zh-CN" altLang="en-US" sz="1400" dirty="0"/>
              <a:t>从 </a:t>
            </a:r>
            <a:r>
              <a:rPr lang="en-US" altLang="zh-CN" sz="1400" dirty="0"/>
              <a:t>unsigned </a:t>
            </a:r>
            <a:r>
              <a:rPr lang="zh-CN" altLang="en-US" sz="1400" dirty="0"/>
              <a:t>转 </a:t>
            </a:r>
            <a:r>
              <a:rPr lang="en-US" altLang="zh-CN" sz="1400" dirty="0"/>
              <a:t>long </a:t>
            </a:r>
            <a:r>
              <a:rPr lang="en-US" altLang="zh-CN" sz="1400" dirty="0" err="1"/>
              <a:t>long</a:t>
            </a:r>
            <a:r>
              <a:rPr lang="zh-CN" altLang="en-US" sz="1400" dirty="0"/>
              <a:t>，结果是 </a:t>
            </a:r>
            <a:r>
              <a:rPr lang="en-US" altLang="zh-CN" sz="1400" dirty="0"/>
              <a:t>-8</a:t>
            </a:r>
            <a:r>
              <a:rPr lang="zh-CN" altLang="en-US" sz="1400" dirty="0"/>
              <a:t> </a:t>
            </a:r>
            <a:endParaRPr lang="en-US" altLang="zh-CN" sz="1400" dirty="0"/>
          </a:p>
          <a:p>
            <a:pPr lvl="1">
              <a:lnSpc>
                <a:spcPct val="120000"/>
              </a:lnSpc>
            </a:pPr>
            <a:endParaRPr lang="en-US" altLang="zh-CN" sz="1400" dirty="0"/>
          </a:p>
          <a:p>
            <a:pPr lvl="1">
              <a:lnSpc>
                <a:spcPct val="120000"/>
              </a:lnSpc>
            </a:pPr>
            <a:endParaRPr lang="en-US" altLang="zh-CN" sz="1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44849E8-ED6C-43D3-B728-859A8A04B8C0}"/>
              </a:ext>
            </a:extLst>
          </p:cNvPr>
          <p:cNvSpPr txBox="1"/>
          <p:nvPr/>
        </p:nvSpPr>
        <p:spPr>
          <a:xfrm>
            <a:off x="6486308" y="1752644"/>
            <a:ext cx="4507433" cy="313932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/*ops arithmetic int promotions*/ </a:t>
            </a: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#include &lt;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int main() {</a:t>
            </a: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    char 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i,j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    /*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请分别输入 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1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，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2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，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100</a:t>
            </a:r>
            <a:r>
              <a:rPr lang="zh-CN" altLang="en-US" b="0" dirty="0">
                <a:effectLst/>
                <a:latin typeface="Consolas" panose="020B0609020204030204" pitchFamily="49" charset="0"/>
              </a:rPr>
              <a:t>，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129 */</a:t>
            </a: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    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scanf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("%d",&amp;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    j = 255 * 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    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("%d,%d,%0x\n",j,255 *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        255 *</a:t>
            </a:r>
            <a:r>
              <a:rPr lang="en-US" altLang="zh-CN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C2F1583-EB14-491A-A1D1-779709DB8C51}"/>
              </a:ext>
            </a:extLst>
          </p:cNvPr>
          <p:cNvSpPr txBox="1"/>
          <p:nvPr/>
        </p:nvSpPr>
        <p:spPr>
          <a:xfrm>
            <a:off x="6486308" y="4937260"/>
            <a:ext cx="4507433" cy="120032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-1,255,ff</a:t>
            </a:r>
          </a:p>
          <a:p>
            <a:r>
              <a:rPr lang="en-US" altLang="zh-CN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-2,510,1fe</a:t>
            </a:r>
          </a:p>
          <a:p>
            <a:r>
              <a:rPr lang="en-US" altLang="zh-CN" dirty="0">
                <a:solidFill>
                  <a:prstClr val="black"/>
                </a:solidFill>
                <a:latin typeface="Lucida Console" panose="020B0609040504020204" pitchFamily="49" charset="0"/>
              </a:rPr>
              <a:t>-</a:t>
            </a:r>
            <a:r>
              <a:rPr lang="en-US" altLang="zh-CN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100,25500,639c</a:t>
            </a:r>
          </a:p>
          <a:p>
            <a:r>
              <a:rPr lang="en-US" altLang="zh-CN" sz="1800" dirty="0">
                <a:solidFill>
                  <a:prstClr val="black"/>
                </a:solidFill>
                <a:latin typeface="Lucida Console" panose="020B0609040504020204" pitchFamily="49" charset="0"/>
              </a:rPr>
              <a:t>127,-32385,ffff817f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730B12E-6618-4EEC-BB58-8EF389AFDCAD}"/>
              </a:ext>
            </a:extLst>
          </p:cNvPr>
          <p:cNvSpPr txBox="1"/>
          <p:nvPr/>
        </p:nvSpPr>
        <p:spPr>
          <a:xfrm>
            <a:off x="523474" y="6268839"/>
            <a:ext cx="3130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hlinkClick r:id="rId4"/>
              </a:rPr>
              <a:t>隐式转换 </a:t>
            </a:r>
            <a:r>
              <a:rPr lang="en-US" altLang="zh-CN" dirty="0">
                <a:hlinkClick r:id="rId4"/>
              </a:rPr>
              <a:t>- cppreference.com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2272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显式类型转换（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Explicit Casting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D629388B-A0FA-4935-A200-9BF72A71C0AB}"/>
              </a:ext>
            </a:extLst>
          </p:cNvPr>
          <p:cNvSpPr>
            <a:spLocks noGrp="1"/>
          </p:cNvSpPr>
          <p:nvPr/>
        </p:nvSpPr>
        <p:spPr>
          <a:xfrm>
            <a:off x="838200" y="1815465"/>
            <a:ext cx="6535994" cy="4351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dirty="0"/>
              <a:t>从一种类型转变为另一种兼容类型。</a:t>
            </a: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例如：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(double)</a:t>
            </a:r>
            <a:r>
              <a:rPr lang="en-US" altLang="zh-CN" dirty="0" err="1"/>
              <a:t>i</a:t>
            </a:r>
            <a:endParaRPr lang="en-US" altLang="zh-CN" dirty="0"/>
          </a:p>
          <a:p>
            <a:pPr lvl="1" algn="l">
              <a:lnSpc>
                <a:spcPct val="120000"/>
              </a:lnSpc>
            </a:pPr>
            <a:r>
              <a:rPr lang="en-US" altLang="zh-CN" dirty="0"/>
              <a:t>(long long)(</a:t>
            </a:r>
            <a:r>
              <a:rPr lang="en-US" altLang="zh-CN" dirty="0" err="1"/>
              <a:t>i+j</a:t>
            </a:r>
            <a:r>
              <a:rPr lang="en-US" altLang="zh-CN" dirty="0"/>
              <a:t>)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隐式类型转换主要是方便我们书写</a:t>
            </a:r>
            <a:r>
              <a:rPr lang="zh-CN" altLang="en-US" dirty="0">
                <a:solidFill>
                  <a:srgbClr val="C00000"/>
                </a:solidFill>
              </a:rPr>
              <a:t>习惯的</a:t>
            </a:r>
            <a:r>
              <a:rPr lang="zh-CN" altLang="en-US" dirty="0"/>
              <a:t>算术表达式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当需要指定操作数类型时，则可采用显式转换</a:t>
            </a: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 lvl="1"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E014C62-1FFB-4B08-9076-4C990917F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4355" y="1942226"/>
            <a:ext cx="4610500" cy="273581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1911650-CB7A-408F-B026-F6775A7CC7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2187" y="2259432"/>
            <a:ext cx="4078852" cy="165036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143D0062-83C3-44AC-9D26-245C05F06748}"/>
              </a:ext>
            </a:extLst>
          </p:cNvPr>
          <p:cNvSpPr txBox="1"/>
          <p:nvPr/>
        </p:nvSpPr>
        <p:spPr>
          <a:xfrm>
            <a:off x="880985" y="6210934"/>
            <a:ext cx="6323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6"/>
              </a:rPr>
              <a:t>转型运算符 </a:t>
            </a:r>
            <a:r>
              <a:rPr lang="en-US" altLang="zh-CN" dirty="0">
                <a:hlinkClick r:id="rId6"/>
              </a:rPr>
              <a:t>- cppreference.com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7808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算术运算符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求商与取余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25752" y="1774008"/>
            <a:ext cx="103846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假设变量 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的值为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，变量 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的值为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676540"/>
              </p:ext>
            </p:extLst>
          </p:nvPr>
        </p:nvGraphicFramePr>
        <p:xfrm>
          <a:off x="1731043" y="2700101"/>
          <a:ext cx="81279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3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13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dirty="0">
                          <a:solidFill>
                            <a:srgbClr val="FFFFFF"/>
                          </a:solidFill>
                          <a:effectLst/>
                        </a:rPr>
                        <a:t>运算符</a:t>
                      </a:r>
                    </a:p>
                  </a:txBody>
                  <a:tcPr marL="11430" marR="11430" marT="11430" marB="1143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dirty="0">
                          <a:solidFill>
                            <a:srgbClr val="FFFFFF"/>
                          </a:solidFill>
                          <a:effectLst/>
                        </a:rPr>
                        <a:t>描述</a:t>
                      </a:r>
                    </a:p>
                  </a:txBody>
                  <a:tcPr marL="11430" marR="11430" marT="11430" marB="1143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dirty="0">
                          <a:solidFill>
                            <a:srgbClr val="FFFFFF"/>
                          </a:solidFill>
                          <a:effectLst/>
                        </a:rPr>
                        <a:t>实例</a:t>
                      </a:r>
                    </a:p>
                  </a:txBody>
                  <a:tcPr marL="11430" marR="11430" marT="11430" marB="1143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dirty="0">
                          <a:effectLst/>
                        </a:rPr>
                        <a:t>+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</a:rPr>
                        <a:t>把两个操作数相加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A + B </a:t>
                      </a:r>
                      <a:r>
                        <a:rPr lang="zh-CN" altLang="en-US">
                          <a:effectLst/>
                        </a:rPr>
                        <a:t>将得到 </a:t>
                      </a:r>
                      <a:r>
                        <a:rPr lang="en-US" altLang="zh-CN">
                          <a:effectLst/>
                        </a:rPr>
                        <a:t>30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>
                          <a:effectLst/>
                        </a:rPr>
                        <a:t>-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</a:rPr>
                        <a:t>从第一个操作数中减去第二个操作数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A - B </a:t>
                      </a:r>
                      <a:r>
                        <a:rPr lang="zh-CN" altLang="en-US">
                          <a:effectLst/>
                        </a:rPr>
                        <a:t>将得到 </a:t>
                      </a:r>
                      <a:r>
                        <a:rPr lang="en-US" altLang="zh-CN">
                          <a:effectLst/>
                        </a:rPr>
                        <a:t>-10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dirty="0">
                          <a:effectLst/>
                        </a:rPr>
                        <a:t>*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</a:rPr>
                        <a:t>把两个操作数相乘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A * B </a:t>
                      </a:r>
                      <a:r>
                        <a:rPr lang="zh-CN" altLang="en-US">
                          <a:effectLst/>
                        </a:rPr>
                        <a:t>将得到 </a:t>
                      </a:r>
                      <a:r>
                        <a:rPr lang="en-US" altLang="zh-CN">
                          <a:effectLst/>
                        </a:rPr>
                        <a:t>200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</a:rPr>
                        <a:t>/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solidFill>
                            <a:srgbClr val="FF0000"/>
                          </a:solidFill>
                          <a:effectLst/>
                        </a:rPr>
                        <a:t>分子除以分母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rgbClr val="FF0000"/>
                          </a:solidFill>
                          <a:effectLst/>
                        </a:rPr>
                        <a:t>B / A </a:t>
                      </a:r>
                      <a:r>
                        <a:rPr lang="zh-CN" altLang="en-US">
                          <a:solidFill>
                            <a:srgbClr val="FF0000"/>
                          </a:solidFill>
                          <a:effectLst/>
                        </a:rPr>
                        <a:t>将得到 </a:t>
                      </a:r>
                      <a:r>
                        <a:rPr lang="en-US" altLang="zh-CN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>
                          <a:solidFill>
                            <a:srgbClr val="FF0000"/>
                          </a:solidFill>
                          <a:effectLst/>
                        </a:rPr>
                        <a:t>%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solidFill>
                            <a:srgbClr val="FF0000"/>
                          </a:solidFill>
                          <a:effectLst/>
                        </a:rPr>
                        <a:t>取模运算符，整除后的余数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</a:rPr>
                        <a:t>B % A 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  <a:effectLst/>
                        </a:rPr>
                        <a:t>将得到 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7C22FB5-C816-E633-A088-AE25AE43A4D7}"/>
                  </a:ext>
                </a:extLst>
              </p:cNvPr>
              <p:cNvSpPr txBox="1"/>
              <p:nvPr/>
            </p:nvSpPr>
            <p:spPr>
              <a:xfrm>
                <a:off x="1731043" y="5028287"/>
                <a:ext cx="812799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“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” 分为整数除法和浮点除法。例如：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25 / 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 = 1 … … 5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25.0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1.2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在</a:t>
                </a:r>
                <a:r>
                  <a:rPr lang="en-US" altLang="zh-CN" dirty="0"/>
                  <a:t>C</a:t>
                </a:r>
                <a:r>
                  <a:rPr lang="zh-CN" altLang="en-US" dirty="0"/>
                  <a:t>语言中，如果操作数是整数，表达式 </a:t>
                </a:r>
                <a:r>
                  <a:rPr lang="en-US" altLang="zh-CN" dirty="0"/>
                  <a:t>25 / B </a:t>
                </a:r>
                <a:r>
                  <a:rPr lang="zh-CN" altLang="en-US" dirty="0"/>
                  <a:t>得到商 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；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25 % B 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得到余数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5</a:t>
                </a:r>
              </a:p>
              <a:p>
                <a:r>
                  <a:rPr lang="zh-CN" altLang="en-US" dirty="0"/>
                  <a:t>如果操作数是浮点数， 表达式 </a:t>
                </a:r>
                <a:r>
                  <a:rPr lang="en-US" altLang="zh-CN" dirty="0"/>
                  <a:t>25.0 / B </a:t>
                </a:r>
                <a:r>
                  <a:rPr lang="zh-CN" altLang="en-US" dirty="0"/>
                  <a:t>得到实数商</a:t>
                </a:r>
                <a:r>
                  <a:rPr lang="en-US" altLang="zh-CN" dirty="0"/>
                  <a:t> 1.25</a:t>
                </a:r>
                <a:r>
                  <a:rPr lang="zh-CN" altLang="en-US" dirty="0"/>
                  <a:t>；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% 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运算为非法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7C22FB5-C816-E633-A088-AE25AE43A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1043" y="5028287"/>
                <a:ext cx="8127999" cy="1200329"/>
              </a:xfrm>
              <a:prstGeom prst="rect">
                <a:avLst/>
              </a:prstGeom>
              <a:blipFill>
                <a:blip r:embed="rId4"/>
                <a:stretch>
                  <a:fillRect l="-675" t="-3046" b="-7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算术运算符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-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案例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1</a:t>
            </a:r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26243" y="1736901"/>
            <a:ext cx="6653524" cy="4247317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/*ops arithmetic examples*/ 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#include &lt;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 main() { 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int a = 20; 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int b = 10; 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int c ; 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c = a + b; 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("Line 1 - c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的值是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%d\n", c ); 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c = a - b; 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("Line 2 - c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的值是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%d\n", c ); 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c = a * b; 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("Line 3 - c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的值是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%d\n", c ); 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c = a / b; 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("Line 4 - c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的值是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%d\n", c ); 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c = a % b; 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("Line 5 - c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的值是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%d\n", c ); 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zh-CN" altLang="en-US" b="1" dirty="0">
              <a:latin typeface="Consolas" panose="020B0609020204030204" pitchFamily="49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7356605" y="2458267"/>
            <a:ext cx="4178364" cy="2250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7610" rIns="91440" bIns="4761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左侧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的代码被编译和执行时，它会产生下列结果：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660066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c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的值是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c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的值是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c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的值是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c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的值是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c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的值是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00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A39DFBB-06AF-527F-FAA6-6D59989DBFC6}"/>
              </a:ext>
            </a:extLst>
          </p:cNvPr>
          <p:cNvSpPr txBox="1"/>
          <p:nvPr/>
        </p:nvSpPr>
        <p:spPr>
          <a:xfrm>
            <a:off x="326243" y="6519446"/>
            <a:ext cx="12025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err="1">
                <a:solidFill>
                  <a:schemeClr val="bg1">
                    <a:lumMod val="65000"/>
                  </a:schemeClr>
                </a:solidFill>
              </a:rPr>
              <a:t>arithmetic.c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算术运算符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-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案例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2</a:t>
            </a:r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99776" y="1730636"/>
            <a:ext cx="9792448" cy="4524315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/*ops arithmetic quotient*/ 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#include &lt;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 main() { 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int a = 0123456; 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int 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3;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("input a octal:");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("%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o",&amp;a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b="0" i="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/*calculate the </a:t>
            </a:r>
            <a:r>
              <a:rPr lang="en-US" altLang="zh-CN" b="0" i="0" dirty="0" err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i'th</a:t>
            </a:r>
            <a:r>
              <a:rPr lang="en-US" altLang="zh-CN" b="0" i="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 number*/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int q = a &gt;&gt; (3 * (i-1)); </a:t>
            </a:r>
            <a:r>
              <a:rPr lang="en-US" altLang="zh-CN" b="0" i="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//a / 8^(i-1)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int r = q % 8; </a:t>
            </a:r>
          </a:p>
          <a:p>
            <a:endParaRPr lang="en-US" altLang="zh-CN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("The %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i'th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number of the octal %o is %d.",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i,a,r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zh-CN" altLang="en-US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3165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位运算符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90758" y="1920815"/>
            <a:ext cx="103846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什么是位运算？位运算符作用于位，并逐位执行操作。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^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的真值表如下所示：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82606"/>
              </p:ext>
            </p:extLst>
          </p:nvPr>
        </p:nvGraphicFramePr>
        <p:xfrm>
          <a:off x="1815474" y="2812412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</a:t>
                      </a:r>
                    </a:p>
                  </a:txBody>
                  <a:tcPr marL="11430" marR="11430" marT="11430" marB="1143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</a:t>
                      </a:r>
                    </a:p>
                  </a:txBody>
                  <a:tcPr marL="11430" marR="11430" marT="11430" marB="1143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 &amp; q</a:t>
                      </a:r>
                    </a:p>
                  </a:txBody>
                  <a:tcPr marL="11430" marR="11430" marT="11430" marB="1143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 | q</a:t>
                      </a:r>
                    </a:p>
                  </a:txBody>
                  <a:tcPr marL="11430" marR="11430" marT="11430" marB="1143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 ^ q</a:t>
                      </a:r>
                    </a:p>
                  </a:txBody>
                  <a:tcPr marL="11430" marR="11430" marT="11430" marB="1143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0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0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AF75A946-EA5D-EF46-53B3-730F0DD463D3}"/>
              </a:ext>
            </a:extLst>
          </p:cNvPr>
          <p:cNvSpPr txBox="1"/>
          <p:nvPr/>
        </p:nvSpPr>
        <p:spPr>
          <a:xfrm>
            <a:off x="2080009" y="4865826"/>
            <a:ext cx="75362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一句话记忆位运算：</a:t>
            </a:r>
            <a:endParaRPr lang="en-US" altLang="zh-CN" dirty="0"/>
          </a:p>
          <a:p>
            <a:r>
              <a:rPr lang="zh-CN" altLang="en-US" b="1" dirty="0"/>
              <a:t>“与” 运算</a:t>
            </a:r>
            <a:r>
              <a:rPr lang="zh-CN" altLang="en-US" dirty="0"/>
              <a:t>：操作数全为 </a:t>
            </a:r>
            <a:r>
              <a:rPr lang="en-US" altLang="zh-CN" dirty="0"/>
              <a:t>1 </a:t>
            </a:r>
            <a:r>
              <a:rPr lang="zh-CN" altLang="en-US" dirty="0"/>
              <a:t>结果为 </a:t>
            </a:r>
            <a:r>
              <a:rPr lang="en-US" altLang="zh-CN" dirty="0"/>
              <a:t>1</a:t>
            </a:r>
            <a:r>
              <a:rPr lang="zh-CN" altLang="en-US" dirty="0"/>
              <a:t>；操作数有一个为 </a:t>
            </a:r>
            <a:r>
              <a:rPr lang="en-US" altLang="zh-CN" dirty="0"/>
              <a:t>0 </a:t>
            </a:r>
            <a:r>
              <a:rPr lang="zh-CN" altLang="en-US" dirty="0"/>
              <a:t>结果为 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b="1" dirty="0"/>
              <a:t>“或” 运算</a:t>
            </a:r>
            <a:r>
              <a:rPr lang="zh-CN" altLang="en-US" dirty="0"/>
              <a:t>：操作数有一个为 </a:t>
            </a:r>
            <a:r>
              <a:rPr lang="en-US" altLang="zh-CN" dirty="0"/>
              <a:t>1 </a:t>
            </a:r>
            <a:r>
              <a:rPr lang="zh-CN" altLang="en-US" dirty="0"/>
              <a:t>结果为 </a:t>
            </a:r>
            <a:r>
              <a:rPr lang="en-US" altLang="zh-CN" dirty="0"/>
              <a:t>1</a:t>
            </a:r>
            <a:r>
              <a:rPr lang="zh-CN" altLang="en-US" dirty="0"/>
              <a:t>；操作数都为</a:t>
            </a:r>
            <a:r>
              <a:rPr lang="en-US" altLang="zh-CN" dirty="0"/>
              <a:t>·0 </a:t>
            </a:r>
            <a:r>
              <a:rPr lang="zh-CN" altLang="en-US" dirty="0"/>
              <a:t>结果为 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b="1" dirty="0"/>
              <a:t>“异或” 运算</a:t>
            </a:r>
            <a:r>
              <a:rPr lang="zh-CN" altLang="en-US" dirty="0"/>
              <a:t>：操作数相异结果为 </a:t>
            </a:r>
            <a:r>
              <a:rPr lang="en-US" altLang="zh-CN" dirty="0"/>
              <a:t>1</a:t>
            </a:r>
            <a:r>
              <a:rPr lang="zh-CN" altLang="en-US" dirty="0"/>
              <a:t>；反之为 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99800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位运算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-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例子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856938" y="2605351"/>
            <a:ext cx="3307730" cy="3046988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latinLnBrk="1"/>
            <a:r>
              <a:rPr lang="pt-BR" altLang="zh-CN" sz="2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 =   0011 1100</a:t>
            </a:r>
          </a:p>
          <a:p>
            <a:pPr algn="l" latinLnBrk="1"/>
            <a:r>
              <a:rPr lang="pt-BR" altLang="zh-CN" sz="2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B =   0000 1101</a:t>
            </a:r>
          </a:p>
          <a:p>
            <a:pPr algn="l" latinLnBrk="1"/>
            <a:r>
              <a:rPr lang="pt-BR" altLang="zh-CN" sz="2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-----------------</a:t>
            </a:r>
          </a:p>
          <a:p>
            <a:pPr algn="l" latinLnBrk="1"/>
            <a:r>
              <a:rPr lang="pt-BR" altLang="zh-CN" sz="2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A&amp;B = 0000 1100</a:t>
            </a:r>
          </a:p>
          <a:p>
            <a:pPr algn="l" latinLnBrk="1"/>
            <a:r>
              <a:rPr lang="pt-BR" altLang="zh-CN" sz="2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A|B = 0011 1101</a:t>
            </a:r>
          </a:p>
          <a:p>
            <a:pPr algn="l" latinLnBrk="1"/>
            <a:r>
              <a:rPr lang="pt-BR" altLang="zh-CN" sz="2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A^B = 0011 0001</a:t>
            </a:r>
          </a:p>
          <a:p>
            <a:pPr algn="l" latinLnBrk="1"/>
            <a:r>
              <a:rPr lang="pt-BR" altLang="zh-CN" sz="2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~A  = 1100 0011</a:t>
            </a:r>
          </a:p>
          <a:p>
            <a:endParaRPr lang="zh-CN" altLang="en-US" sz="2400" b="1" dirty="0">
              <a:latin typeface="Consolas" panose="020B0609020204030204" pitchFamily="49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5889943" y="3563523"/>
            <a:ext cx="5090232" cy="711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7610" rIns="91440" bIns="4761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 </a:t>
            </a:r>
            <a:r>
              <a:rPr lang="en-US" altLang="zh-CN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= 60</a:t>
            </a:r>
            <a:r>
              <a:rPr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，且 </a:t>
            </a:r>
            <a:r>
              <a:rPr lang="en-US" altLang="zh-CN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= 13</a:t>
            </a:r>
            <a:r>
              <a:rPr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，现在以二进制格式表示，它们如左所示。</a:t>
            </a:r>
            <a:endParaRPr lang="zh-CN" altLang="zh-CN" sz="20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87632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位运算符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25752" y="1774008"/>
            <a:ext cx="103846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假设变量 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的值为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，变量 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的值为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935162"/>
              </p:ext>
            </p:extLst>
          </p:nvPr>
        </p:nvGraphicFramePr>
        <p:xfrm>
          <a:off x="1731043" y="2700101"/>
          <a:ext cx="8127999" cy="346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3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13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1400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运算符</a:t>
                      </a:r>
                    </a:p>
                  </a:txBody>
                  <a:tcPr marL="11430" marR="11430" marT="11430" marB="1143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40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11430" marR="11430" marT="11430" marB="1143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40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实例</a:t>
                      </a:r>
                    </a:p>
                  </a:txBody>
                  <a:tcPr marL="11430" marR="11430" marT="11430" marB="1143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</a:t>
                      </a:r>
                    </a:p>
                  </a:txBody>
                  <a:tcPr marL="19050" marR="19050" marT="26670" marB="26670" anchor="ctr"/>
                </a:tc>
                <a:tc>
                  <a:txBody>
                    <a:bodyPr/>
                    <a:lstStyle/>
                    <a:p>
                      <a:pPr fontAlgn="t" latinLnBrk="1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按位与操作，按二进制位进行</a:t>
                      </a:r>
                      <a:r>
                        <a:rPr lang="en-US" altLang="zh-CN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</a:t>
                      </a:r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</a:t>
                      </a:r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运算。运算规则：</a:t>
                      </a:r>
                    </a:p>
                    <a:p>
                      <a:pPr fontAlgn="t"/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altLang="en-US" sz="14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9050" marR="19050" marT="26670" marB="26670" anchor="ctr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(A &amp; B) </a:t>
                      </a:r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将得到 </a:t>
                      </a:r>
                      <a:r>
                        <a:rPr lang="en-US" altLang="zh-CN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，即为 </a:t>
                      </a:r>
                      <a:r>
                        <a:rPr lang="en-US" altLang="zh-CN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0000 1100</a:t>
                      </a:r>
                    </a:p>
                  </a:txBody>
                  <a:tcPr marL="19050" marR="19050" marT="26670" marB="2667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|</a:t>
                      </a:r>
                    </a:p>
                  </a:txBody>
                  <a:tcPr marL="19050" marR="19050" marT="26670" marB="26670" anchor="ctr"/>
                </a:tc>
                <a:tc>
                  <a:txBody>
                    <a:bodyPr/>
                    <a:lstStyle/>
                    <a:p>
                      <a:pPr fontAlgn="t" latinLnBrk="1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按位或运算符，按二进制位进行</a:t>
                      </a:r>
                      <a:r>
                        <a:rPr lang="en-US" altLang="zh-CN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</a:t>
                      </a:r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altLang="zh-CN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</a:t>
                      </a:r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运算。运算规则：</a:t>
                      </a:r>
                    </a:p>
                    <a:p>
                      <a:pPr fontAlgn="t"/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|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|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|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|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altLang="en-US" sz="14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9050" marR="19050" marT="26670" marB="26670" anchor="ctr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(A | B) </a:t>
                      </a:r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将得到 </a:t>
                      </a:r>
                      <a:r>
                        <a:rPr lang="en-US" altLang="zh-CN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61</a:t>
                      </a:r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，即为 </a:t>
                      </a:r>
                      <a:r>
                        <a:rPr lang="en-US" altLang="zh-CN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0011 1101</a:t>
                      </a:r>
                    </a:p>
                  </a:txBody>
                  <a:tcPr marL="19050" marR="19050" marT="26670" marB="2667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^</a:t>
                      </a:r>
                    </a:p>
                  </a:txBody>
                  <a:tcPr marL="19050" marR="19050" marT="26670" marB="26670" anchor="ctr"/>
                </a:tc>
                <a:tc>
                  <a:txBody>
                    <a:bodyPr/>
                    <a:lstStyle/>
                    <a:p>
                      <a:pPr fontAlgn="t" latinLnBrk="1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异或运算符，按二进制位进行</a:t>
                      </a:r>
                      <a:r>
                        <a:rPr lang="en-US" altLang="zh-CN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</a:t>
                      </a:r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异或</a:t>
                      </a:r>
                      <a:r>
                        <a:rPr lang="en-US" altLang="zh-CN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</a:t>
                      </a:r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运算。运算规则：</a:t>
                      </a:r>
                    </a:p>
                    <a:p>
                      <a:pPr fontAlgn="t"/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^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^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^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^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altLang="en-US" sz="14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9050" marR="19050" marT="26670" marB="26670" anchor="ctr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(A ^ B) </a:t>
                      </a:r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将得到 </a:t>
                      </a:r>
                      <a:r>
                        <a:rPr lang="en-US" altLang="zh-CN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49</a:t>
                      </a:r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，即为 </a:t>
                      </a:r>
                      <a:r>
                        <a:rPr lang="en-US" altLang="zh-CN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0011 0001</a:t>
                      </a:r>
                    </a:p>
                  </a:txBody>
                  <a:tcPr marL="19050" marR="19050" marT="26670" marB="2667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~</a:t>
                      </a:r>
                    </a:p>
                  </a:txBody>
                  <a:tcPr marL="19050" marR="19050" marT="26670" marB="26670" anchor="ctr"/>
                </a:tc>
                <a:tc>
                  <a:txBody>
                    <a:bodyPr/>
                    <a:lstStyle/>
                    <a:p>
                      <a:pPr fontAlgn="t" latinLnBrk="1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取反运算符，按二进制位进行</a:t>
                      </a:r>
                      <a:r>
                        <a:rPr lang="en-US" altLang="zh-CN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</a:t>
                      </a:r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取反</a:t>
                      </a:r>
                      <a:r>
                        <a:rPr lang="en-US" altLang="zh-CN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</a:t>
                      </a:r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运算。运算规则：</a:t>
                      </a:r>
                    </a:p>
                    <a:p>
                      <a:pPr fontAlgn="t"/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~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=-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~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=-</a:t>
                      </a:r>
                      <a:r>
                        <a:rPr lang="en-US" altLang="zh-CN" sz="1400">
                          <a:solidFill>
                            <a:srgbClr val="006666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400">
                          <a:solidFill>
                            <a:srgbClr val="6666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</a:t>
                      </a:r>
                      <a:endParaRPr lang="zh-CN" altLang="en-US" sz="14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9050" marR="19050" marT="26670" marB="26670" anchor="ctr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(~A ) </a:t>
                      </a:r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将得到 </a:t>
                      </a:r>
                      <a:r>
                        <a:rPr lang="en-US" altLang="zh-CN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-61</a:t>
                      </a:r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，即为 </a:t>
                      </a:r>
                      <a:r>
                        <a:rPr lang="en-US" altLang="zh-CN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1100 0011</a:t>
                      </a:r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，一个有符号二进制数的补码形式。</a:t>
                      </a:r>
                    </a:p>
                  </a:txBody>
                  <a:tcPr marL="19050" marR="19050" marT="26670" marB="2667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819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&lt;&lt;</a:t>
                      </a:r>
                    </a:p>
                  </a:txBody>
                  <a:tcPr marL="19050" marR="19050" marT="26670" marB="26670" anchor="ctr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二进制左移运算符。将一个运算对象的各二进制位全部左移若干位（左边的二进制位丢弃，右边补</a:t>
                      </a:r>
                      <a:r>
                        <a:rPr lang="en-US" altLang="zh-CN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）。</a:t>
                      </a:r>
                    </a:p>
                  </a:txBody>
                  <a:tcPr marL="19050" marR="19050" marT="26670" marB="26670" anchor="ctr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 &lt;&lt; 2 </a:t>
                      </a:r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将得到 </a:t>
                      </a:r>
                      <a:r>
                        <a:rPr lang="en-US" altLang="zh-CN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240</a:t>
                      </a:r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，即为 </a:t>
                      </a:r>
                      <a:r>
                        <a:rPr lang="en-US" altLang="zh-CN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1111 0000</a:t>
                      </a:r>
                    </a:p>
                  </a:txBody>
                  <a:tcPr marL="19050" marR="19050" marT="26670" marB="2667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&gt;&gt;</a:t>
                      </a:r>
                    </a:p>
                  </a:txBody>
                  <a:tcPr marL="19050" marR="19050" marT="26670" marB="26670" anchor="ctr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二进制右移运算符。将一个数的各二进制位全部右移若干位，</a:t>
                      </a:r>
                      <a:r>
                        <a:rPr lang="zh-CN" altLang="en-US" sz="1400" b="1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正数左补</a:t>
                      </a: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1400" b="1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，负数左补</a:t>
                      </a:r>
                      <a:r>
                        <a:rPr lang="en-US" altLang="zh-CN" sz="1400" b="1" dirty="0"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，右边丢弃。</a:t>
                      </a:r>
                    </a:p>
                  </a:txBody>
                  <a:tcPr marL="19050" marR="19050" marT="26670" marB="26670" anchor="ctr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 &gt;&gt; 2 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将得到 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，即为 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0000 1111</a:t>
                      </a:r>
                    </a:p>
                  </a:txBody>
                  <a:tcPr marL="19050" marR="19050" marT="26670" marB="2667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70347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位运算符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71345" y="2476437"/>
            <a:ext cx="10007099" cy="2196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位运算的优先级：由高到低的顺序是：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~ → &lt;&lt;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&gt;&gt; → &amp; → | → ^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位运算的操作数只能是整形，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long 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long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long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short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char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位运算是对运算量的每一个二进制位分别进行；</a:t>
            </a:r>
          </a:p>
        </p:txBody>
      </p:sp>
    </p:spTree>
    <p:extLst>
      <p:ext uri="{BB962C8B-B14F-4D97-AF65-F5344CB8AC3E}">
        <p14:creationId xmlns:p14="http://schemas.microsoft.com/office/powerpoint/2010/main" val="36124990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位运算符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-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案例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57732" y="1528601"/>
            <a:ext cx="6466444" cy="5355312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/*</a:t>
            </a:r>
            <a:r>
              <a:rPr lang="en-US" altLang="zh-CN" b="0" i="0" dirty="0" err="1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ops_bits_examples</a:t>
            </a:r>
            <a:r>
              <a:rPr lang="en-US" altLang="zh-CN" b="0" i="0" dirty="0">
                <a:solidFill>
                  <a:schemeClr val="bg1">
                    <a:lumMod val="65000"/>
                  </a:schemeClr>
                </a:solidFill>
                <a:effectLst/>
                <a:latin typeface="Consolas" panose="020B0609020204030204" pitchFamily="49" charset="0"/>
              </a:rPr>
              <a:t>*/ 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i="0" dirty="0" err="1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/* 60 = 0011 1100 */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</a:t>
            </a:r>
          </a:p>
          <a:p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/* 13 = 0000 1101 */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&amp;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/* 12 = 0000 1100 */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1 - c </a:t>
            </a:r>
            <a:r>
              <a:rPr lang="zh-CN" altLang="en-US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的值是 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/* 61 = 0011 1101 */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2 - c </a:t>
            </a:r>
            <a:r>
              <a:rPr lang="zh-CN" altLang="en-US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的值是 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^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/* 49 = 0011 0001 */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3 - c </a:t>
            </a:r>
            <a:r>
              <a:rPr lang="zh-CN" altLang="en-US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的值是 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~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/*-61 = 1100 0011 */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4 - c </a:t>
            </a:r>
            <a:r>
              <a:rPr lang="zh-CN" altLang="en-US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的值是 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altLang="zh-CN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/* 240 = 1111 0000 */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5 - c </a:t>
            </a:r>
            <a:r>
              <a:rPr lang="zh-CN" altLang="en-US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的值是 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en-US" altLang="zh-CN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/* 15 = 0000 1111 */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6 - c </a:t>
            </a:r>
            <a:r>
              <a:rPr lang="zh-CN" altLang="en-US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的值是 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}</a:t>
            </a:r>
            <a:endParaRPr lang="zh-CN" altLang="en-US" b="1" dirty="0">
              <a:latin typeface="Consolas" panose="020B0609020204030204" pitchFamily="49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B4C2995-870C-44D5-3FF3-014366588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1960" y="2716705"/>
            <a:ext cx="4513797" cy="2866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7610" rIns="91440" bIns="4761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Helvetica Neue"/>
              </a:rPr>
              <a:t>当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Helvetica Neue"/>
              </a:rPr>
              <a:t>左侧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Helvetica Neue"/>
              </a:rPr>
              <a:t>的代码被编译和执行时，它会产生下列结果：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660066"/>
              </a:solidFill>
              <a:effectLst/>
              <a:latin typeface="Arial Unicode MS"/>
              <a:ea typeface="Menl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Arial Unicode MS"/>
                <a:ea typeface="Menlo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Arial Unicode MS"/>
                <a:ea typeface="Menlo"/>
              </a:rPr>
              <a:t>1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  <a:ea typeface="Menlo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 c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  <a:ea typeface="Menlo"/>
              </a:rPr>
              <a:t>的值是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Arial Unicode MS"/>
                <a:ea typeface="Menlo"/>
              </a:rPr>
              <a:t>12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  <a:ea typeface="Menl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Arial Unicode MS"/>
                <a:ea typeface="Menlo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Arial Unicode MS"/>
                <a:ea typeface="Menlo"/>
              </a:rPr>
              <a:t>2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  <a:ea typeface="Menlo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 c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  <a:ea typeface="Menlo"/>
              </a:rPr>
              <a:t>的值是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Arial Unicode MS"/>
                <a:ea typeface="Menlo"/>
              </a:rPr>
              <a:t>61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  <a:ea typeface="Menl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Arial Unicode MS"/>
                <a:ea typeface="Menlo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Arial Unicode MS"/>
                <a:ea typeface="Menlo"/>
              </a:rPr>
              <a:t>3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  <a:ea typeface="Menlo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 c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  <a:ea typeface="Menlo"/>
              </a:rPr>
              <a:t>的值是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Arial Unicode MS"/>
                <a:ea typeface="Menlo"/>
              </a:rPr>
              <a:t>49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  <a:ea typeface="Menl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Arial Unicode MS"/>
                <a:ea typeface="Menlo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Arial Unicode MS"/>
                <a:ea typeface="Menlo"/>
              </a:rPr>
              <a:t>4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  <a:ea typeface="Menlo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 c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  <a:ea typeface="Menlo"/>
              </a:rPr>
              <a:t>的值是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  <a:ea typeface="Menlo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Arial Unicode MS"/>
                <a:ea typeface="Menlo"/>
              </a:rPr>
              <a:t>61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  <a:ea typeface="Menl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Arial Unicode MS"/>
                <a:ea typeface="Menlo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Arial Unicode MS"/>
                <a:ea typeface="Menlo"/>
              </a:rPr>
              <a:t>5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  <a:ea typeface="Menlo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 c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  <a:ea typeface="Menlo"/>
              </a:rPr>
              <a:t>的值是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Arial Unicode MS"/>
                <a:ea typeface="Menlo"/>
              </a:rPr>
              <a:t>240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  <a:ea typeface="Menl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Arial Unicode MS"/>
                <a:ea typeface="Menlo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Arial Unicode MS"/>
                <a:ea typeface="Menlo"/>
              </a:rPr>
              <a:t>6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  <a:ea typeface="Menlo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 c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Arial Unicode MS"/>
                <a:ea typeface="Menlo"/>
              </a:rPr>
              <a:t>的值是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Arial Unicode MS"/>
                <a:ea typeface="Menlo"/>
              </a:rPr>
              <a:t>15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  <a:ea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3560706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自增、自减运算符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D629388B-A0FA-4935-A200-9BF72A71C0AB}"/>
              </a:ext>
            </a:extLst>
          </p:cNvPr>
          <p:cNvSpPr>
            <a:spLocks noGrp="1"/>
          </p:cNvSpPr>
          <p:nvPr/>
        </p:nvSpPr>
        <p:spPr>
          <a:xfrm>
            <a:off x="838200" y="1815465"/>
            <a:ext cx="5348748" cy="4351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sz="3300" dirty="0"/>
              <a:t>自增</a:t>
            </a:r>
            <a:r>
              <a:rPr lang="en-US" altLang="zh-CN" sz="3300" dirty="0"/>
              <a:t>/</a:t>
            </a:r>
            <a:r>
              <a:rPr lang="zh-CN" altLang="en-US" sz="3300" dirty="0"/>
              <a:t>自减运算符是使</a:t>
            </a:r>
            <a:r>
              <a:rPr lang="zh-CN" altLang="en-US" sz="3300" b="1" dirty="0"/>
              <a:t>对象</a:t>
            </a:r>
            <a:r>
              <a:rPr lang="zh-CN" altLang="en-US" sz="3300" dirty="0"/>
              <a:t>的值</a:t>
            </a:r>
            <a:r>
              <a:rPr lang="zh-CN" altLang="en-US" sz="3300" b="1" dirty="0">
                <a:solidFill>
                  <a:srgbClr val="C00000"/>
                </a:solidFill>
              </a:rPr>
              <a:t>增加</a:t>
            </a:r>
            <a:r>
              <a:rPr lang="en-US" altLang="zh-CN" sz="3300" b="1" dirty="0">
                <a:solidFill>
                  <a:srgbClr val="C00000"/>
                </a:solidFill>
              </a:rPr>
              <a:t>/</a:t>
            </a:r>
            <a:r>
              <a:rPr lang="zh-CN" altLang="en-US" sz="3300" b="1" dirty="0">
                <a:solidFill>
                  <a:srgbClr val="C00000"/>
                </a:solidFill>
              </a:rPr>
              <a:t>减少 </a:t>
            </a:r>
            <a:r>
              <a:rPr lang="en-US" altLang="zh-CN" sz="3300" b="1" dirty="0">
                <a:solidFill>
                  <a:srgbClr val="C00000"/>
                </a:solidFill>
              </a:rPr>
              <a:t>1 </a:t>
            </a:r>
            <a:r>
              <a:rPr lang="zh-CN" altLang="en-US" sz="3300" dirty="0"/>
              <a:t>的一元运算符。</a:t>
            </a:r>
            <a:endParaRPr lang="en-US" altLang="zh-CN" sz="3300" dirty="0"/>
          </a:p>
          <a:p>
            <a:pPr>
              <a:lnSpc>
                <a:spcPct val="120000"/>
              </a:lnSpc>
            </a:pPr>
            <a:r>
              <a:rPr lang="zh-CN" altLang="en-US" dirty="0"/>
              <a:t>操作数（</a:t>
            </a:r>
            <a:r>
              <a:rPr lang="en-US" altLang="zh-CN" dirty="0"/>
              <a:t>expr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整型，实数型，指针的</a:t>
            </a:r>
            <a:r>
              <a:rPr lang="zh-CN" altLang="en-US" b="1" dirty="0"/>
              <a:t>可修改左值</a:t>
            </a:r>
            <a:r>
              <a:rPr lang="zh-CN" altLang="en-US" dirty="0"/>
              <a:t>表达式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常见操作数：变量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值类别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非左值，即不能 </a:t>
            </a:r>
            <a:r>
              <a:rPr lang="en-US" altLang="zh-CN" dirty="0"/>
              <a:t>&amp;(++</a:t>
            </a:r>
            <a:r>
              <a:rPr lang="en-US" altLang="zh-CN" dirty="0" err="1"/>
              <a:t>i</a:t>
            </a:r>
            <a:r>
              <a:rPr lang="en-US" altLang="zh-CN" dirty="0"/>
              <a:t>)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求值顺序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后缀形式：先求值，再修改对象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前缀形式：先修改对象，再求值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优先级（高）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隐式转换（无）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例如： </a:t>
            </a:r>
            <a:r>
              <a:rPr lang="en-US" altLang="zh-CN" dirty="0"/>
              <a:t>char </a:t>
            </a:r>
            <a:r>
              <a:rPr lang="en-US" altLang="zh-CN" dirty="0" err="1"/>
              <a:t>i</a:t>
            </a:r>
            <a:r>
              <a:rPr lang="en-US" altLang="zh-CN" dirty="0"/>
              <a:t>; </a:t>
            </a:r>
            <a:r>
              <a:rPr lang="en-US" altLang="zh-CN" dirty="0" err="1"/>
              <a:t>sizeof</a:t>
            </a:r>
            <a:r>
              <a:rPr lang="en-US" altLang="zh-CN" dirty="0"/>
              <a:t>(++</a:t>
            </a:r>
            <a:r>
              <a:rPr lang="en-US" altLang="zh-CN" dirty="0" err="1"/>
              <a:t>i</a:t>
            </a:r>
            <a:r>
              <a:rPr lang="en-US" altLang="zh-CN" dirty="0"/>
              <a:t>) </a:t>
            </a:r>
            <a:r>
              <a:rPr lang="zh-CN" altLang="en-US" dirty="0"/>
              <a:t>返回</a:t>
            </a:r>
            <a:r>
              <a:rPr lang="en-US" altLang="zh-CN" dirty="0"/>
              <a:t>1; </a:t>
            </a:r>
            <a:r>
              <a:rPr lang="en-US" altLang="zh-CN" dirty="0" err="1"/>
              <a:t>sizeof</a:t>
            </a:r>
            <a:r>
              <a:rPr lang="en-US" altLang="zh-CN" dirty="0"/>
              <a:t>(+</a:t>
            </a:r>
            <a:r>
              <a:rPr lang="en-US" altLang="zh-CN" dirty="0" err="1"/>
              <a:t>i</a:t>
            </a:r>
            <a:r>
              <a:rPr lang="en-US" altLang="zh-CN" dirty="0"/>
              <a:t>) </a:t>
            </a:r>
            <a:r>
              <a:rPr lang="zh-CN" altLang="en-US" dirty="0"/>
              <a:t>返回 </a:t>
            </a:r>
            <a:r>
              <a:rPr lang="en-US" altLang="zh-CN" dirty="0"/>
              <a:t>4 </a:t>
            </a:r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 lvl="1"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 lvl="1"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FA9883C-9C8A-46D5-841A-1BD60CD697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709" y="1905000"/>
            <a:ext cx="2543175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623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++A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和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A++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的区别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80293" y="1715325"/>
            <a:ext cx="4751204" cy="5093702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3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zh-CN" sz="13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1300" b="0" i="0" dirty="0" err="1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sz="13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13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3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sz="13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3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13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3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3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3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3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3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3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zh-CN" altLang="en-US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13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3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++; </a:t>
            </a:r>
          </a:p>
          <a:p>
            <a:r>
              <a:rPr lang="en-US" altLang="zh-CN" sz="13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3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3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3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3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先赋值后运算：</a:t>
            </a:r>
            <a:r>
              <a:rPr lang="en-US" altLang="zh-CN" sz="13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3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3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3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3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3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3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3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3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1 - c </a:t>
            </a:r>
            <a:r>
              <a:rPr lang="zh-CN" altLang="en-US" sz="13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的值是 </a:t>
            </a:r>
            <a:r>
              <a:rPr lang="en-US" altLang="zh-CN" sz="13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sz="13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3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3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3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3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 </a:t>
            </a:r>
          </a:p>
          <a:p>
            <a:r>
              <a:rPr lang="en-US" altLang="zh-CN" sz="13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3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3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3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3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2 - a </a:t>
            </a:r>
            <a:r>
              <a:rPr lang="zh-CN" altLang="en-US" sz="13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的值是 </a:t>
            </a:r>
            <a:r>
              <a:rPr lang="en-US" altLang="zh-CN" sz="13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sz="13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3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3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3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3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endParaRPr lang="en-US" altLang="zh-CN" sz="13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13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3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3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3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3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--; </a:t>
            </a:r>
          </a:p>
          <a:p>
            <a:r>
              <a:rPr lang="en-US" altLang="zh-CN" sz="13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3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3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3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3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3 - c </a:t>
            </a:r>
            <a:r>
              <a:rPr lang="zh-CN" altLang="en-US" sz="13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的值是 </a:t>
            </a:r>
            <a:r>
              <a:rPr lang="en-US" altLang="zh-CN" sz="13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sz="13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3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3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3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3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300" dirty="0">
                <a:solidFill>
                  <a:srgbClr val="80808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en-US" altLang="zh-CN" sz="13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3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3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3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4 - a </a:t>
            </a:r>
            <a:r>
              <a:rPr lang="zh-CN" altLang="en-US" sz="13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的值是 </a:t>
            </a:r>
            <a:r>
              <a:rPr lang="en-US" altLang="zh-CN" sz="13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sz="13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3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3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3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3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3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3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3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3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13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先运算后赋值：</a:t>
            </a:r>
            <a:r>
              <a:rPr lang="en-US" altLang="zh-CN" sz="13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3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3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3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3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13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3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3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3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++</a:t>
            </a:r>
            <a:r>
              <a:rPr lang="en-US" altLang="zh-CN" sz="13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3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3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3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3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3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5 - c </a:t>
            </a:r>
            <a:r>
              <a:rPr lang="zh-CN" altLang="en-US" sz="13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的值是 </a:t>
            </a:r>
            <a:r>
              <a:rPr lang="en-US" altLang="zh-CN" sz="13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sz="13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3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3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3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3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3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3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3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3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3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6 - a </a:t>
            </a:r>
            <a:r>
              <a:rPr lang="zh-CN" altLang="en-US" sz="13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的值是 </a:t>
            </a:r>
            <a:r>
              <a:rPr lang="en-US" altLang="zh-CN" sz="13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sz="13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3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3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3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3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endParaRPr lang="en-US" altLang="zh-CN" sz="13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13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3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3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3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--</a:t>
            </a:r>
            <a:r>
              <a:rPr lang="en-US" altLang="zh-CN" sz="13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3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3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3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3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3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7 - c </a:t>
            </a:r>
            <a:r>
              <a:rPr lang="zh-CN" altLang="en-US" sz="13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的值是 </a:t>
            </a:r>
            <a:r>
              <a:rPr lang="en-US" altLang="zh-CN" sz="13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sz="13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3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3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3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3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3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3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3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3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3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8 - a </a:t>
            </a:r>
            <a:r>
              <a:rPr lang="zh-CN" altLang="en-US" sz="13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的值是 </a:t>
            </a:r>
            <a:r>
              <a:rPr lang="en-US" altLang="zh-CN" sz="13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sz="13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3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3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3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3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3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3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}</a:t>
            </a:r>
            <a:endParaRPr lang="zh-CN" altLang="en-US" sz="1300" b="1" dirty="0">
              <a:latin typeface="Consolas" panose="020B0609020204030204" pitchFamily="49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262453" y="2280680"/>
            <a:ext cx="4134465" cy="36048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7610" rIns="91440" bIns="4761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例子演示了 </a:t>
            </a:r>
            <a:r>
              <a:rPr lang="en-US" altLang="zh-CN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a++ </a:t>
            </a:r>
            <a:r>
              <a:rPr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++a </a:t>
            </a:r>
            <a:r>
              <a:rPr lang="zh-CN" altLang="en-US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的区别</a:t>
            </a:r>
            <a:r>
              <a:rPr lang="zh-CN" altLang="zh-CN" sz="20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先赋值后运算：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c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的值是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a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的值是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c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的值是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a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的值是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先运算后赋值：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c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的值是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a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的值是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c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的值是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a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的值是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FA9A05-51AB-DE4B-861F-EF25E02664D9}"/>
              </a:ext>
            </a:extLst>
          </p:cNvPr>
          <p:cNvSpPr txBox="1"/>
          <p:nvPr/>
        </p:nvSpPr>
        <p:spPr>
          <a:xfrm>
            <a:off x="4994920" y="1583845"/>
            <a:ext cx="14173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err="1">
                <a:solidFill>
                  <a:schemeClr val="bg1">
                    <a:lumMod val="65000"/>
                  </a:schemeClr>
                </a:solidFill>
              </a:rPr>
              <a:t>Ops_inc_dec.c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19200" y="507683"/>
            <a:ext cx="8978900" cy="329184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What is the output of this C code?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#include &lt;stdio.h&gt;
    int main()
    {
        int i = -3;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int k = i % 2;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printf("%d\n", k);</a:t>
            </a:r>
          </a:p>
          <a:p>
            <a:pPr lvl="0" algn="l">
              <a:spcBef>
                <a:spcPts val="0"/>
              </a:spcBef>
              <a:buNone/>
            </a:pPr>
            <a:r>
              <a:rPr lang="zh-CN" altLang="en-US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428240" y="4079081"/>
            <a:ext cx="3171190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Compile time error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61465" y="406717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2428240" y="4764881"/>
            <a:ext cx="519430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61465" y="4752975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2428240" y="5450681"/>
            <a:ext cx="37655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61465" y="543877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2428240" y="6136481"/>
            <a:ext cx="400494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Implementation defined</a:t>
            </a: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61465" y="612457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9" name="圆角矩形 18"/>
          <p:cNvSpPr/>
          <p:nvPr>
            <p:custDataLst>
              <p:tags r:id="rId11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</a:p>
        </p:txBody>
      </p:sp>
      <p:grpSp>
        <p:nvGrpSpPr>
          <p:cNvPr id="7" name="组合 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2" name="图片 1" descr="tmp958C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711835" y="701675"/>
            <a:ext cx="11198860" cy="3046095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What is the output of this C code?</a:t>
            </a:r>
          </a:p>
          <a:p>
            <a:pPr lvl="0" algn="l">
              <a:spcBef>
                <a:spcPts val="0"/>
              </a:spcBef>
              <a:buNone/>
            </a:pPr>
            <a:r>
              <a:rPr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#include &lt;stdio.h&gt;
    int main()
    {
        int a = 1, b = 1, d = 1;
        printf("%d, %d, %d", ++a + ++a+a++, a++ + ++b, ++d + d++ + a++);
    }</a:t>
            </a: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511425" y="4131786"/>
            <a:ext cx="1311910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15, 4, 5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644650" y="411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2534920" y="4795996"/>
            <a:ext cx="111823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9, 6, 9</a:t>
            </a: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668145" y="478409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2534920" y="5439886"/>
            <a:ext cx="111823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9, 3, 5</a:t>
            </a: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668145" y="54279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2534920" y="6032976"/>
            <a:ext cx="5457190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Undefined (Compiler Dependent)</a:t>
            </a: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668145" y="602107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7" name="圆角矩形 16"/>
          <p:cNvSpPr/>
          <p:nvPr>
            <p:custDataLst>
              <p:tags r:id="rId11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</a:p>
        </p:txBody>
      </p:sp>
      <p:grpSp>
        <p:nvGrpSpPr>
          <p:cNvPr id="7" name="组合 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2" name="图片 1" descr="tmp958C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关系运算符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25752" y="1774008"/>
            <a:ext cx="103846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假设变量 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的值为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，变量 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的值为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263786"/>
              </p:ext>
            </p:extLst>
          </p:nvPr>
        </p:nvGraphicFramePr>
        <p:xfrm>
          <a:off x="1738417" y="2569413"/>
          <a:ext cx="8127999" cy="398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3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13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运算符</a:t>
                      </a:r>
                    </a:p>
                  </a:txBody>
                  <a:tcPr marL="11430" marR="11430" marT="11430" marB="1143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11430" marR="11430" marT="11430" marB="1143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实例</a:t>
                      </a:r>
                    </a:p>
                  </a:txBody>
                  <a:tcPr marL="11430" marR="11430" marT="11430" marB="1143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==</a:t>
                      </a:r>
                    </a:p>
                  </a:txBody>
                  <a:tcPr marL="19050" marR="19050" marT="26670" marB="26670" anchor="ctr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检查两个操作数的值是否相等，如果相等则条件为真。</a:t>
                      </a:r>
                    </a:p>
                  </a:txBody>
                  <a:tcPr marL="19050" marR="19050" marT="26670" marB="26670" anchor="ctr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(A == B) </a:t>
                      </a:r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为假。</a:t>
                      </a:r>
                    </a:p>
                  </a:txBody>
                  <a:tcPr marL="19050" marR="19050" marT="26670" marB="2667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!=</a:t>
                      </a:r>
                    </a:p>
                  </a:txBody>
                  <a:tcPr marL="19050" marR="19050" marT="26670" marB="26670" anchor="ctr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检查两个操作数的值是否相等，如果不相等则条件为真。</a:t>
                      </a:r>
                    </a:p>
                  </a:txBody>
                  <a:tcPr marL="19050" marR="19050" marT="26670" marB="26670" anchor="ctr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(A != B) </a:t>
                      </a:r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为真。</a:t>
                      </a:r>
                    </a:p>
                  </a:txBody>
                  <a:tcPr marL="19050" marR="19050" marT="26670" marB="2667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</a:p>
                  </a:txBody>
                  <a:tcPr marL="19050" marR="19050" marT="26670" marB="26670" anchor="ctr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检查左操作数的值是否大于右操作数的值，如果是则条件为真。</a:t>
                      </a:r>
                    </a:p>
                  </a:txBody>
                  <a:tcPr marL="19050" marR="19050" marT="26670" marB="26670" anchor="ctr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(A &gt; B) </a:t>
                      </a:r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为假。</a:t>
                      </a:r>
                    </a:p>
                  </a:txBody>
                  <a:tcPr marL="19050" marR="19050" marT="26670" marB="2667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</a:p>
                  </a:txBody>
                  <a:tcPr marL="19050" marR="19050" marT="26670" marB="26670" anchor="ctr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检查左操作数的值是否小于右操作数的值，如果是则条件为真。</a:t>
                      </a:r>
                    </a:p>
                  </a:txBody>
                  <a:tcPr marL="19050" marR="19050" marT="26670" marB="26670" anchor="ctr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(A &lt; B) </a:t>
                      </a:r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为真。</a:t>
                      </a:r>
                    </a:p>
                  </a:txBody>
                  <a:tcPr marL="19050" marR="19050" marT="26670" marB="2667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&gt;=</a:t>
                      </a:r>
                    </a:p>
                  </a:txBody>
                  <a:tcPr marL="19050" marR="19050" marT="26670" marB="26670" anchor="ctr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检查左操作数的值是否大于或等于右操作数的值，如果是则条件为真。</a:t>
                      </a:r>
                    </a:p>
                  </a:txBody>
                  <a:tcPr marL="19050" marR="19050" marT="26670" marB="26670" anchor="ctr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(A &gt;= B) </a:t>
                      </a:r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为假。</a:t>
                      </a:r>
                    </a:p>
                  </a:txBody>
                  <a:tcPr marL="19050" marR="19050" marT="26670" marB="2667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&lt;=</a:t>
                      </a:r>
                    </a:p>
                  </a:txBody>
                  <a:tcPr marL="19050" marR="19050" marT="26670" marB="26670" anchor="ctr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检查左操作数的值是否小于或等于右操作数的值，如果是则条件为真。</a:t>
                      </a:r>
                    </a:p>
                  </a:txBody>
                  <a:tcPr marL="19050" marR="19050" marT="26670" marB="26670" anchor="ctr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(A &lt;= B) </a:t>
                      </a:r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为真。</a:t>
                      </a:r>
                    </a:p>
                  </a:txBody>
                  <a:tcPr marL="19050" marR="19050" marT="26670" marB="2667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67602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关系运算符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-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例子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26243" y="1736901"/>
            <a:ext cx="7154376" cy="4801314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i="0" dirty="0" err="1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21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; </a:t>
            </a:r>
          </a:p>
          <a:p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1 - a </a:t>
            </a:r>
            <a:r>
              <a:rPr lang="zh-CN" altLang="en-US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等于 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  <a:endParaRPr lang="en-US" altLang="zh-CN" dirty="0">
              <a:solidFill>
                <a:srgbClr val="808000"/>
              </a:solidFill>
              <a:latin typeface="Consolas" panose="020B0609020204030204" pitchFamily="49" charset="0"/>
            </a:endParaRPr>
          </a:p>
          <a:p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1 - a </a:t>
            </a:r>
            <a:r>
              <a:rPr lang="zh-CN" altLang="en-US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不等于 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  <a:endParaRPr lang="en-US" altLang="zh-CN" dirty="0">
              <a:solidFill>
                <a:srgbClr val="808000"/>
              </a:solidFill>
              <a:latin typeface="Consolas" panose="020B0609020204030204" pitchFamily="49" charset="0"/>
            </a:endParaRPr>
          </a:p>
          <a:p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2 - a </a:t>
            </a:r>
            <a:r>
              <a:rPr lang="zh-CN" altLang="en-US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小于 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  <a:endParaRPr lang="en-US" altLang="zh-CN" dirty="0">
              <a:solidFill>
                <a:srgbClr val="808000"/>
              </a:solidFill>
              <a:latin typeface="Consolas" panose="020B0609020204030204" pitchFamily="49" charset="0"/>
            </a:endParaRPr>
          </a:p>
          <a:p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2 - a </a:t>
            </a:r>
            <a:r>
              <a:rPr lang="zh-CN" altLang="en-US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不小于 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  <a:endParaRPr lang="en-US" altLang="zh-CN" dirty="0">
              <a:solidFill>
                <a:srgbClr val="808000"/>
              </a:solidFill>
              <a:latin typeface="Consolas" panose="020B0609020204030204" pitchFamily="49" charset="0"/>
            </a:endParaRPr>
          </a:p>
          <a:p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3 - a </a:t>
            </a:r>
            <a:r>
              <a:rPr lang="zh-CN" altLang="en-US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大于 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  <a:endParaRPr lang="en-US" altLang="zh-CN" dirty="0">
              <a:solidFill>
                <a:srgbClr val="808000"/>
              </a:solidFill>
              <a:latin typeface="Consolas" panose="020B0609020204030204" pitchFamily="49" charset="0"/>
            </a:endParaRPr>
          </a:p>
          <a:p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3 - a </a:t>
            </a:r>
            <a:r>
              <a:rPr lang="zh-CN" altLang="en-US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不大于 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改变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和 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的值 *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zh-CN" altLang="en-US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altLang="zh-CN" b="0" i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    a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4 - a </a:t>
            </a:r>
            <a:r>
              <a:rPr lang="zh-CN" altLang="en-US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小于或等于 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dirty="0">
                <a:solidFill>
                  <a:srgbClr val="808000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5 - b </a:t>
            </a:r>
            <a:r>
              <a:rPr lang="zh-CN" altLang="en-US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大于或等于 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  <a:endParaRPr lang="en-US" altLang="zh-CN" dirty="0">
              <a:solidFill>
                <a:srgbClr val="808000"/>
              </a:solidFill>
              <a:latin typeface="Consolas" panose="020B0609020204030204" pitchFamily="49" charset="0"/>
            </a:endParaRPr>
          </a:p>
          <a:p>
            <a:r>
              <a:rPr lang="en-US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}</a:t>
            </a:r>
            <a:endParaRPr lang="zh-CN" altLang="en-US" b="1" dirty="0">
              <a:latin typeface="Consolas" panose="020B0609020204030204" pitchFamily="49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7881944" y="2858377"/>
            <a:ext cx="3983813" cy="2558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7610" rIns="91440" bIns="4761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左侧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的代码被编译和执行时，它会产生下列结果：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660066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a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不等于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b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a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不小于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b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a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大于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b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a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小于或等于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b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b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大于或等于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a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zh-CN" altLang="zh-CN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FDA04CA-A09F-0F61-7366-8213280800DA}"/>
              </a:ext>
            </a:extLst>
          </p:cNvPr>
          <p:cNvSpPr txBox="1"/>
          <p:nvPr/>
        </p:nvSpPr>
        <p:spPr>
          <a:xfrm>
            <a:off x="7480619" y="1685897"/>
            <a:ext cx="18117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</a:rPr>
              <a:t>Ops-</a:t>
            </a:r>
            <a:r>
              <a:rPr lang="en-US" altLang="zh-CN" sz="1600" dirty="0" err="1">
                <a:solidFill>
                  <a:schemeClr val="bg1">
                    <a:lumMod val="65000"/>
                  </a:schemeClr>
                </a:solidFill>
              </a:rPr>
              <a:t>comparison.c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06124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逻辑运算符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25752" y="1774008"/>
            <a:ext cx="103846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假设变量 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的值为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，变量 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的值为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798168"/>
              </p:ext>
            </p:extLst>
          </p:nvPr>
        </p:nvGraphicFramePr>
        <p:xfrm>
          <a:off x="1731043" y="2700101"/>
          <a:ext cx="8127999" cy="2451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3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13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运算符</a:t>
                      </a:r>
                    </a:p>
                  </a:txBody>
                  <a:tcPr marL="11430" marR="11430" marT="11430" marB="1143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11430" marR="11430" marT="11430" marB="1143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实例</a:t>
                      </a:r>
                    </a:p>
                  </a:txBody>
                  <a:tcPr marL="11430" marR="11430" marT="11430" marB="1143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&amp;&amp;</a:t>
                      </a:r>
                    </a:p>
                  </a:txBody>
                  <a:tcPr marL="19050" marR="19050" marT="26670" marB="26670" anchor="ctr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称为逻辑与运算符。如果两个操作数都非零，则条件为真。</a:t>
                      </a:r>
                    </a:p>
                  </a:txBody>
                  <a:tcPr marL="19050" marR="19050" marT="26670" marB="2667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(A &amp;&amp; B) </a:t>
                      </a:r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为假。</a:t>
                      </a:r>
                    </a:p>
                  </a:txBody>
                  <a:tcPr marL="19050" marR="19050" marT="26670" marB="2667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||</a:t>
                      </a:r>
                    </a:p>
                  </a:txBody>
                  <a:tcPr marL="19050" marR="19050" marT="26670" marB="26670" anchor="ctr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称为逻辑或运算符。如果两个操作数中有任意一个非零，则条件为真。</a:t>
                      </a:r>
                    </a:p>
                  </a:txBody>
                  <a:tcPr marL="19050" marR="19050" marT="26670" marB="2667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(A || B) </a:t>
                      </a:r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为真。</a:t>
                      </a:r>
                    </a:p>
                  </a:txBody>
                  <a:tcPr marL="19050" marR="19050" marT="26670" marB="2667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!</a:t>
                      </a:r>
                    </a:p>
                  </a:txBody>
                  <a:tcPr marL="19050" marR="19050" marT="26670" marB="26670" anchor="ctr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称为逻辑非运算符。用来逆转操作数的逻辑状态。如果条件为真则逻辑非运算符将使其为假。</a:t>
                      </a:r>
                    </a:p>
                  </a:txBody>
                  <a:tcPr marL="19050" marR="19050" marT="26670" marB="2667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!(A &amp;&amp; B) </a:t>
                      </a:r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为真。</a:t>
                      </a:r>
                    </a:p>
                  </a:txBody>
                  <a:tcPr marL="19050" marR="19050" marT="26670" marB="2667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168400" y="628333"/>
            <a:ext cx="8978900" cy="329184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What is the output of this C code?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6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#include &lt;stdio.h&gt;
    void main()
    {
        int x = 1, y = 0, z = 5;
        int a = x &amp;&amp; y || z++;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6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printf("%d", z);</a:t>
            </a:r>
          </a:p>
          <a:p>
            <a:pPr lvl="0" algn="l">
              <a:spcBef>
                <a:spcPts val="0"/>
              </a:spcBef>
              <a:buNone/>
            </a:pPr>
            <a:r>
              <a:rPr lang="zh-CN" altLang="en-US" sz="26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382520" y="3918426"/>
            <a:ext cx="37655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15745" y="390652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2382520" y="4604226"/>
            <a:ext cx="37655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15745" y="459232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2382520" y="5290026"/>
            <a:ext cx="37655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15745" y="527812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2382520" y="5975826"/>
            <a:ext cx="111696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Varies</a:t>
            </a: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15745" y="596392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9" name="圆角矩形 18"/>
          <p:cNvSpPr/>
          <p:nvPr>
            <p:custDataLst>
              <p:tags r:id="rId11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</a:p>
        </p:txBody>
      </p:sp>
      <p:grpSp>
        <p:nvGrpSpPr>
          <p:cNvPr id="7" name="组合 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2" name="图片 1" descr="tmp958C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19200" y="616903"/>
            <a:ext cx="8978900" cy="329184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What is the output of this C code?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6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#include &lt;stdio.h&gt;
    void main()
    {
        int x = 1, y = 0, z = 5;
        int a = x &amp;&amp; y &amp;&amp; z++;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6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printf("%d", z);</a:t>
            </a:r>
          </a:p>
          <a:p>
            <a:pPr lvl="0" algn="l">
              <a:spcBef>
                <a:spcPts val="0"/>
              </a:spcBef>
              <a:buNone/>
            </a:pPr>
            <a:r>
              <a:rPr lang="zh-CN" altLang="en-US" sz="26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428240" y="4080986"/>
            <a:ext cx="37655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61465" y="40690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2428240" y="4766786"/>
            <a:ext cx="37655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61465" y="4754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2428240" y="5452586"/>
            <a:ext cx="37655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61465" y="54406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2428240" y="6138386"/>
            <a:ext cx="111696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Varies</a:t>
            </a: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61465" y="61264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9" name="圆角矩形 18"/>
          <p:cNvSpPr/>
          <p:nvPr>
            <p:custDataLst>
              <p:tags r:id="rId11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</a:p>
        </p:txBody>
      </p:sp>
      <p:grpSp>
        <p:nvGrpSpPr>
          <p:cNvPr id="7" name="组合 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2" name="图片 1" descr="tmp958C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逻辑运算符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-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例子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12041" y="1906508"/>
            <a:ext cx="7356972" cy="4401205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zh-CN" sz="20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2000" b="0" i="0" dirty="0" err="1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sz="20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sz="20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20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20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20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20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20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; </a:t>
            </a:r>
          </a:p>
          <a:p>
            <a:r>
              <a:rPr lang="en-US" altLang="zh-CN" sz="20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20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1 - </a:t>
            </a:r>
            <a:r>
              <a:rPr lang="zh-CN" altLang="en-US" sz="20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条件为真</a:t>
            </a:r>
            <a:r>
              <a:rPr lang="en-US" altLang="zh-CN" sz="20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20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20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  <a:endParaRPr lang="en-US" altLang="zh-CN" sz="2000" dirty="0">
              <a:solidFill>
                <a:srgbClr val="808000"/>
              </a:solidFill>
              <a:latin typeface="Consolas" panose="020B0609020204030204" pitchFamily="49" charset="0"/>
            </a:endParaRPr>
          </a:p>
          <a:p>
            <a:r>
              <a:rPr lang="en-US" altLang="zh-CN" sz="20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|| 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altLang="zh-CN" sz="20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20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2 - </a:t>
            </a:r>
            <a:r>
              <a:rPr lang="zh-CN" altLang="en-US" sz="20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条件为真</a:t>
            </a:r>
            <a:r>
              <a:rPr lang="en-US" altLang="zh-CN" sz="20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20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20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  <a:endParaRPr lang="en-US" altLang="zh-CN" sz="2000" dirty="0">
              <a:solidFill>
                <a:srgbClr val="808000"/>
              </a:solidFill>
              <a:latin typeface="Consolas" panose="020B0609020204030204" pitchFamily="49" charset="0"/>
            </a:endParaRPr>
          </a:p>
          <a:p>
            <a:r>
              <a:rPr lang="en-US" altLang="zh-CN" sz="20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改变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和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的值 *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zh-CN" altLang="en-US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altLang="zh-CN" sz="2000" b="0" i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20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20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20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20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20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3 - </a:t>
            </a:r>
            <a:r>
              <a:rPr lang="zh-CN" altLang="en-US" sz="20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条件为真</a:t>
            </a:r>
            <a:r>
              <a:rPr lang="en-US" altLang="zh-CN" sz="20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20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20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 </a:t>
            </a:r>
          </a:p>
          <a:p>
            <a:r>
              <a:rPr lang="en-US" altLang="zh-CN" sz="20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20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3 - </a:t>
            </a:r>
            <a:r>
              <a:rPr lang="zh-CN" altLang="en-US" sz="20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条件为假</a:t>
            </a:r>
            <a:r>
              <a:rPr lang="en-US" altLang="zh-CN" sz="20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20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20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 </a:t>
            </a:r>
          </a:p>
          <a:p>
            <a:r>
              <a:rPr lang="en-US" altLang="zh-CN" sz="20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!</a:t>
            </a:r>
            <a:r>
              <a:rPr lang="en-US" altLang="zh-CN" sz="20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sz="20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20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4 - </a:t>
            </a:r>
            <a:r>
              <a:rPr lang="zh-CN" altLang="en-US" sz="20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条件为真</a:t>
            </a:r>
            <a:r>
              <a:rPr lang="en-US" altLang="zh-CN" sz="20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20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20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  <a:endParaRPr lang="en-US" altLang="zh-CN" sz="2000" dirty="0">
              <a:solidFill>
                <a:srgbClr val="808000"/>
              </a:solidFill>
              <a:latin typeface="Consolas" panose="020B0609020204030204" pitchFamily="49" charset="0"/>
            </a:endParaRPr>
          </a:p>
          <a:p>
            <a:r>
              <a:rPr lang="en-US" altLang="zh-CN" sz="20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}</a:t>
            </a:r>
            <a:endParaRPr lang="zh-CN" altLang="en-US" sz="2000" b="1" dirty="0">
              <a:latin typeface="Consolas" panose="020B0609020204030204" pitchFamily="49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7843622" y="2674040"/>
            <a:ext cx="3993003" cy="2866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7610" rIns="91440" bIns="4761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语言当中，所有非 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的数都会是真也就是 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而</a:t>
            </a:r>
            <a:r>
              <a:rPr lang="en-US" altLang="zh-CN" sz="2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 </a:t>
            </a:r>
            <a:r>
              <a:rPr lang="zh-CN" altLang="en-US" sz="2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会是假也就是仍然是 </a:t>
            </a:r>
            <a:r>
              <a:rPr lang="en-US" altLang="zh-CN" sz="2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左侧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的代码被编译和执行时，它会产生下列结果：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660066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条件为真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条件为真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条件为假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条件为真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FA6947C-91B5-FB88-0ABA-EC8D99C13AF2}"/>
              </a:ext>
            </a:extLst>
          </p:cNvPr>
          <p:cNvSpPr txBox="1"/>
          <p:nvPr/>
        </p:nvSpPr>
        <p:spPr>
          <a:xfrm>
            <a:off x="280737" y="1564453"/>
            <a:ext cx="1334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err="1">
                <a:solidFill>
                  <a:schemeClr val="bg1">
                    <a:lumMod val="65000"/>
                  </a:schemeClr>
                </a:solidFill>
              </a:rPr>
              <a:t>Ops_logical.c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举例：交换两个数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3464511" y="3244334"/>
            <a:ext cx="526298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zh-CN" altLang="en-US" sz="3600" b="1" kern="0" dirty="0">
                <a:ea typeface="微软雅黑" panose="020B0503020204020204" pitchFamily="34" charset="-122"/>
              </a:rPr>
              <a:t>问题：如何交换两个数？</a:t>
            </a:r>
          </a:p>
        </p:txBody>
      </p:sp>
    </p:spTree>
    <p:extLst>
      <p:ext uri="{BB962C8B-B14F-4D97-AF65-F5344CB8AC3E}">
        <p14:creationId xmlns:p14="http://schemas.microsoft.com/office/powerpoint/2010/main" val="34494788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举例：交换两个数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438400" y="2019242"/>
            <a:ext cx="7356972" cy="4401205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zh-CN" sz="20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2000" b="0" i="0" dirty="0" err="1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sz="20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sz="20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20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double 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a,b,c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("%</a:t>
            </a:r>
            <a:r>
              <a:rPr lang="en-US" altLang="zh-CN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l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,%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lf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",&amp;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a,&amp;b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c=a;</a:t>
            </a:r>
            <a:b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a=b;</a:t>
            </a:r>
            <a:b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b=c;</a:t>
            </a:r>
            <a:b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("a=%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lf,b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=%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lf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\n",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a,b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return 0;</a:t>
            </a:r>
            <a:b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sz="20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}</a:t>
            </a:r>
            <a:endParaRPr lang="zh-CN" altLang="en-US" sz="2000" b="1" dirty="0">
              <a:latin typeface="Consolas" panose="020B0609020204030204" pitchFamily="49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63C030-3595-B6BA-1DEA-5B0E83D5875D}"/>
              </a:ext>
            </a:extLst>
          </p:cNvPr>
          <p:cNvSpPr txBox="1"/>
          <p:nvPr/>
        </p:nvSpPr>
        <p:spPr>
          <a:xfrm>
            <a:off x="2379155" y="1644836"/>
            <a:ext cx="7697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err="1">
                <a:solidFill>
                  <a:schemeClr val="bg1">
                    <a:lumMod val="65000"/>
                  </a:schemeClr>
                </a:solidFill>
              </a:rPr>
              <a:t>swap.c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举例：交换两个数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3464512" y="3244334"/>
            <a:ext cx="526298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zh-CN" altLang="en-US" sz="3600" b="1" kern="0" dirty="0">
                <a:ea typeface="微软雅黑" panose="020B0503020204020204" pitchFamily="34" charset="-122"/>
              </a:rPr>
              <a:t>问题：有无更好的办法？</a:t>
            </a:r>
          </a:p>
        </p:txBody>
      </p:sp>
    </p:spTree>
    <p:extLst>
      <p:ext uri="{BB962C8B-B14F-4D97-AF65-F5344CB8AC3E}">
        <p14:creationId xmlns:p14="http://schemas.microsoft.com/office/powerpoint/2010/main" val="41901138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举例：交换两个数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438400" y="2019242"/>
            <a:ext cx="7356972" cy="4401205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zh-CN" sz="20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2000" b="0" i="0" dirty="0" err="1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sz="20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sz="20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20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double 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a,b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("%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lf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,%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lf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",&amp;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a,&amp;b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a = a + b;</a:t>
            </a:r>
          </a:p>
          <a:p>
            <a:r>
              <a:rPr lang="pt-BR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b = a - b;</a:t>
            </a:r>
          </a:p>
          <a:p>
            <a:r>
              <a:rPr lang="pt-BR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a = a - b;</a:t>
            </a:r>
          </a:p>
          <a:p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("a=%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lf,b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=%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lf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\n",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a,b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return 0;</a:t>
            </a:r>
            <a:b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sz="20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}</a:t>
            </a:r>
            <a:endParaRPr lang="zh-CN" altLang="en-US" sz="2000" b="1" dirty="0">
              <a:latin typeface="Consolas" panose="020B0609020204030204" pitchFamily="49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1DF271A-16D8-9F5C-9282-046E48702F99}"/>
              </a:ext>
            </a:extLst>
          </p:cNvPr>
          <p:cNvSpPr txBox="1"/>
          <p:nvPr/>
        </p:nvSpPr>
        <p:spPr>
          <a:xfrm>
            <a:off x="2379155" y="1644836"/>
            <a:ext cx="8771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</a:rPr>
              <a:t>swap1.c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2" name="表格 3">
            <a:extLst>
              <a:ext uri="{FF2B5EF4-FFF2-40B4-BE49-F238E27FC236}">
                <a16:creationId xmlns:a16="http://schemas.microsoft.com/office/drawing/2014/main" id="{A37BEE62-122A-7F01-CCA5-CC87A4F51B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580351"/>
              </p:ext>
            </p:extLst>
          </p:nvPr>
        </p:nvGraphicFramePr>
        <p:xfrm>
          <a:off x="6735140" y="3398415"/>
          <a:ext cx="2936553" cy="14837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8851">
                  <a:extLst>
                    <a:ext uri="{9D8B030D-6E8A-4147-A177-3AD203B41FA5}">
                      <a16:colId xmlns:a16="http://schemas.microsoft.com/office/drawing/2014/main" val="4029540474"/>
                    </a:ext>
                  </a:extLst>
                </a:gridCol>
                <a:gridCol w="978851">
                  <a:extLst>
                    <a:ext uri="{9D8B030D-6E8A-4147-A177-3AD203B41FA5}">
                      <a16:colId xmlns:a16="http://schemas.microsoft.com/office/drawing/2014/main" val="3607627177"/>
                    </a:ext>
                  </a:extLst>
                </a:gridCol>
                <a:gridCol w="978851">
                  <a:extLst>
                    <a:ext uri="{9D8B030D-6E8A-4147-A177-3AD203B41FA5}">
                      <a16:colId xmlns:a16="http://schemas.microsoft.com/office/drawing/2014/main" val="4137340976"/>
                    </a:ext>
                  </a:extLst>
                </a:gridCol>
              </a:tblGrid>
              <a:tr h="29675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变量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016916"/>
                  </a:ext>
                </a:extLst>
              </a:tr>
              <a:tr h="29675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初始值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598752"/>
                  </a:ext>
                </a:extLst>
              </a:tr>
              <a:tr h="2967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a=</a:t>
                      </a:r>
                      <a:r>
                        <a:rPr lang="en-US" altLang="zh-CN" sz="1200" dirty="0" err="1"/>
                        <a:t>a+b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/>
                        <a:t>x+y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280934"/>
                  </a:ext>
                </a:extLst>
              </a:tr>
              <a:tr h="2967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b=a-b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/>
                        <a:t>x+y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664259"/>
                  </a:ext>
                </a:extLst>
              </a:tr>
              <a:tr h="2967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a=a-b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013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2481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举例：交换两个数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438400" y="2019242"/>
            <a:ext cx="7356972" cy="4401205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zh-CN" sz="20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2000" b="0" i="0" dirty="0" err="1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sz="20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sz="20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20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a,b,c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("%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d,%d",&amp;a,&amp;b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a = a ^ b;</a:t>
            </a:r>
          </a:p>
          <a:p>
            <a:r>
              <a:rPr lang="pt-BR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b = b ^ a;</a:t>
            </a:r>
          </a:p>
          <a:p>
            <a:r>
              <a:rPr lang="pt-BR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a = a ^ b;</a:t>
            </a:r>
          </a:p>
          <a:p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("a=%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d,b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=%d\n",</a:t>
            </a:r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a,b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return 0;</a:t>
            </a:r>
            <a:b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sz="20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}</a:t>
            </a:r>
            <a:endParaRPr lang="zh-CN" altLang="en-US" sz="2000" b="1" dirty="0">
              <a:latin typeface="Consolas" panose="020B0609020204030204" pitchFamily="49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06000DD-E358-C7F3-B1C4-D38A2C193820}"/>
              </a:ext>
            </a:extLst>
          </p:cNvPr>
          <p:cNvSpPr txBox="1"/>
          <p:nvPr/>
        </p:nvSpPr>
        <p:spPr>
          <a:xfrm>
            <a:off x="2379155" y="1644836"/>
            <a:ext cx="8771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</a:rPr>
              <a:t>swap2.c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2" name="表格 3">
            <a:extLst>
              <a:ext uri="{FF2B5EF4-FFF2-40B4-BE49-F238E27FC236}">
                <a16:creationId xmlns:a16="http://schemas.microsoft.com/office/drawing/2014/main" id="{39D2AD61-6790-390F-38E8-FD44C1A81D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862673"/>
              </p:ext>
            </p:extLst>
          </p:nvPr>
        </p:nvGraphicFramePr>
        <p:xfrm>
          <a:off x="6735140" y="3398415"/>
          <a:ext cx="2936553" cy="14837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8851">
                  <a:extLst>
                    <a:ext uri="{9D8B030D-6E8A-4147-A177-3AD203B41FA5}">
                      <a16:colId xmlns:a16="http://schemas.microsoft.com/office/drawing/2014/main" val="4029540474"/>
                    </a:ext>
                  </a:extLst>
                </a:gridCol>
                <a:gridCol w="978851">
                  <a:extLst>
                    <a:ext uri="{9D8B030D-6E8A-4147-A177-3AD203B41FA5}">
                      <a16:colId xmlns:a16="http://schemas.microsoft.com/office/drawing/2014/main" val="3607627177"/>
                    </a:ext>
                  </a:extLst>
                </a:gridCol>
                <a:gridCol w="978851">
                  <a:extLst>
                    <a:ext uri="{9D8B030D-6E8A-4147-A177-3AD203B41FA5}">
                      <a16:colId xmlns:a16="http://schemas.microsoft.com/office/drawing/2014/main" val="4137340976"/>
                    </a:ext>
                  </a:extLst>
                </a:gridCol>
              </a:tblGrid>
              <a:tr h="29675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变量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</a:t>
                      </a:r>
                      <a:endParaRPr lang="zh-CN" altLang="en-US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b</a:t>
                      </a:r>
                      <a:endParaRPr lang="zh-CN" altLang="en-US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016916"/>
                  </a:ext>
                </a:extLst>
              </a:tr>
              <a:tr h="29675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初始值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598752"/>
                  </a:ext>
                </a:extLst>
              </a:tr>
              <a:tr h="2967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a=</a:t>
                      </a:r>
                      <a:r>
                        <a:rPr lang="en-US" altLang="zh-CN" sz="1200" dirty="0" err="1"/>
                        <a:t>a^b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/>
                        <a:t>x^y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280934"/>
                  </a:ext>
                </a:extLst>
              </a:tr>
              <a:tr h="2967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b=</a:t>
                      </a:r>
                      <a:r>
                        <a:rPr lang="en-US" altLang="zh-CN" sz="1200" dirty="0" err="1"/>
                        <a:t>a^b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/>
                        <a:t>x^y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x^(</a:t>
                      </a:r>
                      <a:r>
                        <a:rPr lang="en-US" altLang="zh-CN" sz="1200" dirty="0" err="1"/>
                        <a:t>y^y</a:t>
                      </a:r>
                      <a:r>
                        <a:rPr lang="en-US" altLang="zh-CN" sz="1200" dirty="0"/>
                        <a:t>)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664259"/>
                  </a:ext>
                </a:extLst>
              </a:tr>
              <a:tr h="2967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a=</a:t>
                      </a:r>
                      <a:r>
                        <a:rPr lang="en-US" altLang="zh-CN" sz="1200" dirty="0" err="1"/>
                        <a:t>a^b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x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013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5604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运算优化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949886" y="3071428"/>
            <a:ext cx="2296438" cy="1015663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 I,J;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I = 257 /8;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J = 456 % 16</a:t>
            </a:r>
          </a:p>
        </p:txBody>
      </p:sp>
    </p:spTree>
    <p:extLst>
      <p:ext uri="{BB962C8B-B14F-4D97-AF65-F5344CB8AC3E}">
        <p14:creationId xmlns:p14="http://schemas.microsoft.com/office/powerpoint/2010/main" val="192406167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运算优化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949886" y="3071428"/>
            <a:ext cx="2296438" cy="1015663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 I,J;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I = 257 /8;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J = 456 % 16</a:t>
            </a:r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6845888" y="3071427"/>
            <a:ext cx="3852337" cy="1015663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 I,J;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I = 257 &gt;&gt;3;</a:t>
            </a:r>
          </a:p>
          <a:p>
            <a:r>
              <a:rPr lang="en-US" altLang="zh-CN" sz="2000" dirty="0">
                <a:solidFill>
                  <a:srgbClr val="000000"/>
                </a:solidFill>
                <a:latin typeface="Consolas" panose="020B0609020204030204" pitchFamily="49" charset="0"/>
              </a:rPr>
              <a:t>J = 456 - (456 &gt;&gt; 4 &lt;&lt; 4);</a:t>
            </a:r>
          </a:p>
        </p:txBody>
      </p:sp>
    </p:spTree>
    <p:extLst>
      <p:ext uri="{BB962C8B-B14F-4D97-AF65-F5344CB8AC3E}">
        <p14:creationId xmlns:p14="http://schemas.microsoft.com/office/powerpoint/2010/main" val="307969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位运算应用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-Mask</a:t>
            </a:r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868226" y="2320925"/>
            <a:ext cx="7141036" cy="2677656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 latinLnBrk="1"/>
            <a:r>
              <a:rPr lang="pt-BR" altLang="zh-CN" sz="2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 =   1010 1010</a:t>
            </a:r>
          </a:p>
          <a:p>
            <a:pPr algn="l" latinLnBrk="1"/>
            <a:r>
              <a:rPr lang="pt-BR" altLang="zh-CN" sz="2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B =   0000 1111  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（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Mask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，掩码）</a:t>
            </a:r>
            <a:endParaRPr lang="pt-BR" altLang="zh-CN" sz="2400" b="0" i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algn="l" latinLnBrk="1"/>
            <a:r>
              <a:rPr lang="pt-BR" altLang="zh-CN" sz="2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-----------------</a:t>
            </a:r>
          </a:p>
          <a:p>
            <a:pPr algn="l" latinLnBrk="1"/>
            <a:r>
              <a:rPr lang="pt-BR" altLang="zh-CN" sz="2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A&amp;B = 0000 1010   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屏蔽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清零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zh-CN" altLang="en-US" sz="2400" dirty="0">
                <a:solidFill>
                  <a:srgbClr val="333333"/>
                </a:solidFill>
                <a:latin typeface="Consolas" panose="020B0609020204030204" pitchFamily="49" charset="0"/>
              </a:rPr>
              <a:t>高</a:t>
            </a:r>
            <a:r>
              <a:rPr lang="en-US" altLang="zh-CN" sz="2400" dirty="0">
                <a:solidFill>
                  <a:srgbClr val="333333"/>
                </a:solidFill>
                <a:latin typeface="Consolas" panose="020B0609020204030204" pitchFamily="49" charset="0"/>
              </a:rPr>
              <a:t>4</a:t>
            </a:r>
            <a:r>
              <a:rPr lang="zh-CN" altLang="en-US" sz="2400" dirty="0">
                <a:solidFill>
                  <a:srgbClr val="333333"/>
                </a:solidFill>
                <a:latin typeface="Consolas" panose="020B0609020204030204" pitchFamily="49" charset="0"/>
              </a:rPr>
              <a:t>位</a:t>
            </a:r>
            <a:r>
              <a:rPr lang="pt-BR" altLang="zh-CN" sz="2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   </a:t>
            </a:r>
          </a:p>
          <a:p>
            <a:pPr algn="l" latinLnBrk="1"/>
            <a:r>
              <a:rPr lang="pt-BR" altLang="zh-CN" sz="2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A|B = 1010 1111   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置位低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位</a:t>
            </a:r>
            <a:r>
              <a:rPr lang="pt-BR" altLang="zh-CN" sz="2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   </a:t>
            </a:r>
          </a:p>
          <a:p>
            <a:pPr algn="l" latinLnBrk="1"/>
            <a:r>
              <a:rPr lang="pt-BR" altLang="zh-CN" sz="2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A^B = 1010 </a:t>
            </a:r>
            <a:r>
              <a:rPr lang="pt-BR" altLang="zh-CN" sz="2400" dirty="0">
                <a:solidFill>
                  <a:srgbClr val="333333"/>
                </a:solidFill>
                <a:latin typeface="Consolas" panose="020B0609020204030204" pitchFamily="49" charset="0"/>
              </a:rPr>
              <a:t>01</a:t>
            </a:r>
            <a:r>
              <a:rPr lang="pt-BR" altLang="zh-CN" sz="2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01   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高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位直通，低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位求反</a:t>
            </a:r>
            <a:endParaRPr lang="pt-BR" altLang="zh-CN" sz="2400" b="0" i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endParaRPr lang="zh-CN" altLang="en-US" sz="24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200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1" grpId="0" bldLvl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Char char="p"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rgbClr val="FF00FF"/>
              </a:buClr>
              <a:buSzPct val="85000"/>
              <a:buFont typeface="Wingdings" panose="05000000000000000000" pitchFamily="2" charset="2"/>
              <a:buChar char="n"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E21E2C"/>
              </a:buClr>
              <a:buSzPct val="85000"/>
              <a:buFont typeface="Wingdings" panose="05000000000000000000" pitchFamily="2" charset="2"/>
              <a:buChar char="u"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har char="»"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0"/>
              <a:t>12-</a:t>
            </a:r>
            <a:fld id="{6DACA670-18FE-4E37-B219-B69E54F56162}" type="slidenum">
              <a:rPr lang="en-US" altLang="zh-CN" sz="1400" b="0"/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lang="en-US" altLang="zh-CN" sz="1400" b="0"/>
          </a:p>
        </p:txBody>
      </p:sp>
      <p:sp>
        <p:nvSpPr>
          <p:cNvPr id="532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None/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将一个数的某位清零</a:t>
            </a:r>
          </a:p>
          <a:p>
            <a:pPr marL="914400" lvl="1" indent="-457200">
              <a:buNone/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	       </a:t>
            </a:r>
            <a:endParaRPr lang="en-US" altLang="zh-CN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914400" lvl="1" indent="-457200">
              <a:buNone/>
              <a:defRPr/>
            </a:pP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	      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如果想将某个数的某个比特清零，只要另找一个数，让对应的该比特置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，然后使两数进行按位与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&amp;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运算，即可达到将此数的特定比特清零的目的。</a:t>
            </a:r>
          </a:p>
          <a:p>
            <a:pPr marL="914400" lvl="1" indent="-457200">
              <a:buNone/>
              <a:defRPr/>
            </a:pP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	        如：有数为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00101011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，想让该数从右数的第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比特变成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，其他位保持不变。我们另找一个数，该数从右数的第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比特设它为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，其他位全为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：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11110111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，将两个数进行</a:t>
            </a:r>
            <a:r>
              <a:rPr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&amp;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运算：</a:t>
            </a:r>
          </a:p>
          <a:p>
            <a:pPr marL="1371600" lvl="2" indent="-457200">
              <a:buNone/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    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0 0 1 0 </a:t>
            </a:r>
            <a:r>
              <a:rPr lang="en-US" altLang="zh-CN" dirty="0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0 1 1</a:t>
            </a:r>
          </a:p>
          <a:p>
            <a:pPr marL="1371600" lvl="2" indent="-457200">
              <a:spcBef>
                <a:spcPct val="0"/>
              </a:spcBef>
              <a:buNone/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</a:t>
            </a:r>
            <a:r>
              <a:rPr lang="en-US" altLang="zh-CN" u="sng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&amp;  1 1 1 1</a:t>
            </a:r>
            <a:r>
              <a:rPr lang="en-US" altLang="zh-CN" u="sng" dirty="0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0 </a:t>
            </a:r>
            <a:r>
              <a:rPr lang="en-US" altLang="zh-CN" u="sng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1 1 1</a:t>
            </a:r>
          </a:p>
          <a:p>
            <a:pPr marL="1371600" lvl="2" indent="-457200">
              <a:spcBef>
                <a:spcPct val="0"/>
              </a:spcBef>
              <a:buNone/>
              <a:defRPr/>
            </a:pPr>
            <a:r>
              <a:rPr lang="en-US" altLang="zh-CN" sz="1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  </a:t>
            </a:r>
            <a:r>
              <a:rPr lang="en-US" altLang="zh-CN" sz="1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sz="1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0 0 1 0 </a:t>
            </a:r>
            <a:r>
              <a:rPr lang="en-US" altLang="zh-CN" dirty="0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0 1 1</a:t>
            </a:r>
          </a:p>
        </p:txBody>
      </p:sp>
      <p:sp>
        <p:nvSpPr>
          <p:cNvPr id="6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7" name="直接连接符 6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9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按位与的实际用途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436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Char char="p"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rgbClr val="FF00FF"/>
              </a:buClr>
              <a:buSzPct val="85000"/>
              <a:buFont typeface="Wingdings" panose="05000000000000000000" pitchFamily="2" charset="2"/>
              <a:buChar char="n"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E21E2C"/>
              </a:buClr>
              <a:buSzPct val="85000"/>
              <a:buFont typeface="Wingdings" panose="05000000000000000000" pitchFamily="2" charset="2"/>
              <a:buChar char="u"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har char="»"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0"/>
              <a:t>12-</a:t>
            </a:r>
            <a:fld id="{B5AB9055-F2F8-40FF-93A3-07762C5D9ABE}" type="slidenum">
              <a:rPr lang="en-US" altLang="zh-CN" sz="1400" b="0"/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lang="en-US" altLang="zh-CN" sz="1400" b="0"/>
          </a:p>
        </p:txBody>
      </p:sp>
      <p:sp>
        <p:nvSpPr>
          <p:cNvPr id="533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None/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取一个数中某些指定位</a:t>
            </a:r>
          </a:p>
          <a:p>
            <a:pPr marL="914400" lvl="1" indent="-457200">
              <a:buNone/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	        如有一个两个字节整数 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a=(16a1)</a:t>
            </a:r>
            <a:r>
              <a:rPr kumimoji="1" lang="en-US" altLang="zh-CN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16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，想取出其中的低字节。我们构造一个数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，它的高字节全为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，低字节全为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，即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b=(00ff)</a:t>
            </a:r>
            <a:r>
              <a:rPr kumimoji="1" lang="en-US" altLang="zh-CN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16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=(255)</a:t>
            </a:r>
            <a:r>
              <a:rPr kumimoji="1" lang="en-US" altLang="zh-CN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10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，只需将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与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按位与即可：</a:t>
            </a:r>
          </a:p>
          <a:p>
            <a:pPr marL="457200" indent="-457200">
              <a:buNone/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		              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 = (16a1)</a:t>
            </a:r>
            <a:r>
              <a:rPr kumimoji="1" lang="en-US" altLang="zh-CN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16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= (00010110</a:t>
            </a:r>
            <a:r>
              <a:rPr kumimoji="1" lang="en-US" altLang="zh-CN" dirty="0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10100001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  <a:r>
              <a:rPr kumimoji="1" lang="en-US" altLang="zh-CN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</a:p>
          <a:p>
            <a:pPr marL="457200" indent="-457200">
              <a:buNone/>
              <a:defRPr/>
            </a:pP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     </a:t>
            </a:r>
            <a:r>
              <a:rPr kumimoji="1" lang="en-US" altLang="zh-CN" u="sng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&amp; b = (00ff )</a:t>
            </a:r>
            <a:r>
              <a:rPr kumimoji="1" lang="en-US" altLang="zh-CN" u="sng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16</a:t>
            </a:r>
            <a:r>
              <a:rPr kumimoji="1" lang="en-US" altLang="zh-CN" u="sng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= (</a:t>
            </a:r>
            <a:r>
              <a:rPr kumimoji="1" lang="en-US" altLang="zh-CN" u="sng" dirty="0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0000000011111111</a:t>
            </a:r>
            <a:r>
              <a:rPr kumimoji="1" lang="en-US" altLang="zh-CN" u="sng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  <a:r>
              <a:rPr kumimoji="1" lang="en-US" altLang="zh-CN" u="sng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</a:p>
          <a:p>
            <a:pPr marL="457200" indent="-457200">
              <a:buNone/>
              <a:defRPr/>
            </a:pP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               (00a1)</a:t>
            </a:r>
            <a:r>
              <a:rPr kumimoji="1" lang="en-US" altLang="zh-CN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16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=  (00000000</a:t>
            </a:r>
            <a:r>
              <a:rPr kumimoji="1" lang="en-US" altLang="zh-CN" dirty="0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10100001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)</a:t>
            </a:r>
            <a:r>
              <a:rPr kumimoji="1" lang="en-US" altLang="zh-CN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</a:p>
        </p:txBody>
      </p:sp>
      <p:sp>
        <p:nvSpPr>
          <p:cNvPr id="6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按位与的实际用途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39329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Char char="p"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rgbClr val="FF00FF"/>
              </a:buClr>
              <a:buSzPct val="85000"/>
              <a:buFont typeface="Wingdings" panose="05000000000000000000" pitchFamily="2" charset="2"/>
              <a:buChar char="n"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E21E2C"/>
              </a:buClr>
              <a:buSzPct val="85000"/>
              <a:buFont typeface="Wingdings" panose="05000000000000000000" pitchFamily="2" charset="2"/>
              <a:buChar char="u"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har char="»"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0"/>
              <a:t>12-</a:t>
            </a:r>
            <a:fld id="{C7442E58-98BF-4348-8439-924794ECEEA5}" type="slidenum">
              <a:rPr lang="en-US" altLang="zh-CN" sz="1400" b="0"/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lang="en-US" altLang="zh-CN" sz="1400" b="0"/>
          </a:p>
        </p:txBody>
      </p:sp>
      <p:sp>
        <p:nvSpPr>
          <p:cNvPr id="536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914400" lvl="1" indent="-457200">
              <a:buFont typeface="Wingdings" panose="05000000000000000000" pitchFamily="2" charset="2"/>
              <a:buAutoNum type="arabicPeriod"/>
              <a:defRPr/>
            </a:pP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使特定位翻转：假设有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01111010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，想使其低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位翻转，即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变为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变为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。可以将它与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00001111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进行∧运算，即</a:t>
            </a:r>
          </a:p>
          <a:p>
            <a:pPr marL="1828800" lvl="3" indent="-457200">
              <a:buNone/>
              <a:defRPr/>
            </a:pP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0 1 1 1 </a:t>
            </a:r>
            <a:r>
              <a:rPr kumimoji="1" lang="en-US" altLang="zh-CN" sz="2000" dirty="0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1 0 1 0</a:t>
            </a:r>
          </a:p>
          <a:p>
            <a:pPr marL="1828800" lvl="3" indent="-457200">
              <a:buNone/>
              <a:defRPr/>
            </a:pP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</a:t>
            </a:r>
            <a:r>
              <a:rPr kumimoji="1" lang="en-US" altLang="zh-CN" sz="2000" u="sng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∧    0 0 0 0 1 1 1 1</a:t>
            </a:r>
          </a:p>
          <a:p>
            <a:pPr marL="1828800" lvl="3" indent="-457200">
              <a:buNone/>
              <a:defRPr/>
            </a:pP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0 1 1 1 </a:t>
            </a:r>
            <a:r>
              <a:rPr kumimoji="1" lang="en-US" altLang="zh-CN" sz="2000" dirty="0">
                <a:solidFill>
                  <a:srgbClr val="FF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0 1 0 1</a:t>
            </a:r>
          </a:p>
          <a:p>
            <a:pPr marL="457200" indent="-457200">
              <a:buNone/>
              <a:defRPr/>
            </a:pP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		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要使哪几位翻转就将与其进行∧运算的该几位置为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即可。</a:t>
            </a:r>
            <a:endParaRPr kumimoji="1" lang="en-US" altLang="zh-CN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457200" indent="-457200">
              <a:buNone/>
              <a:defRPr/>
            </a:pPr>
            <a:endParaRPr kumimoji="1" lang="zh-CN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914400" lvl="1" indent="-457200">
              <a:buFont typeface="Wingdings" panose="05000000000000000000" pitchFamily="2" charset="2"/>
              <a:buAutoNum type="arabicPeriod" startAt="2"/>
              <a:defRPr/>
            </a:pP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与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相∧，保留原值。如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012∧00=012</a:t>
            </a:r>
          </a:p>
          <a:p>
            <a:pPr marL="1371600" lvl="2" indent="-457200">
              <a:buNone/>
              <a:defRPr/>
            </a:pP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    0 0 0 0 1 0 1 0</a:t>
            </a:r>
          </a:p>
          <a:p>
            <a:pPr marL="1371600" lvl="2" indent="-457200">
              <a:buNone/>
              <a:defRPr/>
            </a:pP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</a:t>
            </a:r>
            <a:r>
              <a:rPr kumimoji="1" lang="en-US" altLang="zh-CN" u="sng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∧   0 0 0 0 0 0 0 0</a:t>
            </a:r>
          </a:p>
          <a:p>
            <a:pPr marL="1371600" lvl="2" indent="-457200">
              <a:buNone/>
              <a:defRPr/>
            </a:pP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    0 0 0 0 1 0 1 0</a:t>
            </a:r>
          </a:p>
          <a:p>
            <a:pPr marL="457200" indent="-457200">
              <a:buNone/>
              <a:defRPr/>
            </a:pP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		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因为原数中的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与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进行∧运算得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0∧0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得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，故保留原数。</a:t>
            </a:r>
          </a:p>
        </p:txBody>
      </p:sp>
      <p:sp>
        <p:nvSpPr>
          <p:cNvPr id="8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异或的实际用途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57145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Char char="p"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rgbClr val="FF00FF"/>
              </a:buClr>
              <a:buSzPct val="85000"/>
              <a:buFont typeface="Wingdings" panose="05000000000000000000" pitchFamily="2" charset="2"/>
              <a:buChar char="n"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rgbClr val="E21E2C"/>
              </a:buClr>
              <a:buSzPct val="85000"/>
              <a:buFont typeface="Wingdings" panose="05000000000000000000" pitchFamily="2" charset="2"/>
              <a:buChar char="u"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har char="»"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0"/>
              <a:t>12-</a:t>
            </a:r>
            <a:fld id="{B827BA6A-2E2C-4861-817B-856858800DDB}" type="slidenum">
              <a:rPr lang="en-US" altLang="zh-CN" sz="1400" b="0"/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lang="en-US" altLang="zh-CN" sz="1400" b="0"/>
          </a:p>
        </p:txBody>
      </p:sp>
      <p:sp>
        <p:nvSpPr>
          <p:cNvPr id="539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199" y="1825624"/>
            <a:ext cx="10785953" cy="4650331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110000"/>
              </a:lnSpc>
              <a:buNone/>
              <a:defRPr/>
            </a:pP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若一个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16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位整数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，想使最低一位为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，可以将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 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与二进制数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1111111111111110  ( 0177776)</a:t>
            </a:r>
            <a:r>
              <a:rPr kumimoji="1" lang="en-US" altLang="zh-CN" sz="2000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8 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进行按位与：</a:t>
            </a:r>
          </a:p>
          <a:p>
            <a:pPr marL="1714500" lvl="3" indent="-342900">
              <a:lnSpc>
                <a:spcPct val="110000"/>
              </a:lnSpc>
              <a:buNone/>
              <a:defRPr/>
            </a:pP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0 0 0 0 0 0 0 0 0 0 1 1 1 1 0 1</a:t>
            </a:r>
          </a:p>
          <a:p>
            <a:pPr marL="1714500" lvl="3" indent="-342900">
              <a:lnSpc>
                <a:spcPct val="110000"/>
              </a:lnSpc>
              <a:buNone/>
              <a:defRPr/>
            </a:pP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</a:t>
            </a:r>
            <a:r>
              <a:rPr kumimoji="1" lang="en-US" altLang="zh-CN" sz="2000" u="sng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&amp;   1 1 1 1 1 1 1 1 1 1 1 1 1 1 1 0</a:t>
            </a:r>
          </a:p>
          <a:p>
            <a:pPr marL="1714500" lvl="3" indent="-342900">
              <a:lnSpc>
                <a:spcPct val="110000"/>
              </a:lnSpc>
              <a:buNone/>
              <a:defRPr/>
            </a:pP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0 0 0 0 0 0 0 0 0 0 1 1 1 1 0 0</a:t>
            </a:r>
          </a:p>
          <a:p>
            <a:pPr algn="ctr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	       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但若将此程序移植到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32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位计算机上，由于整数用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个字节表示，想将最后一位变成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就不能用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a&amp;0177776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了，应改用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 &amp; 037777777776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。这个算法的移植性很差，可以改用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	a=a&amp;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～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：</a:t>
            </a:r>
            <a:endParaRPr kumimoji="1" lang="en-US" altLang="zh-CN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lnSpc>
                <a:spcPct val="110000"/>
              </a:lnSpc>
              <a:buNone/>
              <a:defRPr/>
            </a:pP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因为在以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个字节存一个整数时，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的二进制形式为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0000000000000001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，～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是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1111111111111110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。以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4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个字节存储一个整数时，～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是</a:t>
            </a:r>
            <a:r>
              <a:rPr kumimoji="1" lang="en-US" altLang="zh-CN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1111111111111111111111111111110</a:t>
            </a:r>
            <a:r>
              <a:rPr kumimoji="1"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。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kumimoji="1" lang="zh-CN" altLang="en-US" sz="2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取反的实际用途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370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117600" y="571183"/>
            <a:ext cx="8978900" cy="329184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What is the output of this C code?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6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#include &lt;stdio.h&gt;
    int main()
    {
        unsigned int a = 10;
        a = ~a;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6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printf("%d\n", a);</a:t>
            </a:r>
          </a:p>
          <a:p>
            <a:pPr lvl="0" algn="l">
              <a:spcBef>
                <a:spcPts val="0"/>
              </a:spcBef>
              <a:buNone/>
            </a:pPr>
            <a:r>
              <a:rPr lang="zh-CN" altLang="en-US" sz="26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377440" y="3979386"/>
            <a:ext cx="519430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-9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10665" y="39674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10665" y="46532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2377440" y="4677886"/>
            <a:ext cx="71310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-10</a:t>
            </a: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10665" y="53390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5" name="文本框 14"/>
          <p:cNvSpPr txBox="1"/>
          <p:nvPr>
            <p:custDataLst>
              <p:tags r:id="rId8"/>
            </p:custDataLst>
          </p:nvPr>
        </p:nvSpPr>
        <p:spPr>
          <a:xfrm>
            <a:off x="2377440" y="5363686"/>
            <a:ext cx="71310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-11</a:t>
            </a: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10665" y="6024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7" name="文本框 16"/>
          <p:cNvSpPr txBox="1"/>
          <p:nvPr>
            <p:custDataLst>
              <p:tags r:id="rId10"/>
            </p:custDataLst>
          </p:nvPr>
        </p:nvSpPr>
        <p:spPr>
          <a:xfrm>
            <a:off x="2377440" y="6049486"/>
            <a:ext cx="570230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</a:p>
        </p:txBody>
      </p:sp>
      <p:sp>
        <p:nvSpPr>
          <p:cNvPr id="19" name="圆角矩形 18"/>
          <p:cNvSpPr/>
          <p:nvPr>
            <p:custDataLst>
              <p:tags r:id="rId11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</a:p>
        </p:txBody>
      </p:sp>
      <p:grpSp>
        <p:nvGrpSpPr>
          <p:cNvPr id="7" name="组合 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2" name="图片 1" descr="tmp958C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427480" y="616903"/>
            <a:ext cx="6517640" cy="341503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Comment on the output of this C code?</a:t>
            </a:r>
          </a:p>
          <a:p>
            <a:pPr lvl="0" algn="l">
              <a:spcBef>
                <a:spcPts val="0"/>
              </a:spcBef>
              <a:buNone/>
            </a:pPr>
            <a:r>
              <a:rPr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#include &lt;stdio.h&gt;
    int main()
    {
        int i, n, a = 4;
        scanf("%d", &amp;n);
        for (i = 0; i &lt; n; i++)
            a = a * 2;
    }</a:t>
            </a: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438400" y="4172426"/>
            <a:ext cx="2736850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Logical Shift left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416052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2438400" y="4826476"/>
            <a:ext cx="183324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 output</a:t>
            </a: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481457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2438400" y="5480526"/>
            <a:ext cx="3501390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Arithmetic Shift right</a:t>
            </a: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546862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2438400" y="6123781"/>
            <a:ext cx="3380740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bitwise exclusive OR</a:t>
            </a: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611187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7" name="圆角矩形 16"/>
          <p:cNvSpPr/>
          <p:nvPr>
            <p:custDataLst>
              <p:tags r:id="rId11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</a:p>
        </p:txBody>
      </p:sp>
      <p:grpSp>
        <p:nvGrpSpPr>
          <p:cNvPr id="7" name="组合 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2" name="图片 1" descr="tmp958C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赋值运算符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640731" y="1854801"/>
          <a:ext cx="11025489" cy="44527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6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35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2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461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运算符</a:t>
                      </a:r>
                    </a:p>
                  </a:txBody>
                  <a:tcPr marL="11430" marR="11430" marT="11430" marB="1143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11430" marR="11430" marT="11430" marB="1143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实例</a:t>
                      </a:r>
                    </a:p>
                  </a:txBody>
                  <a:tcPr marL="11430" marR="11430" marT="11430" marB="1143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简单的赋值运算符，把右边操作数的值赋给左边操作数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 = A + B </a:t>
                      </a:r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将把 </a:t>
                      </a:r>
                      <a:r>
                        <a:rPr 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 + B </a:t>
                      </a:r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的值赋给 </a:t>
                      </a:r>
                      <a:r>
                        <a:rPr 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+=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加且赋值运算符，把右边操作数加上左边操作数的结果赋值给左边操作数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 += A </a:t>
                      </a:r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相当于 </a:t>
                      </a:r>
                      <a:r>
                        <a:rPr 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 = C + A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-=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减且赋值运算符，把左边操作数减去右边操作数的结果赋值给左边操作数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 -= A </a:t>
                      </a:r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相当于 </a:t>
                      </a:r>
                      <a:r>
                        <a:rPr 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 = C - A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*</a:t>
                      </a:r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乘且赋值运算符，把右边操作数乘以左边操作数的结果赋值给左边操作数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 *= A </a:t>
                      </a:r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相当于 </a:t>
                      </a:r>
                      <a:r>
                        <a:rPr 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 = C * A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/=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除且赋值运算符，把左边操作数除以右边操作数的结果赋值给左边操作数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 /= A </a:t>
                      </a:r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相当于 </a:t>
                      </a:r>
                      <a:r>
                        <a:rPr 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 = C / A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%=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求模且赋值运算符，求两个操作数的模赋值给左边操作数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 %= A </a:t>
                      </a:r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相当于 </a:t>
                      </a:r>
                      <a:r>
                        <a:rPr 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 = C % A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&lt;&lt;=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左移且赋值运算符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 &lt;&lt;= 2 </a:t>
                      </a:r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等同于 </a:t>
                      </a:r>
                      <a:r>
                        <a:rPr 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 = C &lt;&lt; 2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&gt;&gt;=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右移且赋值运算符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 &gt;&gt;= 2 </a:t>
                      </a:r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等同于 </a:t>
                      </a:r>
                      <a:r>
                        <a:rPr 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 = C &gt;&gt; 2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&amp;=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按位与且赋值运算符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 &amp;= 2 </a:t>
                      </a:r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等同于 </a:t>
                      </a:r>
                      <a:r>
                        <a:rPr 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 = C &amp; 2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^=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按位异或且赋值运算符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 ^= 2 </a:t>
                      </a:r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等同于 </a:t>
                      </a:r>
                      <a:r>
                        <a:rPr 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 = C ^ 2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|=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按位或且赋值运算符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 |= 2 </a:t>
                      </a:r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等同于 </a:t>
                      </a:r>
                      <a:r>
                        <a:rPr 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 = C | 2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赋值运算符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-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例子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04322" y="1595021"/>
            <a:ext cx="5387762" cy="5262979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1200" b="0" i="0" dirty="0" err="1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2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21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1 - =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运算符实例，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c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 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= %d</a:t>
            </a:r>
            <a:r>
              <a:rPr lang="en-US" altLang="zh-CN" sz="12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2 - +=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运算符实例，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c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 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= %d</a:t>
            </a:r>
            <a:r>
              <a:rPr lang="en-US" altLang="zh-CN" sz="12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-=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3 - -=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运算符实例，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c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 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= %d</a:t>
            </a:r>
            <a:r>
              <a:rPr lang="en-US" altLang="zh-CN" sz="12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*=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4 - *=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运算符实例，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c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 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= %d</a:t>
            </a:r>
            <a:r>
              <a:rPr lang="en-US" altLang="zh-CN" sz="12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/=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5 - /=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运算符实例，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c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 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= %d</a:t>
            </a:r>
            <a:r>
              <a:rPr lang="en-US" altLang="zh-CN" sz="12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2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%=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6 - %%=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运算符实例，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c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 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= %d</a:t>
            </a:r>
            <a:r>
              <a:rPr lang="en-US" altLang="zh-CN" sz="12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&lt;&lt;= </a:t>
            </a:r>
            <a:r>
              <a:rPr lang="en-US" altLang="zh-CN" sz="12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7 - &lt;&lt;=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运算符实例，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c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 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= %d</a:t>
            </a:r>
            <a:r>
              <a:rPr lang="en-US" altLang="zh-CN" sz="12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&gt;&gt;= </a:t>
            </a:r>
            <a:r>
              <a:rPr lang="en-US" altLang="zh-CN" sz="12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8 - &gt;&gt;=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运算符实例，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c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 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= %d</a:t>
            </a:r>
            <a:r>
              <a:rPr lang="en-US" altLang="zh-CN" sz="12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&amp;= </a:t>
            </a:r>
            <a:r>
              <a:rPr lang="en-US" altLang="zh-CN" sz="12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9 - &amp;=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运算符实例，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c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 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= %d</a:t>
            </a:r>
            <a:r>
              <a:rPr lang="en-US" altLang="zh-CN" sz="12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^= </a:t>
            </a:r>
            <a:r>
              <a:rPr lang="en-US" altLang="zh-CN" sz="12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10 - ^=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运算符实例，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c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 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= %d</a:t>
            </a:r>
            <a:r>
              <a:rPr lang="en-US" altLang="zh-CN" sz="12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|= </a:t>
            </a:r>
            <a:r>
              <a:rPr lang="en-US" altLang="zh-CN" sz="12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11 - |=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运算符实例，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c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 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= %d</a:t>
            </a:r>
            <a:r>
              <a:rPr lang="en-US" altLang="zh-CN" sz="12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}</a:t>
            </a:r>
            <a:endParaRPr lang="zh-CN" altLang="en-US" sz="1200" b="1" dirty="0">
              <a:latin typeface="Consolas" panose="020B06090202040302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B8ED819-116C-CBEC-35E4-08A98E9A8331}"/>
              </a:ext>
            </a:extLst>
          </p:cNvPr>
          <p:cNvSpPr txBox="1"/>
          <p:nvPr/>
        </p:nvSpPr>
        <p:spPr>
          <a:xfrm>
            <a:off x="5664743" y="1628724"/>
            <a:ext cx="16898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err="1">
                <a:solidFill>
                  <a:schemeClr val="bg1">
                    <a:lumMod val="65000"/>
                  </a:schemeClr>
                </a:solidFill>
              </a:rPr>
              <a:t>ops_and_assign.c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赋值运算符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-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例子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04322" y="1595021"/>
            <a:ext cx="5387762" cy="5262979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1200" b="0" i="0" dirty="0" err="1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2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21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1 - =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运算符实例，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c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 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= %d</a:t>
            </a:r>
            <a:r>
              <a:rPr lang="en-US" altLang="zh-CN" sz="12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2 - +=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运算符实例，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c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 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= %d</a:t>
            </a:r>
            <a:r>
              <a:rPr lang="en-US" altLang="zh-CN" sz="12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-=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3 - -=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运算符实例，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c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 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= %d</a:t>
            </a:r>
            <a:r>
              <a:rPr lang="en-US" altLang="zh-CN" sz="12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*=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4 - *=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运算符实例，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c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 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= %d</a:t>
            </a:r>
            <a:r>
              <a:rPr lang="en-US" altLang="zh-CN" sz="12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/=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5 - /=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运算符实例，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c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 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= %d</a:t>
            </a:r>
            <a:r>
              <a:rPr lang="en-US" altLang="zh-CN" sz="12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2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%=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6 - %%=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运算符实例，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c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 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= %d</a:t>
            </a:r>
            <a:r>
              <a:rPr lang="en-US" altLang="zh-CN" sz="12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&lt;&lt;= </a:t>
            </a:r>
            <a:r>
              <a:rPr lang="en-US" altLang="zh-CN" sz="12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7 - &lt;&lt;=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运算符实例，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c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 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= %d</a:t>
            </a:r>
            <a:r>
              <a:rPr lang="en-US" altLang="zh-CN" sz="12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&gt;&gt;= </a:t>
            </a:r>
            <a:r>
              <a:rPr lang="en-US" altLang="zh-CN" sz="12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8 - &gt;&gt;=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运算符实例，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c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 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= %d</a:t>
            </a:r>
            <a:r>
              <a:rPr lang="en-US" altLang="zh-CN" sz="12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&amp;= </a:t>
            </a:r>
            <a:r>
              <a:rPr lang="en-US" altLang="zh-CN" sz="12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9 - &amp;=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运算符实例，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c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 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= %d</a:t>
            </a:r>
            <a:r>
              <a:rPr lang="en-US" altLang="zh-CN" sz="12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^= </a:t>
            </a:r>
            <a:r>
              <a:rPr lang="en-US" altLang="zh-CN" sz="12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10 - ^=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运算符实例，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c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 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= %d</a:t>
            </a:r>
            <a:r>
              <a:rPr lang="en-US" altLang="zh-CN" sz="12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|= </a:t>
            </a:r>
            <a:r>
              <a:rPr lang="en-US" altLang="zh-CN" sz="12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11 - |=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运算符实例，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c </a:t>
            </a:r>
            <a:r>
              <a:rPr lang="zh-CN" altLang="en-US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 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= %d</a:t>
            </a:r>
            <a:r>
              <a:rPr lang="en-US" altLang="zh-CN" sz="12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2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2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2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2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}</a:t>
            </a:r>
            <a:endParaRPr lang="zh-CN" altLang="en-US" sz="1200" b="1" dirty="0">
              <a:latin typeface="Consolas" panose="020B0609020204030204" pitchFamily="49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5798820" y="2133121"/>
            <a:ext cx="6083717" cy="3789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7610" rIns="91440" bIns="4761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左侧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的代码被编译和执行时，它会产生下列结果：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660066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运算符实例，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+=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运算符实例，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42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-=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运算符实例，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*=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运算符实例，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441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/=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运算符实例，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%=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运算符实例，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&lt;&lt;=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运算符实例，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44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&gt;&gt;=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运算符实例，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&amp;=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运算符实例，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^=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运算符实例，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|=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运算符实例，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3347574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其他运算符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1608471" y="2733040"/>
          <a:ext cx="8975057" cy="2430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4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6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40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运算符</a:t>
                      </a:r>
                    </a:p>
                  </a:txBody>
                  <a:tcPr marL="11430" marR="11430" marT="11430" marB="1143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40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11430" marR="11430" marT="11430" marB="1143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2400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实例</a:t>
                      </a:r>
                    </a:p>
                  </a:txBody>
                  <a:tcPr marL="11430" marR="11430" marT="11430" marB="1143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sizeof</a:t>
                      </a:r>
                      <a:r>
                        <a:rPr lang="en-US" sz="2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()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返回变量的大小。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4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sizeof</a:t>
                      </a:r>
                      <a:r>
                        <a:rPr lang="en-US" sz="2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(a) </a:t>
                      </a:r>
                      <a:r>
                        <a:rPr lang="zh-CN" altLang="en-US" sz="2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将返回 </a:t>
                      </a:r>
                      <a:r>
                        <a:rPr lang="en-US" altLang="zh-CN" sz="2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2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，其中 </a:t>
                      </a:r>
                      <a:r>
                        <a:rPr lang="en-US" sz="2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 </a:t>
                      </a:r>
                      <a:r>
                        <a:rPr lang="zh-CN" altLang="en-US" sz="2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是整数。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返回变量的地址。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2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&amp;a; </a:t>
                      </a:r>
                      <a:r>
                        <a:rPr lang="zh-CN" altLang="en-US" sz="2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将给出变量的实际地址。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zh-CN" altLang="en-US" sz="2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*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指向一个变量。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*</a:t>
                      </a:r>
                      <a:r>
                        <a:rPr lang="en-US" altLang="zh-CN" sz="2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a; </a:t>
                      </a:r>
                      <a:r>
                        <a:rPr lang="zh-CN" altLang="en-US" sz="2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将指向一个变量。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2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? :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条件表达式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2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如果条件为真 </a:t>
                      </a:r>
                      <a:r>
                        <a:rPr lang="en-US" altLang="zh-CN" sz="2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? </a:t>
                      </a:r>
                      <a:r>
                        <a:rPr lang="zh-CN" altLang="en-US" sz="2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则值为 </a:t>
                      </a:r>
                      <a:r>
                        <a:rPr lang="en-US" altLang="zh-CN" sz="2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 : </a:t>
                      </a:r>
                      <a:r>
                        <a:rPr lang="zh-CN" altLang="en-US" sz="2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否则值为 </a:t>
                      </a:r>
                      <a:r>
                        <a:rPr lang="en-US" altLang="zh-CN" sz="2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其他运算符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-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例子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42423" y="1583845"/>
            <a:ext cx="6480026" cy="5262979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en-US" altLang="zh-CN" sz="16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1600" b="0" i="0" dirty="0" err="1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sz="16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sz="16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6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short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altLang="zh-CN" sz="16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en-US" altLang="zh-CN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运算符实例 *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zh-CN" altLang="en-US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altLang="zh-CN" sz="1600" b="0" i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6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1 - </a:t>
            </a:r>
            <a:r>
              <a:rPr lang="zh-CN" altLang="en-US" sz="16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变量 </a:t>
            </a:r>
            <a:r>
              <a:rPr lang="en-US" altLang="zh-CN" sz="16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a </a:t>
            </a:r>
            <a:r>
              <a:rPr lang="zh-CN" altLang="en-US" sz="16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的大小 </a:t>
            </a:r>
            <a:r>
              <a:rPr lang="en-US" altLang="zh-CN" sz="16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= %</a:t>
            </a:r>
            <a:r>
              <a:rPr lang="en-US" altLang="zh-CN" sz="1600" b="0" i="0" dirty="0" err="1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lu</a:t>
            </a:r>
            <a:r>
              <a:rPr lang="en-US" altLang="zh-CN" sz="16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6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6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zh-CN" sz="16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6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6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2 - </a:t>
            </a:r>
            <a:r>
              <a:rPr lang="zh-CN" altLang="en-US" sz="16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变量 </a:t>
            </a:r>
            <a:r>
              <a:rPr lang="en-US" altLang="zh-CN" sz="16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b </a:t>
            </a:r>
            <a:r>
              <a:rPr lang="zh-CN" altLang="en-US" sz="16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的大小 </a:t>
            </a:r>
            <a:r>
              <a:rPr lang="en-US" altLang="zh-CN" sz="16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= %</a:t>
            </a:r>
            <a:r>
              <a:rPr lang="en-US" altLang="zh-CN" sz="1600" b="0" i="0" dirty="0" err="1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lu</a:t>
            </a:r>
            <a:r>
              <a:rPr lang="en-US" altLang="zh-CN" sz="16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6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6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zh-CN" sz="16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sz="16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6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Line 3 - </a:t>
            </a:r>
            <a:r>
              <a:rPr lang="zh-CN" altLang="en-US" sz="16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变量 </a:t>
            </a:r>
            <a:r>
              <a:rPr lang="en-US" altLang="zh-CN" sz="16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c </a:t>
            </a:r>
            <a:r>
              <a:rPr lang="zh-CN" altLang="en-US" sz="16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的大小 </a:t>
            </a:r>
            <a:r>
              <a:rPr lang="en-US" altLang="zh-CN" sz="16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= %</a:t>
            </a:r>
            <a:r>
              <a:rPr lang="en-US" altLang="zh-CN" sz="1600" b="0" i="0" dirty="0" err="1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lu</a:t>
            </a:r>
            <a:r>
              <a:rPr lang="en-US" altLang="zh-CN" sz="16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6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6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i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zh-CN" sz="16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sz="16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/* &amp;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和 * 运算符实例 *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zh-CN" altLang="en-US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altLang="zh-CN" sz="1600" b="0" i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en-US" altLang="zh-CN" sz="16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/* ‘</a:t>
            </a:r>
            <a:r>
              <a:rPr lang="en-US" altLang="zh-CN" sz="16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’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现在包含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‘a’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的地址 *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zh-CN" altLang="en-US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</a:t>
            </a:r>
            <a:endParaRPr lang="en-US" altLang="zh-CN" sz="1600" b="0" i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6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a </a:t>
            </a:r>
            <a:r>
              <a:rPr lang="zh-CN" altLang="en-US" sz="16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的值是 </a:t>
            </a:r>
            <a:r>
              <a:rPr lang="en-US" altLang="zh-CN" sz="16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sz="16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6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6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6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6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1600" b="0" i="0" dirty="0" err="1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altLang="zh-CN" sz="16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CN" altLang="en-US" sz="16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是 </a:t>
            </a:r>
            <a:r>
              <a:rPr lang="en-US" altLang="zh-CN" sz="16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sz="16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6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6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*</a:t>
            </a:r>
            <a:r>
              <a:rPr lang="en-US" altLang="zh-CN" sz="16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en-US" altLang="zh-CN" sz="16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三元运算符实例 *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zh-CN" altLang="en-US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altLang="zh-CN" sz="1600" b="0" i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6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6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zh-CN" sz="16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16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? </a:t>
            </a:r>
            <a:r>
              <a:rPr lang="en-US" altLang="zh-CN" sz="16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6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6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b </a:t>
            </a:r>
            <a:r>
              <a:rPr lang="zh-CN" altLang="en-US" sz="16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的值是 </a:t>
            </a:r>
            <a:r>
              <a:rPr lang="en-US" altLang="zh-CN" sz="16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sz="16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6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6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6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zh-CN" sz="16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sz="16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? </a:t>
            </a:r>
            <a:r>
              <a:rPr lang="en-US" altLang="zh-CN" sz="16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1600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0" i="0" dirty="0" err="1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6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b </a:t>
            </a:r>
            <a:r>
              <a:rPr lang="zh-CN" altLang="en-US" sz="16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的值是 </a:t>
            </a:r>
            <a:r>
              <a:rPr lang="en-US" altLang="zh-CN" sz="16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sz="16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n-US" altLang="zh-CN" sz="1600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600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600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6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16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US" altLang="zh-CN" sz="1600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}</a:t>
            </a:r>
            <a:endParaRPr lang="zh-CN" altLang="en-US" sz="1600" b="1" dirty="0">
              <a:latin typeface="Consolas" panose="020B0609020204030204" pitchFamily="49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7195731" y="2433277"/>
            <a:ext cx="4591115" cy="317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7610" rIns="91440" bIns="4761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左侧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的代码被编译和执行时，它会产生下列结果：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660066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a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的大小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b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的大小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c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的大小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的值是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ptr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的值是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的值是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zh-CN" altLang="zh-CN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627D6D-DD5D-E4A3-6AFA-A692E4323CAE}"/>
              </a:ext>
            </a:extLst>
          </p:cNvPr>
          <p:cNvSpPr txBox="1"/>
          <p:nvPr/>
        </p:nvSpPr>
        <p:spPr>
          <a:xfrm>
            <a:off x="6722449" y="1528840"/>
            <a:ext cx="12779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err="1">
                <a:solidFill>
                  <a:schemeClr val="bg1">
                    <a:lumMod val="65000"/>
                  </a:schemeClr>
                </a:solidFill>
              </a:rPr>
              <a:t>ops_others.c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运算符优先级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69539" y="2186121"/>
            <a:ext cx="1038464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2400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 运算符的优先级确定表达式中项的组合。这会影响到一个表达式如何计算。某些运算符比其他运算符有更高的优先级，例如，乘除运算符具有比加减运算符更高的优先级。</a:t>
            </a:r>
            <a:endParaRPr lang="en-US" altLang="zh-CN" sz="2400" b="1" i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latinLnBrk="1"/>
            <a:endParaRPr lang="zh-CN" altLang="en-US" sz="2400" b="1" i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latinLnBrk="1"/>
            <a:r>
              <a:rPr lang="zh-CN" altLang="en-US" sz="2400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 例如 </a:t>
            </a:r>
            <a:r>
              <a:rPr lang="en-US" altLang="zh-CN" sz="2400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x = 7 + 3 * 2</a:t>
            </a:r>
            <a:r>
              <a:rPr lang="zh-CN" altLang="en-US" sz="2400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，在这里，</a:t>
            </a:r>
            <a:r>
              <a:rPr lang="en-US" altLang="zh-CN" sz="2400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sz="2400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被赋值为 </a:t>
            </a:r>
            <a:r>
              <a:rPr lang="en-US" altLang="zh-CN" sz="2400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en-US" sz="2400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，而不是 </a:t>
            </a:r>
            <a:r>
              <a:rPr lang="en-US" altLang="zh-CN" sz="2400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400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，因为运算符 * 具有比 </a:t>
            </a:r>
            <a:r>
              <a:rPr lang="en-US" altLang="zh-CN" sz="2400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2400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更高的优先级，所以首先计算乘法 </a:t>
            </a:r>
            <a:r>
              <a:rPr lang="en-US" altLang="zh-CN" sz="2400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3*2</a:t>
            </a:r>
            <a:r>
              <a:rPr lang="zh-CN" altLang="en-US" sz="2400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，然后再加上 </a:t>
            </a:r>
            <a:r>
              <a:rPr lang="en-US" altLang="zh-CN" sz="2400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400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b="1" i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latinLnBrk="1"/>
            <a:endParaRPr lang="zh-CN" altLang="en-US" sz="2400" b="1" i="0" dirty="0">
              <a:solidFill>
                <a:srgbClr val="333333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latinLnBrk="1"/>
            <a:r>
              <a:rPr lang="zh-CN" altLang="en-US" sz="2400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 下表将按运算符优先级从高到低列出各个运算符，具有较高优先级的运算符出现在表格的上面，具有较低优先级的运算符出现在表格的下面。在表达式中，较高优先级的运算符会优先被计算。</a:t>
            </a:r>
          </a:p>
          <a:p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0" y="-152872"/>
            <a:ext cx="2508327" cy="1146352"/>
          </a:xfrm>
          <a:prstGeom prst="rect">
            <a:avLst/>
          </a:prstGeom>
        </p:spPr>
      </p:pic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3274060" y="231140"/>
          <a:ext cx="8127999" cy="639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类别 </a:t>
                      </a:r>
                    </a:p>
                  </a:txBody>
                  <a:tcPr marL="11430" marR="11430" marT="11430" marB="1143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运算符 </a:t>
                      </a:r>
                    </a:p>
                  </a:txBody>
                  <a:tcPr marL="11430" marR="11430" marT="11430" marB="1143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结合性 </a:t>
                      </a:r>
                    </a:p>
                  </a:txBody>
                  <a:tcPr marL="11430" marR="11430" marT="11430" marB="1143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后缀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() [] -&gt; . ++ - - 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从左到右 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一元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- ! ~ ++ - - (type)* &amp; sizeof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从右到左 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乘除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* </a:t>
                      </a:r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 %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从左到右 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加减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-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从左到右 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移位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&lt;&lt; &gt;&gt;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从左到右 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关系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 &lt;= &gt; &gt;=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从左到右 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相等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== !=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从左到右 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位与 </a:t>
                      </a:r>
                      <a:r>
                        <a:rPr 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AND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从左到右 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位异或 </a:t>
                      </a:r>
                      <a:r>
                        <a:rPr 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XOR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^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从左到右 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位或 </a:t>
                      </a:r>
                      <a:r>
                        <a:rPr 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OR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|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从左到右 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逻辑与 </a:t>
                      </a:r>
                      <a:r>
                        <a:rPr 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AND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&amp;&amp;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从左到右 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逻辑或 </a:t>
                      </a:r>
                      <a:r>
                        <a:rPr 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OR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||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从左到右 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条件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?: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从右到左 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赋值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 += -= *= /= %=&gt;&gt;= &lt;&lt;= &amp;= ^= |=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从右到左 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逗号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 </a:t>
                      </a:r>
                    </a:p>
                  </a:txBody>
                  <a:tcPr marL="19050" marR="19050" marT="26670" marB="2667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从左到右 </a:t>
                      </a:r>
                    </a:p>
                  </a:txBody>
                  <a:tcPr marL="19050" marR="19050" marT="26670" marB="2667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运算符优先级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-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例子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26243" y="1736901"/>
            <a:ext cx="6364040" cy="4801314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pt-BR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pt-BR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pt-BR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pt-BR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altLang="zh-CN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pt-BR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pt-BR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altLang="zh-CN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pt-BR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pt-BR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altLang="zh-CN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pt-BR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pt-BR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altLang="zh-CN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pt-BR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pt-BR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pt-BR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pt-BR" altLang="zh-CN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// ( 30 * 15 ) / 5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pt-BR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(a + b) * c / d </a:t>
            </a:r>
            <a:r>
              <a:rPr lang="zh-CN" altLang="pt-BR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的值是 </a:t>
            </a:r>
            <a:r>
              <a:rPr lang="pt-BR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pt-BR" altLang="zh-CN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pt-BR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pt-BR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pt-BR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pt-BR" altLang="zh-CN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// (30 * 15 ) / 5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pt-BR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((a + b) * c) / d </a:t>
            </a:r>
            <a:r>
              <a:rPr lang="zh-CN" altLang="pt-BR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的值是 </a:t>
            </a:r>
            <a:r>
              <a:rPr lang="pt-BR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pt-BR" altLang="zh-CN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pt-BR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pt-BR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,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pt-BR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pt-BR" altLang="zh-CN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// (30) * (15/5)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pt-BR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(a + b) * (c / d) </a:t>
            </a:r>
            <a:r>
              <a:rPr lang="zh-CN" altLang="pt-BR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的值是 </a:t>
            </a:r>
            <a:r>
              <a:rPr lang="pt-BR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pt-BR" altLang="zh-CN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pt-BR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pt-BR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pt-BR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pt-BR" altLang="zh-CN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// 20 + (150/5)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pt-BR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a + (b * c) / d </a:t>
            </a:r>
            <a:r>
              <a:rPr lang="zh-CN" altLang="pt-BR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的值是 </a:t>
            </a:r>
            <a:r>
              <a:rPr lang="pt-BR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pt-BR" altLang="zh-CN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pt-BR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pt-BR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,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pt-BR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pt-BR" altLang="zh-CN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}</a:t>
            </a:r>
            <a:endParaRPr lang="zh-CN" altLang="en-US" b="1" dirty="0">
              <a:latin typeface="Consolas" panose="020B06090202040302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2D66289-9D1D-CE96-0562-D6237B106D67}"/>
              </a:ext>
            </a:extLst>
          </p:cNvPr>
          <p:cNvSpPr txBox="1"/>
          <p:nvPr/>
        </p:nvSpPr>
        <p:spPr>
          <a:xfrm>
            <a:off x="6746618" y="1736901"/>
            <a:ext cx="28392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err="1">
                <a:solidFill>
                  <a:schemeClr val="bg1">
                    <a:lumMod val="65000"/>
                  </a:schemeClr>
                </a:solidFill>
              </a:rPr>
              <a:t>ops_precedence_parenthesis.c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426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1865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运算符优先级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-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例子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26243" y="1736901"/>
            <a:ext cx="6364040" cy="4801314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#include </a:t>
            </a:r>
            <a:r>
              <a:rPr lang="pt-BR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pt-BR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pt-BR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pt-BR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altLang="zh-CN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pt-BR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pt-BR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altLang="zh-CN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pt-BR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pt-BR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altLang="zh-CN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pt-BR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pt-BR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altLang="zh-CN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pt-BR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pt-BR" altLang="zh-CN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pt-BR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pt-BR" altLang="zh-CN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// ( 30 * 15 ) / 5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pt-BR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(a + b) * c / d </a:t>
            </a:r>
            <a:r>
              <a:rPr lang="zh-CN" altLang="pt-BR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的值是 </a:t>
            </a:r>
            <a:r>
              <a:rPr lang="pt-BR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pt-BR" altLang="zh-CN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pt-BR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pt-BR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pt-BR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pt-BR" altLang="zh-CN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// (30 * 15 ) / 5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pt-BR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((a + b) * c) / d </a:t>
            </a:r>
            <a:r>
              <a:rPr lang="zh-CN" altLang="pt-BR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的值是 </a:t>
            </a:r>
            <a:r>
              <a:rPr lang="pt-BR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pt-BR" altLang="zh-CN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pt-BR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pt-BR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,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pt-BR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pt-BR" altLang="zh-CN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// (30) * (15/5)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pt-BR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(a + b) * (c / d) </a:t>
            </a:r>
            <a:r>
              <a:rPr lang="zh-CN" altLang="pt-BR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的值是 </a:t>
            </a:r>
            <a:r>
              <a:rPr lang="pt-BR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pt-BR" altLang="zh-CN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pt-BR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pt-BR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pt-BR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pt-BR" altLang="zh-CN" b="0" i="0" dirty="0">
                <a:solidFill>
                  <a:srgbClr val="AA5500"/>
                </a:solidFill>
                <a:effectLst/>
                <a:latin typeface="Consolas" panose="020B0609020204030204" pitchFamily="49" charset="0"/>
              </a:rPr>
              <a:t>// 20 + (150/5)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pt-BR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a + (b * c) / d </a:t>
            </a:r>
            <a:r>
              <a:rPr lang="zh-CN" altLang="pt-BR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的值是 </a:t>
            </a:r>
            <a:r>
              <a:rPr lang="pt-BR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pt-BR" altLang="zh-CN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pt-BR" altLang="zh-CN" b="0" i="0" dirty="0">
                <a:solidFill>
                  <a:srgbClr val="AA1111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pt-BR" altLang="zh-CN" b="0" i="0" dirty="0">
                <a:solidFill>
                  <a:srgbClr val="8B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, </a:t>
            </a:r>
            <a:r>
              <a:rPr lang="pt-BR" altLang="zh-CN" b="0" i="0" dirty="0">
                <a:solidFill>
                  <a:srgbClr val="0055AA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pt-BR" altLang="zh-CN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pt-BR" altLang="zh-CN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zh-CN" b="0" i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altLang="zh-CN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pt-BR" altLang="zh-CN" b="0" i="0" dirty="0">
                <a:solidFill>
                  <a:srgbClr val="808000"/>
                </a:solidFill>
                <a:effectLst/>
                <a:latin typeface="Consolas" panose="020B0609020204030204" pitchFamily="49" charset="0"/>
              </a:rPr>
              <a:t>}</a:t>
            </a:r>
            <a:endParaRPr lang="zh-CN" altLang="en-US" b="1" dirty="0">
              <a:latin typeface="Consolas" panose="020B0609020204030204" pitchFamily="49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7025717" y="3024322"/>
            <a:ext cx="4636299" cy="1942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7610" rIns="91440" bIns="4761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左侧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的代码被编译和执行时，它会产生下列结果：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660066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b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c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d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的值是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90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((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b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c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d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的值是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90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b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d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的值是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90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c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d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的值是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2723586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46967"/>
          <a:stretch>
            <a:fillRect/>
          </a:stretch>
        </p:blipFill>
        <p:spPr>
          <a:xfrm>
            <a:off x="0" y="2176476"/>
            <a:ext cx="12209296" cy="287792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2176477"/>
            <a:ext cx="12192000" cy="287792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6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161452" y="2867904"/>
            <a:ext cx="1886392" cy="1015663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dist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</a:p>
        </p:txBody>
      </p:sp>
      <p:sp>
        <p:nvSpPr>
          <p:cNvPr id="16" name="TextBox 10"/>
          <p:cNvSpPr txBox="1"/>
          <p:nvPr/>
        </p:nvSpPr>
        <p:spPr>
          <a:xfrm>
            <a:off x="2565806" y="3990096"/>
            <a:ext cx="7060388" cy="523196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中山大学计算机学院</a:t>
            </a:r>
            <a:endParaRPr lang="en-US" altLang="zh-CN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00" r="2284" b="11992"/>
          <a:stretch>
            <a:fillRect/>
          </a:stretch>
        </p:blipFill>
        <p:spPr>
          <a:xfrm>
            <a:off x="4339400" y="923192"/>
            <a:ext cx="3433000" cy="1072662"/>
          </a:xfrm>
          <a:prstGeom prst="rect">
            <a:avLst/>
          </a:prstGeom>
        </p:spPr>
      </p:pic>
      <p:sp>
        <p:nvSpPr>
          <p:cNvPr id="17" name="TextBox 6"/>
          <p:cNvSpPr txBox="1"/>
          <p:nvPr/>
        </p:nvSpPr>
        <p:spPr>
          <a:xfrm>
            <a:off x="5398605" y="5644929"/>
            <a:ext cx="1723500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b="1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讲课人</a:t>
            </a:r>
            <a:r>
              <a:rPr lang="zh-CN" altLang="en-US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：陆勇</a:t>
            </a:r>
            <a:endParaRPr lang="en-US" altLang="zh-CN" dirty="0">
              <a:solidFill>
                <a:srgbClr val="0147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Freeform 7"/>
          <p:cNvSpPr>
            <a:spLocks noChangeAspect="1" noEditPoints="1"/>
          </p:cNvSpPr>
          <p:nvPr/>
        </p:nvSpPr>
        <p:spPr bwMode="auto">
          <a:xfrm>
            <a:off x="4549092" y="5611849"/>
            <a:ext cx="462900" cy="466244"/>
          </a:xfrm>
          <a:custGeom>
            <a:avLst/>
            <a:gdLst>
              <a:gd name="T0" fmla="*/ 661 w 904"/>
              <a:gd name="T1" fmla="*/ 461 h 905"/>
              <a:gd name="T2" fmla="*/ 661 w 904"/>
              <a:gd name="T3" fmla="*/ 339 h 905"/>
              <a:gd name="T4" fmla="*/ 605 w 904"/>
              <a:gd name="T5" fmla="*/ 339 h 905"/>
              <a:gd name="T6" fmla="*/ 605 w 904"/>
              <a:gd name="T7" fmla="*/ 461 h 905"/>
              <a:gd name="T8" fmla="*/ 456 w 904"/>
              <a:gd name="T9" fmla="*/ 610 h 905"/>
              <a:gd name="T10" fmla="*/ 453 w 904"/>
              <a:gd name="T11" fmla="*/ 610 h 905"/>
              <a:gd name="T12" fmla="*/ 452 w 904"/>
              <a:gd name="T13" fmla="*/ 610 h 905"/>
              <a:gd name="T14" fmla="*/ 451 w 904"/>
              <a:gd name="T15" fmla="*/ 610 h 905"/>
              <a:gd name="T16" fmla="*/ 448 w 904"/>
              <a:gd name="T17" fmla="*/ 610 h 905"/>
              <a:gd name="T18" fmla="*/ 299 w 904"/>
              <a:gd name="T19" fmla="*/ 461 h 905"/>
              <a:gd name="T20" fmla="*/ 299 w 904"/>
              <a:gd name="T21" fmla="*/ 339 h 905"/>
              <a:gd name="T22" fmla="*/ 244 w 904"/>
              <a:gd name="T23" fmla="*/ 339 h 905"/>
              <a:gd name="T24" fmla="*/ 244 w 904"/>
              <a:gd name="T25" fmla="*/ 461 h 905"/>
              <a:gd name="T26" fmla="*/ 419 w 904"/>
              <a:gd name="T27" fmla="*/ 664 h 905"/>
              <a:gd name="T28" fmla="*/ 419 w 904"/>
              <a:gd name="T29" fmla="*/ 752 h 905"/>
              <a:gd name="T30" fmla="*/ 295 w 904"/>
              <a:gd name="T31" fmla="*/ 787 h 905"/>
              <a:gd name="T32" fmla="*/ 610 w 904"/>
              <a:gd name="T33" fmla="*/ 787 h 905"/>
              <a:gd name="T34" fmla="*/ 484 w 904"/>
              <a:gd name="T35" fmla="*/ 751 h 905"/>
              <a:gd name="T36" fmla="*/ 484 w 904"/>
              <a:gd name="T37" fmla="*/ 664 h 905"/>
              <a:gd name="T38" fmla="*/ 661 w 904"/>
              <a:gd name="T39" fmla="*/ 461 h 905"/>
              <a:gd name="T40" fmla="*/ 450 w 904"/>
              <a:gd name="T41" fmla="*/ 558 h 905"/>
              <a:gd name="T42" fmla="*/ 452 w 904"/>
              <a:gd name="T43" fmla="*/ 558 h 905"/>
              <a:gd name="T44" fmla="*/ 454 w 904"/>
              <a:gd name="T45" fmla="*/ 558 h 905"/>
              <a:gd name="T46" fmla="*/ 554 w 904"/>
              <a:gd name="T47" fmla="*/ 459 h 905"/>
              <a:gd name="T48" fmla="*/ 554 w 904"/>
              <a:gd name="T49" fmla="*/ 218 h 905"/>
              <a:gd name="T50" fmla="*/ 454 w 904"/>
              <a:gd name="T51" fmla="*/ 118 h 905"/>
              <a:gd name="T52" fmla="*/ 452 w 904"/>
              <a:gd name="T53" fmla="*/ 118 h 905"/>
              <a:gd name="T54" fmla="*/ 450 w 904"/>
              <a:gd name="T55" fmla="*/ 118 h 905"/>
              <a:gd name="T56" fmla="*/ 351 w 904"/>
              <a:gd name="T57" fmla="*/ 218 h 905"/>
              <a:gd name="T58" fmla="*/ 351 w 904"/>
              <a:gd name="T59" fmla="*/ 459 h 905"/>
              <a:gd name="T60" fmla="*/ 450 w 904"/>
              <a:gd name="T61" fmla="*/ 558 h 905"/>
              <a:gd name="T62" fmla="*/ 452 w 904"/>
              <a:gd name="T63" fmla="*/ 0 h 905"/>
              <a:gd name="T64" fmla="*/ 904 w 904"/>
              <a:gd name="T65" fmla="*/ 453 h 905"/>
              <a:gd name="T66" fmla="*/ 452 w 904"/>
              <a:gd name="T67" fmla="*/ 905 h 905"/>
              <a:gd name="T68" fmla="*/ 0 w 904"/>
              <a:gd name="T69" fmla="*/ 453 h 905"/>
              <a:gd name="T70" fmla="*/ 452 w 904"/>
              <a:gd name="T71" fmla="*/ 0 h 9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904" h="905">
                <a:moveTo>
                  <a:pt x="661" y="461"/>
                </a:moveTo>
                <a:lnTo>
                  <a:pt x="661" y="339"/>
                </a:lnTo>
                <a:cubicBezTo>
                  <a:pt x="661" y="304"/>
                  <a:pt x="605" y="304"/>
                  <a:pt x="605" y="339"/>
                </a:cubicBezTo>
                <a:lnTo>
                  <a:pt x="605" y="461"/>
                </a:lnTo>
                <a:cubicBezTo>
                  <a:pt x="605" y="543"/>
                  <a:pt x="538" y="610"/>
                  <a:pt x="456" y="610"/>
                </a:cubicBezTo>
                <a:cubicBezTo>
                  <a:pt x="455" y="610"/>
                  <a:pt x="454" y="610"/>
                  <a:pt x="453" y="610"/>
                </a:cubicBezTo>
                <a:lnTo>
                  <a:pt x="452" y="610"/>
                </a:lnTo>
                <a:lnTo>
                  <a:pt x="451" y="610"/>
                </a:lnTo>
                <a:cubicBezTo>
                  <a:pt x="450" y="610"/>
                  <a:pt x="449" y="610"/>
                  <a:pt x="448" y="610"/>
                </a:cubicBezTo>
                <a:cubicBezTo>
                  <a:pt x="366" y="610"/>
                  <a:pt x="299" y="543"/>
                  <a:pt x="299" y="461"/>
                </a:cubicBezTo>
                <a:lnTo>
                  <a:pt x="299" y="339"/>
                </a:lnTo>
                <a:cubicBezTo>
                  <a:pt x="299" y="304"/>
                  <a:pt x="244" y="304"/>
                  <a:pt x="244" y="339"/>
                </a:cubicBezTo>
                <a:cubicBezTo>
                  <a:pt x="244" y="355"/>
                  <a:pt x="244" y="461"/>
                  <a:pt x="244" y="461"/>
                </a:cubicBezTo>
                <a:cubicBezTo>
                  <a:pt x="244" y="564"/>
                  <a:pt x="320" y="650"/>
                  <a:pt x="419" y="664"/>
                </a:cubicBezTo>
                <a:lnTo>
                  <a:pt x="419" y="752"/>
                </a:lnTo>
                <a:lnTo>
                  <a:pt x="295" y="787"/>
                </a:lnTo>
                <a:lnTo>
                  <a:pt x="610" y="787"/>
                </a:lnTo>
                <a:lnTo>
                  <a:pt x="484" y="751"/>
                </a:lnTo>
                <a:lnTo>
                  <a:pt x="484" y="664"/>
                </a:lnTo>
                <a:cubicBezTo>
                  <a:pt x="584" y="650"/>
                  <a:pt x="661" y="564"/>
                  <a:pt x="661" y="461"/>
                </a:cubicBezTo>
                <a:close/>
                <a:moveTo>
                  <a:pt x="450" y="558"/>
                </a:moveTo>
                <a:cubicBezTo>
                  <a:pt x="451" y="558"/>
                  <a:pt x="451" y="558"/>
                  <a:pt x="452" y="558"/>
                </a:cubicBezTo>
                <a:cubicBezTo>
                  <a:pt x="453" y="558"/>
                  <a:pt x="453" y="558"/>
                  <a:pt x="454" y="558"/>
                </a:cubicBezTo>
                <a:cubicBezTo>
                  <a:pt x="509" y="558"/>
                  <a:pt x="554" y="514"/>
                  <a:pt x="554" y="459"/>
                </a:cubicBezTo>
                <a:lnTo>
                  <a:pt x="554" y="218"/>
                </a:lnTo>
                <a:cubicBezTo>
                  <a:pt x="554" y="163"/>
                  <a:pt x="509" y="118"/>
                  <a:pt x="454" y="118"/>
                </a:cubicBezTo>
                <a:cubicBezTo>
                  <a:pt x="453" y="118"/>
                  <a:pt x="453" y="118"/>
                  <a:pt x="452" y="118"/>
                </a:cubicBezTo>
                <a:cubicBezTo>
                  <a:pt x="452" y="118"/>
                  <a:pt x="451" y="118"/>
                  <a:pt x="450" y="118"/>
                </a:cubicBezTo>
                <a:cubicBezTo>
                  <a:pt x="395" y="118"/>
                  <a:pt x="351" y="163"/>
                  <a:pt x="351" y="218"/>
                </a:cubicBezTo>
                <a:lnTo>
                  <a:pt x="351" y="459"/>
                </a:lnTo>
                <a:cubicBezTo>
                  <a:pt x="351" y="514"/>
                  <a:pt x="395" y="558"/>
                  <a:pt x="450" y="558"/>
                </a:cubicBezTo>
                <a:close/>
                <a:moveTo>
                  <a:pt x="452" y="0"/>
                </a:moveTo>
                <a:cubicBezTo>
                  <a:pt x="702" y="0"/>
                  <a:pt x="904" y="203"/>
                  <a:pt x="904" y="453"/>
                </a:cubicBezTo>
                <a:cubicBezTo>
                  <a:pt x="904" y="702"/>
                  <a:pt x="702" y="905"/>
                  <a:pt x="452" y="905"/>
                </a:cubicBezTo>
                <a:cubicBezTo>
                  <a:pt x="202" y="905"/>
                  <a:pt x="0" y="702"/>
                  <a:pt x="0" y="453"/>
                </a:cubicBezTo>
                <a:cubicBezTo>
                  <a:pt x="0" y="203"/>
                  <a:pt x="202" y="0"/>
                  <a:pt x="452" y="0"/>
                </a:cubicBezTo>
                <a:close/>
              </a:path>
            </a:pathLst>
          </a:custGeom>
          <a:solidFill>
            <a:srgbClr val="014723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zh-CN" altLang="en-US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  <p:tag name="RAINPROBLEMTYPE" val="MultipleChoiceMA"/>
  <p:tag name="RAINPROBLEM" val="MultipleChoiceMA"/>
  <p:tag name="PROBLEMSCORE_HALF" val="0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Correct"/>
  <p:tag name="RAINPROBLEMTYPE" val="MultipleChoiceM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  <p:tag name="RAINPROBLEMTYPE" val="MultipleChoiceMA"/>
  <p:tag name="RAINPROBLEM" val="MultipleChoiceMA"/>
  <p:tag name="PROBLEMSCORE_HALF" val="0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Correct"/>
  <p:tag name="RAINPROBLEMTYPE" val="MultipleChoiceMA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  <p:tag name="RAINPROBLEMTYPE" val="MultipleChoiceMA"/>
  <p:tag name="RAINPROBLEM" val="MultipleChoiceMA"/>
  <p:tag name="PROBLEMSCORE_HALF" val="0.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Correct"/>
  <p:tag name="RAINPROBLEMTYPE" val="MultipleChoiceM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自定义 2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004723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6166</TotalTime>
  <Words>9262</Words>
  <Application>Microsoft Office PowerPoint</Application>
  <PresentationFormat>宽屏</PresentationFormat>
  <Paragraphs>1285</Paragraphs>
  <Slides>72</Slides>
  <Notes>57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72</vt:i4>
      </vt:variant>
    </vt:vector>
  </HeadingPairs>
  <TitlesOfParts>
    <vt:vector size="89" baseType="lpstr">
      <vt:lpstr>Arial Unicode MS</vt:lpstr>
      <vt:lpstr>DejaVuSans</vt:lpstr>
      <vt:lpstr>FandolSong</vt:lpstr>
      <vt:lpstr>Helvetica Neue</vt:lpstr>
      <vt:lpstr>Impact MT Std</vt:lpstr>
      <vt:lpstr>Menlo</vt:lpstr>
      <vt:lpstr>Microsoft Yahei</vt:lpstr>
      <vt:lpstr>等线</vt:lpstr>
      <vt:lpstr>等线 Light</vt:lpstr>
      <vt:lpstr>宋体</vt:lpstr>
      <vt:lpstr>微软雅黑</vt:lpstr>
      <vt:lpstr>Arial</vt:lpstr>
      <vt:lpstr>Cambria Math</vt:lpstr>
      <vt:lpstr>Consolas</vt:lpstr>
      <vt:lpstr>Lucida Console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答辩-19</dc:title>
  <dc:creator>LP</dc:creator>
  <cp:lastModifiedBy>stsluy</cp:lastModifiedBy>
  <cp:revision>311</cp:revision>
  <dcterms:created xsi:type="dcterms:W3CDTF">2016-11-24T09:20:00Z</dcterms:created>
  <dcterms:modified xsi:type="dcterms:W3CDTF">2023-10-20T05:22:34Z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2052-11.1.0.10700</vt:lpwstr>
  </property>
  <property fmtid="{D5CDD505-2E9C-101B-9397-08002B2CF9AE}" pid="3" name="ICV">
    <vt:lpwstr>DE0C867DB9D4427D991D9DE803E4B6E9</vt:lpwstr>
  </property>
</Properties>
</file>