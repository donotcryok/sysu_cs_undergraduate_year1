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0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3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26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7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29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30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1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3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33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3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35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36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7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38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9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40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41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42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43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44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45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46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47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48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49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50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51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52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53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54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55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7" r:id="rId2"/>
    <p:sldId id="346" r:id="rId3"/>
    <p:sldId id="258" r:id="rId4"/>
    <p:sldId id="260" r:id="rId5"/>
    <p:sldId id="348" r:id="rId6"/>
    <p:sldId id="349" r:id="rId7"/>
    <p:sldId id="347" r:id="rId8"/>
    <p:sldId id="262" r:id="rId9"/>
    <p:sldId id="280" r:id="rId10"/>
    <p:sldId id="264" r:id="rId11"/>
    <p:sldId id="261" r:id="rId12"/>
    <p:sldId id="279" r:id="rId13"/>
    <p:sldId id="265" r:id="rId14"/>
    <p:sldId id="266" r:id="rId15"/>
    <p:sldId id="267" r:id="rId16"/>
    <p:sldId id="286" r:id="rId17"/>
    <p:sldId id="287" r:id="rId18"/>
    <p:sldId id="288" r:id="rId19"/>
    <p:sldId id="350" r:id="rId20"/>
    <p:sldId id="331" r:id="rId21"/>
    <p:sldId id="330" r:id="rId22"/>
    <p:sldId id="320" r:id="rId23"/>
    <p:sldId id="321" r:id="rId24"/>
    <p:sldId id="324" r:id="rId25"/>
    <p:sldId id="325" r:id="rId26"/>
    <p:sldId id="326" r:id="rId27"/>
    <p:sldId id="327" r:id="rId28"/>
    <p:sldId id="328" r:id="rId29"/>
    <p:sldId id="329" r:id="rId30"/>
    <p:sldId id="268" r:id="rId31"/>
    <p:sldId id="269" r:id="rId32"/>
    <p:sldId id="270" r:id="rId33"/>
    <p:sldId id="271" r:id="rId34"/>
    <p:sldId id="291" r:id="rId35"/>
    <p:sldId id="272" r:id="rId36"/>
    <p:sldId id="292" r:id="rId37"/>
    <p:sldId id="293" r:id="rId38"/>
    <p:sldId id="294" r:id="rId39"/>
    <p:sldId id="296" r:id="rId40"/>
    <p:sldId id="295" r:id="rId41"/>
    <p:sldId id="297" r:id="rId42"/>
    <p:sldId id="298" r:id="rId43"/>
    <p:sldId id="299" r:id="rId44"/>
    <p:sldId id="273" r:id="rId45"/>
    <p:sldId id="274" r:id="rId46"/>
    <p:sldId id="300" r:id="rId47"/>
    <p:sldId id="301" r:id="rId48"/>
    <p:sldId id="302" r:id="rId49"/>
    <p:sldId id="303" r:id="rId50"/>
    <p:sldId id="275" r:id="rId51"/>
    <p:sldId id="276" r:id="rId52"/>
    <p:sldId id="304" r:id="rId53"/>
    <p:sldId id="332" r:id="rId54"/>
    <p:sldId id="333" r:id="rId55"/>
    <p:sldId id="277" r:id="rId56"/>
    <p:sldId id="278" r:id="rId57"/>
    <p:sldId id="310" r:id="rId58"/>
    <p:sldId id="311" r:id="rId59"/>
    <p:sldId id="312" r:id="rId60"/>
    <p:sldId id="351" r:id="rId61"/>
    <p:sldId id="352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D5D"/>
    <a:srgbClr val="FFFFFF"/>
    <a:srgbClr val="014723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2" autoAdjust="0"/>
    <p:restoredTop sz="85278" autoAdjust="0"/>
  </p:normalViewPr>
  <p:slideViewPr>
    <p:cSldViewPr snapToGrid="0">
      <p:cViewPr varScale="1">
        <p:scale>
          <a:sx n="78" d="100"/>
          <a:sy n="78" d="100"/>
        </p:scale>
        <p:origin x="648" y="67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481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596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401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27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865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71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如果输入的半径</a:t>
            </a:r>
            <a:r>
              <a:rPr lang="en-US" altLang="zh-CN" dirty="0">
                <a:latin typeface="Consolas" panose="020B0609020204030204" pitchFamily="49" charset="0"/>
              </a:rPr>
              <a:t>radius</a:t>
            </a:r>
            <a:r>
              <a:rPr lang="zh-CN" altLang="en-US" dirty="0"/>
              <a:t>不满足条件，</a:t>
            </a:r>
            <a:r>
              <a:rPr lang="en-US" altLang="zh-CN" dirty="0">
                <a:latin typeface="Consolas" panose="020B0609020204030204" pitchFamily="49" charset="0"/>
              </a:rPr>
              <a:t>area</a:t>
            </a:r>
            <a:r>
              <a:rPr lang="zh-CN" altLang="en-US" dirty="0">
                <a:latin typeface="Consolas" panose="020B0609020204030204" pitchFamily="49" charset="0"/>
              </a:rPr>
              <a:t>就不执行，输出不确定的值会报错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275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557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010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700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2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918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对于判断是否为</a:t>
            </a:r>
            <a:r>
              <a:rPr lang="en-US" altLang="zh-CN" dirty="0"/>
              <a:t>0</a:t>
            </a:r>
            <a:r>
              <a:rPr lang="zh-CN" altLang="en-US" dirty="0"/>
              <a:t>的条件，不宜写成 </a:t>
            </a:r>
            <a:r>
              <a:rPr lang="en-US" altLang="zh-CN" dirty="0"/>
              <a:t>x%2==1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133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7842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4370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2128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0028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986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192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6724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8445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这样的结构，使用 </a:t>
            </a:r>
            <a:r>
              <a:rPr lang="en-US" altLang="zh-CN" dirty="0"/>
              <a:t>if else if </a:t>
            </a:r>
            <a:r>
              <a:rPr lang="zh-CN" altLang="en-US" dirty="0"/>
              <a:t>也能完成。但是，</a:t>
            </a:r>
            <a:r>
              <a:rPr lang="en-US" altLang="zh-CN" dirty="0"/>
              <a:t>switch </a:t>
            </a:r>
            <a:r>
              <a:rPr lang="zh-CN" altLang="en-US" dirty="0"/>
              <a:t>结构特别合适查表选择代码执行的问题，它具有最高的执行效率，在操作系统等中有广泛应用。</a:t>
            </a:r>
            <a:endParaRPr lang="en-US" altLang="zh-CN" dirty="0"/>
          </a:p>
          <a:p>
            <a:r>
              <a:rPr lang="en-US" altLang="zh-CN" dirty="0"/>
              <a:t>Run … 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3078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739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8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5770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5918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1492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19802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820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77695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hyperlink" Target="https://zh.cppreference.com/w/c/language/statements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7.xml"/><Relationship Id="rId7" Type="http://schemas.openxmlformats.org/officeDocument/2006/relationships/oleObject" Target="../embeddings/oleObject1.bin"/><Relationship Id="rId2" Type="http://schemas.openxmlformats.org/officeDocument/2006/relationships/tags" Target="../tags/tag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19.xml"/><Relationship Id="rId7" Type="http://schemas.openxmlformats.org/officeDocument/2006/relationships/oleObject" Target="../embeddings/oleObject2.bin"/><Relationship Id="rId2" Type="http://schemas.openxmlformats.org/officeDocument/2006/relationships/tags" Target="../tags/tag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10" Type="http://schemas.openxmlformats.org/officeDocument/2006/relationships/tags" Target="../tags/tag39.xml"/><Relationship Id="rId19" Type="http://schemas.openxmlformats.org/officeDocument/2006/relationships/image" Target="../media/image8.tmp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10" Type="http://schemas.openxmlformats.org/officeDocument/2006/relationships/tags" Target="../tags/tag56.xml"/><Relationship Id="rId19" Type="http://schemas.openxmlformats.org/officeDocument/2006/relationships/image" Target="../media/image8.tmp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image" Target="../media/image8.tmp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150.xml"/><Relationship Id="rId13" Type="http://schemas.openxmlformats.org/officeDocument/2006/relationships/tags" Target="../tags/tag15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12" Type="http://schemas.openxmlformats.org/officeDocument/2006/relationships/tags" Target="../tags/tag154.xml"/><Relationship Id="rId17" Type="http://schemas.openxmlformats.org/officeDocument/2006/relationships/tags" Target="../tags/tag159.xml"/><Relationship Id="rId2" Type="http://schemas.openxmlformats.org/officeDocument/2006/relationships/tags" Target="../tags/tag144.xml"/><Relationship Id="rId16" Type="http://schemas.openxmlformats.org/officeDocument/2006/relationships/tags" Target="../tags/tag158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11" Type="http://schemas.openxmlformats.org/officeDocument/2006/relationships/tags" Target="../tags/tag153.xml"/><Relationship Id="rId5" Type="http://schemas.openxmlformats.org/officeDocument/2006/relationships/tags" Target="../tags/tag147.xml"/><Relationship Id="rId15" Type="http://schemas.openxmlformats.org/officeDocument/2006/relationships/tags" Target="../tags/tag157.xml"/><Relationship Id="rId10" Type="http://schemas.openxmlformats.org/officeDocument/2006/relationships/tags" Target="../tags/tag152.xml"/><Relationship Id="rId19" Type="http://schemas.openxmlformats.org/officeDocument/2006/relationships/image" Target="../media/image8.tmp"/><Relationship Id="rId4" Type="http://schemas.openxmlformats.org/officeDocument/2006/relationships/tags" Target="../tags/tag146.xml"/><Relationship Id="rId9" Type="http://schemas.openxmlformats.org/officeDocument/2006/relationships/tags" Target="../tags/tag151.xml"/><Relationship Id="rId14" Type="http://schemas.openxmlformats.org/officeDocument/2006/relationships/tags" Target="../tags/tag15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0700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7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语言的语句（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Statements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）与复合语句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908685" y="1730375"/>
            <a:ext cx="3739515" cy="43667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语句有五种类型：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复合语句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（又称为“块，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”）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表达式语句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选择语句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5)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跳转语句</a:t>
            </a:r>
            <a:endParaRPr 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04CE85-6357-4161-BA87-9DFB7D282964}"/>
              </a:ext>
            </a:extLst>
          </p:cNvPr>
          <p:cNvSpPr txBox="1"/>
          <p:nvPr/>
        </p:nvSpPr>
        <p:spPr>
          <a:xfrm>
            <a:off x="5087519" y="3530714"/>
            <a:ext cx="5320145" cy="17543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int main() { // </a:t>
            </a:r>
            <a:r>
              <a:rPr lang="zh-CN" altLang="en-US" dirty="0">
                <a:latin typeface="Consolas" panose="020B0609020204030204" pitchFamily="49" charset="0"/>
              </a:rPr>
              <a:t>复合语句的开始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int n = 1; // </a:t>
            </a:r>
            <a:r>
              <a:rPr lang="zh-CN" altLang="en-US" dirty="0">
                <a:latin typeface="Consolas" panose="020B0609020204030204" pitchFamily="49" charset="0"/>
              </a:rPr>
              <a:t>声明，</a:t>
            </a:r>
            <a:r>
              <a:rPr lang="en-US" altLang="zh-CN" dirty="0">
                <a:latin typeface="Consolas" panose="020B0609020204030204" pitchFamily="49" charset="0"/>
              </a:rPr>
              <a:t>n </a:t>
            </a:r>
            <a:r>
              <a:rPr lang="zh-CN" altLang="en-US" dirty="0">
                <a:latin typeface="Consolas" panose="020B0609020204030204" pitchFamily="49" charset="0"/>
              </a:rPr>
              <a:t>是块中自动变量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n = n + 1; // </a:t>
            </a:r>
            <a:r>
              <a:rPr lang="zh-CN" altLang="en-US" dirty="0">
                <a:latin typeface="Consolas" panose="020B0609020204030204" pitchFamily="49" charset="0"/>
              </a:rPr>
              <a:t>表达式语句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("n = %d\n", n); // </a:t>
            </a:r>
            <a:r>
              <a:rPr lang="zh-CN" altLang="en-US" dirty="0">
                <a:latin typeface="Consolas" panose="020B0609020204030204" pitchFamily="49" charset="0"/>
              </a:rPr>
              <a:t>表达式语句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return 0; // </a:t>
            </a:r>
            <a:r>
              <a:rPr lang="zh-CN" altLang="en-US" dirty="0">
                <a:latin typeface="Consolas" panose="020B0609020204030204" pitchFamily="49" charset="0"/>
              </a:rPr>
              <a:t>返回语句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// </a:t>
            </a:r>
            <a:r>
              <a:rPr lang="zh-CN" altLang="en-US" dirty="0">
                <a:latin typeface="Consolas" panose="020B0609020204030204" pitchFamily="49" charset="0"/>
              </a:rPr>
              <a:t>复合语句之结尾，函数体之结尾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9AACEF-5885-45DE-9D1D-A9A57EC2C724}"/>
              </a:ext>
            </a:extLst>
          </p:cNvPr>
          <p:cNvSpPr txBox="1"/>
          <p:nvPr/>
        </p:nvSpPr>
        <p:spPr>
          <a:xfrm>
            <a:off x="5087519" y="5428965"/>
            <a:ext cx="390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在复合语句中，语句按</a:t>
            </a:r>
            <a:r>
              <a:rPr lang="zh-CN" altLang="en-US" b="1" dirty="0">
                <a:latin typeface="Consolas" panose="020B0609020204030204" pitchFamily="49" charset="0"/>
              </a:rPr>
              <a:t>顺序执行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2E291F-F89B-F3A2-707D-C2FE3464A8F1}"/>
              </a:ext>
            </a:extLst>
          </p:cNvPr>
          <p:cNvSpPr txBox="1"/>
          <p:nvPr/>
        </p:nvSpPr>
        <p:spPr>
          <a:xfrm>
            <a:off x="654483" y="6391469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5"/>
              </a:rPr>
              <a:t>语句 </a:t>
            </a:r>
            <a:r>
              <a:rPr lang="en-US" altLang="zh-CN" dirty="0">
                <a:hlinkClick r:id="rId5"/>
              </a:rPr>
              <a:t>- cppreference.com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57D7EC-D479-CD24-D9B8-BBC7595F2502}"/>
              </a:ext>
            </a:extLst>
          </p:cNvPr>
          <p:cNvSpPr txBox="1"/>
          <p:nvPr/>
        </p:nvSpPr>
        <p:spPr>
          <a:xfrm>
            <a:off x="5087519" y="2904754"/>
            <a:ext cx="390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在复合语句语法 </a:t>
            </a:r>
            <a:r>
              <a:rPr lang="en-US" altLang="zh-CN" dirty="0">
                <a:latin typeface="Consolas" panose="020B0609020204030204" pitchFamily="49" charset="0"/>
              </a:rPr>
              <a:t>{…}</a:t>
            </a:r>
            <a:r>
              <a:rPr lang="zh-CN" altLang="en-US" dirty="0">
                <a:latin typeface="Consolas" panose="020B0609020204030204" pitchFamily="49" charset="0"/>
              </a:rPr>
              <a:t>，例如：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922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  <p:bldP spid="55" grpId="0"/>
      <p:bldP spid="8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布尔表达式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Consolas" panose="020B0609020204030204" charset="0"/>
              </a:rPr>
              <a:t>if</a:t>
            </a:r>
            <a:r>
              <a:rPr lang="zh-CN" altLang="en-US" sz="2000" b="1" dirty="0"/>
              <a:t>语句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Consolas" panose="020B0609020204030204" charset="0"/>
                <a:cs typeface="Consolas" panose="020B0609020204030204" charset="0"/>
                <a:sym typeface="+mn-ea"/>
              </a:rPr>
              <a:t>嵌套</a:t>
            </a:r>
            <a:r>
              <a:rPr lang="en-US" altLang="zh-CN" sz="2000" b="1" dirty="0">
                <a:latin typeface="Consolas" panose="020B0609020204030204" charset="0"/>
                <a:cs typeface="Consolas" panose="020B0609020204030204" charset="0"/>
                <a:sym typeface="+mn-ea"/>
              </a:rPr>
              <a:t>if</a:t>
            </a:r>
            <a:r>
              <a:rPr lang="zh-CN" altLang="en-US" sz="2000" b="1" dirty="0">
                <a:sym typeface="+mn-ea"/>
              </a:rPr>
              <a:t>语句</a:t>
            </a:r>
            <a:endParaRPr lang="zh-CN" altLang="en-US" sz="2000" b="1" dirty="0"/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Consolas" panose="020B0609020204030204" charset="0"/>
                <a:cs typeface="Consolas" panose="020B0609020204030204" charset="0"/>
              </a:rPr>
              <a:t>switch语句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三目运算符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布尔表达式（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Boolean expression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908685" y="1730375"/>
            <a:ext cx="10267950" cy="43667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在现实世界中，需要表达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事物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（是，否）、（对、错）、（真、假）、（是、非）、（正、反）、（阳、阴）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...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二值语义状态，在数学中映射为（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rue</a:t>
            </a:r>
            <a:r>
              <a:rPr lang="zh-CN" altLang="en-US" sz="24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alse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），在计算机内部用（</a:t>
            </a:r>
            <a:r>
              <a:rPr lang="en-US" altLang="zh-CN" sz="24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0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）表示。这些二值对，统称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布尔值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4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语言中，返回值属于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{0,1}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的表达式称为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布尔表达式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比较表达式</a:t>
            </a:r>
            <a:endParaRPr lang="en-US" altLang="zh-CN" sz="24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操作数非零则转为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(_Bool) Expr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强制转为数值为布尔值。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非零则转为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0" i="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语言对布尔类型的支持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908685" y="1730375"/>
            <a:ext cx="3906982" cy="3915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语言内置支持：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布尔常数：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布尔类型：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_Bool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stdbool.h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常数：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1;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_Bool;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满足人们的书写习惯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04CE85-6357-4161-BA87-9DFB7D282964}"/>
              </a:ext>
            </a:extLst>
          </p:cNvPr>
          <p:cNvSpPr txBox="1"/>
          <p:nvPr/>
        </p:nvSpPr>
        <p:spPr>
          <a:xfrm>
            <a:off x="4944857" y="2118686"/>
            <a:ext cx="6338458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boolean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constant and type*/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#include&lt;stdbool.h&gt;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bool x = 7;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相当于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x=(_Bool)7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bool b = false;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("%x\</a:t>
            </a:r>
            <a:r>
              <a:rPr lang="en-US" altLang="zh-CN" dirty="0" err="1">
                <a:latin typeface="Consolas" panose="020B0609020204030204" pitchFamily="49" charset="0"/>
              </a:rPr>
              <a:t>n",x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("%u %u\n",</a:t>
            </a:r>
            <a:r>
              <a:rPr lang="en-US" altLang="zh-CN" dirty="0" err="1">
                <a:latin typeface="Consolas" panose="020B0609020204030204" pitchFamily="49" charset="0"/>
              </a:rPr>
              <a:t>sizeof</a:t>
            </a:r>
            <a:r>
              <a:rPr lang="en-US" altLang="zh-CN" dirty="0">
                <a:latin typeface="Consolas" panose="020B0609020204030204" pitchFamily="49" charset="0"/>
              </a:rPr>
              <a:t>(true),</a:t>
            </a:r>
            <a:r>
              <a:rPr lang="en-US" altLang="zh-CN" dirty="0" err="1">
                <a:latin typeface="Consolas" panose="020B0609020204030204" pitchFamily="49" charset="0"/>
              </a:rPr>
              <a:t>sizeof</a:t>
            </a:r>
            <a:r>
              <a:rPr lang="en-US" altLang="zh-CN" dirty="0">
                <a:latin typeface="Consolas" panose="020B0609020204030204" pitchFamily="49" charset="0"/>
              </a:rPr>
              <a:t>(b));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("%u %u\n",</a:t>
            </a:r>
            <a:r>
              <a:rPr lang="en-US" altLang="zh-CN" dirty="0" err="1">
                <a:latin typeface="Consolas" panose="020B0609020204030204" pitchFamily="49" charset="0"/>
              </a:rPr>
              <a:t>sizeof</a:t>
            </a:r>
            <a:r>
              <a:rPr lang="en-US" altLang="zh-CN" dirty="0">
                <a:latin typeface="Consolas" panose="020B0609020204030204" pitchFamily="49" charset="0"/>
              </a:rPr>
              <a:t>(bool),</a:t>
            </a:r>
            <a:r>
              <a:rPr lang="en-US" altLang="zh-CN" dirty="0" err="1">
                <a:latin typeface="Consolas" panose="020B0609020204030204" pitchFamily="49" charset="0"/>
              </a:rPr>
              <a:t>sizeof</a:t>
            </a:r>
            <a:r>
              <a:rPr lang="en-US" altLang="zh-CN" dirty="0">
                <a:latin typeface="Consolas" panose="020B0609020204030204" pitchFamily="49" charset="0"/>
              </a:rPr>
              <a:t>(_Bool));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A864D9-87D1-ACB5-0274-BE8E2FF1A1A2}"/>
              </a:ext>
            </a:extLst>
          </p:cNvPr>
          <p:cNvSpPr txBox="1"/>
          <p:nvPr/>
        </p:nvSpPr>
        <p:spPr>
          <a:xfrm>
            <a:off x="522514" y="6066155"/>
            <a:ext cx="5194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注意：</a:t>
            </a:r>
            <a:r>
              <a:rPr lang="en-US" altLang="zh-CN" dirty="0">
                <a:solidFill>
                  <a:srgbClr val="C00000"/>
                </a:solidFill>
              </a:rPr>
              <a:t>true, false, bool </a:t>
            </a:r>
            <a:r>
              <a:rPr lang="zh-CN" altLang="en-US" dirty="0">
                <a:solidFill>
                  <a:srgbClr val="C00000"/>
                </a:solidFill>
              </a:rPr>
              <a:t>不是关键字，可以再定义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489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布尔表达式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908685" y="1730375"/>
            <a:ext cx="3906982" cy="4135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该案例要点：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产生一个随机数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srand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unsigned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）设置种子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rand()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会随机生成一个位于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~ RAND_MAX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之间的整数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判断数是否在一个区间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 in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04CE85-6357-4161-BA87-9DFB7D282964}"/>
              </a:ext>
            </a:extLst>
          </p:cNvPr>
          <p:cNvSpPr txBox="1"/>
          <p:nvPr/>
        </p:nvSpPr>
        <p:spPr>
          <a:xfrm>
            <a:off x="4875964" y="1583845"/>
            <a:ext cx="6338458" cy="480131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boolean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expr and random*/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#include&lt;stdlib.h&gt;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#include&lt;time.h&gt;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//give a random between 0..n-1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latin typeface="Consolas" panose="020B0609020204030204" pitchFamily="49" charset="0"/>
              </a:rPr>
              <a:t>srand</a:t>
            </a:r>
            <a:r>
              <a:rPr lang="en-US" altLang="zh-CN" dirty="0">
                <a:latin typeface="Consolas" panose="020B0609020204030204" pitchFamily="49" charset="0"/>
              </a:rPr>
              <a:t>((unsigned)time(NULL)); //seed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const int n = 10;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b="1" dirty="0">
                <a:latin typeface="Consolas" panose="020B0609020204030204" pitchFamily="49" charset="0"/>
              </a:rPr>
              <a:t>rand() </a:t>
            </a:r>
            <a:r>
              <a:rPr lang="en-US" altLang="zh-CN" dirty="0">
                <a:latin typeface="Consolas" panose="020B0609020204030204" pitchFamily="49" charset="0"/>
              </a:rPr>
              <a:t>% n;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//print bool expr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(2,8]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</a:t>
            </a:r>
            <a:r>
              <a:rPr lang="en-US" altLang="zh-CN" dirty="0" err="1">
                <a:latin typeface="Consolas" panose="020B0609020204030204" pitchFamily="49" charset="0"/>
              </a:rPr>
              <a:t>d,%u</a:t>
            </a:r>
            <a:r>
              <a:rPr lang="en-US" altLang="zh-CN" dirty="0">
                <a:latin typeface="Consolas" panose="020B0609020204030204" pitchFamily="49" charset="0"/>
              </a:rPr>
              <a:t>\n",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,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&gt;2 &amp;&amp;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&lt;=8);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//print bool expr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not in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(2,8]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</a:t>
            </a:r>
            <a:r>
              <a:rPr lang="en-US" altLang="zh-CN" dirty="0" err="1">
                <a:latin typeface="Consolas" panose="020B0609020204030204" pitchFamily="49" charset="0"/>
              </a:rPr>
              <a:t>d,%u</a:t>
            </a:r>
            <a:r>
              <a:rPr lang="en-US" altLang="zh-CN" dirty="0">
                <a:latin typeface="Consolas" panose="020B0609020204030204" pitchFamily="49" charset="0"/>
              </a:rPr>
              <a:t>\n",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,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&lt;=2 ||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&gt;8);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</a:t>
            </a:r>
            <a:r>
              <a:rPr lang="en-US" altLang="zh-CN" dirty="0" err="1">
                <a:latin typeface="Consolas" panose="020B0609020204030204" pitchFamily="49" charset="0"/>
              </a:rPr>
              <a:t>d,%u</a:t>
            </a:r>
            <a:r>
              <a:rPr lang="en-US" altLang="zh-CN" dirty="0">
                <a:latin typeface="Consolas" panose="020B0609020204030204" pitchFamily="49" charset="0"/>
              </a:rPr>
              <a:t>\n",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,!(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&gt;2 &amp;&amp;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&lt;=8));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553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条件与路径选择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908685" y="1730375"/>
            <a:ext cx="10267950" cy="3812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indent="720000" algn="l">
              <a:lnSpc>
                <a:spcPct val="150000"/>
              </a:lnSpc>
            </a:pP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在实际生活中，经常需要根据某个条件是否满足来决定是否执行指定的操作任务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例如，我们用类似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语言的方式来描述一个指路的程序：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720000" algn="l">
              <a:lnSpc>
                <a:spcPct val="150000"/>
              </a:lnSpc>
            </a:pP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go_ahead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(200m)</a:t>
            </a:r>
          </a:p>
          <a:p>
            <a:pPr indent="720000" algn="l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(meet the cross?) then</a:t>
            </a:r>
          </a:p>
          <a:p>
            <a:pPr indent="720000" algn="l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turn(left)</a:t>
            </a:r>
          </a:p>
          <a:p>
            <a:pPr indent="720000"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遇到路口，才能选择执行左转指令。显然，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语句自然易于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720000" algn="l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后面，我们研讨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单路选择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两路选择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多路选择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的语法和应用场景。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435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单路选择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3049270" y="2233930"/>
            <a:ext cx="5782945" cy="33619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是布尔表达式。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必须在括号之中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表达式不是布尔表达式则发生强制转换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传统上，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非零值表示条件成立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“语句”是任意一种语句（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不包括申明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复合语句后面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不一定需要分号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表达式语句等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必须分号结束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374015" y="2233930"/>
            <a:ext cx="2393950" cy="33547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</a:p>
          <a:p>
            <a:pPr lvl="0" algn="ctr"/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graphicFrame>
        <p:nvGraphicFramePr>
          <p:cNvPr id="5" name="对象 127"/>
          <p:cNvGraphicFramePr>
            <a:graphicFrameLocks noChangeAspect="1"/>
          </p:cNvGraphicFramePr>
          <p:nvPr/>
        </p:nvGraphicFramePr>
        <p:xfrm>
          <a:off x="9007580" y="1944761"/>
          <a:ext cx="3091815" cy="4182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7" imgW="2578100" imgH="3479800" progId="Visio.Drawing.11">
                  <p:embed/>
                </p:oleObj>
              </mc:Choice>
              <mc:Fallback>
                <p:oleObj r:id="rId7" imgW="2578100" imgH="3479800" progId="Visio.Drawing.11">
                  <p:embed/>
                  <p:pic>
                    <p:nvPicPr>
                      <p:cNvPr id="5" name="对象 1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7580" y="1944761"/>
                        <a:ext cx="3091815" cy="4182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49DEA5F-2C62-B941-B71C-A78847E9DB7E}"/>
              </a:ext>
            </a:extLst>
          </p:cNvPr>
          <p:cNvSpPr txBox="1"/>
          <p:nvPr/>
        </p:nvSpPr>
        <p:spPr>
          <a:xfrm>
            <a:off x="9526043" y="62316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流程图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38306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程序流程图（</a:t>
            </a:r>
            <a:r>
              <a:rPr lang="en-US" altLang="zh-CN" sz="2800" b="1" kern="0" dirty="0" err="1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FlowChart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962025" y="1832201"/>
            <a:ext cx="10267950" cy="4887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流程图（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FlowChart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）是表示算法、工作流或流程的一种框图表示。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074" name="Picture 2" descr="程序基本结构的流程图实例讲解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840" y="2624046"/>
            <a:ext cx="6665591" cy="327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024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单路选择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8150F49-2B30-3CF7-B4D3-794222224969}"/>
              </a:ext>
            </a:extLst>
          </p:cNvPr>
          <p:cNvSpPr txBox="1"/>
          <p:nvPr/>
        </p:nvSpPr>
        <p:spPr>
          <a:xfrm>
            <a:off x="1396651" y="1583845"/>
            <a:ext cx="9623617" cy="50783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oneway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if - compute area*/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double radius, area;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const double PI = 3.14;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("input radius:");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scanf</a:t>
            </a:r>
            <a:r>
              <a:rPr lang="en-US" altLang="zh-CN" dirty="0">
                <a:latin typeface="Consolas" panose="020B0609020204030204" pitchFamily="49" charset="0"/>
              </a:rPr>
              <a:t>("%</a:t>
            </a:r>
            <a:r>
              <a:rPr lang="en-US" altLang="zh-CN" dirty="0" err="1">
                <a:latin typeface="Consolas" panose="020B0609020204030204" pitchFamily="49" charset="0"/>
              </a:rPr>
              <a:t>lf</a:t>
            </a:r>
            <a:r>
              <a:rPr lang="en-US" altLang="zh-CN" dirty="0">
                <a:latin typeface="Consolas" panose="020B0609020204030204" pitchFamily="49" charset="0"/>
              </a:rPr>
              <a:t>",&amp;radius);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/*compute area*/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area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if</a:t>
            </a:r>
            <a:r>
              <a:rPr lang="en-US" altLang="zh-CN" dirty="0">
                <a:latin typeface="Consolas" panose="020B0609020204030204" pitchFamily="49" charset="0"/>
              </a:rPr>
              <a:t> (radius &gt; 0)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   area = radius * radius * PI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area for the circle of </a:t>
            </a:r>
            <a:r>
              <a:rPr lang="en-US" altLang="zh-CN" dirty="0" err="1">
                <a:latin typeface="Consolas" panose="020B0609020204030204" pitchFamily="49" charset="0"/>
              </a:rPr>
              <a:t>redius</a:t>
            </a:r>
            <a:r>
              <a:rPr lang="en-US" altLang="zh-CN" dirty="0">
                <a:latin typeface="Consolas" panose="020B0609020204030204" pitchFamily="49" charset="0"/>
              </a:rPr>
              <a:t> %</a:t>
            </a:r>
            <a:r>
              <a:rPr lang="en-US" altLang="zh-CN" dirty="0" err="1">
                <a:latin typeface="Consolas" panose="020B0609020204030204" pitchFamily="49" charset="0"/>
              </a:rPr>
              <a:t>lf</a:t>
            </a:r>
            <a:r>
              <a:rPr lang="en-US" altLang="zh-CN" dirty="0">
                <a:latin typeface="Consolas" panose="020B0609020204030204" pitchFamily="49" charset="0"/>
              </a:rPr>
              <a:t> is %</a:t>
            </a:r>
            <a:r>
              <a:rPr lang="en-US" altLang="zh-CN" dirty="0" err="1">
                <a:latin typeface="Consolas" panose="020B0609020204030204" pitchFamily="49" charset="0"/>
              </a:rPr>
              <a:t>lf</a:t>
            </a:r>
            <a:r>
              <a:rPr lang="en-US" altLang="zh-CN" dirty="0">
                <a:latin typeface="Consolas" panose="020B0609020204030204" pitchFamily="49" charset="0"/>
              </a:rPr>
              <a:t>",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	radius, area);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8CD136-8AAF-B4BB-DD45-3B354DC2D34B}"/>
              </a:ext>
            </a:extLst>
          </p:cNvPr>
          <p:cNvSpPr/>
          <p:nvPr/>
        </p:nvSpPr>
        <p:spPr>
          <a:xfrm>
            <a:off x="2298525" y="4634630"/>
            <a:ext cx="7434197" cy="306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solidFill>
                  <a:srgbClr val="C00000"/>
                </a:solidFill>
              </a:rPr>
              <a:t>如果没有这句，程序会出现什么问题？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880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962025" y="1730375"/>
            <a:ext cx="10267950" cy="16619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输出一个数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的绝对值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720000"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根据这个数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的正负这个条件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进行判断，如果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x≥0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的条件，我们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；否则，输出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1661" y="3601153"/>
            <a:ext cx="6807835" cy="2717800"/>
          </a:xfrm>
          <a:prstGeom prst="rect">
            <a:avLst/>
          </a:prstGeom>
        </p:spPr>
      </p:pic>
      <p:sp>
        <p:nvSpPr>
          <p:cNvPr id="7" name="学论网-矩形 1"/>
          <p:cNvSpPr/>
          <p:nvPr/>
        </p:nvSpPr>
        <p:spPr>
          <a:xfrm>
            <a:off x="373910" y="3601153"/>
            <a:ext cx="4498715" cy="2170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&gt;= 0)              	printf("%</a:t>
            </a:r>
            <a:r>
              <a:rPr lang="en-US" altLang="zh-CN" sz="28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d", 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x);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8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28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d", 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-x);</a:t>
            </a:r>
          </a:p>
        </p:txBody>
      </p:sp>
      <p:sp>
        <p:nvSpPr>
          <p:cNvPr id="8" name="学论网-www.xuelun.me"/>
          <p:cNvSpPr txBox="1"/>
          <p:nvPr/>
        </p:nvSpPr>
        <p:spPr>
          <a:xfrm>
            <a:off x="962025" y="1730375"/>
            <a:ext cx="10267950" cy="16619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输出一个数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的绝对值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720000"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根据这个数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的正负这个条件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进行判断，如果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x≥0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的条件，我们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；否则，输出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2275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语法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3682365" y="2406015"/>
            <a:ext cx="7718425" cy="1042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意为，如果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表达式的值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为真，那么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执行下面的语句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；否则执行下面的语句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924560" y="2061210"/>
            <a:ext cx="2451735" cy="2735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语法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729740" y="2061210"/>
            <a:ext cx="2451735" cy="2735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</a:t>
            </a:r>
          </a:p>
        </p:txBody>
      </p:sp>
      <p:graphicFrame>
        <p:nvGraphicFramePr>
          <p:cNvPr id="8" name="对象 -2147482528"/>
          <p:cNvGraphicFramePr>
            <a:graphicFrameLocks noChangeAspect="1"/>
          </p:cNvGraphicFramePr>
          <p:nvPr/>
        </p:nvGraphicFramePr>
        <p:xfrm>
          <a:off x="5151755" y="1691640"/>
          <a:ext cx="4380865" cy="49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r:id="rId7" imgW="3200400" imgH="3606800" progId="Visio.Drawing.11">
                  <p:embed/>
                </p:oleObj>
              </mc:Choice>
              <mc:Fallback>
                <p:oleObj r:id="rId7" imgW="3200400" imgH="36068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51755" y="1691640"/>
                        <a:ext cx="4380865" cy="49415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实现的多样性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00655" y="2266315"/>
            <a:ext cx="3886835" cy="3061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≥ 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-x);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实现的多样性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00655" y="2266315"/>
            <a:ext cx="3886835" cy="3061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≥ 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-x);</a:t>
            </a:r>
          </a:p>
        </p:txBody>
      </p:sp>
      <p:sp>
        <p:nvSpPr>
          <p:cNvPr id="7" name="学论网-矩形 1"/>
          <p:cNvSpPr/>
          <p:nvPr/>
        </p:nvSpPr>
        <p:spPr>
          <a:xfrm>
            <a:off x="4166996" y="2266315"/>
            <a:ext cx="3886835" cy="3061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≥ 0){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}else{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-x);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645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实现的多样性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00655" y="2266315"/>
            <a:ext cx="3886835" cy="3061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≥ 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-x);</a:t>
            </a:r>
          </a:p>
        </p:txBody>
      </p:sp>
      <p:sp>
        <p:nvSpPr>
          <p:cNvPr id="9" name="学论网-矩形 1"/>
          <p:cNvSpPr/>
          <p:nvPr/>
        </p:nvSpPr>
        <p:spPr>
          <a:xfrm>
            <a:off x="8229195" y="2266315"/>
            <a:ext cx="3886835" cy="3061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≥ 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&lt; 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</a:t>
            </a:r>
            <a:r>
              <a:rPr lang="en-US" altLang="zh-CN" sz="2400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d",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-x);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874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双路选择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案例研究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979112" y="1891430"/>
            <a:ext cx="8267179" cy="47285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/*two way if max*/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main()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a, b, max;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输入两个整数：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d%d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", &amp;a, &amp;b);</a:t>
            </a:r>
          </a:p>
          <a:p>
            <a:pPr lvl="0"/>
            <a:endParaRPr lang="en-US" altLang="zh-CN" sz="20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sz="20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请将双路选择改为单路选择 </a:t>
            </a:r>
          </a:p>
          <a:p>
            <a:pPr lvl="0"/>
            <a:r>
              <a:rPr lang="zh-CN" altLang="en-US" sz="20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if(a&gt;b) max=a;</a:t>
            </a:r>
          </a:p>
          <a:p>
            <a:pPr lvl="0"/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else max=b;</a:t>
            </a:r>
          </a:p>
          <a:p>
            <a:pPr lvl="0"/>
            <a:endParaRPr lang="en-US" altLang="zh-CN" sz="20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("%d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和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%d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的较大值是：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%d\n", a, b, max);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  <p:sp>
        <p:nvSpPr>
          <p:cNvPr id="7" name="学论网-www.xuelun.me"/>
          <p:cNvSpPr txBox="1"/>
          <p:nvPr/>
        </p:nvSpPr>
        <p:spPr>
          <a:xfrm>
            <a:off x="1200020" y="1937054"/>
            <a:ext cx="10267950" cy="4887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求两个数中的较大值</a:t>
            </a:r>
            <a:endParaRPr 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591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练习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979112" y="1663405"/>
            <a:ext cx="8267179" cy="49566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/*ex-add-learning*/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#include&lt;stdio.h&gt;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#include&lt;stdlib.h&gt;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#include&lt;time.h&gt; </a:t>
            </a:r>
          </a:p>
          <a:p>
            <a:pPr lvl="0"/>
            <a:endParaRPr lang="en-US" altLang="zh-CN" sz="16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main() {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//give two random between 0..9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srand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((unsigned)time(NULL)); //seed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i,j,sum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/>
            <a:r>
              <a:rPr lang="en-US" altLang="zh-CN" sz="16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b="1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16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= rand() % 10;</a:t>
            </a:r>
          </a:p>
          <a:p>
            <a:pPr lvl="0"/>
            <a:r>
              <a:rPr lang="en-US" altLang="zh-CN" sz="16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j = rand() % 10;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("%d + %d = ",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i,j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d",&amp;sum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请根据学生的回答，分别使用以下语句</a:t>
            </a:r>
          </a:p>
          <a:p>
            <a:pPr lvl="0"/>
            <a:r>
              <a:rPr lang="zh-CN" altLang="en-US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zh-CN" altLang="en-US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恭喜你，答对了！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Oooops</a:t>
            </a:r>
            <a:r>
              <a:rPr lang="zh-CN" altLang="en-US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，再努力一次。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\n");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  <a:endParaRPr lang="en-US" altLang="zh-CN" sz="16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  <p:sp>
        <p:nvSpPr>
          <p:cNvPr id="7" name="学论网-www.xuelun.me"/>
          <p:cNvSpPr txBox="1"/>
          <p:nvPr/>
        </p:nvSpPr>
        <p:spPr>
          <a:xfrm>
            <a:off x="1200020" y="1937054"/>
            <a:ext cx="10267950" cy="4887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应用：教小朋友学数学</a:t>
            </a:r>
            <a:endParaRPr 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000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344867" y="663833"/>
            <a:ext cx="8718804" cy="286232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output of the code below is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#include &lt;</a:t>
            </a:r>
            <a:r>
              <a:rPr lang="en-US" altLang="zh-CN" sz="20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stdio.h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
    int x;
    void main()
    {  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</a:rPr>
              <a:t>if (x)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("hi");
        else
            </a:t>
            </a:r>
            <a:r>
              <a:rPr lang="en-US" altLang="zh-CN" sz="20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("how are you");
    }</a:t>
            </a:r>
            <a:endParaRPr lang="zh-CN" altLang="en-US" sz="20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3734276"/>
            <a:ext cx="5718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hi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2094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4420076"/>
            <a:ext cx="222745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how are you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40674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5105876"/>
            <a:ext cx="32658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Compile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09254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791676"/>
            <a:ext cx="399592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None of the mentioned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77834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0408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571625" y="670610"/>
            <a:ext cx="6501257" cy="286232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fontAlgn="t" latinLnBrk="1"/>
            <a:r>
              <a:rPr lang="en-US" altLang="zh-CN" b="1" dirty="0"/>
              <a:t> 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void main()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{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    int x = 0;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    if (x == 0)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("hi");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    else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("how are u");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("hello");</a:t>
            </a:r>
            <a:endParaRPr lang="zh-CN" altLang="zh-CN" b="1" dirty="0"/>
          </a:p>
          <a:p>
            <a:pPr fontAlgn="t" latinLnBrk="1"/>
            <a:r>
              <a:rPr lang="en-US" altLang="zh-CN" b="1" dirty="0"/>
              <a:t>    }</a:t>
            </a:r>
            <a:endParaRPr lang="zh-CN" altLang="en-US" sz="20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3521483"/>
            <a:ext cx="3199130" cy="5232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800" b="1" dirty="0"/>
              <a:t>hi</a:t>
            </a:r>
            <a:endParaRPr lang="zh-CN" altLang="en-US" sz="36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58187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4190851"/>
            <a:ext cx="3486595" cy="5232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800" b="1" dirty="0"/>
              <a:t>how are u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19528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87827" y="4830377"/>
            <a:ext cx="4305427" cy="5232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800" b="1" dirty="0"/>
              <a:t>hello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82203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17671"/>
            <a:ext cx="3542030" cy="5232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800" b="1" dirty="0" err="1"/>
              <a:t>hihello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4946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浮点数比较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823720" y="1876426"/>
            <a:ext cx="7948613" cy="1439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ea typeface="宋体" pitchFamily="2" charset="-122"/>
              </a:rPr>
              <a:t>不要比较两个浮点数是否相等，可比较两者近似相等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765776" y="3093403"/>
            <a:ext cx="8064500" cy="3048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  </a:t>
            </a:r>
            <a:r>
              <a:rPr lang="en-US" altLang="zh-CN" sz="2400" b="1" dirty="0"/>
              <a:t>float  </a:t>
            </a:r>
            <a:r>
              <a:rPr lang="en-US" altLang="zh-CN" sz="2400" b="1" dirty="0" err="1"/>
              <a:t>myNumber</a:t>
            </a:r>
            <a:r>
              <a:rPr lang="en-US" altLang="zh-CN" sz="2400" b="1" dirty="0"/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float   </a:t>
            </a:r>
            <a:r>
              <a:rPr lang="en-US" altLang="zh-CN" sz="2400" b="1" dirty="0" err="1"/>
              <a:t>yourNumber</a:t>
            </a:r>
            <a:r>
              <a:rPr lang="en-US" altLang="zh-CN" sz="2400" b="1" dirty="0"/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 "%f", &amp;</a:t>
            </a:r>
            <a:r>
              <a:rPr lang="en-US" altLang="zh-CN" sz="2400" b="1" dirty="0" err="1"/>
              <a:t>myNumber</a:t>
            </a:r>
            <a:r>
              <a:rPr lang="en-US" altLang="zh-CN" sz="2400" b="1" dirty="0"/>
              <a:t>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 "%f", &amp;</a:t>
            </a:r>
            <a:r>
              <a:rPr lang="en-US" altLang="zh-CN" sz="2400" b="1" dirty="0" err="1"/>
              <a:t>yourNumber</a:t>
            </a:r>
            <a:r>
              <a:rPr lang="en-US" altLang="zh-CN" sz="2400" b="1" dirty="0"/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if  ( </a:t>
            </a:r>
            <a:r>
              <a:rPr lang="en-US" altLang="zh-CN" sz="2400" b="1" dirty="0">
                <a:solidFill>
                  <a:srgbClr val="FF0000"/>
                </a:solidFill>
              </a:rPr>
              <a:t>fabs (</a:t>
            </a:r>
            <a:r>
              <a:rPr lang="en-US" altLang="zh-CN" sz="2400" b="1" dirty="0" err="1">
                <a:solidFill>
                  <a:srgbClr val="FF0000"/>
                </a:solidFill>
              </a:rPr>
              <a:t>myNumber</a:t>
            </a:r>
            <a:r>
              <a:rPr lang="en-US" altLang="zh-CN" sz="2400" b="1" dirty="0">
                <a:solidFill>
                  <a:srgbClr val="FF0000"/>
                </a:solidFill>
              </a:rPr>
              <a:t> - </a:t>
            </a:r>
            <a:r>
              <a:rPr lang="en-US" altLang="zh-CN" sz="2400" b="1" dirty="0" err="1">
                <a:solidFill>
                  <a:srgbClr val="FF0000"/>
                </a:solidFill>
              </a:rPr>
              <a:t>yourNumber</a:t>
            </a:r>
            <a:r>
              <a:rPr lang="en-US" altLang="zh-CN" sz="2400" b="1" dirty="0">
                <a:solidFill>
                  <a:srgbClr val="FF0000"/>
                </a:solidFill>
              </a:rPr>
              <a:t>) &lt; 0.00001</a:t>
            </a:r>
            <a:r>
              <a:rPr lang="en-US" altLang="zh-CN" sz="2400" b="1" dirty="0">
                <a:solidFill>
                  <a:srgbClr val="0000CC"/>
                </a:solidFill>
              </a:rPr>
              <a:t> </a:t>
            </a:r>
            <a:r>
              <a:rPr lang="en-US" altLang="zh-CN" sz="2400" b="1" dirty="0"/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 "They are close enough!\n" ); </a:t>
            </a:r>
            <a:r>
              <a:rPr lang="en-US" altLang="zh-CN" sz="24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964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17040" y="1829753"/>
            <a:ext cx="8305800" cy="4535487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ea typeface="宋体" pitchFamily="2" charset="-122"/>
              </a:rPr>
              <a:t>C </a:t>
            </a:r>
            <a:r>
              <a:rPr lang="zh-CN" altLang="en-US" sz="3200" b="1" dirty="0">
                <a:ea typeface="宋体" pitchFamily="2" charset="-122"/>
              </a:rPr>
              <a:t>使用</a:t>
            </a:r>
            <a:r>
              <a:rPr lang="en-US" altLang="zh-CN" sz="3200" b="1" dirty="0">
                <a:ea typeface="宋体" pitchFamily="2" charset="-122"/>
              </a:rPr>
              <a:t>"</a:t>
            </a:r>
            <a:r>
              <a:rPr lang="zh-CN" altLang="en-US" sz="3200" b="1" dirty="0">
                <a:ea typeface="宋体" pitchFamily="2" charset="-122"/>
              </a:rPr>
              <a:t>短路计算</a:t>
            </a:r>
            <a:r>
              <a:rPr lang="en-US" altLang="zh-CN" sz="3200" b="1" dirty="0">
                <a:ea typeface="宋体" pitchFamily="2" charset="-122"/>
              </a:rPr>
              <a:t>"</a:t>
            </a:r>
            <a:r>
              <a:rPr lang="zh-CN" altLang="en-US" sz="3200" b="1" dirty="0">
                <a:ea typeface="宋体" pitchFamily="2" charset="-122"/>
              </a:rPr>
              <a:t> 逻辑表达式</a:t>
            </a:r>
            <a:endParaRPr lang="en-US" altLang="zh-CN" sz="3200" b="1" dirty="0"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400" b="1" dirty="0"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ea typeface="宋体" pitchFamily="2" charset="-122"/>
              </a:rPr>
              <a:t>逻辑表达式可以确定最终的值时，从左到右计算过程停止。</a:t>
            </a:r>
            <a:endParaRPr lang="zh-CN" altLang="en-US" sz="3200" dirty="0">
              <a:ea typeface="宋体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410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05953" y="1612900"/>
            <a:ext cx="7467600" cy="1871662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int   age, height;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age = 25;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height = 70;</a:t>
            </a:r>
            <a:endParaRPr lang="zh-CN" altLang="en-US" sz="2800"/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742440" y="3830002"/>
            <a:ext cx="7924800" cy="2215198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(age &gt; 50)   &amp;&amp;  (height &gt; 60)      //value: false</a:t>
            </a:r>
            <a:r>
              <a:rPr lang="en-US" altLang="zh-CN" sz="16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	</a:t>
            </a:r>
          </a:p>
          <a:p>
            <a:pPr>
              <a:buFont typeface="Wingdings" pitchFamily="2" charset="2"/>
              <a:buNone/>
            </a:pPr>
            <a:endParaRPr lang="en-US" altLang="zh-CN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与运算两项为真才为真，第一项为假则值为假</a:t>
            </a:r>
            <a:endParaRPr lang="en-US" altLang="zh-CN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Arc 5"/>
          <p:cNvSpPr>
            <a:spLocks/>
          </p:cNvSpPr>
          <p:nvPr/>
        </p:nvSpPr>
        <p:spPr bwMode="auto">
          <a:xfrm rot="9024445">
            <a:off x="2048828" y="4100105"/>
            <a:ext cx="1284287" cy="720725"/>
          </a:xfrm>
          <a:custGeom>
            <a:avLst/>
            <a:gdLst>
              <a:gd name="T0" fmla="*/ 0 w 24761"/>
              <a:gd name="T1" fmla="*/ 2147483647 h 21600"/>
              <a:gd name="T2" fmla="*/ 2147483647 w 24761"/>
              <a:gd name="T3" fmla="*/ 2147483647 h 21600"/>
              <a:gd name="T4" fmla="*/ 2147483647 w 24761"/>
              <a:gd name="T5" fmla="*/ 2147483647 h 21600"/>
              <a:gd name="T6" fmla="*/ 0 60000 65536"/>
              <a:gd name="T7" fmla="*/ 0 60000 65536"/>
              <a:gd name="T8" fmla="*/ 0 60000 65536"/>
              <a:gd name="T9" fmla="*/ 0 w 24761"/>
              <a:gd name="T10" fmla="*/ 0 h 21600"/>
              <a:gd name="T11" fmla="*/ 24761 w 2476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761" h="21600" fill="none" extrusionOk="0">
                <a:moveTo>
                  <a:pt x="0" y="232"/>
                </a:moveTo>
                <a:cubicBezTo>
                  <a:pt x="1046" y="77"/>
                  <a:pt x="2103" y="-1"/>
                  <a:pt x="3161" y="0"/>
                </a:cubicBezTo>
                <a:cubicBezTo>
                  <a:pt x="15068" y="0"/>
                  <a:pt x="24730" y="9636"/>
                  <a:pt x="24760" y="21544"/>
                </a:cubicBezTo>
              </a:path>
              <a:path w="24761" h="21600" stroke="0" extrusionOk="0">
                <a:moveTo>
                  <a:pt x="0" y="232"/>
                </a:moveTo>
                <a:cubicBezTo>
                  <a:pt x="1046" y="77"/>
                  <a:pt x="2103" y="-1"/>
                  <a:pt x="3161" y="0"/>
                </a:cubicBezTo>
                <a:cubicBezTo>
                  <a:pt x="15068" y="0"/>
                  <a:pt x="24730" y="9636"/>
                  <a:pt x="24760" y="21544"/>
                </a:cubicBezTo>
                <a:lnTo>
                  <a:pt x="3161" y="21600"/>
                </a:lnTo>
                <a:lnTo>
                  <a:pt x="0" y="232"/>
                </a:lnTo>
                <a:close/>
              </a:path>
            </a:pathLst>
          </a:custGeom>
          <a:noFill/>
          <a:ln w="63500" cap="rnd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44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854200" y="1717676"/>
            <a:ext cx="7467600" cy="181800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int   age, height;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age = 25;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/>
              <a:t>height = 70;</a:t>
            </a:r>
            <a:endParaRPr lang="zh-CN" altLang="en-US" sz="2800"/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006600" y="3662363"/>
            <a:ext cx="7772400" cy="235235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9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9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(height &gt; 60)   ||   (age &gt; 40)     //true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或运算有一项为真就为真，第一项为真则值为真</a:t>
            </a:r>
            <a:endParaRPr lang="en-US" altLang="zh-CN" sz="32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Arc 5"/>
          <p:cNvSpPr>
            <a:spLocks/>
          </p:cNvSpPr>
          <p:nvPr/>
        </p:nvSpPr>
        <p:spPr bwMode="auto">
          <a:xfrm rot="9420000">
            <a:off x="2510472" y="4360546"/>
            <a:ext cx="1296987" cy="6096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07" y="0"/>
                  <a:pt x="21569" y="9636"/>
                  <a:pt x="21599" y="21544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07" y="0"/>
                  <a:pt x="21569" y="9636"/>
                  <a:pt x="21599" y="2154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63500" cap="rnd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128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711484" y="1529080"/>
            <a:ext cx="7467600" cy="16002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4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863884" y="1605280"/>
            <a:ext cx="7924800" cy="4500880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24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age, weight;</a:t>
            </a:r>
          </a:p>
          <a:p>
            <a:pPr>
              <a:buFont typeface="Wingdings" pitchFamily="2" charset="2"/>
              <a:buNone/>
            </a:pPr>
            <a:endParaRPr lang="en-US" altLang="zh-CN" sz="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= 25;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weight = 145; </a:t>
            </a:r>
          </a:p>
          <a:p>
            <a:pPr>
              <a:buFont typeface="Wingdings" pitchFamily="2" charset="2"/>
              <a:buNone/>
            </a:pPr>
            <a:endParaRPr lang="en-US" altLang="zh-CN" sz="1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400" b="1" u="sng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(weight &lt; 180)  &amp;&amp;  (age &gt;= 20)         //true					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		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与运算两项为真才为真，第一项为真，则值还没确定</a:t>
            </a:r>
          </a:p>
        </p:txBody>
      </p:sp>
      <p:sp>
        <p:nvSpPr>
          <p:cNvPr id="7" name="Arc 5"/>
          <p:cNvSpPr>
            <a:spLocks/>
          </p:cNvSpPr>
          <p:nvPr/>
        </p:nvSpPr>
        <p:spPr bwMode="auto">
          <a:xfrm rot="9420000">
            <a:off x="2216281" y="4237673"/>
            <a:ext cx="1487488" cy="657225"/>
          </a:xfrm>
          <a:custGeom>
            <a:avLst/>
            <a:gdLst>
              <a:gd name="T0" fmla="*/ 0 w 21623"/>
              <a:gd name="T1" fmla="*/ 0 h 21600"/>
              <a:gd name="T2" fmla="*/ 2147483647 w 21623"/>
              <a:gd name="T3" fmla="*/ 2147483647 h 21600"/>
              <a:gd name="T4" fmla="*/ 2147483647 w 21623"/>
              <a:gd name="T5" fmla="*/ 2147483647 h 21600"/>
              <a:gd name="T6" fmla="*/ 0 60000 65536"/>
              <a:gd name="T7" fmla="*/ 0 60000 65536"/>
              <a:gd name="T8" fmla="*/ 0 60000 65536"/>
              <a:gd name="T9" fmla="*/ 0 w 21623"/>
              <a:gd name="T10" fmla="*/ 0 h 21600"/>
              <a:gd name="T11" fmla="*/ 21623 w 2162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23" h="21600" fill="none" extrusionOk="0">
                <a:moveTo>
                  <a:pt x="0" y="0"/>
                </a:moveTo>
                <a:cubicBezTo>
                  <a:pt x="7" y="0"/>
                  <a:pt x="15" y="-1"/>
                  <a:pt x="23" y="0"/>
                </a:cubicBezTo>
                <a:cubicBezTo>
                  <a:pt x="11952" y="0"/>
                  <a:pt x="21623" y="9670"/>
                  <a:pt x="21623" y="21600"/>
                </a:cubicBezTo>
              </a:path>
              <a:path w="21623" h="21600" stroke="0" extrusionOk="0">
                <a:moveTo>
                  <a:pt x="0" y="0"/>
                </a:moveTo>
                <a:cubicBezTo>
                  <a:pt x="7" y="0"/>
                  <a:pt x="15" y="-1"/>
                  <a:pt x="23" y="0"/>
                </a:cubicBezTo>
                <a:cubicBezTo>
                  <a:pt x="11952" y="0"/>
                  <a:pt x="21623" y="9670"/>
                  <a:pt x="21623" y="21600"/>
                </a:cubicBezTo>
                <a:lnTo>
                  <a:pt x="23" y="21600"/>
                </a:lnTo>
                <a:lnTo>
                  <a:pt x="0" y="0"/>
                </a:lnTo>
                <a:close/>
              </a:path>
            </a:pathLst>
          </a:custGeom>
          <a:noFill/>
          <a:ln w="63500" cap="rnd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4966018" y="4485644"/>
            <a:ext cx="360363" cy="6477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473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28056" y="1691958"/>
            <a:ext cx="7467600" cy="1600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int   age, height;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age = 25;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height = 70;</a:t>
            </a:r>
            <a:endParaRPr lang="zh-CN" altLang="en-US" sz="2400"/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991518" y="3652520"/>
            <a:ext cx="8208963" cy="3024188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b="1" dirty="0">
                <a:ea typeface="宋体" pitchFamily="2" charset="-122"/>
              </a:rPr>
              <a:t>! (height &gt; 60)  ||  (age &gt; 50)</a:t>
            </a:r>
          </a:p>
          <a:p>
            <a:pPr>
              <a:buFont typeface="Wingdings" pitchFamily="2" charset="2"/>
              <a:buNone/>
            </a:pPr>
            <a:endParaRPr lang="en-US" altLang="zh-CN" sz="20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ea typeface="宋体" pitchFamily="2" charset="-122"/>
              </a:rPr>
              <a:t> 	   	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ea typeface="宋体" pitchFamily="2" charset="-122"/>
              </a:rPr>
              <a:t>或运算任一项为真就为真，第一项为假，则值还没确定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H="1">
            <a:off x="5630544" y="4156552"/>
            <a:ext cx="503238" cy="1008062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572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053273" y="1529080"/>
            <a:ext cx="8229600" cy="4953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number;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float  x;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1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number  !=  0)  &amp;&amp;  ( x  &lt;  1 / number )</a:t>
            </a:r>
          </a:p>
          <a:p>
            <a:pPr>
              <a:buFont typeface="Wingdings" pitchFamily="2" charset="2"/>
              <a:buNone/>
            </a:pP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number</a:t>
            </a:r>
            <a:r>
              <a:rPr lang="zh-CN" altLang="en-US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值为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r>
              <a:rPr lang="zh-CN" altLang="en-US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时，</a:t>
            </a: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第一项计算的值为假</a:t>
            </a:r>
            <a:endParaRPr lang="en-US" altLang="zh-CN" sz="1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b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因为运算符是</a:t>
            </a: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</a:t>
            </a: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</a:t>
            </a: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”</a:t>
            </a: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，通过短路运算，整个表达式的值为 </a:t>
            </a: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false</a:t>
            </a:r>
            <a:r>
              <a:rPr lang="zh-CN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，右侧不计算。不会产生被零除的问题</a:t>
            </a:r>
            <a:endParaRPr lang="en-US" altLang="zh-CN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Arc 4"/>
          <p:cNvSpPr>
            <a:spLocks/>
          </p:cNvSpPr>
          <p:nvPr/>
        </p:nvSpPr>
        <p:spPr bwMode="auto">
          <a:xfrm rot="9420000">
            <a:off x="2266951" y="2931160"/>
            <a:ext cx="2265363" cy="939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14" y="0"/>
                  <a:pt x="21579" y="9648"/>
                  <a:pt x="21599" y="21563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14" y="0"/>
                  <a:pt x="21579" y="9648"/>
                  <a:pt x="21599" y="2156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63500" cap="rnd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37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”短路计算“ 表达式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628073" y="6273006"/>
            <a:ext cx="8424862" cy="3603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>
                <a:ea typeface="宋体" pitchFamily="2" charset="-122"/>
              </a:rPr>
              <a:t>[短路有时也会引起不经意的错误]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772535" y="1664494"/>
            <a:ext cx="8064500" cy="43926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bool var;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a=100, b=90, c=100, d=90;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var = true;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if( (c &lt; d) &amp;&amp; ( var = ( a &lt; b ) )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("the value of var is: %d\n" ,var);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344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多路选择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语法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3893820" y="2406015"/>
            <a:ext cx="7718425" cy="3323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该选择结构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意为，首先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的值是否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为真，如果为真，那么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执行下面的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，之后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跳过剩下的判断；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否则，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的值是否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为真，如果为真，那么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执行下面的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，之后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跳过剩下的判断；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继续判断下去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直到找到一个表达式的值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为真，执行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后面的语句；否则在最后的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分支中，执行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588645" y="1898015"/>
            <a:ext cx="3180080" cy="4354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if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else 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...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else 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n+1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多路选择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语法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991235" y="1993900"/>
            <a:ext cx="3180080" cy="4354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if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else 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...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else 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n+1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710" y="1573530"/>
            <a:ext cx="5819140" cy="51371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多路选择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应用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4610735" y="1882140"/>
            <a:ext cx="7230745" cy="2769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该选择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结构下，首先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 &lt; 10</a:t>
            </a:r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这个条件</a:t>
            </a:r>
            <a:r>
              <a:rPr lang="zh-CN" altLang="en-US" sz="2400" kern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是否满足，如果</a:t>
            </a:r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满足则输出；不满足则继续判断下一</a:t>
            </a:r>
            <a:r>
              <a:rPr lang="zh-CN" altLang="en-US" sz="2400" kern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个条件，直到</a:t>
            </a:r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碰到一个满足的条件执行其后的语句、或者所有的条件都不满足不执行任何语句。</a:t>
            </a: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	</a:t>
            </a:r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该程序执行下列语句：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5450" y="1882140"/>
            <a:ext cx="3945255" cy="3896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x = 500;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&lt; 10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个位数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if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</a:t>
            </a:r>
            <a:r>
              <a:rPr 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 &lt; 100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十位数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else if(</a:t>
            </a:r>
            <a:r>
              <a:rPr 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 &lt; 1000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	printf("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百位数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2" name="学论网-矩形 1"/>
          <p:cNvSpPr/>
          <p:nvPr/>
        </p:nvSpPr>
        <p:spPr>
          <a:xfrm>
            <a:off x="5431155" y="4652010"/>
            <a:ext cx="3208020" cy="11258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百位数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FDCD95-12DC-28CF-220F-2889CD7FD48C}"/>
              </a:ext>
            </a:extLst>
          </p:cNvPr>
          <p:cNvSpPr txBox="1"/>
          <p:nvPr/>
        </p:nvSpPr>
        <p:spPr>
          <a:xfrm>
            <a:off x="294361" y="6256751"/>
            <a:ext cx="1120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问题：第一个 </a:t>
            </a:r>
            <a:r>
              <a:rPr lang="en-US" altLang="zh-CN" dirty="0">
                <a:solidFill>
                  <a:srgbClr val="C00000"/>
                </a:solidFill>
              </a:rPr>
              <a:t>if </a:t>
            </a:r>
            <a:r>
              <a:rPr lang="zh-CN" altLang="en-US" dirty="0">
                <a:solidFill>
                  <a:srgbClr val="C00000"/>
                </a:solidFill>
              </a:rPr>
              <a:t>条件满足后，执行 </a:t>
            </a:r>
            <a:r>
              <a:rPr lang="en-US" altLang="zh-CN" sz="1800" kern="0" dirty="0" err="1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</a:t>
            </a:r>
            <a:r>
              <a:rPr lang="en-US" altLang="zh-CN" sz="1800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(“</a:t>
            </a:r>
            <a:r>
              <a:rPr lang="zh-CN" altLang="en-US" sz="1800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十位数</a:t>
            </a:r>
            <a:r>
              <a:rPr lang="en-US" altLang="zh-CN" sz="1800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”);</a:t>
            </a:r>
            <a:r>
              <a:rPr lang="en-US" altLang="zh-CN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</a:t>
            </a:r>
            <a:r>
              <a:rPr lang="zh-CN" altLang="en-US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是否合适 ？如何在多个结果选择第一个执行的结果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812800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4935220" y="1846562"/>
            <a:ext cx="7256780" cy="4431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语句中又包含了一个或多个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语句称为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语句的嵌套。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在该选择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结构中，首先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为真，如果为真，进入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其后的语句块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中；不然进入语句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假设进入语句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中，此时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碰到了嵌套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结构，此时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可视为碰到了一个单独的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结构，继续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为真，如果为真，执行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其后的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0370" y="1824990"/>
            <a:ext cx="4368165" cy="447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if(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else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...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2" name="右大括号 1"/>
          <p:cNvSpPr/>
          <p:nvPr/>
        </p:nvSpPr>
        <p:spPr>
          <a:xfrm>
            <a:off x="2825750" y="2537460"/>
            <a:ext cx="508000" cy="20808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468370" y="3347720"/>
            <a:ext cx="1308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语句块</a:t>
            </a:r>
            <a:r>
              <a:rPr lang="en-US" altLang="zh-CN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1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2825750" y="4916805"/>
            <a:ext cx="508000" cy="11988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80435" y="5218430"/>
            <a:ext cx="1308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语句块</a:t>
            </a:r>
            <a:r>
              <a:rPr lang="en-US" altLang="zh-CN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5450" y="1730375"/>
            <a:ext cx="4509770" cy="48425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x = 3;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&gt; 0)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if(</a:t>
            </a:r>
            <a:r>
              <a:rPr lang="en-US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 % 2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是正奇数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else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printf("x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是正偶数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if(</a:t>
            </a:r>
            <a:r>
              <a:rPr 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 % 2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printf("x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是负奇数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else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printf("x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是负偶数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9479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5260975" y="2061210"/>
            <a:ext cx="6453505" cy="3323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在该例子中首先判断条件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x&gt;0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是否成立，如果成立，执行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语句块，不然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后面的语句块。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</a:t>
            </a:r>
            <a:r>
              <a:rPr lang="en-US" altLang="zh-CN" sz="240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= 3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，条件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&gt; 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为真，进入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第一个语句块。继续判断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% 2 ==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为真，此时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为真，并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</a:t>
            </a:r>
            <a:r>
              <a:rPr lang="zh-CN" altLang="en-US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是正奇数</a:t>
            </a:r>
            <a:r>
              <a:rPr lang="en-US" altLang="zh-CN" sz="2400" kern="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5450" y="1730375"/>
            <a:ext cx="4509770" cy="48425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x = 3;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if(x &gt; 0)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if(</a:t>
            </a:r>
            <a:r>
              <a:rPr lang="en-US" altLang="zh-CN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x % 2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是正奇数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else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是正偶数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if(x % 2)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是负奇数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else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是负偶数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5" name="学论网-矩形 1"/>
          <p:cNvSpPr/>
          <p:nvPr/>
        </p:nvSpPr>
        <p:spPr>
          <a:xfrm>
            <a:off x="5469255" y="5773420"/>
            <a:ext cx="3293110" cy="6838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printf("x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是正奇数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");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151958" y="1730375"/>
            <a:ext cx="4509770" cy="2566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if(a!=b)  // ①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if(a&gt;b)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("a&gt;b\n");  // ②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("a&lt;b\n");  // 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22126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151958" y="1730375"/>
            <a:ext cx="4509770" cy="2566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if(a!=b)  // ①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if(a&gt;b)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("a&gt;b\n");  // ②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("a&lt;b\n");  // ③</a:t>
            </a:r>
          </a:p>
        </p:txBody>
      </p:sp>
      <p:sp>
        <p:nvSpPr>
          <p:cNvPr id="8" name="学论网-矩形 1"/>
          <p:cNvSpPr/>
          <p:nvPr/>
        </p:nvSpPr>
        <p:spPr>
          <a:xfrm>
            <a:off x="6502659" y="1743779"/>
            <a:ext cx="4509770" cy="2566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if(a!=b) { 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if(a&gt;b)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("a&gt;b\n");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else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("a&lt;b\n"); 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3304354" y="4997978"/>
            <a:ext cx="5586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Helvetica Neue"/>
              </a:rPr>
              <a:t>C</a:t>
            </a:r>
            <a:r>
              <a:rPr lang="zh-CN" altLang="en-US" sz="2000" b="1">
                <a:solidFill>
                  <a:srgbClr val="FF0000"/>
                </a:solidFill>
                <a:latin typeface="Helvetica Neue"/>
              </a:rPr>
              <a:t>语言规定，</a:t>
            </a:r>
            <a:r>
              <a:rPr lang="en-US" altLang="zh-CN" sz="2000" b="1">
                <a:solidFill>
                  <a:srgbClr val="FF0000"/>
                </a:solidFill>
                <a:latin typeface="Helvetica Neue"/>
              </a:rPr>
              <a:t>else </a:t>
            </a:r>
            <a:r>
              <a:rPr lang="zh-CN" altLang="en-US" sz="2000" b="1" dirty="0">
                <a:solidFill>
                  <a:srgbClr val="FF0000"/>
                </a:solidFill>
                <a:latin typeface="Helvetica Neue"/>
              </a:rPr>
              <a:t>总是与它前面最近的 </a:t>
            </a:r>
            <a:r>
              <a:rPr lang="en-US" altLang="zh-CN" sz="2000" b="1" dirty="0">
                <a:solidFill>
                  <a:srgbClr val="FF0000"/>
                </a:solidFill>
                <a:latin typeface="Helvetica Neue"/>
              </a:rPr>
              <a:t>if </a:t>
            </a:r>
            <a:r>
              <a:rPr lang="zh-CN" altLang="en-US" sz="2000" b="1" dirty="0">
                <a:solidFill>
                  <a:srgbClr val="FF0000"/>
                </a:solidFill>
                <a:latin typeface="Helvetica Neue"/>
              </a:rPr>
              <a:t>配对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7617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764088" y="1730375"/>
            <a:ext cx="4897640" cy="46453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a = 1, b = 3, c = 5, d = 4, x;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(a &lt; b)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(c&lt;d)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1;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(a&lt;c)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(b&lt;d)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2;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3;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6;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3;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3623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764088" y="1730375"/>
            <a:ext cx="4897640" cy="46453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a = 1, b = 3, c = 5, d = 4, x;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(a &lt; b)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(c&lt;d)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1;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(a&lt;c)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(b&lt;d)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2;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3;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6;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x = 3;</a:t>
            </a:r>
          </a:p>
        </p:txBody>
      </p:sp>
      <p:sp>
        <p:nvSpPr>
          <p:cNvPr id="8" name="学论网-矩形 1"/>
          <p:cNvSpPr/>
          <p:nvPr/>
        </p:nvSpPr>
        <p:spPr>
          <a:xfrm>
            <a:off x="6227523" y="1730375"/>
            <a:ext cx="5296422" cy="46453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a = 1, b = 3, c = 5, d = 4, x;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(a &lt; b)</a:t>
            </a:r>
          </a:p>
          <a:p>
            <a:pPr lvl="1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(c&lt;d)</a:t>
            </a:r>
          </a:p>
          <a:p>
            <a:pPr lvl="1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x = 1;</a:t>
            </a:r>
          </a:p>
          <a:p>
            <a:pPr lvl="1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2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(a&lt;c)</a:t>
            </a:r>
          </a:p>
          <a:p>
            <a:pPr lvl="3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 (b&lt;d) </a:t>
            </a:r>
          </a:p>
          <a:p>
            <a:pPr lvl="3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x = 2;</a:t>
            </a:r>
          </a:p>
          <a:p>
            <a:pPr lvl="3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3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x = 3;</a:t>
            </a:r>
          </a:p>
          <a:p>
            <a:pPr lvl="2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2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	x = 6;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else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x = 3;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628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625974"/>
            <a:ext cx="8534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Google</a:t>
            </a:r>
            <a:r>
              <a:rPr lang="zh-CN" altLang="en-US" sz="2000" b="1" dirty="0">
                <a:solidFill>
                  <a:srgbClr val="FF0000"/>
                </a:solidFill>
              </a:rPr>
              <a:t>的代码风格规范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634652" y="2122978"/>
            <a:ext cx="92358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只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使用空格，每次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缩进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2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个空格。不要在代码中使用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tabs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。</a:t>
            </a:r>
            <a:endParaRPr lang="zh-CN" altLang="en-US" sz="2400" b="1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34652" y="2763770"/>
            <a:ext cx="75905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>
                <a:solidFill>
                  <a:srgbClr val="4D4D4D"/>
                </a:solidFill>
                <a:latin typeface="-apple-system"/>
              </a:rPr>
              <a:t>不在圆括号内使用空格. 关键字 if 和 else 另起一行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699" y="3465513"/>
            <a:ext cx="6199549" cy="25007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963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625974"/>
            <a:ext cx="8534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Google</a:t>
            </a:r>
            <a:r>
              <a:rPr lang="zh-CN" altLang="en-US" sz="2000" b="1" dirty="0">
                <a:solidFill>
                  <a:srgbClr val="FF0000"/>
                </a:solidFill>
              </a:rPr>
              <a:t>的代码风格规范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634652" y="2122978"/>
            <a:ext cx="110696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增强可读性</a:t>
            </a:r>
            <a:r>
              <a:rPr lang="en-US" altLang="zh-CN" sz="2400" b="1">
                <a:solidFill>
                  <a:srgbClr val="4D4D4D"/>
                </a:solidFill>
                <a:latin typeface="-apple-system"/>
              </a:rPr>
              <a:t>,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简短的条件语句允许写在同一行。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 </a:t>
            </a:r>
          </a:p>
          <a:p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只有当语句简单并且没有使用 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else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子句时使用。</a:t>
            </a:r>
            <a:endParaRPr lang="zh-CN" altLang="en-US" sz="2400" b="1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39" y="3264882"/>
            <a:ext cx="6959521" cy="10129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3693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625974"/>
            <a:ext cx="8534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Google</a:t>
            </a:r>
            <a:r>
              <a:rPr lang="zh-CN" altLang="en-US" sz="2000" b="1" dirty="0">
                <a:solidFill>
                  <a:srgbClr val="FF0000"/>
                </a:solidFill>
              </a:rPr>
              <a:t>的代码风格规范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634652" y="2122978"/>
            <a:ext cx="110696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如果语句中某个 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if-else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分支使用了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大括号的话</a:t>
            </a:r>
            <a:r>
              <a:rPr lang="en-US" altLang="zh-CN" sz="2400" b="1">
                <a:solidFill>
                  <a:srgbClr val="4D4D4D"/>
                </a:solidFill>
                <a:latin typeface="-apple-system"/>
              </a:rPr>
              <a:t>,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其它分支也必须使用。</a:t>
            </a:r>
            <a:endParaRPr lang="zh-CN" altLang="en-US" sz="2400" b="1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376" y="2681537"/>
            <a:ext cx="5917248" cy="39255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169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嵌套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625974"/>
            <a:ext cx="8534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Google</a:t>
            </a:r>
            <a:r>
              <a:rPr lang="zh-CN" altLang="en-US" sz="2000" b="1" dirty="0">
                <a:solidFill>
                  <a:srgbClr val="FF0000"/>
                </a:solidFill>
              </a:rPr>
              <a:t>的代码风格规范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634652" y="2122978"/>
            <a:ext cx="110696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如果语句中某个 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if-else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分支使用了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大括号的话</a:t>
            </a:r>
            <a:r>
              <a:rPr lang="en-US" altLang="zh-CN" sz="2400" b="1">
                <a:solidFill>
                  <a:srgbClr val="4D4D4D"/>
                </a:solidFill>
                <a:latin typeface="-apple-system"/>
              </a:rPr>
              <a:t>,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其它分支也必须使用。</a:t>
            </a:r>
            <a:endParaRPr lang="zh-CN" altLang="en-US" sz="2400" b="1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610" y="2972014"/>
            <a:ext cx="7083874" cy="2301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4399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38395" y="1899285"/>
            <a:ext cx="6299835" cy="4986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语句常常用来实现多分支选择结构。因为多层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语句的可读性通常没有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结构好。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结构中的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，其值的类型应为整数类型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包括字符类型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char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下面的花括号是一个语句块，其中包含了多行以关键字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为开头的语句。每行语句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后面跟最一个常量。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5450" y="1899285"/>
            <a:ext cx="4368800" cy="40481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switch(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case </a:t>
            </a:r>
            <a:r>
              <a:rPr lang="zh-CN" altLang="en-US" sz="2000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</a:t>
            </a:r>
            <a:r>
              <a:rPr lang="zh-CN" altLang="en-US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endParaRPr lang="zh-CN" altLang="en-US" sz="2000" b="1" kern="0" dirty="0">
              <a:solidFill>
                <a:srgbClr val="C00000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</a:p>
          <a:p>
            <a:pPr lvl="0" algn="l"/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...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b="1" kern="0" dirty="0">
                <a:solidFill>
                  <a:srgbClr val="C0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endParaRPr lang="en-US" altLang="zh-CN" sz="2000" b="1" kern="0" dirty="0">
              <a:solidFill>
                <a:srgbClr val="C00000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default: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n+1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38395" y="1899285"/>
            <a:ext cx="6299835" cy="49207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结构时，通常先计算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的值，然后将它逐个与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语句中的常量进行比对。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如果某一个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语句中的常量相同，流程就转到此分支、执行此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后面的语句，直到完后由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语句跳出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例如，表达式值是常量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，则执行 语句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语句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5450" y="1899285"/>
            <a:ext cx="4368800" cy="40481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switch(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</a:p>
          <a:p>
            <a:pPr lvl="0" algn="l"/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...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default: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n+1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711673" y="1663405"/>
            <a:ext cx="8768654" cy="48563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/*switch weekday*/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endParaRPr lang="en-US" altLang="zh-CN" sz="16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main(){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int a;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("Input integer number:");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d",&amp;a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switch(a){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1: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("Monday\n");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2: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("Tuesday\n");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3: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("Wednesday\n");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4: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("Thursday\n");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5: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("Friday\n");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6: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("Saturday\n");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7: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("Sunday\n");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default:printf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("error\n");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}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8083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711673" y="1663405"/>
            <a:ext cx="8768654" cy="47724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main(){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int a;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("Input integer number:");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d",&amp;a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switch(a){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1: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("Monday\n");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2: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("Tuesday\n");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3: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("Wednesday\n");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4: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("Thursday\n");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5: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("Friday\n");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6: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("Saturday\n");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case 7: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("Sunday\n");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default:printf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("error\n"); break;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}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7790773" y="1997839"/>
            <a:ext cx="326929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  <a:latin typeface="Helvetica Neue"/>
              </a:rPr>
              <a:t>break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 是</a:t>
            </a:r>
            <a:r>
              <a:rPr lang="en-US" altLang="zh-CN" b="1" dirty="0">
                <a:solidFill>
                  <a:srgbClr val="444444"/>
                </a:solidFill>
                <a:latin typeface="Helvetica Neue"/>
              </a:rPr>
              <a:t>C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语言中的一个关键字，专门用于跳出 </a:t>
            </a:r>
            <a:r>
              <a:rPr lang="en-US" altLang="zh-CN" b="1" dirty="0">
                <a:solidFill>
                  <a:srgbClr val="444444"/>
                </a:solidFill>
                <a:latin typeface="Helvetica Neue"/>
              </a:rPr>
              <a:t>switch 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语句。</a:t>
            </a:r>
            <a:endParaRPr lang="en-US" altLang="zh-CN" b="1" dirty="0">
              <a:solidFill>
                <a:srgbClr val="444444"/>
              </a:solidFill>
              <a:latin typeface="Helvetica Neue"/>
            </a:endParaRPr>
          </a:p>
          <a:p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所谓“跳出”，是指一旦遇到 </a:t>
            </a:r>
            <a:r>
              <a:rPr lang="en-US" altLang="zh-CN" b="1" dirty="0">
                <a:solidFill>
                  <a:srgbClr val="444444"/>
                </a:solidFill>
                <a:latin typeface="Helvetica Neue"/>
              </a:rPr>
              <a:t>break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，就不再执行 </a:t>
            </a:r>
            <a:r>
              <a:rPr lang="en-US" altLang="zh-CN" b="1" dirty="0">
                <a:solidFill>
                  <a:srgbClr val="444444"/>
                </a:solidFill>
                <a:latin typeface="Helvetica Neue"/>
              </a:rPr>
              <a:t>switch 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中的任何语句，包括当前分支中的语句和其他分支中的语句；也就是说，整个 </a:t>
            </a:r>
            <a:r>
              <a:rPr lang="en-US" altLang="zh-CN" b="1" dirty="0">
                <a:solidFill>
                  <a:srgbClr val="444444"/>
                </a:solidFill>
                <a:latin typeface="Helvetica Neue"/>
              </a:rPr>
              <a:t>switch 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执行结束了，接着会执行整个 </a:t>
            </a:r>
            <a:r>
              <a:rPr lang="en-US" altLang="zh-CN" b="1" dirty="0">
                <a:solidFill>
                  <a:srgbClr val="444444"/>
                </a:solidFill>
                <a:latin typeface="Helvetica Neue"/>
              </a:rPr>
              <a:t>switch </a:t>
            </a:r>
            <a:r>
              <a:rPr lang="zh-CN" altLang="en-US" b="1" dirty="0">
                <a:solidFill>
                  <a:srgbClr val="444444"/>
                </a:solidFill>
                <a:latin typeface="Helvetica Neue"/>
              </a:rPr>
              <a:t>后面的代码。</a:t>
            </a:r>
            <a:endParaRPr lang="zh-CN" alt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0359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711673" y="2320925"/>
            <a:ext cx="8768654" cy="28272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10: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</a:t>
            </a:r>
            <a:endParaRPr lang="zh-CN" altLang="en-US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8+9: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</a:t>
            </a:r>
            <a:endParaRPr lang="zh-CN" altLang="en-US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'A':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</a:t>
            </a:r>
            <a:endParaRPr lang="zh-CN" altLang="en-US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'A'+19: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</a:t>
            </a:r>
            <a:endParaRPr lang="zh-CN" altLang="en-US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9.5: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</a:t>
            </a:r>
            <a:endParaRPr lang="zh-CN" altLang="en-US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a: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 </a:t>
            </a:r>
            <a:endParaRPr lang="zh-CN" altLang="en-US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a+10: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77882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711673" y="2320925"/>
            <a:ext cx="8768654" cy="28272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10: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//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正确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8+9: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//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正确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'A':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</a:t>
            </a:r>
            <a:r>
              <a:rPr lang="en-US" altLang="zh-CN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正确，字符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和整数可以相互转换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'A'+19: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</a:t>
            </a:r>
            <a:r>
              <a:rPr lang="en-US" altLang="zh-CN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正确，字符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和整数可以相互转换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9.5: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</a:t>
            </a:r>
            <a:r>
              <a:rPr lang="en-US" altLang="zh-CN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错误，不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能为小数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a: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  </a:t>
            </a:r>
            <a:r>
              <a:rPr lang="en-US" altLang="zh-CN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错误，不能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包含变量</a:t>
            </a:r>
          </a:p>
          <a:p>
            <a:pPr lvl="0"/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 a+10: </a:t>
            </a:r>
            <a:r>
              <a:rPr lang="en-US" altLang="zh-CN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("..."); break;  </a:t>
            </a:r>
            <a:r>
              <a:rPr lang="en-US" altLang="zh-CN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kern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错误，不能</a:t>
            </a:r>
            <a:r>
              <a:rPr lang="zh-CN" altLang="en-US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包含变量</a:t>
            </a:r>
            <a:endParaRPr lang="en-US" altLang="zh-CN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22489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38395" y="1899285"/>
            <a:ext cx="6884670" cy="443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如果没有与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表达式相匹配的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常量呢？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该流程进入到</a:t>
            </a:r>
            <a:r>
              <a:rPr lang="en-US" altLang="zh-CN" sz="240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default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分支，执行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default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标号后面的语句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如果该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结构没有</a:t>
            </a:r>
            <a:r>
              <a:rPr lang="en-US" altLang="zh-CN" sz="240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default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标签，此时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如果没有与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表达式相匹配的</a:t>
            </a:r>
            <a:r>
              <a:rPr lang="en-US" altLang="zh-CN" sz="240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case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常量，则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不执行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任何语句，流程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转到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结构后的语句。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25450" y="1899285"/>
            <a:ext cx="4368800" cy="40481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switch(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3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</a:p>
          <a:p>
            <a:pPr lvl="0" algn="l"/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...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case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常量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break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default: 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n+1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案例研究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6623911" y="1889760"/>
            <a:ext cx="5322570" cy="2150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输入不同段的分数。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 10: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后面没有语句。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373910" y="1720659"/>
            <a:ext cx="6108204" cy="48492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/*switch score to grade*/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 algn="l"/>
            <a:endParaRPr lang="en-US" altLang="zh-CN" sz="20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main() 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score;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d",&amp;score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switch (score / 10) 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case 10: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case 9: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优秀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");break; 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case 8: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良好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");break;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case 7: 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case 6: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及格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");break;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default: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你挂科啦！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");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}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625974"/>
            <a:ext cx="8534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Google</a:t>
            </a:r>
            <a:r>
              <a:rPr lang="zh-CN" altLang="en-US" sz="2000" b="1" dirty="0">
                <a:solidFill>
                  <a:srgbClr val="FF0000"/>
                </a:solidFill>
              </a:rPr>
              <a:t>的代码风格规范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634652" y="2122978"/>
            <a:ext cx="110696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switch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语句可以使用</a:t>
            </a:r>
            <a:r>
              <a:rPr lang="zh-CN" altLang="en-US" sz="2400" b="1">
                <a:solidFill>
                  <a:srgbClr val="4D4D4D"/>
                </a:solidFill>
                <a:latin typeface="-apple-system"/>
              </a:rPr>
              <a:t>大括号分段</a:t>
            </a:r>
            <a:r>
              <a:rPr lang="en-US" altLang="zh-CN" sz="2400" b="1">
                <a:solidFill>
                  <a:srgbClr val="4D4D4D"/>
                </a:solidFill>
                <a:latin typeface="-apple-system"/>
              </a:rPr>
              <a:t>,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以表明 </a:t>
            </a:r>
            <a:r>
              <a:rPr lang="en-US" altLang="zh-CN" sz="2400" b="1" dirty="0">
                <a:solidFill>
                  <a:srgbClr val="4D4D4D"/>
                </a:solidFill>
                <a:latin typeface="-apple-system"/>
              </a:rPr>
              <a:t>cases </a:t>
            </a:r>
            <a:r>
              <a:rPr lang="zh-CN" altLang="en-US" sz="2400" b="1" dirty="0">
                <a:solidFill>
                  <a:srgbClr val="4D4D4D"/>
                </a:solidFill>
                <a:latin typeface="-apple-system"/>
              </a:rPr>
              <a:t>之间不是连在一起的。</a:t>
            </a:r>
            <a:endParaRPr lang="en-US" altLang="zh-CN" sz="2400" b="1" dirty="0">
              <a:solidFill>
                <a:srgbClr val="4D4D4D"/>
              </a:solidFill>
              <a:latin typeface="-apple-system"/>
            </a:endParaRPr>
          </a:p>
          <a:p>
            <a:endParaRPr lang="zh-CN" altLang="en-US" sz="2400" b="1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490" y="2658293"/>
            <a:ext cx="5713566" cy="41359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2012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623551"/>
            <a:ext cx="9083040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What is the output of this C code(when 1 is entered)?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#include &lt;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stdio.h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
    void main()
    {
        double 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ch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;
        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("enter a value btw 1 to 2:");
        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scanf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("%lf", &amp;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ch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
        switch (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ch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
        {
        case 1:    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("1"); break;
        case 2:    </a:t>
            </a:r>
            <a:r>
              <a:rPr lang="en-US" altLang="zh-CN" sz="14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("2"); break;
        }
    }</a:t>
            </a:r>
            <a:endParaRPr lang="zh-CN" altLang="en-US" sz="1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3615531"/>
            <a:ext cx="32658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Compile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60219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4221162"/>
            <a:ext cx="4749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20782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835366"/>
            <a:ext cx="4749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82203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21450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Varies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79693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5697220" cy="304698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What is the output of this C code(When 1 is entered)?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#include &lt;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stdio.h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 
    void main()
    {
        int 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ch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;
        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("enter a value btw 1 to 2:");
        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scanf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("%d", &amp;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ch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);
        switch (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ch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) {
        case 1: 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("1 ");
        default: </a:t>
            </a:r>
            <a:r>
              <a:rPr lang="en-US" altLang="zh-CN" sz="1600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("2 ");
        }
    }</a:t>
            </a:r>
            <a:endParaRPr lang="zh-CN" altLang="en-US" sz="1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511425" y="4138612"/>
            <a:ext cx="4749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44650" y="412527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511425" y="4755197"/>
            <a:ext cx="4749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644650" y="474186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511425" y="5355272"/>
            <a:ext cx="76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1 2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44650" y="5341937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511425" y="5968682"/>
            <a:ext cx="25753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Run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44650" y="5955347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090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三目运算符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5255260" y="1889760"/>
            <a:ext cx="6481445" cy="3812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条件运算符由两个符号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(?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组成，必须一起使用，要求有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个操作对象，称为三目运算符，是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语言唯一的一个三目运算符。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首先计算条件表达式的值是否为真，如果为真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，那么求解表达式真，并且把表达式真的值作为整个条件表达式的值；如果为假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那么求解表达式假，把值作为整个条件表达式的值。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257218" y="3166771"/>
            <a:ext cx="4490146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条件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? 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表达式真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: 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45107D-6364-C0F8-D1A5-83D4110F9489}"/>
              </a:ext>
            </a:extLst>
          </p:cNvPr>
          <p:cNvSpPr txBox="1"/>
          <p:nvPr/>
        </p:nvSpPr>
        <p:spPr>
          <a:xfrm>
            <a:off x="5173067" y="5924811"/>
            <a:ext cx="6563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注意：两个表达式必须兼容类型，否则编译错误。算术类型是兼容的，两个表达式类型不同，会发生隐式转换。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三目运算符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19345" y="2081530"/>
            <a:ext cx="6874510" cy="22155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例如：求解两个数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之间的最大值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如果条件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(a &gt; b)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为真，那么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整个表达式的值等于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；如果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为假，那么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整个表达式的值等于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最后赋值给变量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88950" y="2479040"/>
            <a:ext cx="425640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a,b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max = (a &gt; b) ? a : b;</a:t>
            </a: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三目运算符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19345" y="2081530"/>
            <a:ext cx="6874510" cy="1042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条件运算符的优先级低于关系运算符和算术运算符，但高于赋值符。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39073" y="2225993"/>
            <a:ext cx="425640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a,b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max = (a &gt; b) ? a : b;</a:t>
            </a:r>
          </a:p>
        </p:txBody>
      </p:sp>
      <p:sp>
        <p:nvSpPr>
          <p:cNvPr id="7" name="学论网-矩形 1"/>
          <p:cNvSpPr/>
          <p:nvPr/>
        </p:nvSpPr>
        <p:spPr>
          <a:xfrm>
            <a:off x="439072" y="3932873"/>
            <a:ext cx="425640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a,b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max = a &gt; b ? a : b;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89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三目运算符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19345" y="2081530"/>
            <a:ext cx="6874510" cy="16619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条件运算符的优先级低于关系运算符和算术运算符，但高于赋值符。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条件运算符的结合方向是自右至左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39073" y="2225993"/>
            <a:ext cx="425640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a&gt;b ? a : c&gt;d ? c : d;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18642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三目运算符</a:t>
            </a:r>
          </a:p>
        </p:txBody>
      </p:sp>
      <p:sp>
        <p:nvSpPr>
          <p:cNvPr id="55" name="学论网-www.xuelun.me"/>
          <p:cNvSpPr txBox="1"/>
          <p:nvPr/>
        </p:nvSpPr>
        <p:spPr>
          <a:xfrm>
            <a:off x="4919345" y="2081530"/>
            <a:ext cx="6874510" cy="16619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条件运算符的优先级低于关系运算符和算术运算符，但高于赋值符。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条件运算符的结合方向是自右至左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439073" y="2225993"/>
            <a:ext cx="425640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a&gt;b ? a : c&gt;d ? c : d;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7" name="学论网-矩形 1"/>
          <p:cNvSpPr/>
          <p:nvPr/>
        </p:nvSpPr>
        <p:spPr>
          <a:xfrm>
            <a:off x="439073" y="4162426"/>
            <a:ext cx="4256405" cy="1239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a&gt;b ? a : (c&gt;d ? c : d);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45340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三目运算符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练习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979112" y="1663405"/>
            <a:ext cx="8267179" cy="49566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/*ex-sort-three*/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#include&lt;stdio.h&gt;</a:t>
            </a:r>
          </a:p>
          <a:p>
            <a:pPr lvl="0"/>
            <a:endParaRPr lang="en-US" altLang="zh-CN" sz="16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main() {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i,j,k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max,min,median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/>
            <a:endParaRPr lang="en-US" altLang="zh-CN" sz="16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("please three int number:");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d%d%d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",&amp;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,&amp;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j,&amp;k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//</a:t>
            </a:r>
            <a:r>
              <a:rPr lang="zh-CN" altLang="en-US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请给出合适的表达式替换</a:t>
            </a:r>
            <a:r>
              <a:rPr lang="en-US" altLang="zh-CN" sz="1600" kern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zh-CN" altLang="en-US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，</a:t>
            </a: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j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max =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;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min = j;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median =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i+j+k-max-min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("%d %d %d",</a:t>
            </a:r>
            <a:r>
              <a:rPr lang="en-US" altLang="zh-CN" sz="16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max,median,min</a:t>
            </a:r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sz="16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  <a:endParaRPr lang="en-US" altLang="zh-CN" sz="16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  <p:sp>
        <p:nvSpPr>
          <p:cNvPr id="7" name="学论网-www.xuelun.me"/>
          <p:cNvSpPr txBox="1"/>
          <p:nvPr/>
        </p:nvSpPr>
        <p:spPr>
          <a:xfrm>
            <a:off x="1200020" y="1937054"/>
            <a:ext cx="10267950" cy="4887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应用：三个数排序</a:t>
            </a:r>
            <a:endParaRPr 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04703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270368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：课题组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2740</TotalTime>
  <Words>5312</Words>
  <Application>Microsoft Office PowerPoint</Application>
  <PresentationFormat>宽屏</PresentationFormat>
  <Paragraphs>790</Paragraphs>
  <Slides>61</Slides>
  <Notes>57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5" baseType="lpstr">
      <vt:lpstr>-apple-system</vt:lpstr>
      <vt:lpstr>Arial Unicode MS</vt:lpstr>
      <vt:lpstr>Helvetica Neue</vt:lpstr>
      <vt:lpstr>Impact MT Std</vt:lpstr>
      <vt:lpstr>Microsoft Yahei</vt:lpstr>
      <vt:lpstr>等线</vt:lpstr>
      <vt:lpstr>等线 Light</vt:lpstr>
      <vt:lpstr>宋体</vt:lpstr>
      <vt:lpstr>微软雅黑</vt:lpstr>
      <vt:lpstr>Arial</vt:lpstr>
      <vt:lpstr>Consolas</vt:lpstr>
      <vt:lpstr>Wingdings</vt:lpstr>
      <vt:lpstr>Office 主题​​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236</cp:revision>
  <dcterms:created xsi:type="dcterms:W3CDTF">2016-11-24T09:20:00Z</dcterms:created>
  <dcterms:modified xsi:type="dcterms:W3CDTF">2023-10-26T09:00:03Z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7E38F6AF0AEB4547AE4ACB4243E3DBEC</vt:lpwstr>
  </property>
</Properties>
</file>