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60" r:id="rId4"/>
    <p:sldId id="259" r:id="rId5"/>
    <p:sldId id="261" r:id="rId6"/>
    <p:sldId id="262" r:id="rId7"/>
    <p:sldId id="263" r:id="rId8"/>
    <p:sldId id="270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4B4F11-E9AD-4EFA-8398-EE3F935BC79D}" type="datetimeFigureOut">
              <a:rPr lang="zh-CN" altLang="en-US" smtClean="0"/>
              <a:t>2022/11/21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DC1F33-B8F6-4572-95F9-5E6C4AAFAC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064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DC1F33-B8F6-4572-95F9-5E6C4AAFAC6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341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DC1F33-B8F6-4572-95F9-5E6C4AAFAC6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9721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DC1F33-B8F6-4572-95F9-5E6C4AAFAC6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673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DC1F33-B8F6-4572-95F9-5E6C4AAFAC6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999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90FB82-9761-2320-FEFC-B66FEBD78B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547343-3375-A11E-7940-13BC1172FA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0B07A7-717E-AAB1-2E1C-B796D76BD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E5772-A39B-4E2D-B24F-76B1F05EA44A}" type="datetimeFigureOut">
              <a:rPr lang="zh-CN" altLang="en-US" smtClean="0"/>
              <a:t>2022/11/21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96FA32-29BB-9477-73D1-274D43D74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237831-7A7E-0A06-21BD-E6BB44798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E59D-92F8-44FF-9424-70B7C4FFB0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444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590F47-8AAD-1449-5ECC-4FD94DEF1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209274-D9DF-8A5D-70CD-14DFBFD5D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8DF24F-26E0-17FE-4278-C9A063FC1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E5772-A39B-4E2D-B24F-76B1F05EA44A}" type="datetimeFigureOut">
              <a:rPr lang="zh-CN" altLang="en-US" smtClean="0"/>
              <a:t>2022/11/21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9DF650-2176-86FC-8716-AFC1B1F64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B62B9D-3D45-0462-07B9-2C79D5F0D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E59D-92F8-44FF-9424-70B7C4FFB0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61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850C9D-1BCA-4DF4-AAA9-C195B77E8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E9ABBF-E1F3-5831-E818-D7A5B2A40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D76F32-7011-9B3F-9803-2E70334A0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E5772-A39B-4E2D-B24F-76B1F05EA44A}" type="datetimeFigureOut">
              <a:rPr lang="zh-CN" altLang="en-US" smtClean="0"/>
              <a:t>2022/11/21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E6CC6E-4842-9A5A-3D4B-46579A16E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4E0021-E016-0DD6-8A7F-C91F8900E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E59D-92F8-44FF-9424-70B7C4FFB0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421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6B011B-3817-B707-72CE-BCED91E66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3D9A26-CF26-46B3-C589-AE67B50868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8897F0-65FE-CFEF-C753-11FAEEFDA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E93824-6EE2-D70D-3E71-E08253D04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E5772-A39B-4E2D-B24F-76B1F05EA44A}" type="datetimeFigureOut">
              <a:rPr lang="zh-CN" altLang="en-US" smtClean="0"/>
              <a:t>2022/11/21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FFF8A5-0F0E-5F15-03A3-653F56B8B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7C20CB-488D-A404-F606-6882CD48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E59D-92F8-44FF-9424-70B7C4FFB0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956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DC940B-F520-7F08-C67A-8372B4E8E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848AE7-11F3-FF5D-3D78-0D299EF02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3D0DA9-BBBE-5C83-A4B8-A74429FAC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36A5DA3-A68B-F4E8-D25A-73A1C0673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9A03538-4479-5200-B207-A464AB9E8F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A1399B-AF66-B903-9DF0-F1D7FB216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E5772-A39B-4E2D-B24F-76B1F05EA44A}" type="datetimeFigureOut">
              <a:rPr lang="zh-CN" altLang="en-US" smtClean="0"/>
              <a:t>2022/11/21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846A166-E5BE-B27B-BA41-87D819270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4C0C099-EA2F-F22F-EABD-5A946435B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E59D-92F8-44FF-9424-70B7C4FFB0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243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C89E70-912E-39D5-D71B-5CD9824E3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EC40A24-7267-8B57-B929-AC1497533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E5772-A39B-4E2D-B24F-76B1F05EA44A}" type="datetimeFigureOut">
              <a:rPr lang="zh-CN" altLang="en-US" smtClean="0"/>
              <a:t>2022/11/21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6BD4045-F8FF-E43B-53FC-91BA3A1EC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D1FD879-8CA5-2512-B006-7A13317FD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E59D-92F8-44FF-9424-70B7C4FFB0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772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2EFB5FD-5D0A-17D8-575C-497B46DDA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E5772-A39B-4E2D-B24F-76B1F05EA44A}" type="datetimeFigureOut">
              <a:rPr lang="zh-CN" altLang="en-US" smtClean="0"/>
              <a:t>2022/11/21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F05EEC1-48CE-E5A2-1ED6-EC34669AA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4ED121-D046-0897-B499-43D9FA4F1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E59D-92F8-44FF-9424-70B7C4FFB0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8058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BC472C-3377-43E8-6B4F-21D25A57E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E4CA57-55FA-2C34-F5EC-83F92A5D7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AF6216-D6F6-B5FC-CB68-5AB10C9800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84936B-D2FB-19A7-0502-ACB8688D4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E5772-A39B-4E2D-B24F-76B1F05EA44A}" type="datetimeFigureOut">
              <a:rPr lang="zh-CN" altLang="en-US" smtClean="0"/>
              <a:t>2022/11/21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D0330D-33A3-9A59-CD50-767288962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A2380A-A20D-1312-6192-EF1C3B70E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E59D-92F8-44FF-9424-70B7C4FFB0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187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B0AAED-EC40-DADA-2098-AE67F775F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02E86DE-2BDB-E1F2-3F4C-70D7E0DE57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91A877-68AC-7DE6-9DE5-F70AA6CA73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C8550D-ADFB-A5CD-67EA-6BEA3A6D5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E5772-A39B-4E2D-B24F-76B1F05EA44A}" type="datetimeFigureOut">
              <a:rPr lang="zh-CN" altLang="en-US" smtClean="0"/>
              <a:t>2022/11/21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D0184D-8AB1-D906-A2C3-8EF8CD79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B22D86-AD61-4195-6331-8608B4C92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E59D-92F8-44FF-9424-70B7C4FFB0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962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28113B-9094-0383-888A-29FCA36D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06ED80-A290-20C4-E095-984FF6984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C14583-8519-5E23-C3DC-ECA031779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E5772-A39B-4E2D-B24F-76B1F05EA44A}" type="datetimeFigureOut">
              <a:rPr lang="zh-CN" altLang="en-US" smtClean="0"/>
              <a:t>2022/11/21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D860DD-CEC3-66C1-4041-93087CC29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A21A0C-0377-D7DC-8667-CD447C39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E59D-92F8-44FF-9424-70B7C4FFB0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4376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79AF762-B8F1-3326-92F0-5E3EF6A4D6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AFC5DA-D3D2-1AAA-0366-88CED4132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D9D99C-0E65-6466-D662-DEB142664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E5772-A39B-4E2D-B24F-76B1F05EA44A}" type="datetimeFigureOut">
              <a:rPr lang="zh-CN" altLang="en-US" smtClean="0"/>
              <a:t>2022/11/21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83EB4D-CE11-C045-38A5-C2AE6E0B5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324589-2C72-B3BE-8544-DAB231C2C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E59D-92F8-44FF-9424-70B7C4FFB0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8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177C5A7-F933-CC16-643B-726F7FCD0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D4D493-5EDF-7448-9CCB-BC562B452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547E33-D317-F61C-8F65-C91477D132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2E5772-A39B-4E2D-B24F-76B1F05EA44A}" type="datetimeFigureOut">
              <a:rPr lang="zh-CN" altLang="en-US" smtClean="0"/>
              <a:t>2022/11/21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66F884-6242-0E60-32FD-1904026F71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C482F3-8F76-90F2-9C16-68110E5DBC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3AE59D-92F8-44FF-9424-70B7C4FFB0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44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7.jpg"/><Relationship Id="rId7" Type="http://schemas.openxmlformats.org/officeDocument/2006/relationships/image" Target="../media/image15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0.png"/><Relationship Id="rId10" Type="http://schemas.openxmlformats.org/officeDocument/2006/relationships/image" Target="../media/image19.png"/><Relationship Id="rId4" Type="http://schemas.openxmlformats.org/officeDocument/2006/relationships/image" Target="../media/image15.png"/><Relationship Id="rId9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0.png"/><Relationship Id="rId4" Type="http://schemas.openxmlformats.org/officeDocument/2006/relationships/image" Target="../media/image1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325A60B-C2C2-3FE2-61FF-042C873B2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420" y="591079"/>
            <a:ext cx="8867159" cy="10720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D2D2262-01ED-AA0F-AC1F-0A28D3EAAF60}"/>
                  </a:ext>
                </a:extLst>
              </p:cNvPr>
              <p:cNvSpPr txBox="1"/>
              <p:nvPr/>
            </p:nvSpPr>
            <p:spPr>
              <a:xfrm>
                <a:off x="1735149" y="1890167"/>
                <a:ext cx="9308702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solidFill>
                      <a:srgbClr val="FF0000"/>
                    </a:solidFill>
                  </a:rPr>
                  <a:t>有用的结论：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r>
                  <a:rPr lang="zh-CN" altLang="en-US" dirty="0">
                    <a:solidFill>
                      <a:srgbClr val="FF0000"/>
                    </a:solidFill>
                  </a:rPr>
                  <a:t>对任意区间，如果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在该区间有且只有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个零点，那么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在该区间最多有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个零点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endParaRPr lang="en-US" altLang="zh-CN" dirty="0">
                  <a:solidFill>
                    <a:srgbClr val="FF0000"/>
                  </a:solidFill>
                </a:endParaRPr>
              </a:p>
              <a:p>
                <a:r>
                  <a:rPr lang="zh-CN" altLang="en-US" dirty="0">
                    <a:solidFill>
                      <a:schemeClr val="tx1"/>
                    </a:solidFill>
                  </a:rPr>
                  <a:t>证明该结论：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endParaRPr lang="en-US" altLang="zh-CN" dirty="0">
                  <a:solidFill>
                    <a:schemeClr val="tx1"/>
                  </a:solidFill>
                </a:endParaRPr>
              </a:p>
              <a:p>
                <a:r>
                  <a:rPr lang="zh-CN" altLang="en-US" dirty="0">
                    <a:solidFill>
                      <a:schemeClr val="tx1"/>
                    </a:solidFill>
                  </a:rPr>
                  <a:t>如果存在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个零点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</m:oMath>
                </a14:m>
                <a:endParaRPr lang="en-US" altLang="zh-CN" b="0" dirty="0">
                  <a:solidFill>
                    <a:schemeClr val="tx1"/>
                  </a:solidFill>
                </a:endParaRPr>
              </a:p>
              <a:p>
                <a:r>
                  <a:rPr lang="zh-CN" altLang="en-US" dirty="0">
                    <a:solidFill>
                      <a:schemeClr val="tx1"/>
                    </a:solidFill>
                  </a:rPr>
                  <a:t>则在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个区间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中有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=1,⋯,</m:t>
                    </m:r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r>
                  <a:rPr lang="zh-CN" altLang="en-US" dirty="0">
                    <a:solidFill>
                      <a:schemeClr val="tx1"/>
                    </a:solidFill>
                  </a:rPr>
                  <a:t>应用罗尔定理知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)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有零点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r>
                  <a:rPr lang="zh-CN" altLang="en-US" dirty="0"/>
                  <a:t>因此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至少有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个零点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r>
                  <a:rPr lang="zh-CN" altLang="en-US" dirty="0"/>
                  <a:t>这与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只有有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个零点矛盾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endParaRPr lang="en-US" altLang="zh-CN" dirty="0">
                  <a:solidFill>
                    <a:schemeClr val="tx1"/>
                  </a:solidFill>
                </a:endParaRPr>
              </a:p>
              <a:p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D2D2262-01ED-AA0F-AC1F-0A28D3EAA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149" y="1890167"/>
                <a:ext cx="9308702" cy="3416320"/>
              </a:xfrm>
              <a:prstGeom prst="rect">
                <a:avLst/>
              </a:prstGeom>
              <a:blipFill>
                <a:blip r:embed="rId4"/>
                <a:stretch>
                  <a:fillRect l="-589" t="-8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1173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325A60B-C2C2-3FE2-61FF-042C873B2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420" y="591079"/>
            <a:ext cx="8867159" cy="107202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D2D2262-01ED-AA0F-AC1F-0A28D3EAAF60}"/>
              </a:ext>
            </a:extLst>
          </p:cNvPr>
          <p:cNvSpPr txBox="1"/>
          <p:nvPr/>
        </p:nvSpPr>
        <p:spPr>
          <a:xfrm>
            <a:off x="1735149" y="1890167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CN" dirty="0">
              <a:solidFill>
                <a:schemeClr val="tx1"/>
              </a:solidFill>
            </a:endParaRP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3A6A781-F278-1134-E576-783E41672034}"/>
                  </a:ext>
                </a:extLst>
              </p:cNvPr>
              <p:cNvSpPr txBox="1"/>
              <p:nvPr/>
            </p:nvSpPr>
            <p:spPr>
              <a:xfrm>
                <a:off x="2761610" y="1751667"/>
                <a:ext cx="6143733" cy="28623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分析</a:t>
                </a:r>
                <a:r>
                  <a:rPr lang="en-US" altLang="zh-CN" dirty="0"/>
                  <a:t>(1)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r>
                  <a:rPr lang="zh-CN" altLang="en-US" dirty="0"/>
                  <a:t>因为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−3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zh-CN" altLang="en-US" b="0" dirty="0"/>
                  <a:t>在区间</a:t>
                </a:r>
                <a:r>
                  <a:rPr lang="en-US" altLang="zh-CN" b="0" dirty="0"/>
                  <a:t>[0,1]</a:t>
                </a:r>
                <a:r>
                  <a:rPr lang="zh-CN" altLang="en-US" b="0" dirty="0"/>
                  <a:t>内无零点</a:t>
                </a:r>
                <a:endParaRPr lang="en-US" altLang="zh-CN" b="0" dirty="0"/>
              </a:p>
              <a:p>
                <a:r>
                  <a:rPr lang="zh-CN" altLang="en-US" b="0" dirty="0"/>
                  <a:t>所以由前面结论可看出题目成立</a:t>
                </a:r>
                <a:endParaRPr lang="en-US" altLang="zh-CN" b="0" dirty="0"/>
              </a:p>
              <a:p>
                <a:endParaRPr lang="en-US" altLang="zh-CN" dirty="0"/>
              </a:p>
              <a:p>
                <a:r>
                  <a:rPr lang="zh-CN" altLang="en-US" b="0" dirty="0"/>
                  <a:t>完整证明：</a:t>
                </a:r>
                <a:endParaRPr lang="en-US" altLang="zh-CN" b="0" dirty="0"/>
              </a:p>
              <a:p>
                <a:endParaRPr lang="en-US" altLang="zh-CN" b="0" dirty="0"/>
              </a:p>
              <a:p>
                <a:r>
                  <a:rPr lang="zh-CN" altLang="en-US" dirty="0"/>
                  <a:t>假设该方程在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[0,1]</m:t>
                    </m:r>
                  </m:oMath>
                </a14:m>
                <a:r>
                  <a:rPr lang="zh-CN" altLang="en-US" dirty="0"/>
                  <a:t>有两个不同实根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b="0" dirty="0"/>
                  <a:t>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r>
                  <a:rPr lang="zh-CN" altLang="en-US" b="0" dirty="0"/>
                  <a:t>那么由罗尔定理得</a:t>
                </a:r>
                <a:endParaRPr lang="en-US" altLang="zh-CN" b="0" dirty="0"/>
              </a:p>
              <a:p>
                <a:r>
                  <a:rPr lang="en-US" altLang="zh-CN" dirty="0"/>
                  <a:t>	</a:t>
                </a:r>
                <a:r>
                  <a:rPr lang="zh-CN" altLang="en-US" b="0" dirty="0"/>
                  <a:t>存在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altLang="zh-CN" b="0" i="1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∈(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i="1" dirty="0"/>
                  <a:t>，</a:t>
                </a:r>
                <a:r>
                  <a:rPr lang="zh-CN" altLang="en-US" b="0" dirty="0"/>
                  <a:t>使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en-US" altLang="zh-CN" b="0" dirty="0"/>
              </a:p>
              <a:p>
                <a:r>
                  <a:rPr lang="zh-CN" altLang="en-US" b="0" dirty="0"/>
                  <a:t>但这与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−3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zh-CN" altLang="en-US" b="0" dirty="0"/>
                  <a:t>在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[0,1]</m:t>
                    </m:r>
                  </m:oMath>
                </a14:m>
                <a:r>
                  <a:rPr lang="zh-CN" altLang="en-US" b="0" dirty="0"/>
                  <a:t>中无零点矛盾</a:t>
                </a:r>
                <a:endParaRPr lang="en-US" altLang="zh-CN" b="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3A6A781-F278-1134-E576-783E41672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610" y="1751667"/>
                <a:ext cx="6143733" cy="2862322"/>
              </a:xfrm>
              <a:prstGeom prst="rect">
                <a:avLst/>
              </a:prstGeom>
              <a:blipFill>
                <a:blip r:embed="rId4"/>
                <a:stretch>
                  <a:fillRect l="-794" t="-1064" r="-298" b="-2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2162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1D09B3B-7CE5-E892-379D-3C2E5E25B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675" y="147286"/>
            <a:ext cx="5246358" cy="671071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3A324AB-36BB-6FE1-6260-9E57200EEBEB}"/>
              </a:ext>
            </a:extLst>
          </p:cNvPr>
          <p:cNvSpPr txBox="1"/>
          <p:nvPr/>
        </p:nvSpPr>
        <p:spPr>
          <a:xfrm>
            <a:off x="1137751" y="619828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参考答案看起来很复杂</a:t>
            </a:r>
          </a:p>
        </p:txBody>
      </p:sp>
    </p:spTree>
    <p:extLst>
      <p:ext uri="{BB962C8B-B14F-4D97-AF65-F5344CB8AC3E}">
        <p14:creationId xmlns:p14="http://schemas.microsoft.com/office/powerpoint/2010/main" val="2732014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325A60B-C2C2-3FE2-61FF-042C873B2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420" y="591079"/>
            <a:ext cx="8867159" cy="107202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D2D2262-01ED-AA0F-AC1F-0A28D3EAAF60}"/>
              </a:ext>
            </a:extLst>
          </p:cNvPr>
          <p:cNvSpPr txBox="1"/>
          <p:nvPr/>
        </p:nvSpPr>
        <p:spPr>
          <a:xfrm>
            <a:off x="1735149" y="1890167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CN" dirty="0">
              <a:solidFill>
                <a:schemeClr val="tx1"/>
              </a:solidFill>
            </a:endParaRP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3A6A781-F278-1134-E576-783E41672034}"/>
                  </a:ext>
                </a:extLst>
              </p:cNvPr>
              <p:cNvSpPr txBox="1"/>
              <p:nvPr/>
            </p:nvSpPr>
            <p:spPr>
              <a:xfrm>
                <a:off x="2761610" y="1751667"/>
                <a:ext cx="6100092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分析</a:t>
                </a:r>
                <a:r>
                  <a:rPr lang="en-US" altLang="zh-CN" dirty="0"/>
                  <a:t>(2)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考虑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为奇数，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/>
                  <a:t>最多有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个解（可分类讨论）</a:t>
                </a:r>
                <a:endParaRPr lang="en-US" altLang="zh-CN" dirty="0"/>
              </a:p>
              <a:p>
                <a:r>
                  <a:rPr lang="zh-CN" altLang="en-US" dirty="0"/>
                  <a:t>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为偶数，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/>
                  <a:t>有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个解</a:t>
                </a:r>
                <a:endParaRPr lang="en-US" altLang="zh-CN" dirty="0"/>
              </a:p>
              <a:p>
                <a:r>
                  <a:rPr lang="zh-CN" altLang="en-US" dirty="0"/>
                  <a:t>由前面结论知题目成立</a:t>
                </a:r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3A6A781-F278-1134-E576-783E41672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610" y="1751667"/>
                <a:ext cx="6100092" cy="2031325"/>
              </a:xfrm>
              <a:prstGeom prst="rect">
                <a:avLst/>
              </a:prstGeom>
              <a:blipFill>
                <a:blip r:embed="rId4"/>
                <a:stretch>
                  <a:fillRect l="-799" t="-14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9516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076A326-8610-7740-C853-065B77ECF25C}"/>
              </a:ext>
            </a:extLst>
          </p:cNvPr>
          <p:cNvSpPr txBox="1"/>
          <p:nvPr/>
        </p:nvSpPr>
        <p:spPr>
          <a:xfrm>
            <a:off x="1011057" y="578961"/>
            <a:ext cx="6097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3.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应用拉格朗日中值定理证明下列不等式：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7E12919-C9AA-6094-6748-6BBE3D6DB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44" y="1162293"/>
            <a:ext cx="3167663" cy="71616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C6A9351-7050-428D-3EFA-97EE1C333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247" y="1992720"/>
            <a:ext cx="3212514" cy="71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405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076A326-8610-7740-C853-065B77ECF25C}"/>
              </a:ext>
            </a:extLst>
          </p:cNvPr>
          <p:cNvSpPr txBox="1"/>
          <p:nvPr/>
        </p:nvSpPr>
        <p:spPr>
          <a:xfrm>
            <a:off x="1011057" y="578961"/>
            <a:ext cx="6097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3.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应用拉格朗日中值定理证明下列不等式：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7E12919-C9AA-6094-6748-6BBE3D6DB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723" y="1137746"/>
            <a:ext cx="3167663" cy="7161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8B660F5-351B-9478-0E77-2850347972A4}"/>
                  </a:ext>
                </a:extLst>
              </p:cNvPr>
              <p:cNvSpPr txBox="1"/>
              <p:nvPr/>
            </p:nvSpPr>
            <p:spPr>
              <a:xfrm>
                <a:off x="3387577" y="2335601"/>
                <a:ext cx="3820277" cy="31722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分析：</a:t>
                </a:r>
                <a:endParaRPr lang="en-US" altLang="zh-CN" dirty="0"/>
              </a:p>
              <a:p>
                <a:r>
                  <a:rPr lang="en-US" altLang="zh-CN" dirty="0"/>
                  <a:t>1.</a:t>
                </a:r>
                <a:r>
                  <a:rPr lang="zh-CN" altLang="en-US" dirty="0"/>
                  <a:t>凑出微分中值定理的形式，变换成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𝑙𝑛𝑦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𝑙𝑛𝑥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应用拉格朗日中值定理，即证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𝑙𝑛𝑥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显然成立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8B660F5-351B-9478-0E77-285034797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7577" y="2335601"/>
                <a:ext cx="3820277" cy="3172279"/>
              </a:xfrm>
              <a:prstGeom prst="rect">
                <a:avLst/>
              </a:prstGeom>
              <a:blipFill>
                <a:blip r:embed="rId3"/>
                <a:stretch>
                  <a:fillRect l="-1438" t="-960" r="-9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6053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076A326-8610-7740-C853-065B77ECF25C}"/>
              </a:ext>
            </a:extLst>
          </p:cNvPr>
          <p:cNvSpPr txBox="1"/>
          <p:nvPr/>
        </p:nvSpPr>
        <p:spPr>
          <a:xfrm>
            <a:off x="1011057" y="578961"/>
            <a:ext cx="6097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3.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应用拉格朗日中值定理证明下列不等式：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8B660F5-351B-9478-0E77-2850347972A4}"/>
                  </a:ext>
                </a:extLst>
              </p:cNvPr>
              <p:cNvSpPr txBox="1"/>
              <p:nvPr/>
            </p:nvSpPr>
            <p:spPr>
              <a:xfrm>
                <a:off x="3516452" y="1863059"/>
                <a:ext cx="3820277" cy="31224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分析：</a:t>
                </a:r>
                <a:endParaRPr lang="en-US" altLang="zh-CN" dirty="0"/>
              </a:p>
              <a:p>
                <a:r>
                  <a:rPr lang="en-US" altLang="zh-CN" dirty="0"/>
                  <a:t>1.</a:t>
                </a:r>
                <a:r>
                  <a:rPr lang="zh-CN" altLang="en-US" dirty="0"/>
                  <a:t>凑出微分中值定理的形式，变换成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𝑎𝑟𝑐𝑡𝑎𝑛𝑥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−0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−0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应用拉格朗日中值定理，即证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𝑎𝑟𝑐𝑡𝑎𝑛𝑥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∈(0,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显然成立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8B660F5-351B-9478-0E77-285034797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452" y="1863059"/>
                <a:ext cx="3820277" cy="3122458"/>
              </a:xfrm>
              <a:prstGeom prst="rect">
                <a:avLst/>
              </a:prstGeom>
              <a:blipFill>
                <a:blip r:embed="rId2"/>
                <a:stretch>
                  <a:fillRect l="-1435" t="-1172" r="-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E52FD2FB-F479-DEF6-2F66-12D991C51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057" y="992404"/>
            <a:ext cx="3212514" cy="71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792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C96D51A-141E-46D8-EF6A-05B25FC25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562" y="255284"/>
            <a:ext cx="8201794" cy="107028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506129F-68BA-DB5A-34EC-39848AE4E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8368" y="3681041"/>
            <a:ext cx="2619224" cy="74079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A1A5F77-F382-3CA3-B561-BE114B90EEB5}"/>
                  </a:ext>
                </a:extLst>
              </p:cNvPr>
              <p:cNvSpPr txBox="1"/>
              <p:nvPr/>
            </p:nvSpPr>
            <p:spPr>
              <a:xfrm>
                <a:off x="1636562" y="1603510"/>
                <a:ext cx="6634003" cy="1229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分析：</a:t>
                </a:r>
                <a:endParaRPr lang="en-US" altLang="zh-CN" dirty="0"/>
              </a:p>
              <a:p>
                <a:r>
                  <a:rPr lang="zh-CN" altLang="en-US" dirty="0"/>
                  <a:t>转换成只需证存在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</m:d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A1A5F77-F382-3CA3-B561-BE114B90E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6562" y="1603510"/>
                <a:ext cx="6634003" cy="1229567"/>
              </a:xfrm>
              <a:prstGeom prst="rect">
                <a:avLst/>
              </a:prstGeom>
              <a:blipFill>
                <a:blip r:embed="rId4"/>
                <a:stretch>
                  <a:fillRect l="-735" t="-2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DD7C9A9-5DB0-D27D-5029-F3C7E0DEF403}"/>
                  </a:ext>
                </a:extLst>
              </p:cNvPr>
              <p:cNvSpPr txBox="1"/>
              <p:nvPr/>
            </p:nvSpPr>
            <p:spPr>
              <a:xfrm>
                <a:off x="1701446" y="4977036"/>
                <a:ext cx="434029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设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,</a:t>
                </a:r>
              </a:p>
              <a:p>
                <a:r>
                  <a:rPr lang="zh-CN" altLang="en-US" dirty="0"/>
                  <a:t>对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应用柯西中值定理马上得证</a:t>
                </a:r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DD7C9A9-5DB0-D27D-5029-F3C7E0DEF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446" y="4977036"/>
                <a:ext cx="4340291" cy="646331"/>
              </a:xfrm>
              <a:prstGeom prst="rect">
                <a:avLst/>
              </a:prstGeom>
              <a:blipFill>
                <a:blip r:embed="rId5"/>
                <a:stretch>
                  <a:fillRect l="-1124" t="-4717" r="-702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>
            <a:extLst>
              <a:ext uri="{FF2B5EF4-FFF2-40B4-BE49-F238E27FC236}">
                <a16:creationId xmlns:a16="http://schemas.microsoft.com/office/drawing/2014/main" id="{C19C864E-36B5-DFE8-2D80-2382C7A744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6562" y="3088430"/>
            <a:ext cx="7231277" cy="68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010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278F1C0-D495-550C-1631-21C867643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633" y="673688"/>
            <a:ext cx="9200937" cy="54755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094C886-3F72-18E3-E928-0EF18FB78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5267" y="1723006"/>
            <a:ext cx="6265451" cy="419911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DAE2070-DE68-428B-66A6-F4F03F8D751B}"/>
              </a:ext>
            </a:extLst>
          </p:cNvPr>
          <p:cNvSpPr txBox="1"/>
          <p:nvPr/>
        </p:nvSpPr>
        <p:spPr>
          <a:xfrm>
            <a:off x="1012591" y="1890170"/>
            <a:ext cx="2280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参考答案的构造太难</a:t>
            </a:r>
          </a:p>
        </p:txBody>
      </p:sp>
    </p:spTree>
    <p:extLst>
      <p:ext uri="{BB962C8B-B14F-4D97-AF65-F5344CB8AC3E}">
        <p14:creationId xmlns:p14="http://schemas.microsoft.com/office/powerpoint/2010/main" val="2925567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278F1C0-D495-550C-1631-21C867643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633" y="673688"/>
            <a:ext cx="9200937" cy="5475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DAE2070-DE68-428B-66A6-F4F03F8D751B}"/>
                  </a:ext>
                </a:extLst>
              </p:cNvPr>
              <p:cNvSpPr txBox="1"/>
              <p:nvPr/>
            </p:nvSpPr>
            <p:spPr>
              <a:xfrm>
                <a:off x="1243670" y="1602132"/>
                <a:ext cx="387247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分析</a:t>
                </a:r>
                <a:r>
                  <a:rPr lang="en-US" altLang="zh-CN" dirty="0"/>
                  <a:t>:</a:t>
                </a:r>
              </a:p>
              <a:p>
                <a:r>
                  <a:rPr lang="zh-CN" altLang="en-US" dirty="0">
                    <a:solidFill>
                      <a:srgbClr val="FF0000"/>
                    </a:solidFill>
                  </a:rPr>
                  <a:t>只需证明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有两个点的函数值相同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r>
                  <a:rPr lang="zh-CN" altLang="en-US" dirty="0"/>
                  <a:t>从图像看出这是很符合直觉的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DAE2070-DE68-428B-66A6-F4F03F8D7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670" y="1602132"/>
                <a:ext cx="3872470" cy="923330"/>
              </a:xfrm>
              <a:prstGeom prst="rect">
                <a:avLst/>
              </a:prstGeom>
              <a:blipFill>
                <a:blip r:embed="rId3"/>
                <a:stretch>
                  <a:fillRect l="-1260" t="-3974" r="-945" b="-99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DC8532CB-EDCE-1624-D1BB-E3670357806A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592" y="1545671"/>
            <a:ext cx="4125440" cy="328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462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44CBC1FF-0536-F04D-B18B-23A58DCA5E61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378" y="3319239"/>
            <a:ext cx="4125440" cy="328875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278F1C0-D495-550C-1631-21C8676430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205" y="0"/>
            <a:ext cx="9200937" cy="5475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DAE2070-DE68-428B-66A6-F4F03F8D751B}"/>
                  </a:ext>
                </a:extLst>
              </p:cNvPr>
              <p:cNvSpPr txBox="1"/>
              <p:nvPr/>
            </p:nvSpPr>
            <p:spPr>
              <a:xfrm>
                <a:off x="705746" y="547558"/>
                <a:ext cx="6492853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分析 </a:t>
                </a:r>
                <a:r>
                  <a:rPr lang="en-US" altLang="zh-CN" dirty="0">
                    <a:sym typeface="Wingdings" panose="05000000000000000000" pitchFamily="2" charset="2"/>
                  </a:rPr>
                  <a:t>(</a:t>
                </a:r>
                <a:r>
                  <a:rPr lang="zh-CN" altLang="en-US" dirty="0">
                    <a:sym typeface="Wingdings" panose="05000000000000000000" pitchFamily="2" charset="2"/>
                  </a:rPr>
                  <a:t>只考虑区间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,+∞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en-US" altLang="zh-CN" dirty="0"/>
                  <a:t> )</a:t>
                </a:r>
              </a:p>
              <a:p>
                <a:r>
                  <a:rPr lang="zh-CN" altLang="en-US" dirty="0"/>
                  <a:t>情况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：有超过两点函数值为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，此时题目成立</a:t>
                </a:r>
                <a:endParaRPr lang="en-US" altLang="zh-CN" dirty="0"/>
              </a:p>
              <a:p>
                <a:r>
                  <a:rPr lang="zh-CN" altLang="en-US" dirty="0"/>
                  <a:t>情况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r>
                  <a:rPr lang="en-US" altLang="zh-CN" dirty="0"/>
                  <a:t>1. </a:t>
                </a:r>
                <a:r>
                  <a:rPr lang="zh-CN" altLang="en-US" dirty="0"/>
                  <a:t>取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zh-CN" altLang="en-US" i="1" dirty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不妨设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，</a:t>
                </a:r>
                <a:endParaRPr lang="en-US" altLang="zh-CN" dirty="0"/>
              </a:p>
              <a:p>
                <a:r>
                  <a:rPr lang="zh-CN" altLang="en-US" dirty="0"/>
                  <a:t>则可取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i="0" dirty="0">
                    <a:latin typeface="+mj-lt"/>
                  </a:rPr>
                  <a:t>附近一点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i="0" dirty="0">
                    <a:latin typeface="+mj-lt"/>
                  </a:rPr>
                  <a:t>满足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altLang="zh-CN" b="0" i="0" dirty="0">
                  <a:latin typeface="+mj-lt"/>
                </a:endParaRPr>
              </a:p>
              <a:p>
                <a:r>
                  <a:rPr lang="zh-CN" altLang="en-US" dirty="0">
                    <a:latin typeface="+mj-lt"/>
                  </a:rPr>
                  <a:t>不妨设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zh-CN" altLang="en-US" dirty="0"/>
                      <m:t>，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考虑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0" i="0" dirty="0">
                    <a:latin typeface="+mj-lt"/>
                  </a:rPr>
                  <a:t>，如图</a:t>
                </a:r>
                <a:endParaRPr lang="en-US" altLang="zh-CN" b="0" i="0" dirty="0">
                  <a:latin typeface="+mj-lt"/>
                </a:endParaRPr>
              </a:p>
              <a:p>
                <a:r>
                  <a:rPr lang="en-US" altLang="zh-CN" dirty="0">
                    <a:latin typeface="+mj-lt"/>
                  </a:rPr>
                  <a:t>2. </a:t>
                </a:r>
                <a:r>
                  <a:rPr lang="zh-CN" altLang="en-US" dirty="0">
                    <a:solidFill>
                      <a:srgbClr val="FF0000"/>
                    </a:solidFill>
                    <a:latin typeface="+mj-lt"/>
                  </a:rPr>
                  <a:t>介值定理证明在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,+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i="0" dirty="0">
                    <a:solidFill>
                      <a:srgbClr val="FF0000"/>
                    </a:solidFill>
                    <a:latin typeface="+mj-lt"/>
                  </a:rPr>
                  <a:t>中有函数值为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b="0" i="0" dirty="0">
                  <a:latin typeface="+mj-lt"/>
                </a:endParaRPr>
              </a:p>
              <a:p>
                <a:r>
                  <a:rPr lang="zh-CN" altLang="en-US" dirty="0">
                    <a:latin typeface="+mj-lt"/>
                  </a:rPr>
                  <a:t>具体：取</a:t>
                </a:r>
                <a:r>
                  <a:rPr lang="zh-CN" altLang="en-US" b="0" i="0" dirty="0">
                    <a:latin typeface="+mj-lt"/>
                  </a:rPr>
                  <a:t>足够大的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b="0" i="0" dirty="0">
                    <a:latin typeface="+mj-lt"/>
                  </a:rPr>
                  <a:t>使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i="0" dirty="0">
                    <a:latin typeface="+mj-lt"/>
                  </a:rPr>
                  <a:t>，在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b="0" i="0" dirty="0">
                    <a:latin typeface="+mj-lt"/>
                  </a:rPr>
                  <a:t>应用介值定理</a:t>
                </a:r>
                <a:endParaRPr lang="en-US" altLang="zh-CN" b="0" i="0" dirty="0">
                  <a:latin typeface="+mj-lt"/>
                </a:endParaRPr>
              </a:p>
              <a:p>
                <a:r>
                  <a:rPr lang="en-US" altLang="zh-CN" b="0" i="0" dirty="0">
                    <a:latin typeface="+mj-lt"/>
                  </a:rPr>
                  <a:t>3. </a:t>
                </a:r>
                <a:r>
                  <a:rPr lang="zh-CN" altLang="en-US" b="0" i="0" dirty="0">
                    <a:latin typeface="+mj-lt"/>
                  </a:rPr>
                  <a:t>这说明有两点函数值为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b="0" i="0" dirty="0">
                    <a:latin typeface="+mj-lt"/>
                  </a:rPr>
                  <a:t>，再用罗尔定理，证毕</a:t>
                </a:r>
                <a:endParaRPr lang="en-US" altLang="zh-CN" b="0" i="0" dirty="0">
                  <a:latin typeface="+mj-lt"/>
                </a:endParaRP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DAE2070-DE68-428B-66A6-F4F03F8D7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746" y="547558"/>
                <a:ext cx="6492853" cy="2862322"/>
              </a:xfrm>
              <a:prstGeom prst="rect">
                <a:avLst/>
              </a:prstGeom>
              <a:blipFill>
                <a:blip r:embed="rId5"/>
                <a:stretch>
                  <a:fillRect l="-845" t="-1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椭圆 1">
            <a:extLst>
              <a:ext uri="{FF2B5EF4-FFF2-40B4-BE49-F238E27FC236}">
                <a16:creationId xmlns:a16="http://schemas.microsoft.com/office/drawing/2014/main" id="{7CA1610D-9C85-6B31-FA8B-9DD391EBE7B8}"/>
              </a:ext>
            </a:extLst>
          </p:cNvPr>
          <p:cNvSpPr/>
          <p:nvPr/>
        </p:nvSpPr>
        <p:spPr>
          <a:xfrm>
            <a:off x="1669241" y="4513820"/>
            <a:ext cx="73641" cy="675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4C94210-B103-1823-5F1D-77CF351DF4DB}"/>
              </a:ext>
            </a:extLst>
          </p:cNvPr>
          <p:cNvSpPr/>
          <p:nvPr/>
        </p:nvSpPr>
        <p:spPr>
          <a:xfrm>
            <a:off x="2080695" y="3989942"/>
            <a:ext cx="73641" cy="675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9C8C762-5E46-B83C-309A-6431A7CD5B99}"/>
                  </a:ext>
                </a:extLst>
              </p:cNvPr>
              <p:cNvSpPr txBox="1"/>
              <p:nvPr/>
            </p:nvSpPr>
            <p:spPr>
              <a:xfrm>
                <a:off x="1110501" y="4144488"/>
                <a:ext cx="6725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9C8C762-5E46-B83C-309A-6431A7CD5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501" y="4144488"/>
                <a:ext cx="672506" cy="369332"/>
              </a:xfrm>
              <a:prstGeom prst="rect">
                <a:avLst/>
              </a:prstGeom>
              <a:blipFill>
                <a:blip r:embed="rId6"/>
                <a:stretch>
                  <a:fillRect l="-2727" r="-12727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EEB7279-C4E2-2B1A-BB9C-59401583D66B}"/>
                  </a:ext>
                </a:extLst>
              </p:cNvPr>
              <p:cNvSpPr txBox="1"/>
              <p:nvPr/>
            </p:nvSpPr>
            <p:spPr>
              <a:xfrm>
                <a:off x="1669241" y="3588554"/>
                <a:ext cx="6725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EEB7279-C4E2-2B1A-BB9C-59401583D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9241" y="3588554"/>
                <a:ext cx="672506" cy="369332"/>
              </a:xfrm>
              <a:prstGeom prst="rect">
                <a:avLst/>
              </a:prstGeom>
              <a:blipFill>
                <a:blip r:embed="rId7"/>
                <a:stretch>
                  <a:fillRect l="-2727" r="-11818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30A3A96B-5CD4-CD8B-393B-0413EDF6C8B1}"/>
              </a:ext>
            </a:extLst>
          </p:cNvPr>
          <p:cNvCxnSpPr>
            <a:cxnSpLocks/>
          </p:cNvCxnSpPr>
          <p:nvPr/>
        </p:nvCxnSpPr>
        <p:spPr>
          <a:xfrm flipV="1">
            <a:off x="4694181" y="1527291"/>
            <a:ext cx="2504414" cy="33651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32877E25-4A7C-1F57-EC4D-8BD3B93DB9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1553" y="559780"/>
            <a:ext cx="4842028" cy="265649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AA5C354-0257-EA83-B117-C75D59ED3969}"/>
              </a:ext>
            </a:extLst>
          </p:cNvPr>
          <p:cNvPicPr>
            <a:picLocks noChangeAspect="1"/>
          </p:cNvPicPr>
          <p:nvPr/>
        </p:nvPicPr>
        <p:blipFill>
          <a:blip r:embed="rId10">
            <a:biLevel thresh="25000"/>
          </a:blip>
          <a:stretch>
            <a:fillRect/>
          </a:stretch>
        </p:blipFill>
        <p:spPr>
          <a:xfrm>
            <a:off x="7241553" y="3304852"/>
            <a:ext cx="4853897" cy="3157316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053CEE1-8A11-9CD1-CF0B-3F1847118173}"/>
              </a:ext>
            </a:extLst>
          </p:cNvPr>
          <p:cNvCxnSpPr>
            <a:cxnSpLocks/>
          </p:cNvCxnSpPr>
          <p:nvPr/>
        </p:nvCxnSpPr>
        <p:spPr>
          <a:xfrm>
            <a:off x="6670824" y="2804569"/>
            <a:ext cx="417307" cy="215904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875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278F1C0-D495-550C-1631-21C867643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205" y="0"/>
            <a:ext cx="9200937" cy="5475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DAE2070-DE68-428B-66A6-F4F03F8D751B}"/>
                  </a:ext>
                </a:extLst>
              </p:cNvPr>
              <p:cNvSpPr txBox="1"/>
              <p:nvPr/>
            </p:nvSpPr>
            <p:spPr>
              <a:xfrm>
                <a:off x="1107834" y="1573253"/>
                <a:ext cx="649285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补充：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的情况，如图</a:t>
                </a:r>
                <a:endParaRPr lang="en-US" altLang="zh-CN" dirty="0"/>
              </a:p>
              <a:p>
                <a:r>
                  <a:rPr lang="zh-CN" altLang="en-US" dirty="0"/>
                  <a:t>类似地，对区间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直接</m:t>
                    </m:r>
                  </m:oMath>
                </a14:m>
                <a:r>
                  <a:rPr lang="zh-CN" altLang="en-US" dirty="0"/>
                  <a:t>用介值定理可证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DAE2070-DE68-428B-66A6-F4F03F8D7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4" y="1573253"/>
                <a:ext cx="6492853" cy="646331"/>
              </a:xfrm>
              <a:prstGeom prst="rect">
                <a:avLst/>
              </a:prstGeom>
              <a:blipFill>
                <a:blip r:embed="rId3"/>
                <a:stretch>
                  <a:fillRect l="-845" t="-4717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6E3A4BCB-9BAB-E1D0-43A9-006DFF182CEB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588" y="858337"/>
            <a:ext cx="4125440" cy="3288755"/>
          </a:xfrm>
          <a:prstGeom prst="rect">
            <a:avLst/>
          </a:prstGeom>
        </p:spPr>
      </p:pic>
      <p:sp>
        <p:nvSpPr>
          <p:cNvPr id="11" name="椭圆 10">
            <a:extLst>
              <a:ext uri="{FF2B5EF4-FFF2-40B4-BE49-F238E27FC236}">
                <a16:creationId xmlns:a16="http://schemas.microsoft.com/office/drawing/2014/main" id="{E749BF0C-EC74-11D9-F74C-59F29FF8AD9A}"/>
              </a:ext>
            </a:extLst>
          </p:cNvPr>
          <p:cNvSpPr/>
          <p:nvPr/>
        </p:nvSpPr>
        <p:spPr>
          <a:xfrm>
            <a:off x="8398374" y="1559606"/>
            <a:ext cx="73641" cy="675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E3E7626-25CA-1EFB-7D48-01FA0EF7C9C1}"/>
              </a:ext>
            </a:extLst>
          </p:cNvPr>
          <p:cNvSpPr/>
          <p:nvPr/>
        </p:nvSpPr>
        <p:spPr>
          <a:xfrm>
            <a:off x="9469537" y="2053878"/>
            <a:ext cx="73641" cy="675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343EC17-9D98-9872-693F-F0D4C5BAD01A}"/>
                  </a:ext>
                </a:extLst>
              </p:cNvPr>
              <p:cNvSpPr txBox="1"/>
              <p:nvPr/>
            </p:nvSpPr>
            <p:spPr>
              <a:xfrm>
                <a:off x="7839634" y="1190274"/>
                <a:ext cx="6725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343EC17-9D98-9872-693F-F0D4C5BAD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9634" y="1190274"/>
                <a:ext cx="672506" cy="369332"/>
              </a:xfrm>
              <a:prstGeom prst="rect">
                <a:avLst/>
              </a:prstGeom>
              <a:blipFill>
                <a:blip r:embed="rId5"/>
                <a:stretch>
                  <a:fillRect l="-2727" r="-12727"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771A7AF-F9F1-CA0E-DDE1-08B55A681CD1}"/>
                  </a:ext>
                </a:extLst>
              </p:cNvPr>
              <p:cNvSpPr txBox="1"/>
              <p:nvPr/>
            </p:nvSpPr>
            <p:spPr>
              <a:xfrm>
                <a:off x="9058083" y="1652490"/>
                <a:ext cx="6725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771A7AF-F9F1-CA0E-DDE1-08B55A681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8083" y="1652490"/>
                <a:ext cx="672506" cy="369332"/>
              </a:xfrm>
              <a:prstGeom prst="rect">
                <a:avLst/>
              </a:prstGeom>
              <a:blipFill>
                <a:blip r:embed="rId6"/>
                <a:stretch>
                  <a:fillRect l="-2727" r="-11818"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1514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D977424-C0EC-6D3D-B9E8-390F61107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37" y="137027"/>
            <a:ext cx="11569525" cy="69759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AAEC685-E69E-D647-86C4-4FFF16C4EEA2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6584909" y="1075959"/>
            <a:ext cx="3538469" cy="30265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E1C220B-FDE2-7303-2360-BA6CE7250845}"/>
                  </a:ext>
                </a:extLst>
              </p:cNvPr>
              <p:cNvSpPr txBox="1"/>
              <p:nvPr/>
            </p:nvSpPr>
            <p:spPr>
              <a:xfrm>
                <a:off x="486623" y="1029979"/>
                <a:ext cx="6276256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分析：</a:t>
                </a:r>
                <a:r>
                  <a:rPr lang="en-US" altLang="zh-CN" dirty="0"/>
                  <a:t> </a:t>
                </a:r>
              </a:p>
              <a:p>
                <a:r>
                  <a:rPr lang="zh-CN" altLang="en-US" dirty="0"/>
                  <a:t>联想到 定理</a:t>
                </a:r>
                <a:r>
                  <a:rPr lang="en-US" altLang="zh-CN" dirty="0"/>
                  <a:t>5.2-</a:t>
                </a:r>
                <a:r>
                  <a:rPr lang="zh-CN" altLang="en-US" dirty="0"/>
                  <a:t>闭区间连续函数最值定理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截取一个闭区间，如图</a:t>
                </a:r>
                <a:endParaRPr lang="en-US" altLang="zh-CN" dirty="0"/>
              </a:p>
              <a:p>
                <a:r>
                  <a:rPr lang="zh-CN" altLang="en-US" dirty="0"/>
                  <a:t>在闭区间两边函数值大于给定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那么闭区间内的最小值就是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最小值</a:t>
                </a:r>
                <a:endParaRPr lang="en-US" altLang="zh-CN" dirty="0"/>
              </a:p>
              <a:p>
                <a:r>
                  <a:rPr lang="zh-CN" altLang="en-US" dirty="0"/>
                  <a:t>（前提：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dirty="0"/>
                  <a:t>大于最小值，可取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zh-CN" altLang="en-US" dirty="0"/>
                  <a:t>）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E1C220B-FDE2-7303-2360-BA6CE7250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623" y="1029979"/>
                <a:ext cx="6276256" cy="2031325"/>
              </a:xfrm>
              <a:prstGeom prst="rect">
                <a:avLst/>
              </a:prstGeom>
              <a:blipFill>
                <a:blip r:embed="rId4"/>
                <a:stretch>
                  <a:fillRect l="-875" t="-1802" b="-39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E586684-227A-237D-98C2-ACE2EB974944}"/>
              </a:ext>
            </a:extLst>
          </p:cNvPr>
          <p:cNvCxnSpPr/>
          <p:nvPr/>
        </p:nvCxnSpPr>
        <p:spPr>
          <a:xfrm flipV="1">
            <a:off x="7088134" y="1029979"/>
            <a:ext cx="0" cy="3559409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F087EAE-0627-C670-0D56-5CF7FEA85794}"/>
              </a:ext>
            </a:extLst>
          </p:cNvPr>
          <p:cNvCxnSpPr/>
          <p:nvPr/>
        </p:nvCxnSpPr>
        <p:spPr>
          <a:xfrm flipV="1">
            <a:off x="9370043" y="1029979"/>
            <a:ext cx="0" cy="3559409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>
            <a:extLst>
              <a:ext uri="{FF2B5EF4-FFF2-40B4-BE49-F238E27FC236}">
                <a16:creationId xmlns:a16="http://schemas.microsoft.com/office/drawing/2014/main" id="{87F85A14-456F-2D5C-DBC4-4C222173059E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87" y="3336311"/>
            <a:ext cx="4646986" cy="295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10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9876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932</TotalTime>
  <Words>708</Words>
  <Application>Microsoft Office PowerPoint</Application>
  <PresentationFormat>宽屏</PresentationFormat>
  <Paragraphs>79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TimesNewRomanPSMT</vt:lpstr>
      <vt:lpstr>等线</vt:lpstr>
      <vt:lpstr>等线 Light</vt:lpstr>
      <vt:lpstr>SimSun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萧 利刚</dc:creator>
  <cp:lastModifiedBy>萧 利刚</cp:lastModifiedBy>
  <cp:revision>31</cp:revision>
  <dcterms:created xsi:type="dcterms:W3CDTF">2022-11-18T09:05:08Z</dcterms:created>
  <dcterms:modified xsi:type="dcterms:W3CDTF">2022-11-21T06:34:37Z</dcterms:modified>
</cp:coreProperties>
</file>