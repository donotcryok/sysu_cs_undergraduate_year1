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62" r:id="rId4"/>
    <p:sldId id="261" r:id="rId5"/>
    <p:sldId id="257" r:id="rId6"/>
    <p:sldId id="260" r:id="rId7"/>
    <p:sldId id="258" r:id="rId8"/>
    <p:sldId id="259" r:id="rId9"/>
    <p:sldId id="264" r:id="rId10"/>
    <p:sldId id="263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latin typeface="Segoe UI" panose="020B0502040204020203" charset="0"/>
                <a:cs typeface="Segoe UI" panose="020B0502040204020203" charset="0"/>
              </a:rPr>
              <a:t>习题讲解</a:t>
            </a:r>
            <a:r>
              <a:rPr lang="en-US" altLang="zh-CN">
                <a:latin typeface="Segoe UI" panose="020B0502040204020203" charset="0"/>
                <a:cs typeface="Segoe UI" panose="020B0502040204020203" charset="0"/>
              </a:rPr>
              <a:t>Ch4</a:t>
            </a:r>
            <a:endParaRPr lang="en-US" altLang="zh-CN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证明：</a:t>
            </a:r>
            <a:endParaRPr lang="zh-CN" altLang="en-US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r>
              <a:rPr lang="en-US" altLang="zh-CN" b="1"/>
              <a:t>Rank([</a:t>
            </a:r>
            <a:r>
              <a:rPr lang="en-US" altLang="zh-CN" b="1" i="1"/>
              <a:t>A, b</a:t>
            </a:r>
            <a:r>
              <a:rPr lang="en-US" altLang="zh-CN" b="1"/>
              <a:t>]) &gt; Rank(</a:t>
            </a:r>
            <a:r>
              <a:rPr lang="en-US" altLang="zh-CN" b="1" i="1"/>
              <a:t>A</a:t>
            </a:r>
            <a:r>
              <a:rPr lang="en-US" altLang="zh-CN" b="1"/>
              <a:t>)</a:t>
            </a:r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0710" y="1682115"/>
            <a:ext cx="10652125" cy="271462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证明：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证明：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ChangeAspect="1"/>
          </p:cNvGraphicFramePr>
          <p:nvPr>
            <p:ph idx="1"/>
          </p:nvPr>
        </p:nvGraphicFramePr>
        <p:xfrm>
          <a:off x="647700" y="1201420"/>
          <a:ext cx="10509885" cy="2153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857875" imgH="1200150" progId="Paint.Picture">
                  <p:embed/>
                </p:oleObj>
              </mc:Choice>
              <mc:Fallback>
                <p:oleObj name="" r:id="rId1" imgW="5857875" imgH="12001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7700" y="1201420"/>
                        <a:ext cx="10509885" cy="2153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476250"/>
            <a:ext cx="10515600" cy="5701030"/>
          </a:xfrm>
        </p:spPr>
        <p:txBody>
          <a:bodyPr>
            <a:normAutofit/>
          </a:bodyPr>
          <a:p>
            <a:r>
              <a:rPr lang="zh-CN" altLang="en-US"/>
              <a:t>假设矩阵</a:t>
            </a:r>
            <a:r>
              <a:rPr lang="zh-CN" altLang="en-US" i="1"/>
              <a:t>A</a:t>
            </a:r>
            <a:r>
              <a:rPr lang="zh-CN" altLang="en-US"/>
              <a:t>的列空间为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A</a:t>
            </a:r>
            <a:r>
              <a:rPr lang="zh-CN" altLang="en-US"/>
              <a:t>),矩阵B的列空间为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)。则矩阵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的列空间</a:t>
            </a:r>
            <a:r>
              <a:rPr lang="zh-CN" altLang="en-US" b="1" i="1"/>
              <a:t>C</a:t>
            </a:r>
            <a:r>
              <a:rPr lang="en-US" altLang="zh-CN" b="1" i="1"/>
              <a:t>ol</a:t>
            </a:r>
            <a:r>
              <a:rPr lang="zh-CN" altLang="en-US"/>
              <a:t>(</a:t>
            </a:r>
            <a:r>
              <a:rPr lang="zh-CN" altLang="en-US" i="1"/>
              <a:t>A+B</a:t>
            </a:r>
            <a:r>
              <a:rPr lang="zh-CN" altLang="en-US"/>
              <a:t>)=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A</a:t>
            </a:r>
            <a:r>
              <a:rPr lang="zh-CN" altLang="en-US"/>
              <a:t>)+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B</a:t>
            </a:r>
            <a:r>
              <a:rPr lang="zh-CN" altLang="en-US"/>
              <a:t>)。</a:t>
            </a:r>
            <a:endParaRPr lang="zh-CN" altLang="en-US"/>
          </a:p>
          <a:p>
            <a:r>
              <a:rPr lang="zh-CN" altLang="en-US"/>
              <a:t>这是因为对于矩阵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中的任意列向量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/>
              <a:t>,均可写成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</a:rPr>
              <a:t>x=a+b,</a:t>
            </a:r>
            <a:r>
              <a:rPr lang="zh-CN" altLang="en-US"/>
              <a:t>其中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zh-CN" altLang="en-US"/>
              <a:t>属于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),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zh-CN" altLang="en-US"/>
              <a:t>属于</a:t>
            </a:r>
            <a:r>
              <a:rPr lang="zh-CN" altLang="en-US" b="1">
                <a:sym typeface="+mn-ea"/>
              </a:rPr>
              <a:t>C</a:t>
            </a:r>
            <a:r>
              <a:rPr lang="en-US" altLang="zh-CN" b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又根据线性代数基本定理,矩阵的秩等于其列空间的维数。即: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)=dim(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))</a:t>
            </a:r>
            <a:endParaRPr lang="zh-CN" altLang="en-US" sz="2000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)=dim(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</a:t>
            </a:r>
            <a:endParaRPr lang="zh-CN" altLang="en-US" sz="2000"/>
          </a:p>
          <a:p>
            <a:pPr marL="914400" lvl="2" indent="0">
              <a:buNone/>
            </a:pPr>
            <a:endParaRPr lang="zh-CN" altLang="en-US"/>
          </a:p>
          <a:p>
            <a:r>
              <a:rPr lang="zh-CN" altLang="en-US"/>
              <a:t>那么由于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)= 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)+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),根据向量空间的定理,有: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+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 &lt;= 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)) + 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将dim替换为Rank,就得到: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+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 &lt;= 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 + Rank(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</a:t>
            </a:r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476250"/>
            <a:ext cx="10515600" cy="5701030"/>
          </a:xfrm>
        </p:spPr>
        <p:txBody>
          <a:bodyPr>
            <a:normAutofit/>
          </a:bodyPr>
          <a:p>
            <a:r>
              <a:rPr lang="zh-CN" altLang="en-US"/>
              <a:t>假设矩阵</a:t>
            </a:r>
            <a:r>
              <a:rPr lang="zh-CN" altLang="en-US" i="1"/>
              <a:t>A</a:t>
            </a:r>
            <a:r>
              <a:rPr lang="zh-CN" altLang="en-US"/>
              <a:t>的列空间为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A</a:t>
            </a:r>
            <a:r>
              <a:rPr lang="zh-CN" altLang="en-US"/>
              <a:t>),矩阵B的列空间为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)。则矩阵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的列空间</a:t>
            </a:r>
            <a:r>
              <a:rPr lang="zh-CN" altLang="en-US" b="1" i="1"/>
              <a:t>C</a:t>
            </a:r>
            <a:r>
              <a:rPr lang="en-US" altLang="zh-CN" b="1" i="1"/>
              <a:t>ol</a:t>
            </a:r>
            <a:r>
              <a:rPr lang="zh-CN" altLang="en-US"/>
              <a:t>(</a:t>
            </a:r>
            <a:r>
              <a:rPr lang="zh-CN" altLang="en-US" i="1"/>
              <a:t>A+B</a:t>
            </a:r>
            <a:r>
              <a:rPr lang="zh-CN" altLang="en-US"/>
              <a:t>)=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A</a:t>
            </a:r>
            <a:r>
              <a:rPr lang="zh-CN" altLang="en-US"/>
              <a:t>)+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/>
              <a:t>B</a:t>
            </a:r>
            <a:r>
              <a:rPr lang="zh-CN" altLang="en-US"/>
              <a:t>)。</a:t>
            </a:r>
            <a:endParaRPr lang="zh-CN" altLang="en-US"/>
          </a:p>
          <a:p>
            <a:r>
              <a:rPr lang="zh-CN" altLang="en-US"/>
              <a:t>这是因为对于矩阵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中的任意列向量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/>
              <a:t>,均可写成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</a:rPr>
              <a:t>x=a+b,</a:t>
            </a:r>
            <a:r>
              <a:rPr lang="zh-CN" altLang="en-US"/>
              <a:t>其中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zh-CN" altLang="en-US"/>
              <a:t>属于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),</a:t>
            </a:r>
            <a:r>
              <a:rPr lang="zh-CN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zh-CN" altLang="en-US"/>
              <a:t>属于</a:t>
            </a:r>
            <a:r>
              <a:rPr lang="zh-CN" altLang="en-US" b="1">
                <a:sym typeface="+mn-ea"/>
              </a:rPr>
              <a:t>C</a:t>
            </a:r>
            <a:r>
              <a:rPr lang="en-US" altLang="zh-CN" b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又根据线性代数基本定理,矩阵的秩等于其列空间的维数。即: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)=dim(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))</a:t>
            </a:r>
            <a:endParaRPr lang="zh-CN" altLang="en-US" sz="2000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)=dim(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</a:t>
            </a:r>
            <a:endParaRPr lang="zh-CN" altLang="en-US" sz="2000"/>
          </a:p>
          <a:p>
            <a:pPr marL="914400" lvl="2" indent="0">
              <a:buNone/>
            </a:pPr>
            <a:endParaRPr lang="zh-CN" altLang="en-US"/>
          </a:p>
          <a:p>
            <a:r>
              <a:rPr lang="zh-CN" altLang="en-US"/>
              <a:t>那么由于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+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)= 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A</a:t>
            </a:r>
            <a:r>
              <a:rPr lang="zh-CN" altLang="en-US"/>
              <a:t>)+</a:t>
            </a:r>
            <a:r>
              <a:rPr lang="zh-CN" altLang="en-US" b="1" i="1">
                <a:sym typeface="+mn-ea"/>
              </a:rPr>
              <a:t>C</a:t>
            </a:r>
            <a:r>
              <a:rPr lang="en-US" altLang="zh-CN" b="1" i="1">
                <a:sym typeface="+mn-ea"/>
              </a:rPr>
              <a:t>ol</a:t>
            </a:r>
            <a:r>
              <a:rPr lang="zh-CN" altLang="en-US"/>
              <a:t>(</a:t>
            </a:r>
            <a:r>
              <a:rPr lang="zh-CN" altLang="en-US" i="1">
                <a:sym typeface="+mn-ea"/>
              </a:rPr>
              <a:t>B</a:t>
            </a:r>
            <a:r>
              <a:rPr lang="zh-CN" altLang="en-US"/>
              <a:t>),根据向量空间的定理,有: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+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 &lt;= 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)) + dim(</a:t>
            </a:r>
            <a:r>
              <a:rPr lang="zh-CN" altLang="en-US" sz="2000" b="1" i="1">
                <a:sym typeface="+mn-ea"/>
              </a:rPr>
              <a:t>C</a:t>
            </a:r>
            <a:r>
              <a:rPr lang="en-US" altLang="zh-CN" sz="2000" b="1" i="1">
                <a:sym typeface="+mn-ea"/>
              </a:rPr>
              <a:t>ol</a:t>
            </a:r>
            <a:r>
              <a:rPr lang="zh-CN" altLang="en-US" sz="2000"/>
              <a:t>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将dim替换为Rank,就得到: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 sz="2000"/>
              <a:t>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+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 &lt;= Rank(</a:t>
            </a:r>
            <a:r>
              <a:rPr lang="zh-CN" altLang="en-US" sz="2000" i="1">
                <a:sym typeface="+mn-ea"/>
              </a:rPr>
              <a:t>A</a:t>
            </a:r>
            <a:r>
              <a:rPr lang="zh-CN" altLang="en-US" sz="2000"/>
              <a:t>) + Rank(</a:t>
            </a:r>
            <a:r>
              <a:rPr lang="zh-CN" altLang="en-US" sz="2000" i="1">
                <a:sym typeface="+mn-ea"/>
              </a:rPr>
              <a:t>B</a:t>
            </a:r>
            <a:r>
              <a:rPr lang="zh-CN" altLang="en-US" sz="2000"/>
              <a:t>)</a:t>
            </a:r>
            <a:endParaRPr lang="zh-C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626100"/>
          </a:xfrm>
        </p:spPr>
        <p:txBody>
          <a:bodyPr>
            <a:noAutofit/>
          </a:bodyPr>
          <a:p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假设U和V是向量空间V中的两个子空间。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首先,由于U和V都是V的子空间,根据闭包性质,U+V也是V的子空间。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然后,因为U和V都是子空间,所以存在U的一组基向量{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u1,u2,...,uk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}和V的一组基向量{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v1,v2,...,vm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}。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考虑U+V的所有向量,可以写成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u+v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的形式,其中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属于U,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属于V。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可以展开为: 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= a1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a2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u2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ak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uk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可以展开为: 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= b1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b2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v2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bm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vm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那么,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u+v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可以写作: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u+v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= a1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ak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uk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b1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bm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vm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    = c1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ck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wk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ck+1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wk+1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 + ... + ck+m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wk+m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这里把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{u1,...,uk, v1,...,vm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}重新标记为{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w1,...,wk+m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}。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可以看出,{</a:t>
            </a:r>
            <a:r>
              <a:rPr lang="zh-CN" altLang="en-US" sz="1800">
                <a:effectLst/>
                <a:latin typeface="Segoe UI" panose="020B0502040204020203" charset="0"/>
                <a:cs typeface="Segoe UI" panose="020B0502040204020203" charset="0"/>
              </a:rPr>
              <a:t>w1,...,wk+m</a:t>
            </a: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}可以生成U+V中的所有向量。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也就是说它是U+V的一组基。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所以,U+V的维数 ≤ k+m = dim(U) + dim(V)</a:t>
            </a: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b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</a:br>
            <a:r>
              <a:rPr lang="zh-CN" altLang="en-US" sz="1800" b="0">
                <a:effectLst/>
                <a:latin typeface="Segoe UI" panose="020B0502040204020203" charset="0"/>
                <a:cs typeface="Segoe UI" panose="020B0502040204020203" charset="0"/>
              </a:rPr>
              <a:t>即dim(U+V) ≤ dim(U) + dim(V)</a:t>
            </a:r>
            <a:endParaRPr lang="zh-CN" altLang="en-US" sz="1800" b="0">
              <a:effectLst/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38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华文中宋</vt:lpstr>
      <vt:lpstr>Verdana</vt:lpstr>
      <vt:lpstr>Segoe UI</vt:lpstr>
      <vt:lpstr>Times New Roman</vt:lpstr>
      <vt:lpstr>Office 主题​​</vt:lpstr>
      <vt:lpstr>Paint.Picture</vt:lpstr>
      <vt:lpstr>PowerPoint 演示文稿</vt:lpstr>
      <vt:lpstr>证明：</vt:lpstr>
      <vt:lpstr>PowerPoint 演示文稿</vt:lpstr>
      <vt:lpstr>证明：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12</cp:revision>
  <dcterms:created xsi:type="dcterms:W3CDTF">2019-09-19T02:01:00Z</dcterms:created>
  <dcterms:modified xsi:type="dcterms:W3CDTF">2023-11-27T06:12:07Z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2052-11.8.2.9022</vt:lpwstr>
  </property>
</Properties>
</file>