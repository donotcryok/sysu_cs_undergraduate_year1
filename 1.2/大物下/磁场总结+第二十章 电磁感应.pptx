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1221" r:id="rId2"/>
    <p:sldId id="1309" r:id="rId3"/>
    <p:sldId id="1299" r:id="rId4"/>
    <p:sldId id="1322" r:id="rId5"/>
    <p:sldId id="975" r:id="rId6"/>
    <p:sldId id="1312" r:id="rId7"/>
    <p:sldId id="1323" r:id="rId8"/>
    <p:sldId id="1313" r:id="rId9"/>
    <p:sldId id="1305" r:id="rId10"/>
    <p:sldId id="1324" r:id="rId11"/>
    <p:sldId id="1282" r:id="rId12"/>
    <p:sldId id="1314" r:id="rId13"/>
    <p:sldId id="1316" r:id="rId14"/>
    <p:sldId id="1318" r:id="rId15"/>
    <p:sldId id="1317" r:id="rId16"/>
    <p:sldId id="1319" r:id="rId17"/>
    <p:sldId id="1320" r:id="rId18"/>
    <p:sldId id="978" r:id="rId19"/>
    <p:sldId id="1310" r:id="rId20"/>
    <p:sldId id="976" r:id="rId21"/>
    <p:sldId id="977" r:id="rId22"/>
    <p:sldId id="423" r:id="rId23"/>
    <p:sldId id="424" r:id="rId24"/>
    <p:sldId id="1306" r:id="rId25"/>
    <p:sldId id="426" r:id="rId26"/>
    <p:sldId id="427" r:id="rId27"/>
    <p:sldId id="428" r:id="rId28"/>
    <p:sldId id="429" r:id="rId29"/>
    <p:sldId id="869" r:id="rId30"/>
    <p:sldId id="432" r:id="rId31"/>
    <p:sldId id="431" r:id="rId32"/>
    <p:sldId id="837" r:id="rId33"/>
    <p:sldId id="83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2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9DC8F-7E6E-4C86-AFD2-2FE7F1BB79E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F1264-27F5-4021-A6C2-F2408707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7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F9372-3186-49D2-BE14-0F2C2664D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DD0190-32C5-4A23-A679-9158527C4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20DE7-EC50-4261-83A2-7A1C5643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1791F-D5D8-4441-A509-22FD7FBD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3E3BF8-181F-4F11-9F53-FD1AC33C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7ACBE-5096-4CBF-9597-4518D8F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F6E69-C5FD-4D8F-BBE9-A30A1DED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CD208-620C-4935-A3F2-1512713A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FEA9E-3B66-46FC-AFD7-598CDB31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0EC5F-9549-4C7C-8972-6DD06461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0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608F6-A982-4F8A-B888-47419D36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42824-92E4-4518-92F2-A9EC9A35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972EB-3B2D-419F-AE65-D86FB344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91898-82F3-4255-A8F3-088DEBAA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2DA89-36C9-4F20-A733-EF67D9E8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3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E200-362B-4BA1-AEC5-8C055D16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7B3EF-2134-4727-88A1-171F20F2F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90DCB7-B15E-4A5F-979F-F80D9061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BC6BE-7250-48F0-8445-719E8732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FF620-0C79-4A21-99AB-766A1435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78A5E-55AB-4860-A4C0-D4801E85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3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6E9C8-5B53-4B2F-AB78-78B0ED46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9C18E-6370-4EE3-B5D3-766B963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2C69E3-AA9E-460C-A6FE-ACA904BF3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8C27AE-A656-4AE3-BE93-17FB1D3A7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E8AF52-2F56-48B7-BAA5-22982EB2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C1B7CD-C77D-41F3-B061-E8925EB3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0A0C25-B5E3-457D-86A8-FB234BAF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1558B5-C5B9-468B-91D0-6C07F944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559C4-2E06-4F50-8397-82E23170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DE4228-F2DF-44BD-91E7-288F0A35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7DA846-1818-46CA-8059-A5D81EA6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92C00-581C-4997-BA62-335933DC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174687-FA5B-4962-A8D1-8162F98F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0FD31E-63D3-42BC-90FA-90F525ED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AE7DC-2839-4F53-821A-FAD567E0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5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A577C-00A9-4C2C-84D9-027A0DFE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7CA0-10D3-4D6E-B58E-1A074CC3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C778BC-2386-42FA-8349-C4378EA0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46933-85D0-4632-8624-D593E16D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85808-B7CF-4F23-BA45-A498E38C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F7176D-FF1A-4A99-9D1F-14FBCA8D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3ACCA-02D7-4C51-B0CE-3624A873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5821B6-FFD4-4FAA-95CC-E99188962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2421ED-DDE6-4F65-A769-07FBA8315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F6AAF-8665-4C6A-B97E-4ACE74AD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EDC923-6B04-4840-B38D-21C572C8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15CF2A-C5FA-4FAE-B3DE-752AC8A1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8D44E-4CED-4B30-8881-96B2BB6C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75B3E-7FA6-493D-B22F-E3CADE4EC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E4E1F-0E74-4D98-9188-1D6A34D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A9BB7-15F6-4768-AAFC-3DC6B7F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937BF-79AA-4183-843E-0BA1E199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4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6E7BDF-9716-40BF-9281-B043DC609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C84A71-1A7D-4474-8164-92B5DC233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BC74E-AEE3-449C-9B3B-643608ED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BB5688-D438-42DC-A276-C8215FF1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682BB-5C1A-43BD-95BE-587CCC0B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E2BFC8-DCA8-4B51-86E2-14A569BF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48A60C-B56D-4E5B-B99B-E5CA33CD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25342-48A6-46C9-9307-FB2D8290B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BEF70-6723-4DF9-B7F5-82CA1ED1A29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01B266-A39D-49B8-830D-9DA9F416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E6119-DBB6-48BC-86F1-2FE709E5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4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wmf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181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7.png"/><Relationship Id="rId18" Type="http://schemas.openxmlformats.org/officeDocument/2006/relationships/image" Target="../media/image290.png"/><Relationship Id="rId7" Type="http://schemas.openxmlformats.org/officeDocument/2006/relationships/image" Target="../media/image142.png"/><Relationship Id="rId12" Type="http://schemas.openxmlformats.org/officeDocument/2006/relationships/image" Target="../media/image24.png"/><Relationship Id="rId17" Type="http://schemas.openxmlformats.org/officeDocument/2006/relationships/image" Target="../media/image280.png"/><Relationship Id="rId2" Type="http://schemas.openxmlformats.org/officeDocument/2006/relationships/image" Target="../media/image240.png"/><Relationship Id="rId16" Type="http://schemas.openxmlformats.org/officeDocument/2006/relationships/image" Target="../media/image270.png"/><Relationship Id="rId20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6.png"/><Relationship Id="rId5" Type="http://schemas.openxmlformats.org/officeDocument/2006/relationships/image" Target="../media/image122.png"/><Relationship Id="rId15" Type="http://schemas.openxmlformats.org/officeDocument/2006/relationships/image" Target="../media/image260.png"/><Relationship Id="rId10" Type="http://schemas.openxmlformats.org/officeDocument/2006/relationships/image" Target="../media/image145.png"/><Relationship Id="rId19" Type="http://schemas.openxmlformats.org/officeDocument/2006/relationships/image" Target="../media/image30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2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21" Type="http://schemas.openxmlformats.org/officeDocument/2006/relationships/image" Target="../media/image149.png"/><Relationship Id="rId7" Type="http://schemas.openxmlformats.org/officeDocument/2006/relationships/image" Target="../media/image159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47.png"/><Relationship Id="rId6" Type="http://schemas.openxmlformats.org/officeDocument/2006/relationships/image" Target="../media/image155.png"/><Relationship Id="rId24" Type="http://schemas.openxmlformats.org/officeDocument/2006/relationships/image" Target="../media/image163.png"/><Relationship Id="rId23" Type="http://schemas.openxmlformats.org/officeDocument/2006/relationships/image" Target="../media/image28.png"/><Relationship Id="rId10" Type="http://schemas.openxmlformats.org/officeDocument/2006/relationships/image" Target="../media/image146.png"/><Relationship Id="rId22" Type="http://schemas.openxmlformats.org/officeDocument/2006/relationships/image" Target="../media/image150.png"/><Relationship Id="rId9" Type="http://schemas.openxmlformats.org/officeDocument/2006/relationships/image" Target="../media/image16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0.png"/><Relationship Id="rId18" Type="http://schemas.openxmlformats.org/officeDocument/2006/relationships/image" Target="../media/image580.png"/><Relationship Id="rId21" Type="http://schemas.openxmlformats.org/officeDocument/2006/relationships/image" Target="../media/image31.png"/><Relationship Id="rId7" Type="http://schemas.openxmlformats.org/officeDocument/2006/relationships/image" Target="../media/image440.png"/><Relationship Id="rId12" Type="http://schemas.openxmlformats.org/officeDocument/2006/relationships/image" Target="../media/image520.png"/><Relationship Id="rId17" Type="http://schemas.openxmlformats.org/officeDocument/2006/relationships/image" Target="../media/image570.png"/><Relationship Id="rId16" Type="http://schemas.openxmlformats.org/officeDocument/2006/relationships/image" Target="../media/image560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0.png"/><Relationship Id="rId5" Type="http://schemas.openxmlformats.org/officeDocument/2006/relationships/image" Target="../media/image421.png"/><Relationship Id="rId15" Type="http://schemas.openxmlformats.org/officeDocument/2006/relationships/image" Target="../media/image550.png"/><Relationship Id="rId19" Type="http://schemas.openxmlformats.org/officeDocument/2006/relationships/image" Target="../media/image29.png"/><Relationship Id="rId14" Type="http://schemas.openxmlformats.org/officeDocument/2006/relationships/image" Target="../media/image540.png"/><Relationship Id="rId22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4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3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21" Type="http://schemas.openxmlformats.org/officeDocument/2006/relationships/tags" Target="../tags/tag40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image" Target="../media/image90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image" Target="../media/image34.tmp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image" Target="../media/image35.png"/><Relationship Id="rId10" Type="http://schemas.openxmlformats.org/officeDocument/2006/relationships/tags" Target="../tags/tag44.xml"/><Relationship Id="rId19" Type="http://schemas.openxmlformats.org/officeDocument/2006/relationships/tags" Target="../tags/tag37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image" Target="../media/image34.tmp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36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image" Target="../media/image34.tmp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37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44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450.png"/><Relationship Id="rId4" Type="http://schemas.openxmlformats.org/officeDocument/2006/relationships/image" Target="../media/image62.emf"/><Relationship Id="rId9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oleObject" Target="../embeddings/oleObject6.bin"/><Relationship Id="rId12" Type="http://schemas.openxmlformats.org/officeDocument/2006/relationships/image" Target="../media/image49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4.emf"/><Relationship Id="rId11" Type="http://schemas.openxmlformats.org/officeDocument/2006/relationships/image" Target="../media/image480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47.png"/><Relationship Id="rId4" Type="http://schemas.openxmlformats.org/officeDocument/2006/relationships/image" Target="../media/image64.emf"/><Relationship Id="rId9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5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7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149" y="1399347"/>
            <a:ext cx="5231995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17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磁场和它的源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149" y="2935346"/>
            <a:ext cx="65270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19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磁场中的磁介质</a:t>
            </a: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149" y="2192745"/>
            <a:ext cx="6154243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18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章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CB42ECD5-6912-C145-DE94-60835CD34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21" y="4594124"/>
            <a:ext cx="1402202" cy="523875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荷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BD356715-406D-605D-AF80-CD46935DA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358" y="3965207"/>
            <a:ext cx="1402203" cy="523875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势</a:t>
            </a:r>
          </a:p>
        </p:txBody>
      </p:sp>
      <p:sp>
        <p:nvSpPr>
          <p:cNvPr id="4" name="Oval 10">
            <a:extLst>
              <a:ext uri="{FF2B5EF4-FFF2-40B4-BE49-F238E27FC236}">
                <a16:creationId xmlns:a16="http://schemas.microsoft.com/office/drawing/2014/main" id="{AA6A0006-02E5-785E-B1E8-AECCFA66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929" y="4354481"/>
            <a:ext cx="1489840" cy="9144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chemeClr val="bg1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场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E5C5B9CE-17CF-E216-C1D0-10178B632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446" y="5621424"/>
            <a:ext cx="1734623" cy="52322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势 能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782276C-23DF-602C-E3D8-148E5D16B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0" y="4761489"/>
            <a:ext cx="1985745" cy="52322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50000">
                <a:srgbClr val="FFFFFF"/>
              </a:gs>
              <a:gs pos="100000">
                <a:srgbClr val="EBEBE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 流（荷）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DCF64E22-4676-0A2E-F7E6-7886EFA5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6401" y="4594124"/>
            <a:ext cx="1489840" cy="9144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chemeClr val="bg1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 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FFB714-BA6A-367A-F421-706A7CC30BD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</p:spTree>
    <p:extLst>
      <p:ext uri="{BB962C8B-B14F-4D97-AF65-F5344CB8AC3E}">
        <p14:creationId xmlns:p14="http://schemas.microsoft.com/office/powerpoint/2010/main" val="18956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58E66A-0046-4CAA-AB91-D7CC64E55648}"/>
                  </a:ext>
                </a:extLst>
              </p:cNvPr>
              <p:cNvSpPr/>
              <p:nvPr/>
            </p:nvSpPr>
            <p:spPr>
              <a:xfrm>
                <a:off x="7478429" y="1569545"/>
                <a:ext cx="2995869" cy="17348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3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58E66A-0046-4CAA-AB91-D7CC64E55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429" y="1569545"/>
                <a:ext cx="2995869" cy="17348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B028A84F-12DD-4941-8E17-9A2F893018E6}"/>
              </a:ext>
            </a:extLst>
          </p:cNvPr>
          <p:cNvSpPr/>
          <p:nvPr/>
        </p:nvSpPr>
        <p:spPr>
          <a:xfrm>
            <a:off x="5320175" y="1971329"/>
            <a:ext cx="41664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高斯定律</a:t>
            </a:r>
            <a:endParaRPr lang="en-US" altLang="zh-CN" sz="3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F0853B-72C6-A329-6788-B6B64E2B5FDE}"/>
              </a:ext>
            </a:extLst>
          </p:cNvPr>
          <p:cNvSpPr/>
          <p:nvPr/>
        </p:nvSpPr>
        <p:spPr>
          <a:xfrm>
            <a:off x="907399" y="1137929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AFB794-3EBD-83C7-9E8E-AC7484FAB669}"/>
              </a:ext>
            </a:extLst>
          </p:cNvPr>
          <p:cNvSpPr/>
          <p:nvPr/>
        </p:nvSpPr>
        <p:spPr>
          <a:xfrm>
            <a:off x="2237648" y="1132765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无源场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有旋场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A7A3-D3D4-4A83-B24D-C3457072F9C6}"/>
              </a:ext>
            </a:extLst>
          </p:cNvPr>
          <p:cNvSpPr/>
          <p:nvPr/>
        </p:nvSpPr>
        <p:spPr>
          <a:xfrm>
            <a:off x="907399" y="2078621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基本性质方程（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内容占位符 8">
            <a:extLst>
              <a:ext uri="{FF2B5EF4-FFF2-40B4-BE49-F238E27FC236}">
                <a16:creationId xmlns:a16="http://schemas.microsoft.com/office/drawing/2014/main" id="{ACC00588-0875-F59D-6C58-C2757DFD2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39" y="3100507"/>
            <a:ext cx="1919493" cy="35524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A18BE6-5C8D-C04D-677F-A5E9436DA0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56" y="3002368"/>
            <a:ext cx="1750019" cy="36648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D05B405-A450-89AB-5F15-2573BCD17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896" y="3488411"/>
            <a:ext cx="2056259" cy="320156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D280C50-0F34-0A16-B95E-195D955B23F2}"/>
              </a:ext>
            </a:extLst>
          </p:cNvPr>
          <p:cNvSpPr/>
          <p:nvPr/>
        </p:nvSpPr>
        <p:spPr>
          <a:xfrm>
            <a:off x="7583237" y="3304444"/>
            <a:ext cx="2815194" cy="580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与电流套连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AF2417-ECA1-DB87-DB64-5479B4843869}"/>
              </a:ext>
            </a:extLst>
          </p:cNvPr>
          <p:cNvSpPr/>
          <p:nvPr/>
        </p:nvSpPr>
        <p:spPr>
          <a:xfrm>
            <a:off x="7583236" y="4120571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互不相交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45D528A-CC7C-FE1F-D898-6E19B6530F74}"/>
              </a:ext>
            </a:extLst>
          </p:cNvPr>
          <p:cNvSpPr/>
          <p:nvPr/>
        </p:nvSpPr>
        <p:spPr>
          <a:xfrm>
            <a:off x="7583237" y="4852027"/>
            <a:ext cx="3075139" cy="1097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方向与电流成右手螺旋关系</a:t>
            </a:r>
            <a:endParaRPr lang="zh-CN" altLang="en-US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6E9E0A-FE21-A92A-4FBC-E6997DD2F41B}"/>
              </a:ext>
            </a:extLst>
          </p:cNvPr>
          <p:cNvSpPr/>
          <p:nvPr/>
        </p:nvSpPr>
        <p:spPr>
          <a:xfrm>
            <a:off x="7583237" y="6185218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闭合曲线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F77C0D-BDE2-68A1-D440-A53ABF3EBF73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3">
                <a:extLst>
                  <a:ext uri="{FF2B5EF4-FFF2-40B4-BE49-F238E27FC236}">
                    <a16:creationId xmlns:a16="http://schemas.microsoft.com/office/drawing/2014/main" id="{CB3C2F5B-ECDD-410F-B4DC-62C2FE1EA5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9927" y="2712311"/>
                <a:ext cx="5221595" cy="65992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 spc="3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磁通量</m:t>
                      </m:r>
                      <m:r>
                        <a:rPr lang="en-US" altLang="zh-CN" sz="2600" i="1" spc="3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600" i="1" spc="3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600" i="1" spc="3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600" i="1" spc="3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i="1" spc="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altLang="zh-CN" sz="2600" spc="3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endParaRPr lang="zh-CN" altLang="en-US" sz="2600" spc="3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内容占位符 3">
                <a:extLst>
                  <a:ext uri="{FF2B5EF4-FFF2-40B4-BE49-F238E27FC236}">
                    <a16:creationId xmlns:a16="http://schemas.microsoft.com/office/drawing/2014/main" id="{CB3C2F5B-ECDD-410F-B4DC-62C2FE1EA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927" y="2712311"/>
                <a:ext cx="5221595" cy="659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88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4" grpId="0"/>
      <p:bldP spid="13" grpId="0"/>
      <p:bldP spid="19" grpId="0"/>
      <p:bldP spid="20" grpId="0"/>
      <p:bldP spid="1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7A4771-6297-4181-92E6-1336F4257352}"/>
              </a:ext>
            </a:extLst>
          </p:cNvPr>
          <p:cNvSpPr/>
          <p:nvPr/>
        </p:nvSpPr>
        <p:spPr>
          <a:xfrm>
            <a:off x="847974" y="1320434"/>
            <a:ext cx="382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毕奥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萨伐尔定律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DE078D-0FDA-4B47-9960-A9ACCA872C1F}"/>
              </a:ext>
            </a:extLst>
          </p:cNvPr>
          <p:cNvSpPr/>
          <p:nvPr/>
        </p:nvSpPr>
        <p:spPr>
          <a:xfrm>
            <a:off x="1042286" y="2303753"/>
            <a:ext cx="3485516" cy="1403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电流元的磁场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3200" dirty="0">
              <a:latin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AA0E628-6F37-48A9-8D8B-FA3ACE68CD92}"/>
                  </a:ext>
                </a:extLst>
              </p:cNvPr>
              <p:cNvSpPr/>
              <p:nvPr/>
            </p:nvSpPr>
            <p:spPr>
              <a:xfrm>
                <a:off x="2359023" y="3411129"/>
                <a:ext cx="3129511" cy="1154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3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4</m:t>
                          </m:r>
                          <m:r>
                            <a:rPr lang="zh-CN" alt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i="1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AA0E628-6F37-48A9-8D8B-FA3ACE68C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023" y="3411129"/>
                <a:ext cx="3129511" cy="11548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C9A1F518-4086-4F40-B4FE-CFDFEF99EA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58688" y="1266115"/>
            <a:ext cx="3400392" cy="4325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3AA513-65F8-4667-8D58-FBE61070A669}"/>
                  </a:ext>
                </a:extLst>
              </p:cNvPr>
              <p:cNvSpPr/>
              <p:nvPr/>
            </p:nvSpPr>
            <p:spPr>
              <a:xfrm>
                <a:off x="3003110" y="4926309"/>
                <a:ext cx="1841338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3AA513-65F8-4667-8D58-FBE61070A6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110" y="4926309"/>
                <a:ext cx="1841338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C307AD7-BE01-A8E5-416A-DD5B4ED24C7B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4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57F2DB3-9B71-4031-93CD-BD35D011CF00}"/>
              </a:ext>
            </a:extLst>
          </p:cNvPr>
          <p:cNvGrpSpPr/>
          <p:nvPr/>
        </p:nvGrpSpPr>
        <p:grpSpPr>
          <a:xfrm>
            <a:off x="4338929" y="1964671"/>
            <a:ext cx="4114800" cy="2347912"/>
            <a:chOff x="3155260" y="2883372"/>
            <a:chExt cx="4114800" cy="2347912"/>
          </a:xfrm>
        </p:grpSpPr>
        <p:grpSp>
          <p:nvGrpSpPr>
            <p:cNvPr id="34" name="Group 25">
              <a:extLst>
                <a:ext uri="{FF2B5EF4-FFF2-40B4-BE49-F238E27FC236}">
                  <a16:creationId xmlns:a16="http://schemas.microsoft.com/office/drawing/2014/main" id="{C4625F1E-643F-4780-8A19-DF376692EDE2}"/>
                </a:ext>
              </a:extLst>
            </p:cNvPr>
            <p:cNvGrpSpPr/>
            <p:nvPr/>
          </p:nvGrpSpPr>
          <p:grpSpPr>
            <a:xfrm>
              <a:off x="3155260" y="2883372"/>
              <a:ext cx="4114800" cy="2347912"/>
              <a:chOff x="2928" y="528"/>
              <a:chExt cx="2592" cy="1479"/>
            </a:xfrm>
          </p:grpSpPr>
          <p:sp>
            <p:nvSpPr>
              <p:cNvPr id="35" name="Rectangle 26">
                <a:extLst>
                  <a:ext uri="{FF2B5EF4-FFF2-40B4-BE49-F238E27FC236}">
                    <a16:creationId xmlns:a16="http://schemas.microsoft.com/office/drawing/2014/main" id="{87347473-5308-4DD4-A6B4-480BEC4A27BC}"/>
                  </a:ext>
                </a:extLst>
              </p:cNvPr>
              <p:cNvSpPr/>
              <p:nvPr/>
            </p:nvSpPr>
            <p:spPr>
              <a:xfrm>
                <a:off x="2976" y="528"/>
                <a:ext cx="2544" cy="14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Text Box 27">
                <a:extLst>
                  <a:ext uri="{FF2B5EF4-FFF2-40B4-BE49-F238E27FC236}">
                    <a16:creationId xmlns:a16="http://schemas.microsoft.com/office/drawing/2014/main" id="{377DE5C7-63BF-477D-8EC0-C49237BDABE9}"/>
                  </a:ext>
                </a:extLst>
              </p:cNvPr>
              <p:cNvSpPr txBox="1"/>
              <p:nvPr/>
            </p:nvSpPr>
            <p:spPr>
              <a:xfrm>
                <a:off x="2928" y="672"/>
                <a:ext cx="1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</a:rPr>
                  <a:t> </a:t>
                </a:r>
                <a:endParaRPr lang="zh-CN" altLang="zh-CN" sz="28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Line 28">
                <a:extLst>
                  <a:ext uri="{FF2B5EF4-FFF2-40B4-BE49-F238E27FC236}">
                    <a16:creationId xmlns:a16="http://schemas.microsoft.com/office/drawing/2014/main" id="{D543A4E9-0B73-44D9-9272-427FC5D09AD6}"/>
                  </a:ext>
                </a:extLst>
              </p:cNvPr>
              <p:cNvSpPr/>
              <p:nvPr/>
            </p:nvSpPr>
            <p:spPr>
              <a:xfrm>
                <a:off x="3456" y="1776"/>
                <a:ext cx="57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8" name="Line 29">
                <a:extLst>
                  <a:ext uri="{FF2B5EF4-FFF2-40B4-BE49-F238E27FC236}">
                    <a16:creationId xmlns:a16="http://schemas.microsoft.com/office/drawing/2014/main" id="{C20ED18D-9DCD-4320-8189-35905B9EDB2A}"/>
                  </a:ext>
                </a:extLst>
              </p:cNvPr>
              <p:cNvSpPr/>
              <p:nvPr/>
            </p:nvSpPr>
            <p:spPr>
              <a:xfrm flipV="1">
                <a:off x="4032" y="1104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9" name="Line 30">
                <a:extLst>
                  <a:ext uri="{FF2B5EF4-FFF2-40B4-BE49-F238E27FC236}">
                    <a16:creationId xmlns:a16="http://schemas.microsoft.com/office/drawing/2014/main" id="{979CEF88-A93C-4DF4-9D90-F12BC93649BE}"/>
                  </a:ext>
                </a:extLst>
              </p:cNvPr>
              <p:cNvSpPr/>
              <p:nvPr/>
            </p:nvSpPr>
            <p:spPr>
              <a:xfrm flipH="1">
                <a:off x="3168" y="1776"/>
                <a:ext cx="288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0" name="Line 31">
                <a:extLst>
                  <a:ext uri="{FF2B5EF4-FFF2-40B4-BE49-F238E27FC236}">
                    <a16:creationId xmlns:a16="http://schemas.microsoft.com/office/drawing/2014/main" id="{58D443E9-6BCB-4803-AE83-AF85711F349D}"/>
                  </a:ext>
                </a:extLst>
              </p:cNvPr>
              <p:cNvSpPr/>
              <p:nvPr/>
            </p:nvSpPr>
            <p:spPr>
              <a:xfrm flipV="1">
                <a:off x="4032" y="816"/>
                <a:ext cx="0" cy="33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1" name="Line 32">
                <a:extLst>
                  <a:ext uri="{FF2B5EF4-FFF2-40B4-BE49-F238E27FC236}">
                    <a16:creationId xmlns:a16="http://schemas.microsoft.com/office/drawing/2014/main" id="{20E17ED1-FEEC-4D6E-9887-21C1271598A2}"/>
                  </a:ext>
                </a:extLst>
              </p:cNvPr>
              <p:cNvSpPr/>
              <p:nvPr/>
            </p:nvSpPr>
            <p:spPr>
              <a:xfrm>
                <a:off x="4032" y="1776"/>
                <a:ext cx="480" cy="0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42" name="Text Box 33">
                <a:extLst>
                  <a:ext uri="{FF2B5EF4-FFF2-40B4-BE49-F238E27FC236}">
                    <a16:creationId xmlns:a16="http://schemas.microsoft.com/office/drawing/2014/main" id="{CE33A6A2-2FF0-4D0B-9198-CB6FDE11A8D9}"/>
                  </a:ext>
                </a:extLst>
              </p:cNvPr>
              <p:cNvSpPr txBox="1"/>
              <p:nvPr/>
            </p:nvSpPr>
            <p:spPr>
              <a:xfrm>
                <a:off x="4460" y="1680"/>
                <a:ext cx="2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3" name="Text Box 34">
                <a:extLst>
                  <a:ext uri="{FF2B5EF4-FFF2-40B4-BE49-F238E27FC236}">
                    <a16:creationId xmlns:a16="http://schemas.microsoft.com/office/drawing/2014/main" id="{BD8C8302-E437-46AF-9FB9-875BC9AF81F4}"/>
                  </a:ext>
                </a:extLst>
              </p:cNvPr>
              <p:cNvSpPr txBox="1"/>
              <p:nvPr/>
            </p:nvSpPr>
            <p:spPr>
              <a:xfrm>
                <a:off x="4080" y="1488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4" name="Line 35">
                <a:extLst>
                  <a:ext uri="{FF2B5EF4-FFF2-40B4-BE49-F238E27FC236}">
                    <a16:creationId xmlns:a16="http://schemas.microsoft.com/office/drawing/2014/main" id="{A909C7FD-CECC-40A7-B4BA-C03627A6486E}"/>
                  </a:ext>
                </a:extLst>
              </p:cNvPr>
              <p:cNvSpPr/>
              <p:nvPr/>
            </p:nvSpPr>
            <p:spPr>
              <a:xfrm>
                <a:off x="3648" y="1776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5" name="Line 36">
                <a:extLst>
                  <a:ext uri="{FF2B5EF4-FFF2-40B4-BE49-F238E27FC236}">
                    <a16:creationId xmlns:a16="http://schemas.microsoft.com/office/drawing/2014/main" id="{CF5D0DE6-F863-4FAF-87A5-263D557B1690}"/>
                  </a:ext>
                </a:extLst>
              </p:cNvPr>
              <p:cNvSpPr/>
              <p:nvPr/>
            </p:nvSpPr>
            <p:spPr>
              <a:xfrm flipV="1">
                <a:off x="4032" y="1296"/>
                <a:ext cx="0" cy="14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6" name="Rectangle 37">
                <a:extLst>
                  <a:ext uri="{FF2B5EF4-FFF2-40B4-BE49-F238E27FC236}">
                    <a16:creationId xmlns:a16="http://schemas.microsoft.com/office/drawing/2014/main" id="{06EFA8B1-CAB5-4D45-9D5C-1E0722E70511}"/>
                  </a:ext>
                </a:extLst>
              </p:cNvPr>
              <p:cNvSpPr/>
              <p:nvPr/>
            </p:nvSpPr>
            <p:spPr>
              <a:xfrm>
                <a:off x="2993" y="1039"/>
                <a:ext cx="102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</a:rPr>
                  <a:t>半无限长</a:t>
                </a:r>
              </a:p>
            </p:txBody>
          </p:sp>
          <p:sp>
            <p:nvSpPr>
              <p:cNvPr id="47" name="Text Box 38">
                <a:extLst>
                  <a:ext uri="{FF2B5EF4-FFF2-40B4-BE49-F238E27FC236}">
                    <a16:creationId xmlns:a16="http://schemas.microsoft.com/office/drawing/2014/main" id="{98252509-18DB-4573-913C-42F11249FD7A}"/>
                  </a:ext>
                </a:extLst>
              </p:cNvPr>
              <p:cNvSpPr txBox="1"/>
              <p:nvPr/>
            </p:nvSpPr>
            <p:spPr>
              <a:xfrm>
                <a:off x="4380" y="1641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Times New Roman" panose="02020603050405020304" pitchFamily="18" charset="0"/>
                  </a:rPr>
                  <a:t>*</a:t>
                </a:r>
              </a:p>
            </p:txBody>
          </p:sp>
        </p:grpSp>
        <p:graphicFrame>
          <p:nvGraphicFramePr>
            <p:cNvPr id="48" name="Object 80">
              <a:extLst>
                <a:ext uri="{FF2B5EF4-FFF2-40B4-BE49-F238E27FC236}">
                  <a16:creationId xmlns:a16="http://schemas.microsoft.com/office/drawing/2014/main" id="{0C53C562-C69B-4953-9A2C-1378DF6D43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5570174"/>
                </p:ext>
              </p:extLst>
            </p:nvPr>
          </p:nvGraphicFramePr>
          <p:xfrm>
            <a:off x="5247026" y="3603821"/>
            <a:ext cx="1739900" cy="1020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" r:id="rId3" imgW="685800" imgH="393700" progId="Equation.3">
                    <p:embed/>
                  </p:oleObj>
                </mc:Choice>
                <mc:Fallback>
                  <p:oleObj r:id="rId3" imgW="685800" imgH="393700" progId="Equation.3">
                    <p:embed/>
                    <p:pic>
                      <p:nvPicPr>
                        <p:cNvPr id="139344" name="Object 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47026" y="3603821"/>
                          <a:ext cx="1739900" cy="10207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7A4771-6297-4181-92E6-1336F4257352}"/>
              </a:ext>
            </a:extLst>
          </p:cNvPr>
          <p:cNvSpPr/>
          <p:nvPr/>
        </p:nvSpPr>
        <p:spPr>
          <a:xfrm>
            <a:off x="847974" y="1320434"/>
            <a:ext cx="382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毕奥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萨伐尔定律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3AA513-65F8-4667-8D58-FBE61070A669}"/>
                  </a:ext>
                </a:extLst>
              </p:cNvPr>
              <p:cNvSpPr/>
              <p:nvPr/>
            </p:nvSpPr>
            <p:spPr>
              <a:xfrm>
                <a:off x="5089416" y="1012653"/>
                <a:ext cx="1841338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3AA513-65F8-4667-8D58-FBE61070A6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416" y="1012653"/>
                <a:ext cx="1841338" cy="1222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C307AD7-BE01-A8E5-416A-DD5B4ED24C7B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9C1592CD-6C17-4BDC-A136-ECB39DF04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644" y="2464658"/>
            <a:ext cx="455139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/>
            <a:r>
              <a:rPr lang="zh-CN" altLang="en-US" sz="3200" b="0" dirty="0">
                <a:ea typeface="华文楷体" panose="02010600040101010101" pitchFamily="2" charset="-122"/>
              </a:rPr>
              <a:t> 无限长直导线：</a:t>
            </a:r>
            <a:endParaRPr lang="en-US" altLang="zh-CN" sz="3200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267F48EE-2A05-4416-AC21-23E4A55100AB}"/>
                  </a:ext>
                </a:extLst>
              </p:cNvPr>
              <p:cNvSpPr txBox="1"/>
              <p:nvPr/>
            </p:nvSpPr>
            <p:spPr bwMode="auto">
              <a:xfrm>
                <a:off x="1357021" y="3127459"/>
                <a:ext cx="2160588" cy="1081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3200" i="1" dirty="0"/>
              </a:p>
            </p:txBody>
          </p:sp>
        </mc:Choice>
        <mc:Fallback xmlns=""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267F48EE-2A05-4416-AC21-23E4A551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7021" y="3127459"/>
                <a:ext cx="2160588" cy="1081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3">
            <a:extLst>
              <a:ext uri="{FF2B5EF4-FFF2-40B4-BE49-F238E27FC236}">
                <a16:creationId xmlns:a16="http://schemas.microsoft.com/office/drawing/2014/main" id="{F1D55164-D3E6-4237-BFBB-D2B5B8B3E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3688" y="4821595"/>
            <a:ext cx="156283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0" dirty="0">
                <a:ea typeface="华文楷体" panose="02010600040101010101" pitchFamily="2" charset="-122"/>
              </a:rPr>
              <a:t>螺旋管</a:t>
            </a:r>
            <a:endParaRPr lang="en-US" altLang="zh-CN" sz="3200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DF0FCE4-1FF0-4038-A9A8-171E6A5A482A}"/>
                  </a:ext>
                </a:extLst>
              </p:cNvPr>
              <p:cNvSpPr/>
              <p:nvPr/>
            </p:nvSpPr>
            <p:spPr>
              <a:xfrm>
                <a:off x="8936136" y="5434486"/>
                <a:ext cx="212133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𝑛𝐼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DF0FCE4-1FF0-4038-A9A8-171E6A5A4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136" y="5434486"/>
                <a:ext cx="2121331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">
            <a:extLst>
              <a:ext uri="{FF2B5EF4-FFF2-40B4-BE49-F238E27FC236}">
                <a16:creationId xmlns:a16="http://schemas.microsoft.com/office/drawing/2014/main" id="{8BD46117-BA2A-4846-8230-D571BE59F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533" y="4554746"/>
            <a:ext cx="2982268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/>
            <a:r>
              <a:rPr lang="zh-CN" altLang="en-US" sz="3200" b="0" dirty="0">
                <a:ea typeface="华文楷体" panose="02010600040101010101" pitchFamily="2" charset="-122"/>
              </a:rPr>
              <a:t>圆电流圆心处：</a:t>
            </a:r>
            <a:endParaRPr lang="en-US" altLang="zh-CN" sz="3200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AE7FFE6A-416D-4A5F-933C-5C37F0313499}"/>
                  </a:ext>
                </a:extLst>
              </p:cNvPr>
              <p:cNvSpPr txBox="1"/>
              <p:nvPr/>
            </p:nvSpPr>
            <p:spPr bwMode="auto">
              <a:xfrm>
                <a:off x="1357021" y="5489983"/>
                <a:ext cx="2160588" cy="1081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sz="3200" i="1" dirty="0"/>
              </a:p>
            </p:txBody>
          </p:sp>
        </mc:Choice>
        <mc:Fallback xmlns="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AE7FFE6A-416D-4A5F-933C-5C37F0313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7021" y="5489983"/>
                <a:ext cx="2160588" cy="10810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32">
                <a:extLst>
                  <a:ext uri="{FF2B5EF4-FFF2-40B4-BE49-F238E27FC236}">
                    <a16:creationId xmlns:a16="http://schemas.microsoft.com/office/drawing/2014/main" id="{02A81138-258C-46C6-AC19-9B6C17648CB3}"/>
                  </a:ext>
                </a:extLst>
              </p:cNvPr>
              <p:cNvSpPr txBox="1"/>
              <p:nvPr/>
            </p:nvSpPr>
            <p:spPr bwMode="black">
              <a:xfrm>
                <a:off x="5744658" y="5232159"/>
                <a:ext cx="2232025" cy="1301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Object 32">
                <a:extLst>
                  <a:ext uri="{FF2B5EF4-FFF2-40B4-BE49-F238E27FC236}">
                    <a16:creationId xmlns:a16="http://schemas.microsoft.com/office/drawing/2014/main" id="{02A81138-258C-46C6-AC19-9B6C17648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">
              <a:xfrm>
                <a:off x="5744658" y="5232159"/>
                <a:ext cx="2232025" cy="13017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34">
            <a:extLst>
              <a:ext uri="{FF2B5EF4-FFF2-40B4-BE49-F238E27FC236}">
                <a16:creationId xmlns:a16="http://schemas.microsoft.com/office/drawing/2014/main" id="{2B5EC9C5-97BE-4EDC-8C1F-71487CF05213}"/>
              </a:ext>
            </a:extLst>
          </p:cNvPr>
          <p:cNvGrpSpPr>
            <a:grpSpLocks/>
          </p:cNvGrpSpPr>
          <p:nvPr/>
        </p:nvGrpSpPr>
        <p:grpSpPr bwMode="auto">
          <a:xfrm>
            <a:off x="4611979" y="5007657"/>
            <a:ext cx="1348578" cy="1525285"/>
            <a:chOff x="1584" y="1654"/>
            <a:chExt cx="1008" cy="1167"/>
          </a:xfrm>
        </p:grpSpPr>
        <p:sp>
          <p:nvSpPr>
            <p:cNvPr id="57" name="Arc 24">
              <a:extLst>
                <a:ext uri="{FF2B5EF4-FFF2-40B4-BE49-F238E27FC236}">
                  <a16:creationId xmlns:a16="http://schemas.microsoft.com/office/drawing/2014/main" id="{C4C81F04-B0E7-4109-A0DB-6D02A1876EC3}"/>
                </a:ext>
              </a:extLst>
            </p:cNvPr>
            <p:cNvSpPr>
              <a:spLocks/>
            </p:cNvSpPr>
            <p:nvPr/>
          </p:nvSpPr>
          <p:spPr bwMode="black">
            <a:xfrm rot="-1945538">
              <a:off x="1584" y="1654"/>
              <a:ext cx="856" cy="912"/>
            </a:xfrm>
            <a:custGeom>
              <a:avLst/>
              <a:gdLst>
                <a:gd name="T0" fmla="*/ 0 w 20283"/>
                <a:gd name="T1" fmla="*/ 0 h 21600"/>
                <a:gd name="T2" fmla="*/ 0 w 20283"/>
                <a:gd name="T3" fmla="*/ 0 h 21600"/>
                <a:gd name="T4" fmla="*/ 0 w 20283"/>
                <a:gd name="T5" fmla="*/ 0 h 21600"/>
                <a:gd name="T6" fmla="*/ 0 60000 65536"/>
                <a:gd name="T7" fmla="*/ 0 60000 65536"/>
                <a:gd name="T8" fmla="*/ 0 60000 65536"/>
                <a:gd name="T9" fmla="*/ 0 w 20283"/>
                <a:gd name="T10" fmla="*/ 0 h 21600"/>
                <a:gd name="T11" fmla="*/ 20283 w 2028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83" h="21600" fill="none" extrusionOk="0">
                  <a:moveTo>
                    <a:pt x="-1" y="0"/>
                  </a:moveTo>
                  <a:cubicBezTo>
                    <a:pt x="9065" y="0"/>
                    <a:pt x="17165" y="5660"/>
                    <a:pt x="20282" y="14173"/>
                  </a:cubicBezTo>
                </a:path>
                <a:path w="20283" h="21600" stroke="0" extrusionOk="0">
                  <a:moveTo>
                    <a:pt x="-1" y="0"/>
                  </a:moveTo>
                  <a:cubicBezTo>
                    <a:pt x="9065" y="0"/>
                    <a:pt x="17165" y="5660"/>
                    <a:pt x="20282" y="1417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800">
                <a:solidFill>
                  <a:srgbClr val="0066FF"/>
                </a:solidFill>
                <a:latin typeface="+mn-lt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2429F6E7-BD88-404B-ADFD-FDA8BB397DF7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-1820277">
              <a:off x="1628" y="1881"/>
              <a:ext cx="48" cy="9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solidFill>
                  <a:srgbClr val="0066FF"/>
                </a:solidFill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880AEEBB-0B4D-4331-B9F2-438C4CA1EA69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19776858" flipV="1">
              <a:off x="1776" y="2229"/>
              <a:ext cx="816" cy="2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66FF"/>
                </a:solidFill>
              </a:endParaRPr>
            </a:p>
          </p:txBody>
        </p:sp>
        <p:sp>
          <p:nvSpPr>
            <p:cNvPr id="60" name="Line 27">
              <a:extLst>
                <a:ext uri="{FF2B5EF4-FFF2-40B4-BE49-F238E27FC236}">
                  <a16:creationId xmlns:a16="http://schemas.microsoft.com/office/drawing/2014/main" id="{96AA5FB9-31F9-42BC-B4F6-1C5F582D0020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 flipV="1">
              <a:off x="1884" y="1821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66FF"/>
                </a:solidFill>
              </a:endParaRPr>
            </a:p>
          </p:txBody>
        </p:sp>
        <p:sp>
          <p:nvSpPr>
            <p:cNvPr id="62" name="Arc 29">
              <a:extLst>
                <a:ext uri="{FF2B5EF4-FFF2-40B4-BE49-F238E27FC236}">
                  <a16:creationId xmlns:a16="http://schemas.microsoft.com/office/drawing/2014/main" id="{76000E8D-CABE-46D0-A941-AC2F55D41B76}"/>
                </a:ext>
              </a:extLst>
            </p:cNvPr>
            <p:cNvSpPr>
              <a:spLocks/>
            </p:cNvSpPr>
            <p:nvPr/>
          </p:nvSpPr>
          <p:spPr bwMode="black">
            <a:xfrm rot="2000717" flipH="1">
              <a:off x="1824" y="2517"/>
              <a:ext cx="144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800">
                <a:solidFill>
                  <a:srgbClr val="0066FF"/>
                </a:solidFill>
                <a:latin typeface="+mn-lt"/>
              </a:endParaRPr>
            </a:p>
          </p:txBody>
        </p:sp>
        <p:sp>
          <p:nvSpPr>
            <p:cNvPr id="63" name="Text Box 30">
              <a:extLst>
                <a:ext uri="{FF2B5EF4-FFF2-40B4-BE49-F238E27FC236}">
                  <a16:creationId xmlns:a16="http://schemas.microsoft.com/office/drawing/2014/main" id="{FED1568C-6E89-42C5-B3DD-90098DD86851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776" y="2133"/>
              <a:ext cx="3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0066FF"/>
                  </a:solidFill>
                  <a:latin typeface="+mn-lt"/>
                  <a:sym typeface="Symbol" panose="05050102010706020507" pitchFamily="18" charset="2"/>
                </a:rPr>
                <a:t></a:t>
              </a:r>
              <a:endParaRPr kumimoji="1" lang="en-US" altLang="zh-CN" sz="2800" dirty="0">
                <a:solidFill>
                  <a:srgbClr val="0066FF"/>
                </a:solidFill>
                <a:latin typeface="+mn-lt"/>
              </a:endParaRPr>
            </a:p>
          </p:txBody>
        </p:sp>
        <p:sp>
          <p:nvSpPr>
            <p:cNvPr id="64" name="Text Box 31">
              <a:extLst>
                <a:ext uri="{FF2B5EF4-FFF2-40B4-BE49-F238E27FC236}">
                  <a16:creationId xmlns:a16="http://schemas.microsoft.com/office/drawing/2014/main" id="{85C3C3B1-91EB-48DB-A3A7-927AFABD3ABE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594" y="2491"/>
              <a:ext cx="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0066FF"/>
                  </a:solidFill>
                  <a:latin typeface="+mn-lt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367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6" grpId="0"/>
      <p:bldP spid="17" grpId="0"/>
      <p:bldP spid="18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0B762F-97E9-4A4E-95A8-3DE72C538965}"/>
              </a:ext>
            </a:extLst>
          </p:cNvPr>
          <p:cNvSpPr/>
          <p:nvPr/>
        </p:nvSpPr>
        <p:spPr>
          <a:xfrm>
            <a:off x="5595378" y="2097686"/>
            <a:ext cx="2872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安培环路定理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F0853B-72C6-A329-6788-B6B64E2B5FDE}"/>
              </a:ext>
            </a:extLst>
          </p:cNvPr>
          <p:cNvSpPr/>
          <p:nvPr/>
        </p:nvSpPr>
        <p:spPr>
          <a:xfrm>
            <a:off x="907399" y="1137929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AFB794-3EBD-83C7-9E8E-AC7484FAB669}"/>
              </a:ext>
            </a:extLst>
          </p:cNvPr>
          <p:cNvSpPr/>
          <p:nvPr/>
        </p:nvSpPr>
        <p:spPr>
          <a:xfrm>
            <a:off x="2237648" y="1132765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无源场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有旋场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A7A3-D3D4-4A83-B24D-C3457072F9C6}"/>
              </a:ext>
            </a:extLst>
          </p:cNvPr>
          <p:cNvSpPr/>
          <p:nvPr/>
        </p:nvSpPr>
        <p:spPr>
          <a:xfrm>
            <a:off x="907399" y="2078621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基本性质方程（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EF946B-4313-4C5B-8DA8-6B6DD58BC2BD}"/>
              </a:ext>
            </a:extLst>
          </p:cNvPr>
          <p:cNvSpPr/>
          <p:nvPr/>
        </p:nvSpPr>
        <p:spPr>
          <a:xfrm>
            <a:off x="2048312" y="4388896"/>
            <a:ext cx="6048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i="1" dirty="0"/>
              <a:t>-  I</a:t>
            </a:r>
            <a:r>
              <a:rPr lang="zh-CN" altLang="en-US" sz="2800" i="1" dirty="0"/>
              <a:t> </a:t>
            </a:r>
            <a:r>
              <a:rPr lang="zh-CN" altLang="en-US" sz="2800" dirty="0"/>
              <a:t>与</a:t>
            </a:r>
            <a:r>
              <a:rPr lang="en-US" altLang="zh-CN" sz="2800" i="1" dirty="0"/>
              <a:t>L</a:t>
            </a:r>
            <a:r>
              <a:rPr lang="zh-CN" altLang="en-US" sz="2800" dirty="0"/>
              <a:t>成</a:t>
            </a:r>
            <a:r>
              <a:rPr lang="zh-CN" altLang="en-US" sz="2800" dirty="0">
                <a:solidFill>
                  <a:srgbClr val="CC0000"/>
                </a:solidFill>
              </a:rPr>
              <a:t>右</a:t>
            </a:r>
            <a:r>
              <a:rPr lang="zh-CN" altLang="en-US" sz="2800" dirty="0"/>
              <a:t>螺旋时，</a:t>
            </a:r>
            <a:r>
              <a:rPr lang="en-US" altLang="zh-CN" sz="2800" i="1" dirty="0"/>
              <a:t>I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CC0000"/>
                </a:solidFill>
              </a:rPr>
              <a:t>正</a:t>
            </a:r>
            <a:r>
              <a:rPr lang="zh-CN" altLang="en-US" sz="2800" dirty="0"/>
              <a:t>；</a:t>
            </a:r>
            <a:r>
              <a:rPr lang="zh-CN" altLang="en-US" sz="2800" dirty="0">
                <a:solidFill>
                  <a:srgbClr val="CC0000"/>
                </a:solidFill>
              </a:rPr>
              <a:t>反</a:t>
            </a:r>
            <a:r>
              <a:rPr lang="zh-CN" altLang="en-US" sz="2800" dirty="0"/>
              <a:t>之为</a:t>
            </a:r>
            <a:r>
              <a:rPr lang="zh-CN" altLang="en-US" sz="2800" dirty="0">
                <a:solidFill>
                  <a:srgbClr val="0066FF"/>
                </a:solidFill>
              </a:rPr>
              <a:t>负</a:t>
            </a:r>
            <a:r>
              <a:rPr lang="zh-CN" altLang="en-US" sz="2800" dirty="0">
                <a:solidFill>
                  <a:srgbClr val="0000FF"/>
                </a:solidFill>
              </a:rPr>
              <a:t>。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3">
                <a:extLst>
                  <a:ext uri="{FF2B5EF4-FFF2-40B4-BE49-F238E27FC236}">
                    <a16:creationId xmlns:a16="http://schemas.microsoft.com/office/drawing/2014/main" id="{75A5A7B7-DED4-4DFD-AD63-1484B4D8B3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5058" y="2773624"/>
                <a:ext cx="4736034" cy="20278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1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6" name="内容占位符 3">
                <a:extLst>
                  <a:ext uri="{FF2B5EF4-FFF2-40B4-BE49-F238E27FC236}">
                    <a16:creationId xmlns:a16="http://schemas.microsoft.com/office/drawing/2014/main" id="{75A5A7B7-DED4-4DFD-AD63-1484B4D8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058" y="2773624"/>
                <a:ext cx="4736034" cy="20278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9">
            <a:extLst>
              <a:ext uri="{FF2B5EF4-FFF2-40B4-BE49-F238E27FC236}">
                <a16:creationId xmlns:a16="http://schemas.microsoft.com/office/drawing/2014/main" id="{E2F5831A-5E3C-47FF-815B-630CB1F8B47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007156" y="4968960"/>
            <a:ext cx="6353174" cy="576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hangingPunct="0">
              <a:lnSpc>
                <a:spcPct val="120000"/>
              </a:lnSpc>
              <a:spcBef>
                <a:spcPct val="50000"/>
              </a:spcBef>
              <a:buFontTx/>
              <a:buChar char="-"/>
            </a:pPr>
            <a:r>
              <a:rPr kumimoji="1" lang="zh-CN" altLang="en-US" sz="2800" dirty="0">
                <a:latin typeface="+mn-lt"/>
                <a:ea typeface="+mn-ea"/>
              </a:rPr>
              <a:t>电流回路与环路铰链 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9E17730B-0762-4EB6-AADF-4EDA5889D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156" y="5537901"/>
            <a:ext cx="9292261" cy="608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</a:pPr>
            <a:r>
              <a:rPr kumimoji="1" lang="en-US" altLang="zh-CN" sz="2800" dirty="0">
                <a:latin typeface="+mn-lt"/>
                <a:ea typeface="+mn-ea"/>
              </a:rPr>
              <a:t>-  </a:t>
            </a:r>
            <a:r>
              <a:rPr kumimoji="1" lang="zh-CN" altLang="en-US" sz="2800" dirty="0">
                <a:latin typeface="+mn-lt"/>
                <a:ea typeface="+mn-ea"/>
              </a:rPr>
              <a:t>环路上各点的磁场为所有电流的贡献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C5F950-68A7-4CCA-9281-781984E812D5}"/>
              </a:ext>
            </a:extLst>
          </p:cNvPr>
          <p:cNvSpPr/>
          <p:nvPr/>
        </p:nvSpPr>
        <p:spPr>
          <a:xfrm>
            <a:off x="2007156" y="3218998"/>
            <a:ext cx="3057247" cy="608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3200" dirty="0">
                <a:solidFill>
                  <a:srgbClr val="000000"/>
                </a:solidFill>
                <a:latin typeface="华文楷体" panose="02010600040101010101" pitchFamily="2" charset="-122"/>
              </a:rPr>
              <a:t>恒定电流的磁场</a:t>
            </a:r>
            <a:endParaRPr kumimoji="1" lang="en-US" altLang="zh-CN" sz="3200" i="1" dirty="0">
              <a:solidFill>
                <a:srgbClr val="0066FF"/>
              </a:solidFill>
              <a:latin typeface="Cambria Math" panose="020405030504060302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6BFC45-0283-DE5B-9352-BB02F27AC14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0" name="Group 78">
            <a:extLst>
              <a:ext uri="{FF2B5EF4-FFF2-40B4-BE49-F238E27FC236}">
                <a16:creationId xmlns:a16="http://schemas.microsoft.com/office/drawing/2014/main" id="{3FFA85DB-78D9-42CD-A704-86E1DE537E4A}"/>
              </a:ext>
            </a:extLst>
          </p:cNvPr>
          <p:cNvGrpSpPr>
            <a:grpSpLocks/>
          </p:cNvGrpSpPr>
          <p:nvPr/>
        </p:nvGrpSpPr>
        <p:grpSpPr bwMode="auto">
          <a:xfrm>
            <a:off x="8972825" y="2835920"/>
            <a:ext cx="2424037" cy="2471631"/>
            <a:chOff x="323" y="1362"/>
            <a:chExt cx="1896" cy="18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ED0A549-4F9A-4C84-B182-5015D278D1D1}"/>
                    </a:ext>
                  </a:extLst>
                </p:cNvPr>
                <p:cNvSpPr txBox="1"/>
                <p:nvPr/>
              </p:nvSpPr>
              <p:spPr bwMode="auto">
                <a:xfrm>
                  <a:off x="323" y="1806"/>
                  <a:ext cx="258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ED0A549-4F9A-4C84-B182-5015D278D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" y="1806"/>
                  <a:ext cx="258" cy="379"/>
                </a:xfrm>
                <a:prstGeom prst="rect">
                  <a:avLst/>
                </a:prstGeom>
                <a:blipFill>
                  <a:blip r:embed="rId3"/>
                  <a:stretch>
                    <a:fillRect l="-5556" r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3501BC2A-00C0-420E-8C28-A3EA7E50A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" y="1589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53">
              <a:extLst>
                <a:ext uri="{FF2B5EF4-FFF2-40B4-BE49-F238E27FC236}">
                  <a16:creationId xmlns:a16="http://schemas.microsoft.com/office/drawing/2014/main" id="{07B6F362-7A98-4705-A4E2-4C607CB7F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1476"/>
              <a:ext cx="52" cy="1707"/>
              <a:chOff x="672" y="1056"/>
              <a:chExt cx="49" cy="1440"/>
            </a:xfrm>
          </p:grpSpPr>
          <p:sp>
            <p:nvSpPr>
              <p:cNvPr id="38" name="AutoShape 9">
                <a:extLst>
                  <a:ext uri="{FF2B5EF4-FFF2-40B4-BE49-F238E27FC236}">
                    <a16:creationId xmlns:a16="http://schemas.microsoft.com/office/drawing/2014/main" id="{6AF06CFB-1297-4055-A613-C7854F110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" y="1200"/>
                <a:ext cx="46" cy="1108"/>
              </a:xfrm>
              <a:prstGeom prst="can">
                <a:avLst>
                  <a:gd name="adj" fmla="val 120435"/>
                </a:avLst>
              </a:prstGeom>
              <a:gradFill rotWithShape="0">
                <a:gsLst>
                  <a:gs pos="0">
                    <a:srgbClr val="6B6A6A"/>
                  </a:gs>
                  <a:gs pos="50000">
                    <a:srgbClr val="E8E6E4"/>
                  </a:gs>
                  <a:gs pos="100000">
                    <a:srgbClr val="6B6A6A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Line 42">
                <a:extLst>
                  <a:ext uri="{FF2B5EF4-FFF2-40B4-BE49-F238E27FC236}">
                    <a16:creationId xmlns:a16="http://schemas.microsoft.com/office/drawing/2014/main" id="{9F5470D9-1356-4E86-BB94-AF25C7EA0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2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Line 44">
                <a:extLst>
                  <a:ext uri="{FF2B5EF4-FFF2-40B4-BE49-F238E27FC236}">
                    <a16:creationId xmlns:a16="http://schemas.microsoft.com/office/drawing/2014/main" id="{1F326868-E69E-44D7-BFEC-AE374E27C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ine 45">
                <a:extLst>
                  <a:ext uri="{FF2B5EF4-FFF2-40B4-BE49-F238E27FC236}">
                    <a16:creationId xmlns:a16="http://schemas.microsoft.com/office/drawing/2014/main" id="{2D9A298B-B19C-4E65-92E0-C5E5E81F2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0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Line 46">
                <a:extLst>
                  <a:ext uri="{FF2B5EF4-FFF2-40B4-BE49-F238E27FC236}">
                    <a16:creationId xmlns:a16="http://schemas.microsoft.com/office/drawing/2014/main" id="{D941D328-5CF7-4BD5-85A4-ECDE708C6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0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" name="AutoShape 59">
              <a:extLst>
                <a:ext uri="{FF2B5EF4-FFF2-40B4-BE49-F238E27FC236}">
                  <a16:creationId xmlns:a16="http://schemas.microsoft.com/office/drawing/2014/main" id="{86C33268-E208-4A97-AC6C-2EF68922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2481"/>
              <a:ext cx="49" cy="472"/>
            </a:xfrm>
            <a:prstGeom prst="can">
              <a:avLst>
                <a:gd name="adj" fmla="val 85757"/>
              </a:avLst>
            </a:pr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5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60">
              <a:extLst>
                <a:ext uri="{FF2B5EF4-FFF2-40B4-BE49-F238E27FC236}">
                  <a16:creationId xmlns:a16="http://schemas.microsoft.com/office/drawing/2014/main" id="{BA8A0082-30EB-46A9-8E6B-4795D70DC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61">
              <a:extLst>
                <a:ext uri="{FF2B5EF4-FFF2-40B4-BE49-F238E27FC236}">
                  <a16:creationId xmlns:a16="http://schemas.microsoft.com/office/drawing/2014/main" id="{AA51CE87-C995-495C-9E97-D28249753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6">
                  <a:extLst>
                    <a:ext uri="{FF2B5EF4-FFF2-40B4-BE49-F238E27FC236}">
                      <a16:creationId xmlns:a16="http://schemas.microsoft.com/office/drawing/2014/main" id="{8A19362E-85AD-4BD0-9610-EDBDB34624F6}"/>
                    </a:ext>
                  </a:extLst>
                </p:cNvPr>
                <p:cNvSpPr txBox="1"/>
                <p:nvPr/>
              </p:nvSpPr>
              <p:spPr bwMode="auto">
                <a:xfrm>
                  <a:off x="1062" y="1636"/>
                  <a:ext cx="254" cy="3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Object 6">
                  <a:extLst>
                    <a:ext uri="{FF2B5EF4-FFF2-40B4-BE49-F238E27FC236}">
                      <a16:creationId xmlns:a16="http://schemas.microsoft.com/office/drawing/2014/main" id="{8A19362E-85AD-4BD0-9610-EDBDB3462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" y="1636"/>
                  <a:ext cx="254" cy="377"/>
                </a:xfrm>
                <a:prstGeom prst="rect">
                  <a:avLst/>
                </a:prstGeom>
                <a:blipFill>
                  <a:blip r:embed="rId4"/>
                  <a:stretch>
                    <a:fillRect l="-5660"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40">
              <a:extLst>
                <a:ext uri="{FF2B5EF4-FFF2-40B4-BE49-F238E27FC236}">
                  <a16:creationId xmlns:a16="http://schemas.microsoft.com/office/drawing/2014/main" id="{E5C12603-206D-470A-91FE-DF61AFBC6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8" y="1532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57">
              <a:extLst>
                <a:ext uri="{FF2B5EF4-FFF2-40B4-BE49-F238E27FC236}">
                  <a16:creationId xmlns:a16="http://schemas.microsoft.com/office/drawing/2014/main" id="{6B26F36C-8CCF-415A-BD1A-D3858356C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58">
              <a:extLst>
                <a:ext uri="{FF2B5EF4-FFF2-40B4-BE49-F238E27FC236}">
                  <a16:creationId xmlns:a16="http://schemas.microsoft.com/office/drawing/2014/main" id="{918995D2-F4BC-4F92-995F-0228651D5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AutoShape 5">
              <a:extLst>
                <a:ext uri="{FF2B5EF4-FFF2-40B4-BE49-F238E27FC236}">
                  <a16:creationId xmlns:a16="http://schemas.microsoft.com/office/drawing/2014/main" id="{937F226A-9D9D-4E70-8C2E-A32DF782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2499"/>
              <a:ext cx="51" cy="454"/>
            </a:xfrm>
            <a:prstGeom prst="can">
              <a:avLst>
                <a:gd name="adj" fmla="val 79252"/>
              </a:avLst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49">
              <a:extLst>
                <a:ext uri="{FF2B5EF4-FFF2-40B4-BE49-F238E27FC236}">
                  <a16:creationId xmlns:a16="http://schemas.microsoft.com/office/drawing/2014/main" id="{7E564CD0-857E-4811-B105-BF7055A0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9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50">
              <a:extLst>
                <a:ext uri="{FF2B5EF4-FFF2-40B4-BE49-F238E27FC236}">
                  <a16:creationId xmlns:a16="http://schemas.microsoft.com/office/drawing/2014/main" id="{78BEB3A8-568F-4E17-AF8E-82E8F5E16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51">
              <a:extLst>
                <a:ext uri="{FF2B5EF4-FFF2-40B4-BE49-F238E27FC236}">
                  <a16:creationId xmlns:a16="http://schemas.microsoft.com/office/drawing/2014/main" id="{9CA4902B-8837-4737-9CCF-5429EB542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9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52">
              <a:extLst>
                <a:ext uri="{FF2B5EF4-FFF2-40B4-BE49-F238E27FC236}">
                  <a16:creationId xmlns:a16="http://schemas.microsoft.com/office/drawing/2014/main" id="{CAA99886-4485-4195-9765-84FBA1CD6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7">
                  <a:extLst>
                    <a:ext uri="{FF2B5EF4-FFF2-40B4-BE49-F238E27FC236}">
                      <a16:creationId xmlns:a16="http://schemas.microsoft.com/office/drawing/2014/main" id="{7FB3DC70-4176-48A1-9930-CA28B26A5498}"/>
                    </a:ext>
                  </a:extLst>
                </p:cNvPr>
                <p:cNvSpPr txBox="1"/>
                <p:nvPr/>
              </p:nvSpPr>
              <p:spPr bwMode="auto">
                <a:xfrm>
                  <a:off x="1925" y="1589"/>
                  <a:ext cx="255" cy="3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bject 7">
                  <a:extLst>
                    <a:ext uri="{FF2B5EF4-FFF2-40B4-BE49-F238E27FC236}">
                      <a16:creationId xmlns:a16="http://schemas.microsoft.com/office/drawing/2014/main" id="{7FB3DC70-4176-48A1-9930-CA28B26A54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5" y="1589"/>
                  <a:ext cx="255" cy="383"/>
                </a:xfrm>
                <a:prstGeom prst="rect">
                  <a:avLst/>
                </a:prstGeom>
                <a:blipFill>
                  <a:blip r:embed="rId5"/>
                  <a:stretch>
                    <a:fillRect l="-5660"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Line 41">
              <a:extLst>
                <a:ext uri="{FF2B5EF4-FFF2-40B4-BE49-F238E27FC236}">
                  <a16:creationId xmlns:a16="http://schemas.microsoft.com/office/drawing/2014/main" id="{E950D4D7-9E75-43B4-8F90-FEFD35D84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3" y="1589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068E0A60-B97A-4D7F-8D36-0ED494F119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" y="2016"/>
              <a:ext cx="1369" cy="525"/>
              <a:chOff x="858" y="1695"/>
              <a:chExt cx="1280" cy="443"/>
            </a:xfrm>
          </p:grpSpPr>
          <p:sp>
            <p:nvSpPr>
              <p:cNvPr id="36" name="Oval 6">
                <a:extLst>
                  <a:ext uri="{FF2B5EF4-FFF2-40B4-BE49-F238E27FC236}">
                    <a16:creationId xmlns:a16="http://schemas.microsoft.com/office/drawing/2014/main" id="{80991C5F-AE5A-456E-ADF1-41A6F11A9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" y="1695"/>
                <a:ext cx="1280" cy="443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66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CFF0CFAF-E945-4994-860D-C49EA75D6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34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AutoShape 8">
              <a:extLst>
                <a:ext uri="{FF2B5EF4-FFF2-40B4-BE49-F238E27FC236}">
                  <a16:creationId xmlns:a16="http://schemas.microsoft.com/office/drawing/2014/main" id="{0EB0B046-0341-44FC-ACF5-D4B3F5215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1589"/>
              <a:ext cx="49" cy="734"/>
            </a:xfrm>
            <a:prstGeom prst="can">
              <a:avLst>
                <a:gd name="adj" fmla="val 133360"/>
              </a:avLst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54">
              <a:extLst>
                <a:ext uri="{FF2B5EF4-FFF2-40B4-BE49-F238E27FC236}">
                  <a16:creationId xmlns:a16="http://schemas.microsoft.com/office/drawing/2014/main" id="{DAE5B105-3626-471C-9D74-650E36022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1589"/>
              <a:ext cx="49" cy="734"/>
            </a:xfrm>
            <a:prstGeom prst="can">
              <a:avLst>
                <a:gd name="adj" fmla="val 133360"/>
              </a:avLst>
            </a:pr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5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Rectangle 6">
            <a:extLst>
              <a:ext uri="{FF2B5EF4-FFF2-40B4-BE49-F238E27FC236}">
                <a16:creationId xmlns:a16="http://schemas.microsoft.com/office/drawing/2014/main" id="{FD2A44DC-61E6-4A4E-A542-CE9442F0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805" y="6078362"/>
            <a:ext cx="9292261" cy="608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</a:pPr>
            <a:r>
              <a:rPr kumimoji="1" lang="en-US" altLang="zh-CN" sz="2800" dirty="0">
                <a:latin typeface="+mn-lt"/>
                <a:ea typeface="+mn-ea"/>
              </a:rPr>
              <a:t>-  </a:t>
            </a:r>
            <a:r>
              <a:rPr kumimoji="1" lang="zh-CN" altLang="en-US" sz="2800" dirty="0">
                <a:latin typeface="+mn-lt"/>
                <a:ea typeface="+mn-ea"/>
              </a:rPr>
              <a:t>分析对称性，设计环路，利用环路定理求解磁场分布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848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7" grpId="0" build="p" autoUpdateAnimBg="0" advAuto="0"/>
      <p:bldP spid="17" grpId="1"/>
      <p:bldP spid="18" grpId="0"/>
      <p:bldP spid="5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F0853B-72C6-A329-6788-B6B64E2B5FDE}"/>
              </a:ext>
            </a:extLst>
          </p:cNvPr>
          <p:cNvSpPr/>
          <p:nvPr/>
        </p:nvSpPr>
        <p:spPr>
          <a:xfrm>
            <a:off x="907399" y="1137929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AFB794-3EBD-83C7-9E8E-AC7484FAB669}"/>
              </a:ext>
            </a:extLst>
          </p:cNvPr>
          <p:cNvSpPr/>
          <p:nvPr/>
        </p:nvSpPr>
        <p:spPr>
          <a:xfrm>
            <a:off x="2237648" y="1132765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无源场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有旋场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A7A3-D3D4-4A83-B24D-C3457072F9C6}"/>
              </a:ext>
            </a:extLst>
          </p:cNvPr>
          <p:cNvSpPr/>
          <p:nvPr/>
        </p:nvSpPr>
        <p:spPr>
          <a:xfrm>
            <a:off x="907399" y="2078621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基本性质方程（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6BFC45-0283-DE5B-9352-BB02F27AC14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05F630-3E68-4685-A152-DD113CD17F44}"/>
              </a:ext>
            </a:extLst>
          </p:cNvPr>
          <p:cNvSpPr/>
          <p:nvPr/>
        </p:nvSpPr>
        <p:spPr>
          <a:xfrm>
            <a:off x="5595378" y="2097686"/>
            <a:ext cx="2872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安培环路定理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BC8B5-FDDD-9878-9D5F-150D0E0F6C3A}"/>
              </a:ext>
            </a:extLst>
          </p:cNvPr>
          <p:cNvSpPr/>
          <p:nvPr/>
        </p:nvSpPr>
        <p:spPr>
          <a:xfrm>
            <a:off x="1182097" y="3009990"/>
            <a:ext cx="57323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有变化电场</a:t>
            </a:r>
            <a:endParaRPr kumimoji="1" lang="en-US" altLang="zh-CN" sz="32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B937DE1D-AADB-540B-9CFA-1EB8CC193038}"/>
                  </a:ext>
                </a:extLst>
              </p:cNvPr>
              <p:cNvSpPr/>
              <p:nvPr/>
            </p:nvSpPr>
            <p:spPr>
              <a:xfrm>
                <a:off x="4207563" y="3944299"/>
                <a:ext cx="1857945" cy="721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i="1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kumimoji="1" lang="en-US" altLang="zh-CN" sz="28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kumimoji="1"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kumimoji="1" lang="en-US" altLang="zh-CN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B937DE1D-AADB-540B-9CFA-1EB8CC1930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563" y="3944299"/>
                <a:ext cx="1857945" cy="721159"/>
              </a:xfrm>
              <a:prstGeom prst="rect">
                <a:avLst/>
              </a:prstGeom>
              <a:blipFill>
                <a:blip r:embed="rId2"/>
                <a:stretch>
                  <a:fillRect l="-6557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>
            <a:extLst>
              <a:ext uri="{FF2B5EF4-FFF2-40B4-BE49-F238E27FC236}">
                <a16:creationId xmlns:a16="http://schemas.microsoft.com/office/drawing/2014/main" id="{7489602B-75F8-27E4-E243-714F3590E81E}"/>
              </a:ext>
            </a:extLst>
          </p:cNvPr>
          <p:cNvSpPr/>
          <p:nvPr/>
        </p:nvSpPr>
        <p:spPr>
          <a:xfrm>
            <a:off x="2587496" y="3984973"/>
            <a:ext cx="2067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位移电流</a:t>
            </a:r>
            <a:endParaRPr kumimoji="1" lang="en-US" altLang="zh-CN" sz="28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6A86BAD-F3A9-C8EC-4E8A-35823318DEAD}"/>
                  </a:ext>
                </a:extLst>
              </p:cNvPr>
              <p:cNvSpPr/>
              <p:nvPr/>
            </p:nvSpPr>
            <p:spPr>
              <a:xfrm>
                <a:off x="6096000" y="3787230"/>
                <a:ext cx="2922147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6A86BAD-F3A9-C8EC-4E8A-35823318D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87230"/>
                <a:ext cx="2922147" cy="1222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3484CBB9-3BE5-6B2F-209E-E4F98982DCCF}"/>
                  </a:ext>
                </a:extLst>
              </p:cNvPr>
              <p:cNvSpPr/>
              <p:nvPr/>
            </p:nvSpPr>
            <p:spPr>
              <a:xfrm>
                <a:off x="1475623" y="5136291"/>
                <a:ext cx="2969563" cy="1098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3484CBB9-3BE5-6B2F-209E-E4F98982D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23" y="5136291"/>
                <a:ext cx="2969563" cy="10988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B0DAB9D-4D58-CE00-5362-1845E704FFDD}"/>
                  </a:ext>
                </a:extLst>
              </p:cNvPr>
              <p:cNvSpPr/>
              <p:nvPr/>
            </p:nvSpPr>
            <p:spPr>
              <a:xfrm>
                <a:off x="7857355" y="5399952"/>
                <a:ext cx="22808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B0DAB9D-4D58-CE00-5362-1845E704F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355" y="5399952"/>
                <a:ext cx="2280881" cy="523220"/>
              </a:xfrm>
              <a:prstGeom prst="rect">
                <a:avLst/>
              </a:prstGeom>
              <a:blipFill>
                <a:blip r:embed="rId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047A81B9-0C0A-4B80-4582-83F25F096BBA}"/>
                  </a:ext>
                </a:extLst>
              </p:cNvPr>
              <p:cNvSpPr/>
              <p:nvPr/>
            </p:nvSpPr>
            <p:spPr>
              <a:xfrm>
                <a:off x="3672581" y="5142343"/>
                <a:ext cx="4345741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047A81B9-0C0A-4B80-4582-83F25F096B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81" y="5142343"/>
                <a:ext cx="4345741" cy="1222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26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F0853B-72C6-A329-6788-B6B64E2B5FDE}"/>
              </a:ext>
            </a:extLst>
          </p:cNvPr>
          <p:cNvSpPr/>
          <p:nvPr/>
        </p:nvSpPr>
        <p:spPr>
          <a:xfrm>
            <a:off x="907399" y="1137929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AFB794-3EBD-83C7-9E8E-AC7484FAB669}"/>
              </a:ext>
            </a:extLst>
          </p:cNvPr>
          <p:cNvSpPr/>
          <p:nvPr/>
        </p:nvSpPr>
        <p:spPr>
          <a:xfrm>
            <a:off x="2237648" y="1132765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无源场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有旋场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A7A3-D3D4-4A83-B24D-C3457072F9C6}"/>
              </a:ext>
            </a:extLst>
          </p:cNvPr>
          <p:cNvSpPr/>
          <p:nvPr/>
        </p:nvSpPr>
        <p:spPr>
          <a:xfrm>
            <a:off x="907399" y="2078621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基本性质方程（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6BFC45-0283-DE5B-9352-BB02F27AC14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05F630-3E68-4685-A152-DD113CD17F44}"/>
              </a:ext>
            </a:extLst>
          </p:cNvPr>
          <p:cNvSpPr/>
          <p:nvPr/>
        </p:nvSpPr>
        <p:spPr>
          <a:xfrm>
            <a:off x="5595378" y="2097686"/>
            <a:ext cx="2872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安培环路定理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CB70CC-108A-A634-A8E3-D2C04DF8D9FF}"/>
              </a:ext>
            </a:extLst>
          </p:cNvPr>
          <p:cNvSpPr/>
          <p:nvPr/>
        </p:nvSpPr>
        <p:spPr>
          <a:xfrm>
            <a:off x="1103348" y="2992167"/>
            <a:ext cx="57323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有磁介质</a:t>
            </a:r>
            <a:endParaRPr kumimoji="1" lang="en-US" altLang="zh-CN" sz="32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B831AF-0B02-AE93-008B-A6DFB50FB487}"/>
                  </a:ext>
                </a:extLst>
              </p:cNvPr>
              <p:cNvSpPr txBox="1"/>
              <p:nvPr/>
            </p:nvSpPr>
            <p:spPr>
              <a:xfrm>
                <a:off x="1071943" y="4974291"/>
                <a:ext cx="609600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zh-CN" alt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066FF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B831AF-0B02-AE93-008B-A6DFB50FB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43" y="4974291"/>
                <a:ext cx="6096000" cy="1268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9F3EA98-0FFF-D267-306C-6F8A106E0BC5}"/>
                  </a:ext>
                </a:extLst>
              </p:cNvPr>
              <p:cNvSpPr txBox="1"/>
              <p:nvPr/>
            </p:nvSpPr>
            <p:spPr>
              <a:xfrm>
                <a:off x="5841877" y="5097241"/>
                <a:ext cx="4473677" cy="1729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zh-CN" sz="2800" b="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磁场强度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rgbClr val="A5002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spcBef>
                    <a:spcPct val="50000"/>
                  </a:spcBef>
                </a:pPr>
                <a:endParaRPr lang="en-US" altLang="zh-CN" sz="28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9F3EA98-0FFF-D267-306C-6F8A106E0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7" y="5097241"/>
                <a:ext cx="4473677" cy="1729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E1BB6F15-BB15-48FD-B103-CFA0535AF5DD}"/>
              </a:ext>
            </a:extLst>
          </p:cNvPr>
          <p:cNvGrpSpPr/>
          <p:nvPr/>
        </p:nvGrpSpPr>
        <p:grpSpPr>
          <a:xfrm>
            <a:off x="3153172" y="2724952"/>
            <a:ext cx="5120878" cy="946349"/>
            <a:chOff x="1250738" y="2460487"/>
            <a:chExt cx="13163267" cy="946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C523242-2532-4F9B-94DC-C5A1C40495A3}"/>
                    </a:ext>
                  </a:extLst>
                </p:cNvPr>
                <p:cNvSpPr txBox="1"/>
                <p:nvPr/>
              </p:nvSpPr>
              <p:spPr>
                <a:xfrm>
                  <a:off x="1250738" y="2724742"/>
                  <a:ext cx="13163267" cy="5754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kern="0" dirty="0">
                      <a:solidFill>
                        <a:schemeClr val="tx1"/>
                      </a:solidFill>
                    </a:rPr>
                    <a:t>介质</a:t>
                  </a:r>
                  <a14:m>
                    <m:oMath xmlns:m="http://schemas.openxmlformats.org/officeDocument/2006/math">
                      <m:r>
                        <a:rPr kumimoji="1" lang="zh-CN" altLang="en-US" sz="2800" i="1" kern="0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kumimoji="1" lang="zh-CN" altLang="en-US" sz="2800" i="1" kern="0" smtClean="0">
                          <a:latin typeface="Cambria Math" panose="02040503050406030204" pitchFamily="18" charset="0"/>
                        </a:rPr>
                        <m:t>磁化</m:t>
                      </m:r>
                      <m:r>
                        <a:rPr kumimoji="1" lang="zh-CN" altLang="en-US" sz="2800" i="1" kern="0">
                          <a:latin typeface="Cambria Math" panose="02040503050406030204" pitchFamily="18" charset="0"/>
                        </a:rPr>
                        <m:t>强度</m:t>
                      </m:r>
                      <m:r>
                        <a:rPr kumimoji="1" lang="zh-CN" altLang="en-US" sz="2800" i="1" kern="0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zh-CN" sz="2800" b="0" i="1" kern="0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⃗"/>
                          <m:ctrlPr>
                            <a:rPr kumimoji="1" lang="zh-CN" altLang="en-US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acc>
                    </m:oMath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C523242-2532-4F9B-94DC-C5A1C4049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738" y="2724742"/>
                  <a:ext cx="13163267" cy="575479"/>
                </a:xfrm>
                <a:prstGeom prst="rect">
                  <a:avLst/>
                </a:prstGeom>
                <a:blipFill>
                  <a:blip r:embed="rId4"/>
                  <a:stretch>
                    <a:fillRect l="-2381" t="-1053" b="-2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60A81E9-3F72-4F60-A56B-6B3C64BD3CFB}"/>
                    </a:ext>
                  </a:extLst>
                </p:cNvPr>
                <p:cNvSpPr txBox="1"/>
                <p:nvPr/>
              </p:nvSpPr>
              <p:spPr>
                <a:xfrm>
                  <a:off x="10230973" y="2460487"/>
                  <a:ext cx="971550" cy="9463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0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kumimoji="1" lang="en-US" altLang="zh-CN" sz="2800" i="1" ker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kumimoji="1" lang="en-US" altLang="zh-CN" sz="2800" i="1" ker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kumimoji="1" lang="en-US" altLang="zh-CN" sz="2800" i="1" ker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zh-CN" sz="2800" i="1" kern="0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1" lang="en-US" altLang="zh-CN" sz="2800" b="0" i="1" kern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kumimoji="1"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kumimoji="1"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60A81E9-3F72-4F60-A56B-6B3C64BD3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0973" y="2460487"/>
                  <a:ext cx="971550" cy="946349"/>
                </a:xfrm>
                <a:prstGeom prst="rect">
                  <a:avLst/>
                </a:prstGeom>
                <a:blipFill>
                  <a:blip r:embed="rId5"/>
                  <a:stretch>
                    <a:fillRect r="-2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9">
                <a:extLst>
                  <a:ext uri="{FF2B5EF4-FFF2-40B4-BE49-F238E27FC236}">
                    <a16:creationId xmlns:a16="http://schemas.microsoft.com/office/drawing/2014/main" id="{B9B0EB2F-8E04-4D48-B7C1-68152B2F7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2008" y="3992253"/>
                <a:ext cx="4942042" cy="823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  <m:sup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𝑀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ectangle 9">
                <a:extLst>
                  <a:ext uri="{FF2B5EF4-FFF2-40B4-BE49-F238E27FC236}">
                    <a16:creationId xmlns:a16="http://schemas.microsoft.com/office/drawing/2014/main" id="{B9B0EB2F-8E04-4D48-B7C1-68152B2F7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2008" y="3992253"/>
                <a:ext cx="4942042" cy="8234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6">
                <a:extLst>
                  <a:ext uri="{FF2B5EF4-FFF2-40B4-BE49-F238E27FC236}">
                    <a16:creationId xmlns:a16="http://schemas.microsoft.com/office/drawing/2014/main" id="{B5BBD836-F945-4FCA-9BAF-B7478968066B}"/>
                  </a:ext>
                </a:extLst>
              </p:cNvPr>
              <p:cNvSpPr txBox="1"/>
              <p:nvPr/>
            </p:nvSpPr>
            <p:spPr bwMode="auto">
              <a:xfrm>
                <a:off x="2196766" y="4085518"/>
                <a:ext cx="1832155" cy="522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func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Object 6">
                <a:extLst>
                  <a:ext uri="{FF2B5EF4-FFF2-40B4-BE49-F238E27FC236}">
                    <a16:creationId xmlns:a16="http://schemas.microsoft.com/office/drawing/2014/main" id="{B5BBD836-F945-4FCA-9BAF-B74789680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6766" y="4085518"/>
                <a:ext cx="1832155" cy="522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">
                <a:extLst>
                  <a:ext uri="{FF2B5EF4-FFF2-40B4-BE49-F238E27FC236}">
                    <a16:creationId xmlns:a16="http://schemas.microsoft.com/office/drawing/2014/main" id="{435A5B59-4616-4FB9-B108-253D56A28564}"/>
                  </a:ext>
                </a:extLst>
              </p:cNvPr>
              <p:cNvSpPr txBox="1"/>
              <p:nvPr/>
            </p:nvSpPr>
            <p:spPr bwMode="auto">
              <a:xfrm>
                <a:off x="1615362" y="4118856"/>
                <a:ext cx="1002182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func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Object 1">
                <a:extLst>
                  <a:ext uri="{FF2B5EF4-FFF2-40B4-BE49-F238E27FC236}">
                    <a16:creationId xmlns:a16="http://schemas.microsoft.com/office/drawing/2014/main" id="{435A5B59-4616-4FB9-B108-253D56A28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5362" y="4118856"/>
                <a:ext cx="1002182" cy="647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73C52622-484C-490B-8861-490A89271122}"/>
              </a:ext>
            </a:extLst>
          </p:cNvPr>
          <p:cNvSpPr txBox="1"/>
          <p:nvPr/>
        </p:nvSpPr>
        <p:spPr>
          <a:xfrm>
            <a:off x="7066308" y="3714865"/>
            <a:ext cx="5035964" cy="1232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束缚电流密度等于该表面处磁介质的磁化强度沿表面的分量。</a:t>
            </a:r>
            <a:endParaRPr kumimoji="1"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59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25" grpId="0" uiExpand="1" build="p" autoUpdateAnimBg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F052B95-2B12-48C1-8DF1-156460109027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F0853B-72C6-A329-6788-B6B64E2B5FDE}"/>
              </a:ext>
            </a:extLst>
          </p:cNvPr>
          <p:cNvSpPr/>
          <p:nvPr/>
        </p:nvSpPr>
        <p:spPr>
          <a:xfrm>
            <a:off x="907399" y="1137929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AFB794-3EBD-83C7-9E8E-AC7484FAB669}"/>
              </a:ext>
            </a:extLst>
          </p:cNvPr>
          <p:cNvSpPr/>
          <p:nvPr/>
        </p:nvSpPr>
        <p:spPr>
          <a:xfrm>
            <a:off x="2237648" y="1132765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无源场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有旋场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A7A3-D3D4-4A83-B24D-C3457072F9C6}"/>
              </a:ext>
            </a:extLst>
          </p:cNvPr>
          <p:cNvSpPr/>
          <p:nvPr/>
        </p:nvSpPr>
        <p:spPr>
          <a:xfrm>
            <a:off x="907399" y="2078621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基本性质方程（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6BFC45-0283-DE5B-9352-BB02F27AC14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05F630-3E68-4685-A152-DD113CD17F44}"/>
              </a:ext>
            </a:extLst>
          </p:cNvPr>
          <p:cNvSpPr/>
          <p:nvPr/>
        </p:nvSpPr>
        <p:spPr>
          <a:xfrm>
            <a:off x="5595378" y="2097686"/>
            <a:ext cx="2872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安培环路定理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CB70CC-108A-A634-A8E3-D2C04DF8D9FF}"/>
              </a:ext>
            </a:extLst>
          </p:cNvPr>
          <p:cNvSpPr/>
          <p:nvPr/>
        </p:nvSpPr>
        <p:spPr>
          <a:xfrm>
            <a:off x="1103348" y="2992167"/>
            <a:ext cx="57323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有磁介质</a:t>
            </a:r>
            <a:endParaRPr kumimoji="1" lang="en-US" altLang="zh-CN" sz="32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B831AF-0B02-AE93-008B-A6DFB50FB487}"/>
                  </a:ext>
                </a:extLst>
              </p:cNvPr>
              <p:cNvSpPr txBox="1"/>
              <p:nvPr/>
            </p:nvSpPr>
            <p:spPr>
              <a:xfrm>
                <a:off x="2170417" y="2734988"/>
                <a:ext cx="609600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zh-CN" alt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066FF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B831AF-0B02-AE93-008B-A6DFB50FB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417" y="2734988"/>
                <a:ext cx="6096000" cy="1268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FAB2B6C0-BA8D-8F5D-63B6-3DD4220F2C6A}"/>
                  </a:ext>
                </a:extLst>
              </p:cNvPr>
              <p:cNvSpPr txBox="1"/>
              <p:nvPr/>
            </p:nvSpPr>
            <p:spPr bwMode="auto">
              <a:xfrm>
                <a:off x="772645" y="6069011"/>
                <a:ext cx="4532313" cy="649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FAB2B6C0-BA8D-8F5D-63B6-3DD4220F2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2645" y="6069011"/>
                <a:ext cx="4532313" cy="649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7436DEBD-A11E-4B1E-9278-45665218F7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5022" y="6132045"/>
                <a:ext cx="541328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𝜇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𝑟</m:t>
                        </m:r>
                      </m:sub>
                    </m:sSub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=1+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𝜒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—</a:t>
                </a:r>
                <a:r>
                  <a:rPr kumimoji="1"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相对磁导率</a:t>
                </a:r>
              </a:p>
            </p:txBody>
          </p:sp>
        </mc:Choice>
        <mc:Fallback xmlns=""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7436DEBD-A11E-4B1E-9278-45665218F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5022" y="6132045"/>
                <a:ext cx="5413283" cy="523220"/>
              </a:xfrm>
              <a:prstGeom prst="rect">
                <a:avLst/>
              </a:prstGeom>
              <a:blipFill>
                <a:blip r:embed="rId4"/>
                <a:stretch>
                  <a:fillRect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D7061884-4BD5-0242-FAF0-A84566E2FBE6}"/>
              </a:ext>
            </a:extLst>
          </p:cNvPr>
          <p:cNvSpPr/>
          <p:nvPr/>
        </p:nvSpPr>
        <p:spPr>
          <a:xfrm>
            <a:off x="345794" y="5586657"/>
            <a:ext cx="57323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各向同性均与磁介质</a:t>
            </a:r>
            <a:endParaRPr kumimoji="1" lang="en-US" altLang="zh-CN" sz="2800" dirty="0">
              <a:latin typeface="Cambria Math" panose="020405030504060302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522A4A5-09FF-44B8-963F-831AB0DB1C01}"/>
                  </a:ext>
                </a:extLst>
              </p:cNvPr>
              <p:cNvSpPr txBox="1"/>
              <p:nvPr/>
            </p:nvSpPr>
            <p:spPr>
              <a:xfrm>
                <a:off x="9773407" y="6142820"/>
                <a:ext cx="2292081" cy="5754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𝑀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𝜒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𝑚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522A4A5-09FF-44B8-963F-831AB0DB1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407" y="6142820"/>
                <a:ext cx="2292081" cy="5754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0">
            <a:extLst>
              <a:ext uri="{FF2B5EF4-FFF2-40B4-BE49-F238E27FC236}">
                <a16:creationId xmlns:a16="http://schemas.microsoft.com/office/drawing/2014/main" id="{842DEE2C-7F20-451D-8445-80E458319D9D}"/>
              </a:ext>
            </a:extLst>
          </p:cNvPr>
          <p:cNvSpPr txBox="1"/>
          <p:nvPr/>
        </p:nvSpPr>
        <p:spPr>
          <a:xfrm>
            <a:off x="1533848" y="3895263"/>
            <a:ext cx="8550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-  </a:t>
            </a:r>
            <a:r>
              <a:rPr lang="en-US" altLang="zh-CN" sz="2800" dirty="0">
                <a:sym typeface="Symbol" panose="05050102010706020507" pitchFamily="18" charset="2"/>
              </a:rPr>
              <a:t></a:t>
            </a:r>
            <a:r>
              <a:rPr lang="en-US" altLang="zh-CN" sz="2800" i="1" dirty="0">
                <a:sym typeface="Symbol" panose="05050102010706020507" pitchFamily="18" charset="2"/>
              </a:rPr>
              <a:t>I </a:t>
            </a:r>
            <a:r>
              <a:rPr lang="zh-CN" altLang="en-US" sz="2800" dirty="0">
                <a:sym typeface="Symbol" panose="05050102010706020507" pitchFamily="18" charset="2"/>
              </a:rPr>
              <a:t>是环路包围的传导电流之和</a:t>
            </a:r>
            <a:r>
              <a:rPr lang="en-US" altLang="zh-CN" sz="2800" dirty="0"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sym typeface="Symbol" panose="05050102010706020507" pitchFamily="18" charset="2"/>
              </a:rPr>
              <a:t>不包括分子电流</a:t>
            </a:r>
            <a:endParaRPr lang="en-US" altLang="zh-CN" sz="2800" dirty="0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3F372C8E-2655-4491-81FC-EDE4482C9C73}"/>
              </a:ext>
            </a:extLst>
          </p:cNvPr>
          <p:cNvGrpSpPr/>
          <p:nvPr/>
        </p:nvGrpSpPr>
        <p:grpSpPr>
          <a:xfrm>
            <a:off x="1511257" y="4485894"/>
            <a:ext cx="8710612" cy="1600198"/>
            <a:chOff x="153" y="2540"/>
            <a:chExt cx="5487" cy="1008"/>
          </a:xfrm>
        </p:grpSpPr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B5261CCE-27F5-4306-AF39-43A5A3445B66}"/>
                </a:ext>
              </a:extLst>
            </p:cNvPr>
            <p:cNvSpPr txBox="1"/>
            <p:nvPr/>
          </p:nvSpPr>
          <p:spPr>
            <a:xfrm>
              <a:off x="153" y="2540"/>
              <a:ext cx="5487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-  </a:t>
              </a:r>
              <a:r>
                <a:rPr lang="zh-CN" altLang="en-US" sz="2800" dirty="0"/>
                <a:t>由环路定理</a:t>
              </a:r>
              <a:r>
                <a:rPr lang="en-US" altLang="zh-CN" sz="2800" dirty="0"/>
                <a:t>, </a:t>
              </a:r>
              <a:r>
                <a:rPr lang="en-US" altLang="zh-CN" sz="2800" i="1" dirty="0"/>
                <a:t>H </a:t>
              </a:r>
              <a:r>
                <a:rPr lang="zh-CN" altLang="en-US" sz="2800" dirty="0"/>
                <a:t>的环流仅由</a:t>
              </a:r>
              <a:r>
                <a:rPr lang="zh-CN" altLang="en-US" sz="2800" dirty="0">
                  <a:sym typeface="Symbol" panose="05050102010706020507" pitchFamily="18" charset="2"/>
                </a:rPr>
                <a:t></a:t>
              </a:r>
              <a:r>
                <a:rPr lang="en-US" altLang="zh-CN" sz="2800" i="1" dirty="0">
                  <a:sym typeface="Symbol" panose="05050102010706020507" pitchFamily="18" charset="2"/>
                </a:rPr>
                <a:t>I</a:t>
              </a:r>
              <a:r>
                <a:rPr lang="zh-CN" altLang="en-US" sz="2800" dirty="0">
                  <a:sym typeface="Symbol" panose="05050102010706020507" pitchFamily="18" charset="2"/>
                </a:rPr>
                <a:t>决定，但环路上任一点</a:t>
              </a:r>
              <a:r>
                <a:rPr lang="zh-CN" altLang="en-US" sz="2800" dirty="0"/>
                <a:t>的</a:t>
              </a:r>
              <a:r>
                <a:rPr lang="en-US" altLang="zh-CN" sz="2800" i="1" dirty="0"/>
                <a:t>H </a:t>
              </a:r>
              <a:r>
                <a:rPr lang="zh-CN" altLang="en-US" sz="2800" dirty="0"/>
                <a:t>值仍由空间所有电流决定</a:t>
              </a:r>
              <a:endParaRPr lang="en-US" altLang="zh-CN" sz="2800" dirty="0"/>
            </a:p>
            <a:p>
              <a:pPr>
                <a:spcBef>
                  <a:spcPct val="50000"/>
                </a:spcBef>
              </a:pPr>
              <a:endParaRPr lang="zh-CN" altLang="en-US" sz="2800" dirty="0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67F22CB9-FE9E-43E5-BF9A-88A50360DF3B}"/>
                </a:ext>
              </a:extLst>
            </p:cNvPr>
            <p:cNvSpPr/>
            <p:nvPr/>
          </p:nvSpPr>
          <p:spPr>
            <a:xfrm>
              <a:off x="1657" y="2595"/>
              <a:ext cx="15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" name="Group 15">
            <a:extLst>
              <a:ext uri="{FF2B5EF4-FFF2-40B4-BE49-F238E27FC236}">
                <a16:creationId xmlns:a16="http://schemas.microsoft.com/office/drawing/2014/main" id="{3A9CDC68-4A0D-43FF-8E70-1CD69F5325A2}"/>
              </a:ext>
            </a:extLst>
          </p:cNvPr>
          <p:cNvGrpSpPr/>
          <p:nvPr/>
        </p:nvGrpSpPr>
        <p:grpSpPr>
          <a:xfrm>
            <a:off x="1592219" y="4830362"/>
            <a:ext cx="7764463" cy="519112"/>
            <a:chOff x="250" y="2886"/>
            <a:chExt cx="4891" cy="327"/>
          </a:xfrm>
        </p:grpSpPr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C4228A54-D22C-4D8C-B05D-AA2E372031C2}"/>
                </a:ext>
              </a:extLst>
            </p:cNvPr>
            <p:cNvSpPr txBox="1"/>
            <p:nvPr/>
          </p:nvSpPr>
          <p:spPr>
            <a:xfrm>
              <a:off x="250" y="2886"/>
              <a:ext cx="48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sz="2800" dirty="0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5CFC2DF9-B30B-4B1E-B904-3C64F8693232}"/>
                </a:ext>
              </a:extLst>
            </p:cNvPr>
            <p:cNvSpPr/>
            <p:nvPr/>
          </p:nvSpPr>
          <p:spPr>
            <a:xfrm>
              <a:off x="512" y="2931"/>
              <a:ext cx="14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44285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D61AAAF-2F45-4537-B024-17BBAB9E6A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3420" y="1069325"/>
                <a:ext cx="2026078" cy="53114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𝒒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𝒗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D61AAAF-2F45-4537-B024-17BBAB9E6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420" y="1069325"/>
                <a:ext cx="2026078" cy="531142"/>
              </a:xfrm>
              <a:prstGeom prst="rect">
                <a:avLst/>
              </a:prstGeom>
              <a:blipFill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740A65A-19C1-4343-B41D-E3B7E6437F53}"/>
              </a:ext>
            </a:extLst>
          </p:cNvPr>
          <p:cNvSpPr/>
          <p:nvPr/>
        </p:nvSpPr>
        <p:spPr>
          <a:xfrm>
            <a:off x="836617" y="1061508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洛伦兹力</a:t>
            </a:r>
            <a:endParaRPr lang="en-US" altLang="zh-CN" sz="3200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内容占位符 7">
            <a:extLst>
              <a:ext uri="{FF2B5EF4-FFF2-40B4-BE49-F238E27FC236}">
                <a16:creationId xmlns:a16="http://schemas.microsoft.com/office/drawing/2014/main" id="{1BFCF262-A8E0-4A32-8198-88DCF685F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8206" y="1798406"/>
            <a:ext cx="5334396" cy="849571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kumimoji="1"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- </a:t>
            </a:r>
            <a:r>
              <a:rPr kumimoji="1"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粒子在均匀磁场中的运动</a:t>
            </a:r>
            <a:endParaRPr lang="en-US" altLang="zh-CN" sz="3200" dirty="0">
              <a:solidFill>
                <a:srgbClr val="0066FF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zh-CN" altLang="en-US" sz="3200" dirty="0">
              <a:solidFill>
                <a:srgbClr val="0066FF"/>
              </a:solidFill>
            </a:endParaRPr>
          </a:p>
        </p:txBody>
      </p:sp>
      <p:grpSp>
        <p:nvGrpSpPr>
          <p:cNvPr id="17" name="Group 48">
            <a:extLst>
              <a:ext uri="{FF2B5EF4-FFF2-40B4-BE49-F238E27FC236}">
                <a16:creationId xmlns:a16="http://schemas.microsoft.com/office/drawing/2014/main" id="{59008F08-A7FB-474D-BBEC-831A2EA2EF4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4257472" y="4864635"/>
            <a:ext cx="360363" cy="360362"/>
            <a:chOff x="4286" y="1979"/>
            <a:chExt cx="227" cy="227"/>
          </a:xfrm>
        </p:grpSpPr>
        <p:sp>
          <p:nvSpPr>
            <p:cNvPr id="18" name="Oval 49">
              <a:extLst>
                <a:ext uri="{FF2B5EF4-FFF2-40B4-BE49-F238E27FC236}">
                  <a16:creationId xmlns:a16="http://schemas.microsoft.com/office/drawing/2014/main" id="{1EA7C340-E25F-405C-9274-66F366CE1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79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25400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grpSp>
          <p:nvGrpSpPr>
            <p:cNvPr id="19" name="Group 50">
              <a:extLst>
                <a:ext uri="{FF2B5EF4-FFF2-40B4-BE49-F238E27FC236}">
                  <a16:creationId xmlns:a16="http://schemas.microsoft.com/office/drawing/2014/main" id="{9C206FF5-29B1-4332-BC62-6BC7EC82A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2024"/>
              <a:ext cx="136" cy="136"/>
              <a:chOff x="3243" y="3022"/>
              <a:chExt cx="408" cy="453"/>
            </a:xfrm>
          </p:grpSpPr>
          <p:sp>
            <p:nvSpPr>
              <p:cNvPr id="20" name="Line 51">
                <a:extLst>
                  <a:ext uri="{FF2B5EF4-FFF2-40B4-BE49-F238E27FC236}">
                    <a16:creationId xmlns:a16="http://schemas.microsoft.com/office/drawing/2014/main" id="{2282C768-4425-459F-89B5-2C6EB3660C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3249"/>
                <a:ext cx="408" cy="0"/>
              </a:xfrm>
              <a:prstGeom prst="line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1" name="Line 52">
                <a:extLst>
                  <a:ext uri="{FF2B5EF4-FFF2-40B4-BE49-F238E27FC236}">
                    <a16:creationId xmlns:a16="http://schemas.microsoft.com/office/drawing/2014/main" id="{AA059761-80E0-4B10-B483-F15359839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" y="3022"/>
                <a:ext cx="0" cy="453"/>
              </a:xfrm>
              <a:prstGeom prst="line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22" name="Line 53">
            <a:extLst>
              <a:ext uri="{FF2B5EF4-FFF2-40B4-BE49-F238E27FC236}">
                <a16:creationId xmlns:a16="http://schemas.microsoft.com/office/drawing/2014/main" id="{C0D562B6-F0ED-4BC5-B719-CA0796B7F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3372" y="4288372"/>
            <a:ext cx="0" cy="792163"/>
          </a:xfrm>
          <a:prstGeom prst="line">
            <a:avLst/>
          </a:prstGeom>
          <a:noFill/>
          <a:ln w="31750">
            <a:solidFill>
              <a:srgbClr val="FF00FF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val 54">
            <a:extLst>
              <a:ext uri="{FF2B5EF4-FFF2-40B4-BE49-F238E27FC236}">
                <a16:creationId xmlns:a16="http://schemas.microsoft.com/office/drawing/2014/main" id="{70180AC6-3345-4906-98C2-3520214F3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4201503"/>
            <a:ext cx="1657350" cy="1584325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24" name="Group 57">
            <a:extLst>
              <a:ext uri="{FF2B5EF4-FFF2-40B4-BE49-F238E27FC236}">
                <a16:creationId xmlns:a16="http://schemas.microsoft.com/office/drawing/2014/main" id="{365980EB-B2E9-4190-A7EE-BD4FDDCE8277}"/>
              </a:ext>
            </a:extLst>
          </p:cNvPr>
          <p:cNvGrpSpPr>
            <a:grpSpLocks/>
          </p:cNvGrpSpPr>
          <p:nvPr/>
        </p:nvGrpSpPr>
        <p:grpSpPr bwMode="auto">
          <a:xfrm>
            <a:off x="5302257" y="4920640"/>
            <a:ext cx="561975" cy="649288"/>
            <a:chOff x="4422" y="1570"/>
            <a:chExt cx="354" cy="409"/>
          </a:xfrm>
        </p:grpSpPr>
        <p:sp>
          <p:nvSpPr>
            <p:cNvPr id="25" name="Line 55">
              <a:extLst>
                <a:ext uri="{FF2B5EF4-FFF2-40B4-BE49-F238E27FC236}">
                  <a16:creationId xmlns:a16="http://schemas.microsoft.com/office/drawing/2014/main" id="{1AE6DB63-D1E9-434B-98FE-D1DF0AEB6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1570"/>
              <a:ext cx="318" cy="4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C1F75424-3C07-4570-B114-83BF731A748F}"/>
                    </a:ext>
                  </a:extLst>
                </p:cNvPr>
                <p:cNvSpPr txBox="1"/>
                <p:nvPr/>
              </p:nvSpPr>
              <p:spPr bwMode="auto">
                <a:xfrm>
                  <a:off x="4561" y="1612"/>
                  <a:ext cx="215" cy="23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800" dirty="0">
                    <a:latin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C1F75424-3C07-4570-B114-83BF731A7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1" y="1612"/>
                  <a:ext cx="215" cy="23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141">
            <a:extLst>
              <a:ext uri="{FF2B5EF4-FFF2-40B4-BE49-F238E27FC236}">
                <a16:creationId xmlns:a16="http://schemas.microsoft.com/office/drawing/2014/main" id="{BA9A8295-657E-4B22-9F2F-DB3EC8570723}"/>
              </a:ext>
            </a:extLst>
          </p:cNvPr>
          <p:cNvGrpSpPr>
            <a:grpSpLocks/>
          </p:cNvGrpSpPr>
          <p:nvPr/>
        </p:nvGrpSpPr>
        <p:grpSpPr bwMode="auto">
          <a:xfrm>
            <a:off x="4071936" y="3696678"/>
            <a:ext cx="2381250" cy="2449512"/>
            <a:chOff x="3647" y="799"/>
            <a:chExt cx="1500" cy="1543"/>
          </a:xfrm>
        </p:grpSpPr>
        <p:grpSp>
          <p:nvGrpSpPr>
            <p:cNvPr id="28" name="Group 76">
              <a:extLst>
                <a:ext uri="{FF2B5EF4-FFF2-40B4-BE49-F238E27FC236}">
                  <a16:creationId xmlns:a16="http://schemas.microsoft.com/office/drawing/2014/main" id="{47E325ED-9A56-4139-A526-744D2B56CC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799"/>
              <a:ext cx="1496" cy="182"/>
              <a:chOff x="3651" y="709"/>
              <a:chExt cx="1496" cy="182"/>
            </a:xfrm>
          </p:grpSpPr>
          <p:grpSp>
            <p:nvGrpSpPr>
              <p:cNvPr id="93" name="Group 60">
                <a:extLst>
                  <a:ext uri="{FF2B5EF4-FFF2-40B4-BE49-F238E27FC236}">
                    <a16:creationId xmlns:a16="http://schemas.microsoft.com/office/drawing/2014/main" id="{B528FCE2-BD16-4236-8291-9DF8177E11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106" name="Oval 58">
                  <a:extLst>
                    <a:ext uri="{FF2B5EF4-FFF2-40B4-BE49-F238E27FC236}">
                      <a16:creationId xmlns:a16="http://schemas.microsoft.com/office/drawing/2014/main" id="{CB65580D-154B-4316-8298-25FFC9CD70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7" name="Oval 59">
                  <a:extLst>
                    <a:ext uri="{FF2B5EF4-FFF2-40B4-BE49-F238E27FC236}">
                      <a16:creationId xmlns:a16="http://schemas.microsoft.com/office/drawing/2014/main" id="{51B84ACA-BFBD-4D3B-9753-81DB9C683E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4" name="Group 61">
                <a:extLst>
                  <a:ext uri="{FF2B5EF4-FFF2-40B4-BE49-F238E27FC236}">
                    <a16:creationId xmlns:a16="http://schemas.microsoft.com/office/drawing/2014/main" id="{BAC79617-D015-49B5-B2F0-BC94BA8329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104" name="Oval 62">
                  <a:extLst>
                    <a:ext uri="{FF2B5EF4-FFF2-40B4-BE49-F238E27FC236}">
                      <a16:creationId xmlns:a16="http://schemas.microsoft.com/office/drawing/2014/main" id="{48F2C01F-B23B-4C13-AB8E-8D006ACF2E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5" name="Oval 63">
                  <a:extLst>
                    <a:ext uri="{FF2B5EF4-FFF2-40B4-BE49-F238E27FC236}">
                      <a16:creationId xmlns:a16="http://schemas.microsoft.com/office/drawing/2014/main" id="{0A48C368-4BF7-4346-A931-1FAC9536A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5" name="Group 64">
                <a:extLst>
                  <a:ext uri="{FF2B5EF4-FFF2-40B4-BE49-F238E27FC236}">
                    <a16:creationId xmlns:a16="http://schemas.microsoft.com/office/drawing/2014/main" id="{B7719E30-19A5-49EF-9968-0CE5C6A354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102" name="Oval 65">
                  <a:extLst>
                    <a:ext uri="{FF2B5EF4-FFF2-40B4-BE49-F238E27FC236}">
                      <a16:creationId xmlns:a16="http://schemas.microsoft.com/office/drawing/2014/main" id="{D1EDD96D-8131-4710-9EC9-830A696F4A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3" name="Oval 66">
                  <a:extLst>
                    <a:ext uri="{FF2B5EF4-FFF2-40B4-BE49-F238E27FC236}">
                      <a16:creationId xmlns:a16="http://schemas.microsoft.com/office/drawing/2014/main" id="{05518C50-38D0-4FFB-A9BE-473B0B4A7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6" name="Group 67">
                <a:extLst>
                  <a:ext uri="{FF2B5EF4-FFF2-40B4-BE49-F238E27FC236}">
                    <a16:creationId xmlns:a16="http://schemas.microsoft.com/office/drawing/2014/main" id="{F7D03700-504E-419C-9465-A2B6CAD521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100" name="Oval 68">
                  <a:extLst>
                    <a:ext uri="{FF2B5EF4-FFF2-40B4-BE49-F238E27FC236}">
                      <a16:creationId xmlns:a16="http://schemas.microsoft.com/office/drawing/2014/main" id="{BA84B6A9-F6FA-41F9-9A1C-1A0F6E06A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1" name="Oval 69">
                  <a:extLst>
                    <a:ext uri="{FF2B5EF4-FFF2-40B4-BE49-F238E27FC236}">
                      <a16:creationId xmlns:a16="http://schemas.microsoft.com/office/drawing/2014/main" id="{A81BD52F-88B8-407F-9212-17A7B4EB8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7" name="Group 70">
                <a:extLst>
                  <a:ext uri="{FF2B5EF4-FFF2-40B4-BE49-F238E27FC236}">
                    <a16:creationId xmlns:a16="http://schemas.microsoft.com/office/drawing/2014/main" id="{06579295-79F8-44A2-9047-42584A8F4D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98" name="Oval 71">
                  <a:extLst>
                    <a:ext uri="{FF2B5EF4-FFF2-40B4-BE49-F238E27FC236}">
                      <a16:creationId xmlns:a16="http://schemas.microsoft.com/office/drawing/2014/main" id="{0DE9929B-6502-4E27-9D00-DF6E89C616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9" name="Oval 72">
                  <a:extLst>
                    <a:ext uri="{FF2B5EF4-FFF2-40B4-BE49-F238E27FC236}">
                      <a16:creationId xmlns:a16="http://schemas.microsoft.com/office/drawing/2014/main" id="{A81DCAF1-4896-4B96-B3C5-25B29E651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9" name="Group 77">
              <a:extLst>
                <a:ext uri="{FF2B5EF4-FFF2-40B4-BE49-F238E27FC236}">
                  <a16:creationId xmlns:a16="http://schemas.microsoft.com/office/drawing/2014/main" id="{CD4DC908-F14C-49D6-A3D5-52F351B50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7" y="1162"/>
              <a:ext cx="1494" cy="182"/>
              <a:chOff x="3692" y="709"/>
              <a:chExt cx="1494" cy="182"/>
            </a:xfrm>
          </p:grpSpPr>
          <p:grpSp>
            <p:nvGrpSpPr>
              <p:cNvPr id="78" name="Group 78">
                <a:extLst>
                  <a:ext uri="{FF2B5EF4-FFF2-40B4-BE49-F238E27FC236}">
                    <a16:creationId xmlns:a16="http://schemas.microsoft.com/office/drawing/2014/main" id="{9249C130-8C83-4B95-B530-B9C90A1830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2" y="709"/>
                <a:ext cx="180" cy="182"/>
                <a:chOff x="3149" y="1978"/>
                <a:chExt cx="180" cy="182"/>
              </a:xfrm>
            </p:grpSpPr>
            <p:sp>
              <p:nvSpPr>
                <p:cNvPr id="91" name="Oval 79">
                  <a:extLst>
                    <a:ext uri="{FF2B5EF4-FFF2-40B4-BE49-F238E27FC236}">
                      <a16:creationId xmlns:a16="http://schemas.microsoft.com/office/drawing/2014/main" id="{051838D8-3FBC-45C2-B60E-ABA3EBB9B1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9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2" name="Oval 80">
                  <a:extLst>
                    <a:ext uri="{FF2B5EF4-FFF2-40B4-BE49-F238E27FC236}">
                      <a16:creationId xmlns:a16="http://schemas.microsoft.com/office/drawing/2014/main" id="{8C87EC34-CE21-45AF-A068-11D583FC6D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8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9" name="Group 81">
                <a:extLst>
                  <a:ext uri="{FF2B5EF4-FFF2-40B4-BE49-F238E27FC236}">
                    <a16:creationId xmlns:a16="http://schemas.microsoft.com/office/drawing/2014/main" id="{EFDFB5E6-4CEE-4641-AADA-89EFFF38CB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4" y="709"/>
                <a:ext cx="180" cy="182"/>
                <a:chOff x="3149" y="1978"/>
                <a:chExt cx="180" cy="182"/>
              </a:xfrm>
            </p:grpSpPr>
            <p:sp>
              <p:nvSpPr>
                <p:cNvPr id="89" name="Oval 82">
                  <a:extLst>
                    <a:ext uri="{FF2B5EF4-FFF2-40B4-BE49-F238E27FC236}">
                      <a16:creationId xmlns:a16="http://schemas.microsoft.com/office/drawing/2014/main" id="{5FC0F82B-111C-4CF3-B5C8-88CF2A3FF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9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0" name="Oval 83">
                  <a:extLst>
                    <a:ext uri="{FF2B5EF4-FFF2-40B4-BE49-F238E27FC236}">
                      <a16:creationId xmlns:a16="http://schemas.microsoft.com/office/drawing/2014/main" id="{BB0B599B-9FD0-4480-A4E9-563F209CD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8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0" name="Group 84">
                <a:extLst>
                  <a:ext uri="{FF2B5EF4-FFF2-40B4-BE49-F238E27FC236}">
                    <a16:creationId xmlns:a16="http://schemas.microsoft.com/office/drawing/2014/main" id="{946AA791-12E7-4083-9141-2C531A7E8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4" y="709"/>
                <a:ext cx="180" cy="182"/>
                <a:chOff x="3144" y="1978"/>
                <a:chExt cx="180" cy="182"/>
              </a:xfrm>
            </p:grpSpPr>
            <p:sp>
              <p:nvSpPr>
                <p:cNvPr id="87" name="Oval 85">
                  <a:extLst>
                    <a:ext uri="{FF2B5EF4-FFF2-40B4-BE49-F238E27FC236}">
                      <a16:creationId xmlns:a16="http://schemas.microsoft.com/office/drawing/2014/main" id="{394CDFFC-8B6F-4DC4-96B9-3264A637B8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8" name="Oval 86">
                  <a:extLst>
                    <a:ext uri="{FF2B5EF4-FFF2-40B4-BE49-F238E27FC236}">
                      <a16:creationId xmlns:a16="http://schemas.microsoft.com/office/drawing/2014/main" id="{815269B9-2726-49C1-B82E-687BA93DBA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3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1" name="Group 87">
                <a:extLst>
                  <a:ext uri="{FF2B5EF4-FFF2-40B4-BE49-F238E27FC236}">
                    <a16:creationId xmlns:a16="http://schemas.microsoft.com/office/drawing/2014/main" id="{E13DC565-0610-4832-BF52-FDC51D23D3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4" y="709"/>
                <a:ext cx="180" cy="182"/>
                <a:chOff x="3143" y="1978"/>
                <a:chExt cx="180" cy="182"/>
              </a:xfrm>
            </p:grpSpPr>
            <p:sp>
              <p:nvSpPr>
                <p:cNvPr id="85" name="Oval 88">
                  <a:extLst>
                    <a:ext uri="{FF2B5EF4-FFF2-40B4-BE49-F238E27FC236}">
                      <a16:creationId xmlns:a16="http://schemas.microsoft.com/office/drawing/2014/main" id="{1D38B192-D84D-4BC3-9E0D-EF39F62A3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3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6" name="Oval 89">
                  <a:extLst>
                    <a:ext uri="{FF2B5EF4-FFF2-40B4-BE49-F238E27FC236}">
                      <a16:creationId xmlns:a16="http://schemas.microsoft.com/office/drawing/2014/main" id="{0A77B388-1D12-4EEA-886E-A53ADDAA6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2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2" name="Group 90">
                <a:extLst>
                  <a:ext uri="{FF2B5EF4-FFF2-40B4-BE49-F238E27FC236}">
                    <a16:creationId xmlns:a16="http://schemas.microsoft.com/office/drawing/2014/main" id="{DA42DDC4-4128-45FA-B545-569242B8D7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6" y="709"/>
                <a:ext cx="180" cy="182"/>
                <a:chOff x="3147" y="1978"/>
                <a:chExt cx="180" cy="182"/>
              </a:xfrm>
            </p:grpSpPr>
            <p:sp>
              <p:nvSpPr>
                <p:cNvPr id="83" name="Oval 91">
                  <a:extLst>
                    <a:ext uri="{FF2B5EF4-FFF2-40B4-BE49-F238E27FC236}">
                      <a16:creationId xmlns:a16="http://schemas.microsoft.com/office/drawing/2014/main" id="{13E8436F-9AF9-4B27-A00A-45AB18FAC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7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4" name="Oval 92">
                  <a:extLst>
                    <a:ext uri="{FF2B5EF4-FFF2-40B4-BE49-F238E27FC236}">
                      <a16:creationId xmlns:a16="http://schemas.microsoft.com/office/drawing/2014/main" id="{75A4CF24-85E6-4091-B688-2E7A794028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D99A2B5E-6FED-475A-A580-EBA200ECB4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480"/>
              <a:ext cx="1496" cy="182"/>
              <a:chOff x="3651" y="709"/>
              <a:chExt cx="1496" cy="182"/>
            </a:xfrm>
          </p:grpSpPr>
          <p:grpSp>
            <p:nvGrpSpPr>
              <p:cNvPr id="63" name="Group 94">
                <a:extLst>
                  <a:ext uri="{FF2B5EF4-FFF2-40B4-BE49-F238E27FC236}">
                    <a16:creationId xmlns:a16="http://schemas.microsoft.com/office/drawing/2014/main" id="{3998720C-8EA1-4056-BB20-8719B279B4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76" name="Oval 95">
                  <a:extLst>
                    <a:ext uri="{FF2B5EF4-FFF2-40B4-BE49-F238E27FC236}">
                      <a16:creationId xmlns:a16="http://schemas.microsoft.com/office/drawing/2014/main" id="{6D5E7E90-FB8B-4E26-9BF2-69AADA8FC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7" name="Oval 96">
                  <a:extLst>
                    <a:ext uri="{FF2B5EF4-FFF2-40B4-BE49-F238E27FC236}">
                      <a16:creationId xmlns:a16="http://schemas.microsoft.com/office/drawing/2014/main" id="{FDC0469B-750B-4B4E-89C4-2A7314BAF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4" name="Group 97">
                <a:extLst>
                  <a:ext uri="{FF2B5EF4-FFF2-40B4-BE49-F238E27FC236}">
                    <a16:creationId xmlns:a16="http://schemas.microsoft.com/office/drawing/2014/main" id="{84FD0028-5F83-4779-9248-16198DC320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74" name="Oval 98">
                  <a:extLst>
                    <a:ext uri="{FF2B5EF4-FFF2-40B4-BE49-F238E27FC236}">
                      <a16:creationId xmlns:a16="http://schemas.microsoft.com/office/drawing/2014/main" id="{08011D77-3998-4AE6-AAB3-F376D7E26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5" name="Oval 99">
                  <a:extLst>
                    <a:ext uri="{FF2B5EF4-FFF2-40B4-BE49-F238E27FC236}">
                      <a16:creationId xmlns:a16="http://schemas.microsoft.com/office/drawing/2014/main" id="{D9B8133E-4ADF-4CBF-9070-A19D401100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5" name="Group 100">
                <a:extLst>
                  <a:ext uri="{FF2B5EF4-FFF2-40B4-BE49-F238E27FC236}">
                    <a16:creationId xmlns:a16="http://schemas.microsoft.com/office/drawing/2014/main" id="{5F8DC273-D317-43A0-B0D9-AA76D8235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72" name="Oval 101">
                  <a:extLst>
                    <a:ext uri="{FF2B5EF4-FFF2-40B4-BE49-F238E27FC236}">
                      <a16:creationId xmlns:a16="http://schemas.microsoft.com/office/drawing/2014/main" id="{56B26C55-40E9-42F5-AAC5-3A53C0530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3" name="Oval 102">
                  <a:extLst>
                    <a:ext uri="{FF2B5EF4-FFF2-40B4-BE49-F238E27FC236}">
                      <a16:creationId xmlns:a16="http://schemas.microsoft.com/office/drawing/2014/main" id="{367816DE-30CC-4056-9434-BDA719C47C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6" name="Group 103">
                <a:extLst>
                  <a:ext uri="{FF2B5EF4-FFF2-40B4-BE49-F238E27FC236}">
                    <a16:creationId xmlns:a16="http://schemas.microsoft.com/office/drawing/2014/main" id="{08EA484F-FE3D-4BE4-975D-FDA4D50751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70" name="Oval 104">
                  <a:extLst>
                    <a:ext uri="{FF2B5EF4-FFF2-40B4-BE49-F238E27FC236}">
                      <a16:creationId xmlns:a16="http://schemas.microsoft.com/office/drawing/2014/main" id="{0F0F0400-6039-47A9-9930-73D26D8D2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1" name="Oval 105">
                  <a:extLst>
                    <a:ext uri="{FF2B5EF4-FFF2-40B4-BE49-F238E27FC236}">
                      <a16:creationId xmlns:a16="http://schemas.microsoft.com/office/drawing/2014/main" id="{42364976-DBA7-4F01-8221-7B69A73F51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7" name="Group 106">
                <a:extLst>
                  <a:ext uri="{FF2B5EF4-FFF2-40B4-BE49-F238E27FC236}">
                    <a16:creationId xmlns:a16="http://schemas.microsoft.com/office/drawing/2014/main" id="{75F7AB13-33B6-4E65-93F7-B346899FA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68" name="Oval 107">
                  <a:extLst>
                    <a:ext uri="{FF2B5EF4-FFF2-40B4-BE49-F238E27FC236}">
                      <a16:creationId xmlns:a16="http://schemas.microsoft.com/office/drawing/2014/main" id="{9D8ECE02-C843-44D7-AB71-5669162201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9" name="Oval 108">
                  <a:extLst>
                    <a:ext uri="{FF2B5EF4-FFF2-40B4-BE49-F238E27FC236}">
                      <a16:creationId xmlns:a16="http://schemas.microsoft.com/office/drawing/2014/main" id="{3CE47399-472C-4C50-B526-2670EDCEDE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31" name="Group 109">
              <a:extLst>
                <a:ext uri="{FF2B5EF4-FFF2-40B4-BE49-F238E27FC236}">
                  <a16:creationId xmlns:a16="http://schemas.microsoft.com/office/drawing/2014/main" id="{FE713071-A3B2-4A8B-B058-2027AE40B1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842"/>
              <a:ext cx="1496" cy="182"/>
              <a:chOff x="3651" y="709"/>
              <a:chExt cx="1496" cy="182"/>
            </a:xfrm>
          </p:grpSpPr>
          <p:grpSp>
            <p:nvGrpSpPr>
              <p:cNvPr id="48" name="Group 110">
                <a:extLst>
                  <a:ext uri="{FF2B5EF4-FFF2-40B4-BE49-F238E27FC236}">
                    <a16:creationId xmlns:a16="http://schemas.microsoft.com/office/drawing/2014/main" id="{2B2C9238-F31A-47BC-B765-02B0B3A49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61" name="Oval 111">
                  <a:extLst>
                    <a:ext uri="{FF2B5EF4-FFF2-40B4-BE49-F238E27FC236}">
                      <a16:creationId xmlns:a16="http://schemas.microsoft.com/office/drawing/2014/main" id="{7CA2B118-B338-4ECA-928B-E8CC16454B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2" name="Oval 112">
                  <a:extLst>
                    <a:ext uri="{FF2B5EF4-FFF2-40B4-BE49-F238E27FC236}">
                      <a16:creationId xmlns:a16="http://schemas.microsoft.com/office/drawing/2014/main" id="{1746DBF7-B337-42C6-8841-A329B14BF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9" name="Group 113">
                <a:extLst>
                  <a:ext uri="{FF2B5EF4-FFF2-40B4-BE49-F238E27FC236}">
                    <a16:creationId xmlns:a16="http://schemas.microsoft.com/office/drawing/2014/main" id="{04175BDF-FAB1-4353-AEAB-B1065E32B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59" name="Oval 114">
                  <a:extLst>
                    <a:ext uri="{FF2B5EF4-FFF2-40B4-BE49-F238E27FC236}">
                      <a16:creationId xmlns:a16="http://schemas.microsoft.com/office/drawing/2014/main" id="{38B8D972-8A55-4AF1-8473-4F50A9274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0" name="Oval 115">
                  <a:extLst>
                    <a:ext uri="{FF2B5EF4-FFF2-40B4-BE49-F238E27FC236}">
                      <a16:creationId xmlns:a16="http://schemas.microsoft.com/office/drawing/2014/main" id="{D12D69EA-5AC0-4CBB-9BE3-EDE8B5C75A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0" name="Group 116">
                <a:extLst>
                  <a:ext uri="{FF2B5EF4-FFF2-40B4-BE49-F238E27FC236}">
                    <a16:creationId xmlns:a16="http://schemas.microsoft.com/office/drawing/2014/main" id="{13C5204C-956B-4D07-BEBE-688EC0B9C1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57" name="Oval 117">
                  <a:extLst>
                    <a:ext uri="{FF2B5EF4-FFF2-40B4-BE49-F238E27FC236}">
                      <a16:creationId xmlns:a16="http://schemas.microsoft.com/office/drawing/2014/main" id="{44EDA58A-8DED-4EDF-8D6A-BF705AA1D4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8" name="Oval 118">
                  <a:extLst>
                    <a:ext uri="{FF2B5EF4-FFF2-40B4-BE49-F238E27FC236}">
                      <a16:creationId xmlns:a16="http://schemas.microsoft.com/office/drawing/2014/main" id="{5D9C59C8-3074-4931-A769-82BF96E85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1" name="Group 119">
                <a:extLst>
                  <a:ext uri="{FF2B5EF4-FFF2-40B4-BE49-F238E27FC236}">
                    <a16:creationId xmlns:a16="http://schemas.microsoft.com/office/drawing/2014/main" id="{0D5B12FC-CB16-4479-B910-E9025FC01F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55" name="Oval 120">
                  <a:extLst>
                    <a:ext uri="{FF2B5EF4-FFF2-40B4-BE49-F238E27FC236}">
                      <a16:creationId xmlns:a16="http://schemas.microsoft.com/office/drawing/2014/main" id="{DF1951D7-2444-4D47-81A4-CD111C1C27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6" name="Oval 121">
                  <a:extLst>
                    <a:ext uri="{FF2B5EF4-FFF2-40B4-BE49-F238E27FC236}">
                      <a16:creationId xmlns:a16="http://schemas.microsoft.com/office/drawing/2014/main" id="{C183F43A-7B2B-4604-86BD-1F273D264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2" name="Group 122">
                <a:extLst>
                  <a:ext uri="{FF2B5EF4-FFF2-40B4-BE49-F238E27FC236}">
                    <a16:creationId xmlns:a16="http://schemas.microsoft.com/office/drawing/2014/main" id="{C5C032CD-36A0-4707-9686-FDFEB5ED2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53" name="Oval 123">
                  <a:extLst>
                    <a:ext uri="{FF2B5EF4-FFF2-40B4-BE49-F238E27FC236}">
                      <a16:creationId xmlns:a16="http://schemas.microsoft.com/office/drawing/2014/main" id="{40CA4213-92D5-426C-933D-5133CEEE3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4" name="Oval 124">
                  <a:extLst>
                    <a:ext uri="{FF2B5EF4-FFF2-40B4-BE49-F238E27FC236}">
                      <a16:creationId xmlns:a16="http://schemas.microsoft.com/office/drawing/2014/main" id="{0C1ECBEA-B08F-4A31-A310-12D5E48E3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32" name="Group 125">
              <a:extLst>
                <a:ext uri="{FF2B5EF4-FFF2-40B4-BE49-F238E27FC236}">
                  <a16:creationId xmlns:a16="http://schemas.microsoft.com/office/drawing/2014/main" id="{68753F5A-9A04-4648-B2F7-D2E985205C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2160"/>
              <a:ext cx="1496" cy="182"/>
              <a:chOff x="3651" y="709"/>
              <a:chExt cx="1496" cy="182"/>
            </a:xfrm>
          </p:grpSpPr>
          <p:grpSp>
            <p:nvGrpSpPr>
              <p:cNvPr id="33" name="Group 126">
                <a:extLst>
                  <a:ext uri="{FF2B5EF4-FFF2-40B4-BE49-F238E27FC236}">
                    <a16:creationId xmlns:a16="http://schemas.microsoft.com/office/drawing/2014/main" id="{17C1B666-9CE5-4019-840B-FD4E806E8F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46" name="Oval 127">
                  <a:extLst>
                    <a:ext uri="{FF2B5EF4-FFF2-40B4-BE49-F238E27FC236}">
                      <a16:creationId xmlns:a16="http://schemas.microsoft.com/office/drawing/2014/main" id="{04098514-C85A-4F23-AAE1-11DBDB08E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" name="Oval 128">
                  <a:extLst>
                    <a:ext uri="{FF2B5EF4-FFF2-40B4-BE49-F238E27FC236}">
                      <a16:creationId xmlns:a16="http://schemas.microsoft.com/office/drawing/2014/main" id="{7E6316BC-8DE7-49B1-8289-17BE875EE0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4" name="Group 129">
                <a:extLst>
                  <a:ext uri="{FF2B5EF4-FFF2-40B4-BE49-F238E27FC236}">
                    <a16:creationId xmlns:a16="http://schemas.microsoft.com/office/drawing/2014/main" id="{E25FCCD4-A8CF-40D0-B62B-CFCF2021B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44" name="Oval 130">
                  <a:extLst>
                    <a:ext uri="{FF2B5EF4-FFF2-40B4-BE49-F238E27FC236}">
                      <a16:creationId xmlns:a16="http://schemas.microsoft.com/office/drawing/2014/main" id="{D3AE474D-067B-4EB2-BF83-1AA425F334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" name="Oval 131">
                  <a:extLst>
                    <a:ext uri="{FF2B5EF4-FFF2-40B4-BE49-F238E27FC236}">
                      <a16:creationId xmlns:a16="http://schemas.microsoft.com/office/drawing/2014/main" id="{116F0327-5BCE-4EE7-AB2B-A45D4A188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5" name="Group 132">
                <a:extLst>
                  <a:ext uri="{FF2B5EF4-FFF2-40B4-BE49-F238E27FC236}">
                    <a16:creationId xmlns:a16="http://schemas.microsoft.com/office/drawing/2014/main" id="{6A643101-6A2B-44B9-A6A3-CFE415B925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42" name="Oval 133">
                  <a:extLst>
                    <a:ext uri="{FF2B5EF4-FFF2-40B4-BE49-F238E27FC236}">
                      <a16:creationId xmlns:a16="http://schemas.microsoft.com/office/drawing/2014/main" id="{6724601B-DEBE-4942-A958-6090E410D5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3" name="Oval 134">
                  <a:extLst>
                    <a:ext uri="{FF2B5EF4-FFF2-40B4-BE49-F238E27FC236}">
                      <a16:creationId xmlns:a16="http://schemas.microsoft.com/office/drawing/2014/main" id="{3455E0B4-AA8B-4C67-BB54-18D8575D9C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6" name="Group 135">
                <a:extLst>
                  <a:ext uri="{FF2B5EF4-FFF2-40B4-BE49-F238E27FC236}">
                    <a16:creationId xmlns:a16="http://schemas.microsoft.com/office/drawing/2014/main" id="{63547761-1692-4E3E-AEBA-0CADF220D8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40" name="Oval 136">
                  <a:extLst>
                    <a:ext uri="{FF2B5EF4-FFF2-40B4-BE49-F238E27FC236}">
                      <a16:creationId xmlns:a16="http://schemas.microsoft.com/office/drawing/2014/main" id="{F0A9EAD0-3B32-4FFF-825E-C18966756B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1" name="Oval 137">
                  <a:extLst>
                    <a:ext uri="{FF2B5EF4-FFF2-40B4-BE49-F238E27FC236}">
                      <a16:creationId xmlns:a16="http://schemas.microsoft.com/office/drawing/2014/main" id="{4019756B-7DD6-4B11-A0A7-F32C128BA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7" name="Group 138">
                <a:extLst>
                  <a:ext uri="{FF2B5EF4-FFF2-40B4-BE49-F238E27FC236}">
                    <a16:creationId xmlns:a16="http://schemas.microsoft.com/office/drawing/2014/main" id="{0A4BC31A-79AD-4B9C-8C52-FC8E254B43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38" name="Oval 139">
                  <a:extLst>
                    <a:ext uri="{FF2B5EF4-FFF2-40B4-BE49-F238E27FC236}">
                      <a16:creationId xmlns:a16="http://schemas.microsoft.com/office/drawing/2014/main" id="{FA0FF368-D940-4527-9E49-2C4C30B094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9" name="Oval 140">
                  <a:extLst>
                    <a:ext uri="{FF2B5EF4-FFF2-40B4-BE49-F238E27FC236}">
                      <a16:creationId xmlns:a16="http://schemas.microsoft.com/office/drawing/2014/main" id="{D6CEB9F7-A8BD-4629-B953-49A4E59742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344" name="矩形 57343">
                <a:extLst>
                  <a:ext uri="{FF2B5EF4-FFF2-40B4-BE49-F238E27FC236}">
                    <a16:creationId xmlns:a16="http://schemas.microsoft.com/office/drawing/2014/main" id="{ED064455-1507-42AA-8157-5D35CF462FE4}"/>
                  </a:ext>
                </a:extLst>
              </p:cNvPr>
              <p:cNvSpPr/>
              <p:nvPr/>
            </p:nvSpPr>
            <p:spPr>
              <a:xfrm>
                <a:off x="789601" y="3350501"/>
                <a:ext cx="3081036" cy="9773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𝐹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344" name="矩形 57343">
                <a:extLst>
                  <a:ext uri="{FF2B5EF4-FFF2-40B4-BE49-F238E27FC236}">
                    <a16:creationId xmlns:a16="http://schemas.microsoft.com/office/drawing/2014/main" id="{ED064455-1507-42AA-8157-5D35CF462F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01" y="3350501"/>
                <a:ext cx="3081036" cy="977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45" name="矩形 57344">
                <a:extLst>
                  <a:ext uri="{FF2B5EF4-FFF2-40B4-BE49-F238E27FC236}">
                    <a16:creationId xmlns:a16="http://schemas.microsoft.com/office/drawing/2014/main" id="{C210AE90-1E4A-488F-B049-3B259BF7BCDA}"/>
                  </a:ext>
                </a:extLst>
              </p:cNvPr>
              <p:cNvSpPr/>
              <p:nvPr/>
            </p:nvSpPr>
            <p:spPr>
              <a:xfrm>
                <a:off x="1396966" y="4303205"/>
                <a:ext cx="1711944" cy="909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𝑞𝐵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345" name="矩形 57344">
                <a:extLst>
                  <a:ext uri="{FF2B5EF4-FFF2-40B4-BE49-F238E27FC236}">
                    <a16:creationId xmlns:a16="http://schemas.microsoft.com/office/drawing/2014/main" id="{C210AE90-1E4A-488F-B049-3B259BF7B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966" y="4303205"/>
                <a:ext cx="1711944" cy="909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47" name="矩形 57346">
                <a:extLst>
                  <a:ext uri="{FF2B5EF4-FFF2-40B4-BE49-F238E27FC236}">
                    <a16:creationId xmlns:a16="http://schemas.microsoft.com/office/drawing/2014/main" id="{84B756B7-5A66-4598-9690-04C09CBC23E6}"/>
                  </a:ext>
                </a:extLst>
              </p:cNvPr>
              <p:cNvSpPr/>
              <p:nvPr/>
            </p:nvSpPr>
            <p:spPr>
              <a:xfrm>
                <a:off x="1152830" y="5222166"/>
                <a:ext cx="2801216" cy="12397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𝑞𝐵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347" name="矩形 57346">
                <a:extLst>
                  <a:ext uri="{FF2B5EF4-FFF2-40B4-BE49-F238E27FC236}">
                    <a16:creationId xmlns:a16="http://schemas.microsoft.com/office/drawing/2014/main" id="{84B756B7-5A66-4598-9690-04C09CBC2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30" y="5222166"/>
                <a:ext cx="2801216" cy="12397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48" name="矩形 57347">
                <a:extLst>
                  <a:ext uri="{FF2B5EF4-FFF2-40B4-BE49-F238E27FC236}">
                    <a16:creationId xmlns:a16="http://schemas.microsoft.com/office/drawing/2014/main" id="{4C5B0352-13CE-4C59-BD23-A52C1D12F993}"/>
                  </a:ext>
                </a:extLst>
              </p:cNvPr>
              <p:cNvSpPr/>
              <p:nvPr/>
            </p:nvSpPr>
            <p:spPr>
              <a:xfrm>
                <a:off x="696966" y="2689179"/>
                <a:ext cx="3344634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运动</a:t>
                </a:r>
                <a14:m>
                  <m:oMath xmlns:m="http://schemas.openxmlformats.org/officeDocument/2006/math">
                    <m:r>
                      <a:rPr kumimoji="1" lang="zh-CN" alt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速度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垂直</a:t>
                </a:r>
                <a:endParaRPr lang="en-US" sz="2800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348" name="矩形 57347">
                <a:extLst>
                  <a:ext uri="{FF2B5EF4-FFF2-40B4-BE49-F238E27FC236}">
                    <a16:creationId xmlns:a16="http://schemas.microsoft.com/office/drawing/2014/main" id="{4C5B0352-13CE-4C59-BD23-A52C1D12F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66" y="2689179"/>
                <a:ext cx="3344634" cy="575479"/>
              </a:xfrm>
              <a:prstGeom prst="rect">
                <a:avLst/>
              </a:prstGeom>
              <a:blipFill>
                <a:blip r:embed="rId8"/>
                <a:stretch>
                  <a:fillRect l="-3643" t="-1053" r="-2550" b="-2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Line 53">
            <a:extLst>
              <a:ext uri="{FF2B5EF4-FFF2-40B4-BE49-F238E27FC236}">
                <a16:creationId xmlns:a16="http://schemas.microsoft.com/office/drawing/2014/main" id="{1FB37F71-545B-4640-B0D2-90DDDC9AA1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4474" y="5064865"/>
            <a:ext cx="638701" cy="236"/>
          </a:xfrm>
          <a:prstGeom prst="line">
            <a:avLst/>
          </a:prstGeom>
          <a:noFill/>
          <a:ln w="31750">
            <a:solidFill>
              <a:srgbClr val="FF0000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51" name="矩形 57350">
                <a:extLst>
                  <a:ext uri="{FF2B5EF4-FFF2-40B4-BE49-F238E27FC236}">
                    <a16:creationId xmlns:a16="http://schemas.microsoft.com/office/drawing/2014/main" id="{CF72BC0F-1239-4B77-AC55-D1C377F8D556}"/>
                  </a:ext>
                </a:extLst>
              </p:cNvPr>
              <p:cNvSpPr/>
              <p:nvPr/>
            </p:nvSpPr>
            <p:spPr>
              <a:xfrm>
                <a:off x="4324822" y="3949481"/>
                <a:ext cx="66120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351" name="矩形 57350">
                <a:extLst>
                  <a:ext uri="{FF2B5EF4-FFF2-40B4-BE49-F238E27FC236}">
                    <a16:creationId xmlns:a16="http://schemas.microsoft.com/office/drawing/2014/main" id="{CF72BC0F-1239-4B77-AC55-D1C377F8D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822" y="3949481"/>
                <a:ext cx="66120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52" name="矩形 57351">
                <a:extLst>
                  <a:ext uri="{FF2B5EF4-FFF2-40B4-BE49-F238E27FC236}">
                    <a16:creationId xmlns:a16="http://schemas.microsoft.com/office/drawing/2014/main" id="{4C8985BD-AB35-4945-8DDA-92CE39D67204}"/>
                  </a:ext>
                </a:extLst>
              </p:cNvPr>
              <p:cNvSpPr/>
              <p:nvPr/>
            </p:nvSpPr>
            <p:spPr>
              <a:xfrm>
                <a:off x="4864515" y="5059047"/>
                <a:ext cx="503664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352" name="矩形 57351">
                <a:extLst>
                  <a:ext uri="{FF2B5EF4-FFF2-40B4-BE49-F238E27FC236}">
                    <a16:creationId xmlns:a16="http://schemas.microsoft.com/office/drawing/2014/main" id="{4C8985BD-AB35-4945-8DDA-92CE39D672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515" y="5059047"/>
                <a:ext cx="503664" cy="5754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8845920A-F0C5-D921-5CA1-79A8CCF2D393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Object 22">
                <a:extLst>
                  <a:ext uri="{FF2B5EF4-FFF2-40B4-BE49-F238E27FC236}">
                    <a16:creationId xmlns:a16="http://schemas.microsoft.com/office/drawing/2014/main" id="{8B717F03-8B70-4265-B96D-D8FCF15825CE}"/>
                  </a:ext>
                </a:extLst>
              </p:cNvPr>
              <p:cNvSpPr txBox="1"/>
              <p:nvPr/>
            </p:nvSpPr>
            <p:spPr bwMode="auto">
              <a:xfrm>
                <a:off x="7435369" y="4593967"/>
                <a:ext cx="1973263" cy="1119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𝐼𝐵</m:t>
                          </m:r>
                        </m:num>
                        <m:den>
                          <m:r>
                            <a:rPr lang="zh-CN" alt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36" name="Object 22">
                <a:extLst>
                  <a:ext uri="{FF2B5EF4-FFF2-40B4-BE49-F238E27FC236}">
                    <a16:creationId xmlns:a16="http://schemas.microsoft.com/office/drawing/2014/main" id="{8B717F03-8B70-4265-B96D-D8FCF1582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35369" y="4593967"/>
                <a:ext cx="1973263" cy="11191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Object 23">
                <a:extLst>
                  <a:ext uri="{FF2B5EF4-FFF2-40B4-BE49-F238E27FC236}">
                    <a16:creationId xmlns:a16="http://schemas.microsoft.com/office/drawing/2014/main" id="{90D67393-40A8-4F24-93E4-EAFD6620D045}"/>
                  </a:ext>
                </a:extLst>
              </p:cNvPr>
              <p:cNvSpPr txBox="1"/>
              <p:nvPr/>
            </p:nvSpPr>
            <p:spPr bwMode="auto">
              <a:xfrm>
                <a:off x="9360442" y="4650323"/>
                <a:ext cx="1465263" cy="1006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𝐼𝐵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3200" dirty="0">
                  <a:latin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37" name="Object 23">
                <a:extLst>
                  <a:ext uri="{FF2B5EF4-FFF2-40B4-BE49-F238E27FC236}">
                    <a16:creationId xmlns:a16="http://schemas.microsoft.com/office/drawing/2014/main" id="{90D67393-40A8-4F24-93E4-EAFD6620D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60442" y="4650323"/>
                <a:ext cx="1465263" cy="10064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bject 25">
                <a:extLst>
                  <a:ext uri="{FF2B5EF4-FFF2-40B4-BE49-F238E27FC236}">
                    <a16:creationId xmlns:a16="http://schemas.microsoft.com/office/drawing/2014/main" id="{EDACC472-ABC2-4697-9101-1A730C1DE8A2}"/>
                  </a:ext>
                </a:extLst>
              </p:cNvPr>
              <p:cNvSpPr txBox="1"/>
              <p:nvPr/>
            </p:nvSpPr>
            <p:spPr bwMode="auto">
              <a:xfrm>
                <a:off x="7504515" y="5738272"/>
                <a:ext cx="1524000" cy="10350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</m:den>
                      </m:f>
                    </m:oMath>
                  </m:oMathPara>
                </a14:m>
                <a:endParaRPr lang="en-US" sz="32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8" name="Object 25">
                <a:extLst>
                  <a:ext uri="{FF2B5EF4-FFF2-40B4-BE49-F238E27FC236}">
                    <a16:creationId xmlns:a16="http://schemas.microsoft.com/office/drawing/2014/main" id="{EDACC472-ABC2-4697-9101-1A730C1DE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04515" y="5738272"/>
                <a:ext cx="1524000" cy="10350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 Box 26">
            <a:extLst>
              <a:ext uri="{FF2B5EF4-FFF2-40B4-BE49-F238E27FC236}">
                <a16:creationId xmlns:a16="http://schemas.microsoft.com/office/drawing/2014/main" id="{86552234-8F21-4539-8EAF-F366338A9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0442" y="5980447"/>
            <a:ext cx="3581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ea typeface="华文楷体" panose="02010600040101010101" pitchFamily="2" charset="-122"/>
                <a:sym typeface="Symbol" panose="05050102010706020507" pitchFamily="18" charset="2"/>
              </a:rPr>
              <a:t>霍耳系数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40" name="Text Box 4">
            <a:extLst>
              <a:ext uri="{FF2B5EF4-FFF2-40B4-BE49-F238E27FC236}">
                <a16:creationId xmlns:a16="http://schemas.microsoft.com/office/drawing/2014/main" id="{33BE7F35-420A-4915-891A-381D95EDE5DE}"/>
              </a:ext>
            </a:extLst>
          </p:cNvPr>
          <p:cNvSpPr txBox="1">
            <a:spLocks noChangeArrowheads="1"/>
          </p:cNvSpPr>
          <p:nvPr/>
        </p:nvSpPr>
        <p:spPr>
          <a:xfrm>
            <a:off x="6822121" y="1107143"/>
            <a:ext cx="5283200" cy="101980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霍尔效应（</a:t>
            </a:r>
            <a:r>
              <a:rPr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Hall effect</a:t>
            </a: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BC7EBD7-7E09-4922-9302-DB92E357494E}"/>
              </a:ext>
            </a:extLst>
          </p:cNvPr>
          <p:cNvGrpSpPr/>
          <p:nvPr/>
        </p:nvGrpSpPr>
        <p:grpSpPr>
          <a:xfrm>
            <a:off x="7076121" y="1713626"/>
            <a:ext cx="5867400" cy="2759075"/>
            <a:chOff x="7053573" y="3997509"/>
            <a:chExt cx="5867400" cy="2759075"/>
          </a:xfrm>
        </p:grpSpPr>
        <p:grpSp>
          <p:nvGrpSpPr>
            <p:cNvPr id="141" name="Group 2">
              <a:extLst>
                <a:ext uri="{FF2B5EF4-FFF2-40B4-BE49-F238E27FC236}">
                  <a16:creationId xmlns:a16="http://schemas.microsoft.com/office/drawing/2014/main" id="{21068B2C-ED1E-487F-ABBD-96BD455E2C96}"/>
                </a:ext>
              </a:extLst>
            </p:cNvPr>
            <p:cNvGrpSpPr/>
            <p:nvPr/>
          </p:nvGrpSpPr>
          <p:grpSpPr>
            <a:xfrm>
              <a:off x="7053573" y="3997509"/>
              <a:ext cx="5029200" cy="2286000"/>
              <a:chOff x="528" y="768"/>
              <a:chExt cx="3168" cy="1440"/>
            </a:xfrm>
          </p:grpSpPr>
          <p:sp>
            <p:nvSpPr>
              <p:cNvPr id="142" name="AutoShape 4">
                <a:extLst>
                  <a:ext uri="{FF2B5EF4-FFF2-40B4-BE49-F238E27FC236}">
                    <a16:creationId xmlns:a16="http://schemas.microsoft.com/office/drawing/2014/main" id="{920F0A9B-A018-448E-BF53-CAE15E208A79}"/>
                  </a:ext>
                </a:extLst>
              </p:cNvPr>
              <p:cNvSpPr/>
              <p:nvPr/>
            </p:nvSpPr>
            <p:spPr>
              <a:xfrm>
                <a:off x="1200" y="1392"/>
                <a:ext cx="2400" cy="816"/>
              </a:xfrm>
              <a:prstGeom prst="cube">
                <a:avLst>
                  <a:gd name="adj" fmla="val 82639"/>
                </a:avLst>
              </a:prstGeom>
              <a:solidFill>
                <a:srgbClr val="CCFFFF">
                  <a:alpha val="50195"/>
                </a:srgbClr>
              </a:solidFill>
              <a:ln w="19050" cap="flat" cmpd="sng">
                <a:solidFill>
                  <a:srgbClr val="66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" name="Line 5">
                <a:extLst>
                  <a:ext uri="{FF2B5EF4-FFF2-40B4-BE49-F238E27FC236}">
                    <a16:creationId xmlns:a16="http://schemas.microsoft.com/office/drawing/2014/main" id="{8DD6020A-EA0B-400E-8EE9-8C106DEEA03D}"/>
                  </a:ext>
                </a:extLst>
              </p:cNvPr>
              <p:cNvSpPr/>
              <p:nvPr/>
            </p:nvSpPr>
            <p:spPr>
              <a:xfrm flipH="1">
                <a:off x="1872" y="1536"/>
                <a:ext cx="1728" cy="0"/>
              </a:xfrm>
              <a:prstGeom prst="line">
                <a:avLst/>
              </a:prstGeom>
              <a:ln w="12700" cap="flat" cmpd="sng">
                <a:solidFill>
                  <a:srgbClr val="66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144" name="Line 6">
                <a:extLst>
                  <a:ext uri="{FF2B5EF4-FFF2-40B4-BE49-F238E27FC236}">
                    <a16:creationId xmlns:a16="http://schemas.microsoft.com/office/drawing/2014/main" id="{4A5D23B8-4A99-4028-9DE9-A50EBB62783B}"/>
                  </a:ext>
                </a:extLst>
              </p:cNvPr>
              <p:cNvSpPr/>
              <p:nvPr/>
            </p:nvSpPr>
            <p:spPr>
              <a:xfrm flipV="1">
                <a:off x="1200" y="1536"/>
                <a:ext cx="672" cy="672"/>
              </a:xfrm>
              <a:prstGeom prst="line">
                <a:avLst/>
              </a:prstGeom>
              <a:ln w="12700" cap="flat" cmpd="sng">
                <a:solidFill>
                  <a:srgbClr val="66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145" name="Line 7">
                <a:extLst>
                  <a:ext uri="{FF2B5EF4-FFF2-40B4-BE49-F238E27FC236}">
                    <a16:creationId xmlns:a16="http://schemas.microsoft.com/office/drawing/2014/main" id="{8C48C3F5-14CE-450D-8B42-DCB68693ED71}"/>
                  </a:ext>
                </a:extLst>
              </p:cNvPr>
              <p:cNvSpPr/>
              <p:nvPr/>
            </p:nvSpPr>
            <p:spPr>
              <a:xfrm>
                <a:off x="1488" y="1152"/>
                <a:ext cx="0" cy="24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146" name="Line 8">
                <a:extLst>
                  <a:ext uri="{FF2B5EF4-FFF2-40B4-BE49-F238E27FC236}">
                    <a16:creationId xmlns:a16="http://schemas.microsoft.com/office/drawing/2014/main" id="{191774F1-0BC9-414F-AB43-BAFB3E57849F}"/>
                  </a:ext>
                </a:extLst>
              </p:cNvPr>
              <p:cNvSpPr/>
              <p:nvPr/>
            </p:nvSpPr>
            <p:spPr>
              <a:xfrm flipV="1">
                <a:off x="1488" y="1536"/>
                <a:ext cx="0" cy="192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sm" len="lg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Object 9">
                    <a:extLst>
                      <a:ext uri="{FF2B5EF4-FFF2-40B4-BE49-F238E27FC236}">
                        <a16:creationId xmlns:a16="http://schemas.microsoft.com/office/drawing/2014/main" id="{67B51911-DAAF-4674-BA15-32AC714893D6}"/>
                      </a:ext>
                    </a:extLst>
                  </p:cNvPr>
                  <p:cNvSpPr txBox="1"/>
                  <p:nvPr/>
                </p:nvSpPr>
                <p:spPr>
                  <a:xfrm>
                    <a:off x="1440" y="1296"/>
                    <a:ext cx="204" cy="27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47" name="Object 9">
                    <a:extLst>
                      <a:ext uri="{FF2B5EF4-FFF2-40B4-BE49-F238E27FC236}">
                        <a16:creationId xmlns:a16="http://schemas.microsoft.com/office/drawing/2014/main" id="{67B51911-DAAF-4674-BA15-32AC714893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0" y="1296"/>
                    <a:ext cx="204" cy="27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8" name="Group 10">
                <a:extLst>
                  <a:ext uri="{FF2B5EF4-FFF2-40B4-BE49-F238E27FC236}">
                    <a16:creationId xmlns:a16="http://schemas.microsoft.com/office/drawing/2014/main" id="{4E932908-2D77-4776-A80B-474A9BB6AD97}"/>
                  </a:ext>
                </a:extLst>
              </p:cNvPr>
              <p:cNvGrpSpPr/>
              <p:nvPr/>
            </p:nvGrpSpPr>
            <p:grpSpPr>
              <a:xfrm>
                <a:off x="2245" y="768"/>
                <a:ext cx="271" cy="576"/>
                <a:chOff x="2245" y="720"/>
                <a:chExt cx="271" cy="624"/>
              </a:xfrm>
            </p:grpSpPr>
            <p:sp>
              <p:nvSpPr>
                <p:cNvPr id="158" name="Line 11">
                  <a:extLst>
                    <a:ext uri="{FF2B5EF4-FFF2-40B4-BE49-F238E27FC236}">
                      <a16:creationId xmlns:a16="http://schemas.microsoft.com/office/drawing/2014/main" id="{056C63AE-5561-4AB2-B473-DCA1C31EA8C5}"/>
                    </a:ext>
                  </a:extLst>
                </p:cNvPr>
                <p:cNvSpPr/>
                <p:nvPr/>
              </p:nvSpPr>
              <p:spPr>
                <a:xfrm flipV="1">
                  <a:off x="2245" y="720"/>
                  <a:ext cx="0" cy="624"/>
                </a:xfrm>
                <a:prstGeom prst="line">
                  <a:avLst/>
                </a:prstGeom>
                <a:ln w="38100" cap="flat" cmpd="sng">
                  <a:solidFill>
                    <a:srgbClr val="D60093"/>
                  </a:solidFill>
                  <a:prstDash val="solid"/>
                  <a:headEnd type="none" w="sm" len="lg"/>
                  <a:tailEnd type="triangl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9" name="Object 12">
                      <a:extLst>
                        <a:ext uri="{FF2B5EF4-FFF2-40B4-BE49-F238E27FC236}">
                          <a16:creationId xmlns:a16="http://schemas.microsoft.com/office/drawing/2014/main" id="{D91DEEA3-A4D6-42D7-A542-1B0BB0474E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04" y="720"/>
                      <a:ext cx="212" cy="263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925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acc>
                              <m:accPr>
                                <m:chr m:val="⃑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159" name="Object 12">
                      <a:extLst>
                        <a:ext uri="{FF2B5EF4-FFF2-40B4-BE49-F238E27FC236}">
                          <a16:creationId xmlns:a16="http://schemas.microsoft.com/office/drawing/2014/main" id="{D91DEEA3-A4D6-42D7-A542-1B0BB0474E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04" y="720"/>
                      <a:ext cx="212" cy="26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49" name="Line 13">
                <a:extLst>
                  <a:ext uri="{FF2B5EF4-FFF2-40B4-BE49-F238E27FC236}">
                    <a16:creationId xmlns:a16="http://schemas.microsoft.com/office/drawing/2014/main" id="{66EBC0ED-6017-4E73-B63D-9D29D84C6B9D}"/>
                  </a:ext>
                </a:extLst>
              </p:cNvPr>
              <p:cNvSpPr/>
              <p:nvPr/>
            </p:nvSpPr>
            <p:spPr>
              <a:xfrm flipH="1">
                <a:off x="624" y="1392"/>
                <a:ext cx="672" cy="67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triangle" w="sm" len="lg"/>
                <a:tailEnd type="triangle" w="sm" len="lg"/>
              </a:ln>
            </p:spPr>
          </p:sp>
          <p:sp>
            <p:nvSpPr>
              <p:cNvPr id="150" name="Line 14">
                <a:extLst>
                  <a:ext uri="{FF2B5EF4-FFF2-40B4-BE49-F238E27FC236}">
                    <a16:creationId xmlns:a16="http://schemas.microsoft.com/office/drawing/2014/main" id="{A9C89C29-5B9D-4C8C-9070-00283BEF2D4C}"/>
                  </a:ext>
                </a:extLst>
              </p:cNvPr>
              <p:cNvSpPr/>
              <p:nvPr/>
            </p:nvSpPr>
            <p:spPr>
              <a:xfrm flipH="1">
                <a:off x="1104" y="1776"/>
                <a:ext cx="384" cy="0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151" name="Line 15">
                <a:extLst>
                  <a:ext uri="{FF2B5EF4-FFF2-40B4-BE49-F238E27FC236}">
                    <a16:creationId xmlns:a16="http://schemas.microsoft.com/office/drawing/2014/main" id="{DD15625D-D831-4D4D-AD91-5AA229896755}"/>
                  </a:ext>
                </a:extLst>
              </p:cNvPr>
              <p:cNvSpPr/>
              <p:nvPr/>
            </p:nvSpPr>
            <p:spPr>
              <a:xfrm flipH="1">
                <a:off x="3264" y="1824"/>
                <a:ext cx="432" cy="0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152" name="Text Box 16">
                <a:extLst>
                  <a:ext uri="{FF2B5EF4-FFF2-40B4-BE49-F238E27FC236}">
                    <a16:creationId xmlns:a16="http://schemas.microsoft.com/office/drawing/2014/main" id="{9BEF6CBE-BC2D-4596-8CB6-750451429FF0}"/>
                  </a:ext>
                </a:extLst>
              </p:cNvPr>
              <p:cNvSpPr txBox="1"/>
              <p:nvPr/>
            </p:nvSpPr>
            <p:spPr>
              <a:xfrm>
                <a:off x="3360" y="1824"/>
                <a:ext cx="33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53" name="Line 17">
                <a:extLst>
                  <a:ext uri="{FF2B5EF4-FFF2-40B4-BE49-F238E27FC236}">
                    <a16:creationId xmlns:a16="http://schemas.microsoft.com/office/drawing/2014/main" id="{63F4C55C-5D0E-48EE-BE1C-8CFF2A7043C7}"/>
                  </a:ext>
                </a:extLst>
              </p:cNvPr>
              <p:cNvSpPr/>
              <p:nvPr/>
            </p:nvSpPr>
            <p:spPr>
              <a:xfrm flipH="1" flipV="1">
                <a:off x="1104" y="1536"/>
                <a:ext cx="76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154" name="Line 18">
                <a:extLst>
                  <a:ext uri="{FF2B5EF4-FFF2-40B4-BE49-F238E27FC236}">
                    <a16:creationId xmlns:a16="http://schemas.microsoft.com/office/drawing/2014/main" id="{F026DB2E-6A4C-4AB8-B79D-C14117662448}"/>
                  </a:ext>
                </a:extLst>
              </p:cNvPr>
              <p:cNvSpPr/>
              <p:nvPr/>
            </p:nvSpPr>
            <p:spPr>
              <a:xfrm flipH="1">
                <a:off x="1104" y="1392"/>
                <a:ext cx="76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155" name="Line 19">
                <a:extLst>
                  <a:ext uri="{FF2B5EF4-FFF2-40B4-BE49-F238E27FC236}">
                    <a16:creationId xmlns:a16="http://schemas.microsoft.com/office/drawing/2014/main" id="{C406F2AB-C4A3-4E9E-8BE2-78EE7C6CDF0D}"/>
                  </a:ext>
                </a:extLst>
              </p:cNvPr>
              <p:cNvSpPr/>
              <p:nvPr/>
            </p:nvSpPr>
            <p:spPr>
              <a:xfrm flipH="1">
                <a:off x="528" y="2064"/>
                <a:ext cx="67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156" name="Line 20">
                <a:extLst>
                  <a:ext uri="{FF2B5EF4-FFF2-40B4-BE49-F238E27FC236}">
                    <a16:creationId xmlns:a16="http://schemas.microsoft.com/office/drawing/2014/main" id="{348EF6C3-0B1C-40FC-9826-57BA05CAF385}"/>
                  </a:ext>
                </a:extLst>
              </p:cNvPr>
              <p:cNvSpPr/>
              <p:nvPr/>
            </p:nvSpPr>
            <p:spPr>
              <a:xfrm>
                <a:off x="1872" y="1392"/>
                <a:ext cx="0" cy="144"/>
              </a:xfrm>
              <a:prstGeom prst="line">
                <a:avLst/>
              </a:prstGeom>
              <a:ln w="12700" cap="flat" cmpd="sng">
                <a:solidFill>
                  <a:srgbClr val="6600FF"/>
                </a:solidFill>
                <a:prstDash val="dash"/>
                <a:headEnd type="none" w="sm" len="lg"/>
                <a:tailEnd type="non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Object 21">
                    <a:extLst>
                      <a:ext uri="{FF2B5EF4-FFF2-40B4-BE49-F238E27FC236}">
                        <a16:creationId xmlns:a16="http://schemas.microsoft.com/office/drawing/2014/main" id="{A46AA1A3-2DB5-4A0D-A43C-6EE0ECEF50F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" y="1440"/>
                    <a:ext cx="187" cy="288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57" name="Object 21">
                    <a:extLst>
                      <a:ext uri="{FF2B5EF4-FFF2-40B4-BE49-F238E27FC236}">
                        <a16:creationId xmlns:a16="http://schemas.microsoft.com/office/drawing/2014/main" id="{A46AA1A3-2DB5-4A0D-A43C-6EE0ECEF50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" y="1440"/>
                    <a:ext cx="187" cy="28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2" name="Group 45">
              <a:extLst>
                <a:ext uri="{FF2B5EF4-FFF2-40B4-BE49-F238E27FC236}">
                  <a16:creationId xmlns:a16="http://schemas.microsoft.com/office/drawing/2014/main" id="{D541EA42-9136-4662-9B81-6E962EFEB947}"/>
                </a:ext>
              </a:extLst>
            </p:cNvPr>
            <p:cNvGrpSpPr/>
            <p:nvPr/>
          </p:nvGrpSpPr>
          <p:grpSpPr>
            <a:xfrm>
              <a:off x="8931586" y="5165909"/>
              <a:ext cx="1706562" cy="727075"/>
              <a:chOff x="1711" y="1504"/>
              <a:chExt cx="1075" cy="458"/>
            </a:xfrm>
          </p:grpSpPr>
          <p:sp>
            <p:nvSpPr>
              <p:cNvPr id="173" name="Oval 46">
                <a:extLst>
                  <a:ext uri="{FF2B5EF4-FFF2-40B4-BE49-F238E27FC236}">
                    <a16:creationId xmlns:a16="http://schemas.microsoft.com/office/drawing/2014/main" id="{D6AE44DE-4E71-47AF-8B3F-339D81C63647}"/>
                  </a:ext>
                </a:extLst>
              </p:cNvPr>
              <p:cNvSpPr/>
              <p:nvPr/>
            </p:nvSpPr>
            <p:spPr>
              <a:xfrm>
                <a:off x="2373" y="1680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4" name="Group 47">
                <a:extLst>
                  <a:ext uri="{FF2B5EF4-FFF2-40B4-BE49-F238E27FC236}">
                    <a16:creationId xmlns:a16="http://schemas.microsoft.com/office/drawing/2014/main" id="{C3B752C3-91C1-4919-B287-463A8A423D04}"/>
                  </a:ext>
                </a:extLst>
              </p:cNvPr>
              <p:cNvGrpSpPr/>
              <p:nvPr/>
            </p:nvGrpSpPr>
            <p:grpSpPr>
              <a:xfrm>
                <a:off x="1711" y="1504"/>
                <a:ext cx="1075" cy="458"/>
                <a:chOff x="1711" y="1504"/>
                <a:chExt cx="1075" cy="458"/>
              </a:xfrm>
            </p:grpSpPr>
            <p:sp>
              <p:nvSpPr>
                <p:cNvPr id="175" name="Text Box 48">
                  <a:extLst>
                    <a:ext uri="{FF2B5EF4-FFF2-40B4-BE49-F238E27FC236}">
                      <a16:creationId xmlns:a16="http://schemas.microsoft.com/office/drawing/2014/main" id="{F43089F5-7F94-40AE-9D35-C191DF7166B7}"/>
                    </a:ext>
                  </a:extLst>
                </p:cNvPr>
                <p:cNvSpPr txBox="1"/>
                <p:nvPr/>
              </p:nvSpPr>
              <p:spPr>
                <a:xfrm>
                  <a:off x="2352" y="1632"/>
                  <a:ext cx="336" cy="3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+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6" name="Object 49">
                      <a:extLst>
                        <a:ext uri="{FF2B5EF4-FFF2-40B4-BE49-F238E27FC236}">
                          <a16:creationId xmlns:a16="http://schemas.microsoft.com/office/drawing/2014/main" id="{1544D340-8799-4DBD-8376-971DFB3599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65" y="1632"/>
                      <a:ext cx="221" cy="288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176" name="Object 49">
                      <a:extLst>
                        <a:ext uri="{FF2B5EF4-FFF2-40B4-BE49-F238E27FC236}">
                          <a16:creationId xmlns:a16="http://schemas.microsoft.com/office/drawing/2014/main" id="{1544D340-8799-4DBD-8376-971DFB3599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65" y="1632"/>
                      <a:ext cx="221" cy="2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7" name="Line 50">
                  <a:extLst>
                    <a:ext uri="{FF2B5EF4-FFF2-40B4-BE49-F238E27FC236}">
                      <a16:creationId xmlns:a16="http://schemas.microsoft.com/office/drawing/2014/main" id="{35FBBFF3-3639-444E-8DF5-4DF7FC913CDF}"/>
                    </a:ext>
                  </a:extLst>
                </p:cNvPr>
                <p:cNvSpPr/>
                <p:nvPr/>
              </p:nvSpPr>
              <p:spPr>
                <a:xfrm flipH="1">
                  <a:off x="1989" y="1776"/>
                  <a:ext cx="384" cy="0"/>
                </a:xfrm>
                <a:prstGeom prst="line">
                  <a:avLst/>
                </a:prstGeom>
                <a:ln w="38100" cap="flat" cmpd="sng">
                  <a:solidFill>
                    <a:srgbClr val="FF3399"/>
                  </a:solidFill>
                  <a:prstDash val="solid"/>
                  <a:headEnd type="none" w="sm" len="lg"/>
                  <a:tailEnd type="triangl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8" name="Object 51">
                      <a:extLst>
                        <a:ext uri="{FF2B5EF4-FFF2-40B4-BE49-F238E27FC236}">
                          <a16:creationId xmlns:a16="http://schemas.microsoft.com/office/drawing/2014/main" id="{2BBEFECE-7468-4B57-9C9B-44A0681E01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1" y="1504"/>
                      <a:ext cx="255" cy="416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⃑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178" name="Object 51">
                      <a:extLst>
                        <a:ext uri="{FF2B5EF4-FFF2-40B4-BE49-F238E27FC236}">
                          <a16:creationId xmlns:a16="http://schemas.microsoft.com/office/drawing/2014/main" id="{2BBEFECE-7468-4B57-9C9B-44A0681E01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1" y="1504"/>
                      <a:ext cx="255" cy="416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79" name="Group 52">
              <a:extLst>
                <a:ext uri="{FF2B5EF4-FFF2-40B4-BE49-F238E27FC236}">
                  <a16:creationId xmlns:a16="http://schemas.microsoft.com/office/drawing/2014/main" id="{D4EF83D2-94A2-45FB-A9C9-EF30E980B4DA}"/>
                </a:ext>
              </a:extLst>
            </p:cNvPr>
            <p:cNvGrpSpPr/>
            <p:nvPr/>
          </p:nvGrpSpPr>
          <p:grpSpPr>
            <a:xfrm>
              <a:off x="8120373" y="4835709"/>
              <a:ext cx="4800600" cy="1468438"/>
              <a:chOff x="1200" y="1305"/>
              <a:chExt cx="3024" cy="925"/>
            </a:xfrm>
          </p:grpSpPr>
          <p:sp>
            <p:nvSpPr>
              <p:cNvPr id="180" name="Text Box 53">
                <a:extLst>
                  <a:ext uri="{FF2B5EF4-FFF2-40B4-BE49-F238E27FC236}">
                    <a16:creationId xmlns:a16="http://schemas.microsoft.com/office/drawing/2014/main" id="{1D74F518-B5BC-4C89-88FF-216F0BA02C84}"/>
                  </a:ext>
                </a:extLst>
              </p:cNvPr>
              <p:cNvSpPr txBox="1"/>
              <p:nvPr/>
            </p:nvSpPr>
            <p:spPr>
              <a:xfrm>
                <a:off x="1872" y="1305"/>
                <a:ext cx="235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    +    +</a:t>
                </a:r>
                <a:r>
                  <a:rPr lang="en-US" altLang="zh-CN" sz="2800" dirty="0">
                    <a:solidFill>
                      <a:srgbClr val="BC7000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BC7000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81" name="Text Box 54">
                <a:extLst>
                  <a:ext uri="{FF2B5EF4-FFF2-40B4-BE49-F238E27FC236}">
                    <a16:creationId xmlns:a16="http://schemas.microsoft.com/office/drawing/2014/main" id="{839EC218-2AC8-4149-82C7-2AEF3E43FECA}"/>
                  </a:ext>
                </a:extLst>
              </p:cNvPr>
              <p:cNvSpPr txBox="1"/>
              <p:nvPr/>
            </p:nvSpPr>
            <p:spPr>
              <a:xfrm>
                <a:off x="1200" y="1900"/>
                <a:ext cx="2964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 -   -   -    -    -</a:t>
                </a:r>
              </a:p>
            </p:txBody>
          </p:sp>
        </p:grpSp>
        <p:grpSp>
          <p:nvGrpSpPr>
            <p:cNvPr id="182" name="Group 55">
              <a:extLst>
                <a:ext uri="{FF2B5EF4-FFF2-40B4-BE49-F238E27FC236}">
                  <a16:creationId xmlns:a16="http://schemas.microsoft.com/office/drawing/2014/main" id="{353DA674-2743-4BE1-8A64-A8BC14B33A99}"/>
                </a:ext>
              </a:extLst>
            </p:cNvPr>
            <p:cNvGrpSpPr/>
            <p:nvPr/>
          </p:nvGrpSpPr>
          <p:grpSpPr>
            <a:xfrm>
              <a:off x="9333223" y="5750109"/>
              <a:ext cx="774700" cy="1006475"/>
              <a:chOff x="1964" y="1872"/>
              <a:chExt cx="488" cy="634"/>
            </a:xfrm>
          </p:grpSpPr>
          <p:sp>
            <p:nvSpPr>
              <p:cNvPr id="183" name="Line 56">
                <a:extLst>
                  <a:ext uri="{FF2B5EF4-FFF2-40B4-BE49-F238E27FC236}">
                    <a16:creationId xmlns:a16="http://schemas.microsoft.com/office/drawing/2014/main" id="{22515337-70B6-4349-86DC-DF73BC8643D2}"/>
                  </a:ext>
                </a:extLst>
              </p:cNvPr>
              <p:cNvSpPr/>
              <p:nvPr/>
            </p:nvSpPr>
            <p:spPr>
              <a:xfrm flipH="1">
                <a:off x="2164" y="1872"/>
                <a:ext cx="288" cy="2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headEnd type="none" w="sm" len="lg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bject 57">
                    <a:extLst>
                      <a:ext uri="{FF2B5EF4-FFF2-40B4-BE49-F238E27FC236}">
                        <a16:creationId xmlns:a16="http://schemas.microsoft.com/office/drawing/2014/main" id="{8B899063-76CF-4350-B107-B2F6E71B76FF}"/>
                      </a:ext>
                    </a:extLst>
                  </p:cNvPr>
                  <p:cNvSpPr txBox="1"/>
                  <p:nvPr/>
                </p:nvSpPr>
                <p:spPr>
                  <a:xfrm>
                    <a:off x="1964" y="2112"/>
                    <a:ext cx="292" cy="39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84" name="Object 57">
                    <a:extLst>
                      <a:ext uri="{FF2B5EF4-FFF2-40B4-BE49-F238E27FC236}">
                        <a16:creationId xmlns:a16="http://schemas.microsoft.com/office/drawing/2014/main" id="{8B899063-76CF-4350-B107-B2F6E71B76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4" y="2112"/>
                    <a:ext cx="292" cy="39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3883" r="-7895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5" name="Group 58">
              <a:extLst>
                <a:ext uri="{FF2B5EF4-FFF2-40B4-BE49-F238E27FC236}">
                  <a16:creationId xmlns:a16="http://schemas.microsoft.com/office/drawing/2014/main" id="{FFC18491-35F5-4902-B899-001A0FA9BF07}"/>
                </a:ext>
              </a:extLst>
            </p:cNvPr>
            <p:cNvGrpSpPr/>
            <p:nvPr/>
          </p:nvGrpSpPr>
          <p:grpSpPr>
            <a:xfrm>
              <a:off x="10253973" y="4454709"/>
              <a:ext cx="609600" cy="1066800"/>
              <a:chOff x="2544" y="1056"/>
              <a:chExt cx="384" cy="672"/>
            </a:xfrm>
          </p:grpSpPr>
          <p:sp>
            <p:nvSpPr>
              <p:cNvPr id="186" name="Line 59">
                <a:extLst>
                  <a:ext uri="{FF2B5EF4-FFF2-40B4-BE49-F238E27FC236}">
                    <a16:creationId xmlns:a16="http://schemas.microsoft.com/office/drawing/2014/main" id="{B657722A-7BE1-4664-A81E-7F077E4D61AE}"/>
                  </a:ext>
                </a:extLst>
              </p:cNvPr>
              <p:cNvSpPr/>
              <p:nvPr/>
            </p:nvSpPr>
            <p:spPr>
              <a:xfrm flipV="1">
                <a:off x="2544" y="1440"/>
                <a:ext cx="288" cy="288"/>
              </a:xfrm>
              <a:prstGeom prst="line">
                <a:avLst/>
              </a:prstGeom>
              <a:ln w="38100" cap="flat" cmpd="sng">
                <a:solidFill>
                  <a:srgbClr val="990099"/>
                </a:solidFill>
                <a:prstDash val="solid"/>
                <a:headEnd type="none" w="sm" len="lg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Object 60">
                    <a:extLst>
                      <a:ext uri="{FF2B5EF4-FFF2-40B4-BE49-F238E27FC236}">
                        <a16:creationId xmlns:a16="http://schemas.microsoft.com/office/drawing/2014/main" id="{A77DE780-8170-42FD-9C8B-E86C89DE741B}"/>
                      </a:ext>
                    </a:extLst>
                  </p:cNvPr>
                  <p:cNvSpPr txBox="1"/>
                  <p:nvPr/>
                </p:nvSpPr>
                <p:spPr>
                  <a:xfrm>
                    <a:off x="2569" y="1056"/>
                    <a:ext cx="359" cy="38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87" name="Object 60">
                    <a:extLst>
                      <a:ext uri="{FF2B5EF4-FFF2-40B4-BE49-F238E27FC236}">
                        <a16:creationId xmlns:a16="http://schemas.microsoft.com/office/drawing/2014/main" id="{A77DE780-8170-42FD-9C8B-E86C89DE74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9" y="1056"/>
                    <a:ext cx="359" cy="38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4000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7354" name="矩形 57353">
            <a:extLst>
              <a:ext uri="{FF2B5EF4-FFF2-40B4-BE49-F238E27FC236}">
                <a16:creationId xmlns:a16="http://schemas.microsoft.com/office/drawing/2014/main" id="{26996361-48BC-E541-0A27-BC1F2DB74472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3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2" grpId="0" animBg="1"/>
      <p:bldP spid="23" grpId="0" animBg="1"/>
      <p:bldP spid="57344" grpId="0"/>
      <p:bldP spid="57345" grpId="0"/>
      <p:bldP spid="57347" grpId="0"/>
      <p:bldP spid="57348" grpId="0"/>
      <p:bldP spid="115" grpId="0" animBg="1"/>
      <p:bldP spid="57351" grpId="0"/>
      <p:bldP spid="57352" grpId="0"/>
      <p:bldP spid="136" grpId="0"/>
      <p:bldP spid="137" grpId="0"/>
      <p:bldP spid="138" grpId="0"/>
      <p:bldP spid="139" grpId="0"/>
      <p:bldP spid="1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D70FA67-48FD-092F-A69E-67F967B24BB6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grpSp>
        <p:nvGrpSpPr>
          <p:cNvPr id="51" name="Group 10">
            <a:extLst>
              <a:ext uri="{FF2B5EF4-FFF2-40B4-BE49-F238E27FC236}">
                <a16:creationId xmlns:a16="http://schemas.microsoft.com/office/drawing/2014/main" id="{F0AD7F3B-294C-4AB1-BD1B-ED066915BB2A}"/>
              </a:ext>
            </a:extLst>
          </p:cNvPr>
          <p:cNvGrpSpPr>
            <a:grpSpLocks/>
          </p:cNvGrpSpPr>
          <p:nvPr/>
        </p:nvGrpSpPr>
        <p:grpSpPr bwMode="auto">
          <a:xfrm>
            <a:off x="2313115" y="1824325"/>
            <a:ext cx="3235325" cy="1793875"/>
            <a:chOff x="3518" y="168"/>
            <a:chExt cx="2038" cy="1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11">
                  <a:extLst>
                    <a:ext uri="{FF2B5EF4-FFF2-40B4-BE49-F238E27FC236}">
                      <a16:creationId xmlns:a16="http://schemas.microsoft.com/office/drawing/2014/main" id="{464723EB-1253-4ACE-BE28-21A7F7FCB7A3}"/>
                    </a:ext>
                  </a:extLst>
                </p:cNvPr>
                <p:cNvSpPr txBox="1"/>
                <p:nvPr/>
              </p:nvSpPr>
              <p:spPr bwMode="auto">
                <a:xfrm>
                  <a:off x="4887" y="168"/>
                  <a:ext cx="246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09" name="Object 11">
                  <a:extLst>
                    <a:ext uri="{FF2B5EF4-FFF2-40B4-BE49-F238E27FC236}">
                      <a16:creationId xmlns:a16="http://schemas.microsoft.com/office/drawing/2014/main" id="{20A15495-C253-4C62-95E6-259AB3C4F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87" y="168"/>
                  <a:ext cx="246" cy="30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Object 12">
                  <a:extLst>
                    <a:ext uri="{FF2B5EF4-FFF2-40B4-BE49-F238E27FC236}">
                      <a16:creationId xmlns:a16="http://schemas.microsoft.com/office/drawing/2014/main" id="{10B06653-967C-41EE-A927-CCA8218B9B73}"/>
                    </a:ext>
                  </a:extLst>
                </p:cNvPr>
                <p:cNvSpPr txBox="1"/>
                <p:nvPr/>
              </p:nvSpPr>
              <p:spPr bwMode="auto">
                <a:xfrm>
                  <a:off x="4878" y="750"/>
                  <a:ext cx="188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10" name="Object 12">
                  <a:extLst>
                    <a:ext uri="{FF2B5EF4-FFF2-40B4-BE49-F238E27FC236}">
                      <a16:creationId xmlns:a16="http://schemas.microsoft.com/office/drawing/2014/main" id="{2AC9951B-4EF6-4524-B62D-3F363C0E5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78" y="750"/>
                  <a:ext cx="188" cy="266"/>
                </a:xfrm>
                <a:prstGeom prst="rect">
                  <a:avLst/>
                </a:prstGeom>
                <a:blipFill>
                  <a:blip r:embed="rId11"/>
                  <a:stretch>
                    <a:fillRect t="-15714" r="-2449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3">
                  <a:extLst>
                    <a:ext uri="{FF2B5EF4-FFF2-40B4-BE49-F238E27FC236}">
                      <a16:creationId xmlns:a16="http://schemas.microsoft.com/office/drawing/2014/main" id="{DA60D339-A818-43C7-B995-53B539EE9708}"/>
                    </a:ext>
                  </a:extLst>
                </p:cNvPr>
                <p:cNvSpPr txBox="1"/>
                <p:nvPr/>
              </p:nvSpPr>
              <p:spPr bwMode="auto">
                <a:xfrm>
                  <a:off x="4243" y="1026"/>
                  <a:ext cx="336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11" name="Object 13">
                  <a:extLst>
                    <a:ext uri="{FF2B5EF4-FFF2-40B4-BE49-F238E27FC236}">
                      <a16:creationId xmlns:a16="http://schemas.microsoft.com/office/drawing/2014/main" id="{FA9ACAAA-CE59-4BDE-BAB2-BAE67CA86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3" y="1026"/>
                  <a:ext cx="336" cy="272"/>
                </a:xfrm>
                <a:prstGeom prst="rect">
                  <a:avLst/>
                </a:prstGeom>
                <a:blipFill>
                  <a:blip r:embed="rId20"/>
                  <a:stretch>
                    <a:fillRect t="-19718" r="-494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bject 14">
                  <a:extLst>
                    <a:ext uri="{FF2B5EF4-FFF2-40B4-BE49-F238E27FC236}">
                      <a16:creationId xmlns:a16="http://schemas.microsoft.com/office/drawing/2014/main" id="{C29AB48B-C6C5-4EAD-B630-BC9965C038C4}"/>
                    </a:ext>
                  </a:extLst>
                </p:cNvPr>
                <p:cNvSpPr txBox="1"/>
                <p:nvPr/>
              </p:nvSpPr>
              <p:spPr bwMode="auto">
                <a:xfrm>
                  <a:off x="5344" y="750"/>
                  <a:ext cx="212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12" name="Object 14">
                  <a:extLst>
                    <a:ext uri="{FF2B5EF4-FFF2-40B4-BE49-F238E27FC236}">
                      <a16:creationId xmlns:a16="http://schemas.microsoft.com/office/drawing/2014/main" id="{C3EAD76D-35D0-42C4-8317-1FDB3C300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44" y="750"/>
                  <a:ext cx="212" cy="24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Arc 15">
              <a:extLst>
                <a:ext uri="{FF2B5EF4-FFF2-40B4-BE49-F238E27FC236}">
                  <a16:creationId xmlns:a16="http://schemas.microsoft.com/office/drawing/2014/main" id="{C0127AD3-BF2D-4534-AB6D-16AB1FA2B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789"/>
              <a:ext cx="45" cy="91"/>
            </a:xfrm>
            <a:custGeom>
              <a:avLst/>
              <a:gdLst>
                <a:gd name="T0" fmla="*/ 0 w 21600"/>
                <a:gd name="T1" fmla="*/ 0 h 21600"/>
                <a:gd name="T2" fmla="*/ 45 w 21600"/>
                <a:gd name="T3" fmla="*/ 91 h 21600"/>
                <a:gd name="T4" fmla="*/ 0 w 21600"/>
                <a:gd name="T5" fmla="*/ 9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EFEF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  <p:sp>
          <p:nvSpPr>
            <p:cNvPr id="57" name="Oval 16">
              <a:extLst>
                <a:ext uri="{FF2B5EF4-FFF2-40B4-BE49-F238E27FC236}">
                  <a16:creationId xmlns:a16="http://schemas.microsoft.com/office/drawing/2014/main" id="{8098F348-353B-41C1-9B03-DF8858867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744"/>
              <a:ext cx="90" cy="272"/>
            </a:xfrm>
            <a:prstGeom prst="ellipse">
              <a:avLst/>
            </a:prstGeom>
            <a:solidFill>
              <a:srgbClr val="FEFEF0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58" name="Oval 17">
              <a:extLst>
                <a:ext uri="{FF2B5EF4-FFF2-40B4-BE49-F238E27FC236}">
                  <a16:creationId xmlns:a16="http://schemas.microsoft.com/office/drawing/2014/main" id="{064BB459-139E-4E83-BBB5-2E81D2B4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744"/>
              <a:ext cx="90" cy="272"/>
            </a:xfrm>
            <a:prstGeom prst="ellipse">
              <a:avLst/>
            </a:prstGeom>
            <a:solidFill>
              <a:srgbClr val="FEFEF0">
                <a:alpha val="0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59" name="Oval 18">
              <a:extLst>
                <a:ext uri="{FF2B5EF4-FFF2-40B4-BE49-F238E27FC236}">
                  <a16:creationId xmlns:a16="http://schemas.microsoft.com/office/drawing/2014/main" id="{2E6064BA-ECA4-4DAD-8F61-803139A04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44"/>
              <a:ext cx="90" cy="272"/>
            </a:xfrm>
            <a:prstGeom prst="ellipse">
              <a:avLst/>
            </a:prstGeom>
            <a:solidFill>
              <a:srgbClr val="FEFEF0"/>
            </a:solidFill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60" name="Line 19">
              <a:extLst>
                <a:ext uri="{FF2B5EF4-FFF2-40B4-BE49-F238E27FC236}">
                  <a16:creationId xmlns:a16="http://schemas.microsoft.com/office/drawing/2014/main" id="{8CDE3190-828D-4AB5-9586-FF1EBC0EC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744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  <p:sp>
          <p:nvSpPr>
            <p:cNvPr id="61" name="Line 20">
              <a:extLst>
                <a:ext uri="{FF2B5EF4-FFF2-40B4-BE49-F238E27FC236}">
                  <a16:creationId xmlns:a16="http://schemas.microsoft.com/office/drawing/2014/main" id="{BC3ADAE5-2805-44FE-8D9C-0CAFAA801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1016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  <p:sp>
          <p:nvSpPr>
            <p:cNvPr id="62" name="Rectangle 21">
              <a:extLst>
                <a:ext uri="{FF2B5EF4-FFF2-40B4-BE49-F238E27FC236}">
                  <a16:creationId xmlns:a16="http://schemas.microsoft.com/office/drawing/2014/main" id="{B278B402-8305-4815-852E-1A9177801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753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63" name="Oval 22">
              <a:extLst>
                <a:ext uri="{FF2B5EF4-FFF2-40B4-BE49-F238E27FC236}">
                  <a16:creationId xmlns:a16="http://schemas.microsoft.com/office/drawing/2014/main" id="{C6D4427E-A74F-420A-9181-B8BB34F5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744"/>
              <a:ext cx="90" cy="272"/>
            </a:xfrm>
            <a:prstGeom prst="ellipse">
              <a:avLst/>
            </a:prstGeom>
            <a:solidFill>
              <a:srgbClr val="FEFEF0"/>
            </a:solidFill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64" name="Rectangle 23">
              <a:extLst>
                <a:ext uri="{FF2B5EF4-FFF2-40B4-BE49-F238E27FC236}">
                  <a16:creationId xmlns:a16="http://schemas.microsoft.com/office/drawing/2014/main" id="{7B667762-A1EC-4753-8601-F483A2A76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762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65" name="Rectangle 24">
              <a:extLst>
                <a:ext uri="{FF2B5EF4-FFF2-40B4-BE49-F238E27FC236}">
                  <a16:creationId xmlns:a16="http://schemas.microsoft.com/office/drawing/2014/main" id="{7B719730-B64A-4686-8DAF-B57806CF0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753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66" name="Line 25">
              <a:extLst>
                <a:ext uri="{FF2B5EF4-FFF2-40B4-BE49-F238E27FC236}">
                  <a16:creationId xmlns:a16="http://schemas.microsoft.com/office/drawing/2014/main" id="{BF9E0468-8574-412B-95F1-513FD3E3F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889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bject 26">
                  <a:extLst>
                    <a:ext uri="{FF2B5EF4-FFF2-40B4-BE49-F238E27FC236}">
                      <a16:creationId xmlns:a16="http://schemas.microsoft.com/office/drawing/2014/main" id="{EF739144-39EC-4460-BCC8-D346D788769E}"/>
                    </a:ext>
                  </a:extLst>
                </p:cNvPr>
                <p:cNvSpPr txBox="1"/>
                <p:nvPr/>
              </p:nvSpPr>
              <p:spPr bwMode="auto">
                <a:xfrm>
                  <a:off x="4446" y="535"/>
                  <a:ext cx="178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5" name="Object 26">
                  <a:extLst>
                    <a:ext uri="{FF2B5EF4-FFF2-40B4-BE49-F238E27FC236}">
                      <a16:creationId xmlns:a16="http://schemas.microsoft.com/office/drawing/2014/main" id="{ECE23666-29FB-400A-A09C-7F55BCD45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6" y="535"/>
                  <a:ext cx="178" cy="22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A35ACA75-E44F-40ED-98BB-E8103C109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7" y="1016"/>
              <a:ext cx="45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  <p:sp>
          <p:nvSpPr>
            <p:cNvPr id="69" name="Line 28">
              <a:extLst>
                <a:ext uri="{FF2B5EF4-FFF2-40B4-BE49-F238E27FC236}">
                  <a16:creationId xmlns:a16="http://schemas.microsoft.com/office/drawing/2014/main" id="{1150E370-7E3A-4085-BE4C-4D6E14104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744"/>
              <a:ext cx="45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  <p:sp>
          <p:nvSpPr>
            <p:cNvPr id="70" name="Line 29">
              <a:extLst>
                <a:ext uri="{FF2B5EF4-FFF2-40B4-BE49-F238E27FC236}">
                  <a16:creationId xmlns:a16="http://schemas.microsoft.com/office/drawing/2014/main" id="{D01FDFB6-7814-48F7-989F-4AC5F04B5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7" y="409"/>
              <a:ext cx="48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30">
                <a:extLst>
                  <a:ext uri="{FF2B5EF4-FFF2-40B4-BE49-F238E27FC236}">
                    <a16:creationId xmlns:a16="http://schemas.microsoft.com/office/drawing/2014/main" id="{7702318C-B925-43C1-AB67-665689B1D9A8}"/>
                  </a:ext>
                </a:extLst>
              </p:cNvPr>
              <p:cNvSpPr txBox="1"/>
              <p:nvPr/>
            </p:nvSpPr>
            <p:spPr bwMode="auto">
              <a:xfrm>
                <a:off x="5511069" y="1861673"/>
                <a:ext cx="2466975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Object 30">
                <a:extLst>
                  <a:ext uri="{FF2B5EF4-FFF2-40B4-BE49-F238E27FC236}">
                    <a16:creationId xmlns:a16="http://schemas.microsoft.com/office/drawing/2014/main" id="{7702318C-B925-43C1-AB67-665689B1D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1069" y="1861673"/>
                <a:ext cx="2466975" cy="5715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49">
            <a:extLst>
              <a:ext uri="{FF2B5EF4-FFF2-40B4-BE49-F238E27FC236}">
                <a16:creationId xmlns:a16="http://schemas.microsoft.com/office/drawing/2014/main" id="{A7E8811E-FCE4-4DAA-A34D-19983B8C4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146" y="2620480"/>
            <a:ext cx="1489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solidFill>
                  <a:srgbClr val="000000"/>
                </a:solidFill>
                <a:ea typeface="华文楷体" panose="02010600040101010101" pitchFamily="2" charset="-122"/>
              </a:rPr>
              <a:t>安培力</a:t>
            </a:r>
          </a:p>
        </p:txBody>
      </p:sp>
      <p:sp>
        <p:nvSpPr>
          <p:cNvPr id="73" name="Text Box 42">
            <a:extLst>
              <a:ext uri="{FF2B5EF4-FFF2-40B4-BE49-F238E27FC236}">
                <a16:creationId xmlns:a16="http://schemas.microsoft.com/office/drawing/2014/main" id="{B5AFAF63-2300-4BD2-8E52-145D0359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45" y="1114307"/>
            <a:ext cx="575374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0" dirty="0">
                <a:solidFill>
                  <a:srgbClr val="0066FF"/>
                </a:solidFill>
                <a:ea typeface="华文楷体" panose="02010600040101010101" pitchFamily="2" charset="-122"/>
              </a:rPr>
              <a:t>- </a:t>
            </a:r>
            <a:r>
              <a:rPr lang="zh-CN" altLang="en-US" sz="3200" b="0" dirty="0">
                <a:solidFill>
                  <a:srgbClr val="0066FF"/>
                </a:solidFill>
                <a:ea typeface="华文楷体" panose="02010600040101010101" pitchFamily="2" charset="-122"/>
              </a:rPr>
              <a:t>磁场对载流导线的作用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AF2566-B16B-D5D3-61CF-D670A2118997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78" name="Group 2">
            <a:extLst>
              <a:ext uri="{FF2B5EF4-FFF2-40B4-BE49-F238E27FC236}">
                <a16:creationId xmlns:a16="http://schemas.microsoft.com/office/drawing/2014/main" id="{4C7EFFB9-DC27-49FE-92E4-68EC76313283}"/>
              </a:ext>
            </a:extLst>
          </p:cNvPr>
          <p:cNvGrpSpPr/>
          <p:nvPr/>
        </p:nvGrpSpPr>
        <p:grpSpPr>
          <a:xfrm>
            <a:off x="420815" y="3831569"/>
            <a:ext cx="3505200" cy="2790825"/>
            <a:chOff x="3168" y="690"/>
            <a:chExt cx="2208" cy="1758"/>
          </a:xfrm>
        </p:grpSpPr>
        <p:sp>
          <p:nvSpPr>
            <p:cNvPr id="79" name="Line 4">
              <a:extLst>
                <a:ext uri="{FF2B5EF4-FFF2-40B4-BE49-F238E27FC236}">
                  <a16:creationId xmlns:a16="http://schemas.microsoft.com/office/drawing/2014/main" id="{5B4893BE-1FA7-4033-BAF8-D3B06192A3AD}"/>
                </a:ext>
              </a:extLst>
            </p:cNvPr>
            <p:cNvSpPr/>
            <p:nvPr/>
          </p:nvSpPr>
          <p:spPr>
            <a:xfrm>
              <a:off x="3357" y="1968"/>
              <a:ext cx="17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80" name="Line 5">
              <a:extLst>
                <a:ext uri="{FF2B5EF4-FFF2-40B4-BE49-F238E27FC236}">
                  <a16:creationId xmlns:a16="http://schemas.microsoft.com/office/drawing/2014/main" id="{3379B497-5475-4CAE-A291-37A3733DA490}"/>
                </a:ext>
              </a:extLst>
            </p:cNvPr>
            <p:cNvSpPr/>
            <p:nvPr/>
          </p:nvSpPr>
          <p:spPr>
            <a:xfrm flipV="1">
              <a:off x="3360" y="946"/>
              <a:ext cx="0" cy="10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81" name="Text Box 6">
              <a:extLst>
                <a:ext uri="{FF2B5EF4-FFF2-40B4-BE49-F238E27FC236}">
                  <a16:creationId xmlns:a16="http://schemas.microsoft.com/office/drawing/2014/main" id="{071C1F01-3637-489E-9372-06AA9E522577}"/>
                </a:ext>
              </a:extLst>
            </p:cNvPr>
            <p:cNvSpPr txBox="1"/>
            <p:nvPr/>
          </p:nvSpPr>
          <p:spPr>
            <a:xfrm>
              <a:off x="4893" y="1689"/>
              <a:ext cx="48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9DDF4C0E-5874-4F80-A91C-63CABE0EDF08}"/>
                </a:ext>
              </a:extLst>
            </p:cNvPr>
            <p:cNvSpPr/>
            <p:nvPr/>
          </p:nvSpPr>
          <p:spPr>
            <a:xfrm>
              <a:off x="3360" y="1968"/>
              <a:ext cx="15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Object 8">
                  <a:extLst>
                    <a:ext uri="{FF2B5EF4-FFF2-40B4-BE49-F238E27FC236}">
                      <a16:creationId xmlns:a16="http://schemas.microsoft.com/office/drawing/2014/main" id="{026CF9BE-ED74-4F00-86E2-B3013B34604B}"/>
                    </a:ext>
                  </a:extLst>
                </p:cNvPr>
                <p:cNvSpPr txBox="1"/>
                <p:nvPr/>
              </p:nvSpPr>
              <p:spPr>
                <a:xfrm>
                  <a:off x="4989" y="1978"/>
                  <a:ext cx="237" cy="23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78" name="Object 8">
                  <a:extLst>
                    <a:ext uri="{FF2B5EF4-FFF2-40B4-BE49-F238E27FC236}">
                      <a16:creationId xmlns:a16="http://schemas.microsoft.com/office/drawing/2014/main" id="{2F87809A-4908-4316-40A4-C4BE7D1EF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" y="1978"/>
                  <a:ext cx="237" cy="2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bject 9">
                  <a:extLst>
                    <a:ext uri="{FF2B5EF4-FFF2-40B4-BE49-F238E27FC236}">
                      <a16:creationId xmlns:a16="http://schemas.microsoft.com/office/drawing/2014/main" id="{555F180D-D5C7-4EE8-8B48-FBC97FB06FBF}"/>
                    </a:ext>
                  </a:extLst>
                </p:cNvPr>
                <p:cNvSpPr txBox="1"/>
                <p:nvPr/>
              </p:nvSpPr>
              <p:spPr>
                <a:xfrm>
                  <a:off x="3168" y="759"/>
                  <a:ext cx="333" cy="29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79" name="Object 9">
                  <a:extLst>
                    <a:ext uri="{FF2B5EF4-FFF2-40B4-BE49-F238E27FC236}">
                      <a16:creationId xmlns:a16="http://schemas.microsoft.com/office/drawing/2014/main" id="{07501023-73EF-7E15-E4E5-F8D2ECCE4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" y="759"/>
                  <a:ext cx="333" cy="2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Freeform 10">
              <a:extLst>
                <a:ext uri="{FF2B5EF4-FFF2-40B4-BE49-F238E27FC236}">
                  <a16:creationId xmlns:a16="http://schemas.microsoft.com/office/drawing/2014/main" id="{DE462BB6-42F2-412A-958C-4A3E37DB0799}"/>
                </a:ext>
              </a:extLst>
            </p:cNvPr>
            <p:cNvSpPr/>
            <p:nvPr/>
          </p:nvSpPr>
          <p:spPr>
            <a:xfrm>
              <a:off x="3360" y="1266"/>
              <a:ext cx="1533" cy="702"/>
            </a:xfrm>
            <a:custGeom>
              <a:avLst/>
              <a:gdLst/>
              <a:ahLst/>
              <a:cxnLst>
                <a:cxn ang="0">
                  <a:pos x="0" y="702"/>
                </a:cxn>
                <a:cxn ang="0">
                  <a:pos x="48" y="468"/>
                </a:cxn>
                <a:cxn ang="0">
                  <a:pos x="144" y="281"/>
                </a:cxn>
                <a:cxn ang="0">
                  <a:pos x="287" y="234"/>
                </a:cxn>
                <a:cxn ang="0">
                  <a:pos x="479" y="374"/>
                </a:cxn>
                <a:cxn ang="0">
                  <a:pos x="623" y="374"/>
                </a:cxn>
                <a:cxn ang="0">
                  <a:pos x="814" y="234"/>
                </a:cxn>
                <a:cxn ang="0">
                  <a:pos x="958" y="47"/>
                </a:cxn>
                <a:cxn ang="0">
                  <a:pos x="1198" y="47"/>
                </a:cxn>
                <a:cxn ang="0">
                  <a:pos x="1437" y="328"/>
                </a:cxn>
                <a:cxn ang="0">
                  <a:pos x="1533" y="702"/>
                </a:cxn>
              </a:cxnLst>
              <a:rect l="0" t="0" r="0" b="0"/>
              <a:pathLst>
                <a:path w="1536" h="720">
                  <a:moveTo>
                    <a:pt x="0" y="720"/>
                  </a:moveTo>
                  <a:cubicBezTo>
                    <a:pt x="12" y="636"/>
                    <a:pt x="24" y="552"/>
                    <a:pt x="48" y="480"/>
                  </a:cubicBezTo>
                  <a:cubicBezTo>
                    <a:pt x="72" y="408"/>
                    <a:pt x="104" y="328"/>
                    <a:pt x="144" y="288"/>
                  </a:cubicBezTo>
                  <a:cubicBezTo>
                    <a:pt x="184" y="248"/>
                    <a:pt x="232" y="224"/>
                    <a:pt x="288" y="240"/>
                  </a:cubicBezTo>
                  <a:cubicBezTo>
                    <a:pt x="344" y="256"/>
                    <a:pt x="424" y="360"/>
                    <a:pt x="480" y="384"/>
                  </a:cubicBezTo>
                  <a:cubicBezTo>
                    <a:pt x="536" y="408"/>
                    <a:pt x="568" y="408"/>
                    <a:pt x="624" y="384"/>
                  </a:cubicBezTo>
                  <a:cubicBezTo>
                    <a:pt x="680" y="360"/>
                    <a:pt x="760" y="296"/>
                    <a:pt x="816" y="240"/>
                  </a:cubicBezTo>
                  <a:cubicBezTo>
                    <a:pt x="872" y="184"/>
                    <a:pt x="896" y="80"/>
                    <a:pt x="960" y="48"/>
                  </a:cubicBezTo>
                  <a:cubicBezTo>
                    <a:pt x="1024" y="16"/>
                    <a:pt x="1120" y="0"/>
                    <a:pt x="1200" y="48"/>
                  </a:cubicBezTo>
                  <a:cubicBezTo>
                    <a:pt x="1280" y="96"/>
                    <a:pt x="1384" y="224"/>
                    <a:pt x="1440" y="336"/>
                  </a:cubicBezTo>
                  <a:cubicBezTo>
                    <a:pt x="1496" y="448"/>
                    <a:pt x="1520" y="656"/>
                    <a:pt x="1536" y="720"/>
                  </a:cubicBezTo>
                </a:path>
              </a:pathLst>
            </a:custGeom>
            <a:noFill/>
            <a:ln w="38100" cap="flat" cmpd="sng">
              <a:solidFill>
                <a:srgbClr val="66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bject 11">
                  <a:extLst>
                    <a:ext uri="{FF2B5EF4-FFF2-40B4-BE49-F238E27FC236}">
                      <a16:creationId xmlns:a16="http://schemas.microsoft.com/office/drawing/2014/main" id="{6E4AD147-43D4-49F3-ADA9-6F48AE49DF97}"/>
                    </a:ext>
                  </a:extLst>
                </p:cNvPr>
                <p:cNvSpPr txBox="1"/>
                <p:nvPr/>
              </p:nvSpPr>
              <p:spPr>
                <a:xfrm>
                  <a:off x="3168" y="1968"/>
                  <a:ext cx="177" cy="22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1" name="Object 11">
                  <a:extLst>
                    <a:ext uri="{FF2B5EF4-FFF2-40B4-BE49-F238E27FC236}">
                      <a16:creationId xmlns:a16="http://schemas.microsoft.com/office/drawing/2014/main" id="{17F3FAAE-DB65-D6B5-DB6F-496588E6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" y="1968"/>
                  <a:ext cx="177" cy="22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Object 12">
                  <a:extLst>
                    <a:ext uri="{FF2B5EF4-FFF2-40B4-BE49-F238E27FC236}">
                      <a16:creationId xmlns:a16="http://schemas.microsoft.com/office/drawing/2014/main" id="{23D3FE5F-FC6D-4A1A-BE4C-39B0D6F11C99}"/>
                    </a:ext>
                  </a:extLst>
                </p:cNvPr>
                <p:cNvSpPr txBox="1"/>
                <p:nvPr/>
              </p:nvSpPr>
              <p:spPr>
                <a:xfrm>
                  <a:off x="3427" y="1584"/>
                  <a:ext cx="221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2" name="Object 12">
                  <a:extLst>
                    <a:ext uri="{FF2B5EF4-FFF2-40B4-BE49-F238E27FC236}">
                      <a16:creationId xmlns:a16="http://schemas.microsoft.com/office/drawing/2014/main" id="{686D88B2-34A6-76C6-8B03-DF1224F63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" y="1584"/>
                  <a:ext cx="221" cy="28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Object 13">
                  <a:extLst>
                    <a:ext uri="{FF2B5EF4-FFF2-40B4-BE49-F238E27FC236}">
                      <a16:creationId xmlns:a16="http://schemas.microsoft.com/office/drawing/2014/main" id="{8F1D70C5-FE17-435B-8795-F580D98000A5}"/>
                    </a:ext>
                  </a:extLst>
                </p:cNvPr>
                <p:cNvSpPr txBox="1"/>
                <p:nvPr/>
              </p:nvSpPr>
              <p:spPr>
                <a:xfrm>
                  <a:off x="4845" y="720"/>
                  <a:ext cx="195" cy="240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3" name="Object 13">
                  <a:extLst>
                    <a:ext uri="{FF2B5EF4-FFF2-40B4-BE49-F238E27FC236}">
                      <a16:creationId xmlns:a16="http://schemas.microsoft.com/office/drawing/2014/main" id="{667CAC8A-BB91-E8FA-D7A4-578B5B152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5" y="720"/>
                  <a:ext cx="195" cy="24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Line 14">
              <a:extLst>
                <a:ext uri="{FF2B5EF4-FFF2-40B4-BE49-F238E27FC236}">
                  <a16:creationId xmlns:a16="http://schemas.microsoft.com/office/drawing/2014/main" id="{423E7855-1DAA-42A9-B351-7D42B5C45A99}"/>
                </a:ext>
              </a:extLst>
            </p:cNvPr>
            <p:cNvSpPr/>
            <p:nvPr/>
          </p:nvSpPr>
          <p:spPr>
            <a:xfrm flipV="1">
              <a:off x="3476" y="1506"/>
              <a:ext cx="48" cy="96"/>
            </a:xfrm>
            <a:prstGeom prst="line">
              <a:avLst/>
            </a:prstGeom>
            <a:ln w="57150" cap="flat" cmpd="sng">
              <a:solidFill>
                <a:srgbClr val="9933FF"/>
              </a:solidFill>
              <a:prstDash val="solid"/>
              <a:headEnd type="none" w="med" len="med"/>
              <a:tailEnd type="triangle" w="sm" len="lg"/>
            </a:ln>
          </p:spPr>
        </p:sp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9E40CBE9-9E4B-442F-94F7-981650EDE601}"/>
                </a:ext>
              </a:extLst>
            </p:cNvPr>
            <p:cNvGrpSpPr/>
            <p:nvPr/>
          </p:nvGrpSpPr>
          <p:grpSpPr>
            <a:xfrm>
              <a:off x="3312" y="690"/>
              <a:ext cx="1968" cy="1758"/>
              <a:chOff x="384" y="1008"/>
              <a:chExt cx="1872" cy="1920"/>
            </a:xfrm>
          </p:grpSpPr>
          <p:sp>
            <p:nvSpPr>
              <p:cNvPr id="95" name="Line 16">
                <a:extLst>
                  <a:ext uri="{FF2B5EF4-FFF2-40B4-BE49-F238E27FC236}">
                    <a16:creationId xmlns:a16="http://schemas.microsoft.com/office/drawing/2014/main" id="{A1D0F1E7-A4B3-4BF9-9CD4-9E0743EFD20C}"/>
                  </a:ext>
                </a:extLst>
              </p:cNvPr>
              <p:cNvSpPr/>
              <p:nvPr/>
            </p:nvSpPr>
            <p:spPr>
              <a:xfrm flipH="1">
                <a:off x="216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6" name="Line 17">
                <a:extLst>
                  <a:ext uri="{FF2B5EF4-FFF2-40B4-BE49-F238E27FC236}">
                    <a16:creationId xmlns:a16="http://schemas.microsoft.com/office/drawing/2014/main" id="{BA844387-F410-40FE-AB71-C3A1ABDEA673}"/>
                  </a:ext>
                </a:extLst>
              </p:cNvPr>
              <p:cNvSpPr/>
              <p:nvPr/>
            </p:nvSpPr>
            <p:spPr>
              <a:xfrm>
                <a:off x="216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7" name="Line 18">
                <a:extLst>
                  <a:ext uri="{FF2B5EF4-FFF2-40B4-BE49-F238E27FC236}">
                    <a16:creationId xmlns:a16="http://schemas.microsoft.com/office/drawing/2014/main" id="{176CECD4-1473-4C09-BC38-6E61E0ED0341}"/>
                  </a:ext>
                </a:extLst>
              </p:cNvPr>
              <p:cNvSpPr/>
              <p:nvPr/>
            </p:nvSpPr>
            <p:spPr>
              <a:xfrm flipH="1">
                <a:off x="216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8" name="Line 19">
                <a:extLst>
                  <a:ext uri="{FF2B5EF4-FFF2-40B4-BE49-F238E27FC236}">
                    <a16:creationId xmlns:a16="http://schemas.microsoft.com/office/drawing/2014/main" id="{95388D9F-C329-4F53-AFF5-897D860AE699}"/>
                  </a:ext>
                </a:extLst>
              </p:cNvPr>
              <p:cNvSpPr/>
              <p:nvPr/>
            </p:nvSpPr>
            <p:spPr>
              <a:xfrm>
                <a:off x="216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9" name="Line 20">
                <a:extLst>
                  <a:ext uri="{FF2B5EF4-FFF2-40B4-BE49-F238E27FC236}">
                    <a16:creationId xmlns:a16="http://schemas.microsoft.com/office/drawing/2014/main" id="{2992F0F2-D622-4BD8-8094-D98462DE9945}"/>
                  </a:ext>
                </a:extLst>
              </p:cNvPr>
              <p:cNvSpPr/>
              <p:nvPr/>
            </p:nvSpPr>
            <p:spPr>
              <a:xfrm flipH="1">
                <a:off x="216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0" name="Line 21">
                <a:extLst>
                  <a:ext uri="{FF2B5EF4-FFF2-40B4-BE49-F238E27FC236}">
                    <a16:creationId xmlns:a16="http://schemas.microsoft.com/office/drawing/2014/main" id="{72B61AB1-D55F-424F-ACBD-A1BED2FC0F13}"/>
                  </a:ext>
                </a:extLst>
              </p:cNvPr>
              <p:cNvSpPr/>
              <p:nvPr/>
            </p:nvSpPr>
            <p:spPr>
              <a:xfrm>
                <a:off x="216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" name="Line 22">
                <a:extLst>
                  <a:ext uri="{FF2B5EF4-FFF2-40B4-BE49-F238E27FC236}">
                    <a16:creationId xmlns:a16="http://schemas.microsoft.com/office/drawing/2014/main" id="{42F029E4-54B8-478C-865B-9F2BBCC61D8D}"/>
                  </a:ext>
                </a:extLst>
              </p:cNvPr>
              <p:cNvSpPr/>
              <p:nvPr/>
            </p:nvSpPr>
            <p:spPr>
              <a:xfrm flipH="1">
                <a:off x="38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" name="Line 23">
                <a:extLst>
                  <a:ext uri="{FF2B5EF4-FFF2-40B4-BE49-F238E27FC236}">
                    <a16:creationId xmlns:a16="http://schemas.microsoft.com/office/drawing/2014/main" id="{864356AC-6201-4C51-AEE9-3C8164C078C4}"/>
                  </a:ext>
                </a:extLst>
              </p:cNvPr>
              <p:cNvSpPr/>
              <p:nvPr/>
            </p:nvSpPr>
            <p:spPr>
              <a:xfrm>
                <a:off x="38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" name="Line 24">
                <a:extLst>
                  <a:ext uri="{FF2B5EF4-FFF2-40B4-BE49-F238E27FC236}">
                    <a16:creationId xmlns:a16="http://schemas.microsoft.com/office/drawing/2014/main" id="{3B934522-AD1C-49C0-9213-B90EFA50E939}"/>
                  </a:ext>
                </a:extLst>
              </p:cNvPr>
              <p:cNvSpPr/>
              <p:nvPr/>
            </p:nvSpPr>
            <p:spPr>
              <a:xfrm flipH="1">
                <a:off x="72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" name="Line 25">
                <a:extLst>
                  <a:ext uri="{FF2B5EF4-FFF2-40B4-BE49-F238E27FC236}">
                    <a16:creationId xmlns:a16="http://schemas.microsoft.com/office/drawing/2014/main" id="{4D1D9EC7-B275-43CD-9626-399D9B785A02}"/>
                  </a:ext>
                </a:extLst>
              </p:cNvPr>
              <p:cNvSpPr/>
              <p:nvPr/>
            </p:nvSpPr>
            <p:spPr>
              <a:xfrm>
                <a:off x="72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" name="Line 26">
                <a:extLst>
                  <a:ext uri="{FF2B5EF4-FFF2-40B4-BE49-F238E27FC236}">
                    <a16:creationId xmlns:a16="http://schemas.microsoft.com/office/drawing/2014/main" id="{89126168-9292-4077-9BB6-0F317B7BCC47}"/>
                  </a:ext>
                </a:extLst>
              </p:cNvPr>
              <p:cNvSpPr/>
              <p:nvPr/>
            </p:nvSpPr>
            <p:spPr>
              <a:xfrm flipH="1">
                <a:off x="1056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" name="Line 27">
                <a:extLst>
                  <a:ext uri="{FF2B5EF4-FFF2-40B4-BE49-F238E27FC236}">
                    <a16:creationId xmlns:a16="http://schemas.microsoft.com/office/drawing/2014/main" id="{58986190-E027-4504-8CB7-E7CA1CCA9886}"/>
                  </a:ext>
                </a:extLst>
              </p:cNvPr>
              <p:cNvSpPr/>
              <p:nvPr/>
            </p:nvSpPr>
            <p:spPr>
              <a:xfrm>
                <a:off x="1056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" name="Line 28">
                <a:extLst>
                  <a:ext uri="{FF2B5EF4-FFF2-40B4-BE49-F238E27FC236}">
                    <a16:creationId xmlns:a16="http://schemas.microsoft.com/office/drawing/2014/main" id="{F516CF3C-155D-4D00-9BAD-3192BB2F3BF0}"/>
                  </a:ext>
                </a:extLst>
              </p:cNvPr>
              <p:cNvSpPr/>
              <p:nvPr/>
            </p:nvSpPr>
            <p:spPr>
              <a:xfrm flipH="1">
                <a:off x="38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" name="Line 29">
                <a:extLst>
                  <a:ext uri="{FF2B5EF4-FFF2-40B4-BE49-F238E27FC236}">
                    <a16:creationId xmlns:a16="http://schemas.microsoft.com/office/drawing/2014/main" id="{CB31BE71-7376-4124-B980-BE67FAF61915}"/>
                  </a:ext>
                </a:extLst>
              </p:cNvPr>
              <p:cNvSpPr/>
              <p:nvPr/>
            </p:nvSpPr>
            <p:spPr>
              <a:xfrm>
                <a:off x="38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" name="Line 30">
                <a:extLst>
                  <a:ext uri="{FF2B5EF4-FFF2-40B4-BE49-F238E27FC236}">
                    <a16:creationId xmlns:a16="http://schemas.microsoft.com/office/drawing/2014/main" id="{D7C2AF79-C506-446A-8080-8EC755818B8C}"/>
                  </a:ext>
                </a:extLst>
              </p:cNvPr>
              <p:cNvSpPr/>
              <p:nvPr/>
            </p:nvSpPr>
            <p:spPr>
              <a:xfrm flipH="1">
                <a:off x="72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" name="Line 31">
                <a:extLst>
                  <a:ext uri="{FF2B5EF4-FFF2-40B4-BE49-F238E27FC236}">
                    <a16:creationId xmlns:a16="http://schemas.microsoft.com/office/drawing/2014/main" id="{D3188A8B-B87A-4122-80E3-8E0FDDE7DD18}"/>
                  </a:ext>
                </a:extLst>
              </p:cNvPr>
              <p:cNvSpPr/>
              <p:nvPr/>
            </p:nvSpPr>
            <p:spPr>
              <a:xfrm>
                <a:off x="72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" name="Line 32">
                <a:extLst>
                  <a:ext uri="{FF2B5EF4-FFF2-40B4-BE49-F238E27FC236}">
                    <a16:creationId xmlns:a16="http://schemas.microsoft.com/office/drawing/2014/main" id="{5BE94297-CDA6-4E4B-82D9-9161F1EAC1E6}"/>
                  </a:ext>
                </a:extLst>
              </p:cNvPr>
              <p:cNvSpPr/>
              <p:nvPr/>
            </p:nvSpPr>
            <p:spPr>
              <a:xfrm flipH="1">
                <a:off x="1056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" name="Line 33">
                <a:extLst>
                  <a:ext uri="{FF2B5EF4-FFF2-40B4-BE49-F238E27FC236}">
                    <a16:creationId xmlns:a16="http://schemas.microsoft.com/office/drawing/2014/main" id="{0D58187D-1D00-44A4-82EB-D81877A66964}"/>
                  </a:ext>
                </a:extLst>
              </p:cNvPr>
              <p:cNvSpPr/>
              <p:nvPr/>
            </p:nvSpPr>
            <p:spPr>
              <a:xfrm>
                <a:off x="1056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" name="Line 34">
                <a:extLst>
                  <a:ext uri="{FF2B5EF4-FFF2-40B4-BE49-F238E27FC236}">
                    <a16:creationId xmlns:a16="http://schemas.microsoft.com/office/drawing/2014/main" id="{861D3AAA-31FB-4486-8F83-0F82B62572B4}"/>
                  </a:ext>
                </a:extLst>
              </p:cNvPr>
              <p:cNvSpPr/>
              <p:nvPr/>
            </p:nvSpPr>
            <p:spPr>
              <a:xfrm flipH="1">
                <a:off x="38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4" name="Line 35">
                <a:extLst>
                  <a:ext uri="{FF2B5EF4-FFF2-40B4-BE49-F238E27FC236}">
                    <a16:creationId xmlns:a16="http://schemas.microsoft.com/office/drawing/2014/main" id="{532B8E80-53C1-471A-BF74-924C2C2C40D4}"/>
                  </a:ext>
                </a:extLst>
              </p:cNvPr>
              <p:cNvSpPr/>
              <p:nvPr/>
            </p:nvSpPr>
            <p:spPr>
              <a:xfrm>
                <a:off x="38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5" name="Line 36">
                <a:extLst>
                  <a:ext uri="{FF2B5EF4-FFF2-40B4-BE49-F238E27FC236}">
                    <a16:creationId xmlns:a16="http://schemas.microsoft.com/office/drawing/2014/main" id="{DED05106-95C1-42EE-ADA5-0BA247467E56}"/>
                  </a:ext>
                </a:extLst>
              </p:cNvPr>
              <p:cNvSpPr/>
              <p:nvPr/>
            </p:nvSpPr>
            <p:spPr>
              <a:xfrm flipH="1">
                <a:off x="72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6" name="Line 37">
                <a:extLst>
                  <a:ext uri="{FF2B5EF4-FFF2-40B4-BE49-F238E27FC236}">
                    <a16:creationId xmlns:a16="http://schemas.microsoft.com/office/drawing/2014/main" id="{0EE7BC70-27B9-4FAC-AFE5-643733D9BB92}"/>
                  </a:ext>
                </a:extLst>
              </p:cNvPr>
              <p:cNvSpPr/>
              <p:nvPr/>
            </p:nvSpPr>
            <p:spPr>
              <a:xfrm>
                <a:off x="72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7" name="Line 38">
                <a:extLst>
                  <a:ext uri="{FF2B5EF4-FFF2-40B4-BE49-F238E27FC236}">
                    <a16:creationId xmlns:a16="http://schemas.microsoft.com/office/drawing/2014/main" id="{5844AF6D-649B-4B35-BA7B-24C4C83E3251}"/>
                  </a:ext>
                </a:extLst>
              </p:cNvPr>
              <p:cNvSpPr/>
              <p:nvPr/>
            </p:nvSpPr>
            <p:spPr>
              <a:xfrm flipH="1">
                <a:off x="1056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8" name="Line 39">
                <a:extLst>
                  <a:ext uri="{FF2B5EF4-FFF2-40B4-BE49-F238E27FC236}">
                    <a16:creationId xmlns:a16="http://schemas.microsoft.com/office/drawing/2014/main" id="{1FAA64DE-14E8-4688-9BBB-CDC62CDEF47C}"/>
                  </a:ext>
                </a:extLst>
              </p:cNvPr>
              <p:cNvSpPr/>
              <p:nvPr/>
            </p:nvSpPr>
            <p:spPr>
              <a:xfrm>
                <a:off x="1056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" name="Line 40">
                <a:extLst>
                  <a:ext uri="{FF2B5EF4-FFF2-40B4-BE49-F238E27FC236}">
                    <a16:creationId xmlns:a16="http://schemas.microsoft.com/office/drawing/2014/main" id="{7606296F-84E2-4CC2-97CB-C05ACC017F11}"/>
                  </a:ext>
                </a:extLst>
              </p:cNvPr>
              <p:cNvSpPr/>
              <p:nvPr/>
            </p:nvSpPr>
            <p:spPr>
              <a:xfrm flipH="1">
                <a:off x="38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0" name="Line 41">
                <a:extLst>
                  <a:ext uri="{FF2B5EF4-FFF2-40B4-BE49-F238E27FC236}">
                    <a16:creationId xmlns:a16="http://schemas.microsoft.com/office/drawing/2014/main" id="{20264D29-D4BB-4E7F-A174-544B15DF702D}"/>
                  </a:ext>
                </a:extLst>
              </p:cNvPr>
              <p:cNvSpPr/>
              <p:nvPr/>
            </p:nvSpPr>
            <p:spPr>
              <a:xfrm>
                <a:off x="38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1" name="Line 42">
                <a:extLst>
                  <a:ext uri="{FF2B5EF4-FFF2-40B4-BE49-F238E27FC236}">
                    <a16:creationId xmlns:a16="http://schemas.microsoft.com/office/drawing/2014/main" id="{5F4D5FA0-ED45-4028-80C2-0D40CF728578}"/>
                  </a:ext>
                </a:extLst>
              </p:cNvPr>
              <p:cNvSpPr/>
              <p:nvPr/>
            </p:nvSpPr>
            <p:spPr>
              <a:xfrm flipH="1">
                <a:off x="72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2" name="Line 43">
                <a:extLst>
                  <a:ext uri="{FF2B5EF4-FFF2-40B4-BE49-F238E27FC236}">
                    <a16:creationId xmlns:a16="http://schemas.microsoft.com/office/drawing/2014/main" id="{172FC422-E075-44DA-ADE8-EF4C1C246CDE}"/>
                  </a:ext>
                </a:extLst>
              </p:cNvPr>
              <p:cNvSpPr/>
              <p:nvPr/>
            </p:nvSpPr>
            <p:spPr>
              <a:xfrm>
                <a:off x="72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" name="Line 44">
                <a:extLst>
                  <a:ext uri="{FF2B5EF4-FFF2-40B4-BE49-F238E27FC236}">
                    <a16:creationId xmlns:a16="http://schemas.microsoft.com/office/drawing/2014/main" id="{6DF7E58D-1571-43E6-AFCC-D3750C5115DF}"/>
                  </a:ext>
                </a:extLst>
              </p:cNvPr>
              <p:cNvSpPr/>
              <p:nvPr/>
            </p:nvSpPr>
            <p:spPr>
              <a:xfrm flipH="1">
                <a:off x="1056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4" name="Line 45">
                <a:extLst>
                  <a:ext uri="{FF2B5EF4-FFF2-40B4-BE49-F238E27FC236}">
                    <a16:creationId xmlns:a16="http://schemas.microsoft.com/office/drawing/2014/main" id="{3B40B795-A976-4F4D-AAE9-4811D26FEE23}"/>
                  </a:ext>
                </a:extLst>
              </p:cNvPr>
              <p:cNvSpPr/>
              <p:nvPr/>
            </p:nvSpPr>
            <p:spPr>
              <a:xfrm>
                <a:off x="1056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" name="Line 46">
                <a:extLst>
                  <a:ext uri="{FF2B5EF4-FFF2-40B4-BE49-F238E27FC236}">
                    <a16:creationId xmlns:a16="http://schemas.microsoft.com/office/drawing/2014/main" id="{9C6CF347-ABC9-4288-94E1-67E7DC0B5544}"/>
                  </a:ext>
                </a:extLst>
              </p:cNvPr>
              <p:cNvSpPr/>
              <p:nvPr/>
            </p:nvSpPr>
            <p:spPr>
              <a:xfrm flipH="1">
                <a:off x="144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6" name="Line 47">
                <a:extLst>
                  <a:ext uri="{FF2B5EF4-FFF2-40B4-BE49-F238E27FC236}">
                    <a16:creationId xmlns:a16="http://schemas.microsoft.com/office/drawing/2014/main" id="{B42328F4-6EFF-49B9-B3B2-F2CA778896DB}"/>
                  </a:ext>
                </a:extLst>
              </p:cNvPr>
              <p:cNvSpPr/>
              <p:nvPr/>
            </p:nvSpPr>
            <p:spPr>
              <a:xfrm>
                <a:off x="144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" name="Line 48">
                <a:extLst>
                  <a:ext uri="{FF2B5EF4-FFF2-40B4-BE49-F238E27FC236}">
                    <a16:creationId xmlns:a16="http://schemas.microsoft.com/office/drawing/2014/main" id="{3A6D292B-F0C2-4C33-A0B5-B1EA7121721B}"/>
                  </a:ext>
                </a:extLst>
              </p:cNvPr>
              <p:cNvSpPr/>
              <p:nvPr/>
            </p:nvSpPr>
            <p:spPr>
              <a:xfrm flipH="1">
                <a:off x="182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" name="Line 49">
                <a:extLst>
                  <a:ext uri="{FF2B5EF4-FFF2-40B4-BE49-F238E27FC236}">
                    <a16:creationId xmlns:a16="http://schemas.microsoft.com/office/drawing/2014/main" id="{8A3090FC-E71C-4E95-9A40-D4F14EBDC9ED}"/>
                  </a:ext>
                </a:extLst>
              </p:cNvPr>
              <p:cNvSpPr/>
              <p:nvPr/>
            </p:nvSpPr>
            <p:spPr>
              <a:xfrm>
                <a:off x="182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9" name="Line 50">
                <a:extLst>
                  <a:ext uri="{FF2B5EF4-FFF2-40B4-BE49-F238E27FC236}">
                    <a16:creationId xmlns:a16="http://schemas.microsoft.com/office/drawing/2014/main" id="{234D0950-1EF9-452E-B021-CC999705929E}"/>
                  </a:ext>
                </a:extLst>
              </p:cNvPr>
              <p:cNvSpPr/>
              <p:nvPr/>
            </p:nvSpPr>
            <p:spPr>
              <a:xfrm flipH="1">
                <a:off x="144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0" name="Line 51">
                <a:extLst>
                  <a:ext uri="{FF2B5EF4-FFF2-40B4-BE49-F238E27FC236}">
                    <a16:creationId xmlns:a16="http://schemas.microsoft.com/office/drawing/2014/main" id="{F5E1FC96-8DC7-49B0-A06A-7D5E2293E238}"/>
                  </a:ext>
                </a:extLst>
              </p:cNvPr>
              <p:cNvSpPr/>
              <p:nvPr/>
            </p:nvSpPr>
            <p:spPr>
              <a:xfrm>
                <a:off x="144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1" name="Line 52">
                <a:extLst>
                  <a:ext uri="{FF2B5EF4-FFF2-40B4-BE49-F238E27FC236}">
                    <a16:creationId xmlns:a16="http://schemas.microsoft.com/office/drawing/2014/main" id="{BD826262-A45F-4367-BBA4-18AEC6CC5F5C}"/>
                  </a:ext>
                </a:extLst>
              </p:cNvPr>
              <p:cNvSpPr/>
              <p:nvPr/>
            </p:nvSpPr>
            <p:spPr>
              <a:xfrm flipH="1">
                <a:off x="182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2" name="Line 53">
                <a:extLst>
                  <a:ext uri="{FF2B5EF4-FFF2-40B4-BE49-F238E27FC236}">
                    <a16:creationId xmlns:a16="http://schemas.microsoft.com/office/drawing/2014/main" id="{EFD88AEA-BA10-441C-B835-DFE42E057A2F}"/>
                  </a:ext>
                </a:extLst>
              </p:cNvPr>
              <p:cNvSpPr/>
              <p:nvPr/>
            </p:nvSpPr>
            <p:spPr>
              <a:xfrm>
                <a:off x="182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" name="Line 54">
                <a:extLst>
                  <a:ext uri="{FF2B5EF4-FFF2-40B4-BE49-F238E27FC236}">
                    <a16:creationId xmlns:a16="http://schemas.microsoft.com/office/drawing/2014/main" id="{F8BA4F41-5A18-4DD9-940A-2198353BA0B0}"/>
                  </a:ext>
                </a:extLst>
              </p:cNvPr>
              <p:cNvSpPr/>
              <p:nvPr/>
            </p:nvSpPr>
            <p:spPr>
              <a:xfrm flipH="1">
                <a:off x="144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4" name="Line 55">
                <a:extLst>
                  <a:ext uri="{FF2B5EF4-FFF2-40B4-BE49-F238E27FC236}">
                    <a16:creationId xmlns:a16="http://schemas.microsoft.com/office/drawing/2014/main" id="{18764FC1-7917-4556-A47C-361D11134470}"/>
                  </a:ext>
                </a:extLst>
              </p:cNvPr>
              <p:cNvSpPr/>
              <p:nvPr/>
            </p:nvSpPr>
            <p:spPr>
              <a:xfrm>
                <a:off x="144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" name="Line 56">
                <a:extLst>
                  <a:ext uri="{FF2B5EF4-FFF2-40B4-BE49-F238E27FC236}">
                    <a16:creationId xmlns:a16="http://schemas.microsoft.com/office/drawing/2014/main" id="{70122FA6-591E-454A-8063-7287C40310D1}"/>
                  </a:ext>
                </a:extLst>
              </p:cNvPr>
              <p:cNvSpPr/>
              <p:nvPr/>
            </p:nvSpPr>
            <p:spPr>
              <a:xfrm flipH="1">
                <a:off x="182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6" name="Line 57">
                <a:extLst>
                  <a:ext uri="{FF2B5EF4-FFF2-40B4-BE49-F238E27FC236}">
                    <a16:creationId xmlns:a16="http://schemas.microsoft.com/office/drawing/2014/main" id="{40C9AF0D-98CF-469C-A61B-0E06338D231E}"/>
                  </a:ext>
                </a:extLst>
              </p:cNvPr>
              <p:cNvSpPr/>
              <p:nvPr/>
            </p:nvSpPr>
            <p:spPr>
              <a:xfrm>
                <a:off x="182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7" name="Line 58">
                <a:extLst>
                  <a:ext uri="{FF2B5EF4-FFF2-40B4-BE49-F238E27FC236}">
                    <a16:creationId xmlns:a16="http://schemas.microsoft.com/office/drawing/2014/main" id="{D00F59A0-A0C3-4379-80B2-E911A6D8CFBD}"/>
                  </a:ext>
                </a:extLst>
              </p:cNvPr>
              <p:cNvSpPr/>
              <p:nvPr/>
            </p:nvSpPr>
            <p:spPr>
              <a:xfrm flipH="1">
                <a:off x="144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" name="Line 59">
                <a:extLst>
                  <a:ext uri="{FF2B5EF4-FFF2-40B4-BE49-F238E27FC236}">
                    <a16:creationId xmlns:a16="http://schemas.microsoft.com/office/drawing/2014/main" id="{06C03796-B90D-4BC5-963E-F733685ABCFC}"/>
                  </a:ext>
                </a:extLst>
              </p:cNvPr>
              <p:cNvSpPr/>
              <p:nvPr/>
            </p:nvSpPr>
            <p:spPr>
              <a:xfrm>
                <a:off x="144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9" name="Line 60">
                <a:extLst>
                  <a:ext uri="{FF2B5EF4-FFF2-40B4-BE49-F238E27FC236}">
                    <a16:creationId xmlns:a16="http://schemas.microsoft.com/office/drawing/2014/main" id="{144F0EA2-23C2-4CD8-9EEB-0B491B61CC83}"/>
                  </a:ext>
                </a:extLst>
              </p:cNvPr>
              <p:cNvSpPr/>
              <p:nvPr/>
            </p:nvSpPr>
            <p:spPr>
              <a:xfrm flipH="1">
                <a:off x="182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0" name="Line 61">
                <a:extLst>
                  <a:ext uri="{FF2B5EF4-FFF2-40B4-BE49-F238E27FC236}">
                    <a16:creationId xmlns:a16="http://schemas.microsoft.com/office/drawing/2014/main" id="{BB75C203-FEA0-4B0B-B081-88E895A98A25}"/>
                  </a:ext>
                </a:extLst>
              </p:cNvPr>
              <p:cNvSpPr/>
              <p:nvPr/>
            </p:nvSpPr>
            <p:spPr>
              <a:xfrm>
                <a:off x="182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1" name="Line 62">
                <a:extLst>
                  <a:ext uri="{FF2B5EF4-FFF2-40B4-BE49-F238E27FC236}">
                    <a16:creationId xmlns:a16="http://schemas.microsoft.com/office/drawing/2014/main" id="{3E6B51D5-E365-4238-A7CE-8BF8C7B82F47}"/>
                  </a:ext>
                </a:extLst>
              </p:cNvPr>
              <p:cNvSpPr/>
              <p:nvPr/>
            </p:nvSpPr>
            <p:spPr>
              <a:xfrm flipH="1">
                <a:off x="216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2" name="Line 63">
                <a:extLst>
                  <a:ext uri="{FF2B5EF4-FFF2-40B4-BE49-F238E27FC236}">
                    <a16:creationId xmlns:a16="http://schemas.microsoft.com/office/drawing/2014/main" id="{E1C5A5B3-AE0F-4099-BB85-F262A9E9C9E9}"/>
                  </a:ext>
                </a:extLst>
              </p:cNvPr>
              <p:cNvSpPr/>
              <p:nvPr/>
            </p:nvSpPr>
            <p:spPr>
              <a:xfrm>
                <a:off x="216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" name="Line 64">
                <a:extLst>
                  <a:ext uri="{FF2B5EF4-FFF2-40B4-BE49-F238E27FC236}">
                    <a16:creationId xmlns:a16="http://schemas.microsoft.com/office/drawing/2014/main" id="{15F7D1F7-44F2-46F2-93B1-6E61AF621648}"/>
                  </a:ext>
                </a:extLst>
              </p:cNvPr>
              <p:cNvSpPr/>
              <p:nvPr/>
            </p:nvSpPr>
            <p:spPr>
              <a:xfrm flipH="1">
                <a:off x="38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" name="Line 65">
                <a:extLst>
                  <a:ext uri="{FF2B5EF4-FFF2-40B4-BE49-F238E27FC236}">
                    <a16:creationId xmlns:a16="http://schemas.microsoft.com/office/drawing/2014/main" id="{103B85A3-B898-4075-9BB6-CCE4F25A0C1D}"/>
                  </a:ext>
                </a:extLst>
              </p:cNvPr>
              <p:cNvSpPr/>
              <p:nvPr/>
            </p:nvSpPr>
            <p:spPr>
              <a:xfrm>
                <a:off x="38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5" name="Line 66">
                <a:extLst>
                  <a:ext uri="{FF2B5EF4-FFF2-40B4-BE49-F238E27FC236}">
                    <a16:creationId xmlns:a16="http://schemas.microsoft.com/office/drawing/2014/main" id="{2B7986E6-97F7-470F-A787-5573E7658160}"/>
                  </a:ext>
                </a:extLst>
              </p:cNvPr>
              <p:cNvSpPr/>
              <p:nvPr/>
            </p:nvSpPr>
            <p:spPr>
              <a:xfrm flipH="1">
                <a:off x="72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6" name="Line 67">
                <a:extLst>
                  <a:ext uri="{FF2B5EF4-FFF2-40B4-BE49-F238E27FC236}">
                    <a16:creationId xmlns:a16="http://schemas.microsoft.com/office/drawing/2014/main" id="{0EF34D60-AD0A-4409-97FA-66DAF9917B5E}"/>
                  </a:ext>
                </a:extLst>
              </p:cNvPr>
              <p:cNvSpPr/>
              <p:nvPr/>
            </p:nvSpPr>
            <p:spPr>
              <a:xfrm>
                <a:off x="72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7" name="Line 68">
                <a:extLst>
                  <a:ext uri="{FF2B5EF4-FFF2-40B4-BE49-F238E27FC236}">
                    <a16:creationId xmlns:a16="http://schemas.microsoft.com/office/drawing/2014/main" id="{C7F35AE0-1E6F-4722-8E05-C3899187B5D7}"/>
                  </a:ext>
                </a:extLst>
              </p:cNvPr>
              <p:cNvSpPr/>
              <p:nvPr/>
            </p:nvSpPr>
            <p:spPr>
              <a:xfrm flipH="1">
                <a:off x="1056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8" name="Line 69">
                <a:extLst>
                  <a:ext uri="{FF2B5EF4-FFF2-40B4-BE49-F238E27FC236}">
                    <a16:creationId xmlns:a16="http://schemas.microsoft.com/office/drawing/2014/main" id="{C6D45FAA-527A-43DF-8900-415842086BF7}"/>
                  </a:ext>
                </a:extLst>
              </p:cNvPr>
              <p:cNvSpPr/>
              <p:nvPr/>
            </p:nvSpPr>
            <p:spPr>
              <a:xfrm>
                <a:off x="1056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9" name="Line 70">
                <a:extLst>
                  <a:ext uri="{FF2B5EF4-FFF2-40B4-BE49-F238E27FC236}">
                    <a16:creationId xmlns:a16="http://schemas.microsoft.com/office/drawing/2014/main" id="{C60AC98C-9A38-4032-8655-7A9DBE195BD2}"/>
                  </a:ext>
                </a:extLst>
              </p:cNvPr>
              <p:cNvSpPr/>
              <p:nvPr/>
            </p:nvSpPr>
            <p:spPr>
              <a:xfrm flipH="1">
                <a:off x="144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0" name="Line 71">
                <a:extLst>
                  <a:ext uri="{FF2B5EF4-FFF2-40B4-BE49-F238E27FC236}">
                    <a16:creationId xmlns:a16="http://schemas.microsoft.com/office/drawing/2014/main" id="{6C2BE7FC-CC20-413C-95BA-BBD8454FA5A9}"/>
                  </a:ext>
                </a:extLst>
              </p:cNvPr>
              <p:cNvSpPr/>
              <p:nvPr/>
            </p:nvSpPr>
            <p:spPr>
              <a:xfrm>
                <a:off x="144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1" name="Line 72">
                <a:extLst>
                  <a:ext uri="{FF2B5EF4-FFF2-40B4-BE49-F238E27FC236}">
                    <a16:creationId xmlns:a16="http://schemas.microsoft.com/office/drawing/2014/main" id="{E48B0096-3CAB-4F0C-B16D-A5E21615BCB8}"/>
                  </a:ext>
                </a:extLst>
              </p:cNvPr>
              <p:cNvSpPr/>
              <p:nvPr/>
            </p:nvSpPr>
            <p:spPr>
              <a:xfrm flipH="1">
                <a:off x="182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2" name="Line 73">
                <a:extLst>
                  <a:ext uri="{FF2B5EF4-FFF2-40B4-BE49-F238E27FC236}">
                    <a16:creationId xmlns:a16="http://schemas.microsoft.com/office/drawing/2014/main" id="{FDF64A5A-F02A-468A-9738-6E4EEA245E42}"/>
                  </a:ext>
                </a:extLst>
              </p:cNvPr>
              <p:cNvSpPr/>
              <p:nvPr/>
            </p:nvSpPr>
            <p:spPr>
              <a:xfrm>
                <a:off x="182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" name="Line 74">
                <a:extLst>
                  <a:ext uri="{FF2B5EF4-FFF2-40B4-BE49-F238E27FC236}">
                    <a16:creationId xmlns:a16="http://schemas.microsoft.com/office/drawing/2014/main" id="{B2AF0915-7516-49E2-A8DE-2FE476158280}"/>
                  </a:ext>
                </a:extLst>
              </p:cNvPr>
              <p:cNvSpPr/>
              <p:nvPr/>
            </p:nvSpPr>
            <p:spPr>
              <a:xfrm flipH="1">
                <a:off x="216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" name="Line 75">
                <a:extLst>
                  <a:ext uri="{FF2B5EF4-FFF2-40B4-BE49-F238E27FC236}">
                    <a16:creationId xmlns:a16="http://schemas.microsoft.com/office/drawing/2014/main" id="{6C53B734-8521-4B5C-9081-BF0F9EFF002E}"/>
                  </a:ext>
                </a:extLst>
              </p:cNvPr>
              <p:cNvSpPr/>
              <p:nvPr/>
            </p:nvSpPr>
            <p:spPr>
              <a:xfrm>
                <a:off x="216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5" name="Line 76">
                <a:extLst>
                  <a:ext uri="{FF2B5EF4-FFF2-40B4-BE49-F238E27FC236}">
                    <a16:creationId xmlns:a16="http://schemas.microsoft.com/office/drawing/2014/main" id="{E0BADB4C-1FAF-4089-80F7-92574ED64F8C}"/>
                  </a:ext>
                </a:extLst>
              </p:cNvPr>
              <p:cNvSpPr/>
              <p:nvPr/>
            </p:nvSpPr>
            <p:spPr>
              <a:xfrm flipH="1">
                <a:off x="38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6" name="Line 77">
                <a:extLst>
                  <a:ext uri="{FF2B5EF4-FFF2-40B4-BE49-F238E27FC236}">
                    <a16:creationId xmlns:a16="http://schemas.microsoft.com/office/drawing/2014/main" id="{75E9F6BB-5A8B-42DF-9F01-13CF0A74C2C0}"/>
                  </a:ext>
                </a:extLst>
              </p:cNvPr>
              <p:cNvSpPr/>
              <p:nvPr/>
            </p:nvSpPr>
            <p:spPr>
              <a:xfrm>
                <a:off x="38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7" name="Line 78">
                <a:extLst>
                  <a:ext uri="{FF2B5EF4-FFF2-40B4-BE49-F238E27FC236}">
                    <a16:creationId xmlns:a16="http://schemas.microsoft.com/office/drawing/2014/main" id="{F1227B8E-8B23-461E-9B21-731597D5137B}"/>
                  </a:ext>
                </a:extLst>
              </p:cNvPr>
              <p:cNvSpPr/>
              <p:nvPr/>
            </p:nvSpPr>
            <p:spPr>
              <a:xfrm flipH="1">
                <a:off x="72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8" name="Line 79">
                <a:extLst>
                  <a:ext uri="{FF2B5EF4-FFF2-40B4-BE49-F238E27FC236}">
                    <a16:creationId xmlns:a16="http://schemas.microsoft.com/office/drawing/2014/main" id="{C09F3B15-EBEE-4D95-9D9D-42F1701BBE77}"/>
                  </a:ext>
                </a:extLst>
              </p:cNvPr>
              <p:cNvSpPr/>
              <p:nvPr/>
            </p:nvSpPr>
            <p:spPr>
              <a:xfrm>
                <a:off x="72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9" name="Line 80">
                <a:extLst>
                  <a:ext uri="{FF2B5EF4-FFF2-40B4-BE49-F238E27FC236}">
                    <a16:creationId xmlns:a16="http://schemas.microsoft.com/office/drawing/2014/main" id="{53C373EA-4FE2-4613-929D-B01F4AB96648}"/>
                  </a:ext>
                </a:extLst>
              </p:cNvPr>
              <p:cNvSpPr/>
              <p:nvPr/>
            </p:nvSpPr>
            <p:spPr>
              <a:xfrm flipH="1">
                <a:off x="1056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0" name="Line 81">
                <a:extLst>
                  <a:ext uri="{FF2B5EF4-FFF2-40B4-BE49-F238E27FC236}">
                    <a16:creationId xmlns:a16="http://schemas.microsoft.com/office/drawing/2014/main" id="{9C301B2C-D452-44F5-AC84-E78AFBDF467A}"/>
                  </a:ext>
                </a:extLst>
              </p:cNvPr>
              <p:cNvSpPr/>
              <p:nvPr/>
            </p:nvSpPr>
            <p:spPr>
              <a:xfrm>
                <a:off x="1056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1" name="Line 82">
                <a:extLst>
                  <a:ext uri="{FF2B5EF4-FFF2-40B4-BE49-F238E27FC236}">
                    <a16:creationId xmlns:a16="http://schemas.microsoft.com/office/drawing/2014/main" id="{33A38080-FD97-4E30-87E6-E46BD5456656}"/>
                  </a:ext>
                </a:extLst>
              </p:cNvPr>
              <p:cNvSpPr/>
              <p:nvPr/>
            </p:nvSpPr>
            <p:spPr>
              <a:xfrm flipH="1">
                <a:off x="144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2" name="Line 83">
                <a:extLst>
                  <a:ext uri="{FF2B5EF4-FFF2-40B4-BE49-F238E27FC236}">
                    <a16:creationId xmlns:a16="http://schemas.microsoft.com/office/drawing/2014/main" id="{8982A14D-6451-4C4E-B631-CE4CEC138D76}"/>
                  </a:ext>
                </a:extLst>
              </p:cNvPr>
              <p:cNvSpPr/>
              <p:nvPr/>
            </p:nvSpPr>
            <p:spPr>
              <a:xfrm>
                <a:off x="144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" name="Line 84">
                <a:extLst>
                  <a:ext uri="{FF2B5EF4-FFF2-40B4-BE49-F238E27FC236}">
                    <a16:creationId xmlns:a16="http://schemas.microsoft.com/office/drawing/2014/main" id="{DC7C8418-AD9A-435B-9934-C9B9B9865CD2}"/>
                  </a:ext>
                </a:extLst>
              </p:cNvPr>
              <p:cNvSpPr/>
              <p:nvPr/>
            </p:nvSpPr>
            <p:spPr>
              <a:xfrm flipH="1">
                <a:off x="182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" name="Line 85">
                <a:extLst>
                  <a:ext uri="{FF2B5EF4-FFF2-40B4-BE49-F238E27FC236}">
                    <a16:creationId xmlns:a16="http://schemas.microsoft.com/office/drawing/2014/main" id="{4C78DCE9-EC6E-461B-A41E-CD449CC99691}"/>
                  </a:ext>
                </a:extLst>
              </p:cNvPr>
              <p:cNvSpPr/>
              <p:nvPr/>
            </p:nvSpPr>
            <p:spPr>
              <a:xfrm>
                <a:off x="182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5" name="Line 86">
                <a:extLst>
                  <a:ext uri="{FF2B5EF4-FFF2-40B4-BE49-F238E27FC236}">
                    <a16:creationId xmlns:a16="http://schemas.microsoft.com/office/drawing/2014/main" id="{98CA3205-A86D-4182-8D6B-7C6B7669A060}"/>
                  </a:ext>
                </a:extLst>
              </p:cNvPr>
              <p:cNvSpPr/>
              <p:nvPr/>
            </p:nvSpPr>
            <p:spPr>
              <a:xfrm flipH="1">
                <a:off x="216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6" name="Line 87">
                <a:extLst>
                  <a:ext uri="{FF2B5EF4-FFF2-40B4-BE49-F238E27FC236}">
                    <a16:creationId xmlns:a16="http://schemas.microsoft.com/office/drawing/2014/main" id="{37E1FD51-40B5-4BD4-80F0-51358BA004DB}"/>
                  </a:ext>
                </a:extLst>
              </p:cNvPr>
              <p:cNvSpPr/>
              <p:nvPr/>
            </p:nvSpPr>
            <p:spPr>
              <a:xfrm>
                <a:off x="216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4CFD6B79-1949-42FF-A310-814B64483684}"/>
                </a:ext>
              </a:extLst>
            </p:cNvPr>
            <p:cNvSpPr/>
            <p:nvPr/>
          </p:nvSpPr>
          <p:spPr>
            <a:xfrm>
              <a:off x="3360" y="19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18CA61EF-BDD4-47E1-A9FA-3C1C7CDDE692}"/>
                </a:ext>
              </a:extLst>
            </p:cNvPr>
            <p:cNvSpPr/>
            <p:nvPr/>
          </p:nvSpPr>
          <p:spPr>
            <a:xfrm>
              <a:off x="4896" y="19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93" name="Line 90">
              <a:extLst>
                <a:ext uri="{FF2B5EF4-FFF2-40B4-BE49-F238E27FC236}">
                  <a16:creationId xmlns:a16="http://schemas.microsoft.com/office/drawing/2014/main" id="{A0654EA8-0AC2-4027-A869-6FE4DE531C5C}"/>
                </a:ext>
              </a:extLst>
            </p:cNvPr>
            <p:cNvSpPr/>
            <p:nvPr/>
          </p:nvSpPr>
          <p:spPr>
            <a:xfrm>
              <a:off x="3360" y="2112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94" name="Text Box 91">
              <a:extLst>
                <a:ext uri="{FF2B5EF4-FFF2-40B4-BE49-F238E27FC236}">
                  <a16:creationId xmlns:a16="http://schemas.microsoft.com/office/drawing/2014/main" id="{05AF9327-B580-4F61-A1A0-9DAA45937C85}"/>
                </a:ext>
              </a:extLst>
            </p:cNvPr>
            <p:cNvSpPr txBox="1"/>
            <p:nvPr/>
          </p:nvSpPr>
          <p:spPr>
            <a:xfrm>
              <a:off x="3974" y="1977"/>
              <a:ext cx="4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167" name="矩形 166">
            <a:extLst>
              <a:ext uri="{FF2B5EF4-FFF2-40B4-BE49-F238E27FC236}">
                <a16:creationId xmlns:a16="http://schemas.microsoft.com/office/drawing/2014/main" id="{DC2027D5-6B87-49B4-A313-2F5DEB6DE894}"/>
              </a:ext>
            </a:extLst>
          </p:cNvPr>
          <p:cNvSpPr/>
          <p:nvPr/>
        </p:nvSpPr>
        <p:spPr>
          <a:xfrm>
            <a:off x="4352014" y="3831569"/>
            <a:ext cx="70102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任意平面载流导线在均匀磁场中所受的力 ,  与其始点和终点相同的载流直导线所受的磁场力相同</a:t>
            </a:r>
            <a:endParaRPr lang="en-US" sz="2800" dirty="0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B25C749-CBA8-491D-98ED-D3F076B5DA34}"/>
              </a:ext>
            </a:extLst>
          </p:cNvPr>
          <p:cNvSpPr/>
          <p:nvPr/>
        </p:nvSpPr>
        <p:spPr>
          <a:xfrm>
            <a:off x="4387368" y="5718174"/>
            <a:ext cx="5990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闭合载流回路整体上不受力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360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  <p:bldP spid="167" grpId="0"/>
      <p:bldP spid="1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D70FA67-48FD-092F-A69E-67F967B24BB6}"/>
              </a:ext>
            </a:extLst>
          </p:cNvPr>
          <p:cNvSpPr txBox="1"/>
          <p:nvPr/>
        </p:nvSpPr>
        <p:spPr>
          <a:xfrm>
            <a:off x="4338929" y="1979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磁场小结</a:t>
            </a: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14DE59AC-B51A-F6B2-20B3-FE933B21812E}"/>
              </a:ext>
            </a:extLst>
          </p:cNvPr>
          <p:cNvGrpSpPr/>
          <p:nvPr/>
        </p:nvGrpSpPr>
        <p:grpSpPr>
          <a:xfrm>
            <a:off x="6478996" y="1614382"/>
            <a:ext cx="1922463" cy="3505200"/>
            <a:chOff x="822" y="972"/>
            <a:chExt cx="1211" cy="2208"/>
          </a:xfrm>
        </p:grpSpPr>
        <p:grpSp>
          <p:nvGrpSpPr>
            <p:cNvPr id="21" name="Group 3">
              <a:extLst>
                <a:ext uri="{FF2B5EF4-FFF2-40B4-BE49-F238E27FC236}">
                  <a16:creationId xmlns:a16="http://schemas.microsoft.com/office/drawing/2014/main" id="{A720AF86-6A66-92AE-FD40-24D20FCF15F5}"/>
                </a:ext>
              </a:extLst>
            </p:cNvPr>
            <p:cNvGrpSpPr/>
            <p:nvPr/>
          </p:nvGrpSpPr>
          <p:grpSpPr>
            <a:xfrm>
              <a:off x="822" y="972"/>
              <a:ext cx="1211" cy="2208"/>
              <a:chOff x="822" y="972"/>
              <a:chExt cx="1211" cy="22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bject 5">
                    <a:extLst>
                      <a:ext uri="{FF2B5EF4-FFF2-40B4-BE49-F238E27FC236}">
                        <a16:creationId xmlns:a16="http://schemas.microsoft.com/office/drawing/2014/main" id="{2C117E29-410A-95A0-A12B-6DB38E618818}"/>
                      </a:ext>
                    </a:extLst>
                  </p:cNvPr>
                  <p:cNvSpPr txBox="1"/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7" name="Object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Object 6">
                    <a:extLst>
                      <a:ext uri="{FF2B5EF4-FFF2-40B4-BE49-F238E27FC236}">
                        <a16:creationId xmlns:a16="http://schemas.microsoft.com/office/drawing/2014/main" id="{F657896F-E5BC-4DA3-2793-1993801B162D}"/>
                      </a:ext>
                    </a:extLst>
                  </p:cNvPr>
                  <p:cNvSpPr txBox="1"/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8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utoShape 7">
                <a:extLst>
                  <a:ext uri="{FF2B5EF4-FFF2-40B4-BE49-F238E27FC236}">
                    <a16:creationId xmlns:a16="http://schemas.microsoft.com/office/drawing/2014/main" id="{F2FB8230-FC5C-09E2-ECF5-1F6AAF4D1945}"/>
                  </a:ext>
                </a:extLst>
              </p:cNvPr>
              <p:cNvSpPr/>
              <p:nvPr/>
            </p:nvSpPr>
            <p:spPr>
              <a:xfrm rot="-499561">
                <a:off x="1878" y="1356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AutoShape 8">
                <a:extLst>
                  <a:ext uri="{FF2B5EF4-FFF2-40B4-BE49-F238E27FC236}">
                    <a16:creationId xmlns:a16="http://schemas.microsoft.com/office/drawing/2014/main" id="{76C904F2-A481-3A4A-52CB-F4C9B97C59C2}"/>
                  </a:ext>
                </a:extLst>
              </p:cNvPr>
              <p:cNvSpPr/>
              <p:nvPr/>
            </p:nvSpPr>
            <p:spPr>
              <a:xfrm rot="-499561">
                <a:off x="966" y="1308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Line 9">
                <a:extLst>
                  <a:ext uri="{FF2B5EF4-FFF2-40B4-BE49-F238E27FC236}">
                    <a16:creationId xmlns:a16="http://schemas.microsoft.com/office/drawing/2014/main" id="{F34EDB34-226D-7425-8043-5CC0984B2114}"/>
                  </a:ext>
                </a:extLst>
              </p:cNvPr>
              <p:cNvSpPr/>
              <p:nvPr/>
            </p:nvSpPr>
            <p:spPr>
              <a:xfrm flipH="1" flipV="1">
                <a:off x="822" y="972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30" name="Line 10">
                <a:extLst>
                  <a:ext uri="{FF2B5EF4-FFF2-40B4-BE49-F238E27FC236}">
                    <a16:creationId xmlns:a16="http://schemas.microsoft.com/office/drawing/2014/main" id="{51A87DDE-1A88-3D24-C94B-159A2FDB504E}"/>
                  </a:ext>
                </a:extLst>
              </p:cNvPr>
              <p:cNvSpPr/>
              <p:nvPr/>
            </p:nvSpPr>
            <p:spPr>
              <a:xfrm flipH="1" flipV="1">
                <a:off x="1734" y="1020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11">
                  <a:extLst>
                    <a:ext uri="{FF2B5EF4-FFF2-40B4-BE49-F238E27FC236}">
                      <a16:creationId xmlns:a16="http://schemas.microsoft.com/office/drawing/2014/main" id="{6E308A1D-3C70-A52C-CDC2-55438221E067}"/>
                    </a:ext>
                  </a:extLst>
                </p:cNvPr>
                <p:cNvSpPr txBox="1"/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267764C4-10C1-4526-CE32-DA470E2E40A4}"/>
                </a:ext>
              </a:extLst>
            </p:cNvPr>
            <p:cNvSpPr/>
            <p:nvPr/>
          </p:nvSpPr>
          <p:spPr>
            <a:xfrm>
              <a:off x="1638" y="2892"/>
              <a:ext cx="336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56DCC80A-C540-BD41-71FE-A75F98E2E0DB}"/>
                </a:ext>
              </a:extLst>
            </p:cNvPr>
            <p:cNvSpPr/>
            <p:nvPr/>
          </p:nvSpPr>
          <p:spPr>
            <a:xfrm flipH="1">
              <a:off x="1158" y="2892"/>
              <a:ext cx="240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31" name="Group 22">
            <a:extLst>
              <a:ext uri="{FF2B5EF4-FFF2-40B4-BE49-F238E27FC236}">
                <a16:creationId xmlns:a16="http://schemas.microsoft.com/office/drawing/2014/main" id="{302192B0-F8D4-1757-EF88-48F8E34C9753}"/>
              </a:ext>
            </a:extLst>
          </p:cNvPr>
          <p:cNvGrpSpPr/>
          <p:nvPr/>
        </p:nvGrpSpPr>
        <p:grpSpPr>
          <a:xfrm>
            <a:off x="5945597" y="3214582"/>
            <a:ext cx="3184525" cy="914400"/>
            <a:chOff x="288" y="1728"/>
            <a:chExt cx="2006" cy="576"/>
          </a:xfrm>
        </p:grpSpPr>
        <p:sp>
          <p:nvSpPr>
            <p:cNvPr id="32" name="Line 23">
              <a:extLst>
                <a:ext uri="{FF2B5EF4-FFF2-40B4-BE49-F238E27FC236}">
                  <a16:creationId xmlns:a16="http://schemas.microsoft.com/office/drawing/2014/main" id="{7FC1E8E0-1502-E573-04B5-B988162D460E}"/>
                </a:ext>
              </a:extLst>
            </p:cNvPr>
            <p:cNvSpPr/>
            <p:nvPr/>
          </p:nvSpPr>
          <p:spPr>
            <a:xfrm flipV="1">
              <a:off x="1776" y="1728"/>
              <a:ext cx="336" cy="336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33" name="Line 24">
              <a:extLst>
                <a:ext uri="{FF2B5EF4-FFF2-40B4-BE49-F238E27FC236}">
                  <a16:creationId xmlns:a16="http://schemas.microsoft.com/office/drawing/2014/main" id="{83ED3F70-995A-D01A-7B87-9CD2CFB74E6D}"/>
                </a:ext>
              </a:extLst>
            </p:cNvPr>
            <p:cNvSpPr/>
            <p:nvPr/>
          </p:nvSpPr>
          <p:spPr>
            <a:xfrm flipH="1">
              <a:off x="382" y="1920"/>
              <a:ext cx="386" cy="38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25">
                  <a:extLst>
                    <a:ext uri="{FF2B5EF4-FFF2-40B4-BE49-F238E27FC236}">
                      <a16:creationId xmlns:a16="http://schemas.microsoft.com/office/drawing/2014/main" id="{7D63D51F-B6A3-0E02-642E-FE313E0AA07A}"/>
                    </a:ext>
                  </a:extLst>
                </p:cNvPr>
                <p:cNvSpPr txBox="1"/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0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26">
                  <a:extLst>
                    <a:ext uri="{FF2B5EF4-FFF2-40B4-BE49-F238E27FC236}">
                      <a16:creationId xmlns:a16="http://schemas.microsoft.com/office/drawing/2014/main" id="{78369C86-F27D-B4DD-9F08-59A09F292F81}"/>
                    </a:ext>
                  </a:extLst>
                </p:cNvPr>
                <p:cNvSpPr txBox="1"/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1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27">
            <a:extLst>
              <a:ext uri="{FF2B5EF4-FFF2-40B4-BE49-F238E27FC236}">
                <a16:creationId xmlns:a16="http://schemas.microsoft.com/office/drawing/2014/main" id="{B49D843B-AE14-1D33-B6EB-7107E277F8D9}"/>
              </a:ext>
            </a:extLst>
          </p:cNvPr>
          <p:cNvGrpSpPr/>
          <p:nvPr/>
        </p:nvGrpSpPr>
        <p:grpSpPr>
          <a:xfrm>
            <a:off x="7317196" y="2909782"/>
            <a:ext cx="1282700" cy="1365250"/>
            <a:chOff x="1350" y="1788"/>
            <a:chExt cx="808" cy="860"/>
          </a:xfrm>
        </p:grpSpPr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1C9E556B-A716-20D8-04EF-7DBC6D5995DB}"/>
                </a:ext>
              </a:extLst>
            </p:cNvPr>
            <p:cNvSpPr/>
            <p:nvPr/>
          </p:nvSpPr>
          <p:spPr>
            <a:xfrm flipH="1" flipV="1">
              <a:off x="1878" y="1980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grpSp>
          <p:nvGrpSpPr>
            <p:cNvPr id="38" name="Group 29">
              <a:extLst>
                <a:ext uri="{FF2B5EF4-FFF2-40B4-BE49-F238E27FC236}">
                  <a16:creationId xmlns:a16="http://schemas.microsoft.com/office/drawing/2014/main" id="{43C5B3C3-79FF-F305-BC0F-4C705DB4843B}"/>
                </a:ext>
              </a:extLst>
            </p:cNvPr>
            <p:cNvGrpSpPr/>
            <p:nvPr/>
          </p:nvGrpSpPr>
          <p:grpSpPr>
            <a:xfrm>
              <a:off x="1350" y="1788"/>
              <a:ext cx="808" cy="860"/>
              <a:chOff x="1152" y="1536"/>
              <a:chExt cx="808" cy="8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Object 30">
                    <a:extLst>
                      <a:ext uri="{FF2B5EF4-FFF2-40B4-BE49-F238E27FC236}">
                        <a16:creationId xmlns:a16="http://schemas.microsoft.com/office/drawing/2014/main" id="{0B630101-5535-767D-15EA-0C0DFA02CB71}"/>
                      </a:ext>
                    </a:extLst>
                  </p:cNvPr>
                  <p:cNvSpPr txBox="1"/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4" name="Object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Object 31">
                    <a:extLst>
                      <a:ext uri="{FF2B5EF4-FFF2-40B4-BE49-F238E27FC236}">
                        <a16:creationId xmlns:a16="http://schemas.microsoft.com/office/drawing/2014/main" id="{797EBD58-5B06-5ED3-9AFD-B8CB209783B5}"/>
                      </a:ext>
                    </a:extLst>
                  </p:cNvPr>
                  <p:cNvSpPr txBox="1"/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5" name="Object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Object 32">
                    <a:extLst>
                      <a:ext uri="{FF2B5EF4-FFF2-40B4-BE49-F238E27FC236}">
                        <a16:creationId xmlns:a16="http://schemas.microsoft.com/office/drawing/2014/main" id="{B068822F-727C-A848-A09B-5601CD942972}"/>
                      </a:ext>
                    </a:extLst>
                  </p:cNvPr>
                  <p:cNvSpPr txBox="1"/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526" name="Object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250" r="-39583" b="-2410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Line 33">
                <a:extLst>
                  <a:ext uri="{FF2B5EF4-FFF2-40B4-BE49-F238E27FC236}">
                    <a16:creationId xmlns:a16="http://schemas.microsoft.com/office/drawing/2014/main" id="{4ACD5C14-17B7-80A0-8A38-4BC6AF47F835}"/>
                  </a:ext>
                </a:extLst>
              </p:cNvPr>
              <p:cNvSpPr/>
              <p:nvPr/>
            </p:nvSpPr>
            <p:spPr>
              <a:xfrm flipH="1" flipV="1">
                <a:off x="1344" y="2016"/>
                <a:ext cx="384" cy="4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</p:grpSp>
      <p:grpSp>
        <p:nvGrpSpPr>
          <p:cNvPr id="43" name="Group 34">
            <a:extLst>
              <a:ext uri="{FF2B5EF4-FFF2-40B4-BE49-F238E27FC236}">
                <a16:creationId xmlns:a16="http://schemas.microsoft.com/office/drawing/2014/main" id="{E81F87F0-5692-6796-DE89-42580735FE38}"/>
              </a:ext>
            </a:extLst>
          </p:cNvPr>
          <p:cNvGrpSpPr/>
          <p:nvPr/>
        </p:nvGrpSpPr>
        <p:grpSpPr>
          <a:xfrm>
            <a:off x="5859872" y="2681182"/>
            <a:ext cx="1609725" cy="1485900"/>
            <a:chOff x="432" y="1644"/>
            <a:chExt cx="1014" cy="9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35">
                  <a:extLst>
                    <a:ext uri="{FF2B5EF4-FFF2-40B4-BE49-F238E27FC236}">
                      <a16:creationId xmlns:a16="http://schemas.microsoft.com/office/drawing/2014/main" id="{375EC7F4-47B0-B35F-7D10-EB20318409E0}"/>
                    </a:ext>
                  </a:extLst>
                </p:cNvPr>
                <p:cNvSpPr txBox="1"/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518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bject 36">
                  <a:extLst>
                    <a:ext uri="{FF2B5EF4-FFF2-40B4-BE49-F238E27FC236}">
                      <a16:creationId xmlns:a16="http://schemas.microsoft.com/office/drawing/2014/main" id="{B8301570-D8E0-D78C-3930-145AE4309045}"/>
                    </a:ext>
                  </a:extLst>
                </p:cNvPr>
                <p:cNvSpPr txBox="1"/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9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blipFill>
                  <a:blip r:embed="rId18"/>
                  <a:stretch>
                    <a:fillRect r="-11364" b="-493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Line 37">
              <a:extLst>
                <a:ext uri="{FF2B5EF4-FFF2-40B4-BE49-F238E27FC236}">
                  <a16:creationId xmlns:a16="http://schemas.microsoft.com/office/drawing/2014/main" id="{C229EEDD-10B6-A97A-CD23-A72EE455F52E}"/>
                </a:ext>
              </a:extLst>
            </p:cNvPr>
            <p:cNvSpPr/>
            <p:nvPr/>
          </p:nvSpPr>
          <p:spPr>
            <a:xfrm>
              <a:off x="1014" y="2172"/>
              <a:ext cx="384" cy="4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7" name="Line 38">
              <a:extLst>
                <a:ext uri="{FF2B5EF4-FFF2-40B4-BE49-F238E27FC236}">
                  <a16:creationId xmlns:a16="http://schemas.microsoft.com/office/drawing/2014/main" id="{0057AF9C-2693-1696-72BF-C643578338E4}"/>
                </a:ext>
              </a:extLst>
            </p:cNvPr>
            <p:cNvSpPr/>
            <p:nvPr/>
          </p:nvSpPr>
          <p:spPr>
            <a:xfrm flipH="1" flipV="1">
              <a:off x="966" y="1836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</p:grpSp>
      <p:sp>
        <p:nvSpPr>
          <p:cNvPr id="48" name="标题 2">
            <a:extLst>
              <a:ext uri="{FF2B5EF4-FFF2-40B4-BE49-F238E27FC236}">
                <a16:creationId xmlns:a16="http://schemas.microsoft.com/office/drawing/2014/main" id="{71112DD7-62CF-52B2-B386-9B2909E679E8}"/>
              </a:ext>
            </a:extLst>
          </p:cNvPr>
          <p:cNvSpPr txBox="1">
            <a:spLocks/>
          </p:cNvSpPr>
          <p:nvPr/>
        </p:nvSpPr>
        <p:spPr>
          <a:xfrm>
            <a:off x="5216320" y="1164662"/>
            <a:ext cx="8555419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- </a:t>
            </a: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无限长平行载流直导线间的相互作用</a:t>
            </a:r>
            <a:endParaRPr lang="zh-CN" altLang="en-US" sz="32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09CEA24-8DC9-47A7-F40B-031E8DFA5242}"/>
                  </a:ext>
                </a:extLst>
              </p:cNvPr>
              <p:cNvSpPr/>
              <p:nvPr/>
            </p:nvSpPr>
            <p:spPr>
              <a:xfrm>
                <a:off x="6223409" y="5074876"/>
                <a:ext cx="6717500" cy="1948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单位长度的载流直导线受的力：</a:t>
                </a:r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09CEA24-8DC9-47A7-F40B-031E8DFA52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409" y="5074876"/>
                <a:ext cx="6717500" cy="1948610"/>
              </a:xfrm>
              <a:prstGeom prst="rect">
                <a:avLst/>
              </a:prstGeom>
              <a:blipFill>
                <a:blip r:embed="rId19"/>
                <a:stretch>
                  <a:fillRect l="-1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>
            <a:extLst>
              <a:ext uri="{FF2B5EF4-FFF2-40B4-BE49-F238E27FC236}">
                <a16:creationId xmlns:a16="http://schemas.microsoft.com/office/drawing/2014/main" id="{C95B6F04-32DC-3BCA-7246-9C84D7338E52}"/>
              </a:ext>
            </a:extLst>
          </p:cNvPr>
          <p:cNvSpPr/>
          <p:nvPr/>
        </p:nvSpPr>
        <p:spPr>
          <a:xfrm>
            <a:off x="9394349" y="2841262"/>
            <a:ext cx="27187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电流同向吸引；异向排斥。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标题 2">
            <a:extLst>
              <a:ext uri="{FF2B5EF4-FFF2-40B4-BE49-F238E27FC236}">
                <a16:creationId xmlns:a16="http://schemas.microsoft.com/office/drawing/2014/main" id="{EBCE546E-707B-4924-8505-96C481D2373F}"/>
              </a:ext>
            </a:extLst>
          </p:cNvPr>
          <p:cNvSpPr txBox="1">
            <a:spLocks/>
          </p:cNvSpPr>
          <p:nvPr/>
        </p:nvSpPr>
        <p:spPr>
          <a:xfrm>
            <a:off x="404606" y="1349316"/>
            <a:ext cx="4482658" cy="6120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载流线圈磁力矩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5FF22B7B-F866-4140-9720-3B99E822C3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811" y="2272686"/>
            <a:ext cx="3426249" cy="25971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A641DE1-BF89-4EBC-878D-CBE1D7C66FE7}"/>
                  </a:ext>
                </a:extLst>
              </p:cNvPr>
              <p:cNvSpPr/>
              <p:nvPr/>
            </p:nvSpPr>
            <p:spPr>
              <a:xfrm>
                <a:off x="1610235" y="5119582"/>
                <a:ext cx="2071400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altLang="zh-CN" sz="2800" b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altLang="zh-CN" sz="2800" b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A641DE1-BF89-4EBC-878D-CBE1D7C66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235" y="5119582"/>
                <a:ext cx="2071400" cy="57547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2EE78DFD-4189-41E6-8E89-8560FF2A3EA8}"/>
                  </a:ext>
                </a:extLst>
              </p:cNvPr>
              <p:cNvSpPr/>
              <p:nvPr/>
            </p:nvSpPr>
            <p:spPr>
              <a:xfrm>
                <a:off x="1920546" y="5812189"/>
                <a:ext cx="1636153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2800" b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𝑁𝐼𝑆</m:t>
                      </m:r>
                    </m:oMath>
                  </m:oMathPara>
                </a14:m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2EE78DFD-4189-41E6-8E89-8560FF2A3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46" y="5812189"/>
                <a:ext cx="1636153" cy="73866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07AF2566-B16B-D5D3-61CF-D670A2118997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53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74" grpId="0"/>
      <p:bldP spid="76" grpId="0"/>
      <p:bldP spid="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9CBD626-C42A-C009-E2F1-119E1C0813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84250" y="977900"/>
            <a:ext cx="1059815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zh-CN" altLang="en-US" sz="2600" dirty="0">
                <a:effectLst/>
                <a:cs typeface="Times New Roman" panose="02020603050405020304" pitchFamily="18" charset="0"/>
              </a:rPr>
              <a:t>正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方形四个顶点固定有四个电量均为</a:t>
            </a:r>
            <a:r>
              <a:rPr lang="en-US" altLang="zh-CN" sz="2600" dirty="0">
                <a:effectLst/>
                <a:cs typeface="Arial" panose="020B0604020202020204" pitchFamily="34" charset="0"/>
              </a:rPr>
              <a:t>q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的点电荷，让正方形以绕</a:t>
            </a:r>
            <a:r>
              <a:rPr lang="en-US" altLang="zh-CN" sz="2600" dirty="0">
                <a:effectLst/>
                <a:cs typeface="Arial" panose="020B0604020202020204" pitchFamily="34" charset="0"/>
              </a:rPr>
              <a:t>ad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轴以角速度ω作匀速运动时，在中心</a:t>
            </a:r>
            <a:r>
              <a:rPr lang="en-US" altLang="zh-CN" sz="2600" dirty="0">
                <a:effectLst/>
                <a:cs typeface="Arial" panose="020B0604020202020204" pitchFamily="34" charset="0"/>
              </a:rPr>
              <a:t>O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点产生的磁感应强度为</a:t>
            </a:r>
            <a:r>
              <a:rPr lang="en-US" altLang="zh-CN" sz="2600" dirty="0">
                <a:effectLst/>
                <a:cs typeface="Arial" panose="020B0604020202020204" pitchFamily="34" charset="0"/>
              </a:rPr>
              <a:t>B</a:t>
            </a:r>
            <a:r>
              <a:rPr lang="en-US" altLang="zh-CN" sz="2600" baseline="-25000" dirty="0">
                <a:effectLst/>
                <a:cs typeface="Arial" panose="020B0604020202020204" pitchFamily="34" charset="0"/>
              </a:rPr>
              <a:t>1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；让正方形以同样角速度绕通过点</a:t>
            </a:r>
            <a:r>
              <a:rPr lang="en-US" altLang="zh-CN" sz="2600" dirty="0">
                <a:effectLst/>
                <a:cs typeface="Arial" panose="020B0604020202020204" pitchFamily="34" charset="0"/>
              </a:rPr>
              <a:t>O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垂直于正方形平面的轴旋转时，在中心</a:t>
            </a:r>
            <a:r>
              <a:rPr lang="en-US" altLang="zh-CN" sz="2600" dirty="0">
                <a:effectLst/>
                <a:cs typeface="Arial" panose="020B0604020202020204" pitchFamily="34" charset="0"/>
              </a:rPr>
              <a:t>O</a:t>
            </a:r>
            <a:r>
              <a:rPr lang="zh-CN" altLang="zh-CN" sz="2600" dirty="0">
                <a:effectLst/>
                <a:cs typeface="Times New Roman" panose="02020603050405020304" pitchFamily="18" charset="0"/>
              </a:rPr>
              <a:t>点产生的磁感应强度大小为：</a:t>
            </a:r>
            <a:endParaRPr lang="zh-CN" altLang="zh-CN" sz="2600" dirty="0">
              <a:effectLst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E52481-2C33-0B7C-A9AE-CF0D5BD824E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92680" y="317706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2600" dirty="0">
                <a:effectLst/>
                <a:ea typeface="Times New Roman" panose="02020603050405020304" pitchFamily="18" charset="0"/>
              </a:rPr>
              <a:t>B</a:t>
            </a:r>
            <a:r>
              <a:rPr lang="en-US" altLang="zh-CN" sz="2600" baseline="-25000" dirty="0">
                <a:effectLst/>
                <a:ea typeface="Times New Roman" panose="02020603050405020304" pitchFamily="18" charset="0"/>
              </a:rPr>
              <a:t>2</a:t>
            </a:r>
            <a:r>
              <a:rPr lang="en-US" altLang="zh-CN" sz="2600" dirty="0">
                <a:effectLst/>
                <a:ea typeface="Times New Roman" panose="02020603050405020304" pitchFamily="18" charset="0"/>
              </a:rPr>
              <a:t>=B</a:t>
            </a:r>
            <a:r>
              <a:rPr lang="en-US" altLang="zh-CN" sz="2600" baseline="-25000" dirty="0">
                <a:effectLst/>
                <a:ea typeface="Times New Roman" panose="02020603050405020304" pitchFamily="18" charset="0"/>
              </a:rPr>
              <a:t>1</a:t>
            </a:r>
            <a:r>
              <a:rPr lang="en-US" altLang="zh-CN" sz="2600" dirty="0">
                <a:effectLst/>
                <a:ea typeface="Times New Roman" panose="02020603050405020304" pitchFamily="18" charset="0"/>
              </a:rPr>
              <a:t>/2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83EAD6-F336-5BB9-F8AD-1AF32931E5E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392680" y="403431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6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en-US" altLang="zh-CN" sz="26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zh-CN" sz="26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9E7433-1A17-17FE-1B65-E2D6445AAFB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392680" y="489156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6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=2B</a:t>
            </a:r>
            <a:r>
              <a:rPr lang="en-US" altLang="zh-CN" sz="26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7E44B7-25D6-0E05-8739-852200841E1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392680" y="574881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6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=4B</a:t>
            </a:r>
            <a:r>
              <a:rPr lang="en-US" altLang="zh-CN" sz="26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C9C2CEB-068C-0171-DBB6-BCE8B414242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324135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883C1D8-43B9-D547-E62D-3EC4FEA2BB4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409860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A30C865-A40C-8030-ACE7-EE645288E96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95585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B1299A-13C7-3D8C-633B-3DEA71909B9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581310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7E2D23-8FF4-818C-8124-46005F5E857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649C258-7221-531D-5B40-277CF11FE91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7" y="2395058"/>
            <a:ext cx="3325813" cy="3139446"/>
          </a:xfrm>
          <a:prstGeom prst="rect">
            <a:avLst/>
          </a:prstGeom>
          <a:noFill/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DFB817F9-9DED-D426-0854-5571A1F7965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68F6D13A-7F6D-8987-468D-530A91943FD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385EC90E-CD5E-29D2-B8C4-C57439FD4D3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A952288C-5E38-D40D-78C9-A74236B3907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B8541758-8407-5AF6-D937-0FEB0E71868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1348E95D-E0B8-399F-21EE-6D25F7C05CD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00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2B3AE6-0B58-C089-2FBE-D0EC5293D4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带电粒子在均匀磁场中运动。下列那些说法是正确的？</a:t>
            </a:r>
            <a:endParaRPr lang="zh-CN" altLang="en-US" sz="26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64F0CA-DB64-D014-9777-4FAFF6BBAC0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30450" y="245665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只要速度大小相同，所受的洛仑兹力就一定相同</a:t>
            </a:r>
            <a:endParaRPr lang="zh-CN" altLang="en-US" sz="26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193A55-3CBD-88DF-BEC9-C8221481C5F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330450" y="331390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速度相同，电量分别为</a:t>
            </a:r>
            <a:r>
              <a:rPr lang="en-US" altLang="zh-CN" sz="2600" kern="100" dirty="0">
                <a:effectLst/>
              </a:rPr>
              <a:t>+</a:t>
            </a:r>
            <a:r>
              <a:rPr lang="en-US" altLang="zh-CN" sz="2600" i="1" kern="100" dirty="0">
                <a:effectLst/>
              </a:rPr>
              <a:t>q</a:t>
            </a:r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和</a:t>
            </a:r>
            <a:r>
              <a:rPr lang="en-US" altLang="zh-CN" sz="2600" kern="100" dirty="0">
                <a:effectLst/>
              </a:rPr>
              <a:t>-</a:t>
            </a:r>
            <a:r>
              <a:rPr lang="en-US" altLang="zh-CN" sz="2600" i="1" kern="100" dirty="0">
                <a:effectLst/>
              </a:rPr>
              <a:t>q</a:t>
            </a:r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的两个粒子，它们受磁场力的大小相等，方向相反</a:t>
            </a:r>
            <a:endParaRPr lang="zh-CN" altLang="en-US" sz="26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C1AB1D-025E-B709-0294-711E52AF697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330450" y="417115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质量为</a:t>
            </a:r>
            <a:r>
              <a:rPr lang="en-US" altLang="zh-CN" sz="2600" i="1" kern="100" dirty="0">
                <a:effectLst/>
              </a:rPr>
              <a:t>m</a:t>
            </a:r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，电量为</a:t>
            </a:r>
            <a:r>
              <a:rPr lang="en-US" altLang="zh-CN" sz="2600" i="1" kern="100" dirty="0">
                <a:effectLst/>
              </a:rPr>
              <a:t>q</a:t>
            </a:r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的带电粒子，受洛仑兹力作用，其动能和动量都不变</a:t>
            </a:r>
            <a:endParaRPr lang="zh-CN" altLang="en-US" sz="26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17DED3-2EA2-5BFF-AE8E-9F1C8EB18A9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330450" y="502840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kern="100" dirty="0">
                <a:effectLst/>
                <a:cs typeface="Times New Roman" panose="02020603050405020304" pitchFamily="18" charset="0"/>
              </a:rPr>
              <a:t>洛仑兹力总与带电粒子运动的速度方向垂直，所以，带电粒子运动的轨迹必定是圆</a:t>
            </a:r>
            <a:endParaRPr lang="zh-CN" altLang="en-US" sz="26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0285A0F-50E8-4047-E183-DD0D35FD2E8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463675" y="252094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425D208-84F4-7A5A-BC6D-B6AC60AB678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463675" y="337819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D0B0A0F-455E-C6E1-0E3D-28D171CD929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463675" y="423544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B53F5F2-A35D-65C4-1978-5F4AA1A1FBA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463675" y="509269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CDCB97-8F36-5FD0-9E09-F5C129D6AA2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E8E8D82-5911-F41C-DFA8-3B9AC72431E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888E286-3B2D-A10C-6175-54BD892BBB8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1C4761C-FD84-1A2B-9E99-89C713E769C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2FD04765-32B0-8E9A-305F-64ABAF5C586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586F3B3-CEFD-1D86-3E9F-BCCD931E303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49CD096-25EB-5960-7595-B584C272391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2708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A58796-3B38-5EE3-7C66-53AB55C185F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/>
              <a:t>一根载 流 </a:t>
            </a:r>
            <a:r>
              <a:rPr lang="en-US" altLang="zh-CN" sz="2600" dirty="0"/>
              <a:t>I </a:t>
            </a:r>
            <a:r>
              <a:rPr lang="zh-CN" altLang="en-US" sz="2600" dirty="0"/>
              <a:t>的导线被弯成半径为 </a:t>
            </a:r>
            <a:r>
              <a:rPr lang="en-US" altLang="zh-CN" sz="2600" dirty="0"/>
              <a:t>R </a:t>
            </a:r>
            <a:r>
              <a:rPr lang="zh-CN" altLang="en-US" sz="2600" dirty="0"/>
              <a:t>的 </a:t>
            </a:r>
            <a:r>
              <a:rPr lang="en-US" altLang="zh-CN" sz="2600" dirty="0"/>
              <a:t>1/4</a:t>
            </a:r>
            <a:r>
              <a:rPr lang="zh-CN" altLang="en-US" sz="2600" dirty="0"/>
              <a:t> 圆弧 ，放在磁感强度为 </a:t>
            </a:r>
            <a:r>
              <a:rPr lang="en-US" altLang="zh-CN" sz="2600" dirty="0"/>
              <a:t>B </a:t>
            </a:r>
            <a:r>
              <a:rPr lang="zh-CN" altLang="en-US" sz="2600" dirty="0"/>
              <a:t>的均匀磁场 中 ，圆弧所成平面与磁场垂直 ，则载流 导线 </a:t>
            </a:r>
            <a:r>
              <a:rPr lang="en-US" altLang="zh-CN" sz="2600" dirty="0"/>
              <a:t>ab </a:t>
            </a:r>
            <a:r>
              <a:rPr lang="zh-CN" altLang="en-US" sz="2600" dirty="0"/>
              <a:t>所受磁场的作用力为为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401C849-4116-EB00-14AB-D0F073A7146A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6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zh-CN" sz="2600" dirty="0"/>
                  <a:t>IRB</a:t>
                </a:r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401C849-4116-EB00-14AB-D0F073A71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blipFill>
                <a:blip r:embed="rId20"/>
                <a:stretch>
                  <a:fillRect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1DA2E46-2877-FCFA-FFD4-CF5468990A7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l-GR" altLang="zh-CN" sz="2600" dirty="0"/>
              <a:t>π</a:t>
            </a:r>
            <a:r>
              <a:rPr lang="en-US" altLang="zh-CN" sz="2600" dirty="0"/>
              <a:t>IRB/4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2DFA02-073D-E868-C542-468819CC77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654550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</a:t>
            </a:r>
            <a:r>
              <a:rPr lang="el-GR" altLang="zh-CN" sz="2600" dirty="0"/>
              <a:t>π</a:t>
            </a:r>
            <a:r>
              <a:rPr lang="en-US" altLang="zh-CN" sz="2600" dirty="0"/>
              <a:t>IRB/4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8815384-C753-E440-171D-469DB14AE770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438400" y="5422106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-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6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zh-CN" sz="2600" dirty="0"/>
                  <a:t>IRB</a:t>
                </a:r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8815384-C753-E440-171D-469DB14A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2438400" y="5422106"/>
                <a:ext cx="8534400" cy="642938"/>
              </a:xfrm>
              <a:prstGeom prst="rect">
                <a:avLst/>
              </a:prstGeom>
              <a:blipFill>
                <a:blip r:embed="rId22"/>
                <a:stretch>
                  <a:fillRect l="-1286" t="-23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>
            <a:extLst>
              <a:ext uri="{FF2B5EF4-FFF2-40B4-BE49-F238E27FC236}">
                <a16:creationId xmlns:a16="http://schemas.microsoft.com/office/drawing/2014/main" id="{9520DA53-2FD4-917C-7BDB-7FD1B146E6F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2899AE-47B5-3CFE-E668-E4B6BC6FB9A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D0BF6F-1BCD-B409-DBB6-38D8499590C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3D46784-B9E5-47AA-F8C0-0308C1708C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0D30658-6491-1D01-34D2-7B2B6A1AC32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2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4E59778-5111-BE42-C8F2-8A1643E8FD5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32709" y="2283880"/>
            <a:ext cx="3492516" cy="2769927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A47AF92E-9405-79FC-8A15-E5EE57E4D68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AEAFAE8D-8B33-2697-1F52-B19B386D208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F2AFAE4-D008-3F58-E889-1CF9E497DA4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5CD6825-D7B1-9E7D-EF26-D5B63840FA9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E2E0554-1B86-9365-6116-333BD91E9BB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E07595A-D2F4-0FBA-A7B4-4CD065C2765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797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EF2C6C-B9BF-F211-0A9C-4717CEE115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804387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如图 所示 ，有三条无限长直导线等距平行共面放置 ，导线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Ⅰ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Ⅱ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Ⅲ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分别载有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A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A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+mj-lt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A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同方向的电流 。 由于磁相互作用的结果 ，导线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Ⅰ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Ⅱ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Ⅲ 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单位长度上分别受力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F</a:t>
            </a:r>
            <a:r>
              <a:rPr lang="en-US" altLang="zh-CN" sz="2600" baseline="-25000" dirty="0">
                <a:solidFill>
                  <a:srgbClr val="000000"/>
                </a:solidFill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、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F</a:t>
            </a:r>
            <a:r>
              <a:rPr lang="zh-CN" altLang="en-US" sz="2600" baseline="-250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en-US" altLang="zh-CN" sz="2600" baseline="-25000" dirty="0">
                <a:solidFill>
                  <a:srgbClr val="000000"/>
                </a:solidFill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和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F</a:t>
            </a:r>
            <a:r>
              <a:rPr lang="en-US" altLang="zh-CN" sz="2600" baseline="-25000" dirty="0">
                <a:solidFill>
                  <a:srgbClr val="000000"/>
                </a:solidFill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，则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F</a:t>
            </a:r>
            <a:r>
              <a:rPr lang="en-US" altLang="zh-CN" sz="2600" baseline="-25000" dirty="0">
                <a:solidFill>
                  <a:srgbClr val="000000"/>
                </a:solidFill>
                <a:latin typeface="+mj-lt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与 </a:t>
            </a:r>
            <a:r>
              <a:rPr lang="en-US" altLang="zh-CN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F</a:t>
            </a:r>
            <a:r>
              <a:rPr lang="en-US" altLang="zh-CN" sz="2600" baseline="-25000" dirty="0">
                <a:solidFill>
                  <a:srgbClr val="000000"/>
                </a:solidFill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sym typeface="Microsoft Yahei" panose="020B0503020204020204" pitchFamily="34" charset="-122"/>
              </a:rPr>
              <a:t> 的大小比值是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B5CA8D-74F3-DE50-0F01-B4BDB317672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/>
              <a:t>7/16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3F944F-E814-C539-EE6F-F861AD2898D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/>
              <a:t>5/8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25CC75-E04E-0544-871F-C3BA1C147D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/>
              <a:t>7/8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9D278A-6010-8350-2760-1BB528A9467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/>
              <a:t>5/4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C43461C-C757-5086-4234-A7A74659CEC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CCA98E-94D2-6DD1-6FD3-BF935DFBBE5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AC6342E-5E31-94BB-553C-2C08EB180A5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F638D6C-88D5-17A6-6EE9-98B8A6AAB23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7EFB42B-B173-10CB-9F73-60B110A62E2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A304D64-8B2D-66D0-0562-F93F70D0C55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48606" y="2535223"/>
            <a:ext cx="2751144" cy="3172084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DC2718-F37C-ED3B-5428-A0D5A1BF320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2063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42BD6C3-C6F1-9FA1-36FE-B6470452E5B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2063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0878BBD-03F1-02D2-195E-95F4497F3BC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2063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BD37391-ABA5-92A9-24F4-8E42AED546A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2063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1AA639A5-A09F-C8D3-725D-625BC046DE0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10030" y="11128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3D5A092-C8E4-F7B6-6AF4-ED2C72DC88E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0800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6F96EC5-E8AB-86E4-340E-AC29B02899F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/>
              <a:t>有一电介质圆盘，其表面均匀带有电量 </a:t>
            </a:r>
            <a:r>
              <a:rPr lang="en-US" altLang="zh-CN" sz="2600" dirty="0"/>
              <a:t>Q</a:t>
            </a:r>
            <a:r>
              <a:rPr lang="zh-CN" altLang="en-US" sz="2600" dirty="0"/>
              <a:t>，半径为 </a:t>
            </a:r>
            <a:r>
              <a:rPr lang="en-US" altLang="zh-CN" sz="2600" dirty="0"/>
              <a:t>a</a:t>
            </a:r>
            <a:r>
              <a:rPr lang="zh-CN" altLang="en-US" sz="2600" dirty="0"/>
              <a:t>，可绕盘心且与盘面垂直的轴转动，设 角速度为 </a:t>
            </a:r>
            <a:r>
              <a:rPr lang="en-US" altLang="zh-CN" sz="2600" dirty="0"/>
              <a:t>ω</a:t>
            </a:r>
            <a:r>
              <a:rPr lang="zh-CN" altLang="en-US" sz="2600" dirty="0"/>
              <a:t>．求圆盘中心 </a:t>
            </a:r>
            <a:r>
              <a:rPr lang="en-US" altLang="zh-CN" sz="2600" dirty="0"/>
              <a:t>o </a:t>
            </a:r>
            <a:r>
              <a:rPr lang="zh-CN" altLang="en-US" sz="2600" dirty="0"/>
              <a:t>的磁感应强度 </a:t>
            </a:r>
            <a:r>
              <a:rPr lang="en-US" altLang="zh-CN" sz="2600" dirty="0"/>
              <a:t>B = </a:t>
            </a:r>
            <a:r>
              <a:rPr lang="zh-CN" altLang="en-US" sz="2600" dirty="0"/>
              <a:t>？（以垂直盘面向上为正方向）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F63B79-DB1D-7553-F2C0-536FEEFA380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l-GR" altLang="zh-CN" sz="2600" dirty="0"/>
              <a:t>μ</a:t>
            </a:r>
            <a:r>
              <a:rPr lang="el-GR" altLang="zh-CN" sz="2600" baseline="-25000" dirty="0"/>
              <a:t>0</a:t>
            </a:r>
            <a:r>
              <a:rPr lang="el-GR" altLang="zh-CN" sz="2600" dirty="0"/>
              <a:t>ω</a:t>
            </a:r>
            <a:r>
              <a:rPr lang="en-US" altLang="zh-CN" sz="2600" dirty="0"/>
              <a:t>Q/4</a:t>
            </a:r>
            <a:r>
              <a:rPr lang="el-GR" altLang="zh-CN" sz="2600" dirty="0"/>
              <a:t>π</a:t>
            </a:r>
            <a:r>
              <a:rPr lang="en-US" altLang="zh-CN" sz="2600" dirty="0"/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FF025A-5BB3-4EE9-5B54-9B08E14C2A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l-GR" altLang="zh-CN" sz="2600" dirty="0"/>
              <a:t>μ</a:t>
            </a:r>
            <a:r>
              <a:rPr lang="el-GR" altLang="zh-CN" sz="2600" baseline="-25000" dirty="0"/>
              <a:t>0</a:t>
            </a:r>
            <a:r>
              <a:rPr lang="el-GR" altLang="zh-CN" sz="2600" dirty="0"/>
              <a:t>ω</a:t>
            </a:r>
            <a:r>
              <a:rPr lang="en-US" altLang="zh-CN" sz="2600" dirty="0"/>
              <a:t>Q/2</a:t>
            </a:r>
            <a:r>
              <a:rPr lang="el-GR" altLang="zh-CN" sz="2600" dirty="0"/>
              <a:t>π</a:t>
            </a:r>
            <a:r>
              <a:rPr lang="en-US" altLang="zh-CN" sz="2600" dirty="0"/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0CAEB5-5FD8-CD04-7E57-20041552B33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/>
              <a:t>-</a:t>
            </a:r>
            <a:r>
              <a:rPr lang="el-GR" altLang="zh-CN" sz="2600" dirty="0"/>
              <a:t>μ</a:t>
            </a:r>
            <a:r>
              <a:rPr lang="el-GR" altLang="zh-CN" sz="2600" baseline="-25000" dirty="0"/>
              <a:t>0</a:t>
            </a:r>
            <a:r>
              <a:rPr lang="el-GR" altLang="zh-CN" sz="2600" dirty="0"/>
              <a:t>ω</a:t>
            </a:r>
            <a:r>
              <a:rPr lang="en-US" altLang="zh-CN" sz="2600" dirty="0"/>
              <a:t>Q/4</a:t>
            </a:r>
            <a:r>
              <a:rPr lang="el-GR" altLang="zh-CN" sz="2600" dirty="0"/>
              <a:t>π</a:t>
            </a:r>
            <a:r>
              <a:rPr lang="en-US" altLang="zh-CN" sz="2600" dirty="0"/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AEA321-8500-1505-1336-B073110A744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146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l-GR" altLang="zh-CN" sz="2600" dirty="0"/>
              <a:t>μ</a:t>
            </a:r>
            <a:r>
              <a:rPr lang="el-GR" altLang="zh-CN" sz="2600" baseline="-25000" dirty="0"/>
              <a:t>0</a:t>
            </a:r>
            <a:r>
              <a:rPr lang="el-GR" altLang="zh-CN" sz="2600" dirty="0"/>
              <a:t>ω</a:t>
            </a:r>
            <a:r>
              <a:rPr lang="en-US" altLang="zh-CN" sz="2600" dirty="0"/>
              <a:t>Q/2a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8CB81C7-84F6-7387-290C-B34168A5B9A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4730221-BB32-D934-1E1F-4F815BD288A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5BBCC1C-C340-E626-39C0-31B0A8AB531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63D2957-5304-8DE1-A509-F3DA4280683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>
              <a:solidFill>
                <a:srgbClr val="FFFFFF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6D2014A-13C2-29F7-5A7B-74B2DF18A14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2600">
                <a:solidFill>
                  <a:srgbClr val="FFFFFF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E4B37B3-A4E3-23C6-9A7B-D985CE3D3E5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973" y="2527293"/>
            <a:ext cx="3847252" cy="2252666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0870B754-E207-E1DC-99B1-9D2CEF02677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E8B4418E-08F4-D9BD-DE10-FCA3B169CFA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54B735E-957C-AB79-3046-7BF48BD68FC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744D6FA-D01B-2C8B-25BE-94CE7042588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0D06B03-07FF-075D-BA4E-39733881053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1003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55BC1F7-61AE-0B42-C8CF-BE478B09BBF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4768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ED72198-C429-5B9E-1C77-F27A3713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608" y="1835588"/>
            <a:ext cx="3162992" cy="18520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3F5E475-2F0B-2BD5-EF47-3AE1BC7AD2F2}"/>
              </a:ext>
            </a:extLst>
          </p:cNvPr>
          <p:cNvSpPr txBox="1"/>
          <p:nvPr/>
        </p:nvSpPr>
        <p:spPr>
          <a:xfrm>
            <a:off x="771076" y="772885"/>
            <a:ext cx="215370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圆盘面积为：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8A9F9E-7082-0AAC-4E5F-D49F6857D82C}"/>
              </a:ext>
            </a:extLst>
          </p:cNvPr>
          <p:cNvSpPr txBox="1"/>
          <p:nvPr/>
        </p:nvSpPr>
        <p:spPr>
          <a:xfrm>
            <a:off x="4622108" y="797450"/>
            <a:ext cx="34861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面电荷密度为：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9154C1-322A-6397-7E51-57BCB028E912}"/>
              </a:ext>
            </a:extLst>
          </p:cNvPr>
          <p:cNvSpPr txBox="1"/>
          <p:nvPr/>
        </p:nvSpPr>
        <p:spPr>
          <a:xfrm>
            <a:off x="771076" y="1549211"/>
            <a:ext cx="80449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在圆盘上取一半径为 </a:t>
            </a:r>
            <a:r>
              <a:rPr lang="en-US" altLang="zh-CN" sz="2600" dirty="0"/>
              <a:t>r</a:t>
            </a:r>
            <a:r>
              <a:rPr lang="zh-CN" altLang="en-US" sz="2600" dirty="0"/>
              <a:t>、宽度为 </a:t>
            </a:r>
            <a:r>
              <a:rPr lang="en-US" altLang="zh-CN" sz="2600" dirty="0" err="1"/>
              <a:t>dr</a:t>
            </a:r>
            <a:r>
              <a:rPr lang="en-US" altLang="zh-CN" sz="2600" dirty="0"/>
              <a:t> </a:t>
            </a:r>
            <a:r>
              <a:rPr lang="zh-CN" altLang="en-US" sz="2600" dirty="0"/>
              <a:t>的薄环，其面积为：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5754AC-1335-68B2-7F0E-624E661B99EB}"/>
              </a:ext>
            </a:extLst>
          </p:cNvPr>
          <p:cNvSpPr txBox="1"/>
          <p:nvPr/>
        </p:nvSpPr>
        <p:spPr>
          <a:xfrm>
            <a:off x="838199" y="2337882"/>
            <a:ext cx="29162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所带的电量为：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B8D261-8449-0796-5586-E59B843E2EC8}"/>
              </a:ext>
            </a:extLst>
          </p:cNvPr>
          <p:cNvSpPr txBox="1"/>
          <p:nvPr/>
        </p:nvSpPr>
        <p:spPr>
          <a:xfrm>
            <a:off x="901204" y="3175254"/>
            <a:ext cx="35950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薄圆环转动的周期为：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B38E19-6333-DFEB-8C0C-58311719C851}"/>
              </a:ext>
            </a:extLst>
          </p:cNvPr>
          <p:cNvSpPr txBox="1"/>
          <p:nvPr/>
        </p:nvSpPr>
        <p:spPr>
          <a:xfrm>
            <a:off x="838199" y="4065989"/>
            <a:ext cx="3310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形成的电流元为：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8836A4-652E-2285-F3BB-854B468A362D}"/>
              </a:ext>
            </a:extLst>
          </p:cNvPr>
          <p:cNvSpPr txBox="1"/>
          <p:nvPr/>
        </p:nvSpPr>
        <p:spPr>
          <a:xfrm>
            <a:off x="704646" y="4865858"/>
            <a:ext cx="95442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薄环电流可以当作圆电流，在圆心产生的磁感应强度为：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5E704B-9F35-C658-A696-B435E309F9CF}"/>
              </a:ext>
            </a:extLst>
          </p:cNvPr>
          <p:cNvSpPr txBox="1"/>
          <p:nvPr/>
        </p:nvSpPr>
        <p:spPr>
          <a:xfrm>
            <a:off x="1063625" y="6202838"/>
            <a:ext cx="89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/>
              <a:t>积分得圆盘在圆心产生磁感应强度为：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5AF862A-6070-872C-8887-84F7F25E5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48" y="689863"/>
            <a:ext cx="1123958" cy="49530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B6126F8-F9EE-5AB7-AA73-74D6CC141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36" y="693108"/>
            <a:ext cx="2562244" cy="55245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4CD598A-7A43-3FB9-E477-202B76EBE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6038" y="1543130"/>
            <a:ext cx="1828813" cy="45720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A6CB18C-F64A-C59A-FF37-28F41CDB7A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933" y="2308370"/>
            <a:ext cx="2981347" cy="51435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40C3E6B7-A42A-F7CE-6D20-5085C4D121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682" y="3167653"/>
            <a:ext cx="1571636" cy="45720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128B855D-E7B9-446B-7088-F188DF1049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4498" y="4111868"/>
            <a:ext cx="2933721" cy="40005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E82DBED-A229-0178-EB5C-F65A122FE3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6548" y="5415042"/>
            <a:ext cx="3991004" cy="52387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70FC3F5-35C9-3E9D-8863-34314B9F74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1486" y="6164892"/>
            <a:ext cx="4029104" cy="51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6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539D8FA-B712-4E8E-B5FF-919BBCD8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266" y="1091704"/>
            <a:ext cx="3574577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93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ea typeface="华文楷体" panose="02010600040101010101" pitchFamily="2" charset="-122"/>
                <a:cs typeface="宋体" panose="02010600030101010101" pitchFamily="2" charset="-122"/>
              </a:rPr>
              <a:t>电生磁</a:t>
            </a:r>
            <a:endParaRPr lang="en-US" altLang="zh-CN" sz="3600" b="1" dirty="0">
              <a:solidFill>
                <a:srgbClr val="0066FF"/>
              </a:solidFill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lvl="0"/>
            <a:endParaRPr lang="en-US" altLang="zh-CN" sz="2800" dirty="0">
              <a:solidFill>
                <a:srgbClr val="0000FF"/>
              </a:solidFill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ea typeface="华文楷体" panose="02010600040101010101" pitchFamily="2" charset="-122"/>
                <a:cs typeface="宋体" panose="02010600030101010101" pitchFamily="2" charset="-122"/>
              </a:rPr>
              <a:t>奥斯特（</a:t>
            </a:r>
            <a:r>
              <a:rPr lang="en-US" altLang="zh-CN" sz="2400" dirty="0">
                <a:ea typeface="华文楷体" panose="02010600040101010101" pitchFamily="2" charset="-122"/>
              </a:rPr>
              <a:t> Hans Christian </a:t>
            </a:r>
            <a:r>
              <a:rPr lang="en-US" altLang="zh-CN" sz="2400" dirty="0" err="1">
                <a:ea typeface="华文楷体" panose="02010600040101010101" pitchFamily="2" charset="-122"/>
              </a:rPr>
              <a:t>Ørsted</a:t>
            </a:r>
            <a:r>
              <a:rPr lang="en-US" altLang="zh-CN" sz="2400" dirty="0">
                <a:ea typeface="华文楷体" panose="02010600040101010101" pitchFamily="2" charset="-122"/>
              </a:rPr>
              <a:t> </a:t>
            </a:r>
            <a:r>
              <a:rPr lang="zh-CN" altLang="en-US" sz="2400" b="1" dirty="0">
                <a:ea typeface="华文楷体" panose="02010600040101010101" pitchFamily="2" charset="-122"/>
                <a:cs typeface="宋体" panose="02010600030101010101" pitchFamily="2" charset="-122"/>
              </a:rPr>
              <a:t>） </a:t>
            </a:r>
            <a:r>
              <a:rPr lang="en-US" altLang="zh-CN" sz="2400" dirty="0">
                <a:ea typeface="华文楷体" panose="02010600040101010101" pitchFamily="2" charset="-122"/>
                <a:cs typeface="宋体" panose="02010600030101010101" pitchFamily="2" charset="-122"/>
              </a:rPr>
              <a:t>1820</a:t>
            </a:r>
            <a:r>
              <a:rPr lang="zh-CN" altLang="en-US" sz="2400" dirty="0">
                <a:ea typeface="华文楷体" panose="02010600040101010101" pitchFamily="2" charset="-122"/>
                <a:cs typeface="宋体" panose="02010600030101010101" pitchFamily="2" charset="-122"/>
              </a:rPr>
              <a:t>年</a:t>
            </a:r>
            <a:br>
              <a:rPr lang="en-US" altLang="zh-CN" sz="2400" b="1" dirty="0">
                <a:ea typeface="华文楷体" panose="02010600040101010101" pitchFamily="2" charset="-122"/>
                <a:cs typeface="宋体" panose="02010600030101010101" pitchFamily="2" charset="-122"/>
              </a:rPr>
            </a:br>
            <a:r>
              <a:rPr lang="zh-CN" altLang="en-US" sz="2400" dirty="0">
                <a:ea typeface="华文楷体" panose="02010600040101010101" pitchFamily="2" charset="-122"/>
                <a:cs typeface="宋体" panose="02010600030101010101" pitchFamily="2" charset="-122"/>
              </a:rPr>
              <a:t>发现电流的磁效应</a:t>
            </a:r>
          </a:p>
          <a:p>
            <a:pPr lvl="0"/>
            <a:endParaRPr lang="zh-CN" altLang="en-US" sz="2800" dirty="0">
              <a:solidFill>
                <a:srgbClr val="0000FF"/>
              </a:solidFill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4350DD4-E531-4BB3-AC13-412E8B7F6661}"/>
              </a:ext>
            </a:extLst>
          </p:cNvPr>
          <p:cNvGrpSpPr/>
          <p:nvPr/>
        </p:nvGrpSpPr>
        <p:grpSpPr>
          <a:xfrm>
            <a:off x="1680416" y="3707805"/>
            <a:ext cx="3061299" cy="1960034"/>
            <a:chOff x="836946" y="4026712"/>
            <a:chExt cx="4253024" cy="2611912"/>
          </a:xfrm>
        </p:grpSpPr>
        <p:pic>
          <p:nvPicPr>
            <p:cNvPr id="6" name="Picture 5" descr="https://picb.zhimg.com/80/v2-8175612a5bae3db744485a9344afc97b_1440w.jpg">
              <a:extLst>
                <a:ext uri="{FF2B5EF4-FFF2-40B4-BE49-F238E27FC236}">
                  <a16:creationId xmlns:a16="http://schemas.microsoft.com/office/drawing/2014/main" id="{5269BE04-97A1-45D1-80E9-F60C481DE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946" y="4026712"/>
              <a:ext cx="4253024" cy="2611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圆角矩形 7">
              <a:extLst>
                <a:ext uri="{FF2B5EF4-FFF2-40B4-BE49-F238E27FC236}">
                  <a16:creationId xmlns:a16="http://schemas.microsoft.com/office/drawing/2014/main" id="{1A2F5965-06E9-4511-80EB-CCC09B5FFC7D}"/>
                </a:ext>
              </a:extLst>
            </p:cNvPr>
            <p:cNvSpPr/>
            <p:nvPr/>
          </p:nvSpPr>
          <p:spPr>
            <a:xfrm>
              <a:off x="4338084" y="6365359"/>
              <a:ext cx="641497" cy="1559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华文楷体" panose="02010600040101010101" pitchFamily="2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3D2BBD20-6AD1-4264-B11A-C27275593CED}"/>
              </a:ext>
            </a:extLst>
          </p:cNvPr>
          <p:cNvSpPr/>
          <p:nvPr/>
        </p:nvSpPr>
        <p:spPr>
          <a:xfrm>
            <a:off x="7609096" y="3812431"/>
            <a:ext cx="18592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磁生电？</a:t>
            </a:r>
            <a:endParaRPr lang="zh-CN" altLang="en-US" sz="36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A23440-38EC-43AC-8DDA-61E325AA4569}"/>
              </a:ext>
            </a:extLst>
          </p:cNvPr>
          <p:cNvSpPr/>
          <p:nvPr/>
        </p:nvSpPr>
        <p:spPr>
          <a:xfrm>
            <a:off x="7609096" y="2625835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66FF"/>
                </a:solidFill>
                <a:ea typeface="华文楷体" panose="02010600040101010101" pitchFamily="2" charset="-122"/>
                <a:cs typeface="宋体" panose="02010600030101010101" pitchFamily="2" charset="-122"/>
              </a:rPr>
              <a:t>对称性</a:t>
            </a:r>
            <a:endParaRPr lang="en-US" sz="36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3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413" y="240063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20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电磁感应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351" y="1471014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法拉第电磁感应定律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9352" y="2766414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感生电动势和感生电场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828" y="3415700"/>
            <a:ext cx="14606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互感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353" y="2118714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动生电动势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351" y="4079504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自感</a:t>
            </a:r>
          </a:p>
        </p:txBody>
      </p:sp>
      <p:sp>
        <p:nvSpPr>
          <p:cNvPr id="2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D7118994-66C2-EFBA-0AE9-420204C0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828" y="4774325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磁场的能量</a:t>
            </a:r>
          </a:p>
        </p:txBody>
      </p:sp>
      <p:pic>
        <p:nvPicPr>
          <p:cNvPr id="3" name="Picture 4" descr="你了解朝夕相处的发电机嘛~（含动画视频）">
            <a:extLst>
              <a:ext uri="{FF2B5EF4-FFF2-40B4-BE49-F238E27FC236}">
                <a16:creationId xmlns:a16="http://schemas.microsoft.com/office/drawing/2014/main" id="{6838DA96-1D44-A6BC-A550-EA4DFACFCD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6" y="1763723"/>
            <a:ext cx="4257723" cy="329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13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4FC1E6E-5C61-4526-A877-235190DDDC1E}"/>
              </a:ext>
            </a:extLst>
          </p:cNvPr>
          <p:cNvSpPr txBox="1"/>
          <p:nvPr/>
        </p:nvSpPr>
        <p:spPr>
          <a:xfrm>
            <a:off x="6444460" y="3622412"/>
            <a:ext cx="57475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dirty="0">
                <a:solidFill>
                  <a:srgbClr val="000000"/>
                </a:solidFill>
                <a:effectLst/>
                <a:latin typeface="+mn-ea"/>
              </a:rPr>
              <a:t>安培：“这个实验无疑地证明了感应能够产生电流，除非我们怀疑产生电流的铜环中混杂有少量的铁。”</a:t>
            </a:r>
            <a:endParaRPr lang="zh-CN" altLang="en-US" sz="26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F78948-1BA2-4283-AA2C-670E362FCC05}"/>
              </a:ext>
            </a:extLst>
          </p:cNvPr>
          <p:cNvSpPr txBox="1"/>
          <p:nvPr/>
        </p:nvSpPr>
        <p:spPr>
          <a:xfrm>
            <a:off x="6317280" y="5161294"/>
            <a:ext cx="584177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dirty="0">
                <a:solidFill>
                  <a:srgbClr val="000000"/>
                </a:solidFill>
                <a:effectLst/>
                <a:latin typeface="+mn-ea"/>
              </a:rPr>
              <a:t>“这个感应能够产生电流的事实，尽管它本身是很有趣的，但它却与电动力作用的普遍理论没有关系。”</a:t>
            </a:r>
            <a:endParaRPr lang="zh-CN" altLang="en-US" sz="26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F12034-08B0-4A74-8F1E-55BD0DBD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430" y="2270600"/>
            <a:ext cx="2740200" cy="342930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8D3B60B-25D4-4ED7-8892-64D9D4CB7DDF}"/>
              </a:ext>
            </a:extLst>
          </p:cNvPr>
          <p:cNvSpPr/>
          <p:nvPr/>
        </p:nvSpPr>
        <p:spPr>
          <a:xfrm>
            <a:off x="534880" y="1050375"/>
            <a:ext cx="1151060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en-US" altLang="zh-CN" sz="26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en-US" altLang="zh-CN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1822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安培</a:t>
            </a:r>
            <a:r>
              <a:rPr lang="en-US" altLang="zh-CN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(Ampere)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： </a:t>
            </a:r>
            <a:r>
              <a:rPr lang="zh-CN" altLang="en-US" sz="2600" dirty="0">
                <a:latin typeface="+mn-ea"/>
                <a:cs typeface="Times New Roman" panose="02020603050405020304" pitchFamily="18" charset="0"/>
              </a:rPr>
              <a:t>无意中发现一个电流能感应出另一个电流，但安培忽视了这一重要的发现。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B92951-018F-4E9C-AE05-A6D9A640D472}"/>
              </a:ext>
            </a:extLst>
          </p:cNvPr>
          <p:cNvSpPr/>
          <p:nvPr/>
        </p:nvSpPr>
        <p:spPr>
          <a:xfrm>
            <a:off x="6444460" y="1736891"/>
            <a:ext cx="574754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德莱里弗：“这个重要的实验表明：有些物质，虽然不能象铁、钢那样被电流永久地磁化，但是当它们受到这种影响时，至少能被暂时地磁化。”</a:t>
            </a:r>
            <a:endParaRPr lang="en-US" sz="2600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C94F0E-E21D-4E0D-8B40-30425F744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63" y="2214534"/>
            <a:ext cx="3365744" cy="38983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FB9450-7027-1D79-187E-6606101D92E7}"/>
              </a:ext>
            </a:extLst>
          </p:cNvPr>
          <p:cNvSpPr/>
          <p:nvPr/>
        </p:nvSpPr>
        <p:spPr>
          <a:xfrm>
            <a:off x="334287" y="381060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电磁感应的发现过程</a:t>
            </a:r>
          </a:p>
        </p:txBody>
      </p:sp>
    </p:spTree>
    <p:extLst>
      <p:ext uri="{BB962C8B-B14F-4D97-AF65-F5344CB8AC3E}">
        <p14:creationId xmlns:p14="http://schemas.microsoft.com/office/powerpoint/2010/main" val="332208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组室介绍 组员介绍 组室工作 教研组活动 获得荣誉 组室幽默 网上备课 网上备课 教学研究 疑难解析 教学资料 试卷下载 物理实验 物理学史 物理学家  物理图库 物理课件 物理视频 研究性学习 软件编程 教学软件 网页编程 图形编程 XNA编程 Flash课件 Silverlight 课外 ...">
            <a:extLst>
              <a:ext uri="{FF2B5EF4-FFF2-40B4-BE49-F238E27FC236}">
                <a16:creationId xmlns:a16="http://schemas.microsoft.com/office/drawing/2014/main" id="{C6A5BF5A-D817-4FE3-A244-58B637C26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71" y="2732052"/>
            <a:ext cx="4305667" cy="239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0B2CB9F-33DF-4439-9792-1D11A8DC5053}"/>
              </a:ext>
            </a:extLst>
          </p:cNvPr>
          <p:cNvSpPr/>
          <p:nvPr/>
        </p:nvSpPr>
        <p:spPr>
          <a:xfrm>
            <a:off x="670594" y="1202612"/>
            <a:ext cx="1059898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- 1823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年，科拉顿（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Jean-Daniel </a:t>
            </a:r>
            <a:r>
              <a:rPr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Colladon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用磁铁在螺线管中移动，试图产生电流。 为了防止磁铁干扰表针，他把感应部分和验电部分放在了两个房间，没有助手，来回跑。</a:t>
            </a:r>
          </a:p>
        </p:txBody>
      </p:sp>
      <p:pic>
        <p:nvPicPr>
          <p:cNvPr id="5" name="image7.jpeg">
            <a:extLst>
              <a:ext uri="{FF2B5EF4-FFF2-40B4-BE49-F238E27FC236}">
                <a16:creationId xmlns:a16="http://schemas.microsoft.com/office/drawing/2014/main" id="{4CAC77BD-EDE5-4333-AE0E-49AAEA6FA3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7081" y="2788201"/>
            <a:ext cx="5072499" cy="21882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B1372F6-4140-4CE9-A234-1F6FD6E06227}"/>
              </a:ext>
            </a:extLst>
          </p:cNvPr>
          <p:cNvSpPr/>
          <p:nvPr/>
        </p:nvSpPr>
        <p:spPr>
          <a:xfrm>
            <a:off x="670594" y="5269405"/>
            <a:ext cx="1120608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- 1824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年，阿拉果（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François </a:t>
            </a:r>
            <a:r>
              <a:rPr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Arago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偶然发现金属可以阻尼磁针的振动。进一步联想，静止的磁针也可以被一个运动这的金属片带动。设计“</a:t>
            </a:r>
            <a:r>
              <a:rPr lang="en-US" altLang="zh-CN" sz="26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Arago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圆盘实验”，运动的导体可以带动磁针旋转。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1F0957-0728-3AF3-AEF6-01BCB548AF37}"/>
              </a:ext>
            </a:extLst>
          </p:cNvPr>
          <p:cNvSpPr/>
          <p:nvPr/>
        </p:nvSpPr>
        <p:spPr>
          <a:xfrm>
            <a:off x="334287" y="381060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电磁感应的发现过程</a:t>
            </a:r>
          </a:p>
        </p:txBody>
      </p:sp>
    </p:spTree>
    <p:extLst>
      <p:ext uri="{BB962C8B-B14F-4D97-AF65-F5344CB8AC3E}">
        <p14:creationId xmlns:p14="http://schemas.microsoft.com/office/powerpoint/2010/main" val="338322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02482" y="2217635"/>
            <a:ext cx="586630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- 1831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年法拉第（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Michael Faraday  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把两个线圈绕在一个铁环上，一个线圈接电源，另一个线圈接“电流表”，当给一个线圈通电或断电的瞬间，在另一个线圈上幽现了电流。</a:t>
            </a:r>
          </a:p>
        </p:txBody>
      </p: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6568789" y="2217635"/>
            <a:ext cx="5077600" cy="1685445"/>
            <a:chOff x="850" y="244"/>
            <a:chExt cx="10422" cy="3622"/>
          </a:xfrm>
        </p:grpSpPr>
        <p:pic>
          <p:nvPicPr>
            <p:cNvPr id="173070" name="Picture 1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3" y="393"/>
              <a:ext cx="4299" cy="3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3071" name="Picture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" y="244"/>
              <a:ext cx="6691" cy="3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矩形 16"/>
          <p:cNvSpPr/>
          <p:nvPr/>
        </p:nvSpPr>
        <p:spPr>
          <a:xfrm>
            <a:off x="690695" y="1090307"/>
            <a:ext cx="105034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- 1830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年，亨利（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Joseph Henry 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600" dirty="0">
                <a:solidFill>
                  <a:srgbClr val="20212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发现法拉第电磁感应定律，比法拉第早发现这一定律，但其并未公开此发现。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29C24A-762F-4A95-B467-66B5558A3296}"/>
              </a:ext>
            </a:extLst>
          </p:cNvPr>
          <p:cNvSpPr/>
          <p:nvPr/>
        </p:nvSpPr>
        <p:spPr>
          <a:xfrm>
            <a:off x="2504112" y="4614627"/>
            <a:ext cx="773826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法拉第于</a:t>
            </a:r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1821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年在英国</a:t>
            </a:r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哲学年鉴</a:t>
            </a:r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上发表了一篇评述文章。他认为电与磁是一对和谐的对称现象， 若认为磁由电流产生，反而破坏了这种对称和谐。</a:t>
            </a:r>
            <a:endParaRPr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sz="2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法拉第推理：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电流也可以由磁产生！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08B0E5-B20B-0E92-D811-1BA2A9F0A551}"/>
              </a:ext>
            </a:extLst>
          </p:cNvPr>
          <p:cNvSpPr/>
          <p:nvPr/>
        </p:nvSpPr>
        <p:spPr>
          <a:xfrm>
            <a:off x="334287" y="381060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电磁感应的发现过程</a:t>
            </a:r>
          </a:p>
        </p:txBody>
      </p:sp>
    </p:spTree>
    <p:extLst>
      <p:ext uri="{BB962C8B-B14F-4D97-AF65-F5344CB8AC3E}">
        <p14:creationId xmlns:p14="http://schemas.microsoft.com/office/powerpoint/2010/main" val="32380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81" name="image6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371" y="2143105"/>
            <a:ext cx="2305050" cy="232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83" name="image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39" y="1189185"/>
            <a:ext cx="3208622" cy="401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82" name="image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776" y="2393930"/>
            <a:ext cx="2662238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8470291" y="4901443"/>
            <a:ext cx="343595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1831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年，发明了第一台发电机</a:t>
            </a:r>
          </a:p>
        </p:txBody>
      </p:sp>
      <p:sp>
        <p:nvSpPr>
          <p:cNvPr id="6" name="矩形 5"/>
          <p:cNvSpPr/>
          <p:nvPr/>
        </p:nvSpPr>
        <p:spPr>
          <a:xfrm>
            <a:off x="4441919" y="4850010"/>
            <a:ext cx="34479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1821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年，发明了第一台电动机</a:t>
            </a:r>
          </a:p>
        </p:txBody>
      </p:sp>
      <p:sp>
        <p:nvSpPr>
          <p:cNvPr id="7" name="矩形 6"/>
          <p:cNvSpPr/>
          <p:nvPr/>
        </p:nvSpPr>
        <p:spPr>
          <a:xfrm>
            <a:off x="651984" y="5453371"/>
            <a:ext cx="286328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Michael Faraday  </a:t>
            </a:r>
            <a:r>
              <a:rPr lang="zh-CN" altLang="en-US" sz="2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sz="2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59400" y="1154904"/>
            <a:ext cx="34479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1820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zh-CN" altLang="en-US" sz="2600" b="1" dirty="0">
                <a:ea typeface="华文楷体" panose="02010600040101010101" pitchFamily="2" charset="-122"/>
                <a:cs typeface="宋体" panose="02010600030101010101" pitchFamily="2" charset="-122"/>
              </a:rPr>
              <a:t>奥斯特</a:t>
            </a:r>
            <a:br>
              <a:rPr lang="en-US" altLang="zh-CN" sz="2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发现电流的磁效应</a:t>
            </a:r>
          </a:p>
        </p:txBody>
      </p:sp>
      <p:sp>
        <p:nvSpPr>
          <p:cNvPr id="10" name="矩形 9"/>
          <p:cNvSpPr/>
          <p:nvPr/>
        </p:nvSpPr>
        <p:spPr>
          <a:xfrm>
            <a:off x="8470291" y="1354958"/>
            <a:ext cx="329617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1831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发现电磁感应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57DEE2-73CC-8116-3D04-A54CDA813693}"/>
              </a:ext>
            </a:extLst>
          </p:cNvPr>
          <p:cNvSpPr/>
          <p:nvPr/>
        </p:nvSpPr>
        <p:spPr>
          <a:xfrm>
            <a:off x="334287" y="38106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法拉第</a:t>
            </a:r>
          </a:p>
        </p:txBody>
      </p:sp>
    </p:spTree>
    <p:extLst>
      <p:ext uri="{BB962C8B-B14F-4D97-AF65-F5344CB8AC3E}">
        <p14:creationId xmlns:p14="http://schemas.microsoft.com/office/powerpoint/2010/main" val="202848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可以说法拉第发现电磁感应现象是一种偶然,但是也是一种必然.">
            <a:extLst>
              <a:ext uri="{FF2B5EF4-FFF2-40B4-BE49-F238E27FC236}">
                <a16:creationId xmlns:a16="http://schemas.microsoft.com/office/drawing/2014/main" id="{7B145E43-7491-DBF1-2B66-03A0019F6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53" y="1625087"/>
            <a:ext cx="4311811" cy="343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lectromagnetic Induction - 3d Animation GIF | Gfycat">
            <a:extLst>
              <a:ext uri="{FF2B5EF4-FFF2-40B4-BE49-F238E27FC236}">
                <a16:creationId xmlns:a16="http://schemas.microsoft.com/office/drawing/2014/main" id="{3048ABB1-BEFA-1AB4-EBFE-860A5CB7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592" y="1625087"/>
            <a:ext cx="6088738" cy="343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E6F3D3A-0EC8-E476-88B8-85B7BC11148A}"/>
              </a:ext>
            </a:extLst>
          </p:cNvPr>
          <p:cNvSpPr/>
          <p:nvPr/>
        </p:nvSpPr>
        <p:spPr>
          <a:xfrm>
            <a:off x="658825" y="641248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电磁感应现象</a:t>
            </a:r>
            <a:endParaRPr lang="en-US" sz="36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4" name="TextBox 95">
            <a:extLst>
              <a:ext uri="{FF2B5EF4-FFF2-40B4-BE49-F238E27FC236}">
                <a16:creationId xmlns:a16="http://schemas.microsoft.com/office/drawing/2014/main" id="{C6A6AFCA-156B-DA59-7BE9-C7A8F55EAB8B}"/>
              </a:ext>
            </a:extLst>
          </p:cNvPr>
          <p:cNvSpPr txBox="1"/>
          <p:nvPr/>
        </p:nvSpPr>
        <p:spPr>
          <a:xfrm>
            <a:off x="1336846" y="5401050"/>
            <a:ext cx="6689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+mn-ea"/>
                <a:cs typeface="宋体" panose="02010600030101010101" pitchFamily="2" charset="-122"/>
              </a:rPr>
              <a:t>- </a:t>
            </a:r>
            <a:r>
              <a:rPr lang="zh-CN" altLang="en-US" sz="2800" dirty="0">
                <a:latin typeface="+mn-ea"/>
                <a:cs typeface="宋体" panose="02010600030101010101" pitchFamily="2" charset="-122"/>
              </a:rPr>
              <a:t>产生</a:t>
            </a:r>
            <a:r>
              <a:rPr lang="zh-CN" altLang="zh-CN" sz="2800" dirty="0">
                <a:latin typeface="+mn-ea"/>
                <a:cs typeface="宋体" panose="02010600030101010101" pitchFamily="2" charset="-122"/>
              </a:rPr>
              <a:t>感应电</a:t>
            </a:r>
            <a:r>
              <a:rPr lang="zh-CN" altLang="en-US" sz="2800" dirty="0">
                <a:latin typeface="+mn-ea"/>
                <a:cs typeface="宋体" panose="02010600030101010101" pitchFamily="2" charset="-122"/>
              </a:rPr>
              <a:t>流</a:t>
            </a:r>
            <a:r>
              <a:rPr lang="zh-CN" altLang="zh-CN" sz="2800" dirty="0">
                <a:latin typeface="+mn-ea"/>
                <a:cs typeface="宋体" panose="02010600030101010101" pitchFamily="2" charset="-122"/>
              </a:rPr>
              <a:t>的</a:t>
            </a:r>
            <a:r>
              <a:rPr lang="zh-CN" altLang="en-US" sz="2800" dirty="0">
                <a:latin typeface="+mn-ea"/>
                <a:cs typeface="宋体" panose="02010600030101010101" pitchFamily="2" charset="-122"/>
              </a:rPr>
              <a:t>原因</a:t>
            </a:r>
            <a:endParaRPr lang="en-US" sz="2800" dirty="0">
              <a:latin typeface="+mj-lt"/>
            </a:endParaRPr>
          </a:p>
        </p:txBody>
      </p:sp>
      <p:sp>
        <p:nvSpPr>
          <p:cNvPr id="5" name="TextBox 95">
            <a:extLst>
              <a:ext uri="{FF2B5EF4-FFF2-40B4-BE49-F238E27FC236}">
                <a16:creationId xmlns:a16="http://schemas.microsoft.com/office/drawing/2014/main" id="{6115EFD8-B7C1-7578-0726-48308081FA98}"/>
              </a:ext>
            </a:extLst>
          </p:cNvPr>
          <p:cNvSpPr txBox="1"/>
          <p:nvPr/>
        </p:nvSpPr>
        <p:spPr>
          <a:xfrm>
            <a:off x="1336846" y="6067800"/>
            <a:ext cx="6689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+mn-ea"/>
                <a:cs typeface="宋体" panose="02010600030101010101" pitchFamily="2" charset="-122"/>
              </a:rPr>
              <a:t>- </a:t>
            </a:r>
            <a:r>
              <a:rPr lang="zh-CN" altLang="en-US" sz="2800" dirty="0">
                <a:latin typeface="+mn-ea"/>
                <a:cs typeface="宋体" panose="02010600030101010101" pitchFamily="2" charset="-122"/>
              </a:rPr>
              <a:t>影响</a:t>
            </a:r>
            <a:r>
              <a:rPr lang="zh-CN" altLang="zh-CN" sz="2800" dirty="0">
                <a:latin typeface="+mn-ea"/>
                <a:cs typeface="宋体" panose="02010600030101010101" pitchFamily="2" charset="-122"/>
              </a:rPr>
              <a:t>感应电</a:t>
            </a:r>
            <a:r>
              <a:rPr lang="zh-CN" altLang="en-US" sz="2800" dirty="0">
                <a:latin typeface="+mn-ea"/>
                <a:cs typeface="宋体" panose="02010600030101010101" pitchFamily="2" charset="-122"/>
              </a:rPr>
              <a:t>流大小和方向的因素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36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74" name="image16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383" y="5355473"/>
            <a:ext cx="3475324" cy="149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373" name="image17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73" y="1458563"/>
            <a:ext cx="3630606" cy="14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" name="矩形 255"/>
          <p:cNvSpPr/>
          <p:nvPr/>
        </p:nvSpPr>
        <p:spPr>
          <a:xfrm>
            <a:off x="5008227" y="1786128"/>
            <a:ext cx="203746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360">
              <a:lnSpc>
                <a:spcPts val="3005"/>
              </a:lnSpc>
              <a:spcBef>
                <a:spcPts val="800"/>
              </a:spcBef>
              <a:spcAft>
                <a:spcPts val="0"/>
              </a:spcAft>
            </a:pPr>
            <a:r>
              <a:rPr lang="zh-CN" altLang="zh-CN" sz="2600" dirty="0">
                <a:latin typeface="+mn-ea"/>
                <a:cs typeface="宋体" panose="02010600030101010101" pitchFamily="2" charset="-122"/>
              </a:rPr>
              <a:t>磁场的变化</a:t>
            </a:r>
          </a:p>
        </p:txBody>
      </p:sp>
      <p:sp>
        <p:nvSpPr>
          <p:cNvPr id="259" name="矩形 258"/>
          <p:cNvSpPr/>
          <p:nvPr/>
        </p:nvSpPr>
        <p:spPr>
          <a:xfrm>
            <a:off x="4857256" y="5689046"/>
            <a:ext cx="236356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+mn-ea"/>
              </a:rPr>
              <a:t>导体回路在磁场中运动</a:t>
            </a:r>
            <a:endParaRPr lang="en-US" sz="2600" dirty="0">
              <a:latin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5036887" y="3273519"/>
            <a:ext cx="22671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+mn-ea"/>
              </a:rPr>
              <a:t>回路中一部导体做切 割磁力线运动</a:t>
            </a:r>
            <a:endParaRPr lang="en-US" sz="2600" dirty="0">
              <a:latin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200010" y="2573406"/>
            <a:ext cx="2316019" cy="5699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" marR="106680">
              <a:lnSpc>
                <a:spcPts val="4000"/>
              </a:lnSpc>
              <a:spcBef>
                <a:spcPts val="45"/>
              </a:spcBef>
              <a:spcAft>
                <a:spcPts val="0"/>
              </a:spcAft>
            </a:pPr>
            <a:r>
              <a:rPr lang="zh-CN" altLang="zh-CN" sz="2600" dirty="0">
                <a:latin typeface="+mn-ea"/>
                <a:cs typeface="宋体" panose="02010600030101010101" pitchFamily="2" charset="-122"/>
              </a:rPr>
              <a:t>磁通量的变化</a:t>
            </a:r>
          </a:p>
        </p:txBody>
      </p:sp>
      <p:sp>
        <p:nvSpPr>
          <p:cNvPr id="263" name="矩形 262"/>
          <p:cNvSpPr/>
          <p:nvPr/>
        </p:nvSpPr>
        <p:spPr>
          <a:xfrm>
            <a:off x="8217746" y="3766924"/>
            <a:ext cx="3879193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8800">
              <a:spcBef>
                <a:spcPts val="110"/>
              </a:spcBef>
              <a:spcAft>
                <a:spcPts val="0"/>
              </a:spcAft>
            </a:pPr>
            <a:r>
              <a:rPr lang="zh-CN" altLang="zh-CN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感应电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流</a:t>
            </a:r>
            <a:r>
              <a:rPr lang="zh-CN" altLang="zh-CN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的大小：</a:t>
            </a:r>
            <a:br>
              <a:rPr lang="en-US" altLang="zh-CN" sz="2600" dirty="0">
                <a:latin typeface="+mn-ea"/>
                <a:cs typeface="宋体" panose="02010600030101010101" pitchFamily="2" charset="-122"/>
              </a:rPr>
            </a:br>
            <a:r>
              <a:rPr lang="zh-CN" altLang="zh-CN" sz="2600" dirty="0">
                <a:latin typeface="+mn-ea"/>
                <a:cs typeface="宋体" panose="02010600030101010101" pitchFamily="2" charset="-122"/>
              </a:rPr>
              <a:t>与磁通量变化的快慢有关或者说与磁通量随时间的变化率有关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61DA44-B335-4A4B-947D-5784FF7EE1F3}"/>
              </a:ext>
            </a:extLst>
          </p:cNvPr>
          <p:cNvCxnSpPr/>
          <p:nvPr/>
        </p:nvCxnSpPr>
        <p:spPr>
          <a:xfrm>
            <a:off x="7220824" y="2041081"/>
            <a:ext cx="1612783" cy="6098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E88D0BB-6AD6-4CCB-9836-C2BD87532D51}"/>
              </a:ext>
            </a:extLst>
          </p:cNvPr>
          <p:cNvCxnSpPr>
            <a:cxnSpLocks/>
          </p:cNvCxnSpPr>
          <p:nvPr/>
        </p:nvCxnSpPr>
        <p:spPr>
          <a:xfrm flipV="1">
            <a:off x="7501218" y="2905132"/>
            <a:ext cx="1433057" cy="6557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A5AE68F-A178-4278-AD2A-0C3F57518A78}"/>
              </a:ext>
            </a:extLst>
          </p:cNvPr>
          <p:cNvCxnSpPr>
            <a:cxnSpLocks/>
          </p:cNvCxnSpPr>
          <p:nvPr/>
        </p:nvCxnSpPr>
        <p:spPr>
          <a:xfrm flipV="1">
            <a:off x="7903853" y="3133292"/>
            <a:ext cx="1159844" cy="20982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ADAFDE5-B8FA-4EEA-A5BB-3EC00640F1B2}"/>
              </a:ext>
            </a:extLst>
          </p:cNvPr>
          <p:cNvSpPr txBox="1"/>
          <p:nvPr/>
        </p:nvSpPr>
        <p:spPr>
          <a:xfrm>
            <a:off x="8774629" y="5957466"/>
            <a:ext cx="282731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感应电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流</a:t>
            </a:r>
            <a:r>
              <a:rPr lang="zh-CN" altLang="zh-CN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zh-CN" altLang="en-US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方向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 ?</a:t>
            </a:r>
            <a:endParaRPr lang="en-US" sz="26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607337" y="646809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n-ea"/>
              </a:rPr>
              <a:t>法拉第电磁感应定律</a:t>
            </a:r>
            <a:endParaRPr lang="en-US" sz="3600" b="1" dirty="0">
              <a:solidFill>
                <a:srgbClr val="0066FF"/>
              </a:solidFill>
              <a:latin typeface="+mn-ea"/>
            </a:endParaRPr>
          </a:p>
        </p:txBody>
      </p:sp>
      <p:pic>
        <p:nvPicPr>
          <p:cNvPr id="72" name="Picture 2" descr="Electromagnetic Induction - 3d Animation GIF | Gfycat">
            <a:extLst>
              <a:ext uri="{FF2B5EF4-FFF2-40B4-BE49-F238E27FC236}">
                <a16:creationId xmlns:a16="http://schemas.microsoft.com/office/drawing/2014/main" id="{2B3172B4-F9F9-401B-877D-2ECA9EA674E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21" y="2994182"/>
            <a:ext cx="3829248" cy="215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44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261" grpId="0"/>
      <p:bldP spid="262" grpId="0"/>
      <p:bldP spid="263" grpId="0"/>
      <p:bldP spid="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450" y="2536855"/>
            <a:ext cx="9507222" cy="328642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09443" y="612579"/>
            <a:ext cx="253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楞次定律</a:t>
            </a:r>
            <a:endParaRPr lang="en-US" sz="36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03E96-F68B-4E7F-B538-F3227A5BA8B3}"/>
              </a:ext>
            </a:extLst>
          </p:cNvPr>
          <p:cNvSpPr txBox="1"/>
          <p:nvPr/>
        </p:nvSpPr>
        <p:spPr>
          <a:xfrm>
            <a:off x="1446327" y="1355353"/>
            <a:ext cx="84484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闭合回路中，感应电流的方向总是使得它自身所产生的磁通量</a:t>
            </a:r>
            <a:r>
              <a:rPr lang="zh-CN" altLang="en-US" sz="2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反抗</a:t>
            </a:r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引起感应电流的磁通量的变化。</a:t>
            </a:r>
          </a:p>
        </p:txBody>
      </p:sp>
    </p:spTree>
    <p:extLst>
      <p:ext uri="{BB962C8B-B14F-4D97-AF65-F5344CB8AC3E}">
        <p14:creationId xmlns:p14="http://schemas.microsoft.com/office/powerpoint/2010/main" val="126839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22">
            <a:extLst>
              <a:ext uri="{FF2B5EF4-FFF2-40B4-BE49-F238E27FC236}">
                <a16:creationId xmlns:a16="http://schemas.microsoft.com/office/drawing/2014/main" id="{D5181892-9A61-4F30-BB67-C6BBF76AC6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7961" y="3484213"/>
            <a:ext cx="0" cy="66245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F609A8D2-697F-4126-9A60-1FD3CE261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02" y="5257188"/>
            <a:ext cx="507786" cy="63825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4715E0DA-0303-4D6E-B4AF-DBF04554D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948" y="5153834"/>
            <a:ext cx="254830" cy="4261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5FF7DC70-03BE-47A8-88B7-BCED8A2A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901" y="5012402"/>
            <a:ext cx="1019320" cy="106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C3E2B9B6-CC29-4CCB-AB11-B8145D84F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852" y="3623449"/>
            <a:ext cx="304892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Line 30">
            <a:extLst>
              <a:ext uri="{FF2B5EF4-FFF2-40B4-BE49-F238E27FC236}">
                <a16:creationId xmlns:a16="http://schemas.microsoft.com/office/drawing/2014/main" id="{D7CB72D9-D9C8-40FA-9705-CF9A933D8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7220" y="3063188"/>
            <a:ext cx="38261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E73BE306-0297-4AEC-BCD6-4389FA115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7220" y="3063188"/>
            <a:ext cx="0" cy="28793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Line 32">
            <a:extLst>
              <a:ext uri="{FF2B5EF4-FFF2-40B4-BE49-F238E27FC236}">
                <a16:creationId xmlns:a16="http://schemas.microsoft.com/office/drawing/2014/main" id="{2EADAD08-131F-4A18-9757-E4E21F07A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7220" y="5942586"/>
            <a:ext cx="37400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" name="Group 33">
            <a:extLst>
              <a:ext uri="{FF2B5EF4-FFF2-40B4-BE49-F238E27FC236}">
                <a16:creationId xmlns:a16="http://schemas.microsoft.com/office/drawing/2014/main" id="{B44629CD-7C4B-4BA2-94AD-74B6C7F5BCB4}"/>
              </a:ext>
            </a:extLst>
          </p:cNvPr>
          <p:cNvGrpSpPr>
            <a:grpSpLocks/>
          </p:cNvGrpSpPr>
          <p:nvPr/>
        </p:nvGrpSpPr>
        <p:grpSpPr bwMode="auto">
          <a:xfrm>
            <a:off x="1928753" y="3523746"/>
            <a:ext cx="168638" cy="739795"/>
            <a:chOff x="3470" y="3158"/>
            <a:chExt cx="90" cy="408"/>
          </a:xfrm>
        </p:grpSpPr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402FBFB8-8B67-4E0F-9E7A-44F169954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35" name="Line 35">
                <a:extLst>
                  <a:ext uri="{FF2B5EF4-FFF2-40B4-BE49-F238E27FC236}">
                    <a16:creationId xmlns:a16="http://schemas.microsoft.com/office/drawing/2014/main" id="{9561044D-098A-4543-A184-624328C0F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36">
                <a:extLst>
                  <a:ext uri="{FF2B5EF4-FFF2-40B4-BE49-F238E27FC236}">
                    <a16:creationId xmlns:a16="http://schemas.microsoft.com/office/drawing/2014/main" id="{CE0DA8B0-C3DF-4D56-B4FD-6037C6188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oup 37">
              <a:extLst>
                <a:ext uri="{FF2B5EF4-FFF2-40B4-BE49-F238E27FC236}">
                  <a16:creationId xmlns:a16="http://schemas.microsoft.com/office/drawing/2014/main" id="{295BFA0B-3738-440E-A95A-926C122D5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33" name="Line 38">
                <a:extLst>
                  <a:ext uri="{FF2B5EF4-FFF2-40B4-BE49-F238E27FC236}">
                    <a16:creationId xmlns:a16="http://schemas.microsoft.com/office/drawing/2014/main" id="{13D954B1-5B39-4C0F-AC9F-94A627ED9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Line 39">
                <a:extLst>
                  <a:ext uri="{FF2B5EF4-FFF2-40B4-BE49-F238E27FC236}">
                    <a16:creationId xmlns:a16="http://schemas.microsoft.com/office/drawing/2014/main" id="{06490946-FB34-4621-A28C-6AE0D9007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" name="Group 40">
            <a:extLst>
              <a:ext uri="{FF2B5EF4-FFF2-40B4-BE49-F238E27FC236}">
                <a16:creationId xmlns:a16="http://schemas.microsoft.com/office/drawing/2014/main" id="{E1DE6537-AD0D-454B-9471-C56944145A6C}"/>
              </a:ext>
            </a:extLst>
          </p:cNvPr>
          <p:cNvGrpSpPr>
            <a:grpSpLocks/>
          </p:cNvGrpSpPr>
          <p:nvPr/>
        </p:nvGrpSpPr>
        <p:grpSpPr bwMode="auto">
          <a:xfrm>
            <a:off x="1928753" y="4756738"/>
            <a:ext cx="168638" cy="739795"/>
            <a:chOff x="3470" y="3158"/>
            <a:chExt cx="90" cy="408"/>
          </a:xfrm>
        </p:grpSpPr>
        <p:grpSp>
          <p:nvGrpSpPr>
            <p:cNvPr id="38" name="Group 41">
              <a:extLst>
                <a:ext uri="{FF2B5EF4-FFF2-40B4-BE49-F238E27FC236}">
                  <a16:creationId xmlns:a16="http://schemas.microsoft.com/office/drawing/2014/main" id="{D3018099-8D11-4D66-9B38-5CBC788D8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42" name="Line 42">
                <a:extLst>
                  <a:ext uri="{FF2B5EF4-FFF2-40B4-BE49-F238E27FC236}">
                    <a16:creationId xmlns:a16="http://schemas.microsoft.com/office/drawing/2014/main" id="{A5EFC0E6-4C34-435C-8F16-D2D018504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43">
                <a:extLst>
                  <a:ext uri="{FF2B5EF4-FFF2-40B4-BE49-F238E27FC236}">
                    <a16:creationId xmlns:a16="http://schemas.microsoft.com/office/drawing/2014/main" id="{1E050FC1-47A0-476B-867F-8BFD777FE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44">
              <a:extLst>
                <a:ext uri="{FF2B5EF4-FFF2-40B4-BE49-F238E27FC236}">
                  <a16:creationId xmlns:a16="http://schemas.microsoft.com/office/drawing/2014/main" id="{74343CB2-5E51-4E73-9EF6-AA73CA54A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40" name="Line 45">
                <a:extLst>
                  <a:ext uri="{FF2B5EF4-FFF2-40B4-BE49-F238E27FC236}">
                    <a16:creationId xmlns:a16="http://schemas.microsoft.com/office/drawing/2014/main" id="{F1B235C8-D515-4F8C-8727-27D99FB3C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ine 46">
                <a:extLst>
                  <a:ext uri="{FF2B5EF4-FFF2-40B4-BE49-F238E27FC236}">
                    <a16:creationId xmlns:a16="http://schemas.microsoft.com/office/drawing/2014/main" id="{63FD1C95-A553-4932-B428-75F5862CB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4" name="Group 47">
            <a:extLst>
              <a:ext uri="{FF2B5EF4-FFF2-40B4-BE49-F238E27FC236}">
                <a16:creationId xmlns:a16="http://schemas.microsoft.com/office/drawing/2014/main" id="{672BFDC4-B875-4FC0-998A-919A34160997}"/>
              </a:ext>
            </a:extLst>
          </p:cNvPr>
          <p:cNvGrpSpPr>
            <a:grpSpLocks/>
          </p:cNvGrpSpPr>
          <p:nvPr/>
        </p:nvGrpSpPr>
        <p:grpSpPr bwMode="auto">
          <a:xfrm>
            <a:off x="3032392" y="3474789"/>
            <a:ext cx="168638" cy="739795"/>
            <a:chOff x="3470" y="3158"/>
            <a:chExt cx="90" cy="408"/>
          </a:xfrm>
        </p:grpSpPr>
        <p:grpSp>
          <p:nvGrpSpPr>
            <p:cNvPr id="45" name="Group 48">
              <a:extLst>
                <a:ext uri="{FF2B5EF4-FFF2-40B4-BE49-F238E27FC236}">
                  <a16:creationId xmlns:a16="http://schemas.microsoft.com/office/drawing/2014/main" id="{CDB2AB8F-2E62-4E58-90DD-52682F0A1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49" name="Line 49">
                <a:extLst>
                  <a:ext uri="{FF2B5EF4-FFF2-40B4-BE49-F238E27FC236}">
                    <a16:creationId xmlns:a16="http://schemas.microsoft.com/office/drawing/2014/main" id="{B074816A-962F-4A85-B8B3-5D83A27E2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Line 50">
                <a:extLst>
                  <a:ext uri="{FF2B5EF4-FFF2-40B4-BE49-F238E27FC236}">
                    <a16:creationId xmlns:a16="http://schemas.microsoft.com/office/drawing/2014/main" id="{8ACEC353-F17C-4F51-9009-9CACBBB73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6" name="Group 51">
              <a:extLst>
                <a:ext uri="{FF2B5EF4-FFF2-40B4-BE49-F238E27FC236}">
                  <a16:creationId xmlns:a16="http://schemas.microsoft.com/office/drawing/2014/main" id="{8F724993-A154-45BE-AD6D-8E6B7BEDA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47" name="Line 52">
                <a:extLst>
                  <a:ext uri="{FF2B5EF4-FFF2-40B4-BE49-F238E27FC236}">
                    <a16:creationId xmlns:a16="http://schemas.microsoft.com/office/drawing/2014/main" id="{33B5A792-38BD-4211-BCE0-600AB4B72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Line 53">
                <a:extLst>
                  <a:ext uri="{FF2B5EF4-FFF2-40B4-BE49-F238E27FC236}">
                    <a16:creationId xmlns:a16="http://schemas.microsoft.com/office/drawing/2014/main" id="{9AF5A175-F145-494D-8504-B656CF50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2" name="Group 55">
            <a:extLst>
              <a:ext uri="{FF2B5EF4-FFF2-40B4-BE49-F238E27FC236}">
                <a16:creationId xmlns:a16="http://schemas.microsoft.com/office/drawing/2014/main" id="{588AF079-4308-4F57-B84C-510096528F70}"/>
              </a:ext>
            </a:extLst>
          </p:cNvPr>
          <p:cNvGrpSpPr>
            <a:grpSpLocks/>
          </p:cNvGrpSpPr>
          <p:nvPr/>
        </p:nvGrpSpPr>
        <p:grpSpPr bwMode="auto">
          <a:xfrm>
            <a:off x="3032392" y="4707771"/>
            <a:ext cx="168638" cy="165003"/>
            <a:chOff x="3470" y="3158"/>
            <a:chExt cx="90" cy="91"/>
          </a:xfrm>
        </p:grpSpPr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B333AC8D-084A-44D1-A979-B1E4D6258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1F288037-2F26-47F2-B63B-34FE19FA3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Group 61">
            <a:extLst>
              <a:ext uri="{FF2B5EF4-FFF2-40B4-BE49-F238E27FC236}">
                <a16:creationId xmlns:a16="http://schemas.microsoft.com/office/drawing/2014/main" id="{BA349E1F-7B8C-4DFD-9D07-DEF6CFB63DA1}"/>
              </a:ext>
            </a:extLst>
          </p:cNvPr>
          <p:cNvGrpSpPr>
            <a:grpSpLocks/>
          </p:cNvGrpSpPr>
          <p:nvPr/>
        </p:nvGrpSpPr>
        <p:grpSpPr bwMode="auto">
          <a:xfrm>
            <a:off x="4818076" y="3474789"/>
            <a:ext cx="168638" cy="739795"/>
            <a:chOff x="3470" y="3158"/>
            <a:chExt cx="90" cy="408"/>
          </a:xfrm>
        </p:grpSpPr>
        <p:grpSp>
          <p:nvGrpSpPr>
            <p:cNvPr id="59" name="Group 62">
              <a:extLst>
                <a:ext uri="{FF2B5EF4-FFF2-40B4-BE49-F238E27FC236}">
                  <a16:creationId xmlns:a16="http://schemas.microsoft.com/office/drawing/2014/main" id="{BD8766E0-CCCB-4ABB-9233-16A47A8701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63" name="Line 63">
                <a:extLst>
                  <a:ext uri="{FF2B5EF4-FFF2-40B4-BE49-F238E27FC236}">
                    <a16:creationId xmlns:a16="http://schemas.microsoft.com/office/drawing/2014/main" id="{6FFA6483-B3EF-4A59-8EAF-2961A15B7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Line 64">
                <a:extLst>
                  <a:ext uri="{FF2B5EF4-FFF2-40B4-BE49-F238E27FC236}">
                    <a16:creationId xmlns:a16="http://schemas.microsoft.com/office/drawing/2014/main" id="{5115B071-B768-4F7A-85F7-8EF22D2D2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Group 65">
              <a:extLst>
                <a:ext uri="{FF2B5EF4-FFF2-40B4-BE49-F238E27FC236}">
                  <a16:creationId xmlns:a16="http://schemas.microsoft.com/office/drawing/2014/main" id="{68913245-6A6D-4C7B-85BD-073367E1C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61" name="Line 66">
                <a:extLst>
                  <a:ext uri="{FF2B5EF4-FFF2-40B4-BE49-F238E27FC236}">
                    <a16:creationId xmlns:a16="http://schemas.microsoft.com/office/drawing/2014/main" id="{CA03F53E-F39A-4001-9C1D-33D354260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Line 67">
                <a:extLst>
                  <a:ext uri="{FF2B5EF4-FFF2-40B4-BE49-F238E27FC236}">
                    <a16:creationId xmlns:a16="http://schemas.microsoft.com/office/drawing/2014/main" id="{9B53B335-F576-4434-BA72-7D42EB460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5" name="Group 68">
            <a:extLst>
              <a:ext uri="{FF2B5EF4-FFF2-40B4-BE49-F238E27FC236}">
                <a16:creationId xmlns:a16="http://schemas.microsoft.com/office/drawing/2014/main" id="{C540A970-2FD5-42A0-AECC-B7D016284A90}"/>
              </a:ext>
            </a:extLst>
          </p:cNvPr>
          <p:cNvGrpSpPr>
            <a:grpSpLocks/>
          </p:cNvGrpSpPr>
          <p:nvPr/>
        </p:nvGrpSpPr>
        <p:grpSpPr bwMode="auto">
          <a:xfrm>
            <a:off x="4818076" y="4707781"/>
            <a:ext cx="168638" cy="739795"/>
            <a:chOff x="3470" y="3158"/>
            <a:chExt cx="90" cy="408"/>
          </a:xfrm>
        </p:grpSpPr>
        <p:grpSp>
          <p:nvGrpSpPr>
            <p:cNvPr id="66" name="Group 69">
              <a:extLst>
                <a:ext uri="{FF2B5EF4-FFF2-40B4-BE49-F238E27FC236}">
                  <a16:creationId xmlns:a16="http://schemas.microsoft.com/office/drawing/2014/main" id="{91E809FD-7FF4-40C0-A3FB-0F28BED1D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70" name="Line 70">
                <a:extLst>
                  <a:ext uri="{FF2B5EF4-FFF2-40B4-BE49-F238E27FC236}">
                    <a16:creationId xmlns:a16="http://schemas.microsoft.com/office/drawing/2014/main" id="{14547036-78F2-4C42-AF38-37A91405B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Line 71">
                <a:extLst>
                  <a:ext uri="{FF2B5EF4-FFF2-40B4-BE49-F238E27FC236}">
                    <a16:creationId xmlns:a16="http://schemas.microsoft.com/office/drawing/2014/main" id="{7D181B57-054D-45B7-96FC-95CB3F74F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Group 72">
              <a:extLst>
                <a:ext uri="{FF2B5EF4-FFF2-40B4-BE49-F238E27FC236}">
                  <a16:creationId xmlns:a16="http://schemas.microsoft.com/office/drawing/2014/main" id="{E8D80D87-788D-436C-8C04-FBC3C1D83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68" name="Line 73">
                <a:extLst>
                  <a:ext uri="{FF2B5EF4-FFF2-40B4-BE49-F238E27FC236}">
                    <a16:creationId xmlns:a16="http://schemas.microsoft.com/office/drawing/2014/main" id="{A12038E8-3E03-4AC2-84E9-740313435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74">
                <a:extLst>
                  <a:ext uri="{FF2B5EF4-FFF2-40B4-BE49-F238E27FC236}">
                    <a16:creationId xmlns:a16="http://schemas.microsoft.com/office/drawing/2014/main" id="{2B760EA4-5CF0-40EA-B076-C880AE8F3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2" name="AutoShape 75">
            <a:extLst>
              <a:ext uri="{FF2B5EF4-FFF2-40B4-BE49-F238E27FC236}">
                <a16:creationId xmlns:a16="http://schemas.microsoft.com/office/drawing/2014/main" id="{C4390590-E989-4371-8E24-6FB11AFB9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223" y="2887305"/>
            <a:ext cx="341023" cy="3258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Line 76">
            <a:extLst>
              <a:ext uri="{FF2B5EF4-FFF2-40B4-BE49-F238E27FC236}">
                <a16:creationId xmlns:a16="http://schemas.microsoft.com/office/drawing/2014/main" id="{D8164FD2-DDC6-4C32-A8A5-995A7E890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1883" y="4461183"/>
            <a:ext cx="59585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5" name="Object 78">
            <a:extLst>
              <a:ext uri="{FF2B5EF4-FFF2-40B4-BE49-F238E27FC236}">
                <a16:creationId xmlns:a16="http://schemas.microsoft.com/office/drawing/2014/main" id="{2ADD874F-B92E-4431-9B59-DE460EE67F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1330" y="4148275"/>
          <a:ext cx="460943" cy="6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公式" r:id="rId3" imgW="126720" imgH="177480" progId="Equation.3">
                  <p:embed/>
                </p:oleObj>
              </mc:Choice>
              <mc:Fallback>
                <p:oleObj name="公式" r:id="rId3" imgW="126720" imgH="177480" progId="Equation.3">
                  <p:embed/>
                  <p:pic>
                    <p:nvPicPr>
                      <p:cNvPr id="75" name="Object 78">
                        <a:extLst>
                          <a:ext uri="{FF2B5EF4-FFF2-40B4-BE49-F238E27FC236}">
                            <a16:creationId xmlns:a16="http://schemas.microsoft.com/office/drawing/2014/main" id="{2ADD874F-B92E-4431-9B59-DE460EE67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330" y="4148275"/>
                        <a:ext cx="460943" cy="6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80">
            <a:extLst>
              <a:ext uri="{FF2B5EF4-FFF2-40B4-BE49-F238E27FC236}">
                <a16:creationId xmlns:a16="http://schemas.microsoft.com/office/drawing/2014/main" id="{94EF2F7B-DF8D-41BD-A9B1-1B4A21F70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3583" y="3228191"/>
          <a:ext cx="599600" cy="714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公式" r:id="rId5" imgW="164880" imgH="203040" progId="Equation.3">
                  <p:embed/>
                </p:oleObj>
              </mc:Choice>
              <mc:Fallback>
                <p:oleObj name="公式" r:id="rId5" imgW="164880" imgH="203040" progId="Equation.3">
                  <p:embed/>
                  <p:pic>
                    <p:nvPicPr>
                      <p:cNvPr id="77" name="Object 80">
                        <a:extLst>
                          <a:ext uri="{FF2B5EF4-FFF2-40B4-BE49-F238E27FC236}">
                            <a16:creationId xmlns:a16="http://schemas.microsoft.com/office/drawing/2014/main" id="{94EF2F7B-DF8D-41BD-A9B1-1B4A21F70C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3583" y="3228191"/>
                        <a:ext cx="599600" cy="714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46E20D13-D2AD-4E98-B0FE-97320E4BA9C6}"/>
              </a:ext>
            </a:extLst>
          </p:cNvPr>
          <p:cNvSpPr txBox="1"/>
          <p:nvPr/>
        </p:nvSpPr>
        <p:spPr>
          <a:xfrm>
            <a:off x="1809258" y="5139902"/>
            <a:ext cx="311860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600" b="0" i="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安培力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Line 22">
            <a:extLst>
              <a:ext uri="{FF2B5EF4-FFF2-40B4-BE49-F238E27FC236}">
                <a16:creationId xmlns:a16="http://schemas.microsoft.com/office/drawing/2014/main" id="{D8EB66E5-E309-4AE6-A5C1-98DEA09DED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61772" y="5033231"/>
            <a:ext cx="642603" cy="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 Box 29">
                <a:extLst>
                  <a:ext uri="{FF2B5EF4-FFF2-40B4-BE49-F238E27FC236}">
                    <a16:creationId xmlns:a16="http://schemas.microsoft.com/office/drawing/2014/main" id="{7516CDEC-D51A-44A5-A08D-F6F140181E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0846" y="4434180"/>
                <a:ext cx="304892" cy="57547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Text Box 29">
                <a:extLst>
                  <a:ext uri="{FF2B5EF4-FFF2-40B4-BE49-F238E27FC236}">
                    <a16:creationId xmlns:a16="http://schemas.microsoft.com/office/drawing/2014/main" id="{7516CDEC-D51A-44A5-A08D-F6F140181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0846" y="4434180"/>
                <a:ext cx="304892" cy="5754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Line 22">
            <a:extLst>
              <a:ext uri="{FF2B5EF4-FFF2-40B4-BE49-F238E27FC236}">
                <a16:creationId xmlns:a16="http://schemas.microsoft.com/office/drawing/2014/main" id="{45C033E9-C3AC-4376-AFAC-9B03A7B135A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291" y="3467564"/>
            <a:ext cx="0" cy="66245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Rectangle 24">
            <a:extLst>
              <a:ext uri="{FF2B5EF4-FFF2-40B4-BE49-F238E27FC236}">
                <a16:creationId xmlns:a16="http://schemas.microsoft.com/office/drawing/2014/main" id="{31236821-7AEF-44CA-B639-4A5FCF5B6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732" y="5240539"/>
            <a:ext cx="507786" cy="63825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C1615A18-73B8-404E-A2F6-7220B764D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278" y="5137185"/>
            <a:ext cx="254830" cy="4261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Rectangle 28">
            <a:extLst>
              <a:ext uri="{FF2B5EF4-FFF2-40B4-BE49-F238E27FC236}">
                <a16:creationId xmlns:a16="http://schemas.microsoft.com/office/drawing/2014/main" id="{F713A339-D6BC-4364-B917-ADC570D3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5231" y="4995753"/>
            <a:ext cx="1019320" cy="106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Text Box 29">
            <a:extLst>
              <a:ext uri="{FF2B5EF4-FFF2-40B4-BE49-F238E27FC236}">
                <a16:creationId xmlns:a16="http://schemas.microsoft.com/office/drawing/2014/main" id="{C27F4E09-5B7E-425A-BF63-E02EECECB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82" y="3606800"/>
            <a:ext cx="304892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Line 30">
            <a:extLst>
              <a:ext uri="{FF2B5EF4-FFF2-40B4-BE49-F238E27FC236}">
                <a16:creationId xmlns:a16="http://schemas.microsoft.com/office/drawing/2014/main" id="{BFD1A62C-BEA3-45E1-91D4-0E2343178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1550" y="3046539"/>
            <a:ext cx="38261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Line 31">
            <a:extLst>
              <a:ext uri="{FF2B5EF4-FFF2-40B4-BE49-F238E27FC236}">
                <a16:creationId xmlns:a16="http://schemas.microsoft.com/office/drawing/2014/main" id="{CE81915E-13CD-4DC5-BBC9-A2A4D05F6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1550" y="3046539"/>
            <a:ext cx="0" cy="28793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Line 32">
            <a:extLst>
              <a:ext uri="{FF2B5EF4-FFF2-40B4-BE49-F238E27FC236}">
                <a16:creationId xmlns:a16="http://schemas.microsoft.com/office/drawing/2014/main" id="{E2E99876-14CF-4BC6-96B0-F41825FF9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1550" y="5925937"/>
            <a:ext cx="37400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0" name="Group 33">
            <a:extLst>
              <a:ext uri="{FF2B5EF4-FFF2-40B4-BE49-F238E27FC236}">
                <a16:creationId xmlns:a16="http://schemas.microsoft.com/office/drawing/2014/main" id="{504068AD-92FB-4D13-9781-A73ED5145C46}"/>
              </a:ext>
            </a:extLst>
          </p:cNvPr>
          <p:cNvGrpSpPr>
            <a:grpSpLocks/>
          </p:cNvGrpSpPr>
          <p:nvPr/>
        </p:nvGrpSpPr>
        <p:grpSpPr bwMode="auto">
          <a:xfrm>
            <a:off x="7173083" y="3507097"/>
            <a:ext cx="168638" cy="739795"/>
            <a:chOff x="3470" y="3158"/>
            <a:chExt cx="90" cy="408"/>
          </a:xfrm>
        </p:grpSpPr>
        <p:grpSp>
          <p:nvGrpSpPr>
            <p:cNvPr id="111" name="Group 34">
              <a:extLst>
                <a:ext uri="{FF2B5EF4-FFF2-40B4-BE49-F238E27FC236}">
                  <a16:creationId xmlns:a16="http://schemas.microsoft.com/office/drawing/2014/main" id="{C50BA654-F677-423C-8BEC-E888210909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15" name="Line 35">
                <a:extLst>
                  <a:ext uri="{FF2B5EF4-FFF2-40B4-BE49-F238E27FC236}">
                    <a16:creationId xmlns:a16="http://schemas.microsoft.com/office/drawing/2014/main" id="{930F64FB-3963-4C96-8C33-A5EFBC85F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Line 36">
                <a:extLst>
                  <a:ext uri="{FF2B5EF4-FFF2-40B4-BE49-F238E27FC236}">
                    <a16:creationId xmlns:a16="http://schemas.microsoft.com/office/drawing/2014/main" id="{0140DC91-7FDB-4F8E-BE53-77FBD4F89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2" name="Group 37">
              <a:extLst>
                <a:ext uri="{FF2B5EF4-FFF2-40B4-BE49-F238E27FC236}">
                  <a16:creationId xmlns:a16="http://schemas.microsoft.com/office/drawing/2014/main" id="{6DDD8897-4A19-433D-A327-7519EC5F9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13" name="Line 38">
                <a:extLst>
                  <a:ext uri="{FF2B5EF4-FFF2-40B4-BE49-F238E27FC236}">
                    <a16:creationId xmlns:a16="http://schemas.microsoft.com/office/drawing/2014/main" id="{4159C48F-C3AC-4147-99DD-0C21A6D85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Line 39">
                <a:extLst>
                  <a:ext uri="{FF2B5EF4-FFF2-40B4-BE49-F238E27FC236}">
                    <a16:creationId xmlns:a16="http://schemas.microsoft.com/office/drawing/2014/main" id="{4F3AA8CE-3103-443A-9021-8F51B7AB8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7" name="Group 40">
            <a:extLst>
              <a:ext uri="{FF2B5EF4-FFF2-40B4-BE49-F238E27FC236}">
                <a16:creationId xmlns:a16="http://schemas.microsoft.com/office/drawing/2014/main" id="{6693A042-03F3-4393-BE7B-84D8A81FEDC2}"/>
              </a:ext>
            </a:extLst>
          </p:cNvPr>
          <p:cNvGrpSpPr>
            <a:grpSpLocks/>
          </p:cNvGrpSpPr>
          <p:nvPr/>
        </p:nvGrpSpPr>
        <p:grpSpPr bwMode="auto">
          <a:xfrm>
            <a:off x="7173083" y="4740089"/>
            <a:ext cx="168638" cy="739795"/>
            <a:chOff x="3470" y="3158"/>
            <a:chExt cx="90" cy="408"/>
          </a:xfrm>
        </p:grpSpPr>
        <p:grpSp>
          <p:nvGrpSpPr>
            <p:cNvPr id="118" name="Group 41">
              <a:extLst>
                <a:ext uri="{FF2B5EF4-FFF2-40B4-BE49-F238E27FC236}">
                  <a16:creationId xmlns:a16="http://schemas.microsoft.com/office/drawing/2014/main" id="{D45FA902-5FE2-44B7-B1A6-4FD4B754C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22" name="Line 42">
                <a:extLst>
                  <a:ext uri="{FF2B5EF4-FFF2-40B4-BE49-F238E27FC236}">
                    <a16:creationId xmlns:a16="http://schemas.microsoft.com/office/drawing/2014/main" id="{1AB9BAFB-45E8-4128-AF43-73FAF1CBA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Line 43">
                <a:extLst>
                  <a:ext uri="{FF2B5EF4-FFF2-40B4-BE49-F238E27FC236}">
                    <a16:creationId xmlns:a16="http://schemas.microsoft.com/office/drawing/2014/main" id="{E7ADE5A2-641F-4F86-B1F6-49A0B2DF4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9" name="Group 44">
              <a:extLst>
                <a:ext uri="{FF2B5EF4-FFF2-40B4-BE49-F238E27FC236}">
                  <a16:creationId xmlns:a16="http://schemas.microsoft.com/office/drawing/2014/main" id="{2C9130F6-2F88-4C1C-88C4-4A1219119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0" name="Line 45">
                <a:extLst>
                  <a:ext uri="{FF2B5EF4-FFF2-40B4-BE49-F238E27FC236}">
                    <a16:creationId xmlns:a16="http://schemas.microsoft.com/office/drawing/2014/main" id="{BFE5065C-7F4A-447B-9182-0AEDB2ABC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46">
                <a:extLst>
                  <a:ext uri="{FF2B5EF4-FFF2-40B4-BE49-F238E27FC236}">
                    <a16:creationId xmlns:a16="http://schemas.microsoft.com/office/drawing/2014/main" id="{D3EF1F38-3E08-46C5-A921-28B3DEF4E1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4" name="Group 47">
            <a:extLst>
              <a:ext uri="{FF2B5EF4-FFF2-40B4-BE49-F238E27FC236}">
                <a16:creationId xmlns:a16="http://schemas.microsoft.com/office/drawing/2014/main" id="{BCC49C33-1130-4F3F-B5E7-985E4F4A1D34}"/>
              </a:ext>
            </a:extLst>
          </p:cNvPr>
          <p:cNvGrpSpPr>
            <a:grpSpLocks/>
          </p:cNvGrpSpPr>
          <p:nvPr/>
        </p:nvGrpSpPr>
        <p:grpSpPr bwMode="auto">
          <a:xfrm>
            <a:off x="8276722" y="3458140"/>
            <a:ext cx="168638" cy="739795"/>
            <a:chOff x="3470" y="3158"/>
            <a:chExt cx="90" cy="408"/>
          </a:xfrm>
        </p:grpSpPr>
        <p:grpSp>
          <p:nvGrpSpPr>
            <p:cNvPr id="125" name="Group 48">
              <a:extLst>
                <a:ext uri="{FF2B5EF4-FFF2-40B4-BE49-F238E27FC236}">
                  <a16:creationId xmlns:a16="http://schemas.microsoft.com/office/drawing/2014/main" id="{CA9C7A2B-DF75-44DF-B728-200CF7DA23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29" name="Line 49">
                <a:extLst>
                  <a:ext uri="{FF2B5EF4-FFF2-40B4-BE49-F238E27FC236}">
                    <a16:creationId xmlns:a16="http://schemas.microsoft.com/office/drawing/2014/main" id="{A9EF3DF9-37B8-43D3-B5D3-91ABF18C6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50">
                <a:extLst>
                  <a:ext uri="{FF2B5EF4-FFF2-40B4-BE49-F238E27FC236}">
                    <a16:creationId xmlns:a16="http://schemas.microsoft.com/office/drawing/2014/main" id="{3516E7F2-AA86-4394-B88F-5B176E23D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6" name="Group 51">
              <a:extLst>
                <a:ext uri="{FF2B5EF4-FFF2-40B4-BE49-F238E27FC236}">
                  <a16:creationId xmlns:a16="http://schemas.microsoft.com/office/drawing/2014/main" id="{6556FB44-ABBA-49F1-819B-7E47D9B9B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27" name="Line 52">
                <a:extLst>
                  <a:ext uri="{FF2B5EF4-FFF2-40B4-BE49-F238E27FC236}">
                    <a16:creationId xmlns:a16="http://schemas.microsoft.com/office/drawing/2014/main" id="{CA9D0F80-4283-4B7D-9E89-840EA5A83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Line 53">
                <a:extLst>
                  <a:ext uri="{FF2B5EF4-FFF2-40B4-BE49-F238E27FC236}">
                    <a16:creationId xmlns:a16="http://schemas.microsoft.com/office/drawing/2014/main" id="{E11FE7DA-C566-47DA-8409-41E2F56A4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1" name="Group 55">
            <a:extLst>
              <a:ext uri="{FF2B5EF4-FFF2-40B4-BE49-F238E27FC236}">
                <a16:creationId xmlns:a16="http://schemas.microsoft.com/office/drawing/2014/main" id="{81DF4DBC-734B-4A99-A515-EE705282668A}"/>
              </a:ext>
            </a:extLst>
          </p:cNvPr>
          <p:cNvGrpSpPr>
            <a:grpSpLocks/>
          </p:cNvGrpSpPr>
          <p:nvPr/>
        </p:nvGrpSpPr>
        <p:grpSpPr bwMode="auto">
          <a:xfrm>
            <a:off x="8276722" y="4691122"/>
            <a:ext cx="168638" cy="165003"/>
            <a:chOff x="3470" y="3158"/>
            <a:chExt cx="90" cy="91"/>
          </a:xfrm>
        </p:grpSpPr>
        <p:sp>
          <p:nvSpPr>
            <p:cNvPr id="132" name="Line 56">
              <a:extLst>
                <a:ext uri="{FF2B5EF4-FFF2-40B4-BE49-F238E27FC236}">
                  <a16:creationId xmlns:a16="http://schemas.microsoft.com/office/drawing/2014/main" id="{E2BD196B-5E81-43B8-BC8B-F8B3D05F0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" name="Line 57">
              <a:extLst>
                <a:ext uri="{FF2B5EF4-FFF2-40B4-BE49-F238E27FC236}">
                  <a16:creationId xmlns:a16="http://schemas.microsoft.com/office/drawing/2014/main" id="{FB01C1CB-B154-4C26-ABC9-F86F3D48E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158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4" name="Group 61">
            <a:extLst>
              <a:ext uri="{FF2B5EF4-FFF2-40B4-BE49-F238E27FC236}">
                <a16:creationId xmlns:a16="http://schemas.microsoft.com/office/drawing/2014/main" id="{144342E9-4345-4A70-AC4B-7000AD08E3E1}"/>
              </a:ext>
            </a:extLst>
          </p:cNvPr>
          <p:cNvGrpSpPr>
            <a:grpSpLocks/>
          </p:cNvGrpSpPr>
          <p:nvPr/>
        </p:nvGrpSpPr>
        <p:grpSpPr bwMode="auto">
          <a:xfrm>
            <a:off x="10062406" y="3458140"/>
            <a:ext cx="168638" cy="739795"/>
            <a:chOff x="3470" y="3158"/>
            <a:chExt cx="90" cy="408"/>
          </a:xfrm>
        </p:grpSpPr>
        <p:grpSp>
          <p:nvGrpSpPr>
            <p:cNvPr id="135" name="Group 62">
              <a:extLst>
                <a:ext uri="{FF2B5EF4-FFF2-40B4-BE49-F238E27FC236}">
                  <a16:creationId xmlns:a16="http://schemas.microsoft.com/office/drawing/2014/main" id="{26BB482E-0522-4A2C-84C3-55E4812DB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39" name="Line 63">
                <a:extLst>
                  <a:ext uri="{FF2B5EF4-FFF2-40B4-BE49-F238E27FC236}">
                    <a16:creationId xmlns:a16="http://schemas.microsoft.com/office/drawing/2014/main" id="{3A7B6038-EA4C-4DA1-BA31-51504BAC8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Line 64">
                <a:extLst>
                  <a:ext uri="{FF2B5EF4-FFF2-40B4-BE49-F238E27FC236}">
                    <a16:creationId xmlns:a16="http://schemas.microsoft.com/office/drawing/2014/main" id="{DBE72A3B-3A1E-4621-9CC6-BD925CDAD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6" name="Group 65">
              <a:extLst>
                <a:ext uri="{FF2B5EF4-FFF2-40B4-BE49-F238E27FC236}">
                  <a16:creationId xmlns:a16="http://schemas.microsoft.com/office/drawing/2014/main" id="{D46BA1C3-0641-40EC-9A08-7516B9FB5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37" name="Line 66">
                <a:extLst>
                  <a:ext uri="{FF2B5EF4-FFF2-40B4-BE49-F238E27FC236}">
                    <a16:creationId xmlns:a16="http://schemas.microsoft.com/office/drawing/2014/main" id="{B19F0F32-EE2C-45AC-BC69-72BA50A68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Line 67">
                <a:extLst>
                  <a:ext uri="{FF2B5EF4-FFF2-40B4-BE49-F238E27FC236}">
                    <a16:creationId xmlns:a16="http://schemas.microsoft.com/office/drawing/2014/main" id="{A59D577C-1DA1-43B3-B3DE-0D795E6C9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1" name="Group 68">
            <a:extLst>
              <a:ext uri="{FF2B5EF4-FFF2-40B4-BE49-F238E27FC236}">
                <a16:creationId xmlns:a16="http://schemas.microsoft.com/office/drawing/2014/main" id="{BADDB31C-42FE-4245-9177-9CDD8201EF81}"/>
              </a:ext>
            </a:extLst>
          </p:cNvPr>
          <p:cNvGrpSpPr>
            <a:grpSpLocks/>
          </p:cNvGrpSpPr>
          <p:nvPr/>
        </p:nvGrpSpPr>
        <p:grpSpPr bwMode="auto">
          <a:xfrm>
            <a:off x="10062406" y="4691132"/>
            <a:ext cx="168638" cy="739795"/>
            <a:chOff x="3470" y="3158"/>
            <a:chExt cx="90" cy="408"/>
          </a:xfrm>
        </p:grpSpPr>
        <p:grpSp>
          <p:nvGrpSpPr>
            <p:cNvPr id="142" name="Group 69">
              <a:extLst>
                <a:ext uri="{FF2B5EF4-FFF2-40B4-BE49-F238E27FC236}">
                  <a16:creationId xmlns:a16="http://schemas.microsoft.com/office/drawing/2014/main" id="{0965F79F-7A20-4033-A0DE-40D4C063D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158"/>
              <a:ext cx="90" cy="91"/>
              <a:chOff x="3470" y="3158"/>
              <a:chExt cx="90" cy="91"/>
            </a:xfrm>
          </p:grpSpPr>
          <p:sp>
            <p:nvSpPr>
              <p:cNvPr id="146" name="Line 70">
                <a:extLst>
                  <a:ext uri="{FF2B5EF4-FFF2-40B4-BE49-F238E27FC236}">
                    <a16:creationId xmlns:a16="http://schemas.microsoft.com/office/drawing/2014/main" id="{E77831E1-AABA-4DD9-8C4F-307343069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Line 71">
                <a:extLst>
                  <a:ext uri="{FF2B5EF4-FFF2-40B4-BE49-F238E27FC236}">
                    <a16:creationId xmlns:a16="http://schemas.microsoft.com/office/drawing/2014/main" id="{F4AAA007-5C37-4D99-98C5-81FF486AE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3" name="Group 72">
              <a:extLst>
                <a:ext uri="{FF2B5EF4-FFF2-40B4-BE49-F238E27FC236}">
                  <a16:creationId xmlns:a16="http://schemas.microsoft.com/office/drawing/2014/main" id="{B42285F4-BA69-4A13-918C-D1B733397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3475"/>
              <a:ext cx="90" cy="91"/>
              <a:chOff x="3470" y="3158"/>
              <a:chExt cx="90" cy="91"/>
            </a:xfrm>
          </p:grpSpPr>
          <p:sp>
            <p:nvSpPr>
              <p:cNvPr id="144" name="Line 73">
                <a:extLst>
                  <a:ext uri="{FF2B5EF4-FFF2-40B4-BE49-F238E27FC236}">
                    <a16:creationId xmlns:a16="http://schemas.microsoft.com/office/drawing/2014/main" id="{BBD1003B-C5EC-402B-8493-762AEA881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Line 74">
                <a:extLst>
                  <a:ext uri="{FF2B5EF4-FFF2-40B4-BE49-F238E27FC236}">
                    <a16:creationId xmlns:a16="http://schemas.microsoft.com/office/drawing/2014/main" id="{EF460BA6-5976-4646-B40F-8D3C39E6F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3158"/>
                <a:ext cx="9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8" name="AutoShape 75">
            <a:extLst>
              <a:ext uri="{FF2B5EF4-FFF2-40B4-BE49-F238E27FC236}">
                <a16:creationId xmlns:a16="http://schemas.microsoft.com/office/drawing/2014/main" id="{4C4E43E3-C531-4623-89C0-56AA4C8CC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6553" y="2870656"/>
            <a:ext cx="341023" cy="3258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Line 76">
            <a:extLst>
              <a:ext uri="{FF2B5EF4-FFF2-40B4-BE49-F238E27FC236}">
                <a16:creationId xmlns:a16="http://schemas.microsoft.com/office/drawing/2014/main" id="{7915BE18-209C-496D-AD15-CE37667F0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6213" y="4444534"/>
            <a:ext cx="59585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0" name="Object 78">
            <a:extLst>
              <a:ext uri="{FF2B5EF4-FFF2-40B4-BE49-F238E27FC236}">
                <a16:creationId xmlns:a16="http://schemas.microsoft.com/office/drawing/2014/main" id="{0697612F-34BC-41E4-A21A-BC28D76DB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36465" y="4116340"/>
          <a:ext cx="460943" cy="6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公式" r:id="rId8" imgW="126720" imgH="177480" progId="Equation.3">
                  <p:embed/>
                </p:oleObj>
              </mc:Choice>
              <mc:Fallback>
                <p:oleObj name="公式" r:id="rId8" imgW="126720" imgH="177480" progId="Equation.3">
                  <p:embed/>
                  <p:pic>
                    <p:nvPicPr>
                      <p:cNvPr id="150" name="Object 78">
                        <a:extLst>
                          <a:ext uri="{FF2B5EF4-FFF2-40B4-BE49-F238E27FC236}">
                            <a16:creationId xmlns:a16="http://schemas.microsoft.com/office/drawing/2014/main" id="{0697612F-34BC-41E4-A21A-BC28D76DB2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6465" y="4116340"/>
                        <a:ext cx="460943" cy="6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Object 80">
            <a:extLst>
              <a:ext uri="{FF2B5EF4-FFF2-40B4-BE49-F238E27FC236}">
                <a16:creationId xmlns:a16="http://schemas.microsoft.com/office/drawing/2014/main" id="{1337DE51-31F8-401D-B9B5-68E66B70B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7913" y="3211542"/>
          <a:ext cx="599600" cy="714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公式" r:id="rId9" imgW="164880" imgH="203040" progId="Equation.3">
                  <p:embed/>
                </p:oleObj>
              </mc:Choice>
              <mc:Fallback>
                <p:oleObj name="公式" r:id="rId9" imgW="164880" imgH="203040" progId="Equation.3">
                  <p:embed/>
                  <p:pic>
                    <p:nvPicPr>
                      <p:cNvPr id="152" name="Object 80">
                        <a:extLst>
                          <a:ext uri="{FF2B5EF4-FFF2-40B4-BE49-F238E27FC236}">
                            <a16:creationId xmlns:a16="http://schemas.microsoft.com/office/drawing/2014/main" id="{1337DE51-31F8-401D-B9B5-68E66B70B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913" y="3211542"/>
                        <a:ext cx="599600" cy="714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" name="TextBox 152">
            <a:extLst>
              <a:ext uri="{FF2B5EF4-FFF2-40B4-BE49-F238E27FC236}">
                <a16:creationId xmlns:a16="http://schemas.microsoft.com/office/drawing/2014/main" id="{05A7817C-82BA-4E57-9487-B61F5C51DAB6}"/>
              </a:ext>
            </a:extLst>
          </p:cNvPr>
          <p:cNvSpPr txBox="1"/>
          <p:nvPr/>
        </p:nvSpPr>
        <p:spPr>
          <a:xfrm>
            <a:off x="7053588" y="5123253"/>
            <a:ext cx="311860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600" b="0" i="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安培力</a:t>
            </a:r>
            <a:r>
              <a:rPr lang="en-US" altLang="zh-CN" sz="2600" b="0" i="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Line 22">
            <a:extLst>
              <a:ext uri="{FF2B5EF4-FFF2-40B4-BE49-F238E27FC236}">
                <a16:creationId xmlns:a16="http://schemas.microsoft.com/office/drawing/2014/main" id="{8C6057FD-D60F-42E1-88B8-9BE65876D1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13723" y="4992193"/>
            <a:ext cx="642603" cy="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 Box 29">
                <a:extLst>
                  <a:ext uri="{FF2B5EF4-FFF2-40B4-BE49-F238E27FC236}">
                    <a16:creationId xmlns:a16="http://schemas.microsoft.com/office/drawing/2014/main" id="{1B0E4CCF-6788-4B52-A173-B7AFDF16A4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67993" y="4323728"/>
                <a:ext cx="304892" cy="57547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Text Box 29">
                <a:extLst>
                  <a:ext uri="{FF2B5EF4-FFF2-40B4-BE49-F238E27FC236}">
                    <a16:creationId xmlns:a16="http://schemas.microsoft.com/office/drawing/2014/main" id="{1B0E4CCF-6788-4B52-A173-B7AFDF16A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67993" y="4323728"/>
                <a:ext cx="304892" cy="5754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TextBox 155">
            <a:extLst>
              <a:ext uri="{FF2B5EF4-FFF2-40B4-BE49-F238E27FC236}">
                <a16:creationId xmlns:a16="http://schemas.microsoft.com/office/drawing/2014/main" id="{A854E1EB-94FB-481B-A352-9DC7D14DFA8D}"/>
              </a:ext>
            </a:extLst>
          </p:cNvPr>
          <p:cNvSpPr txBox="1"/>
          <p:nvPr/>
        </p:nvSpPr>
        <p:spPr>
          <a:xfrm>
            <a:off x="1895673" y="2425923"/>
            <a:ext cx="271693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遵从楞次定律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B81B15F-F207-445A-B71A-A2CED6D53D17}"/>
              </a:ext>
            </a:extLst>
          </p:cNvPr>
          <p:cNvSpPr txBox="1"/>
          <p:nvPr/>
        </p:nvSpPr>
        <p:spPr>
          <a:xfrm>
            <a:off x="7250602" y="2463371"/>
            <a:ext cx="271693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不遵从楞次定律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D08CE94-B765-4935-9D87-759EC97A575D}"/>
              </a:ext>
            </a:extLst>
          </p:cNvPr>
          <p:cNvSpPr txBox="1"/>
          <p:nvPr/>
        </p:nvSpPr>
        <p:spPr>
          <a:xfrm>
            <a:off x="10572066" y="5292368"/>
            <a:ext cx="1380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永动机</a:t>
            </a:r>
            <a:endParaRPr lang="en-US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05FC3D1-11E8-4F99-B47E-D4FCEC159B97}"/>
              </a:ext>
            </a:extLst>
          </p:cNvPr>
          <p:cNvSpPr txBox="1"/>
          <p:nvPr/>
        </p:nvSpPr>
        <p:spPr>
          <a:xfrm>
            <a:off x="1381241" y="6226093"/>
            <a:ext cx="85862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rgbClr val="333333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实质：产生感应电流的过程必须遵守能量守恒定律</a:t>
            </a:r>
            <a:endParaRPr lang="en-US" altLang="zh-CN" sz="26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TextBox 6">
            <a:extLst>
              <a:ext uri="{FF2B5EF4-FFF2-40B4-BE49-F238E27FC236}">
                <a16:creationId xmlns:a16="http://schemas.microsoft.com/office/drawing/2014/main" id="{D0103E96-F68B-4E7F-B538-F3227A5BA8B3}"/>
              </a:ext>
            </a:extLst>
          </p:cNvPr>
          <p:cNvSpPr txBox="1"/>
          <p:nvPr/>
        </p:nvSpPr>
        <p:spPr>
          <a:xfrm>
            <a:off x="1322548" y="1324854"/>
            <a:ext cx="837850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闭合回路中，感应电流的方向总是使得它自身所产生的磁通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反抗</a:t>
            </a:r>
            <a:r>
              <a:rPr lang="zh-CN" altLang="en-US" sz="2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引起感应电流的磁通量的变化。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432992DE-3B28-41B2-AF37-9DCABDAB7DCA}"/>
              </a:ext>
            </a:extLst>
          </p:cNvPr>
          <p:cNvSpPr/>
          <p:nvPr/>
        </p:nvSpPr>
        <p:spPr>
          <a:xfrm>
            <a:off x="1109443" y="612579"/>
            <a:ext cx="253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楞次定律</a:t>
            </a:r>
            <a:endParaRPr lang="en-US" sz="36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194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3" grpId="0" animBg="1"/>
      <p:bldP spid="104" grpId="0" animBg="1"/>
      <p:bldP spid="105" grpId="0"/>
      <p:bldP spid="106" grpId="0" animBg="1"/>
      <p:bldP spid="107" grpId="0" animBg="1"/>
      <p:bldP spid="108" grpId="0" animBg="1"/>
      <p:bldP spid="109" grpId="0" animBg="1"/>
      <p:bldP spid="148" grpId="0" animBg="1"/>
      <p:bldP spid="149" grpId="0" animBg="1"/>
      <p:bldP spid="153" grpId="0"/>
      <p:bldP spid="154" grpId="0" animBg="1"/>
      <p:bldP spid="155" grpId="0" animBg="1"/>
      <p:bldP spid="158" grpId="0"/>
      <p:bldP spid="160" grpId="0"/>
      <p:bldP spid="16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093013" y="1591461"/>
            <a:ext cx="469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非闭合导体回路还有没有电磁感应存在？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5"/>
          <p:cNvSpPr txBox="1">
            <a:spLocks noChangeArrowheads="1"/>
          </p:cNvSpPr>
          <p:nvPr/>
        </p:nvSpPr>
        <p:spPr bwMode="auto">
          <a:xfrm>
            <a:off x="528884" y="3159280"/>
            <a:ext cx="17248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导体回路</a:t>
            </a:r>
          </a:p>
        </p:txBody>
      </p:sp>
      <p:sp>
        <p:nvSpPr>
          <p:cNvPr id="11" name="Text Box 34"/>
          <p:cNvSpPr txBox="1">
            <a:spLocks noChangeArrowheads="1"/>
          </p:cNvSpPr>
          <p:nvPr/>
        </p:nvSpPr>
        <p:spPr bwMode="auto">
          <a:xfrm>
            <a:off x="3742907" y="4779141"/>
            <a:ext cx="7758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</a:p>
        </p:txBody>
      </p:sp>
      <p:grpSp>
        <p:nvGrpSpPr>
          <p:cNvPr id="13" name="Group 23"/>
          <p:cNvGrpSpPr>
            <a:grpSpLocks/>
          </p:cNvGrpSpPr>
          <p:nvPr/>
        </p:nvGrpSpPr>
        <p:grpSpPr bwMode="auto">
          <a:xfrm>
            <a:off x="1810197" y="1591461"/>
            <a:ext cx="3048000" cy="4541270"/>
            <a:chOff x="480" y="2112"/>
            <a:chExt cx="1320" cy="2016"/>
          </a:xfrm>
        </p:grpSpPr>
        <p:sp>
          <p:nvSpPr>
            <p:cNvPr id="14" name="Freeform 24"/>
            <p:cNvSpPr>
              <a:spLocks/>
            </p:cNvSpPr>
            <p:nvPr/>
          </p:nvSpPr>
          <p:spPr bwMode="auto">
            <a:xfrm>
              <a:off x="480" y="2424"/>
              <a:ext cx="288" cy="1056"/>
            </a:xfrm>
            <a:custGeom>
              <a:avLst/>
              <a:gdLst>
                <a:gd name="T0" fmla="*/ 0 w 288"/>
                <a:gd name="T1" fmla="*/ 0 h 1056"/>
                <a:gd name="T2" fmla="*/ 240 w 288"/>
                <a:gd name="T3" fmla="*/ 624 h 1056"/>
                <a:gd name="T4" fmla="*/ 288 w 288"/>
                <a:gd name="T5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056">
                  <a:moveTo>
                    <a:pt x="0" y="0"/>
                  </a:moveTo>
                  <a:cubicBezTo>
                    <a:pt x="96" y="224"/>
                    <a:pt x="192" y="448"/>
                    <a:pt x="240" y="624"/>
                  </a:cubicBezTo>
                  <a:cubicBezTo>
                    <a:pt x="288" y="800"/>
                    <a:pt x="288" y="928"/>
                    <a:pt x="288" y="1056"/>
                  </a:cubicBezTo>
                </a:path>
              </a:pathLst>
            </a:custGeom>
            <a:noFill/>
            <a:ln w="57150" cmpd="sng">
              <a:solidFill>
                <a:srgbClr val="0000FF"/>
              </a:solidFill>
              <a:round/>
              <a:headEnd type="arrow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auto">
            <a:xfrm>
              <a:off x="564" y="3564"/>
              <a:ext cx="192" cy="528"/>
            </a:xfrm>
            <a:custGeom>
              <a:avLst/>
              <a:gdLst>
                <a:gd name="T0" fmla="*/ 192 w 192"/>
                <a:gd name="T1" fmla="*/ 0 h 528"/>
                <a:gd name="T2" fmla="*/ 144 w 192"/>
                <a:gd name="T3" fmla="*/ 288 h 528"/>
                <a:gd name="T4" fmla="*/ 0 w 192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528">
                  <a:moveTo>
                    <a:pt x="192" y="0"/>
                  </a:moveTo>
                  <a:cubicBezTo>
                    <a:pt x="184" y="100"/>
                    <a:pt x="176" y="200"/>
                    <a:pt x="144" y="288"/>
                  </a:cubicBezTo>
                  <a:cubicBezTo>
                    <a:pt x="112" y="376"/>
                    <a:pt x="56" y="452"/>
                    <a:pt x="0" y="528"/>
                  </a:cubicBezTo>
                </a:path>
              </a:pathLst>
            </a:custGeom>
            <a:noFill/>
            <a:ln w="571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26"/>
            <p:cNvSpPr>
              <a:spLocks noChangeShapeType="1"/>
            </p:cNvSpPr>
            <p:nvPr/>
          </p:nvSpPr>
          <p:spPr bwMode="auto">
            <a:xfrm flipV="1">
              <a:off x="1080" y="2112"/>
              <a:ext cx="0" cy="1392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>
              <a:off x="1080" y="3600"/>
              <a:ext cx="0" cy="528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auto">
            <a:xfrm flipH="1">
              <a:off x="1512" y="2388"/>
              <a:ext cx="288" cy="1056"/>
            </a:xfrm>
            <a:custGeom>
              <a:avLst/>
              <a:gdLst>
                <a:gd name="T0" fmla="*/ 0 w 288"/>
                <a:gd name="T1" fmla="*/ 0 h 1056"/>
                <a:gd name="T2" fmla="*/ 240 w 288"/>
                <a:gd name="T3" fmla="*/ 624 h 1056"/>
                <a:gd name="T4" fmla="*/ 288 w 288"/>
                <a:gd name="T5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056">
                  <a:moveTo>
                    <a:pt x="0" y="0"/>
                  </a:moveTo>
                  <a:cubicBezTo>
                    <a:pt x="96" y="224"/>
                    <a:pt x="192" y="448"/>
                    <a:pt x="240" y="624"/>
                  </a:cubicBezTo>
                  <a:cubicBezTo>
                    <a:pt x="288" y="800"/>
                    <a:pt x="288" y="928"/>
                    <a:pt x="288" y="1056"/>
                  </a:cubicBezTo>
                </a:path>
              </a:pathLst>
            </a:custGeom>
            <a:noFill/>
            <a:ln w="57150" cmpd="sng">
              <a:solidFill>
                <a:srgbClr val="0000FF"/>
              </a:solidFill>
              <a:round/>
              <a:headEnd type="arrow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auto">
            <a:xfrm flipH="1">
              <a:off x="1500" y="3540"/>
              <a:ext cx="192" cy="528"/>
            </a:xfrm>
            <a:custGeom>
              <a:avLst/>
              <a:gdLst>
                <a:gd name="T0" fmla="*/ 192 w 192"/>
                <a:gd name="T1" fmla="*/ 0 h 528"/>
                <a:gd name="T2" fmla="*/ 144 w 192"/>
                <a:gd name="T3" fmla="*/ 288 h 528"/>
                <a:gd name="T4" fmla="*/ 0 w 192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528">
                  <a:moveTo>
                    <a:pt x="192" y="0"/>
                  </a:moveTo>
                  <a:cubicBezTo>
                    <a:pt x="184" y="100"/>
                    <a:pt x="176" y="200"/>
                    <a:pt x="144" y="288"/>
                  </a:cubicBezTo>
                  <a:cubicBezTo>
                    <a:pt x="112" y="376"/>
                    <a:pt x="56" y="452"/>
                    <a:pt x="0" y="528"/>
                  </a:cubicBezTo>
                </a:path>
              </a:pathLst>
            </a:custGeom>
            <a:noFill/>
            <a:ln w="571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684" y="2280"/>
              <a:ext cx="624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kumimoji="1" lang="zh-CN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椭圆 20"/>
          <p:cNvSpPr/>
          <p:nvPr/>
        </p:nvSpPr>
        <p:spPr>
          <a:xfrm>
            <a:off x="1630015" y="3380424"/>
            <a:ext cx="3442855" cy="14427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557943" y="3804679"/>
            <a:ext cx="725127" cy="618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62"/>
              <p:cNvSpPr txBox="1"/>
              <p:nvPr/>
            </p:nvSpPr>
            <p:spPr bwMode="auto">
              <a:xfrm>
                <a:off x="7382063" y="4132925"/>
                <a:ext cx="2120900" cy="1220787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2063" y="4132925"/>
                <a:ext cx="2120900" cy="1220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8">
            <a:extLst>
              <a:ext uri="{FF2B5EF4-FFF2-40B4-BE49-F238E27FC236}">
                <a16:creationId xmlns:a16="http://schemas.microsoft.com/office/drawing/2014/main" id="{3B85E2D0-A684-49D5-BA57-EABDD61A976E}"/>
              </a:ext>
            </a:extLst>
          </p:cNvPr>
          <p:cNvSpPr/>
          <p:nvPr/>
        </p:nvSpPr>
        <p:spPr>
          <a:xfrm>
            <a:off x="975888" y="57418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感应电动势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86658" y="5127016"/>
            <a:ext cx="318548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法拉第电磁感应定律</a:t>
            </a:r>
            <a:endParaRPr lang="en-US" altLang="zh-CN" sz="2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2CA3FEB5-9B7C-4E09-8CA3-054FE0B5F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450" y="6199434"/>
            <a:ext cx="3587750" cy="49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>
                <a:latin typeface="+mn-lt"/>
                <a:ea typeface="+mn-ea"/>
              </a:rPr>
              <a:t>诺埃曼  </a:t>
            </a:r>
            <a:r>
              <a:rPr lang="en-US" altLang="zh-CN" sz="2600">
                <a:latin typeface="+mn-lt"/>
                <a:ea typeface="+mn-ea"/>
              </a:rPr>
              <a:t>F. Neumann</a:t>
            </a:r>
            <a:endParaRPr lang="en-US" altLang="zh-CN" sz="2600" dirty="0">
              <a:latin typeface="+mn-lt"/>
              <a:ea typeface="+mn-ea"/>
            </a:endParaRP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625FBE62-44AD-43B2-942E-C9D09D4BB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628" y="6199434"/>
            <a:ext cx="15113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+mn-lt"/>
                <a:ea typeface="+mn-ea"/>
              </a:rPr>
              <a:t>1845</a:t>
            </a:r>
            <a:r>
              <a:rPr lang="zh-CN" altLang="en-US" sz="2400" dirty="0">
                <a:latin typeface="+mn-lt"/>
                <a:ea typeface="+mn-ea"/>
              </a:rPr>
              <a:t>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7F8C2F-EB36-4A19-B38D-E1D71992B827}"/>
              </a:ext>
            </a:extLst>
          </p:cNvPr>
          <p:cNvSpPr/>
          <p:nvPr/>
        </p:nvSpPr>
        <p:spPr>
          <a:xfrm>
            <a:off x="5515148" y="2725075"/>
            <a:ext cx="653598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感应电流是由与导体性质无关的感应电动势产生的；感应电动势的大小与磁通量的变化率成正比，与回路电阻的大小无关</a:t>
            </a:r>
            <a:endParaRPr lang="en-US" sz="2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CBA1DB-5F41-469E-BF78-1EE2CF3AE7CA}"/>
              </a:ext>
            </a:extLst>
          </p:cNvPr>
          <p:cNvSpPr/>
          <p:nvPr/>
        </p:nvSpPr>
        <p:spPr>
          <a:xfrm>
            <a:off x="9292883" y="6215764"/>
            <a:ext cx="275312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韦伯 </a:t>
            </a:r>
            <a:r>
              <a:rPr lang="en-US" altLang="zh-CN" sz="2600" dirty="0">
                <a:solidFill>
                  <a:srgbClr val="000000"/>
                </a:solidFill>
              </a:rPr>
              <a:t>(</a:t>
            </a:r>
            <a:r>
              <a:rPr lang="en-US" sz="2600" dirty="0" err="1">
                <a:solidFill>
                  <a:srgbClr val="000000"/>
                </a:solidFill>
              </a:rPr>
              <a:t>W.E.Weber</a:t>
            </a:r>
            <a:r>
              <a:rPr lang="en-US" sz="2600" dirty="0">
                <a:solidFill>
                  <a:srgbClr val="000000"/>
                </a:solidFill>
              </a:rPr>
              <a:t>) </a:t>
            </a:r>
            <a:endParaRPr lang="en-US" sz="26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508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 animBg="1"/>
      <p:bldP spid="23" grpId="0" animBg="1"/>
      <p:bldP spid="6" grpId="0"/>
      <p:bldP spid="24" grpId="0"/>
      <p:bldP spid="2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064"/>
          <p:cNvGrpSpPr>
            <a:grpSpLocks/>
          </p:cNvGrpSpPr>
          <p:nvPr/>
        </p:nvGrpSpPr>
        <p:grpSpPr bwMode="auto">
          <a:xfrm>
            <a:off x="4529115" y="944413"/>
            <a:ext cx="5970588" cy="3143250"/>
            <a:chOff x="1051" y="1423"/>
            <a:chExt cx="3761" cy="198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" name="Object 2054"/>
                <p:cNvGraphicFramePr>
                  <a:graphicFrameLocks noChangeAspect="1"/>
                </p:cNvGraphicFramePr>
                <p:nvPr/>
              </p:nvGraphicFramePr>
              <p:xfrm>
                <a:off x="1051" y="1423"/>
                <a:ext cx="3608" cy="198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2" name="Document" r:id="rId3" imgW="3953202" imgH="2130041" progId="Word.Document.8">
                        <p:embed/>
                      </p:oleObj>
                    </mc:Choice>
                    <mc:Fallback>
                      <p:oleObj name="Document" r:id="rId3" imgW="3953202" imgH="2130041" progId="Word.Document.8">
                        <p:embed/>
                        <p:pic>
                          <p:nvPicPr>
                            <p:cNvPr id="4" name="Object 20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51" y="1423"/>
                              <a:ext cx="3608" cy="19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" name="Object 205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61573257"/>
                    </p:ext>
                  </p:extLst>
                </p:nvPr>
              </p:nvGraphicFramePr>
              <p:xfrm>
                <a:off x="1051" y="1423"/>
                <a:ext cx="3608" cy="198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30" name="Document" r:id="rId5" imgW="3953202" imgH="2130041" progId="Word.Document.8">
                        <p:embed/>
                      </p:oleObj>
                    </mc:Choice>
                    <mc:Fallback>
                      <p:oleObj name="Document" r:id="rId5" imgW="3953202" imgH="2130041" progId="Word.Document.8">
                        <p:embed/>
                        <p:pic>
                          <p:nvPicPr>
                            <p:cNvPr id="4" name="Object 20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51" y="1423"/>
                              <a:ext cx="3608" cy="19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2055"/>
                <p:cNvSpPr txBox="1">
                  <a:spLocks noChangeArrowheads="1"/>
                </p:cNvSpPr>
                <p:nvPr/>
              </p:nvSpPr>
              <p:spPr bwMode="auto">
                <a:xfrm>
                  <a:off x="1925" y="2150"/>
                  <a:ext cx="564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+mn-lt"/>
                      <a:ea typeface="华文新魏" panose="02010800040101010101" pitchFamily="2" charset="-122"/>
                    </a:rPr>
                    <a:t>S,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𝒏</m:t>
                          </m:r>
                        </m:e>
                      </m:acc>
                    </m:oMath>
                  </a14:m>
                  <a:endParaRPr lang="en-US" altLang="zh-CN" dirty="0">
                    <a:latin typeface="+mn-lt"/>
                    <a:ea typeface="华文新魏" panose="020108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" name="Text Box 20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5" y="2150"/>
                  <a:ext cx="564" cy="36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7687" t="-14737" b="-3368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2056"/>
                <p:cNvSpPr txBox="1">
                  <a:spLocks noChangeArrowheads="1"/>
                </p:cNvSpPr>
                <p:nvPr/>
              </p:nvSpPr>
              <p:spPr bwMode="auto">
                <a:xfrm>
                  <a:off x="3831" y="2087"/>
                  <a:ext cx="564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+mn-lt"/>
                      <a:ea typeface="华文新魏" panose="02010800040101010101" pitchFamily="2" charset="-122"/>
                    </a:rPr>
                    <a:t>S,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𝒏</m:t>
                          </m:r>
                        </m:e>
                      </m:acc>
                    </m:oMath>
                  </a14:m>
                  <a:endParaRPr lang="en-US" altLang="zh-CN" dirty="0">
                    <a:latin typeface="+mn-lt"/>
                    <a:ea typeface="华文新魏" panose="020108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" name="Text Box 20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31" y="2087"/>
                  <a:ext cx="564" cy="368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7007" t="-14583" b="-3229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 Box 2062"/>
            <p:cNvSpPr txBox="1">
              <a:spLocks noChangeArrowheads="1"/>
            </p:cNvSpPr>
            <p:nvPr/>
          </p:nvSpPr>
          <p:spPr bwMode="auto">
            <a:xfrm>
              <a:off x="4295" y="2245"/>
              <a:ext cx="51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4000" dirty="0">
                  <a:solidFill>
                    <a:srgbClr val="FF0000"/>
                  </a:solidFill>
                  <a:latin typeface="+mn-lt"/>
                  <a:ea typeface="华文新魏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4000" dirty="0">
                <a:solidFill>
                  <a:srgbClr val="FF0000"/>
                </a:solidFill>
                <a:latin typeface="+mn-lt"/>
                <a:ea typeface="华文新魏" panose="02010800040101010101" pitchFamily="2" charset="-122"/>
              </a:endParaRPr>
            </a:p>
          </p:txBody>
        </p:sp>
        <p:sp>
          <p:nvSpPr>
            <p:cNvPr id="8" name="Text Box 2063"/>
            <p:cNvSpPr txBox="1">
              <a:spLocks noChangeArrowheads="1"/>
            </p:cNvSpPr>
            <p:nvPr/>
          </p:nvSpPr>
          <p:spPr bwMode="auto">
            <a:xfrm>
              <a:off x="1121" y="2248"/>
              <a:ext cx="51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4000">
                  <a:solidFill>
                    <a:srgbClr val="FF0000"/>
                  </a:solidFill>
                  <a:latin typeface="+mn-lt"/>
                  <a:ea typeface="华文新魏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4000">
                <a:solidFill>
                  <a:srgbClr val="FF0000"/>
                </a:solidFill>
                <a:latin typeface="+mn-lt"/>
                <a:ea typeface="华文新魏" panose="020108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0"/>
              <p:cNvSpPr txBox="1">
                <a:spLocks noChangeArrowheads="1"/>
              </p:cNvSpPr>
              <p:nvPr/>
            </p:nvSpPr>
            <p:spPr bwMode="auto">
              <a:xfrm>
                <a:off x="1163001" y="5004491"/>
                <a:ext cx="7118446" cy="5754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lvl="0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0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</m:t>
                    </m:r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的方向：</a:t>
                </a:r>
                <a14:m>
                  <m:oMath xmlns:m="http://schemas.openxmlformats.org/officeDocument/2006/math">
                    <m:r>
                      <a:rPr kumimoji="0"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同向，     </a:t>
                </a:r>
                <a14:m>
                  <m:oMath xmlns:m="http://schemas.openxmlformats.org/officeDocument/2006/math">
                    <m:r>
                      <a:rPr kumimoji="0"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反向</a:t>
                </a:r>
              </a:p>
            </p:txBody>
          </p:sp>
        </mc:Choice>
        <mc:Fallback xmlns="">
          <p:sp>
            <p:nvSpPr>
              <p:cNvPr id="9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3001" y="5004491"/>
                <a:ext cx="7118446" cy="575479"/>
              </a:xfrm>
              <a:prstGeom prst="rect">
                <a:avLst/>
              </a:prstGeom>
              <a:blipFill>
                <a:blip r:embed="rId10"/>
                <a:stretch>
                  <a:fillRect t="-2128" b="-297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7"/>
              <p:cNvSpPr txBox="1">
                <a:spLocks noChangeArrowheads="1"/>
              </p:cNvSpPr>
              <p:nvPr/>
            </p:nvSpPr>
            <p:spPr bwMode="auto">
              <a:xfrm>
                <a:off x="1234608" y="4314395"/>
                <a:ext cx="5505450" cy="578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zh-CN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0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𝑆</m:t>
                        </m:r>
                      </m:e>
                    </m:acc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正方向：与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kumimoji="0" lang="zh-CN" altLang="en-US" sz="2800" b="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成右手螺旋关系</a:t>
                </a:r>
              </a:p>
            </p:txBody>
          </p:sp>
        </mc:Choice>
        <mc:Fallback xmlns="">
          <p:sp>
            <p:nvSpPr>
              <p:cNvPr id="12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4608" y="4314395"/>
                <a:ext cx="5505450" cy="578300"/>
              </a:xfrm>
              <a:prstGeom prst="rect">
                <a:avLst/>
              </a:prstGeom>
              <a:blipFill>
                <a:blip r:embed="rId11"/>
                <a:stretch>
                  <a:fillRect t="-2105" b="-2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163001" y="3679380"/>
                <a:ext cx="29177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回路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方向：任意</a:t>
                </a: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001" y="3679380"/>
                <a:ext cx="2917786" cy="523220"/>
              </a:xfrm>
              <a:prstGeom prst="rect">
                <a:avLst/>
              </a:prstGeom>
              <a:blipFill>
                <a:blip r:embed="rId12"/>
                <a:stretch>
                  <a:fillRect l="-4393" t="-12941" r="-2092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1163001" y="5738606"/>
            <a:ext cx="71985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lvl="0">
              <a:spcBef>
                <a:spcPct val="50000"/>
              </a:spcBef>
            </a:pPr>
            <a:r>
              <a:rPr kumimoji="0" lang="zh-CN" altLang="en-US" sz="28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注意：在电源内部，电流与电动势同向</a:t>
            </a:r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F0F7F8F4-0C1C-401C-8D21-34E515DCCDDA}"/>
              </a:ext>
            </a:extLst>
          </p:cNvPr>
          <p:cNvSpPr/>
          <p:nvPr/>
        </p:nvSpPr>
        <p:spPr>
          <a:xfrm>
            <a:off x="975888" y="57418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感应电动势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0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5111" name="Object 7"/>
              <p:cNvSpPr txBox="1"/>
              <p:nvPr/>
            </p:nvSpPr>
            <p:spPr bwMode="auto">
              <a:xfrm>
                <a:off x="3614738" y="1293813"/>
                <a:ext cx="3688986" cy="1079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511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4738" y="1293813"/>
                <a:ext cx="3688986" cy="1079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113" name="Text Box 9"/>
          <p:cNvSpPr txBox="1">
            <a:spLocks noChangeArrowheads="1"/>
          </p:cNvSpPr>
          <p:nvPr/>
        </p:nvSpPr>
        <p:spPr bwMode="auto">
          <a:xfrm>
            <a:off x="2069743" y="2464455"/>
            <a:ext cx="8724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+mj-lt"/>
                <a:cs typeface="Times New Roman" panose="02020603050405020304" pitchFamily="18" charset="0"/>
              </a:rPr>
              <a:t>时间间隔</a:t>
            </a:r>
            <a:r>
              <a:rPr kumimoji="1" lang="en-US" altLang="zh-CN" sz="2800" dirty="0">
                <a:latin typeface="+mj-lt"/>
                <a:cs typeface="Times New Roman" panose="02020603050405020304" pitchFamily="18" charset="0"/>
              </a:rPr>
              <a:t>t</a:t>
            </a:r>
            <a:r>
              <a:rPr kumimoji="1" lang="en-US" altLang="zh-CN" sz="2800" baseline="-25000" dirty="0">
                <a:latin typeface="+mj-lt"/>
                <a:cs typeface="Times New Roman" panose="02020603050405020304" pitchFamily="18" charset="0"/>
              </a:rPr>
              <a:t>1</a:t>
            </a:r>
            <a:r>
              <a:rPr kumimoji="1" lang="en-US" altLang="zh-CN" sz="2800" dirty="0">
                <a:latin typeface="+mj-lt"/>
                <a:cs typeface="Times New Roman" panose="02020603050405020304" pitchFamily="18" charset="0"/>
              </a:rPr>
              <a:t>→t</a:t>
            </a:r>
            <a:r>
              <a:rPr kumimoji="1" lang="en-US" altLang="zh-CN" sz="2800" baseline="-25000" dirty="0">
                <a:latin typeface="+mj-lt"/>
                <a:cs typeface="Times New Roman" panose="02020603050405020304" pitchFamily="18" charset="0"/>
              </a:rPr>
              <a:t>2</a:t>
            </a:r>
            <a:r>
              <a:rPr kumimoji="1" lang="zh-CN" altLang="en-US" sz="2800" dirty="0">
                <a:latin typeface="+mj-lt"/>
                <a:cs typeface="Times New Roman" panose="02020603050405020304" pitchFamily="18" charset="0"/>
              </a:rPr>
              <a:t>内穿过回路导线截面的电量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114" name="Object 10"/>
              <p:cNvSpPr txBox="1"/>
              <p:nvPr/>
            </p:nvSpPr>
            <p:spPr bwMode="auto">
              <a:xfrm>
                <a:off x="8274049" y="3060700"/>
                <a:ext cx="3122263" cy="1076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511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4049" y="3060700"/>
                <a:ext cx="3122263" cy="1076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115" name="Object 11"/>
              <p:cNvSpPr txBox="1"/>
              <p:nvPr/>
            </p:nvSpPr>
            <p:spPr bwMode="auto">
              <a:xfrm>
                <a:off x="1580131" y="3055849"/>
                <a:ext cx="2390457" cy="960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tx1"/>
                          </a:solidFill>
                          <a:latin typeface="+mj-lt"/>
                        </a:rPr>
                        <m:t>  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𝐼𝑑𝑡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51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0131" y="3055849"/>
                <a:ext cx="2390457" cy="960437"/>
              </a:xfrm>
              <a:prstGeom prst="rect">
                <a:avLst/>
              </a:prstGeom>
              <a:blipFill>
                <a:blip r:embed="rId4"/>
                <a:stretch>
                  <a:fillRect b="-8861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116" name="Object 12"/>
              <p:cNvSpPr txBox="1"/>
              <p:nvPr/>
            </p:nvSpPr>
            <p:spPr bwMode="auto">
              <a:xfrm>
                <a:off x="5968999" y="2987675"/>
                <a:ext cx="2644401" cy="1128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nary>
                        <m:nary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511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8999" y="2987675"/>
                <a:ext cx="2644401" cy="11287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117" name="Object 13"/>
              <p:cNvSpPr txBox="1"/>
              <p:nvPr/>
            </p:nvSpPr>
            <p:spPr bwMode="auto">
              <a:xfrm>
                <a:off x="3736975" y="3060700"/>
                <a:ext cx="2695218" cy="1063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51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6975" y="3060700"/>
                <a:ext cx="2695218" cy="10636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119" name="Text Box 15"/>
          <p:cNvSpPr txBox="1">
            <a:spLocks noChangeArrowheads="1"/>
          </p:cNvSpPr>
          <p:nvPr/>
        </p:nvSpPr>
        <p:spPr bwMode="auto">
          <a:xfrm>
            <a:off x="2213350" y="4377998"/>
            <a:ext cx="632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+mj-lt"/>
                <a:cs typeface="Times New Roman" panose="02020603050405020304" pitchFamily="18" charset="0"/>
              </a:rPr>
              <a:t>可以看出</a:t>
            </a:r>
            <a:r>
              <a:rPr kumimoji="1" lang="en-US" altLang="zh-CN" sz="2800" i="1" dirty="0">
                <a:latin typeface="+mj-lt"/>
                <a:cs typeface="Times New Roman" panose="02020603050405020304" pitchFamily="18" charset="0"/>
              </a:rPr>
              <a:t>q</a:t>
            </a:r>
            <a:r>
              <a:rPr kumimoji="1" lang="zh-CN" altLang="en-US" sz="2800" dirty="0">
                <a:latin typeface="+mj-lt"/>
                <a:cs typeface="Times New Roman" panose="02020603050405020304" pitchFamily="18" charset="0"/>
              </a:rPr>
              <a:t>与过程进行的速度无关。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120" name="Text Box 16"/>
              <p:cNvSpPr txBox="1">
                <a:spLocks noChangeArrowheads="1"/>
              </p:cNvSpPr>
              <p:nvPr/>
            </p:nvSpPr>
            <p:spPr bwMode="auto">
              <a:xfrm>
                <a:off x="2346867" y="5205412"/>
                <a:ext cx="44577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+mj-lt"/>
                    <a:cs typeface="Times New Roman" panose="02020603050405020304" pitchFamily="18" charset="0"/>
                  </a:rPr>
                  <a:t>测</a:t>
                </a:r>
                <a:r>
                  <a:rPr kumimoji="1" lang="en-US" altLang="zh-CN" sz="2800" dirty="0">
                    <a:latin typeface="+mj-lt"/>
                    <a:cs typeface="Times New Roman" panose="02020603050405020304" pitchFamily="18" charset="0"/>
                  </a:rPr>
                  <a:t>q</a:t>
                </a:r>
                <a:r>
                  <a:rPr kumimoji="1" lang="zh-CN" altLang="en-US" sz="2800" dirty="0">
                    <a:latin typeface="+mj-lt"/>
                    <a:cs typeface="Times New Roman" panose="02020603050405020304" pitchFamily="18" charset="0"/>
                  </a:rPr>
                  <a:t>可以得到</a:t>
                </a:r>
                <a:r>
                  <a:rPr kumimoji="1" lang="zh-CN" altLang="en-US" sz="2800" dirty="0">
                    <a:latin typeface="+mj-lt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𝜱</m:t>
                    </m:r>
                  </m:oMath>
                </a14:m>
                <a:endParaRPr kumimoji="1" lang="zh-CN" altLang="en-US" sz="28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512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6867" y="5205412"/>
                <a:ext cx="4457700" cy="523220"/>
              </a:xfrm>
              <a:prstGeom prst="rect">
                <a:avLst/>
              </a:prstGeom>
              <a:blipFill>
                <a:blip r:embed="rId7"/>
                <a:stretch>
                  <a:fillRect l="-2873" t="-1511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121" name="Rectangle 17"/>
          <p:cNvSpPr>
            <a:spLocks noChangeArrowheads="1"/>
          </p:cNvSpPr>
          <p:nvPr/>
        </p:nvSpPr>
        <p:spPr bwMode="auto">
          <a:xfrm>
            <a:off x="5252508" y="5205412"/>
            <a:ext cx="3829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磁通计的原理</a:t>
            </a:r>
          </a:p>
        </p:txBody>
      </p:sp>
      <p:sp>
        <p:nvSpPr>
          <p:cNvPr id="14" name="矩形 8">
            <a:extLst>
              <a:ext uri="{FF2B5EF4-FFF2-40B4-BE49-F238E27FC236}">
                <a16:creationId xmlns:a16="http://schemas.microsoft.com/office/drawing/2014/main" id="{2FD32373-57F5-4425-BA53-19B39AEE666E}"/>
              </a:ext>
            </a:extLst>
          </p:cNvPr>
          <p:cNvSpPr/>
          <p:nvPr/>
        </p:nvSpPr>
        <p:spPr>
          <a:xfrm>
            <a:off x="975888" y="574184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600" b="1" dirty="0">
                <a:solidFill>
                  <a:srgbClr val="0066FF"/>
                </a:solidFill>
                <a:latin typeface="+mj-lt"/>
                <a:ea typeface="华文楷体" panose="02010600040101010101" pitchFamily="2" charset="-122"/>
                <a:cs typeface="Times New Roman" panose="02020603050405020304" pitchFamily="18" charset="0"/>
              </a:rPr>
              <a:t>感应电流</a:t>
            </a:r>
            <a:endParaRPr lang="en-US" sz="3600" b="1" dirty="0">
              <a:solidFill>
                <a:srgbClr val="0066FF"/>
              </a:solidFill>
              <a:latin typeface="+mj-lt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86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3" grpId="0"/>
      <p:bldP spid="175114" grpId="0"/>
      <p:bldP spid="175115" grpId="0"/>
      <p:bldP spid="175116" grpId="0"/>
      <p:bldP spid="175117" grpId="0"/>
      <p:bldP spid="175119" grpId="0"/>
      <p:bldP spid="175120" grpId="0"/>
      <p:bldP spid="1751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ext Box 2"/>
          <p:cNvSpPr txBox="1">
            <a:spLocks noChangeArrowheads="1"/>
          </p:cNvSpPr>
          <p:nvPr/>
        </p:nvSpPr>
        <p:spPr bwMode="auto">
          <a:xfrm>
            <a:off x="2031259" y="2040533"/>
            <a:ext cx="30476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匝线圈串联：</a:t>
            </a:r>
          </a:p>
        </p:txBody>
      </p:sp>
      <p:sp>
        <p:nvSpPr>
          <p:cNvPr id="227332" name="Text Box 4"/>
          <p:cNvSpPr txBox="1">
            <a:spLocks noChangeArrowheads="1"/>
          </p:cNvSpPr>
          <p:nvPr/>
        </p:nvSpPr>
        <p:spPr bwMode="auto">
          <a:xfrm>
            <a:off x="2288404" y="4034149"/>
            <a:ext cx="5211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当每一匝线圈的磁通都相等时，</a:t>
            </a:r>
          </a:p>
        </p:txBody>
      </p:sp>
      <p:graphicFrame>
        <p:nvGraphicFramePr>
          <p:cNvPr id="227333" name="Object 5"/>
          <p:cNvGraphicFramePr>
            <a:graphicFrameLocks noChangeAspect="1"/>
          </p:cNvGraphicFramePr>
          <p:nvPr/>
        </p:nvGraphicFramePr>
        <p:xfrm>
          <a:off x="3090050" y="4804987"/>
          <a:ext cx="18288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公式" r:id="rId3" imgW="317160" imgH="139680" progId="Equation.3">
                  <p:embed/>
                </p:oleObj>
              </mc:Choice>
              <mc:Fallback>
                <p:oleObj name="公式" r:id="rId3" imgW="317160" imgH="139680" progId="Equation.3">
                  <p:embed/>
                  <p:pic>
                    <p:nvPicPr>
                      <p:cNvPr id="2273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050" y="4804987"/>
                        <a:ext cx="18288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/>
        </p:nvGraphicFramePr>
        <p:xfrm>
          <a:off x="6030102" y="4677194"/>
          <a:ext cx="2125663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公式" r:id="rId5" imgW="787320" imgH="393480" progId="Equation.3">
                  <p:embed/>
                </p:oleObj>
              </mc:Choice>
              <mc:Fallback>
                <p:oleObj name="公式" r:id="rId5" imgW="787320" imgH="393480" progId="Equation.3">
                  <p:embed/>
                  <p:pic>
                    <p:nvPicPr>
                      <p:cNvPr id="2273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102" y="4677194"/>
                        <a:ext cx="2125663" cy="1065212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5" name="AutoShape 7"/>
          <p:cNvSpPr>
            <a:spLocks noChangeArrowheads="1"/>
          </p:cNvSpPr>
          <p:nvPr/>
        </p:nvSpPr>
        <p:spPr bwMode="auto">
          <a:xfrm>
            <a:off x="5093476" y="5035969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7336" name="Object 8"/>
          <p:cNvGraphicFramePr>
            <a:graphicFrameLocks noChangeAspect="1"/>
          </p:cNvGraphicFramePr>
          <p:nvPr/>
        </p:nvGraphicFramePr>
        <p:xfrm>
          <a:off x="5007096" y="1816921"/>
          <a:ext cx="3907491" cy="842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公式" r:id="rId7" imgW="1993680" imgH="431640" progId="Equation.3">
                  <p:embed/>
                </p:oleObj>
              </mc:Choice>
              <mc:Fallback>
                <p:oleObj name="公式" r:id="rId7" imgW="1993680" imgH="431640" progId="Equation.3">
                  <p:embed/>
                  <p:pic>
                    <p:nvPicPr>
                      <p:cNvPr id="2273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7096" y="1816921"/>
                        <a:ext cx="3907491" cy="842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7" name="Object 9"/>
          <p:cNvGraphicFramePr>
            <a:graphicFrameLocks noChangeAspect="1"/>
          </p:cNvGraphicFramePr>
          <p:nvPr/>
        </p:nvGraphicFramePr>
        <p:xfrm>
          <a:off x="4756399" y="2727520"/>
          <a:ext cx="1780599" cy="83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公式" r:id="rId9" imgW="977760" imgH="457200" progId="Equation.3">
                  <p:embed/>
                </p:oleObj>
              </mc:Choice>
              <mc:Fallback>
                <p:oleObj name="公式" r:id="rId9" imgW="977760" imgH="457200" progId="Equation.3">
                  <p:embed/>
                  <p:pic>
                    <p:nvPicPr>
                      <p:cNvPr id="2273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399" y="2727520"/>
                        <a:ext cx="1780599" cy="831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8" name="Object 10"/>
          <p:cNvGraphicFramePr>
            <a:graphicFrameLocks noChangeAspect="1"/>
          </p:cNvGraphicFramePr>
          <p:nvPr/>
        </p:nvGraphicFramePr>
        <p:xfrm>
          <a:off x="6528780" y="2733329"/>
          <a:ext cx="1231913" cy="79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公式" r:id="rId11" imgW="609480" imgH="393480" progId="Equation.3">
                  <p:embed/>
                </p:oleObj>
              </mc:Choice>
              <mc:Fallback>
                <p:oleObj name="公式" r:id="rId11" imgW="609480" imgH="393480" progId="Equation.3">
                  <p:embed/>
                  <p:pic>
                    <p:nvPicPr>
                      <p:cNvPr id="2273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780" y="2733329"/>
                        <a:ext cx="1231913" cy="796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7339" name="Group 11"/>
          <p:cNvGrpSpPr>
            <a:grpSpLocks/>
          </p:cNvGrpSpPr>
          <p:nvPr/>
        </p:nvGrpSpPr>
        <p:grpSpPr bwMode="auto">
          <a:xfrm>
            <a:off x="8078551" y="2901928"/>
            <a:ext cx="2323436" cy="682069"/>
            <a:chOff x="5291" y="737"/>
            <a:chExt cx="1986" cy="635"/>
          </a:xfrm>
        </p:grpSpPr>
        <p:graphicFrame>
          <p:nvGraphicFramePr>
            <p:cNvPr id="227340" name="Object 12"/>
            <p:cNvGraphicFramePr>
              <a:graphicFrameLocks noChangeAspect="1"/>
            </p:cNvGraphicFramePr>
            <p:nvPr/>
          </p:nvGraphicFramePr>
          <p:xfrm>
            <a:off x="6048" y="737"/>
            <a:ext cx="1229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1" name="公式" r:id="rId13" imgW="342720" imgH="177480" progId="Equation.3">
                    <p:embed/>
                  </p:oleObj>
                </mc:Choice>
                <mc:Fallback>
                  <p:oleObj name="公式" r:id="rId13" imgW="342720" imgH="177480" progId="Equation.3">
                    <p:embed/>
                    <p:pic>
                      <p:nvPicPr>
                        <p:cNvPr id="22734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8" y="737"/>
                          <a:ext cx="1229" cy="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7341" name="Text Box 13"/>
            <p:cNvSpPr txBox="1">
              <a:spLocks noChangeArrowheads="1"/>
            </p:cNvSpPr>
            <p:nvPr/>
          </p:nvSpPr>
          <p:spPr bwMode="auto">
            <a:xfrm>
              <a:off x="5291" y="798"/>
              <a:ext cx="772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式中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B42F54F-4DC3-4B9D-8140-001906C45ED3}"/>
              </a:ext>
            </a:extLst>
          </p:cNvPr>
          <p:cNvSpPr txBox="1"/>
          <p:nvPr/>
        </p:nvSpPr>
        <p:spPr>
          <a:xfrm>
            <a:off x="1376372" y="735949"/>
            <a:ext cx="2223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kumimoji="1" lang="zh-CN" altLang="en-US" sz="36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磁链</a:t>
            </a:r>
            <a:endParaRPr lang="en-US" sz="36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06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0" grpId="0" autoUpdateAnimBg="0"/>
      <p:bldP spid="227332" grpId="0"/>
      <p:bldP spid="2273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922" name="Text Box 50"/>
              <p:cNvSpPr txBox="1">
                <a:spLocks noChangeArrowheads="1"/>
              </p:cNvSpPr>
              <p:nvPr/>
            </p:nvSpPr>
            <p:spPr bwMode="auto">
              <a:xfrm>
                <a:off x="1802017" y="1820974"/>
                <a:ext cx="5177981" cy="2889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ct val="0"/>
                  </a:spcBef>
                  <a:buNone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坐标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处的长条的面积为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𝑑𝑆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ct val="0"/>
                  </a:spcBef>
                  <a:buNone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磁感应强度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的大小为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922" name="Text 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2017" y="1820974"/>
                <a:ext cx="5177981" cy="2889381"/>
              </a:xfrm>
              <a:prstGeom prst="rect">
                <a:avLst/>
              </a:prstGeom>
              <a:blipFill>
                <a:blip r:embed="rId2"/>
                <a:stretch>
                  <a:fillRect l="-24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9" name="Text Box 92"/>
              <p:cNvSpPr txBox="1">
                <a:spLocks noChangeArrowheads="1"/>
              </p:cNvSpPr>
              <p:nvPr/>
            </p:nvSpPr>
            <p:spPr bwMode="auto">
              <a:xfrm>
                <a:off x="1058721" y="191195"/>
                <a:ext cx="5480050" cy="16058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如图载流直导线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和运动的线圈：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匝，速度为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求线圈中的感应电动势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879" name="Text 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8721" y="191195"/>
                <a:ext cx="5480050" cy="1605889"/>
              </a:xfrm>
              <a:prstGeom prst="rect">
                <a:avLst/>
              </a:prstGeom>
              <a:blipFill>
                <a:blip r:embed="rId3"/>
                <a:stretch>
                  <a:fillRect l="-2336" t="-379" r="-2225" b="-98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/>
              <p:cNvSpPr/>
              <p:nvPr/>
            </p:nvSpPr>
            <p:spPr>
              <a:xfrm>
                <a:off x="1343340" y="5049245"/>
                <a:ext cx="8305053" cy="1329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选顺时针为线圈绕行的正方向，则长条的磁通量为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Φ</m:t>
                      </m:r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𝐵𝑑𝑆</m:t>
                      </m:r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m:rPr>
                          <m:sty m:val="p"/>
                        </m:rP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340" y="5049245"/>
                <a:ext cx="8305053" cy="1329851"/>
              </a:xfrm>
              <a:prstGeom prst="rect">
                <a:avLst/>
              </a:prstGeom>
              <a:blipFill>
                <a:blip r:embed="rId4"/>
                <a:stretch>
                  <a:fillRect l="-1467" t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/>
          <p:cNvCxnSpPr/>
          <p:nvPr/>
        </p:nvCxnSpPr>
        <p:spPr bwMode="auto">
          <a:xfrm flipV="1">
            <a:off x="7564082" y="795876"/>
            <a:ext cx="0" cy="354788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>
            <a:off x="7564082" y="404664"/>
            <a:ext cx="0" cy="46085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箭头连接符 24"/>
          <p:cNvCxnSpPr/>
          <p:nvPr/>
        </p:nvCxnSpPr>
        <p:spPr bwMode="auto">
          <a:xfrm>
            <a:off x="7596810" y="3331184"/>
            <a:ext cx="299911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文本框 29"/>
          <p:cNvSpPr txBox="1"/>
          <p:nvPr/>
        </p:nvSpPr>
        <p:spPr>
          <a:xfrm>
            <a:off x="7115966" y="3191441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086950" y="948292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0270107" y="3285087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8382021" y="1256004"/>
            <a:ext cx="1472183" cy="2075180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b="1" i="1" u="sng">
              <a:latin typeface="Arial" charset="0"/>
              <a:ea typeface="宋体" pitchFamily="2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8938617" y="671228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9920659" y="2384150"/>
            <a:ext cx="320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直接箭头连接符 64"/>
          <p:cNvCxnSpPr/>
          <p:nvPr/>
        </p:nvCxnSpPr>
        <p:spPr bwMode="auto">
          <a:xfrm>
            <a:off x="7564082" y="2067760"/>
            <a:ext cx="8179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86" name="文本框 85"/>
          <p:cNvSpPr txBox="1"/>
          <p:nvPr/>
        </p:nvSpPr>
        <p:spPr>
          <a:xfrm>
            <a:off x="7772968" y="1504697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9199961" y="1256004"/>
            <a:ext cx="136323" cy="2075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b="1" i="1" u="sng">
              <a:latin typeface="Arial" charset="0"/>
              <a:ea typeface="宋体" pitchFamily="2" charset="-122"/>
            </a:endParaRPr>
          </a:p>
        </p:txBody>
      </p:sp>
      <p:cxnSp>
        <p:nvCxnSpPr>
          <p:cNvPr id="71" name="直接箭头连接符 70"/>
          <p:cNvCxnSpPr/>
          <p:nvPr/>
        </p:nvCxnSpPr>
        <p:spPr bwMode="auto">
          <a:xfrm>
            <a:off x="10069934" y="2201642"/>
            <a:ext cx="432882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/>
              <p:cNvSpPr txBox="1"/>
              <p:nvPr/>
            </p:nvSpPr>
            <p:spPr>
              <a:xfrm>
                <a:off x="10126140" y="1673835"/>
                <a:ext cx="3204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zh-CN" altLang="en-US" sz="3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3" name="文本框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6140" y="1673835"/>
                <a:ext cx="320470" cy="584775"/>
              </a:xfrm>
              <a:prstGeom prst="rect">
                <a:avLst/>
              </a:prstGeom>
              <a:blipFill>
                <a:blip r:embed="rId5"/>
                <a:stretch>
                  <a:fillRect r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/>
          <p:cNvSpPr txBox="1"/>
          <p:nvPr/>
        </p:nvSpPr>
        <p:spPr>
          <a:xfrm>
            <a:off x="8962070" y="3265665"/>
            <a:ext cx="748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9854204" y="1256003"/>
            <a:ext cx="0" cy="17129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/>
          </a:ln>
          <a:effectLst/>
        </p:spPr>
      </p:cxnSp>
    </p:spTree>
    <p:extLst>
      <p:ext uri="{BB962C8B-B14F-4D97-AF65-F5344CB8AC3E}">
        <p14:creationId xmlns:p14="http://schemas.microsoft.com/office/powerpoint/2010/main" val="326423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22" grpId="0"/>
      <p:bldP spid="73" grpId="0"/>
      <p:bldP spid="30" grpId="0"/>
      <p:bldP spid="80" grpId="0"/>
      <p:bldP spid="86" grpId="0"/>
      <p:bldP spid="68" grpId="0" animBg="1"/>
      <p:bldP spid="9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703512" y="188641"/>
                <a:ext cx="8640960" cy="16682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整个线圈的磁通量为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𝛷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𝛷</m:t>
                          </m:r>
                        </m:e>
                      </m:nary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m:rPr>
                              <m:sty m:val="p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𝐼𝑏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𝑙𝑛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188641"/>
                <a:ext cx="8640960" cy="1668277"/>
              </a:xfrm>
              <a:prstGeom prst="rect">
                <a:avLst/>
              </a:prstGeom>
              <a:blipFill>
                <a:blip r:embed="rId2"/>
                <a:stretch>
                  <a:fillRect l="-1410" t="-4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703512" y="2105641"/>
                <a:ext cx="8784976" cy="4225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根据法拉第电磁感应定律，线圈的感应电动势为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𝛷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𝑁𝐼𝑏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即：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𝐼𝑁𝑎𝑏𝑣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大于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，说明与回路方向相同，即顺时针方向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与利用楞次定律判断结果相同</a:t>
                </a:r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2105641"/>
                <a:ext cx="8784976" cy="4225131"/>
              </a:xfrm>
              <a:prstGeom prst="rect">
                <a:avLst/>
              </a:prstGeom>
              <a:blipFill>
                <a:blip r:embed="rId3"/>
                <a:stretch>
                  <a:fillRect l="-1387" t="-144" r="-277" b="-2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99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2077</Words>
  <Application>Microsoft Office PowerPoint</Application>
  <PresentationFormat>宽屏</PresentationFormat>
  <Paragraphs>339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等线</vt:lpstr>
      <vt:lpstr>华文楷体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Equation.3</vt:lpstr>
      <vt:lpstr>公式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li</cp:lastModifiedBy>
  <cp:revision>87</cp:revision>
  <dcterms:created xsi:type="dcterms:W3CDTF">2021-11-10T02:13:51Z</dcterms:created>
  <dcterms:modified xsi:type="dcterms:W3CDTF">2024-05-07T05:15:27Z</dcterms:modified>
</cp:coreProperties>
</file>