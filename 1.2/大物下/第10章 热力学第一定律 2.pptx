
<file path=[Content_Types].xml><?xml version="1.0" encoding="utf-8"?>
<Types xmlns="http://schemas.openxmlformats.org/package/2006/content-types">
  <Default Extension="png" ContentType="image/png"/>
  <Default Extension="bin" ContentType="application/vnd.openxmlformats-officedocument.oleObject"/>
  <Default Extension="tmp" ContentType="image/png"/>
  <Default Extension="wmf" ContentType="image/x-wmf"/>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2.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821" r:id="rId2"/>
    <p:sldId id="1208" r:id="rId3"/>
    <p:sldId id="520" r:id="rId4"/>
    <p:sldId id="396" r:id="rId5"/>
    <p:sldId id="1206" r:id="rId6"/>
    <p:sldId id="1047" r:id="rId7"/>
    <p:sldId id="1203" r:id="rId8"/>
    <p:sldId id="572" r:id="rId9"/>
    <p:sldId id="1035" r:id="rId10"/>
    <p:sldId id="592" r:id="rId11"/>
    <p:sldId id="1034" r:id="rId12"/>
    <p:sldId id="1204" r:id="rId13"/>
    <p:sldId id="383" r:id="rId14"/>
    <p:sldId id="1042" r:id="rId15"/>
    <p:sldId id="536" r:id="rId16"/>
    <p:sldId id="665" r:id="rId17"/>
    <p:sldId id="667" r:id="rId18"/>
    <p:sldId id="1043" r:id="rId19"/>
    <p:sldId id="1044" r:id="rId20"/>
    <p:sldId id="661" r:id="rId21"/>
    <p:sldId id="1209" r:id="rId22"/>
    <p:sldId id="1048" r:id="rId23"/>
    <p:sldId id="1049" r:id="rId24"/>
    <p:sldId id="678" r:id="rId25"/>
    <p:sldId id="669" r:id="rId26"/>
    <p:sldId id="421" r:id="rId27"/>
    <p:sldId id="1057" r:id="rId28"/>
    <p:sldId id="663" r:id="rId29"/>
    <p:sldId id="1050" r:id="rId30"/>
    <p:sldId id="1054" r:id="rId31"/>
    <p:sldId id="1072" r:id="rId32"/>
    <p:sldId id="417" r:id="rId33"/>
    <p:sldId id="1036" r:id="rId34"/>
    <p:sldId id="668" r:id="rId35"/>
    <p:sldId id="677" r:id="rId36"/>
    <p:sldId id="681" r:id="rId37"/>
    <p:sldId id="1186" r:id="rId38"/>
    <p:sldId id="1058" r:id="rId39"/>
    <p:sldId id="1059" r:id="rId40"/>
    <p:sldId id="1065"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92" autoAdjust="0"/>
    <p:restoredTop sz="94662" autoAdjust="0"/>
  </p:normalViewPr>
  <p:slideViewPr>
    <p:cSldViewPr snapToGrid="0">
      <p:cViewPr varScale="1">
        <p:scale>
          <a:sx n="155" d="100"/>
          <a:sy n="155" d="100"/>
        </p:scale>
        <p:origin x="140" y="1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C48EDF5-0999-437C-B6DD-8EA30FF11E05}" type="doc">
      <dgm:prSet loTypeId="urn:microsoft.com/office/officeart/2005/8/layout/cycle7" loCatId="cycle" qsTypeId="urn:microsoft.com/office/officeart/2005/8/quickstyle/simple1" qsCatId="simple" csTypeId="urn:microsoft.com/office/officeart/2005/8/colors/colorful1" csCatId="colorful" phldr="1"/>
      <dgm:spPr/>
      <dgm:t>
        <a:bodyPr/>
        <a:lstStyle/>
        <a:p>
          <a:endParaRPr lang="en-US"/>
        </a:p>
      </dgm:t>
    </dgm:pt>
    <dgm:pt modelId="{68769C6E-592E-4E6D-A29C-1E219C5E8C01}">
      <dgm:prSet phldrT="[文本]" custT="1"/>
      <dgm:spPr/>
      <dgm:t>
        <a:bodyPr/>
        <a:lstStyle/>
        <a:p>
          <a:r>
            <a:rPr lang="zh-CN" altLang="en-US" sz="2400" b="1" dirty="0">
              <a:latin typeface="+mn-ea"/>
            </a:rPr>
            <a:t>内能</a:t>
          </a:r>
          <a:endParaRPr lang="en-US" sz="2400" dirty="0"/>
        </a:p>
      </dgm:t>
    </dgm:pt>
    <dgm:pt modelId="{AE73AE1A-798C-4208-B972-898748427294}" type="parTrans" cxnId="{41201D18-6765-4373-A89F-A942B63319D2}">
      <dgm:prSet/>
      <dgm:spPr/>
      <dgm:t>
        <a:bodyPr/>
        <a:lstStyle/>
        <a:p>
          <a:endParaRPr lang="en-US" sz="2400"/>
        </a:p>
      </dgm:t>
    </dgm:pt>
    <dgm:pt modelId="{E3E4FA6B-24F5-4DD0-A0BE-40608E4E233F}" type="sibTrans" cxnId="{41201D18-6765-4373-A89F-A942B63319D2}">
      <dgm:prSet custT="1"/>
      <dgm:spPr/>
      <dgm:t>
        <a:bodyPr/>
        <a:lstStyle/>
        <a:p>
          <a:endParaRPr lang="en-US" sz="2400"/>
        </a:p>
      </dgm:t>
    </dgm:pt>
    <dgm:pt modelId="{7DD10B01-9D11-4535-92C1-98C36C977BDC}">
      <dgm:prSet phldrT="[文本]" custT="1"/>
      <dgm:spPr/>
      <dgm:t>
        <a:bodyPr/>
        <a:lstStyle/>
        <a:p>
          <a:r>
            <a:rPr lang="zh-CN" altLang="en-US" sz="2400" b="1" dirty="0">
              <a:latin typeface="+mn-ea"/>
            </a:rPr>
            <a:t>热量</a:t>
          </a:r>
          <a:endParaRPr lang="en-US" sz="2400" dirty="0"/>
        </a:p>
      </dgm:t>
    </dgm:pt>
    <dgm:pt modelId="{B078644C-9E9F-4777-8D06-D2B016AA7531}" type="parTrans" cxnId="{571D8742-FF82-4620-BF21-1360CD3A6B87}">
      <dgm:prSet/>
      <dgm:spPr/>
      <dgm:t>
        <a:bodyPr/>
        <a:lstStyle/>
        <a:p>
          <a:endParaRPr lang="en-US" sz="2400"/>
        </a:p>
      </dgm:t>
    </dgm:pt>
    <dgm:pt modelId="{5046C71E-9390-4DAA-A541-A281D598BB17}" type="sibTrans" cxnId="{571D8742-FF82-4620-BF21-1360CD3A6B87}">
      <dgm:prSet custT="1"/>
      <dgm:spPr/>
      <dgm:t>
        <a:bodyPr/>
        <a:lstStyle/>
        <a:p>
          <a:endParaRPr lang="en-US" sz="2400"/>
        </a:p>
      </dgm:t>
    </dgm:pt>
    <dgm:pt modelId="{B31D29E1-2859-45D0-9B70-F954047B8F03}">
      <dgm:prSet phldrT="[文本]" custT="1"/>
      <dgm:spPr/>
      <dgm:t>
        <a:bodyPr/>
        <a:lstStyle/>
        <a:p>
          <a:r>
            <a:rPr lang="zh-CN" altLang="en-US" sz="2400" b="1" dirty="0">
              <a:latin typeface="+mn-ea"/>
            </a:rPr>
            <a:t>功</a:t>
          </a:r>
          <a:endParaRPr lang="en-US" sz="2400" dirty="0"/>
        </a:p>
      </dgm:t>
    </dgm:pt>
    <dgm:pt modelId="{89EA8D0F-EE4B-466F-B9F7-ED5FF1335485}" type="parTrans" cxnId="{E92FB54C-9888-4131-B344-08684DCF1BC0}">
      <dgm:prSet/>
      <dgm:spPr/>
      <dgm:t>
        <a:bodyPr/>
        <a:lstStyle/>
        <a:p>
          <a:endParaRPr lang="en-US" sz="2400"/>
        </a:p>
      </dgm:t>
    </dgm:pt>
    <dgm:pt modelId="{7BD5E1E0-48DD-4BA0-9260-13E3D038C177}" type="sibTrans" cxnId="{E92FB54C-9888-4131-B344-08684DCF1BC0}">
      <dgm:prSet custT="1"/>
      <dgm:spPr/>
      <dgm:t>
        <a:bodyPr/>
        <a:lstStyle/>
        <a:p>
          <a:endParaRPr lang="en-US" sz="2400"/>
        </a:p>
      </dgm:t>
    </dgm:pt>
    <dgm:pt modelId="{E78EB1C9-073D-45DB-BB17-3E42E1C451E7}" type="pres">
      <dgm:prSet presAssocID="{BC48EDF5-0999-437C-B6DD-8EA30FF11E05}" presName="Name0" presStyleCnt="0">
        <dgm:presLayoutVars>
          <dgm:dir/>
          <dgm:resizeHandles val="exact"/>
        </dgm:presLayoutVars>
      </dgm:prSet>
      <dgm:spPr/>
    </dgm:pt>
    <dgm:pt modelId="{99FFA5A7-2B47-4B3A-A3C3-354D4081C0CA}" type="pres">
      <dgm:prSet presAssocID="{68769C6E-592E-4E6D-A29C-1E219C5E8C01}" presName="node" presStyleLbl="node1" presStyleIdx="0" presStyleCnt="3">
        <dgm:presLayoutVars>
          <dgm:bulletEnabled val="1"/>
        </dgm:presLayoutVars>
      </dgm:prSet>
      <dgm:spPr/>
    </dgm:pt>
    <dgm:pt modelId="{F5274847-A859-49C0-A5ED-213109809AE0}" type="pres">
      <dgm:prSet presAssocID="{E3E4FA6B-24F5-4DD0-A0BE-40608E4E233F}" presName="sibTrans" presStyleLbl="sibTrans2D1" presStyleIdx="0" presStyleCnt="3" custLinFactNeighborX="-1988" custLinFactNeighborY="1670"/>
      <dgm:spPr/>
    </dgm:pt>
    <dgm:pt modelId="{397C1FCA-13EC-40E9-805C-2CE0E63D969D}" type="pres">
      <dgm:prSet presAssocID="{E3E4FA6B-24F5-4DD0-A0BE-40608E4E233F}" presName="connectorText" presStyleLbl="sibTrans2D1" presStyleIdx="0" presStyleCnt="3"/>
      <dgm:spPr/>
    </dgm:pt>
    <dgm:pt modelId="{32E8C63E-5BC4-4061-A848-74DB035FD269}" type="pres">
      <dgm:prSet presAssocID="{7DD10B01-9D11-4535-92C1-98C36C977BDC}" presName="node" presStyleLbl="node1" presStyleIdx="1" presStyleCnt="3" custRadScaleRad="85031" custRadScaleInc="-15999">
        <dgm:presLayoutVars>
          <dgm:bulletEnabled val="1"/>
        </dgm:presLayoutVars>
      </dgm:prSet>
      <dgm:spPr/>
    </dgm:pt>
    <dgm:pt modelId="{23B2D849-FBB7-4F7D-87C3-364DFD0F7F67}" type="pres">
      <dgm:prSet presAssocID="{5046C71E-9390-4DAA-A541-A281D598BB17}" presName="sibTrans" presStyleLbl="sibTrans2D1" presStyleIdx="1" presStyleCnt="3"/>
      <dgm:spPr/>
    </dgm:pt>
    <dgm:pt modelId="{46E31496-8BF6-4FBB-9A77-9988E0108690}" type="pres">
      <dgm:prSet presAssocID="{5046C71E-9390-4DAA-A541-A281D598BB17}" presName="connectorText" presStyleLbl="sibTrans2D1" presStyleIdx="1" presStyleCnt="3"/>
      <dgm:spPr/>
    </dgm:pt>
    <dgm:pt modelId="{5C204AEA-B9F0-4FFA-8B48-F6E30AEFC66E}" type="pres">
      <dgm:prSet presAssocID="{B31D29E1-2859-45D0-9B70-F954047B8F03}" presName="node" presStyleLbl="node1" presStyleIdx="2" presStyleCnt="3" custRadScaleRad="93804" custRadScaleInc="19300">
        <dgm:presLayoutVars>
          <dgm:bulletEnabled val="1"/>
        </dgm:presLayoutVars>
      </dgm:prSet>
      <dgm:spPr/>
    </dgm:pt>
    <dgm:pt modelId="{A2E24287-8093-4AF7-AD25-491134E3B06A}" type="pres">
      <dgm:prSet presAssocID="{7BD5E1E0-48DD-4BA0-9260-13E3D038C177}" presName="sibTrans" presStyleLbl="sibTrans2D1" presStyleIdx="2" presStyleCnt="3" custLinFactNeighborX="-1988" custLinFactNeighborY="1670"/>
      <dgm:spPr/>
    </dgm:pt>
    <dgm:pt modelId="{447E2510-98AE-46AD-B322-7570EC3EB3F2}" type="pres">
      <dgm:prSet presAssocID="{7BD5E1E0-48DD-4BA0-9260-13E3D038C177}" presName="connectorText" presStyleLbl="sibTrans2D1" presStyleIdx="2" presStyleCnt="3"/>
      <dgm:spPr/>
    </dgm:pt>
  </dgm:ptLst>
  <dgm:cxnLst>
    <dgm:cxn modelId="{664A8701-DF10-4E69-8B09-5C491C6F5D8E}" type="presOf" srcId="{BC48EDF5-0999-437C-B6DD-8EA30FF11E05}" destId="{E78EB1C9-073D-45DB-BB17-3E42E1C451E7}" srcOrd="0" destOrd="0" presId="urn:microsoft.com/office/officeart/2005/8/layout/cycle7"/>
    <dgm:cxn modelId="{CCDFAC0A-1C12-4632-B2AA-60854DA8CBEB}" type="presOf" srcId="{7BD5E1E0-48DD-4BA0-9260-13E3D038C177}" destId="{447E2510-98AE-46AD-B322-7570EC3EB3F2}" srcOrd="1" destOrd="0" presId="urn:microsoft.com/office/officeart/2005/8/layout/cycle7"/>
    <dgm:cxn modelId="{043C3D15-8760-41CB-9ED0-F51EA94E2FF8}" type="presOf" srcId="{E3E4FA6B-24F5-4DD0-A0BE-40608E4E233F}" destId="{F5274847-A859-49C0-A5ED-213109809AE0}" srcOrd="0" destOrd="0" presId="urn:microsoft.com/office/officeart/2005/8/layout/cycle7"/>
    <dgm:cxn modelId="{41201D18-6765-4373-A89F-A942B63319D2}" srcId="{BC48EDF5-0999-437C-B6DD-8EA30FF11E05}" destId="{68769C6E-592E-4E6D-A29C-1E219C5E8C01}" srcOrd="0" destOrd="0" parTransId="{AE73AE1A-798C-4208-B972-898748427294}" sibTransId="{E3E4FA6B-24F5-4DD0-A0BE-40608E4E233F}"/>
    <dgm:cxn modelId="{3EDBC81A-E250-4748-8156-91F8FFC3C941}" type="presOf" srcId="{B31D29E1-2859-45D0-9B70-F954047B8F03}" destId="{5C204AEA-B9F0-4FFA-8B48-F6E30AEFC66E}" srcOrd="0" destOrd="0" presId="urn:microsoft.com/office/officeart/2005/8/layout/cycle7"/>
    <dgm:cxn modelId="{8038771C-DA6E-4CAD-A86A-4CFAF34546C0}" type="presOf" srcId="{E3E4FA6B-24F5-4DD0-A0BE-40608E4E233F}" destId="{397C1FCA-13EC-40E9-805C-2CE0E63D969D}" srcOrd="1" destOrd="0" presId="urn:microsoft.com/office/officeart/2005/8/layout/cycle7"/>
    <dgm:cxn modelId="{571D8742-FF82-4620-BF21-1360CD3A6B87}" srcId="{BC48EDF5-0999-437C-B6DD-8EA30FF11E05}" destId="{7DD10B01-9D11-4535-92C1-98C36C977BDC}" srcOrd="1" destOrd="0" parTransId="{B078644C-9E9F-4777-8D06-D2B016AA7531}" sibTransId="{5046C71E-9390-4DAA-A541-A281D598BB17}"/>
    <dgm:cxn modelId="{E92FB54C-9888-4131-B344-08684DCF1BC0}" srcId="{BC48EDF5-0999-437C-B6DD-8EA30FF11E05}" destId="{B31D29E1-2859-45D0-9B70-F954047B8F03}" srcOrd="2" destOrd="0" parTransId="{89EA8D0F-EE4B-466F-B9F7-ED5FF1335485}" sibTransId="{7BD5E1E0-48DD-4BA0-9260-13E3D038C177}"/>
    <dgm:cxn modelId="{EFEE5373-A3F1-4298-B914-BAB1B133F8E2}" type="presOf" srcId="{5046C71E-9390-4DAA-A541-A281D598BB17}" destId="{23B2D849-FBB7-4F7D-87C3-364DFD0F7F67}" srcOrd="0" destOrd="0" presId="urn:microsoft.com/office/officeart/2005/8/layout/cycle7"/>
    <dgm:cxn modelId="{3557A97E-4E74-4EBE-97BC-AEEFF757B6DF}" type="presOf" srcId="{7DD10B01-9D11-4535-92C1-98C36C977BDC}" destId="{32E8C63E-5BC4-4061-A848-74DB035FD269}" srcOrd="0" destOrd="0" presId="urn:microsoft.com/office/officeart/2005/8/layout/cycle7"/>
    <dgm:cxn modelId="{21DE38BD-3C89-411F-A5EB-17E5C3F2A9AA}" type="presOf" srcId="{68769C6E-592E-4E6D-A29C-1E219C5E8C01}" destId="{99FFA5A7-2B47-4B3A-A3C3-354D4081C0CA}" srcOrd="0" destOrd="0" presId="urn:microsoft.com/office/officeart/2005/8/layout/cycle7"/>
    <dgm:cxn modelId="{BB264ED2-F7E9-47FA-A0EA-6D88D991AB3F}" type="presOf" srcId="{5046C71E-9390-4DAA-A541-A281D598BB17}" destId="{46E31496-8BF6-4FBB-9A77-9988E0108690}" srcOrd="1" destOrd="0" presId="urn:microsoft.com/office/officeart/2005/8/layout/cycle7"/>
    <dgm:cxn modelId="{33E392F7-6E05-4E6B-8E02-3E436D9279F4}" type="presOf" srcId="{7BD5E1E0-48DD-4BA0-9260-13E3D038C177}" destId="{A2E24287-8093-4AF7-AD25-491134E3B06A}" srcOrd="0" destOrd="0" presId="urn:microsoft.com/office/officeart/2005/8/layout/cycle7"/>
    <dgm:cxn modelId="{461DBB46-3B79-46BC-B195-95775B78B57C}" type="presParOf" srcId="{E78EB1C9-073D-45DB-BB17-3E42E1C451E7}" destId="{99FFA5A7-2B47-4B3A-A3C3-354D4081C0CA}" srcOrd="0" destOrd="0" presId="urn:microsoft.com/office/officeart/2005/8/layout/cycle7"/>
    <dgm:cxn modelId="{938D4160-358A-4B37-B433-2A4D87E1339C}" type="presParOf" srcId="{E78EB1C9-073D-45DB-BB17-3E42E1C451E7}" destId="{F5274847-A859-49C0-A5ED-213109809AE0}" srcOrd="1" destOrd="0" presId="urn:microsoft.com/office/officeart/2005/8/layout/cycle7"/>
    <dgm:cxn modelId="{A5518151-330C-4613-B577-3F0861367077}" type="presParOf" srcId="{F5274847-A859-49C0-A5ED-213109809AE0}" destId="{397C1FCA-13EC-40E9-805C-2CE0E63D969D}" srcOrd="0" destOrd="0" presId="urn:microsoft.com/office/officeart/2005/8/layout/cycle7"/>
    <dgm:cxn modelId="{AA452E71-13CA-4C7D-9604-74DB8FD068B3}" type="presParOf" srcId="{E78EB1C9-073D-45DB-BB17-3E42E1C451E7}" destId="{32E8C63E-5BC4-4061-A848-74DB035FD269}" srcOrd="2" destOrd="0" presId="urn:microsoft.com/office/officeart/2005/8/layout/cycle7"/>
    <dgm:cxn modelId="{90CB8F00-95D9-4C04-B626-50D0473BDAFC}" type="presParOf" srcId="{E78EB1C9-073D-45DB-BB17-3E42E1C451E7}" destId="{23B2D849-FBB7-4F7D-87C3-364DFD0F7F67}" srcOrd="3" destOrd="0" presId="urn:microsoft.com/office/officeart/2005/8/layout/cycle7"/>
    <dgm:cxn modelId="{2D9A1E15-5569-49F2-B68D-E1CBF76EED8A}" type="presParOf" srcId="{23B2D849-FBB7-4F7D-87C3-364DFD0F7F67}" destId="{46E31496-8BF6-4FBB-9A77-9988E0108690}" srcOrd="0" destOrd="0" presId="urn:microsoft.com/office/officeart/2005/8/layout/cycle7"/>
    <dgm:cxn modelId="{3DFC8B94-DB8E-45A8-BEF1-9D6C5AC82AD1}" type="presParOf" srcId="{E78EB1C9-073D-45DB-BB17-3E42E1C451E7}" destId="{5C204AEA-B9F0-4FFA-8B48-F6E30AEFC66E}" srcOrd="4" destOrd="0" presId="urn:microsoft.com/office/officeart/2005/8/layout/cycle7"/>
    <dgm:cxn modelId="{519B3FAD-87EB-4229-A0F9-792F3AC9B0DC}" type="presParOf" srcId="{E78EB1C9-073D-45DB-BB17-3E42E1C451E7}" destId="{A2E24287-8093-4AF7-AD25-491134E3B06A}" srcOrd="5" destOrd="0" presId="urn:microsoft.com/office/officeart/2005/8/layout/cycle7"/>
    <dgm:cxn modelId="{E12D999B-A4BE-4D76-B82A-7B591BF67882}" type="presParOf" srcId="{A2E24287-8093-4AF7-AD25-491134E3B06A}" destId="{447E2510-98AE-46AD-B322-7570EC3EB3F2}" srcOrd="0" destOrd="0" presId="urn:microsoft.com/office/officeart/2005/8/layout/cycle7"/>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FFA5A7-2B47-4B3A-A3C3-354D4081C0CA}">
      <dsp:nvSpPr>
        <dsp:cNvPr id="0" name=""/>
        <dsp:cNvSpPr/>
      </dsp:nvSpPr>
      <dsp:spPr>
        <a:xfrm>
          <a:off x="902251" y="200959"/>
          <a:ext cx="1091752" cy="545876"/>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b="1" kern="1200" dirty="0">
              <a:latin typeface="+mn-ea"/>
            </a:rPr>
            <a:t>内能</a:t>
          </a:r>
          <a:endParaRPr lang="en-US" sz="2400" kern="1200" dirty="0"/>
        </a:p>
      </dsp:txBody>
      <dsp:txXfrm>
        <a:off x="918239" y="216947"/>
        <a:ext cx="1059776" cy="513900"/>
      </dsp:txXfrm>
    </dsp:sp>
    <dsp:sp modelId="{F5274847-A859-49C0-A5ED-213109809AE0}">
      <dsp:nvSpPr>
        <dsp:cNvPr id="0" name=""/>
        <dsp:cNvSpPr/>
      </dsp:nvSpPr>
      <dsp:spPr>
        <a:xfrm rot="3505106">
          <a:off x="1596721" y="1056425"/>
          <a:ext cx="512208" cy="191056"/>
        </a:xfrm>
        <a:prstGeom prst="lef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1654038" y="1094636"/>
        <a:ext cx="397574" cy="114634"/>
      </dsp:txXfrm>
    </dsp:sp>
    <dsp:sp modelId="{32E8C63E-5BC4-4061-A848-74DB035FD269}">
      <dsp:nvSpPr>
        <dsp:cNvPr id="0" name=""/>
        <dsp:cNvSpPr/>
      </dsp:nvSpPr>
      <dsp:spPr>
        <a:xfrm>
          <a:off x="1732012" y="1550690"/>
          <a:ext cx="1091752" cy="545876"/>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b="1" kern="1200" dirty="0">
              <a:latin typeface="+mn-ea"/>
            </a:rPr>
            <a:t>热量</a:t>
          </a:r>
          <a:endParaRPr lang="en-US" sz="2400" kern="1200" dirty="0"/>
        </a:p>
      </dsp:txBody>
      <dsp:txXfrm>
        <a:off x="1748000" y="1566678"/>
        <a:ext cx="1059776" cy="513900"/>
      </dsp:txXfrm>
    </dsp:sp>
    <dsp:sp modelId="{23B2D849-FBB7-4F7D-87C3-364DFD0F7F67}">
      <dsp:nvSpPr>
        <dsp:cNvPr id="0" name=""/>
        <dsp:cNvSpPr/>
      </dsp:nvSpPr>
      <dsp:spPr>
        <a:xfrm rot="10800001">
          <a:off x="1155778" y="1728099"/>
          <a:ext cx="512208" cy="191056"/>
        </a:xfrm>
        <a:prstGeom prst="lef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rot="10800000">
        <a:off x="1213095" y="1766310"/>
        <a:ext cx="397574" cy="114634"/>
      </dsp:txXfrm>
    </dsp:sp>
    <dsp:sp modelId="{5C204AEA-B9F0-4FFA-8B48-F6E30AEFC66E}">
      <dsp:nvSpPr>
        <dsp:cNvPr id="0" name=""/>
        <dsp:cNvSpPr/>
      </dsp:nvSpPr>
      <dsp:spPr>
        <a:xfrm>
          <a:off x="0" y="1550689"/>
          <a:ext cx="1091752" cy="545876"/>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b="1" kern="1200" dirty="0">
              <a:latin typeface="+mn-ea"/>
            </a:rPr>
            <a:t>功</a:t>
          </a:r>
          <a:endParaRPr lang="en-US" sz="2400" kern="1200" dirty="0"/>
        </a:p>
      </dsp:txBody>
      <dsp:txXfrm>
        <a:off x="15988" y="1566677"/>
        <a:ext cx="1059776" cy="513900"/>
      </dsp:txXfrm>
    </dsp:sp>
    <dsp:sp modelId="{A2E24287-8093-4AF7-AD25-491134E3B06A}">
      <dsp:nvSpPr>
        <dsp:cNvPr id="0" name=""/>
        <dsp:cNvSpPr/>
      </dsp:nvSpPr>
      <dsp:spPr>
        <a:xfrm rot="18225687">
          <a:off x="730714" y="1056424"/>
          <a:ext cx="512208" cy="191056"/>
        </a:xfrm>
        <a:prstGeom prst="lef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788031" y="1094635"/>
        <a:ext cx="397574" cy="114634"/>
      </dsp:txXfrm>
    </dsp:sp>
  </dsp:spTree>
</dsp:drawing>
</file>

<file path=ppt/diagrams/layout1.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16.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62.emf"/><Relationship Id="rId1" Type="http://schemas.openxmlformats.org/officeDocument/2006/relationships/image" Target="../media/image6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3.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3.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5733EA-8E6D-4666-B9D4-9ACE27AD59EA}" type="datetimeFigureOut">
              <a:rPr lang="en-US" smtClean="0"/>
              <a:t>2/29/2024</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1FE689-547E-4EC7-A7DE-41A4901E6B75}" type="slidenum">
              <a:rPr lang="en-US" smtClean="0"/>
              <a:t>‹#›</a:t>
            </a:fld>
            <a:endParaRPr lang="en-US"/>
          </a:p>
        </p:txBody>
      </p:sp>
    </p:spTree>
    <p:extLst>
      <p:ext uri="{BB962C8B-B14F-4D97-AF65-F5344CB8AC3E}">
        <p14:creationId xmlns:p14="http://schemas.microsoft.com/office/powerpoint/2010/main" val="4072326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61FE689-547E-4EC7-A7DE-41A4901E6B75}" type="slidenum">
              <a:rPr lang="en-US" smtClean="0"/>
              <a:t>10</a:t>
            </a:fld>
            <a:endParaRPr lang="en-US"/>
          </a:p>
        </p:txBody>
      </p:sp>
    </p:spTree>
    <p:extLst>
      <p:ext uri="{BB962C8B-B14F-4D97-AF65-F5344CB8AC3E}">
        <p14:creationId xmlns:p14="http://schemas.microsoft.com/office/powerpoint/2010/main" val="41490962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61FE689-547E-4EC7-A7DE-41A4901E6B75}" type="slidenum">
              <a:rPr lang="en-US" smtClean="0"/>
              <a:t>26</a:t>
            </a:fld>
            <a:endParaRPr lang="en-US"/>
          </a:p>
        </p:txBody>
      </p:sp>
    </p:spTree>
    <p:extLst>
      <p:ext uri="{BB962C8B-B14F-4D97-AF65-F5344CB8AC3E}">
        <p14:creationId xmlns:p14="http://schemas.microsoft.com/office/powerpoint/2010/main" val="9619850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F075D9-9C0A-4907-9E0A-2E1C5E38781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副标题 2">
            <a:extLst>
              <a:ext uri="{FF2B5EF4-FFF2-40B4-BE49-F238E27FC236}">
                <a16:creationId xmlns:a16="http://schemas.microsoft.com/office/drawing/2014/main" id="{B63CDB30-CF70-4C98-8777-71D0DE6017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日期占位符 3">
            <a:extLst>
              <a:ext uri="{FF2B5EF4-FFF2-40B4-BE49-F238E27FC236}">
                <a16:creationId xmlns:a16="http://schemas.microsoft.com/office/drawing/2014/main" id="{C8455DCF-EA4C-4853-BD99-7C8B11522995}"/>
              </a:ext>
            </a:extLst>
          </p:cNvPr>
          <p:cNvSpPr>
            <a:spLocks noGrp="1"/>
          </p:cNvSpPr>
          <p:nvPr>
            <p:ph type="dt" sz="half" idx="10"/>
          </p:nvPr>
        </p:nvSpPr>
        <p:spPr/>
        <p:txBody>
          <a:bodyPr/>
          <a:lstStyle/>
          <a:p>
            <a:fld id="{8569C8CB-8203-4113-BC19-5C96839CBD45}" type="datetimeFigureOut">
              <a:rPr lang="en-US" smtClean="0"/>
              <a:t>2/29/2024</a:t>
            </a:fld>
            <a:endParaRPr lang="en-US"/>
          </a:p>
        </p:txBody>
      </p:sp>
      <p:sp>
        <p:nvSpPr>
          <p:cNvPr id="5" name="页脚占位符 4">
            <a:extLst>
              <a:ext uri="{FF2B5EF4-FFF2-40B4-BE49-F238E27FC236}">
                <a16:creationId xmlns:a16="http://schemas.microsoft.com/office/drawing/2014/main" id="{A057D055-1BEA-4835-BCF3-DA518BC71717}"/>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12424949-9B6D-4ABE-81D0-3E80161027A8}"/>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1000683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03ECBA-8D3D-44FD-8451-1C68376A6475}"/>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0D32FE7C-6E4F-4D24-8713-B2191E02029D}"/>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C24F968E-F782-49B7-8CFB-D5AD5205873F}"/>
              </a:ext>
            </a:extLst>
          </p:cNvPr>
          <p:cNvSpPr>
            <a:spLocks noGrp="1"/>
          </p:cNvSpPr>
          <p:nvPr>
            <p:ph type="dt" sz="half" idx="10"/>
          </p:nvPr>
        </p:nvSpPr>
        <p:spPr/>
        <p:txBody>
          <a:bodyPr/>
          <a:lstStyle/>
          <a:p>
            <a:fld id="{8569C8CB-8203-4113-BC19-5C96839CBD45}" type="datetimeFigureOut">
              <a:rPr lang="en-US" smtClean="0"/>
              <a:t>2/29/2024</a:t>
            </a:fld>
            <a:endParaRPr lang="en-US"/>
          </a:p>
        </p:txBody>
      </p:sp>
      <p:sp>
        <p:nvSpPr>
          <p:cNvPr id="5" name="页脚占位符 4">
            <a:extLst>
              <a:ext uri="{FF2B5EF4-FFF2-40B4-BE49-F238E27FC236}">
                <a16:creationId xmlns:a16="http://schemas.microsoft.com/office/drawing/2014/main" id="{16733CAE-7B6D-4B2F-A356-51AA8A9B789E}"/>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2DBC30F0-28D6-4C9B-AEE5-03D12DB8B436}"/>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384273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9E53B1-9079-49D9-9131-26E0E03C6F1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C8F01D29-1A52-4551-9AAD-87EDF9D76E3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51D2B19E-2D1A-4065-8E51-732596D10154}"/>
              </a:ext>
            </a:extLst>
          </p:cNvPr>
          <p:cNvSpPr>
            <a:spLocks noGrp="1"/>
          </p:cNvSpPr>
          <p:nvPr>
            <p:ph type="dt" sz="half" idx="10"/>
          </p:nvPr>
        </p:nvSpPr>
        <p:spPr/>
        <p:txBody>
          <a:bodyPr/>
          <a:lstStyle/>
          <a:p>
            <a:fld id="{8569C8CB-8203-4113-BC19-5C96839CBD45}" type="datetimeFigureOut">
              <a:rPr lang="en-US" smtClean="0"/>
              <a:t>2/29/2024</a:t>
            </a:fld>
            <a:endParaRPr lang="en-US"/>
          </a:p>
        </p:txBody>
      </p:sp>
      <p:sp>
        <p:nvSpPr>
          <p:cNvPr id="5" name="页脚占位符 4">
            <a:extLst>
              <a:ext uri="{FF2B5EF4-FFF2-40B4-BE49-F238E27FC236}">
                <a16:creationId xmlns:a16="http://schemas.microsoft.com/office/drawing/2014/main" id="{D370643E-4976-4353-A93C-94547389C024}"/>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EF3E8924-C3CD-4AD0-8D20-BDBCD27DF27D}"/>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295288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4BD28B-F5E7-4DEF-A7ED-85E67C83F559}"/>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BDB5A803-634D-4E5A-8215-1F45D12CCD83}"/>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a:extLst>
              <a:ext uri="{FF2B5EF4-FFF2-40B4-BE49-F238E27FC236}">
                <a16:creationId xmlns:a16="http://schemas.microsoft.com/office/drawing/2014/main" id="{8245702B-45D0-4EB5-AAA5-C47494C79821}"/>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4">
            <a:extLst>
              <a:ext uri="{FF2B5EF4-FFF2-40B4-BE49-F238E27FC236}">
                <a16:creationId xmlns:a16="http://schemas.microsoft.com/office/drawing/2014/main" id="{32713FAE-28EA-4DD1-B781-345A797EEA62}"/>
              </a:ext>
            </a:extLst>
          </p:cNvPr>
          <p:cNvSpPr>
            <a:spLocks noGrp="1"/>
          </p:cNvSpPr>
          <p:nvPr>
            <p:ph type="dt" sz="half" idx="10"/>
          </p:nvPr>
        </p:nvSpPr>
        <p:spPr/>
        <p:txBody>
          <a:bodyPr/>
          <a:lstStyle/>
          <a:p>
            <a:fld id="{8569C8CB-8203-4113-BC19-5C96839CBD45}" type="datetimeFigureOut">
              <a:rPr lang="en-US" smtClean="0"/>
              <a:t>2/29/2024</a:t>
            </a:fld>
            <a:endParaRPr lang="en-US"/>
          </a:p>
        </p:txBody>
      </p:sp>
      <p:sp>
        <p:nvSpPr>
          <p:cNvPr id="6" name="页脚占位符 5">
            <a:extLst>
              <a:ext uri="{FF2B5EF4-FFF2-40B4-BE49-F238E27FC236}">
                <a16:creationId xmlns:a16="http://schemas.microsoft.com/office/drawing/2014/main" id="{D6B78BAD-ABD9-461C-A7F6-83BEE5EA72C1}"/>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1DAFC4C7-93A9-4642-A356-4D4E2BD383CF}"/>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4060157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74F436-0EA1-486E-BFA5-AEFC10B549E5}"/>
              </a:ext>
            </a:extLst>
          </p:cNvPr>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DACE3DD6-1221-4B2B-A081-C438B4EA13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57A0C97E-5BD2-4E0E-B6D8-06BA9CC07EAC}"/>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文本占位符 4">
            <a:extLst>
              <a:ext uri="{FF2B5EF4-FFF2-40B4-BE49-F238E27FC236}">
                <a16:creationId xmlns:a16="http://schemas.microsoft.com/office/drawing/2014/main" id="{F0A250BC-6CDA-4F55-9122-E95732154C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E49A7F6C-B16D-4596-8C2E-4B3AAA59920B}"/>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日期占位符 6">
            <a:extLst>
              <a:ext uri="{FF2B5EF4-FFF2-40B4-BE49-F238E27FC236}">
                <a16:creationId xmlns:a16="http://schemas.microsoft.com/office/drawing/2014/main" id="{086CDA96-F74A-4624-A701-06BB40E85578}"/>
              </a:ext>
            </a:extLst>
          </p:cNvPr>
          <p:cNvSpPr>
            <a:spLocks noGrp="1"/>
          </p:cNvSpPr>
          <p:nvPr>
            <p:ph type="dt" sz="half" idx="10"/>
          </p:nvPr>
        </p:nvSpPr>
        <p:spPr/>
        <p:txBody>
          <a:bodyPr/>
          <a:lstStyle/>
          <a:p>
            <a:fld id="{8569C8CB-8203-4113-BC19-5C96839CBD45}" type="datetimeFigureOut">
              <a:rPr lang="en-US" smtClean="0"/>
              <a:t>2/29/2024</a:t>
            </a:fld>
            <a:endParaRPr lang="en-US"/>
          </a:p>
        </p:txBody>
      </p:sp>
      <p:sp>
        <p:nvSpPr>
          <p:cNvPr id="8" name="页脚占位符 7">
            <a:extLst>
              <a:ext uri="{FF2B5EF4-FFF2-40B4-BE49-F238E27FC236}">
                <a16:creationId xmlns:a16="http://schemas.microsoft.com/office/drawing/2014/main" id="{1C82C964-0DCE-4251-A2D2-8B40BD442161}"/>
              </a:ext>
            </a:extLst>
          </p:cNvPr>
          <p:cNvSpPr>
            <a:spLocks noGrp="1"/>
          </p:cNvSpPr>
          <p:nvPr>
            <p:ph type="ftr" sz="quarter" idx="11"/>
          </p:nvPr>
        </p:nvSpPr>
        <p:spPr/>
        <p:txBody>
          <a:bodyPr/>
          <a:lstStyle/>
          <a:p>
            <a:endParaRPr lang="en-US"/>
          </a:p>
        </p:txBody>
      </p:sp>
      <p:sp>
        <p:nvSpPr>
          <p:cNvPr id="9" name="灯片编号占位符 8">
            <a:extLst>
              <a:ext uri="{FF2B5EF4-FFF2-40B4-BE49-F238E27FC236}">
                <a16:creationId xmlns:a16="http://schemas.microsoft.com/office/drawing/2014/main" id="{4CF80643-74A0-4D0A-B3AE-FDFCC00373BC}"/>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684343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21D687-2952-433A-A486-099C48C4B667}"/>
              </a:ext>
            </a:extLst>
          </p:cNvPr>
          <p:cNvSpPr>
            <a:spLocks noGrp="1"/>
          </p:cNvSpPr>
          <p:nvPr>
            <p:ph type="title"/>
          </p:nvPr>
        </p:nvSpPr>
        <p:spPr/>
        <p:txBody>
          <a:bodyPr/>
          <a:lstStyle/>
          <a:p>
            <a:r>
              <a:rPr lang="zh-CN" altLang="en-US"/>
              <a:t>单击此处编辑母版标题样式</a:t>
            </a:r>
            <a:endParaRPr lang="en-US"/>
          </a:p>
        </p:txBody>
      </p:sp>
      <p:sp>
        <p:nvSpPr>
          <p:cNvPr id="3" name="日期占位符 2">
            <a:extLst>
              <a:ext uri="{FF2B5EF4-FFF2-40B4-BE49-F238E27FC236}">
                <a16:creationId xmlns:a16="http://schemas.microsoft.com/office/drawing/2014/main" id="{F84DCF08-EA4B-4E0C-B9DA-AF780B867655}"/>
              </a:ext>
            </a:extLst>
          </p:cNvPr>
          <p:cNvSpPr>
            <a:spLocks noGrp="1"/>
          </p:cNvSpPr>
          <p:nvPr>
            <p:ph type="dt" sz="half" idx="10"/>
          </p:nvPr>
        </p:nvSpPr>
        <p:spPr/>
        <p:txBody>
          <a:bodyPr/>
          <a:lstStyle/>
          <a:p>
            <a:fld id="{8569C8CB-8203-4113-BC19-5C96839CBD45}" type="datetimeFigureOut">
              <a:rPr lang="en-US" smtClean="0"/>
              <a:t>2/29/2024</a:t>
            </a:fld>
            <a:endParaRPr lang="en-US"/>
          </a:p>
        </p:txBody>
      </p:sp>
      <p:sp>
        <p:nvSpPr>
          <p:cNvPr id="4" name="页脚占位符 3">
            <a:extLst>
              <a:ext uri="{FF2B5EF4-FFF2-40B4-BE49-F238E27FC236}">
                <a16:creationId xmlns:a16="http://schemas.microsoft.com/office/drawing/2014/main" id="{F4DF4D79-43A3-4D15-AADB-49E2A00CDBAD}"/>
              </a:ext>
            </a:extLst>
          </p:cNvPr>
          <p:cNvSpPr>
            <a:spLocks noGrp="1"/>
          </p:cNvSpPr>
          <p:nvPr>
            <p:ph type="ftr" sz="quarter" idx="11"/>
          </p:nvPr>
        </p:nvSpPr>
        <p:spPr/>
        <p:txBody>
          <a:bodyPr/>
          <a:lstStyle/>
          <a:p>
            <a:endParaRPr lang="en-US"/>
          </a:p>
        </p:txBody>
      </p:sp>
      <p:sp>
        <p:nvSpPr>
          <p:cNvPr id="5" name="灯片编号占位符 4">
            <a:extLst>
              <a:ext uri="{FF2B5EF4-FFF2-40B4-BE49-F238E27FC236}">
                <a16:creationId xmlns:a16="http://schemas.microsoft.com/office/drawing/2014/main" id="{897F9052-09FA-4D04-AB45-329EED24907F}"/>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4117064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CE4DD36-7F96-444A-A9B7-5FBBE9CE746F}"/>
              </a:ext>
            </a:extLst>
          </p:cNvPr>
          <p:cNvSpPr>
            <a:spLocks noGrp="1"/>
          </p:cNvSpPr>
          <p:nvPr>
            <p:ph type="dt" sz="half" idx="10"/>
          </p:nvPr>
        </p:nvSpPr>
        <p:spPr/>
        <p:txBody>
          <a:bodyPr/>
          <a:lstStyle/>
          <a:p>
            <a:fld id="{8569C8CB-8203-4113-BC19-5C96839CBD45}" type="datetimeFigureOut">
              <a:rPr lang="en-US" smtClean="0"/>
              <a:t>2/29/2024</a:t>
            </a:fld>
            <a:endParaRPr lang="en-US"/>
          </a:p>
        </p:txBody>
      </p:sp>
      <p:sp>
        <p:nvSpPr>
          <p:cNvPr id="3" name="页脚占位符 2">
            <a:extLst>
              <a:ext uri="{FF2B5EF4-FFF2-40B4-BE49-F238E27FC236}">
                <a16:creationId xmlns:a16="http://schemas.microsoft.com/office/drawing/2014/main" id="{EC8F5D18-B09A-4096-AFDA-96A804D6D451}"/>
              </a:ext>
            </a:extLst>
          </p:cNvPr>
          <p:cNvSpPr>
            <a:spLocks noGrp="1"/>
          </p:cNvSpPr>
          <p:nvPr>
            <p:ph type="ftr" sz="quarter" idx="11"/>
          </p:nvPr>
        </p:nvSpPr>
        <p:spPr/>
        <p:txBody>
          <a:bodyPr/>
          <a:lstStyle/>
          <a:p>
            <a:endParaRPr lang="en-US"/>
          </a:p>
        </p:txBody>
      </p:sp>
      <p:sp>
        <p:nvSpPr>
          <p:cNvPr id="4" name="灯片编号占位符 3">
            <a:extLst>
              <a:ext uri="{FF2B5EF4-FFF2-40B4-BE49-F238E27FC236}">
                <a16:creationId xmlns:a16="http://schemas.microsoft.com/office/drawing/2014/main" id="{1ACC0151-1B68-4B32-AB2F-4A65BE2AD14F}"/>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97626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FBC3E4-C582-4A91-A7AE-1D79621891D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A942F964-0EB5-4901-BC24-85E3354331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文本占位符 3">
            <a:extLst>
              <a:ext uri="{FF2B5EF4-FFF2-40B4-BE49-F238E27FC236}">
                <a16:creationId xmlns:a16="http://schemas.microsoft.com/office/drawing/2014/main" id="{366385E8-484A-4DCD-B049-3172288A76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0569B17-EB32-4F6A-9B7C-5B597E7CC0ED}"/>
              </a:ext>
            </a:extLst>
          </p:cNvPr>
          <p:cNvSpPr>
            <a:spLocks noGrp="1"/>
          </p:cNvSpPr>
          <p:nvPr>
            <p:ph type="dt" sz="half" idx="10"/>
          </p:nvPr>
        </p:nvSpPr>
        <p:spPr/>
        <p:txBody>
          <a:bodyPr/>
          <a:lstStyle/>
          <a:p>
            <a:fld id="{8569C8CB-8203-4113-BC19-5C96839CBD45}" type="datetimeFigureOut">
              <a:rPr lang="en-US" smtClean="0"/>
              <a:t>2/29/2024</a:t>
            </a:fld>
            <a:endParaRPr lang="en-US"/>
          </a:p>
        </p:txBody>
      </p:sp>
      <p:sp>
        <p:nvSpPr>
          <p:cNvPr id="6" name="页脚占位符 5">
            <a:extLst>
              <a:ext uri="{FF2B5EF4-FFF2-40B4-BE49-F238E27FC236}">
                <a16:creationId xmlns:a16="http://schemas.microsoft.com/office/drawing/2014/main" id="{524C8B3B-8E4D-4EBB-8A2B-D5C7322C2396}"/>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63762D6F-D0D3-4812-B6E8-731E7AFBF937}"/>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4054661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4EBE16-E626-4C00-8722-0F82B3A32BF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图片占位符 2">
            <a:extLst>
              <a:ext uri="{FF2B5EF4-FFF2-40B4-BE49-F238E27FC236}">
                <a16:creationId xmlns:a16="http://schemas.microsoft.com/office/drawing/2014/main" id="{7C5C2DE1-D969-4D9C-B72F-3E40B96720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文本占位符 3">
            <a:extLst>
              <a:ext uri="{FF2B5EF4-FFF2-40B4-BE49-F238E27FC236}">
                <a16:creationId xmlns:a16="http://schemas.microsoft.com/office/drawing/2014/main" id="{060D0D84-9E46-41CD-A472-B1029A0FCE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C7C908C6-21BD-4D14-B9E5-67673794C1B6}"/>
              </a:ext>
            </a:extLst>
          </p:cNvPr>
          <p:cNvSpPr>
            <a:spLocks noGrp="1"/>
          </p:cNvSpPr>
          <p:nvPr>
            <p:ph type="dt" sz="half" idx="10"/>
          </p:nvPr>
        </p:nvSpPr>
        <p:spPr/>
        <p:txBody>
          <a:bodyPr/>
          <a:lstStyle/>
          <a:p>
            <a:fld id="{8569C8CB-8203-4113-BC19-5C96839CBD45}" type="datetimeFigureOut">
              <a:rPr lang="en-US" smtClean="0"/>
              <a:t>2/29/2024</a:t>
            </a:fld>
            <a:endParaRPr lang="en-US"/>
          </a:p>
        </p:txBody>
      </p:sp>
      <p:sp>
        <p:nvSpPr>
          <p:cNvPr id="6" name="页脚占位符 5">
            <a:extLst>
              <a:ext uri="{FF2B5EF4-FFF2-40B4-BE49-F238E27FC236}">
                <a16:creationId xmlns:a16="http://schemas.microsoft.com/office/drawing/2014/main" id="{BC237D1E-BE48-42AB-BF84-696F9BA0CD31}"/>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A25CDD9A-D6DD-4908-A730-2867C0197665}"/>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3791083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CF7F10-CD63-4FB1-A171-A7DAAE8883A6}"/>
              </a:ext>
            </a:extLst>
          </p:cNvPr>
          <p:cNvSpPr>
            <a:spLocks noGrp="1"/>
          </p:cNvSpPr>
          <p:nvPr>
            <p:ph type="title"/>
          </p:nvPr>
        </p:nvSpPr>
        <p:spPr/>
        <p:txBody>
          <a:bodyPr/>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4FF1AB79-8425-466E-A8A5-DADBC36F29A3}"/>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189E2F66-1492-47A7-BCD3-BF219BAE6E74}"/>
              </a:ext>
            </a:extLst>
          </p:cNvPr>
          <p:cNvSpPr>
            <a:spLocks noGrp="1"/>
          </p:cNvSpPr>
          <p:nvPr>
            <p:ph type="dt" sz="half" idx="10"/>
          </p:nvPr>
        </p:nvSpPr>
        <p:spPr/>
        <p:txBody>
          <a:bodyPr/>
          <a:lstStyle/>
          <a:p>
            <a:fld id="{8569C8CB-8203-4113-BC19-5C96839CBD45}" type="datetimeFigureOut">
              <a:rPr lang="en-US" smtClean="0"/>
              <a:t>2/29/2024</a:t>
            </a:fld>
            <a:endParaRPr lang="en-US"/>
          </a:p>
        </p:txBody>
      </p:sp>
      <p:sp>
        <p:nvSpPr>
          <p:cNvPr id="5" name="页脚占位符 4">
            <a:extLst>
              <a:ext uri="{FF2B5EF4-FFF2-40B4-BE49-F238E27FC236}">
                <a16:creationId xmlns:a16="http://schemas.microsoft.com/office/drawing/2014/main" id="{2142A3AF-5C92-49DE-B7CE-F57501C229CA}"/>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CFE16F9F-8375-4DF1-A57B-BDA6BF36C648}"/>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768209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9CEAE66-692B-4D65-A7C3-1680609F007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5F818DC3-D68F-47FD-9934-DB88063C3F44}"/>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2E197317-A46D-420C-A392-2D9B93AC409E}"/>
              </a:ext>
            </a:extLst>
          </p:cNvPr>
          <p:cNvSpPr>
            <a:spLocks noGrp="1"/>
          </p:cNvSpPr>
          <p:nvPr>
            <p:ph type="dt" sz="half" idx="10"/>
          </p:nvPr>
        </p:nvSpPr>
        <p:spPr/>
        <p:txBody>
          <a:bodyPr/>
          <a:lstStyle/>
          <a:p>
            <a:fld id="{8569C8CB-8203-4113-BC19-5C96839CBD45}" type="datetimeFigureOut">
              <a:rPr lang="en-US" smtClean="0"/>
              <a:t>2/29/2024</a:t>
            </a:fld>
            <a:endParaRPr lang="en-US"/>
          </a:p>
        </p:txBody>
      </p:sp>
      <p:sp>
        <p:nvSpPr>
          <p:cNvPr id="5" name="页脚占位符 4">
            <a:extLst>
              <a:ext uri="{FF2B5EF4-FFF2-40B4-BE49-F238E27FC236}">
                <a16:creationId xmlns:a16="http://schemas.microsoft.com/office/drawing/2014/main" id="{46B454CD-23C0-496D-BC54-03322B1D903F}"/>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9257EF11-F507-4D48-9B8C-E8680A05EBD3}"/>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3687828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48EF7D3-5A27-4B57-8A33-E7C0DD1B0A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9CE378D8-CAD9-4EDA-B737-D089103748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4B61C7E5-DED7-4901-BEA1-361A290133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69C8CB-8203-4113-BC19-5C96839CBD45}" type="datetimeFigureOut">
              <a:rPr lang="en-US" smtClean="0"/>
              <a:t>2/29/2024</a:t>
            </a:fld>
            <a:endParaRPr lang="en-US"/>
          </a:p>
        </p:txBody>
      </p:sp>
      <p:sp>
        <p:nvSpPr>
          <p:cNvPr id="5" name="页脚占位符 4">
            <a:extLst>
              <a:ext uri="{FF2B5EF4-FFF2-40B4-BE49-F238E27FC236}">
                <a16:creationId xmlns:a16="http://schemas.microsoft.com/office/drawing/2014/main" id="{EDBCA12B-ADFA-4389-8BED-E30DC2D606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灯片编号占位符 5">
            <a:extLst>
              <a:ext uri="{FF2B5EF4-FFF2-40B4-BE49-F238E27FC236}">
                <a16:creationId xmlns:a16="http://schemas.microsoft.com/office/drawing/2014/main" id="{5D7DB51E-6AD4-4AAC-BD8A-505C38223C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16C4D0-362D-4F07-9D17-9A93F97D0861}" type="slidenum">
              <a:rPr lang="en-US" smtClean="0"/>
              <a:t>‹#›</a:t>
            </a:fld>
            <a:endParaRPr lang="en-US"/>
          </a:p>
        </p:txBody>
      </p:sp>
    </p:spTree>
    <p:extLst>
      <p:ext uri="{BB962C8B-B14F-4D97-AF65-F5344CB8AC3E}">
        <p14:creationId xmlns:p14="http://schemas.microsoft.com/office/powerpoint/2010/main" val="21904382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13"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diagramColors" Target="../diagrams/colors1.xml"/><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QuickStyle" Target="../diagrams/quickStyle1.xml"/><Relationship Id="rId11" Type="http://schemas.openxmlformats.org/officeDocument/2006/relationships/image" Target="../media/image5.png"/><Relationship Id="rId5" Type="http://schemas.openxmlformats.org/officeDocument/2006/relationships/diagramLayout" Target="../diagrams/layout1.xml"/><Relationship Id="rId10" Type="http://schemas.openxmlformats.org/officeDocument/2006/relationships/image" Target="../media/image4.png"/><Relationship Id="rId4" Type="http://schemas.openxmlformats.org/officeDocument/2006/relationships/diagramData" Target="../diagrams/data1.xml"/><Relationship Id="rId9" Type="http://schemas.openxmlformats.org/officeDocument/2006/relationships/image" Target="../media/image3.png"/></Relationships>
</file>

<file path=ppt/slides/_rels/slide3.xml.rels><?xml version="1.0" encoding="UTF-8" standalone="yes"?>
<Relationships xmlns="http://schemas.openxmlformats.org/package/2006/relationships"><Relationship Id="rId18" Type="http://schemas.openxmlformats.org/officeDocument/2006/relationships/image" Target="../media/image145.png"/><Relationship Id="rId26" Type="http://schemas.openxmlformats.org/officeDocument/2006/relationships/image" Target="../media/image11.png"/><Relationship Id="rId3" Type="http://schemas.openxmlformats.org/officeDocument/2006/relationships/image" Target="../media/image20.png"/><Relationship Id="rId21" Type="http://schemas.openxmlformats.org/officeDocument/2006/relationships/image" Target="../media/image410.png"/><Relationship Id="rId34" Type="http://schemas.openxmlformats.org/officeDocument/2006/relationships/image" Target="../media/image14.png"/><Relationship Id="rId17" Type="http://schemas.openxmlformats.org/officeDocument/2006/relationships/image" Target="../media/image144.png"/><Relationship Id="rId25" Type="http://schemas.openxmlformats.org/officeDocument/2006/relationships/image" Target="../media/image10.png"/><Relationship Id="rId33" Type="http://schemas.openxmlformats.org/officeDocument/2006/relationships/image" Target="../media/image8.wmf"/><Relationship Id="rId2" Type="http://schemas.openxmlformats.org/officeDocument/2006/relationships/slideLayout" Target="../slideLayouts/slideLayout7.xml"/><Relationship Id="rId20" Type="http://schemas.openxmlformats.org/officeDocument/2006/relationships/image" Target="../media/image311.png"/><Relationship Id="rId29" Type="http://schemas.openxmlformats.org/officeDocument/2006/relationships/image" Target="../media/image219.png"/><Relationship Id="rId1" Type="http://schemas.openxmlformats.org/officeDocument/2006/relationships/vmlDrawing" Target="../drawings/vmlDrawing1.vml"/><Relationship Id="rId24" Type="http://schemas.openxmlformats.org/officeDocument/2006/relationships/image" Target="../media/image9.png"/><Relationship Id="rId32" Type="http://schemas.openxmlformats.org/officeDocument/2006/relationships/oleObject" Target="../embeddings/oleObject1.bin"/><Relationship Id="rId23" Type="http://schemas.openxmlformats.org/officeDocument/2006/relationships/image" Target="../media/image61.png"/><Relationship Id="rId28" Type="http://schemas.openxmlformats.org/officeDocument/2006/relationships/image" Target="../media/image13.png"/><Relationship Id="rId19" Type="http://schemas.openxmlformats.org/officeDocument/2006/relationships/image" Target="../media/image146.png"/><Relationship Id="rId31" Type="http://schemas.openxmlformats.org/officeDocument/2006/relationships/image" Target="../media/image1310.png"/><Relationship Id="rId22" Type="http://schemas.openxmlformats.org/officeDocument/2006/relationships/image" Target="../media/image55.png"/><Relationship Id="rId27" Type="http://schemas.openxmlformats.org/officeDocument/2006/relationships/image" Target="../media/image12.png"/><Relationship Id="rId30" Type="http://schemas.openxmlformats.org/officeDocument/2006/relationships/image" Target="../media/image1210.png"/><Relationship Id="rId35" Type="http://schemas.openxmlformats.org/officeDocument/2006/relationships/image" Target="../media/image15.png"/></Relationships>
</file>

<file path=ppt/slides/_rels/slide4.xml.rels><?xml version="1.0" encoding="UTF-8" standalone="yes"?>
<Relationships xmlns="http://schemas.openxmlformats.org/package/2006/relationships"><Relationship Id="rId18" Type="http://schemas.openxmlformats.org/officeDocument/2006/relationships/image" Target="../media/image145.png"/><Relationship Id="rId17" Type="http://schemas.openxmlformats.org/officeDocument/2006/relationships/image" Target="../media/image144.png"/><Relationship Id="rId1" Type="http://schemas.openxmlformats.org/officeDocument/2006/relationships/slideLayout" Target="../slideLayouts/slideLayout7.xml"/><Relationship Id="rId19" Type="http://schemas.openxmlformats.org/officeDocument/2006/relationships/image" Target="../media/image146.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2.png"/><Relationship Id="rId3" Type="http://schemas.openxmlformats.org/officeDocument/2006/relationships/oleObject" Target="../embeddings/oleObject2.bin"/><Relationship Id="rId7" Type="http://schemas.openxmlformats.org/officeDocument/2006/relationships/image" Target="../media/image1510.png"/><Relationship Id="rId12" Type="http://schemas.openxmlformats.org/officeDocument/2006/relationships/image" Target="../media/image21.png"/><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8.wmf"/><Relationship Id="rId11" Type="http://schemas.openxmlformats.org/officeDocument/2006/relationships/image" Target="../media/image19.png"/><Relationship Id="rId5" Type="http://schemas.openxmlformats.org/officeDocument/2006/relationships/oleObject" Target="../embeddings/oleObject3.bin"/><Relationship Id="rId10" Type="http://schemas.openxmlformats.org/officeDocument/2006/relationships/image" Target="../media/image18.png"/><Relationship Id="rId4" Type="http://schemas.openxmlformats.org/officeDocument/2006/relationships/image" Target="../media/image16.wmf"/><Relationship Id="rId9" Type="http://schemas.openxmlformats.org/officeDocument/2006/relationships/image" Target="../media/image17.png"/><Relationship Id="rId14" Type="http://schemas.openxmlformats.org/officeDocument/2006/relationships/image" Target="../media/image23.png"/></Relationships>
</file>

<file path=ppt/slides/_rels/slide6.xml.rels><?xml version="1.0" encoding="UTF-8" standalone="yes"?>
<Relationships xmlns="http://schemas.openxmlformats.org/package/2006/relationships"><Relationship Id="rId8" Type="http://schemas.openxmlformats.org/officeDocument/2006/relationships/image" Target="../media/image245.png"/><Relationship Id="rId13" Type="http://schemas.openxmlformats.org/officeDocument/2006/relationships/image" Target="../media/image250.png"/><Relationship Id="rId18" Type="http://schemas.openxmlformats.org/officeDocument/2006/relationships/image" Target="../media/image255.png"/><Relationship Id="rId3" Type="http://schemas.openxmlformats.org/officeDocument/2006/relationships/image" Target="../media/image238.png"/><Relationship Id="rId7" Type="http://schemas.openxmlformats.org/officeDocument/2006/relationships/image" Target="../media/image244.png"/><Relationship Id="rId12" Type="http://schemas.openxmlformats.org/officeDocument/2006/relationships/image" Target="../media/image249.png"/><Relationship Id="rId17" Type="http://schemas.openxmlformats.org/officeDocument/2006/relationships/image" Target="../media/image254.png"/><Relationship Id="rId2" Type="http://schemas.openxmlformats.org/officeDocument/2006/relationships/image" Target="../media/image237.png"/><Relationship Id="rId16" Type="http://schemas.openxmlformats.org/officeDocument/2006/relationships/image" Target="../media/image253.png"/><Relationship Id="rId1" Type="http://schemas.openxmlformats.org/officeDocument/2006/relationships/slideLayout" Target="../slideLayouts/slideLayout7.xml"/><Relationship Id="rId6" Type="http://schemas.openxmlformats.org/officeDocument/2006/relationships/image" Target="../media/image243.png"/><Relationship Id="rId11" Type="http://schemas.openxmlformats.org/officeDocument/2006/relationships/image" Target="../media/image248.png"/><Relationship Id="rId5" Type="http://schemas.openxmlformats.org/officeDocument/2006/relationships/image" Target="../media/image240.png"/><Relationship Id="rId15" Type="http://schemas.openxmlformats.org/officeDocument/2006/relationships/image" Target="../media/image252.png"/><Relationship Id="rId10" Type="http://schemas.openxmlformats.org/officeDocument/2006/relationships/image" Target="../media/image247.png"/><Relationship Id="rId19" Type="http://schemas.openxmlformats.org/officeDocument/2006/relationships/image" Target="../media/image26.png"/><Relationship Id="rId4" Type="http://schemas.openxmlformats.org/officeDocument/2006/relationships/image" Target="../media/image239.png"/><Relationship Id="rId9" Type="http://schemas.openxmlformats.org/officeDocument/2006/relationships/image" Target="../media/image246.png"/><Relationship Id="rId14" Type="http://schemas.openxmlformats.org/officeDocument/2006/relationships/image" Target="../media/image24.png"/></Relationships>
</file>

<file path=ppt/slides/_rels/slide7.xml.rels><?xml version="1.0" encoding="UTF-8" standalone="yes"?>
<Relationships xmlns="http://schemas.openxmlformats.org/package/2006/relationships"><Relationship Id="rId8" Type="http://schemas.openxmlformats.org/officeDocument/2006/relationships/image" Target="../media/image245.png"/><Relationship Id="rId13" Type="http://schemas.openxmlformats.org/officeDocument/2006/relationships/image" Target="../media/image250.png"/><Relationship Id="rId18" Type="http://schemas.openxmlformats.org/officeDocument/2006/relationships/image" Target="../media/image255.png"/><Relationship Id="rId21" Type="http://schemas.openxmlformats.org/officeDocument/2006/relationships/image" Target="../media/image29.png"/><Relationship Id="rId12" Type="http://schemas.openxmlformats.org/officeDocument/2006/relationships/image" Target="../media/image249.png"/><Relationship Id="rId17" Type="http://schemas.openxmlformats.org/officeDocument/2006/relationships/image" Target="../media/image254.png"/><Relationship Id="rId16" Type="http://schemas.openxmlformats.org/officeDocument/2006/relationships/image" Target="../media/image253.png"/><Relationship Id="rId20" Type="http://schemas.openxmlformats.org/officeDocument/2006/relationships/image" Target="../media/image28.png"/><Relationship Id="rId1" Type="http://schemas.openxmlformats.org/officeDocument/2006/relationships/slideLayout" Target="../slideLayouts/slideLayout7.xml"/><Relationship Id="rId11" Type="http://schemas.openxmlformats.org/officeDocument/2006/relationships/image" Target="../media/image248.png"/><Relationship Id="rId15" Type="http://schemas.openxmlformats.org/officeDocument/2006/relationships/image" Target="../media/image252.png"/><Relationship Id="rId10" Type="http://schemas.openxmlformats.org/officeDocument/2006/relationships/image" Target="../media/image247.png"/><Relationship Id="rId19" Type="http://schemas.openxmlformats.org/officeDocument/2006/relationships/image" Target="../media/image27.png"/><Relationship Id="rId9" Type="http://schemas.openxmlformats.org/officeDocument/2006/relationships/image" Target="../media/image246.png"/><Relationship Id="rId14" Type="http://schemas.openxmlformats.org/officeDocument/2006/relationships/image" Target="../media/image251.png"/></Relationships>
</file>

<file path=ppt/slides/_rels/slide8.xml.rels><?xml version="1.0" encoding="UTF-8" standalone="yes"?>
<Relationships xmlns="http://schemas.openxmlformats.org/package/2006/relationships"><Relationship Id="rId8" Type="http://schemas.openxmlformats.org/officeDocument/2006/relationships/image" Target="../media/image274.png"/><Relationship Id="rId13" Type="http://schemas.openxmlformats.org/officeDocument/2006/relationships/image" Target="../media/image279.png"/><Relationship Id="rId18" Type="http://schemas.openxmlformats.org/officeDocument/2006/relationships/image" Target="../media/image284.png"/><Relationship Id="rId3" Type="http://schemas.openxmlformats.org/officeDocument/2006/relationships/image" Target="../media/image25.png"/><Relationship Id="rId21" Type="http://schemas.openxmlformats.org/officeDocument/2006/relationships/image" Target="../media/image287.png"/><Relationship Id="rId7" Type="http://schemas.openxmlformats.org/officeDocument/2006/relationships/image" Target="../media/image273.png"/><Relationship Id="rId12" Type="http://schemas.openxmlformats.org/officeDocument/2006/relationships/image" Target="../media/image278.png"/><Relationship Id="rId17" Type="http://schemas.openxmlformats.org/officeDocument/2006/relationships/image" Target="../media/image283.png"/><Relationship Id="rId25" Type="http://schemas.openxmlformats.org/officeDocument/2006/relationships/image" Target="../media/image291.png"/><Relationship Id="rId2" Type="http://schemas.openxmlformats.org/officeDocument/2006/relationships/image" Target="../media/image241.png"/><Relationship Id="rId16" Type="http://schemas.openxmlformats.org/officeDocument/2006/relationships/image" Target="../media/image282.png"/><Relationship Id="rId20" Type="http://schemas.openxmlformats.org/officeDocument/2006/relationships/image" Target="../media/image286.png"/><Relationship Id="rId1" Type="http://schemas.openxmlformats.org/officeDocument/2006/relationships/slideLayout" Target="../slideLayouts/slideLayout7.xml"/><Relationship Id="rId6" Type="http://schemas.openxmlformats.org/officeDocument/2006/relationships/image" Target="../media/image272.png"/><Relationship Id="rId11" Type="http://schemas.openxmlformats.org/officeDocument/2006/relationships/image" Target="../media/image277.png"/><Relationship Id="rId24" Type="http://schemas.openxmlformats.org/officeDocument/2006/relationships/image" Target="../media/image290.png"/><Relationship Id="rId5" Type="http://schemas.openxmlformats.org/officeDocument/2006/relationships/image" Target="../media/image271.png"/><Relationship Id="rId15" Type="http://schemas.openxmlformats.org/officeDocument/2006/relationships/image" Target="../media/image31.png"/><Relationship Id="rId23" Type="http://schemas.openxmlformats.org/officeDocument/2006/relationships/image" Target="../media/image289.png"/><Relationship Id="rId10" Type="http://schemas.openxmlformats.org/officeDocument/2006/relationships/image" Target="../media/image276.png"/><Relationship Id="rId19" Type="http://schemas.openxmlformats.org/officeDocument/2006/relationships/image" Target="../media/image285.png"/><Relationship Id="rId4" Type="http://schemas.openxmlformats.org/officeDocument/2006/relationships/image" Target="../media/image270.png"/><Relationship Id="rId9" Type="http://schemas.openxmlformats.org/officeDocument/2006/relationships/image" Target="../media/image275.png"/><Relationship Id="rId14" Type="http://schemas.openxmlformats.org/officeDocument/2006/relationships/image" Target="../media/image280.png"/><Relationship Id="rId22" Type="http://schemas.openxmlformats.org/officeDocument/2006/relationships/image" Target="../media/image288.png"/></Relationships>
</file>

<file path=ppt/slides/_rels/slide9.xml.rels><?xml version="1.0" encoding="UTF-8" standalone="yes"?>
<Relationships xmlns="http://schemas.openxmlformats.org/package/2006/relationships"><Relationship Id="rId18" Type="http://schemas.openxmlformats.org/officeDocument/2006/relationships/image" Target="../media/image292.png"/><Relationship Id="rId26" Type="http://schemas.openxmlformats.org/officeDocument/2006/relationships/image" Target="../media/image38.png"/><Relationship Id="rId3" Type="http://schemas.openxmlformats.org/officeDocument/2006/relationships/image" Target="../media/image32.png"/><Relationship Id="rId21" Type="http://schemas.openxmlformats.org/officeDocument/2006/relationships/image" Target="../media/image33.png"/><Relationship Id="rId34" Type="http://schemas.openxmlformats.org/officeDocument/2006/relationships/image" Target="../media/image46.png"/><Relationship Id="rId25" Type="http://schemas.openxmlformats.org/officeDocument/2006/relationships/image" Target="../media/image37.png"/><Relationship Id="rId33" Type="http://schemas.openxmlformats.org/officeDocument/2006/relationships/image" Target="../media/image45.png"/><Relationship Id="rId2" Type="http://schemas.openxmlformats.org/officeDocument/2006/relationships/image" Target="../media/image30.png"/><Relationship Id="rId20" Type="http://schemas.openxmlformats.org/officeDocument/2006/relationships/image" Target="../media/image287.png"/><Relationship Id="rId29" Type="http://schemas.openxmlformats.org/officeDocument/2006/relationships/image" Target="../media/image41.png"/><Relationship Id="rId1" Type="http://schemas.openxmlformats.org/officeDocument/2006/relationships/slideLayout" Target="../slideLayouts/slideLayout7.xml"/><Relationship Id="rId24" Type="http://schemas.openxmlformats.org/officeDocument/2006/relationships/image" Target="../media/image36.png"/><Relationship Id="rId32" Type="http://schemas.openxmlformats.org/officeDocument/2006/relationships/image" Target="../media/image44.png"/><Relationship Id="rId23" Type="http://schemas.openxmlformats.org/officeDocument/2006/relationships/image" Target="../media/image35.png"/><Relationship Id="rId28" Type="http://schemas.openxmlformats.org/officeDocument/2006/relationships/image" Target="../media/image40.png"/><Relationship Id="rId19" Type="http://schemas.openxmlformats.org/officeDocument/2006/relationships/image" Target="../media/image293.png"/><Relationship Id="rId31" Type="http://schemas.openxmlformats.org/officeDocument/2006/relationships/image" Target="../media/image43.png"/><Relationship Id="rId22" Type="http://schemas.openxmlformats.org/officeDocument/2006/relationships/image" Target="../media/image34.png"/><Relationship Id="rId27" Type="http://schemas.openxmlformats.org/officeDocument/2006/relationships/image" Target="../media/image39.png"/><Relationship Id="rId30" Type="http://schemas.openxmlformats.org/officeDocument/2006/relationships/image" Target="../media/image42.png"/></Relationships>
</file>

<file path=ppt/slides/_rels/slide10.xml.rels><?xml version="1.0" encoding="UTF-8" standalone="yes"?>
<Relationships xmlns="http://schemas.openxmlformats.org/package/2006/relationships"><Relationship Id="rId8" Type="http://schemas.openxmlformats.org/officeDocument/2006/relationships/image" Target="../media/image299.png"/><Relationship Id="rId3" Type="http://schemas.openxmlformats.org/officeDocument/2006/relationships/image" Target="../media/image47.png"/><Relationship Id="rId7" Type="http://schemas.openxmlformats.org/officeDocument/2006/relationships/image" Target="../media/image298.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21.png"/><Relationship Id="rId11" Type="http://schemas.openxmlformats.org/officeDocument/2006/relationships/image" Target="../media/image50.png"/><Relationship Id="rId5" Type="http://schemas.openxmlformats.org/officeDocument/2006/relationships/image" Target="../media/image49.png"/><Relationship Id="rId10" Type="http://schemas.openxmlformats.org/officeDocument/2006/relationships/image" Target="../media/image471.png"/><Relationship Id="rId4" Type="http://schemas.openxmlformats.org/officeDocument/2006/relationships/image" Target="../media/image48.png"/><Relationship Id="rId9" Type="http://schemas.openxmlformats.org/officeDocument/2006/relationships/image" Target="../media/image461.png"/></Relationships>
</file>

<file path=ppt/slides/_rels/slide11.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7.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25.tmp"/><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12.xml.rels><?xml version="1.0" encoding="UTF-8" standalone="yes"?>
<Relationships xmlns="http://schemas.openxmlformats.org/package/2006/relationships"><Relationship Id="rId3" Type="http://schemas.openxmlformats.org/officeDocument/2006/relationships/image" Target="../media/image301.png"/><Relationship Id="rId2" Type="http://schemas.openxmlformats.org/officeDocument/2006/relationships/image" Target="../media/image300.png"/><Relationship Id="rId1" Type="http://schemas.openxmlformats.org/officeDocument/2006/relationships/slideLayout" Target="../slideLayouts/slideLayout7.xml"/><Relationship Id="rId6" Type="http://schemas.openxmlformats.org/officeDocument/2006/relationships/image" Target="../media/image460.png"/><Relationship Id="rId5" Type="http://schemas.openxmlformats.org/officeDocument/2006/relationships/image" Target="../media/image303.png"/><Relationship Id="rId4" Type="http://schemas.openxmlformats.org/officeDocument/2006/relationships/image" Target="../media/image30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266.png"/><Relationship Id="rId3" Type="http://schemas.openxmlformats.org/officeDocument/2006/relationships/image" Target="../media/image261.png"/><Relationship Id="rId7" Type="http://schemas.openxmlformats.org/officeDocument/2006/relationships/image" Target="../media/image265.png"/><Relationship Id="rId2" Type="http://schemas.openxmlformats.org/officeDocument/2006/relationships/image" Target="../media/image257.png"/><Relationship Id="rId1" Type="http://schemas.openxmlformats.org/officeDocument/2006/relationships/slideLayout" Target="../slideLayouts/slideLayout7.xml"/><Relationship Id="rId6" Type="http://schemas.openxmlformats.org/officeDocument/2006/relationships/image" Target="../media/image264.png"/><Relationship Id="rId5" Type="http://schemas.openxmlformats.org/officeDocument/2006/relationships/image" Target="../media/image263.png"/><Relationship Id="rId4" Type="http://schemas.openxmlformats.org/officeDocument/2006/relationships/image" Target="../media/image262.png"/><Relationship Id="rId9" Type="http://schemas.openxmlformats.org/officeDocument/2006/relationships/image" Target="../media/image267.png"/></Relationships>
</file>

<file path=ppt/slides/_rels/slide16.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84.png"/><Relationship Id="rId7" Type="http://schemas.openxmlformats.org/officeDocument/2006/relationships/image" Target="../media/image88.png"/><Relationship Id="rId12" Type="http://schemas.openxmlformats.org/officeDocument/2006/relationships/image" Target="../media/image523.png"/><Relationship Id="rId2" Type="http://schemas.openxmlformats.org/officeDocument/2006/relationships/image" Target="../media/image83.png"/><Relationship Id="rId1" Type="http://schemas.openxmlformats.org/officeDocument/2006/relationships/slideLayout" Target="../slideLayouts/slideLayout7.xml"/><Relationship Id="rId6" Type="http://schemas.openxmlformats.org/officeDocument/2006/relationships/image" Target="../media/image510.png"/><Relationship Id="rId11" Type="http://schemas.openxmlformats.org/officeDocument/2006/relationships/image" Target="../media/image92.png"/><Relationship Id="rId5" Type="http://schemas.openxmlformats.org/officeDocument/2006/relationships/image" Target="../media/image501.png"/><Relationship Id="rId10" Type="http://schemas.openxmlformats.org/officeDocument/2006/relationships/image" Target="../media/image91.png"/><Relationship Id="rId4" Type="http://schemas.openxmlformats.org/officeDocument/2006/relationships/image" Target="../media/image85.png"/><Relationship Id="rId9" Type="http://schemas.openxmlformats.org/officeDocument/2006/relationships/image" Target="../media/image90.png"/></Relationships>
</file>

<file path=ppt/slides/_rels/slide17.xml.rels><?xml version="1.0" encoding="UTF-8" standalone="yes"?>
<Relationships xmlns="http://schemas.openxmlformats.org/package/2006/relationships"><Relationship Id="rId8" Type="http://schemas.openxmlformats.org/officeDocument/2006/relationships/image" Target="../media/image101.png"/><Relationship Id="rId13" Type="http://schemas.openxmlformats.org/officeDocument/2006/relationships/image" Target="../media/image53.png"/><Relationship Id="rId3" Type="http://schemas.openxmlformats.org/officeDocument/2006/relationships/image" Target="../media/image96.png"/><Relationship Id="rId7" Type="http://schemas.openxmlformats.org/officeDocument/2006/relationships/image" Target="../media/image100.png"/><Relationship Id="rId12" Type="http://schemas.openxmlformats.org/officeDocument/2006/relationships/image" Target="../media/image113.png"/><Relationship Id="rId2" Type="http://schemas.openxmlformats.org/officeDocument/2006/relationships/image" Target="../media/image511.png"/><Relationship Id="rId1" Type="http://schemas.openxmlformats.org/officeDocument/2006/relationships/slideLayout" Target="../slideLayouts/slideLayout7.xml"/><Relationship Id="rId6" Type="http://schemas.openxmlformats.org/officeDocument/2006/relationships/image" Target="../media/image99.png"/><Relationship Id="rId11" Type="http://schemas.openxmlformats.org/officeDocument/2006/relationships/image" Target="../media/image104.png"/><Relationship Id="rId5" Type="http://schemas.openxmlformats.org/officeDocument/2006/relationships/image" Target="../media/image521.png"/><Relationship Id="rId15" Type="http://schemas.openxmlformats.org/officeDocument/2006/relationships/image" Target="../media/image52.png"/><Relationship Id="rId10" Type="http://schemas.openxmlformats.org/officeDocument/2006/relationships/image" Target="../media/image103.png"/><Relationship Id="rId4" Type="http://schemas.openxmlformats.org/officeDocument/2006/relationships/image" Target="../media/image97.png"/><Relationship Id="rId9" Type="http://schemas.openxmlformats.org/officeDocument/2006/relationships/image" Target="../media/image102.png"/><Relationship Id="rId14" Type="http://schemas.openxmlformats.org/officeDocument/2006/relationships/hyperlink" Target="file:///I:\&#30005;&#23376;&#25945;&#26696;2012&#19978;&#21322;&#24180;\&#28909;&#26426;.exe"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53.gi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4.gi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image" Target="../media/image75.png"/><Relationship Id="rId13" Type="http://schemas.openxmlformats.org/officeDocument/2006/relationships/image" Target="../media/image80.png"/><Relationship Id="rId3" Type="http://schemas.openxmlformats.org/officeDocument/2006/relationships/image" Target="../media/image522.png"/><Relationship Id="rId7" Type="http://schemas.openxmlformats.org/officeDocument/2006/relationships/image" Target="../media/image74.png"/><Relationship Id="rId12" Type="http://schemas.openxmlformats.org/officeDocument/2006/relationships/image" Target="../media/image79.png"/><Relationship Id="rId17" Type="http://schemas.openxmlformats.org/officeDocument/2006/relationships/image" Target="../media/image130.png"/><Relationship Id="rId2" Type="http://schemas.openxmlformats.org/officeDocument/2006/relationships/image" Target="../media/image512.png"/><Relationship Id="rId16" Type="http://schemas.openxmlformats.org/officeDocument/2006/relationships/image" Target="../media/image94.png"/><Relationship Id="rId1" Type="http://schemas.openxmlformats.org/officeDocument/2006/relationships/slideLayout" Target="../slideLayouts/slideLayout2.xml"/><Relationship Id="rId6" Type="http://schemas.openxmlformats.org/officeDocument/2006/relationships/image" Target="../media/image73.png"/><Relationship Id="rId11" Type="http://schemas.openxmlformats.org/officeDocument/2006/relationships/image" Target="../media/image78.png"/><Relationship Id="rId5" Type="http://schemas.openxmlformats.org/officeDocument/2006/relationships/image" Target="../media/image72.png"/><Relationship Id="rId15" Type="http://schemas.openxmlformats.org/officeDocument/2006/relationships/image" Target="../media/image82.png"/><Relationship Id="rId10" Type="http://schemas.openxmlformats.org/officeDocument/2006/relationships/image" Target="../media/image77.png"/><Relationship Id="rId4" Type="http://schemas.openxmlformats.org/officeDocument/2006/relationships/image" Target="../media/image560.png"/><Relationship Id="rId9" Type="http://schemas.openxmlformats.org/officeDocument/2006/relationships/image" Target="../media/image76.png"/><Relationship Id="rId14" Type="http://schemas.openxmlformats.org/officeDocument/2006/relationships/image" Target="../media/image81.png"/></Relationships>
</file>

<file path=ppt/slides/_rels/slide22.xml.rels><?xml version="1.0" encoding="UTF-8" standalone="yes"?>
<Relationships xmlns="http://schemas.openxmlformats.org/package/2006/relationships"><Relationship Id="rId8" Type="http://schemas.openxmlformats.org/officeDocument/2006/relationships/image" Target="../media/image137.png"/><Relationship Id="rId13" Type="http://schemas.openxmlformats.org/officeDocument/2006/relationships/image" Target="../media/image152.png"/><Relationship Id="rId18" Type="http://schemas.openxmlformats.org/officeDocument/2006/relationships/image" Target="../media/image157.png"/><Relationship Id="rId3" Type="http://schemas.openxmlformats.org/officeDocument/2006/relationships/image" Target="../media/image132.png"/><Relationship Id="rId7" Type="http://schemas.openxmlformats.org/officeDocument/2006/relationships/image" Target="../media/image136.png"/><Relationship Id="rId12" Type="http://schemas.openxmlformats.org/officeDocument/2006/relationships/image" Target="../media/image151.png"/><Relationship Id="rId17" Type="http://schemas.openxmlformats.org/officeDocument/2006/relationships/image" Target="../media/image156.png"/><Relationship Id="rId2" Type="http://schemas.openxmlformats.org/officeDocument/2006/relationships/image" Target="../media/image131.png"/><Relationship Id="rId16" Type="http://schemas.openxmlformats.org/officeDocument/2006/relationships/image" Target="../media/image155.png"/><Relationship Id="rId20" Type="http://schemas.openxmlformats.org/officeDocument/2006/relationships/image" Target="../media/image159.png"/><Relationship Id="rId1" Type="http://schemas.openxmlformats.org/officeDocument/2006/relationships/slideLayout" Target="../slideLayouts/slideLayout7.xml"/><Relationship Id="rId6" Type="http://schemas.openxmlformats.org/officeDocument/2006/relationships/image" Target="../media/image135.png"/><Relationship Id="rId11" Type="http://schemas.openxmlformats.org/officeDocument/2006/relationships/image" Target="../media/image150.png"/><Relationship Id="rId5" Type="http://schemas.openxmlformats.org/officeDocument/2006/relationships/image" Target="../media/image134.png"/><Relationship Id="rId15" Type="http://schemas.openxmlformats.org/officeDocument/2006/relationships/image" Target="../media/image154.png"/><Relationship Id="rId10" Type="http://schemas.openxmlformats.org/officeDocument/2006/relationships/image" Target="../media/image139.png"/><Relationship Id="rId19" Type="http://schemas.openxmlformats.org/officeDocument/2006/relationships/image" Target="../media/image158.png"/><Relationship Id="rId4" Type="http://schemas.openxmlformats.org/officeDocument/2006/relationships/image" Target="../media/image133.png"/><Relationship Id="rId9" Type="http://schemas.openxmlformats.org/officeDocument/2006/relationships/image" Target="../media/image138.png"/><Relationship Id="rId14" Type="http://schemas.openxmlformats.org/officeDocument/2006/relationships/image" Target="../media/image153.png"/></Relationships>
</file>

<file path=ppt/slides/_rels/slide23.xml.rels><?xml version="1.0" encoding="UTF-8" standalone="yes"?>
<Relationships xmlns="http://schemas.openxmlformats.org/package/2006/relationships"><Relationship Id="rId8" Type="http://schemas.openxmlformats.org/officeDocument/2006/relationships/image" Target="../media/image139.png"/><Relationship Id="rId13" Type="http://schemas.openxmlformats.org/officeDocument/2006/relationships/image" Target="../media/image154.png"/><Relationship Id="rId18" Type="http://schemas.openxmlformats.org/officeDocument/2006/relationships/image" Target="../media/image160.png"/><Relationship Id="rId3" Type="http://schemas.openxmlformats.org/officeDocument/2006/relationships/image" Target="../media/image134.png"/><Relationship Id="rId21" Type="http://schemas.openxmlformats.org/officeDocument/2006/relationships/image" Target="../media/image163.png"/><Relationship Id="rId7" Type="http://schemas.openxmlformats.org/officeDocument/2006/relationships/image" Target="../media/image138.png"/><Relationship Id="rId12" Type="http://schemas.openxmlformats.org/officeDocument/2006/relationships/image" Target="../media/image153.png"/><Relationship Id="rId17" Type="http://schemas.openxmlformats.org/officeDocument/2006/relationships/image" Target="../media/image158.png"/><Relationship Id="rId2" Type="http://schemas.openxmlformats.org/officeDocument/2006/relationships/image" Target="../media/image133.png"/><Relationship Id="rId16" Type="http://schemas.openxmlformats.org/officeDocument/2006/relationships/image" Target="../media/image157.png"/><Relationship Id="rId20" Type="http://schemas.openxmlformats.org/officeDocument/2006/relationships/image" Target="../media/image162.png"/><Relationship Id="rId1" Type="http://schemas.openxmlformats.org/officeDocument/2006/relationships/slideLayout" Target="../slideLayouts/slideLayout7.xml"/><Relationship Id="rId6" Type="http://schemas.openxmlformats.org/officeDocument/2006/relationships/image" Target="../media/image137.png"/><Relationship Id="rId11" Type="http://schemas.openxmlformats.org/officeDocument/2006/relationships/image" Target="../media/image152.png"/><Relationship Id="rId5" Type="http://schemas.openxmlformats.org/officeDocument/2006/relationships/image" Target="../media/image136.png"/><Relationship Id="rId15" Type="http://schemas.openxmlformats.org/officeDocument/2006/relationships/image" Target="../media/image156.png"/><Relationship Id="rId10" Type="http://schemas.openxmlformats.org/officeDocument/2006/relationships/image" Target="../media/image151.png"/><Relationship Id="rId19" Type="http://schemas.openxmlformats.org/officeDocument/2006/relationships/image" Target="../media/image161.png"/><Relationship Id="rId4" Type="http://schemas.openxmlformats.org/officeDocument/2006/relationships/image" Target="../media/image135.png"/><Relationship Id="rId9" Type="http://schemas.openxmlformats.org/officeDocument/2006/relationships/image" Target="../media/image150.png"/><Relationship Id="rId14" Type="http://schemas.openxmlformats.org/officeDocument/2006/relationships/image" Target="../media/image155.png"/><Relationship Id="rId22" Type="http://schemas.openxmlformats.org/officeDocument/2006/relationships/image" Target="../media/image164.png"/></Relationships>
</file>

<file path=ppt/slides/_rels/slide24.xml.rels><?xml version="1.0" encoding="UTF-8" standalone="yes"?>
<Relationships xmlns="http://schemas.openxmlformats.org/package/2006/relationships"><Relationship Id="rId8" Type="http://schemas.openxmlformats.org/officeDocument/2006/relationships/image" Target="../media/image169.png"/><Relationship Id="rId13" Type="http://schemas.openxmlformats.org/officeDocument/2006/relationships/image" Target="../media/image174.png"/><Relationship Id="rId18" Type="http://schemas.openxmlformats.org/officeDocument/2006/relationships/image" Target="../media/image179.png"/><Relationship Id="rId3" Type="http://schemas.openxmlformats.org/officeDocument/2006/relationships/image" Target="../media/image59.png"/><Relationship Id="rId21" Type="http://schemas.openxmlformats.org/officeDocument/2006/relationships/image" Target="../media/image182.png"/><Relationship Id="rId7" Type="http://schemas.openxmlformats.org/officeDocument/2006/relationships/image" Target="../media/image168.png"/><Relationship Id="rId12" Type="http://schemas.openxmlformats.org/officeDocument/2006/relationships/image" Target="../media/image173.png"/><Relationship Id="rId17" Type="http://schemas.openxmlformats.org/officeDocument/2006/relationships/image" Target="../media/image178.png"/><Relationship Id="rId2" Type="http://schemas.openxmlformats.org/officeDocument/2006/relationships/image" Target="../media/image58.png"/><Relationship Id="rId16" Type="http://schemas.openxmlformats.org/officeDocument/2006/relationships/image" Target="../media/image177.png"/><Relationship Id="rId20" Type="http://schemas.openxmlformats.org/officeDocument/2006/relationships/image" Target="../media/image181.png"/><Relationship Id="rId1" Type="http://schemas.openxmlformats.org/officeDocument/2006/relationships/slideLayout" Target="../slideLayouts/slideLayout7.xml"/><Relationship Id="rId6" Type="http://schemas.openxmlformats.org/officeDocument/2006/relationships/image" Target="../media/image167.png"/><Relationship Id="rId11" Type="http://schemas.openxmlformats.org/officeDocument/2006/relationships/image" Target="../media/image172.png"/><Relationship Id="rId5" Type="http://schemas.openxmlformats.org/officeDocument/2006/relationships/image" Target="../media/image188.png"/><Relationship Id="rId15" Type="http://schemas.openxmlformats.org/officeDocument/2006/relationships/image" Target="../media/image176.png"/><Relationship Id="rId10" Type="http://schemas.openxmlformats.org/officeDocument/2006/relationships/image" Target="../media/image171.png"/><Relationship Id="rId19" Type="http://schemas.openxmlformats.org/officeDocument/2006/relationships/image" Target="../media/image180.png"/><Relationship Id="rId9" Type="http://schemas.openxmlformats.org/officeDocument/2006/relationships/image" Target="../media/image170.png"/><Relationship Id="rId14" Type="http://schemas.openxmlformats.org/officeDocument/2006/relationships/image" Target="../media/image175.png"/></Relationships>
</file>

<file path=ppt/slides/_rels/slide25.xml.rels><?xml version="1.0" encoding="UTF-8" standalone="yes"?>
<Relationships xmlns="http://schemas.openxmlformats.org/package/2006/relationships"><Relationship Id="rId3" Type="http://schemas.openxmlformats.org/officeDocument/2006/relationships/image" Target="../media/image480.png"/><Relationship Id="rId2" Type="http://schemas.openxmlformats.org/officeDocument/2006/relationships/image" Target="../media/image470.png"/><Relationship Id="rId1" Type="http://schemas.openxmlformats.org/officeDocument/2006/relationships/slideLayout" Target="../slideLayouts/slideLayout7.xml"/><Relationship Id="rId6" Type="http://schemas.openxmlformats.org/officeDocument/2006/relationships/image" Target="../media/image490.png"/><Relationship Id="rId5" Type="http://schemas.openxmlformats.org/officeDocument/2006/relationships/image" Target="../media/image500.png"/><Relationship Id="rId4" Type="http://schemas.openxmlformats.org/officeDocument/2006/relationships/image" Target="../media/image450.png"/></Relationships>
</file>

<file path=ppt/slides/_rels/slide26.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320.png"/><Relationship Id="rId5" Type="http://schemas.openxmlformats.org/officeDocument/2006/relationships/image" Target="../media/image310.png"/><Relationship Id="rId4" Type="http://schemas.openxmlformats.org/officeDocument/2006/relationships/image" Target="../media/image304.png"/></Relationships>
</file>

<file path=ppt/slides/_rels/slide27.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image" Target="../media/image33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8" Type="http://schemas.openxmlformats.org/officeDocument/2006/relationships/image" Target="../media/image61.emf"/><Relationship Id="rId3" Type="http://schemas.openxmlformats.org/officeDocument/2006/relationships/image" Target="../media/image65.png"/><Relationship Id="rId7"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68.png"/><Relationship Id="rId5" Type="http://schemas.openxmlformats.org/officeDocument/2006/relationships/image" Target="../media/image67.png"/><Relationship Id="rId10" Type="http://schemas.openxmlformats.org/officeDocument/2006/relationships/image" Target="../media/image62.emf"/><Relationship Id="rId4" Type="http://schemas.openxmlformats.org/officeDocument/2006/relationships/image" Target="../media/image66.png"/><Relationship Id="rId9" Type="http://schemas.openxmlformats.org/officeDocument/2006/relationships/oleObject" Target="../embeddings/oleObject5.bin"/></Relationships>
</file>

<file path=ppt/slides/_rels/slide29.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image" Target="../media/image183.png"/><Relationship Id="rId3" Type="http://schemas.openxmlformats.org/officeDocument/2006/relationships/tags" Target="../tags/tag20.xml"/><Relationship Id="rId21" Type="http://schemas.openxmlformats.org/officeDocument/2006/relationships/image" Target="../media/image186.png"/><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slideLayout" Target="../slideLayouts/slideLayout7.xml"/><Relationship Id="rId2" Type="http://schemas.openxmlformats.org/officeDocument/2006/relationships/tags" Target="../tags/tag19.xml"/><Relationship Id="rId16" Type="http://schemas.openxmlformats.org/officeDocument/2006/relationships/tags" Target="../tags/tag33.xml"/><Relationship Id="rId20" Type="http://schemas.openxmlformats.org/officeDocument/2006/relationships/image" Target="../media/image185.png"/><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10" Type="http://schemas.openxmlformats.org/officeDocument/2006/relationships/tags" Target="../tags/tag27.xml"/><Relationship Id="rId19" Type="http://schemas.openxmlformats.org/officeDocument/2006/relationships/image" Target="../media/image184.png"/><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 Id="rId22" Type="http://schemas.openxmlformats.org/officeDocument/2006/relationships/image" Target="../media/image25.tmp"/></Relationships>
</file>

<file path=ppt/slides/_rels/slide30.xml.rels><?xml version="1.0" encoding="UTF-8" standalone="yes"?>
<Relationships xmlns="http://schemas.openxmlformats.org/package/2006/relationships"><Relationship Id="rId8" Type="http://schemas.openxmlformats.org/officeDocument/2006/relationships/tags" Target="../tags/tag40.xml"/><Relationship Id="rId13" Type="http://schemas.openxmlformats.org/officeDocument/2006/relationships/tags" Target="../tags/tag45.xml"/><Relationship Id="rId18" Type="http://schemas.openxmlformats.org/officeDocument/2006/relationships/tags" Target="../tags/tag50.xml"/><Relationship Id="rId3" Type="http://schemas.openxmlformats.org/officeDocument/2006/relationships/tags" Target="../tags/tag35.xml"/><Relationship Id="rId21" Type="http://schemas.openxmlformats.org/officeDocument/2006/relationships/image" Target="../media/image63.png"/><Relationship Id="rId7" Type="http://schemas.openxmlformats.org/officeDocument/2006/relationships/tags" Target="../tags/tag39.xml"/><Relationship Id="rId12" Type="http://schemas.openxmlformats.org/officeDocument/2006/relationships/tags" Target="../tags/tag44.xml"/><Relationship Id="rId17" Type="http://schemas.openxmlformats.org/officeDocument/2006/relationships/tags" Target="../tags/tag49.xml"/><Relationship Id="rId2" Type="http://schemas.openxmlformats.org/officeDocument/2006/relationships/tags" Target="../tags/tag34.xml"/><Relationship Id="rId16" Type="http://schemas.openxmlformats.org/officeDocument/2006/relationships/tags" Target="../tags/tag48.xml"/><Relationship Id="rId20" Type="http://schemas.openxmlformats.org/officeDocument/2006/relationships/oleObject" Target="../embeddings/oleObject6.bin"/><Relationship Id="rId1" Type="http://schemas.openxmlformats.org/officeDocument/2006/relationships/vmlDrawing" Target="../drawings/vmlDrawing4.vml"/><Relationship Id="rId6" Type="http://schemas.openxmlformats.org/officeDocument/2006/relationships/tags" Target="../tags/tag38.xml"/><Relationship Id="rId11" Type="http://schemas.openxmlformats.org/officeDocument/2006/relationships/tags" Target="../tags/tag43.xml"/><Relationship Id="rId5" Type="http://schemas.openxmlformats.org/officeDocument/2006/relationships/tags" Target="../tags/tag37.xml"/><Relationship Id="rId15" Type="http://schemas.openxmlformats.org/officeDocument/2006/relationships/tags" Target="../tags/tag47.xml"/><Relationship Id="rId10" Type="http://schemas.openxmlformats.org/officeDocument/2006/relationships/tags" Target="../tags/tag42.xml"/><Relationship Id="rId19" Type="http://schemas.openxmlformats.org/officeDocument/2006/relationships/slideLayout" Target="../slideLayouts/slideLayout7.xml"/><Relationship Id="rId4" Type="http://schemas.openxmlformats.org/officeDocument/2006/relationships/tags" Target="../tags/tag36.xml"/><Relationship Id="rId9" Type="http://schemas.openxmlformats.org/officeDocument/2006/relationships/tags" Target="../tags/tag41.xml"/><Relationship Id="rId14" Type="http://schemas.openxmlformats.org/officeDocument/2006/relationships/tags" Target="../tags/tag46.xml"/><Relationship Id="rId22" Type="http://schemas.openxmlformats.org/officeDocument/2006/relationships/image" Target="../media/image25.tmp"/></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1.xml"/><Relationship Id="rId1" Type="http://schemas.openxmlformats.org/officeDocument/2006/relationships/vmlDrawing" Target="../drawings/vmlDrawing5.vml"/><Relationship Id="rId5" Type="http://schemas.openxmlformats.org/officeDocument/2006/relationships/image" Target="../media/image63.png"/><Relationship Id="rId4" Type="http://schemas.openxmlformats.org/officeDocument/2006/relationships/oleObject" Target="../embeddings/oleObject6.bin"/></Relationships>
</file>

<file path=ppt/slides/_rels/slide32.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118.png"/><Relationship Id="rId1" Type="http://schemas.openxmlformats.org/officeDocument/2006/relationships/slideLayout" Target="../slideLayouts/slideLayout7.xml"/><Relationship Id="rId4" Type="http://schemas.openxmlformats.org/officeDocument/2006/relationships/image" Target="../media/image187.png"/></Relationships>
</file>

<file path=ppt/slides/_rels/slide33.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openxmlformats.org/officeDocument/2006/relationships/image" Target="../media/image123.png"/><Relationship Id="rId13" Type="http://schemas.openxmlformats.org/officeDocument/2006/relationships/image" Target="../media/image128.png"/><Relationship Id="rId3" Type="http://schemas.openxmlformats.org/officeDocument/2006/relationships/image" Target="../media/image116.png"/><Relationship Id="rId7" Type="http://schemas.openxmlformats.org/officeDocument/2006/relationships/image" Target="../media/image122.png"/><Relationship Id="rId12" Type="http://schemas.openxmlformats.org/officeDocument/2006/relationships/image" Target="../media/image127.png"/><Relationship Id="rId2" Type="http://schemas.openxmlformats.org/officeDocument/2006/relationships/image" Target="../media/image115.png"/><Relationship Id="rId16" Type="http://schemas.openxmlformats.org/officeDocument/2006/relationships/image" Target="../media/image69.png"/><Relationship Id="rId1" Type="http://schemas.openxmlformats.org/officeDocument/2006/relationships/slideLayout" Target="../slideLayouts/slideLayout7.xml"/><Relationship Id="rId6" Type="http://schemas.openxmlformats.org/officeDocument/2006/relationships/image" Target="../media/image121.png"/><Relationship Id="rId11" Type="http://schemas.openxmlformats.org/officeDocument/2006/relationships/image" Target="../media/image126.png"/><Relationship Id="rId5" Type="http://schemas.openxmlformats.org/officeDocument/2006/relationships/image" Target="../media/image120.png"/><Relationship Id="rId15" Type="http://schemas.openxmlformats.org/officeDocument/2006/relationships/hyperlink" Target="file:///I:\&#30005;&#23376;&#25945;&#26696;2012&#19978;&#21322;&#24180;\&#30005;&#20912;&#31665;.exe" TargetMode="External"/><Relationship Id="rId10" Type="http://schemas.openxmlformats.org/officeDocument/2006/relationships/image" Target="../media/image125.png"/><Relationship Id="rId4" Type="http://schemas.openxmlformats.org/officeDocument/2006/relationships/image" Target="../media/image119.png"/><Relationship Id="rId9" Type="http://schemas.openxmlformats.org/officeDocument/2006/relationships/image" Target="../media/image124.png"/><Relationship Id="rId14" Type="http://schemas.openxmlformats.org/officeDocument/2006/relationships/image" Target="../media/image129.png"/></Relationships>
</file>

<file path=ppt/slides/_rels/slide35.xml.rels><?xml version="1.0" encoding="UTF-8" standalone="yes"?>
<Relationships xmlns="http://schemas.openxmlformats.org/package/2006/relationships"><Relationship Id="rId8" Type="http://schemas.openxmlformats.org/officeDocument/2006/relationships/image" Target="../media/image1870.png"/><Relationship Id="rId13" Type="http://schemas.openxmlformats.org/officeDocument/2006/relationships/image" Target="../media/image1830.png"/><Relationship Id="rId3" Type="http://schemas.openxmlformats.org/officeDocument/2006/relationships/image" Target="../media/image71.png"/><Relationship Id="rId7" Type="http://schemas.openxmlformats.org/officeDocument/2006/relationships/image" Target="../media/image95.png"/><Relationship Id="rId2" Type="http://schemas.openxmlformats.org/officeDocument/2006/relationships/image" Target="../media/image70.png"/><Relationship Id="rId1" Type="http://schemas.openxmlformats.org/officeDocument/2006/relationships/slideLayout" Target="../slideLayouts/slideLayout7.xml"/><Relationship Id="rId6" Type="http://schemas.openxmlformats.org/officeDocument/2006/relationships/image" Target="../media/image93.png"/><Relationship Id="rId11" Type="http://schemas.openxmlformats.org/officeDocument/2006/relationships/image" Target="../media/image191.png"/><Relationship Id="rId5" Type="http://schemas.openxmlformats.org/officeDocument/2006/relationships/image" Target="../media/image87.png"/><Relationship Id="rId10" Type="http://schemas.openxmlformats.org/officeDocument/2006/relationships/image" Target="../media/image190.png"/><Relationship Id="rId4" Type="http://schemas.openxmlformats.org/officeDocument/2006/relationships/image" Target="../media/image86.png"/><Relationship Id="rId9" Type="http://schemas.openxmlformats.org/officeDocument/2006/relationships/image" Target="../media/image189.png"/><Relationship Id="rId14" Type="http://schemas.openxmlformats.org/officeDocument/2006/relationships/image" Target="../media/image1840.png"/></Relationships>
</file>

<file path=ppt/slides/_rels/slide36.xml.rels><?xml version="1.0" encoding="UTF-8" standalone="yes"?>
<Relationships xmlns="http://schemas.openxmlformats.org/package/2006/relationships"><Relationship Id="rId8" Type="http://schemas.openxmlformats.org/officeDocument/2006/relationships/image" Target="../media/image198.png"/><Relationship Id="rId13" Type="http://schemas.openxmlformats.org/officeDocument/2006/relationships/image" Target="../media/image202.png"/><Relationship Id="rId3" Type="http://schemas.openxmlformats.org/officeDocument/2006/relationships/image" Target="../media/image105.png"/><Relationship Id="rId7" Type="http://schemas.openxmlformats.org/officeDocument/2006/relationships/image" Target="../media/image197.png"/><Relationship Id="rId12" Type="http://schemas.openxmlformats.org/officeDocument/2006/relationships/image" Target="../media/image201.png"/><Relationship Id="rId2" Type="http://schemas.openxmlformats.org/officeDocument/2006/relationships/image" Target="../media/image98.png"/><Relationship Id="rId1" Type="http://schemas.openxmlformats.org/officeDocument/2006/relationships/slideLayout" Target="../slideLayouts/slideLayout7.xml"/><Relationship Id="rId6" Type="http://schemas.openxmlformats.org/officeDocument/2006/relationships/image" Target="../media/image196.png"/><Relationship Id="rId11" Type="http://schemas.openxmlformats.org/officeDocument/2006/relationships/image" Target="../media/image200.png"/><Relationship Id="rId5" Type="http://schemas.openxmlformats.org/officeDocument/2006/relationships/image" Target="../media/image195.png"/><Relationship Id="rId10" Type="http://schemas.openxmlformats.org/officeDocument/2006/relationships/image" Target="../media/image199.png"/><Relationship Id="rId4" Type="http://schemas.openxmlformats.org/officeDocument/2006/relationships/image" Target="../media/image194.png"/><Relationship Id="rId9" Type="http://schemas.openxmlformats.org/officeDocument/2006/relationships/image" Target="../media/image30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image" Target="../media/image430.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960.png"/><Relationship Id="rId7" Type="http://schemas.openxmlformats.org/officeDocument/2006/relationships/image" Target="../media/image52.png"/><Relationship Id="rId1" Type="http://schemas.openxmlformats.org/officeDocument/2006/relationships/slideLayout" Target="../slideLayouts/slideLayout7.xml"/><Relationship Id="rId6" Type="http://schemas.openxmlformats.org/officeDocument/2006/relationships/hyperlink" Target="file:///I:\&#30005;&#23376;&#25945;&#26696;2012&#19978;&#21322;&#24180;\&#28909;&#26426;.exe" TargetMode="External"/><Relationship Id="rId5" Type="http://schemas.openxmlformats.org/officeDocument/2006/relationships/image" Target="../media/image1810.png"/><Relationship Id="rId4" Type="http://schemas.openxmlformats.org/officeDocument/2006/relationships/image" Target="../media/image970.png"/></Relationships>
</file>

<file path=ppt/slides/_rels/slide40.xml.rels><?xml version="1.0" encoding="UTF-8" standalone="yes"?>
<Relationships xmlns="http://schemas.openxmlformats.org/package/2006/relationships"><Relationship Id="rId2" Type="http://schemas.openxmlformats.org/officeDocument/2006/relationships/image" Target="../media/image106.gi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6" name="Text Box 13">
            <a:extLst>
              <a:ext uri="{FF2B5EF4-FFF2-40B4-BE49-F238E27FC236}">
                <a16:creationId xmlns:a16="http://schemas.microsoft.com/office/drawing/2014/main" id="{B1D77FAA-C6EC-4AC5-A3F5-4CC64C94B2C7}"/>
              </a:ext>
            </a:extLst>
          </p:cNvPr>
          <p:cNvSpPr txBox="1">
            <a:spLocks noChangeArrowheads="1"/>
          </p:cNvSpPr>
          <p:nvPr/>
        </p:nvSpPr>
        <p:spPr bwMode="auto">
          <a:xfrm>
            <a:off x="2928209" y="264124"/>
            <a:ext cx="709712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squar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zh-CN" altLang="en-US" sz="3600" b="1" dirty="0">
                <a:solidFill>
                  <a:schemeClr val="tx1"/>
                </a:solidFill>
                <a:latin typeface="Arial" panose="020B0604020202020204" pitchFamily="34" charset="0"/>
                <a:ea typeface="华文楷体" panose="02010600040101010101" pitchFamily="2" charset="-122"/>
                <a:cs typeface="Arial" panose="020B0604020202020204" pitchFamily="34" charset="0"/>
              </a:rPr>
              <a:t>第</a:t>
            </a:r>
            <a:r>
              <a:rPr lang="en-US" altLang="zh-CN" sz="3600" b="1" dirty="0">
                <a:solidFill>
                  <a:schemeClr val="tx1"/>
                </a:solidFill>
                <a:latin typeface="Arial" panose="020B0604020202020204" pitchFamily="34" charset="0"/>
                <a:ea typeface="华文楷体" panose="02010600040101010101" pitchFamily="2" charset="-122"/>
                <a:cs typeface="Arial" panose="020B0604020202020204" pitchFamily="34" charset="0"/>
              </a:rPr>
              <a:t>10</a:t>
            </a:r>
            <a:r>
              <a:rPr lang="zh-CN" altLang="en-US" sz="3600" b="1" dirty="0">
                <a:solidFill>
                  <a:schemeClr val="tx1"/>
                </a:solidFill>
                <a:latin typeface="Arial" panose="020B0604020202020204" pitchFamily="34" charset="0"/>
                <a:ea typeface="华文楷体" panose="02010600040101010101" pitchFamily="2" charset="-122"/>
                <a:cs typeface="Arial" panose="020B0604020202020204" pitchFamily="34" charset="0"/>
              </a:rPr>
              <a:t>章　热力学第一定律</a:t>
            </a:r>
          </a:p>
        </p:txBody>
      </p:sp>
      <p:sp>
        <p:nvSpPr>
          <p:cNvPr id="4112" name="Rectangle 16">
            <a:hlinkClick r:id="" action="ppaction://noaction"/>
            <a:extLst>
              <a:ext uri="{FF2B5EF4-FFF2-40B4-BE49-F238E27FC236}">
                <a16:creationId xmlns:a16="http://schemas.microsoft.com/office/drawing/2014/main" id="{E4498F14-2B16-44E2-8121-1F90B80155C0}"/>
              </a:ext>
            </a:extLst>
          </p:cNvPr>
          <p:cNvSpPr>
            <a:spLocks noChangeArrowheads="1"/>
          </p:cNvSpPr>
          <p:nvPr/>
        </p:nvSpPr>
        <p:spPr bwMode="auto">
          <a:xfrm>
            <a:off x="2850993" y="1259371"/>
            <a:ext cx="6705460" cy="501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10.1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功  热量   热力学第一定律</a:t>
            </a:r>
          </a:p>
          <a:p>
            <a:pPr>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10.2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准静态过程</a:t>
            </a:r>
          </a:p>
          <a:p>
            <a:pPr>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10.3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热容</a:t>
            </a:r>
          </a:p>
          <a:p>
            <a:pPr>
              <a:spcBef>
                <a:spcPct val="50000"/>
              </a:spcBef>
            </a:pPr>
            <a:r>
              <a:rPr lang="en-US" altLang="zh-CN" sz="3200" dirty="0">
                <a:solidFill>
                  <a:srgbClr val="0066FF"/>
                </a:solidFill>
                <a:latin typeface="Arial" panose="020B0604020202020204" pitchFamily="34" charset="0"/>
                <a:ea typeface="华文楷体" panose="02010600040101010101" pitchFamily="2" charset="-122"/>
                <a:cs typeface="Arial" panose="020B0604020202020204" pitchFamily="34" charset="0"/>
              </a:rPr>
              <a:t>10.4  </a:t>
            </a:r>
            <a:r>
              <a:rPr lang="zh-CN" altLang="en-US" sz="3200" dirty="0">
                <a:solidFill>
                  <a:srgbClr val="0066FF"/>
                </a:solidFill>
                <a:latin typeface="Arial" panose="020B0604020202020204" pitchFamily="34" charset="0"/>
                <a:ea typeface="华文楷体" panose="02010600040101010101" pitchFamily="2" charset="-122"/>
                <a:cs typeface="Arial" panose="020B0604020202020204" pitchFamily="34" charset="0"/>
              </a:rPr>
              <a:t>绝热过程</a:t>
            </a:r>
          </a:p>
          <a:p>
            <a:pPr>
              <a:spcBef>
                <a:spcPct val="50000"/>
              </a:spcBef>
            </a:pPr>
            <a:r>
              <a:rPr lang="en-US" altLang="zh-CN" sz="3200" dirty="0">
                <a:solidFill>
                  <a:srgbClr val="0066FF"/>
                </a:solidFill>
                <a:latin typeface="Arial" panose="020B0604020202020204" pitchFamily="34" charset="0"/>
                <a:ea typeface="华文楷体" panose="02010600040101010101" pitchFamily="2" charset="-122"/>
                <a:cs typeface="Arial" panose="020B0604020202020204" pitchFamily="34" charset="0"/>
              </a:rPr>
              <a:t>10.5  </a:t>
            </a:r>
            <a:r>
              <a:rPr lang="zh-CN" altLang="en-US" sz="3200" dirty="0">
                <a:solidFill>
                  <a:srgbClr val="0066FF"/>
                </a:solidFill>
                <a:latin typeface="Arial" panose="020B0604020202020204" pitchFamily="34" charset="0"/>
                <a:ea typeface="华文楷体" panose="02010600040101010101" pitchFamily="2" charset="-122"/>
                <a:cs typeface="Arial" panose="020B0604020202020204" pitchFamily="34" charset="0"/>
              </a:rPr>
              <a:t>循环过程</a:t>
            </a:r>
          </a:p>
          <a:p>
            <a:pPr>
              <a:spcBef>
                <a:spcPct val="50000"/>
              </a:spcBef>
            </a:pPr>
            <a:r>
              <a:rPr lang="en-US" altLang="zh-CN" sz="3200" dirty="0">
                <a:solidFill>
                  <a:srgbClr val="0066FF"/>
                </a:solidFill>
                <a:latin typeface="Arial" panose="020B0604020202020204" pitchFamily="34" charset="0"/>
                <a:ea typeface="华文楷体" panose="02010600040101010101" pitchFamily="2" charset="-122"/>
                <a:cs typeface="Arial" panose="020B0604020202020204" pitchFamily="34" charset="0"/>
              </a:rPr>
              <a:t>10.6  </a:t>
            </a:r>
            <a:r>
              <a:rPr lang="zh-CN" altLang="en-US" sz="3200" dirty="0">
                <a:solidFill>
                  <a:srgbClr val="0066FF"/>
                </a:solidFill>
                <a:latin typeface="Arial" panose="020B0604020202020204" pitchFamily="34" charset="0"/>
                <a:ea typeface="华文楷体" panose="02010600040101010101" pitchFamily="2" charset="-122"/>
                <a:cs typeface="Arial" panose="020B0604020202020204" pitchFamily="34" charset="0"/>
              </a:rPr>
              <a:t>卡诺循环    </a:t>
            </a:r>
          </a:p>
          <a:p>
            <a:pPr>
              <a:spcBef>
                <a:spcPct val="50000"/>
              </a:spcBef>
            </a:pPr>
            <a:r>
              <a:rPr lang="en-US" altLang="zh-CN" sz="3200" dirty="0">
                <a:solidFill>
                  <a:srgbClr val="0066FF"/>
                </a:solidFill>
                <a:latin typeface="Arial" panose="020B0604020202020204" pitchFamily="34" charset="0"/>
                <a:ea typeface="华文楷体" panose="02010600040101010101" pitchFamily="2" charset="-122"/>
                <a:cs typeface="Arial" panose="020B0604020202020204" pitchFamily="34" charset="0"/>
              </a:rPr>
              <a:t>10.7  </a:t>
            </a:r>
            <a:r>
              <a:rPr lang="zh-CN" altLang="en-US" sz="3200" dirty="0">
                <a:solidFill>
                  <a:srgbClr val="0066FF"/>
                </a:solidFill>
                <a:latin typeface="Arial" panose="020B0604020202020204" pitchFamily="34" charset="0"/>
                <a:ea typeface="华文楷体" panose="02010600040101010101" pitchFamily="2" charset="-122"/>
                <a:cs typeface="Arial" panose="020B0604020202020204" pitchFamily="34" charset="0"/>
              </a:rPr>
              <a:t>制冷循环</a:t>
            </a:r>
          </a:p>
        </p:txBody>
      </p:sp>
      <p:sp>
        <p:nvSpPr>
          <p:cNvPr id="11" name="矩形 10">
            <a:extLst>
              <a:ext uri="{FF2B5EF4-FFF2-40B4-BE49-F238E27FC236}">
                <a16:creationId xmlns:a16="http://schemas.microsoft.com/office/drawing/2014/main" id="{BBDB04A1-0ED6-47DB-AB21-B6B2EFE1D30C}"/>
              </a:ext>
            </a:extLst>
          </p:cNvPr>
          <p:cNvSpPr/>
          <p:nvPr/>
        </p:nvSpPr>
        <p:spPr>
          <a:xfrm>
            <a:off x="58049" y="974966"/>
            <a:ext cx="12075902" cy="60442"/>
          </a:xfrm>
          <a:prstGeom prst="rect">
            <a:avLst/>
          </a:prstGeom>
          <a:gradFill flip="none" rotWithShape="1">
            <a:gsLst>
              <a:gs pos="0">
                <a:schemeClr val="bg1">
                  <a:lumMod val="65000"/>
                </a:schemeClr>
              </a:gs>
              <a:gs pos="0">
                <a:srgbClr val="98D109"/>
              </a:gs>
              <a:gs pos="52000">
                <a:srgbClr val="498D3B"/>
              </a:gs>
              <a:gs pos="97000">
                <a:srgbClr val="00582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defRPr/>
            </a:pPr>
            <a:endParaRPr lang="zh-CN" altLang="en-US">
              <a:solidFill>
                <a:schemeClr val="tx1"/>
              </a:solidFill>
              <a:latin typeface="Arial" panose="020B0604020202020204" pitchFamily="34" charset="0"/>
              <a:ea typeface="华文楷体" panose="02010600040101010101" pitchFamily="2" charset="-122"/>
              <a:cs typeface="Arial" panose="020B0604020202020204" pitchFamily="34" charset="0"/>
            </a:endParaRPr>
          </a:p>
        </p:txBody>
      </p:sp>
    </p:spTree>
    <p:extLst>
      <p:ext uri="{BB962C8B-B14F-4D97-AF65-F5344CB8AC3E}">
        <p14:creationId xmlns:p14="http://schemas.microsoft.com/office/powerpoint/2010/main" val="77909194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14724" name="Text Box 4"/>
              <p:cNvSpPr txBox="1"/>
              <p:nvPr/>
            </p:nvSpPr>
            <p:spPr>
              <a:xfrm>
                <a:off x="4368692" y="1825158"/>
                <a:ext cx="5487683" cy="1610697"/>
              </a:xfrm>
              <a:prstGeom prst="rect">
                <a:avLst/>
              </a:prstGeom>
              <a:noFill/>
              <a:ln w="9525">
                <a:noFill/>
              </a:ln>
            </p:spPr>
            <p:txBody>
              <a:bodyPr wrap="square">
                <a:spAutoFit/>
              </a:bodyPr>
              <a:lstStyle/>
              <a:p>
                <a:pPr>
                  <a:lnSpc>
                    <a:spcPct val="120000"/>
                  </a:lnSpc>
                  <a:spcBef>
                    <a:spcPct val="50000"/>
                  </a:spcBef>
                </a:pPr>
                <a:r>
                  <a:rPr lang="zh-CN" altLang="en-US" sz="2800" dirty="0">
                    <a:solidFill>
                      <a:srgbClr val="080808"/>
                    </a:solidFill>
                    <a:latin typeface="Times New Roman" panose="02020603050405020304" pitchFamily="18" charset="0"/>
                  </a:rPr>
                  <a:t>系统</a:t>
                </a:r>
                <a:r>
                  <a:rPr lang="zh-CN" altLang="en-US" sz="2800" dirty="0">
                    <a:latin typeface="Times New Roman" panose="02020603050405020304" pitchFamily="18" charset="0"/>
                  </a:rPr>
                  <a:t>从外界吸收的热量（</a:t>
                </a:r>
                <a:r>
                  <a:rPr lang="en-US" sz="2800" dirty="0">
                    <a:solidFill>
                      <a:srgbClr val="0066FF"/>
                    </a:solidFill>
                  </a:rPr>
                  <a:t> </a:t>
                </a:r>
                <a14:m>
                  <m:oMath xmlns:m="http://schemas.openxmlformats.org/officeDocument/2006/math">
                    <m:r>
                      <a:rPr lang="en-US" sz="2800" i="1" smtClean="0">
                        <a:solidFill>
                          <a:srgbClr val="FF0000"/>
                        </a:solidFill>
                        <a:latin typeface="Cambria Math" panose="02040503050406030204" pitchFamily="18" charset="0"/>
                      </a:rPr>
                      <m:t>𝑄</m:t>
                    </m:r>
                    <m:r>
                      <a:rPr lang="en-US" sz="2800" i="1" smtClean="0">
                        <a:solidFill>
                          <a:srgbClr val="FF0000"/>
                        </a:solidFill>
                        <a:latin typeface="Cambria Math" panose="02040503050406030204" pitchFamily="18" charset="0"/>
                      </a:rPr>
                      <m:t> </m:t>
                    </m:r>
                  </m:oMath>
                </a14:m>
                <a:r>
                  <a:rPr lang="zh-CN" altLang="en-US" sz="2800" dirty="0">
                    <a:latin typeface="Times New Roman" panose="02020603050405020304" pitchFamily="18" charset="0"/>
                  </a:rPr>
                  <a:t>），一部分使系统的内能增加（</a:t>
                </a:r>
                <a:r>
                  <a:rPr lang="en-US" sz="2800" dirty="0">
                    <a:solidFill>
                      <a:srgbClr val="0066FF"/>
                    </a:solidFill>
                  </a:rPr>
                  <a:t> </a:t>
                </a:r>
                <a14:m>
                  <m:oMath xmlns:m="http://schemas.openxmlformats.org/officeDocument/2006/math">
                    <m:r>
                      <a:rPr lang="en-US" sz="2800" i="1" smtClean="0">
                        <a:solidFill>
                          <a:srgbClr val="FF0000"/>
                        </a:solidFill>
                        <a:latin typeface="Cambria Math" panose="02040503050406030204" pitchFamily="18" charset="0"/>
                      </a:rPr>
                      <m:t>𝛥</m:t>
                    </m:r>
                    <m:r>
                      <a:rPr lang="en-US" sz="2800" i="1" smtClean="0">
                        <a:solidFill>
                          <a:srgbClr val="FF0000"/>
                        </a:solidFill>
                        <a:latin typeface="Cambria Math" panose="02040503050406030204" pitchFamily="18" charset="0"/>
                      </a:rPr>
                      <m:t>𝐸</m:t>
                    </m:r>
                    <m:r>
                      <a:rPr lang="en-US" sz="2800" i="1" smtClean="0">
                        <a:solidFill>
                          <a:srgbClr val="FF0000"/>
                        </a:solidFill>
                        <a:latin typeface="Cambria Math" panose="02040503050406030204" pitchFamily="18" charset="0"/>
                      </a:rPr>
                      <m:t> </m:t>
                    </m:r>
                  </m:oMath>
                </a14:m>
                <a:r>
                  <a:rPr lang="zh-CN" altLang="en-US" sz="2800" dirty="0">
                    <a:latin typeface="Times New Roman" panose="02020603050405020304" pitchFamily="18" charset="0"/>
                  </a:rPr>
                  <a:t>），另一部分使系统对外界做功（</a:t>
                </a:r>
                <a:r>
                  <a:rPr lang="en-US" sz="2800" dirty="0">
                    <a:solidFill>
                      <a:srgbClr val="0066FF"/>
                    </a:solidFill>
                  </a:rPr>
                  <a:t> </a:t>
                </a:r>
                <a14:m>
                  <m:oMath xmlns:m="http://schemas.openxmlformats.org/officeDocument/2006/math">
                    <m:r>
                      <a:rPr lang="en-US" sz="2800" i="1" smtClean="0">
                        <a:solidFill>
                          <a:srgbClr val="FF0000"/>
                        </a:solidFill>
                        <a:latin typeface="Cambria Math" panose="02040503050406030204" pitchFamily="18" charset="0"/>
                      </a:rPr>
                      <m:t>𝐴</m:t>
                    </m:r>
                    <m:r>
                      <a:rPr lang="en-US" sz="2800" i="1">
                        <a:solidFill>
                          <a:srgbClr val="0066FF"/>
                        </a:solidFill>
                        <a:latin typeface="Cambria Math" panose="02040503050406030204" pitchFamily="18" charset="0"/>
                      </a:rPr>
                      <m:t> </m:t>
                    </m:r>
                  </m:oMath>
                </a14:m>
                <a:r>
                  <a:rPr lang="zh-CN" altLang="en-US" sz="2800" dirty="0">
                    <a:latin typeface="Times New Roman" panose="02020603050405020304" pitchFamily="18" charset="0"/>
                  </a:rPr>
                  <a:t>）</a:t>
                </a:r>
                <a:endParaRPr lang="en-US" altLang="zh-CN" sz="2800" dirty="0">
                  <a:solidFill>
                    <a:srgbClr val="CC0000"/>
                  </a:solidFill>
                  <a:latin typeface="Times New Roman" panose="02020603050405020304" pitchFamily="18" charset="0"/>
                </a:endParaRPr>
              </a:p>
            </p:txBody>
          </p:sp>
        </mc:Choice>
        <mc:Fallback xmlns="">
          <p:sp>
            <p:nvSpPr>
              <p:cNvPr id="414724" name="Text Box 4"/>
              <p:cNvSpPr txBox="1">
                <a:spLocks noRot="1" noChangeAspect="1" noMove="1" noResize="1" noEditPoints="1" noAdjustHandles="1" noChangeArrowheads="1" noChangeShapeType="1" noTextEdit="1"/>
              </p:cNvSpPr>
              <p:nvPr/>
            </p:nvSpPr>
            <p:spPr>
              <a:xfrm>
                <a:off x="4368692" y="1825158"/>
                <a:ext cx="5487683" cy="1610697"/>
              </a:xfrm>
              <a:prstGeom prst="rect">
                <a:avLst/>
              </a:prstGeom>
              <a:blipFill>
                <a:blip r:embed="rId2"/>
                <a:stretch>
                  <a:fillRect l="-2333" t="-377" r="-8778" b="-9434"/>
                </a:stretch>
              </a:blipFill>
              <a:ln w="952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47" name="Object 24"/>
              <p:cNvSpPr txBox="1"/>
              <p:nvPr/>
            </p:nvSpPr>
            <p:spPr>
              <a:xfrm>
                <a:off x="3089143" y="1046013"/>
                <a:ext cx="6874936" cy="77914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3600" b="0" i="1" smtClean="0">
                          <a:solidFill>
                            <a:srgbClr val="FF0000"/>
                          </a:solidFill>
                          <a:latin typeface="Cambria Math" panose="02040503050406030204" pitchFamily="18" charset="0"/>
                        </a:rPr>
                        <m:t>𝑄</m:t>
                      </m:r>
                      <m:r>
                        <a:rPr lang="en-US" sz="3600" b="0" i="1" smtClean="0">
                          <a:solidFill>
                            <a:srgbClr val="FF0000"/>
                          </a:solidFill>
                          <a:latin typeface="Cambria Math" panose="02040503050406030204" pitchFamily="18" charset="0"/>
                        </a:rPr>
                        <m:t>=</m:t>
                      </m:r>
                      <m:r>
                        <a:rPr lang="en-US" sz="3600" b="0" i="1">
                          <a:solidFill>
                            <a:srgbClr val="FF0000"/>
                          </a:solidFill>
                          <a:latin typeface="Cambria Math" panose="02040503050406030204" pitchFamily="18" charset="0"/>
                        </a:rPr>
                        <m:t>𝛥</m:t>
                      </m:r>
                      <m:r>
                        <a:rPr lang="en-US" sz="3600" b="0" i="1">
                          <a:solidFill>
                            <a:srgbClr val="FF0000"/>
                          </a:solidFill>
                          <a:latin typeface="Cambria Math" panose="02040503050406030204" pitchFamily="18" charset="0"/>
                        </a:rPr>
                        <m:t>𝐸</m:t>
                      </m:r>
                      <m:r>
                        <a:rPr lang="en-US" sz="3600" b="0" i="1">
                          <a:solidFill>
                            <a:srgbClr val="FF0000"/>
                          </a:solidFill>
                          <a:latin typeface="Cambria Math" panose="02040503050406030204" pitchFamily="18" charset="0"/>
                        </a:rPr>
                        <m:t>+</m:t>
                      </m:r>
                      <m:r>
                        <a:rPr lang="en-US" sz="3600" b="0" i="1">
                          <a:solidFill>
                            <a:srgbClr val="FF0000"/>
                          </a:solidFill>
                          <a:latin typeface="Cambria Math" panose="02040503050406030204" pitchFamily="18" charset="0"/>
                        </a:rPr>
                        <m:t>𝐴</m:t>
                      </m:r>
                    </m:oMath>
                  </m:oMathPara>
                </a14:m>
                <a:endParaRPr lang="en-US" sz="3600" dirty="0">
                  <a:solidFill>
                    <a:srgbClr val="FF0000"/>
                  </a:solidFill>
                </a:endParaRPr>
              </a:p>
            </p:txBody>
          </p:sp>
        </mc:Choice>
        <mc:Fallback xmlns="">
          <p:sp>
            <p:nvSpPr>
              <p:cNvPr id="6147" name="Object 24"/>
              <p:cNvSpPr txBox="1">
                <a:spLocks noRot="1" noChangeAspect="1" noMove="1" noResize="1" noEditPoints="1" noAdjustHandles="1" noChangeArrowheads="1" noChangeShapeType="1" noTextEdit="1"/>
              </p:cNvSpPr>
              <p:nvPr/>
            </p:nvSpPr>
            <p:spPr>
              <a:xfrm>
                <a:off x="3089143" y="1046013"/>
                <a:ext cx="6874936" cy="779145"/>
              </a:xfrm>
              <a:prstGeom prst="rect">
                <a:avLst/>
              </a:prstGeom>
              <a:blipFill>
                <a:blip r:embed="rId3"/>
                <a:stretch>
                  <a:fillRect/>
                </a:stretch>
              </a:blipFill>
              <a:ln w="38100">
                <a:noFill/>
                <a:miter/>
              </a:ln>
            </p:spPr>
            <p:txBody>
              <a:bodyPr/>
              <a:lstStyle/>
              <a:p>
                <a:r>
                  <a:rPr lang="en-US">
                    <a:noFill/>
                  </a:rPr>
                  <a:t> </a:t>
                </a:r>
              </a:p>
            </p:txBody>
          </p:sp>
        </mc:Fallback>
      </mc:AlternateContent>
      <p:sp>
        <p:nvSpPr>
          <p:cNvPr id="25" name="Text Box 13">
            <a:hlinkClick r:id="" action="ppaction://noaction"/>
            <a:extLst>
              <a:ext uri="{FF2B5EF4-FFF2-40B4-BE49-F238E27FC236}">
                <a16:creationId xmlns:a16="http://schemas.microsoft.com/office/drawing/2014/main" id="{E75F4899-BDE1-4184-B65A-0F563CD20E74}"/>
              </a:ext>
            </a:extLst>
          </p:cNvPr>
          <p:cNvSpPr txBox="1">
            <a:spLocks noChangeArrowheads="1"/>
          </p:cNvSpPr>
          <p:nvPr/>
        </p:nvSpPr>
        <p:spPr bwMode="auto">
          <a:xfrm>
            <a:off x="617888" y="288470"/>
            <a:ext cx="486958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热力学第一定律</a:t>
            </a:r>
          </a:p>
        </p:txBody>
      </p:sp>
      <p:graphicFrame>
        <p:nvGraphicFramePr>
          <p:cNvPr id="27" name="图示 26">
            <a:extLst>
              <a:ext uri="{FF2B5EF4-FFF2-40B4-BE49-F238E27FC236}">
                <a16:creationId xmlns:a16="http://schemas.microsoft.com/office/drawing/2014/main" id="{5351E658-5A7F-484C-8A0E-773F973B1BB0}"/>
              </a:ext>
            </a:extLst>
          </p:cNvPr>
          <p:cNvGraphicFramePr/>
          <p:nvPr>
            <p:extLst>
              <p:ext uri="{D42A27DB-BD31-4B8C-83A1-F6EECF244321}">
                <p14:modId xmlns:p14="http://schemas.microsoft.com/office/powerpoint/2010/main" val="381553982"/>
              </p:ext>
            </p:extLst>
          </p:nvPr>
        </p:nvGraphicFramePr>
        <p:xfrm>
          <a:off x="1077702" y="1146940"/>
          <a:ext cx="2896255" cy="250949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mc:AlternateContent xmlns:mc="http://schemas.openxmlformats.org/markup-compatibility/2006">
        <mc:Choice xmlns:a14="http://schemas.microsoft.com/office/drawing/2010/main" Requires="a14">
          <p:sp>
            <p:nvSpPr>
              <p:cNvPr id="71" name="Object 8">
                <a:extLst>
                  <a:ext uri="{FF2B5EF4-FFF2-40B4-BE49-F238E27FC236}">
                    <a16:creationId xmlns:a16="http://schemas.microsoft.com/office/drawing/2014/main" id="{8CC14347-2366-41FF-B349-72B7105A6230}"/>
                  </a:ext>
                </a:extLst>
              </p:cNvPr>
              <p:cNvSpPr txBox="1"/>
              <p:nvPr/>
            </p:nvSpPr>
            <p:spPr>
              <a:xfrm>
                <a:off x="6016039" y="3941428"/>
                <a:ext cx="5487682" cy="950913"/>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𝑄</m:t>
                      </m:r>
                      <m:r>
                        <a:rPr lang="en-US" sz="2800" b="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𝛥</m:t>
                      </m:r>
                      <m:r>
                        <a:rPr lang="en-US" sz="2800" b="0" i="1" smtClean="0">
                          <a:solidFill>
                            <a:srgbClr val="000000"/>
                          </a:solidFill>
                          <a:latin typeface="Cambria Math" panose="02040503050406030204" pitchFamily="18" charset="0"/>
                        </a:rPr>
                        <m:t>𝐸</m:t>
                      </m:r>
                      <m:r>
                        <a:rPr lang="en-US" sz="2800" b="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𝐴</m:t>
                      </m:r>
                      <m:r>
                        <a:rPr lang="en-US" sz="2800" b="0" i="1" smtClean="0">
                          <a:solidFill>
                            <a:srgbClr val="000000"/>
                          </a:solidFill>
                          <a:latin typeface="Cambria Math" panose="02040503050406030204" pitchFamily="18" charset="0"/>
                        </a:rPr>
                        <m:t>=</m:t>
                      </m:r>
                      <m:r>
                        <a:rPr lang="en-US" altLang="zh-CN" sz="2800" i="1">
                          <a:solidFill>
                            <a:srgbClr val="000000"/>
                          </a:solidFill>
                          <a:latin typeface="Cambria Math" panose="02040503050406030204" pitchFamily="18" charset="0"/>
                        </a:rPr>
                        <m:t>𝛥</m:t>
                      </m:r>
                      <m:r>
                        <a:rPr lang="en-US" altLang="zh-CN" sz="2800" i="1">
                          <a:solidFill>
                            <a:srgbClr val="000000"/>
                          </a:solidFill>
                          <a:latin typeface="Cambria Math" panose="02040503050406030204" pitchFamily="18" charset="0"/>
                        </a:rPr>
                        <m:t>𝐸</m:t>
                      </m:r>
                      <m:r>
                        <a:rPr lang="en-US" altLang="zh-CN" sz="2800" i="1">
                          <a:solidFill>
                            <a:srgbClr val="000000"/>
                          </a:solidFill>
                          <a:latin typeface="Cambria Math" panose="02040503050406030204" pitchFamily="18" charset="0"/>
                        </a:rPr>
                        <m:t>+</m:t>
                      </m:r>
                      <m:nary>
                        <m:naryPr>
                          <m:ctrlPr>
                            <a:rPr lang="en-US" sz="2800" i="1">
                              <a:solidFill>
                                <a:srgbClr val="000000"/>
                              </a:solidFill>
                              <a:latin typeface="Cambria Math" panose="02040503050406030204" pitchFamily="18" charset="0"/>
                            </a:rPr>
                          </m:ctrlPr>
                        </m:naryPr>
                        <m:sub>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𝑉</m:t>
                              </m:r>
                            </m:e>
                            <m:sub>
                              <m:r>
                                <a:rPr lang="en-US" sz="2800" b="0" i="1">
                                  <a:solidFill>
                                    <a:srgbClr val="000000"/>
                                  </a:solidFill>
                                  <a:latin typeface="Cambria Math" panose="02040503050406030204" pitchFamily="18" charset="0"/>
                                </a:rPr>
                                <m:t>1</m:t>
                              </m:r>
                            </m:sub>
                          </m:sSub>
                        </m:sub>
                        <m:sup>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𝑉</m:t>
                              </m:r>
                            </m:e>
                            <m:sub>
                              <m:r>
                                <a:rPr lang="en-US" sz="2800" b="0" i="1">
                                  <a:solidFill>
                                    <a:srgbClr val="000000"/>
                                  </a:solidFill>
                                  <a:latin typeface="Cambria Math" panose="02040503050406030204" pitchFamily="18" charset="0"/>
                                </a:rPr>
                                <m:t>2</m:t>
                              </m:r>
                            </m:sub>
                          </m:sSub>
                        </m:sup>
                        <m:e>
                          <m:r>
                            <a:rPr lang="en-US" sz="2800" b="0" i="1">
                              <a:solidFill>
                                <a:srgbClr val="000000"/>
                              </a:solidFill>
                              <a:latin typeface="Cambria Math" panose="02040503050406030204" pitchFamily="18" charset="0"/>
                            </a:rPr>
                            <m:t>𝑝</m:t>
                          </m:r>
                          <m:r>
                            <m:rPr>
                              <m:sty m:val="p"/>
                            </m:rPr>
                            <a:rPr lang="en-US" sz="2800" b="0" i="0">
                              <a:solidFill>
                                <a:srgbClr val="000000"/>
                              </a:solidFill>
                              <a:latin typeface="Cambria Math" panose="02040503050406030204" pitchFamily="18" charset="0"/>
                            </a:rPr>
                            <m:t>d</m:t>
                          </m:r>
                          <m:r>
                            <a:rPr lang="en-US" sz="2800" b="0" i="1">
                              <a:solidFill>
                                <a:srgbClr val="000000"/>
                              </a:solidFill>
                              <a:latin typeface="Cambria Math" panose="02040503050406030204" pitchFamily="18" charset="0"/>
                            </a:rPr>
                            <m:t>𝑉</m:t>
                          </m:r>
                        </m:e>
                      </m:nary>
                    </m:oMath>
                  </m:oMathPara>
                </a14:m>
                <a:endParaRPr lang="en-US" sz="2800" dirty="0"/>
              </a:p>
            </p:txBody>
          </p:sp>
        </mc:Choice>
        <mc:Fallback>
          <p:sp>
            <p:nvSpPr>
              <p:cNvPr id="71" name="Object 8">
                <a:extLst>
                  <a:ext uri="{FF2B5EF4-FFF2-40B4-BE49-F238E27FC236}">
                    <a16:creationId xmlns:a16="http://schemas.microsoft.com/office/drawing/2014/main" id="{8CC14347-2366-41FF-B349-72B7105A6230}"/>
                  </a:ext>
                </a:extLst>
              </p:cNvPr>
              <p:cNvSpPr txBox="1">
                <a:spLocks noRot="1" noChangeAspect="1" noMove="1" noResize="1" noEditPoints="1" noAdjustHandles="1" noChangeArrowheads="1" noChangeShapeType="1" noTextEdit="1"/>
              </p:cNvSpPr>
              <p:nvPr/>
            </p:nvSpPr>
            <p:spPr>
              <a:xfrm>
                <a:off x="6016039" y="3941428"/>
                <a:ext cx="5487682" cy="950913"/>
              </a:xfrm>
              <a:prstGeom prst="rect">
                <a:avLst/>
              </a:prstGeom>
              <a:blipFill>
                <a:blip r:embed="rId9"/>
                <a:stretch>
                  <a:fillRect b="-11538"/>
                </a:stretch>
              </a:blipFill>
              <a:ln w="38100">
                <a:noFill/>
                <a:miter/>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2" name="Object 10">
                <a:extLst>
                  <a:ext uri="{FF2B5EF4-FFF2-40B4-BE49-F238E27FC236}">
                    <a16:creationId xmlns:a16="http://schemas.microsoft.com/office/drawing/2014/main" id="{08F85D6E-60AF-449C-BE15-24B86592C367}"/>
                  </a:ext>
                </a:extLst>
              </p:cNvPr>
              <p:cNvSpPr txBox="1"/>
              <p:nvPr/>
            </p:nvSpPr>
            <p:spPr>
              <a:xfrm>
                <a:off x="990152" y="4215000"/>
                <a:ext cx="4824600" cy="557213"/>
              </a:xfrm>
              <a:prstGeom prst="rect">
                <a:avLst/>
              </a:prstGeom>
              <a:noFill/>
              <a:ln w="38100">
                <a:noFill/>
                <a:miter/>
              </a:ln>
            </p:spPr>
            <p:txBody>
              <a:bodyPr>
                <a:noAutofit/>
              </a:bodyPr>
              <a:lstStyle/>
              <a:p>
                <a:pPr/>
                <a14:m>
                  <m:oMath xmlns:m="http://schemas.openxmlformats.org/officeDocument/2006/math">
                    <m:r>
                      <m:rPr>
                        <m:sty m:val="p"/>
                      </m:rPr>
                      <a:rPr lang="en-US" sz="2800" b="0" i="0" smtClean="0">
                        <a:solidFill>
                          <a:srgbClr val="000000"/>
                        </a:solidFill>
                        <a:latin typeface="Cambria Math" panose="02040503050406030204" pitchFamily="18" charset="0"/>
                      </a:rPr>
                      <m:t>d</m:t>
                    </m:r>
                    <m:r>
                      <a:rPr lang="en-US" sz="2800" b="0" i="1">
                        <a:solidFill>
                          <a:srgbClr val="000000"/>
                        </a:solidFill>
                        <a:latin typeface="Cambria Math" panose="02040503050406030204" pitchFamily="18" charset="0"/>
                      </a:rPr>
                      <m:t>𝑄</m:t>
                    </m:r>
                    <m:r>
                      <a:rPr lang="en-US" sz="2800" b="0" i="1">
                        <a:solidFill>
                          <a:srgbClr val="000000"/>
                        </a:solidFill>
                        <a:latin typeface="Cambria Math" panose="02040503050406030204" pitchFamily="18" charset="0"/>
                      </a:rPr>
                      <m:t>=</m:t>
                    </m:r>
                    <m:r>
                      <m:rPr>
                        <m:sty m:val="p"/>
                      </m:rPr>
                      <a:rPr lang="en-US" sz="2800" b="0" i="0">
                        <a:solidFill>
                          <a:srgbClr val="000000"/>
                        </a:solidFill>
                        <a:latin typeface="Cambria Math" panose="02040503050406030204" pitchFamily="18" charset="0"/>
                      </a:rPr>
                      <m:t>d</m:t>
                    </m:r>
                    <m:r>
                      <a:rPr lang="en-US" sz="2800" b="0" i="1">
                        <a:solidFill>
                          <a:srgbClr val="000000"/>
                        </a:solidFill>
                        <a:latin typeface="Cambria Math" panose="02040503050406030204" pitchFamily="18" charset="0"/>
                      </a:rPr>
                      <m:t>𝐸</m:t>
                    </m:r>
                    <m:r>
                      <a:rPr lang="en-US" sz="2800" b="0" i="1">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𝑑𝐴</m:t>
                    </m:r>
                    <m:r>
                      <a:rPr lang="en-US" sz="2800" b="0" i="1" smtClean="0">
                        <a:solidFill>
                          <a:srgbClr val="000000"/>
                        </a:solidFill>
                        <a:latin typeface="Cambria Math" panose="02040503050406030204" pitchFamily="18" charset="0"/>
                      </a:rPr>
                      <m:t>=</m:t>
                    </m:r>
                  </m:oMath>
                </a14:m>
                <a:r>
                  <a:rPr lang="en-US" sz="2800" b="0" i="1" dirty="0">
                    <a:solidFill>
                      <a:srgbClr val="000000"/>
                    </a:solidFill>
                    <a:latin typeface="Cambria Math" panose="02040503050406030204" pitchFamily="18" charset="0"/>
                  </a:rPr>
                  <a:t> </a:t>
                </a:r>
                <a14:m>
                  <m:oMath xmlns:m="http://schemas.openxmlformats.org/officeDocument/2006/math">
                    <m:r>
                      <m:rPr>
                        <m:sty m:val="p"/>
                      </m:rPr>
                      <a:rPr lang="en-US" altLang="zh-CN" sz="2800">
                        <a:solidFill>
                          <a:srgbClr val="000000"/>
                        </a:solidFill>
                        <a:latin typeface="Cambria Math" panose="02040503050406030204" pitchFamily="18" charset="0"/>
                      </a:rPr>
                      <m:t>d</m:t>
                    </m:r>
                    <m:r>
                      <a:rPr lang="en-US" altLang="zh-CN" sz="2800" i="1">
                        <a:solidFill>
                          <a:srgbClr val="000000"/>
                        </a:solidFill>
                        <a:latin typeface="Cambria Math" panose="02040503050406030204" pitchFamily="18" charset="0"/>
                      </a:rPr>
                      <m:t>𝐸</m:t>
                    </m:r>
                    <m:r>
                      <a:rPr lang="en-US" altLang="zh-CN" sz="2800" i="1">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𝑝</m:t>
                    </m:r>
                    <m:r>
                      <a:rPr lang="en-US" altLang="zh-CN" sz="2800" i="1">
                        <a:solidFill>
                          <a:srgbClr val="000000"/>
                        </a:solidFill>
                        <a:latin typeface="Cambria Math" panose="02040503050406030204" pitchFamily="18" charset="0"/>
                      </a:rPr>
                      <m:t>𝑑</m:t>
                    </m:r>
                  </m:oMath>
                </a14:m>
                <a:r>
                  <a:rPr lang="en-US" altLang="zh-CN" sz="2800" i="1" dirty="0">
                    <a:solidFill>
                      <a:srgbClr val="000000"/>
                    </a:solidFill>
                    <a:latin typeface="Cambria Math" panose="02040503050406030204" pitchFamily="18" charset="0"/>
                  </a:rPr>
                  <a:t>V</a:t>
                </a:r>
              </a:p>
              <a:p>
                <a:endParaRPr lang="en-US" sz="2800" b="0" i="1" dirty="0">
                  <a:solidFill>
                    <a:srgbClr val="000000"/>
                  </a:solidFill>
                  <a:latin typeface="Cambria Math" panose="02040503050406030204" pitchFamily="18" charset="0"/>
                </a:endParaRPr>
              </a:p>
              <a:p>
                <a:br>
                  <a:rPr lang="en-US" sz="2800" b="0" dirty="0">
                    <a:solidFill>
                      <a:srgbClr val="000000"/>
                    </a:solidFill>
                  </a:rPr>
                </a:br>
                <a:r>
                  <a:rPr lang="en-US" sz="2800" b="0" dirty="0">
                    <a:solidFill>
                      <a:srgbClr val="000000"/>
                    </a:solidFill>
                  </a:rPr>
                  <a:t>       </a:t>
                </a:r>
                <a:endParaRPr lang="en-US" sz="2800" dirty="0"/>
              </a:p>
            </p:txBody>
          </p:sp>
        </mc:Choice>
        <mc:Fallback>
          <p:sp>
            <p:nvSpPr>
              <p:cNvPr id="72" name="Object 10">
                <a:extLst>
                  <a:ext uri="{FF2B5EF4-FFF2-40B4-BE49-F238E27FC236}">
                    <a16:creationId xmlns:a16="http://schemas.microsoft.com/office/drawing/2014/main" id="{08F85D6E-60AF-449C-BE15-24B86592C367}"/>
                  </a:ext>
                </a:extLst>
              </p:cNvPr>
              <p:cNvSpPr txBox="1">
                <a:spLocks noRot="1" noChangeAspect="1" noMove="1" noResize="1" noEditPoints="1" noAdjustHandles="1" noChangeArrowheads="1" noChangeShapeType="1" noTextEdit="1"/>
              </p:cNvSpPr>
              <p:nvPr/>
            </p:nvSpPr>
            <p:spPr>
              <a:xfrm>
                <a:off x="990152" y="4215000"/>
                <a:ext cx="4824600" cy="557213"/>
              </a:xfrm>
              <a:prstGeom prst="rect">
                <a:avLst/>
              </a:prstGeom>
              <a:blipFill>
                <a:blip r:embed="rId10"/>
                <a:stretch>
                  <a:fillRect t="-10870" b="-22826"/>
                </a:stretch>
              </a:blipFill>
              <a:ln w="38100">
                <a:noFill/>
                <a:miter/>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 name="Object 59">
                <a:extLst>
                  <a:ext uri="{FF2B5EF4-FFF2-40B4-BE49-F238E27FC236}">
                    <a16:creationId xmlns:a16="http://schemas.microsoft.com/office/drawing/2014/main" id="{4B9A94C5-C9E2-A01C-9546-1B1946094F41}"/>
                  </a:ext>
                </a:extLst>
              </p:cNvPr>
              <p:cNvSpPr txBox="1"/>
              <p:nvPr/>
            </p:nvSpPr>
            <p:spPr bwMode="auto">
              <a:xfrm>
                <a:off x="2416347" y="5618617"/>
                <a:ext cx="2930841" cy="950913"/>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3000" b="0" i="1" smtClean="0">
                          <a:solidFill>
                            <a:schemeClr val="tx1"/>
                          </a:solidFill>
                          <a:latin typeface="Cambria Math" panose="02040503050406030204" pitchFamily="18" charset="0"/>
                        </a:rPr>
                        <m:t>𝑃𝑉</m:t>
                      </m:r>
                    </m:oMath>
                  </m:oMathPara>
                </a14:m>
                <a:endParaRPr lang="zh-CN" altLang="en-US" sz="3000" dirty="0">
                  <a:solidFill>
                    <a:schemeClr val="tx1"/>
                  </a:solidFill>
                </a:endParaRPr>
              </a:p>
            </p:txBody>
          </p:sp>
        </mc:Choice>
        <mc:Fallback>
          <p:sp>
            <p:nvSpPr>
              <p:cNvPr id="2" name="Object 59">
                <a:extLst>
                  <a:ext uri="{FF2B5EF4-FFF2-40B4-BE49-F238E27FC236}">
                    <a16:creationId xmlns:a16="http://schemas.microsoft.com/office/drawing/2014/main" id="{4B9A94C5-C9E2-A01C-9546-1B1946094F41}"/>
                  </a:ext>
                </a:extLst>
              </p:cNvPr>
              <p:cNvSpPr txBox="1">
                <a:spLocks noRot="1" noChangeAspect="1" noMove="1" noResize="1" noEditPoints="1" noAdjustHandles="1" noChangeArrowheads="1" noChangeShapeType="1" noTextEdit="1"/>
              </p:cNvSpPr>
              <p:nvPr/>
            </p:nvSpPr>
            <p:spPr bwMode="auto">
              <a:xfrm>
                <a:off x="2416347" y="5618617"/>
                <a:ext cx="2930841" cy="950913"/>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文本框 2">
                <a:extLst>
                  <a:ext uri="{FF2B5EF4-FFF2-40B4-BE49-F238E27FC236}">
                    <a16:creationId xmlns:a16="http://schemas.microsoft.com/office/drawing/2014/main" id="{2DF492EA-00EB-6B76-517A-68A211A420BC}"/>
                  </a:ext>
                </a:extLst>
              </p:cNvPr>
              <p:cNvSpPr txBox="1"/>
              <p:nvPr/>
            </p:nvSpPr>
            <p:spPr>
              <a:xfrm>
                <a:off x="3051105" y="5618617"/>
                <a:ext cx="1355679" cy="5539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000" b="0" i="1" smtClean="0">
                          <a:solidFill>
                            <a:schemeClr val="tx1"/>
                          </a:solidFill>
                          <a:latin typeface="Cambria Math" panose="02040503050406030204" pitchFamily="18" charset="0"/>
                        </a:rPr>
                        <m:t>=</m:t>
                      </m:r>
                      <m:r>
                        <a:rPr lang="el-GR" altLang="zh-CN" sz="3000" b="0" i="1">
                          <a:solidFill>
                            <a:schemeClr val="tx1"/>
                          </a:solidFill>
                          <a:latin typeface="Cambria Math" panose="02040503050406030204" pitchFamily="18" charset="0"/>
                        </a:rPr>
                        <m:t>𝜈</m:t>
                      </m:r>
                      <m:r>
                        <a:rPr lang="en-US" altLang="zh-CN" sz="3000" b="0" i="1">
                          <a:solidFill>
                            <a:schemeClr val="tx1"/>
                          </a:solidFill>
                          <a:latin typeface="Cambria Math" panose="02040503050406030204" pitchFamily="18" charset="0"/>
                        </a:rPr>
                        <m:t>𝑅</m:t>
                      </m:r>
                      <m:r>
                        <a:rPr lang="zh-CN" altLang="en-US" sz="3000" b="0" i="1">
                          <a:solidFill>
                            <a:schemeClr val="tx1"/>
                          </a:solidFill>
                          <a:latin typeface="Cambria Math" panose="02040503050406030204" pitchFamily="18" charset="0"/>
                        </a:rPr>
                        <m:t>𝑇</m:t>
                      </m:r>
                    </m:oMath>
                  </m:oMathPara>
                </a14:m>
                <a:endParaRPr lang="zh-CN" altLang="en-US" sz="3000" dirty="0">
                  <a:solidFill>
                    <a:schemeClr val="tx1"/>
                  </a:solidFill>
                </a:endParaRPr>
              </a:p>
            </p:txBody>
          </p:sp>
        </mc:Choice>
        <mc:Fallback>
          <p:sp>
            <p:nvSpPr>
              <p:cNvPr id="3" name="文本框 2">
                <a:extLst>
                  <a:ext uri="{FF2B5EF4-FFF2-40B4-BE49-F238E27FC236}">
                    <a16:creationId xmlns:a16="http://schemas.microsoft.com/office/drawing/2014/main" id="{2DF492EA-00EB-6B76-517A-68A211A420BC}"/>
                  </a:ext>
                </a:extLst>
              </p:cNvPr>
              <p:cNvSpPr txBox="1">
                <a:spLocks noRot="1" noChangeAspect="1" noMove="1" noResize="1" noEditPoints="1" noAdjustHandles="1" noChangeArrowheads="1" noChangeShapeType="1" noTextEdit="1"/>
              </p:cNvSpPr>
              <p:nvPr/>
            </p:nvSpPr>
            <p:spPr>
              <a:xfrm>
                <a:off x="3051105" y="5618617"/>
                <a:ext cx="1355679" cy="553998"/>
              </a:xfrm>
              <a:prstGeom prst="rect">
                <a:avLst/>
              </a:prstGeom>
              <a:blipFill>
                <a:blip r:embed="rId12"/>
                <a:stretch>
                  <a:fillRect/>
                </a:stretch>
              </a:blipFill>
            </p:spPr>
            <p:txBody>
              <a:bodyPr/>
              <a:lstStyle/>
              <a:p>
                <a:r>
                  <a:rPr lang="en-US">
                    <a:noFill/>
                  </a:rPr>
                  <a:t> </a:t>
                </a:r>
              </a:p>
            </p:txBody>
          </p:sp>
        </mc:Fallback>
      </mc:AlternateContent>
      <p:sp>
        <p:nvSpPr>
          <p:cNvPr id="4" name="文本框 3">
            <a:extLst>
              <a:ext uri="{FF2B5EF4-FFF2-40B4-BE49-F238E27FC236}">
                <a16:creationId xmlns:a16="http://schemas.microsoft.com/office/drawing/2014/main" id="{ECAF5146-F188-1BD7-C459-91CA67223BA1}"/>
              </a:ext>
            </a:extLst>
          </p:cNvPr>
          <p:cNvSpPr txBox="1"/>
          <p:nvPr/>
        </p:nvSpPr>
        <p:spPr>
          <a:xfrm>
            <a:off x="6082541" y="5488821"/>
            <a:ext cx="486751" cy="646331"/>
          </a:xfrm>
          <a:prstGeom prst="rect">
            <a:avLst/>
          </a:prstGeom>
          <a:noFill/>
        </p:spPr>
        <p:txBody>
          <a:bodyPr wrap="square" rtlCol="0">
            <a:spAutoFit/>
          </a:bodyPr>
          <a:lstStyle/>
          <a:p>
            <a:r>
              <a:rPr lang="en-US" altLang="zh-CN" sz="3600" dirty="0"/>
              <a:t>E</a:t>
            </a:r>
            <a:endParaRPr lang="zh-CN" altLang="en-US" sz="3600" dirty="0"/>
          </a:p>
        </p:txBody>
      </p:sp>
      <mc:AlternateContent xmlns:mc="http://schemas.openxmlformats.org/markup-compatibility/2006">
        <mc:Choice xmlns:a14="http://schemas.microsoft.com/office/drawing/2010/main" Requires="a14">
          <p:sp>
            <p:nvSpPr>
              <p:cNvPr id="5" name="文本框 4">
                <a:extLst>
                  <a:ext uri="{FF2B5EF4-FFF2-40B4-BE49-F238E27FC236}">
                    <a16:creationId xmlns:a16="http://schemas.microsoft.com/office/drawing/2014/main" id="{47C24540-78C6-64A4-5132-916B2526D362}"/>
                  </a:ext>
                </a:extLst>
              </p:cNvPr>
              <p:cNvSpPr txBox="1"/>
              <p:nvPr/>
            </p:nvSpPr>
            <p:spPr>
              <a:xfrm>
                <a:off x="6478385" y="5369718"/>
                <a:ext cx="9158384" cy="884538"/>
              </a:xfrm>
              <a:prstGeom prst="rect">
                <a:avLst/>
              </a:prstGeom>
              <a:noFill/>
            </p:spPr>
            <p:txBody>
              <a:bodyPr wrap="square">
                <a:spAutoFit/>
              </a:bodyPr>
              <a:lstStyle/>
              <a:p>
                <a:r>
                  <a:rPr lang="en-US" altLang="zh-CN" sz="3600" dirty="0"/>
                  <a:t>= </a:t>
                </a:r>
                <a:r>
                  <a:rPr lang="zh-CN" altLang="en-US" sz="3600" dirty="0"/>
                  <a:t> </a:t>
                </a:r>
                <a14:m>
                  <m:oMath xmlns:m="http://schemas.openxmlformats.org/officeDocument/2006/math">
                    <m:f>
                      <m:fPr>
                        <m:ctrlPr>
                          <a:rPr lang="zh-CN" altLang="en-US" sz="3600" i="1">
                            <a:latin typeface="Cambria Math" panose="02040503050406030204" pitchFamily="18" charset="0"/>
                          </a:rPr>
                        </m:ctrlPr>
                      </m:fPr>
                      <m:num>
                        <m:r>
                          <a:rPr lang="zh-CN" altLang="en-US" sz="3600" i="1">
                            <a:latin typeface="Cambria Math" panose="02040503050406030204" pitchFamily="18" charset="0"/>
                          </a:rPr>
                          <m:t>𝑖</m:t>
                        </m:r>
                      </m:num>
                      <m:den>
                        <m:r>
                          <a:rPr lang="zh-CN" altLang="en-US" sz="3600" i="1">
                            <a:latin typeface="Cambria Math" panose="02040503050406030204" pitchFamily="18" charset="0"/>
                          </a:rPr>
                          <m:t>2</m:t>
                        </m:r>
                      </m:den>
                    </m:f>
                    <m:r>
                      <m:rPr>
                        <m:sty m:val="p"/>
                      </m:rPr>
                      <a:rPr lang="el-GR" altLang="zh-CN" sz="3600" i="1">
                        <a:solidFill>
                          <a:srgbClr val="000000"/>
                        </a:solidFill>
                        <a:latin typeface="Cambria Math" panose="02040503050406030204" pitchFamily="18" charset="0"/>
                      </a:rPr>
                      <m:t>ν</m:t>
                    </m:r>
                    <m:r>
                      <m:rPr>
                        <m:sty m:val="p"/>
                      </m:rPr>
                      <a:rPr lang="en-US" altLang="zh-CN" sz="3600" i="1">
                        <a:solidFill>
                          <a:srgbClr val="000000"/>
                        </a:solidFill>
                        <a:latin typeface="Cambria Math" panose="02040503050406030204" pitchFamily="18" charset="0"/>
                      </a:rPr>
                      <m:t>R</m:t>
                    </m:r>
                    <m:r>
                      <a:rPr lang="zh-CN" altLang="en-US" sz="3600" i="1">
                        <a:latin typeface="Cambria Math" panose="02040503050406030204" pitchFamily="18" charset="0"/>
                      </a:rPr>
                      <m:t>𝑇</m:t>
                    </m:r>
                  </m:oMath>
                </a14:m>
                <a:endParaRPr lang="zh-CN" altLang="en-US" sz="3600" dirty="0"/>
              </a:p>
            </p:txBody>
          </p:sp>
        </mc:Choice>
        <mc:Fallback>
          <p:sp>
            <p:nvSpPr>
              <p:cNvPr id="5" name="文本框 4">
                <a:extLst>
                  <a:ext uri="{FF2B5EF4-FFF2-40B4-BE49-F238E27FC236}">
                    <a16:creationId xmlns:a16="http://schemas.microsoft.com/office/drawing/2014/main" id="{47C24540-78C6-64A4-5132-916B2526D362}"/>
                  </a:ext>
                </a:extLst>
              </p:cNvPr>
              <p:cNvSpPr txBox="1">
                <a:spLocks noRot="1" noChangeAspect="1" noMove="1" noResize="1" noEditPoints="1" noAdjustHandles="1" noChangeArrowheads="1" noChangeShapeType="1" noTextEdit="1"/>
              </p:cNvSpPr>
              <p:nvPr/>
            </p:nvSpPr>
            <p:spPr>
              <a:xfrm>
                <a:off x="6478385" y="5369718"/>
                <a:ext cx="9158384" cy="884538"/>
              </a:xfrm>
              <a:prstGeom prst="rect">
                <a:avLst/>
              </a:prstGeom>
              <a:blipFill>
                <a:blip r:embed="rId13"/>
                <a:stretch>
                  <a:fillRect l="-2064" b="-12414"/>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47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4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724" grpId="0"/>
      <p:bldP spid="6147" grpId="0"/>
      <p:bldGraphic spid="27" grpId="0">
        <p:bldAsOne/>
      </p:bldGraphic>
      <p:bldP spid="71" grpId="0"/>
      <p:bldP spid="72" grpId="0"/>
      <p:bldP spid="2" grpId="0"/>
      <p:bldP spid="3" grpId="0"/>
      <p:bldP spid="4" grpId="0"/>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31126" name="Object 22"/>
              <p:cNvSpPr txBox="1"/>
              <p:nvPr/>
            </p:nvSpPr>
            <p:spPr>
              <a:xfrm>
                <a:off x="4342802" y="3999970"/>
                <a:ext cx="6317702" cy="56578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zh-CN" altLang="en-US" sz="2800" i="1" smtClean="0">
                          <a:solidFill>
                            <a:srgbClr val="000000"/>
                          </a:solidFill>
                          <a:latin typeface="Cambria Math" panose="02040503050406030204" pitchFamily="18" charset="0"/>
                        </a:rPr>
                        <m:t>等温</m:t>
                      </m:r>
                      <m:r>
                        <a:rPr lang="zh-CN" altLang="en-US" sz="2800" i="1">
                          <a:solidFill>
                            <a:srgbClr val="000000"/>
                          </a:solidFill>
                          <a:latin typeface="Cambria Math" panose="02040503050406030204" pitchFamily="18" charset="0"/>
                        </a:rPr>
                        <m:t>过程：</m:t>
                      </m:r>
                      <m:r>
                        <a:rPr lang="en-US" altLang="zh-CN" sz="2800" b="0" i="0" smtClean="0">
                          <a:solidFill>
                            <a:srgbClr val="000000"/>
                          </a:solidFill>
                          <a:latin typeface="Cambria Math" panose="02040503050406030204" pitchFamily="18" charset="0"/>
                        </a:rPr>
                        <m:t> </m:t>
                      </m:r>
                      <m:r>
                        <m:rPr>
                          <m:sty m:val="p"/>
                        </m:rPr>
                        <a:rPr lang="en-US" sz="2800" b="0" i="0">
                          <a:solidFill>
                            <a:srgbClr val="000000"/>
                          </a:solidFill>
                          <a:latin typeface="Cambria Math" panose="02040503050406030204" pitchFamily="18" charset="0"/>
                        </a:rPr>
                        <m:t>d</m:t>
                      </m:r>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𝑄</m:t>
                          </m:r>
                        </m:e>
                        <m:sub>
                          <m:r>
                            <a:rPr lang="en-US" sz="2800" b="0" i="1">
                              <a:solidFill>
                                <a:srgbClr val="000000"/>
                              </a:solidFill>
                              <a:latin typeface="Cambria Math" panose="02040503050406030204" pitchFamily="18" charset="0"/>
                            </a:rPr>
                            <m:t>𝑇</m:t>
                          </m:r>
                        </m:sub>
                      </m:sSub>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𝑑𝐴</m:t>
                      </m:r>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𝑝</m:t>
                      </m:r>
                      <m:r>
                        <m:rPr>
                          <m:sty m:val="p"/>
                        </m:rPr>
                        <a:rPr lang="en-US" sz="2800" b="0" i="0">
                          <a:solidFill>
                            <a:srgbClr val="000000"/>
                          </a:solidFill>
                          <a:latin typeface="Cambria Math" panose="02040503050406030204" pitchFamily="18" charset="0"/>
                        </a:rPr>
                        <m:t>d</m:t>
                      </m:r>
                      <m:r>
                        <a:rPr lang="en-US" sz="2800" b="0" i="1">
                          <a:solidFill>
                            <a:srgbClr val="000000"/>
                          </a:solidFill>
                          <a:latin typeface="Cambria Math" panose="02040503050406030204" pitchFamily="18" charset="0"/>
                        </a:rPr>
                        <m:t>𝑉</m:t>
                      </m:r>
                    </m:oMath>
                  </m:oMathPara>
                </a14:m>
                <a:endParaRPr lang="en-US" sz="2800" dirty="0">
                  <a:latin typeface="+mn-ea"/>
                </a:endParaRPr>
              </a:p>
            </p:txBody>
          </p:sp>
        </mc:Choice>
        <mc:Fallback xmlns="">
          <p:sp>
            <p:nvSpPr>
              <p:cNvPr id="431126" name="Object 22"/>
              <p:cNvSpPr txBox="1">
                <a:spLocks noRot="1" noChangeAspect="1" noMove="1" noResize="1" noEditPoints="1" noAdjustHandles="1" noChangeArrowheads="1" noChangeShapeType="1" noTextEdit="1"/>
              </p:cNvSpPr>
              <p:nvPr/>
            </p:nvSpPr>
            <p:spPr>
              <a:xfrm>
                <a:off x="4342802" y="3999970"/>
                <a:ext cx="6317702" cy="565785"/>
              </a:xfrm>
              <a:prstGeom prst="rect">
                <a:avLst/>
              </a:prstGeom>
              <a:blipFill>
                <a:blip r:embed="rId3"/>
                <a:stretch>
                  <a:fillRect/>
                </a:stretch>
              </a:blipFill>
              <a:ln w="38100">
                <a:noFill/>
                <a:miter/>
              </a:ln>
            </p:spPr>
            <p:txBody>
              <a:bodyPr/>
              <a:lstStyle/>
              <a:p>
                <a:r>
                  <a:rPr lang="en-US">
                    <a:noFill/>
                  </a:rPr>
                  <a:t> </a:t>
                </a:r>
              </a:p>
            </p:txBody>
          </p:sp>
        </mc:Fallback>
      </mc:AlternateContent>
      <p:grpSp>
        <p:nvGrpSpPr>
          <p:cNvPr id="22560" name="Group 24"/>
          <p:cNvGrpSpPr/>
          <p:nvPr/>
        </p:nvGrpSpPr>
        <p:grpSpPr>
          <a:xfrm>
            <a:off x="633447" y="1893990"/>
            <a:ext cx="3810000" cy="2971800"/>
            <a:chOff x="3024" y="528"/>
            <a:chExt cx="2400" cy="1872"/>
          </a:xfrm>
        </p:grpSpPr>
        <p:sp>
          <p:nvSpPr>
            <p:cNvPr id="22565" name="Rectangle 25"/>
            <p:cNvSpPr/>
            <p:nvPr/>
          </p:nvSpPr>
          <p:spPr>
            <a:xfrm>
              <a:off x="3024" y="528"/>
              <a:ext cx="2400" cy="1872"/>
            </a:xfrm>
            <a:prstGeom prst="rect">
              <a:avLst/>
            </a:prstGeom>
            <a:solidFill>
              <a:srgbClr val="FFFFFF"/>
            </a:solidFill>
            <a:ln w="9525" cap="flat" cmpd="sng">
              <a:noFill/>
              <a:prstDash val="solid"/>
              <a:miter/>
              <a:headEnd type="none" w="med" len="med"/>
              <a:tailEnd type="none" w="med" len="med"/>
            </a:ln>
          </p:spPr>
          <p:txBody>
            <a:bodyPr wrap="none" anchor="ctr" anchorCtr="0"/>
            <a:lstStyle/>
            <a:p>
              <a:endParaRPr lang="zh-CN" altLang="en-US" sz="2800" dirty="0">
                <a:latin typeface="Bookman Old Style" panose="02050604050505020204" pitchFamily="18" charset="0"/>
              </a:endParaRPr>
            </a:p>
          </p:txBody>
        </p:sp>
        <p:sp>
          <p:nvSpPr>
            <p:cNvPr id="22566" name="Arc 26"/>
            <p:cNvSpPr/>
            <p:nvPr/>
          </p:nvSpPr>
          <p:spPr>
            <a:xfrm flipH="1" flipV="1">
              <a:off x="3792" y="864"/>
              <a:ext cx="1286" cy="828"/>
            </a:xfrm>
            <a:custGeom>
              <a:avLst/>
              <a:gdLst>
                <a:gd name="txL" fmla="*/ 0 w 21378"/>
                <a:gd name="txT" fmla="*/ 0 h 21281"/>
                <a:gd name="txR" fmla="*/ 21378 w 21378"/>
                <a:gd name="txB" fmla="*/ 21281 h 21281"/>
              </a:gdLst>
              <a:ahLst/>
              <a:cxnLst>
                <a:cxn ang="0">
                  <a:pos x="13" y="0"/>
                </a:cxn>
                <a:cxn ang="0">
                  <a:pos x="77" y="28"/>
                </a:cxn>
                <a:cxn ang="0">
                  <a:pos x="0" y="32"/>
                </a:cxn>
              </a:cxnLst>
              <a:rect l="txL" t="txT" r="txR" b="txB"/>
              <a:pathLst>
                <a:path w="21378" h="21281" fill="none">
                  <a:moveTo>
                    <a:pt x="3698" y="0"/>
                  </a:moveTo>
                  <a:cubicBezTo>
                    <a:pt x="12906" y="1600"/>
                    <a:pt x="20040" y="8941"/>
                    <a:pt x="21377" y="18191"/>
                  </a:cubicBezTo>
                </a:path>
                <a:path w="21378" h="21281" stroke="0">
                  <a:moveTo>
                    <a:pt x="3698" y="0"/>
                  </a:moveTo>
                  <a:cubicBezTo>
                    <a:pt x="12906" y="1600"/>
                    <a:pt x="20040" y="8941"/>
                    <a:pt x="21377" y="18191"/>
                  </a:cubicBezTo>
                  <a:lnTo>
                    <a:pt x="0" y="21281"/>
                  </a:lnTo>
                  <a:close/>
                </a:path>
              </a:pathLst>
            </a:custGeom>
            <a:noFill/>
            <a:ln w="25400" cap="flat" cmpd="sng">
              <a:solidFill>
                <a:schemeClr val="accent6">
                  <a:lumMod val="75000"/>
                </a:schemeClr>
              </a:solidFill>
              <a:prstDash val="solid"/>
              <a:round/>
              <a:headEnd type="none" w="med" len="med"/>
              <a:tailEnd type="none" w="med" len="med"/>
            </a:ln>
          </p:spPr>
          <p:txBody>
            <a:bodyPr/>
            <a:lstStyle/>
            <a:p>
              <a:endParaRPr lang="zh-CN" altLang="en-US" sz="2800" dirty="0"/>
            </a:p>
          </p:txBody>
        </p:sp>
        <p:sp>
          <p:nvSpPr>
            <p:cNvPr id="22567" name="Line 27"/>
            <p:cNvSpPr/>
            <p:nvPr/>
          </p:nvSpPr>
          <p:spPr>
            <a:xfrm>
              <a:off x="4190" y="2112"/>
              <a:ext cx="0" cy="0"/>
            </a:xfrm>
            <a:prstGeom prst="line">
              <a:avLst/>
            </a:prstGeom>
            <a:ln w="9525" cap="flat" cmpd="sng">
              <a:solidFill>
                <a:schemeClr val="tx1"/>
              </a:solidFill>
              <a:prstDash val="solid"/>
              <a:headEnd type="none" w="med" len="med"/>
              <a:tailEnd type="none" w="med" len="med"/>
            </a:ln>
          </p:spPr>
        </p:sp>
        <p:sp>
          <p:nvSpPr>
            <p:cNvPr id="22571" name="Line 31"/>
            <p:cNvSpPr/>
            <p:nvPr/>
          </p:nvSpPr>
          <p:spPr>
            <a:xfrm>
              <a:off x="3408" y="2064"/>
              <a:ext cx="1920" cy="0"/>
            </a:xfrm>
            <a:prstGeom prst="line">
              <a:avLst/>
            </a:prstGeom>
            <a:ln w="19050" cap="flat" cmpd="sng">
              <a:solidFill>
                <a:schemeClr val="tx1"/>
              </a:solidFill>
              <a:prstDash val="solid"/>
              <a:headEnd type="none" w="med" len="med"/>
              <a:tailEnd type="triangle" w="sm" len="lg"/>
            </a:ln>
          </p:spPr>
        </p:sp>
        <p:sp>
          <p:nvSpPr>
            <p:cNvPr id="22572" name="Line 32"/>
            <p:cNvSpPr/>
            <p:nvPr/>
          </p:nvSpPr>
          <p:spPr>
            <a:xfrm flipV="1">
              <a:off x="3434" y="671"/>
              <a:ext cx="0" cy="1402"/>
            </a:xfrm>
            <a:prstGeom prst="line">
              <a:avLst/>
            </a:prstGeom>
            <a:ln w="19050" cap="flat" cmpd="sng">
              <a:solidFill>
                <a:schemeClr val="tx1"/>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22541" name="Object 43"/>
                <p:cNvSpPr txBox="1"/>
                <p:nvPr/>
              </p:nvSpPr>
              <p:spPr>
                <a:xfrm>
                  <a:off x="3137" y="624"/>
                  <a:ext cx="207" cy="24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𝑝</m:t>
                        </m:r>
                      </m:oMath>
                    </m:oMathPara>
                  </a14:m>
                  <a:endParaRPr lang="en-US" sz="2800"/>
                </a:p>
              </p:txBody>
            </p:sp>
          </mc:Choice>
          <mc:Fallback xmlns="">
            <p:sp>
              <p:nvSpPr>
                <p:cNvPr id="22541" name="Object 43"/>
                <p:cNvSpPr txBox="1">
                  <a:spLocks noRot="1" noChangeAspect="1" noMove="1" noResize="1" noEditPoints="1" noAdjustHandles="1" noChangeArrowheads="1" noChangeShapeType="1" noTextEdit="1"/>
                </p:cNvSpPr>
                <p:nvPr/>
              </p:nvSpPr>
              <p:spPr>
                <a:xfrm>
                  <a:off x="3137" y="624"/>
                  <a:ext cx="207" cy="245"/>
                </a:xfrm>
                <a:prstGeom prst="rect">
                  <a:avLst/>
                </a:prstGeom>
                <a:blipFill>
                  <a:blip r:embed="rId17"/>
                  <a:stretch>
                    <a:fillRect b="-18750"/>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542" name="Object 44"/>
                <p:cNvSpPr txBox="1"/>
                <p:nvPr/>
              </p:nvSpPr>
              <p:spPr>
                <a:xfrm>
                  <a:off x="5136" y="2112"/>
                  <a:ext cx="197" cy="220"/>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𝑉</m:t>
                        </m:r>
                      </m:oMath>
                    </m:oMathPara>
                  </a14:m>
                  <a:endParaRPr lang="en-US" sz="2800"/>
                </a:p>
              </p:txBody>
            </p:sp>
          </mc:Choice>
          <mc:Fallback xmlns="">
            <p:sp>
              <p:nvSpPr>
                <p:cNvPr id="22542" name="Object 44"/>
                <p:cNvSpPr txBox="1">
                  <a:spLocks noRot="1" noChangeAspect="1" noMove="1" noResize="1" noEditPoints="1" noAdjustHandles="1" noChangeArrowheads="1" noChangeShapeType="1" noTextEdit="1"/>
                </p:cNvSpPr>
                <p:nvPr/>
              </p:nvSpPr>
              <p:spPr>
                <a:xfrm>
                  <a:off x="5136" y="2112"/>
                  <a:ext cx="197" cy="220"/>
                </a:xfrm>
                <a:prstGeom prst="rect">
                  <a:avLst/>
                </a:prstGeom>
                <a:blipFill>
                  <a:blip r:embed="rId18"/>
                  <a:stretch>
                    <a:fillRect b="-12281"/>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543" name="Object 45"/>
                <p:cNvSpPr txBox="1"/>
                <p:nvPr/>
              </p:nvSpPr>
              <p:spPr>
                <a:xfrm>
                  <a:off x="3360" y="2064"/>
                  <a:ext cx="177" cy="204"/>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𝑜</m:t>
                        </m:r>
                      </m:oMath>
                    </m:oMathPara>
                  </a14:m>
                  <a:endParaRPr lang="en-US" sz="2800"/>
                </a:p>
              </p:txBody>
            </p:sp>
          </mc:Choice>
          <mc:Fallback xmlns="">
            <p:sp>
              <p:nvSpPr>
                <p:cNvPr id="22543" name="Object 45"/>
                <p:cNvSpPr txBox="1">
                  <a:spLocks noRot="1" noChangeAspect="1" noMove="1" noResize="1" noEditPoints="1" noAdjustHandles="1" noChangeArrowheads="1" noChangeShapeType="1" noTextEdit="1"/>
                </p:cNvSpPr>
                <p:nvPr/>
              </p:nvSpPr>
              <p:spPr>
                <a:xfrm>
                  <a:off x="3360" y="2064"/>
                  <a:ext cx="177" cy="204"/>
                </a:xfrm>
                <a:prstGeom prst="rect">
                  <a:avLst/>
                </a:prstGeom>
                <a:blipFill>
                  <a:blip r:embed="rId19"/>
                  <a:stretch>
                    <a:fillRect b="-22642"/>
                  </a:stretch>
                </a:blipFill>
                <a:ln w="38100">
                  <a:noFill/>
                  <a:miter/>
                </a:ln>
              </p:spPr>
              <p:txBody>
                <a:bodyPr/>
                <a:lstStyle/>
                <a:p>
                  <a:r>
                    <a:rPr lang="zh-CN" altLang="en-US">
                      <a:noFill/>
                    </a:rPr>
                    <a:t> </a:t>
                  </a:r>
                </a:p>
              </p:txBody>
            </p:sp>
          </mc:Fallback>
        </mc:AlternateContent>
      </p:grpSp>
      <p:sp>
        <p:nvSpPr>
          <p:cNvPr id="2" name="Text Box 13">
            <a:hlinkClick r:id="" action="ppaction://noaction"/>
            <a:extLst>
              <a:ext uri="{FF2B5EF4-FFF2-40B4-BE49-F238E27FC236}">
                <a16:creationId xmlns:a16="http://schemas.microsoft.com/office/drawing/2014/main" id="{EDB23F3E-DA17-FE7F-9D36-7A3F679CC2CE}"/>
              </a:ext>
            </a:extLst>
          </p:cNvPr>
          <p:cNvSpPr txBox="1">
            <a:spLocks noChangeArrowheads="1"/>
          </p:cNvSpPr>
          <p:nvPr/>
        </p:nvSpPr>
        <p:spPr bwMode="auto">
          <a:xfrm>
            <a:off x="834688" y="29172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过程方程</a:t>
            </a:r>
          </a:p>
        </p:txBody>
      </p:sp>
      <mc:AlternateContent xmlns:mc="http://schemas.openxmlformats.org/markup-compatibility/2006" xmlns:a14="http://schemas.microsoft.com/office/drawing/2010/main">
        <mc:Choice Requires="a14">
          <p:sp>
            <p:nvSpPr>
              <p:cNvPr id="6" name="Object 11">
                <a:extLst>
                  <a:ext uri="{FF2B5EF4-FFF2-40B4-BE49-F238E27FC236}">
                    <a16:creationId xmlns:a16="http://schemas.microsoft.com/office/drawing/2014/main" id="{7FD0833F-BD56-F875-8430-54B6E5948F43}"/>
                  </a:ext>
                </a:extLst>
              </p:cNvPr>
              <p:cNvSpPr txBox="1"/>
              <p:nvPr/>
            </p:nvSpPr>
            <p:spPr bwMode="auto">
              <a:xfrm>
                <a:off x="6826212" y="4476643"/>
                <a:ext cx="5822938" cy="930693"/>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𝑄</m:t>
                          </m:r>
                        </m:e>
                        <m:sub>
                          <m:r>
                            <a:rPr lang="en-US" altLang="zh-CN" sz="2800" i="1">
                              <a:solidFill>
                                <a:srgbClr val="000000"/>
                              </a:solidFill>
                              <a:latin typeface="Cambria Math" panose="02040503050406030204" pitchFamily="18" charset="0"/>
                            </a:rPr>
                            <m:t>𝑇</m:t>
                          </m:r>
                        </m:sub>
                      </m:sSub>
                      <m:r>
                        <a:rPr lang="zh-CN" altLang="en-US" sz="2800" i="1">
                          <a:solidFill>
                            <a:srgbClr val="000000"/>
                          </a:solidFill>
                          <a:latin typeface="Cambria Math" panose="02040503050406030204" pitchFamily="18" charset="0"/>
                        </a:rPr>
                        <m:t>=</m:t>
                      </m:r>
                      <m:r>
                        <a:rPr lang="en-US" altLang="zh-CN" sz="2800" i="1">
                          <a:solidFill>
                            <a:srgbClr val="000000"/>
                          </a:solidFill>
                          <a:latin typeface="Cambria Math" panose="02040503050406030204" pitchFamily="18" charset="0"/>
                        </a:rPr>
                        <m:t>𝐴</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𝜈</m:t>
                      </m:r>
                      <m:r>
                        <a:rPr lang="zh-CN" altLang="en-US" sz="2800" i="1">
                          <a:solidFill>
                            <a:srgbClr val="000000"/>
                          </a:solidFill>
                          <a:latin typeface="Cambria Math" panose="02040503050406030204" pitchFamily="18" charset="0"/>
                        </a:rPr>
                        <m:t>𝑅𝑇</m:t>
                      </m:r>
                      <m:func>
                        <m:funcPr>
                          <m:ctrlPr>
                            <a:rPr lang="zh-CN" altLang="en-US" sz="2800" i="1">
                              <a:solidFill>
                                <a:srgbClr val="000000"/>
                              </a:solidFill>
                              <a:latin typeface="Cambria Math" panose="02040503050406030204" pitchFamily="18" charset="0"/>
                            </a:rPr>
                          </m:ctrlPr>
                        </m:funcPr>
                        <m:fName>
                          <m:r>
                            <m:rPr>
                              <m:sty m:val="p"/>
                            </m:rPr>
                            <a:rPr lang="zh-CN" altLang="en-US" sz="2800" i="0">
                              <a:solidFill>
                                <a:srgbClr val="000000"/>
                              </a:solidFill>
                              <a:latin typeface="Cambria Math" panose="02040503050406030204" pitchFamily="18" charset="0"/>
                            </a:rPr>
                            <m:t>ln</m:t>
                          </m:r>
                        </m:fName>
                        <m:e>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2</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1</m:t>
                                  </m:r>
                                </m:sub>
                              </m:sSub>
                            </m:den>
                          </m:f>
                        </m:e>
                      </m:func>
                    </m:oMath>
                  </m:oMathPara>
                </a14:m>
                <a:endParaRPr lang="zh-CN" altLang="en-US" sz="2800" dirty="0"/>
              </a:p>
            </p:txBody>
          </p:sp>
        </mc:Choice>
        <mc:Fallback xmlns="">
          <p:sp>
            <p:nvSpPr>
              <p:cNvPr id="6" name="Object 11">
                <a:extLst>
                  <a:ext uri="{FF2B5EF4-FFF2-40B4-BE49-F238E27FC236}">
                    <a16:creationId xmlns:a16="http://schemas.microsoft.com/office/drawing/2014/main" id="{7FD0833F-BD56-F875-8430-54B6E5948F43}"/>
                  </a:ext>
                </a:extLst>
              </p:cNvPr>
              <p:cNvSpPr txBox="1">
                <a:spLocks noRot="1" noChangeAspect="1" noMove="1" noResize="1" noEditPoints="1" noAdjustHandles="1" noChangeArrowheads="1" noChangeShapeType="1" noTextEdit="1"/>
              </p:cNvSpPr>
              <p:nvPr/>
            </p:nvSpPr>
            <p:spPr bwMode="auto">
              <a:xfrm>
                <a:off x="6826212" y="4476643"/>
                <a:ext cx="5822938" cy="930693"/>
              </a:xfrm>
              <a:prstGeom prst="rect">
                <a:avLst/>
              </a:prstGeom>
              <a:blipFill>
                <a:blip r:embed="rId20"/>
                <a:stretch>
                  <a:fillRect/>
                </a:stretch>
              </a:blipFill>
            </p:spPr>
            <p:txBody>
              <a:bodyPr/>
              <a:lstStyle/>
              <a:p>
                <a:r>
                  <a:rPr lang="en-US">
                    <a:noFill/>
                  </a:rPr>
                  <a:t> </a:t>
                </a:r>
              </a:p>
            </p:txBody>
          </p:sp>
        </mc:Fallback>
      </mc:AlternateContent>
      <p:sp>
        <p:nvSpPr>
          <p:cNvPr id="51" name="Line 21">
            <a:extLst>
              <a:ext uri="{FF2B5EF4-FFF2-40B4-BE49-F238E27FC236}">
                <a16:creationId xmlns:a16="http://schemas.microsoft.com/office/drawing/2014/main" id="{CB42571F-EA2C-4D20-ABF0-B3FBE968C546}"/>
              </a:ext>
            </a:extLst>
          </p:cNvPr>
          <p:cNvSpPr/>
          <p:nvPr/>
        </p:nvSpPr>
        <p:spPr>
          <a:xfrm>
            <a:off x="1829831" y="2540002"/>
            <a:ext cx="0" cy="1219200"/>
          </a:xfrm>
          <a:prstGeom prst="line">
            <a:avLst/>
          </a:prstGeom>
          <a:ln w="25400" cap="flat" cmpd="sng">
            <a:solidFill>
              <a:schemeClr val="accent4">
                <a:lumMod val="60000"/>
                <a:lumOff val="40000"/>
              </a:schemeClr>
            </a:solidFill>
            <a:prstDash val="solid"/>
            <a:headEnd type="none" w="med" len="med"/>
            <a:tailEnd type="none" w="med" len="med"/>
          </a:ln>
        </p:spPr>
      </p:sp>
      <p:sp>
        <p:nvSpPr>
          <p:cNvPr id="54" name="Line 13">
            <a:extLst>
              <a:ext uri="{FF2B5EF4-FFF2-40B4-BE49-F238E27FC236}">
                <a16:creationId xmlns:a16="http://schemas.microsoft.com/office/drawing/2014/main" id="{A4C31766-D73D-46D1-92FF-DF855C230F63}"/>
              </a:ext>
            </a:extLst>
          </p:cNvPr>
          <p:cNvSpPr/>
          <p:nvPr/>
        </p:nvSpPr>
        <p:spPr>
          <a:xfrm>
            <a:off x="1829830" y="3748088"/>
            <a:ext cx="1622421" cy="0"/>
          </a:xfrm>
          <a:prstGeom prst="line">
            <a:avLst/>
          </a:prstGeom>
          <a:ln w="38100" cap="flat" cmpd="sng">
            <a:solidFill>
              <a:schemeClr val="accent1">
                <a:lumMod val="60000"/>
                <a:lumOff val="40000"/>
              </a:schemeClr>
            </a:solidFill>
            <a:prstDash val="solid"/>
            <a:headEnd type="none" w="med" len="med"/>
            <a:tailEnd type="none" w="med" len="med"/>
          </a:ln>
        </p:spPr>
      </p:sp>
      <p:sp>
        <p:nvSpPr>
          <p:cNvPr id="57" name="Arc 7">
            <a:extLst>
              <a:ext uri="{FF2B5EF4-FFF2-40B4-BE49-F238E27FC236}">
                <a16:creationId xmlns:a16="http://schemas.microsoft.com/office/drawing/2014/main" id="{E23BDB56-DB8C-401D-BC62-2E23C4BE94AE}"/>
              </a:ext>
            </a:extLst>
          </p:cNvPr>
          <p:cNvSpPr/>
          <p:nvPr/>
        </p:nvSpPr>
        <p:spPr>
          <a:xfrm flipH="1" flipV="1">
            <a:off x="1993714" y="1534432"/>
            <a:ext cx="1846263" cy="2175556"/>
          </a:xfrm>
          <a:custGeom>
            <a:avLst/>
            <a:gdLst>
              <a:gd name="txL" fmla="*/ 0 w 21059"/>
              <a:gd name="txT" fmla="*/ 0 h 21281"/>
              <a:gd name="txR" fmla="*/ 21059 w 21059"/>
              <a:gd name="txB" fmla="*/ 21281 h 21281"/>
            </a:gdLst>
            <a:ahLst/>
            <a:cxnLst>
              <a:cxn ang="0">
                <a:pos x="11" y="0"/>
              </a:cxn>
              <a:cxn ang="0">
                <a:pos x="64" y="65"/>
              </a:cxn>
              <a:cxn ang="0">
                <a:pos x="0" y="84"/>
              </a:cxn>
            </a:cxnLst>
            <a:rect l="txL" t="txT" r="txR" b="txB"/>
            <a:pathLst>
              <a:path w="21059" h="21281" fill="none">
                <a:moveTo>
                  <a:pt x="3698" y="0"/>
                </a:moveTo>
                <a:cubicBezTo>
                  <a:pt x="12277" y="1491"/>
                  <a:pt x="19121" y="7986"/>
                  <a:pt x="21058" y="16475"/>
                </a:cubicBezTo>
              </a:path>
              <a:path w="21059" h="21281" stroke="0">
                <a:moveTo>
                  <a:pt x="3698" y="0"/>
                </a:moveTo>
                <a:cubicBezTo>
                  <a:pt x="12277" y="1491"/>
                  <a:pt x="19121" y="7986"/>
                  <a:pt x="21058" y="16475"/>
                </a:cubicBezTo>
                <a:lnTo>
                  <a:pt x="0" y="21281"/>
                </a:lnTo>
                <a:close/>
              </a:path>
            </a:pathLst>
          </a:custGeom>
          <a:noFill/>
          <a:ln w="25400" cap="flat" cmpd="sng">
            <a:solidFill>
              <a:schemeClr val="accent2">
                <a:lumMod val="75000"/>
              </a:schemeClr>
            </a:solidFill>
            <a:prstDash val="solid"/>
            <a:round/>
            <a:headEnd type="none" w="med" len="med"/>
            <a:tailEnd type="none" w="med" len="med"/>
          </a:ln>
        </p:spPr>
        <p:txBody>
          <a:bodyPr/>
          <a:lstStyle/>
          <a:p>
            <a:endParaRPr lang="zh-CN" altLang="en-US" sz="2800"/>
          </a:p>
        </p:txBody>
      </p:sp>
      <mc:AlternateContent xmlns:mc="http://schemas.openxmlformats.org/markup-compatibility/2006" xmlns:a14="http://schemas.microsoft.com/office/drawing/2010/main">
        <mc:Choice Requires="a14">
          <p:sp>
            <p:nvSpPr>
              <p:cNvPr id="59" name="Object 6">
                <a:extLst>
                  <a:ext uri="{FF2B5EF4-FFF2-40B4-BE49-F238E27FC236}">
                    <a16:creationId xmlns:a16="http://schemas.microsoft.com/office/drawing/2014/main" id="{99613C42-899D-4B38-9620-2C3BE06E3E03}"/>
                  </a:ext>
                </a:extLst>
              </p:cNvPr>
              <p:cNvSpPr txBox="1"/>
              <p:nvPr/>
            </p:nvSpPr>
            <p:spPr>
              <a:xfrm>
                <a:off x="4974811" y="657328"/>
                <a:ext cx="4120656" cy="619125"/>
              </a:xfrm>
              <a:prstGeom prst="rect">
                <a:avLst/>
              </a:prstGeom>
              <a:noFill/>
              <a:ln w="38100">
                <a:noFill/>
                <a:miter/>
              </a:ln>
            </p:spPr>
            <p:txBody>
              <a:bodyPr>
                <a:normAutofit/>
              </a:bodyPr>
              <a:lstStyle/>
              <a:p>
                <a:r>
                  <a:rPr lang="zh-CN" altLang="en-US" sz="2800" b="0" dirty="0">
                    <a:solidFill>
                      <a:srgbClr val="000000"/>
                    </a:solidFill>
                  </a:rPr>
                  <a:t>等体</a:t>
                </a:r>
                <a14:m>
                  <m:oMath xmlns:m="http://schemas.openxmlformats.org/officeDocument/2006/math">
                    <m:r>
                      <a:rPr lang="zh-CN" altLang="en-US" sz="2800" i="1">
                        <a:solidFill>
                          <a:srgbClr val="000000"/>
                        </a:solidFill>
                        <a:latin typeface="Cambria Math" panose="02040503050406030204" pitchFamily="18" charset="0"/>
                      </a:rPr>
                      <m:t>过程</m:t>
                    </m:r>
                    <m:r>
                      <a:rPr lang="zh-CN" altLang="en-US" sz="2800" i="1" smtClean="0">
                        <a:solidFill>
                          <a:srgbClr val="000000"/>
                        </a:solidFill>
                        <a:latin typeface="Cambria Math" panose="02040503050406030204" pitchFamily="18" charset="0"/>
                      </a:rPr>
                      <m:t>：</m:t>
                    </m:r>
                    <m:r>
                      <a:rPr lang="en-US" altLang="zh-CN" sz="2800" b="0" i="0" smtClean="0">
                        <a:solidFill>
                          <a:srgbClr val="000000"/>
                        </a:solidFill>
                        <a:latin typeface="Cambria Math" panose="02040503050406030204" pitchFamily="18" charset="0"/>
                      </a:rPr>
                      <m:t> </m:t>
                    </m:r>
                    <m:r>
                      <m:rPr>
                        <m:sty m:val="p"/>
                      </m:rPr>
                      <a:rPr lang="en-US" sz="2800" b="0" i="0">
                        <a:solidFill>
                          <a:srgbClr val="000000"/>
                        </a:solidFill>
                        <a:latin typeface="Cambria Math" panose="02040503050406030204" pitchFamily="18" charset="0"/>
                      </a:rPr>
                      <m:t>d</m:t>
                    </m:r>
                    <m:r>
                      <m:rPr>
                        <m:sty m:val="p"/>
                      </m:rPr>
                      <a:rPr lang="en-US" altLang="zh-CN" sz="2800" i="1">
                        <a:solidFill>
                          <a:srgbClr val="000000"/>
                        </a:solidFill>
                        <a:latin typeface="Cambria Math" panose="02040503050406030204" pitchFamily="18" charset="0"/>
                      </a:rPr>
                      <m:t>A</m:t>
                    </m:r>
                    <m:r>
                      <a:rPr lang="en-US" sz="2800" b="0" i="1">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0</m:t>
                    </m:r>
                  </m:oMath>
                </a14:m>
                <a:endParaRPr lang="en-US" sz="2800" dirty="0"/>
              </a:p>
            </p:txBody>
          </p:sp>
        </mc:Choice>
        <mc:Fallback xmlns="">
          <p:sp>
            <p:nvSpPr>
              <p:cNvPr id="59" name="Object 6">
                <a:extLst>
                  <a:ext uri="{FF2B5EF4-FFF2-40B4-BE49-F238E27FC236}">
                    <a16:creationId xmlns:a16="http://schemas.microsoft.com/office/drawing/2014/main" id="{99613C42-899D-4B38-9620-2C3BE06E3E03}"/>
                  </a:ext>
                </a:extLst>
              </p:cNvPr>
              <p:cNvSpPr txBox="1">
                <a:spLocks noRot="1" noChangeAspect="1" noMove="1" noResize="1" noEditPoints="1" noAdjustHandles="1" noChangeArrowheads="1" noChangeShapeType="1" noTextEdit="1"/>
              </p:cNvSpPr>
              <p:nvPr/>
            </p:nvSpPr>
            <p:spPr>
              <a:xfrm>
                <a:off x="4974811" y="657328"/>
                <a:ext cx="4120656" cy="619125"/>
              </a:xfrm>
              <a:prstGeom prst="rect">
                <a:avLst/>
              </a:prstGeom>
              <a:blipFill>
                <a:blip r:embed="rId21"/>
                <a:stretch>
                  <a:fillRect l="-2959" t="-10891" b="-11881"/>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Object 22">
                <a:extLst>
                  <a:ext uri="{FF2B5EF4-FFF2-40B4-BE49-F238E27FC236}">
                    <a16:creationId xmlns:a16="http://schemas.microsoft.com/office/drawing/2014/main" id="{9F5C287E-28FF-4B33-A5B1-E14694C72EC3}"/>
                  </a:ext>
                </a:extLst>
              </p:cNvPr>
              <p:cNvSpPr txBox="1"/>
              <p:nvPr/>
            </p:nvSpPr>
            <p:spPr bwMode="auto">
              <a:xfrm>
                <a:off x="3891732" y="1167762"/>
                <a:ext cx="7543153" cy="965200"/>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𝑄</m:t>
                          </m:r>
                        </m:e>
                        <m:sub>
                          <m:r>
                            <a:rPr lang="en-US" sz="2800" i="1">
                              <a:solidFill>
                                <a:srgbClr val="000000"/>
                              </a:solidFill>
                              <a:latin typeface="Cambria Math" panose="02040503050406030204" pitchFamily="18" charset="0"/>
                            </a:rPr>
                            <m:t>𝑉</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𝐸</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𝐸</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𝑖</m:t>
                          </m:r>
                        </m:num>
                        <m:den>
                          <m:r>
                            <a:rPr lang="en-US" sz="2800" i="1">
                              <a:solidFill>
                                <a:srgbClr val="000000"/>
                              </a:solidFill>
                              <a:latin typeface="Cambria Math" panose="02040503050406030204" pitchFamily="18" charset="0"/>
                            </a:rPr>
                            <m:t>2</m:t>
                          </m:r>
                        </m:den>
                      </m:f>
                      <m:r>
                        <m:rPr>
                          <m:sty m:val="p"/>
                        </m:rPr>
                        <a:rPr lang="el-GR" altLang="zh-CN" sz="2800" i="1">
                          <a:solidFill>
                            <a:srgbClr val="000000"/>
                          </a:solidFill>
                          <a:latin typeface="Cambria Math" panose="02040503050406030204" pitchFamily="18" charset="0"/>
                        </a:rPr>
                        <m:t>ν</m:t>
                      </m:r>
                      <m:r>
                        <a:rPr lang="en-US" sz="2800" i="1">
                          <a:solidFill>
                            <a:srgbClr val="000000"/>
                          </a:solidFill>
                          <a:latin typeface="Cambria Math" panose="02040503050406030204" pitchFamily="18" charset="0"/>
                        </a:rPr>
                        <m:t>𝑅</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69" name="Object 22">
                <a:extLst>
                  <a:ext uri="{FF2B5EF4-FFF2-40B4-BE49-F238E27FC236}">
                    <a16:creationId xmlns:a16="http://schemas.microsoft.com/office/drawing/2014/main" id="{9F5C287E-28FF-4B33-A5B1-E14694C72EC3}"/>
                  </a:ext>
                </a:extLst>
              </p:cNvPr>
              <p:cNvSpPr txBox="1">
                <a:spLocks noRot="1" noChangeAspect="1" noMove="1" noResize="1" noEditPoints="1" noAdjustHandles="1" noChangeArrowheads="1" noChangeShapeType="1" noTextEdit="1"/>
              </p:cNvSpPr>
              <p:nvPr/>
            </p:nvSpPr>
            <p:spPr bwMode="auto">
              <a:xfrm>
                <a:off x="3891732" y="1167762"/>
                <a:ext cx="7543153" cy="965200"/>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Object 31">
                <a:extLst>
                  <a:ext uri="{FF2B5EF4-FFF2-40B4-BE49-F238E27FC236}">
                    <a16:creationId xmlns:a16="http://schemas.microsoft.com/office/drawing/2014/main" id="{1D115B93-D8F8-42C7-8284-E9B03684357F}"/>
                  </a:ext>
                </a:extLst>
              </p:cNvPr>
              <p:cNvSpPr txBox="1"/>
              <p:nvPr/>
            </p:nvSpPr>
            <p:spPr>
              <a:xfrm>
                <a:off x="4743998" y="2305052"/>
                <a:ext cx="7222816" cy="488950"/>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zh-CN" altLang="en-US" sz="2800" i="1" smtClean="0">
                          <a:solidFill>
                            <a:srgbClr val="000000"/>
                          </a:solidFill>
                          <a:latin typeface="Cambria Math" panose="02040503050406030204" pitchFamily="18" charset="0"/>
                        </a:rPr>
                        <m:t>等压过程</m:t>
                      </m:r>
                      <m:r>
                        <a:rPr lang="zh-CN" altLang="en-US" sz="2800" i="1">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 </m:t>
                      </m:r>
                      <m:r>
                        <a:rPr lang="en-US" sz="2800" b="0" i="1" smtClean="0">
                          <a:solidFill>
                            <a:srgbClr val="000000"/>
                          </a:solidFill>
                          <a:latin typeface="Cambria Math" panose="02040503050406030204" pitchFamily="18" charset="0"/>
                        </a:rPr>
                        <m:t>𝐴</m:t>
                      </m:r>
                      <m:r>
                        <a:rPr lang="en-US" sz="2800" b="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𝑝</m:t>
                      </m:r>
                      <m:d>
                        <m:dPr>
                          <m:ctrlPr>
                            <a:rPr lang="en-US" sz="2800" b="0" i="1" smtClean="0">
                              <a:solidFill>
                                <a:srgbClr val="000000"/>
                              </a:solidFill>
                              <a:latin typeface="Cambria Math" panose="02040503050406030204" pitchFamily="18" charset="0"/>
                            </a:rPr>
                          </m:ctrlPr>
                        </m:dPr>
                        <m:e>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𝑉</m:t>
                              </m:r>
                            </m:e>
                            <m:sub>
                              <m:r>
                                <a:rPr lang="en-US" sz="2800" b="0" i="1" smtClean="0">
                                  <a:solidFill>
                                    <a:srgbClr val="000000"/>
                                  </a:solidFill>
                                  <a:latin typeface="Cambria Math" panose="02040503050406030204" pitchFamily="18" charset="0"/>
                                </a:rPr>
                                <m:t>2</m:t>
                              </m:r>
                            </m:sub>
                          </m:sSub>
                          <m:r>
                            <a:rPr lang="en-US" sz="2800" b="0" i="1" smtClean="0">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𝑉</m:t>
                              </m:r>
                            </m:e>
                            <m:sub>
                              <m:r>
                                <a:rPr lang="en-US" sz="2800" b="0" i="1" smtClean="0">
                                  <a:solidFill>
                                    <a:srgbClr val="000000"/>
                                  </a:solidFill>
                                  <a:latin typeface="Cambria Math" panose="02040503050406030204" pitchFamily="18" charset="0"/>
                                </a:rPr>
                                <m:t>1</m:t>
                              </m:r>
                            </m:sub>
                          </m:sSub>
                        </m:e>
                      </m:d>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𝜈</m:t>
                      </m:r>
                      <m:r>
                        <a:rPr lang="en-US" sz="2800" i="1">
                          <a:solidFill>
                            <a:srgbClr val="000000"/>
                          </a:solidFill>
                          <a:latin typeface="Cambria Math" panose="02040503050406030204" pitchFamily="18" charset="0"/>
                        </a:rPr>
                        <m:t>𝑅</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70" name="Object 31">
                <a:extLst>
                  <a:ext uri="{FF2B5EF4-FFF2-40B4-BE49-F238E27FC236}">
                    <a16:creationId xmlns:a16="http://schemas.microsoft.com/office/drawing/2014/main" id="{1D115B93-D8F8-42C7-8284-E9B03684357F}"/>
                  </a:ext>
                </a:extLst>
              </p:cNvPr>
              <p:cNvSpPr txBox="1">
                <a:spLocks noRot="1" noChangeAspect="1" noMove="1" noResize="1" noEditPoints="1" noAdjustHandles="1" noChangeArrowheads="1" noChangeShapeType="1" noTextEdit="1"/>
              </p:cNvSpPr>
              <p:nvPr/>
            </p:nvSpPr>
            <p:spPr>
              <a:xfrm>
                <a:off x="4743998" y="2305052"/>
                <a:ext cx="7222816" cy="488950"/>
              </a:xfrm>
              <a:prstGeom prst="rect">
                <a:avLst/>
              </a:prstGeom>
              <a:blipFill>
                <a:blip r:embed="rId23"/>
                <a:stretch>
                  <a:fillRect/>
                </a:stretch>
              </a:blipFill>
              <a:ln w="38100">
                <a:noFill/>
                <a:miter/>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1" name="Object 87">
                <a:extLst>
                  <a:ext uri="{FF2B5EF4-FFF2-40B4-BE49-F238E27FC236}">
                    <a16:creationId xmlns:a16="http://schemas.microsoft.com/office/drawing/2014/main" id="{3A383757-D028-470D-8DF0-1E8AAB459595}"/>
                  </a:ext>
                </a:extLst>
              </p:cNvPr>
              <p:cNvSpPr txBox="1"/>
              <p:nvPr/>
            </p:nvSpPr>
            <p:spPr bwMode="auto">
              <a:xfrm>
                <a:off x="6717154" y="2923678"/>
                <a:ext cx="4717731" cy="1092200"/>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𝑖</m:t>
                          </m:r>
                          <m:r>
                            <a:rPr lang="en-US" sz="2800" i="1">
                              <a:solidFill>
                                <a:srgbClr val="000000"/>
                              </a:solidFill>
                              <a:latin typeface="Cambria Math" panose="02040503050406030204" pitchFamily="18" charset="0"/>
                            </a:rPr>
                            <m:t>+2</m:t>
                          </m:r>
                        </m:num>
                        <m:den>
                          <m:r>
                            <a:rPr lang="en-US" sz="2800" i="1">
                              <a:solidFill>
                                <a:srgbClr val="000000"/>
                              </a:solidFill>
                              <a:latin typeface="Cambria Math" panose="02040503050406030204" pitchFamily="18" charset="0"/>
                            </a:rPr>
                            <m:t>2</m:t>
                          </m:r>
                        </m:den>
                      </m:f>
                      <m:r>
                        <a:rPr lang="en-US" altLang="zh-CN" sz="2800" i="1">
                          <a:solidFill>
                            <a:srgbClr val="000000"/>
                          </a:solidFill>
                          <a:latin typeface="Cambria Math" panose="02040503050406030204" pitchFamily="18" charset="0"/>
                        </a:rPr>
                        <m:t>𝜈</m:t>
                      </m:r>
                      <m:r>
                        <a:rPr lang="en-US" sz="2800" i="1">
                          <a:solidFill>
                            <a:srgbClr val="000000"/>
                          </a:solidFill>
                          <a:latin typeface="Cambria Math" panose="02040503050406030204" pitchFamily="18" charset="0"/>
                        </a:rPr>
                        <m:t>𝑅</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oMath>
                  </m:oMathPara>
                </a14:m>
                <a:endParaRPr lang="en-US" sz="2800" dirty="0"/>
              </a:p>
            </p:txBody>
          </p:sp>
        </mc:Choice>
        <mc:Fallback>
          <p:sp>
            <p:nvSpPr>
              <p:cNvPr id="71" name="Object 87">
                <a:extLst>
                  <a:ext uri="{FF2B5EF4-FFF2-40B4-BE49-F238E27FC236}">
                    <a16:creationId xmlns:a16="http://schemas.microsoft.com/office/drawing/2014/main" id="{3A383757-D028-470D-8DF0-1E8AAB459595}"/>
                  </a:ext>
                </a:extLst>
              </p:cNvPr>
              <p:cNvSpPr txBox="1">
                <a:spLocks noRot="1" noChangeAspect="1" noMove="1" noResize="1" noEditPoints="1" noAdjustHandles="1" noChangeArrowheads="1" noChangeShapeType="1" noTextEdit="1"/>
              </p:cNvSpPr>
              <p:nvPr/>
            </p:nvSpPr>
            <p:spPr bwMode="auto">
              <a:xfrm>
                <a:off x="6717154" y="2923678"/>
                <a:ext cx="4717731" cy="1092200"/>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2" name="Object 85">
                <a:extLst>
                  <a:ext uri="{FF2B5EF4-FFF2-40B4-BE49-F238E27FC236}">
                    <a16:creationId xmlns:a16="http://schemas.microsoft.com/office/drawing/2014/main" id="{D71FF14F-0E78-4A8A-9448-E611879B70E6}"/>
                  </a:ext>
                </a:extLst>
              </p:cNvPr>
              <p:cNvSpPr txBox="1"/>
              <p:nvPr/>
            </p:nvSpPr>
            <p:spPr bwMode="auto">
              <a:xfrm>
                <a:off x="5146077" y="3127845"/>
                <a:ext cx="2602478" cy="665814"/>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𝑄</m:t>
                          </m:r>
                        </m:e>
                        <m:sub>
                          <m:r>
                            <a:rPr lang="en-US" sz="2800" i="1">
                              <a:solidFill>
                                <a:schemeClr val="tx1"/>
                              </a:solidFill>
                              <a:latin typeface="Cambria Math" panose="02040503050406030204" pitchFamily="18" charset="0"/>
                            </a:rPr>
                            <m:t>𝑝</m:t>
                          </m:r>
                        </m:sub>
                      </m:sSub>
                      <m:r>
                        <a:rPr lang="en-US" sz="2800" i="1">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𝛥</m:t>
                      </m:r>
                      <m:r>
                        <a:rPr lang="en-US" sz="2800" i="1">
                          <a:solidFill>
                            <a:schemeClr val="tx1"/>
                          </a:solidFill>
                          <a:latin typeface="Cambria Math" panose="02040503050406030204" pitchFamily="18" charset="0"/>
                        </a:rPr>
                        <m:t>𝐸</m:t>
                      </m:r>
                      <m:r>
                        <a:rPr lang="en-US" sz="2800" i="1">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𝐴</m:t>
                      </m:r>
                      <m:r>
                        <a:rPr lang="en-US" sz="2800" i="1">
                          <a:solidFill>
                            <a:schemeClr val="tx1"/>
                          </a:solidFill>
                          <a:latin typeface="Cambria Math" panose="02040503050406030204" pitchFamily="18" charset="0"/>
                        </a:rPr>
                        <m:t>=</m:t>
                      </m:r>
                    </m:oMath>
                  </m:oMathPara>
                </a14:m>
                <a:endParaRPr lang="en-US" sz="2800" dirty="0">
                  <a:solidFill>
                    <a:schemeClr val="tx1"/>
                  </a:solidFill>
                </a:endParaRPr>
              </a:p>
            </p:txBody>
          </p:sp>
        </mc:Choice>
        <mc:Fallback>
          <p:sp>
            <p:nvSpPr>
              <p:cNvPr id="72" name="Object 85">
                <a:extLst>
                  <a:ext uri="{FF2B5EF4-FFF2-40B4-BE49-F238E27FC236}">
                    <a16:creationId xmlns:a16="http://schemas.microsoft.com/office/drawing/2014/main" id="{D71FF14F-0E78-4A8A-9448-E611879B70E6}"/>
                  </a:ext>
                </a:extLst>
              </p:cNvPr>
              <p:cNvSpPr txBox="1">
                <a:spLocks noRot="1" noChangeAspect="1" noMove="1" noResize="1" noEditPoints="1" noAdjustHandles="1" noChangeArrowheads="1" noChangeShapeType="1" noTextEdit="1"/>
              </p:cNvSpPr>
              <p:nvPr/>
            </p:nvSpPr>
            <p:spPr bwMode="auto">
              <a:xfrm>
                <a:off x="5146077" y="3127845"/>
                <a:ext cx="2602478" cy="665814"/>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3" name="Object 35">
                <a:extLst>
                  <a:ext uri="{FF2B5EF4-FFF2-40B4-BE49-F238E27FC236}">
                    <a16:creationId xmlns:a16="http://schemas.microsoft.com/office/drawing/2014/main" id="{7B6672A6-1439-4D6B-8749-BD8CCBB88FFC}"/>
                  </a:ext>
                </a:extLst>
              </p:cNvPr>
              <p:cNvSpPr txBox="1"/>
              <p:nvPr/>
            </p:nvSpPr>
            <p:spPr>
              <a:xfrm>
                <a:off x="1982301" y="5455496"/>
                <a:ext cx="2085973" cy="481013"/>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m:rPr>
                          <m:sty m:val="p"/>
                        </m:rPr>
                        <a:rPr lang="en-US" sz="2800" i="0">
                          <a:solidFill>
                            <a:srgbClr val="000000"/>
                          </a:solidFill>
                          <a:latin typeface="Cambria Math" panose="02040503050406030204" pitchFamily="18" charset="0"/>
                        </a:rPr>
                        <m:t>d</m:t>
                      </m:r>
                      <m:r>
                        <a:rPr lang="en-US" sz="2800" i="1">
                          <a:solidFill>
                            <a:srgbClr val="000000"/>
                          </a:solidFill>
                          <a:latin typeface="Cambria Math" panose="02040503050406030204" pitchFamily="18" charset="0"/>
                        </a:rPr>
                        <m:t>𝐴</m:t>
                      </m:r>
                      <m:r>
                        <a:rPr lang="en-US" sz="2800" i="1">
                          <a:solidFill>
                            <a:srgbClr val="000000"/>
                          </a:solidFill>
                          <a:latin typeface="Cambria Math" panose="02040503050406030204" pitchFamily="18" charset="0"/>
                        </a:rPr>
                        <m:t>=−</m:t>
                      </m:r>
                      <m:r>
                        <m:rPr>
                          <m:sty m:val="p"/>
                        </m:rPr>
                        <a:rPr lang="en-US" sz="2800" i="0">
                          <a:solidFill>
                            <a:srgbClr val="000000"/>
                          </a:solidFill>
                          <a:latin typeface="Cambria Math" panose="02040503050406030204" pitchFamily="18" charset="0"/>
                        </a:rPr>
                        <m:t>d</m:t>
                      </m:r>
                      <m:r>
                        <a:rPr lang="en-US" sz="2800" i="1">
                          <a:solidFill>
                            <a:srgbClr val="000000"/>
                          </a:solidFill>
                          <a:latin typeface="Cambria Math" panose="02040503050406030204" pitchFamily="18" charset="0"/>
                        </a:rPr>
                        <m:t>𝐸</m:t>
                      </m:r>
                    </m:oMath>
                  </m:oMathPara>
                </a14:m>
                <a:endParaRPr lang="en-US" sz="2800" dirty="0"/>
              </a:p>
            </p:txBody>
          </p:sp>
        </mc:Choice>
        <mc:Fallback>
          <p:sp>
            <p:nvSpPr>
              <p:cNvPr id="73" name="Object 35">
                <a:extLst>
                  <a:ext uri="{FF2B5EF4-FFF2-40B4-BE49-F238E27FC236}">
                    <a16:creationId xmlns:a16="http://schemas.microsoft.com/office/drawing/2014/main" id="{7B6672A6-1439-4D6B-8749-BD8CCBB88FFC}"/>
                  </a:ext>
                </a:extLst>
              </p:cNvPr>
              <p:cNvSpPr txBox="1">
                <a:spLocks noRot="1" noChangeAspect="1" noMove="1" noResize="1" noEditPoints="1" noAdjustHandles="1" noChangeArrowheads="1" noChangeShapeType="1" noTextEdit="1"/>
              </p:cNvSpPr>
              <p:nvPr/>
            </p:nvSpPr>
            <p:spPr>
              <a:xfrm>
                <a:off x="1982301" y="5455496"/>
                <a:ext cx="2085973" cy="481013"/>
              </a:xfrm>
              <a:prstGeom prst="rect">
                <a:avLst/>
              </a:prstGeom>
              <a:blipFill>
                <a:blip r:embed="rId26"/>
                <a:stretch>
                  <a:fillRect/>
                </a:stretch>
              </a:blipFill>
              <a:ln w="38100">
                <a:noFill/>
                <a:miter/>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4" name="文本框 73">
                <a:extLst>
                  <a:ext uri="{FF2B5EF4-FFF2-40B4-BE49-F238E27FC236}">
                    <a16:creationId xmlns:a16="http://schemas.microsoft.com/office/drawing/2014/main" id="{D2F69FFB-44BA-42AC-91B7-F3490CFD1AFD}"/>
                  </a:ext>
                </a:extLst>
              </p:cNvPr>
              <p:cNvSpPr txBox="1"/>
              <p:nvPr/>
            </p:nvSpPr>
            <p:spPr>
              <a:xfrm>
                <a:off x="3416767" y="5257914"/>
                <a:ext cx="2838450" cy="89319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smtClean="0">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𝑖</m:t>
                          </m:r>
                        </m:num>
                        <m:den>
                          <m:r>
                            <a:rPr lang="en-US" sz="2800" i="1">
                              <a:solidFill>
                                <a:srgbClr val="000000"/>
                              </a:solidFill>
                              <a:latin typeface="Cambria Math" panose="02040503050406030204" pitchFamily="18" charset="0"/>
                            </a:rPr>
                            <m:t>2</m:t>
                          </m:r>
                        </m:den>
                      </m:f>
                      <m:r>
                        <m:rPr>
                          <m:sty m:val="p"/>
                        </m:rPr>
                        <a:rPr lang="el-GR" altLang="zh-CN" sz="2800" i="1">
                          <a:solidFill>
                            <a:srgbClr val="000000"/>
                          </a:solidFill>
                          <a:latin typeface="Cambria Math" panose="02040503050406030204" pitchFamily="18" charset="0"/>
                        </a:rPr>
                        <m:t>ν</m:t>
                      </m:r>
                      <m:r>
                        <a:rPr lang="en-US" sz="2800" i="1">
                          <a:solidFill>
                            <a:srgbClr val="000000"/>
                          </a:solidFill>
                          <a:latin typeface="Cambria Math" panose="02040503050406030204" pitchFamily="18" charset="0"/>
                        </a:rPr>
                        <m:t>𝑅</m:t>
                      </m:r>
                      <m:r>
                        <m:rPr>
                          <m:sty m:val="p"/>
                        </m:rPr>
                        <a:rPr lang="en-US" altLang="zh-CN" sz="2800" i="0">
                          <a:solidFill>
                            <a:srgbClr val="000000"/>
                          </a:solidFill>
                          <a:latin typeface="Cambria Math" panose="02040503050406030204" pitchFamily="18" charset="0"/>
                        </a:rPr>
                        <m:t>d</m:t>
                      </m:r>
                      <m:r>
                        <a:rPr lang="en-US" altLang="zh-CN" sz="2800" i="1">
                          <a:solidFill>
                            <a:srgbClr val="000000"/>
                          </a:solidFill>
                          <a:latin typeface="Cambria Math" panose="02040503050406030204" pitchFamily="18" charset="0"/>
                        </a:rPr>
                        <m:t>𝑇</m:t>
                      </m:r>
                    </m:oMath>
                  </m:oMathPara>
                </a14:m>
                <a:endParaRPr lang="zh-CN" altLang="en-US" sz="2800" dirty="0"/>
              </a:p>
            </p:txBody>
          </p:sp>
        </mc:Choice>
        <mc:Fallback>
          <p:sp>
            <p:nvSpPr>
              <p:cNvPr id="74" name="文本框 73">
                <a:extLst>
                  <a:ext uri="{FF2B5EF4-FFF2-40B4-BE49-F238E27FC236}">
                    <a16:creationId xmlns:a16="http://schemas.microsoft.com/office/drawing/2014/main" id="{D2F69FFB-44BA-42AC-91B7-F3490CFD1AFD}"/>
                  </a:ext>
                </a:extLst>
              </p:cNvPr>
              <p:cNvSpPr txBox="1">
                <a:spLocks noRot="1" noChangeAspect="1" noMove="1" noResize="1" noEditPoints="1" noAdjustHandles="1" noChangeArrowheads="1" noChangeShapeType="1" noTextEdit="1"/>
              </p:cNvSpPr>
              <p:nvPr/>
            </p:nvSpPr>
            <p:spPr>
              <a:xfrm>
                <a:off x="3416767" y="5257914"/>
                <a:ext cx="2838450" cy="893193"/>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5" name="Object 22">
                <a:extLst>
                  <a:ext uri="{FF2B5EF4-FFF2-40B4-BE49-F238E27FC236}">
                    <a16:creationId xmlns:a16="http://schemas.microsoft.com/office/drawing/2014/main" id="{D585C25D-93D6-441D-B18A-4B0142BC56B8}"/>
                  </a:ext>
                </a:extLst>
              </p:cNvPr>
              <p:cNvSpPr txBox="1"/>
              <p:nvPr/>
            </p:nvSpPr>
            <p:spPr>
              <a:xfrm>
                <a:off x="-163462" y="5478023"/>
                <a:ext cx="3180704" cy="56578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zh-CN" altLang="en-US" sz="2800" i="1">
                          <a:solidFill>
                            <a:srgbClr val="000000"/>
                          </a:solidFill>
                          <a:latin typeface="Cambria Math" panose="02040503050406030204" pitchFamily="18" charset="0"/>
                        </a:rPr>
                        <m:t>绝热过程：</m:t>
                      </m:r>
                    </m:oMath>
                  </m:oMathPara>
                </a14:m>
                <a:endParaRPr lang="en-US" sz="2800" dirty="0">
                  <a:latin typeface="+mn-ea"/>
                </a:endParaRPr>
              </a:p>
            </p:txBody>
          </p:sp>
        </mc:Choice>
        <mc:Fallback>
          <p:sp>
            <p:nvSpPr>
              <p:cNvPr id="75" name="Object 22">
                <a:extLst>
                  <a:ext uri="{FF2B5EF4-FFF2-40B4-BE49-F238E27FC236}">
                    <a16:creationId xmlns:a16="http://schemas.microsoft.com/office/drawing/2014/main" id="{D585C25D-93D6-441D-B18A-4B0142BC56B8}"/>
                  </a:ext>
                </a:extLst>
              </p:cNvPr>
              <p:cNvSpPr txBox="1">
                <a:spLocks noRot="1" noChangeAspect="1" noMove="1" noResize="1" noEditPoints="1" noAdjustHandles="1" noChangeArrowheads="1" noChangeShapeType="1" noTextEdit="1"/>
              </p:cNvSpPr>
              <p:nvPr/>
            </p:nvSpPr>
            <p:spPr>
              <a:xfrm>
                <a:off x="-163462" y="5478023"/>
                <a:ext cx="3180704" cy="565785"/>
              </a:xfrm>
              <a:prstGeom prst="rect">
                <a:avLst/>
              </a:prstGeom>
              <a:blipFill>
                <a:blip r:embed="rId28"/>
                <a:stretch>
                  <a:fillRect/>
                </a:stretch>
              </a:blipFill>
              <a:ln w="38100">
                <a:noFill/>
                <a:miter/>
              </a:ln>
            </p:spPr>
            <p:txBody>
              <a:bodyPr/>
              <a:lstStyle/>
              <a:p>
                <a:r>
                  <a:rPr lang="en-US">
                    <a:noFill/>
                  </a:rPr>
                  <a:t> </a:t>
                </a:r>
              </a:p>
            </p:txBody>
          </p:sp>
        </mc:Fallback>
      </mc:AlternateContent>
      <p:grpSp>
        <p:nvGrpSpPr>
          <p:cNvPr id="76" name="Group 6">
            <a:extLst>
              <a:ext uri="{FF2B5EF4-FFF2-40B4-BE49-F238E27FC236}">
                <a16:creationId xmlns:a16="http://schemas.microsoft.com/office/drawing/2014/main" id="{EEAE1EA8-B1B4-42D3-AAC0-727371D87E12}"/>
              </a:ext>
            </a:extLst>
          </p:cNvPr>
          <p:cNvGrpSpPr/>
          <p:nvPr/>
        </p:nvGrpSpPr>
        <p:grpSpPr>
          <a:xfrm>
            <a:off x="6095999" y="5874179"/>
            <a:ext cx="3853528" cy="1052961"/>
            <a:chOff x="3744" y="3106"/>
            <a:chExt cx="1646" cy="727"/>
          </a:xfrm>
        </p:grpSpPr>
        <mc:AlternateContent xmlns:mc="http://schemas.openxmlformats.org/markup-compatibility/2006" xmlns:a14="http://schemas.microsoft.com/office/drawing/2010/main">
          <mc:Choice Requires="a14">
            <p:sp>
              <p:nvSpPr>
                <p:cNvPr id="77" name="Object 10">
                  <a:extLst>
                    <a:ext uri="{FF2B5EF4-FFF2-40B4-BE49-F238E27FC236}">
                      <a16:creationId xmlns:a16="http://schemas.microsoft.com/office/drawing/2014/main" id="{29C0C1A0-87C1-4355-9F1F-F8FB8F53BD93}"/>
                    </a:ext>
                  </a:extLst>
                </p:cNvPr>
                <p:cNvSpPr txBox="1"/>
                <p:nvPr/>
              </p:nvSpPr>
              <p:spPr>
                <a:xfrm>
                  <a:off x="3744" y="3112"/>
                  <a:ext cx="886" cy="440"/>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𝑝</m:t>
                        </m:r>
                        <m:sSup>
                          <m:sSupPr>
                            <m:ctrlPr>
                              <a:rPr lang="en-US" sz="2800" i="1">
                                <a:solidFill>
                                  <a:srgbClr val="000000"/>
                                </a:solidFill>
                                <a:latin typeface="Cambria Math" panose="02040503050406030204" pitchFamily="18" charset="0"/>
                              </a:rPr>
                            </m:ctrlPr>
                          </m:sSupPr>
                          <m:e>
                            <m:r>
                              <a:rPr lang="en-US" sz="2800" b="0" i="1">
                                <a:solidFill>
                                  <a:srgbClr val="000000"/>
                                </a:solidFill>
                                <a:latin typeface="Cambria Math" panose="02040503050406030204" pitchFamily="18" charset="0"/>
                              </a:rPr>
                              <m:t>𝑉</m:t>
                            </m:r>
                          </m:e>
                          <m:sup>
                            <m:r>
                              <a:rPr lang="en-US" sz="2800" b="0" i="1">
                                <a:solidFill>
                                  <a:srgbClr val="000000"/>
                                </a:solidFill>
                                <a:latin typeface="Cambria Math" panose="02040503050406030204" pitchFamily="18" charset="0"/>
                              </a:rPr>
                              <m:t>𝛾</m:t>
                            </m:r>
                          </m:sup>
                        </m:sSup>
                        <m:r>
                          <a:rPr lang="en-US" sz="2800" b="0" i="1">
                            <a:solidFill>
                              <a:srgbClr val="000000"/>
                            </a:solidFill>
                            <a:latin typeface="Cambria Math" panose="02040503050406030204" pitchFamily="18" charset="0"/>
                          </a:rPr>
                          <m:t>=</m:t>
                        </m:r>
                      </m:oMath>
                    </m:oMathPara>
                  </a14:m>
                  <a:endParaRPr lang="en-US" sz="2800" dirty="0"/>
                </a:p>
              </p:txBody>
            </p:sp>
          </mc:Choice>
          <mc:Fallback xmlns="">
            <p:sp>
              <p:nvSpPr>
                <p:cNvPr id="53" name="Object 10">
                  <a:extLst>
                    <a:ext uri="{FF2B5EF4-FFF2-40B4-BE49-F238E27FC236}">
                      <a16:creationId xmlns:a16="http://schemas.microsoft.com/office/drawing/2014/main" id="{69A74F00-BED1-894D-1AA9-78A86695ADD5}"/>
                    </a:ext>
                  </a:extLst>
                </p:cNvPr>
                <p:cNvSpPr txBox="1">
                  <a:spLocks noRot="1" noChangeAspect="1" noMove="1" noResize="1" noEditPoints="1" noAdjustHandles="1" noChangeArrowheads="1" noChangeShapeType="1" noTextEdit="1"/>
                </p:cNvSpPr>
                <p:nvPr/>
              </p:nvSpPr>
              <p:spPr>
                <a:xfrm>
                  <a:off x="3744" y="3112"/>
                  <a:ext cx="886" cy="440"/>
                </a:xfrm>
                <a:prstGeom prst="rect">
                  <a:avLst/>
                </a:prstGeom>
                <a:blipFill>
                  <a:blip r:embed="rId29"/>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8" name="Object 11">
                  <a:extLst>
                    <a:ext uri="{FF2B5EF4-FFF2-40B4-BE49-F238E27FC236}">
                      <a16:creationId xmlns:a16="http://schemas.microsoft.com/office/drawing/2014/main" id="{A1BAF8E5-64B7-47E9-B0DA-61C899AB8AE1}"/>
                    </a:ext>
                  </a:extLst>
                </p:cNvPr>
                <p:cNvSpPr txBox="1"/>
                <p:nvPr/>
              </p:nvSpPr>
              <p:spPr>
                <a:xfrm>
                  <a:off x="3760" y="3426"/>
                  <a:ext cx="1104" cy="407"/>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p>
                          <m:sSupPr>
                            <m:ctrlPr>
                              <a:rPr lang="en-US" sz="2800" i="1">
                                <a:solidFill>
                                  <a:srgbClr val="000000"/>
                                </a:solidFill>
                                <a:latin typeface="Cambria Math" panose="02040503050406030204" pitchFamily="18" charset="0"/>
                              </a:rPr>
                            </m:ctrlPr>
                          </m:sSupPr>
                          <m:e>
                            <m:r>
                              <a:rPr lang="en-US" sz="2800" b="0" i="1">
                                <a:solidFill>
                                  <a:srgbClr val="000000"/>
                                </a:solidFill>
                                <a:latin typeface="Cambria Math" panose="02040503050406030204" pitchFamily="18" charset="0"/>
                              </a:rPr>
                              <m:t>𝑝</m:t>
                            </m:r>
                          </m:e>
                          <m:sup>
                            <m:r>
                              <a:rPr lang="en-US" sz="2800" b="0" i="1">
                                <a:solidFill>
                                  <a:srgbClr val="000000"/>
                                </a:solidFill>
                                <a:latin typeface="Cambria Math" panose="02040503050406030204" pitchFamily="18" charset="0"/>
                              </a:rPr>
                              <m:t>𝛾</m:t>
                            </m:r>
                            <m:r>
                              <a:rPr lang="en-US" sz="2800" b="0" i="1">
                                <a:solidFill>
                                  <a:srgbClr val="000000"/>
                                </a:solidFill>
                                <a:latin typeface="Cambria Math" panose="02040503050406030204" pitchFamily="18" charset="0"/>
                              </a:rPr>
                              <m:t>−1</m:t>
                            </m:r>
                          </m:sup>
                        </m:sSup>
                        <m:sSup>
                          <m:sSupPr>
                            <m:ctrlPr>
                              <a:rPr lang="en-US" sz="2800" i="1">
                                <a:solidFill>
                                  <a:srgbClr val="000000"/>
                                </a:solidFill>
                                <a:latin typeface="Cambria Math" panose="02040503050406030204" pitchFamily="18" charset="0"/>
                              </a:rPr>
                            </m:ctrlPr>
                          </m:sSupPr>
                          <m:e>
                            <m:r>
                              <a:rPr lang="en-US" sz="2800" b="0" i="1">
                                <a:solidFill>
                                  <a:srgbClr val="000000"/>
                                </a:solidFill>
                                <a:latin typeface="Cambria Math" panose="02040503050406030204" pitchFamily="18" charset="0"/>
                              </a:rPr>
                              <m:t>𝑇</m:t>
                            </m:r>
                          </m:e>
                          <m:sup>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𝛾</m:t>
                            </m:r>
                          </m:sup>
                        </m:sSup>
                        <m:r>
                          <a:rPr lang="en-US" sz="2800" b="0" i="1">
                            <a:solidFill>
                              <a:srgbClr val="000000"/>
                            </a:solidFill>
                            <a:latin typeface="Cambria Math" panose="02040503050406030204" pitchFamily="18" charset="0"/>
                          </a:rPr>
                          <m:t>=</m:t>
                        </m:r>
                      </m:oMath>
                    </m:oMathPara>
                  </a14:m>
                  <a:endParaRPr lang="en-US" sz="2800" dirty="0"/>
                </a:p>
              </p:txBody>
            </p:sp>
          </mc:Choice>
          <mc:Fallback xmlns="">
            <p:sp>
              <p:nvSpPr>
                <p:cNvPr id="78" name="Object 11">
                  <a:extLst>
                    <a:ext uri="{FF2B5EF4-FFF2-40B4-BE49-F238E27FC236}">
                      <a16:creationId xmlns:a16="http://schemas.microsoft.com/office/drawing/2014/main" id="{A1BAF8E5-64B7-47E9-B0DA-61C899AB8AE1}"/>
                    </a:ext>
                  </a:extLst>
                </p:cNvPr>
                <p:cNvSpPr txBox="1">
                  <a:spLocks noRot="1" noChangeAspect="1" noMove="1" noResize="1" noEditPoints="1" noAdjustHandles="1" noChangeArrowheads="1" noChangeShapeType="1" noTextEdit="1"/>
                </p:cNvSpPr>
                <p:nvPr/>
              </p:nvSpPr>
              <p:spPr>
                <a:xfrm>
                  <a:off x="3760" y="3426"/>
                  <a:ext cx="1104" cy="407"/>
                </a:xfrm>
                <a:prstGeom prst="rect">
                  <a:avLst/>
                </a:prstGeom>
                <a:blipFill>
                  <a:blip r:embed="rId30"/>
                  <a:stretch>
                    <a:fillRect/>
                  </a:stretch>
                </a:blipFill>
                <a:ln w="38100">
                  <a:noFill/>
                  <a:miter/>
                </a:ln>
              </p:spPr>
              <p:txBody>
                <a:bodyPr/>
                <a:lstStyle/>
                <a:p>
                  <a:r>
                    <a:rPr lang="en-US">
                      <a:noFill/>
                    </a:rPr>
                    <a:t> </a:t>
                  </a:r>
                </a:p>
              </p:txBody>
            </p:sp>
          </mc:Fallback>
        </mc:AlternateContent>
        <p:sp>
          <p:nvSpPr>
            <p:cNvPr id="79" name="Rectangle 13">
              <a:extLst>
                <a:ext uri="{FF2B5EF4-FFF2-40B4-BE49-F238E27FC236}">
                  <a16:creationId xmlns:a16="http://schemas.microsoft.com/office/drawing/2014/main" id="{04C5C1B9-C7EB-4185-A150-6FCF239ECBC3}"/>
                </a:ext>
              </a:extLst>
            </p:cNvPr>
            <p:cNvSpPr/>
            <p:nvPr/>
          </p:nvSpPr>
          <p:spPr>
            <a:xfrm>
              <a:off x="4379" y="3106"/>
              <a:ext cx="721" cy="361"/>
            </a:xfrm>
            <a:prstGeom prst="rect">
              <a:avLst/>
            </a:prstGeom>
            <a:noFill/>
            <a:ln w="9525">
              <a:noFill/>
            </a:ln>
          </p:spPr>
          <p:txBody>
            <a:bodyPr>
              <a:spAutoFit/>
            </a:bodyPr>
            <a:lstStyle/>
            <a:p>
              <a:pPr eaLnBrk="1" hangingPunct="1">
                <a:spcBef>
                  <a:spcPct val="50000"/>
                </a:spcBef>
              </a:pPr>
              <a:r>
                <a:rPr lang="zh-CN" altLang="en-US" sz="2800" dirty="0">
                  <a:solidFill>
                    <a:srgbClr val="000000"/>
                  </a:solidFill>
                  <a:latin typeface="Times New Roman" panose="02020603050405020304" pitchFamily="18" charset="0"/>
                </a:rPr>
                <a:t>常量</a:t>
              </a:r>
            </a:p>
          </p:txBody>
        </p:sp>
        <p:sp>
          <p:nvSpPr>
            <p:cNvPr id="80" name="Rectangle 14">
              <a:extLst>
                <a:ext uri="{FF2B5EF4-FFF2-40B4-BE49-F238E27FC236}">
                  <a16:creationId xmlns:a16="http://schemas.microsoft.com/office/drawing/2014/main" id="{D8F14AF9-2F32-4157-8015-C405119C4C6D}"/>
                </a:ext>
              </a:extLst>
            </p:cNvPr>
            <p:cNvSpPr/>
            <p:nvPr/>
          </p:nvSpPr>
          <p:spPr>
            <a:xfrm>
              <a:off x="4670" y="3449"/>
              <a:ext cx="720" cy="361"/>
            </a:xfrm>
            <a:prstGeom prst="rect">
              <a:avLst/>
            </a:prstGeom>
            <a:noFill/>
            <a:ln w="9525">
              <a:noFill/>
            </a:ln>
          </p:spPr>
          <p:txBody>
            <a:bodyPr>
              <a:spAutoFit/>
            </a:bodyPr>
            <a:lstStyle/>
            <a:p>
              <a:pPr eaLnBrk="1" hangingPunct="1">
                <a:spcBef>
                  <a:spcPct val="50000"/>
                </a:spcBef>
              </a:pPr>
              <a:r>
                <a:rPr lang="zh-CN" altLang="en-US" sz="2800" dirty="0">
                  <a:solidFill>
                    <a:srgbClr val="000000"/>
                  </a:solidFill>
                  <a:latin typeface="Times New Roman" panose="02020603050405020304" pitchFamily="18" charset="0"/>
                </a:rPr>
                <a:t>常量</a:t>
              </a:r>
            </a:p>
          </p:txBody>
        </p:sp>
      </p:grpSp>
      <mc:AlternateContent xmlns:mc="http://schemas.openxmlformats.org/markup-compatibility/2006" xmlns:a14="http://schemas.microsoft.com/office/drawing/2010/main">
        <mc:Choice Requires="a14">
          <p:sp>
            <p:nvSpPr>
              <p:cNvPr id="81" name="Object 15">
                <a:extLst>
                  <a:ext uri="{FF2B5EF4-FFF2-40B4-BE49-F238E27FC236}">
                    <a16:creationId xmlns:a16="http://schemas.microsoft.com/office/drawing/2014/main" id="{DC639B77-D30B-4A4F-AC64-4B71E808B12C}"/>
                  </a:ext>
                </a:extLst>
              </p:cNvPr>
              <p:cNvSpPr txBox="1">
                <a:spLocks/>
              </p:cNvSpPr>
              <p:nvPr/>
            </p:nvSpPr>
            <p:spPr>
              <a:xfrm>
                <a:off x="6471805" y="5407336"/>
                <a:ext cx="1792288" cy="766762"/>
              </a:xfrm>
              <a:prstGeom prst="rect">
                <a:avLst/>
              </a:prstGeom>
              <a:noFill/>
              <a:ln w="38100">
                <a:miter/>
              </a:ln>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14:m>
                  <m:oMathPara xmlns:m="http://schemas.openxmlformats.org/officeDocument/2006/math">
                    <m:oMathParaPr>
                      <m:jc m:val="centerGroup"/>
                    </m:oMathParaPr>
                    <m:oMath xmlns:m="http://schemas.openxmlformats.org/officeDocument/2006/math">
                      <m:sSup>
                        <m:sSupPr>
                          <m:ctrlPr>
                            <a:rPr lang="en-US" i="1" smtClean="0">
                              <a:solidFill>
                                <a:srgbClr val="000000"/>
                              </a:solidFill>
                              <a:latin typeface="Cambria Math" panose="02040503050406030204" pitchFamily="18" charset="0"/>
                            </a:rPr>
                          </m:ctrlPr>
                        </m:sSupPr>
                        <m:e>
                          <m:r>
                            <a:rPr lang="en-US" b="0" i="1">
                              <a:solidFill>
                                <a:srgbClr val="000000"/>
                              </a:solidFill>
                              <a:latin typeface="Cambria Math" panose="02040503050406030204" pitchFamily="18" charset="0"/>
                            </a:rPr>
                            <m:t>𝑉</m:t>
                          </m:r>
                        </m:e>
                        <m:sup>
                          <m:r>
                            <a:rPr lang="en-US" b="0" i="1">
                              <a:solidFill>
                                <a:srgbClr val="000000"/>
                              </a:solidFill>
                              <a:latin typeface="Cambria Math" panose="02040503050406030204" pitchFamily="18" charset="0"/>
                            </a:rPr>
                            <m:t>𝛾</m:t>
                          </m:r>
                          <m:r>
                            <a:rPr lang="en-US" b="0" i="1">
                              <a:solidFill>
                                <a:srgbClr val="000000"/>
                              </a:solidFill>
                              <a:latin typeface="Cambria Math" panose="02040503050406030204" pitchFamily="18" charset="0"/>
                            </a:rPr>
                            <m:t>−1</m:t>
                          </m:r>
                        </m:sup>
                      </m:sSup>
                      <m:r>
                        <a:rPr lang="en-US" b="0" i="1">
                          <a:solidFill>
                            <a:srgbClr val="000000"/>
                          </a:solidFill>
                          <a:latin typeface="Cambria Math" panose="02040503050406030204" pitchFamily="18" charset="0"/>
                        </a:rPr>
                        <m:t>𝑇</m:t>
                      </m:r>
                      <m:r>
                        <a:rPr lang="en-US" b="0" i="1">
                          <a:solidFill>
                            <a:srgbClr val="000000"/>
                          </a:solidFill>
                          <a:latin typeface="Cambria Math" panose="02040503050406030204" pitchFamily="18" charset="0"/>
                        </a:rPr>
                        <m:t>=</m:t>
                      </m:r>
                    </m:oMath>
                  </m:oMathPara>
                </a14:m>
                <a:endParaRPr lang="en-US" dirty="0"/>
              </a:p>
            </p:txBody>
          </p:sp>
        </mc:Choice>
        <mc:Fallback xmlns="">
          <p:sp>
            <p:nvSpPr>
              <p:cNvPr id="81" name="Object 15">
                <a:extLst>
                  <a:ext uri="{FF2B5EF4-FFF2-40B4-BE49-F238E27FC236}">
                    <a16:creationId xmlns:a16="http://schemas.microsoft.com/office/drawing/2014/main" id="{DC639B77-D30B-4A4F-AC64-4B71E808B12C}"/>
                  </a:ext>
                </a:extLst>
              </p:cNvPr>
              <p:cNvSpPr txBox="1">
                <a:spLocks noRot="1" noChangeAspect="1" noMove="1" noResize="1" noEditPoints="1" noAdjustHandles="1" noChangeArrowheads="1" noChangeShapeType="1" noTextEdit="1"/>
              </p:cNvSpPr>
              <p:nvPr/>
            </p:nvSpPr>
            <p:spPr>
              <a:xfrm>
                <a:off x="6471805" y="5407336"/>
                <a:ext cx="1792288" cy="766762"/>
              </a:xfrm>
              <a:prstGeom prst="rect">
                <a:avLst/>
              </a:prstGeom>
              <a:blipFill>
                <a:blip r:embed="rId31"/>
                <a:stretch>
                  <a:fillRect/>
                </a:stretch>
              </a:blipFill>
              <a:ln w="38100">
                <a:miter/>
              </a:ln>
            </p:spPr>
            <p:txBody>
              <a:bodyPr/>
              <a:lstStyle/>
              <a:p>
                <a:r>
                  <a:rPr lang="en-US">
                    <a:noFill/>
                  </a:rPr>
                  <a:t> </a:t>
                </a:r>
              </a:p>
            </p:txBody>
          </p:sp>
        </mc:Fallback>
      </mc:AlternateContent>
      <p:sp>
        <p:nvSpPr>
          <p:cNvPr id="82" name="Text Box 16">
            <a:extLst>
              <a:ext uri="{FF2B5EF4-FFF2-40B4-BE49-F238E27FC236}">
                <a16:creationId xmlns:a16="http://schemas.microsoft.com/office/drawing/2014/main" id="{3E6CA62D-1146-4E93-8D26-9557B0C91635}"/>
              </a:ext>
            </a:extLst>
          </p:cNvPr>
          <p:cNvSpPr txBox="1"/>
          <p:nvPr/>
        </p:nvSpPr>
        <p:spPr>
          <a:xfrm>
            <a:off x="8089910" y="5372882"/>
            <a:ext cx="992579" cy="523220"/>
          </a:xfrm>
          <a:prstGeom prst="rect">
            <a:avLst/>
          </a:prstGeom>
          <a:noFill/>
          <a:ln w="9525">
            <a:noFill/>
          </a:ln>
        </p:spPr>
        <p:txBody>
          <a:bodyPr wrap="none">
            <a:spAutoFit/>
          </a:bodyPr>
          <a:lstStyle/>
          <a:p>
            <a:pPr eaLnBrk="1" hangingPunct="1"/>
            <a:r>
              <a:rPr lang="zh-CN" altLang="en-US" sz="2800" dirty="0">
                <a:solidFill>
                  <a:srgbClr val="000000"/>
                </a:solidFill>
                <a:latin typeface="Times New Roman" panose="02020603050405020304" pitchFamily="18" charset="0"/>
              </a:rPr>
              <a:t>常量 </a:t>
            </a:r>
          </a:p>
        </p:txBody>
      </p:sp>
      <p:graphicFrame>
        <p:nvGraphicFramePr>
          <p:cNvPr id="83" name="Object 8">
            <a:extLst>
              <a:ext uri="{FF2B5EF4-FFF2-40B4-BE49-F238E27FC236}">
                <a16:creationId xmlns:a16="http://schemas.microsoft.com/office/drawing/2014/main" id="{2294A7D1-6DF6-4781-92B5-F67B1013D536}"/>
              </a:ext>
            </a:extLst>
          </p:cNvPr>
          <p:cNvGraphicFramePr/>
          <p:nvPr/>
        </p:nvGraphicFramePr>
        <p:xfrm>
          <a:off x="9270594" y="5846154"/>
          <a:ext cx="1441883" cy="509583"/>
        </p:xfrm>
        <a:graphic>
          <a:graphicData uri="http://schemas.openxmlformats.org/presentationml/2006/ole">
            <mc:AlternateContent xmlns:mc="http://schemas.openxmlformats.org/markup-compatibility/2006">
              <mc:Choice xmlns:v="urn:schemas-microsoft-com:vml" Requires="v">
                <p:oleObj spid="_x0000_s1030" r:id="rId32" imgW="913765" imgH="241300" progId="Equation.3">
                  <p:embed/>
                </p:oleObj>
              </mc:Choice>
              <mc:Fallback>
                <p:oleObj r:id="rId32" imgW="913765" imgH="241300" progId="Equation.3">
                  <p:embed/>
                  <p:pic>
                    <p:nvPicPr>
                      <p:cNvPr id="83" name="Object 8">
                        <a:extLst>
                          <a:ext uri="{FF2B5EF4-FFF2-40B4-BE49-F238E27FC236}">
                            <a16:creationId xmlns:a16="http://schemas.microsoft.com/office/drawing/2014/main" id="{2294A7D1-6DF6-4781-92B5-F67B1013D536}"/>
                          </a:ext>
                        </a:extLst>
                      </p:cNvPr>
                      <p:cNvPicPr/>
                      <p:nvPr/>
                    </p:nvPicPr>
                    <p:blipFill>
                      <a:blip r:embed="rId33"/>
                      <a:stretch>
                        <a:fillRect/>
                      </a:stretch>
                    </p:blipFill>
                    <p:spPr>
                      <a:xfrm>
                        <a:off x="9270594" y="5846154"/>
                        <a:ext cx="1441883" cy="509583"/>
                      </a:xfrm>
                      <a:prstGeom prst="rect">
                        <a:avLst/>
                      </a:prstGeom>
                      <a:noFill/>
                      <a:ln w="12700" cap="flat" cmpd="sng">
                        <a:noFill/>
                        <a:prstDash val="solid"/>
                        <a:miter/>
                        <a:headEnd type="none" w="med" len="med"/>
                        <a:tailEnd type="none" w="med" len="med"/>
                      </a:ln>
                    </p:spPr>
                  </p:pic>
                </p:oleObj>
              </mc:Fallback>
            </mc:AlternateContent>
          </a:graphicData>
        </a:graphic>
      </p:graphicFrame>
      <mc:AlternateContent xmlns:mc="http://schemas.openxmlformats.org/markup-compatibility/2006" xmlns:a14="http://schemas.microsoft.com/office/drawing/2010/main">
        <mc:Choice Requires="a14">
          <p:sp>
            <p:nvSpPr>
              <p:cNvPr id="84" name="Object 39">
                <a:extLst>
                  <a:ext uri="{FF2B5EF4-FFF2-40B4-BE49-F238E27FC236}">
                    <a16:creationId xmlns:a16="http://schemas.microsoft.com/office/drawing/2014/main" id="{1996E96F-B3A2-428A-8912-559D9158C189}"/>
                  </a:ext>
                </a:extLst>
              </p:cNvPr>
              <p:cNvSpPr txBox="1"/>
              <p:nvPr/>
            </p:nvSpPr>
            <p:spPr bwMode="auto">
              <a:xfrm>
                <a:off x="9420695" y="5634492"/>
                <a:ext cx="3779112" cy="1069975"/>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en-US" sz="2600" i="1">
                          <a:solidFill>
                            <a:srgbClr val="000000"/>
                          </a:solidFill>
                          <a:latin typeface="Cambria Math" panose="02040503050406030204" pitchFamily="18" charset="0"/>
                        </a:rPr>
                        <m:t>=</m:t>
                      </m:r>
                      <m:f>
                        <m:fPr>
                          <m:ctrlPr>
                            <a:rPr lang="en-US" sz="2600" i="1">
                              <a:solidFill>
                                <a:srgbClr val="000000"/>
                              </a:solidFill>
                              <a:latin typeface="Cambria Math" panose="02040503050406030204" pitchFamily="18" charset="0"/>
                            </a:rPr>
                          </m:ctrlPr>
                        </m:fPr>
                        <m:num>
                          <m:r>
                            <a:rPr lang="en-US" sz="2600" i="1">
                              <a:solidFill>
                                <a:srgbClr val="000000"/>
                              </a:solidFill>
                              <a:latin typeface="Cambria Math" panose="02040503050406030204" pitchFamily="18" charset="0"/>
                            </a:rPr>
                            <m:t>2+</m:t>
                          </m:r>
                          <m:r>
                            <a:rPr lang="en-US" sz="2600" i="1">
                              <a:solidFill>
                                <a:srgbClr val="000000"/>
                              </a:solidFill>
                              <a:latin typeface="Cambria Math" panose="02040503050406030204" pitchFamily="18" charset="0"/>
                            </a:rPr>
                            <m:t>𝑖</m:t>
                          </m:r>
                        </m:num>
                        <m:den>
                          <m:r>
                            <a:rPr lang="en-US" sz="2600" i="1">
                              <a:solidFill>
                                <a:srgbClr val="000000"/>
                              </a:solidFill>
                              <a:latin typeface="Cambria Math" panose="02040503050406030204" pitchFamily="18" charset="0"/>
                            </a:rPr>
                            <m:t>𝑖</m:t>
                          </m:r>
                        </m:den>
                      </m:f>
                    </m:oMath>
                  </m:oMathPara>
                </a14:m>
                <a:endParaRPr lang="en-US" sz="2600" dirty="0"/>
              </a:p>
            </p:txBody>
          </p:sp>
        </mc:Choice>
        <mc:Fallback xmlns="">
          <p:sp>
            <p:nvSpPr>
              <p:cNvPr id="84" name="Object 39">
                <a:extLst>
                  <a:ext uri="{FF2B5EF4-FFF2-40B4-BE49-F238E27FC236}">
                    <a16:creationId xmlns:a16="http://schemas.microsoft.com/office/drawing/2014/main" id="{1996E96F-B3A2-428A-8912-559D9158C189}"/>
                  </a:ext>
                </a:extLst>
              </p:cNvPr>
              <p:cNvSpPr txBox="1">
                <a:spLocks noRot="1" noChangeAspect="1" noMove="1" noResize="1" noEditPoints="1" noAdjustHandles="1" noChangeArrowheads="1" noChangeShapeType="1" noTextEdit="1"/>
              </p:cNvSpPr>
              <p:nvPr/>
            </p:nvSpPr>
            <p:spPr bwMode="auto">
              <a:xfrm>
                <a:off x="9420695" y="5634492"/>
                <a:ext cx="3779112" cy="1069975"/>
              </a:xfrm>
              <a:prstGeom prst="rect">
                <a:avLst/>
              </a:prstGeom>
              <a:blipFill>
                <a:blip r:embed="rId34"/>
                <a:stretch>
                  <a:fillRect/>
                </a:stretch>
              </a:blipFill>
              <a:ln>
                <a:noFill/>
              </a:ln>
              <a:effectLst/>
            </p:spPr>
            <p:txBody>
              <a:bodyPr/>
              <a:lstStyle/>
              <a:p>
                <a:r>
                  <a:rPr lang="en-US">
                    <a:noFill/>
                  </a:rPr>
                  <a:t> </a:t>
                </a:r>
              </a:p>
            </p:txBody>
          </p:sp>
        </mc:Fallback>
      </mc:AlternateContent>
      <p:sp>
        <p:nvSpPr>
          <p:cNvPr id="3" name="Text Box 7">
            <a:extLst>
              <a:ext uri="{FF2B5EF4-FFF2-40B4-BE49-F238E27FC236}">
                <a16:creationId xmlns:a16="http://schemas.microsoft.com/office/drawing/2014/main" id="{B2CD1648-0BD5-88A0-7245-ADF75D7FA639}"/>
              </a:ext>
            </a:extLst>
          </p:cNvPr>
          <p:cNvSpPr txBox="1"/>
          <p:nvPr/>
        </p:nvSpPr>
        <p:spPr>
          <a:xfrm>
            <a:off x="1181506" y="3035008"/>
            <a:ext cx="1846259" cy="461665"/>
          </a:xfrm>
          <a:prstGeom prst="rect">
            <a:avLst/>
          </a:prstGeom>
          <a:noFill/>
          <a:ln w="9525">
            <a:noFill/>
          </a:ln>
        </p:spPr>
        <p:txBody>
          <a:bodyPr wrap="square">
            <a:spAutoFit/>
          </a:bodyPr>
          <a:lstStyle/>
          <a:p>
            <a:pPr eaLnBrk="1" hangingPunct="1">
              <a:spcBef>
                <a:spcPct val="50000"/>
              </a:spcBef>
            </a:pPr>
            <a:r>
              <a:rPr lang="zh-CN" altLang="en-US" sz="2400" dirty="0">
                <a:latin typeface="Times New Roman" panose="02020603050405020304" pitchFamily="18" charset="0"/>
              </a:rPr>
              <a:t>等体</a:t>
            </a:r>
            <a:endParaRPr lang="en-US" altLang="zh-CN" sz="2400" dirty="0">
              <a:latin typeface="Times New Roman" panose="02020603050405020304" pitchFamily="18" charset="0"/>
            </a:endParaRPr>
          </a:p>
        </p:txBody>
      </p:sp>
      <p:sp>
        <p:nvSpPr>
          <p:cNvPr id="5" name="文本框 4">
            <a:extLst>
              <a:ext uri="{FF2B5EF4-FFF2-40B4-BE49-F238E27FC236}">
                <a16:creationId xmlns:a16="http://schemas.microsoft.com/office/drawing/2014/main" id="{17D01B10-0941-A6C3-09D3-F4BC9602AD2C}"/>
              </a:ext>
            </a:extLst>
          </p:cNvPr>
          <p:cNvSpPr txBox="1"/>
          <p:nvPr/>
        </p:nvSpPr>
        <p:spPr>
          <a:xfrm>
            <a:off x="2124401" y="2567095"/>
            <a:ext cx="882906" cy="461665"/>
          </a:xfrm>
          <a:prstGeom prst="rect">
            <a:avLst/>
          </a:prstGeom>
          <a:noFill/>
        </p:spPr>
        <p:txBody>
          <a:bodyPr wrap="square">
            <a:spAutoFit/>
          </a:bodyPr>
          <a:lstStyle/>
          <a:p>
            <a:r>
              <a:rPr lang="zh-CN" altLang="en-US" sz="2400" dirty="0">
                <a:latin typeface="Times New Roman" panose="02020603050405020304" pitchFamily="18" charset="0"/>
              </a:rPr>
              <a:t>绝热 </a:t>
            </a:r>
            <a:endParaRPr lang="zh-CN" altLang="en-US" sz="2400" dirty="0"/>
          </a:p>
        </p:txBody>
      </p:sp>
      <p:sp>
        <p:nvSpPr>
          <p:cNvPr id="8" name="文本框 7">
            <a:extLst>
              <a:ext uri="{FF2B5EF4-FFF2-40B4-BE49-F238E27FC236}">
                <a16:creationId xmlns:a16="http://schemas.microsoft.com/office/drawing/2014/main" id="{564BE12F-0955-C71E-4894-0FE55EE37B0D}"/>
              </a:ext>
            </a:extLst>
          </p:cNvPr>
          <p:cNvSpPr txBox="1"/>
          <p:nvPr/>
        </p:nvSpPr>
        <p:spPr>
          <a:xfrm>
            <a:off x="1923865" y="3795698"/>
            <a:ext cx="1103900" cy="461665"/>
          </a:xfrm>
          <a:prstGeom prst="rect">
            <a:avLst/>
          </a:prstGeom>
          <a:noFill/>
        </p:spPr>
        <p:txBody>
          <a:bodyPr wrap="square">
            <a:spAutoFit/>
          </a:bodyPr>
          <a:lstStyle/>
          <a:p>
            <a:r>
              <a:rPr lang="zh-CN" altLang="en-US" sz="2400" dirty="0">
                <a:latin typeface="Bookman Old Style" panose="02050604050505020204" pitchFamily="18" charset="0"/>
              </a:rPr>
              <a:t>等压</a:t>
            </a:r>
            <a:endParaRPr lang="zh-CN" altLang="en-US" sz="2400" dirty="0"/>
          </a:p>
        </p:txBody>
      </p:sp>
      <p:sp>
        <p:nvSpPr>
          <p:cNvPr id="10" name="文本框 9">
            <a:extLst>
              <a:ext uri="{FF2B5EF4-FFF2-40B4-BE49-F238E27FC236}">
                <a16:creationId xmlns:a16="http://schemas.microsoft.com/office/drawing/2014/main" id="{4D1A286F-4DD9-387B-D744-1FF9E62DC5C2}"/>
              </a:ext>
            </a:extLst>
          </p:cNvPr>
          <p:cNvSpPr txBox="1"/>
          <p:nvPr/>
        </p:nvSpPr>
        <p:spPr>
          <a:xfrm>
            <a:off x="1941959" y="3123725"/>
            <a:ext cx="843665" cy="461665"/>
          </a:xfrm>
          <a:prstGeom prst="rect">
            <a:avLst/>
          </a:prstGeom>
          <a:noFill/>
        </p:spPr>
        <p:txBody>
          <a:bodyPr wrap="square">
            <a:spAutoFit/>
          </a:bodyPr>
          <a:lstStyle/>
          <a:p>
            <a:r>
              <a:rPr lang="zh-CN" altLang="en-US" sz="2400" dirty="0">
                <a:latin typeface="Times New Roman" panose="02020603050405020304" pitchFamily="18" charset="0"/>
              </a:rPr>
              <a:t>等温</a:t>
            </a:r>
            <a:endParaRPr lang="zh-CN" altLang="en-US" sz="2400" dirty="0"/>
          </a:p>
        </p:txBody>
      </p:sp>
      <mc:AlternateContent xmlns:mc="http://schemas.openxmlformats.org/markup-compatibility/2006">
        <mc:Choice xmlns:a14="http://schemas.microsoft.com/office/drawing/2010/main" Requires="a14">
          <p:sp>
            <p:nvSpPr>
              <p:cNvPr id="38" name="文本框 37">
                <a:extLst>
                  <a:ext uri="{FF2B5EF4-FFF2-40B4-BE49-F238E27FC236}">
                    <a16:creationId xmlns:a16="http://schemas.microsoft.com/office/drawing/2014/main" id="{A9F6135C-6B41-4459-AA1D-4E990DFBEEC6}"/>
                  </a:ext>
                </a:extLst>
              </p:cNvPr>
              <p:cNvSpPr txBox="1"/>
              <p:nvPr/>
            </p:nvSpPr>
            <p:spPr>
              <a:xfrm>
                <a:off x="3495814" y="6187546"/>
                <a:ext cx="2838450" cy="54213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smtClean="0">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m:t>
                      </m:r>
                      <m:r>
                        <a:rPr lang="en-US" altLang="zh-CN" sz="2800" i="1" smtClean="0">
                          <a:solidFill>
                            <a:srgbClr val="000000"/>
                          </a:solidFill>
                          <a:latin typeface="Cambria Math" panose="02040503050406030204" pitchFamily="18" charset="0"/>
                        </a:rPr>
                        <m:t>𝜈</m:t>
                      </m:r>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𝐶</m:t>
                          </m:r>
                        </m:e>
                        <m:sub>
                          <m:r>
                            <a:rPr lang="en-US" altLang="zh-CN" sz="2800" i="1">
                              <a:solidFill>
                                <a:srgbClr val="000000"/>
                              </a:solidFill>
                              <a:latin typeface="Cambria Math" panose="02040503050406030204" pitchFamily="18" charset="0"/>
                            </a:rPr>
                            <m:t>𝑉</m:t>
                          </m:r>
                          <m:r>
                            <a:rPr lang="en-US" altLang="zh-CN" sz="2800" i="1">
                              <a:solidFill>
                                <a:srgbClr val="000000"/>
                              </a:solidFill>
                              <a:latin typeface="Cambria Math" panose="02040503050406030204" pitchFamily="18" charset="0"/>
                            </a:rPr>
                            <m:t>,</m:t>
                          </m:r>
                          <m:r>
                            <m:rPr>
                              <m:sty m:val="p"/>
                            </m:rPr>
                            <a:rPr lang="en-US" altLang="zh-CN" sz="2800" i="0">
                              <a:solidFill>
                                <a:srgbClr val="000000"/>
                              </a:solidFill>
                              <a:latin typeface="Cambria Math" panose="02040503050406030204" pitchFamily="18" charset="0"/>
                            </a:rPr>
                            <m:t>m</m:t>
                          </m:r>
                        </m:sub>
                      </m:sSub>
                      <m:r>
                        <m:rPr>
                          <m:sty m:val="p"/>
                        </m:rPr>
                        <a:rPr lang="en-US" altLang="zh-CN" sz="2800" i="0">
                          <a:solidFill>
                            <a:srgbClr val="000000"/>
                          </a:solidFill>
                          <a:latin typeface="Cambria Math" panose="02040503050406030204" pitchFamily="18" charset="0"/>
                        </a:rPr>
                        <m:t>d</m:t>
                      </m:r>
                      <m:r>
                        <a:rPr lang="en-US" altLang="zh-CN" sz="2800" i="1">
                          <a:solidFill>
                            <a:srgbClr val="000000"/>
                          </a:solidFill>
                          <a:latin typeface="Cambria Math" panose="02040503050406030204" pitchFamily="18" charset="0"/>
                        </a:rPr>
                        <m:t>𝑇</m:t>
                      </m:r>
                    </m:oMath>
                  </m:oMathPara>
                </a14:m>
                <a:endParaRPr lang="zh-CN" altLang="en-US" sz="2800" dirty="0"/>
              </a:p>
            </p:txBody>
          </p:sp>
        </mc:Choice>
        <mc:Fallback>
          <p:sp>
            <p:nvSpPr>
              <p:cNvPr id="38" name="文本框 37">
                <a:extLst>
                  <a:ext uri="{FF2B5EF4-FFF2-40B4-BE49-F238E27FC236}">
                    <a16:creationId xmlns:a16="http://schemas.microsoft.com/office/drawing/2014/main" id="{A9F6135C-6B41-4459-AA1D-4E990DFBEEC6}"/>
                  </a:ext>
                </a:extLst>
              </p:cNvPr>
              <p:cNvSpPr txBox="1">
                <a:spLocks noRot="1" noChangeAspect="1" noMove="1" noResize="1" noEditPoints="1" noAdjustHandles="1" noChangeArrowheads="1" noChangeShapeType="1" noTextEdit="1"/>
              </p:cNvSpPr>
              <p:nvPr/>
            </p:nvSpPr>
            <p:spPr>
              <a:xfrm>
                <a:off x="3495814" y="6187546"/>
                <a:ext cx="2838450" cy="542136"/>
              </a:xfrm>
              <a:prstGeom prst="rect">
                <a:avLst/>
              </a:prstGeom>
              <a:blipFill>
                <a:blip r:embed="rId3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0099953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3112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7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8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1126" grpId="0"/>
      <p:bldP spid="6" grpId="0"/>
      <p:bldP spid="59" grpId="0"/>
      <p:bldP spid="69" grpId="0"/>
      <p:bldP spid="70" grpId="0"/>
      <p:bldP spid="71" grpId="0"/>
      <p:bldP spid="72" grpId="0"/>
      <p:bldP spid="73" grpId="0"/>
      <p:bldP spid="74" grpId="0"/>
      <p:bldP spid="75" grpId="0"/>
      <p:bldP spid="81" grpId="0" animBg="1"/>
      <p:bldP spid="82" grpId="0"/>
      <p:bldP spid="84" grpId="0"/>
      <p:bldP spid="3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ext Box 2">
            <a:extLst>
              <a:ext uri="{FF2B5EF4-FFF2-40B4-BE49-F238E27FC236}">
                <a16:creationId xmlns:a16="http://schemas.microsoft.com/office/drawing/2014/main" id="{8CB551A2-3D4D-4983-8D67-BA205914D60C}"/>
              </a:ext>
            </a:extLst>
          </p:cNvPr>
          <p:cNvSpPr txBox="1">
            <a:spLocks noChangeArrowheads="1"/>
          </p:cNvSpPr>
          <p:nvPr/>
        </p:nvSpPr>
        <p:spPr bwMode="auto">
          <a:xfrm>
            <a:off x="6175038" y="1864020"/>
            <a:ext cx="3762375" cy="1964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lnSpc>
                <a:spcPct val="110000"/>
              </a:lnSpc>
              <a:spcBef>
                <a:spcPct val="0"/>
              </a:spcBef>
              <a:buClr>
                <a:srgbClr val="009900"/>
              </a:buClr>
              <a:buFont typeface="Wingdings" panose="05000000000000000000" pitchFamily="2" charset="2"/>
              <a:buNone/>
            </a:pPr>
            <a:r>
              <a:rPr lang="en-US" altLang="zh-CN" sz="2800" i="1" dirty="0"/>
              <a:t>n</a:t>
            </a:r>
            <a:r>
              <a:rPr lang="en-US" altLang="zh-CN" sz="2800" dirty="0"/>
              <a:t>=1   — </a:t>
            </a:r>
            <a:r>
              <a:rPr lang="zh-CN" altLang="zh-CN" sz="2800" dirty="0"/>
              <a:t>等温过程</a:t>
            </a:r>
          </a:p>
          <a:p>
            <a:pPr algn="l" eaLnBrk="1" hangingPunct="1">
              <a:lnSpc>
                <a:spcPct val="110000"/>
              </a:lnSpc>
              <a:spcBef>
                <a:spcPct val="0"/>
              </a:spcBef>
            </a:pPr>
            <a:r>
              <a:rPr lang="en-US" altLang="zh-CN" sz="2800" i="1" dirty="0"/>
              <a:t>n</a:t>
            </a:r>
            <a:r>
              <a:rPr lang="en-US" altLang="zh-CN" sz="2800" dirty="0"/>
              <a:t>=</a:t>
            </a:r>
            <a:r>
              <a:rPr lang="en-US" altLang="zh-CN" sz="2800" dirty="0">
                <a:sym typeface="Symbol" panose="05050102010706020507" pitchFamily="18" charset="2"/>
              </a:rPr>
              <a:t>   — </a:t>
            </a:r>
            <a:r>
              <a:rPr lang="zh-CN" altLang="zh-CN" sz="2800" dirty="0">
                <a:sym typeface="Symbol" panose="05050102010706020507" pitchFamily="18" charset="2"/>
              </a:rPr>
              <a:t>绝热过程</a:t>
            </a:r>
          </a:p>
          <a:p>
            <a:pPr algn="l" eaLnBrk="1" hangingPunct="1">
              <a:lnSpc>
                <a:spcPct val="110000"/>
              </a:lnSpc>
              <a:spcBef>
                <a:spcPct val="0"/>
              </a:spcBef>
            </a:pPr>
            <a:r>
              <a:rPr lang="en-US" altLang="zh-CN" sz="2800" i="1" dirty="0">
                <a:sym typeface="Symbol" panose="05050102010706020507" pitchFamily="18" charset="2"/>
              </a:rPr>
              <a:t>n</a:t>
            </a:r>
            <a:r>
              <a:rPr lang="en-US" altLang="zh-CN" sz="2800" dirty="0">
                <a:sym typeface="Symbol" panose="05050102010706020507" pitchFamily="18" charset="2"/>
              </a:rPr>
              <a:t>=0   — </a:t>
            </a:r>
            <a:r>
              <a:rPr lang="zh-CN" altLang="zh-CN" sz="2800" dirty="0">
                <a:sym typeface="Symbol" panose="05050102010706020507" pitchFamily="18" charset="2"/>
              </a:rPr>
              <a:t>等压过程</a:t>
            </a:r>
          </a:p>
          <a:p>
            <a:pPr algn="l" eaLnBrk="1" hangingPunct="1">
              <a:lnSpc>
                <a:spcPct val="110000"/>
              </a:lnSpc>
              <a:spcBef>
                <a:spcPct val="0"/>
              </a:spcBef>
            </a:pPr>
            <a:r>
              <a:rPr lang="en-US" altLang="zh-CN" sz="2800" i="1" dirty="0">
                <a:sym typeface="Symbol" panose="05050102010706020507" pitchFamily="18" charset="2"/>
              </a:rPr>
              <a:t>n</a:t>
            </a:r>
            <a:r>
              <a:rPr lang="en-US" altLang="zh-CN" sz="2800" dirty="0">
                <a:sym typeface="Symbol" panose="05050102010706020507" pitchFamily="18" charset="2"/>
              </a:rPr>
              <a:t>=  — </a:t>
            </a:r>
            <a:r>
              <a:rPr lang="zh-CN" altLang="zh-CN" sz="2800" dirty="0">
                <a:sym typeface="Symbol" panose="05050102010706020507" pitchFamily="18" charset="2"/>
              </a:rPr>
              <a:t>等容过程</a:t>
            </a:r>
          </a:p>
        </p:txBody>
      </p:sp>
      <p:sp>
        <p:nvSpPr>
          <p:cNvPr id="114694" name="Rectangle 6">
            <a:extLst>
              <a:ext uri="{FF2B5EF4-FFF2-40B4-BE49-F238E27FC236}">
                <a16:creationId xmlns:a16="http://schemas.microsoft.com/office/drawing/2014/main" id="{6986B897-30C8-4184-998C-93BA9F65F758}"/>
              </a:ext>
            </a:extLst>
          </p:cNvPr>
          <p:cNvSpPr>
            <a:spLocks noChangeArrowheads="1"/>
          </p:cNvSpPr>
          <p:nvPr/>
        </p:nvSpPr>
        <p:spPr bwMode="auto">
          <a:xfrm>
            <a:off x="1924506" y="4582613"/>
            <a:ext cx="8501063"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eaLnBrk="1" hangingPunct="1">
              <a:buClr>
                <a:srgbClr val="009900"/>
              </a:buClr>
              <a:buFont typeface="Wingdings" panose="05000000000000000000" pitchFamily="2" charset="2"/>
              <a:buNone/>
            </a:pPr>
            <a:r>
              <a:rPr lang="en-US" altLang="zh-CN" sz="2800" b="1" dirty="0">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理想气体的实际过程，常常既不是等温也不是绝热的，而是介于两者之间的</a:t>
            </a:r>
            <a:r>
              <a:rPr lang="zh-CN" altLang="zh-CN" sz="2800" dirty="0">
                <a:latin typeface="华文楷体" panose="02010600040101010101" pitchFamily="2" charset="-122"/>
                <a:ea typeface="华文楷体" panose="02010600040101010101" pitchFamily="2" charset="-122"/>
              </a:rPr>
              <a:t>多方过程</a:t>
            </a:r>
            <a:endParaRPr lang="zh-CN" altLang="en-US" sz="2800" dirty="0">
              <a:latin typeface="华文楷体" panose="02010600040101010101" pitchFamily="2" charset="-122"/>
              <a:ea typeface="华文楷体" panose="02010600040101010101" pitchFamily="2" charset="-122"/>
            </a:endParaRPr>
          </a:p>
        </p:txBody>
      </p:sp>
      <p:sp>
        <p:nvSpPr>
          <p:cNvPr id="114695" name="Rectangle 7">
            <a:extLst>
              <a:ext uri="{FF2B5EF4-FFF2-40B4-BE49-F238E27FC236}">
                <a16:creationId xmlns:a16="http://schemas.microsoft.com/office/drawing/2014/main" id="{09E6A52E-FD2E-4532-8711-B3D2EBE71CA6}"/>
              </a:ext>
            </a:extLst>
          </p:cNvPr>
          <p:cNvSpPr>
            <a:spLocks noChangeArrowheads="1"/>
          </p:cNvSpPr>
          <p:nvPr/>
        </p:nvSpPr>
        <p:spPr bwMode="auto">
          <a:xfrm>
            <a:off x="5256550" y="1084150"/>
            <a:ext cx="61007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i="1" dirty="0"/>
              <a:t>PV</a:t>
            </a:r>
            <a:r>
              <a:rPr lang="en-US" altLang="zh-CN" sz="2800" i="1" baseline="30000" dirty="0"/>
              <a:t> n</a:t>
            </a:r>
            <a:r>
              <a:rPr lang="en-US" altLang="zh-CN" sz="2800" baseline="30000" dirty="0">
                <a:latin typeface="黑体" panose="02010609060101010101" pitchFamily="49" charset="-122"/>
              </a:rPr>
              <a:t> </a:t>
            </a:r>
            <a:r>
              <a:rPr lang="en-US" altLang="zh-CN" sz="2800" dirty="0">
                <a:latin typeface="黑体" panose="02010609060101010101" pitchFamily="49" charset="-122"/>
              </a:rPr>
              <a:t>=</a:t>
            </a:r>
            <a:r>
              <a:rPr lang="zh-CN" altLang="en-US" sz="2800" dirty="0">
                <a:latin typeface="黑体" panose="02010609060101010101" pitchFamily="49" charset="-122"/>
              </a:rPr>
              <a:t>常量 （</a:t>
            </a:r>
            <a:r>
              <a:rPr lang="en-US" altLang="zh-CN" sz="2800" i="1" dirty="0"/>
              <a:t>n</a:t>
            </a:r>
            <a:r>
              <a:rPr lang="zh-CN" altLang="en-US" sz="2800" dirty="0"/>
              <a:t>称</a:t>
            </a:r>
            <a:r>
              <a:rPr lang="zh-CN" altLang="zh-CN" sz="2800" dirty="0">
                <a:latin typeface="黑体" panose="02010609060101010101" pitchFamily="49" charset="-122"/>
              </a:rPr>
              <a:t>为多方指数）</a:t>
            </a:r>
            <a:endParaRPr lang="zh-CN" altLang="en-US" sz="2800" dirty="0">
              <a:latin typeface="黑体" panose="02010609060101010101" pitchFamily="49" charset="-122"/>
            </a:endParaRPr>
          </a:p>
        </p:txBody>
      </p:sp>
      <p:sp>
        <p:nvSpPr>
          <p:cNvPr id="114696" name="Rectangle 8">
            <a:extLst>
              <a:ext uri="{FF2B5EF4-FFF2-40B4-BE49-F238E27FC236}">
                <a16:creationId xmlns:a16="http://schemas.microsoft.com/office/drawing/2014/main" id="{6A94196F-84BE-4230-8590-9A5AFE969615}"/>
              </a:ext>
            </a:extLst>
          </p:cNvPr>
          <p:cNvSpPr>
            <a:spLocks noChangeArrowheads="1"/>
          </p:cNvSpPr>
          <p:nvPr/>
        </p:nvSpPr>
        <p:spPr bwMode="auto">
          <a:xfrm>
            <a:off x="1925637" y="5702049"/>
            <a:ext cx="8340725"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eaLnBrk="1" hangingPunct="1"/>
            <a:r>
              <a:rPr lang="en-US" altLang="zh-CN" sz="2800" dirty="0">
                <a:sym typeface="Symbol" panose="05050102010706020507" pitchFamily="18" charset="2"/>
              </a:rPr>
              <a:t>-  </a:t>
            </a:r>
            <a:r>
              <a:rPr lang="zh-CN" altLang="zh-CN" sz="2800" dirty="0">
                <a:sym typeface="Symbol" panose="05050102010706020507" pitchFamily="18" charset="2"/>
              </a:rPr>
              <a:t>一般情况</a:t>
            </a:r>
            <a:r>
              <a:rPr lang="zh-CN" altLang="en-US" sz="2800" dirty="0">
                <a:sym typeface="Symbol" panose="05050102010706020507" pitchFamily="18" charset="2"/>
              </a:rPr>
              <a:t> </a:t>
            </a:r>
            <a:r>
              <a:rPr lang="zh-CN" altLang="zh-CN" sz="2800" dirty="0">
                <a:sym typeface="Symbol" panose="05050102010706020507" pitchFamily="18" charset="2"/>
              </a:rPr>
              <a:t>1</a:t>
            </a:r>
            <a:r>
              <a:rPr lang="zh-CN" altLang="zh-CN" sz="2800" i="1" dirty="0">
                <a:sym typeface="Symbol" panose="05050102010706020507" pitchFamily="18" charset="2"/>
              </a:rPr>
              <a:t> </a:t>
            </a:r>
            <a:r>
              <a:rPr lang="en-US" altLang="zh-CN" sz="2800" i="1" dirty="0">
                <a:sym typeface="Symbol" panose="05050102010706020507" pitchFamily="18" charset="2"/>
              </a:rPr>
              <a:t>n</a:t>
            </a:r>
            <a:r>
              <a:rPr lang="en-US" altLang="zh-CN" sz="2800" dirty="0">
                <a:sym typeface="Symbol" panose="05050102010706020507" pitchFamily="18" charset="2"/>
              </a:rPr>
              <a:t>  </a:t>
            </a:r>
            <a:r>
              <a:rPr lang="zh-CN" altLang="en-US" sz="2800" dirty="0">
                <a:sym typeface="Symbol" panose="05050102010706020507" pitchFamily="18" charset="2"/>
              </a:rPr>
              <a:t>，</a:t>
            </a:r>
            <a:r>
              <a:rPr lang="zh-CN" altLang="zh-CN" sz="2800" dirty="0"/>
              <a:t>多方过程可近似代表气体内进行的实际过程。</a:t>
            </a:r>
            <a:endParaRPr lang="zh-CN" altLang="en-US" sz="2800" dirty="0"/>
          </a:p>
        </p:txBody>
      </p:sp>
      <p:sp>
        <p:nvSpPr>
          <p:cNvPr id="9" name="Text Box 13">
            <a:hlinkClick r:id="" action="ppaction://noaction"/>
            <a:extLst>
              <a:ext uri="{FF2B5EF4-FFF2-40B4-BE49-F238E27FC236}">
                <a16:creationId xmlns:a16="http://schemas.microsoft.com/office/drawing/2014/main" id="{D328B119-2797-429D-A081-CA947C27DE3A}"/>
              </a:ext>
            </a:extLst>
          </p:cNvPr>
          <p:cNvSpPr txBox="1">
            <a:spLocks noChangeArrowheads="1"/>
          </p:cNvSpPr>
          <p:nvPr/>
        </p:nvSpPr>
        <p:spPr bwMode="auto">
          <a:xfrm>
            <a:off x="834688" y="29172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过程方程</a:t>
            </a:r>
            <a:r>
              <a:rPr kumimoji="1" lang="en-US" altLang="zh-CN" sz="3200" dirty="0">
                <a:solidFill>
                  <a:srgbClr val="0066FF"/>
                </a:solidFill>
                <a:latin typeface="+mn-lt"/>
                <a:ea typeface="+mn-ea"/>
                <a:cs typeface="Times New Roman" panose="02020603050405020304" pitchFamily="18" charset="0"/>
              </a:rPr>
              <a:t>*</a:t>
            </a:r>
            <a:endParaRPr kumimoji="1" lang="zh-CN" altLang="en-US" sz="3200" dirty="0">
              <a:solidFill>
                <a:srgbClr val="0066FF"/>
              </a:solidFill>
              <a:latin typeface="+mn-lt"/>
              <a:ea typeface="+mn-ea"/>
              <a:cs typeface="Times New Roman" panose="02020603050405020304" pitchFamily="18" charset="0"/>
            </a:endParaRPr>
          </a:p>
        </p:txBody>
      </p:sp>
      <p:grpSp>
        <p:nvGrpSpPr>
          <p:cNvPr id="2" name="Group 24">
            <a:extLst>
              <a:ext uri="{FF2B5EF4-FFF2-40B4-BE49-F238E27FC236}">
                <a16:creationId xmlns:a16="http://schemas.microsoft.com/office/drawing/2014/main" id="{337E9911-DA91-BFD4-7005-528DA1D517D3}"/>
              </a:ext>
            </a:extLst>
          </p:cNvPr>
          <p:cNvGrpSpPr/>
          <p:nvPr/>
        </p:nvGrpSpPr>
        <p:grpSpPr>
          <a:xfrm>
            <a:off x="628192" y="1445484"/>
            <a:ext cx="3810000" cy="2971800"/>
            <a:chOff x="3024" y="528"/>
            <a:chExt cx="2400" cy="1872"/>
          </a:xfrm>
        </p:grpSpPr>
        <p:sp>
          <p:nvSpPr>
            <p:cNvPr id="3" name="Rectangle 25">
              <a:extLst>
                <a:ext uri="{FF2B5EF4-FFF2-40B4-BE49-F238E27FC236}">
                  <a16:creationId xmlns:a16="http://schemas.microsoft.com/office/drawing/2014/main" id="{A4E140F8-0153-7E5B-7FF9-4D4EA8590D42}"/>
                </a:ext>
              </a:extLst>
            </p:cNvPr>
            <p:cNvSpPr/>
            <p:nvPr/>
          </p:nvSpPr>
          <p:spPr>
            <a:xfrm>
              <a:off x="3024" y="528"/>
              <a:ext cx="2400" cy="1872"/>
            </a:xfrm>
            <a:prstGeom prst="rect">
              <a:avLst/>
            </a:prstGeom>
            <a:solidFill>
              <a:srgbClr val="FFFFFF"/>
            </a:solidFill>
            <a:ln w="9525" cap="flat" cmpd="sng">
              <a:noFill/>
              <a:prstDash val="solid"/>
              <a:miter/>
              <a:headEnd type="none" w="med" len="med"/>
              <a:tailEnd type="none" w="med" len="med"/>
            </a:ln>
          </p:spPr>
          <p:txBody>
            <a:bodyPr wrap="none" anchor="ctr" anchorCtr="0"/>
            <a:lstStyle/>
            <a:p>
              <a:endParaRPr lang="zh-CN" altLang="en-US" sz="2800" dirty="0">
                <a:latin typeface="Bookman Old Style" panose="02050604050505020204" pitchFamily="18" charset="0"/>
              </a:endParaRPr>
            </a:p>
          </p:txBody>
        </p:sp>
        <p:sp>
          <p:nvSpPr>
            <p:cNvPr id="4" name="Arc 26">
              <a:extLst>
                <a:ext uri="{FF2B5EF4-FFF2-40B4-BE49-F238E27FC236}">
                  <a16:creationId xmlns:a16="http://schemas.microsoft.com/office/drawing/2014/main" id="{5F9E7DC6-CB7A-6A4D-39E1-9BFFAC0F115A}"/>
                </a:ext>
              </a:extLst>
            </p:cNvPr>
            <p:cNvSpPr/>
            <p:nvPr/>
          </p:nvSpPr>
          <p:spPr>
            <a:xfrm flipH="1" flipV="1">
              <a:off x="3792" y="864"/>
              <a:ext cx="1286" cy="828"/>
            </a:xfrm>
            <a:custGeom>
              <a:avLst/>
              <a:gdLst>
                <a:gd name="txL" fmla="*/ 0 w 21378"/>
                <a:gd name="txT" fmla="*/ 0 h 21281"/>
                <a:gd name="txR" fmla="*/ 21378 w 21378"/>
                <a:gd name="txB" fmla="*/ 21281 h 21281"/>
              </a:gdLst>
              <a:ahLst/>
              <a:cxnLst>
                <a:cxn ang="0">
                  <a:pos x="13" y="0"/>
                </a:cxn>
                <a:cxn ang="0">
                  <a:pos x="77" y="28"/>
                </a:cxn>
                <a:cxn ang="0">
                  <a:pos x="0" y="32"/>
                </a:cxn>
              </a:cxnLst>
              <a:rect l="txL" t="txT" r="txR" b="txB"/>
              <a:pathLst>
                <a:path w="21378" h="21281" fill="none">
                  <a:moveTo>
                    <a:pt x="3698" y="0"/>
                  </a:moveTo>
                  <a:cubicBezTo>
                    <a:pt x="12906" y="1600"/>
                    <a:pt x="20040" y="8941"/>
                    <a:pt x="21377" y="18191"/>
                  </a:cubicBezTo>
                </a:path>
                <a:path w="21378" h="21281" stroke="0">
                  <a:moveTo>
                    <a:pt x="3698" y="0"/>
                  </a:moveTo>
                  <a:cubicBezTo>
                    <a:pt x="12906" y="1600"/>
                    <a:pt x="20040" y="8941"/>
                    <a:pt x="21377" y="18191"/>
                  </a:cubicBezTo>
                  <a:lnTo>
                    <a:pt x="0" y="21281"/>
                  </a:lnTo>
                  <a:close/>
                </a:path>
              </a:pathLst>
            </a:custGeom>
            <a:noFill/>
            <a:ln w="25400" cap="flat" cmpd="sng">
              <a:solidFill>
                <a:schemeClr val="accent6">
                  <a:lumMod val="75000"/>
                </a:schemeClr>
              </a:solidFill>
              <a:prstDash val="solid"/>
              <a:round/>
              <a:headEnd type="none" w="med" len="med"/>
              <a:tailEnd type="none" w="med" len="med"/>
            </a:ln>
          </p:spPr>
          <p:txBody>
            <a:bodyPr/>
            <a:lstStyle/>
            <a:p>
              <a:endParaRPr lang="zh-CN" altLang="en-US" sz="2800" dirty="0"/>
            </a:p>
          </p:txBody>
        </p:sp>
        <p:sp>
          <p:nvSpPr>
            <p:cNvPr id="5" name="Line 27">
              <a:extLst>
                <a:ext uri="{FF2B5EF4-FFF2-40B4-BE49-F238E27FC236}">
                  <a16:creationId xmlns:a16="http://schemas.microsoft.com/office/drawing/2014/main" id="{2B402151-D21F-A58D-FD1A-266AAA6DCC12}"/>
                </a:ext>
              </a:extLst>
            </p:cNvPr>
            <p:cNvSpPr/>
            <p:nvPr/>
          </p:nvSpPr>
          <p:spPr>
            <a:xfrm>
              <a:off x="4190" y="2112"/>
              <a:ext cx="0" cy="0"/>
            </a:xfrm>
            <a:prstGeom prst="line">
              <a:avLst/>
            </a:prstGeom>
            <a:ln w="9525" cap="flat" cmpd="sng">
              <a:solidFill>
                <a:schemeClr val="tx1"/>
              </a:solidFill>
              <a:prstDash val="solid"/>
              <a:headEnd type="none" w="med" len="med"/>
              <a:tailEnd type="none" w="med" len="med"/>
            </a:ln>
          </p:spPr>
        </p:sp>
        <p:sp>
          <p:nvSpPr>
            <p:cNvPr id="6" name="Line 31">
              <a:extLst>
                <a:ext uri="{FF2B5EF4-FFF2-40B4-BE49-F238E27FC236}">
                  <a16:creationId xmlns:a16="http://schemas.microsoft.com/office/drawing/2014/main" id="{E8757B45-992A-102D-2AD9-16CC8F45336D}"/>
                </a:ext>
              </a:extLst>
            </p:cNvPr>
            <p:cNvSpPr/>
            <p:nvPr/>
          </p:nvSpPr>
          <p:spPr>
            <a:xfrm>
              <a:off x="3408" y="2064"/>
              <a:ext cx="1920" cy="0"/>
            </a:xfrm>
            <a:prstGeom prst="line">
              <a:avLst/>
            </a:prstGeom>
            <a:ln w="19050" cap="flat" cmpd="sng">
              <a:solidFill>
                <a:schemeClr val="tx1"/>
              </a:solidFill>
              <a:prstDash val="solid"/>
              <a:headEnd type="none" w="med" len="med"/>
              <a:tailEnd type="triangle" w="sm" len="lg"/>
            </a:ln>
          </p:spPr>
        </p:sp>
        <p:sp>
          <p:nvSpPr>
            <p:cNvPr id="7" name="Line 32">
              <a:extLst>
                <a:ext uri="{FF2B5EF4-FFF2-40B4-BE49-F238E27FC236}">
                  <a16:creationId xmlns:a16="http://schemas.microsoft.com/office/drawing/2014/main" id="{C889B6D7-D8E8-A0AE-0FEC-23244435A61F}"/>
                </a:ext>
              </a:extLst>
            </p:cNvPr>
            <p:cNvSpPr/>
            <p:nvPr/>
          </p:nvSpPr>
          <p:spPr>
            <a:xfrm flipV="1">
              <a:off x="3434" y="671"/>
              <a:ext cx="0" cy="1402"/>
            </a:xfrm>
            <a:prstGeom prst="line">
              <a:avLst/>
            </a:prstGeom>
            <a:ln w="19050" cap="flat" cmpd="sng">
              <a:solidFill>
                <a:schemeClr val="tx1"/>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8" name="Object 43">
                  <a:extLst>
                    <a:ext uri="{FF2B5EF4-FFF2-40B4-BE49-F238E27FC236}">
                      <a16:creationId xmlns:a16="http://schemas.microsoft.com/office/drawing/2014/main" id="{1FFC1889-860E-1275-1C3C-DA799151E6CF}"/>
                    </a:ext>
                  </a:extLst>
                </p:cNvPr>
                <p:cNvSpPr txBox="1"/>
                <p:nvPr/>
              </p:nvSpPr>
              <p:spPr>
                <a:xfrm>
                  <a:off x="3137" y="624"/>
                  <a:ext cx="207" cy="24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𝑝</m:t>
                        </m:r>
                      </m:oMath>
                    </m:oMathPara>
                  </a14:m>
                  <a:endParaRPr lang="en-US" sz="2800"/>
                </a:p>
              </p:txBody>
            </p:sp>
          </mc:Choice>
          <mc:Fallback xmlns="">
            <p:sp>
              <p:nvSpPr>
                <p:cNvPr id="22541" name="Object 43"/>
                <p:cNvSpPr txBox="1">
                  <a:spLocks noRot="1" noChangeAspect="1" noMove="1" noResize="1" noEditPoints="1" noAdjustHandles="1" noChangeArrowheads="1" noChangeShapeType="1" noTextEdit="1"/>
                </p:cNvSpPr>
                <p:nvPr/>
              </p:nvSpPr>
              <p:spPr>
                <a:xfrm>
                  <a:off x="3137" y="624"/>
                  <a:ext cx="207" cy="245"/>
                </a:xfrm>
                <a:prstGeom prst="rect">
                  <a:avLst/>
                </a:prstGeom>
                <a:blipFill>
                  <a:blip r:embed="rId17"/>
                  <a:stretch>
                    <a:fillRect b="-18750"/>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Object 44">
                  <a:extLst>
                    <a:ext uri="{FF2B5EF4-FFF2-40B4-BE49-F238E27FC236}">
                      <a16:creationId xmlns:a16="http://schemas.microsoft.com/office/drawing/2014/main" id="{89AD7CDE-FDE7-4217-C1D6-22C53E103730}"/>
                    </a:ext>
                  </a:extLst>
                </p:cNvPr>
                <p:cNvSpPr txBox="1"/>
                <p:nvPr/>
              </p:nvSpPr>
              <p:spPr>
                <a:xfrm>
                  <a:off x="5136" y="2112"/>
                  <a:ext cx="197" cy="220"/>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𝑉</m:t>
                        </m:r>
                      </m:oMath>
                    </m:oMathPara>
                  </a14:m>
                  <a:endParaRPr lang="en-US" sz="2800"/>
                </a:p>
              </p:txBody>
            </p:sp>
          </mc:Choice>
          <mc:Fallback xmlns="">
            <p:sp>
              <p:nvSpPr>
                <p:cNvPr id="22542" name="Object 44"/>
                <p:cNvSpPr txBox="1">
                  <a:spLocks noRot="1" noChangeAspect="1" noMove="1" noResize="1" noEditPoints="1" noAdjustHandles="1" noChangeArrowheads="1" noChangeShapeType="1" noTextEdit="1"/>
                </p:cNvSpPr>
                <p:nvPr/>
              </p:nvSpPr>
              <p:spPr>
                <a:xfrm>
                  <a:off x="5136" y="2112"/>
                  <a:ext cx="197" cy="220"/>
                </a:xfrm>
                <a:prstGeom prst="rect">
                  <a:avLst/>
                </a:prstGeom>
                <a:blipFill>
                  <a:blip r:embed="rId18"/>
                  <a:stretch>
                    <a:fillRect b="-12281"/>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Object 45">
                  <a:extLst>
                    <a:ext uri="{FF2B5EF4-FFF2-40B4-BE49-F238E27FC236}">
                      <a16:creationId xmlns:a16="http://schemas.microsoft.com/office/drawing/2014/main" id="{DF6409EA-F3BE-BA3C-8E66-B71A248F951B}"/>
                    </a:ext>
                  </a:extLst>
                </p:cNvPr>
                <p:cNvSpPr txBox="1"/>
                <p:nvPr/>
              </p:nvSpPr>
              <p:spPr>
                <a:xfrm>
                  <a:off x="3360" y="2064"/>
                  <a:ext cx="177" cy="204"/>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𝑜</m:t>
                        </m:r>
                      </m:oMath>
                    </m:oMathPara>
                  </a14:m>
                  <a:endParaRPr lang="en-US" sz="2800"/>
                </a:p>
              </p:txBody>
            </p:sp>
          </mc:Choice>
          <mc:Fallback xmlns="">
            <p:sp>
              <p:nvSpPr>
                <p:cNvPr id="22543" name="Object 45"/>
                <p:cNvSpPr txBox="1">
                  <a:spLocks noRot="1" noChangeAspect="1" noMove="1" noResize="1" noEditPoints="1" noAdjustHandles="1" noChangeArrowheads="1" noChangeShapeType="1" noTextEdit="1"/>
                </p:cNvSpPr>
                <p:nvPr/>
              </p:nvSpPr>
              <p:spPr>
                <a:xfrm>
                  <a:off x="3360" y="2064"/>
                  <a:ext cx="177" cy="204"/>
                </a:xfrm>
                <a:prstGeom prst="rect">
                  <a:avLst/>
                </a:prstGeom>
                <a:blipFill>
                  <a:blip r:embed="rId19"/>
                  <a:stretch>
                    <a:fillRect b="-22642"/>
                  </a:stretch>
                </a:blipFill>
                <a:ln w="38100">
                  <a:noFill/>
                  <a:miter/>
                </a:ln>
              </p:spPr>
              <p:txBody>
                <a:bodyPr/>
                <a:lstStyle/>
                <a:p>
                  <a:r>
                    <a:rPr lang="zh-CN" altLang="en-US">
                      <a:noFill/>
                    </a:rPr>
                    <a:t> </a:t>
                  </a:r>
                </a:p>
              </p:txBody>
            </p:sp>
          </mc:Fallback>
        </mc:AlternateContent>
      </p:grpSp>
      <p:sp>
        <p:nvSpPr>
          <p:cNvPr id="12" name="Line 21">
            <a:extLst>
              <a:ext uri="{FF2B5EF4-FFF2-40B4-BE49-F238E27FC236}">
                <a16:creationId xmlns:a16="http://schemas.microsoft.com/office/drawing/2014/main" id="{5C4B22E7-B6A7-3DA2-FE3C-8E68BFBF1FA5}"/>
              </a:ext>
            </a:extLst>
          </p:cNvPr>
          <p:cNvSpPr/>
          <p:nvPr/>
        </p:nvSpPr>
        <p:spPr>
          <a:xfrm>
            <a:off x="1824576" y="2091496"/>
            <a:ext cx="0" cy="1219200"/>
          </a:xfrm>
          <a:prstGeom prst="line">
            <a:avLst/>
          </a:prstGeom>
          <a:ln w="25400" cap="flat" cmpd="sng">
            <a:solidFill>
              <a:schemeClr val="accent4">
                <a:lumMod val="60000"/>
                <a:lumOff val="40000"/>
              </a:schemeClr>
            </a:solidFill>
            <a:prstDash val="solid"/>
            <a:headEnd type="none" w="med" len="med"/>
            <a:tailEnd type="none" w="med" len="med"/>
          </a:ln>
        </p:spPr>
      </p:sp>
      <p:sp>
        <p:nvSpPr>
          <p:cNvPr id="13" name="Line 13">
            <a:extLst>
              <a:ext uri="{FF2B5EF4-FFF2-40B4-BE49-F238E27FC236}">
                <a16:creationId xmlns:a16="http://schemas.microsoft.com/office/drawing/2014/main" id="{28A3AA59-8198-D101-85DF-7CE01B5FCE71}"/>
              </a:ext>
            </a:extLst>
          </p:cNvPr>
          <p:cNvSpPr/>
          <p:nvPr/>
        </p:nvSpPr>
        <p:spPr>
          <a:xfrm>
            <a:off x="1824575" y="3299582"/>
            <a:ext cx="1622421" cy="0"/>
          </a:xfrm>
          <a:prstGeom prst="line">
            <a:avLst/>
          </a:prstGeom>
          <a:ln w="38100" cap="flat" cmpd="sng">
            <a:solidFill>
              <a:schemeClr val="accent1">
                <a:lumMod val="60000"/>
                <a:lumOff val="40000"/>
              </a:schemeClr>
            </a:solidFill>
            <a:prstDash val="solid"/>
            <a:headEnd type="none" w="med" len="med"/>
            <a:tailEnd type="none" w="med" len="med"/>
          </a:ln>
        </p:spPr>
      </p:sp>
      <p:sp>
        <p:nvSpPr>
          <p:cNvPr id="14" name="Arc 7">
            <a:extLst>
              <a:ext uri="{FF2B5EF4-FFF2-40B4-BE49-F238E27FC236}">
                <a16:creationId xmlns:a16="http://schemas.microsoft.com/office/drawing/2014/main" id="{8C874FAF-C283-3DB8-7F43-370923EFEBF8}"/>
              </a:ext>
            </a:extLst>
          </p:cNvPr>
          <p:cNvSpPr/>
          <p:nvPr/>
        </p:nvSpPr>
        <p:spPr>
          <a:xfrm flipH="1" flipV="1">
            <a:off x="1988459" y="1085926"/>
            <a:ext cx="1846263" cy="2175556"/>
          </a:xfrm>
          <a:custGeom>
            <a:avLst/>
            <a:gdLst>
              <a:gd name="txL" fmla="*/ 0 w 21059"/>
              <a:gd name="txT" fmla="*/ 0 h 21281"/>
              <a:gd name="txR" fmla="*/ 21059 w 21059"/>
              <a:gd name="txB" fmla="*/ 21281 h 21281"/>
            </a:gdLst>
            <a:ahLst/>
            <a:cxnLst>
              <a:cxn ang="0">
                <a:pos x="11" y="0"/>
              </a:cxn>
              <a:cxn ang="0">
                <a:pos x="64" y="65"/>
              </a:cxn>
              <a:cxn ang="0">
                <a:pos x="0" y="84"/>
              </a:cxn>
            </a:cxnLst>
            <a:rect l="txL" t="txT" r="txR" b="txB"/>
            <a:pathLst>
              <a:path w="21059" h="21281" fill="none">
                <a:moveTo>
                  <a:pt x="3698" y="0"/>
                </a:moveTo>
                <a:cubicBezTo>
                  <a:pt x="12277" y="1491"/>
                  <a:pt x="19121" y="7986"/>
                  <a:pt x="21058" y="16475"/>
                </a:cubicBezTo>
              </a:path>
              <a:path w="21059" h="21281" stroke="0">
                <a:moveTo>
                  <a:pt x="3698" y="0"/>
                </a:moveTo>
                <a:cubicBezTo>
                  <a:pt x="12277" y="1491"/>
                  <a:pt x="19121" y="7986"/>
                  <a:pt x="21058" y="16475"/>
                </a:cubicBezTo>
                <a:lnTo>
                  <a:pt x="0" y="21281"/>
                </a:lnTo>
                <a:close/>
              </a:path>
            </a:pathLst>
          </a:custGeom>
          <a:noFill/>
          <a:ln w="25400" cap="flat" cmpd="sng">
            <a:solidFill>
              <a:schemeClr val="accent2">
                <a:lumMod val="75000"/>
              </a:schemeClr>
            </a:solidFill>
            <a:prstDash val="solid"/>
            <a:round/>
            <a:headEnd type="none" w="med" len="med"/>
            <a:tailEnd type="none" w="med" len="med"/>
          </a:ln>
        </p:spPr>
        <p:txBody>
          <a:bodyPr/>
          <a:lstStyle/>
          <a:p>
            <a:endParaRPr lang="zh-CN" altLang="en-US" sz="2800"/>
          </a:p>
        </p:txBody>
      </p:sp>
      <p:sp>
        <p:nvSpPr>
          <p:cNvPr id="15" name="Text Box 7">
            <a:extLst>
              <a:ext uri="{FF2B5EF4-FFF2-40B4-BE49-F238E27FC236}">
                <a16:creationId xmlns:a16="http://schemas.microsoft.com/office/drawing/2014/main" id="{F7F54807-E292-F5C2-1A3D-13122B771E05}"/>
              </a:ext>
            </a:extLst>
          </p:cNvPr>
          <p:cNvSpPr txBox="1"/>
          <p:nvPr/>
        </p:nvSpPr>
        <p:spPr>
          <a:xfrm>
            <a:off x="1176251" y="2586502"/>
            <a:ext cx="1846259" cy="461665"/>
          </a:xfrm>
          <a:prstGeom prst="rect">
            <a:avLst/>
          </a:prstGeom>
          <a:noFill/>
          <a:ln w="9525">
            <a:noFill/>
          </a:ln>
        </p:spPr>
        <p:txBody>
          <a:bodyPr wrap="square">
            <a:spAutoFit/>
          </a:bodyPr>
          <a:lstStyle/>
          <a:p>
            <a:pPr eaLnBrk="1" hangingPunct="1">
              <a:spcBef>
                <a:spcPct val="50000"/>
              </a:spcBef>
            </a:pPr>
            <a:r>
              <a:rPr lang="zh-CN" altLang="en-US" sz="2400" dirty="0">
                <a:latin typeface="Times New Roman" panose="02020603050405020304" pitchFamily="18" charset="0"/>
              </a:rPr>
              <a:t>等体</a:t>
            </a:r>
            <a:endParaRPr lang="en-US" altLang="zh-CN" sz="2400" dirty="0">
              <a:latin typeface="Times New Roman" panose="02020603050405020304" pitchFamily="18" charset="0"/>
            </a:endParaRPr>
          </a:p>
        </p:txBody>
      </p:sp>
      <p:sp>
        <p:nvSpPr>
          <p:cNvPr id="16" name="文本框 15">
            <a:extLst>
              <a:ext uri="{FF2B5EF4-FFF2-40B4-BE49-F238E27FC236}">
                <a16:creationId xmlns:a16="http://schemas.microsoft.com/office/drawing/2014/main" id="{042F77CB-6B01-C6AF-C96A-087388B32206}"/>
              </a:ext>
            </a:extLst>
          </p:cNvPr>
          <p:cNvSpPr txBox="1"/>
          <p:nvPr/>
        </p:nvSpPr>
        <p:spPr>
          <a:xfrm>
            <a:off x="2119146" y="2118589"/>
            <a:ext cx="882906" cy="461665"/>
          </a:xfrm>
          <a:prstGeom prst="rect">
            <a:avLst/>
          </a:prstGeom>
          <a:noFill/>
        </p:spPr>
        <p:txBody>
          <a:bodyPr wrap="square">
            <a:spAutoFit/>
          </a:bodyPr>
          <a:lstStyle/>
          <a:p>
            <a:r>
              <a:rPr lang="zh-CN" altLang="en-US" sz="2400" dirty="0">
                <a:latin typeface="Times New Roman" panose="02020603050405020304" pitchFamily="18" charset="0"/>
              </a:rPr>
              <a:t>绝热 </a:t>
            </a:r>
            <a:endParaRPr lang="zh-CN" altLang="en-US" sz="2400" dirty="0"/>
          </a:p>
        </p:txBody>
      </p:sp>
      <p:sp>
        <p:nvSpPr>
          <p:cNvPr id="17" name="文本框 16">
            <a:extLst>
              <a:ext uri="{FF2B5EF4-FFF2-40B4-BE49-F238E27FC236}">
                <a16:creationId xmlns:a16="http://schemas.microsoft.com/office/drawing/2014/main" id="{F6B21011-EBC6-3A52-801A-440BB5BC43DF}"/>
              </a:ext>
            </a:extLst>
          </p:cNvPr>
          <p:cNvSpPr txBox="1"/>
          <p:nvPr/>
        </p:nvSpPr>
        <p:spPr>
          <a:xfrm>
            <a:off x="1918610" y="3347192"/>
            <a:ext cx="1103900" cy="461665"/>
          </a:xfrm>
          <a:prstGeom prst="rect">
            <a:avLst/>
          </a:prstGeom>
          <a:noFill/>
        </p:spPr>
        <p:txBody>
          <a:bodyPr wrap="square">
            <a:spAutoFit/>
          </a:bodyPr>
          <a:lstStyle/>
          <a:p>
            <a:r>
              <a:rPr lang="zh-CN" altLang="en-US" sz="2400" dirty="0">
                <a:latin typeface="Bookman Old Style" panose="02050604050505020204" pitchFamily="18" charset="0"/>
              </a:rPr>
              <a:t>等压</a:t>
            </a:r>
            <a:endParaRPr lang="zh-CN" altLang="en-US" sz="2400" dirty="0"/>
          </a:p>
        </p:txBody>
      </p:sp>
      <p:sp>
        <p:nvSpPr>
          <p:cNvPr id="18" name="文本框 17">
            <a:extLst>
              <a:ext uri="{FF2B5EF4-FFF2-40B4-BE49-F238E27FC236}">
                <a16:creationId xmlns:a16="http://schemas.microsoft.com/office/drawing/2014/main" id="{B8C6E91A-3813-8BF7-AF8D-AE25E1411B01}"/>
              </a:ext>
            </a:extLst>
          </p:cNvPr>
          <p:cNvSpPr txBox="1"/>
          <p:nvPr/>
        </p:nvSpPr>
        <p:spPr>
          <a:xfrm>
            <a:off x="1936704" y="2675219"/>
            <a:ext cx="843665" cy="461665"/>
          </a:xfrm>
          <a:prstGeom prst="rect">
            <a:avLst/>
          </a:prstGeom>
          <a:noFill/>
        </p:spPr>
        <p:txBody>
          <a:bodyPr wrap="square">
            <a:spAutoFit/>
          </a:bodyPr>
          <a:lstStyle/>
          <a:p>
            <a:r>
              <a:rPr lang="zh-CN" altLang="en-US" sz="2400" dirty="0">
                <a:latin typeface="Times New Roman" panose="02020603050405020304" pitchFamily="18" charset="0"/>
              </a:rPr>
              <a:t>等温</a:t>
            </a:r>
            <a:endParaRPr lang="zh-CN" altLang="en-US" sz="2400" dirty="0"/>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469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469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1469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146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0" grpId="0" autoUpdateAnimBg="0"/>
      <p:bldP spid="114694" grpId="0" autoUpdateAnimBg="0"/>
      <p:bldP spid="114695" grpId="0" autoUpdateAnimBg="0"/>
      <p:bldP spid="114696"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27012" name="Object 4"/>
          <p:cNvGraphicFramePr/>
          <p:nvPr>
            <p:extLst>
              <p:ext uri="{D42A27DB-BD31-4B8C-83A1-F6EECF244321}">
                <p14:modId xmlns:p14="http://schemas.microsoft.com/office/powerpoint/2010/main" val="874321298"/>
              </p:ext>
            </p:extLst>
          </p:nvPr>
        </p:nvGraphicFramePr>
        <p:xfrm>
          <a:off x="2773987" y="4872492"/>
          <a:ext cx="2655002" cy="660399"/>
        </p:xfrm>
        <a:graphic>
          <a:graphicData uri="http://schemas.openxmlformats.org/presentationml/2006/ole">
            <mc:AlternateContent xmlns:mc="http://schemas.openxmlformats.org/markup-compatibility/2006">
              <mc:Choice xmlns:v="urn:schemas-microsoft-com:vml" Requires="v">
                <p:oleObj spid="_x0000_s2058" r:id="rId3" imgW="989965" imgH="241300" progId="Equation.3">
                  <p:embed/>
                </p:oleObj>
              </mc:Choice>
              <mc:Fallback>
                <p:oleObj r:id="rId3" imgW="989965" imgH="241300" progId="Equation.3">
                  <p:embed/>
                  <p:pic>
                    <p:nvPicPr>
                      <p:cNvPr id="427012" name="Object 4"/>
                      <p:cNvPicPr/>
                      <p:nvPr/>
                    </p:nvPicPr>
                    <p:blipFill>
                      <a:blip r:embed="rId4"/>
                      <a:stretch>
                        <a:fillRect/>
                      </a:stretch>
                    </p:blipFill>
                    <p:spPr>
                      <a:xfrm>
                        <a:off x="2773987" y="4872492"/>
                        <a:ext cx="2655002" cy="660399"/>
                      </a:xfrm>
                      <a:prstGeom prst="rect">
                        <a:avLst/>
                      </a:prstGeom>
                      <a:noFill/>
                      <a:ln w="12700" cap="flat" cmpd="sng">
                        <a:noFill/>
                        <a:prstDash val="solid"/>
                        <a:miter/>
                        <a:headEnd type="none" w="med" len="med"/>
                        <a:tailEnd type="none" w="med" len="med"/>
                      </a:ln>
                    </p:spPr>
                  </p:pic>
                </p:oleObj>
              </mc:Fallback>
            </mc:AlternateContent>
          </a:graphicData>
        </a:graphic>
      </p:graphicFrame>
      <p:sp>
        <p:nvSpPr>
          <p:cNvPr id="427015" name="Text Box 7"/>
          <p:cNvSpPr txBox="1"/>
          <p:nvPr/>
        </p:nvSpPr>
        <p:spPr>
          <a:xfrm>
            <a:off x="1987302" y="5809692"/>
            <a:ext cx="3581400" cy="553998"/>
          </a:xfrm>
          <a:prstGeom prst="rect">
            <a:avLst/>
          </a:prstGeom>
          <a:noFill/>
          <a:ln w="9525">
            <a:noFill/>
          </a:ln>
        </p:spPr>
        <p:txBody>
          <a:bodyPr>
            <a:spAutoFit/>
          </a:bodyPr>
          <a:lstStyle/>
          <a:p>
            <a:pPr eaLnBrk="1" hangingPunct="1">
              <a:spcBef>
                <a:spcPct val="50000"/>
              </a:spcBef>
            </a:pPr>
            <a:r>
              <a:rPr lang="en-US" altLang="zh-CN" sz="3000" dirty="0">
                <a:latin typeface="Times New Roman" panose="02020603050405020304" pitchFamily="18" charset="0"/>
              </a:rPr>
              <a:t>- </a:t>
            </a:r>
            <a:r>
              <a:rPr lang="zh-CN" altLang="en-US" sz="3000" dirty="0">
                <a:latin typeface="Times New Roman" panose="02020603050405020304" pitchFamily="18" charset="0"/>
              </a:rPr>
              <a:t>摩尔热容比</a:t>
            </a:r>
            <a:r>
              <a:rPr lang="zh-CN" altLang="en-US" sz="3000" dirty="0">
                <a:solidFill>
                  <a:srgbClr val="CC0000"/>
                </a:solidFill>
                <a:latin typeface="Times New Roman" panose="02020603050405020304" pitchFamily="18" charset="0"/>
              </a:rPr>
              <a:t> </a:t>
            </a:r>
            <a:endParaRPr lang="zh-CN" altLang="en-US" sz="3000" dirty="0">
              <a:solidFill>
                <a:srgbClr val="A50021"/>
              </a:solidFill>
              <a:latin typeface="Times New Roman" panose="02020603050405020304" pitchFamily="18" charset="0"/>
            </a:endParaRPr>
          </a:p>
        </p:txBody>
      </p:sp>
      <p:graphicFrame>
        <p:nvGraphicFramePr>
          <p:cNvPr id="427016" name="Object 8"/>
          <p:cNvGraphicFramePr/>
          <p:nvPr>
            <p:extLst>
              <p:ext uri="{D42A27DB-BD31-4B8C-83A1-F6EECF244321}">
                <p14:modId xmlns:p14="http://schemas.microsoft.com/office/powerpoint/2010/main" val="240746246"/>
              </p:ext>
            </p:extLst>
          </p:nvPr>
        </p:nvGraphicFramePr>
        <p:xfrm>
          <a:off x="4844106" y="5767266"/>
          <a:ext cx="2034840" cy="734661"/>
        </p:xfrm>
        <a:graphic>
          <a:graphicData uri="http://schemas.openxmlformats.org/presentationml/2006/ole">
            <mc:AlternateContent xmlns:mc="http://schemas.openxmlformats.org/markup-compatibility/2006">
              <mc:Choice xmlns:v="urn:schemas-microsoft-com:vml" Requires="v">
                <p:oleObj spid="_x0000_s2059" r:id="rId5" imgW="913765" imgH="241300" progId="Equation.3">
                  <p:embed/>
                </p:oleObj>
              </mc:Choice>
              <mc:Fallback>
                <p:oleObj r:id="rId5" imgW="913765" imgH="241300" progId="Equation.3">
                  <p:embed/>
                  <p:pic>
                    <p:nvPicPr>
                      <p:cNvPr id="427016" name="Object 8"/>
                      <p:cNvPicPr/>
                      <p:nvPr/>
                    </p:nvPicPr>
                    <p:blipFill>
                      <a:blip r:embed="rId6"/>
                      <a:stretch>
                        <a:fillRect/>
                      </a:stretch>
                    </p:blipFill>
                    <p:spPr>
                      <a:xfrm>
                        <a:off x="4844106" y="5767266"/>
                        <a:ext cx="2034840" cy="734661"/>
                      </a:xfrm>
                      <a:prstGeom prst="rect">
                        <a:avLst/>
                      </a:prstGeom>
                      <a:noFill/>
                      <a:ln w="12700" cap="flat" cmpd="sng">
                        <a:noFill/>
                        <a:prstDash val="solid"/>
                        <a:miter/>
                        <a:headEnd type="none" w="med" len="med"/>
                        <a:tailEnd type="none" w="med" len="med"/>
                      </a:ln>
                    </p:spPr>
                  </p:pic>
                </p:oleObj>
              </mc:Fallback>
            </mc:AlternateContent>
          </a:graphicData>
        </a:graphic>
      </p:graphicFrame>
      <p:sp>
        <p:nvSpPr>
          <p:cNvPr id="11" name="Text Box 13">
            <a:hlinkClick r:id="" action="ppaction://noaction"/>
            <a:extLst>
              <a:ext uri="{FF2B5EF4-FFF2-40B4-BE49-F238E27FC236}">
                <a16:creationId xmlns:a16="http://schemas.microsoft.com/office/drawing/2014/main" id="{DA511BF7-779A-472B-8994-C37E188BC4DE}"/>
              </a:ext>
            </a:extLst>
          </p:cNvPr>
          <p:cNvSpPr txBox="1">
            <a:spLocks noChangeArrowheads="1"/>
          </p:cNvSpPr>
          <p:nvPr/>
        </p:nvSpPr>
        <p:spPr bwMode="auto">
          <a:xfrm>
            <a:off x="617888" y="32923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热容比 </a:t>
            </a:r>
          </a:p>
        </p:txBody>
      </p:sp>
      <p:sp>
        <p:nvSpPr>
          <p:cNvPr id="6" name="Rectangle 32">
            <a:extLst>
              <a:ext uri="{FF2B5EF4-FFF2-40B4-BE49-F238E27FC236}">
                <a16:creationId xmlns:a16="http://schemas.microsoft.com/office/drawing/2014/main" id="{FE86CB5B-DF9C-A347-99BC-9461EFA32EA4}"/>
              </a:ext>
            </a:extLst>
          </p:cNvPr>
          <p:cNvSpPr>
            <a:spLocks noChangeArrowheads="1"/>
          </p:cNvSpPr>
          <p:nvPr/>
        </p:nvSpPr>
        <p:spPr bwMode="auto">
          <a:xfrm>
            <a:off x="5765371" y="4872492"/>
            <a:ext cx="2033008" cy="554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r>
              <a:rPr lang="zh-CN" altLang="en-US" sz="3000" b="0" dirty="0">
                <a:latin typeface="华文楷体" panose="02010600040101010101" pitchFamily="2" charset="-122"/>
                <a:ea typeface="华文楷体" panose="02010600040101010101" pitchFamily="2" charset="-122"/>
              </a:rPr>
              <a:t>迈耶公式</a:t>
            </a:r>
          </a:p>
        </p:txBody>
      </p:sp>
      <mc:AlternateContent xmlns:mc="http://schemas.openxmlformats.org/markup-compatibility/2006" xmlns:a14="http://schemas.microsoft.com/office/drawing/2010/main">
        <mc:Choice Requires="a14">
          <p:sp>
            <p:nvSpPr>
              <p:cNvPr id="10" name="Object 37">
                <a:extLst>
                  <a:ext uri="{FF2B5EF4-FFF2-40B4-BE49-F238E27FC236}">
                    <a16:creationId xmlns:a16="http://schemas.microsoft.com/office/drawing/2014/main" id="{FBFDF953-FB68-3F45-2A4C-CA7075C6E9E7}"/>
                  </a:ext>
                </a:extLst>
              </p:cNvPr>
              <p:cNvSpPr txBox="1"/>
              <p:nvPr/>
            </p:nvSpPr>
            <p:spPr bwMode="auto">
              <a:xfrm>
                <a:off x="728916" y="3528779"/>
                <a:ext cx="2741294" cy="904875"/>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3000" i="1">
                              <a:solidFill>
                                <a:srgbClr val="000000"/>
                              </a:solidFill>
                              <a:latin typeface="Cambria Math" panose="02040503050406030204" pitchFamily="18" charset="0"/>
                            </a:rPr>
                          </m:ctrlPr>
                        </m:sSubPr>
                        <m:e>
                          <m:r>
                            <a:rPr lang="en-US" sz="3000" i="1">
                              <a:solidFill>
                                <a:srgbClr val="000000"/>
                              </a:solidFill>
                              <a:latin typeface="Cambria Math" panose="02040503050406030204" pitchFamily="18" charset="0"/>
                            </a:rPr>
                            <m:t>𝐶</m:t>
                          </m:r>
                        </m:e>
                        <m:sub>
                          <m:r>
                            <a:rPr lang="en-US" sz="3000" i="1">
                              <a:solidFill>
                                <a:srgbClr val="000000"/>
                              </a:solidFill>
                              <a:latin typeface="Cambria Math" panose="02040503050406030204" pitchFamily="18" charset="0"/>
                            </a:rPr>
                            <m:t>𝑉</m:t>
                          </m:r>
                          <m:r>
                            <a:rPr lang="en-US" sz="3000" i="1">
                              <a:solidFill>
                                <a:srgbClr val="000000"/>
                              </a:solidFill>
                              <a:latin typeface="Cambria Math" panose="02040503050406030204" pitchFamily="18" charset="0"/>
                            </a:rPr>
                            <m:t>,</m:t>
                          </m:r>
                          <m:r>
                            <a:rPr lang="en-US" sz="3000" i="1">
                              <a:solidFill>
                                <a:srgbClr val="000000"/>
                              </a:solidFill>
                              <a:latin typeface="Cambria Math" panose="02040503050406030204" pitchFamily="18" charset="0"/>
                            </a:rPr>
                            <m:t>𝑚</m:t>
                          </m:r>
                        </m:sub>
                      </m:sSub>
                      <m:r>
                        <a:rPr lang="en-US" sz="3000" i="1">
                          <a:solidFill>
                            <a:srgbClr val="000000"/>
                          </a:solidFill>
                          <a:latin typeface="Cambria Math" panose="02040503050406030204" pitchFamily="18" charset="0"/>
                        </a:rPr>
                        <m:t>=</m:t>
                      </m:r>
                      <m:f>
                        <m:fPr>
                          <m:ctrlPr>
                            <a:rPr lang="en-US" sz="3000" i="1">
                              <a:solidFill>
                                <a:srgbClr val="000000"/>
                              </a:solidFill>
                              <a:latin typeface="Cambria Math" panose="02040503050406030204" pitchFamily="18" charset="0"/>
                            </a:rPr>
                          </m:ctrlPr>
                        </m:fPr>
                        <m:num>
                          <m:r>
                            <a:rPr lang="en-US" sz="3000" i="1">
                              <a:solidFill>
                                <a:srgbClr val="000000"/>
                              </a:solidFill>
                              <a:latin typeface="Cambria Math" panose="02040503050406030204" pitchFamily="18" charset="0"/>
                            </a:rPr>
                            <m:t>𝑖</m:t>
                          </m:r>
                        </m:num>
                        <m:den>
                          <m:r>
                            <a:rPr lang="en-US" sz="3000" i="1">
                              <a:solidFill>
                                <a:srgbClr val="000000"/>
                              </a:solidFill>
                              <a:latin typeface="Cambria Math" panose="02040503050406030204" pitchFamily="18" charset="0"/>
                            </a:rPr>
                            <m:t>2</m:t>
                          </m:r>
                        </m:den>
                      </m:f>
                      <m:r>
                        <a:rPr lang="en-US" sz="3000" i="1">
                          <a:solidFill>
                            <a:srgbClr val="000000"/>
                          </a:solidFill>
                          <a:latin typeface="Cambria Math" panose="02040503050406030204" pitchFamily="18" charset="0"/>
                        </a:rPr>
                        <m:t>𝑅</m:t>
                      </m:r>
                    </m:oMath>
                  </m:oMathPara>
                </a14:m>
                <a:endParaRPr lang="en-US" sz="3000" dirty="0"/>
              </a:p>
            </p:txBody>
          </p:sp>
        </mc:Choice>
        <mc:Fallback xmlns="">
          <p:sp>
            <p:nvSpPr>
              <p:cNvPr id="10" name="Object 37">
                <a:extLst>
                  <a:ext uri="{FF2B5EF4-FFF2-40B4-BE49-F238E27FC236}">
                    <a16:creationId xmlns:a16="http://schemas.microsoft.com/office/drawing/2014/main" id="{FBFDF953-FB68-3F45-2A4C-CA7075C6E9E7}"/>
                  </a:ext>
                </a:extLst>
              </p:cNvPr>
              <p:cNvSpPr txBox="1">
                <a:spLocks noRot="1" noChangeAspect="1" noMove="1" noResize="1" noEditPoints="1" noAdjustHandles="1" noChangeArrowheads="1" noChangeShapeType="1" noTextEdit="1"/>
              </p:cNvSpPr>
              <p:nvPr/>
            </p:nvSpPr>
            <p:spPr bwMode="auto">
              <a:xfrm>
                <a:off x="728916" y="3528779"/>
                <a:ext cx="2741294" cy="904875"/>
              </a:xfrm>
              <a:prstGeom prst="rect">
                <a:avLst/>
              </a:prstGeom>
              <a:blipFill>
                <a:blip r:embed="rId7"/>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Object 38">
                <a:extLst>
                  <a:ext uri="{FF2B5EF4-FFF2-40B4-BE49-F238E27FC236}">
                    <a16:creationId xmlns:a16="http://schemas.microsoft.com/office/drawing/2014/main" id="{D3CCC386-5D0D-6909-0894-D5193D95A0B5}"/>
                  </a:ext>
                </a:extLst>
              </p:cNvPr>
              <p:cNvSpPr txBox="1"/>
              <p:nvPr/>
            </p:nvSpPr>
            <p:spPr bwMode="auto">
              <a:xfrm>
                <a:off x="6878946" y="3536469"/>
                <a:ext cx="3336920" cy="963613"/>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3000" i="1">
                              <a:solidFill>
                                <a:srgbClr val="000000"/>
                              </a:solidFill>
                              <a:latin typeface="Cambria Math" panose="02040503050406030204" pitchFamily="18" charset="0"/>
                            </a:rPr>
                          </m:ctrlPr>
                        </m:sSubPr>
                        <m:e>
                          <m:r>
                            <a:rPr lang="en-US" sz="3000" i="1">
                              <a:solidFill>
                                <a:srgbClr val="000000"/>
                              </a:solidFill>
                              <a:latin typeface="Cambria Math" panose="02040503050406030204" pitchFamily="18" charset="0"/>
                            </a:rPr>
                            <m:t>𝐶</m:t>
                          </m:r>
                        </m:e>
                        <m:sub>
                          <m:r>
                            <a:rPr lang="en-US" sz="3000" i="1">
                              <a:solidFill>
                                <a:srgbClr val="000000"/>
                              </a:solidFill>
                              <a:latin typeface="Cambria Math" panose="02040503050406030204" pitchFamily="18" charset="0"/>
                            </a:rPr>
                            <m:t>𝑃</m:t>
                          </m:r>
                          <m:r>
                            <a:rPr lang="en-US" sz="3000" i="1">
                              <a:solidFill>
                                <a:srgbClr val="000000"/>
                              </a:solidFill>
                              <a:latin typeface="Cambria Math" panose="02040503050406030204" pitchFamily="18" charset="0"/>
                            </a:rPr>
                            <m:t>,</m:t>
                          </m:r>
                          <m:r>
                            <a:rPr lang="en-US" sz="3000" i="1">
                              <a:solidFill>
                                <a:srgbClr val="000000"/>
                              </a:solidFill>
                              <a:latin typeface="Cambria Math" panose="02040503050406030204" pitchFamily="18" charset="0"/>
                            </a:rPr>
                            <m:t>𝑚</m:t>
                          </m:r>
                        </m:sub>
                      </m:sSub>
                      <m:r>
                        <a:rPr lang="en-US" sz="3000" i="1">
                          <a:solidFill>
                            <a:srgbClr val="000000"/>
                          </a:solidFill>
                          <a:latin typeface="Cambria Math" panose="02040503050406030204" pitchFamily="18" charset="0"/>
                        </a:rPr>
                        <m:t>=</m:t>
                      </m:r>
                      <m:f>
                        <m:fPr>
                          <m:ctrlPr>
                            <a:rPr lang="en-US" sz="3000" i="1">
                              <a:solidFill>
                                <a:srgbClr val="000000"/>
                              </a:solidFill>
                              <a:latin typeface="Cambria Math" panose="02040503050406030204" pitchFamily="18" charset="0"/>
                            </a:rPr>
                          </m:ctrlPr>
                        </m:fPr>
                        <m:num>
                          <m:r>
                            <a:rPr lang="en-US" sz="3000" i="1">
                              <a:solidFill>
                                <a:srgbClr val="000000"/>
                              </a:solidFill>
                              <a:latin typeface="Cambria Math" panose="02040503050406030204" pitchFamily="18" charset="0"/>
                            </a:rPr>
                            <m:t>2+</m:t>
                          </m:r>
                          <m:r>
                            <a:rPr lang="en-US" sz="3000" i="1">
                              <a:solidFill>
                                <a:srgbClr val="000000"/>
                              </a:solidFill>
                              <a:latin typeface="Cambria Math" panose="02040503050406030204" pitchFamily="18" charset="0"/>
                            </a:rPr>
                            <m:t>𝑖</m:t>
                          </m:r>
                        </m:num>
                        <m:den>
                          <m:r>
                            <a:rPr lang="en-US" sz="3000" i="1">
                              <a:solidFill>
                                <a:srgbClr val="000000"/>
                              </a:solidFill>
                              <a:latin typeface="Cambria Math" panose="02040503050406030204" pitchFamily="18" charset="0"/>
                            </a:rPr>
                            <m:t>2</m:t>
                          </m:r>
                        </m:den>
                      </m:f>
                      <m:r>
                        <a:rPr lang="en-US" sz="3000" i="1">
                          <a:solidFill>
                            <a:srgbClr val="000000"/>
                          </a:solidFill>
                          <a:latin typeface="Cambria Math" panose="02040503050406030204" pitchFamily="18" charset="0"/>
                        </a:rPr>
                        <m:t>𝑅</m:t>
                      </m:r>
                    </m:oMath>
                  </m:oMathPara>
                </a14:m>
                <a:endParaRPr lang="en-US" sz="3000" dirty="0"/>
              </a:p>
            </p:txBody>
          </p:sp>
        </mc:Choice>
        <mc:Fallback xmlns="">
          <p:sp>
            <p:nvSpPr>
              <p:cNvPr id="13" name="Object 38">
                <a:extLst>
                  <a:ext uri="{FF2B5EF4-FFF2-40B4-BE49-F238E27FC236}">
                    <a16:creationId xmlns:a16="http://schemas.microsoft.com/office/drawing/2014/main" id="{D3CCC386-5D0D-6909-0894-D5193D95A0B5}"/>
                  </a:ext>
                </a:extLst>
              </p:cNvPr>
              <p:cNvSpPr txBox="1">
                <a:spLocks noRot="1" noChangeAspect="1" noMove="1" noResize="1" noEditPoints="1" noAdjustHandles="1" noChangeArrowheads="1" noChangeShapeType="1" noTextEdit="1"/>
              </p:cNvSpPr>
              <p:nvPr/>
            </p:nvSpPr>
            <p:spPr bwMode="auto">
              <a:xfrm>
                <a:off x="6878946" y="3536469"/>
                <a:ext cx="3336920" cy="963613"/>
              </a:xfrm>
              <a:prstGeom prst="rect">
                <a:avLst/>
              </a:prstGeom>
              <a:blipFill>
                <a:blip r:embed="rId8"/>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Object 39">
                <a:extLst>
                  <a:ext uri="{FF2B5EF4-FFF2-40B4-BE49-F238E27FC236}">
                    <a16:creationId xmlns:a16="http://schemas.microsoft.com/office/drawing/2014/main" id="{DFEFA6EC-DB28-1302-8521-6AA25B8F9C74}"/>
                  </a:ext>
                </a:extLst>
              </p:cNvPr>
              <p:cNvSpPr txBox="1"/>
              <p:nvPr/>
            </p:nvSpPr>
            <p:spPr bwMode="auto">
              <a:xfrm>
                <a:off x="5861526" y="5599608"/>
                <a:ext cx="3779112" cy="1069975"/>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en-US" sz="3000" i="1">
                          <a:solidFill>
                            <a:srgbClr val="000000"/>
                          </a:solidFill>
                          <a:latin typeface="Cambria Math" panose="02040503050406030204" pitchFamily="18" charset="0"/>
                        </a:rPr>
                        <m:t>=</m:t>
                      </m:r>
                      <m:f>
                        <m:fPr>
                          <m:ctrlPr>
                            <a:rPr lang="en-US" sz="3000" i="1">
                              <a:solidFill>
                                <a:srgbClr val="000000"/>
                              </a:solidFill>
                              <a:latin typeface="Cambria Math" panose="02040503050406030204" pitchFamily="18" charset="0"/>
                            </a:rPr>
                          </m:ctrlPr>
                        </m:fPr>
                        <m:num>
                          <m:r>
                            <a:rPr lang="en-US" sz="3000" i="1">
                              <a:solidFill>
                                <a:srgbClr val="000000"/>
                              </a:solidFill>
                              <a:latin typeface="Cambria Math" panose="02040503050406030204" pitchFamily="18" charset="0"/>
                            </a:rPr>
                            <m:t>2+</m:t>
                          </m:r>
                          <m:r>
                            <a:rPr lang="en-US" sz="3000" i="1">
                              <a:solidFill>
                                <a:srgbClr val="000000"/>
                              </a:solidFill>
                              <a:latin typeface="Cambria Math" panose="02040503050406030204" pitchFamily="18" charset="0"/>
                            </a:rPr>
                            <m:t>𝑖</m:t>
                          </m:r>
                        </m:num>
                        <m:den>
                          <m:r>
                            <a:rPr lang="en-US" sz="3000" i="1">
                              <a:solidFill>
                                <a:srgbClr val="000000"/>
                              </a:solidFill>
                              <a:latin typeface="Cambria Math" panose="02040503050406030204" pitchFamily="18" charset="0"/>
                            </a:rPr>
                            <m:t>𝑖</m:t>
                          </m:r>
                        </m:den>
                      </m:f>
                    </m:oMath>
                  </m:oMathPara>
                </a14:m>
                <a:endParaRPr lang="en-US" sz="3000" dirty="0"/>
              </a:p>
            </p:txBody>
          </p:sp>
        </mc:Choice>
        <mc:Fallback xmlns="">
          <p:sp>
            <p:nvSpPr>
              <p:cNvPr id="14" name="Object 39">
                <a:extLst>
                  <a:ext uri="{FF2B5EF4-FFF2-40B4-BE49-F238E27FC236}">
                    <a16:creationId xmlns:a16="http://schemas.microsoft.com/office/drawing/2014/main" id="{DFEFA6EC-DB28-1302-8521-6AA25B8F9C74}"/>
                  </a:ext>
                </a:extLst>
              </p:cNvPr>
              <p:cNvSpPr txBox="1">
                <a:spLocks noRot="1" noChangeAspect="1" noMove="1" noResize="1" noEditPoints="1" noAdjustHandles="1" noChangeArrowheads="1" noChangeShapeType="1" noTextEdit="1"/>
              </p:cNvSpPr>
              <p:nvPr/>
            </p:nvSpPr>
            <p:spPr bwMode="auto">
              <a:xfrm>
                <a:off x="5861526" y="5599608"/>
                <a:ext cx="3779112" cy="1069975"/>
              </a:xfrm>
              <a:prstGeom prst="rect">
                <a:avLst/>
              </a:prstGeom>
              <a:blipFill>
                <a:blip r:embed="rId9"/>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Object 4">
                <a:extLst>
                  <a:ext uri="{FF2B5EF4-FFF2-40B4-BE49-F238E27FC236}">
                    <a16:creationId xmlns:a16="http://schemas.microsoft.com/office/drawing/2014/main" id="{BFE8B489-AABA-9B75-79E8-DF0A65374CBA}"/>
                  </a:ext>
                </a:extLst>
              </p:cNvPr>
              <p:cNvSpPr txBox="1"/>
              <p:nvPr/>
            </p:nvSpPr>
            <p:spPr>
              <a:xfrm>
                <a:off x="4632235" y="840059"/>
                <a:ext cx="1804796" cy="863600"/>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3000" i="1">
                          <a:solidFill>
                            <a:srgbClr val="000000"/>
                          </a:solidFill>
                          <a:latin typeface="Cambria Math" panose="02040503050406030204" pitchFamily="18" charset="0"/>
                        </a:rPr>
                        <m:t>𝐶</m:t>
                      </m:r>
                      <m:r>
                        <a:rPr lang="zh-CN" altLang="en-US" sz="3000" i="1">
                          <a:solidFill>
                            <a:srgbClr val="000000"/>
                          </a:solidFill>
                          <a:latin typeface="Cambria Math" panose="02040503050406030204" pitchFamily="18" charset="0"/>
                        </a:rPr>
                        <m:t>=</m:t>
                      </m:r>
                      <m:f>
                        <m:fPr>
                          <m:ctrlPr>
                            <a:rPr lang="zh-CN" altLang="en-US" sz="3000" i="1">
                              <a:solidFill>
                                <a:srgbClr val="000000"/>
                              </a:solidFill>
                              <a:latin typeface="Cambria Math" panose="02040503050406030204" pitchFamily="18" charset="0"/>
                            </a:rPr>
                          </m:ctrlPr>
                        </m:fPr>
                        <m:num>
                          <m:r>
                            <m:rPr>
                              <m:sty m:val="p"/>
                            </m:rPr>
                            <a:rPr lang="zh-CN" altLang="en-US" sz="3000" i="0">
                              <a:solidFill>
                                <a:srgbClr val="000000"/>
                              </a:solidFill>
                              <a:latin typeface="Cambria Math" panose="02040503050406030204" pitchFamily="18" charset="0"/>
                            </a:rPr>
                            <m:t>d</m:t>
                          </m:r>
                          <m:r>
                            <a:rPr lang="zh-CN" altLang="en-US" sz="3000" i="1">
                              <a:solidFill>
                                <a:srgbClr val="000000"/>
                              </a:solidFill>
                              <a:latin typeface="Cambria Math" panose="02040503050406030204" pitchFamily="18" charset="0"/>
                            </a:rPr>
                            <m:t>𝑄</m:t>
                          </m:r>
                        </m:num>
                        <m:den>
                          <m:r>
                            <m:rPr>
                              <m:sty m:val="p"/>
                            </m:rPr>
                            <a:rPr lang="zh-CN" altLang="en-US" sz="3000" i="0">
                              <a:solidFill>
                                <a:srgbClr val="000000"/>
                              </a:solidFill>
                              <a:latin typeface="Cambria Math" panose="02040503050406030204" pitchFamily="18" charset="0"/>
                            </a:rPr>
                            <m:t>d</m:t>
                          </m:r>
                          <m:r>
                            <a:rPr lang="zh-CN" altLang="en-US" sz="3000" i="1">
                              <a:solidFill>
                                <a:srgbClr val="000000"/>
                              </a:solidFill>
                              <a:latin typeface="Cambria Math" panose="02040503050406030204" pitchFamily="18" charset="0"/>
                            </a:rPr>
                            <m:t>𝑇</m:t>
                          </m:r>
                        </m:den>
                      </m:f>
                    </m:oMath>
                  </m:oMathPara>
                </a14:m>
                <a:endParaRPr lang="zh-CN" altLang="en-US" sz="3000" dirty="0"/>
              </a:p>
            </p:txBody>
          </p:sp>
        </mc:Choice>
        <mc:Fallback xmlns="">
          <p:sp>
            <p:nvSpPr>
              <p:cNvPr id="2" name="Object 4">
                <a:extLst>
                  <a:ext uri="{FF2B5EF4-FFF2-40B4-BE49-F238E27FC236}">
                    <a16:creationId xmlns:a16="http://schemas.microsoft.com/office/drawing/2014/main" id="{BFE8B489-AABA-9B75-79E8-DF0A65374CBA}"/>
                  </a:ext>
                </a:extLst>
              </p:cNvPr>
              <p:cNvSpPr txBox="1">
                <a:spLocks noRot="1" noChangeAspect="1" noMove="1" noResize="1" noEditPoints="1" noAdjustHandles="1" noChangeArrowheads="1" noChangeShapeType="1" noTextEdit="1"/>
              </p:cNvSpPr>
              <p:nvPr/>
            </p:nvSpPr>
            <p:spPr>
              <a:xfrm>
                <a:off x="4632235" y="840059"/>
                <a:ext cx="1804796" cy="863600"/>
              </a:xfrm>
              <a:prstGeom prst="rect">
                <a:avLst/>
              </a:prstGeom>
              <a:blipFill>
                <a:blip r:embed="rId10"/>
                <a:stretch>
                  <a:fillRect b="-6383"/>
                </a:stretch>
              </a:blipFill>
              <a:ln w="38100">
                <a:noFill/>
                <a:miter/>
              </a:ln>
            </p:spPr>
            <p:txBody>
              <a:bodyPr/>
              <a:lstStyle/>
              <a:p>
                <a:r>
                  <a:rPr lang="zh-CN" altLang="en-US">
                    <a:noFill/>
                  </a:rPr>
                  <a:t> </a:t>
                </a:r>
              </a:p>
            </p:txBody>
          </p:sp>
        </mc:Fallback>
      </mc:AlternateContent>
      <p:sp>
        <p:nvSpPr>
          <p:cNvPr id="3" name="Text Box 5">
            <a:extLst>
              <a:ext uri="{FF2B5EF4-FFF2-40B4-BE49-F238E27FC236}">
                <a16:creationId xmlns:a16="http://schemas.microsoft.com/office/drawing/2014/main" id="{CFD0AC75-6841-6B9E-D973-3A08811E10B8}"/>
              </a:ext>
            </a:extLst>
          </p:cNvPr>
          <p:cNvSpPr txBox="1">
            <a:spLocks noChangeArrowheads="1"/>
          </p:cNvSpPr>
          <p:nvPr/>
        </p:nvSpPr>
        <p:spPr bwMode="auto">
          <a:xfrm>
            <a:off x="2500319" y="1096222"/>
            <a:ext cx="1443837" cy="553998"/>
          </a:xfrm>
          <a:prstGeom prst="rect">
            <a:avLst/>
          </a:prstGeom>
          <a:noFill/>
          <a:ln w="9525">
            <a:noFill/>
            <a:miter lim="800000"/>
          </a:ln>
          <a:effectLst/>
        </p:spPr>
        <p:txBody>
          <a:bodyPr>
            <a:spAutoFit/>
          </a:bodyPr>
          <a:lstStyle/>
          <a:p>
            <a:pPr marR="0" algn="ctr" defTabSz="914400" eaLnBrk="1" hangingPunct="1">
              <a:spcBef>
                <a:spcPct val="50000"/>
              </a:spcBef>
              <a:buClrTx/>
              <a:buSzTx/>
              <a:buFontTx/>
              <a:buNone/>
              <a:defRPr/>
            </a:pPr>
            <a:r>
              <a:rPr kumimoji="1" lang="zh-CN" altLang="en-US" sz="3000" b="1" kern="1200" cap="none" spc="0" normalizeH="0" baseline="0" noProof="0" dirty="0">
                <a:solidFill>
                  <a:schemeClr val="tx1"/>
                </a:solidFill>
                <a:latin typeface="+mn-ea"/>
                <a:cs typeface="+mn-cs"/>
              </a:rPr>
              <a:t>热容</a:t>
            </a:r>
          </a:p>
        </p:txBody>
      </p:sp>
      <p:sp>
        <p:nvSpPr>
          <p:cNvPr id="5" name="文本框 4">
            <a:extLst>
              <a:ext uri="{FF2B5EF4-FFF2-40B4-BE49-F238E27FC236}">
                <a16:creationId xmlns:a16="http://schemas.microsoft.com/office/drawing/2014/main" id="{93EA4DB6-C282-ADB1-1E5C-547C3C76DBF3}"/>
              </a:ext>
            </a:extLst>
          </p:cNvPr>
          <p:cNvSpPr txBox="1"/>
          <p:nvPr/>
        </p:nvSpPr>
        <p:spPr>
          <a:xfrm>
            <a:off x="772062" y="2211165"/>
            <a:ext cx="2655002" cy="553998"/>
          </a:xfrm>
          <a:prstGeom prst="rect">
            <a:avLst/>
          </a:prstGeom>
          <a:noFill/>
        </p:spPr>
        <p:txBody>
          <a:bodyPr wrap="square">
            <a:spAutoFit/>
          </a:bodyPr>
          <a:lstStyle/>
          <a:p>
            <a:r>
              <a:rPr lang="zh-CN" altLang="en-US" sz="3000" dirty="0">
                <a:solidFill>
                  <a:srgbClr val="000000"/>
                </a:solidFill>
                <a:latin typeface="Arial" panose="020B0604020202020204" pitchFamily="34" charset="0"/>
              </a:rPr>
              <a:t>摩尔</a:t>
            </a:r>
            <a:r>
              <a:rPr lang="zh-CN" altLang="en-US" sz="3000" dirty="0">
                <a:solidFill>
                  <a:srgbClr val="000000"/>
                </a:solidFill>
                <a:latin typeface="Times New Roman" panose="02020603050405020304" pitchFamily="18" charset="0"/>
              </a:rPr>
              <a:t>定体热容</a:t>
            </a:r>
            <a:endParaRPr lang="zh-CN" altLang="en-US" sz="3000" dirty="0"/>
          </a:p>
        </p:txBody>
      </p:sp>
      <p:sp>
        <p:nvSpPr>
          <p:cNvPr id="15" name="文本框 14">
            <a:extLst>
              <a:ext uri="{FF2B5EF4-FFF2-40B4-BE49-F238E27FC236}">
                <a16:creationId xmlns:a16="http://schemas.microsoft.com/office/drawing/2014/main" id="{ACD0FAA0-F90F-4169-9F50-BC381F870762}"/>
              </a:ext>
            </a:extLst>
          </p:cNvPr>
          <p:cNvSpPr txBox="1"/>
          <p:nvPr/>
        </p:nvSpPr>
        <p:spPr>
          <a:xfrm>
            <a:off x="5927984" y="2192574"/>
            <a:ext cx="2655002" cy="553998"/>
          </a:xfrm>
          <a:prstGeom prst="rect">
            <a:avLst/>
          </a:prstGeom>
          <a:noFill/>
        </p:spPr>
        <p:txBody>
          <a:bodyPr wrap="square">
            <a:spAutoFit/>
          </a:bodyPr>
          <a:lstStyle/>
          <a:p>
            <a:r>
              <a:rPr lang="zh-CN" altLang="en-US" sz="3000" dirty="0">
                <a:solidFill>
                  <a:srgbClr val="000000"/>
                </a:solidFill>
                <a:latin typeface="Arial" panose="020B0604020202020204" pitchFamily="34" charset="0"/>
              </a:rPr>
              <a:t>摩尔</a:t>
            </a:r>
            <a:r>
              <a:rPr lang="zh-CN" altLang="en-US" sz="3000" dirty="0">
                <a:solidFill>
                  <a:srgbClr val="000000"/>
                </a:solidFill>
                <a:latin typeface="Times New Roman" panose="02020603050405020304" pitchFamily="18" charset="0"/>
              </a:rPr>
              <a:t>定压热容</a:t>
            </a:r>
            <a:endParaRPr lang="zh-CN" altLang="en-US" sz="3000" dirty="0"/>
          </a:p>
        </p:txBody>
      </p:sp>
      <mc:AlternateContent xmlns:mc="http://schemas.openxmlformats.org/markup-compatibility/2006" xmlns:a14="http://schemas.microsoft.com/office/drawing/2010/main">
        <mc:Choice Requires="a14">
          <p:sp>
            <p:nvSpPr>
              <p:cNvPr id="4" name="Object 22">
                <a:extLst>
                  <a:ext uri="{FF2B5EF4-FFF2-40B4-BE49-F238E27FC236}">
                    <a16:creationId xmlns:a16="http://schemas.microsoft.com/office/drawing/2014/main" id="{A8BCF612-A46A-6EBE-CC1A-A1DBC252EFB3}"/>
                  </a:ext>
                </a:extLst>
              </p:cNvPr>
              <p:cNvSpPr txBox="1"/>
              <p:nvPr/>
            </p:nvSpPr>
            <p:spPr bwMode="auto">
              <a:xfrm>
                <a:off x="-626299" y="2706762"/>
                <a:ext cx="7543153" cy="965200"/>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3000" i="1">
                              <a:solidFill>
                                <a:srgbClr val="000000"/>
                              </a:solidFill>
                              <a:latin typeface="Cambria Math" panose="02040503050406030204" pitchFamily="18" charset="0"/>
                            </a:rPr>
                          </m:ctrlPr>
                        </m:sSubPr>
                        <m:e>
                          <m:r>
                            <a:rPr lang="en-US" sz="3000" i="1">
                              <a:solidFill>
                                <a:srgbClr val="000000"/>
                              </a:solidFill>
                              <a:latin typeface="Cambria Math" panose="02040503050406030204" pitchFamily="18" charset="0"/>
                            </a:rPr>
                            <m:t>𝑄</m:t>
                          </m:r>
                        </m:e>
                        <m:sub>
                          <m:r>
                            <a:rPr lang="en-US" sz="3000" i="1">
                              <a:solidFill>
                                <a:srgbClr val="000000"/>
                              </a:solidFill>
                              <a:latin typeface="Cambria Math" panose="02040503050406030204" pitchFamily="18" charset="0"/>
                            </a:rPr>
                            <m:t>𝑉</m:t>
                          </m:r>
                        </m:sub>
                      </m:sSub>
                      <m:r>
                        <a:rPr lang="en-US" sz="3000" i="1">
                          <a:solidFill>
                            <a:srgbClr val="000000"/>
                          </a:solidFill>
                          <a:latin typeface="Cambria Math" panose="02040503050406030204" pitchFamily="18" charset="0"/>
                        </a:rPr>
                        <m:t>=</m:t>
                      </m:r>
                      <m:sSub>
                        <m:sSubPr>
                          <m:ctrlPr>
                            <a:rPr lang="en-US" sz="3000" i="1">
                              <a:solidFill>
                                <a:srgbClr val="000000"/>
                              </a:solidFill>
                              <a:latin typeface="Cambria Math" panose="02040503050406030204" pitchFamily="18" charset="0"/>
                            </a:rPr>
                          </m:ctrlPr>
                        </m:sSubPr>
                        <m:e>
                          <m:r>
                            <a:rPr lang="en-US" sz="3000" i="1">
                              <a:solidFill>
                                <a:srgbClr val="000000"/>
                              </a:solidFill>
                              <a:latin typeface="Cambria Math" panose="02040503050406030204" pitchFamily="18" charset="0"/>
                            </a:rPr>
                            <m:t>𝐸</m:t>
                          </m:r>
                        </m:e>
                        <m:sub>
                          <m:r>
                            <a:rPr lang="en-US" sz="3000" i="1">
                              <a:solidFill>
                                <a:srgbClr val="000000"/>
                              </a:solidFill>
                              <a:latin typeface="Cambria Math" panose="02040503050406030204" pitchFamily="18" charset="0"/>
                            </a:rPr>
                            <m:t>2</m:t>
                          </m:r>
                        </m:sub>
                      </m:sSub>
                      <m:r>
                        <a:rPr lang="en-US" sz="3000" i="1">
                          <a:solidFill>
                            <a:srgbClr val="000000"/>
                          </a:solidFill>
                          <a:latin typeface="Cambria Math" panose="02040503050406030204" pitchFamily="18" charset="0"/>
                        </a:rPr>
                        <m:t>−</m:t>
                      </m:r>
                      <m:sSub>
                        <m:sSubPr>
                          <m:ctrlPr>
                            <a:rPr lang="en-US" sz="3000" i="1">
                              <a:solidFill>
                                <a:srgbClr val="000000"/>
                              </a:solidFill>
                              <a:latin typeface="Cambria Math" panose="02040503050406030204" pitchFamily="18" charset="0"/>
                            </a:rPr>
                          </m:ctrlPr>
                        </m:sSubPr>
                        <m:e>
                          <m:r>
                            <a:rPr lang="en-US" sz="3000" i="1">
                              <a:solidFill>
                                <a:srgbClr val="000000"/>
                              </a:solidFill>
                              <a:latin typeface="Cambria Math" panose="02040503050406030204" pitchFamily="18" charset="0"/>
                            </a:rPr>
                            <m:t>𝐸</m:t>
                          </m:r>
                        </m:e>
                        <m:sub>
                          <m:r>
                            <a:rPr lang="en-US" sz="3000" i="1">
                              <a:solidFill>
                                <a:srgbClr val="000000"/>
                              </a:solidFill>
                              <a:latin typeface="Cambria Math" panose="02040503050406030204" pitchFamily="18" charset="0"/>
                            </a:rPr>
                            <m:t>1</m:t>
                          </m:r>
                        </m:sub>
                      </m:sSub>
                      <m:r>
                        <a:rPr lang="en-US" sz="3000" i="1">
                          <a:solidFill>
                            <a:srgbClr val="000000"/>
                          </a:solidFill>
                          <a:latin typeface="Cambria Math" panose="02040503050406030204" pitchFamily="18" charset="0"/>
                        </a:rPr>
                        <m:t>=</m:t>
                      </m:r>
                      <m:f>
                        <m:fPr>
                          <m:ctrlPr>
                            <a:rPr lang="en-US" sz="3000" i="1">
                              <a:solidFill>
                                <a:srgbClr val="000000"/>
                              </a:solidFill>
                              <a:latin typeface="Cambria Math" panose="02040503050406030204" pitchFamily="18" charset="0"/>
                            </a:rPr>
                          </m:ctrlPr>
                        </m:fPr>
                        <m:num>
                          <m:r>
                            <a:rPr lang="en-US" sz="3000" i="1">
                              <a:solidFill>
                                <a:srgbClr val="000000"/>
                              </a:solidFill>
                              <a:latin typeface="Cambria Math" panose="02040503050406030204" pitchFamily="18" charset="0"/>
                            </a:rPr>
                            <m:t>𝑖</m:t>
                          </m:r>
                        </m:num>
                        <m:den>
                          <m:r>
                            <a:rPr lang="en-US" sz="3000" i="1">
                              <a:solidFill>
                                <a:srgbClr val="000000"/>
                              </a:solidFill>
                              <a:latin typeface="Cambria Math" panose="02040503050406030204" pitchFamily="18" charset="0"/>
                            </a:rPr>
                            <m:t>2</m:t>
                          </m:r>
                        </m:den>
                      </m:f>
                      <m:r>
                        <m:rPr>
                          <m:sty m:val="p"/>
                        </m:rPr>
                        <a:rPr lang="el-GR" altLang="zh-CN" sz="3000" i="1">
                          <a:solidFill>
                            <a:srgbClr val="000000"/>
                          </a:solidFill>
                          <a:latin typeface="Cambria Math" panose="02040503050406030204" pitchFamily="18" charset="0"/>
                        </a:rPr>
                        <m:t>ν</m:t>
                      </m:r>
                      <m:r>
                        <a:rPr lang="en-US" sz="3000" i="1">
                          <a:solidFill>
                            <a:srgbClr val="000000"/>
                          </a:solidFill>
                          <a:latin typeface="Cambria Math" panose="02040503050406030204" pitchFamily="18" charset="0"/>
                        </a:rPr>
                        <m:t>𝑅</m:t>
                      </m:r>
                      <m:r>
                        <a:rPr lang="en-US" sz="3000" i="1">
                          <a:solidFill>
                            <a:srgbClr val="000000"/>
                          </a:solidFill>
                          <a:latin typeface="Cambria Math" panose="02040503050406030204" pitchFamily="18" charset="0"/>
                        </a:rPr>
                        <m:t>(</m:t>
                      </m:r>
                      <m:sSub>
                        <m:sSubPr>
                          <m:ctrlPr>
                            <a:rPr lang="en-US" sz="3000" i="1">
                              <a:solidFill>
                                <a:srgbClr val="000000"/>
                              </a:solidFill>
                              <a:latin typeface="Cambria Math" panose="02040503050406030204" pitchFamily="18" charset="0"/>
                            </a:rPr>
                          </m:ctrlPr>
                        </m:sSubPr>
                        <m:e>
                          <m:r>
                            <a:rPr lang="en-US" sz="3000" i="1">
                              <a:solidFill>
                                <a:srgbClr val="000000"/>
                              </a:solidFill>
                              <a:latin typeface="Cambria Math" panose="02040503050406030204" pitchFamily="18" charset="0"/>
                            </a:rPr>
                            <m:t>𝑇</m:t>
                          </m:r>
                        </m:e>
                        <m:sub>
                          <m:r>
                            <a:rPr lang="en-US" sz="3000" i="1">
                              <a:solidFill>
                                <a:srgbClr val="000000"/>
                              </a:solidFill>
                              <a:latin typeface="Cambria Math" panose="02040503050406030204" pitchFamily="18" charset="0"/>
                            </a:rPr>
                            <m:t>2</m:t>
                          </m:r>
                        </m:sub>
                      </m:sSub>
                      <m:r>
                        <a:rPr lang="en-US" sz="3000" i="1">
                          <a:solidFill>
                            <a:srgbClr val="000000"/>
                          </a:solidFill>
                          <a:latin typeface="Cambria Math" panose="02040503050406030204" pitchFamily="18" charset="0"/>
                        </a:rPr>
                        <m:t>−</m:t>
                      </m:r>
                      <m:sSub>
                        <m:sSubPr>
                          <m:ctrlPr>
                            <a:rPr lang="en-US" sz="3000" i="1">
                              <a:solidFill>
                                <a:srgbClr val="000000"/>
                              </a:solidFill>
                              <a:latin typeface="Cambria Math" panose="02040503050406030204" pitchFamily="18" charset="0"/>
                            </a:rPr>
                          </m:ctrlPr>
                        </m:sSubPr>
                        <m:e>
                          <m:r>
                            <a:rPr lang="en-US" sz="3000" i="1">
                              <a:solidFill>
                                <a:srgbClr val="000000"/>
                              </a:solidFill>
                              <a:latin typeface="Cambria Math" panose="02040503050406030204" pitchFamily="18" charset="0"/>
                            </a:rPr>
                            <m:t>𝑇</m:t>
                          </m:r>
                        </m:e>
                        <m:sub>
                          <m:r>
                            <a:rPr lang="en-US" sz="3000" i="1">
                              <a:solidFill>
                                <a:srgbClr val="000000"/>
                              </a:solidFill>
                              <a:latin typeface="Cambria Math" panose="02040503050406030204" pitchFamily="18" charset="0"/>
                            </a:rPr>
                            <m:t>1</m:t>
                          </m:r>
                        </m:sub>
                      </m:sSub>
                      <m:r>
                        <a:rPr lang="en-US" sz="3000" i="1">
                          <a:solidFill>
                            <a:srgbClr val="000000"/>
                          </a:solidFill>
                          <a:latin typeface="Cambria Math" panose="02040503050406030204" pitchFamily="18" charset="0"/>
                        </a:rPr>
                        <m:t>)</m:t>
                      </m:r>
                    </m:oMath>
                  </m:oMathPara>
                </a14:m>
                <a:endParaRPr lang="en-US" sz="3000" dirty="0"/>
              </a:p>
            </p:txBody>
          </p:sp>
        </mc:Choice>
        <mc:Fallback xmlns="">
          <p:sp>
            <p:nvSpPr>
              <p:cNvPr id="4" name="Object 22">
                <a:extLst>
                  <a:ext uri="{FF2B5EF4-FFF2-40B4-BE49-F238E27FC236}">
                    <a16:creationId xmlns:a16="http://schemas.microsoft.com/office/drawing/2014/main" id="{A8BCF612-A46A-6EBE-CC1A-A1DBC252EFB3}"/>
                  </a:ext>
                </a:extLst>
              </p:cNvPr>
              <p:cNvSpPr txBox="1">
                <a:spLocks noRot="1" noChangeAspect="1" noMove="1" noResize="1" noEditPoints="1" noAdjustHandles="1" noChangeArrowheads="1" noChangeShapeType="1" noTextEdit="1"/>
              </p:cNvSpPr>
              <p:nvPr/>
            </p:nvSpPr>
            <p:spPr bwMode="auto">
              <a:xfrm>
                <a:off x="-626299" y="2706762"/>
                <a:ext cx="7543153" cy="965200"/>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Object 87">
                <a:extLst>
                  <a:ext uri="{FF2B5EF4-FFF2-40B4-BE49-F238E27FC236}">
                    <a16:creationId xmlns:a16="http://schemas.microsoft.com/office/drawing/2014/main" id="{B1334427-5087-1B2C-2A8E-571791F4AD2C}"/>
                  </a:ext>
                </a:extLst>
              </p:cNvPr>
              <p:cNvSpPr txBox="1"/>
              <p:nvPr/>
            </p:nvSpPr>
            <p:spPr bwMode="auto">
              <a:xfrm>
                <a:off x="6690349" y="2662168"/>
                <a:ext cx="4717731" cy="1092200"/>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f>
                        <m:fPr>
                          <m:ctrlPr>
                            <a:rPr lang="en-US" sz="3000" i="1">
                              <a:solidFill>
                                <a:srgbClr val="000000"/>
                              </a:solidFill>
                              <a:latin typeface="Cambria Math" panose="02040503050406030204" pitchFamily="18" charset="0"/>
                            </a:rPr>
                          </m:ctrlPr>
                        </m:fPr>
                        <m:num>
                          <m:r>
                            <a:rPr lang="en-US" sz="3000" i="1">
                              <a:solidFill>
                                <a:srgbClr val="000000"/>
                              </a:solidFill>
                              <a:latin typeface="Cambria Math" panose="02040503050406030204" pitchFamily="18" charset="0"/>
                            </a:rPr>
                            <m:t>𝑖</m:t>
                          </m:r>
                          <m:r>
                            <a:rPr lang="en-US" sz="3000" i="1">
                              <a:solidFill>
                                <a:srgbClr val="000000"/>
                              </a:solidFill>
                              <a:latin typeface="Cambria Math" panose="02040503050406030204" pitchFamily="18" charset="0"/>
                            </a:rPr>
                            <m:t>+2</m:t>
                          </m:r>
                        </m:num>
                        <m:den>
                          <m:r>
                            <a:rPr lang="en-US" sz="3000" i="1">
                              <a:solidFill>
                                <a:srgbClr val="000000"/>
                              </a:solidFill>
                              <a:latin typeface="Cambria Math" panose="02040503050406030204" pitchFamily="18" charset="0"/>
                            </a:rPr>
                            <m:t>2</m:t>
                          </m:r>
                        </m:den>
                      </m:f>
                      <m:r>
                        <a:rPr lang="en-US" altLang="zh-CN" sz="3000" i="1">
                          <a:solidFill>
                            <a:srgbClr val="000000"/>
                          </a:solidFill>
                          <a:latin typeface="Cambria Math" panose="02040503050406030204" pitchFamily="18" charset="0"/>
                        </a:rPr>
                        <m:t>𝜈</m:t>
                      </m:r>
                      <m:r>
                        <a:rPr lang="en-US" sz="3000" i="1">
                          <a:solidFill>
                            <a:srgbClr val="000000"/>
                          </a:solidFill>
                          <a:latin typeface="Cambria Math" panose="02040503050406030204" pitchFamily="18" charset="0"/>
                        </a:rPr>
                        <m:t>𝑅</m:t>
                      </m:r>
                      <m:r>
                        <a:rPr lang="en-US" sz="3000" i="1">
                          <a:solidFill>
                            <a:srgbClr val="000000"/>
                          </a:solidFill>
                          <a:latin typeface="Cambria Math" panose="02040503050406030204" pitchFamily="18" charset="0"/>
                        </a:rPr>
                        <m:t>(</m:t>
                      </m:r>
                      <m:sSub>
                        <m:sSubPr>
                          <m:ctrlPr>
                            <a:rPr lang="en-US" sz="3000" i="1">
                              <a:solidFill>
                                <a:srgbClr val="000000"/>
                              </a:solidFill>
                              <a:latin typeface="Cambria Math" panose="02040503050406030204" pitchFamily="18" charset="0"/>
                            </a:rPr>
                          </m:ctrlPr>
                        </m:sSubPr>
                        <m:e>
                          <m:r>
                            <a:rPr lang="en-US" sz="3000" i="1">
                              <a:solidFill>
                                <a:srgbClr val="000000"/>
                              </a:solidFill>
                              <a:latin typeface="Cambria Math" panose="02040503050406030204" pitchFamily="18" charset="0"/>
                            </a:rPr>
                            <m:t>𝑇</m:t>
                          </m:r>
                        </m:e>
                        <m:sub>
                          <m:r>
                            <a:rPr lang="en-US" sz="3000" i="1">
                              <a:solidFill>
                                <a:srgbClr val="000000"/>
                              </a:solidFill>
                              <a:latin typeface="Cambria Math" panose="02040503050406030204" pitchFamily="18" charset="0"/>
                            </a:rPr>
                            <m:t>2</m:t>
                          </m:r>
                        </m:sub>
                      </m:sSub>
                      <m:r>
                        <a:rPr lang="en-US" sz="3000" i="1">
                          <a:solidFill>
                            <a:srgbClr val="000000"/>
                          </a:solidFill>
                          <a:latin typeface="Cambria Math" panose="02040503050406030204" pitchFamily="18" charset="0"/>
                        </a:rPr>
                        <m:t>−</m:t>
                      </m:r>
                      <m:sSub>
                        <m:sSubPr>
                          <m:ctrlPr>
                            <a:rPr lang="en-US" sz="3000" i="1">
                              <a:solidFill>
                                <a:srgbClr val="000000"/>
                              </a:solidFill>
                              <a:latin typeface="Cambria Math" panose="02040503050406030204" pitchFamily="18" charset="0"/>
                            </a:rPr>
                          </m:ctrlPr>
                        </m:sSubPr>
                        <m:e>
                          <m:r>
                            <a:rPr lang="en-US" sz="3000" i="1">
                              <a:solidFill>
                                <a:srgbClr val="000000"/>
                              </a:solidFill>
                              <a:latin typeface="Cambria Math" panose="02040503050406030204" pitchFamily="18" charset="0"/>
                            </a:rPr>
                            <m:t>𝑇</m:t>
                          </m:r>
                        </m:e>
                        <m:sub>
                          <m:r>
                            <a:rPr lang="en-US" sz="3000" i="1">
                              <a:solidFill>
                                <a:srgbClr val="000000"/>
                              </a:solidFill>
                              <a:latin typeface="Cambria Math" panose="02040503050406030204" pitchFamily="18" charset="0"/>
                            </a:rPr>
                            <m:t>1</m:t>
                          </m:r>
                        </m:sub>
                      </m:sSub>
                      <m:r>
                        <a:rPr lang="en-US" sz="3000" i="1">
                          <a:solidFill>
                            <a:srgbClr val="000000"/>
                          </a:solidFill>
                          <a:latin typeface="Cambria Math" panose="02040503050406030204" pitchFamily="18" charset="0"/>
                        </a:rPr>
                        <m:t>)</m:t>
                      </m:r>
                    </m:oMath>
                  </m:oMathPara>
                </a14:m>
                <a:endParaRPr lang="en-US" sz="3000" dirty="0"/>
              </a:p>
            </p:txBody>
          </p:sp>
        </mc:Choice>
        <mc:Fallback xmlns="">
          <p:sp>
            <p:nvSpPr>
              <p:cNvPr id="7" name="Object 87">
                <a:extLst>
                  <a:ext uri="{FF2B5EF4-FFF2-40B4-BE49-F238E27FC236}">
                    <a16:creationId xmlns:a16="http://schemas.microsoft.com/office/drawing/2014/main" id="{B1334427-5087-1B2C-2A8E-571791F4AD2C}"/>
                  </a:ext>
                </a:extLst>
              </p:cNvPr>
              <p:cNvSpPr txBox="1">
                <a:spLocks noRot="1" noChangeAspect="1" noMove="1" noResize="1" noEditPoints="1" noAdjustHandles="1" noChangeArrowheads="1" noChangeShapeType="1" noTextEdit="1"/>
              </p:cNvSpPr>
              <p:nvPr/>
            </p:nvSpPr>
            <p:spPr bwMode="auto">
              <a:xfrm>
                <a:off x="6690349" y="2662168"/>
                <a:ext cx="4717731" cy="1092200"/>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Object 85">
                <a:extLst>
                  <a:ext uri="{FF2B5EF4-FFF2-40B4-BE49-F238E27FC236}">
                    <a16:creationId xmlns:a16="http://schemas.microsoft.com/office/drawing/2014/main" id="{F2205A6F-1A76-FFEC-785A-714BD90765C6}"/>
                  </a:ext>
                </a:extLst>
              </p:cNvPr>
              <p:cNvSpPr txBox="1"/>
              <p:nvPr/>
            </p:nvSpPr>
            <p:spPr bwMode="auto">
              <a:xfrm>
                <a:off x="6012904" y="2870655"/>
                <a:ext cx="2378730" cy="665814"/>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3000" i="1">
                              <a:solidFill>
                                <a:srgbClr val="000000"/>
                              </a:solidFill>
                              <a:latin typeface="Cambria Math" panose="02040503050406030204" pitchFamily="18" charset="0"/>
                            </a:rPr>
                          </m:ctrlPr>
                        </m:sSubPr>
                        <m:e>
                          <m:r>
                            <a:rPr lang="en-US" sz="3000" i="1">
                              <a:solidFill>
                                <a:srgbClr val="000000"/>
                              </a:solidFill>
                              <a:latin typeface="Cambria Math" panose="02040503050406030204" pitchFamily="18" charset="0"/>
                            </a:rPr>
                            <m:t>𝑄</m:t>
                          </m:r>
                        </m:e>
                        <m:sub>
                          <m:r>
                            <a:rPr lang="en-US" sz="3000" i="1">
                              <a:solidFill>
                                <a:srgbClr val="000000"/>
                              </a:solidFill>
                              <a:latin typeface="Cambria Math" panose="02040503050406030204" pitchFamily="18" charset="0"/>
                            </a:rPr>
                            <m:t>𝑝</m:t>
                          </m:r>
                        </m:sub>
                      </m:sSub>
                      <m:r>
                        <a:rPr lang="en-US" sz="3000" i="1">
                          <a:solidFill>
                            <a:srgbClr val="000000"/>
                          </a:solidFill>
                          <a:latin typeface="Cambria Math" panose="02040503050406030204" pitchFamily="18" charset="0"/>
                        </a:rPr>
                        <m:t>=</m:t>
                      </m:r>
                    </m:oMath>
                  </m:oMathPara>
                </a14:m>
                <a:endParaRPr lang="en-US" sz="3000" dirty="0"/>
              </a:p>
            </p:txBody>
          </p:sp>
        </mc:Choice>
        <mc:Fallback xmlns="">
          <p:sp>
            <p:nvSpPr>
              <p:cNvPr id="8" name="Object 85">
                <a:extLst>
                  <a:ext uri="{FF2B5EF4-FFF2-40B4-BE49-F238E27FC236}">
                    <a16:creationId xmlns:a16="http://schemas.microsoft.com/office/drawing/2014/main" id="{F2205A6F-1A76-FFEC-785A-714BD90765C6}"/>
                  </a:ext>
                </a:extLst>
              </p:cNvPr>
              <p:cNvSpPr txBox="1">
                <a:spLocks noRot="1" noChangeAspect="1" noMove="1" noResize="1" noEditPoints="1" noAdjustHandles="1" noChangeArrowheads="1" noChangeShapeType="1" noTextEdit="1"/>
              </p:cNvSpPr>
              <p:nvPr/>
            </p:nvSpPr>
            <p:spPr bwMode="auto">
              <a:xfrm>
                <a:off x="6012904" y="2870655"/>
                <a:ext cx="2378730" cy="665814"/>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Object 22">
                <a:extLst>
                  <a:ext uri="{FF2B5EF4-FFF2-40B4-BE49-F238E27FC236}">
                    <a16:creationId xmlns:a16="http://schemas.microsoft.com/office/drawing/2014/main" id="{FD53A2CB-7A4F-4228-8D3A-F72D4E6B88AD}"/>
                  </a:ext>
                </a:extLst>
              </p:cNvPr>
              <p:cNvSpPr txBox="1"/>
              <p:nvPr/>
            </p:nvSpPr>
            <p:spPr bwMode="auto">
              <a:xfrm>
                <a:off x="2805965" y="3835874"/>
                <a:ext cx="4270572" cy="965200"/>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r>
                        <a:rPr lang="en-US" altLang="zh-CN" sz="3000" i="1">
                          <a:solidFill>
                            <a:srgbClr val="000000"/>
                          </a:solidFill>
                          <a:latin typeface="Cambria Math" panose="02040503050406030204" pitchFamily="18" charset="0"/>
                        </a:rPr>
                        <m:t>𝐸</m:t>
                      </m:r>
                      <m:r>
                        <a:rPr lang="en-US" sz="3000" i="1">
                          <a:solidFill>
                            <a:srgbClr val="000000"/>
                          </a:solidFill>
                          <a:latin typeface="Cambria Math" panose="02040503050406030204" pitchFamily="18" charset="0"/>
                        </a:rPr>
                        <m:t>=</m:t>
                      </m:r>
                      <m:sSub>
                        <m:sSubPr>
                          <m:ctrlPr>
                            <a:rPr lang="en-US" altLang="zh-CN" sz="3000" i="1">
                              <a:solidFill>
                                <a:srgbClr val="000000"/>
                              </a:solidFill>
                              <a:latin typeface="Cambria Math" panose="02040503050406030204" pitchFamily="18" charset="0"/>
                            </a:rPr>
                          </m:ctrlPr>
                        </m:sSubPr>
                        <m:e>
                          <m:r>
                            <m:rPr>
                              <m:sty m:val="p"/>
                            </m:rPr>
                            <a:rPr lang="el-GR" altLang="zh-CN" sz="3000" i="1">
                              <a:solidFill>
                                <a:srgbClr val="000000"/>
                              </a:solidFill>
                              <a:latin typeface="Cambria Math" panose="02040503050406030204" pitchFamily="18" charset="0"/>
                            </a:rPr>
                            <m:t>ν</m:t>
                          </m:r>
                          <m:r>
                            <a:rPr lang="en-US" altLang="zh-CN" sz="3000" i="1">
                              <a:solidFill>
                                <a:srgbClr val="000000"/>
                              </a:solidFill>
                              <a:latin typeface="Cambria Math" panose="02040503050406030204" pitchFamily="18" charset="0"/>
                            </a:rPr>
                            <m:t>𝐶</m:t>
                          </m:r>
                        </m:e>
                        <m:sub>
                          <m:r>
                            <a:rPr lang="en-US" altLang="zh-CN" sz="3000" i="1">
                              <a:solidFill>
                                <a:srgbClr val="000000"/>
                              </a:solidFill>
                              <a:latin typeface="Cambria Math" panose="02040503050406030204" pitchFamily="18" charset="0"/>
                            </a:rPr>
                            <m:t>𝑉</m:t>
                          </m:r>
                          <m:r>
                            <a:rPr lang="en-US" altLang="zh-CN" sz="3000" i="1">
                              <a:solidFill>
                                <a:srgbClr val="000000"/>
                              </a:solidFill>
                              <a:latin typeface="Cambria Math" panose="02040503050406030204" pitchFamily="18" charset="0"/>
                            </a:rPr>
                            <m:t>,</m:t>
                          </m:r>
                          <m:r>
                            <a:rPr lang="en-US" altLang="zh-CN" sz="3000" i="1">
                              <a:solidFill>
                                <a:srgbClr val="000000"/>
                              </a:solidFill>
                              <a:latin typeface="Cambria Math" panose="02040503050406030204" pitchFamily="18" charset="0"/>
                            </a:rPr>
                            <m:t>𝑚</m:t>
                          </m:r>
                        </m:sub>
                      </m:sSub>
                      <m:r>
                        <a:rPr lang="en-US" sz="3000" i="1" smtClean="0">
                          <a:solidFill>
                            <a:srgbClr val="000000"/>
                          </a:solidFill>
                          <a:latin typeface="Cambria Math" panose="02040503050406030204" pitchFamily="18" charset="0"/>
                        </a:rPr>
                        <m:t> </m:t>
                      </m:r>
                      <m:r>
                        <a:rPr lang="en-US" sz="3000" i="1">
                          <a:solidFill>
                            <a:srgbClr val="000000"/>
                          </a:solidFill>
                          <a:latin typeface="Cambria Math" panose="02040503050406030204" pitchFamily="18" charset="0"/>
                        </a:rPr>
                        <m:t>(</m:t>
                      </m:r>
                      <m:sSub>
                        <m:sSubPr>
                          <m:ctrlPr>
                            <a:rPr lang="en-US" sz="3000" i="1">
                              <a:solidFill>
                                <a:srgbClr val="000000"/>
                              </a:solidFill>
                              <a:latin typeface="Cambria Math" panose="02040503050406030204" pitchFamily="18" charset="0"/>
                            </a:rPr>
                          </m:ctrlPr>
                        </m:sSubPr>
                        <m:e>
                          <m:r>
                            <a:rPr lang="en-US" sz="3000" i="1">
                              <a:solidFill>
                                <a:srgbClr val="000000"/>
                              </a:solidFill>
                              <a:latin typeface="Cambria Math" panose="02040503050406030204" pitchFamily="18" charset="0"/>
                            </a:rPr>
                            <m:t>𝑇</m:t>
                          </m:r>
                        </m:e>
                        <m:sub>
                          <m:r>
                            <a:rPr lang="en-US" sz="3000" i="1">
                              <a:solidFill>
                                <a:srgbClr val="000000"/>
                              </a:solidFill>
                              <a:latin typeface="Cambria Math" panose="02040503050406030204" pitchFamily="18" charset="0"/>
                            </a:rPr>
                            <m:t>2</m:t>
                          </m:r>
                        </m:sub>
                      </m:sSub>
                      <m:r>
                        <a:rPr lang="en-US" sz="3000" i="1">
                          <a:solidFill>
                            <a:srgbClr val="000000"/>
                          </a:solidFill>
                          <a:latin typeface="Cambria Math" panose="02040503050406030204" pitchFamily="18" charset="0"/>
                        </a:rPr>
                        <m:t>−</m:t>
                      </m:r>
                      <m:sSub>
                        <m:sSubPr>
                          <m:ctrlPr>
                            <a:rPr lang="en-US" sz="3000" i="1">
                              <a:solidFill>
                                <a:srgbClr val="000000"/>
                              </a:solidFill>
                              <a:latin typeface="Cambria Math" panose="02040503050406030204" pitchFamily="18" charset="0"/>
                            </a:rPr>
                          </m:ctrlPr>
                        </m:sSubPr>
                        <m:e>
                          <m:r>
                            <a:rPr lang="en-US" sz="3000" i="1">
                              <a:solidFill>
                                <a:srgbClr val="000000"/>
                              </a:solidFill>
                              <a:latin typeface="Cambria Math" panose="02040503050406030204" pitchFamily="18" charset="0"/>
                            </a:rPr>
                            <m:t>𝑇</m:t>
                          </m:r>
                        </m:e>
                        <m:sub>
                          <m:r>
                            <a:rPr lang="en-US" sz="3000" i="1">
                              <a:solidFill>
                                <a:srgbClr val="000000"/>
                              </a:solidFill>
                              <a:latin typeface="Cambria Math" panose="02040503050406030204" pitchFamily="18" charset="0"/>
                            </a:rPr>
                            <m:t>1</m:t>
                          </m:r>
                        </m:sub>
                      </m:sSub>
                      <m:r>
                        <a:rPr lang="en-US" sz="3000" i="1">
                          <a:solidFill>
                            <a:srgbClr val="000000"/>
                          </a:solidFill>
                          <a:latin typeface="Cambria Math" panose="02040503050406030204" pitchFamily="18" charset="0"/>
                        </a:rPr>
                        <m:t>)</m:t>
                      </m:r>
                    </m:oMath>
                  </m:oMathPara>
                </a14:m>
                <a:endParaRPr lang="en-US" sz="3000" dirty="0"/>
              </a:p>
            </p:txBody>
          </p:sp>
        </mc:Choice>
        <mc:Fallback xmlns="">
          <p:sp>
            <p:nvSpPr>
              <p:cNvPr id="30" name="Object 22">
                <a:extLst>
                  <a:ext uri="{FF2B5EF4-FFF2-40B4-BE49-F238E27FC236}">
                    <a16:creationId xmlns:a16="http://schemas.microsoft.com/office/drawing/2014/main" id="{FD53A2CB-7A4F-4228-8D3A-F72D4E6B88AD}"/>
                  </a:ext>
                </a:extLst>
              </p:cNvPr>
              <p:cNvSpPr txBox="1">
                <a:spLocks noRot="1" noChangeAspect="1" noMove="1" noResize="1" noEditPoints="1" noAdjustHandles="1" noChangeArrowheads="1" noChangeShapeType="1" noTextEdit="1"/>
              </p:cNvSpPr>
              <p:nvPr/>
            </p:nvSpPr>
            <p:spPr bwMode="auto">
              <a:xfrm>
                <a:off x="2805965" y="3835874"/>
                <a:ext cx="4270572" cy="965200"/>
              </a:xfrm>
              <a:prstGeom prst="rect">
                <a:avLst/>
              </a:prstGeom>
              <a:blipFill>
                <a:blip r:embed="rId14"/>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27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2701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270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015" grpId="0"/>
      <p:bldP spid="6" grpId="0"/>
      <p:bldP spid="10" grpId="0"/>
      <p:bldP spid="13" grpId="0"/>
      <p:bldP spid="14" grpId="0"/>
      <p:bldP spid="2" grpId="0"/>
      <p:bldP spid="3" grpId="0"/>
      <p:bldP spid="5" grpId="0"/>
      <p:bldP spid="15" grpId="0"/>
      <p:bldP spid="4" grpId="0"/>
      <p:bldP spid="7" grpId="0"/>
      <p:bldP spid="8" grpId="0"/>
      <p:bldP spid="3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2" name="Text Box 3"/>
          <p:cNvSpPr txBox="1"/>
          <p:nvPr/>
        </p:nvSpPr>
        <p:spPr>
          <a:xfrm>
            <a:off x="1216025" y="1383312"/>
            <a:ext cx="3968750" cy="523220"/>
          </a:xfrm>
          <a:prstGeom prst="rect">
            <a:avLst/>
          </a:prstGeom>
          <a:noFill/>
          <a:ln w="9525">
            <a:noFill/>
          </a:ln>
        </p:spPr>
        <p:txBody>
          <a:bodyPr>
            <a:spAutoFit/>
          </a:bodyPr>
          <a:lstStyle/>
          <a:p>
            <a:pPr>
              <a:spcBef>
                <a:spcPct val="50000"/>
              </a:spcBef>
            </a:pPr>
            <a:r>
              <a:rPr lang="zh-CN" altLang="en-US" sz="2800" dirty="0">
                <a:solidFill>
                  <a:srgbClr val="FF0000"/>
                </a:solidFill>
                <a:latin typeface="宋体" panose="02010600030101010101" pitchFamily="2" charset="-122"/>
              </a:rPr>
              <a:t>绝热</a:t>
            </a:r>
            <a:r>
              <a:rPr lang="zh-CN" altLang="en-US" sz="2800" dirty="0">
                <a:solidFill>
                  <a:srgbClr val="000000"/>
                </a:solidFill>
                <a:latin typeface="宋体" panose="02010600030101010101" pitchFamily="2" charset="-122"/>
              </a:rPr>
              <a:t>过程曲线的斜率</a:t>
            </a:r>
          </a:p>
        </p:txBody>
      </p:sp>
      <mc:AlternateContent xmlns:mc="http://schemas.openxmlformats.org/markup-compatibility/2006" xmlns:a14="http://schemas.microsoft.com/office/drawing/2010/main">
        <mc:Choice Requires="a14">
          <p:sp>
            <p:nvSpPr>
              <p:cNvPr id="442372" name="Object 4"/>
              <p:cNvSpPr txBox="1"/>
              <p:nvPr/>
            </p:nvSpPr>
            <p:spPr>
              <a:xfrm>
                <a:off x="975521" y="3281962"/>
                <a:ext cx="3863975" cy="630238"/>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𝛾</m:t>
                      </m:r>
                      <m:r>
                        <a:rPr lang="en-US" sz="2800" b="0" i="1" smtClean="0">
                          <a:solidFill>
                            <a:srgbClr val="000000"/>
                          </a:solidFill>
                          <a:latin typeface="Cambria Math" panose="02040503050406030204" pitchFamily="18" charset="0"/>
                        </a:rPr>
                        <m:t>𝑝</m:t>
                      </m:r>
                      <m:sSup>
                        <m:sSupPr>
                          <m:ctrlPr>
                            <a:rPr lang="en-US" sz="2800" i="1">
                              <a:solidFill>
                                <a:srgbClr val="000000"/>
                              </a:solidFill>
                              <a:latin typeface="Cambria Math" panose="02040503050406030204" pitchFamily="18" charset="0"/>
                            </a:rPr>
                          </m:ctrlPr>
                        </m:sSupPr>
                        <m:e>
                          <m:r>
                            <a:rPr lang="en-US" sz="2800" b="0" i="1" smtClean="0">
                              <a:solidFill>
                                <a:srgbClr val="000000"/>
                              </a:solidFill>
                              <a:latin typeface="Cambria Math" panose="02040503050406030204" pitchFamily="18" charset="0"/>
                            </a:rPr>
                            <m:t>𝑉</m:t>
                          </m:r>
                        </m:e>
                        <m:sup>
                          <m:r>
                            <a:rPr lang="en-US" sz="2800" b="0" i="1" smtClean="0">
                              <a:solidFill>
                                <a:srgbClr val="000000"/>
                              </a:solidFill>
                              <a:latin typeface="Cambria Math" panose="02040503050406030204" pitchFamily="18" charset="0"/>
                            </a:rPr>
                            <m:t>𝛾</m:t>
                          </m:r>
                          <m:r>
                            <a:rPr lang="en-US" sz="2800" b="0" i="1" smtClean="0">
                              <a:solidFill>
                                <a:srgbClr val="000000"/>
                              </a:solidFill>
                              <a:latin typeface="Cambria Math" panose="02040503050406030204" pitchFamily="18" charset="0"/>
                            </a:rPr>
                            <m:t>−1</m:t>
                          </m:r>
                        </m:sup>
                      </m:sSup>
                      <m:r>
                        <m:rPr>
                          <m:sty m:val="p"/>
                        </m:rPr>
                        <a:rPr lang="en-US" sz="2800" b="0" i="0" smtClean="0">
                          <a:solidFill>
                            <a:srgbClr val="000000"/>
                          </a:solidFill>
                          <a:latin typeface="Cambria Math" panose="02040503050406030204" pitchFamily="18" charset="0"/>
                        </a:rPr>
                        <m:t>d</m:t>
                      </m:r>
                      <m:r>
                        <a:rPr lang="en-US" sz="2800" b="0" i="1" smtClean="0">
                          <a:solidFill>
                            <a:srgbClr val="000000"/>
                          </a:solidFill>
                          <a:latin typeface="Cambria Math" panose="02040503050406030204" pitchFamily="18" charset="0"/>
                        </a:rPr>
                        <m:t>𝑉</m:t>
                      </m:r>
                      <m:r>
                        <a:rPr lang="en-US" sz="2800" b="0" i="1" smtClean="0">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a:rPr lang="en-US" sz="2800" b="0" i="1" smtClean="0">
                              <a:solidFill>
                                <a:srgbClr val="000000"/>
                              </a:solidFill>
                              <a:latin typeface="Cambria Math" panose="02040503050406030204" pitchFamily="18" charset="0"/>
                            </a:rPr>
                            <m:t>𝑉</m:t>
                          </m:r>
                        </m:e>
                        <m:sup>
                          <m:r>
                            <a:rPr lang="en-US" sz="2800" b="0" i="1" smtClean="0">
                              <a:solidFill>
                                <a:srgbClr val="000000"/>
                              </a:solidFill>
                              <a:latin typeface="Cambria Math" panose="02040503050406030204" pitchFamily="18" charset="0"/>
                            </a:rPr>
                            <m:t>𝛾</m:t>
                          </m:r>
                        </m:sup>
                      </m:sSup>
                      <m:r>
                        <m:rPr>
                          <m:sty m:val="p"/>
                        </m:rPr>
                        <a:rPr lang="en-US" sz="2800" b="0" i="0" smtClean="0">
                          <a:solidFill>
                            <a:srgbClr val="000000"/>
                          </a:solidFill>
                          <a:latin typeface="Cambria Math" panose="02040503050406030204" pitchFamily="18" charset="0"/>
                        </a:rPr>
                        <m:t>d</m:t>
                      </m:r>
                      <m:r>
                        <a:rPr lang="en-US" sz="2800" b="0" i="1" smtClean="0">
                          <a:solidFill>
                            <a:srgbClr val="000000"/>
                          </a:solidFill>
                          <a:latin typeface="Cambria Math" panose="02040503050406030204" pitchFamily="18" charset="0"/>
                        </a:rPr>
                        <m:t>𝑝</m:t>
                      </m:r>
                      <m:r>
                        <a:rPr lang="en-US" sz="2800" b="0" i="1" smtClean="0">
                          <a:solidFill>
                            <a:srgbClr val="000000"/>
                          </a:solidFill>
                          <a:latin typeface="Cambria Math" panose="02040503050406030204" pitchFamily="18" charset="0"/>
                        </a:rPr>
                        <m:t>=0</m:t>
                      </m:r>
                    </m:oMath>
                  </m:oMathPara>
                </a14:m>
                <a:endParaRPr lang="en-US" sz="2800" dirty="0"/>
              </a:p>
            </p:txBody>
          </p:sp>
        </mc:Choice>
        <mc:Fallback xmlns="">
          <p:sp>
            <p:nvSpPr>
              <p:cNvPr id="442372" name="Object 4"/>
              <p:cNvSpPr txBox="1">
                <a:spLocks noRot="1" noChangeAspect="1" noMove="1" noResize="1" noEditPoints="1" noAdjustHandles="1" noChangeArrowheads="1" noChangeShapeType="1" noTextEdit="1"/>
              </p:cNvSpPr>
              <p:nvPr/>
            </p:nvSpPr>
            <p:spPr>
              <a:xfrm>
                <a:off x="975521" y="3281962"/>
                <a:ext cx="3863975" cy="630238"/>
              </a:xfrm>
              <a:prstGeom prst="rect">
                <a:avLst/>
              </a:prstGeom>
              <a:blipFill>
                <a:blip r:embed="rId2"/>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2373" name="Object 5"/>
              <p:cNvSpPr txBox="1"/>
              <p:nvPr/>
            </p:nvSpPr>
            <p:spPr>
              <a:xfrm>
                <a:off x="1407321" y="4199537"/>
                <a:ext cx="2906713" cy="1087438"/>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m:rPr>
                              <m:sty m:val="p"/>
                            </m:rPr>
                            <a:rPr lang="en-US" sz="2800" b="0" i="0" smtClean="0">
                              <a:solidFill>
                                <a:srgbClr val="000000"/>
                              </a:solidFill>
                              <a:latin typeface="Cambria Math" panose="02040503050406030204" pitchFamily="18" charset="0"/>
                            </a:rPr>
                            <m:t>d</m:t>
                          </m:r>
                          <m:r>
                            <a:rPr lang="en-US" sz="2800" b="0" i="1" smtClean="0">
                              <a:solidFill>
                                <a:srgbClr val="000000"/>
                              </a:solidFill>
                              <a:latin typeface="Cambria Math" panose="02040503050406030204" pitchFamily="18" charset="0"/>
                            </a:rPr>
                            <m:t>𝑝</m:t>
                          </m:r>
                        </m:num>
                        <m:den>
                          <m:r>
                            <m:rPr>
                              <m:sty m:val="p"/>
                            </m:rPr>
                            <a:rPr lang="en-US" sz="2800" b="0" i="0" smtClean="0">
                              <a:solidFill>
                                <a:srgbClr val="000000"/>
                              </a:solidFill>
                              <a:latin typeface="Cambria Math" panose="02040503050406030204" pitchFamily="18" charset="0"/>
                            </a:rPr>
                            <m:t>d</m:t>
                          </m:r>
                          <m:r>
                            <a:rPr lang="en-US" sz="2800" b="0" i="1" smtClean="0">
                              <a:solidFill>
                                <a:srgbClr val="000000"/>
                              </a:solidFill>
                              <a:latin typeface="Cambria Math" panose="02040503050406030204" pitchFamily="18" charset="0"/>
                            </a:rPr>
                            <m:t>𝑉</m:t>
                          </m:r>
                        </m:den>
                      </m:f>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m:t>
                          </m:r>
                        </m:e>
                        <m:sub>
                          <m:r>
                            <a:rPr lang="en-US" sz="2800" b="0" i="1" smtClean="0">
                              <a:solidFill>
                                <a:srgbClr val="000000"/>
                              </a:solidFill>
                              <a:latin typeface="Cambria Math" panose="02040503050406030204" pitchFamily="18" charset="0"/>
                            </a:rPr>
                            <m:t>𝑎</m:t>
                          </m:r>
                        </m:sub>
                      </m:sSub>
                      <m:r>
                        <a:rPr lang="en-US" sz="2800" b="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𝛾</m:t>
                      </m:r>
                      <m:f>
                        <m:fPr>
                          <m:ctrlPr>
                            <a:rPr lang="en-US" sz="2800" i="1">
                              <a:solidFill>
                                <a:srgbClr val="000000"/>
                              </a:solidFill>
                              <a:latin typeface="Cambria Math" panose="02040503050406030204" pitchFamily="18" charset="0"/>
                            </a:rPr>
                          </m:ctrlPr>
                        </m:fPr>
                        <m:num>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𝑝</m:t>
                              </m:r>
                            </m:e>
                            <m:sub>
                              <m:r>
                                <a:rPr lang="en-US" sz="2800" b="0" i="1" smtClean="0">
                                  <a:solidFill>
                                    <a:srgbClr val="000000"/>
                                  </a:solidFill>
                                  <a:latin typeface="Cambria Math" panose="02040503050406030204" pitchFamily="18" charset="0"/>
                                </a:rPr>
                                <m:t>𝐴</m:t>
                              </m:r>
                            </m:sub>
                          </m:sSub>
                        </m:num>
                        <m:den>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𝑉</m:t>
                              </m:r>
                            </m:e>
                            <m:sub>
                              <m:r>
                                <a:rPr lang="en-US" sz="2800" b="0" i="1" smtClean="0">
                                  <a:solidFill>
                                    <a:srgbClr val="000000"/>
                                  </a:solidFill>
                                  <a:latin typeface="Cambria Math" panose="02040503050406030204" pitchFamily="18" charset="0"/>
                                </a:rPr>
                                <m:t>𝐴</m:t>
                              </m:r>
                            </m:sub>
                          </m:sSub>
                        </m:den>
                      </m:f>
                    </m:oMath>
                  </m:oMathPara>
                </a14:m>
                <a:endParaRPr lang="en-US" sz="2800" dirty="0"/>
              </a:p>
            </p:txBody>
          </p:sp>
        </mc:Choice>
        <mc:Fallback xmlns="">
          <p:sp>
            <p:nvSpPr>
              <p:cNvPr id="442373" name="Object 5"/>
              <p:cNvSpPr txBox="1">
                <a:spLocks noRot="1" noChangeAspect="1" noMove="1" noResize="1" noEditPoints="1" noAdjustHandles="1" noChangeArrowheads="1" noChangeShapeType="1" noTextEdit="1"/>
              </p:cNvSpPr>
              <p:nvPr/>
            </p:nvSpPr>
            <p:spPr>
              <a:xfrm>
                <a:off x="1407321" y="4199537"/>
                <a:ext cx="2906713" cy="1087438"/>
              </a:xfrm>
              <a:prstGeom prst="rect">
                <a:avLst/>
              </a:prstGeom>
              <a:blipFill>
                <a:blip r:embed="rId3"/>
                <a:stretch>
                  <a:fillRect/>
                </a:stretch>
              </a:blipFill>
              <a:ln w="38100">
                <a:noFill/>
                <a:miter/>
              </a:ln>
            </p:spPr>
            <p:txBody>
              <a:bodyPr/>
              <a:lstStyle/>
              <a:p>
                <a:r>
                  <a:rPr lang="zh-CN" altLang="en-US">
                    <a:noFill/>
                  </a:rPr>
                  <a:t> </a:t>
                </a:r>
              </a:p>
            </p:txBody>
          </p:sp>
        </mc:Fallback>
      </mc:AlternateContent>
      <p:grpSp>
        <p:nvGrpSpPr>
          <p:cNvPr id="2" name="Group 6"/>
          <p:cNvGrpSpPr/>
          <p:nvPr/>
        </p:nvGrpSpPr>
        <p:grpSpPr>
          <a:xfrm>
            <a:off x="1623221" y="2281837"/>
            <a:ext cx="2474913" cy="693738"/>
            <a:chOff x="3600" y="768"/>
            <a:chExt cx="1559" cy="437"/>
          </a:xfrm>
        </p:grpSpPr>
        <mc:AlternateContent xmlns:mc="http://schemas.openxmlformats.org/markup-compatibility/2006" xmlns:a14="http://schemas.microsoft.com/office/drawing/2010/main">
          <mc:Choice Requires="a14">
            <p:sp>
              <p:nvSpPr>
                <p:cNvPr id="34820" name="Object 7"/>
                <p:cNvSpPr txBox="1"/>
                <p:nvPr/>
              </p:nvSpPr>
              <p:spPr>
                <a:xfrm>
                  <a:off x="3600" y="768"/>
                  <a:ext cx="807" cy="437"/>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𝑝</m:t>
                        </m:r>
                        <m:sSup>
                          <m:sSupPr>
                            <m:ctrlPr>
                              <a:rPr lang="en-US" sz="2800" i="1">
                                <a:solidFill>
                                  <a:srgbClr val="000000"/>
                                </a:solidFill>
                                <a:latin typeface="Cambria Math" panose="02040503050406030204" pitchFamily="18" charset="0"/>
                              </a:rPr>
                            </m:ctrlPr>
                          </m:sSupPr>
                          <m:e>
                            <m:r>
                              <a:rPr lang="en-US" sz="2800" b="0" i="1" smtClean="0">
                                <a:solidFill>
                                  <a:srgbClr val="000000"/>
                                </a:solidFill>
                                <a:latin typeface="Cambria Math" panose="02040503050406030204" pitchFamily="18" charset="0"/>
                              </a:rPr>
                              <m:t>𝑉</m:t>
                            </m:r>
                          </m:e>
                          <m:sup>
                            <m:r>
                              <a:rPr lang="en-US" sz="2800" b="0" i="1" smtClean="0">
                                <a:solidFill>
                                  <a:srgbClr val="000000"/>
                                </a:solidFill>
                                <a:latin typeface="Cambria Math" panose="02040503050406030204" pitchFamily="18" charset="0"/>
                              </a:rPr>
                              <m:t>𝛾</m:t>
                            </m:r>
                          </m:sup>
                        </m:sSup>
                        <m:r>
                          <a:rPr lang="en-US" sz="2800" b="0" i="1" smtClean="0">
                            <a:solidFill>
                              <a:srgbClr val="000000"/>
                            </a:solidFill>
                            <a:latin typeface="Cambria Math" panose="02040503050406030204" pitchFamily="18" charset="0"/>
                          </a:rPr>
                          <m:t>=</m:t>
                        </m:r>
                      </m:oMath>
                    </m:oMathPara>
                  </a14:m>
                  <a:endParaRPr lang="en-US" sz="2800"/>
                </a:p>
              </p:txBody>
            </p:sp>
          </mc:Choice>
          <mc:Fallback xmlns="">
            <p:sp>
              <p:nvSpPr>
                <p:cNvPr id="34820" name="Object 7"/>
                <p:cNvSpPr txBox="1">
                  <a:spLocks noRot="1" noChangeAspect="1" noMove="1" noResize="1" noEditPoints="1" noAdjustHandles="1" noChangeArrowheads="1" noChangeShapeType="1" noTextEdit="1"/>
                </p:cNvSpPr>
                <p:nvPr/>
              </p:nvSpPr>
              <p:spPr>
                <a:xfrm>
                  <a:off x="3600" y="768"/>
                  <a:ext cx="807" cy="437"/>
                </a:xfrm>
                <a:prstGeom prst="rect">
                  <a:avLst/>
                </a:prstGeom>
                <a:blipFill>
                  <a:blip r:embed="rId4"/>
                  <a:stretch>
                    <a:fillRect/>
                  </a:stretch>
                </a:blipFill>
                <a:ln w="38100">
                  <a:noFill/>
                  <a:miter/>
                </a:ln>
              </p:spPr>
              <p:txBody>
                <a:bodyPr/>
                <a:lstStyle/>
                <a:p>
                  <a:r>
                    <a:rPr lang="zh-CN" altLang="en-US">
                      <a:noFill/>
                    </a:rPr>
                    <a:t> </a:t>
                  </a:r>
                </a:p>
              </p:txBody>
            </p:sp>
          </mc:Fallback>
        </mc:AlternateContent>
        <p:sp>
          <p:nvSpPr>
            <p:cNvPr id="34824" name="Rectangle 8"/>
            <p:cNvSpPr/>
            <p:nvPr/>
          </p:nvSpPr>
          <p:spPr>
            <a:xfrm>
              <a:off x="4343" y="773"/>
              <a:ext cx="816" cy="330"/>
            </a:xfrm>
            <a:prstGeom prst="rect">
              <a:avLst/>
            </a:prstGeom>
            <a:noFill/>
            <a:ln w="9525">
              <a:noFill/>
            </a:ln>
          </p:spPr>
          <p:txBody>
            <a:bodyPr>
              <a:spAutoFit/>
            </a:bodyPr>
            <a:lstStyle/>
            <a:p>
              <a:pPr eaLnBrk="1" hangingPunct="1"/>
              <a:r>
                <a:rPr lang="zh-CN" altLang="en-US" sz="2800" dirty="0">
                  <a:solidFill>
                    <a:srgbClr val="000000"/>
                  </a:solidFill>
                  <a:latin typeface="Times New Roman" panose="02020603050405020304" pitchFamily="18" charset="0"/>
                </a:rPr>
                <a:t>常量</a:t>
              </a:r>
            </a:p>
          </p:txBody>
        </p:sp>
      </p:grpSp>
      <p:sp>
        <p:nvSpPr>
          <p:cNvPr id="3" name="Text Box 13">
            <a:hlinkClick r:id="" action="ppaction://noaction"/>
            <a:extLst>
              <a:ext uri="{FF2B5EF4-FFF2-40B4-BE49-F238E27FC236}">
                <a16:creationId xmlns:a16="http://schemas.microsoft.com/office/drawing/2014/main" id="{FBCAA857-17AD-E7FA-7799-0B03CB1C9A8F}"/>
              </a:ext>
            </a:extLst>
          </p:cNvPr>
          <p:cNvSpPr txBox="1">
            <a:spLocks noChangeArrowheads="1"/>
          </p:cNvSpPr>
          <p:nvPr/>
        </p:nvSpPr>
        <p:spPr bwMode="auto">
          <a:xfrm>
            <a:off x="617888" y="32923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绝热线和等温线</a:t>
            </a:r>
          </a:p>
        </p:txBody>
      </p:sp>
      <p:sp>
        <p:nvSpPr>
          <p:cNvPr id="4" name="Text Box 3">
            <a:extLst>
              <a:ext uri="{FF2B5EF4-FFF2-40B4-BE49-F238E27FC236}">
                <a16:creationId xmlns:a16="http://schemas.microsoft.com/office/drawing/2014/main" id="{E89D755F-0615-D295-E2D8-EF999D7A1FE9}"/>
              </a:ext>
            </a:extLst>
          </p:cNvPr>
          <p:cNvSpPr txBox="1"/>
          <p:nvPr/>
        </p:nvSpPr>
        <p:spPr>
          <a:xfrm>
            <a:off x="4895851" y="1401347"/>
            <a:ext cx="4038600" cy="523220"/>
          </a:xfrm>
          <a:prstGeom prst="rect">
            <a:avLst/>
          </a:prstGeom>
          <a:noFill/>
          <a:ln w="9525">
            <a:noFill/>
          </a:ln>
        </p:spPr>
        <p:txBody>
          <a:bodyPr>
            <a:spAutoFit/>
          </a:bodyPr>
          <a:lstStyle/>
          <a:p>
            <a:pPr>
              <a:spcBef>
                <a:spcPct val="50000"/>
              </a:spcBef>
            </a:pPr>
            <a:r>
              <a:rPr lang="zh-CN" altLang="en-US" sz="2800" dirty="0">
                <a:solidFill>
                  <a:srgbClr val="FF0000"/>
                </a:solidFill>
                <a:latin typeface="Times New Roman" panose="02020603050405020304" pitchFamily="18" charset="0"/>
              </a:rPr>
              <a:t>等温</a:t>
            </a:r>
            <a:r>
              <a:rPr lang="zh-CN" altLang="en-US" sz="2800" dirty="0">
                <a:solidFill>
                  <a:srgbClr val="000000"/>
                </a:solidFill>
                <a:latin typeface="Times New Roman" panose="02020603050405020304" pitchFamily="18" charset="0"/>
              </a:rPr>
              <a:t>过程曲线的斜率</a:t>
            </a:r>
            <a:endParaRPr lang="zh-CN" altLang="en-US" sz="2800" dirty="0">
              <a:solidFill>
                <a:srgbClr val="000000"/>
              </a:solidFill>
              <a:latin typeface="Times New Roman" panose="02020603050405020304" pitchFamily="18" charset="0"/>
              <a:ea typeface="楷体_GB2312" panose="02010609030101010101" pitchFamily="49" charset="-122"/>
            </a:endParaRPr>
          </a:p>
        </p:txBody>
      </p:sp>
      <mc:AlternateContent xmlns:mc="http://schemas.openxmlformats.org/markup-compatibility/2006" xmlns:a14="http://schemas.microsoft.com/office/drawing/2010/main">
        <mc:Choice Requires="a14">
          <p:sp>
            <p:nvSpPr>
              <p:cNvPr id="5" name="Object 4">
                <a:extLst>
                  <a:ext uri="{FF2B5EF4-FFF2-40B4-BE49-F238E27FC236}">
                    <a16:creationId xmlns:a16="http://schemas.microsoft.com/office/drawing/2014/main" id="{FB77F128-19E6-4A7B-1030-07DA7769C479}"/>
                  </a:ext>
                </a:extLst>
              </p:cNvPr>
              <p:cNvSpPr txBox="1"/>
              <p:nvPr/>
            </p:nvSpPr>
            <p:spPr>
              <a:xfrm>
                <a:off x="5303842" y="3222988"/>
                <a:ext cx="2784475" cy="495300"/>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𝑝</m:t>
                      </m:r>
                      <m:r>
                        <m:rPr>
                          <m:sty m:val="p"/>
                        </m:rPr>
                        <a:rPr lang="en-US" sz="2800" b="0" i="0" smtClean="0">
                          <a:solidFill>
                            <a:srgbClr val="000000"/>
                          </a:solidFill>
                          <a:latin typeface="Cambria Math" panose="02040503050406030204" pitchFamily="18" charset="0"/>
                        </a:rPr>
                        <m:t>d</m:t>
                      </m:r>
                      <m:r>
                        <a:rPr lang="en-US" sz="2800" b="0" i="1" smtClean="0">
                          <a:solidFill>
                            <a:srgbClr val="000000"/>
                          </a:solidFill>
                          <a:latin typeface="Cambria Math" panose="02040503050406030204" pitchFamily="18" charset="0"/>
                        </a:rPr>
                        <m:t>𝑉</m:t>
                      </m:r>
                      <m:r>
                        <a:rPr lang="en-US" sz="2800" b="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𝑉</m:t>
                      </m:r>
                      <m:r>
                        <m:rPr>
                          <m:sty m:val="p"/>
                        </m:rPr>
                        <a:rPr lang="en-US" sz="2800" b="0" i="0" smtClean="0">
                          <a:solidFill>
                            <a:srgbClr val="000000"/>
                          </a:solidFill>
                          <a:latin typeface="Cambria Math" panose="02040503050406030204" pitchFamily="18" charset="0"/>
                        </a:rPr>
                        <m:t>d</m:t>
                      </m:r>
                      <m:r>
                        <a:rPr lang="en-US" sz="2800" b="0" i="1" smtClean="0">
                          <a:solidFill>
                            <a:srgbClr val="000000"/>
                          </a:solidFill>
                          <a:latin typeface="Cambria Math" panose="02040503050406030204" pitchFamily="18" charset="0"/>
                        </a:rPr>
                        <m:t>𝑝</m:t>
                      </m:r>
                      <m:r>
                        <a:rPr lang="en-US" sz="2800" b="0" i="1" smtClean="0">
                          <a:solidFill>
                            <a:srgbClr val="000000"/>
                          </a:solidFill>
                          <a:latin typeface="Cambria Math" panose="02040503050406030204" pitchFamily="18" charset="0"/>
                        </a:rPr>
                        <m:t>=0</m:t>
                      </m:r>
                    </m:oMath>
                  </m:oMathPara>
                </a14:m>
                <a:endParaRPr lang="en-US" sz="2800" dirty="0"/>
              </a:p>
            </p:txBody>
          </p:sp>
        </mc:Choice>
        <mc:Fallback xmlns="">
          <p:sp>
            <p:nvSpPr>
              <p:cNvPr id="5" name="Object 4">
                <a:extLst>
                  <a:ext uri="{FF2B5EF4-FFF2-40B4-BE49-F238E27FC236}">
                    <a16:creationId xmlns:a16="http://schemas.microsoft.com/office/drawing/2014/main" id="{FB77F128-19E6-4A7B-1030-07DA7769C479}"/>
                  </a:ext>
                </a:extLst>
              </p:cNvPr>
              <p:cNvSpPr txBox="1">
                <a:spLocks noRot="1" noChangeAspect="1" noMove="1" noResize="1" noEditPoints="1" noAdjustHandles="1" noChangeArrowheads="1" noChangeShapeType="1" noTextEdit="1"/>
              </p:cNvSpPr>
              <p:nvPr/>
            </p:nvSpPr>
            <p:spPr>
              <a:xfrm>
                <a:off x="5303842" y="3222988"/>
                <a:ext cx="2784475" cy="495300"/>
              </a:xfrm>
              <a:prstGeom prst="rect">
                <a:avLst/>
              </a:prstGeom>
              <a:blipFill>
                <a:blip r:embed="rId5"/>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Object 5">
                <a:extLst>
                  <a:ext uri="{FF2B5EF4-FFF2-40B4-BE49-F238E27FC236}">
                    <a16:creationId xmlns:a16="http://schemas.microsoft.com/office/drawing/2014/main" id="{CDCE8E87-034F-2C31-CCC6-074E55AAD2D6}"/>
                  </a:ext>
                </a:extLst>
              </p:cNvPr>
              <p:cNvSpPr txBox="1"/>
              <p:nvPr/>
            </p:nvSpPr>
            <p:spPr>
              <a:xfrm>
                <a:off x="5276856" y="4167852"/>
                <a:ext cx="2590800" cy="1144588"/>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m:rPr>
                              <m:sty m:val="p"/>
                            </m:rPr>
                            <a:rPr lang="en-US" sz="2800" b="0" i="0" smtClean="0">
                              <a:solidFill>
                                <a:srgbClr val="000000"/>
                              </a:solidFill>
                              <a:latin typeface="Cambria Math" panose="02040503050406030204" pitchFamily="18" charset="0"/>
                            </a:rPr>
                            <m:t>d</m:t>
                          </m:r>
                          <m:r>
                            <a:rPr lang="en-US" sz="2800" b="0" i="1" smtClean="0">
                              <a:solidFill>
                                <a:srgbClr val="000000"/>
                              </a:solidFill>
                              <a:latin typeface="Cambria Math" panose="02040503050406030204" pitchFamily="18" charset="0"/>
                            </a:rPr>
                            <m:t>𝑝</m:t>
                          </m:r>
                        </m:num>
                        <m:den>
                          <m:r>
                            <m:rPr>
                              <m:sty m:val="p"/>
                            </m:rPr>
                            <a:rPr lang="en-US" sz="2800" b="0" i="0" smtClean="0">
                              <a:solidFill>
                                <a:srgbClr val="000000"/>
                              </a:solidFill>
                              <a:latin typeface="Cambria Math" panose="02040503050406030204" pitchFamily="18" charset="0"/>
                            </a:rPr>
                            <m:t>d</m:t>
                          </m:r>
                          <m:r>
                            <a:rPr lang="en-US" sz="2800" b="0" i="1" smtClean="0">
                              <a:solidFill>
                                <a:srgbClr val="000000"/>
                              </a:solidFill>
                              <a:latin typeface="Cambria Math" panose="02040503050406030204" pitchFamily="18" charset="0"/>
                            </a:rPr>
                            <m:t>𝑉</m:t>
                          </m:r>
                        </m:den>
                      </m:f>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m:t>
                          </m:r>
                        </m:e>
                        <m:sub>
                          <m:r>
                            <a:rPr lang="en-US" sz="2800" b="0" i="1" smtClean="0">
                              <a:solidFill>
                                <a:srgbClr val="000000"/>
                              </a:solidFill>
                              <a:latin typeface="Cambria Math" panose="02040503050406030204" pitchFamily="18" charset="0"/>
                            </a:rPr>
                            <m:t>𝑇</m:t>
                          </m:r>
                        </m:sub>
                      </m:sSub>
                      <m:r>
                        <a:rPr lang="en-US" sz="2800" b="0" i="1" smtClean="0">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𝑝</m:t>
                              </m:r>
                            </m:e>
                            <m:sub>
                              <m:r>
                                <a:rPr lang="en-US" sz="2800" b="0" i="1" smtClean="0">
                                  <a:solidFill>
                                    <a:srgbClr val="000000"/>
                                  </a:solidFill>
                                  <a:latin typeface="Cambria Math" panose="02040503050406030204" pitchFamily="18" charset="0"/>
                                </a:rPr>
                                <m:t>𝐴</m:t>
                              </m:r>
                            </m:sub>
                          </m:sSub>
                        </m:num>
                        <m:den>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𝑉</m:t>
                              </m:r>
                            </m:e>
                            <m:sub>
                              <m:r>
                                <a:rPr lang="en-US" sz="2800" b="0" i="1" smtClean="0">
                                  <a:solidFill>
                                    <a:srgbClr val="000000"/>
                                  </a:solidFill>
                                  <a:latin typeface="Cambria Math" panose="02040503050406030204" pitchFamily="18" charset="0"/>
                                </a:rPr>
                                <m:t>𝐴</m:t>
                              </m:r>
                            </m:sub>
                          </m:sSub>
                        </m:den>
                      </m:f>
                    </m:oMath>
                  </m:oMathPara>
                </a14:m>
                <a:endParaRPr lang="en-US" sz="2800" dirty="0"/>
              </a:p>
            </p:txBody>
          </p:sp>
        </mc:Choice>
        <mc:Fallback xmlns="">
          <p:sp>
            <p:nvSpPr>
              <p:cNvPr id="6" name="Object 5">
                <a:extLst>
                  <a:ext uri="{FF2B5EF4-FFF2-40B4-BE49-F238E27FC236}">
                    <a16:creationId xmlns:a16="http://schemas.microsoft.com/office/drawing/2014/main" id="{CDCE8E87-034F-2C31-CCC6-074E55AAD2D6}"/>
                  </a:ext>
                </a:extLst>
              </p:cNvPr>
              <p:cNvSpPr txBox="1">
                <a:spLocks noRot="1" noChangeAspect="1" noMove="1" noResize="1" noEditPoints="1" noAdjustHandles="1" noChangeArrowheads="1" noChangeShapeType="1" noTextEdit="1"/>
              </p:cNvSpPr>
              <p:nvPr/>
            </p:nvSpPr>
            <p:spPr>
              <a:xfrm>
                <a:off x="5276856" y="4167852"/>
                <a:ext cx="2590800" cy="1144588"/>
              </a:xfrm>
              <a:prstGeom prst="rect">
                <a:avLst/>
              </a:prstGeom>
              <a:blipFill>
                <a:blip r:embed="rId6"/>
                <a:stretch>
                  <a:fillRect/>
                </a:stretch>
              </a:blipFill>
              <a:ln w="38100">
                <a:noFill/>
                <a:miter/>
              </a:ln>
            </p:spPr>
            <p:txBody>
              <a:bodyPr/>
              <a:lstStyle/>
              <a:p>
                <a:r>
                  <a:rPr lang="zh-CN" altLang="en-US">
                    <a:noFill/>
                  </a:rPr>
                  <a:t> </a:t>
                </a:r>
              </a:p>
            </p:txBody>
          </p:sp>
        </mc:Fallback>
      </mc:AlternateContent>
      <p:grpSp>
        <p:nvGrpSpPr>
          <p:cNvPr id="7" name="Group 6">
            <a:extLst>
              <a:ext uri="{FF2B5EF4-FFF2-40B4-BE49-F238E27FC236}">
                <a16:creationId xmlns:a16="http://schemas.microsoft.com/office/drawing/2014/main" id="{2745DBAA-8BCD-4D43-3983-AEF5974FD0EA}"/>
              </a:ext>
            </a:extLst>
          </p:cNvPr>
          <p:cNvGrpSpPr/>
          <p:nvPr/>
        </p:nvGrpSpPr>
        <p:grpSpPr>
          <a:xfrm>
            <a:off x="5430046" y="2220974"/>
            <a:ext cx="2222500" cy="523875"/>
            <a:chOff x="3723" y="2682"/>
            <a:chExt cx="1400" cy="330"/>
          </a:xfrm>
        </p:grpSpPr>
        <mc:AlternateContent xmlns:mc="http://schemas.openxmlformats.org/markup-compatibility/2006" xmlns:a14="http://schemas.microsoft.com/office/drawing/2010/main">
          <mc:Choice Requires="a14">
            <p:sp>
              <p:nvSpPr>
                <p:cNvPr id="8" name="Object 7">
                  <a:extLst>
                    <a:ext uri="{FF2B5EF4-FFF2-40B4-BE49-F238E27FC236}">
                      <a16:creationId xmlns:a16="http://schemas.microsoft.com/office/drawing/2014/main" id="{FC3E0F9D-C6DF-D88D-1559-C4CE12B67002}"/>
                    </a:ext>
                  </a:extLst>
                </p:cNvPr>
                <p:cNvSpPr txBox="1"/>
                <p:nvPr/>
              </p:nvSpPr>
              <p:spPr>
                <a:xfrm>
                  <a:off x="3723" y="2682"/>
                  <a:ext cx="741" cy="30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𝑝𝑉</m:t>
                        </m:r>
                        <m:r>
                          <a:rPr lang="en-US" sz="2800" b="0" i="1" smtClean="0">
                            <a:solidFill>
                              <a:srgbClr val="000000"/>
                            </a:solidFill>
                            <a:latin typeface="Cambria Math" panose="02040503050406030204" pitchFamily="18" charset="0"/>
                          </a:rPr>
                          <m:t>=</m:t>
                        </m:r>
                      </m:oMath>
                    </m:oMathPara>
                  </a14:m>
                  <a:endParaRPr lang="en-US" sz="2800"/>
                </a:p>
              </p:txBody>
            </p:sp>
          </mc:Choice>
          <mc:Fallback xmlns="">
            <p:sp>
              <p:nvSpPr>
                <p:cNvPr id="8" name="Object 7">
                  <a:extLst>
                    <a:ext uri="{FF2B5EF4-FFF2-40B4-BE49-F238E27FC236}">
                      <a16:creationId xmlns:a16="http://schemas.microsoft.com/office/drawing/2014/main" id="{FC3E0F9D-C6DF-D88D-1559-C4CE12B67002}"/>
                    </a:ext>
                  </a:extLst>
                </p:cNvPr>
                <p:cNvSpPr txBox="1">
                  <a:spLocks noRot="1" noChangeAspect="1" noMove="1" noResize="1" noEditPoints="1" noAdjustHandles="1" noChangeArrowheads="1" noChangeShapeType="1" noTextEdit="1"/>
                </p:cNvSpPr>
                <p:nvPr/>
              </p:nvSpPr>
              <p:spPr>
                <a:xfrm>
                  <a:off x="3723" y="2682"/>
                  <a:ext cx="741" cy="305"/>
                </a:xfrm>
                <a:prstGeom prst="rect">
                  <a:avLst/>
                </a:prstGeom>
                <a:blipFill>
                  <a:blip r:embed="rId7"/>
                  <a:stretch>
                    <a:fillRect/>
                  </a:stretch>
                </a:blipFill>
                <a:ln w="38100">
                  <a:noFill/>
                  <a:miter/>
                </a:ln>
              </p:spPr>
              <p:txBody>
                <a:bodyPr/>
                <a:lstStyle/>
                <a:p>
                  <a:r>
                    <a:rPr lang="zh-CN" altLang="en-US">
                      <a:noFill/>
                    </a:rPr>
                    <a:t> </a:t>
                  </a:r>
                </a:p>
              </p:txBody>
            </p:sp>
          </mc:Fallback>
        </mc:AlternateContent>
        <p:sp>
          <p:nvSpPr>
            <p:cNvPr id="9" name="Rectangle 8">
              <a:extLst>
                <a:ext uri="{FF2B5EF4-FFF2-40B4-BE49-F238E27FC236}">
                  <a16:creationId xmlns:a16="http://schemas.microsoft.com/office/drawing/2014/main" id="{0D13CEB1-7AB4-85A0-4861-3DCEA9525CD6}"/>
                </a:ext>
              </a:extLst>
            </p:cNvPr>
            <p:cNvSpPr/>
            <p:nvPr/>
          </p:nvSpPr>
          <p:spPr>
            <a:xfrm>
              <a:off x="4355" y="2682"/>
              <a:ext cx="768" cy="330"/>
            </a:xfrm>
            <a:prstGeom prst="rect">
              <a:avLst/>
            </a:prstGeom>
            <a:noFill/>
            <a:ln w="9525">
              <a:noFill/>
            </a:ln>
          </p:spPr>
          <p:txBody>
            <a:bodyPr>
              <a:spAutoFit/>
            </a:bodyPr>
            <a:lstStyle/>
            <a:p>
              <a:pPr eaLnBrk="1" hangingPunct="1"/>
              <a:r>
                <a:rPr lang="zh-CN" altLang="en-US" sz="2800" dirty="0">
                  <a:solidFill>
                    <a:srgbClr val="000000"/>
                  </a:solidFill>
                  <a:latin typeface="Times New Roman" panose="02020603050405020304" pitchFamily="18" charset="0"/>
                </a:rPr>
                <a:t>常量</a:t>
              </a:r>
            </a:p>
          </p:txBody>
        </p:sp>
      </p:grpSp>
      <p:sp>
        <p:nvSpPr>
          <p:cNvPr id="10" name="Text Box 2">
            <a:extLst>
              <a:ext uri="{FF2B5EF4-FFF2-40B4-BE49-F238E27FC236}">
                <a16:creationId xmlns:a16="http://schemas.microsoft.com/office/drawing/2014/main" id="{459F870A-5F33-321C-13F7-693AAB4932E3}"/>
              </a:ext>
            </a:extLst>
          </p:cNvPr>
          <p:cNvSpPr txBox="1">
            <a:spLocks noChangeArrowheads="1"/>
          </p:cNvSpPr>
          <p:nvPr/>
        </p:nvSpPr>
        <p:spPr bwMode="auto">
          <a:xfrm>
            <a:off x="4347369" y="5741497"/>
            <a:ext cx="6408738" cy="580159"/>
          </a:xfrm>
          <a:prstGeom prst="rect">
            <a:avLst/>
          </a:prstGeom>
          <a:noFill/>
          <a:ln w="9525">
            <a:noFill/>
            <a:miter lim="800000"/>
          </a:ln>
          <a:effectLst/>
        </p:spPr>
        <p:txBody>
          <a:bodyPr>
            <a:spAutoFit/>
          </a:bodyPr>
          <a:lstStyle/>
          <a:p>
            <a:pPr>
              <a:lnSpc>
                <a:spcPct val="120000"/>
              </a:lnSpc>
              <a:spcBef>
                <a:spcPct val="50000"/>
              </a:spcBef>
              <a:defRPr/>
            </a:pPr>
            <a:r>
              <a:rPr kumimoji="1" lang="en-US" altLang="zh-CN" sz="2800" dirty="0">
                <a:solidFill>
                  <a:srgbClr val="CC0000"/>
                </a:solidFill>
                <a:latin typeface="+mn-ea"/>
              </a:rPr>
              <a:t> </a:t>
            </a:r>
            <a:r>
              <a:rPr kumimoji="1" lang="zh-CN" altLang="en-US" sz="2800" dirty="0">
                <a:solidFill>
                  <a:srgbClr val="000000"/>
                </a:solidFill>
                <a:latin typeface="+mn-ea"/>
              </a:rPr>
              <a:t>绝热线的斜率大于等温线的斜率</a:t>
            </a:r>
            <a:endParaRPr kumimoji="1" lang="en-US" altLang="zh-CN" sz="2800" dirty="0">
              <a:solidFill>
                <a:srgbClr val="000000"/>
              </a:solidFill>
              <a:latin typeface="+mn-ea"/>
            </a:endParaRPr>
          </a:p>
        </p:txBody>
      </p:sp>
      <p:grpSp>
        <p:nvGrpSpPr>
          <p:cNvPr id="11" name="Group 9">
            <a:extLst>
              <a:ext uri="{FF2B5EF4-FFF2-40B4-BE49-F238E27FC236}">
                <a16:creationId xmlns:a16="http://schemas.microsoft.com/office/drawing/2014/main" id="{AB340559-0966-4FF9-6DC9-C4D4D28E8DA8}"/>
              </a:ext>
            </a:extLst>
          </p:cNvPr>
          <p:cNvGrpSpPr/>
          <p:nvPr/>
        </p:nvGrpSpPr>
        <p:grpSpPr>
          <a:xfrm>
            <a:off x="8170863" y="1592267"/>
            <a:ext cx="4191000" cy="3581400"/>
            <a:chOff x="360" y="960"/>
            <a:chExt cx="2640" cy="2256"/>
          </a:xfrm>
        </p:grpSpPr>
        <p:sp>
          <p:nvSpPr>
            <p:cNvPr id="12" name="Rectangle 10">
              <a:extLst>
                <a:ext uri="{FF2B5EF4-FFF2-40B4-BE49-F238E27FC236}">
                  <a16:creationId xmlns:a16="http://schemas.microsoft.com/office/drawing/2014/main" id="{E9F90192-12B0-7666-0F4E-F8201EDFE71E}"/>
                </a:ext>
              </a:extLst>
            </p:cNvPr>
            <p:cNvSpPr/>
            <p:nvPr/>
          </p:nvSpPr>
          <p:spPr>
            <a:xfrm>
              <a:off x="360" y="960"/>
              <a:ext cx="2544" cy="2256"/>
            </a:xfrm>
            <a:prstGeom prst="rect">
              <a:avLst/>
            </a:prstGeom>
            <a:solidFill>
              <a:schemeClr val="bg1"/>
            </a:solidFill>
            <a:ln w="9525" cap="flat" cmpd="sng">
              <a:noFill/>
              <a:prstDash val="solid"/>
              <a:miter/>
              <a:headEnd type="none" w="med" len="med"/>
              <a:tailEnd type="none" w="med" len="med"/>
            </a:ln>
          </p:spPr>
          <p:txBody>
            <a:bodyPr wrap="none" anchor="ctr" anchorCtr="0"/>
            <a:lstStyle/>
            <a:p>
              <a:endParaRPr lang="zh-CN" altLang="en-US" sz="2800" dirty="0">
                <a:latin typeface="Bookman Old Style" panose="02050604050505020204" pitchFamily="18" charset="0"/>
              </a:endParaRPr>
            </a:p>
          </p:txBody>
        </p:sp>
        <p:sp>
          <p:nvSpPr>
            <p:cNvPr id="13" name="Line 11">
              <a:extLst>
                <a:ext uri="{FF2B5EF4-FFF2-40B4-BE49-F238E27FC236}">
                  <a16:creationId xmlns:a16="http://schemas.microsoft.com/office/drawing/2014/main" id="{B50562A8-735C-D6F1-D0D5-E01875F3D569}"/>
                </a:ext>
              </a:extLst>
            </p:cNvPr>
            <p:cNvSpPr/>
            <p:nvPr/>
          </p:nvSpPr>
          <p:spPr>
            <a:xfrm flipV="1">
              <a:off x="697" y="2832"/>
              <a:ext cx="1895" cy="7"/>
            </a:xfrm>
            <a:prstGeom prst="line">
              <a:avLst/>
            </a:prstGeom>
            <a:ln w="19050" cap="flat" cmpd="sng">
              <a:solidFill>
                <a:schemeClr val="tx1"/>
              </a:solidFill>
              <a:prstDash val="solid"/>
              <a:headEnd type="none" w="med" len="med"/>
              <a:tailEnd type="triangle" w="sm" len="lg"/>
            </a:ln>
          </p:spPr>
        </p:sp>
        <p:sp>
          <p:nvSpPr>
            <p:cNvPr id="14" name="Line 12">
              <a:extLst>
                <a:ext uri="{FF2B5EF4-FFF2-40B4-BE49-F238E27FC236}">
                  <a16:creationId xmlns:a16="http://schemas.microsoft.com/office/drawing/2014/main" id="{788599CD-97DB-65F6-AC40-E78E51D33E87}"/>
                </a:ext>
              </a:extLst>
            </p:cNvPr>
            <p:cNvSpPr/>
            <p:nvPr/>
          </p:nvSpPr>
          <p:spPr>
            <a:xfrm flipV="1">
              <a:off x="720" y="1056"/>
              <a:ext cx="0" cy="1783"/>
            </a:xfrm>
            <a:prstGeom prst="line">
              <a:avLst/>
            </a:prstGeom>
            <a:ln w="19050" cap="flat" cmpd="sng">
              <a:solidFill>
                <a:schemeClr val="tx1"/>
              </a:solidFill>
              <a:prstDash val="solid"/>
              <a:headEnd type="none" w="med" len="med"/>
              <a:tailEnd type="triangle" w="sm" len="lg"/>
            </a:ln>
          </p:spPr>
        </p:sp>
        <p:sp>
          <p:nvSpPr>
            <p:cNvPr id="15" name="Line 13">
              <a:extLst>
                <a:ext uri="{FF2B5EF4-FFF2-40B4-BE49-F238E27FC236}">
                  <a16:creationId xmlns:a16="http://schemas.microsoft.com/office/drawing/2014/main" id="{D08039D1-D40B-0D5C-BE19-C2AFDB2BA83B}"/>
                </a:ext>
              </a:extLst>
            </p:cNvPr>
            <p:cNvSpPr/>
            <p:nvPr/>
          </p:nvSpPr>
          <p:spPr>
            <a:xfrm>
              <a:off x="1440" y="1776"/>
              <a:ext cx="0" cy="1392"/>
            </a:xfrm>
            <a:prstGeom prst="line">
              <a:avLst/>
            </a:prstGeom>
            <a:ln w="12700" cap="flat" cmpd="sng">
              <a:solidFill>
                <a:schemeClr val="tx1"/>
              </a:solidFill>
              <a:prstDash val="dash"/>
              <a:headEnd type="none" w="med" len="med"/>
              <a:tailEnd type="none" w="med" len="med"/>
            </a:ln>
          </p:spPr>
        </p:sp>
        <p:sp>
          <p:nvSpPr>
            <p:cNvPr id="16" name="Line 14">
              <a:extLst>
                <a:ext uri="{FF2B5EF4-FFF2-40B4-BE49-F238E27FC236}">
                  <a16:creationId xmlns:a16="http://schemas.microsoft.com/office/drawing/2014/main" id="{8D63E5BC-9037-991C-4C70-C015A0408C34}"/>
                </a:ext>
              </a:extLst>
            </p:cNvPr>
            <p:cNvSpPr/>
            <p:nvPr/>
          </p:nvSpPr>
          <p:spPr>
            <a:xfrm>
              <a:off x="1824" y="2064"/>
              <a:ext cx="0" cy="1104"/>
            </a:xfrm>
            <a:prstGeom prst="line">
              <a:avLst/>
            </a:prstGeom>
            <a:ln w="12700" cap="flat" cmpd="sng">
              <a:solidFill>
                <a:schemeClr val="tx1"/>
              </a:solidFill>
              <a:prstDash val="dash"/>
              <a:headEnd type="none" w="med" len="med"/>
              <a:tailEnd type="none" w="med" len="med"/>
            </a:ln>
          </p:spPr>
        </p:sp>
        <mc:AlternateContent xmlns:mc="http://schemas.openxmlformats.org/markup-compatibility/2006" xmlns:a14="http://schemas.microsoft.com/office/drawing/2010/main">
          <mc:Choice Requires="a14">
            <p:sp>
              <p:nvSpPr>
                <p:cNvPr id="17" name="Object 15">
                  <a:extLst>
                    <a:ext uri="{FF2B5EF4-FFF2-40B4-BE49-F238E27FC236}">
                      <a16:creationId xmlns:a16="http://schemas.microsoft.com/office/drawing/2014/main" id="{31A9E6FB-BDD9-4259-1BEC-630A8BF0F70E}"/>
                    </a:ext>
                  </a:extLst>
                </p:cNvPr>
                <p:cNvSpPr txBox="1"/>
                <p:nvPr/>
              </p:nvSpPr>
              <p:spPr>
                <a:xfrm>
                  <a:off x="384" y="1584"/>
                  <a:ext cx="336" cy="319"/>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𝑝</m:t>
                            </m:r>
                          </m:e>
                          <m:sub>
                            <m:r>
                              <a:rPr lang="en-US" sz="2800" b="0" i="1" smtClean="0">
                                <a:solidFill>
                                  <a:srgbClr val="000000"/>
                                </a:solidFill>
                                <a:latin typeface="Cambria Math" panose="02040503050406030204" pitchFamily="18" charset="0"/>
                              </a:rPr>
                              <m:t>𝐴</m:t>
                            </m:r>
                          </m:sub>
                        </m:sSub>
                      </m:oMath>
                    </m:oMathPara>
                  </a14:m>
                  <a:endParaRPr lang="en-US" sz="2800"/>
                </a:p>
              </p:txBody>
            </p:sp>
          </mc:Choice>
          <mc:Fallback xmlns="">
            <p:sp>
              <p:nvSpPr>
                <p:cNvPr id="17" name="Object 15">
                  <a:extLst>
                    <a:ext uri="{FF2B5EF4-FFF2-40B4-BE49-F238E27FC236}">
                      <a16:creationId xmlns:a16="http://schemas.microsoft.com/office/drawing/2014/main" id="{31A9E6FB-BDD9-4259-1BEC-630A8BF0F70E}"/>
                    </a:ext>
                  </a:extLst>
                </p:cNvPr>
                <p:cNvSpPr txBox="1">
                  <a:spLocks noRot="1" noChangeAspect="1" noMove="1" noResize="1" noEditPoints="1" noAdjustHandles="1" noChangeArrowheads="1" noChangeShapeType="1" noTextEdit="1"/>
                </p:cNvSpPr>
                <p:nvPr/>
              </p:nvSpPr>
              <p:spPr>
                <a:xfrm>
                  <a:off x="384" y="1584"/>
                  <a:ext cx="336" cy="319"/>
                </a:xfrm>
                <a:prstGeom prst="rect">
                  <a:avLst/>
                </a:prstGeom>
                <a:blipFill>
                  <a:blip r:embed="rId8"/>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Object 16">
                  <a:extLst>
                    <a:ext uri="{FF2B5EF4-FFF2-40B4-BE49-F238E27FC236}">
                      <a16:creationId xmlns:a16="http://schemas.microsoft.com/office/drawing/2014/main" id="{646BE849-B9C6-14B9-F630-564AFC0EF780}"/>
                    </a:ext>
                  </a:extLst>
                </p:cNvPr>
                <p:cNvSpPr txBox="1"/>
                <p:nvPr/>
              </p:nvSpPr>
              <p:spPr>
                <a:xfrm>
                  <a:off x="1824" y="2784"/>
                  <a:ext cx="329" cy="384"/>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𝑉</m:t>
                            </m:r>
                          </m:e>
                          <m:sub>
                            <m:r>
                              <a:rPr lang="en-US" sz="2800" b="0" i="1" smtClean="0">
                                <a:solidFill>
                                  <a:srgbClr val="000000"/>
                                </a:solidFill>
                                <a:latin typeface="Cambria Math" panose="02040503050406030204" pitchFamily="18" charset="0"/>
                              </a:rPr>
                              <m:t>𝐵</m:t>
                            </m:r>
                          </m:sub>
                        </m:sSub>
                      </m:oMath>
                    </m:oMathPara>
                  </a14:m>
                  <a:endParaRPr lang="en-US" sz="2800"/>
                </a:p>
              </p:txBody>
            </p:sp>
          </mc:Choice>
          <mc:Fallback xmlns="">
            <p:sp>
              <p:nvSpPr>
                <p:cNvPr id="18" name="Object 16">
                  <a:extLst>
                    <a:ext uri="{FF2B5EF4-FFF2-40B4-BE49-F238E27FC236}">
                      <a16:creationId xmlns:a16="http://schemas.microsoft.com/office/drawing/2014/main" id="{646BE849-B9C6-14B9-F630-564AFC0EF780}"/>
                    </a:ext>
                  </a:extLst>
                </p:cNvPr>
                <p:cNvSpPr txBox="1">
                  <a:spLocks noRot="1" noChangeAspect="1" noMove="1" noResize="1" noEditPoints="1" noAdjustHandles="1" noChangeArrowheads="1" noChangeShapeType="1" noTextEdit="1"/>
                </p:cNvSpPr>
                <p:nvPr/>
              </p:nvSpPr>
              <p:spPr>
                <a:xfrm>
                  <a:off x="1824" y="2784"/>
                  <a:ext cx="329" cy="384"/>
                </a:xfrm>
                <a:prstGeom prst="rect">
                  <a:avLst/>
                </a:prstGeom>
                <a:blipFill>
                  <a:blip r:embed="rId9"/>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Object 17">
                  <a:extLst>
                    <a:ext uri="{FF2B5EF4-FFF2-40B4-BE49-F238E27FC236}">
                      <a16:creationId xmlns:a16="http://schemas.microsoft.com/office/drawing/2014/main" id="{BBB1940B-B87D-5DBA-CDF9-686AE1B5A7E0}"/>
                    </a:ext>
                  </a:extLst>
                </p:cNvPr>
                <p:cNvSpPr txBox="1"/>
                <p:nvPr/>
              </p:nvSpPr>
              <p:spPr>
                <a:xfrm>
                  <a:off x="1152" y="2784"/>
                  <a:ext cx="327" cy="384"/>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𝑉</m:t>
                            </m:r>
                          </m:e>
                          <m:sub>
                            <m:r>
                              <a:rPr lang="en-US" sz="2800" b="0" i="1" smtClean="0">
                                <a:solidFill>
                                  <a:srgbClr val="000000"/>
                                </a:solidFill>
                                <a:latin typeface="Cambria Math" panose="02040503050406030204" pitchFamily="18" charset="0"/>
                              </a:rPr>
                              <m:t>𝐴</m:t>
                            </m:r>
                          </m:sub>
                        </m:sSub>
                      </m:oMath>
                    </m:oMathPara>
                  </a14:m>
                  <a:endParaRPr lang="en-US" sz="2800"/>
                </a:p>
              </p:txBody>
            </p:sp>
          </mc:Choice>
          <mc:Fallback xmlns="">
            <p:sp>
              <p:nvSpPr>
                <p:cNvPr id="19" name="Object 17">
                  <a:extLst>
                    <a:ext uri="{FF2B5EF4-FFF2-40B4-BE49-F238E27FC236}">
                      <a16:creationId xmlns:a16="http://schemas.microsoft.com/office/drawing/2014/main" id="{BBB1940B-B87D-5DBA-CDF9-686AE1B5A7E0}"/>
                    </a:ext>
                  </a:extLst>
                </p:cNvPr>
                <p:cNvSpPr txBox="1">
                  <a:spLocks noRot="1" noChangeAspect="1" noMove="1" noResize="1" noEditPoints="1" noAdjustHandles="1" noChangeArrowheads="1" noChangeShapeType="1" noTextEdit="1"/>
                </p:cNvSpPr>
                <p:nvPr/>
              </p:nvSpPr>
              <p:spPr>
                <a:xfrm>
                  <a:off x="1152" y="2784"/>
                  <a:ext cx="327" cy="384"/>
                </a:xfrm>
                <a:prstGeom prst="rect">
                  <a:avLst/>
                </a:prstGeom>
                <a:blipFill>
                  <a:blip r:embed="rId10"/>
                  <a:stretch>
                    <a:fillRect/>
                  </a:stretch>
                </a:blipFill>
                <a:ln w="38100">
                  <a:noFill/>
                  <a:miter/>
                </a:ln>
              </p:spPr>
              <p:txBody>
                <a:bodyPr/>
                <a:lstStyle/>
                <a:p>
                  <a:r>
                    <a:rPr lang="zh-CN" altLang="en-US">
                      <a:noFill/>
                    </a:rPr>
                    <a:t> </a:t>
                  </a:r>
                </a:p>
              </p:txBody>
            </p:sp>
          </mc:Fallback>
        </mc:AlternateContent>
        <p:sp>
          <p:nvSpPr>
            <p:cNvPr id="20" name="Line 18">
              <a:extLst>
                <a:ext uri="{FF2B5EF4-FFF2-40B4-BE49-F238E27FC236}">
                  <a16:creationId xmlns:a16="http://schemas.microsoft.com/office/drawing/2014/main" id="{4C9B11E3-A381-C0F1-7855-B377C116BBDC}"/>
                </a:ext>
              </a:extLst>
            </p:cNvPr>
            <p:cNvSpPr/>
            <p:nvPr/>
          </p:nvSpPr>
          <p:spPr>
            <a:xfrm flipH="1">
              <a:off x="720" y="1776"/>
              <a:ext cx="720" cy="0"/>
            </a:xfrm>
            <a:prstGeom prst="line">
              <a:avLst/>
            </a:prstGeom>
            <a:ln w="12700" cap="flat" cmpd="sng">
              <a:solidFill>
                <a:schemeClr val="tx1"/>
              </a:solidFill>
              <a:prstDash val="dash"/>
              <a:headEnd type="none" w="med" len="med"/>
              <a:tailEnd type="none" w="med" len="med"/>
            </a:ln>
          </p:spPr>
        </p:sp>
        <p:sp>
          <p:nvSpPr>
            <p:cNvPr id="21" name="Text Box 19">
              <a:extLst>
                <a:ext uri="{FF2B5EF4-FFF2-40B4-BE49-F238E27FC236}">
                  <a16:creationId xmlns:a16="http://schemas.microsoft.com/office/drawing/2014/main" id="{997EAB4B-3F02-D042-088F-195A1E36F736}"/>
                </a:ext>
              </a:extLst>
            </p:cNvPr>
            <p:cNvSpPr txBox="1"/>
            <p:nvPr/>
          </p:nvSpPr>
          <p:spPr>
            <a:xfrm>
              <a:off x="1440" y="1536"/>
              <a:ext cx="336" cy="330"/>
            </a:xfrm>
            <a:prstGeom prst="rect">
              <a:avLst/>
            </a:prstGeom>
            <a:noFill/>
            <a:ln w="9525">
              <a:noFill/>
            </a:ln>
          </p:spPr>
          <p:txBody>
            <a:bodyPr>
              <a:spAutoFit/>
            </a:bodyPr>
            <a:lstStyle/>
            <a:p>
              <a:pPr>
                <a:spcBef>
                  <a:spcPct val="50000"/>
                </a:spcBef>
              </a:pPr>
              <a:r>
                <a:rPr lang="en-US" altLang="zh-CN" sz="2800" i="1" dirty="0">
                  <a:latin typeface="Times New Roman" panose="02020603050405020304" pitchFamily="18" charset="0"/>
                  <a:ea typeface="楷体_GB2312" panose="02010609030101010101" pitchFamily="49" charset="-122"/>
                </a:rPr>
                <a:t>A</a:t>
              </a:r>
            </a:p>
          </p:txBody>
        </p:sp>
        <mc:AlternateContent xmlns:mc="http://schemas.openxmlformats.org/markup-compatibility/2006" xmlns:a14="http://schemas.microsoft.com/office/drawing/2010/main">
          <mc:Choice Requires="a14">
            <p:sp>
              <p:nvSpPr>
                <p:cNvPr id="22" name="Object 20">
                  <a:extLst>
                    <a:ext uri="{FF2B5EF4-FFF2-40B4-BE49-F238E27FC236}">
                      <a16:creationId xmlns:a16="http://schemas.microsoft.com/office/drawing/2014/main" id="{ED0860AD-A387-0A5F-ABCE-A0E9273EE20E}"/>
                    </a:ext>
                  </a:extLst>
                </p:cNvPr>
                <p:cNvSpPr txBox="1"/>
                <p:nvPr/>
              </p:nvSpPr>
              <p:spPr>
                <a:xfrm>
                  <a:off x="432" y="1056"/>
                  <a:ext cx="213" cy="254"/>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𝑝</m:t>
                        </m:r>
                      </m:oMath>
                    </m:oMathPara>
                  </a14:m>
                  <a:endParaRPr lang="en-US" sz="2800"/>
                </a:p>
              </p:txBody>
            </p:sp>
          </mc:Choice>
          <mc:Fallback xmlns="">
            <p:sp>
              <p:nvSpPr>
                <p:cNvPr id="22" name="Object 20">
                  <a:extLst>
                    <a:ext uri="{FF2B5EF4-FFF2-40B4-BE49-F238E27FC236}">
                      <a16:creationId xmlns:a16="http://schemas.microsoft.com/office/drawing/2014/main" id="{ED0860AD-A387-0A5F-ABCE-A0E9273EE20E}"/>
                    </a:ext>
                  </a:extLst>
                </p:cNvPr>
                <p:cNvSpPr txBox="1">
                  <a:spLocks noRot="1" noChangeAspect="1" noMove="1" noResize="1" noEditPoints="1" noAdjustHandles="1" noChangeArrowheads="1" noChangeShapeType="1" noTextEdit="1"/>
                </p:cNvSpPr>
                <p:nvPr/>
              </p:nvSpPr>
              <p:spPr>
                <a:xfrm>
                  <a:off x="432" y="1056"/>
                  <a:ext cx="213" cy="254"/>
                </a:xfrm>
                <a:prstGeom prst="rect">
                  <a:avLst/>
                </a:prstGeom>
                <a:blipFill>
                  <a:blip r:embed="rId11"/>
                  <a:stretch>
                    <a:fillRect b="-15152"/>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Object 21">
                  <a:extLst>
                    <a:ext uri="{FF2B5EF4-FFF2-40B4-BE49-F238E27FC236}">
                      <a16:creationId xmlns:a16="http://schemas.microsoft.com/office/drawing/2014/main" id="{D6B78BB1-4472-1B4B-5FE2-8143BA51A53A}"/>
                    </a:ext>
                  </a:extLst>
                </p:cNvPr>
                <p:cNvSpPr txBox="1"/>
                <p:nvPr/>
              </p:nvSpPr>
              <p:spPr>
                <a:xfrm>
                  <a:off x="2352" y="2880"/>
                  <a:ext cx="197" cy="220"/>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𝑉</m:t>
                        </m:r>
                      </m:oMath>
                    </m:oMathPara>
                  </a14:m>
                  <a:endParaRPr lang="en-US" sz="2800"/>
                </a:p>
              </p:txBody>
            </p:sp>
          </mc:Choice>
          <mc:Fallback xmlns="">
            <p:sp>
              <p:nvSpPr>
                <p:cNvPr id="23" name="Object 21">
                  <a:extLst>
                    <a:ext uri="{FF2B5EF4-FFF2-40B4-BE49-F238E27FC236}">
                      <a16:creationId xmlns:a16="http://schemas.microsoft.com/office/drawing/2014/main" id="{D6B78BB1-4472-1B4B-5FE2-8143BA51A53A}"/>
                    </a:ext>
                  </a:extLst>
                </p:cNvPr>
                <p:cNvSpPr txBox="1">
                  <a:spLocks noRot="1" noChangeAspect="1" noMove="1" noResize="1" noEditPoints="1" noAdjustHandles="1" noChangeArrowheads="1" noChangeShapeType="1" noTextEdit="1"/>
                </p:cNvSpPr>
                <p:nvPr/>
              </p:nvSpPr>
              <p:spPr>
                <a:xfrm>
                  <a:off x="2352" y="2880"/>
                  <a:ext cx="197" cy="220"/>
                </a:xfrm>
                <a:prstGeom prst="rect">
                  <a:avLst/>
                </a:prstGeom>
                <a:blipFill>
                  <a:blip r:embed="rId12"/>
                  <a:stretch>
                    <a:fillRect b="-12069"/>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Object 22">
                  <a:extLst>
                    <a:ext uri="{FF2B5EF4-FFF2-40B4-BE49-F238E27FC236}">
                      <a16:creationId xmlns:a16="http://schemas.microsoft.com/office/drawing/2014/main" id="{BEC357FA-88B0-E859-7C5F-C349B3FA2E86}"/>
                    </a:ext>
                  </a:extLst>
                </p:cNvPr>
                <p:cNvSpPr txBox="1"/>
                <p:nvPr/>
              </p:nvSpPr>
              <p:spPr>
                <a:xfrm>
                  <a:off x="601" y="2887"/>
                  <a:ext cx="177" cy="204"/>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𝑜</m:t>
                        </m:r>
                      </m:oMath>
                    </m:oMathPara>
                  </a14:m>
                  <a:endParaRPr lang="en-US" sz="2800"/>
                </a:p>
              </p:txBody>
            </p:sp>
          </mc:Choice>
          <mc:Fallback xmlns="">
            <p:sp>
              <p:nvSpPr>
                <p:cNvPr id="24" name="Object 22">
                  <a:extLst>
                    <a:ext uri="{FF2B5EF4-FFF2-40B4-BE49-F238E27FC236}">
                      <a16:creationId xmlns:a16="http://schemas.microsoft.com/office/drawing/2014/main" id="{BEC357FA-88B0-E859-7C5F-C349B3FA2E86}"/>
                    </a:ext>
                  </a:extLst>
                </p:cNvPr>
                <p:cNvSpPr txBox="1">
                  <a:spLocks noRot="1" noChangeAspect="1" noMove="1" noResize="1" noEditPoints="1" noAdjustHandles="1" noChangeArrowheads="1" noChangeShapeType="1" noTextEdit="1"/>
                </p:cNvSpPr>
                <p:nvPr/>
              </p:nvSpPr>
              <p:spPr>
                <a:xfrm>
                  <a:off x="601" y="2887"/>
                  <a:ext cx="177" cy="204"/>
                </a:xfrm>
                <a:prstGeom prst="rect">
                  <a:avLst/>
                </a:prstGeom>
                <a:blipFill>
                  <a:blip r:embed="rId13"/>
                  <a:stretch>
                    <a:fillRect b="-22642"/>
                  </a:stretch>
                </a:blipFill>
                <a:ln w="38100">
                  <a:noFill/>
                  <a:miter/>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5" name="Object 23">
                  <a:extLst>
                    <a:ext uri="{FF2B5EF4-FFF2-40B4-BE49-F238E27FC236}">
                      <a16:creationId xmlns:a16="http://schemas.microsoft.com/office/drawing/2014/main" id="{4CD877F2-B245-CA50-458E-F759FB3E8B09}"/>
                    </a:ext>
                  </a:extLst>
                </p:cNvPr>
                <p:cNvSpPr txBox="1"/>
                <p:nvPr/>
              </p:nvSpPr>
              <p:spPr>
                <a:xfrm>
                  <a:off x="1878" y="966"/>
                  <a:ext cx="597" cy="221"/>
                </a:xfrm>
                <a:prstGeom prst="rect">
                  <a:avLst/>
                </a:prstGeom>
                <a:noFill/>
                <a:ln w="38100">
                  <a:noFill/>
                  <a:miter/>
                </a:ln>
              </p:spPr>
              <p:txBody>
                <a:bodyPr>
                  <a:noAutofit/>
                </a:bodyPr>
                <a:lstStyle/>
                <a:p>
                  <a:pPr/>
                  <a:r>
                    <a:rPr lang="en-US" sz="2800" b="0" dirty="0">
                      <a:solidFill>
                        <a:srgbClr val="000000"/>
                      </a:solidFill>
                    </a:rPr>
                    <a:t> </a:t>
                  </a:r>
                  <a14:m>
                    <m:oMath xmlns:m="http://schemas.openxmlformats.org/officeDocument/2006/math">
                      <m:r>
                        <a:rPr lang="en-US" sz="2800" b="0" i="1" smtClean="0">
                          <a:solidFill>
                            <a:srgbClr val="000000"/>
                          </a:solidFill>
                          <a:latin typeface="Cambria Math" panose="02040503050406030204" pitchFamily="18" charset="0"/>
                        </a:rPr>
                        <m:t>𝑇</m:t>
                      </m:r>
                      <m:r>
                        <a:rPr lang="en-US" sz="2800" b="0" i="1" smtClean="0">
                          <a:solidFill>
                            <a:srgbClr val="000000"/>
                          </a:solidFill>
                          <a:latin typeface="Cambria Math" panose="02040503050406030204" pitchFamily="18" charset="0"/>
                        </a:rPr>
                        <m:t>=</m:t>
                      </m:r>
                    </m:oMath>
                  </a14:m>
                  <a:endParaRPr lang="en-US" sz="2800" dirty="0"/>
                </a:p>
              </p:txBody>
            </p:sp>
          </mc:Choice>
          <mc:Fallback>
            <p:sp>
              <p:nvSpPr>
                <p:cNvPr id="25" name="Object 23">
                  <a:extLst>
                    <a:ext uri="{FF2B5EF4-FFF2-40B4-BE49-F238E27FC236}">
                      <a16:creationId xmlns:a16="http://schemas.microsoft.com/office/drawing/2014/main" id="{4CD877F2-B245-CA50-458E-F759FB3E8B09}"/>
                    </a:ext>
                  </a:extLst>
                </p:cNvPr>
                <p:cNvSpPr txBox="1">
                  <a:spLocks noRot="1" noChangeAspect="1" noMove="1" noResize="1" noEditPoints="1" noAdjustHandles="1" noChangeArrowheads="1" noChangeShapeType="1" noTextEdit="1"/>
                </p:cNvSpPr>
                <p:nvPr/>
              </p:nvSpPr>
              <p:spPr>
                <a:xfrm>
                  <a:off x="1878" y="966"/>
                  <a:ext cx="597" cy="221"/>
                </a:xfrm>
                <a:prstGeom prst="rect">
                  <a:avLst/>
                </a:prstGeom>
                <a:blipFill>
                  <a:blip r:embed="rId14"/>
                  <a:stretch>
                    <a:fillRect b="-12281"/>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bject 24">
                  <a:extLst>
                    <a:ext uri="{FF2B5EF4-FFF2-40B4-BE49-F238E27FC236}">
                      <a16:creationId xmlns:a16="http://schemas.microsoft.com/office/drawing/2014/main" id="{D7536CB3-9D43-39AE-5144-EE6280691C46}"/>
                    </a:ext>
                  </a:extLst>
                </p:cNvPr>
                <p:cNvSpPr txBox="1"/>
                <p:nvPr/>
              </p:nvSpPr>
              <p:spPr>
                <a:xfrm>
                  <a:off x="1848" y="1235"/>
                  <a:ext cx="1152" cy="297"/>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𝑄</m:t>
                        </m:r>
                        <m:r>
                          <a:rPr lang="en-US" sz="2800" b="0" i="1" smtClean="0">
                            <a:solidFill>
                              <a:srgbClr val="000000"/>
                            </a:solidFill>
                            <a:latin typeface="Cambria Math" panose="02040503050406030204" pitchFamily="18" charset="0"/>
                          </a:rPr>
                          <m:t>=0</m:t>
                        </m:r>
                      </m:oMath>
                    </m:oMathPara>
                  </a14:m>
                  <a:endParaRPr lang="en-US" sz="2800" dirty="0"/>
                </a:p>
              </p:txBody>
            </p:sp>
          </mc:Choice>
          <mc:Fallback xmlns="">
            <p:sp>
              <p:nvSpPr>
                <p:cNvPr id="26" name="Object 24">
                  <a:extLst>
                    <a:ext uri="{FF2B5EF4-FFF2-40B4-BE49-F238E27FC236}">
                      <a16:creationId xmlns:a16="http://schemas.microsoft.com/office/drawing/2014/main" id="{D7536CB3-9D43-39AE-5144-EE6280691C46}"/>
                    </a:ext>
                  </a:extLst>
                </p:cNvPr>
                <p:cNvSpPr txBox="1">
                  <a:spLocks noRot="1" noChangeAspect="1" noMove="1" noResize="1" noEditPoints="1" noAdjustHandles="1" noChangeArrowheads="1" noChangeShapeType="1" noTextEdit="1"/>
                </p:cNvSpPr>
                <p:nvPr/>
              </p:nvSpPr>
              <p:spPr>
                <a:xfrm>
                  <a:off x="1848" y="1235"/>
                  <a:ext cx="1152" cy="297"/>
                </a:xfrm>
                <a:prstGeom prst="rect">
                  <a:avLst/>
                </a:prstGeom>
                <a:blipFill>
                  <a:blip r:embed="rId15"/>
                  <a:stretch>
                    <a:fillRect/>
                  </a:stretch>
                </a:blipFill>
                <a:ln w="38100">
                  <a:noFill/>
                  <a:miter/>
                </a:ln>
              </p:spPr>
              <p:txBody>
                <a:bodyPr/>
                <a:lstStyle/>
                <a:p>
                  <a:r>
                    <a:rPr lang="zh-CN" altLang="en-US">
                      <a:noFill/>
                    </a:rPr>
                    <a:t> </a:t>
                  </a:r>
                </a:p>
              </p:txBody>
            </p:sp>
          </mc:Fallback>
        </mc:AlternateContent>
        <p:sp>
          <p:nvSpPr>
            <p:cNvPr id="27" name="Freeform 25">
              <a:extLst>
                <a:ext uri="{FF2B5EF4-FFF2-40B4-BE49-F238E27FC236}">
                  <a16:creationId xmlns:a16="http://schemas.microsoft.com/office/drawing/2014/main" id="{F2451D71-02FB-81FD-5DA6-61A0B44087DE}"/>
                </a:ext>
              </a:extLst>
            </p:cNvPr>
            <p:cNvSpPr/>
            <p:nvPr/>
          </p:nvSpPr>
          <p:spPr>
            <a:xfrm>
              <a:off x="1008" y="1152"/>
              <a:ext cx="1440" cy="1179"/>
            </a:xfrm>
            <a:custGeom>
              <a:avLst/>
              <a:gdLst>
                <a:gd name="txL" fmla="*/ 0 w 1495"/>
                <a:gd name="txT" fmla="*/ 0 h 1179"/>
                <a:gd name="txR" fmla="*/ 1495 w 1495"/>
                <a:gd name="txB" fmla="*/ 1179 h 1179"/>
              </a:gdLst>
              <a:ahLst/>
              <a:cxnLst>
                <a:cxn ang="0">
                  <a:pos x="0" y="0"/>
                </a:cxn>
                <a:cxn ang="0">
                  <a:pos x="192" y="329"/>
                </a:cxn>
                <a:cxn ang="0">
                  <a:pos x="423" y="617"/>
                </a:cxn>
                <a:cxn ang="0">
                  <a:pos x="767" y="891"/>
                </a:cxn>
                <a:cxn ang="0">
                  <a:pos x="1209" y="1097"/>
                </a:cxn>
                <a:cxn ang="0">
                  <a:pos x="1440" y="1179"/>
                </a:cxn>
              </a:cxnLst>
              <a:rect l="txL" t="txT" r="txR" b="txB"/>
              <a:pathLst>
                <a:path w="1495" h="1179">
                  <a:moveTo>
                    <a:pt x="0" y="0"/>
                  </a:moveTo>
                  <a:cubicBezTo>
                    <a:pt x="33" y="55"/>
                    <a:pt x="126" y="226"/>
                    <a:pt x="199" y="329"/>
                  </a:cubicBezTo>
                  <a:cubicBezTo>
                    <a:pt x="272" y="432"/>
                    <a:pt x="339" y="523"/>
                    <a:pt x="439" y="617"/>
                  </a:cubicBezTo>
                  <a:cubicBezTo>
                    <a:pt x="539" y="711"/>
                    <a:pt x="660" y="811"/>
                    <a:pt x="796" y="891"/>
                  </a:cubicBezTo>
                  <a:cubicBezTo>
                    <a:pt x="932" y="971"/>
                    <a:pt x="1139" y="1049"/>
                    <a:pt x="1255" y="1097"/>
                  </a:cubicBezTo>
                  <a:cubicBezTo>
                    <a:pt x="1371" y="1145"/>
                    <a:pt x="1445" y="1162"/>
                    <a:pt x="1495" y="1179"/>
                  </a:cubicBezTo>
                </a:path>
              </a:pathLst>
            </a:custGeom>
            <a:noFill/>
            <a:ln w="28575" cap="flat" cmpd="sng">
              <a:solidFill>
                <a:srgbClr val="0000FF">
                  <a:alpha val="100000"/>
                </a:srgbClr>
              </a:solidFill>
              <a:prstDash val="solid"/>
              <a:round/>
              <a:headEnd type="none" w="med" len="med"/>
              <a:tailEnd type="none" w="med" len="med"/>
            </a:ln>
          </p:spPr>
          <p:txBody>
            <a:bodyPr/>
            <a:lstStyle/>
            <a:p>
              <a:endParaRPr lang="zh-CN" altLang="en-US" sz="2800"/>
            </a:p>
          </p:txBody>
        </p:sp>
        <p:sp>
          <p:nvSpPr>
            <p:cNvPr id="28" name="Freeform 26">
              <a:extLst>
                <a:ext uri="{FF2B5EF4-FFF2-40B4-BE49-F238E27FC236}">
                  <a16:creationId xmlns:a16="http://schemas.microsoft.com/office/drawing/2014/main" id="{4CA226B3-E23E-21CB-C484-05D146DCE3B8}"/>
                </a:ext>
              </a:extLst>
            </p:cNvPr>
            <p:cNvSpPr/>
            <p:nvPr/>
          </p:nvSpPr>
          <p:spPr>
            <a:xfrm>
              <a:off x="1200" y="1152"/>
              <a:ext cx="1248" cy="1406"/>
            </a:xfrm>
            <a:custGeom>
              <a:avLst/>
              <a:gdLst>
                <a:gd name="txL" fmla="*/ 0 w 1248"/>
                <a:gd name="txT" fmla="*/ 0 h 1406"/>
                <a:gd name="txR" fmla="*/ 1248 w 1248"/>
                <a:gd name="txB" fmla="*/ 1406 h 1406"/>
              </a:gdLst>
              <a:ahLst/>
              <a:cxnLst>
                <a:cxn ang="0">
                  <a:pos x="0" y="0"/>
                </a:cxn>
                <a:cxn ang="0">
                  <a:pos x="102" y="329"/>
                </a:cxn>
                <a:cxn ang="0">
                  <a:pos x="233" y="597"/>
                </a:cxn>
                <a:cxn ang="0">
                  <a:pos x="425" y="871"/>
                </a:cxn>
                <a:cxn ang="0">
                  <a:pos x="603" y="1069"/>
                </a:cxn>
                <a:cxn ang="0">
                  <a:pos x="843" y="1234"/>
                </a:cxn>
                <a:cxn ang="0">
                  <a:pos x="1090" y="1351"/>
                </a:cxn>
                <a:cxn ang="0">
                  <a:pos x="1248" y="1406"/>
                </a:cxn>
              </a:cxnLst>
              <a:rect l="txL" t="txT" r="txR" b="txB"/>
              <a:pathLst>
                <a:path w="1248" h="1406">
                  <a:moveTo>
                    <a:pt x="0" y="0"/>
                  </a:moveTo>
                  <a:cubicBezTo>
                    <a:pt x="17" y="55"/>
                    <a:pt x="63" y="229"/>
                    <a:pt x="102" y="329"/>
                  </a:cubicBezTo>
                  <a:cubicBezTo>
                    <a:pt x="141" y="429"/>
                    <a:pt x="179" y="507"/>
                    <a:pt x="233" y="597"/>
                  </a:cubicBezTo>
                  <a:cubicBezTo>
                    <a:pt x="287" y="687"/>
                    <a:pt x="363" y="792"/>
                    <a:pt x="425" y="871"/>
                  </a:cubicBezTo>
                  <a:cubicBezTo>
                    <a:pt x="487" y="950"/>
                    <a:pt x="533" y="1009"/>
                    <a:pt x="603" y="1069"/>
                  </a:cubicBezTo>
                  <a:cubicBezTo>
                    <a:pt x="673" y="1129"/>
                    <a:pt x="762" y="1187"/>
                    <a:pt x="843" y="1234"/>
                  </a:cubicBezTo>
                  <a:cubicBezTo>
                    <a:pt x="924" y="1281"/>
                    <a:pt x="1023" y="1322"/>
                    <a:pt x="1090" y="1351"/>
                  </a:cubicBezTo>
                  <a:cubicBezTo>
                    <a:pt x="1157" y="1380"/>
                    <a:pt x="1215" y="1395"/>
                    <a:pt x="1248" y="1406"/>
                  </a:cubicBezTo>
                </a:path>
              </a:pathLst>
            </a:custGeom>
            <a:noFill/>
            <a:ln w="28575" cap="flat" cmpd="sng">
              <a:solidFill>
                <a:srgbClr val="CC0099">
                  <a:alpha val="100000"/>
                </a:srgbClr>
              </a:solidFill>
              <a:prstDash val="solid"/>
              <a:round/>
              <a:headEnd type="none" w="med" len="med"/>
              <a:tailEnd type="none" w="med" len="med"/>
            </a:ln>
          </p:spPr>
          <p:txBody>
            <a:bodyPr/>
            <a:lstStyle/>
            <a:p>
              <a:endParaRPr lang="zh-CN" altLang="en-US" sz="2800" dirty="0"/>
            </a:p>
          </p:txBody>
        </p:sp>
        <p:sp>
          <p:nvSpPr>
            <p:cNvPr id="29" name="Line 27">
              <a:extLst>
                <a:ext uri="{FF2B5EF4-FFF2-40B4-BE49-F238E27FC236}">
                  <a16:creationId xmlns:a16="http://schemas.microsoft.com/office/drawing/2014/main" id="{EB22C6D9-2550-CCFF-8B05-19ECF879C8F6}"/>
                </a:ext>
              </a:extLst>
            </p:cNvPr>
            <p:cNvSpPr/>
            <p:nvPr/>
          </p:nvSpPr>
          <p:spPr>
            <a:xfrm flipH="1">
              <a:off x="1104" y="2064"/>
              <a:ext cx="720" cy="0"/>
            </a:xfrm>
            <a:prstGeom prst="line">
              <a:avLst/>
            </a:prstGeom>
            <a:ln w="12700" cap="flat" cmpd="sng">
              <a:solidFill>
                <a:schemeClr val="tx1"/>
              </a:solidFill>
              <a:prstDash val="dash"/>
              <a:headEnd type="none" w="med" len="med"/>
              <a:tailEnd type="none" w="med" len="med"/>
            </a:ln>
          </p:spPr>
        </p:sp>
        <p:sp>
          <p:nvSpPr>
            <p:cNvPr id="30" name="Line 28">
              <a:extLst>
                <a:ext uri="{FF2B5EF4-FFF2-40B4-BE49-F238E27FC236}">
                  <a16:creationId xmlns:a16="http://schemas.microsoft.com/office/drawing/2014/main" id="{2FF8A218-06D1-5848-8B1F-33FC8BF872E7}"/>
                </a:ext>
              </a:extLst>
            </p:cNvPr>
            <p:cNvSpPr/>
            <p:nvPr/>
          </p:nvSpPr>
          <p:spPr>
            <a:xfrm flipH="1">
              <a:off x="768" y="2256"/>
              <a:ext cx="1056" cy="0"/>
            </a:xfrm>
            <a:prstGeom prst="line">
              <a:avLst/>
            </a:prstGeom>
            <a:ln w="12700" cap="flat" cmpd="sng">
              <a:solidFill>
                <a:schemeClr val="tx1"/>
              </a:solidFill>
              <a:prstDash val="dash"/>
              <a:headEnd type="none" w="med" len="med"/>
              <a:tailEnd type="none" w="med" len="med"/>
            </a:ln>
          </p:spPr>
        </p:sp>
        <p:sp>
          <p:nvSpPr>
            <p:cNvPr id="31" name="Line 29">
              <a:extLst>
                <a:ext uri="{FF2B5EF4-FFF2-40B4-BE49-F238E27FC236}">
                  <a16:creationId xmlns:a16="http://schemas.microsoft.com/office/drawing/2014/main" id="{CC5629F1-A04B-C3A5-72D5-253B55FCF4AE}"/>
                </a:ext>
              </a:extLst>
            </p:cNvPr>
            <p:cNvSpPr/>
            <p:nvPr/>
          </p:nvSpPr>
          <p:spPr>
            <a:xfrm>
              <a:off x="1440" y="2928"/>
              <a:ext cx="384" cy="0"/>
            </a:xfrm>
            <a:prstGeom prst="line">
              <a:avLst/>
            </a:prstGeom>
            <a:ln w="9525" cap="flat" cmpd="sng">
              <a:solidFill>
                <a:srgbClr val="FF0066"/>
              </a:solidFill>
              <a:prstDash val="solid"/>
              <a:headEnd type="triangle" w="sm" len="lg"/>
              <a:tailEnd type="triangle" w="sm" len="lg"/>
            </a:ln>
          </p:spPr>
        </p:sp>
        <mc:AlternateContent xmlns:mc="http://schemas.openxmlformats.org/markup-compatibility/2006" xmlns:a14="http://schemas.microsoft.com/office/drawing/2010/main">
          <mc:Choice Requires="a14">
            <p:sp>
              <p:nvSpPr>
                <p:cNvPr id="32" name="Object 30">
                  <a:extLst>
                    <a:ext uri="{FF2B5EF4-FFF2-40B4-BE49-F238E27FC236}">
                      <a16:creationId xmlns:a16="http://schemas.microsoft.com/office/drawing/2014/main" id="{D7C741AD-8F0A-AED6-701F-BC9808CFA6E5}"/>
                    </a:ext>
                  </a:extLst>
                </p:cNvPr>
                <p:cNvSpPr txBox="1"/>
                <p:nvPr/>
              </p:nvSpPr>
              <p:spPr>
                <a:xfrm>
                  <a:off x="1488" y="2976"/>
                  <a:ext cx="336" cy="206"/>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𝛥</m:t>
                        </m:r>
                        <m:r>
                          <a:rPr lang="en-US" sz="2800" b="0" i="1" smtClean="0">
                            <a:solidFill>
                              <a:srgbClr val="000000"/>
                            </a:solidFill>
                            <a:latin typeface="Cambria Math" panose="02040503050406030204" pitchFamily="18" charset="0"/>
                          </a:rPr>
                          <m:t>𝑉</m:t>
                        </m:r>
                      </m:oMath>
                    </m:oMathPara>
                  </a14:m>
                  <a:endParaRPr lang="en-US" sz="2800" dirty="0"/>
                </a:p>
              </p:txBody>
            </p:sp>
          </mc:Choice>
          <mc:Fallback xmlns="">
            <p:sp>
              <p:nvSpPr>
                <p:cNvPr id="32" name="Object 30">
                  <a:extLst>
                    <a:ext uri="{FF2B5EF4-FFF2-40B4-BE49-F238E27FC236}">
                      <a16:creationId xmlns:a16="http://schemas.microsoft.com/office/drawing/2014/main" id="{D7C741AD-8F0A-AED6-701F-BC9808CFA6E5}"/>
                    </a:ext>
                  </a:extLst>
                </p:cNvPr>
                <p:cNvSpPr txBox="1">
                  <a:spLocks noRot="1" noChangeAspect="1" noMove="1" noResize="1" noEditPoints="1" noAdjustHandles="1" noChangeArrowheads="1" noChangeShapeType="1" noTextEdit="1"/>
                </p:cNvSpPr>
                <p:nvPr/>
              </p:nvSpPr>
              <p:spPr>
                <a:xfrm>
                  <a:off x="1488" y="2976"/>
                  <a:ext cx="336" cy="206"/>
                </a:xfrm>
                <a:prstGeom prst="rect">
                  <a:avLst/>
                </a:prstGeom>
                <a:blipFill>
                  <a:blip r:embed="rId16"/>
                  <a:stretch>
                    <a:fillRect b="-20370"/>
                  </a:stretch>
                </a:blipFill>
                <a:ln w="38100">
                  <a:noFill/>
                  <a:miter/>
                </a:ln>
              </p:spPr>
              <p:txBody>
                <a:bodyPr/>
                <a:lstStyle/>
                <a:p>
                  <a:r>
                    <a:rPr lang="zh-CN" altLang="en-US">
                      <a:noFill/>
                    </a:rPr>
                    <a:t> </a:t>
                  </a:r>
                </a:p>
              </p:txBody>
            </p:sp>
          </mc:Fallback>
        </mc:AlternateContent>
        <p:sp>
          <p:nvSpPr>
            <p:cNvPr id="33" name="Line 31">
              <a:extLst>
                <a:ext uri="{FF2B5EF4-FFF2-40B4-BE49-F238E27FC236}">
                  <a16:creationId xmlns:a16="http://schemas.microsoft.com/office/drawing/2014/main" id="{DB97C03A-D638-43F6-8F7A-4D50C14762E0}"/>
                </a:ext>
              </a:extLst>
            </p:cNvPr>
            <p:cNvSpPr/>
            <p:nvPr/>
          </p:nvSpPr>
          <p:spPr>
            <a:xfrm>
              <a:off x="864" y="2256"/>
              <a:ext cx="0" cy="336"/>
            </a:xfrm>
            <a:prstGeom prst="line">
              <a:avLst/>
            </a:prstGeom>
            <a:ln w="9525" cap="flat" cmpd="sng">
              <a:solidFill>
                <a:srgbClr val="FF0066"/>
              </a:solidFill>
              <a:prstDash val="solid"/>
              <a:headEnd type="triangle" w="sm" len="lg"/>
              <a:tailEnd type="none" w="med" len="lg"/>
            </a:ln>
          </p:spPr>
        </p:sp>
        <p:sp>
          <p:nvSpPr>
            <p:cNvPr id="34" name="Line 32">
              <a:extLst>
                <a:ext uri="{FF2B5EF4-FFF2-40B4-BE49-F238E27FC236}">
                  <a16:creationId xmlns:a16="http://schemas.microsoft.com/office/drawing/2014/main" id="{ABAE434E-1CFD-DEA9-183C-A0B9118B08D3}"/>
                </a:ext>
              </a:extLst>
            </p:cNvPr>
            <p:cNvSpPr/>
            <p:nvPr/>
          </p:nvSpPr>
          <p:spPr>
            <a:xfrm>
              <a:off x="1200" y="2064"/>
              <a:ext cx="0" cy="240"/>
            </a:xfrm>
            <a:prstGeom prst="line">
              <a:avLst/>
            </a:prstGeom>
            <a:ln w="9525" cap="flat" cmpd="sng">
              <a:solidFill>
                <a:srgbClr val="FF6600"/>
              </a:solidFill>
              <a:prstDash val="solid"/>
              <a:headEnd type="triangle" w="sm" len="lg"/>
              <a:tailEnd type="none" w="med" len="lg"/>
            </a:ln>
          </p:spPr>
        </p:sp>
        <p:sp>
          <p:nvSpPr>
            <p:cNvPr id="35" name="Line 33">
              <a:extLst>
                <a:ext uri="{FF2B5EF4-FFF2-40B4-BE49-F238E27FC236}">
                  <a16:creationId xmlns:a16="http://schemas.microsoft.com/office/drawing/2014/main" id="{10CE52F9-6671-F740-06DE-0EFA4C1EEBCE}"/>
                </a:ext>
              </a:extLst>
            </p:cNvPr>
            <p:cNvSpPr/>
            <p:nvPr/>
          </p:nvSpPr>
          <p:spPr>
            <a:xfrm>
              <a:off x="864" y="1440"/>
              <a:ext cx="0" cy="336"/>
            </a:xfrm>
            <a:prstGeom prst="line">
              <a:avLst/>
            </a:prstGeom>
            <a:ln w="9525" cap="flat" cmpd="sng">
              <a:solidFill>
                <a:srgbClr val="FF0066"/>
              </a:solidFill>
              <a:prstDash val="solid"/>
              <a:headEnd type="none" w="med" len="lg"/>
              <a:tailEnd type="triangle" w="sm" len="lg"/>
            </a:ln>
          </p:spPr>
        </p:sp>
        <p:sp>
          <p:nvSpPr>
            <p:cNvPr id="36" name="Line 34">
              <a:extLst>
                <a:ext uri="{FF2B5EF4-FFF2-40B4-BE49-F238E27FC236}">
                  <a16:creationId xmlns:a16="http://schemas.microsoft.com/office/drawing/2014/main" id="{628AB130-6688-4B31-7B92-A66353F62FC4}"/>
                </a:ext>
              </a:extLst>
            </p:cNvPr>
            <p:cNvSpPr/>
            <p:nvPr/>
          </p:nvSpPr>
          <p:spPr>
            <a:xfrm>
              <a:off x="1200" y="1536"/>
              <a:ext cx="0" cy="240"/>
            </a:xfrm>
            <a:prstGeom prst="line">
              <a:avLst/>
            </a:prstGeom>
            <a:ln w="9525" cap="flat" cmpd="sng">
              <a:solidFill>
                <a:srgbClr val="FF6600"/>
              </a:solidFill>
              <a:prstDash val="solid"/>
              <a:headEnd type="none" w="med" len="lg"/>
              <a:tailEnd type="triangle" w="sm" len="lg"/>
            </a:ln>
          </p:spPr>
        </p:sp>
        <mc:AlternateContent xmlns:mc="http://schemas.openxmlformats.org/markup-compatibility/2006" xmlns:a14="http://schemas.microsoft.com/office/drawing/2010/main">
          <mc:Choice Requires="a14">
            <p:sp>
              <p:nvSpPr>
                <p:cNvPr id="37" name="Object 35">
                  <a:extLst>
                    <a:ext uri="{FF2B5EF4-FFF2-40B4-BE49-F238E27FC236}">
                      <a16:creationId xmlns:a16="http://schemas.microsoft.com/office/drawing/2014/main" id="{F295FFC2-E7D7-57BE-41BC-E6474975ABF8}"/>
                    </a:ext>
                  </a:extLst>
                </p:cNvPr>
                <p:cNvSpPr txBox="1"/>
                <p:nvPr/>
              </p:nvSpPr>
              <p:spPr>
                <a:xfrm>
                  <a:off x="706" y="1867"/>
                  <a:ext cx="398" cy="31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𝛥</m:t>
                        </m:r>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𝑝</m:t>
                            </m:r>
                          </m:e>
                          <m:sub>
                            <m:r>
                              <a:rPr lang="en-US" sz="2800" b="0" i="1" smtClean="0">
                                <a:solidFill>
                                  <a:srgbClr val="000000"/>
                                </a:solidFill>
                                <a:latin typeface="Cambria Math" panose="02040503050406030204" pitchFamily="18" charset="0"/>
                              </a:rPr>
                              <m:t>𝑎</m:t>
                            </m:r>
                          </m:sub>
                        </m:sSub>
                      </m:oMath>
                    </m:oMathPara>
                  </a14:m>
                  <a:endParaRPr lang="en-US" sz="2800"/>
                </a:p>
              </p:txBody>
            </p:sp>
          </mc:Choice>
          <mc:Fallback xmlns="">
            <p:sp>
              <p:nvSpPr>
                <p:cNvPr id="37" name="Object 35">
                  <a:extLst>
                    <a:ext uri="{FF2B5EF4-FFF2-40B4-BE49-F238E27FC236}">
                      <a16:creationId xmlns:a16="http://schemas.microsoft.com/office/drawing/2014/main" id="{F295FFC2-E7D7-57BE-41BC-E6474975ABF8}"/>
                    </a:ext>
                  </a:extLst>
                </p:cNvPr>
                <p:cNvSpPr txBox="1">
                  <a:spLocks noRot="1" noChangeAspect="1" noMove="1" noResize="1" noEditPoints="1" noAdjustHandles="1" noChangeArrowheads="1" noChangeShapeType="1" noTextEdit="1"/>
                </p:cNvSpPr>
                <p:nvPr/>
              </p:nvSpPr>
              <p:spPr>
                <a:xfrm>
                  <a:off x="706" y="1867"/>
                  <a:ext cx="398" cy="315"/>
                </a:xfrm>
                <a:prstGeom prst="rect">
                  <a:avLst/>
                </a:prstGeom>
                <a:blipFill>
                  <a:blip r:embed="rId17"/>
                  <a:stretch>
                    <a:fillRect r="-2885"/>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Object 36">
                  <a:extLst>
                    <a:ext uri="{FF2B5EF4-FFF2-40B4-BE49-F238E27FC236}">
                      <a16:creationId xmlns:a16="http://schemas.microsoft.com/office/drawing/2014/main" id="{D83B56F9-0048-DE57-D6A4-38CC0F45EBA3}"/>
                    </a:ext>
                  </a:extLst>
                </p:cNvPr>
                <p:cNvSpPr txBox="1"/>
                <p:nvPr/>
              </p:nvSpPr>
              <p:spPr>
                <a:xfrm>
                  <a:off x="1053" y="1788"/>
                  <a:ext cx="387" cy="276"/>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𝛥</m:t>
                        </m:r>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𝑝</m:t>
                            </m:r>
                          </m:e>
                          <m:sub>
                            <m:r>
                              <a:rPr lang="en-US" sz="2800" b="0" i="1" smtClean="0">
                                <a:solidFill>
                                  <a:srgbClr val="000000"/>
                                </a:solidFill>
                                <a:latin typeface="Cambria Math" panose="02040503050406030204" pitchFamily="18" charset="0"/>
                              </a:rPr>
                              <m:t>𝑇</m:t>
                            </m:r>
                          </m:sub>
                        </m:sSub>
                      </m:oMath>
                    </m:oMathPara>
                  </a14:m>
                  <a:endParaRPr lang="en-US" sz="2800"/>
                </a:p>
              </p:txBody>
            </p:sp>
          </mc:Choice>
          <mc:Fallback xmlns="">
            <p:sp>
              <p:nvSpPr>
                <p:cNvPr id="38" name="Object 36">
                  <a:extLst>
                    <a:ext uri="{FF2B5EF4-FFF2-40B4-BE49-F238E27FC236}">
                      <a16:creationId xmlns:a16="http://schemas.microsoft.com/office/drawing/2014/main" id="{D83B56F9-0048-DE57-D6A4-38CC0F45EBA3}"/>
                    </a:ext>
                  </a:extLst>
                </p:cNvPr>
                <p:cNvSpPr txBox="1">
                  <a:spLocks noRot="1" noChangeAspect="1" noMove="1" noResize="1" noEditPoints="1" noAdjustHandles="1" noChangeArrowheads="1" noChangeShapeType="1" noTextEdit="1"/>
                </p:cNvSpPr>
                <p:nvPr/>
              </p:nvSpPr>
              <p:spPr>
                <a:xfrm>
                  <a:off x="1053" y="1788"/>
                  <a:ext cx="387" cy="276"/>
                </a:xfrm>
                <a:prstGeom prst="rect">
                  <a:avLst/>
                </a:prstGeom>
                <a:blipFill>
                  <a:blip r:embed="rId18"/>
                  <a:stretch>
                    <a:fillRect r="-7921" b="-5556"/>
                  </a:stretch>
                </a:blipFill>
                <a:ln w="38100">
                  <a:noFill/>
                  <a:miter/>
                </a:ln>
              </p:spPr>
              <p:txBody>
                <a:bodyPr/>
                <a:lstStyle/>
                <a:p>
                  <a:r>
                    <a:rPr lang="zh-CN" altLang="en-US">
                      <a:noFill/>
                    </a:rPr>
                    <a:t> </a:t>
                  </a:r>
                </a:p>
              </p:txBody>
            </p:sp>
          </mc:Fallback>
        </mc:AlternateContent>
        <p:sp>
          <p:nvSpPr>
            <p:cNvPr id="39" name="Text Box 37">
              <a:extLst>
                <a:ext uri="{FF2B5EF4-FFF2-40B4-BE49-F238E27FC236}">
                  <a16:creationId xmlns:a16="http://schemas.microsoft.com/office/drawing/2014/main" id="{3123C69D-CB23-EFF0-FF1F-E7D338A2BC25}"/>
                </a:ext>
              </a:extLst>
            </p:cNvPr>
            <p:cNvSpPr txBox="1"/>
            <p:nvPr/>
          </p:nvSpPr>
          <p:spPr>
            <a:xfrm>
              <a:off x="1632" y="2208"/>
              <a:ext cx="336" cy="330"/>
            </a:xfrm>
            <a:prstGeom prst="rect">
              <a:avLst/>
            </a:prstGeom>
            <a:noFill/>
            <a:ln w="9525">
              <a:noFill/>
            </a:ln>
          </p:spPr>
          <p:txBody>
            <a:bodyPr>
              <a:spAutoFit/>
            </a:bodyPr>
            <a:lstStyle/>
            <a:p>
              <a:pPr eaLnBrk="1" hangingPunct="1">
                <a:spcBef>
                  <a:spcPct val="50000"/>
                </a:spcBef>
              </a:pPr>
              <a:r>
                <a:rPr lang="en-US" altLang="zh-CN" sz="2800" i="1" dirty="0">
                  <a:solidFill>
                    <a:srgbClr val="1C1C1C"/>
                  </a:solidFill>
                  <a:latin typeface="Times New Roman" panose="02020603050405020304" pitchFamily="18" charset="0"/>
                </a:rPr>
                <a:t>B</a:t>
              </a:r>
            </a:p>
          </p:txBody>
        </p:sp>
        <p:sp>
          <p:nvSpPr>
            <p:cNvPr id="40" name="Text Box 38">
              <a:extLst>
                <a:ext uri="{FF2B5EF4-FFF2-40B4-BE49-F238E27FC236}">
                  <a16:creationId xmlns:a16="http://schemas.microsoft.com/office/drawing/2014/main" id="{D6715021-45CC-6283-DFBD-4211C9A36EA8}"/>
                </a:ext>
              </a:extLst>
            </p:cNvPr>
            <p:cNvSpPr txBox="1"/>
            <p:nvPr/>
          </p:nvSpPr>
          <p:spPr>
            <a:xfrm>
              <a:off x="1728" y="1824"/>
              <a:ext cx="288" cy="330"/>
            </a:xfrm>
            <a:prstGeom prst="rect">
              <a:avLst/>
            </a:prstGeom>
            <a:noFill/>
            <a:ln w="9525">
              <a:noFill/>
            </a:ln>
          </p:spPr>
          <p:txBody>
            <a:bodyPr>
              <a:spAutoFit/>
            </a:bodyPr>
            <a:lstStyle/>
            <a:p>
              <a:pPr eaLnBrk="1" hangingPunct="1">
                <a:spcBef>
                  <a:spcPct val="50000"/>
                </a:spcBef>
              </a:pPr>
              <a:r>
                <a:rPr lang="en-US" altLang="zh-CN" sz="2800" i="1" dirty="0">
                  <a:solidFill>
                    <a:srgbClr val="1C1C1C"/>
                  </a:solidFill>
                  <a:latin typeface="Times New Roman" panose="02020603050405020304" pitchFamily="18" charset="0"/>
                </a:rPr>
                <a:t>C</a:t>
              </a:r>
            </a:p>
          </p:txBody>
        </p:sp>
        <p:sp>
          <p:nvSpPr>
            <p:cNvPr id="41" name="Line 39">
              <a:extLst>
                <a:ext uri="{FF2B5EF4-FFF2-40B4-BE49-F238E27FC236}">
                  <a16:creationId xmlns:a16="http://schemas.microsoft.com/office/drawing/2014/main" id="{9E2707FC-8344-9A04-1690-A5C81759F6ED}"/>
                </a:ext>
              </a:extLst>
            </p:cNvPr>
            <p:cNvSpPr/>
            <p:nvPr/>
          </p:nvSpPr>
          <p:spPr>
            <a:xfrm>
              <a:off x="1776" y="1104"/>
              <a:ext cx="192" cy="0"/>
            </a:xfrm>
            <a:prstGeom prst="line">
              <a:avLst/>
            </a:prstGeom>
            <a:ln w="28575" cap="flat" cmpd="sng">
              <a:solidFill>
                <a:srgbClr val="0000FF"/>
              </a:solidFill>
              <a:prstDash val="solid"/>
              <a:headEnd type="none" w="med" len="med"/>
              <a:tailEnd type="none" w="med" len="med"/>
            </a:ln>
          </p:spPr>
        </p:sp>
        <p:sp>
          <p:nvSpPr>
            <p:cNvPr id="42" name="Line 40">
              <a:extLst>
                <a:ext uri="{FF2B5EF4-FFF2-40B4-BE49-F238E27FC236}">
                  <a16:creationId xmlns:a16="http://schemas.microsoft.com/office/drawing/2014/main" id="{74572777-EF9A-B428-AC19-5E816828E4B2}"/>
                </a:ext>
              </a:extLst>
            </p:cNvPr>
            <p:cNvSpPr/>
            <p:nvPr/>
          </p:nvSpPr>
          <p:spPr>
            <a:xfrm>
              <a:off x="1776" y="1392"/>
              <a:ext cx="192" cy="0"/>
            </a:xfrm>
            <a:prstGeom prst="line">
              <a:avLst/>
            </a:prstGeom>
            <a:ln w="28575" cap="flat" cmpd="sng">
              <a:solidFill>
                <a:srgbClr val="CC0099"/>
              </a:solidFill>
              <a:prstDash val="solid"/>
              <a:headEnd type="none" w="med" len="med"/>
              <a:tailEnd type="none" w="med" len="med"/>
            </a:ln>
          </p:spPr>
        </p:sp>
        <p:sp>
          <p:nvSpPr>
            <p:cNvPr id="43" name="Rectangle 41">
              <a:extLst>
                <a:ext uri="{FF2B5EF4-FFF2-40B4-BE49-F238E27FC236}">
                  <a16:creationId xmlns:a16="http://schemas.microsoft.com/office/drawing/2014/main" id="{97058176-170C-EE18-44E9-FF59AA0B07DB}"/>
                </a:ext>
              </a:extLst>
            </p:cNvPr>
            <p:cNvSpPr/>
            <p:nvPr/>
          </p:nvSpPr>
          <p:spPr>
            <a:xfrm>
              <a:off x="2304" y="960"/>
              <a:ext cx="672" cy="327"/>
            </a:xfrm>
            <a:prstGeom prst="rect">
              <a:avLst/>
            </a:prstGeom>
            <a:noFill/>
            <a:ln w="9525">
              <a:noFill/>
            </a:ln>
          </p:spPr>
          <p:txBody>
            <a:bodyPr>
              <a:spAutoFit/>
            </a:bodyPr>
            <a:lstStyle/>
            <a:p>
              <a:pPr eaLnBrk="1" hangingPunct="1"/>
              <a:r>
                <a:rPr lang="zh-CN" altLang="en-US" sz="2800" dirty="0">
                  <a:solidFill>
                    <a:srgbClr val="000000"/>
                  </a:solidFill>
                  <a:latin typeface="Times New Roman" panose="02020603050405020304" pitchFamily="18" charset="0"/>
                </a:rPr>
                <a:t>常量</a:t>
              </a:r>
            </a:p>
          </p:txBody>
        </p:sp>
      </p:grpSp>
      <mc:AlternateContent xmlns:mc="http://schemas.openxmlformats.org/markup-compatibility/2006" xmlns:a14="http://schemas.microsoft.com/office/drawing/2010/main">
        <mc:Choice Requires="a14">
          <p:sp>
            <p:nvSpPr>
              <p:cNvPr id="50" name="Object 39">
                <a:extLst>
                  <a:ext uri="{FF2B5EF4-FFF2-40B4-BE49-F238E27FC236}">
                    <a16:creationId xmlns:a16="http://schemas.microsoft.com/office/drawing/2014/main" id="{F149F8CA-33DE-42C3-A442-42C161727659}"/>
                  </a:ext>
                </a:extLst>
              </p:cNvPr>
              <p:cNvSpPr txBox="1"/>
              <p:nvPr/>
            </p:nvSpPr>
            <p:spPr bwMode="auto">
              <a:xfrm>
                <a:off x="1060384" y="5474688"/>
                <a:ext cx="3779112" cy="1069975"/>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en-US" sz="3200" i="1">
                          <a:solidFill>
                            <a:srgbClr val="000000"/>
                          </a:solidFill>
                          <a:latin typeface="Cambria Math" panose="02040503050406030204" pitchFamily="18" charset="0"/>
                        </a:rPr>
                        <m:t>𝛾</m:t>
                      </m:r>
                      <m:r>
                        <a:rPr lang="en-US" sz="3200" i="1">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r>
                            <a:rPr lang="en-US" sz="3200" i="1">
                              <a:solidFill>
                                <a:srgbClr val="000000"/>
                              </a:solidFill>
                              <a:latin typeface="Cambria Math" panose="02040503050406030204" pitchFamily="18" charset="0"/>
                            </a:rPr>
                            <m:t>2+</m:t>
                          </m:r>
                          <m:r>
                            <a:rPr lang="en-US" sz="3200" i="1">
                              <a:solidFill>
                                <a:srgbClr val="000000"/>
                              </a:solidFill>
                              <a:latin typeface="Cambria Math" panose="02040503050406030204" pitchFamily="18" charset="0"/>
                            </a:rPr>
                            <m:t>𝑖</m:t>
                          </m:r>
                        </m:num>
                        <m:den>
                          <m:r>
                            <a:rPr lang="en-US" sz="3200" i="1">
                              <a:solidFill>
                                <a:srgbClr val="000000"/>
                              </a:solidFill>
                              <a:latin typeface="Cambria Math" panose="02040503050406030204" pitchFamily="18" charset="0"/>
                            </a:rPr>
                            <m:t>𝑖</m:t>
                          </m:r>
                        </m:den>
                      </m:f>
                    </m:oMath>
                  </m:oMathPara>
                </a14:m>
                <a:endParaRPr lang="en-US" sz="3200" dirty="0"/>
              </a:p>
            </p:txBody>
          </p:sp>
        </mc:Choice>
        <mc:Fallback xmlns="">
          <p:sp>
            <p:nvSpPr>
              <p:cNvPr id="50" name="Object 39">
                <a:extLst>
                  <a:ext uri="{FF2B5EF4-FFF2-40B4-BE49-F238E27FC236}">
                    <a16:creationId xmlns:a16="http://schemas.microsoft.com/office/drawing/2014/main" id="{F149F8CA-33DE-42C3-A442-42C161727659}"/>
                  </a:ext>
                </a:extLst>
              </p:cNvPr>
              <p:cNvSpPr txBox="1">
                <a:spLocks noRot="1" noChangeAspect="1" noMove="1" noResize="1" noEditPoints="1" noAdjustHandles="1" noChangeArrowheads="1" noChangeShapeType="1" noTextEdit="1"/>
              </p:cNvSpPr>
              <p:nvPr/>
            </p:nvSpPr>
            <p:spPr bwMode="auto">
              <a:xfrm>
                <a:off x="1060384" y="5474688"/>
                <a:ext cx="3779112" cy="1069975"/>
              </a:xfrm>
              <a:prstGeom prst="rect">
                <a:avLst/>
              </a:prstGeom>
              <a:blipFill>
                <a:blip r:embed="rId19"/>
                <a:stretch>
                  <a:fillRect/>
                </a:stretch>
              </a:blipFill>
              <a:ln>
                <a:noFill/>
              </a:ln>
              <a:effectLst/>
            </p:spPr>
            <p:txBody>
              <a:bodyPr/>
              <a:lstStyle/>
              <a:p>
                <a:r>
                  <a:rPr lang="en-US">
                    <a:noFill/>
                  </a:rPr>
                  <a:t> </a:t>
                </a:r>
              </a:p>
            </p:txBody>
          </p:sp>
        </mc:Fallback>
      </mc:AlternateContent>
    </p:spTree>
    <p:extLst>
      <p:ext uri="{BB962C8B-B14F-4D97-AF65-F5344CB8AC3E}">
        <p14:creationId xmlns:p14="http://schemas.microsoft.com/office/powerpoint/2010/main" val="723608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4237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237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2" grpId="0"/>
      <p:bldP spid="442372" grpId="0"/>
      <p:bldP spid="442373" grpId="0"/>
      <p:bldP spid="4" grpId="0"/>
      <p:bldP spid="5" grpId="0"/>
      <p:bldP spid="6" grpId="0"/>
      <p:bldP spid="10" grpId="0"/>
      <p:bldP spid="5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3">
            <a:hlinkClick r:id="" action="ppaction://noaction"/>
            <a:extLst>
              <a:ext uri="{FF2B5EF4-FFF2-40B4-BE49-F238E27FC236}">
                <a16:creationId xmlns:a16="http://schemas.microsoft.com/office/drawing/2014/main" id="{FBCAA857-17AD-E7FA-7799-0B03CB1C9A8F}"/>
              </a:ext>
            </a:extLst>
          </p:cNvPr>
          <p:cNvSpPr txBox="1">
            <a:spLocks noChangeArrowheads="1"/>
          </p:cNvSpPr>
          <p:nvPr/>
        </p:nvSpPr>
        <p:spPr bwMode="auto">
          <a:xfrm>
            <a:off x="617888" y="32923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绝热线和等温线</a:t>
            </a:r>
          </a:p>
        </p:txBody>
      </p:sp>
      <p:sp>
        <p:nvSpPr>
          <p:cNvPr id="10" name="Text Box 2">
            <a:extLst>
              <a:ext uri="{FF2B5EF4-FFF2-40B4-BE49-F238E27FC236}">
                <a16:creationId xmlns:a16="http://schemas.microsoft.com/office/drawing/2014/main" id="{459F870A-5F33-321C-13F7-693AAB4932E3}"/>
              </a:ext>
            </a:extLst>
          </p:cNvPr>
          <p:cNvSpPr txBox="1">
            <a:spLocks noChangeArrowheads="1"/>
          </p:cNvSpPr>
          <p:nvPr/>
        </p:nvSpPr>
        <p:spPr bwMode="auto">
          <a:xfrm>
            <a:off x="489746" y="5181694"/>
            <a:ext cx="6408738" cy="580159"/>
          </a:xfrm>
          <a:prstGeom prst="rect">
            <a:avLst/>
          </a:prstGeom>
          <a:noFill/>
          <a:ln w="9525">
            <a:noFill/>
            <a:miter lim="800000"/>
          </a:ln>
          <a:effectLst/>
        </p:spPr>
        <p:txBody>
          <a:bodyPr>
            <a:spAutoFit/>
          </a:bodyPr>
          <a:lstStyle/>
          <a:p>
            <a:pPr>
              <a:lnSpc>
                <a:spcPct val="120000"/>
              </a:lnSpc>
              <a:spcBef>
                <a:spcPct val="50000"/>
              </a:spcBef>
              <a:defRPr/>
            </a:pPr>
            <a:r>
              <a:rPr kumimoji="1" lang="en-US" altLang="zh-CN" sz="2800" dirty="0">
                <a:solidFill>
                  <a:srgbClr val="CC0000"/>
                </a:solidFill>
                <a:latin typeface="+mn-ea"/>
              </a:rPr>
              <a:t> </a:t>
            </a:r>
            <a:r>
              <a:rPr kumimoji="1" lang="zh-CN" altLang="en-US" sz="2800" dirty="0">
                <a:solidFill>
                  <a:srgbClr val="000000"/>
                </a:solidFill>
                <a:latin typeface="+mn-ea"/>
              </a:rPr>
              <a:t>绝热线的斜率大于等温线的斜率</a:t>
            </a:r>
            <a:endParaRPr kumimoji="1" lang="en-US" altLang="zh-CN" sz="2800" dirty="0">
              <a:solidFill>
                <a:srgbClr val="000000"/>
              </a:solidFill>
              <a:latin typeface="+mn-ea"/>
            </a:endParaRPr>
          </a:p>
        </p:txBody>
      </p:sp>
      <p:grpSp>
        <p:nvGrpSpPr>
          <p:cNvPr id="11" name="Group 9">
            <a:extLst>
              <a:ext uri="{FF2B5EF4-FFF2-40B4-BE49-F238E27FC236}">
                <a16:creationId xmlns:a16="http://schemas.microsoft.com/office/drawing/2014/main" id="{AB340559-0966-4FF9-6DC9-C4D4D28E8DA8}"/>
              </a:ext>
            </a:extLst>
          </p:cNvPr>
          <p:cNvGrpSpPr/>
          <p:nvPr/>
        </p:nvGrpSpPr>
        <p:grpSpPr>
          <a:xfrm>
            <a:off x="1370015" y="1350624"/>
            <a:ext cx="4191000" cy="3581400"/>
            <a:chOff x="360" y="960"/>
            <a:chExt cx="2640" cy="2256"/>
          </a:xfrm>
        </p:grpSpPr>
        <p:sp>
          <p:nvSpPr>
            <p:cNvPr id="12" name="Rectangle 10">
              <a:extLst>
                <a:ext uri="{FF2B5EF4-FFF2-40B4-BE49-F238E27FC236}">
                  <a16:creationId xmlns:a16="http://schemas.microsoft.com/office/drawing/2014/main" id="{E9F90192-12B0-7666-0F4E-F8201EDFE71E}"/>
                </a:ext>
              </a:extLst>
            </p:cNvPr>
            <p:cNvSpPr/>
            <p:nvPr/>
          </p:nvSpPr>
          <p:spPr>
            <a:xfrm>
              <a:off x="360" y="960"/>
              <a:ext cx="2544" cy="2256"/>
            </a:xfrm>
            <a:prstGeom prst="rect">
              <a:avLst/>
            </a:prstGeom>
            <a:solidFill>
              <a:schemeClr val="bg1"/>
            </a:solidFill>
            <a:ln w="9525" cap="flat" cmpd="sng">
              <a:noFill/>
              <a:prstDash val="solid"/>
              <a:miter/>
              <a:headEnd type="none" w="med" len="med"/>
              <a:tailEnd type="none" w="med" len="med"/>
            </a:ln>
          </p:spPr>
          <p:txBody>
            <a:bodyPr wrap="none" anchor="ctr" anchorCtr="0"/>
            <a:lstStyle/>
            <a:p>
              <a:endParaRPr lang="zh-CN" altLang="en-US" sz="2800" dirty="0">
                <a:latin typeface="Bookman Old Style" panose="02050604050505020204" pitchFamily="18" charset="0"/>
              </a:endParaRPr>
            </a:p>
          </p:txBody>
        </p:sp>
        <p:sp>
          <p:nvSpPr>
            <p:cNvPr id="13" name="Line 11">
              <a:extLst>
                <a:ext uri="{FF2B5EF4-FFF2-40B4-BE49-F238E27FC236}">
                  <a16:creationId xmlns:a16="http://schemas.microsoft.com/office/drawing/2014/main" id="{B50562A8-735C-D6F1-D0D5-E01875F3D569}"/>
                </a:ext>
              </a:extLst>
            </p:cNvPr>
            <p:cNvSpPr/>
            <p:nvPr/>
          </p:nvSpPr>
          <p:spPr>
            <a:xfrm flipV="1">
              <a:off x="697" y="2832"/>
              <a:ext cx="1895" cy="7"/>
            </a:xfrm>
            <a:prstGeom prst="line">
              <a:avLst/>
            </a:prstGeom>
            <a:ln w="19050" cap="flat" cmpd="sng">
              <a:solidFill>
                <a:schemeClr val="tx1"/>
              </a:solidFill>
              <a:prstDash val="solid"/>
              <a:headEnd type="none" w="med" len="med"/>
              <a:tailEnd type="triangle" w="sm" len="lg"/>
            </a:ln>
          </p:spPr>
        </p:sp>
        <p:sp>
          <p:nvSpPr>
            <p:cNvPr id="14" name="Line 12">
              <a:extLst>
                <a:ext uri="{FF2B5EF4-FFF2-40B4-BE49-F238E27FC236}">
                  <a16:creationId xmlns:a16="http://schemas.microsoft.com/office/drawing/2014/main" id="{788599CD-97DB-65F6-AC40-E78E51D33E87}"/>
                </a:ext>
              </a:extLst>
            </p:cNvPr>
            <p:cNvSpPr/>
            <p:nvPr/>
          </p:nvSpPr>
          <p:spPr>
            <a:xfrm flipV="1">
              <a:off x="720" y="1056"/>
              <a:ext cx="0" cy="1783"/>
            </a:xfrm>
            <a:prstGeom prst="line">
              <a:avLst/>
            </a:prstGeom>
            <a:ln w="19050" cap="flat" cmpd="sng">
              <a:solidFill>
                <a:schemeClr val="tx1"/>
              </a:solidFill>
              <a:prstDash val="solid"/>
              <a:headEnd type="none" w="med" len="med"/>
              <a:tailEnd type="triangle" w="sm" len="lg"/>
            </a:ln>
          </p:spPr>
        </p:sp>
        <p:sp>
          <p:nvSpPr>
            <p:cNvPr id="15" name="Line 13">
              <a:extLst>
                <a:ext uri="{FF2B5EF4-FFF2-40B4-BE49-F238E27FC236}">
                  <a16:creationId xmlns:a16="http://schemas.microsoft.com/office/drawing/2014/main" id="{D08039D1-D40B-0D5C-BE19-C2AFDB2BA83B}"/>
                </a:ext>
              </a:extLst>
            </p:cNvPr>
            <p:cNvSpPr/>
            <p:nvPr/>
          </p:nvSpPr>
          <p:spPr>
            <a:xfrm>
              <a:off x="1440" y="1776"/>
              <a:ext cx="0" cy="1392"/>
            </a:xfrm>
            <a:prstGeom prst="line">
              <a:avLst/>
            </a:prstGeom>
            <a:ln w="12700" cap="flat" cmpd="sng">
              <a:solidFill>
                <a:schemeClr val="tx1"/>
              </a:solidFill>
              <a:prstDash val="dash"/>
              <a:headEnd type="none" w="med" len="med"/>
              <a:tailEnd type="none" w="med" len="med"/>
            </a:ln>
          </p:spPr>
        </p:sp>
        <p:sp>
          <p:nvSpPr>
            <p:cNvPr id="16" name="Line 14">
              <a:extLst>
                <a:ext uri="{FF2B5EF4-FFF2-40B4-BE49-F238E27FC236}">
                  <a16:creationId xmlns:a16="http://schemas.microsoft.com/office/drawing/2014/main" id="{8D63E5BC-9037-991C-4C70-C015A0408C34}"/>
                </a:ext>
              </a:extLst>
            </p:cNvPr>
            <p:cNvSpPr/>
            <p:nvPr/>
          </p:nvSpPr>
          <p:spPr>
            <a:xfrm>
              <a:off x="1824" y="2064"/>
              <a:ext cx="0" cy="1104"/>
            </a:xfrm>
            <a:prstGeom prst="line">
              <a:avLst/>
            </a:prstGeom>
            <a:ln w="12700" cap="flat" cmpd="sng">
              <a:solidFill>
                <a:schemeClr val="tx1"/>
              </a:solidFill>
              <a:prstDash val="dash"/>
              <a:headEnd type="none" w="med" len="med"/>
              <a:tailEnd type="none" w="med" len="med"/>
            </a:ln>
          </p:spPr>
        </p:sp>
        <mc:AlternateContent xmlns:mc="http://schemas.openxmlformats.org/markup-compatibility/2006" xmlns:a14="http://schemas.microsoft.com/office/drawing/2010/main">
          <mc:Choice Requires="a14">
            <p:sp>
              <p:nvSpPr>
                <p:cNvPr id="17" name="Object 15">
                  <a:extLst>
                    <a:ext uri="{FF2B5EF4-FFF2-40B4-BE49-F238E27FC236}">
                      <a16:creationId xmlns:a16="http://schemas.microsoft.com/office/drawing/2014/main" id="{31A9E6FB-BDD9-4259-1BEC-630A8BF0F70E}"/>
                    </a:ext>
                  </a:extLst>
                </p:cNvPr>
                <p:cNvSpPr txBox="1"/>
                <p:nvPr/>
              </p:nvSpPr>
              <p:spPr>
                <a:xfrm>
                  <a:off x="384" y="1584"/>
                  <a:ext cx="336" cy="319"/>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𝑝</m:t>
                            </m:r>
                          </m:e>
                          <m:sub>
                            <m:r>
                              <a:rPr lang="en-US" sz="2800" b="0" i="1" smtClean="0">
                                <a:solidFill>
                                  <a:srgbClr val="000000"/>
                                </a:solidFill>
                                <a:latin typeface="Cambria Math" panose="02040503050406030204" pitchFamily="18" charset="0"/>
                              </a:rPr>
                              <m:t>𝐴</m:t>
                            </m:r>
                          </m:sub>
                        </m:sSub>
                      </m:oMath>
                    </m:oMathPara>
                  </a14:m>
                  <a:endParaRPr lang="en-US" sz="2800"/>
                </a:p>
              </p:txBody>
            </p:sp>
          </mc:Choice>
          <mc:Fallback xmlns="">
            <p:sp>
              <p:nvSpPr>
                <p:cNvPr id="17" name="Object 15">
                  <a:extLst>
                    <a:ext uri="{FF2B5EF4-FFF2-40B4-BE49-F238E27FC236}">
                      <a16:creationId xmlns:a16="http://schemas.microsoft.com/office/drawing/2014/main" id="{31A9E6FB-BDD9-4259-1BEC-630A8BF0F70E}"/>
                    </a:ext>
                  </a:extLst>
                </p:cNvPr>
                <p:cNvSpPr txBox="1">
                  <a:spLocks noRot="1" noChangeAspect="1" noMove="1" noResize="1" noEditPoints="1" noAdjustHandles="1" noChangeArrowheads="1" noChangeShapeType="1" noTextEdit="1"/>
                </p:cNvSpPr>
                <p:nvPr/>
              </p:nvSpPr>
              <p:spPr>
                <a:xfrm>
                  <a:off x="384" y="1584"/>
                  <a:ext cx="336" cy="319"/>
                </a:xfrm>
                <a:prstGeom prst="rect">
                  <a:avLst/>
                </a:prstGeom>
                <a:blipFill>
                  <a:blip r:embed="rId8"/>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Object 16">
                  <a:extLst>
                    <a:ext uri="{FF2B5EF4-FFF2-40B4-BE49-F238E27FC236}">
                      <a16:creationId xmlns:a16="http://schemas.microsoft.com/office/drawing/2014/main" id="{646BE849-B9C6-14B9-F630-564AFC0EF780}"/>
                    </a:ext>
                  </a:extLst>
                </p:cNvPr>
                <p:cNvSpPr txBox="1"/>
                <p:nvPr/>
              </p:nvSpPr>
              <p:spPr>
                <a:xfrm>
                  <a:off x="1824" y="2784"/>
                  <a:ext cx="329" cy="384"/>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𝑉</m:t>
                            </m:r>
                          </m:e>
                          <m:sub>
                            <m:r>
                              <a:rPr lang="en-US" sz="2800" b="0" i="1" smtClean="0">
                                <a:solidFill>
                                  <a:srgbClr val="000000"/>
                                </a:solidFill>
                                <a:latin typeface="Cambria Math" panose="02040503050406030204" pitchFamily="18" charset="0"/>
                              </a:rPr>
                              <m:t>𝐵</m:t>
                            </m:r>
                          </m:sub>
                        </m:sSub>
                      </m:oMath>
                    </m:oMathPara>
                  </a14:m>
                  <a:endParaRPr lang="en-US" sz="2800" dirty="0"/>
                </a:p>
              </p:txBody>
            </p:sp>
          </mc:Choice>
          <mc:Fallback xmlns="">
            <p:sp>
              <p:nvSpPr>
                <p:cNvPr id="18" name="Object 16">
                  <a:extLst>
                    <a:ext uri="{FF2B5EF4-FFF2-40B4-BE49-F238E27FC236}">
                      <a16:creationId xmlns:a16="http://schemas.microsoft.com/office/drawing/2014/main" id="{646BE849-B9C6-14B9-F630-564AFC0EF780}"/>
                    </a:ext>
                  </a:extLst>
                </p:cNvPr>
                <p:cNvSpPr txBox="1">
                  <a:spLocks noRot="1" noChangeAspect="1" noMove="1" noResize="1" noEditPoints="1" noAdjustHandles="1" noChangeArrowheads="1" noChangeShapeType="1" noTextEdit="1"/>
                </p:cNvSpPr>
                <p:nvPr/>
              </p:nvSpPr>
              <p:spPr>
                <a:xfrm>
                  <a:off x="1824" y="2784"/>
                  <a:ext cx="329" cy="384"/>
                </a:xfrm>
                <a:prstGeom prst="rect">
                  <a:avLst/>
                </a:prstGeom>
                <a:blipFill>
                  <a:blip r:embed="rId9"/>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Object 17">
                  <a:extLst>
                    <a:ext uri="{FF2B5EF4-FFF2-40B4-BE49-F238E27FC236}">
                      <a16:creationId xmlns:a16="http://schemas.microsoft.com/office/drawing/2014/main" id="{BBB1940B-B87D-5DBA-CDF9-686AE1B5A7E0}"/>
                    </a:ext>
                  </a:extLst>
                </p:cNvPr>
                <p:cNvSpPr txBox="1"/>
                <p:nvPr/>
              </p:nvSpPr>
              <p:spPr>
                <a:xfrm>
                  <a:off x="1152" y="2784"/>
                  <a:ext cx="327" cy="384"/>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𝑉</m:t>
                            </m:r>
                          </m:e>
                          <m:sub>
                            <m:r>
                              <a:rPr lang="en-US" sz="2800" b="0" i="1" smtClean="0">
                                <a:solidFill>
                                  <a:srgbClr val="000000"/>
                                </a:solidFill>
                                <a:latin typeface="Cambria Math" panose="02040503050406030204" pitchFamily="18" charset="0"/>
                              </a:rPr>
                              <m:t>𝐴</m:t>
                            </m:r>
                          </m:sub>
                        </m:sSub>
                      </m:oMath>
                    </m:oMathPara>
                  </a14:m>
                  <a:endParaRPr lang="en-US" sz="2800"/>
                </a:p>
              </p:txBody>
            </p:sp>
          </mc:Choice>
          <mc:Fallback xmlns="">
            <p:sp>
              <p:nvSpPr>
                <p:cNvPr id="19" name="Object 17">
                  <a:extLst>
                    <a:ext uri="{FF2B5EF4-FFF2-40B4-BE49-F238E27FC236}">
                      <a16:creationId xmlns:a16="http://schemas.microsoft.com/office/drawing/2014/main" id="{BBB1940B-B87D-5DBA-CDF9-686AE1B5A7E0}"/>
                    </a:ext>
                  </a:extLst>
                </p:cNvPr>
                <p:cNvSpPr txBox="1">
                  <a:spLocks noRot="1" noChangeAspect="1" noMove="1" noResize="1" noEditPoints="1" noAdjustHandles="1" noChangeArrowheads="1" noChangeShapeType="1" noTextEdit="1"/>
                </p:cNvSpPr>
                <p:nvPr/>
              </p:nvSpPr>
              <p:spPr>
                <a:xfrm>
                  <a:off x="1152" y="2784"/>
                  <a:ext cx="327" cy="384"/>
                </a:xfrm>
                <a:prstGeom prst="rect">
                  <a:avLst/>
                </a:prstGeom>
                <a:blipFill>
                  <a:blip r:embed="rId10"/>
                  <a:stretch>
                    <a:fillRect/>
                  </a:stretch>
                </a:blipFill>
                <a:ln w="38100">
                  <a:noFill/>
                  <a:miter/>
                </a:ln>
              </p:spPr>
              <p:txBody>
                <a:bodyPr/>
                <a:lstStyle/>
                <a:p>
                  <a:r>
                    <a:rPr lang="zh-CN" altLang="en-US">
                      <a:noFill/>
                    </a:rPr>
                    <a:t> </a:t>
                  </a:r>
                </a:p>
              </p:txBody>
            </p:sp>
          </mc:Fallback>
        </mc:AlternateContent>
        <p:sp>
          <p:nvSpPr>
            <p:cNvPr id="20" name="Line 18">
              <a:extLst>
                <a:ext uri="{FF2B5EF4-FFF2-40B4-BE49-F238E27FC236}">
                  <a16:creationId xmlns:a16="http://schemas.microsoft.com/office/drawing/2014/main" id="{4C9B11E3-A381-C0F1-7855-B377C116BBDC}"/>
                </a:ext>
              </a:extLst>
            </p:cNvPr>
            <p:cNvSpPr/>
            <p:nvPr/>
          </p:nvSpPr>
          <p:spPr>
            <a:xfrm flipH="1">
              <a:off x="720" y="1776"/>
              <a:ext cx="720" cy="0"/>
            </a:xfrm>
            <a:prstGeom prst="line">
              <a:avLst/>
            </a:prstGeom>
            <a:ln w="12700" cap="flat" cmpd="sng">
              <a:solidFill>
                <a:schemeClr val="tx1"/>
              </a:solidFill>
              <a:prstDash val="dash"/>
              <a:headEnd type="none" w="med" len="med"/>
              <a:tailEnd type="none" w="med" len="med"/>
            </a:ln>
          </p:spPr>
        </p:sp>
        <p:sp>
          <p:nvSpPr>
            <p:cNvPr id="21" name="Text Box 19">
              <a:extLst>
                <a:ext uri="{FF2B5EF4-FFF2-40B4-BE49-F238E27FC236}">
                  <a16:creationId xmlns:a16="http://schemas.microsoft.com/office/drawing/2014/main" id="{997EAB4B-3F02-D042-088F-195A1E36F736}"/>
                </a:ext>
              </a:extLst>
            </p:cNvPr>
            <p:cNvSpPr txBox="1"/>
            <p:nvPr/>
          </p:nvSpPr>
          <p:spPr>
            <a:xfrm>
              <a:off x="1440" y="1536"/>
              <a:ext cx="336" cy="330"/>
            </a:xfrm>
            <a:prstGeom prst="rect">
              <a:avLst/>
            </a:prstGeom>
            <a:noFill/>
            <a:ln w="9525">
              <a:noFill/>
            </a:ln>
          </p:spPr>
          <p:txBody>
            <a:bodyPr>
              <a:spAutoFit/>
            </a:bodyPr>
            <a:lstStyle/>
            <a:p>
              <a:pPr>
                <a:spcBef>
                  <a:spcPct val="50000"/>
                </a:spcBef>
              </a:pPr>
              <a:r>
                <a:rPr lang="en-US" altLang="zh-CN" sz="2800" i="1" dirty="0">
                  <a:latin typeface="Times New Roman" panose="02020603050405020304" pitchFamily="18" charset="0"/>
                  <a:ea typeface="楷体_GB2312" panose="02010609030101010101" pitchFamily="49" charset="-122"/>
                </a:rPr>
                <a:t>A</a:t>
              </a:r>
            </a:p>
          </p:txBody>
        </p:sp>
        <mc:AlternateContent xmlns:mc="http://schemas.openxmlformats.org/markup-compatibility/2006" xmlns:a14="http://schemas.microsoft.com/office/drawing/2010/main">
          <mc:Choice Requires="a14">
            <p:sp>
              <p:nvSpPr>
                <p:cNvPr id="22" name="Object 20">
                  <a:extLst>
                    <a:ext uri="{FF2B5EF4-FFF2-40B4-BE49-F238E27FC236}">
                      <a16:creationId xmlns:a16="http://schemas.microsoft.com/office/drawing/2014/main" id="{ED0860AD-A387-0A5F-ABCE-A0E9273EE20E}"/>
                    </a:ext>
                  </a:extLst>
                </p:cNvPr>
                <p:cNvSpPr txBox="1"/>
                <p:nvPr/>
              </p:nvSpPr>
              <p:spPr>
                <a:xfrm>
                  <a:off x="432" y="1056"/>
                  <a:ext cx="213" cy="254"/>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𝑝</m:t>
                        </m:r>
                      </m:oMath>
                    </m:oMathPara>
                  </a14:m>
                  <a:endParaRPr lang="en-US" sz="2800"/>
                </a:p>
              </p:txBody>
            </p:sp>
          </mc:Choice>
          <mc:Fallback xmlns="">
            <p:sp>
              <p:nvSpPr>
                <p:cNvPr id="22" name="Object 20">
                  <a:extLst>
                    <a:ext uri="{FF2B5EF4-FFF2-40B4-BE49-F238E27FC236}">
                      <a16:creationId xmlns:a16="http://schemas.microsoft.com/office/drawing/2014/main" id="{ED0860AD-A387-0A5F-ABCE-A0E9273EE20E}"/>
                    </a:ext>
                  </a:extLst>
                </p:cNvPr>
                <p:cNvSpPr txBox="1">
                  <a:spLocks noRot="1" noChangeAspect="1" noMove="1" noResize="1" noEditPoints="1" noAdjustHandles="1" noChangeArrowheads="1" noChangeShapeType="1" noTextEdit="1"/>
                </p:cNvSpPr>
                <p:nvPr/>
              </p:nvSpPr>
              <p:spPr>
                <a:xfrm>
                  <a:off x="432" y="1056"/>
                  <a:ext cx="213" cy="254"/>
                </a:xfrm>
                <a:prstGeom prst="rect">
                  <a:avLst/>
                </a:prstGeom>
                <a:blipFill>
                  <a:blip r:embed="rId11"/>
                  <a:stretch>
                    <a:fillRect b="-15152"/>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Object 21">
                  <a:extLst>
                    <a:ext uri="{FF2B5EF4-FFF2-40B4-BE49-F238E27FC236}">
                      <a16:creationId xmlns:a16="http://schemas.microsoft.com/office/drawing/2014/main" id="{D6B78BB1-4472-1B4B-5FE2-8143BA51A53A}"/>
                    </a:ext>
                  </a:extLst>
                </p:cNvPr>
                <p:cNvSpPr txBox="1"/>
                <p:nvPr/>
              </p:nvSpPr>
              <p:spPr>
                <a:xfrm>
                  <a:off x="2352" y="2880"/>
                  <a:ext cx="197" cy="220"/>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𝑉</m:t>
                        </m:r>
                      </m:oMath>
                    </m:oMathPara>
                  </a14:m>
                  <a:endParaRPr lang="en-US" sz="2800"/>
                </a:p>
              </p:txBody>
            </p:sp>
          </mc:Choice>
          <mc:Fallback xmlns="">
            <p:sp>
              <p:nvSpPr>
                <p:cNvPr id="23" name="Object 21">
                  <a:extLst>
                    <a:ext uri="{FF2B5EF4-FFF2-40B4-BE49-F238E27FC236}">
                      <a16:creationId xmlns:a16="http://schemas.microsoft.com/office/drawing/2014/main" id="{D6B78BB1-4472-1B4B-5FE2-8143BA51A53A}"/>
                    </a:ext>
                  </a:extLst>
                </p:cNvPr>
                <p:cNvSpPr txBox="1">
                  <a:spLocks noRot="1" noChangeAspect="1" noMove="1" noResize="1" noEditPoints="1" noAdjustHandles="1" noChangeArrowheads="1" noChangeShapeType="1" noTextEdit="1"/>
                </p:cNvSpPr>
                <p:nvPr/>
              </p:nvSpPr>
              <p:spPr>
                <a:xfrm>
                  <a:off x="2352" y="2880"/>
                  <a:ext cx="197" cy="220"/>
                </a:xfrm>
                <a:prstGeom prst="rect">
                  <a:avLst/>
                </a:prstGeom>
                <a:blipFill>
                  <a:blip r:embed="rId12"/>
                  <a:stretch>
                    <a:fillRect b="-12069"/>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Object 22">
                  <a:extLst>
                    <a:ext uri="{FF2B5EF4-FFF2-40B4-BE49-F238E27FC236}">
                      <a16:creationId xmlns:a16="http://schemas.microsoft.com/office/drawing/2014/main" id="{BEC357FA-88B0-E859-7C5F-C349B3FA2E86}"/>
                    </a:ext>
                  </a:extLst>
                </p:cNvPr>
                <p:cNvSpPr txBox="1"/>
                <p:nvPr/>
              </p:nvSpPr>
              <p:spPr>
                <a:xfrm>
                  <a:off x="601" y="2887"/>
                  <a:ext cx="177" cy="204"/>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𝑜</m:t>
                        </m:r>
                      </m:oMath>
                    </m:oMathPara>
                  </a14:m>
                  <a:endParaRPr lang="en-US" sz="2800"/>
                </a:p>
              </p:txBody>
            </p:sp>
          </mc:Choice>
          <mc:Fallback xmlns="">
            <p:sp>
              <p:nvSpPr>
                <p:cNvPr id="24" name="Object 22">
                  <a:extLst>
                    <a:ext uri="{FF2B5EF4-FFF2-40B4-BE49-F238E27FC236}">
                      <a16:creationId xmlns:a16="http://schemas.microsoft.com/office/drawing/2014/main" id="{BEC357FA-88B0-E859-7C5F-C349B3FA2E86}"/>
                    </a:ext>
                  </a:extLst>
                </p:cNvPr>
                <p:cNvSpPr txBox="1">
                  <a:spLocks noRot="1" noChangeAspect="1" noMove="1" noResize="1" noEditPoints="1" noAdjustHandles="1" noChangeArrowheads="1" noChangeShapeType="1" noTextEdit="1"/>
                </p:cNvSpPr>
                <p:nvPr/>
              </p:nvSpPr>
              <p:spPr>
                <a:xfrm>
                  <a:off x="601" y="2887"/>
                  <a:ext cx="177" cy="204"/>
                </a:xfrm>
                <a:prstGeom prst="rect">
                  <a:avLst/>
                </a:prstGeom>
                <a:blipFill>
                  <a:blip r:embed="rId13"/>
                  <a:stretch>
                    <a:fillRect b="-22642"/>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Object 23">
                  <a:extLst>
                    <a:ext uri="{FF2B5EF4-FFF2-40B4-BE49-F238E27FC236}">
                      <a16:creationId xmlns:a16="http://schemas.microsoft.com/office/drawing/2014/main" id="{4CD877F2-B245-CA50-458E-F759FB3E8B09}"/>
                    </a:ext>
                  </a:extLst>
                </p:cNvPr>
                <p:cNvSpPr txBox="1"/>
                <p:nvPr/>
              </p:nvSpPr>
              <p:spPr>
                <a:xfrm>
                  <a:off x="1878" y="966"/>
                  <a:ext cx="597" cy="221"/>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𝑇</m:t>
                        </m:r>
                        <m:r>
                          <a:rPr lang="en-US" sz="2800" b="0" i="1" smtClean="0">
                            <a:solidFill>
                              <a:srgbClr val="000000"/>
                            </a:solidFill>
                            <a:latin typeface="Cambria Math" panose="02040503050406030204" pitchFamily="18" charset="0"/>
                          </a:rPr>
                          <m:t>=</m:t>
                        </m:r>
                      </m:oMath>
                    </m:oMathPara>
                  </a14:m>
                  <a:endParaRPr lang="en-US" sz="2800" dirty="0"/>
                </a:p>
              </p:txBody>
            </p:sp>
          </mc:Choice>
          <mc:Fallback xmlns="">
            <p:sp>
              <p:nvSpPr>
                <p:cNvPr id="25" name="Object 23">
                  <a:extLst>
                    <a:ext uri="{FF2B5EF4-FFF2-40B4-BE49-F238E27FC236}">
                      <a16:creationId xmlns:a16="http://schemas.microsoft.com/office/drawing/2014/main" id="{4CD877F2-B245-CA50-458E-F759FB3E8B09}"/>
                    </a:ext>
                  </a:extLst>
                </p:cNvPr>
                <p:cNvSpPr txBox="1">
                  <a:spLocks noRot="1" noChangeAspect="1" noMove="1" noResize="1" noEditPoints="1" noAdjustHandles="1" noChangeArrowheads="1" noChangeShapeType="1" noTextEdit="1"/>
                </p:cNvSpPr>
                <p:nvPr/>
              </p:nvSpPr>
              <p:spPr>
                <a:xfrm>
                  <a:off x="1878" y="966"/>
                  <a:ext cx="597" cy="221"/>
                </a:xfrm>
                <a:prstGeom prst="rect">
                  <a:avLst/>
                </a:prstGeom>
                <a:blipFill>
                  <a:blip r:embed="rId14"/>
                  <a:stretch>
                    <a:fillRect b="-12281"/>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Object 24">
                  <a:extLst>
                    <a:ext uri="{FF2B5EF4-FFF2-40B4-BE49-F238E27FC236}">
                      <a16:creationId xmlns:a16="http://schemas.microsoft.com/office/drawing/2014/main" id="{D7536CB3-9D43-39AE-5144-EE6280691C46}"/>
                    </a:ext>
                  </a:extLst>
                </p:cNvPr>
                <p:cNvSpPr txBox="1"/>
                <p:nvPr/>
              </p:nvSpPr>
              <p:spPr>
                <a:xfrm>
                  <a:off x="1848" y="1235"/>
                  <a:ext cx="1152" cy="297"/>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𝑄</m:t>
                        </m:r>
                        <m:r>
                          <a:rPr lang="en-US" sz="2800" b="0" i="1" smtClean="0">
                            <a:solidFill>
                              <a:srgbClr val="000000"/>
                            </a:solidFill>
                            <a:latin typeface="Cambria Math" panose="02040503050406030204" pitchFamily="18" charset="0"/>
                          </a:rPr>
                          <m:t>=0</m:t>
                        </m:r>
                      </m:oMath>
                    </m:oMathPara>
                  </a14:m>
                  <a:endParaRPr lang="en-US" sz="2800" dirty="0"/>
                </a:p>
              </p:txBody>
            </p:sp>
          </mc:Choice>
          <mc:Fallback xmlns="">
            <p:sp>
              <p:nvSpPr>
                <p:cNvPr id="26" name="Object 24">
                  <a:extLst>
                    <a:ext uri="{FF2B5EF4-FFF2-40B4-BE49-F238E27FC236}">
                      <a16:creationId xmlns:a16="http://schemas.microsoft.com/office/drawing/2014/main" id="{D7536CB3-9D43-39AE-5144-EE6280691C46}"/>
                    </a:ext>
                  </a:extLst>
                </p:cNvPr>
                <p:cNvSpPr txBox="1">
                  <a:spLocks noRot="1" noChangeAspect="1" noMove="1" noResize="1" noEditPoints="1" noAdjustHandles="1" noChangeArrowheads="1" noChangeShapeType="1" noTextEdit="1"/>
                </p:cNvSpPr>
                <p:nvPr/>
              </p:nvSpPr>
              <p:spPr>
                <a:xfrm>
                  <a:off x="1848" y="1235"/>
                  <a:ext cx="1152" cy="297"/>
                </a:xfrm>
                <a:prstGeom prst="rect">
                  <a:avLst/>
                </a:prstGeom>
                <a:blipFill>
                  <a:blip r:embed="rId15"/>
                  <a:stretch>
                    <a:fillRect/>
                  </a:stretch>
                </a:blipFill>
                <a:ln w="38100">
                  <a:noFill/>
                  <a:miter/>
                </a:ln>
              </p:spPr>
              <p:txBody>
                <a:bodyPr/>
                <a:lstStyle/>
                <a:p>
                  <a:r>
                    <a:rPr lang="zh-CN" altLang="en-US">
                      <a:noFill/>
                    </a:rPr>
                    <a:t> </a:t>
                  </a:r>
                </a:p>
              </p:txBody>
            </p:sp>
          </mc:Fallback>
        </mc:AlternateContent>
        <p:sp>
          <p:nvSpPr>
            <p:cNvPr id="27" name="Freeform 25">
              <a:extLst>
                <a:ext uri="{FF2B5EF4-FFF2-40B4-BE49-F238E27FC236}">
                  <a16:creationId xmlns:a16="http://schemas.microsoft.com/office/drawing/2014/main" id="{F2451D71-02FB-81FD-5DA6-61A0B44087DE}"/>
                </a:ext>
              </a:extLst>
            </p:cNvPr>
            <p:cNvSpPr/>
            <p:nvPr/>
          </p:nvSpPr>
          <p:spPr>
            <a:xfrm>
              <a:off x="1008" y="1152"/>
              <a:ext cx="1440" cy="1179"/>
            </a:xfrm>
            <a:custGeom>
              <a:avLst/>
              <a:gdLst>
                <a:gd name="txL" fmla="*/ 0 w 1495"/>
                <a:gd name="txT" fmla="*/ 0 h 1179"/>
                <a:gd name="txR" fmla="*/ 1495 w 1495"/>
                <a:gd name="txB" fmla="*/ 1179 h 1179"/>
              </a:gdLst>
              <a:ahLst/>
              <a:cxnLst>
                <a:cxn ang="0">
                  <a:pos x="0" y="0"/>
                </a:cxn>
                <a:cxn ang="0">
                  <a:pos x="192" y="329"/>
                </a:cxn>
                <a:cxn ang="0">
                  <a:pos x="423" y="617"/>
                </a:cxn>
                <a:cxn ang="0">
                  <a:pos x="767" y="891"/>
                </a:cxn>
                <a:cxn ang="0">
                  <a:pos x="1209" y="1097"/>
                </a:cxn>
                <a:cxn ang="0">
                  <a:pos x="1440" y="1179"/>
                </a:cxn>
              </a:cxnLst>
              <a:rect l="txL" t="txT" r="txR" b="txB"/>
              <a:pathLst>
                <a:path w="1495" h="1179">
                  <a:moveTo>
                    <a:pt x="0" y="0"/>
                  </a:moveTo>
                  <a:cubicBezTo>
                    <a:pt x="33" y="55"/>
                    <a:pt x="126" y="226"/>
                    <a:pt x="199" y="329"/>
                  </a:cubicBezTo>
                  <a:cubicBezTo>
                    <a:pt x="272" y="432"/>
                    <a:pt x="339" y="523"/>
                    <a:pt x="439" y="617"/>
                  </a:cubicBezTo>
                  <a:cubicBezTo>
                    <a:pt x="539" y="711"/>
                    <a:pt x="660" y="811"/>
                    <a:pt x="796" y="891"/>
                  </a:cubicBezTo>
                  <a:cubicBezTo>
                    <a:pt x="932" y="971"/>
                    <a:pt x="1139" y="1049"/>
                    <a:pt x="1255" y="1097"/>
                  </a:cubicBezTo>
                  <a:cubicBezTo>
                    <a:pt x="1371" y="1145"/>
                    <a:pt x="1445" y="1162"/>
                    <a:pt x="1495" y="1179"/>
                  </a:cubicBezTo>
                </a:path>
              </a:pathLst>
            </a:custGeom>
            <a:noFill/>
            <a:ln w="28575" cap="flat" cmpd="sng">
              <a:solidFill>
                <a:srgbClr val="0000FF">
                  <a:alpha val="100000"/>
                </a:srgbClr>
              </a:solidFill>
              <a:prstDash val="solid"/>
              <a:round/>
              <a:headEnd type="none" w="med" len="med"/>
              <a:tailEnd type="none" w="med" len="med"/>
            </a:ln>
          </p:spPr>
          <p:txBody>
            <a:bodyPr/>
            <a:lstStyle/>
            <a:p>
              <a:endParaRPr lang="zh-CN" altLang="en-US" sz="2800"/>
            </a:p>
          </p:txBody>
        </p:sp>
        <p:sp>
          <p:nvSpPr>
            <p:cNvPr id="28" name="Freeform 26">
              <a:extLst>
                <a:ext uri="{FF2B5EF4-FFF2-40B4-BE49-F238E27FC236}">
                  <a16:creationId xmlns:a16="http://schemas.microsoft.com/office/drawing/2014/main" id="{4CA226B3-E23E-21CB-C484-05D146DCE3B8}"/>
                </a:ext>
              </a:extLst>
            </p:cNvPr>
            <p:cNvSpPr/>
            <p:nvPr/>
          </p:nvSpPr>
          <p:spPr>
            <a:xfrm>
              <a:off x="1200" y="1152"/>
              <a:ext cx="1248" cy="1406"/>
            </a:xfrm>
            <a:custGeom>
              <a:avLst/>
              <a:gdLst>
                <a:gd name="txL" fmla="*/ 0 w 1248"/>
                <a:gd name="txT" fmla="*/ 0 h 1406"/>
                <a:gd name="txR" fmla="*/ 1248 w 1248"/>
                <a:gd name="txB" fmla="*/ 1406 h 1406"/>
              </a:gdLst>
              <a:ahLst/>
              <a:cxnLst>
                <a:cxn ang="0">
                  <a:pos x="0" y="0"/>
                </a:cxn>
                <a:cxn ang="0">
                  <a:pos x="102" y="329"/>
                </a:cxn>
                <a:cxn ang="0">
                  <a:pos x="233" y="597"/>
                </a:cxn>
                <a:cxn ang="0">
                  <a:pos x="425" y="871"/>
                </a:cxn>
                <a:cxn ang="0">
                  <a:pos x="603" y="1069"/>
                </a:cxn>
                <a:cxn ang="0">
                  <a:pos x="843" y="1234"/>
                </a:cxn>
                <a:cxn ang="0">
                  <a:pos x="1090" y="1351"/>
                </a:cxn>
                <a:cxn ang="0">
                  <a:pos x="1248" y="1406"/>
                </a:cxn>
              </a:cxnLst>
              <a:rect l="txL" t="txT" r="txR" b="txB"/>
              <a:pathLst>
                <a:path w="1248" h="1406">
                  <a:moveTo>
                    <a:pt x="0" y="0"/>
                  </a:moveTo>
                  <a:cubicBezTo>
                    <a:pt x="17" y="55"/>
                    <a:pt x="63" y="229"/>
                    <a:pt x="102" y="329"/>
                  </a:cubicBezTo>
                  <a:cubicBezTo>
                    <a:pt x="141" y="429"/>
                    <a:pt x="179" y="507"/>
                    <a:pt x="233" y="597"/>
                  </a:cubicBezTo>
                  <a:cubicBezTo>
                    <a:pt x="287" y="687"/>
                    <a:pt x="363" y="792"/>
                    <a:pt x="425" y="871"/>
                  </a:cubicBezTo>
                  <a:cubicBezTo>
                    <a:pt x="487" y="950"/>
                    <a:pt x="533" y="1009"/>
                    <a:pt x="603" y="1069"/>
                  </a:cubicBezTo>
                  <a:cubicBezTo>
                    <a:pt x="673" y="1129"/>
                    <a:pt x="762" y="1187"/>
                    <a:pt x="843" y="1234"/>
                  </a:cubicBezTo>
                  <a:cubicBezTo>
                    <a:pt x="924" y="1281"/>
                    <a:pt x="1023" y="1322"/>
                    <a:pt x="1090" y="1351"/>
                  </a:cubicBezTo>
                  <a:cubicBezTo>
                    <a:pt x="1157" y="1380"/>
                    <a:pt x="1215" y="1395"/>
                    <a:pt x="1248" y="1406"/>
                  </a:cubicBezTo>
                </a:path>
              </a:pathLst>
            </a:custGeom>
            <a:noFill/>
            <a:ln w="28575" cap="flat" cmpd="sng">
              <a:solidFill>
                <a:srgbClr val="CC0099">
                  <a:alpha val="100000"/>
                </a:srgbClr>
              </a:solidFill>
              <a:prstDash val="solid"/>
              <a:round/>
              <a:headEnd type="none" w="med" len="med"/>
              <a:tailEnd type="none" w="med" len="med"/>
            </a:ln>
          </p:spPr>
          <p:txBody>
            <a:bodyPr/>
            <a:lstStyle/>
            <a:p>
              <a:endParaRPr lang="zh-CN" altLang="en-US" sz="2800" dirty="0"/>
            </a:p>
          </p:txBody>
        </p:sp>
        <p:sp>
          <p:nvSpPr>
            <p:cNvPr id="29" name="Line 27">
              <a:extLst>
                <a:ext uri="{FF2B5EF4-FFF2-40B4-BE49-F238E27FC236}">
                  <a16:creationId xmlns:a16="http://schemas.microsoft.com/office/drawing/2014/main" id="{EB22C6D9-2550-CCFF-8B05-19ECF879C8F6}"/>
                </a:ext>
              </a:extLst>
            </p:cNvPr>
            <p:cNvSpPr/>
            <p:nvPr/>
          </p:nvSpPr>
          <p:spPr>
            <a:xfrm flipH="1">
              <a:off x="1104" y="2064"/>
              <a:ext cx="720" cy="0"/>
            </a:xfrm>
            <a:prstGeom prst="line">
              <a:avLst/>
            </a:prstGeom>
            <a:ln w="12700" cap="flat" cmpd="sng">
              <a:solidFill>
                <a:schemeClr val="tx1"/>
              </a:solidFill>
              <a:prstDash val="dash"/>
              <a:headEnd type="none" w="med" len="med"/>
              <a:tailEnd type="none" w="med" len="med"/>
            </a:ln>
          </p:spPr>
        </p:sp>
        <p:sp>
          <p:nvSpPr>
            <p:cNvPr id="30" name="Line 28">
              <a:extLst>
                <a:ext uri="{FF2B5EF4-FFF2-40B4-BE49-F238E27FC236}">
                  <a16:creationId xmlns:a16="http://schemas.microsoft.com/office/drawing/2014/main" id="{2FF8A218-06D1-5848-8B1F-33FC8BF872E7}"/>
                </a:ext>
              </a:extLst>
            </p:cNvPr>
            <p:cNvSpPr/>
            <p:nvPr/>
          </p:nvSpPr>
          <p:spPr>
            <a:xfrm flipH="1">
              <a:off x="768" y="2256"/>
              <a:ext cx="1056" cy="0"/>
            </a:xfrm>
            <a:prstGeom prst="line">
              <a:avLst/>
            </a:prstGeom>
            <a:ln w="12700" cap="flat" cmpd="sng">
              <a:solidFill>
                <a:schemeClr val="tx1"/>
              </a:solidFill>
              <a:prstDash val="dash"/>
              <a:headEnd type="none" w="med" len="med"/>
              <a:tailEnd type="none" w="med" len="med"/>
            </a:ln>
          </p:spPr>
        </p:sp>
        <p:sp>
          <p:nvSpPr>
            <p:cNvPr id="31" name="Line 29">
              <a:extLst>
                <a:ext uri="{FF2B5EF4-FFF2-40B4-BE49-F238E27FC236}">
                  <a16:creationId xmlns:a16="http://schemas.microsoft.com/office/drawing/2014/main" id="{CC5629F1-A04B-C3A5-72D5-253B55FCF4AE}"/>
                </a:ext>
              </a:extLst>
            </p:cNvPr>
            <p:cNvSpPr/>
            <p:nvPr/>
          </p:nvSpPr>
          <p:spPr>
            <a:xfrm>
              <a:off x="1440" y="2928"/>
              <a:ext cx="384" cy="0"/>
            </a:xfrm>
            <a:prstGeom prst="line">
              <a:avLst/>
            </a:prstGeom>
            <a:ln w="9525" cap="flat" cmpd="sng">
              <a:solidFill>
                <a:srgbClr val="FF0066"/>
              </a:solidFill>
              <a:prstDash val="solid"/>
              <a:headEnd type="triangle" w="sm" len="lg"/>
              <a:tailEnd type="triangle" w="sm" len="lg"/>
            </a:ln>
          </p:spPr>
        </p:sp>
        <mc:AlternateContent xmlns:mc="http://schemas.openxmlformats.org/markup-compatibility/2006" xmlns:a14="http://schemas.microsoft.com/office/drawing/2010/main">
          <mc:Choice Requires="a14">
            <p:sp>
              <p:nvSpPr>
                <p:cNvPr id="32" name="Object 30">
                  <a:extLst>
                    <a:ext uri="{FF2B5EF4-FFF2-40B4-BE49-F238E27FC236}">
                      <a16:creationId xmlns:a16="http://schemas.microsoft.com/office/drawing/2014/main" id="{D7C741AD-8F0A-AED6-701F-BC9808CFA6E5}"/>
                    </a:ext>
                  </a:extLst>
                </p:cNvPr>
                <p:cNvSpPr txBox="1"/>
                <p:nvPr/>
              </p:nvSpPr>
              <p:spPr>
                <a:xfrm>
                  <a:off x="1488" y="2976"/>
                  <a:ext cx="336" cy="206"/>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𝛥</m:t>
                        </m:r>
                        <m:r>
                          <a:rPr lang="en-US" sz="2800" b="0" i="1" smtClean="0">
                            <a:solidFill>
                              <a:srgbClr val="000000"/>
                            </a:solidFill>
                            <a:latin typeface="Cambria Math" panose="02040503050406030204" pitchFamily="18" charset="0"/>
                          </a:rPr>
                          <m:t>𝑉</m:t>
                        </m:r>
                      </m:oMath>
                    </m:oMathPara>
                  </a14:m>
                  <a:endParaRPr lang="en-US" sz="2800" dirty="0"/>
                </a:p>
              </p:txBody>
            </p:sp>
          </mc:Choice>
          <mc:Fallback xmlns="">
            <p:sp>
              <p:nvSpPr>
                <p:cNvPr id="32" name="Object 30">
                  <a:extLst>
                    <a:ext uri="{FF2B5EF4-FFF2-40B4-BE49-F238E27FC236}">
                      <a16:creationId xmlns:a16="http://schemas.microsoft.com/office/drawing/2014/main" id="{D7C741AD-8F0A-AED6-701F-BC9808CFA6E5}"/>
                    </a:ext>
                  </a:extLst>
                </p:cNvPr>
                <p:cNvSpPr txBox="1">
                  <a:spLocks noRot="1" noChangeAspect="1" noMove="1" noResize="1" noEditPoints="1" noAdjustHandles="1" noChangeArrowheads="1" noChangeShapeType="1" noTextEdit="1"/>
                </p:cNvSpPr>
                <p:nvPr/>
              </p:nvSpPr>
              <p:spPr>
                <a:xfrm>
                  <a:off x="1488" y="2976"/>
                  <a:ext cx="336" cy="206"/>
                </a:xfrm>
                <a:prstGeom prst="rect">
                  <a:avLst/>
                </a:prstGeom>
                <a:blipFill>
                  <a:blip r:embed="rId16"/>
                  <a:stretch>
                    <a:fillRect b="-20370"/>
                  </a:stretch>
                </a:blipFill>
                <a:ln w="38100">
                  <a:noFill/>
                  <a:miter/>
                </a:ln>
              </p:spPr>
              <p:txBody>
                <a:bodyPr/>
                <a:lstStyle/>
                <a:p>
                  <a:r>
                    <a:rPr lang="zh-CN" altLang="en-US">
                      <a:noFill/>
                    </a:rPr>
                    <a:t> </a:t>
                  </a:r>
                </a:p>
              </p:txBody>
            </p:sp>
          </mc:Fallback>
        </mc:AlternateContent>
        <p:sp>
          <p:nvSpPr>
            <p:cNvPr id="33" name="Line 31">
              <a:extLst>
                <a:ext uri="{FF2B5EF4-FFF2-40B4-BE49-F238E27FC236}">
                  <a16:creationId xmlns:a16="http://schemas.microsoft.com/office/drawing/2014/main" id="{DB97C03A-D638-43F6-8F7A-4D50C14762E0}"/>
                </a:ext>
              </a:extLst>
            </p:cNvPr>
            <p:cNvSpPr/>
            <p:nvPr/>
          </p:nvSpPr>
          <p:spPr>
            <a:xfrm>
              <a:off x="864" y="2256"/>
              <a:ext cx="0" cy="336"/>
            </a:xfrm>
            <a:prstGeom prst="line">
              <a:avLst/>
            </a:prstGeom>
            <a:ln w="9525" cap="flat" cmpd="sng">
              <a:solidFill>
                <a:srgbClr val="FF0066"/>
              </a:solidFill>
              <a:prstDash val="solid"/>
              <a:headEnd type="triangle" w="sm" len="lg"/>
              <a:tailEnd type="none" w="med" len="lg"/>
            </a:ln>
          </p:spPr>
        </p:sp>
        <p:sp>
          <p:nvSpPr>
            <p:cNvPr id="34" name="Line 32">
              <a:extLst>
                <a:ext uri="{FF2B5EF4-FFF2-40B4-BE49-F238E27FC236}">
                  <a16:creationId xmlns:a16="http://schemas.microsoft.com/office/drawing/2014/main" id="{ABAE434E-1CFD-DEA9-183C-A0B9118B08D3}"/>
                </a:ext>
              </a:extLst>
            </p:cNvPr>
            <p:cNvSpPr/>
            <p:nvPr/>
          </p:nvSpPr>
          <p:spPr>
            <a:xfrm>
              <a:off x="1200" y="2064"/>
              <a:ext cx="0" cy="240"/>
            </a:xfrm>
            <a:prstGeom prst="line">
              <a:avLst/>
            </a:prstGeom>
            <a:ln w="9525" cap="flat" cmpd="sng">
              <a:solidFill>
                <a:srgbClr val="FF6600"/>
              </a:solidFill>
              <a:prstDash val="solid"/>
              <a:headEnd type="triangle" w="sm" len="lg"/>
              <a:tailEnd type="none" w="med" len="lg"/>
            </a:ln>
          </p:spPr>
        </p:sp>
        <p:sp>
          <p:nvSpPr>
            <p:cNvPr id="35" name="Line 33">
              <a:extLst>
                <a:ext uri="{FF2B5EF4-FFF2-40B4-BE49-F238E27FC236}">
                  <a16:creationId xmlns:a16="http://schemas.microsoft.com/office/drawing/2014/main" id="{10CE52F9-6671-F740-06DE-0EFA4C1EEBCE}"/>
                </a:ext>
              </a:extLst>
            </p:cNvPr>
            <p:cNvSpPr/>
            <p:nvPr/>
          </p:nvSpPr>
          <p:spPr>
            <a:xfrm>
              <a:off x="864" y="1440"/>
              <a:ext cx="0" cy="336"/>
            </a:xfrm>
            <a:prstGeom prst="line">
              <a:avLst/>
            </a:prstGeom>
            <a:ln w="9525" cap="flat" cmpd="sng">
              <a:solidFill>
                <a:srgbClr val="FF0066"/>
              </a:solidFill>
              <a:prstDash val="solid"/>
              <a:headEnd type="none" w="med" len="lg"/>
              <a:tailEnd type="triangle" w="sm" len="lg"/>
            </a:ln>
          </p:spPr>
        </p:sp>
        <p:sp>
          <p:nvSpPr>
            <p:cNvPr id="36" name="Line 34">
              <a:extLst>
                <a:ext uri="{FF2B5EF4-FFF2-40B4-BE49-F238E27FC236}">
                  <a16:creationId xmlns:a16="http://schemas.microsoft.com/office/drawing/2014/main" id="{628AB130-6688-4B31-7B92-A66353F62FC4}"/>
                </a:ext>
              </a:extLst>
            </p:cNvPr>
            <p:cNvSpPr/>
            <p:nvPr/>
          </p:nvSpPr>
          <p:spPr>
            <a:xfrm>
              <a:off x="1200" y="1536"/>
              <a:ext cx="0" cy="240"/>
            </a:xfrm>
            <a:prstGeom prst="line">
              <a:avLst/>
            </a:prstGeom>
            <a:ln w="9525" cap="flat" cmpd="sng">
              <a:solidFill>
                <a:srgbClr val="FF6600"/>
              </a:solidFill>
              <a:prstDash val="solid"/>
              <a:headEnd type="none" w="med" len="lg"/>
              <a:tailEnd type="triangle" w="sm" len="lg"/>
            </a:ln>
          </p:spPr>
        </p:sp>
        <mc:AlternateContent xmlns:mc="http://schemas.openxmlformats.org/markup-compatibility/2006" xmlns:a14="http://schemas.microsoft.com/office/drawing/2010/main">
          <mc:Choice Requires="a14">
            <p:sp>
              <p:nvSpPr>
                <p:cNvPr id="37" name="Object 35">
                  <a:extLst>
                    <a:ext uri="{FF2B5EF4-FFF2-40B4-BE49-F238E27FC236}">
                      <a16:creationId xmlns:a16="http://schemas.microsoft.com/office/drawing/2014/main" id="{F295FFC2-E7D7-57BE-41BC-E6474975ABF8}"/>
                    </a:ext>
                  </a:extLst>
                </p:cNvPr>
                <p:cNvSpPr txBox="1"/>
                <p:nvPr/>
              </p:nvSpPr>
              <p:spPr>
                <a:xfrm>
                  <a:off x="706" y="1867"/>
                  <a:ext cx="398" cy="31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𝛥</m:t>
                        </m:r>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𝑝</m:t>
                            </m:r>
                          </m:e>
                          <m:sub>
                            <m:r>
                              <a:rPr lang="en-US" sz="2800" b="0" i="1" smtClean="0">
                                <a:solidFill>
                                  <a:srgbClr val="000000"/>
                                </a:solidFill>
                                <a:latin typeface="Cambria Math" panose="02040503050406030204" pitchFamily="18" charset="0"/>
                              </a:rPr>
                              <m:t>𝑎</m:t>
                            </m:r>
                          </m:sub>
                        </m:sSub>
                      </m:oMath>
                    </m:oMathPara>
                  </a14:m>
                  <a:endParaRPr lang="en-US" sz="2800"/>
                </a:p>
              </p:txBody>
            </p:sp>
          </mc:Choice>
          <mc:Fallback xmlns="">
            <p:sp>
              <p:nvSpPr>
                <p:cNvPr id="37" name="Object 35">
                  <a:extLst>
                    <a:ext uri="{FF2B5EF4-FFF2-40B4-BE49-F238E27FC236}">
                      <a16:creationId xmlns:a16="http://schemas.microsoft.com/office/drawing/2014/main" id="{F295FFC2-E7D7-57BE-41BC-E6474975ABF8}"/>
                    </a:ext>
                  </a:extLst>
                </p:cNvPr>
                <p:cNvSpPr txBox="1">
                  <a:spLocks noRot="1" noChangeAspect="1" noMove="1" noResize="1" noEditPoints="1" noAdjustHandles="1" noChangeArrowheads="1" noChangeShapeType="1" noTextEdit="1"/>
                </p:cNvSpPr>
                <p:nvPr/>
              </p:nvSpPr>
              <p:spPr>
                <a:xfrm>
                  <a:off x="706" y="1867"/>
                  <a:ext cx="398" cy="315"/>
                </a:xfrm>
                <a:prstGeom prst="rect">
                  <a:avLst/>
                </a:prstGeom>
                <a:blipFill>
                  <a:blip r:embed="rId17"/>
                  <a:stretch>
                    <a:fillRect r="-2885"/>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Object 36">
                  <a:extLst>
                    <a:ext uri="{FF2B5EF4-FFF2-40B4-BE49-F238E27FC236}">
                      <a16:creationId xmlns:a16="http://schemas.microsoft.com/office/drawing/2014/main" id="{D83B56F9-0048-DE57-D6A4-38CC0F45EBA3}"/>
                    </a:ext>
                  </a:extLst>
                </p:cNvPr>
                <p:cNvSpPr txBox="1"/>
                <p:nvPr/>
              </p:nvSpPr>
              <p:spPr>
                <a:xfrm>
                  <a:off x="1053" y="1788"/>
                  <a:ext cx="387" cy="276"/>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𝛥</m:t>
                        </m:r>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𝑝</m:t>
                            </m:r>
                          </m:e>
                          <m:sub>
                            <m:r>
                              <a:rPr lang="en-US" sz="2800" b="0" i="1" smtClean="0">
                                <a:solidFill>
                                  <a:srgbClr val="000000"/>
                                </a:solidFill>
                                <a:latin typeface="Cambria Math" panose="02040503050406030204" pitchFamily="18" charset="0"/>
                              </a:rPr>
                              <m:t>𝑇</m:t>
                            </m:r>
                          </m:sub>
                        </m:sSub>
                      </m:oMath>
                    </m:oMathPara>
                  </a14:m>
                  <a:endParaRPr lang="en-US" sz="2800"/>
                </a:p>
              </p:txBody>
            </p:sp>
          </mc:Choice>
          <mc:Fallback xmlns="">
            <p:sp>
              <p:nvSpPr>
                <p:cNvPr id="38" name="Object 36">
                  <a:extLst>
                    <a:ext uri="{FF2B5EF4-FFF2-40B4-BE49-F238E27FC236}">
                      <a16:creationId xmlns:a16="http://schemas.microsoft.com/office/drawing/2014/main" id="{D83B56F9-0048-DE57-D6A4-38CC0F45EBA3}"/>
                    </a:ext>
                  </a:extLst>
                </p:cNvPr>
                <p:cNvSpPr txBox="1">
                  <a:spLocks noRot="1" noChangeAspect="1" noMove="1" noResize="1" noEditPoints="1" noAdjustHandles="1" noChangeArrowheads="1" noChangeShapeType="1" noTextEdit="1"/>
                </p:cNvSpPr>
                <p:nvPr/>
              </p:nvSpPr>
              <p:spPr>
                <a:xfrm>
                  <a:off x="1053" y="1788"/>
                  <a:ext cx="387" cy="276"/>
                </a:xfrm>
                <a:prstGeom prst="rect">
                  <a:avLst/>
                </a:prstGeom>
                <a:blipFill>
                  <a:blip r:embed="rId18"/>
                  <a:stretch>
                    <a:fillRect r="-7921" b="-5556"/>
                  </a:stretch>
                </a:blipFill>
                <a:ln w="38100">
                  <a:noFill/>
                  <a:miter/>
                </a:ln>
              </p:spPr>
              <p:txBody>
                <a:bodyPr/>
                <a:lstStyle/>
                <a:p>
                  <a:r>
                    <a:rPr lang="zh-CN" altLang="en-US">
                      <a:noFill/>
                    </a:rPr>
                    <a:t> </a:t>
                  </a:r>
                </a:p>
              </p:txBody>
            </p:sp>
          </mc:Fallback>
        </mc:AlternateContent>
        <p:sp>
          <p:nvSpPr>
            <p:cNvPr id="39" name="Text Box 37">
              <a:extLst>
                <a:ext uri="{FF2B5EF4-FFF2-40B4-BE49-F238E27FC236}">
                  <a16:creationId xmlns:a16="http://schemas.microsoft.com/office/drawing/2014/main" id="{3123C69D-CB23-EFF0-FF1F-E7D338A2BC25}"/>
                </a:ext>
              </a:extLst>
            </p:cNvPr>
            <p:cNvSpPr txBox="1"/>
            <p:nvPr/>
          </p:nvSpPr>
          <p:spPr>
            <a:xfrm>
              <a:off x="1632" y="2208"/>
              <a:ext cx="336" cy="330"/>
            </a:xfrm>
            <a:prstGeom prst="rect">
              <a:avLst/>
            </a:prstGeom>
            <a:noFill/>
            <a:ln w="9525">
              <a:noFill/>
            </a:ln>
          </p:spPr>
          <p:txBody>
            <a:bodyPr>
              <a:spAutoFit/>
            </a:bodyPr>
            <a:lstStyle/>
            <a:p>
              <a:pPr eaLnBrk="1" hangingPunct="1">
                <a:spcBef>
                  <a:spcPct val="50000"/>
                </a:spcBef>
              </a:pPr>
              <a:r>
                <a:rPr lang="en-US" altLang="zh-CN" sz="2800" i="1" dirty="0">
                  <a:solidFill>
                    <a:srgbClr val="1C1C1C"/>
                  </a:solidFill>
                  <a:latin typeface="Times New Roman" panose="02020603050405020304" pitchFamily="18" charset="0"/>
                </a:rPr>
                <a:t>B</a:t>
              </a:r>
            </a:p>
          </p:txBody>
        </p:sp>
        <p:sp>
          <p:nvSpPr>
            <p:cNvPr id="40" name="Text Box 38">
              <a:extLst>
                <a:ext uri="{FF2B5EF4-FFF2-40B4-BE49-F238E27FC236}">
                  <a16:creationId xmlns:a16="http://schemas.microsoft.com/office/drawing/2014/main" id="{D6715021-45CC-6283-DFBD-4211C9A36EA8}"/>
                </a:ext>
              </a:extLst>
            </p:cNvPr>
            <p:cNvSpPr txBox="1"/>
            <p:nvPr/>
          </p:nvSpPr>
          <p:spPr>
            <a:xfrm>
              <a:off x="1728" y="1824"/>
              <a:ext cx="288" cy="330"/>
            </a:xfrm>
            <a:prstGeom prst="rect">
              <a:avLst/>
            </a:prstGeom>
            <a:noFill/>
            <a:ln w="9525">
              <a:noFill/>
            </a:ln>
          </p:spPr>
          <p:txBody>
            <a:bodyPr>
              <a:spAutoFit/>
            </a:bodyPr>
            <a:lstStyle/>
            <a:p>
              <a:pPr eaLnBrk="1" hangingPunct="1">
                <a:spcBef>
                  <a:spcPct val="50000"/>
                </a:spcBef>
              </a:pPr>
              <a:r>
                <a:rPr lang="en-US" altLang="zh-CN" sz="2800" i="1" dirty="0">
                  <a:solidFill>
                    <a:srgbClr val="1C1C1C"/>
                  </a:solidFill>
                  <a:latin typeface="Times New Roman" panose="02020603050405020304" pitchFamily="18" charset="0"/>
                </a:rPr>
                <a:t>C</a:t>
              </a:r>
            </a:p>
          </p:txBody>
        </p:sp>
        <p:sp>
          <p:nvSpPr>
            <p:cNvPr id="41" name="Line 39">
              <a:extLst>
                <a:ext uri="{FF2B5EF4-FFF2-40B4-BE49-F238E27FC236}">
                  <a16:creationId xmlns:a16="http://schemas.microsoft.com/office/drawing/2014/main" id="{9E2707FC-8344-9A04-1690-A5C81759F6ED}"/>
                </a:ext>
              </a:extLst>
            </p:cNvPr>
            <p:cNvSpPr/>
            <p:nvPr/>
          </p:nvSpPr>
          <p:spPr>
            <a:xfrm>
              <a:off x="1776" y="1104"/>
              <a:ext cx="192" cy="0"/>
            </a:xfrm>
            <a:prstGeom prst="line">
              <a:avLst/>
            </a:prstGeom>
            <a:ln w="28575" cap="flat" cmpd="sng">
              <a:solidFill>
                <a:srgbClr val="0000FF"/>
              </a:solidFill>
              <a:prstDash val="solid"/>
              <a:headEnd type="none" w="med" len="med"/>
              <a:tailEnd type="none" w="med" len="med"/>
            </a:ln>
          </p:spPr>
        </p:sp>
        <p:sp>
          <p:nvSpPr>
            <p:cNvPr id="42" name="Line 40">
              <a:extLst>
                <a:ext uri="{FF2B5EF4-FFF2-40B4-BE49-F238E27FC236}">
                  <a16:creationId xmlns:a16="http://schemas.microsoft.com/office/drawing/2014/main" id="{74572777-EF9A-B428-AC19-5E816828E4B2}"/>
                </a:ext>
              </a:extLst>
            </p:cNvPr>
            <p:cNvSpPr/>
            <p:nvPr/>
          </p:nvSpPr>
          <p:spPr>
            <a:xfrm>
              <a:off x="1776" y="1392"/>
              <a:ext cx="192" cy="0"/>
            </a:xfrm>
            <a:prstGeom prst="line">
              <a:avLst/>
            </a:prstGeom>
            <a:ln w="28575" cap="flat" cmpd="sng">
              <a:solidFill>
                <a:srgbClr val="CC0099"/>
              </a:solidFill>
              <a:prstDash val="solid"/>
              <a:headEnd type="none" w="med" len="med"/>
              <a:tailEnd type="none" w="med" len="med"/>
            </a:ln>
          </p:spPr>
        </p:sp>
        <p:sp>
          <p:nvSpPr>
            <p:cNvPr id="43" name="Rectangle 41">
              <a:extLst>
                <a:ext uri="{FF2B5EF4-FFF2-40B4-BE49-F238E27FC236}">
                  <a16:creationId xmlns:a16="http://schemas.microsoft.com/office/drawing/2014/main" id="{97058176-170C-EE18-44E9-FF59AA0B07DB}"/>
                </a:ext>
              </a:extLst>
            </p:cNvPr>
            <p:cNvSpPr/>
            <p:nvPr/>
          </p:nvSpPr>
          <p:spPr>
            <a:xfrm>
              <a:off x="2304" y="960"/>
              <a:ext cx="672" cy="327"/>
            </a:xfrm>
            <a:prstGeom prst="rect">
              <a:avLst/>
            </a:prstGeom>
            <a:noFill/>
            <a:ln w="9525">
              <a:noFill/>
            </a:ln>
          </p:spPr>
          <p:txBody>
            <a:bodyPr>
              <a:spAutoFit/>
            </a:bodyPr>
            <a:lstStyle/>
            <a:p>
              <a:pPr eaLnBrk="1" hangingPunct="1"/>
              <a:r>
                <a:rPr lang="zh-CN" altLang="en-US" sz="2800" dirty="0">
                  <a:solidFill>
                    <a:srgbClr val="000000"/>
                  </a:solidFill>
                  <a:latin typeface="Times New Roman" panose="02020603050405020304" pitchFamily="18" charset="0"/>
                </a:rPr>
                <a:t>常量</a:t>
              </a:r>
            </a:p>
          </p:txBody>
        </p:sp>
      </p:grpSp>
      <mc:AlternateContent xmlns:mc="http://schemas.openxmlformats.org/markup-compatibility/2006" xmlns:a14="http://schemas.microsoft.com/office/drawing/2010/main">
        <mc:Choice Requires="a14">
          <p:sp>
            <p:nvSpPr>
              <p:cNvPr id="44" name="Object 26">
                <a:extLst>
                  <a:ext uri="{FF2B5EF4-FFF2-40B4-BE49-F238E27FC236}">
                    <a16:creationId xmlns:a16="http://schemas.microsoft.com/office/drawing/2014/main" id="{CBA00733-DF48-262D-FF33-EFEC451A9C66}"/>
                  </a:ext>
                </a:extLst>
              </p:cNvPr>
              <p:cNvSpPr txBox="1"/>
              <p:nvPr/>
            </p:nvSpPr>
            <p:spPr bwMode="auto">
              <a:xfrm>
                <a:off x="6565902" y="2067530"/>
                <a:ext cx="3533775" cy="1069975"/>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m:rPr>
                          <m:nor/>
                        </m:rPr>
                        <a:rPr lang="zh-CN" altLang="en-US" sz="2600" i="0" smtClean="0">
                          <a:solidFill>
                            <a:schemeClr val="tx1"/>
                          </a:solidFill>
                        </a:rPr>
                        <m:t>  </m:t>
                      </m:r>
                      <m:r>
                        <a:rPr lang="zh-CN" altLang="en-US" sz="2600" b="0" i="1">
                          <a:solidFill>
                            <a:schemeClr val="tx1"/>
                          </a:solidFill>
                          <a:latin typeface="Cambria Math" panose="02040503050406030204" pitchFamily="18" charset="0"/>
                        </a:rPr>
                        <m:t>𝑃</m:t>
                      </m:r>
                      <m:r>
                        <a:rPr lang="zh-CN" altLang="en-US" sz="2600" b="0" i="1" smtClean="0">
                          <a:solidFill>
                            <a:schemeClr val="tx1"/>
                          </a:solidFill>
                          <a:latin typeface="Cambria Math" panose="02040503050406030204" pitchFamily="18" charset="0"/>
                        </a:rPr>
                        <m:t>=</m:t>
                      </m:r>
                      <m:f>
                        <m:fPr>
                          <m:ctrlPr>
                            <a:rPr lang="zh-CN" altLang="en-US" sz="2600" i="1" smtClean="0">
                              <a:solidFill>
                                <a:schemeClr val="tx1"/>
                              </a:solidFill>
                              <a:latin typeface="Cambria Math" panose="02040503050406030204" pitchFamily="18" charset="0"/>
                            </a:rPr>
                          </m:ctrlPr>
                        </m:fPr>
                        <m:num>
                          <m:r>
                            <a:rPr lang="zh-CN" altLang="en-US" sz="2600" b="0" i="1">
                              <a:solidFill>
                                <a:schemeClr val="tx1"/>
                              </a:solidFill>
                              <a:latin typeface="Cambria Math" panose="02040503050406030204" pitchFamily="18" charset="0"/>
                            </a:rPr>
                            <m:t>𝑁</m:t>
                          </m:r>
                        </m:num>
                        <m:den>
                          <m:r>
                            <a:rPr lang="zh-CN" altLang="en-US" sz="2600" b="0" i="1">
                              <a:solidFill>
                                <a:schemeClr val="tx1"/>
                              </a:solidFill>
                              <a:latin typeface="Cambria Math" panose="02040503050406030204" pitchFamily="18" charset="0"/>
                            </a:rPr>
                            <m:t>𝑉</m:t>
                          </m:r>
                        </m:den>
                      </m:f>
                      <m:r>
                        <a:rPr lang="en-US" altLang="zh-CN" sz="2600" b="0" i="1">
                          <a:solidFill>
                            <a:schemeClr val="tx1"/>
                          </a:solidFill>
                          <a:latin typeface="Cambria Math" panose="02040503050406030204" pitchFamily="18" charset="0"/>
                        </a:rPr>
                        <m:t>𝑘</m:t>
                      </m:r>
                      <m:r>
                        <a:rPr lang="zh-CN" altLang="en-US" sz="2600" b="0" i="1">
                          <a:solidFill>
                            <a:schemeClr val="tx1"/>
                          </a:solidFill>
                          <a:latin typeface="Cambria Math" panose="02040503050406030204" pitchFamily="18" charset="0"/>
                        </a:rPr>
                        <m:t>𝑇</m:t>
                      </m:r>
                      <m:r>
                        <a:rPr lang="zh-CN" altLang="en-US" sz="2600" b="0" i="1">
                          <a:solidFill>
                            <a:schemeClr val="tx1"/>
                          </a:solidFill>
                          <a:latin typeface="Cambria Math" panose="02040503050406030204" pitchFamily="18" charset="0"/>
                        </a:rPr>
                        <m:t>=</m:t>
                      </m:r>
                      <m:r>
                        <a:rPr lang="zh-CN" altLang="en-US" sz="2600" b="0" i="1">
                          <a:solidFill>
                            <a:schemeClr val="tx1"/>
                          </a:solidFill>
                          <a:latin typeface="Cambria Math" panose="02040503050406030204" pitchFamily="18" charset="0"/>
                        </a:rPr>
                        <m:t>𝑛𝑘𝑇</m:t>
                      </m:r>
                    </m:oMath>
                  </m:oMathPara>
                </a14:m>
                <a:endParaRPr lang="zh-CN" altLang="en-US" sz="2600" dirty="0">
                  <a:solidFill>
                    <a:schemeClr val="tx1"/>
                  </a:solidFill>
                </a:endParaRPr>
              </a:p>
            </p:txBody>
          </p:sp>
        </mc:Choice>
        <mc:Fallback xmlns="">
          <p:sp>
            <p:nvSpPr>
              <p:cNvPr id="44" name="Object 26">
                <a:extLst>
                  <a:ext uri="{FF2B5EF4-FFF2-40B4-BE49-F238E27FC236}">
                    <a16:creationId xmlns:a16="http://schemas.microsoft.com/office/drawing/2014/main" id="{CBA00733-DF48-262D-FF33-EFEC451A9C66}"/>
                  </a:ext>
                </a:extLst>
              </p:cNvPr>
              <p:cNvSpPr txBox="1">
                <a:spLocks noRot="1" noChangeAspect="1" noMove="1" noResize="1" noEditPoints="1" noAdjustHandles="1" noChangeArrowheads="1" noChangeShapeType="1" noTextEdit="1"/>
              </p:cNvSpPr>
              <p:nvPr/>
            </p:nvSpPr>
            <p:spPr bwMode="auto">
              <a:xfrm>
                <a:off x="6565902" y="2067530"/>
                <a:ext cx="3533775" cy="1069975"/>
              </a:xfrm>
              <a:prstGeom prst="rect">
                <a:avLst/>
              </a:prstGeom>
              <a:blipFill>
                <a:blip r:embed="rId19"/>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2371" name="Object 16">
                <a:extLst>
                  <a:ext uri="{FF2B5EF4-FFF2-40B4-BE49-F238E27FC236}">
                    <a16:creationId xmlns:a16="http://schemas.microsoft.com/office/drawing/2014/main" id="{2759BA81-3FE4-35F1-5590-DA31D8D88802}"/>
                  </a:ext>
                </a:extLst>
              </p:cNvPr>
              <p:cNvSpPr txBox="1"/>
              <p:nvPr/>
            </p:nvSpPr>
            <p:spPr>
              <a:xfrm>
                <a:off x="6842129" y="1197886"/>
                <a:ext cx="522288" cy="609600"/>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𝑉</m:t>
                          </m:r>
                        </m:e>
                        <m:sub>
                          <m:r>
                            <m:rPr>
                              <m:sty m:val="p"/>
                            </m:rPr>
                            <a:rPr lang="en-US" altLang="zh-CN" sz="2800" i="1">
                              <a:solidFill>
                                <a:srgbClr val="000000"/>
                              </a:solidFill>
                              <a:latin typeface="Cambria Math" panose="02040503050406030204" pitchFamily="18" charset="0"/>
                            </a:rPr>
                            <m:t>A</m:t>
                          </m:r>
                        </m:sub>
                      </m:sSub>
                    </m:oMath>
                  </m:oMathPara>
                </a14:m>
                <a:endParaRPr lang="en-US" sz="2800" dirty="0"/>
              </a:p>
            </p:txBody>
          </p:sp>
        </mc:Choice>
        <mc:Fallback xmlns="">
          <p:sp>
            <p:nvSpPr>
              <p:cNvPr id="442371" name="Object 16">
                <a:extLst>
                  <a:ext uri="{FF2B5EF4-FFF2-40B4-BE49-F238E27FC236}">
                    <a16:creationId xmlns:a16="http://schemas.microsoft.com/office/drawing/2014/main" id="{2759BA81-3FE4-35F1-5590-DA31D8D88802}"/>
                  </a:ext>
                </a:extLst>
              </p:cNvPr>
              <p:cNvSpPr txBox="1">
                <a:spLocks noRot="1" noChangeAspect="1" noMove="1" noResize="1" noEditPoints="1" noAdjustHandles="1" noChangeArrowheads="1" noChangeShapeType="1" noTextEdit="1"/>
              </p:cNvSpPr>
              <p:nvPr/>
            </p:nvSpPr>
            <p:spPr>
              <a:xfrm>
                <a:off x="6842129" y="1197886"/>
                <a:ext cx="522288" cy="609600"/>
              </a:xfrm>
              <a:prstGeom prst="rect">
                <a:avLst/>
              </a:prstGeom>
              <a:blipFill>
                <a:blip r:embed="rId20"/>
                <a:stretch>
                  <a:fillRect/>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2374" name="Object 17">
                <a:extLst>
                  <a:ext uri="{FF2B5EF4-FFF2-40B4-BE49-F238E27FC236}">
                    <a16:creationId xmlns:a16="http://schemas.microsoft.com/office/drawing/2014/main" id="{BD8EB7C9-7390-455B-21B9-E95B7D13A447}"/>
                  </a:ext>
                </a:extLst>
              </p:cNvPr>
              <p:cNvSpPr txBox="1"/>
              <p:nvPr/>
            </p:nvSpPr>
            <p:spPr>
              <a:xfrm>
                <a:off x="8073234" y="1220449"/>
                <a:ext cx="519113" cy="609600"/>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𝑉</m:t>
                          </m:r>
                        </m:e>
                        <m:sub>
                          <m:r>
                            <a:rPr lang="en-US" sz="2800" b="0" i="1" smtClean="0">
                              <a:solidFill>
                                <a:srgbClr val="000000"/>
                              </a:solidFill>
                              <a:latin typeface="Cambria Math" panose="02040503050406030204" pitchFamily="18" charset="0"/>
                            </a:rPr>
                            <m:t>𝐵</m:t>
                          </m:r>
                        </m:sub>
                      </m:sSub>
                    </m:oMath>
                  </m:oMathPara>
                </a14:m>
                <a:endParaRPr lang="en-US" sz="2800" dirty="0"/>
              </a:p>
            </p:txBody>
          </p:sp>
        </mc:Choice>
        <mc:Fallback xmlns="">
          <p:sp>
            <p:nvSpPr>
              <p:cNvPr id="442374" name="Object 17">
                <a:extLst>
                  <a:ext uri="{FF2B5EF4-FFF2-40B4-BE49-F238E27FC236}">
                    <a16:creationId xmlns:a16="http://schemas.microsoft.com/office/drawing/2014/main" id="{BD8EB7C9-7390-455B-21B9-E95B7D13A447}"/>
                  </a:ext>
                </a:extLst>
              </p:cNvPr>
              <p:cNvSpPr txBox="1">
                <a:spLocks noRot="1" noChangeAspect="1" noMove="1" noResize="1" noEditPoints="1" noAdjustHandles="1" noChangeArrowheads="1" noChangeShapeType="1" noTextEdit="1"/>
              </p:cNvSpPr>
              <p:nvPr/>
            </p:nvSpPr>
            <p:spPr>
              <a:xfrm>
                <a:off x="8073234" y="1220449"/>
                <a:ext cx="519113" cy="609600"/>
              </a:xfrm>
              <a:prstGeom prst="rect">
                <a:avLst/>
              </a:prstGeom>
              <a:blipFill>
                <a:blip r:embed="rId21"/>
                <a:stretch>
                  <a:fillRect/>
                </a:stretch>
              </a:blipFill>
              <a:ln w="38100">
                <a:noFill/>
                <a:miter/>
              </a:ln>
            </p:spPr>
            <p:txBody>
              <a:bodyPr/>
              <a:lstStyle/>
              <a:p>
                <a:r>
                  <a:rPr lang="en-US">
                    <a:noFill/>
                  </a:rPr>
                  <a:t> </a:t>
                </a:r>
              </a:p>
            </p:txBody>
          </p:sp>
        </mc:Fallback>
      </mc:AlternateContent>
      <p:cxnSp>
        <p:nvCxnSpPr>
          <p:cNvPr id="442376" name="直接箭头连接符 442375">
            <a:extLst>
              <a:ext uri="{FF2B5EF4-FFF2-40B4-BE49-F238E27FC236}">
                <a16:creationId xmlns:a16="http://schemas.microsoft.com/office/drawing/2014/main" id="{A7CAA482-0C44-5631-99B2-40ECE77D3CB0}"/>
              </a:ext>
            </a:extLst>
          </p:cNvPr>
          <p:cNvCxnSpPr/>
          <p:nvPr/>
        </p:nvCxnSpPr>
        <p:spPr>
          <a:xfrm>
            <a:off x="7489035" y="1488737"/>
            <a:ext cx="52546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442377" name="文本框 442376">
            <a:extLst>
              <a:ext uri="{FF2B5EF4-FFF2-40B4-BE49-F238E27FC236}">
                <a16:creationId xmlns:a16="http://schemas.microsoft.com/office/drawing/2014/main" id="{4A74BE99-9F51-7485-D28F-D17E0C3FA115}"/>
              </a:ext>
            </a:extLst>
          </p:cNvPr>
          <p:cNvSpPr txBox="1"/>
          <p:nvPr/>
        </p:nvSpPr>
        <p:spPr>
          <a:xfrm>
            <a:off x="6257800" y="2987317"/>
            <a:ext cx="2462469" cy="954107"/>
          </a:xfrm>
          <a:prstGeom prst="rect">
            <a:avLst/>
          </a:prstGeom>
          <a:noFill/>
        </p:spPr>
        <p:txBody>
          <a:bodyPr wrap="none" rtlCol="0">
            <a:spAutoFit/>
          </a:bodyPr>
          <a:lstStyle/>
          <a:p>
            <a:r>
              <a:rPr lang="zh-CN" altLang="en-US" sz="2800" dirty="0"/>
              <a:t>等温过程：</a:t>
            </a:r>
            <a:endParaRPr lang="en-US" altLang="zh-CN" sz="2800" dirty="0"/>
          </a:p>
          <a:p>
            <a:r>
              <a:rPr lang="zh-CN" altLang="en-US" sz="2800" dirty="0"/>
              <a:t> </a:t>
            </a:r>
            <a:r>
              <a:rPr lang="en-US" altLang="zh-CN" sz="2800" dirty="0"/>
              <a:t>T</a:t>
            </a:r>
            <a:r>
              <a:rPr lang="zh-CN" altLang="en-US" sz="2800" dirty="0"/>
              <a:t>不变，</a:t>
            </a:r>
            <a:r>
              <a:rPr lang="en-US" altLang="zh-CN" sz="2800" dirty="0"/>
              <a:t>n</a:t>
            </a:r>
            <a:r>
              <a:rPr lang="zh-CN" altLang="en-US" sz="2800" dirty="0"/>
              <a:t>减小</a:t>
            </a:r>
          </a:p>
        </p:txBody>
      </p:sp>
      <p:sp>
        <p:nvSpPr>
          <p:cNvPr id="442378" name="文本框 442377">
            <a:extLst>
              <a:ext uri="{FF2B5EF4-FFF2-40B4-BE49-F238E27FC236}">
                <a16:creationId xmlns:a16="http://schemas.microsoft.com/office/drawing/2014/main" id="{7D83A751-396F-821B-DC9E-42FBBB9A0B5D}"/>
              </a:ext>
            </a:extLst>
          </p:cNvPr>
          <p:cNvSpPr txBox="1"/>
          <p:nvPr/>
        </p:nvSpPr>
        <p:spPr>
          <a:xfrm>
            <a:off x="6260217" y="4093106"/>
            <a:ext cx="5079372" cy="1384995"/>
          </a:xfrm>
          <a:prstGeom prst="rect">
            <a:avLst/>
          </a:prstGeom>
          <a:noFill/>
        </p:spPr>
        <p:txBody>
          <a:bodyPr wrap="square" rtlCol="0">
            <a:spAutoFit/>
          </a:bodyPr>
          <a:lstStyle/>
          <a:p>
            <a:r>
              <a:rPr lang="zh-CN" altLang="en-US" sz="2800" dirty="0"/>
              <a:t>绝热过程：</a:t>
            </a:r>
            <a:endParaRPr lang="en-US" altLang="zh-CN" sz="2800" dirty="0"/>
          </a:p>
          <a:p>
            <a:r>
              <a:rPr lang="zh-CN" altLang="en-US" sz="2800" dirty="0"/>
              <a:t> </a:t>
            </a:r>
            <a:r>
              <a:rPr lang="en-US" altLang="zh-CN" sz="2800" dirty="0"/>
              <a:t>- </a:t>
            </a:r>
            <a:r>
              <a:rPr lang="zh-CN" altLang="en-US" sz="2800" dirty="0"/>
              <a:t>体积膨胀，做正功，</a:t>
            </a:r>
            <a:r>
              <a:rPr lang="en-US" altLang="zh-CN" sz="2800" dirty="0"/>
              <a:t>T</a:t>
            </a:r>
            <a:r>
              <a:rPr lang="zh-CN" altLang="en-US" sz="2800" dirty="0"/>
              <a:t>降低</a:t>
            </a:r>
            <a:endParaRPr lang="en-US" altLang="zh-CN" sz="2800" dirty="0"/>
          </a:p>
          <a:p>
            <a:r>
              <a:rPr lang="en-US" altLang="zh-CN" sz="2800" dirty="0"/>
              <a:t> - n</a:t>
            </a:r>
            <a:r>
              <a:rPr lang="zh-CN" altLang="en-US" sz="2800" dirty="0"/>
              <a:t>减小且数值与等温过程相同</a:t>
            </a:r>
          </a:p>
        </p:txBody>
      </p:sp>
      <p:sp>
        <p:nvSpPr>
          <p:cNvPr id="45" name="文本框 44">
            <a:extLst>
              <a:ext uri="{FF2B5EF4-FFF2-40B4-BE49-F238E27FC236}">
                <a16:creationId xmlns:a16="http://schemas.microsoft.com/office/drawing/2014/main" id="{3F568697-4252-49C0-BC40-249F9D130B0C}"/>
              </a:ext>
            </a:extLst>
          </p:cNvPr>
          <p:cNvSpPr txBox="1"/>
          <p:nvPr/>
        </p:nvSpPr>
        <p:spPr>
          <a:xfrm>
            <a:off x="6307531" y="5660114"/>
            <a:ext cx="5079372" cy="954107"/>
          </a:xfrm>
          <a:prstGeom prst="rect">
            <a:avLst/>
          </a:prstGeom>
          <a:noFill/>
        </p:spPr>
        <p:txBody>
          <a:bodyPr wrap="square" rtlCol="0">
            <a:spAutoFit/>
          </a:bodyPr>
          <a:lstStyle/>
          <a:p>
            <a:r>
              <a:rPr lang="zh-CN" altLang="en-US" sz="2800" dirty="0"/>
              <a:t>绝热过程压强变化更大</a:t>
            </a:r>
            <a:endParaRPr lang="en-US" altLang="zh-CN" sz="2800" dirty="0"/>
          </a:p>
          <a:p>
            <a:r>
              <a:rPr lang="zh-CN" altLang="en-US" sz="2800"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237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237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423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237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4237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4" grpId="0"/>
      <p:bldP spid="442371" grpId="0"/>
      <p:bldP spid="442374" grpId="0"/>
      <p:bldP spid="442377" grpId="0"/>
      <p:bldP spid="442378" grpId="0"/>
      <p:bldP spid="4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4896D-4CF0-D6E4-0BEB-391D8DB5AE03}"/>
            </a:ext>
          </a:extLst>
        </p:cNvPr>
        <p:cNvGrpSpPr/>
        <p:nvPr/>
      </p:nvGrpSpPr>
      <p:grpSpPr>
        <a:xfrm>
          <a:off x="0" y="0"/>
          <a:ext cx="0" cy="0"/>
          <a:chOff x="0" y="0"/>
          <a:chExt cx="0" cy="0"/>
        </a:xfrm>
      </p:grpSpPr>
      <p:grpSp>
        <p:nvGrpSpPr>
          <p:cNvPr id="42002" name="Group 2">
            <a:extLst>
              <a:ext uri="{FF2B5EF4-FFF2-40B4-BE49-F238E27FC236}">
                <a16:creationId xmlns:a16="http://schemas.microsoft.com/office/drawing/2014/main" id="{B1E942C1-0278-F480-D8A8-CBD0468587C0}"/>
              </a:ext>
            </a:extLst>
          </p:cNvPr>
          <p:cNvGrpSpPr/>
          <p:nvPr/>
        </p:nvGrpSpPr>
        <p:grpSpPr>
          <a:xfrm>
            <a:off x="919957" y="300040"/>
            <a:ext cx="11157743" cy="1501775"/>
            <a:chOff x="249" y="482"/>
            <a:chExt cx="5262" cy="946"/>
          </a:xfrm>
        </p:grpSpPr>
        <p:sp>
          <p:nvSpPr>
            <p:cNvPr id="42022" name="Text Box 3">
              <a:extLst>
                <a:ext uri="{FF2B5EF4-FFF2-40B4-BE49-F238E27FC236}">
                  <a16:creationId xmlns:a16="http://schemas.microsoft.com/office/drawing/2014/main" id="{4B48634A-3B39-C8A1-5E22-8FD3247DCB60}"/>
                </a:ext>
              </a:extLst>
            </p:cNvPr>
            <p:cNvSpPr txBox="1"/>
            <p:nvPr/>
          </p:nvSpPr>
          <p:spPr>
            <a:xfrm>
              <a:off x="249" y="482"/>
              <a:ext cx="5262" cy="946"/>
            </a:xfrm>
            <a:prstGeom prst="rect">
              <a:avLst/>
            </a:prstGeom>
            <a:noFill/>
            <a:ln w="9525">
              <a:noFill/>
            </a:ln>
          </p:spPr>
          <p:txBody>
            <a:bodyPr>
              <a:spAutoFit/>
            </a:bodyPr>
            <a:lstStyle/>
            <a:p>
              <a:pPr eaLnBrk="1" hangingPunct="1">
                <a:lnSpc>
                  <a:spcPct val="120000"/>
                </a:lnSpc>
                <a:spcBef>
                  <a:spcPct val="50000"/>
                </a:spcBef>
              </a:pPr>
              <a:r>
                <a:rPr lang="en-US" altLang="zh-CN" sz="2600" dirty="0"/>
                <a:t>         </a:t>
              </a:r>
              <a:r>
                <a:rPr lang="zh-CN" altLang="en-US" sz="2600" dirty="0"/>
                <a:t>例：</a:t>
              </a:r>
              <a:r>
                <a:rPr lang="en-US" altLang="zh-CN" sz="2600" dirty="0"/>
                <a:t> </a:t>
              </a:r>
              <a:r>
                <a:rPr lang="zh-CN" altLang="en-US" sz="2600" dirty="0"/>
                <a:t>设有 </a:t>
              </a:r>
              <a:r>
                <a:rPr lang="en-US" altLang="zh-CN" sz="2600" dirty="0"/>
                <a:t>5 mol </a:t>
              </a:r>
              <a:r>
                <a:rPr lang="zh-CN" altLang="en-US" sz="2600" dirty="0"/>
                <a:t>的氢气，最初温度        ，压强                         ，求下列过程中把氢气压缩为原体积的 </a:t>
              </a:r>
              <a:r>
                <a:rPr lang="en-US" altLang="zh-CN" sz="2600" dirty="0"/>
                <a:t>1/10 </a:t>
              </a:r>
              <a:r>
                <a:rPr lang="zh-CN" altLang="en-US" sz="2600" dirty="0"/>
                <a:t>需作的功</a:t>
              </a:r>
              <a:r>
                <a:rPr lang="en-US" altLang="zh-CN" sz="2600" dirty="0"/>
                <a:t>:  </a:t>
              </a:r>
              <a:r>
                <a:rPr lang="zh-CN" altLang="en-US" sz="2600" dirty="0"/>
                <a:t>（</a:t>
              </a:r>
              <a:r>
                <a:rPr lang="en-US" altLang="zh-CN" sz="2600" dirty="0"/>
                <a:t>1</a:t>
              </a:r>
              <a:r>
                <a:rPr lang="zh-CN" altLang="en-US" sz="2600" dirty="0"/>
                <a:t>）等温过程（</a:t>
              </a:r>
              <a:r>
                <a:rPr lang="en-US" altLang="zh-CN" sz="2600" dirty="0"/>
                <a:t>2</a:t>
              </a:r>
              <a:r>
                <a:rPr lang="zh-CN" altLang="en-US" sz="2600" dirty="0"/>
                <a:t>）绝热过程 （</a:t>
              </a:r>
              <a:r>
                <a:rPr lang="en-US" altLang="zh-CN" sz="2600" dirty="0"/>
                <a:t>3</a:t>
              </a:r>
              <a:r>
                <a:rPr lang="zh-CN" altLang="en-US" sz="2600" dirty="0"/>
                <a:t>）经这两过程后，气体的压强各为多少？</a:t>
              </a:r>
            </a:p>
          </p:txBody>
        </p:sp>
        <mc:AlternateContent xmlns:mc="http://schemas.openxmlformats.org/markup-compatibility/2006" xmlns:a14="http://schemas.microsoft.com/office/drawing/2010/main">
          <mc:Choice Requires="a14">
            <p:sp>
              <p:nvSpPr>
                <p:cNvPr id="42000" name="Object 4">
                  <a:extLst>
                    <a:ext uri="{FF2B5EF4-FFF2-40B4-BE49-F238E27FC236}">
                      <a16:creationId xmlns:a16="http://schemas.microsoft.com/office/drawing/2014/main" id="{A1E3A4CB-8C22-A3FB-8F0C-6CC151FFC284}"/>
                    </a:ext>
                  </a:extLst>
                </p:cNvPr>
                <p:cNvSpPr txBox="1"/>
                <p:nvPr/>
              </p:nvSpPr>
              <p:spPr>
                <a:xfrm>
                  <a:off x="3654" y="501"/>
                  <a:ext cx="1179" cy="296"/>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600" b="0" i="1">
                            <a:solidFill>
                              <a:srgbClr val="000000"/>
                            </a:solidFill>
                            <a:latin typeface="Cambria Math" panose="02040503050406030204" pitchFamily="18" charset="0"/>
                          </a:rPr>
                          <m:t>1.013×1</m:t>
                        </m:r>
                        <m:sSup>
                          <m:sSupPr>
                            <m:ctrlPr>
                              <a:rPr lang="en-US" sz="2600" i="1">
                                <a:solidFill>
                                  <a:srgbClr val="000000"/>
                                </a:solidFill>
                                <a:latin typeface="Cambria Math" panose="02040503050406030204" pitchFamily="18" charset="0"/>
                              </a:rPr>
                            </m:ctrlPr>
                          </m:sSupPr>
                          <m:e>
                            <m:r>
                              <a:rPr lang="en-US" sz="2600" b="0" i="1">
                                <a:solidFill>
                                  <a:srgbClr val="000000"/>
                                </a:solidFill>
                                <a:latin typeface="Cambria Math" panose="02040503050406030204" pitchFamily="18" charset="0"/>
                              </a:rPr>
                              <m:t>0</m:t>
                            </m:r>
                          </m:e>
                          <m:sup>
                            <m:r>
                              <a:rPr lang="en-US" sz="2600" b="0" i="1">
                                <a:solidFill>
                                  <a:srgbClr val="000000"/>
                                </a:solidFill>
                                <a:latin typeface="Cambria Math" panose="02040503050406030204" pitchFamily="18" charset="0"/>
                              </a:rPr>
                              <m:t>5</m:t>
                            </m:r>
                          </m:sup>
                        </m:sSup>
                        <m:r>
                          <m:rPr>
                            <m:nor/>
                          </m:rPr>
                          <a:rPr lang="en-US" sz="2600" i="0">
                            <a:solidFill>
                              <a:srgbClr val="000000"/>
                            </a:solidFill>
                          </a:rPr>
                          <m:t>Pa</m:t>
                        </m:r>
                      </m:oMath>
                    </m:oMathPara>
                  </a14:m>
                  <a:endParaRPr lang="en-US" sz="2600" dirty="0"/>
                </a:p>
              </p:txBody>
            </p:sp>
          </mc:Choice>
          <mc:Fallback xmlns="">
            <p:sp>
              <p:nvSpPr>
                <p:cNvPr id="42000" name="Object 4">
                  <a:extLst>
                    <a:ext uri="{FF2B5EF4-FFF2-40B4-BE49-F238E27FC236}">
                      <a16:creationId xmlns:a16="http://schemas.microsoft.com/office/drawing/2014/main" id="{A1E3A4CB-8C22-A3FB-8F0C-6CC151FFC284}"/>
                    </a:ext>
                  </a:extLst>
                </p:cNvPr>
                <p:cNvSpPr txBox="1">
                  <a:spLocks noRot="1" noChangeAspect="1" noMove="1" noResize="1" noEditPoints="1" noAdjustHandles="1" noChangeArrowheads="1" noChangeShapeType="1" noTextEdit="1"/>
                </p:cNvSpPr>
                <p:nvPr/>
              </p:nvSpPr>
              <p:spPr>
                <a:xfrm>
                  <a:off x="3654" y="501"/>
                  <a:ext cx="1179" cy="296"/>
                </a:xfrm>
                <a:prstGeom prst="rect">
                  <a:avLst/>
                </a:prstGeom>
                <a:blipFill>
                  <a:blip r:embed="rId2"/>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001" name="Object 5">
                  <a:extLst>
                    <a:ext uri="{FF2B5EF4-FFF2-40B4-BE49-F238E27FC236}">
                      <a16:creationId xmlns:a16="http://schemas.microsoft.com/office/drawing/2014/main" id="{BD324D3D-6080-A8BE-CF31-0D5EF29764B3}"/>
                    </a:ext>
                  </a:extLst>
                </p:cNvPr>
                <p:cNvSpPr txBox="1"/>
                <p:nvPr/>
              </p:nvSpPr>
              <p:spPr>
                <a:xfrm>
                  <a:off x="2849" y="501"/>
                  <a:ext cx="562" cy="329"/>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600" b="0" i="1">
                            <a:solidFill>
                              <a:srgbClr val="000000"/>
                            </a:solidFill>
                            <a:latin typeface="Cambria Math" panose="02040503050406030204" pitchFamily="18" charset="0"/>
                          </a:rPr>
                          <m:t>2</m:t>
                        </m:r>
                        <m:sSup>
                          <m:sSupPr>
                            <m:ctrlPr>
                              <a:rPr lang="en-US" sz="2600" i="1">
                                <a:solidFill>
                                  <a:srgbClr val="000000"/>
                                </a:solidFill>
                                <a:latin typeface="Cambria Math" panose="02040503050406030204" pitchFamily="18" charset="0"/>
                              </a:rPr>
                            </m:ctrlPr>
                          </m:sSupPr>
                          <m:e>
                            <m:r>
                              <a:rPr lang="en-US" sz="2600" b="0" i="1">
                                <a:solidFill>
                                  <a:srgbClr val="000000"/>
                                </a:solidFill>
                                <a:latin typeface="Cambria Math" panose="02040503050406030204" pitchFamily="18" charset="0"/>
                              </a:rPr>
                              <m:t>0</m:t>
                            </m:r>
                          </m:e>
                          <m:sup>
                            <m:r>
                              <a:rPr lang="en-US" sz="2600" b="0" i="1">
                                <a:solidFill>
                                  <a:srgbClr val="000000"/>
                                </a:solidFill>
                                <a:latin typeface="Cambria Math" panose="02040503050406030204" pitchFamily="18" charset="0"/>
                              </a:rPr>
                              <m:t>∘</m:t>
                            </m:r>
                          </m:sup>
                        </m:sSup>
                        <m:r>
                          <m:rPr>
                            <m:sty m:val="p"/>
                          </m:rPr>
                          <a:rPr lang="en-US" sz="2600" b="0" i="0">
                            <a:solidFill>
                              <a:srgbClr val="000000"/>
                            </a:solidFill>
                            <a:latin typeface="Cambria Math" panose="02040503050406030204" pitchFamily="18" charset="0"/>
                          </a:rPr>
                          <m:t>C</m:t>
                        </m:r>
                      </m:oMath>
                    </m:oMathPara>
                  </a14:m>
                  <a:endParaRPr lang="en-US" sz="2600" dirty="0"/>
                </a:p>
              </p:txBody>
            </p:sp>
          </mc:Choice>
          <mc:Fallback xmlns="">
            <p:sp>
              <p:nvSpPr>
                <p:cNvPr id="42001" name="Object 5">
                  <a:extLst>
                    <a:ext uri="{FF2B5EF4-FFF2-40B4-BE49-F238E27FC236}">
                      <a16:creationId xmlns:a16="http://schemas.microsoft.com/office/drawing/2014/main" id="{BD324D3D-6080-A8BE-CF31-0D5EF29764B3}"/>
                    </a:ext>
                  </a:extLst>
                </p:cNvPr>
                <p:cNvSpPr txBox="1">
                  <a:spLocks noRot="1" noChangeAspect="1" noMove="1" noResize="1" noEditPoints="1" noAdjustHandles="1" noChangeArrowheads="1" noChangeShapeType="1" noTextEdit="1"/>
                </p:cNvSpPr>
                <p:nvPr/>
              </p:nvSpPr>
              <p:spPr>
                <a:xfrm>
                  <a:off x="2849" y="501"/>
                  <a:ext cx="562" cy="329"/>
                </a:xfrm>
                <a:prstGeom prst="rect">
                  <a:avLst/>
                </a:prstGeom>
                <a:blipFill>
                  <a:blip r:embed="rId3"/>
                  <a:stretch>
                    <a:fillRect/>
                  </a:stretch>
                </a:blipFill>
                <a:ln w="38100">
                  <a:noFill/>
                  <a:miter/>
                </a:ln>
              </p:spPr>
              <p:txBody>
                <a:bodyPr/>
                <a:lstStyle/>
                <a:p>
                  <a:r>
                    <a:rPr lang="zh-CN" altLang="en-US">
                      <a:noFill/>
                    </a:rPr>
                    <a:t> </a:t>
                  </a:r>
                </a:p>
              </p:txBody>
            </p:sp>
          </mc:Fallback>
        </mc:AlternateContent>
      </p:grpSp>
      <p:grpSp>
        <p:nvGrpSpPr>
          <p:cNvPr id="42003" name="Group 6">
            <a:extLst>
              <a:ext uri="{FF2B5EF4-FFF2-40B4-BE49-F238E27FC236}">
                <a16:creationId xmlns:a16="http://schemas.microsoft.com/office/drawing/2014/main" id="{904AF9A9-4C56-74E3-D7D5-868C03A33F44}"/>
              </a:ext>
            </a:extLst>
          </p:cNvPr>
          <p:cNvGrpSpPr/>
          <p:nvPr/>
        </p:nvGrpSpPr>
        <p:grpSpPr>
          <a:xfrm>
            <a:off x="8323263" y="1516064"/>
            <a:ext cx="3505200" cy="3124200"/>
            <a:chOff x="3120" y="1968"/>
            <a:chExt cx="2208" cy="1968"/>
          </a:xfrm>
        </p:grpSpPr>
        <p:sp>
          <p:nvSpPr>
            <p:cNvPr id="42004" name="Rectangle 7">
              <a:extLst>
                <a:ext uri="{FF2B5EF4-FFF2-40B4-BE49-F238E27FC236}">
                  <a16:creationId xmlns:a16="http://schemas.microsoft.com/office/drawing/2014/main" id="{A4DB0837-03B5-D8CA-981B-3757ED2DE20A}"/>
                </a:ext>
              </a:extLst>
            </p:cNvPr>
            <p:cNvSpPr/>
            <p:nvPr/>
          </p:nvSpPr>
          <p:spPr>
            <a:xfrm>
              <a:off x="3120" y="1968"/>
              <a:ext cx="2208" cy="1968"/>
            </a:xfrm>
            <a:prstGeom prst="rect">
              <a:avLst/>
            </a:prstGeom>
            <a:solidFill>
              <a:srgbClr val="FFFFFF"/>
            </a:solidFill>
            <a:ln w="9525" cap="flat" cmpd="sng">
              <a:noFill/>
              <a:prstDash val="solid"/>
              <a:miter/>
              <a:headEnd type="none" w="med" len="med"/>
              <a:tailEnd type="none" w="med" len="med"/>
            </a:ln>
          </p:spPr>
          <p:txBody>
            <a:bodyPr wrap="none" anchor="ctr" anchorCtr="0"/>
            <a:lstStyle/>
            <a:p>
              <a:endParaRPr lang="zh-CN" altLang="en-US" sz="2000" dirty="0">
                <a:latin typeface="Bookman Old Style" panose="02050604050505020204" pitchFamily="18" charset="0"/>
              </a:endParaRPr>
            </a:p>
          </p:txBody>
        </p:sp>
        <p:sp>
          <p:nvSpPr>
            <p:cNvPr id="42005" name="Rectangle 8">
              <a:extLst>
                <a:ext uri="{FF2B5EF4-FFF2-40B4-BE49-F238E27FC236}">
                  <a16:creationId xmlns:a16="http://schemas.microsoft.com/office/drawing/2014/main" id="{A9D485E3-885D-F9B0-2A51-8098B9A35995}"/>
                </a:ext>
              </a:extLst>
            </p:cNvPr>
            <p:cNvSpPr/>
            <p:nvPr/>
          </p:nvSpPr>
          <p:spPr>
            <a:xfrm>
              <a:off x="3984" y="3312"/>
              <a:ext cx="816" cy="240"/>
            </a:xfrm>
            <a:prstGeom prst="rect">
              <a:avLst/>
            </a:prstGeom>
            <a:noFill/>
            <a:ln w="9525" cap="flat" cmpd="sng">
              <a:noFill/>
              <a:prstDash val="solid"/>
              <a:miter/>
              <a:headEnd type="none" w="med" len="med"/>
              <a:tailEnd type="none" w="med" len="med"/>
            </a:ln>
          </p:spPr>
          <p:txBody>
            <a:bodyPr wrap="none" anchor="ctr" anchorCtr="0"/>
            <a:lstStyle/>
            <a:p>
              <a:endParaRPr lang="zh-CN" altLang="en-US" sz="2000"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41986" name="Object 9">
                  <a:extLst>
                    <a:ext uri="{FF2B5EF4-FFF2-40B4-BE49-F238E27FC236}">
                      <a16:creationId xmlns:a16="http://schemas.microsoft.com/office/drawing/2014/main" id="{066CEC89-67E8-D71E-C8E3-41C54E3724FD}"/>
                    </a:ext>
                  </a:extLst>
                </p:cNvPr>
                <p:cNvSpPr txBox="1"/>
                <p:nvPr/>
              </p:nvSpPr>
              <p:spPr>
                <a:xfrm>
                  <a:off x="4800" y="2976"/>
                  <a:ext cx="189" cy="264"/>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𝑇</m:t>
                            </m:r>
                          </m:e>
                          <m:sub>
                            <m:r>
                              <a:rPr lang="en-US" sz="2000" i="1">
                                <a:solidFill>
                                  <a:srgbClr val="000000"/>
                                </a:solidFill>
                                <a:latin typeface="Cambria Math" panose="02040503050406030204" pitchFamily="18" charset="0"/>
                              </a:rPr>
                              <m:t>1</m:t>
                            </m:r>
                          </m:sub>
                        </m:sSub>
                      </m:oMath>
                    </m:oMathPara>
                  </a14:m>
                  <a:endParaRPr lang="en-US" sz="2000"/>
                </a:p>
              </p:txBody>
            </p:sp>
          </mc:Choice>
          <mc:Fallback xmlns="">
            <p:sp>
              <p:nvSpPr>
                <p:cNvPr id="41986" name="Object 9"/>
                <p:cNvSpPr txBox="1">
                  <a:spLocks noRot="1" noChangeAspect="1" noMove="1" noResize="1" noEditPoints="1" noAdjustHandles="1" noChangeArrowheads="1" noChangeShapeType="1" noTextEdit="1"/>
                </p:cNvSpPr>
                <p:nvPr/>
              </p:nvSpPr>
              <p:spPr>
                <a:xfrm>
                  <a:off x="4800" y="2976"/>
                  <a:ext cx="189" cy="264"/>
                </a:xfrm>
                <a:prstGeom prst="rect">
                  <a:avLst/>
                </a:prstGeom>
                <a:blipFill>
                  <a:blip r:embed="rId4"/>
                  <a:stretch>
                    <a:fillRect r="-26531"/>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987" name="Object 10">
                  <a:extLst>
                    <a:ext uri="{FF2B5EF4-FFF2-40B4-BE49-F238E27FC236}">
                      <a16:creationId xmlns:a16="http://schemas.microsoft.com/office/drawing/2014/main" id="{8645FD60-3D1E-1F18-3C88-0B2504FC389D}"/>
                    </a:ext>
                  </a:extLst>
                </p:cNvPr>
                <p:cNvSpPr txBox="1"/>
                <p:nvPr/>
              </p:nvSpPr>
              <p:spPr>
                <a:xfrm>
                  <a:off x="3888" y="2160"/>
                  <a:ext cx="240" cy="252"/>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𝑇</m:t>
                            </m:r>
                          </m:e>
                          <m:sub>
                            <m:r>
                              <a:rPr lang="en-US" sz="2000" i="1">
                                <a:solidFill>
                                  <a:srgbClr val="000000"/>
                                </a:solidFill>
                                <a:latin typeface="Cambria Math" panose="02040503050406030204" pitchFamily="18" charset="0"/>
                              </a:rPr>
                              <m:t>2</m:t>
                            </m:r>
                          </m:sub>
                        </m:sSub>
                      </m:oMath>
                    </m:oMathPara>
                  </a14:m>
                  <a:endParaRPr lang="en-US" sz="2000"/>
                </a:p>
              </p:txBody>
            </p:sp>
          </mc:Choice>
          <mc:Fallback xmlns="">
            <p:sp>
              <p:nvSpPr>
                <p:cNvPr id="41987" name="Object 10"/>
                <p:cNvSpPr txBox="1">
                  <a:spLocks noRot="1" noChangeAspect="1" noMove="1" noResize="1" noEditPoints="1" noAdjustHandles="1" noChangeArrowheads="1" noChangeShapeType="1" noTextEdit="1"/>
                </p:cNvSpPr>
                <p:nvPr/>
              </p:nvSpPr>
              <p:spPr>
                <a:xfrm>
                  <a:off x="3888" y="2160"/>
                  <a:ext cx="240" cy="252"/>
                </a:xfrm>
                <a:prstGeom prst="rect">
                  <a:avLst/>
                </a:prstGeom>
                <a:blipFill>
                  <a:blip r:embed="rId5"/>
                  <a:stretch>
                    <a:fillRect r="-1587" b="-3077"/>
                  </a:stretch>
                </a:blipFill>
                <a:ln w="38100">
                  <a:noFill/>
                  <a:miter/>
                </a:ln>
              </p:spPr>
              <p:txBody>
                <a:bodyPr/>
                <a:lstStyle/>
                <a:p>
                  <a:r>
                    <a:rPr lang="zh-CN" altLang="en-US">
                      <a:noFill/>
                    </a:rPr>
                    <a:t> </a:t>
                  </a:r>
                </a:p>
              </p:txBody>
            </p:sp>
          </mc:Fallback>
        </mc:AlternateContent>
        <p:sp>
          <p:nvSpPr>
            <p:cNvPr id="42006" name="Line 11">
              <a:extLst>
                <a:ext uri="{FF2B5EF4-FFF2-40B4-BE49-F238E27FC236}">
                  <a16:creationId xmlns:a16="http://schemas.microsoft.com/office/drawing/2014/main" id="{E64068B1-3707-76EC-21B0-F371A375A656}"/>
                </a:ext>
              </a:extLst>
            </p:cNvPr>
            <p:cNvSpPr/>
            <p:nvPr/>
          </p:nvSpPr>
          <p:spPr>
            <a:xfrm flipV="1">
              <a:off x="3456" y="3600"/>
              <a:ext cx="1728" cy="8"/>
            </a:xfrm>
            <a:prstGeom prst="line">
              <a:avLst/>
            </a:prstGeom>
            <a:ln w="19050" cap="flat" cmpd="sng">
              <a:solidFill>
                <a:schemeClr val="tx1"/>
              </a:solidFill>
              <a:prstDash val="solid"/>
              <a:headEnd type="none" w="med" len="med"/>
              <a:tailEnd type="triangle" w="sm" len="lg"/>
            </a:ln>
          </p:spPr>
        </p:sp>
        <p:sp>
          <p:nvSpPr>
            <p:cNvPr id="42007" name="Line 12">
              <a:extLst>
                <a:ext uri="{FF2B5EF4-FFF2-40B4-BE49-F238E27FC236}">
                  <a16:creationId xmlns:a16="http://schemas.microsoft.com/office/drawing/2014/main" id="{5455A4B1-E230-F907-DD12-974587FD6285}"/>
                </a:ext>
              </a:extLst>
            </p:cNvPr>
            <p:cNvSpPr/>
            <p:nvPr/>
          </p:nvSpPr>
          <p:spPr>
            <a:xfrm flipH="1">
              <a:off x="3779" y="2353"/>
              <a:ext cx="14" cy="1249"/>
            </a:xfrm>
            <a:prstGeom prst="line">
              <a:avLst/>
            </a:prstGeom>
            <a:ln w="12700" cap="flat" cmpd="sng">
              <a:solidFill>
                <a:schemeClr val="tx1"/>
              </a:solidFill>
              <a:prstDash val="dash"/>
              <a:headEnd type="none" w="med" len="med"/>
              <a:tailEnd type="none" w="med" len="med"/>
            </a:ln>
          </p:spPr>
        </p:sp>
        <p:sp>
          <p:nvSpPr>
            <p:cNvPr id="42008" name="Line 13">
              <a:extLst>
                <a:ext uri="{FF2B5EF4-FFF2-40B4-BE49-F238E27FC236}">
                  <a16:creationId xmlns:a16="http://schemas.microsoft.com/office/drawing/2014/main" id="{9E3E144C-FA1D-E882-C665-495FF9E59166}"/>
                </a:ext>
              </a:extLst>
            </p:cNvPr>
            <p:cNvSpPr/>
            <p:nvPr/>
          </p:nvSpPr>
          <p:spPr>
            <a:xfrm>
              <a:off x="4848" y="3260"/>
              <a:ext cx="0" cy="342"/>
            </a:xfrm>
            <a:prstGeom prst="line">
              <a:avLst/>
            </a:prstGeom>
            <a:ln w="12700" cap="flat" cmpd="sng">
              <a:solidFill>
                <a:schemeClr val="tx1"/>
              </a:solidFill>
              <a:prstDash val="dash"/>
              <a:headEnd type="none" w="med" len="med"/>
              <a:tailEnd type="none" w="med" len="med"/>
            </a:ln>
          </p:spPr>
        </p:sp>
        <p:sp>
          <p:nvSpPr>
            <p:cNvPr id="42009" name="Line 14">
              <a:extLst>
                <a:ext uri="{FF2B5EF4-FFF2-40B4-BE49-F238E27FC236}">
                  <a16:creationId xmlns:a16="http://schemas.microsoft.com/office/drawing/2014/main" id="{17240CC6-B640-25F3-4A90-13E8902FBF9B}"/>
                </a:ext>
              </a:extLst>
            </p:cNvPr>
            <p:cNvSpPr/>
            <p:nvPr/>
          </p:nvSpPr>
          <p:spPr>
            <a:xfrm flipH="1">
              <a:off x="3449" y="2310"/>
              <a:ext cx="330" cy="0"/>
            </a:xfrm>
            <a:prstGeom prst="line">
              <a:avLst/>
            </a:prstGeom>
            <a:ln w="12700" cap="flat" cmpd="sng">
              <a:solidFill>
                <a:schemeClr val="tx1"/>
              </a:solidFill>
              <a:prstDash val="dash"/>
              <a:headEnd type="none" w="med" len="med"/>
              <a:tailEnd type="none" w="med" len="med"/>
            </a:ln>
          </p:spPr>
        </p:sp>
        <p:sp>
          <p:nvSpPr>
            <p:cNvPr id="42010" name="Text Box 15">
              <a:extLst>
                <a:ext uri="{FF2B5EF4-FFF2-40B4-BE49-F238E27FC236}">
                  <a16:creationId xmlns:a16="http://schemas.microsoft.com/office/drawing/2014/main" id="{BE428E63-4BF2-CE7C-0F17-D49E1A364B08}"/>
                </a:ext>
              </a:extLst>
            </p:cNvPr>
            <p:cNvSpPr txBox="1"/>
            <p:nvPr/>
          </p:nvSpPr>
          <p:spPr>
            <a:xfrm>
              <a:off x="4848" y="3168"/>
              <a:ext cx="289" cy="252"/>
            </a:xfrm>
            <a:prstGeom prst="rect">
              <a:avLst/>
            </a:prstGeom>
            <a:noFill/>
            <a:ln w="9525">
              <a:noFill/>
            </a:ln>
          </p:spPr>
          <p:txBody>
            <a:bodyPr>
              <a:spAutoFit/>
            </a:bodyPr>
            <a:lstStyle/>
            <a:p>
              <a:pPr>
                <a:spcBef>
                  <a:spcPct val="50000"/>
                </a:spcBef>
              </a:pPr>
              <a:r>
                <a:rPr lang="en-US" altLang="zh-CN" sz="2000" b="1" dirty="0">
                  <a:solidFill>
                    <a:srgbClr val="A50021"/>
                  </a:solidFill>
                  <a:latin typeface="Times New Roman" panose="02020603050405020304" pitchFamily="18" charset="0"/>
                </a:rPr>
                <a:t>1</a:t>
              </a:r>
            </a:p>
          </p:txBody>
        </p:sp>
        <p:sp>
          <p:nvSpPr>
            <p:cNvPr id="42011" name="Text Box 16">
              <a:extLst>
                <a:ext uri="{FF2B5EF4-FFF2-40B4-BE49-F238E27FC236}">
                  <a16:creationId xmlns:a16="http://schemas.microsoft.com/office/drawing/2014/main" id="{2D54BE58-E136-DBA1-D9D9-B817F1F52255}"/>
                </a:ext>
              </a:extLst>
            </p:cNvPr>
            <p:cNvSpPr txBox="1"/>
            <p:nvPr/>
          </p:nvSpPr>
          <p:spPr>
            <a:xfrm>
              <a:off x="3648" y="2016"/>
              <a:ext cx="288" cy="252"/>
            </a:xfrm>
            <a:prstGeom prst="rect">
              <a:avLst/>
            </a:prstGeom>
            <a:noFill/>
            <a:ln w="9525">
              <a:noFill/>
            </a:ln>
          </p:spPr>
          <p:txBody>
            <a:bodyPr>
              <a:spAutoFit/>
            </a:bodyPr>
            <a:lstStyle/>
            <a:p>
              <a:pPr>
                <a:spcBef>
                  <a:spcPct val="50000"/>
                </a:spcBef>
              </a:pPr>
              <a:r>
                <a:rPr lang="en-US" altLang="zh-CN" sz="2000" dirty="0">
                  <a:solidFill>
                    <a:srgbClr val="A50021"/>
                  </a:solidFill>
                  <a:latin typeface="Times New Roman" panose="02020603050405020304" pitchFamily="18" charset="0"/>
                </a:rPr>
                <a:t>2</a:t>
              </a:r>
              <a:endParaRPr lang="en-US" altLang="zh-CN" sz="2000" dirty="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41988" name="Object 17">
                  <a:extLst>
                    <a:ext uri="{FF2B5EF4-FFF2-40B4-BE49-F238E27FC236}">
                      <a16:creationId xmlns:a16="http://schemas.microsoft.com/office/drawing/2014/main" id="{BAA16F6E-57C7-DD7C-4B58-11414EFD1202}"/>
                    </a:ext>
                  </a:extLst>
                </p:cNvPr>
                <p:cNvSpPr txBox="1"/>
                <p:nvPr/>
              </p:nvSpPr>
              <p:spPr>
                <a:xfrm>
                  <a:off x="3168" y="3120"/>
                  <a:ext cx="264" cy="256"/>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𝑝</m:t>
                            </m:r>
                          </m:e>
                          <m:sub>
                            <m:r>
                              <a:rPr lang="en-US" sz="2000" i="1">
                                <a:solidFill>
                                  <a:srgbClr val="000000"/>
                                </a:solidFill>
                                <a:latin typeface="Cambria Math" panose="02040503050406030204" pitchFamily="18" charset="0"/>
                              </a:rPr>
                              <m:t>1</m:t>
                            </m:r>
                          </m:sub>
                        </m:sSub>
                      </m:oMath>
                    </m:oMathPara>
                  </a14:m>
                  <a:endParaRPr lang="en-US" sz="2000"/>
                </a:p>
              </p:txBody>
            </p:sp>
          </mc:Choice>
          <mc:Fallback xmlns="">
            <p:sp>
              <p:nvSpPr>
                <p:cNvPr id="41988" name="Object 17"/>
                <p:cNvSpPr txBox="1">
                  <a:spLocks noRot="1" noChangeAspect="1" noMove="1" noResize="1" noEditPoints="1" noAdjustHandles="1" noChangeArrowheads="1" noChangeShapeType="1" noTextEdit="1"/>
                </p:cNvSpPr>
                <p:nvPr/>
              </p:nvSpPr>
              <p:spPr>
                <a:xfrm>
                  <a:off x="3168" y="3120"/>
                  <a:ext cx="264" cy="256"/>
                </a:xfrm>
                <a:prstGeom prst="rect">
                  <a:avLst/>
                </a:prstGeom>
                <a:blipFill>
                  <a:blip r:embed="rId6"/>
                  <a:stretch>
                    <a:fillRect b="-7576"/>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989" name="Object 18">
                  <a:extLst>
                    <a:ext uri="{FF2B5EF4-FFF2-40B4-BE49-F238E27FC236}">
                      <a16:creationId xmlns:a16="http://schemas.microsoft.com/office/drawing/2014/main" id="{700A0268-4444-32DC-77E7-8FA188A6956F}"/>
                    </a:ext>
                  </a:extLst>
                </p:cNvPr>
                <p:cNvSpPr txBox="1"/>
                <p:nvPr/>
              </p:nvSpPr>
              <p:spPr>
                <a:xfrm>
                  <a:off x="3168" y="2208"/>
                  <a:ext cx="253" cy="246"/>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𝑝</m:t>
                            </m:r>
                          </m:e>
                          <m:sub>
                            <m:r>
                              <a:rPr lang="en-US" sz="2000" i="1">
                                <a:solidFill>
                                  <a:srgbClr val="000000"/>
                                </a:solidFill>
                                <a:latin typeface="Cambria Math" panose="02040503050406030204" pitchFamily="18" charset="0"/>
                              </a:rPr>
                              <m:t>2</m:t>
                            </m:r>
                          </m:sub>
                        </m:sSub>
                      </m:oMath>
                    </m:oMathPara>
                  </a14:m>
                  <a:endParaRPr lang="en-US" sz="2000"/>
                </a:p>
              </p:txBody>
            </p:sp>
          </mc:Choice>
          <mc:Fallback xmlns="">
            <p:sp>
              <p:nvSpPr>
                <p:cNvPr id="41989" name="Object 18"/>
                <p:cNvSpPr txBox="1">
                  <a:spLocks noRot="1" noChangeAspect="1" noMove="1" noResize="1" noEditPoints="1" noAdjustHandles="1" noChangeArrowheads="1" noChangeShapeType="1" noTextEdit="1"/>
                </p:cNvSpPr>
                <p:nvPr/>
              </p:nvSpPr>
              <p:spPr>
                <a:xfrm>
                  <a:off x="3168" y="2208"/>
                  <a:ext cx="253" cy="246"/>
                </a:xfrm>
                <a:prstGeom prst="rect">
                  <a:avLst/>
                </a:prstGeom>
                <a:blipFill>
                  <a:blip r:embed="rId7"/>
                  <a:stretch>
                    <a:fillRect b="-12500"/>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990" name="Object 19">
                  <a:extLst>
                    <a:ext uri="{FF2B5EF4-FFF2-40B4-BE49-F238E27FC236}">
                      <a16:creationId xmlns:a16="http://schemas.microsoft.com/office/drawing/2014/main" id="{3E1AF34A-4CC1-6295-94B8-8E071DFD9F16}"/>
                    </a:ext>
                  </a:extLst>
                </p:cNvPr>
                <p:cNvSpPr txBox="1"/>
                <p:nvPr/>
              </p:nvSpPr>
              <p:spPr>
                <a:xfrm>
                  <a:off x="4752" y="3594"/>
                  <a:ext cx="255" cy="342"/>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1</m:t>
                            </m:r>
                          </m:sub>
                        </m:sSub>
                      </m:oMath>
                    </m:oMathPara>
                  </a14:m>
                  <a:endParaRPr lang="en-US" sz="2000"/>
                </a:p>
              </p:txBody>
            </p:sp>
          </mc:Choice>
          <mc:Fallback xmlns="">
            <p:sp>
              <p:nvSpPr>
                <p:cNvPr id="41990" name="Object 19"/>
                <p:cNvSpPr txBox="1">
                  <a:spLocks noRot="1" noChangeAspect="1" noMove="1" noResize="1" noEditPoints="1" noAdjustHandles="1" noChangeArrowheads="1" noChangeShapeType="1" noTextEdit="1"/>
                </p:cNvSpPr>
                <p:nvPr/>
              </p:nvSpPr>
              <p:spPr>
                <a:xfrm>
                  <a:off x="4752" y="3594"/>
                  <a:ext cx="255" cy="342"/>
                </a:xfrm>
                <a:prstGeom prst="rect">
                  <a:avLst/>
                </a:prstGeom>
                <a:blipFill>
                  <a:blip r:embed="rId8"/>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991" name="Object 20">
                  <a:extLst>
                    <a:ext uri="{FF2B5EF4-FFF2-40B4-BE49-F238E27FC236}">
                      <a16:creationId xmlns:a16="http://schemas.microsoft.com/office/drawing/2014/main" id="{24B725A4-5E98-CABA-2A43-E6711E1C4CEA}"/>
                    </a:ext>
                  </a:extLst>
                </p:cNvPr>
                <p:cNvSpPr txBox="1"/>
                <p:nvPr/>
              </p:nvSpPr>
              <p:spPr>
                <a:xfrm>
                  <a:off x="3260" y="3616"/>
                  <a:ext cx="1687" cy="302"/>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2</m:t>
                            </m:r>
                          </m:sub>
                        </m:sSub>
                        <m:r>
                          <a:rPr lang="en-US" sz="2000" i="1">
                            <a:solidFill>
                              <a:srgbClr val="000000"/>
                            </a:solidFill>
                            <a:latin typeface="Cambria Math" panose="02040503050406030204" pitchFamily="18" charset="0"/>
                          </a:rPr>
                          <m:t>=</m:t>
                        </m:r>
                        <m:sSubSup>
                          <m:sSubSupPr>
                            <m:ctrlPr>
                              <a:rPr lang="en-US" sz="2000" i="1">
                                <a:solidFill>
                                  <a:srgbClr val="000000"/>
                                </a:solidFill>
                                <a:latin typeface="Cambria Math" panose="02040503050406030204" pitchFamily="18" charset="0"/>
                              </a:rPr>
                            </m:ctrlPr>
                          </m:sSubSup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2</m:t>
                            </m:r>
                          </m:sub>
                          <m:sup>
                            <m:r>
                              <a:rPr lang="en-US" sz="2000" i="1">
                                <a:solidFill>
                                  <a:srgbClr val="000000"/>
                                </a:solidFill>
                                <a:latin typeface="Cambria Math" panose="02040503050406030204" pitchFamily="18" charset="0"/>
                              </a:rPr>
                              <m:t>′</m:t>
                            </m:r>
                          </m:sup>
                        </m:sSubSup>
                        <m:r>
                          <a:rPr lang="en-US" sz="2000" i="1">
                            <a:solidFill>
                              <a:srgbClr val="000000"/>
                            </a:solidFill>
                            <a:latin typeface="Cambria Math" panose="02040503050406030204" pitchFamily="18" charset="0"/>
                          </a:rPr>
                          <m:t>=</m:t>
                        </m:r>
                        <m:f>
                          <m:fPr>
                            <m:type m:val="lin"/>
                            <m:ctrlPr>
                              <a:rPr lang="en-US" sz="2000" i="1">
                                <a:solidFill>
                                  <a:srgbClr val="000000"/>
                                </a:solidFill>
                                <a:latin typeface="Cambria Math" panose="02040503050406030204" pitchFamily="18" charset="0"/>
                              </a:rPr>
                            </m:ctrlPr>
                          </m:fPr>
                          <m:num>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1</m:t>
                                </m:r>
                              </m:sub>
                            </m:sSub>
                          </m:num>
                          <m:den>
                            <m:r>
                              <a:rPr lang="en-US" sz="2000" i="1">
                                <a:solidFill>
                                  <a:srgbClr val="000000"/>
                                </a:solidFill>
                                <a:latin typeface="Cambria Math" panose="02040503050406030204" pitchFamily="18" charset="0"/>
                              </a:rPr>
                              <m:t>10</m:t>
                            </m:r>
                          </m:den>
                        </m:f>
                      </m:oMath>
                    </m:oMathPara>
                  </a14:m>
                  <a:endParaRPr lang="en-US" sz="2000" dirty="0"/>
                </a:p>
              </p:txBody>
            </p:sp>
          </mc:Choice>
          <mc:Fallback xmlns="">
            <p:sp>
              <p:nvSpPr>
                <p:cNvPr id="41991" name="Object 20"/>
                <p:cNvSpPr txBox="1">
                  <a:spLocks noRot="1" noChangeAspect="1" noMove="1" noResize="1" noEditPoints="1" noAdjustHandles="1" noChangeArrowheads="1" noChangeShapeType="1" noTextEdit="1"/>
                </p:cNvSpPr>
                <p:nvPr/>
              </p:nvSpPr>
              <p:spPr>
                <a:xfrm>
                  <a:off x="3260" y="3616"/>
                  <a:ext cx="1687" cy="302"/>
                </a:xfrm>
                <a:prstGeom prst="rect">
                  <a:avLst/>
                </a:prstGeom>
                <a:blipFill>
                  <a:blip r:embed="rId9"/>
                  <a:stretch>
                    <a:fillRect t="-96203" r="-3189" b="-132911"/>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992" name="Object 21">
                  <a:extLst>
                    <a:ext uri="{FF2B5EF4-FFF2-40B4-BE49-F238E27FC236}">
                      <a16:creationId xmlns:a16="http://schemas.microsoft.com/office/drawing/2014/main" id="{9B9AA769-AF13-CDEA-4F3E-FBE261B41220}"/>
                    </a:ext>
                  </a:extLst>
                </p:cNvPr>
                <p:cNvSpPr txBox="1"/>
                <p:nvPr/>
              </p:nvSpPr>
              <p:spPr>
                <a:xfrm>
                  <a:off x="3210" y="2054"/>
                  <a:ext cx="183" cy="224"/>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000" i="1">
                            <a:solidFill>
                              <a:srgbClr val="000000"/>
                            </a:solidFill>
                            <a:latin typeface="Cambria Math" panose="02040503050406030204" pitchFamily="18" charset="0"/>
                          </a:rPr>
                          <m:t>𝑝</m:t>
                        </m:r>
                      </m:oMath>
                    </m:oMathPara>
                  </a14:m>
                  <a:endParaRPr lang="en-US" sz="2000"/>
                </a:p>
              </p:txBody>
            </p:sp>
          </mc:Choice>
          <mc:Fallback xmlns="">
            <p:sp>
              <p:nvSpPr>
                <p:cNvPr id="41992" name="Object 21"/>
                <p:cNvSpPr txBox="1">
                  <a:spLocks noRot="1" noChangeAspect="1" noMove="1" noResize="1" noEditPoints="1" noAdjustHandles="1" noChangeArrowheads="1" noChangeShapeType="1" noTextEdit="1"/>
                </p:cNvSpPr>
                <p:nvPr/>
              </p:nvSpPr>
              <p:spPr>
                <a:xfrm>
                  <a:off x="3210" y="2054"/>
                  <a:ext cx="183" cy="224"/>
                </a:xfrm>
                <a:prstGeom prst="rect">
                  <a:avLst/>
                </a:prstGeom>
                <a:blipFill>
                  <a:blip r:embed="rId10"/>
                  <a:stretch>
                    <a:fillRect r="-12766" b="-24138"/>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993" name="Object 22">
                  <a:extLst>
                    <a:ext uri="{FF2B5EF4-FFF2-40B4-BE49-F238E27FC236}">
                      <a16:creationId xmlns:a16="http://schemas.microsoft.com/office/drawing/2014/main" id="{5D0416DC-B457-0076-E718-CD78FDFF2CC1}"/>
                    </a:ext>
                  </a:extLst>
                </p:cNvPr>
                <p:cNvSpPr txBox="1"/>
                <p:nvPr/>
              </p:nvSpPr>
              <p:spPr>
                <a:xfrm>
                  <a:off x="4992" y="3648"/>
                  <a:ext cx="168" cy="196"/>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000" i="1">
                            <a:solidFill>
                              <a:srgbClr val="000000"/>
                            </a:solidFill>
                            <a:latin typeface="Cambria Math" panose="02040503050406030204" pitchFamily="18" charset="0"/>
                          </a:rPr>
                          <m:t>𝑉</m:t>
                        </m:r>
                      </m:oMath>
                    </m:oMathPara>
                  </a14:m>
                  <a:endParaRPr lang="en-US" sz="2000" dirty="0"/>
                </a:p>
              </p:txBody>
            </p:sp>
          </mc:Choice>
          <mc:Fallback xmlns="">
            <p:sp>
              <p:nvSpPr>
                <p:cNvPr id="41993" name="Object 22"/>
                <p:cNvSpPr txBox="1">
                  <a:spLocks noRot="1" noChangeAspect="1" noMove="1" noResize="1" noEditPoints="1" noAdjustHandles="1" noChangeArrowheads="1" noChangeShapeType="1" noTextEdit="1"/>
                </p:cNvSpPr>
                <p:nvPr/>
              </p:nvSpPr>
              <p:spPr>
                <a:xfrm>
                  <a:off x="4992" y="3648"/>
                  <a:ext cx="168" cy="196"/>
                </a:xfrm>
                <a:prstGeom prst="rect">
                  <a:avLst/>
                </a:prstGeom>
                <a:blipFill>
                  <a:blip r:embed="rId11"/>
                  <a:stretch>
                    <a:fillRect r="-25000" b="-21569"/>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994" name="Object 23">
                  <a:extLst>
                    <a:ext uri="{FF2B5EF4-FFF2-40B4-BE49-F238E27FC236}">
                      <a16:creationId xmlns:a16="http://schemas.microsoft.com/office/drawing/2014/main" id="{7E94174C-86B0-D434-0C2B-7CED62A67A47}"/>
                    </a:ext>
                  </a:extLst>
                </p:cNvPr>
                <p:cNvSpPr txBox="1"/>
                <p:nvPr/>
              </p:nvSpPr>
              <p:spPr>
                <a:xfrm>
                  <a:off x="3207" y="3552"/>
                  <a:ext cx="160" cy="192"/>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000" i="1">
                            <a:solidFill>
                              <a:srgbClr val="000000"/>
                            </a:solidFill>
                            <a:latin typeface="Cambria Math" panose="02040503050406030204" pitchFamily="18" charset="0"/>
                          </a:rPr>
                          <m:t>𝑜</m:t>
                        </m:r>
                      </m:oMath>
                    </m:oMathPara>
                  </a14:m>
                  <a:endParaRPr lang="en-US" sz="2000"/>
                </a:p>
              </p:txBody>
            </p:sp>
          </mc:Choice>
          <mc:Fallback xmlns="">
            <p:sp>
              <p:nvSpPr>
                <p:cNvPr id="41994" name="Object 23"/>
                <p:cNvSpPr txBox="1">
                  <a:spLocks noRot="1" noChangeAspect="1" noMove="1" noResize="1" noEditPoints="1" noAdjustHandles="1" noChangeArrowheads="1" noChangeShapeType="1" noTextEdit="1"/>
                </p:cNvSpPr>
                <p:nvPr/>
              </p:nvSpPr>
              <p:spPr>
                <a:xfrm>
                  <a:off x="3207" y="3552"/>
                  <a:ext cx="160" cy="192"/>
                </a:xfrm>
                <a:prstGeom prst="rect">
                  <a:avLst/>
                </a:prstGeom>
                <a:blipFill>
                  <a:blip r:embed="rId12"/>
                  <a:stretch>
                    <a:fillRect r="-14286" b="-16000"/>
                  </a:stretch>
                </a:blipFill>
                <a:ln w="38100">
                  <a:noFill/>
                  <a:miter/>
                </a:ln>
              </p:spPr>
              <p:txBody>
                <a:bodyPr/>
                <a:lstStyle/>
                <a:p>
                  <a:r>
                    <a:rPr lang="zh-CN" altLang="en-US">
                      <a:noFill/>
                    </a:rPr>
                    <a:t> </a:t>
                  </a:r>
                </a:p>
              </p:txBody>
            </p:sp>
          </mc:Fallback>
        </mc:AlternateContent>
        <p:sp>
          <p:nvSpPr>
            <p:cNvPr id="42012" name="Line 24">
              <a:extLst>
                <a:ext uri="{FF2B5EF4-FFF2-40B4-BE49-F238E27FC236}">
                  <a16:creationId xmlns:a16="http://schemas.microsoft.com/office/drawing/2014/main" id="{2E3FB6C5-AA91-BBE4-53AD-6E6C3BAA87D3}"/>
                </a:ext>
              </a:extLst>
            </p:cNvPr>
            <p:cNvSpPr/>
            <p:nvPr/>
          </p:nvSpPr>
          <p:spPr>
            <a:xfrm flipV="1">
              <a:off x="3434" y="2096"/>
              <a:ext cx="0" cy="1498"/>
            </a:xfrm>
            <a:prstGeom prst="line">
              <a:avLst/>
            </a:prstGeom>
            <a:ln w="12700" cap="flat" cmpd="sng">
              <a:solidFill>
                <a:schemeClr val="tx1"/>
              </a:solidFill>
              <a:prstDash val="solid"/>
              <a:headEnd type="none" w="med" len="med"/>
              <a:tailEnd type="triangle" w="sm" len="lg"/>
            </a:ln>
          </p:spPr>
        </p:sp>
        <p:sp>
          <p:nvSpPr>
            <p:cNvPr id="42013" name="Line 25">
              <a:extLst>
                <a:ext uri="{FF2B5EF4-FFF2-40B4-BE49-F238E27FC236}">
                  <a16:creationId xmlns:a16="http://schemas.microsoft.com/office/drawing/2014/main" id="{36F3A242-8EE4-E8B6-351B-C3C932256DCA}"/>
                </a:ext>
              </a:extLst>
            </p:cNvPr>
            <p:cNvSpPr/>
            <p:nvPr/>
          </p:nvSpPr>
          <p:spPr>
            <a:xfrm flipH="1" flipV="1">
              <a:off x="3449" y="3260"/>
              <a:ext cx="1399" cy="4"/>
            </a:xfrm>
            <a:prstGeom prst="line">
              <a:avLst/>
            </a:prstGeom>
            <a:ln w="12700" cap="flat" cmpd="sng">
              <a:solidFill>
                <a:schemeClr val="tx1"/>
              </a:solidFill>
              <a:prstDash val="dash"/>
              <a:headEnd type="none" w="med" len="med"/>
              <a:tailEnd type="none" w="med" len="med"/>
            </a:ln>
          </p:spPr>
        </p:sp>
        <p:sp>
          <p:nvSpPr>
            <p:cNvPr id="42014" name="Freeform 26">
              <a:extLst>
                <a:ext uri="{FF2B5EF4-FFF2-40B4-BE49-F238E27FC236}">
                  <a16:creationId xmlns:a16="http://schemas.microsoft.com/office/drawing/2014/main" id="{31E3AB7D-31C1-7815-A54F-A83753C0B57E}"/>
                </a:ext>
              </a:extLst>
            </p:cNvPr>
            <p:cNvSpPr/>
            <p:nvPr/>
          </p:nvSpPr>
          <p:spPr>
            <a:xfrm>
              <a:off x="4032" y="2736"/>
              <a:ext cx="96" cy="144"/>
            </a:xfrm>
            <a:custGeom>
              <a:avLst/>
              <a:gdLst>
                <a:gd name="txL" fmla="*/ 0 w 103"/>
                <a:gd name="txT" fmla="*/ 0 h 137"/>
                <a:gd name="txR" fmla="*/ 103 w 103"/>
                <a:gd name="txB" fmla="*/ 137 h 137"/>
              </a:gdLst>
              <a:ahLst/>
              <a:cxnLst>
                <a:cxn ang="0">
                  <a:pos x="0" y="0"/>
                </a:cxn>
                <a:cxn ang="0">
                  <a:pos x="96" y="144"/>
                </a:cxn>
              </a:cxnLst>
              <a:rect l="txL" t="txT" r="txR" b="txB"/>
              <a:pathLst>
                <a:path w="103" h="137">
                  <a:moveTo>
                    <a:pt x="0" y="0"/>
                  </a:moveTo>
                  <a:lnTo>
                    <a:pt x="103" y="137"/>
                  </a:lnTo>
                </a:path>
              </a:pathLst>
            </a:custGeom>
            <a:noFill/>
            <a:ln w="38100" cap="flat" cmpd="sng">
              <a:solidFill>
                <a:srgbClr val="CC0099">
                  <a:alpha val="100000"/>
                </a:srgbClr>
              </a:solidFill>
              <a:prstDash val="solid"/>
              <a:round/>
              <a:headEnd type="triangle" w="sm" len="lg"/>
              <a:tailEnd type="none" w="med" len="lg"/>
            </a:ln>
          </p:spPr>
          <p:txBody>
            <a:bodyPr/>
            <a:lstStyle/>
            <a:p>
              <a:endParaRPr lang="zh-CN" altLang="en-US" sz="2000"/>
            </a:p>
          </p:txBody>
        </p:sp>
        <p:sp>
          <p:nvSpPr>
            <p:cNvPr id="42015" name="Freeform 27">
              <a:extLst>
                <a:ext uri="{FF2B5EF4-FFF2-40B4-BE49-F238E27FC236}">
                  <a16:creationId xmlns:a16="http://schemas.microsoft.com/office/drawing/2014/main" id="{17AD7245-88F4-FCD5-6989-1BE3D41C5F31}"/>
                </a:ext>
              </a:extLst>
            </p:cNvPr>
            <p:cNvSpPr/>
            <p:nvPr/>
          </p:nvSpPr>
          <p:spPr>
            <a:xfrm>
              <a:off x="3778" y="2901"/>
              <a:ext cx="1070" cy="370"/>
            </a:xfrm>
            <a:custGeom>
              <a:avLst/>
              <a:gdLst>
                <a:gd name="txL" fmla="*/ 0 w 1070"/>
                <a:gd name="txT" fmla="*/ 0 h 370"/>
                <a:gd name="txR" fmla="*/ 1070 w 1070"/>
                <a:gd name="txB" fmla="*/ 370 h 370"/>
              </a:gdLst>
              <a:ahLst/>
              <a:cxnLst>
                <a:cxn ang="0">
                  <a:pos x="1070" y="370"/>
                </a:cxn>
                <a:cxn ang="0">
                  <a:pos x="467" y="253"/>
                </a:cxn>
                <a:cxn ang="0">
                  <a:pos x="165" y="137"/>
                </a:cxn>
                <a:cxn ang="0">
                  <a:pos x="0" y="0"/>
                </a:cxn>
              </a:cxnLst>
              <a:rect l="txL" t="txT" r="txR" b="txB"/>
              <a:pathLst>
                <a:path w="1070" h="370">
                  <a:moveTo>
                    <a:pt x="1070" y="370"/>
                  </a:moveTo>
                  <a:cubicBezTo>
                    <a:pt x="970" y="351"/>
                    <a:pt x="618" y="292"/>
                    <a:pt x="467" y="253"/>
                  </a:cubicBezTo>
                  <a:cubicBezTo>
                    <a:pt x="316" y="214"/>
                    <a:pt x="243" y="179"/>
                    <a:pt x="165" y="137"/>
                  </a:cubicBezTo>
                  <a:cubicBezTo>
                    <a:pt x="87" y="95"/>
                    <a:pt x="34" y="29"/>
                    <a:pt x="0" y="0"/>
                  </a:cubicBezTo>
                </a:path>
              </a:pathLst>
            </a:custGeom>
            <a:noFill/>
            <a:ln w="28575" cap="flat" cmpd="sng">
              <a:solidFill>
                <a:srgbClr val="0000FF">
                  <a:alpha val="100000"/>
                </a:srgbClr>
              </a:solidFill>
              <a:prstDash val="solid"/>
              <a:round/>
              <a:headEnd type="none" w="med" len="med"/>
              <a:tailEnd type="none" w="med" len="med"/>
            </a:ln>
          </p:spPr>
          <p:txBody>
            <a:bodyPr/>
            <a:lstStyle/>
            <a:p>
              <a:endParaRPr lang="zh-CN" altLang="en-US" sz="2000"/>
            </a:p>
          </p:txBody>
        </p:sp>
        <p:sp>
          <p:nvSpPr>
            <p:cNvPr id="42016" name="Freeform 28">
              <a:extLst>
                <a:ext uri="{FF2B5EF4-FFF2-40B4-BE49-F238E27FC236}">
                  <a16:creationId xmlns:a16="http://schemas.microsoft.com/office/drawing/2014/main" id="{232AEC80-E2DD-79F8-1A90-40F80D628CCE}"/>
                </a:ext>
              </a:extLst>
            </p:cNvPr>
            <p:cNvSpPr/>
            <p:nvPr/>
          </p:nvSpPr>
          <p:spPr>
            <a:xfrm>
              <a:off x="3792" y="2304"/>
              <a:ext cx="1056" cy="960"/>
            </a:xfrm>
            <a:custGeom>
              <a:avLst/>
              <a:gdLst>
                <a:gd name="txL" fmla="*/ 0 w 1056"/>
                <a:gd name="txT" fmla="*/ 0 h 960"/>
                <a:gd name="txR" fmla="*/ 1056 w 1056"/>
                <a:gd name="txB" fmla="*/ 960 h 960"/>
              </a:gdLst>
              <a:ahLst/>
              <a:cxnLst>
                <a:cxn ang="0">
                  <a:pos x="1056" y="960"/>
                </a:cxn>
                <a:cxn ang="0">
                  <a:pos x="631" y="795"/>
                </a:cxn>
                <a:cxn ang="0">
                  <a:pos x="377" y="610"/>
                </a:cxn>
                <a:cxn ang="0">
                  <a:pos x="192" y="363"/>
                </a:cxn>
                <a:cxn ang="0">
                  <a:pos x="0" y="0"/>
                </a:cxn>
              </a:cxnLst>
              <a:rect l="txL" t="txT" r="txR" b="txB"/>
              <a:pathLst>
                <a:path w="1056" h="960">
                  <a:moveTo>
                    <a:pt x="1056" y="960"/>
                  </a:moveTo>
                  <a:cubicBezTo>
                    <a:pt x="985" y="932"/>
                    <a:pt x="744" y="853"/>
                    <a:pt x="631" y="795"/>
                  </a:cubicBezTo>
                  <a:cubicBezTo>
                    <a:pt x="518" y="737"/>
                    <a:pt x="450" y="682"/>
                    <a:pt x="377" y="610"/>
                  </a:cubicBezTo>
                  <a:cubicBezTo>
                    <a:pt x="304" y="538"/>
                    <a:pt x="255" y="465"/>
                    <a:pt x="192" y="363"/>
                  </a:cubicBezTo>
                  <a:cubicBezTo>
                    <a:pt x="129" y="261"/>
                    <a:pt x="40" y="76"/>
                    <a:pt x="0" y="0"/>
                  </a:cubicBezTo>
                </a:path>
              </a:pathLst>
            </a:custGeom>
            <a:noFill/>
            <a:ln w="28575" cap="flat" cmpd="sng">
              <a:solidFill>
                <a:srgbClr val="CC0099">
                  <a:alpha val="100000"/>
                </a:srgbClr>
              </a:solidFill>
              <a:prstDash val="solid"/>
              <a:round/>
              <a:headEnd type="none" w="med" len="med"/>
              <a:tailEnd type="none" w="med" len="med"/>
            </a:ln>
          </p:spPr>
          <p:txBody>
            <a:bodyPr/>
            <a:lstStyle/>
            <a:p>
              <a:endParaRPr lang="zh-CN" altLang="en-US" sz="2000"/>
            </a:p>
          </p:txBody>
        </p:sp>
        <p:sp>
          <p:nvSpPr>
            <p:cNvPr id="42017" name="Freeform 29">
              <a:extLst>
                <a:ext uri="{FF2B5EF4-FFF2-40B4-BE49-F238E27FC236}">
                  <a16:creationId xmlns:a16="http://schemas.microsoft.com/office/drawing/2014/main" id="{0CDCE932-375B-A4FF-DC43-96419B765346}"/>
                </a:ext>
              </a:extLst>
            </p:cNvPr>
            <p:cNvSpPr/>
            <p:nvPr/>
          </p:nvSpPr>
          <p:spPr>
            <a:xfrm>
              <a:off x="4128" y="3120"/>
              <a:ext cx="192" cy="48"/>
            </a:xfrm>
            <a:custGeom>
              <a:avLst/>
              <a:gdLst>
                <a:gd name="txL" fmla="*/ 0 w 103"/>
                <a:gd name="txT" fmla="*/ 0 h 137"/>
                <a:gd name="txR" fmla="*/ 103 w 103"/>
                <a:gd name="txB" fmla="*/ 137 h 137"/>
              </a:gdLst>
              <a:ahLst/>
              <a:cxnLst>
                <a:cxn ang="0">
                  <a:pos x="0" y="0"/>
                </a:cxn>
                <a:cxn ang="0">
                  <a:pos x="192" y="48"/>
                </a:cxn>
              </a:cxnLst>
              <a:rect l="txL" t="txT" r="txR" b="txB"/>
              <a:pathLst>
                <a:path w="103" h="137">
                  <a:moveTo>
                    <a:pt x="0" y="0"/>
                  </a:moveTo>
                  <a:lnTo>
                    <a:pt x="103" y="137"/>
                  </a:lnTo>
                </a:path>
              </a:pathLst>
            </a:custGeom>
            <a:noFill/>
            <a:ln w="38100" cap="flat" cmpd="sng">
              <a:solidFill>
                <a:srgbClr val="0000FF">
                  <a:alpha val="100000"/>
                </a:srgbClr>
              </a:solidFill>
              <a:prstDash val="solid"/>
              <a:round/>
              <a:headEnd type="triangle" w="sm" len="lg"/>
              <a:tailEnd type="none" w="med" len="lg"/>
            </a:ln>
          </p:spPr>
          <p:txBody>
            <a:bodyPr/>
            <a:lstStyle/>
            <a:p>
              <a:endParaRPr lang="zh-CN" altLang="en-US" sz="2000"/>
            </a:p>
          </p:txBody>
        </p:sp>
        <p:sp>
          <p:nvSpPr>
            <p:cNvPr id="42018" name="Line 30">
              <a:extLst>
                <a:ext uri="{FF2B5EF4-FFF2-40B4-BE49-F238E27FC236}">
                  <a16:creationId xmlns:a16="http://schemas.microsoft.com/office/drawing/2014/main" id="{251C9D93-3FC0-407D-1F96-092A77CB92E5}"/>
                </a:ext>
              </a:extLst>
            </p:cNvPr>
            <p:cNvSpPr/>
            <p:nvPr/>
          </p:nvSpPr>
          <p:spPr>
            <a:xfrm flipH="1">
              <a:off x="3408" y="2928"/>
              <a:ext cx="378" cy="0"/>
            </a:xfrm>
            <a:prstGeom prst="line">
              <a:avLst/>
            </a:prstGeom>
            <a:ln w="12700" cap="flat" cmpd="sng">
              <a:solidFill>
                <a:schemeClr val="tx1"/>
              </a:solidFill>
              <a:prstDash val="dash"/>
              <a:headEnd type="none" w="med" len="med"/>
              <a:tailEnd type="none" w="med" len="med"/>
            </a:ln>
          </p:spPr>
        </p:sp>
        <mc:AlternateContent xmlns:mc="http://schemas.openxmlformats.org/markup-compatibility/2006" xmlns:a14="http://schemas.microsoft.com/office/drawing/2010/main">
          <mc:Choice Requires="a14">
            <p:sp>
              <p:nvSpPr>
                <p:cNvPr id="41995" name="Object 31">
                  <a:extLst>
                    <a:ext uri="{FF2B5EF4-FFF2-40B4-BE49-F238E27FC236}">
                      <a16:creationId xmlns:a16="http://schemas.microsoft.com/office/drawing/2014/main" id="{F72C3C43-CC98-7FD0-0460-C5B0E5C90FEE}"/>
                    </a:ext>
                  </a:extLst>
                </p:cNvPr>
                <p:cNvSpPr txBox="1"/>
                <p:nvPr/>
              </p:nvSpPr>
              <p:spPr>
                <a:xfrm>
                  <a:off x="3168" y="2688"/>
                  <a:ext cx="253" cy="286"/>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Sup>
                          <m:sSubSupPr>
                            <m:ctrlPr>
                              <a:rPr lang="en-US" sz="2000" i="1">
                                <a:solidFill>
                                  <a:srgbClr val="000000"/>
                                </a:solidFill>
                                <a:latin typeface="Cambria Math" panose="02040503050406030204" pitchFamily="18" charset="0"/>
                              </a:rPr>
                            </m:ctrlPr>
                          </m:sSubSupPr>
                          <m:e>
                            <m:r>
                              <a:rPr lang="en-US" sz="2000" i="1">
                                <a:solidFill>
                                  <a:srgbClr val="000000"/>
                                </a:solidFill>
                                <a:latin typeface="Cambria Math" panose="02040503050406030204" pitchFamily="18" charset="0"/>
                              </a:rPr>
                              <m:t>𝑝</m:t>
                            </m:r>
                          </m:e>
                          <m:sub>
                            <m:r>
                              <a:rPr lang="en-US" sz="2000" i="1">
                                <a:solidFill>
                                  <a:srgbClr val="000000"/>
                                </a:solidFill>
                                <a:latin typeface="Cambria Math" panose="02040503050406030204" pitchFamily="18" charset="0"/>
                              </a:rPr>
                              <m:t>2</m:t>
                            </m:r>
                          </m:sub>
                          <m:sup>
                            <m:r>
                              <a:rPr lang="en-US" sz="2000" i="1">
                                <a:solidFill>
                                  <a:srgbClr val="000000"/>
                                </a:solidFill>
                                <a:latin typeface="Cambria Math" panose="02040503050406030204" pitchFamily="18" charset="0"/>
                              </a:rPr>
                              <m:t>′</m:t>
                            </m:r>
                          </m:sup>
                        </m:sSubSup>
                      </m:oMath>
                    </m:oMathPara>
                  </a14:m>
                  <a:endParaRPr lang="en-US" sz="2000"/>
                </a:p>
              </p:txBody>
            </p:sp>
          </mc:Choice>
          <mc:Fallback xmlns="">
            <p:sp>
              <p:nvSpPr>
                <p:cNvPr id="41995" name="Object 31"/>
                <p:cNvSpPr txBox="1">
                  <a:spLocks noRot="1" noChangeAspect="1" noMove="1" noResize="1" noEditPoints="1" noAdjustHandles="1" noChangeArrowheads="1" noChangeShapeType="1" noTextEdit="1"/>
                </p:cNvSpPr>
                <p:nvPr/>
              </p:nvSpPr>
              <p:spPr>
                <a:xfrm>
                  <a:off x="3168" y="2688"/>
                  <a:ext cx="253" cy="286"/>
                </a:xfrm>
                <a:prstGeom prst="rect">
                  <a:avLst/>
                </a:prstGeom>
                <a:blipFill>
                  <a:blip r:embed="rId13"/>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996" name="Object 32">
                  <a:extLst>
                    <a:ext uri="{FF2B5EF4-FFF2-40B4-BE49-F238E27FC236}">
                      <a16:creationId xmlns:a16="http://schemas.microsoft.com/office/drawing/2014/main" id="{AA9EE192-7800-8368-8E1A-3364D34065E5}"/>
                    </a:ext>
                  </a:extLst>
                </p:cNvPr>
                <p:cNvSpPr txBox="1"/>
                <p:nvPr/>
              </p:nvSpPr>
              <p:spPr>
                <a:xfrm>
                  <a:off x="4623" y="2140"/>
                  <a:ext cx="705" cy="292"/>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Sup>
                          <m:sSubSupPr>
                            <m:ctrlPr>
                              <a:rPr lang="en-US" sz="2000" i="1">
                                <a:solidFill>
                                  <a:srgbClr val="000000"/>
                                </a:solidFill>
                                <a:latin typeface="Cambria Math" panose="02040503050406030204" pitchFamily="18" charset="0"/>
                              </a:rPr>
                            </m:ctrlPr>
                          </m:sSubSupPr>
                          <m:e>
                            <m:r>
                              <a:rPr lang="en-US" sz="2000" i="1">
                                <a:solidFill>
                                  <a:srgbClr val="000000"/>
                                </a:solidFill>
                                <a:latin typeface="Cambria Math" panose="02040503050406030204" pitchFamily="18" charset="0"/>
                              </a:rPr>
                              <m:t>𝑇</m:t>
                            </m:r>
                          </m:e>
                          <m:sub>
                            <m:r>
                              <a:rPr lang="en-US" sz="2000" i="1">
                                <a:solidFill>
                                  <a:srgbClr val="000000"/>
                                </a:solidFill>
                                <a:latin typeface="Cambria Math" panose="02040503050406030204" pitchFamily="18" charset="0"/>
                              </a:rPr>
                              <m:t>2</m:t>
                            </m:r>
                          </m:sub>
                          <m:sup>
                            <m:r>
                              <a:rPr lang="en-US" sz="2000" i="1">
                                <a:solidFill>
                                  <a:srgbClr val="000000"/>
                                </a:solidFill>
                                <a:latin typeface="Cambria Math" panose="02040503050406030204" pitchFamily="18" charset="0"/>
                              </a:rPr>
                              <m:t>′</m:t>
                            </m:r>
                          </m:sup>
                        </m:sSubSup>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𝑇</m:t>
                            </m:r>
                          </m:e>
                          <m:sub>
                            <m:r>
                              <a:rPr lang="en-US" sz="2000" i="1">
                                <a:solidFill>
                                  <a:srgbClr val="000000"/>
                                </a:solidFill>
                                <a:latin typeface="Cambria Math" panose="02040503050406030204" pitchFamily="18" charset="0"/>
                              </a:rPr>
                              <m:t>1</m:t>
                            </m:r>
                          </m:sub>
                        </m:sSub>
                      </m:oMath>
                    </m:oMathPara>
                  </a14:m>
                  <a:endParaRPr lang="en-US" sz="2000" dirty="0"/>
                </a:p>
              </p:txBody>
            </p:sp>
          </mc:Choice>
          <mc:Fallback xmlns="">
            <p:sp>
              <p:nvSpPr>
                <p:cNvPr id="41996" name="Object 32"/>
                <p:cNvSpPr txBox="1">
                  <a:spLocks noRot="1" noChangeAspect="1" noMove="1" noResize="1" noEditPoints="1" noAdjustHandles="1" noChangeArrowheads="1" noChangeShapeType="1" noTextEdit="1"/>
                </p:cNvSpPr>
                <p:nvPr/>
              </p:nvSpPr>
              <p:spPr>
                <a:xfrm>
                  <a:off x="4623" y="2140"/>
                  <a:ext cx="705" cy="292"/>
                </a:xfrm>
                <a:prstGeom prst="rect">
                  <a:avLst/>
                </a:prstGeom>
                <a:blipFill>
                  <a:blip r:embed="rId14"/>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997" name="Object 33">
                  <a:extLst>
                    <a:ext uri="{FF2B5EF4-FFF2-40B4-BE49-F238E27FC236}">
                      <a16:creationId xmlns:a16="http://schemas.microsoft.com/office/drawing/2014/main" id="{CD173581-28AE-A894-0066-67021DD919E2}"/>
                    </a:ext>
                  </a:extLst>
                </p:cNvPr>
                <p:cNvSpPr txBox="1"/>
                <p:nvPr/>
              </p:nvSpPr>
              <p:spPr>
                <a:xfrm>
                  <a:off x="4224" y="2496"/>
                  <a:ext cx="576" cy="233"/>
                </a:xfrm>
                <a:prstGeom prst="rect">
                  <a:avLst/>
                </a:prstGeom>
                <a:noFill/>
                <a:ln w="9525" cap="flat" cmpd="sng">
                  <a:noFill/>
                  <a:prstDash val="solid"/>
                  <a:miter/>
                  <a:headEnd type="none" w="med" len="med"/>
                  <a:tailEnd type="none" w="med" len="med"/>
                </a:ln>
              </p:spPr>
              <p:txBody>
                <a:bodyPr>
                  <a:noAutofit/>
                </a:bodyPr>
                <a:lstStyle/>
                <a:p>
                  <a:pPr/>
                  <a14:m>
                    <m:oMathPara xmlns:m="http://schemas.openxmlformats.org/officeDocument/2006/math">
                      <m:oMathParaPr>
                        <m:jc m:val="centerGroup"/>
                      </m:oMathParaPr>
                      <m:oMath xmlns:m="http://schemas.openxmlformats.org/officeDocument/2006/math">
                        <m:r>
                          <a:rPr lang="en-US" sz="2000" i="1">
                            <a:solidFill>
                              <a:srgbClr val="000000"/>
                            </a:solidFill>
                            <a:latin typeface="Cambria Math" panose="02040503050406030204" pitchFamily="18" charset="0"/>
                          </a:rPr>
                          <m:t>𝑄</m:t>
                        </m:r>
                        <m:r>
                          <a:rPr lang="en-US" sz="2000" i="1">
                            <a:solidFill>
                              <a:srgbClr val="000000"/>
                            </a:solidFill>
                            <a:latin typeface="Cambria Math" panose="02040503050406030204" pitchFamily="18" charset="0"/>
                          </a:rPr>
                          <m:t>=0</m:t>
                        </m:r>
                      </m:oMath>
                    </m:oMathPara>
                  </a14:m>
                  <a:endParaRPr lang="en-US" sz="2000" dirty="0"/>
                </a:p>
              </p:txBody>
            </p:sp>
          </mc:Choice>
          <mc:Fallback xmlns="">
            <p:sp>
              <p:nvSpPr>
                <p:cNvPr id="41997" name="Object 33"/>
                <p:cNvSpPr txBox="1">
                  <a:spLocks noRot="1" noChangeAspect="1" noMove="1" noResize="1" noEditPoints="1" noAdjustHandles="1" noChangeArrowheads="1" noChangeShapeType="1" noTextEdit="1"/>
                </p:cNvSpPr>
                <p:nvPr/>
              </p:nvSpPr>
              <p:spPr>
                <a:xfrm>
                  <a:off x="4224" y="2496"/>
                  <a:ext cx="576" cy="233"/>
                </a:xfrm>
                <a:prstGeom prst="rect">
                  <a:avLst/>
                </a:prstGeom>
                <a:blipFill>
                  <a:blip r:embed="rId15"/>
                  <a:stretch>
                    <a:fillRect b="-19672"/>
                  </a:stretch>
                </a:blipFill>
                <a:ln w="9525" cap="flat" cmpd="sng">
                  <a:noFill/>
                  <a:prstDash val="solid"/>
                  <a:miter/>
                  <a:headEnd type="none" w="med" len="med"/>
                  <a:tailEnd type="none" w="med" len="me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998" name="Object 34">
                  <a:extLst>
                    <a:ext uri="{FF2B5EF4-FFF2-40B4-BE49-F238E27FC236}">
                      <a16:creationId xmlns:a16="http://schemas.microsoft.com/office/drawing/2014/main" id="{A0D61BB3-B9B0-5CA2-7453-E119D63A9E22}"/>
                    </a:ext>
                  </a:extLst>
                </p:cNvPr>
                <p:cNvSpPr txBox="1"/>
                <p:nvPr/>
              </p:nvSpPr>
              <p:spPr>
                <a:xfrm>
                  <a:off x="3889" y="3296"/>
                  <a:ext cx="519" cy="19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000" i="1">
                            <a:solidFill>
                              <a:srgbClr val="000000"/>
                            </a:solidFill>
                            <a:latin typeface="Cambria Math" panose="02040503050406030204" pitchFamily="18" charset="0"/>
                          </a:rPr>
                          <m:t>𝑇</m:t>
                        </m:r>
                        <m:r>
                          <a:rPr lang="en-US" sz="2000" i="1">
                            <a:solidFill>
                              <a:srgbClr val="000000"/>
                            </a:solidFill>
                            <a:latin typeface="Cambria Math" panose="02040503050406030204" pitchFamily="18" charset="0"/>
                          </a:rPr>
                          <m:t>=</m:t>
                        </m:r>
                      </m:oMath>
                    </m:oMathPara>
                  </a14:m>
                  <a:endParaRPr lang="en-US" sz="2000" dirty="0"/>
                </a:p>
              </p:txBody>
            </p:sp>
          </mc:Choice>
          <mc:Fallback xmlns="">
            <p:sp>
              <p:nvSpPr>
                <p:cNvPr id="41998" name="Object 34"/>
                <p:cNvSpPr txBox="1">
                  <a:spLocks noRot="1" noChangeAspect="1" noMove="1" noResize="1" noEditPoints="1" noAdjustHandles="1" noChangeArrowheads="1" noChangeShapeType="1" noTextEdit="1"/>
                </p:cNvSpPr>
                <p:nvPr/>
              </p:nvSpPr>
              <p:spPr>
                <a:xfrm>
                  <a:off x="3889" y="3296"/>
                  <a:ext cx="519" cy="195"/>
                </a:xfrm>
                <a:prstGeom prst="rect">
                  <a:avLst/>
                </a:prstGeom>
                <a:blipFill>
                  <a:blip r:embed="rId16"/>
                  <a:stretch>
                    <a:fillRect b="-24000"/>
                  </a:stretch>
                </a:blipFill>
                <a:ln w="38100">
                  <a:noFill/>
                  <a:miter/>
                </a:ln>
              </p:spPr>
              <p:txBody>
                <a:bodyPr/>
                <a:lstStyle/>
                <a:p>
                  <a:r>
                    <a:rPr lang="zh-CN" altLang="en-US">
                      <a:noFill/>
                    </a:rPr>
                    <a:t> </a:t>
                  </a:r>
                </a:p>
              </p:txBody>
            </p:sp>
          </mc:Fallback>
        </mc:AlternateContent>
        <p:sp>
          <p:nvSpPr>
            <p:cNvPr id="42019" name="Line 35">
              <a:extLst>
                <a:ext uri="{FF2B5EF4-FFF2-40B4-BE49-F238E27FC236}">
                  <a16:creationId xmlns:a16="http://schemas.microsoft.com/office/drawing/2014/main" id="{45949B1E-4263-8540-C836-529D5EB966B0}"/>
                </a:ext>
              </a:extLst>
            </p:cNvPr>
            <p:cNvSpPr/>
            <p:nvPr/>
          </p:nvSpPr>
          <p:spPr>
            <a:xfrm flipH="1">
              <a:off x="4224" y="2736"/>
              <a:ext cx="96" cy="240"/>
            </a:xfrm>
            <a:prstGeom prst="line">
              <a:avLst/>
            </a:prstGeom>
            <a:ln w="19050" cap="flat" cmpd="sng">
              <a:solidFill>
                <a:srgbClr val="CC0099"/>
              </a:solidFill>
              <a:prstDash val="dash"/>
              <a:headEnd type="none" w="med" len="med"/>
              <a:tailEnd type="triangle" w="sm" len="lg"/>
            </a:ln>
          </p:spPr>
        </p:sp>
        <p:sp>
          <p:nvSpPr>
            <p:cNvPr id="42020" name="Line 36">
              <a:extLst>
                <a:ext uri="{FF2B5EF4-FFF2-40B4-BE49-F238E27FC236}">
                  <a16:creationId xmlns:a16="http://schemas.microsoft.com/office/drawing/2014/main" id="{BB805C77-26C7-1EF4-D51C-D5456D0FA6BE}"/>
                </a:ext>
              </a:extLst>
            </p:cNvPr>
            <p:cNvSpPr/>
            <p:nvPr/>
          </p:nvSpPr>
          <p:spPr>
            <a:xfrm flipV="1">
              <a:off x="4224" y="3168"/>
              <a:ext cx="144" cy="192"/>
            </a:xfrm>
            <a:prstGeom prst="line">
              <a:avLst/>
            </a:prstGeom>
            <a:ln w="19050" cap="flat" cmpd="sng">
              <a:solidFill>
                <a:srgbClr val="0000FF"/>
              </a:solidFill>
              <a:prstDash val="dash"/>
              <a:headEnd type="none" w="med" len="med"/>
              <a:tailEnd type="triangle" w="sm" len="lg"/>
            </a:ln>
          </p:spPr>
        </p:sp>
        <mc:AlternateContent xmlns:mc="http://schemas.openxmlformats.org/markup-compatibility/2006" xmlns:a14="http://schemas.microsoft.com/office/drawing/2010/main">
          <mc:Choice Requires="a14">
            <p:sp>
              <p:nvSpPr>
                <p:cNvPr id="41999" name="Object 37">
                  <a:extLst>
                    <a:ext uri="{FF2B5EF4-FFF2-40B4-BE49-F238E27FC236}">
                      <a16:creationId xmlns:a16="http://schemas.microsoft.com/office/drawing/2014/main" id="{B739380F-2A69-8B7F-1351-D51EB3ED933D}"/>
                    </a:ext>
                  </a:extLst>
                </p:cNvPr>
                <p:cNvSpPr txBox="1"/>
                <p:nvPr/>
              </p:nvSpPr>
              <p:spPr>
                <a:xfrm>
                  <a:off x="3602" y="2928"/>
                  <a:ext cx="165" cy="18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000" i="1">
                            <a:solidFill>
                              <a:srgbClr val="000000"/>
                            </a:solidFill>
                            <a:latin typeface="Cambria Math" panose="02040503050406030204" pitchFamily="18" charset="0"/>
                          </a:rPr>
                          <m:t>2′</m:t>
                        </m:r>
                      </m:oMath>
                    </m:oMathPara>
                  </a14:m>
                  <a:endParaRPr lang="en-US" sz="2000"/>
                </a:p>
              </p:txBody>
            </p:sp>
          </mc:Choice>
          <mc:Fallback xmlns="">
            <p:sp>
              <p:nvSpPr>
                <p:cNvPr id="41999" name="Object 37"/>
                <p:cNvSpPr txBox="1">
                  <a:spLocks noRot="1" noChangeAspect="1" noMove="1" noResize="1" noEditPoints="1" noAdjustHandles="1" noChangeArrowheads="1" noChangeShapeType="1" noTextEdit="1"/>
                </p:cNvSpPr>
                <p:nvPr/>
              </p:nvSpPr>
              <p:spPr>
                <a:xfrm>
                  <a:off x="3602" y="2928"/>
                  <a:ext cx="165" cy="185"/>
                </a:xfrm>
                <a:prstGeom prst="rect">
                  <a:avLst/>
                </a:prstGeom>
                <a:blipFill>
                  <a:blip r:embed="rId17"/>
                  <a:stretch>
                    <a:fillRect l="-4651" r="-51163" b="-33333"/>
                  </a:stretch>
                </a:blipFill>
                <a:ln w="38100">
                  <a:noFill/>
                  <a:miter/>
                </a:ln>
              </p:spPr>
              <p:txBody>
                <a:bodyPr/>
                <a:lstStyle/>
                <a:p>
                  <a:r>
                    <a:rPr lang="zh-CN" altLang="en-US">
                      <a:noFill/>
                    </a:rPr>
                    <a:t> </a:t>
                  </a:r>
                </a:p>
              </p:txBody>
            </p:sp>
          </mc:Fallback>
        </mc:AlternateContent>
        <p:sp>
          <p:nvSpPr>
            <p:cNvPr id="42021" name="Rectangle 38">
              <a:extLst>
                <a:ext uri="{FF2B5EF4-FFF2-40B4-BE49-F238E27FC236}">
                  <a16:creationId xmlns:a16="http://schemas.microsoft.com/office/drawing/2014/main" id="{0A034058-2BE8-2F22-4CEB-3623CFA47FB3}"/>
                </a:ext>
              </a:extLst>
            </p:cNvPr>
            <p:cNvSpPr/>
            <p:nvPr/>
          </p:nvSpPr>
          <p:spPr>
            <a:xfrm>
              <a:off x="4272" y="3280"/>
              <a:ext cx="720" cy="252"/>
            </a:xfrm>
            <a:prstGeom prst="rect">
              <a:avLst/>
            </a:prstGeom>
            <a:noFill/>
            <a:ln w="9525">
              <a:noFill/>
            </a:ln>
          </p:spPr>
          <p:txBody>
            <a:bodyPr>
              <a:spAutoFit/>
            </a:bodyPr>
            <a:lstStyle/>
            <a:p>
              <a:pPr eaLnBrk="1" hangingPunct="1"/>
              <a:r>
                <a:rPr lang="zh-CN" altLang="en-US" sz="2000" b="1" dirty="0">
                  <a:solidFill>
                    <a:srgbClr val="000000"/>
                  </a:solidFill>
                  <a:latin typeface="Times New Roman" panose="02020603050405020304" pitchFamily="18" charset="0"/>
                </a:rPr>
                <a:t>常量</a:t>
              </a:r>
            </a:p>
          </p:txBody>
        </p:sp>
      </p:grpSp>
      <p:sp>
        <p:nvSpPr>
          <p:cNvPr id="2" name="Rectangle 2">
            <a:extLst>
              <a:ext uri="{FF2B5EF4-FFF2-40B4-BE49-F238E27FC236}">
                <a16:creationId xmlns:a16="http://schemas.microsoft.com/office/drawing/2014/main" id="{32DC1687-CFC9-0C46-6EA3-3E588EAFE6E1}"/>
              </a:ext>
            </a:extLst>
          </p:cNvPr>
          <p:cNvSpPr/>
          <p:nvPr/>
        </p:nvSpPr>
        <p:spPr>
          <a:xfrm>
            <a:off x="1487489" y="3135317"/>
            <a:ext cx="4017962" cy="523220"/>
          </a:xfrm>
          <a:prstGeom prst="rect">
            <a:avLst/>
          </a:prstGeom>
          <a:noFill/>
          <a:ln w="9525">
            <a:noFill/>
          </a:ln>
        </p:spPr>
        <p:txBody>
          <a:bodyPr>
            <a:spAutoFit/>
          </a:bodyPr>
          <a:lstStyle/>
          <a:p>
            <a:pPr eaLnBrk="1" hangingPunct="1"/>
            <a:r>
              <a:rPr lang="zh-CN" altLang="en-US" sz="2800" dirty="0">
                <a:latin typeface="Times New Roman" panose="02020603050405020304" pitchFamily="18" charset="0"/>
              </a:rPr>
              <a:t>（</a:t>
            </a:r>
            <a:r>
              <a:rPr lang="en-US" altLang="zh-CN" sz="2800" dirty="0">
                <a:latin typeface="Times New Roman" panose="02020603050405020304" pitchFamily="18" charset="0"/>
              </a:rPr>
              <a:t>1</a:t>
            </a:r>
            <a:r>
              <a:rPr lang="zh-CN" altLang="en-US" sz="2800" dirty="0">
                <a:latin typeface="Times New Roman" panose="02020603050405020304" pitchFamily="18" charset="0"/>
              </a:rPr>
              <a:t>）等温过程</a:t>
            </a:r>
          </a:p>
        </p:txBody>
      </p:sp>
      <mc:AlternateContent xmlns:mc="http://schemas.openxmlformats.org/markup-compatibility/2006" xmlns:a14="http://schemas.microsoft.com/office/drawing/2010/main">
        <mc:Choice Requires="a14">
          <p:sp>
            <p:nvSpPr>
              <p:cNvPr id="3" name="Object 3">
                <a:extLst>
                  <a:ext uri="{FF2B5EF4-FFF2-40B4-BE49-F238E27FC236}">
                    <a16:creationId xmlns:a16="http://schemas.microsoft.com/office/drawing/2014/main" id="{0CC64768-5EF1-F9B8-A2ED-A822983E9B7C}"/>
                  </a:ext>
                </a:extLst>
              </p:cNvPr>
              <p:cNvSpPr txBox="1"/>
              <p:nvPr/>
            </p:nvSpPr>
            <p:spPr>
              <a:xfrm>
                <a:off x="508794" y="3617302"/>
                <a:ext cx="7910514" cy="1112520"/>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sSup>
                            <m:sSupPr>
                              <m:ctrlPr>
                                <a:rPr lang="en-US" sz="2800" i="1">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𝐴</m:t>
                              </m:r>
                            </m:e>
                            <m:sup>
                              <m:r>
                                <a:rPr lang="en-US" sz="2800" b="0" i="1">
                                  <a:solidFill>
                                    <a:schemeClr val="tx1"/>
                                  </a:solidFill>
                                  <a:latin typeface="Cambria Math" panose="02040503050406030204" pitchFamily="18" charset="0"/>
                                </a:rPr>
                                <m:t>′</m:t>
                              </m:r>
                            </m:sup>
                          </m:sSup>
                        </m:e>
                        <m:sub>
                          <m:r>
                            <a:rPr lang="en-US" sz="2800" b="0" i="1">
                              <a:solidFill>
                                <a:schemeClr val="tx1"/>
                              </a:solidFill>
                              <a:latin typeface="Cambria Math" panose="02040503050406030204" pitchFamily="18" charset="0"/>
                            </a:rPr>
                            <m:t>12</m:t>
                          </m:r>
                        </m:sub>
                      </m:sSub>
                      <m:r>
                        <a:rPr lang="en-US" sz="2800" b="0" i="1" smtClean="0">
                          <a:solidFill>
                            <a:schemeClr val="tx1"/>
                          </a:solidFill>
                          <a:latin typeface="Cambria Math" panose="02040503050406030204" pitchFamily="18" charset="0"/>
                        </a:rPr>
                        <m:t>=</m:t>
                      </m:r>
                      <m:r>
                        <a:rPr lang="en-US" altLang="zh-CN" sz="2800" i="1">
                          <a:latin typeface="Cambria Math" panose="02040503050406030204" pitchFamily="18" charset="0"/>
                        </a:rPr>
                        <m:t>𝜈</m:t>
                      </m:r>
                      <m:r>
                        <a:rPr lang="en-US" altLang="zh-CN" sz="2800" i="1">
                          <a:latin typeface="Cambria Math" panose="02040503050406030204" pitchFamily="18" charset="0"/>
                        </a:rPr>
                        <m:t>𝑅𝑇</m:t>
                      </m:r>
                      <m:nary>
                        <m:naryPr>
                          <m:subHide m:val="on"/>
                          <m:supHide m:val="on"/>
                          <m:ctrlPr>
                            <a:rPr lang="en-US" altLang="zh-CN" sz="2800" i="1">
                              <a:solidFill>
                                <a:srgbClr val="000000"/>
                              </a:solidFill>
                              <a:latin typeface="Cambria Math" panose="02040503050406030204" pitchFamily="18" charset="0"/>
                            </a:rPr>
                          </m:ctrlPr>
                        </m:naryPr>
                        <m:sub/>
                        <m:sup/>
                        <m:e>
                          <m:f>
                            <m:fPr>
                              <m:ctrlPr>
                                <a:rPr lang="en-US" altLang="zh-CN" sz="2800" i="1">
                                  <a:solidFill>
                                    <a:srgbClr val="000000"/>
                                  </a:solidFill>
                                  <a:latin typeface="Cambria Math" panose="02040503050406030204" pitchFamily="18" charset="0"/>
                                </a:rPr>
                              </m:ctrlPr>
                            </m:fPr>
                            <m:num>
                              <m:r>
                                <m:rPr>
                                  <m:sty m:val="p"/>
                                </m:rPr>
                                <a:rPr lang="en-US" altLang="zh-CN" sz="2800">
                                  <a:solidFill>
                                    <a:srgbClr val="000000"/>
                                  </a:solidFill>
                                  <a:latin typeface="Cambria Math" panose="02040503050406030204" pitchFamily="18" charset="0"/>
                                </a:rPr>
                                <m:t>d</m:t>
                              </m:r>
                              <m:r>
                                <a:rPr lang="en-US" altLang="zh-CN" sz="2800" i="1">
                                  <a:solidFill>
                                    <a:srgbClr val="000000"/>
                                  </a:solidFill>
                                  <a:latin typeface="Cambria Math" panose="02040503050406030204" pitchFamily="18" charset="0"/>
                                </a:rPr>
                                <m:t>𝑉</m:t>
                              </m:r>
                            </m:num>
                            <m:den>
                              <m:r>
                                <a:rPr lang="en-US" altLang="zh-CN" sz="2800" i="1">
                                  <a:solidFill>
                                    <a:srgbClr val="000000"/>
                                  </a:solidFill>
                                  <a:latin typeface="Cambria Math" panose="02040503050406030204" pitchFamily="18" charset="0"/>
                                </a:rPr>
                                <m:t>𝑉</m:t>
                              </m:r>
                            </m:den>
                          </m:f>
                        </m:e>
                      </m:nary>
                      <m:r>
                        <a:rPr lang="en-US" sz="2800" b="0" i="1">
                          <a:solidFill>
                            <a:schemeClr val="tx1"/>
                          </a:solidFill>
                          <a:latin typeface="Cambria Math" panose="02040503050406030204" pitchFamily="18" charset="0"/>
                        </a:rPr>
                        <m:t>=</m:t>
                      </m:r>
                      <m:r>
                        <a:rPr lang="en-US" sz="2800" b="0" i="1">
                          <a:solidFill>
                            <a:schemeClr val="tx1"/>
                          </a:solidFill>
                          <a:latin typeface="Cambria Math" panose="02040503050406030204" pitchFamily="18" charset="0"/>
                        </a:rPr>
                        <m:t>𝜈</m:t>
                      </m:r>
                      <m:r>
                        <a:rPr lang="en-US" sz="2800" b="0" i="1">
                          <a:solidFill>
                            <a:schemeClr val="tx1"/>
                          </a:solidFill>
                          <a:latin typeface="Cambria Math" panose="02040503050406030204" pitchFamily="18" charset="0"/>
                        </a:rPr>
                        <m:t>𝑅𝑇</m:t>
                      </m:r>
                      <m:func>
                        <m:funcPr>
                          <m:ctrlPr>
                            <a:rPr lang="en-US" sz="2800" i="1">
                              <a:solidFill>
                                <a:schemeClr val="tx1"/>
                              </a:solidFill>
                              <a:latin typeface="Cambria Math" panose="02040503050406030204" pitchFamily="18" charset="0"/>
                            </a:rPr>
                          </m:ctrlPr>
                        </m:funcPr>
                        <m:fName>
                          <m:r>
                            <m:rPr>
                              <m:sty m:val="p"/>
                            </m:rPr>
                            <a:rPr lang="en-US" sz="2800" b="0" i="0">
                              <a:solidFill>
                                <a:schemeClr val="tx1"/>
                              </a:solidFill>
                              <a:latin typeface="Cambria Math" panose="02040503050406030204" pitchFamily="18" charset="0"/>
                            </a:rPr>
                            <m:t>ln</m:t>
                          </m:r>
                        </m:fName>
                        <m:e>
                          <m:f>
                            <m:fPr>
                              <m:ctrlPr>
                                <a:rPr lang="en-US" sz="2800" i="1">
                                  <a:solidFill>
                                    <a:schemeClr val="tx1"/>
                                  </a:solidFill>
                                  <a:latin typeface="Cambria Math" panose="02040503050406030204" pitchFamily="18" charset="0"/>
                                </a:rPr>
                              </m:ctrlPr>
                            </m:fPr>
                            <m:num>
                              <m:sSub>
                                <m:sSubPr>
                                  <m:ctrlPr>
                                    <a:rPr lang="en-US" sz="2800" i="1">
                                      <a:solidFill>
                                        <a:schemeClr val="tx1"/>
                                      </a:solidFill>
                                      <a:latin typeface="Cambria Math" panose="02040503050406030204" pitchFamily="18" charset="0"/>
                                    </a:rPr>
                                  </m:ctrlPr>
                                </m:sSubPr>
                                <m:e>
                                  <m:sSup>
                                    <m:sSupPr>
                                      <m:ctrlPr>
                                        <a:rPr lang="en-US" sz="2800" i="1">
                                          <a:solidFill>
                                            <a:schemeClr val="tx1"/>
                                          </a:solidFill>
                                          <a:latin typeface="Cambria Math" panose="02040503050406030204" pitchFamily="18" charset="0"/>
                                        </a:rPr>
                                      </m:ctrlPr>
                                    </m:sSupPr>
                                    <m:e>
                                      <m:r>
                                        <a:rPr lang="en-US" sz="2800" b="0" i="1">
                                          <a:solidFill>
                                            <a:schemeClr val="tx1"/>
                                          </a:solidFill>
                                          <a:latin typeface="Cambria Math" panose="02040503050406030204" pitchFamily="18" charset="0"/>
                                        </a:rPr>
                                        <m:t>𝑉</m:t>
                                      </m:r>
                                    </m:e>
                                    <m:sup>
                                      <m:r>
                                        <a:rPr lang="en-US" sz="2800" b="0" i="1">
                                          <a:solidFill>
                                            <a:schemeClr val="tx1"/>
                                          </a:solidFill>
                                          <a:latin typeface="Cambria Math" panose="02040503050406030204" pitchFamily="18" charset="0"/>
                                        </a:rPr>
                                        <m:t>′</m:t>
                                      </m:r>
                                    </m:sup>
                                  </m:sSup>
                                </m:e>
                                <m:sub>
                                  <m:r>
                                    <a:rPr lang="en-US" sz="2800" b="0" i="1">
                                      <a:solidFill>
                                        <a:schemeClr val="tx1"/>
                                      </a:solidFill>
                                      <a:latin typeface="Cambria Math" panose="02040503050406030204" pitchFamily="18" charset="0"/>
                                    </a:rPr>
                                    <m:t>2</m:t>
                                  </m:r>
                                </m:sub>
                              </m:sSub>
                            </m:num>
                            <m:den>
                              <m:sSub>
                                <m:sSubPr>
                                  <m:ctrlPr>
                                    <a:rPr lang="en-US" sz="2800" i="1">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𝑉</m:t>
                                  </m:r>
                                </m:e>
                                <m:sub>
                                  <m:r>
                                    <a:rPr lang="en-US" sz="2800" b="0" i="1">
                                      <a:solidFill>
                                        <a:schemeClr val="tx1"/>
                                      </a:solidFill>
                                      <a:latin typeface="Cambria Math" panose="02040503050406030204" pitchFamily="18" charset="0"/>
                                    </a:rPr>
                                    <m:t>1</m:t>
                                  </m:r>
                                </m:sub>
                              </m:sSub>
                            </m:den>
                          </m:f>
                        </m:e>
                      </m:func>
                      <m:r>
                        <a:rPr lang="en-US" sz="2800" b="0" i="1">
                          <a:solidFill>
                            <a:schemeClr val="tx1"/>
                          </a:solidFill>
                          <a:latin typeface="Cambria Math" panose="02040503050406030204" pitchFamily="18" charset="0"/>
                        </a:rPr>
                        <m:t>=−2.80×1</m:t>
                      </m:r>
                      <m:sSup>
                        <m:sSupPr>
                          <m:ctrlPr>
                            <a:rPr lang="en-US" sz="2800" i="1">
                              <a:solidFill>
                                <a:schemeClr val="tx1"/>
                              </a:solidFill>
                              <a:latin typeface="Cambria Math" panose="02040503050406030204" pitchFamily="18" charset="0"/>
                            </a:rPr>
                          </m:ctrlPr>
                        </m:sSupPr>
                        <m:e>
                          <m:r>
                            <a:rPr lang="en-US" sz="2800" b="0" i="1">
                              <a:solidFill>
                                <a:schemeClr val="tx1"/>
                              </a:solidFill>
                              <a:latin typeface="Cambria Math" panose="02040503050406030204" pitchFamily="18" charset="0"/>
                            </a:rPr>
                            <m:t>0</m:t>
                          </m:r>
                        </m:e>
                        <m:sup>
                          <m:r>
                            <a:rPr lang="en-US" sz="2800" b="0" i="1">
                              <a:solidFill>
                                <a:schemeClr val="tx1"/>
                              </a:solidFill>
                              <a:latin typeface="Cambria Math" panose="02040503050406030204" pitchFamily="18" charset="0"/>
                            </a:rPr>
                            <m:t>4</m:t>
                          </m:r>
                        </m:sup>
                      </m:sSup>
                      <m:r>
                        <m:rPr>
                          <m:nor/>
                        </m:rPr>
                        <a:rPr lang="en-US" sz="2800" i="0">
                          <a:solidFill>
                            <a:schemeClr val="tx1"/>
                          </a:solidFill>
                          <a:latin typeface="Cambria Math" panose="02040503050406030204" pitchFamily="18" charset="0"/>
                        </a:rPr>
                        <m:t> </m:t>
                      </m:r>
                      <m:r>
                        <m:rPr>
                          <m:nor/>
                        </m:rPr>
                        <a:rPr lang="en-US" sz="2800" i="0">
                          <a:solidFill>
                            <a:schemeClr val="tx1"/>
                          </a:solidFill>
                          <a:latin typeface="Cambria Math" panose="02040503050406030204" pitchFamily="18" charset="0"/>
                        </a:rPr>
                        <m:t>J</m:t>
                      </m:r>
                    </m:oMath>
                  </m:oMathPara>
                </a14:m>
                <a:endParaRPr lang="en-US" sz="2800" dirty="0">
                  <a:solidFill>
                    <a:schemeClr val="tx1"/>
                  </a:solidFill>
                </a:endParaRPr>
              </a:p>
            </p:txBody>
          </p:sp>
        </mc:Choice>
        <mc:Fallback xmlns="">
          <p:sp>
            <p:nvSpPr>
              <p:cNvPr id="3" name="Object 3">
                <a:extLst>
                  <a:ext uri="{FF2B5EF4-FFF2-40B4-BE49-F238E27FC236}">
                    <a16:creationId xmlns:a16="http://schemas.microsoft.com/office/drawing/2014/main" id="{604D1EE4-A4B3-0FF3-E871-C0F70775616B}"/>
                  </a:ext>
                </a:extLst>
              </p:cNvPr>
              <p:cNvSpPr txBox="1">
                <a:spLocks noRot="1" noChangeAspect="1" noMove="1" noResize="1" noEditPoints="1" noAdjustHandles="1" noChangeArrowheads="1" noChangeShapeType="1" noTextEdit="1"/>
              </p:cNvSpPr>
              <p:nvPr/>
            </p:nvSpPr>
            <p:spPr>
              <a:xfrm>
                <a:off x="508794" y="3617302"/>
                <a:ext cx="7910514" cy="1112520"/>
              </a:xfrm>
              <a:prstGeom prst="rect">
                <a:avLst/>
              </a:prstGeom>
              <a:blipFill>
                <a:blip r:embed="rId18"/>
                <a:stretch>
                  <a:fillRect/>
                </a:stretch>
              </a:blipFill>
              <a:ln w="38100">
                <a:noFill/>
                <a:miter/>
              </a:ln>
            </p:spPr>
            <p:txBody>
              <a:bodyPr/>
              <a:lstStyle/>
              <a:p>
                <a:r>
                  <a:rPr lang="zh-CN" altLang="en-US">
                    <a:noFill/>
                  </a:rPr>
                  <a:t> </a:t>
                </a:r>
              </a:p>
            </p:txBody>
          </p:sp>
        </mc:Fallback>
      </mc:AlternateContent>
      <p:sp>
        <p:nvSpPr>
          <p:cNvPr id="4" name="Rectangle 4">
            <a:extLst>
              <a:ext uri="{FF2B5EF4-FFF2-40B4-BE49-F238E27FC236}">
                <a16:creationId xmlns:a16="http://schemas.microsoft.com/office/drawing/2014/main" id="{B4C9488D-CC12-A415-E1C4-A211888E5CD2}"/>
              </a:ext>
            </a:extLst>
          </p:cNvPr>
          <p:cNvSpPr/>
          <p:nvPr/>
        </p:nvSpPr>
        <p:spPr>
          <a:xfrm>
            <a:off x="1538290" y="4651378"/>
            <a:ext cx="6130923" cy="523220"/>
          </a:xfrm>
          <a:prstGeom prst="rect">
            <a:avLst/>
          </a:prstGeom>
          <a:noFill/>
          <a:ln w="9525">
            <a:noFill/>
          </a:ln>
        </p:spPr>
        <p:txBody>
          <a:bodyPr wrap="square">
            <a:spAutoFit/>
          </a:bodyPr>
          <a:lstStyle/>
          <a:p>
            <a:pPr eaLnBrk="1" hangingPunct="1"/>
            <a:r>
              <a:rPr lang="zh-CN" altLang="en-US" sz="2800" dirty="0">
                <a:latin typeface="Times New Roman" panose="02020603050405020304" pitchFamily="18" charset="0"/>
              </a:rPr>
              <a:t>（</a:t>
            </a:r>
            <a:r>
              <a:rPr lang="en-US" altLang="zh-CN" sz="2800" dirty="0">
                <a:latin typeface="Times New Roman" panose="02020603050405020304" pitchFamily="18" charset="0"/>
              </a:rPr>
              <a:t>2</a:t>
            </a:r>
            <a:r>
              <a:rPr lang="zh-CN" altLang="en-US" sz="2800" dirty="0">
                <a:latin typeface="Times New Roman" panose="02020603050405020304" pitchFamily="18" charset="0"/>
              </a:rPr>
              <a:t>）绝热过程：氢气为双原子气体</a:t>
            </a:r>
          </a:p>
        </p:txBody>
      </p:sp>
      <mc:AlternateContent xmlns:mc="http://schemas.openxmlformats.org/markup-compatibility/2006" xmlns:a14="http://schemas.microsoft.com/office/drawing/2010/main">
        <mc:Choice Requires="a14">
          <p:sp>
            <p:nvSpPr>
              <p:cNvPr id="7" name="Object 7">
                <a:extLst>
                  <a:ext uri="{FF2B5EF4-FFF2-40B4-BE49-F238E27FC236}">
                    <a16:creationId xmlns:a16="http://schemas.microsoft.com/office/drawing/2014/main" id="{5A428F04-70F3-A837-AA7F-5DCEC6F43903}"/>
                  </a:ext>
                </a:extLst>
              </p:cNvPr>
              <p:cNvSpPr txBox="1"/>
              <p:nvPr/>
            </p:nvSpPr>
            <p:spPr>
              <a:xfrm>
                <a:off x="7088982" y="4656791"/>
                <a:ext cx="1881188" cy="458788"/>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𝛾</m:t>
                      </m:r>
                      <m:r>
                        <a:rPr lang="en-US" sz="2800" b="0" i="1" smtClean="0">
                          <a:solidFill>
                            <a:schemeClr val="tx1"/>
                          </a:solidFill>
                          <a:latin typeface="Cambria Math" panose="02040503050406030204" pitchFamily="18" charset="0"/>
                        </a:rPr>
                        <m:t>=1.4</m:t>
                      </m:r>
                    </m:oMath>
                  </m:oMathPara>
                </a14:m>
                <a:endParaRPr lang="en-US" sz="2800" dirty="0">
                  <a:solidFill>
                    <a:schemeClr val="tx1"/>
                  </a:solidFill>
                </a:endParaRPr>
              </a:p>
            </p:txBody>
          </p:sp>
        </mc:Choice>
        <mc:Fallback xmlns="">
          <p:sp>
            <p:nvSpPr>
              <p:cNvPr id="7" name="Object 7">
                <a:extLst>
                  <a:ext uri="{FF2B5EF4-FFF2-40B4-BE49-F238E27FC236}">
                    <a16:creationId xmlns:a16="http://schemas.microsoft.com/office/drawing/2014/main" id="{B11F3B70-3D51-F650-03BB-A7DE28F05B24}"/>
                  </a:ext>
                </a:extLst>
              </p:cNvPr>
              <p:cNvSpPr txBox="1">
                <a:spLocks noRot="1" noChangeAspect="1" noMove="1" noResize="1" noEditPoints="1" noAdjustHandles="1" noChangeArrowheads="1" noChangeShapeType="1" noTextEdit="1"/>
              </p:cNvSpPr>
              <p:nvPr/>
            </p:nvSpPr>
            <p:spPr>
              <a:xfrm>
                <a:off x="7088982" y="4656791"/>
                <a:ext cx="1881188" cy="458788"/>
              </a:xfrm>
              <a:prstGeom prst="rect">
                <a:avLst/>
              </a:prstGeom>
              <a:blipFill>
                <a:blip r:embed="rId19"/>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Object 8">
                <a:extLst>
                  <a:ext uri="{FF2B5EF4-FFF2-40B4-BE49-F238E27FC236}">
                    <a16:creationId xmlns:a16="http://schemas.microsoft.com/office/drawing/2014/main" id="{8D2D5C36-970E-573B-588C-DEEA7F739376}"/>
                  </a:ext>
                </a:extLst>
              </p:cNvPr>
              <p:cNvSpPr txBox="1"/>
              <p:nvPr/>
            </p:nvSpPr>
            <p:spPr>
              <a:xfrm>
                <a:off x="2117725" y="5308604"/>
                <a:ext cx="3673475" cy="1135063"/>
              </a:xfrm>
              <a:prstGeom prst="rect">
                <a:avLst/>
              </a:prstGeom>
              <a:noFill/>
              <a:ln w="38100">
                <a:noFill/>
                <a:miter/>
              </a:ln>
            </p:spPr>
            <p:txBody>
              <a:bodyPr>
                <a:normAutofit fontScale="92500"/>
              </a:bodyPr>
              <a:lstStyle/>
              <a:p>
                <a:pPr/>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𝑇</m:t>
                          </m:r>
                        </m:e>
                        <m:sub>
                          <m:r>
                            <a:rPr lang="en-US" sz="2800" b="0" i="1">
                              <a:solidFill>
                                <a:schemeClr val="tx1"/>
                              </a:solidFill>
                              <a:latin typeface="Cambria Math" panose="02040503050406030204" pitchFamily="18" charset="0"/>
                            </a:rPr>
                            <m:t>2</m:t>
                          </m:r>
                        </m:sub>
                      </m:sSub>
                      <m:r>
                        <a:rPr lang="en-US" sz="2800" b="0" i="1">
                          <a:solidFill>
                            <a:schemeClr val="tx1"/>
                          </a:solidFill>
                          <a:latin typeface="Cambria Math" panose="02040503050406030204" pitchFamily="18" charset="0"/>
                        </a:rPr>
                        <m:t>=</m:t>
                      </m:r>
                      <m:sSub>
                        <m:sSubPr>
                          <m:ctrlPr>
                            <a:rPr lang="en-US" sz="2800" i="1">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𝑇</m:t>
                          </m:r>
                        </m:e>
                        <m:sub>
                          <m:r>
                            <a:rPr lang="en-US" sz="2800" b="0" i="1">
                              <a:solidFill>
                                <a:schemeClr val="tx1"/>
                              </a:solidFill>
                              <a:latin typeface="Cambria Math" panose="02040503050406030204" pitchFamily="18" charset="0"/>
                            </a:rPr>
                            <m:t>1</m:t>
                          </m:r>
                        </m:sub>
                      </m:sSub>
                      <m:r>
                        <a:rPr lang="en-US" sz="2800" b="0" i="1">
                          <a:solidFill>
                            <a:schemeClr val="tx1"/>
                          </a:solidFill>
                          <a:latin typeface="Cambria Math" panose="02040503050406030204" pitchFamily="18" charset="0"/>
                        </a:rPr>
                        <m:t>(</m:t>
                      </m:r>
                      <m:f>
                        <m:fPr>
                          <m:ctrlPr>
                            <a:rPr lang="en-US" sz="2800" i="1">
                              <a:solidFill>
                                <a:schemeClr val="tx1"/>
                              </a:solidFill>
                              <a:latin typeface="Cambria Math" panose="02040503050406030204" pitchFamily="18" charset="0"/>
                            </a:rPr>
                          </m:ctrlPr>
                        </m:fPr>
                        <m:num>
                          <m:sSub>
                            <m:sSubPr>
                              <m:ctrlPr>
                                <a:rPr lang="en-US" sz="2800" i="1">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𝑉</m:t>
                              </m:r>
                            </m:e>
                            <m:sub>
                              <m:r>
                                <a:rPr lang="en-US" sz="2800" b="0" i="1">
                                  <a:solidFill>
                                    <a:schemeClr val="tx1"/>
                                  </a:solidFill>
                                  <a:latin typeface="Cambria Math" panose="02040503050406030204" pitchFamily="18" charset="0"/>
                                </a:rPr>
                                <m:t>1</m:t>
                              </m:r>
                            </m:sub>
                          </m:sSub>
                        </m:num>
                        <m:den>
                          <m:sSub>
                            <m:sSubPr>
                              <m:ctrlPr>
                                <a:rPr lang="en-US" sz="2800" i="1">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𝑉</m:t>
                              </m:r>
                            </m:e>
                            <m:sub>
                              <m:r>
                                <a:rPr lang="en-US" sz="2800" b="0" i="1">
                                  <a:solidFill>
                                    <a:schemeClr val="tx1"/>
                                  </a:solidFill>
                                  <a:latin typeface="Cambria Math" panose="02040503050406030204" pitchFamily="18" charset="0"/>
                                </a:rPr>
                                <m:t>2</m:t>
                              </m:r>
                            </m:sub>
                          </m:sSub>
                        </m:den>
                      </m:f>
                      <m:sSup>
                        <m:sSupPr>
                          <m:ctrlPr>
                            <a:rPr lang="en-US" sz="2800" i="1">
                              <a:solidFill>
                                <a:schemeClr val="tx1"/>
                              </a:solidFill>
                              <a:latin typeface="Cambria Math" panose="02040503050406030204" pitchFamily="18" charset="0"/>
                            </a:rPr>
                          </m:ctrlPr>
                        </m:sSupPr>
                        <m:e>
                          <m:r>
                            <a:rPr lang="en-US" sz="2800" b="0" i="1">
                              <a:solidFill>
                                <a:schemeClr val="tx1"/>
                              </a:solidFill>
                              <a:latin typeface="Cambria Math" panose="02040503050406030204" pitchFamily="18" charset="0"/>
                            </a:rPr>
                            <m:t>)</m:t>
                          </m:r>
                        </m:e>
                        <m:sup>
                          <m:r>
                            <a:rPr lang="en-US" sz="2800" b="0" i="1">
                              <a:solidFill>
                                <a:schemeClr val="tx1"/>
                              </a:solidFill>
                              <a:latin typeface="Cambria Math" panose="02040503050406030204" pitchFamily="18" charset="0"/>
                            </a:rPr>
                            <m:t>𝛾</m:t>
                          </m:r>
                          <m:r>
                            <a:rPr lang="en-US" sz="2800" b="0" i="1">
                              <a:solidFill>
                                <a:schemeClr val="tx1"/>
                              </a:solidFill>
                              <a:latin typeface="Cambria Math" panose="02040503050406030204" pitchFamily="18" charset="0"/>
                            </a:rPr>
                            <m:t>−1</m:t>
                          </m:r>
                        </m:sup>
                      </m:sSup>
                      <m:r>
                        <a:rPr lang="en-US" sz="2800" b="0" i="1">
                          <a:solidFill>
                            <a:schemeClr val="tx1"/>
                          </a:solidFill>
                          <a:latin typeface="Cambria Math" panose="02040503050406030204" pitchFamily="18" charset="0"/>
                        </a:rPr>
                        <m:t>=753</m:t>
                      </m:r>
                      <m:r>
                        <m:rPr>
                          <m:nor/>
                        </m:rPr>
                        <a:rPr lang="en-US" sz="2800" i="0">
                          <a:solidFill>
                            <a:schemeClr val="tx1"/>
                          </a:solidFill>
                          <a:latin typeface="Cambria Math" panose="02040503050406030204" pitchFamily="18" charset="0"/>
                        </a:rPr>
                        <m:t> </m:t>
                      </m:r>
                      <m:r>
                        <m:rPr>
                          <m:nor/>
                        </m:rPr>
                        <a:rPr lang="en-US" sz="2800" i="0">
                          <a:solidFill>
                            <a:schemeClr val="tx1"/>
                          </a:solidFill>
                          <a:latin typeface="Cambria Math" panose="02040503050406030204" pitchFamily="18" charset="0"/>
                        </a:rPr>
                        <m:t>K</m:t>
                      </m:r>
                    </m:oMath>
                  </m:oMathPara>
                </a14:m>
                <a:endParaRPr lang="en-US" sz="2800" dirty="0">
                  <a:solidFill>
                    <a:schemeClr val="tx1"/>
                  </a:solidFill>
                </a:endParaRPr>
              </a:p>
            </p:txBody>
          </p:sp>
        </mc:Choice>
        <mc:Fallback xmlns="">
          <p:sp>
            <p:nvSpPr>
              <p:cNvPr id="8" name="Object 8">
                <a:extLst>
                  <a:ext uri="{FF2B5EF4-FFF2-40B4-BE49-F238E27FC236}">
                    <a16:creationId xmlns:a16="http://schemas.microsoft.com/office/drawing/2014/main" id="{779B34FB-0B83-DC29-9CBA-A5DD2E1C6D94}"/>
                  </a:ext>
                </a:extLst>
              </p:cNvPr>
              <p:cNvSpPr txBox="1">
                <a:spLocks noRot="1" noChangeAspect="1" noMove="1" noResize="1" noEditPoints="1" noAdjustHandles="1" noChangeArrowheads="1" noChangeShapeType="1" noTextEdit="1"/>
              </p:cNvSpPr>
              <p:nvPr/>
            </p:nvSpPr>
            <p:spPr>
              <a:xfrm>
                <a:off x="2117725" y="5308604"/>
                <a:ext cx="3673475" cy="1135063"/>
              </a:xfrm>
              <a:prstGeom prst="rect">
                <a:avLst/>
              </a:prstGeom>
              <a:blipFill>
                <a:blip r:embed="rId20"/>
                <a:stretch>
                  <a:fillRect/>
                </a:stretch>
              </a:blipFill>
              <a:ln w="38100">
                <a:noFill/>
                <a:miter/>
              </a:ln>
            </p:spPr>
            <p:txBody>
              <a:bodyPr/>
              <a:lstStyle/>
              <a:p>
                <a:r>
                  <a:rPr lang="zh-CN" altLang="en-US">
                    <a:noFill/>
                  </a:rPr>
                  <a:t> </a:t>
                </a:r>
              </a:p>
            </p:txBody>
          </p:sp>
        </mc:Fallback>
      </mc:AlternateContent>
      <p:sp>
        <p:nvSpPr>
          <p:cNvPr id="9" name="Text Box 9">
            <a:extLst>
              <a:ext uri="{FF2B5EF4-FFF2-40B4-BE49-F238E27FC236}">
                <a16:creationId xmlns:a16="http://schemas.microsoft.com/office/drawing/2014/main" id="{467EAF88-AD89-6C72-9244-E2D70E98037B}"/>
              </a:ext>
            </a:extLst>
          </p:cNvPr>
          <p:cNvSpPr txBox="1"/>
          <p:nvPr/>
        </p:nvSpPr>
        <p:spPr>
          <a:xfrm>
            <a:off x="1376363" y="1910090"/>
            <a:ext cx="1800225" cy="523220"/>
          </a:xfrm>
          <a:prstGeom prst="rect">
            <a:avLst/>
          </a:prstGeom>
          <a:noFill/>
          <a:ln w="9525">
            <a:noFill/>
          </a:ln>
        </p:spPr>
        <p:txBody>
          <a:bodyPr>
            <a:spAutoFit/>
          </a:bodyPr>
          <a:lstStyle/>
          <a:p>
            <a:pPr eaLnBrk="1" hangingPunct="1"/>
            <a:r>
              <a:rPr lang="en-US" altLang="zh-CN" sz="2800" dirty="0">
                <a:latin typeface="Arial" panose="020B0604020202020204" pitchFamily="34" charset="0"/>
              </a:rPr>
              <a:t> </a:t>
            </a:r>
            <a:r>
              <a:rPr lang="zh-CN" altLang="en-US" sz="2800" dirty="0">
                <a:latin typeface="Arial" panose="020B0604020202020204" pitchFamily="34" charset="0"/>
              </a:rPr>
              <a:t>已知： </a:t>
            </a:r>
          </a:p>
        </p:txBody>
      </p:sp>
      <mc:AlternateContent xmlns:mc="http://schemas.openxmlformats.org/markup-compatibility/2006" xmlns:a14="http://schemas.microsoft.com/office/drawing/2010/main">
        <mc:Choice Requires="a14">
          <p:sp>
            <p:nvSpPr>
              <p:cNvPr id="10" name="Object 10">
                <a:extLst>
                  <a:ext uri="{FF2B5EF4-FFF2-40B4-BE49-F238E27FC236}">
                    <a16:creationId xmlns:a16="http://schemas.microsoft.com/office/drawing/2014/main" id="{D725AB96-86A2-CA81-C748-5C4312B6CE5F}"/>
                  </a:ext>
                </a:extLst>
              </p:cNvPr>
              <p:cNvSpPr txBox="1">
                <a:spLocks/>
              </p:cNvSpPr>
              <p:nvPr/>
            </p:nvSpPr>
            <p:spPr>
              <a:xfrm>
                <a:off x="2228851" y="1892959"/>
                <a:ext cx="5299075" cy="1177925"/>
              </a:xfrm>
              <a:prstGeom prst="rect">
                <a:avLst/>
              </a:prstGeom>
              <a:noFill/>
              <a:ln w="38100">
                <a:miter/>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𝜈</m:t>
                      </m:r>
                      <m:r>
                        <a:rPr lang="en-US" b="0" i="1" smtClean="0">
                          <a:solidFill>
                            <a:schemeClr val="tx1"/>
                          </a:solidFill>
                          <a:latin typeface="Cambria Math" panose="02040503050406030204" pitchFamily="18" charset="0"/>
                        </a:rPr>
                        <m:t>=5</m:t>
                      </m:r>
                      <m:r>
                        <m:rPr>
                          <m:nor/>
                        </m:rPr>
                        <a:rPr lang="en-US">
                          <a:solidFill>
                            <a:schemeClr val="tx1"/>
                          </a:solidFill>
                          <a:latin typeface="Cambria Math" panose="02040503050406030204" pitchFamily="18" charset="0"/>
                        </a:rPr>
                        <m:t> </m:t>
                      </m:r>
                      <m:r>
                        <m:rPr>
                          <m:nor/>
                        </m:rPr>
                        <a:rPr lang="en-US">
                          <a:solidFill>
                            <a:schemeClr val="tx1"/>
                          </a:solidFill>
                          <a:latin typeface="Cambria Math" panose="02040503050406030204" pitchFamily="18" charset="0"/>
                        </a:rPr>
                        <m:t>mol</m:t>
                      </m:r>
                      <m:r>
                        <m:rPr>
                          <m:nor/>
                        </m:rPr>
                        <a:rPr lang="en-US">
                          <a:solidFill>
                            <a:schemeClr val="tx1"/>
                          </a:solidFill>
                          <a:latin typeface="Cambria Math" panose="02040503050406030204" pitchFamily="18" charset="0"/>
                        </a:rPr>
                        <m:t>   </m:t>
                      </m:r>
                      <m:r>
                        <a:rPr lang="en-US" b="0" i="1">
                          <a:solidFill>
                            <a:schemeClr val="tx1"/>
                          </a:solidFill>
                          <a:latin typeface="Cambria Math" panose="02040503050406030204" pitchFamily="18" charset="0"/>
                        </a:rPr>
                        <m:t> </m:t>
                      </m:r>
                      <m:sSub>
                        <m:sSubPr>
                          <m:ctrlPr>
                            <a:rPr lang="en-US" i="1">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𝑇</m:t>
                          </m:r>
                        </m:e>
                        <m:sub>
                          <m:r>
                            <a:rPr lang="en-US" b="0" i="1" smtClean="0">
                              <a:solidFill>
                                <a:schemeClr val="tx1"/>
                              </a:solidFill>
                              <a:latin typeface="Cambria Math" panose="02040503050406030204" pitchFamily="18" charset="0"/>
                            </a:rPr>
                            <m:t>1</m:t>
                          </m:r>
                        </m:sub>
                      </m:sSub>
                      <m:r>
                        <a:rPr lang="en-US" b="0" i="1">
                          <a:solidFill>
                            <a:schemeClr val="tx1"/>
                          </a:solidFill>
                          <a:latin typeface="Cambria Math" panose="02040503050406030204" pitchFamily="18" charset="0"/>
                        </a:rPr>
                        <m:t>=293</m:t>
                      </m:r>
                      <m:r>
                        <m:rPr>
                          <m:nor/>
                        </m:rPr>
                        <a:rPr lang="en-US">
                          <a:solidFill>
                            <a:schemeClr val="tx1"/>
                          </a:solidFill>
                          <a:latin typeface="Cambria Math" panose="02040503050406030204" pitchFamily="18" charset="0"/>
                        </a:rPr>
                        <m:t> </m:t>
                      </m:r>
                      <m:r>
                        <m:rPr>
                          <m:nor/>
                        </m:rPr>
                        <a:rPr lang="en-US">
                          <a:solidFill>
                            <a:schemeClr val="tx1"/>
                          </a:solidFill>
                          <a:latin typeface="Cambria Math" panose="02040503050406030204" pitchFamily="18" charset="0"/>
                        </a:rPr>
                        <m:t>K</m:t>
                      </m:r>
                      <m:r>
                        <m:rPr>
                          <m:nor/>
                        </m:rPr>
                        <a:rPr lang="en-US">
                          <a:solidFill>
                            <a:schemeClr val="tx1"/>
                          </a:solidFill>
                          <a:latin typeface="Cambria Math" panose="02040503050406030204" pitchFamily="18" charset="0"/>
                        </a:rPr>
                        <m:t>    </m:t>
                      </m:r>
                    </m:oMath>
                    <m:oMath xmlns:m="http://schemas.openxmlformats.org/officeDocument/2006/math">
                      <m:sSub>
                        <m:sSubPr>
                          <m:ctrlPr>
                            <a:rPr lang="en-US" i="1">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𝑃</m:t>
                          </m:r>
                        </m:e>
                        <m:sub>
                          <m:r>
                            <a:rPr lang="en-US" b="0" i="1">
                              <a:solidFill>
                                <a:schemeClr val="tx1"/>
                              </a:solidFill>
                              <a:latin typeface="Cambria Math" panose="02040503050406030204" pitchFamily="18" charset="0"/>
                            </a:rPr>
                            <m:t>0</m:t>
                          </m:r>
                        </m:sub>
                      </m:sSub>
                      <m:r>
                        <a:rPr lang="en-US" b="0" i="1">
                          <a:solidFill>
                            <a:schemeClr val="tx1"/>
                          </a:solidFill>
                          <a:latin typeface="Cambria Math" panose="02040503050406030204" pitchFamily="18" charset="0"/>
                        </a:rPr>
                        <m:t>=1.013×1</m:t>
                      </m:r>
                      <m:sSup>
                        <m:sSupPr>
                          <m:ctrlPr>
                            <a:rPr lang="en-US" i="1">
                              <a:solidFill>
                                <a:schemeClr val="tx1"/>
                              </a:solidFill>
                              <a:latin typeface="Cambria Math" panose="02040503050406030204" pitchFamily="18" charset="0"/>
                            </a:rPr>
                          </m:ctrlPr>
                        </m:sSupPr>
                        <m:e>
                          <m:r>
                            <a:rPr lang="en-US" b="0" i="1">
                              <a:solidFill>
                                <a:schemeClr val="tx1"/>
                              </a:solidFill>
                              <a:latin typeface="Cambria Math" panose="02040503050406030204" pitchFamily="18" charset="0"/>
                            </a:rPr>
                            <m:t>0</m:t>
                          </m:r>
                        </m:e>
                        <m:sup>
                          <m:r>
                            <a:rPr lang="en-US" b="0" i="1">
                              <a:solidFill>
                                <a:schemeClr val="tx1"/>
                              </a:solidFill>
                              <a:latin typeface="Cambria Math" panose="02040503050406030204" pitchFamily="18" charset="0"/>
                            </a:rPr>
                            <m:t>5</m:t>
                          </m:r>
                        </m:sup>
                      </m:sSup>
                      <m:r>
                        <m:rPr>
                          <m:nor/>
                        </m:rPr>
                        <a:rPr lang="en-US">
                          <a:solidFill>
                            <a:schemeClr val="tx1"/>
                          </a:solidFill>
                          <a:latin typeface="Cambria Math" panose="02040503050406030204" pitchFamily="18" charset="0"/>
                        </a:rPr>
                        <m:t> </m:t>
                      </m:r>
                      <m:r>
                        <m:rPr>
                          <m:nor/>
                        </m:rPr>
                        <a:rPr lang="en-US">
                          <a:solidFill>
                            <a:schemeClr val="tx1"/>
                          </a:solidFill>
                          <a:latin typeface="Cambria Math" panose="02040503050406030204" pitchFamily="18" charset="0"/>
                        </a:rPr>
                        <m:t>Pa</m:t>
                      </m:r>
                      <m:r>
                        <m:rPr>
                          <m:nor/>
                        </m:rPr>
                        <a:rPr lang="en-US">
                          <a:solidFill>
                            <a:schemeClr val="tx1"/>
                          </a:solidFill>
                          <a:latin typeface="Cambria Math" panose="02040503050406030204" pitchFamily="18" charset="0"/>
                        </a:rPr>
                        <m:t>   </m:t>
                      </m:r>
                    </m:oMath>
                  </m:oMathPara>
                </a14:m>
                <a:endParaRPr lang="en-US" dirty="0">
                  <a:solidFill>
                    <a:schemeClr val="tx1"/>
                  </a:solidFill>
                  <a:latin typeface="Cambria Math" panose="02040503050406030204" pitchFamily="18" charset="0"/>
                </a:endParaRPr>
              </a:p>
              <a:p>
                <a:pPr>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b="0" i="1" smtClean="0">
                              <a:latin typeface="Cambria Math" panose="02040503050406030204" pitchFamily="18" charset="0"/>
                            </a:rPr>
                            <m:t>2</m:t>
                          </m:r>
                        </m:sub>
                      </m:sSub>
                      <m:r>
                        <a:rPr lang="en-US" b="0" i="1">
                          <a:solidFill>
                            <a:schemeClr val="tx1"/>
                          </a:solidFill>
                          <a:latin typeface="Cambria Math" panose="02040503050406030204" pitchFamily="18" charset="0"/>
                        </a:rPr>
                        <m:t>=0.1</m:t>
                      </m:r>
                      <m:r>
                        <a:rPr lang="en-US" b="0">
                          <a:solidFill>
                            <a:schemeClr val="tx1"/>
                          </a:solidFill>
                          <a:latin typeface="Cambria Math" panose="02040503050406030204" pitchFamily="18" charset="0"/>
                        </a:rPr>
                        <m:t> </m:t>
                      </m:r>
                      <m:sSub>
                        <m:sSubPr>
                          <m:ctrlPr>
                            <a:rPr lang="en-US" i="1" smtClean="0">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𝑉</m:t>
                          </m:r>
                        </m:e>
                        <m:sub>
                          <m:r>
                            <a:rPr lang="en-US" b="0" i="1" smtClean="0">
                              <a:solidFill>
                                <a:schemeClr val="tx1"/>
                              </a:solidFill>
                              <a:latin typeface="Cambria Math" panose="02040503050406030204" pitchFamily="18" charset="0"/>
                            </a:rPr>
                            <m:t>1</m:t>
                          </m:r>
                        </m:sub>
                      </m:sSub>
                    </m:oMath>
                  </m:oMathPara>
                </a14:m>
                <a:endParaRPr lang="en-US" dirty="0">
                  <a:solidFill>
                    <a:schemeClr val="tx1"/>
                  </a:solidFill>
                </a:endParaRPr>
              </a:p>
            </p:txBody>
          </p:sp>
        </mc:Choice>
        <mc:Fallback xmlns="">
          <p:sp>
            <p:nvSpPr>
              <p:cNvPr id="10" name="Object 10">
                <a:extLst>
                  <a:ext uri="{FF2B5EF4-FFF2-40B4-BE49-F238E27FC236}">
                    <a16:creationId xmlns:a16="http://schemas.microsoft.com/office/drawing/2014/main" id="{330CA350-8C57-98EB-B9FF-3FF261A47796}"/>
                  </a:ext>
                </a:extLst>
              </p:cNvPr>
              <p:cNvSpPr txBox="1">
                <a:spLocks noRot="1" noChangeAspect="1" noMove="1" noResize="1" noEditPoints="1" noAdjustHandles="1" noChangeArrowheads="1" noChangeShapeType="1" noTextEdit="1"/>
              </p:cNvSpPr>
              <p:nvPr/>
            </p:nvSpPr>
            <p:spPr>
              <a:xfrm>
                <a:off x="2228851" y="1892959"/>
                <a:ext cx="5299075" cy="1177925"/>
              </a:xfrm>
              <a:prstGeom prst="rect">
                <a:avLst/>
              </a:prstGeom>
              <a:blipFill>
                <a:blip r:embed="rId21"/>
                <a:stretch>
                  <a:fillRect b="-8290"/>
                </a:stretch>
              </a:blipFill>
              <a:ln w="38100">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Object 2">
                <a:extLst>
                  <a:ext uri="{FF2B5EF4-FFF2-40B4-BE49-F238E27FC236}">
                    <a16:creationId xmlns:a16="http://schemas.microsoft.com/office/drawing/2014/main" id="{6CF93515-90BA-504F-A10B-D26C3B71187E}"/>
                  </a:ext>
                </a:extLst>
              </p:cNvPr>
              <p:cNvSpPr txBox="1"/>
              <p:nvPr/>
            </p:nvSpPr>
            <p:spPr>
              <a:xfrm>
                <a:off x="2228851" y="6240459"/>
                <a:ext cx="4534694" cy="57467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𝐴</m:t>
                          </m:r>
                        </m:e>
                        <m:sub>
                          <m:r>
                            <a:rPr lang="en-US" sz="2800" i="1">
                              <a:solidFill>
                                <a:srgbClr val="000000"/>
                              </a:solidFill>
                              <a:latin typeface="Cambria Math" panose="02040503050406030204" pitchFamily="18" charset="0"/>
                            </a:rPr>
                            <m:t>12</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𝜈</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𝐶</m:t>
                          </m:r>
                        </m:e>
                        <m:sub>
                          <m:r>
                            <a:rPr lang="en-US" sz="2800" i="1">
                              <a:solidFill>
                                <a:srgbClr val="000000"/>
                              </a:solidFill>
                              <a:latin typeface="Cambria Math" panose="02040503050406030204" pitchFamily="18" charset="0"/>
                            </a:rPr>
                            <m:t>𝑉</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𝑚</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11" name="Object 2">
                <a:extLst>
                  <a:ext uri="{FF2B5EF4-FFF2-40B4-BE49-F238E27FC236}">
                    <a16:creationId xmlns:a16="http://schemas.microsoft.com/office/drawing/2014/main" id="{7373F187-8990-5488-8B64-44E354E71E22}"/>
                  </a:ext>
                </a:extLst>
              </p:cNvPr>
              <p:cNvSpPr txBox="1">
                <a:spLocks noRot="1" noChangeAspect="1" noMove="1" noResize="1" noEditPoints="1" noAdjustHandles="1" noChangeArrowheads="1" noChangeShapeType="1" noTextEdit="1"/>
              </p:cNvSpPr>
              <p:nvPr/>
            </p:nvSpPr>
            <p:spPr>
              <a:xfrm>
                <a:off x="2228851" y="6240459"/>
                <a:ext cx="4534694" cy="574675"/>
              </a:xfrm>
              <a:prstGeom prst="rect">
                <a:avLst/>
              </a:prstGeom>
              <a:blipFill>
                <a:blip r:embed="rId22"/>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Object 3">
                <a:extLst>
                  <a:ext uri="{FF2B5EF4-FFF2-40B4-BE49-F238E27FC236}">
                    <a16:creationId xmlns:a16="http://schemas.microsoft.com/office/drawing/2014/main" id="{069F5CCC-8C04-D225-6EE4-077FF85AC130}"/>
                  </a:ext>
                </a:extLst>
              </p:cNvPr>
              <p:cNvSpPr txBox="1"/>
              <p:nvPr/>
            </p:nvSpPr>
            <p:spPr>
              <a:xfrm>
                <a:off x="5997575" y="5496565"/>
                <a:ext cx="4992687" cy="59372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𝐶</m:t>
                          </m:r>
                        </m:e>
                        <m:sub>
                          <m:r>
                            <a:rPr lang="en-US" sz="2800" i="1">
                              <a:solidFill>
                                <a:srgbClr val="000000"/>
                              </a:solidFill>
                              <a:latin typeface="Cambria Math" panose="02040503050406030204" pitchFamily="18" charset="0"/>
                            </a:rPr>
                            <m:t>𝑉</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𝑚</m:t>
                          </m:r>
                        </m:sub>
                      </m:sSub>
                      <m:r>
                        <a:rPr lang="en-US" sz="2800" i="1">
                          <a:solidFill>
                            <a:srgbClr val="000000"/>
                          </a:solidFill>
                          <a:latin typeface="Cambria Math" panose="02040503050406030204" pitchFamily="18" charset="0"/>
                        </a:rPr>
                        <m:t>=20.44</m:t>
                      </m:r>
                      <m:r>
                        <m:rPr>
                          <m:nor/>
                        </m:rPr>
                        <a:rPr lang="en-US" sz="2800" i="0">
                          <a:solidFill>
                            <a:srgbClr val="000000"/>
                          </a:solidFill>
                          <a:latin typeface="Cambria Math" panose="02040503050406030204" pitchFamily="18" charset="0"/>
                        </a:rPr>
                        <m:t> </m:t>
                      </m:r>
                      <m:r>
                        <m:rPr>
                          <m:nor/>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m:t>
                      </m:r>
                      <m:r>
                        <m:rPr>
                          <m:nor/>
                        </m:rPr>
                        <a:rPr lang="en-US" sz="2800" i="0">
                          <a:solidFill>
                            <a:srgbClr val="000000"/>
                          </a:solidFill>
                          <a:latin typeface="Cambria Math" panose="02040503050406030204" pitchFamily="18" charset="0"/>
                        </a:rPr>
                        <m:t>mo</m:t>
                      </m:r>
                      <m:sSup>
                        <m:sSupPr>
                          <m:ctrlPr>
                            <a:rPr lang="en-US" sz="2800" i="1">
                              <a:solidFill>
                                <a:srgbClr val="000000"/>
                              </a:solidFill>
                              <a:latin typeface="Cambria Math" panose="02040503050406030204" pitchFamily="18" charset="0"/>
                            </a:rPr>
                          </m:ctrlPr>
                        </m:sSupPr>
                        <m:e>
                          <m:r>
                            <m:rPr>
                              <m:nor/>
                            </m:rPr>
                            <a:rPr lang="en-US" sz="2800" i="0">
                              <a:solidFill>
                                <a:srgbClr val="000000"/>
                              </a:solidFill>
                              <a:latin typeface="Cambria Math" panose="02040503050406030204" pitchFamily="18" charset="0"/>
                            </a:rPr>
                            <m:t>l</m:t>
                          </m:r>
                        </m:e>
                        <m:sup>
                          <m:r>
                            <a:rPr lang="en-US" sz="2800" i="1">
                              <a:solidFill>
                                <a:srgbClr val="000000"/>
                              </a:solidFill>
                              <a:latin typeface="Cambria Math" panose="02040503050406030204" pitchFamily="18" charset="0"/>
                            </a:rPr>
                            <m:t>−</m:t>
                          </m:r>
                          <m:r>
                            <a:rPr lang="en-US" sz="2800" i="0">
                              <a:solidFill>
                                <a:srgbClr val="000000"/>
                              </a:solidFill>
                              <a:latin typeface="Cambria Math" panose="02040503050406030204" pitchFamily="18" charset="0"/>
                            </a:rPr>
                            <m:t>1</m:t>
                          </m:r>
                        </m:sup>
                      </m:sSup>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K</m:t>
                          </m:r>
                        </m:e>
                        <m:sup>
                          <m:r>
                            <a:rPr lang="en-US" sz="2800" i="1">
                              <a:solidFill>
                                <a:srgbClr val="000000"/>
                              </a:solidFill>
                              <a:latin typeface="Cambria Math" panose="02040503050406030204" pitchFamily="18" charset="0"/>
                            </a:rPr>
                            <m:t>−</m:t>
                          </m:r>
                          <m:r>
                            <a:rPr lang="en-US" sz="2800" i="0">
                              <a:solidFill>
                                <a:srgbClr val="000000"/>
                              </a:solidFill>
                              <a:latin typeface="Cambria Math" panose="02040503050406030204" pitchFamily="18" charset="0"/>
                            </a:rPr>
                            <m:t>1</m:t>
                          </m:r>
                        </m:sup>
                      </m:sSup>
                    </m:oMath>
                  </m:oMathPara>
                </a14:m>
                <a:endParaRPr lang="en-US" sz="2800"/>
              </a:p>
            </p:txBody>
          </p:sp>
        </mc:Choice>
        <mc:Fallback xmlns="">
          <p:sp>
            <p:nvSpPr>
              <p:cNvPr id="12" name="Object 3">
                <a:extLst>
                  <a:ext uri="{FF2B5EF4-FFF2-40B4-BE49-F238E27FC236}">
                    <a16:creationId xmlns:a16="http://schemas.microsoft.com/office/drawing/2014/main" id="{2D6DCB5F-3D62-AEF5-B8DD-60BAEA4BFEC8}"/>
                  </a:ext>
                </a:extLst>
              </p:cNvPr>
              <p:cNvSpPr txBox="1">
                <a:spLocks noRot="1" noChangeAspect="1" noMove="1" noResize="1" noEditPoints="1" noAdjustHandles="1" noChangeArrowheads="1" noChangeShapeType="1" noTextEdit="1"/>
              </p:cNvSpPr>
              <p:nvPr/>
            </p:nvSpPr>
            <p:spPr>
              <a:xfrm>
                <a:off x="5997575" y="5496565"/>
                <a:ext cx="4992687" cy="593725"/>
              </a:xfrm>
              <a:prstGeom prst="rect">
                <a:avLst/>
              </a:prstGeom>
              <a:blipFill>
                <a:blip r:embed="rId23"/>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Object 4">
                <a:extLst>
                  <a:ext uri="{FF2B5EF4-FFF2-40B4-BE49-F238E27FC236}">
                    <a16:creationId xmlns:a16="http://schemas.microsoft.com/office/drawing/2014/main" id="{13CEDD45-7EB8-A65B-5CCB-2D145EB80EE9}"/>
                  </a:ext>
                </a:extLst>
              </p:cNvPr>
              <p:cNvSpPr txBox="1"/>
              <p:nvPr/>
            </p:nvSpPr>
            <p:spPr>
              <a:xfrm>
                <a:off x="6200775" y="6248877"/>
                <a:ext cx="2879725" cy="528637"/>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=−4.70×1</m:t>
                      </m:r>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0</m:t>
                          </m:r>
                        </m:e>
                        <m:sup>
                          <m:r>
                            <a:rPr lang="en-US" sz="2800" i="1">
                              <a:solidFill>
                                <a:srgbClr val="000000"/>
                              </a:solidFill>
                              <a:latin typeface="Cambria Math" panose="02040503050406030204" pitchFamily="18" charset="0"/>
                            </a:rPr>
                            <m:t>4</m:t>
                          </m:r>
                        </m:sup>
                      </m:sSup>
                      <m:r>
                        <m:rPr>
                          <m:sty m:val="p"/>
                        </m:rPr>
                        <a:rPr lang="en-US" sz="2800" i="0">
                          <a:solidFill>
                            <a:srgbClr val="000000"/>
                          </a:solidFill>
                          <a:latin typeface="Cambria Math" panose="02040503050406030204" pitchFamily="18" charset="0"/>
                        </a:rPr>
                        <m:t>J</m:t>
                      </m:r>
                    </m:oMath>
                  </m:oMathPara>
                </a14:m>
                <a:endParaRPr lang="en-US" sz="2800" dirty="0"/>
              </a:p>
            </p:txBody>
          </p:sp>
        </mc:Choice>
        <mc:Fallback xmlns="">
          <p:sp>
            <p:nvSpPr>
              <p:cNvPr id="13" name="Object 4">
                <a:extLst>
                  <a:ext uri="{FF2B5EF4-FFF2-40B4-BE49-F238E27FC236}">
                    <a16:creationId xmlns:a16="http://schemas.microsoft.com/office/drawing/2014/main" id="{D05BF28E-686A-E291-C1F6-88EBCB2153B5}"/>
                  </a:ext>
                </a:extLst>
              </p:cNvPr>
              <p:cNvSpPr txBox="1">
                <a:spLocks noRot="1" noChangeAspect="1" noMove="1" noResize="1" noEditPoints="1" noAdjustHandles="1" noChangeArrowheads="1" noChangeShapeType="1" noTextEdit="1"/>
              </p:cNvSpPr>
              <p:nvPr/>
            </p:nvSpPr>
            <p:spPr>
              <a:xfrm>
                <a:off x="6200775" y="6248877"/>
                <a:ext cx="2879725" cy="528637"/>
              </a:xfrm>
              <a:prstGeom prst="rect">
                <a:avLst/>
              </a:prstGeom>
              <a:blipFill>
                <a:blip r:embed="rId24"/>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9508CB6A-3E14-1FA2-54DF-DA1F60A53FEB}"/>
                  </a:ext>
                </a:extLst>
              </p:cNvPr>
              <p:cNvSpPr txBox="1"/>
              <p:nvPr/>
            </p:nvSpPr>
            <p:spPr>
              <a:xfrm>
                <a:off x="4266805" y="3112158"/>
                <a:ext cx="4215209" cy="523220"/>
              </a:xfrm>
              <a:prstGeom prst="rect">
                <a:avLst/>
              </a:prstGeom>
              <a:noFill/>
            </p:spPr>
            <p:txBody>
              <a:bodyPr wrap="square">
                <a:spAutoFit/>
              </a:bodyPr>
              <a:lstStyle/>
              <a:p>
                <a14:m>
                  <m:oMath xmlns:m="http://schemas.openxmlformats.org/officeDocument/2006/math">
                    <m:r>
                      <m:rPr>
                        <m:sty m:val="p"/>
                      </m:rPr>
                      <a:rPr lang="en-US" altLang="zh-CN" sz="2800" i="1">
                        <a:latin typeface="Cambria Math" panose="02040503050406030204" pitchFamily="18" charset="0"/>
                      </a:rPr>
                      <m:t>P</m:t>
                    </m:r>
                    <m:r>
                      <a:rPr lang="en-US" altLang="zh-CN" sz="2800" b="0" i="1" smtClean="0">
                        <a:solidFill>
                          <a:schemeClr val="tx1"/>
                        </a:solidFill>
                        <a:latin typeface="Cambria Math" panose="02040503050406030204" pitchFamily="18" charset="0"/>
                      </a:rPr>
                      <m:t>=</m:t>
                    </m:r>
                    <m:r>
                      <a:rPr lang="en-US" altLang="zh-CN" sz="2800" b="0" i="1" smtClean="0">
                        <a:solidFill>
                          <a:schemeClr val="tx1"/>
                        </a:solidFill>
                        <a:latin typeface="Cambria Math" panose="02040503050406030204" pitchFamily="18" charset="0"/>
                      </a:rPr>
                      <m:t>𝜈</m:t>
                    </m:r>
                    <m:r>
                      <a:rPr lang="en-US" altLang="zh-CN" sz="2800" b="0" i="1" smtClean="0">
                        <a:solidFill>
                          <a:schemeClr val="tx1"/>
                        </a:solidFill>
                        <a:latin typeface="Cambria Math" panose="02040503050406030204" pitchFamily="18" charset="0"/>
                      </a:rPr>
                      <m:t>𝑅𝑇</m:t>
                    </m:r>
                  </m:oMath>
                </a14:m>
                <a:r>
                  <a:rPr lang="en-US" altLang="zh-CN" sz="2800" dirty="0"/>
                  <a:t>/V ;  </a:t>
                </a:r>
                <a:r>
                  <a:rPr lang="en-US" altLang="zh-CN" sz="2800" dirty="0" err="1"/>
                  <a:t>dA</a:t>
                </a:r>
                <a:r>
                  <a:rPr lang="en-US" altLang="zh-CN" sz="2800" dirty="0"/>
                  <a:t>=</a:t>
                </a:r>
                <a:r>
                  <a:rPr lang="en-US" altLang="zh-CN" sz="2800" dirty="0" err="1"/>
                  <a:t>PdV</a:t>
                </a:r>
                <a:endParaRPr lang="zh-CN" altLang="en-US" sz="2800" dirty="0"/>
              </a:p>
            </p:txBody>
          </p:sp>
        </mc:Choice>
        <mc:Fallback xmlns="">
          <p:sp>
            <p:nvSpPr>
              <p:cNvPr id="15" name="文本框 14">
                <a:extLst>
                  <a:ext uri="{FF2B5EF4-FFF2-40B4-BE49-F238E27FC236}">
                    <a16:creationId xmlns:a16="http://schemas.microsoft.com/office/drawing/2014/main" id="{A472B924-0E8B-50FB-EF77-F379FD42E0DE}"/>
                  </a:ext>
                </a:extLst>
              </p:cNvPr>
              <p:cNvSpPr txBox="1">
                <a:spLocks noRot="1" noChangeAspect="1" noMove="1" noResize="1" noEditPoints="1" noAdjustHandles="1" noChangeArrowheads="1" noChangeShapeType="1" noTextEdit="1"/>
              </p:cNvSpPr>
              <p:nvPr/>
            </p:nvSpPr>
            <p:spPr>
              <a:xfrm>
                <a:off x="4266805" y="3112158"/>
                <a:ext cx="4215209" cy="523220"/>
              </a:xfrm>
              <a:prstGeom prst="rect">
                <a:avLst/>
              </a:prstGeom>
              <a:blipFill>
                <a:blip r:embed="rId25"/>
                <a:stretch>
                  <a:fillRect t="-12941" b="-3294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41114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7" grpId="0"/>
      <p:bldP spid="8" grpId="0"/>
      <p:bldP spid="9" grpId="0"/>
      <p:bldP spid="10" grpId="0" animBg="1"/>
      <p:bldP spid="11" grpId="0"/>
      <p:bldP spid="12" grpId="0"/>
      <p:bldP spid="13" grpId="0"/>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5A2FA-0FBA-0E41-7D9D-8200C3C175E1}"/>
            </a:ext>
          </a:extLst>
        </p:cNvPr>
        <p:cNvGrpSpPr/>
        <p:nvPr/>
      </p:nvGrpSpPr>
      <p:grpSpPr>
        <a:xfrm>
          <a:off x="0" y="0"/>
          <a:ext cx="0" cy="0"/>
          <a:chOff x="0" y="0"/>
          <a:chExt cx="0" cy="0"/>
        </a:xfrm>
      </p:grpSpPr>
      <p:grpSp>
        <p:nvGrpSpPr>
          <p:cNvPr id="42002" name="Group 2">
            <a:extLst>
              <a:ext uri="{FF2B5EF4-FFF2-40B4-BE49-F238E27FC236}">
                <a16:creationId xmlns:a16="http://schemas.microsoft.com/office/drawing/2014/main" id="{E4ADF344-BA3B-06EC-1DAB-7B7866F4FA6B}"/>
              </a:ext>
            </a:extLst>
          </p:cNvPr>
          <p:cNvGrpSpPr/>
          <p:nvPr/>
        </p:nvGrpSpPr>
        <p:grpSpPr>
          <a:xfrm>
            <a:off x="919957" y="300040"/>
            <a:ext cx="11157743" cy="1501775"/>
            <a:chOff x="249" y="482"/>
            <a:chExt cx="5262" cy="946"/>
          </a:xfrm>
        </p:grpSpPr>
        <p:sp>
          <p:nvSpPr>
            <p:cNvPr id="42022" name="Text Box 3">
              <a:extLst>
                <a:ext uri="{FF2B5EF4-FFF2-40B4-BE49-F238E27FC236}">
                  <a16:creationId xmlns:a16="http://schemas.microsoft.com/office/drawing/2014/main" id="{D732CFAF-1473-73AC-4C88-D80E93442183}"/>
                </a:ext>
              </a:extLst>
            </p:cNvPr>
            <p:cNvSpPr txBox="1"/>
            <p:nvPr/>
          </p:nvSpPr>
          <p:spPr>
            <a:xfrm>
              <a:off x="249" y="482"/>
              <a:ext cx="5262" cy="946"/>
            </a:xfrm>
            <a:prstGeom prst="rect">
              <a:avLst/>
            </a:prstGeom>
            <a:noFill/>
            <a:ln w="9525">
              <a:noFill/>
            </a:ln>
          </p:spPr>
          <p:txBody>
            <a:bodyPr>
              <a:spAutoFit/>
            </a:bodyPr>
            <a:lstStyle/>
            <a:p>
              <a:pPr eaLnBrk="1" hangingPunct="1">
                <a:lnSpc>
                  <a:spcPct val="120000"/>
                </a:lnSpc>
                <a:spcBef>
                  <a:spcPct val="50000"/>
                </a:spcBef>
              </a:pPr>
              <a:r>
                <a:rPr lang="en-US" altLang="zh-CN" sz="2600" dirty="0"/>
                <a:t>         </a:t>
              </a:r>
              <a:r>
                <a:rPr lang="zh-CN" altLang="en-US" sz="2600" dirty="0"/>
                <a:t>例：</a:t>
              </a:r>
              <a:r>
                <a:rPr lang="en-US" altLang="zh-CN" sz="2600" dirty="0"/>
                <a:t> </a:t>
              </a:r>
              <a:r>
                <a:rPr lang="zh-CN" altLang="en-US" sz="2600" dirty="0"/>
                <a:t>设有 </a:t>
              </a:r>
              <a:r>
                <a:rPr lang="en-US" altLang="zh-CN" sz="2600" dirty="0"/>
                <a:t>5 mol </a:t>
              </a:r>
              <a:r>
                <a:rPr lang="zh-CN" altLang="en-US" sz="2600" dirty="0"/>
                <a:t>的氢气，最初温度        ，压强                         ，求下列过程中把氢气压缩为原体积的 </a:t>
              </a:r>
              <a:r>
                <a:rPr lang="en-US" altLang="zh-CN" sz="2600" dirty="0"/>
                <a:t>1/10 </a:t>
              </a:r>
              <a:r>
                <a:rPr lang="zh-CN" altLang="en-US" sz="2600" dirty="0"/>
                <a:t>需作的功</a:t>
              </a:r>
              <a:r>
                <a:rPr lang="en-US" altLang="zh-CN" sz="2600" dirty="0"/>
                <a:t>:  </a:t>
              </a:r>
              <a:r>
                <a:rPr lang="zh-CN" altLang="en-US" sz="2600" dirty="0"/>
                <a:t>（</a:t>
              </a:r>
              <a:r>
                <a:rPr lang="en-US" altLang="zh-CN" sz="2600" dirty="0"/>
                <a:t>1</a:t>
              </a:r>
              <a:r>
                <a:rPr lang="zh-CN" altLang="en-US" sz="2600" dirty="0"/>
                <a:t>）等温过程（</a:t>
              </a:r>
              <a:r>
                <a:rPr lang="en-US" altLang="zh-CN" sz="2600" dirty="0"/>
                <a:t>2</a:t>
              </a:r>
              <a:r>
                <a:rPr lang="zh-CN" altLang="en-US" sz="2600" dirty="0"/>
                <a:t>）绝热过程 （</a:t>
              </a:r>
              <a:r>
                <a:rPr lang="en-US" altLang="zh-CN" sz="2600" dirty="0"/>
                <a:t>3</a:t>
              </a:r>
              <a:r>
                <a:rPr lang="zh-CN" altLang="en-US" sz="2600" dirty="0"/>
                <a:t>）经这两过程后，气体的压强各为多少？</a:t>
              </a:r>
            </a:p>
          </p:txBody>
        </p:sp>
        <mc:AlternateContent xmlns:mc="http://schemas.openxmlformats.org/markup-compatibility/2006" xmlns:a14="http://schemas.microsoft.com/office/drawing/2010/main">
          <mc:Choice Requires="a14">
            <p:sp>
              <p:nvSpPr>
                <p:cNvPr id="42000" name="Object 4">
                  <a:extLst>
                    <a:ext uri="{FF2B5EF4-FFF2-40B4-BE49-F238E27FC236}">
                      <a16:creationId xmlns:a16="http://schemas.microsoft.com/office/drawing/2014/main" id="{AE622C86-83B1-8C77-2428-31746C0B8420}"/>
                    </a:ext>
                  </a:extLst>
                </p:cNvPr>
                <p:cNvSpPr txBox="1"/>
                <p:nvPr/>
              </p:nvSpPr>
              <p:spPr>
                <a:xfrm>
                  <a:off x="3660" y="501"/>
                  <a:ext cx="1179" cy="296"/>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600" b="0" i="1">
                            <a:solidFill>
                              <a:srgbClr val="000000"/>
                            </a:solidFill>
                            <a:latin typeface="Cambria Math" panose="02040503050406030204" pitchFamily="18" charset="0"/>
                          </a:rPr>
                          <m:t>1.013×1</m:t>
                        </m:r>
                        <m:sSup>
                          <m:sSupPr>
                            <m:ctrlPr>
                              <a:rPr lang="en-US" sz="2600" i="1">
                                <a:solidFill>
                                  <a:srgbClr val="000000"/>
                                </a:solidFill>
                                <a:latin typeface="Cambria Math" panose="02040503050406030204" pitchFamily="18" charset="0"/>
                              </a:rPr>
                            </m:ctrlPr>
                          </m:sSupPr>
                          <m:e>
                            <m:r>
                              <a:rPr lang="en-US" sz="2600" b="0" i="1">
                                <a:solidFill>
                                  <a:srgbClr val="000000"/>
                                </a:solidFill>
                                <a:latin typeface="Cambria Math" panose="02040503050406030204" pitchFamily="18" charset="0"/>
                              </a:rPr>
                              <m:t>0</m:t>
                            </m:r>
                          </m:e>
                          <m:sup>
                            <m:r>
                              <a:rPr lang="en-US" sz="2600" b="0" i="1">
                                <a:solidFill>
                                  <a:srgbClr val="000000"/>
                                </a:solidFill>
                                <a:latin typeface="Cambria Math" panose="02040503050406030204" pitchFamily="18" charset="0"/>
                              </a:rPr>
                              <m:t>5</m:t>
                            </m:r>
                          </m:sup>
                        </m:sSup>
                        <m:r>
                          <m:rPr>
                            <m:nor/>
                          </m:rPr>
                          <a:rPr lang="en-US" sz="2600" i="0">
                            <a:solidFill>
                              <a:srgbClr val="000000"/>
                            </a:solidFill>
                          </a:rPr>
                          <m:t>Pa</m:t>
                        </m:r>
                      </m:oMath>
                    </m:oMathPara>
                  </a14:m>
                  <a:endParaRPr lang="en-US" sz="2600" dirty="0"/>
                </a:p>
              </p:txBody>
            </p:sp>
          </mc:Choice>
          <mc:Fallback xmlns="">
            <p:sp>
              <p:nvSpPr>
                <p:cNvPr id="42000" name="Object 4">
                  <a:extLst>
                    <a:ext uri="{FF2B5EF4-FFF2-40B4-BE49-F238E27FC236}">
                      <a16:creationId xmlns:a16="http://schemas.microsoft.com/office/drawing/2014/main" id="{AE622C86-83B1-8C77-2428-31746C0B8420}"/>
                    </a:ext>
                  </a:extLst>
                </p:cNvPr>
                <p:cNvSpPr txBox="1">
                  <a:spLocks noRot="1" noChangeAspect="1" noMove="1" noResize="1" noEditPoints="1" noAdjustHandles="1" noChangeArrowheads="1" noChangeShapeType="1" noTextEdit="1"/>
                </p:cNvSpPr>
                <p:nvPr/>
              </p:nvSpPr>
              <p:spPr>
                <a:xfrm>
                  <a:off x="3660" y="501"/>
                  <a:ext cx="1179" cy="296"/>
                </a:xfrm>
                <a:prstGeom prst="rect">
                  <a:avLst/>
                </a:prstGeom>
                <a:blipFill>
                  <a:blip r:embed="rId2"/>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001" name="Object 5">
                  <a:extLst>
                    <a:ext uri="{FF2B5EF4-FFF2-40B4-BE49-F238E27FC236}">
                      <a16:creationId xmlns:a16="http://schemas.microsoft.com/office/drawing/2014/main" id="{360C4DD4-E197-A63C-BC43-0B5584B11313}"/>
                    </a:ext>
                  </a:extLst>
                </p:cNvPr>
                <p:cNvSpPr txBox="1"/>
                <p:nvPr/>
              </p:nvSpPr>
              <p:spPr>
                <a:xfrm>
                  <a:off x="2855" y="501"/>
                  <a:ext cx="562" cy="329"/>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600" b="0" i="1">
                            <a:solidFill>
                              <a:srgbClr val="000000"/>
                            </a:solidFill>
                            <a:latin typeface="Cambria Math" panose="02040503050406030204" pitchFamily="18" charset="0"/>
                          </a:rPr>
                          <m:t>2</m:t>
                        </m:r>
                        <m:sSup>
                          <m:sSupPr>
                            <m:ctrlPr>
                              <a:rPr lang="en-US" sz="2600" i="1">
                                <a:solidFill>
                                  <a:srgbClr val="000000"/>
                                </a:solidFill>
                                <a:latin typeface="Cambria Math" panose="02040503050406030204" pitchFamily="18" charset="0"/>
                              </a:rPr>
                            </m:ctrlPr>
                          </m:sSupPr>
                          <m:e>
                            <m:r>
                              <a:rPr lang="en-US" sz="2600" b="0" i="1">
                                <a:solidFill>
                                  <a:srgbClr val="000000"/>
                                </a:solidFill>
                                <a:latin typeface="Cambria Math" panose="02040503050406030204" pitchFamily="18" charset="0"/>
                              </a:rPr>
                              <m:t>0</m:t>
                            </m:r>
                          </m:e>
                          <m:sup>
                            <m:r>
                              <a:rPr lang="en-US" sz="2600" b="0" i="1">
                                <a:solidFill>
                                  <a:srgbClr val="000000"/>
                                </a:solidFill>
                                <a:latin typeface="Cambria Math" panose="02040503050406030204" pitchFamily="18" charset="0"/>
                              </a:rPr>
                              <m:t>∘</m:t>
                            </m:r>
                          </m:sup>
                        </m:sSup>
                        <m:r>
                          <m:rPr>
                            <m:sty m:val="p"/>
                          </m:rPr>
                          <a:rPr lang="en-US" sz="2600" b="0" i="0">
                            <a:solidFill>
                              <a:srgbClr val="000000"/>
                            </a:solidFill>
                            <a:latin typeface="Cambria Math" panose="02040503050406030204" pitchFamily="18" charset="0"/>
                          </a:rPr>
                          <m:t>C</m:t>
                        </m:r>
                      </m:oMath>
                    </m:oMathPara>
                  </a14:m>
                  <a:endParaRPr lang="en-US" sz="2600" dirty="0"/>
                </a:p>
              </p:txBody>
            </p:sp>
          </mc:Choice>
          <mc:Fallback xmlns="">
            <p:sp>
              <p:nvSpPr>
                <p:cNvPr id="42001" name="Object 5">
                  <a:extLst>
                    <a:ext uri="{FF2B5EF4-FFF2-40B4-BE49-F238E27FC236}">
                      <a16:creationId xmlns:a16="http://schemas.microsoft.com/office/drawing/2014/main" id="{360C4DD4-E197-A63C-BC43-0B5584B11313}"/>
                    </a:ext>
                  </a:extLst>
                </p:cNvPr>
                <p:cNvSpPr txBox="1">
                  <a:spLocks noRot="1" noChangeAspect="1" noMove="1" noResize="1" noEditPoints="1" noAdjustHandles="1" noChangeArrowheads="1" noChangeShapeType="1" noTextEdit="1"/>
                </p:cNvSpPr>
                <p:nvPr/>
              </p:nvSpPr>
              <p:spPr>
                <a:xfrm>
                  <a:off x="2855" y="501"/>
                  <a:ext cx="562" cy="329"/>
                </a:xfrm>
                <a:prstGeom prst="rect">
                  <a:avLst/>
                </a:prstGeom>
                <a:blipFill>
                  <a:blip r:embed="rId3"/>
                  <a:stretch>
                    <a:fillRect/>
                  </a:stretch>
                </a:blipFill>
                <a:ln w="38100">
                  <a:noFill/>
                  <a:miter/>
                </a:ln>
              </p:spPr>
              <p:txBody>
                <a:bodyPr/>
                <a:lstStyle/>
                <a:p>
                  <a:r>
                    <a:rPr lang="zh-CN" altLang="en-US">
                      <a:noFill/>
                    </a:rPr>
                    <a:t> </a:t>
                  </a:r>
                </a:p>
              </p:txBody>
            </p:sp>
          </mc:Fallback>
        </mc:AlternateContent>
      </p:grpSp>
      <p:sp>
        <p:nvSpPr>
          <p:cNvPr id="9" name="Text Box 9">
            <a:extLst>
              <a:ext uri="{FF2B5EF4-FFF2-40B4-BE49-F238E27FC236}">
                <a16:creationId xmlns:a16="http://schemas.microsoft.com/office/drawing/2014/main" id="{B337D995-76C0-386C-A13B-D21627B15FB6}"/>
              </a:ext>
            </a:extLst>
          </p:cNvPr>
          <p:cNvSpPr txBox="1"/>
          <p:nvPr/>
        </p:nvSpPr>
        <p:spPr>
          <a:xfrm>
            <a:off x="1376363" y="1910090"/>
            <a:ext cx="1800225" cy="523220"/>
          </a:xfrm>
          <a:prstGeom prst="rect">
            <a:avLst/>
          </a:prstGeom>
          <a:noFill/>
          <a:ln w="9525">
            <a:noFill/>
          </a:ln>
        </p:spPr>
        <p:txBody>
          <a:bodyPr>
            <a:spAutoFit/>
          </a:bodyPr>
          <a:lstStyle/>
          <a:p>
            <a:pPr eaLnBrk="1" hangingPunct="1"/>
            <a:r>
              <a:rPr lang="en-US" altLang="zh-CN" sz="2800" dirty="0">
                <a:latin typeface="Arial" panose="020B0604020202020204" pitchFamily="34" charset="0"/>
              </a:rPr>
              <a:t> </a:t>
            </a:r>
            <a:r>
              <a:rPr lang="zh-CN" altLang="en-US" sz="2800" dirty="0">
                <a:latin typeface="Arial" panose="020B0604020202020204" pitchFamily="34" charset="0"/>
              </a:rPr>
              <a:t>已知： </a:t>
            </a:r>
          </a:p>
        </p:txBody>
      </p:sp>
      <p:sp>
        <p:nvSpPr>
          <p:cNvPr id="5" name="Text Box 5">
            <a:extLst>
              <a:ext uri="{FF2B5EF4-FFF2-40B4-BE49-F238E27FC236}">
                <a16:creationId xmlns:a16="http://schemas.microsoft.com/office/drawing/2014/main" id="{2CBF524C-FF8C-E3F2-DEF4-4D7AEF825D08}"/>
              </a:ext>
            </a:extLst>
          </p:cNvPr>
          <p:cNvSpPr txBox="1"/>
          <p:nvPr/>
        </p:nvSpPr>
        <p:spPr>
          <a:xfrm>
            <a:off x="1669653" y="3525507"/>
            <a:ext cx="3455988" cy="523220"/>
          </a:xfrm>
          <a:prstGeom prst="rect">
            <a:avLst/>
          </a:prstGeom>
          <a:noFill/>
          <a:ln w="9525">
            <a:noFill/>
          </a:ln>
        </p:spPr>
        <p:txBody>
          <a:bodyPr>
            <a:spAutoFit/>
          </a:bodyPr>
          <a:lstStyle/>
          <a:p>
            <a:pPr eaLnBrk="1" hangingPunct="1">
              <a:spcBef>
                <a:spcPct val="50000"/>
              </a:spcBef>
            </a:pPr>
            <a:r>
              <a:rPr lang="zh-CN" altLang="en-US" sz="2800" dirty="0">
                <a:latin typeface="Times New Roman" panose="02020603050405020304" pitchFamily="18" charset="0"/>
              </a:rPr>
              <a:t>（</a:t>
            </a:r>
            <a:r>
              <a:rPr lang="en-US" altLang="zh-CN" sz="2800" dirty="0">
                <a:latin typeface="Times New Roman" panose="02020603050405020304" pitchFamily="18" charset="0"/>
              </a:rPr>
              <a:t>3</a:t>
            </a:r>
            <a:r>
              <a:rPr lang="zh-CN" altLang="en-US" sz="2800" dirty="0">
                <a:latin typeface="Times New Roman" panose="02020603050405020304" pitchFamily="18" charset="0"/>
              </a:rPr>
              <a:t>）对等温过程</a:t>
            </a:r>
          </a:p>
        </p:txBody>
      </p:sp>
      <mc:AlternateContent xmlns:mc="http://schemas.openxmlformats.org/markup-compatibility/2006" xmlns:a14="http://schemas.microsoft.com/office/drawing/2010/main">
        <mc:Choice Requires="a14">
          <p:sp>
            <p:nvSpPr>
              <p:cNvPr id="6" name="Object 6">
                <a:extLst>
                  <a:ext uri="{FF2B5EF4-FFF2-40B4-BE49-F238E27FC236}">
                    <a16:creationId xmlns:a16="http://schemas.microsoft.com/office/drawing/2014/main" id="{C79DAC23-0CC4-57B2-6973-43A1D23A8C6B}"/>
                  </a:ext>
                </a:extLst>
              </p:cNvPr>
              <p:cNvSpPr txBox="1"/>
              <p:nvPr/>
            </p:nvSpPr>
            <p:spPr>
              <a:xfrm>
                <a:off x="1007269" y="4048727"/>
                <a:ext cx="7903370" cy="1539875"/>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sSup>
                            <m:sSupPr>
                              <m:ctrlPr>
                                <a:rPr lang="en-US" sz="2800" i="1">
                                  <a:solidFill>
                                    <a:schemeClr val="tx1"/>
                                  </a:solidFill>
                                  <a:latin typeface="Cambria Math" panose="02040503050406030204" pitchFamily="18" charset="0"/>
                                </a:rPr>
                              </m:ctrlPr>
                            </m:sSupPr>
                            <m:e>
                              <m:r>
                                <a:rPr lang="en-US" sz="2800" b="0" i="1">
                                  <a:solidFill>
                                    <a:schemeClr val="tx1"/>
                                  </a:solidFill>
                                  <a:latin typeface="Cambria Math" panose="02040503050406030204" pitchFamily="18" charset="0"/>
                                </a:rPr>
                                <m:t>𝑝</m:t>
                              </m:r>
                            </m:e>
                            <m:sup>
                              <m:r>
                                <a:rPr lang="en-US" sz="2800" b="0" i="1">
                                  <a:solidFill>
                                    <a:schemeClr val="tx1"/>
                                  </a:solidFill>
                                  <a:latin typeface="Cambria Math" panose="02040503050406030204" pitchFamily="18" charset="0"/>
                                </a:rPr>
                                <m:t>′</m:t>
                              </m:r>
                            </m:sup>
                          </m:sSup>
                        </m:e>
                        <m:sub>
                          <m:r>
                            <a:rPr lang="en-US" sz="2800" b="0" i="1">
                              <a:solidFill>
                                <a:schemeClr val="tx1"/>
                              </a:solidFill>
                              <a:latin typeface="Cambria Math" panose="02040503050406030204" pitchFamily="18" charset="0"/>
                            </a:rPr>
                            <m:t>2</m:t>
                          </m:r>
                        </m:sub>
                      </m:sSub>
                      <m:r>
                        <a:rPr lang="en-US" sz="2800" b="0" i="1">
                          <a:solidFill>
                            <a:schemeClr val="tx1"/>
                          </a:solidFill>
                          <a:latin typeface="Cambria Math" panose="02040503050406030204" pitchFamily="18" charset="0"/>
                        </a:rPr>
                        <m:t>=</m:t>
                      </m:r>
                      <m:sSub>
                        <m:sSubPr>
                          <m:ctrlPr>
                            <a:rPr lang="en-US" sz="2800" i="1">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𝑝</m:t>
                          </m:r>
                        </m:e>
                        <m:sub>
                          <m:r>
                            <a:rPr lang="en-US" sz="2800" b="0" i="1">
                              <a:solidFill>
                                <a:schemeClr val="tx1"/>
                              </a:solidFill>
                              <a:latin typeface="Cambria Math" panose="02040503050406030204" pitchFamily="18" charset="0"/>
                            </a:rPr>
                            <m:t>1</m:t>
                          </m:r>
                        </m:sub>
                      </m:sSub>
                      <m:d>
                        <m:dPr>
                          <m:ctrlPr>
                            <a:rPr lang="en-US" sz="2800" b="0" i="1">
                              <a:solidFill>
                                <a:schemeClr val="tx1"/>
                              </a:solidFill>
                              <a:latin typeface="Cambria Math" panose="02040503050406030204" pitchFamily="18" charset="0"/>
                            </a:rPr>
                          </m:ctrlPr>
                        </m:dPr>
                        <m:e>
                          <m:f>
                            <m:fPr>
                              <m:ctrlPr>
                                <a:rPr lang="en-US" sz="2800" i="1">
                                  <a:solidFill>
                                    <a:schemeClr val="tx1"/>
                                  </a:solidFill>
                                  <a:latin typeface="Cambria Math" panose="02040503050406030204" pitchFamily="18" charset="0"/>
                                </a:rPr>
                              </m:ctrlPr>
                            </m:fPr>
                            <m:num>
                              <m:sSub>
                                <m:sSubPr>
                                  <m:ctrlPr>
                                    <a:rPr lang="en-US" sz="2800" i="1">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𝑉</m:t>
                                  </m:r>
                                </m:e>
                                <m:sub>
                                  <m:r>
                                    <a:rPr lang="en-US" sz="2800" b="0" i="1">
                                      <a:solidFill>
                                        <a:schemeClr val="tx1"/>
                                      </a:solidFill>
                                      <a:latin typeface="Cambria Math" panose="02040503050406030204" pitchFamily="18" charset="0"/>
                                    </a:rPr>
                                    <m:t>1</m:t>
                                  </m:r>
                                </m:sub>
                              </m:sSub>
                            </m:num>
                            <m:den>
                              <m:sSub>
                                <m:sSubPr>
                                  <m:ctrlPr>
                                    <a:rPr lang="en-US" sz="2800" i="1">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𝑉</m:t>
                                  </m:r>
                                </m:e>
                                <m:sub>
                                  <m:r>
                                    <a:rPr lang="en-US" sz="2800" b="0" i="1">
                                      <a:solidFill>
                                        <a:schemeClr val="tx1"/>
                                      </a:solidFill>
                                      <a:latin typeface="Cambria Math" panose="02040503050406030204" pitchFamily="18" charset="0"/>
                                    </a:rPr>
                                    <m:t>2</m:t>
                                  </m:r>
                                </m:sub>
                              </m:sSub>
                            </m:den>
                          </m:f>
                        </m:e>
                      </m:d>
                      <m:r>
                        <a:rPr lang="en-US" sz="2800" b="0" i="1">
                          <a:solidFill>
                            <a:schemeClr val="tx1"/>
                          </a:solidFill>
                          <a:latin typeface="Cambria Math" panose="02040503050406030204" pitchFamily="18" charset="0"/>
                        </a:rPr>
                        <m:t>=1.01×1</m:t>
                      </m:r>
                      <m:sSup>
                        <m:sSupPr>
                          <m:ctrlPr>
                            <a:rPr lang="en-US" sz="2800" i="1">
                              <a:solidFill>
                                <a:schemeClr val="tx1"/>
                              </a:solidFill>
                              <a:latin typeface="Cambria Math" panose="02040503050406030204" pitchFamily="18" charset="0"/>
                            </a:rPr>
                          </m:ctrlPr>
                        </m:sSupPr>
                        <m:e>
                          <m:r>
                            <a:rPr lang="en-US" sz="2800" b="0" i="1">
                              <a:solidFill>
                                <a:schemeClr val="tx1"/>
                              </a:solidFill>
                              <a:latin typeface="Cambria Math" panose="02040503050406030204" pitchFamily="18" charset="0"/>
                            </a:rPr>
                            <m:t>0</m:t>
                          </m:r>
                        </m:e>
                        <m:sup>
                          <m:r>
                            <a:rPr lang="en-US" sz="2800" b="0" i="1">
                              <a:solidFill>
                                <a:schemeClr val="tx1"/>
                              </a:solidFill>
                              <a:latin typeface="Cambria Math" panose="02040503050406030204" pitchFamily="18" charset="0"/>
                            </a:rPr>
                            <m:t>6</m:t>
                          </m:r>
                        </m:sup>
                      </m:sSup>
                      <m:r>
                        <m:rPr>
                          <m:nor/>
                        </m:rPr>
                        <a:rPr lang="en-US" sz="2800" i="0">
                          <a:solidFill>
                            <a:schemeClr val="tx1"/>
                          </a:solidFill>
                          <a:latin typeface="Cambria Math" panose="02040503050406030204" pitchFamily="18" charset="0"/>
                        </a:rPr>
                        <m:t> </m:t>
                      </m:r>
                      <m:r>
                        <m:rPr>
                          <m:nor/>
                        </m:rPr>
                        <a:rPr lang="en-US" sz="2800" i="0">
                          <a:solidFill>
                            <a:schemeClr val="tx1"/>
                          </a:solidFill>
                          <a:latin typeface="Cambria Math" panose="02040503050406030204" pitchFamily="18" charset="0"/>
                        </a:rPr>
                        <m:t>Pa</m:t>
                      </m:r>
                    </m:oMath>
                  </m:oMathPara>
                </a14:m>
                <a:endParaRPr lang="en-US" sz="2800" dirty="0">
                  <a:solidFill>
                    <a:schemeClr val="tx1"/>
                  </a:solidFill>
                </a:endParaRPr>
              </a:p>
            </p:txBody>
          </p:sp>
        </mc:Choice>
        <mc:Fallback xmlns="">
          <p:sp>
            <p:nvSpPr>
              <p:cNvPr id="6" name="Object 6">
                <a:extLst>
                  <a:ext uri="{FF2B5EF4-FFF2-40B4-BE49-F238E27FC236}">
                    <a16:creationId xmlns:a16="http://schemas.microsoft.com/office/drawing/2014/main" id="{5BF94AB9-3177-01D4-4380-1CC92B259718}"/>
                  </a:ext>
                </a:extLst>
              </p:cNvPr>
              <p:cNvSpPr txBox="1">
                <a:spLocks noRot="1" noChangeAspect="1" noMove="1" noResize="1" noEditPoints="1" noAdjustHandles="1" noChangeArrowheads="1" noChangeShapeType="1" noTextEdit="1"/>
              </p:cNvSpPr>
              <p:nvPr/>
            </p:nvSpPr>
            <p:spPr>
              <a:xfrm>
                <a:off x="1007269" y="4048727"/>
                <a:ext cx="7903370" cy="1539875"/>
              </a:xfrm>
              <a:prstGeom prst="rect">
                <a:avLst/>
              </a:prstGeom>
              <a:blipFill>
                <a:blip r:embed="rId18"/>
                <a:stretch>
                  <a:fillRect/>
                </a:stretch>
              </a:blipFill>
              <a:ln w="38100">
                <a:noFill/>
                <a:miter/>
              </a:ln>
            </p:spPr>
            <p:txBody>
              <a:bodyPr/>
              <a:lstStyle/>
              <a:p>
                <a:r>
                  <a:rPr lang="zh-CN" altLang="en-US">
                    <a:noFill/>
                  </a:rPr>
                  <a:t> </a:t>
                </a:r>
              </a:p>
            </p:txBody>
          </p:sp>
        </mc:Fallback>
      </mc:AlternateContent>
      <p:sp>
        <p:nvSpPr>
          <p:cNvPr id="14" name="Rectangle 7">
            <a:extLst>
              <a:ext uri="{FF2B5EF4-FFF2-40B4-BE49-F238E27FC236}">
                <a16:creationId xmlns:a16="http://schemas.microsoft.com/office/drawing/2014/main" id="{EF903C35-AEDB-DBB3-F6D9-798AB06BD5D8}"/>
              </a:ext>
            </a:extLst>
          </p:cNvPr>
          <p:cNvSpPr/>
          <p:nvPr/>
        </p:nvSpPr>
        <p:spPr>
          <a:xfrm>
            <a:off x="2480469" y="5653092"/>
            <a:ext cx="3352800" cy="523220"/>
          </a:xfrm>
          <a:prstGeom prst="rect">
            <a:avLst/>
          </a:prstGeom>
          <a:noFill/>
          <a:ln w="9525">
            <a:noFill/>
          </a:ln>
        </p:spPr>
        <p:txBody>
          <a:bodyPr>
            <a:spAutoFit/>
          </a:bodyPr>
          <a:lstStyle/>
          <a:p>
            <a:pPr eaLnBrk="1" hangingPunct="1"/>
            <a:r>
              <a:rPr lang="zh-CN" altLang="en-US" sz="2800" dirty="0">
                <a:latin typeface="Times New Roman" panose="02020603050405020304" pitchFamily="18" charset="0"/>
              </a:rPr>
              <a:t>对绝热过程， 有</a:t>
            </a:r>
          </a:p>
        </p:txBody>
      </p:sp>
      <mc:AlternateContent xmlns:mc="http://schemas.openxmlformats.org/markup-compatibility/2006" xmlns:a14="http://schemas.microsoft.com/office/drawing/2010/main">
        <mc:Choice Requires="a14">
          <p:sp>
            <p:nvSpPr>
              <p:cNvPr id="16" name="Object 8">
                <a:extLst>
                  <a:ext uri="{FF2B5EF4-FFF2-40B4-BE49-F238E27FC236}">
                    <a16:creationId xmlns:a16="http://schemas.microsoft.com/office/drawing/2014/main" id="{469FDA82-39E7-EE70-B8FD-624CF7F27697}"/>
                  </a:ext>
                </a:extLst>
              </p:cNvPr>
              <p:cNvSpPr txBox="1"/>
              <p:nvPr/>
            </p:nvSpPr>
            <p:spPr>
              <a:xfrm>
                <a:off x="4815416" y="5392739"/>
                <a:ext cx="6280150" cy="1630362"/>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𝑝</m:t>
                          </m:r>
                        </m:e>
                        <m:sub>
                          <m:r>
                            <a:rPr lang="en-US" sz="2800" b="0" i="1">
                              <a:solidFill>
                                <a:schemeClr val="tx1"/>
                              </a:solidFill>
                              <a:latin typeface="Cambria Math" panose="02040503050406030204" pitchFamily="18" charset="0"/>
                            </a:rPr>
                            <m:t>2</m:t>
                          </m:r>
                        </m:sub>
                      </m:sSub>
                      <m:r>
                        <a:rPr lang="en-US" sz="2800" b="0" i="1">
                          <a:solidFill>
                            <a:schemeClr val="tx1"/>
                          </a:solidFill>
                          <a:latin typeface="Cambria Math" panose="02040503050406030204" pitchFamily="18" charset="0"/>
                        </a:rPr>
                        <m:t>=</m:t>
                      </m:r>
                      <m:sSub>
                        <m:sSubPr>
                          <m:ctrlPr>
                            <a:rPr lang="en-US" sz="2800" i="1">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𝑝</m:t>
                          </m:r>
                        </m:e>
                        <m:sub>
                          <m:r>
                            <a:rPr lang="en-US" sz="2800" b="0" i="1">
                              <a:solidFill>
                                <a:schemeClr val="tx1"/>
                              </a:solidFill>
                              <a:latin typeface="Cambria Math" panose="02040503050406030204" pitchFamily="18" charset="0"/>
                            </a:rPr>
                            <m:t>1</m:t>
                          </m:r>
                        </m:sub>
                      </m:sSub>
                      <m:r>
                        <a:rPr lang="en-US" sz="2800" b="0" i="1">
                          <a:solidFill>
                            <a:schemeClr val="tx1"/>
                          </a:solidFill>
                          <a:latin typeface="Cambria Math" panose="02040503050406030204" pitchFamily="18" charset="0"/>
                        </a:rPr>
                        <m:t>(</m:t>
                      </m:r>
                      <m:f>
                        <m:fPr>
                          <m:ctrlPr>
                            <a:rPr lang="en-US" sz="2800" i="1">
                              <a:solidFill>
                                <a:schemeClr val="tx1"/>
                              </a:solidFill>
                              <a:latin typeface="Cambria Math" panose="02040503050406030204" pitchFamily="18" charset="0"/>
                            </a:rPr>
                          </m:ctrlPr>
                        </m:fPr>
                        <m:num>
                          <m:sSub>
                            <m:sSubPr>
                              <m:ctrlPr>
                                <a:rPr lang="en-US" sz="2800" i="1">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𝑉</m:t>
                              </m:r>
                            </m:e>
                            <m:sub>
                              <m:r>
                                <a:rPr lang="en-US" sz="2800" b="0" i="1">
                                  <a:solidFill>
                                    <a:schemeClr val="tx1"/>
                                  </a:solidFill>
                                  <a:latin typeface="Cambria Math" panose="02040503050406030204" pitchFamily="18" charset="0"/>
                                </a:rPr>
                                <m:t>1</m:t>
                              </m:r>
                            </m:sub>
                          </m:sSub>
                        </m:num>
                        <m:den>
                          <m:sSub>
                            <m:sSubPr>
                              <m:ctrlPr>
                                <a:rPr lang="en-US" sz="2800" i="1">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𝑉</m:t>
                              </m:r>
                            </m:e>
                            <m:sub>
                              <m:r>
                                <a:rPr lang="en-US" sz="2800" b="0" i="1">
                                  <a:solidFill>
                                    <a:schemeClr val="tx1"/>
                                  </a:solidFill>
                                  <a:latin typeface="Cambria Math" panose="02040503050406030204" pitchFamily="18" charset="0"/>
                                </a:rPr>
                                <m:t>2</m:t>
                              </m:r>
                            </m:sub>
                          </m:sSub>
                        </m:den>
                      </m:f>
                      <m:sSup>
                        <m:sSupPr>
                          <m:ctrlPr>
                            <a:rPr lang="en-US" sz="2800" i="1">
                              <a:solidFill>
                                <a:schemeClr val="tx1"/>
                              </a:solidFill>
                              <a:latin typeface="Cambria Math" panose="02040503050406030204" pitchFamily="18" charset="0"/>
                            </a:rPr>
                          </m:ctrlPr>
                        </m:sSupPr>
                        <m:e>
                          <m:r>
                            <a:rPr lang="en-US" sz="2800" b="0" i="1">
                              <a:solidFill>
                                <a:schemeClr val="tx1"/>
                              </a:solidFill>
                              <a:latin typeface="Cambria Math" panose="02040503050406030204" pitchFamily="18" charset="0"/>
                            </a:rPr>
                            <m:t>)</m:t>
                          </m:r>
                        </m:e>
                        <m:sup>
                          <m:r>
                            <a:rPr lang="en-US" sz="2800" b="0" i="1">
                              <a:solidFill>
                                <a:schemeClr val="tx1"/>
                              </a:solidFill>
                              <a:latin typeface="Cambria Math" panose="02040503050406030204" pitchFamily="18" charset="0"/>
                            </a:rPr>
                            <m:t>𝛾</m:t>
                          </m:r>
                        </m:sup>
                      </m:sSup>
                      <m:r>
                        <a:rPr lang="en-US" sz="2800" b="0" i="1">
                          <a:solidFill>
                            <a:schemeClr val="tx1"/>
                          </a:solidFill>
                          <a:latin typeface="Cambria Math" panose="02040503050406030204" pitchFamily="18" charset="0"/>
                        </a:rPr>
                        <m:t>=2.55×1</m:t>
                      </m:r>
                      <m:sSup>
                        <m:sSupPr>
                          <m:ctrlPr>
                            <a:rPr lang="en-US" sz="2800" i="1">
                              <a:solidFill>
                                <a:schemeClr val="tx1"/>
                              </a:solidFill>
                              <a:latin typeface="Cambria Math" panose="02040503050406030204" pitchFamily="18" charset="0"/>
                            </a:rPr>
                          </m:ctrlPr>
                        </m:sSupPr>
                        <m:e>
                          <m:r>
                            <a:rPr lang="en-US" sz="2800" b="0" i="1">
                              <a:solidFill>
                                <a:schemeClr val="tx1"/>
                              </a:solidFill>
                              <a:latin typeface="Cambria Math" panose="02040503050406030204" pitchFamily="18" charset="0"/>
                            </a:rPr>
                            <m:t>0</m:t>
                          </m:r>
                        </m:e>
                        <m:sup>
                          <m:r>
                            <a:rPr lang="en-US" sz="2800" b="0" i="1">
                              <a:solidFill>
                                <a:schemeClr val="tx1"/>
                              </a:solidFill>
                              <a:latin typeface="Cambria Math" panose="02040503050406030204" pitchFamily="18" charset="0"/>
                            </a:rPr>
                            <m:t>6</m:t>
                          </m:r>
                        </m:sup>
                      </m:sSup>
                      <m:r>
                        <m:rPr>
                          <m:nor/>
                        </m:rPr>
                        <a:rPr lang="en-US" sz="2800" i="0">
                          <a:solidFill>
                            <a:schemeClr val="tx1"/>
                          </a:solidFill>
                          <a:latin typeface="Cambria Math" panose="02040503050406030204" pitchFamily="18" charset="0"/>
                        </a:rPr>
                        <m:t> </m:t>
                      </m:r>
                      <m:r>
                        <m:rPr>
                          <m:nor/>
                        </m:rPr>
                        <a:rPr lang="en-US" sz="2800" i="0">
                          <a:solidFill>
                            <a:schemeClr val="tx1"/>
                          </a:solidFill>
                          <a:latin typeface="Cambria Math" panose="02040503050406030204" pitchFamily="18" charset="0"/>
                        </a:rPr>
                        <m:t>Pa</m:t>
                      </m:r>
                    </m:oMath>
                  </m:oMathPara>
                </a14:m>
                <a:endParaRPr lang="en-US" sz="2800" dirty="0">
                  <a:solidFill>
                    <a:schemeClr val="tx1"/>
                  </a:solidFill>
                </a:endParaRPr>
              </a:p>
            </p:txBody>
          </p:sp>
        </mc:Choice>
        <mc:Fallback xmlns="">
          <p:sp>
            <p:nvSpPr>
              <p:cNvPr id="16" name="Object 8">
                <a:extLst>
                  <a:ext uri="{FF2B5EF4-FFF2-40B4-BE49-F238E27FC236}">
                    <a16:creationId xmlns:a16="http://schemas.microsoft.com/office/drawing/2014/main" id="{EF05929F-F2BF-26D3-38CE-8EEA7F459973}"/>
                  </a:ext>
                </a:extLst>
              </p:cNvPr>
              <p:cNvSpPr txBox="1">
                <a:spLocks noRot="1" noChangeAspect="1" noMove="1" noResize="1" noEditPoints="1" noAdjustHandles="1" noChangeArrowheads="1" noChangeShapeType="1" noTextEdit="1"/>
              </p:cNvSpPr>
              <p:nvPr/>
            </p:nvSpPr>
            <p:spPr>
              <a:xfrm>
                <a:off x="4815416" y="5392739"/>
                <a:ext cx="6280150" cy="1630362"/>
              </a:xfrm>
              <a:prstGeom prst="rect">
                <a:avLst/>
              </a:prstGeom>
              <a:blipFill>
                <a:blip r:embed="rId19"/>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Object 10">
                <a:extLst>
                  <a:ext uri="{FF2B5EF4-FFF2-40B4-BE49-F238E27FC236}">
                    <a16:creationId xmlns:a16="http://schemas.microsoft.com/office/drawing/2014/main" id="{0997939C-1EE2-7DA6-D0F6-E1B44D30EC2B}"/>
                  </a:ext>
                </a:extLst>
              </p:cNvPr>
              <p:cNvSpPr txBox="1">
                <a:spLocks/>
              </p:cNvSpPr>
              <p:nvPr/>
            </p:nvSpPr>
            <p:spPr>
              <a:xfrm>
                <a:off x="2228851" y="1892959"/>
                <a:ext cx="5299075" cy="1177925"/>
              </a:xfrm>
              <a:prstGeom prst="rect">
                <a:avLst/>
              </a:prstGeom>
              <a:noFill/>
              <a:ln w="38100">
                <a:miter/>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𝜈</m:t>
                      </m:r>
                      <m:r>
                        <a:rPr lang="en-US" b="0" i="1" smtClean="0">
                          <a:solidFill>
                            <a:schemeClr val="tx1"/>
                          </a:solidFill>
                          <a:latin typeface="Cambria Math" panose="02040503050406030204" pitchFamily="18" charset="0"/>
                        </a:rPr>
                        <m:t>=5</m:t>
                      </m:r>
                      <m:r>
                        <m:rPr>
                          <m:nor/>
                        </m:rPr>
                        <a:rPr lang="en-US">
                          <a:solidFill>
                            <a:schemeClr val="tx1"/>
                          </a:solidFill>
                          <a:latin typeface="Cambria Math" panose="02040503050406030204" pitchFamily="18" charset="0"/>
                        </a:rPr>
                        <m:t> </m:t>
                      </m:r>
                      <m:r>
                        <m:rPr>
                          <m:nor/>
                        </m:rPr>
                        <a:rPr lang="en-US">
                          <a:solidFill>
                            <a:schemeClr val="tx1"/>
                          </a:solidFill>
                          <a:latin typeface="Cambria Math" panose="02040503050406030204" pitchFamily="18" charset="0"/>
                        </a:rPr>
                        <m:t>mol</m:t>
                      </m:r>
                      <m:r>
                        <m:rPr>
                          <m:nor/>
                        </m:rPr>
                        <a:rPr lang="en-US">
                          <a:solidFill>
                            <a:schemeClr val="tx1"/>
                          </a:solidFill>
                          <a:latin typeface="Cambria Math" panose="02040503050406030204" pitchFamily="18" charset="0"/>
                        </a:rPr>
                        <m:t>   </m:t>
                      </m:r>
                      <m:r>
                        <a:rPr lang="en-US" b="0" i="1">
                          <a:solidFill>
                            <a:schemeClr val="tx1"/>
                          </a:solidFill>
                          <a:latin typeface="Cambria Math" panose="02040503050406030204" pitchFamily="18" charset="0"/>
                        </a:rPr>
                        <m:t> </m:t>
                      </m:r>
                      <m:sSub>
                        <m:sSubPr>
                          <m:ctrlPr>
                            <a:rPr lang="en-US" i="1">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𝑇</m:t>
                          </m:r>
                        </m:e>
                        <m:sub>
                          <m:r>
                            <a:rPr lang="en-US" b="0" i="1" smtClean="0">
                              <a:solidFill>
                                <a:schemeClr val="tx1"/>
                              </a:solidFill>
                              <a:latin typeface="Cambria Math" panose="02040503050406030204" pitchFamily="18" charset="0"/>
                            </a:rPr>
                            <m:t>1</m:t>
                          </m:r>
                        </m:sub>
                      </m:sSub>
                      <m:r>
                        <a:rPr lang="en-US" b="0" i="1">
                          <a:solidFill>
                            <a:schemeClr val="tx1"/>
                          </a:solidFill>
                          <a:latin typeface="Cambria Math" panose="02040503050406030204" pitchFamily="18" charset="0"/>
                        </a:rPr>
                        <m:t>=293</m:t>
                      </m:r>
                      <m:r>
                        <m:rPr>
                          <m:nor/>
                        </m:rPr>
                        <a:rPr lang="en-US">
                          <a:solidFill>
                            <a:schemeClr val="tx1"/>
                          </a:solidFill>
                          <a:latin typeface="Cambria Math" panose="02040503050406030204" pitchFamily="18" charset="0"/>
                        </a:rPr>
                        <m:t> </m:t>
                      </m:r>
                      <m:r>
                        <m:rPr>
                          <m:nor/>
                        </m:rPr>
                        <a:rPr lang="en-US">
                          <a:solidFill>
                            <a:schemeClr val="tx1"/>
                          </a:solidFill>
                          <a:latin typeface="Cambria Math" panose="02040503050406030204" pitchFamily="18" charset="0"/>
                        </a:rPr>
                        <m:t>K</m:t>
                      </m:r>
                      <m:r>
                        <m:rPr>
                          <m:nor/>
                        </m:rPr>
                        <a:rPr lang="en-US">
                          <a:solidFill>
                            <a:schemeClr val="tx1"/>
                          </a:solidFill>
                          <a:latin typeface="Cambria Math" panose="02040503050406030204" pitchFamily="18" charset="0"/>
                        </a:rPr>
                        <m:t>    </m:t>
                      </m:r>
                    </m:oMath>
                    <m:oMath xmlns:m="http://schemas.openxmlformats.org/officeDocument/2006/math">
                      <m:sSub>
                        <m:sSubPr>
                          <m:ctrlPr>
                            <a:rPr lang="en-US" i="1">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𝑃</m:t>
                          </m:r>
                        </m:e>
                        <m:sub>
                          <m:r>
                            <a:rPr lang="en-US" b="0" i="1">
                              <a:solidFill>
                                <a:schemeClr val="tx1"/>
                              </a:solidFill>
                              <a:latin typeface="Cambria Math" panose="02040503050406030204" pitchFamily="18" charset="0"/>
                            </a:rPr>
                            <m:t>0</m:t>
                          </m:r>
                        </m:sub>
                      </m:sSub>
                      <m:r>
                        <a:rPr lang="en-US" b="0" i="1">
                          <a:solidFill>
                            <a:schemeClr val="tx1"/>
                          </a:solidFill>
                          <a:latin typeface="Cambria Math" panose="02040503050406030204" pitchFamily="18" charset="0"/>
                        </a:rPr>
                        <m:t>=1.013×1</m:t>
                      </m:r>
                      <m:sSup>
                        <m:sSupPr>
                          <m:ctrlPr>
                            <a:rPr lang="en-US" i="1">
                              <a:solidFill>
                                <a:schemeClr val="tx1"/>
                              </a:solidFill>
                              <a:latin typeface="Cambria Math" panose="02040503050406030204" pitchFamily="18" charset="0"/>
                            </a:rPr>
                          </m:ctrlPr>
                        </m:sSupPr>
                        <m:e>
                          <m:r>
                            <a:rPr lang="en-US" b="0" i="1">
                              <a:solidFill>
                                <a:schemeClr val="tx1"/>
                              </a:solidFill>
                              <a:latin typeface="Cambria Math" panose="02040503050406030204" pitchFamily="18" charset="0"/>
                            </a:rPr>
                            <m:t>0</m:t>
                          </m:r>
                        </m:e>
                        <m:sup>
                          <m:r>
                            <a:rPr lang="en-US" b="0" i="1">
                              <a:solidFill>
                                <a:schemeClr val="tx1"/>
                              </a:solidFill>
                              <a:latin typeface="Cambria Math" panose="02040503050406030204" pitchFamily="18" charset="0"/>
                            </a:rPr>
                            <m:t>5</m:t>
                          </m:r>
                        </m:sup>
                      </m:sSup>
                      <m:r>
                        <m:rPr>
                          <m:nor/>
                        </m:rPr>
                        <a:rPr lang="en-US">
                          <a:solidFill>
                            <a:schemeClr val="tx1"/>
                          </a:solidFill>
                          <a:latin typeface="Cambria Math" panose="02040503050406030204" pitchFamily="18" charset="0"/>
                        </a:rPr>
                        <m:t> </m:t>
                      </m:r>
                      <m:r>
                        <m:rPr>
                          <m:nor/>
                        </m:rPr>
                        <a:rPr lang="en-US">
                          <a:solidFill>
                            <a:schemeClr val="tx1"/>
                          </a:solidFill>
                          <a:latin typeface="Cambria Math" panose="02040503050406030204" pitchFamily="18" charset="0"/>
                        </a:rPr>
                        <m:t>Pa</m:t>
                      </m:r>
                      <m:r>
                        <m:rPr>
                          <m:nor/>
                        </m:rPr>
                        <a:rPr lang="en-US">
                          <a:solidFill>
                            <a:schemeClr val="tx1"/>
                          </a:solidFill>
                          <a:latin typeface="Cambria Math" panose="02040503050406030204" pitchFamily="18" charset="0"/>
                        </a:rPr>
                        <m:t>   </m:t>
                      </m:r>
                    </m:oMath>
                  </m:oMathPara>
                </a14:m>
                <a:endParaRPr lang="en-US" dirty="0">
                  <a:solidFill>
                    <a:schemeClr val="tx1"/>
                  </a:solidFill>
                  <a:latin typeface="Cambria Math" panose="02040503050406030204" pitchFamily="18" charset="0"/>
                </a:endParaRPr>
              </a:p>
              <a:p>
                <a:pPr>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b="0" i="1" smtClean="0">
                              <a:latin typeface="Cambria Math" panose="02040503050406030204" pitchFamily="18" charset="0"/>
                            </a:rPr>
                            <m:t>2</m:t>
                          </m:r>
                        </m:sub>
                      </m:sSub>
                      <m:r>
                        <a:rPr lang="en-US" b="0" i="1">
                          <a:solidFill>
                            <a:schemeClr val="tx1"/>
                          </a:solidFill>
                          <a:latin typeface="Cambria Math" panose="02040503050406030204" pitchFamily="18" charset="0"/>
                        </a:rPr>
                        <m:t>=0.1</m:t>
                      </m:r>
                      <m:r>
                        <a:rPr lang="en-US" b="0">
                          <a:solidFill>
                            <a:schemeClr val="tx1"/>
                          </a:solidFill>
                          <a:latin typeface="Cambria Math" panose="02040503050406030204" pitchFamily="18" charset="0"/>
                        </a:rPr>
                        <m:t> </m:t>
                      </m:r>
                      <m:sSub>
                        <m:sSubPr>
                          <m:ctrlPr>
                            <a:rPr lang="en-US" i="1" smtClean="0">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𝑉</m:t>
                          </m:r>
                        </m:e>
                        <m:sub>
                          <m:r>
                            <a:rPr lang="en-US" b="0" i="1" smtClean="0">
                              <a:solidFill>
                                <a:schemeClr val="tx1"/>
                              </a:solidFill>
                              <a:latin typeface="Cambria Math" panose="02040503050406030204" pitchFamily="18" charset="0"/>
                            </a:rPr>
                            <m:t>1</m:t>
                          </m:r>
                        </m:sub>
                      </m:sSub>
                    </m:oMath>
                  </m:oMathPara>
                </a14:m>
                <a:endParaRPr lang="en-US" dirty="0">
                  <a:solidFill>
                    <a:schemeClr val="tx1"/>
                  </a:solidFill>
                </a:endParaRPr>
              </a:p>
            </p:txBody>
          </p:sp>
        </mc:Choice>
        <mc:Fallback xmlns="">
          <p:sp>
            <p:nvSpPr>
              <p:cNvPr id="17" name="Object 10">
                <a:extLst>
                  <a:ext uri="{FF2B5EF4-FFF2-40B4-BE49-F238E27FC236}">
                    <a16:creationId xmlns:a16="http://schemas.microsoft.com/office/drawing/2014/main" id="{2AD3C5B3-643B-3587-F21D-0B2904109422}"/>
                  </a:ext>
                </a:extLst>
              </p:cNvPr>
              <p:cNvSpPr txBox="1">
                <a:spLocks noRot="1" noChangeAspect="1" noMove="1" noResize="1" noEditPoints="1" noAdjustHandles="1" noChangeArrowheads="1" noChangeShapeType="1" noTextEdit="1"/>
              </p:cNvSpPr>
              <p:nvPr/>
            </p:nvSpPr>
            <p:spPr>
              <a:xfrm>
                <a:off x="2228851" y="1892959"/>
                <a:ext cx="5299075" cy="1177925"/>
              </a:xfrm>
              <a:prstGeom prst="rect">
                <a:avLst/>
              </a:prstGeom>
              <a:blipFill>
                <a:blip r:embed="rId20"/>
                <a:stretch>
                  <a:fillRect b="-8290"/>
                </a:stretch>
              </a:blipFill>
              <a:ln w="38100">
                <a:miter/>
              </a:ln>
            </p:spPr>
            <p:txBody>
              <a:bodyPr/>
              <a:lstStyle/>
              <a:p>
                <a:r>
                  <a:rPr lang="zh-CN" altLang="en-US">
                    <a:noFill/>
                  </a:rPr>
                  <a:t> </a:t>
                </a:r>
              </a:p>
            </p:txBody>
          </p:sp>
        </mc:Fallback>
      </mc:AlternateContent>
      <p:grpSp>
        <p:nvGrpSpPr>
          <p:cNvPr id="2" name="Group 6">
            <a:extLst>
              <a:ext uri="{FF2B5EF4-FFF2-40B4-BE49-F238E27FC236}">
                <a16:creationId xmlns:a16="http://schemas.microsoft.com/office/drawing/2014/main" id="{41B6F652-242A-88E7-60C4-C9E79F2A37E8}"/>
              </a:ext>
            </a:extLst>
          </p:cNvPr>
          <p:cNvGrpSpPr/>
          <p:nvPr/>
        </p:nvGrpSpPr>
        <p:grpSpPr>
          <a:xfrm>
            <a:off x="8323263" y="1516064"/>
            <a:ext cx="3505200" cy="3124200"/>
            <a:chOff x="3120" y="1968"/>
            <a:chExt cx="2208" cy="1968"/>
          </a:xfrm>
        </p:grpSpPr>
        <p:sp>
          <p:nvSpPr>
            <p:cNvPr id="3" name="Rectangle 7">
              <a:extLst>
                <a:ext uri="{FF2B5EF4-FFF2-40B4-BE49-F238E27FC236}">
                  <a16:creationId xmlns:a16="http://schemas.microsoft.com/office/drawing/2014/main" id="{6BB8E30C-E994-0430-546F-19052F8FD3E9}"/>
                </a:ext>
              </a:extLst>
            </p:cNvPr>
            <p:cNvSpPr/>
            <p:nvPr/>
          </p:nvSpPr>
          <p:spPr>
            <a:xfrm>
              <a:off x="3120" y="1968"/>
              <a:ext cx="2208" cy="1968"/>
            </a:xfrm>
            <a:prstGeom prst="rect">
              <a:avLst/>
            </a:prstGeom>
            <a:solidFill>
              <a:srgbClr val="FFFFFF"/>
            </a:solidFill>
            <a:ln w="9525" cap="flat" cmpd="sng">
              <a:noFill/>
              <a:prstDash val="solid"/>
              <a:miter/>
              <a:headEnd type="none" w="med" len="med"/>
              <a:tailEnd type="none" w="med" len="med"/>
            </a:ln>
          </p:spPr>
          <p:txBody>
            <a:bodyPr wrap="none" anchor="ctr" anchorCtr="0"/>
            <a:lstStyle/>
            <a:p>
              <a:endParaRPr lang="zh-CN" altLang="en-US" sz="2000" dirty="0">
                <a:latin typeface="Bookman Old Style" panose="02050604050505020204" pitchFamily="18" charset="0"/>
              </a:endParaRPr>
            </a:p>
          </p:txBody>
        </p:sp>
        <p:sp>
          <p:nvSpPr>
            <p:cNvPr id="4" name="Rectangle 8">
              <a:extLst>
                <a:ext uri="{FF2B5EF4-FFF2-40B4-BE49-F238E27FC236}">
                  <a16:creationId xmlns:a16="http://schemas.microsoft.com/office/drawing/2014/main" id="{D2B5585F-3D8B-7D98-17D2-6FDAE2112D00}"/>
                </a:ext>
              </a:extLst>
            </p:cNvPr>
            <p:cNvSpPr/>
            <p:nvPr/>
          </p:nvSpPr>
          <p:spPr>
            <a:xfrm>
              <a:off x="3984" y="3312"/>
              <a:ext cx="816" cy="240"/>
            </a:xfrm>
            <a:prstGeom prst="rect">
              <a:avLst/>
            </a:prstGeom>
            <a:noFill/>
            <a:ln w="9525" cap="flat" cmpd="sng">
              <a:noFill/>
              <a:prstDash val="solid"/>
              <a:miter/>
              <a:headEnd type="none" w="med" len="med"/>
              <a:tailEnd type="none" w="med" len="med"/>
            </a:ln>
          </p:spPr>
          <p:txBody>
            <a:bodyPr wrap="none" anchor="ctr" anchorCtr="0"/>
            <a:lstStyle/>
            <a:p>
              <a:endParaRPr lang="zh-CN" altLang="en-US" sz="2000"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7" name="Object 9">
                  <a:extLst>
                    <a:ext uri="{FF2B5EF4-FFF2-40B4-BE49-F238E27FC236}">
                      <a16:creationId xmlns:a16="http://schemas.microsoft.com/office/drawing/2014/main" id="{AB04B194-D206-1B62-9E79-A86090E8D5DA}"/>
                    </a:ext>
                  </a:extLst>
                </p:cNvPr>
                <p:cNvSpPr txBox="1"/>
                <p:nvPr/>
              </p:nvSpPr>
              <p:spPr>
                <a:xfrm>
                  <a:off x="4800" y="2976"/>
                  <a:ext cx="189" cy="264"/>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𝑇</m:t>
                            </m:r>
                          </m:e>
                          <m:sub>
                            <m:r>
                              <a:rPr lang="en-US" sz="2000" i="1">
                                <a:solidFill>
                                  <a:srgbClr val="000000"/>
                                </a:solidFill>
                                <a:latin typeface="Cambria Math" panose="02040503050406030204" pitchFamily="18" charset="0"/>
                              </a:rPr>
                              <m:t>1</m:t>
                            </m:r>
                          </m:sub>
                        </m:sSub>
                      </m:oMath>
                    </m:oMathPara>
                  </a14:m>
                  <a:endParaRPr lang="en-US" sz="2000"/>
                </a:p>
              </p:txBody>
            </p:sp>
          </mc:Choice>
          <mc:Fallback xmlns="">
            <p:sp>
              <p:nvSpPr>
                <p:cNvPr id="7" name="Object 9">
                  <a:extLst>
                    <a:ext uri="{FF2B5EF4-FFF2-40B4-BE49-F238E27FC236}">
                      <a16:creationId xmlns:a16="http://schemas.microsoft.com/office/drawing/2014/main" id="{AB04B194-D206-1B62-9E79-A86090E8D5DA}"/>
                    </a:ext>
                  </a:extLst>
                </p:cNvPr>
                <p:cNvSpPr txBox="1">
                  <a:spLocks noRot="1" noChangeAspect="1" noMove="1" noResize="1" noEditPoints="1" noAdjustHandles="1" noChangeArrowheads="1" noChangeShapeType="1" noTextEdit="1"/>
                </p:cNvSpPr>
                <p:nvPr/>
              </p:nvSpPr>
              <p:spPr>
                <a:xfrm>
                  <a:off x="4800" y="2976"/>
                  <a:ext cx="189" cy="264"/>
                </a:xfrm>
                <a:prstGeom prst="rect">
                  <a:avLst/>
                </a:prstGeom>
                <a:blipFill>
                  <a:blip r:embed="rId21"/>
                  <a:stretch>
                    <a:fillRect r="-26531"/>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Object 10">
                  <a:extLst>
                    <a:ext uri="{FF2B5EF4-FFF2-40B4-BE49-F238E27FC236}">
                      <a16:creationId xmlns:a16="http://schemas.microsoft.com/office/drawing/2014/main" id="{2C7E960E-E244-BAB4-B352-945C12EC4E6C}"/>
                    </a:ext>
                  </a:extLst>
                </p:cNvPr>
                <p:cNvSpPr txBox="1"/>
                <p:nvPr/>
              </p:nvSpPr>
              <p:spPr>
                <a:xfrm>
                  <a:off x="3888" y="2160"/>
                  <a:ext cx="240" cy="252"/>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𝑇</m:t>
                            </m:r>
                          </m:e>
                          <m:sub>
                            <m:r>
                              <a:rPr lang="en-US" sz="2000" i="1">
                                <a:solidFill>
                                  <a:srgbClr val="000000"/>
                                </a:solidFill>
                                <a:latin typeface="Cambria Math" panose="02040503050406030204" pitchFamily="18" charset="0"/>
                              </a:rPr>
                              <m:t>2</m:t>
                            </m:r>
                          </m:sub>
                        </m:sSub>
                      </m:oMath>
                    </m:oMathPara>
                  </a14:m>
                  <a:endParaRPr lang="en-US" sz="2000"/>
                </a:p>
              </p:txBody>
            </p:sp>
          </mc:Choice>
          <mc:Fallback xmlns="">
            <p:sp>
              <p:nvSpPr>
                <p:cNvPr id="8" name="Object 10">
                  <a:extLst>
                    <a:ext uri="{FF2B5EF4-FFF2-40B4-BE49-F238E27FC236}">
                      <a16:creationId xmlns:a16="http://schemas.microsoft.com/office/drawing/2014/main" id="{2C7E960E-E244-BAB4-B352-945C12EC4E6C}"/>
                    </a:ext>
                  </a:extLst>
                </p:cNvPr>
                <p:cNvSpPr txBox="1">
                  <a:spLocks noRot="1" noChangeAspect="1" noMove="1" noResize="1" noEditPoints="1" noAdjustHandles="1" noChangeArrowheads="1" noChangeShapeType="1" noTextEdit="1"/>
                </p:cNvSpPr>
                <p:nvPr/>
              </p:nvSpPr>
              <p:spPr>
                <a:xfrm>
                  <a:off x="3888" y="2160"/>
                  <a:ext cx="240" cy="252"/>
                </a:xfrm>
                <a:prstGeom prst="rect">
                  <a:avLst/>
                </a:prstGeom>
                <a:blipFill>
                  <a:blip r:embed="rId22"/>
                  <a:stretch>
                    <a:fillRect r="-1587" b="-3077"/>
                  </a:stretch>
                </a:blipFill>
                <a:ln w="38100">
                  <a:noFill/>
                  <a:miter/>
                </a:ln>
              </p:spPr>
              <p:txBody>
                <a:bodyPr/>
                <a:lstStyle/>
                <a:p>
                  <a:r>
                    <a:rPr lang="zh-CN" altLang="en-US">
                      <a:noFill/>
                    </a:rPr>
                    <a:t> </a:t>
                  </a:r>
                </a:p>
              </p:txBody>
            </p:sp>
          </mc:Fallback>
        </mc:AlternateContent>
        <p:sp>
          <p:nvSpPr>
            <p:cNvPr id="10" name="Line 11">
              <a:extLst>
                <a:ext uri="{FF2B5EF4-FFF2-40B4-BE49-F238E27FC236}">
                  <a16:creationId xmlns:a16="http://schemas.microsoft.com/office/drawing/2014/main" id="{7D6897FE-A377-AE1C-B71C-6E6A25A13E91}"/>
                </a:ext>
              </a:extLst>
            </p:cNvPr>
            <p:cNvSpPr/>
            <p:nvPr/>
          </p:nvSpPr>
          <p:spPr>
            <a:xfrm flipV="1">
              <a:off x="3456" y="3600"/>
              <a:ext cx="1728" cy="8"/>
            </a:xfrm>
            <a:prstGeom prst="line">
              <a:avLst/>
            </a:prstGeom>
            <a:ln w="19050" cap="flat" cmpd="sng">
              <a:solidFill>
                <a:schemeClr val="tx1"/>
              </a:solidFill>
              <a:prstDash val="solid"/>
              <a:headEnd type="none" w="med" len="med"/>
              <a:tailEnd type="triangle" w="sm" len="lg"/>
            </a:ln>
          </p:spPr>
        </p:sp>
        <p:sp>
          <p:nvSpPr>
            <p:cNvPr id="11" name="Line 12">
              <a:extLst>
                <a:ext uri="{FF2B5EF4-FFF2-40B4-BE49-F238E27FC236}">
                  <a16:creationId xmlns:a16="http://schemas.microsoft.com/office/drawing/2014/main" id="{C91ABF97-F884-B1FE-A719-086A55AA034A}"/>
                </a:ext>
              </a:extLst>
            </p:cNvPr>
            <p:cNvSpPr/>
            <p:nvPr/>
          </p:nvSpPr>
          <p:spPr>
            <a:xfrm flipH="1">
              <a:off x="3779" y="2353"/>
              <a:ext cx="14" cy="1249"/>
            </a:xfrm>
            <a:prstGeom prst="line">
              <a:avLst/>
            </a:prstGeom>
            <a:ln w="12700" cap="flat" cmpd="sng">
              <a:solidFill>
                <a:schemeClr val="tx1"/>
              </a:solidFill>
              <a:prstDash val="dash"/>
              <a:headEnd type="none" w="med" len="med"/>
              <a:tailEnd type="none" w="med" len="med"/>
            </a:ln>
          </p:spPr>
        </p:sp>
        <p:sp>
          <p:nvSpPr>
            <p:cNvPr id="12" name="Line 13">
              <a:extLst>
                <a:ext uri="{FF2B5EF4-FFF2-40B4-BE49-F238E27FC236}">
                  <a16:creationId xmlns:a16="http://schemas.microsoft.com/office/drawing/2014/main" id="{20D6D373-1EBC-A661-8A99-DDC488837021}"/>
                </a:ext>
              </a:extLst>
            </p:cNvPr>
            <p:cNvSpPr/>
            <p:nvPr/>
          </p:nvSpPr>
          <p:spPr>
            <a:xfrm>
              <a:off x="4848" y="3260"/>
              <a:ext cx="0" cy="342"/>
            </a:xfrm>
            <a:prstGeom prst="line">
              <a:avLst/>
            </a:prstGeom>
            <a:ln w="12700" cap="flat" cmpd="sng">
              <a:solidFill>
                <a:schemeClr val="tx1"/>
              </a:solidFill>
              <a:prstDash val="dash"/>
              <a:headEnd type="none" w="med" len="med"/>
              <a:tailEnd type="none" w="med" len="med"/>
            </a:ln>
          </p:spPr>
        </p:sp>
        <p:sp>
          <p:nvSpPr>
            <p:cNvPr id="13" name="Line 14">
              <a:extLst>
                <a:ext uri="{FF2B5EF4-FFF2-40B4-BE49-F238E27FC236}">
                  <a16:creationId xmlns:a16="http://schemas.microsoft.com/office/drawing/2014/main" id="{E5C3ACA0-31DC-19A5-0C60-0AF920A872A4}"/>
                </a:ext>
              </a:extLst>
            </p:cNvPr>
            <p:cNvSpPr/>
            <p:nvPr/>
          </p:nvSpPr>
          <p:spPr>
            <a:xfrm flipH="1">
              <a:off x="3449" y="2310"/>
              <a:ext cx="330" cy="0"/>
            </a:xfrm>
            <a:prstGeom prst="line">
              <a:avLst/>
            </a:prstGeom>
            <a:ln w="12700" cap="flat" cmpd="sng">
              <a:solidFill>
                <a:schemeClr val="tx1"/>
              </a:solidFill>
              <a:prstDash val="dash"/>
              <a:headEnd type="none" w="med" len="med"/>
              <a:tailEnd type="none" w="med" len="med"/>
            </a:ln>
          </p:spPr>
        </p:sp>
        <p:sp>
          <p:nvSpPr>
            <p:cNvPr id="15" name="Text Box 15">
              <a:extLst>
                <a:ext uri="{FF2B5EF4-FFF2-40B4-BE49-F238E27FC236}">
                  <a16:creationId xmlns:a16="http://schemas.microsoft.com/office/drawing/2014/main" id="{751CC230-8B2A-E152-4812-8005349F4CC9}"/>
                </a:ext>
              </a:extLst>
            </p:cNvPr>
            <p:cNvSpPr txBox="1"/>
            <p:nvPr/>
          </p:nvSpPr>
          <p:spPr>
            <a:xfrm>
              <a:off x="4848" y="3168"/>
              <a:ext cx="289" cy="252"/>
            </a:xfrm>
            <a:prstGeom prst="rect">
              <a:avLst/>
            </a:prstGeom>
            <a:noFill/>
            <a:ln w="9525">
              <a:noFill/>
            </a:ln>
          </p:spPr>
          <p:txBody>
            <a:bodyPr>
              <a:spAutoFit/>
            </a:bodyPr>
            <a:lstStyle/>
            <a:p>
              <a:pPr>
                <a:spcBef>
                  <a:spcPct val="50000"/>
                </a:spcBef>
              </a:pPr>
              <a:r>
                <a:rPr lang="en-US" altLang="zh-CN" sz="2000" b="1" dirty="0">
                  <a:solidFill>
                    <a:srgbClr val="A50021"/>
                  </a:solidFill>
                  <a:latin typeface="Times New Roman" panose="02020603050405020304" pitchFamily="18" charset="0"/>
                </a:rPr>
                <a:t>1</a:t>
              </a:r>
            </a:p>
          </p:txBody>
        </p:sp>
        <p:sp>
          <p:nvSpPr>
            <p:cNvPr id="18" name="Text Box 16">
              <a:extLst>
                <a:ext uri="{FF2B5EF4-FFF2-40B4-BE49-F238E27FC236}">
                  <a16:creationId xmlns:a16="http://schemas.microsoft.com/office/drawing/2014/main" id="{75DC6F88-EA14-5580-8FCB-B1EAD07EA36D}"/>
                </a:ext>
              </a:extLst>
            </p:cNvPr>
            <p:cNvSpPr txBox="1"/>
            <p:nvPr/>
          </p:nvSpPr>
          <p:spPr>
            <a:xfrm>
              <a:off x="3648" y="2016"/>
              <a:ext cx="288" cy="252"/>
            </a:xfrm>
            <a:prstGeom prst="rect">
              <a:avLst/>
            </a:prstGeom>
            <a:noFill/>
            <a:ln w="9525">
              <a:noFill/>
            </a:ln>
          </p:spPr>
          <p:txBody>
            <a:bodyPr>
              <a:spAutoFit/>
            </a:bodyPr>
            <a:lstStyle/>
            <a:p>
              <a:pPr>
                <a:spcBef>
                  <a:spcPct val="50000"/>
                </a:spcBef>
              </a:pPr>
              <a:r>
                <a:rPr lang="en-US" altLang="zh-CN" sz="2000" dirty="0">
                  <a:solidFill>
                    <a:srgbClr val="A50021"/>
                  </a:solidFill>
                  <a:latin typeface="Times New Roman" panose="02020603050405020304" pitchFamily="18" charset="0"/>
                </a:rPr>
                <a:t>2</a:t>
              </a:r>
              <a:endParaRPr lang="en-US" altLang="zh-CN" sz="2000" dirty="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19" name="Object 17">
                  <a:extLst>
                    <a:ext uri="{FF2B5EF4-FFF2-40B4-BE49-F238E27FC236}">
                      <a16:creationId xmlns:a16="http://schemas.microsoft.com/office/drawing/2014/main" id="{4B959056-9577-269D-F816-81534B049B60}"/>
                    </a:ext>
                  </a:extLst>
                </p:cNvPr>
                <p:cNvSpPr txBox="1"/>
                <p:nvPr/>
              </p:nvSpPr>
              <p:spPr>
                <a:xfrm>
                  <a:off x="3168" y="3120"/>
                  <a:ext cx="264" cy="256"/>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𝑝</m:t>
                            </m:r>
                          </m:e>
                          <m:sub>
                            <m:r>
                              <a:rPr lang="en-US" sz="2000" i="1">
                                <a:solidFill>
                                  <a:srgbClr val="000000"/>
                                </a:solidFill>
                                <a:latin typeface="Cambria Math" panose="02040503050406030204" pitchFamily="18" charset="0"/>
                              </a:rPr>
                              <m:t>1</m:t>
                            </m:r>
                          </m:sub>
                        </m:sSub>
                      </m:oMath>
                    </m:oMathPara>
                  </a14:m>
                  <a:endParaRPr lang="en-US" sz="2000"/>
                </a:p>
              </p:txBody>
            </p:sp>
          </mc:Choice>
          <mc:Fallback xmlns="">
            <p:sp>
              <p:nvSpPr>
                <p:cNvPr id="19" name="Object 17">
                  <a:extLst>
                    <a:ext uri="{FF2B5EF4-FFF2-40B4-BE49-F238E27FC236}">
                      <a16:creationId xmlns:a16="http://schemas.microsoft.com/office/drawing/2014/main" id="{4B959056-9577-269D-F816-81534B049B60}"/>
                    </a:ext>
                  </a:extLst>
                </p:cNvPr>
                <p:cNvSpPr txBox="1">
                  <a:spLocks noRot="1" noChangeAspect="1" noMove="1" noResize="1" noEditPoints="1" noAdjustHandles="1" noChangeArrowheads="1" noChangeShapeType="1" noTextEdit="1"/>
                </p:cNvSpPr>
                <p:nvPr/>
              </p:nvSpPr>
              <p:spPr>
                <a:xfrm>
                  <a:off x="3168" y="3120"/>
                  <a:ext cx="264" cy="256"/>
                </a:xfrm>
                <a:prstGeom prst="rect">
                  <a:avLst/>
                </a:prstGeom>
                <a:blipFill>
                  <a:blip r:embed="rId23"/>
                  <a:stretch>
                    <a:fillRect b="-7576"/>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Object 18">
                  <a:extLst>
                    <a:ext uri="{FF2B5EF4-FFF2-40B4-BE49-F238E27FC236}">
                      <a16:creationId xmlns:a16="http://schemas.microsoft.com/office/drawing/2014/main" id="{EA44EE57-D60C-1551-124B-2FB63A0DC920}"/>
                    </a:ext>
                  </a:extLst>
                </p:cNvPr>
                <p:cNvSpPr txBox="1"/>
                <p:nvPr/>
              </p:nvSpPr>
              <p:spPr>
                <a:xfrm>
                  <a:off x="3168" y="2208"/>
                  <a:ext cx="253" cy="246"/>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𝑝</m:t>
                            </m:r>
                          </m:e>
                          <m:sub>
                            <m:r>
                              <a:rPr lang="en-US" sz="2000" i="1">
                                <a:solidFill>
                                  <a:srgbClr val="000000"/>
                                </a:solidFill>
                                <a:latin typeface="Cambria Math" panose="02040503050406030204" pitchFamily="18" charset="0"/>
                              </a:rPr>
                              <m:t>2</m:t>
                            </m:r>
                          </m:sub>
                        </m:sSub>
                      </m:oMath>
                    </m:oMathPara>
                  </a14:m>
                  <a:endParaRPr lang="en-US" sz="2000"/>
                </a:p>
              </p:txBody>
            </p:sp>
          </mc:Choice>
          <mc:Fallback xmlns="">
            <p:sp>
              <p:nvSpPr>
                <p:cNvPr id="20" name="Object 18">
                  <a:extLst>
                    <a:ext uri="{FF2B5EF4-FFF2-40B4-BE49-F238E27FC236}">
                      <a16:creationId xmlns:a16="http://schemas.microsoft.com/office/drawing/2014/main" id="{EA44EE57-D60C-1551-124B-2FB63A0DC920}"/>
                    </a:ext>
                  </a:extLst>
                </p:cNvPr>
                <p:cNvSpPr txBox="1">
                  <a:spLocks noRot="1" noChangeAspect="1" noMove="1" noResize="1" noEditPoints="1" noAdjustHandles="1" noChangeArrowheads="1" noChangeShapeType="1" noTextEdit="1"/>
                </p:cNvSpPr>
                <p:nvPr/>
              </p:nvSpPr>
              <p:spPr>
                <a:xfrm>
                  <a:off x="3168" y="2208"/>
                  <a:ext cx="253" cy="246"/>
                </a:xfrm>
                <a:prstGeom prst="rect">
                  <a:avLst/>
                </a:prstGeom>
                <a:blipFill>
                  <a:blip r:embed="rId24"/>
                  <a:stretch>
                    <a:fillRect b="-12500"/>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Object 19">
                  <a:extLst>
                    <a:ext uri="{FF2B5EF4-FFF2-40B4-BE49-F238E27FC236}">
                      <a16:creationId xmlns:a16="http://schemas.microsoft.com/office/drawing/2014/main" id="{26CE4C75-DDD6-4FCF-C110-C70ECF060CD7}"/>
                    </a:ext>
                  </a:extLst>
                </p:cNvPr>
                <p:cNvSpPr txBox="1"/>
                <p:nvPr/>
              </p:nvSpPr>
              <p:spPr>
                <a:xfrm>
                  <a:off x="4752" y="3594"/>
                  <a:ext cx="255" cy="342"/>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1</m:t>
                            </m:r>
                          </m:sub>
                        </m:sSub>
                      </m:oMath>
                    </m:oMathPara>
                  </a14:m>
                  <a:endParaRPr lang="en-US" sz="2000"/>
                </a:p>
              </p:txBody>
            </p:sp>
          </mc:Choice>
          <mc:Fallback xmlns="">
            <p:sp>
              <p:nvSpPr>
                <p:cNvPr id="21" name="Object 19">
                  <a:extLst>
                    <a:ext uri="{FF2B5EF4-FFF2-40B4-BE49-F238E27FC236}">
                      <a16:creationId xmlns:a16="http://schemas.microsoft.com/office/drawing/2014/main" id="{26CE4C75-DDD6-4FCF-C110-C70ECF060CD7}"/>
                    </a:ext>
                  </a:extLst>
                </p:cNvPr>
                <p:cNvSpPr txBox="1">
                  <a:spLocks noRot="1" noChangeAspect="1" noMove="1" noResize="1" noEditPoints="1" noAdjustHandles="1" noChangeArrowheads="1" noChangeShapeType="1" noTextEdit="1"/>
                </p:cNvSpPr>
                <p:nvPr/>
              </p:nvSpPr>
              <p:spPr>
                <a:xfrm>
                  <a:off x="4752" y="3594"/>
                  <a:ext cx="255" cy="342"/>
                </a:xfrm>
                <a:prstGeom prst="rect">
                  <a:avLst/>
                </a:prstGeom>
                <a:blipFill>
                  <a:blip r:embed="rId25"/>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Object 20">
                  <a:extLst>
                    <a:ext uri="{FF2B5EF4-FFF2-40B4-BE49-F238E27FC236}">
                      <a16:creationId xmlns:a16="http://schemas.microsoft.com/office/drawing/2014/main" id="{E2E09EED-AFD1-A782-189B-4EEEFD79C5BB}"/>
                    </a:ext>
                  </a:extLst>
                </p:cNvPr>
                <p:cNvSpPr txBox="1"/>
                <p:nvPr/>
              </p:nvSpPr>
              <p:spPr>
                <a:xfrm>
                  <a:off x="3260" y="3616"/>
                  <a:ext cx="1687" cy="302"/>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2</m:t>
                            </m:r>
                          </m:sub>
                        </m:sSub>
                        <m:r>
                          <a:rPr lang="en-US" sz="2000" i="1">
                            <a:solidFill>
                              <a:srgbClr val="000000"/>
                            </a:solidFill>
                            <a:latin typeface="Cambria Math" panose="02040503050406030204" pitchFamily="18" charset="0"/>
                          </a:rPr>
                          <m:t>=</m:t>
                        </m:r>
                        <m:sSubSup>
                          <m:sSubSupPr>
                            <m:ctrlPr>
                              <a:rPr lang="en-US" sz="2000" i="1">
                                <a:solidFill>
                                  <a:srgbClr val="000000"/>
                                </a:solidFill>
                                <a:latin typeface="Cambria Math" panose="02040503050406030204" pitchFamily="18" charset="0"/>
                              </a:rPr>
                            </m:ctrlPr>
                          </m:sSubSup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2</m:t>
                            </m:r>
                          </m:sub>
                          <m:sup>
                            <m:r>
                              <a:rPr lang="en-US" sz="2000" i="1">
                                <a:solidFill>
                                  <a:srgbClr val="000000"/>
                                </a:solidFill>
                                <a:latin typeface="Cambria Math" panose="02040503050406030204" pitchFamily="18" charset="0"/>
                              </a:rPr>
                              <m:t>′</m:t>
                            </m:r>
                          </m:sup>
                        </m:sSubSup>
                        <m:r>
                          <a:rPr lang="en-US" sz="2000" i="1">
                            <a:solidFill>
                              <a:srgbClr val="000000"/>
                            </a:solidFill>
                            <a:latin typeface="Cambria Math" panose="02040503050406030204" pitchFamily="18" charset="0"/>
                          </a:rPr>
                          <m:t>=</m:t>
                        </m:r>
                        <m:f>
                          <m:fPr>
                            <m:type m:val="lin"/>
                            <m:ctrlPr>
                              <a:rPr lang="en-US" sz="2000" i="1">
                                <a:solidFill>
                                  <a:srgbClr val="000000"/>
                                </a:solidFill>
                                <a:latin typeface="Cambria Math" panose="02040503050406030204" pitchFamily="18" charset="0"/>
                              </a:rPr>
                            </m:ctrlPr>
                          </m:fPr>
                          <m:num>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1</m:t>
                                </m:r>
                              </m:sub>
                            </m:sSub>
                          </m:num>
                          <m:den>
                            <m:r>
                              <a:rPr lang="en-US" sz="2000" i="1">
                                <a:solidFill>
                                  <a:srgbClr val="000000"/>
                                </a:solidFill>
                                <a:latin typeface="Cambria Math" panose="02040503050406030204" pitchFamily="18" charset="0"/>
                              </a:rPr>
                              <m:t>10</m:t>
                            </m:r>
                          </m:den>
                        </m:f>
                      </m:oMath>
                    </m:oMathPara>
                  </a14:m>
                  <a:endParaRPr lang="en-US" sz="2000" dirty="0"/>
                </a:p>
              </p:txBody>
            </p:sp>
          </mc:Choice>
          <mc:Fallback xmlns="">
            <p:sp>
              <p:nvSpPr>
                <p:cNvPr id="22" name="Object 20">
                  <a:extLst>
                    <a:ext uri="{FF2B5EF4-FFF2-40B4-BE49-F238E27FC236}">
                      <a16:creationId xmlns:a16="http://schemas.microsoft.com/office/drawing/2014/main" id="{E2E09EED-AFD1-A782-189B-4EEEFD79C5BB}"/>
                    </a:ext>
                  </a:extLst>
                </p:cNvPr>
                <p:cNvSpPr txBox="1">
                  <a:spLocks noRot="1" noChangeAspect="1" noMove="1" noResize="1" noEditPoints="1" noAdjustHandles="1" noChangeArrowheads="1" noChangeShapeType="1" noTextEdit="1"/>
                </p:cNvSpPr>
                <p:nvPr/>
              </p:nvSpPr>
              <p:spPr>
                <a:xfrm>
                  <a:off x="3260" y="3616"/>
                  <a:ext cx="1687" cy="302"/>
                </a:xfrm>
                <a:prstGeom prst="rect">
                  <a:avLst/>
                </a:prstGeom>
                <a:blipFill>
                  <a:blip r:embed="rId26"/>
                  <a:stretch>
                    <a:fillRect t="-96203" r="-3189" b="-132911"/>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Object 21">
                  <a:extLst>
                    <a:ext uri="{FF2B5EF4-FFF2-40B4-BE49-F238E27FC236}">
                      <a16:creationId xmlns:a16="http://schemas.microsoft.com/office/drawing/2014/main" id="{60870530-EB4E-9DD4-D916-0C6B9D28A3FF}"/>
                    </a:ext>
                  </a:extLst>
                </p:cNvPr>
                <p:cNvSpPr txBox="1"/>
                <p:nvPr/>
              </p:nvSpPr>
              <p:spPr>
                <a:xfrm>
                  <a:off x="3210" y="2054"/>
                  <a:ext cx="183" cy="224"/>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000" i="1">
                            <a:solidFill>
                              <a:srgbClr val="000000"/>
                            </a:solidFill>
                            <a:latin typeface="Cambria Math" panose="02040503050406030204" pitchFamily="18" charset="0"/>
                          </a:rPr>
                          <m:t>𝑝</m:t>
                        </m:r>
                      </m:oMath>
                    </m:oMathPara>
                  </a14:m>
                  <a:endParaRPr lang="en-US" sz="2000"/>
                </a:p>
              </p:txBody>
            </p:sp>
          </mc:Choice>
          <mc:Fallback xmlns="">
            <p:sp>
              <p:nvSpPr>
                <p:cNvPr id="23" name="Object 21">
                  <a:extLst>
                    <a:ext uri="{FF2B5EF4-FFF2-40B4-BE49-F238E27FC236}">
                      <a16:creationId xmlns:a16="http://schemas.microsoft.com/office/drawing/2014/main" id="{60870530-EB4E-9DD4-D916-0C6B9D28A3FF}"/>
                    </a:ext>
                  </a:extLst>
                </p:cNvPr>
                <p:cNvSpPr txBox="1">
                  <a:spLocks noRot="1" noChangeAspect="1" noMove="1" noResize="1" noEditPoints="1" noAdjustHandles="1" noChangeArrowheads="1" noChangeShapeType="1" noTextEdit="1"/>
                </p:cNvSpPr>
                <p:nvPr/>
              </p:nvSpPr>
              <p:spPr>
                <a:xfrm>
                  <a:off x="3210" y="2054"/>
                  <a:ext cx="183" cy="224"/>
                </a:xfrm>
                <a:prstGeom prst="rect">
                  <a:avLst/>
                </a:prstGeom>
                <a:blipFill>
                  <a:blip r:embed="rId27"/>
                  <a:stretch>
                    <a:fillRect r="-12766" b="-24138"/>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Object 22">
                  <a:extLst>
                    <a:ext uri="{FF2B5EF4-FFF2-40B4-BE49-F238E27FC236}">
                      <a16:creationId xmlns:a16="http://schemas.microsoft.com/office/drawing/2014/main" id="{2F739938-5AA6-380B-13B6-42C2F781F032}"/>
                    </a:ext>
                  </a:extLst>
                </p:cNvPr>
                <p:cNvSpPr txBox="1"/>
                <p:nvPr/>
              </p:nvSpPr>
              <p:spPr>
                <a:xfrm>
                  <a:off x="4992" y="3648"/>
                  <a:ext cx="168" cy="196"/>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000" i="1">
                            <a:solidFill>
                              <a:srgbClr val="000000"/>
                            </a:solidFill>
                            <a:latin typeface="Cambria Math" panose="02040503050406030204" pitchFamily="18" charset="0"/>
                          </a:rPr>
                          <m:t>𝑉</m:t>
                        </m:r>
                      </m:oMath>
                    </m:oMathPara>
                  </a14:m>
                  <a:endParaRPr lang="en-US" sz="2000" dirty="0"/>
                </a:p>
              </p:txBody>
            </p:sp>
          </mc:Choice>
          <mc:Fallback xmlns="">
            <p:sp>
              <p:nvSpPr>
                <p:cNvPr id="24" name="Object 22">
                  <a:extLst>
                    <a:ext uri="{FF2B5EF4-FFF2-40B4-BE49-F238E27FC236}">
                      <a16:creationId xmlns:a16="http://schemas.microsoft.com/office/drawing/2014/main" id="{2F739938-5AA6-380B-13B6-42C2F781F032}"/>
                    </a:ext>
                  </a:extLst>
                </p:cNvPr>
                <p:cNvSpPr txBox="1">
                  <a:spLocks noRot="1" noChangeAspect="1" noMove="1" noResize="1" noEditPoints="1" noAdjustHandles="1" noChangeArrowheads="1" noChangeShapeType="1" noTextEdit="1"/>
                </p:cNvSpPr>
                <p:nvPr/>
              </p:nvSpPr>
              <p:spPr>
                <a:xfrm>
                  <a:off x="4992" y="3648"/>
                  <a:ext cx="168" cy="196"/>
                </a:xfrm>
                <a:prstGeom prst="rect">
                  <a:avLst/>
                </a:prstGeom>
                <a:blipFill>
                  <a:blip r:embed="rId28"/>
                  <a:stretch>
                    <a:fillRect r="-25000" b="-21569"/>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Object 23">
                  <a:extLst>
                    <a:ext uri="{FF2B5EF4-FFF2-40B4-BE49-F238E27FC236}">
                      <a16:creationId xmlns:a16="http://schemas.microsoft.com/office/drawing/2014/main" id="{B13AFE8D-6166-748C-6DFC-1EE2065F36DE}"/>
                    </a:ext>
                  </a:extLst>
                </p:cNvPr>
                <p:cNvSpPr txBox="1"/>
                <p:nvPr/>
              </p:nvSpPr>
              <p:spPr>
                <a:xfrm>
                  <a:off x="3207" y="3552"/>
                  <a:ext cx="160" cy="192"/>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000" i="1">
                            <a:solidFill>
                              <a:srgbClr val="000000"/>
                            </a:solidFill>
                            <a:latin typeface="Cambria Math" panose="02040503050406030204" pitchFamily="18" charset="0"/>
                          </a:rPr>
                          <m:t>𝑜</m:t>
                        </m:r>
                      </m:oMath>
                    </m:oMathPara>
                  </a14:m>
                  <a:endParaRPr lang="en-US" sz="2000"/>
                </a:p>
              </p:txBody>
            </p:sp>
          </mc:Choice>
          <mc:Fallback xmlns="">
            <p:sp>
              <p:nvSpPr>
                <p:cNvPr id="25" name="Object 23">
                  <a:extLst>
                    <a:ext uri="{FF2B5EF4-FFF2-40B4-BE49-F238E27FC236}">
                      <a16:creationId xmlns:a16="http://schemas.microsoft.com/office/drawing/2014/main" id="{B13AFE8D-6166-748C-6DFC-1EE2065F36DE}"/>
                    </a:ext>
                  </a:extLst>
                </p:cNvPr>
                <p:cNvSpPr txBox="1">
                  <a:spLocks noRot="1" noChangeAspect="1" noMove="1" noResize="1" noEditPoints="1" noAdjustHandles="1" noChangeArrowheads="1" noChangeShapeType="1" noTextEdit="1"/>
                </p:cNvSpPr>
                <p:nvPr/>
              </p:nvSpPr>
              <p:spPr>
                <a:xfrm>
                  <a:off x="3207" y="3552"/>
                  <a:ext cx="160" cy="192"/>
                </a:xfrm>
                <a:prstGeom prst="rect">
                  <a:avLst/>
                </a:prstGeom>
                <a:blipFill>
                  <a:blip r:embed="rId29"/>
                  <a:stretch>
                    <a:fillRect r="-14286" b="-16000"/>
                  </a:stretch>
                </a:blipFill>
                <a:ln w="38100">
                  <a:noFill/>
                  <a:miter/>
                </a:ln>
              </p:spPr>
              <p:txBody>
                <a:bodyPr/>
                <a:lstStyle/>
                <a:p>
                  <a:r>
                    <a:rPr lang="zh-CN" altLang="en-US">
                      <a:noFill/>
                    </a:rPr>
                    <a:t> </a:t>
                  </a:r>
                </a:p>
              </p:txBody>
            </p:sp>
          </mc:Fallback>
        </mc:AlternateContent>
        <p:sp>
          <p:nvSpPr>
            <p:cNvPr id="26" name="Line 24">
              <a:extLst>
                <a:ext uri="{FF2B5EF4-FFF2-40B4-BE49-F238E27FC236}">
                  <a16:creationId xmlns:a16="http://schemas.microsoft.com/office/drawing/2014/main" id="{3E1D4021-B6B5-B57C-AA27-49A2AB11934A}"/>
                </a:ext>
              </a:extLst>
            </p:cNvPr>
            <p:cNvSpPr/>
            <p:nvPr/>
          </p:nvSpPr>
          <p:spPr>
            <a:xfrm flipV="1">
              <a:off x="3434" y="2096"/>
              <a:ext cx="0" cy="1498"/>
            </a:xfrm>
            <a:prstGeom prst="line">
              <a:avLst/>
            </a:prstGeom>
            <a:ln w="12700" cap="flat" cmpd="sng">
              <a:solidFill>
                <a:schemeClr val="tx1"/>
              </a:solidFill>
              <a:prstDash val="solid"/>
              <a:headEnd type="none" w="med" len="med"/>
              <a:tailEnd type="triangle" w="sm" len="lg"/>
            </a:ln>
          </p:spPr>
        </p:sp>
        <p:sp>
          <p:nvSpPr>
            <p:cNvPr id="27" name="Line 25">
              <a:extLst>
                <a:ext uri="{FF2B5EF4-FFF2-40B4-BE49-F238E27FC236}">
                  <a16:creationId xmlns:a16="http://schemas.microsoft.com/office/drawing/2014/main" id="{C69EEAA3-7C19-A87D-E966-A20728684263}"/>
                </a:ext>
              </a:extLst>
            </p:cNvPr>
            <p:cNvSpPr/>
            <p:nvPr/>
          </p:nvSpPr>
          <p:spPr>
            <a:xfrm flipH="1" flipV="1">
              <a:off x="3449" y="3260"/>
              <a:ext cx="1399" cy="4"/>
            </a:xfrm>
            <a:prstGeom prst="line">
              <a:avLst/>
            </a:prstGeom>
            <a:ln w="12700" cap="flat" cmpd="sng">
              <a:solidFill>
                <a:schemeClr val="tx1"/>
              </a:solidFill>
              <a:prstDash val="dash"/>
              <a:headEnd type="none" w="med" len="med"/>
              <a:tailEnd type="none" w="med" len="med"/>
            </a:ln>
          </p:spPr>
        </p:sp>
        <p:sp>
          <p:nvSpPr>
            <p:cNvPr id="28" name="Freeform 26">
              <a:extLst>
                <a:ext uri="{FF2B5EF4-FFF2-40B4-BE49-F238E27FC236}">
                  <a16:creationId xmlns:a16="http://schemas.microsoft.com/office/drawing/2014/main" id="{A01E2DCA-2028-DC02-D920-CFC486337D36}"/>
                </a:ext>
              </a:extLst>
            </p:cNvPr>
            <p:cNvSpPr/>
            <p:nvPr/>
          </p:nvSpPr>
          <p:spPr>
            <a:xfrm>
              <a:off x="4032" y="2736"/>
              <a:ext cx="96" cy="144"/>
            </a:xfrm>
            <a:custGeom>
              <a:avLst/>
              <a:gdLst>
                <a:gd name="txL" fmla="*/ 0 w 103"/>
                <a:gd name="txT" fmla="*/ 0 h 137"/>
                <a:gd name="txR" fmla="*/ 103 w 103"/>
                <a:gd name="txB" fmla="*/ 137 h 137"/>
              </a:gdLst>
              <a:ahLst/>
              <a:cxnLst>
                <a:cxn ang="0">
                  <a:pos x="0" y="0"/>
                </a:cxn>
                <a:cxn ang="0">
                  <a:pos x="96" y="144"/>
                </a:cxn>
              </a:cxnLst>
              <a:rect l="txL" t="txT" r="txR" b="txB"/>
              <a:pathLst>
                <a:path w="103" h="137">
                  <a:moveTo>
                    <a:pt x="0" y="0"/>
                  </a:moveTo>
                  <a:lnTo>
                    <a:pt x="103" y="137"/>
                  </a:lnTo>
                </a:path>
              </a:pathLst>
            </a:custGeom>
            <a:noFill/>
            <a:ln w="38100" cap="flat" cmpd="sng">
              <a:solidFill>
                <a:srgbClr val="CC0099">
                  <a:alpha val="100000"/>
                </a:srgbClr>
              </a:solidFill>
              <a:prstDash val="solid"/>
              <a:round/>
              <a:headEnd type="triangle" w="sm" len="lg"/>
              <a:tailEnd type="none" w="med" len="lg"/>
            </a:ln>
          </p:spPr>
          <p:txBody>
            <a:bodyPr/>
            <a:lstStyle/>
            <a:p>
              <a:endParaRPr lang="zh-CN" altLang="en-US" sz="2000"/>
            </a:p>
          </p:txBody>
        </p:sp>
        <p:sp>
          <p:nvSpPr>
            <p:cNvPr id="29" name="Freeform 27">
              <a:extLst>
                <a:ext uri="{FF2B5EF4-FFF2-40B4-BE49-F238E27FC236}">
                  <a16:creationId xmlns:a16="http://schemas.microsoft.com/office/drawing/2014/main" id="{58D6B301-154F-EFC3-F23C-2755DB26C3BE}"/>
                </a:ext>
              </a:extLst>
            </p:cNvPr>
            <p:cNvSpPr/>
            <p:nvPr/>
          </p:nvSpPr>
          <p:spPr>
            <a:xfrm>
              <a:off x="3778" y="2901"/>
              <a:ext cx="1070" cy="370"/>
            </a:xfrm>
            <a:custGeom>
              <a:avLst/>
              <a:gdLst>
                <a:gd name="txL" fmla="*/ 0 w 1070"/>
                <a:gd name="txT" fmla="*/ 0 h 370"/>
                <a:gd name="txR" fmla="*/ 1070 w 1070"/>
                <a:gd name="txB" fmla="*/ 370 h 370"/>
              </a:gdLst>
              <a:ahLst/>
              <a:cxnLst>
                <a:cxn ang="0">
                  <a:pos x="1070" y="370"/>
                </a:cxn>
                <a:cxn ang="0">
                  <a:pos x="467" y="253"/>
                </a:cxn>
                <a:cxn ang="0">
                  <a:pos x="165" y="137"/>
                </a:cxn>
                <a:cxn ang="0">
                  <a:pos x="0" y="0"/>
                </a:cxn>
              </a:cxnLst>
              <a:rect l="txL" t="txT" r="txR" b="txB"/>
              <a:pathLst>
                <a:path w="1070" h="370">
                  <a:moveTo>
                    <a:pt x="1070" y="370"/>
                  </a:moveTo>
                  <a:cubicBezTo>
                    <a:pt x="970" y="351"/>
                    <a:pt x="618" y="292"/>
                    <a:pt x="467" y="253"/>
                  </a:cubicBezTo>
                  <a:cubicBezTo>
                    <a:pt x="316" y="214"/>
                    <a:pt x="243" y="179"/>
                    <a:pt x="165" y="137"/>
                  </a:cubicBezTo>
                  <a:cubicBezTo>
                    <a:pt x="87" y="95"/>
                    <a:pt x="34" y="29"/>
                    <a:pt x="0" y="0"/>
                  </a:cubicBezTo>
                </a:path>
              </a:pathLst>
            </a:custGeom>
            <a:noFill/>
            <a:ln w="28575" cap="flat" cmpd="sng">
              <a:solidFill>
                <a:srgbClr val="0000FF">
                  <a:alpha val="100000"/>
                </a:srgbClr>
              </a:solidFill>
              <a:prstDash val="solid"/>
              <a:round/>
              <a:headEnd type="none" w="med" len="med"/>
              <a:tailEnd type="none" w="med" len="med"/>
            </a:ln>
          </p:spPr>
          <p:txBody>
            <a:bodyPr/>
            <a:lstStyle/>
            <a:p>
              <a:endParaRPr lang="zh-CN" altLang="en-US" sz="2000"/>
            </a:p>
          </p:txBody>
        </p:sp>
        <p:sp>
          <p:nvSpPr>
            <p:cNvPr id="30" name="Freeform 28">
              <a:extLst>
                <a:ext uri="{FF2B5EF4-FFF2-40B4-BE49-F238E27FC236}">
                  <a16:creationId xmlns:a16="http://schemas.microsoft.com/office/drawing/2014/main" id="{55BAD5DC-3F34-59C6-A947-4D942BA9A09D}"/>
                </a:ext>
              </a:extLst>
            </p:cNvPr>
            <p:cNvSpPr/>
            <p:nvPr/>
          </p:nvSpPr>
          <p:spPr>
            <a:xfrm>
              <a:off x="3792" y="2304"/>
              <a:ext cx="1056" cy="960"/>
            </a:xfrm>
            <a:custGeom>
              <a:avLst/>
              <a:gdLst>
                <a:gd name="txL" fmla="*/ 0 w 1056"/>
                <a:gd name="txT" fmla="*/ 0 h 960"/>
                <a:gd name="txR" fmla="*/ 1056 w 1056"/>
                <a:gd name="txB" fmla="*/ 960 h 960"/>
              </a:gdLst>
              <a:ahLst/>
              <a:cxnLst>
                <a:cxn ang="0">
                  <a:pos x="1056" y="960"/>
                </a:cxn>
                <a:cxn ang="0">
                  <a:pos x="631" y="795"/>
                </a:cxn>
                <a:cxn ang="0">
                  <a:pos x="377" y="610"/>
                </a:cxn>
                <a:cxn ang="0">
                  <a:pos x="192" y="363"/>
                </a:cxn>
                <a:cxn ang="0">
                  <a:pos x="0" y="0"/>
                </a:cxn>
              </a:cxnLst>
              <a:rect l="txL" t="txT" r="txR" b="txB"/>
              <a:pathLst>
                <a:path w="1056" h="960">
                  <a:moveTo>
                    <a:pt x="1056" y="960"/>
                  </a:moveTo>
                  <a:cubicBezTo>
                    <a:pt x="985" y="932"/>
                    <a:pt x="744" y="853"/>
                    <a:pt x="631" y="795"/>
                  </a:cubicBezTo>
                  <a:cubicBezTo>
                    <a:pt x="518" y="737"/>
                    <a:pt x="450" y="682"/>
                    <a:pt x="377" y="610"/>
                  </a:cubicBezTo>
                  <a:cubicBezTo>
                    <a:pt x="304" y="538"/>
                    <a:pt x="255" y="465"/>
                    <a:pt x="192" y="363"/>
                  </a:cubicBezTo>
                  <a:cubicBezTo>
                    <a:pt x="129" y="261"/>
                    <a:pt x="40" y="76"/>
                    <a:pt x="0" y="0"/>
                  </a:cubicBezTo>
                </a:path>
              </a:pathLst>
            </a:custGeom>
            <a:noFill/>
            <a:ln w="28575" cap="flat" cmpd="sng">
              <a:solidFill>
                <a:srgbClr val="CC0099">
                  <a:alpha val="100000"/>
                </a:srgbClr>
              </a:solidFill>
              <a:prstDash val="solid"/>
              <a:round/>
              <a:headEnd type="none" w="med" len="med"/>
              <a:tailEnd type="none" w="med" len="med"/>
            </a:ln>
          </p:spPr>
          <p:txBody>
            <a:bodyPr/>
            <a:lstStyle/>
            <a:p>
              <a:endParaRPr lang="zh-CN" altLang="en-US" sz="2000"/>
            </a:p>
          </p:txBody>
        </p:sp>
        <p:sp>
          <p:nvSpPr>
            <p:cNvPr id="31" name="Freeform 29">
              <a:extLst>
                <a:ext uri="{FF2B5EF4-FFF2-40B4-BE49-F238E27FC236}">
                  <a16:creationId xmlns:a16="http://schemas.microsoft.com/office/drawing/2014/main" id="{B10F5235-0326-8B50-E0BC-D37917F27799}"/>
                </a:ext>
              </a:extLst>
            </p:cNvPr>
            <p:cNvSpPr/>
            <p:nvPr/>
          </p:nvSpPr>
          <p:spPr>
            <a:xfrm>
              <a:off x="4128" y="3120"/>
              <a:ext cx="192" cy="48"/>
            </a:xfrm>
            <a:custGeom>
              <a:avLst/>
              <a:gdLst>
                <a:gd name="txL" fmla="*/ 0 w 103"/>
                <a:gd name="txT" fmla="*/ 0 h 137"/>
                <a:gd name="txR" fmla="*/ 103 w 103"/>
                <a:gd name="txB" fmla="*/ 137 h 137"/>
              </a:gdLst>
              <a:ahLst/>
              <a:cxnLst>
                <a:cxn ang="0">
                  <a:pos x="0" y="0"/>
                </a:cxn>
                <a:cxn ang="0">
                  <a:pos x="192" y="48"/>
                </a:cxn>
              </a:cxnLst>
              <a:rect l="txL" t="txT" r="txR" b="txB"/>
              <a:pathLst>
                <a:path w="103" h="137">
                  <a:moveTo>
                    <a:pt x="0" y="0"/>
                  </a:moveTo>
                  <a:lnTo>
                    <a:pt x="103" y="137"/>
                  </a:lnTo>
                </a:path>
              </a:pathLst>
            </a:custGeom>
            <a:noFill/>
            <a:ln w="38100" cap="flat" cmpd="sng">
              <a:solidFill>
                <a:srgbClr val="0000FF">
                  <a:alpha val="100000"/>
                </a:srgbClr>
              </a:solidFill>
              <a:prstDash val="solid"/>
              <a:round/>
              <a:headEnd type="triangle" w="sm" len="lg"/>
              <a:tailEnd type="none" w="med" len="lg"/>
            </a:ln>
          </p:spPr>
          <p:txBody>
            <a:bodyPr/>
            <a:lstStyle/>
            <a:p>
              <a:endParaRPr lang="zh-CN" altLang="en-US" sz="2000"/>
            </a:p>
          </p:txBody>
        </p:sp>
        <p:sp>
          <p:nvSpPr>
            <p:cNvPr id="32" name="Line 30">
              <a:extLst>
                <a:ext uri="{FF2B5EF4-FFF2-40B4-BE49-F238E27FC236}">
                  <a16:creationId xmlns:a16="http://schemas.microsoft.com/office/drawing/2014/main" id="{92AB03CF-2B9F-21E8-5F92-E9CA4295E162}"/>
                </a:ext>
              </a:extLst>
            </p:cNvPr>
            <p:cNvSpPr/>
            <p:nvPr/>
          </p:nvSpPr>
          <p:spPr>
            <a:xfrm flipH="1">
              <a:off x="3408" y="2928"/>
              <a:ext cx="378" cy="0"/>
            </a:xfrm>
            <a:prstGeom prst="line">
              <a:avLst/>
            </a:prstGeom>
            <a:ln w="12700" cap="flat" cmpd="sng">
              <a:solidFill>
                <a:schemeClr val="tx1"/>
              </a:solidFill>
              <a:prstDash val="dash"/>
              <a:headEnd type="none" w="med" len="med"/>
              <a:tailEnd type="none" w="med" len="med"/>
            </a:ln>
          </p:spPr>
        </p:sp>
        <mc:AlternateContent xmlns:mc="http://schemas.openxmlformats.org/markup-compatibility/2006" xmlns:a14="http://schemas.microsoft.com/office/drawing/2010/main">
          <mc:Choice Requires="a14">
            <p:sp>
              <p:nvSpPr>
                <p:cNvPr id="33" name="Object 31">
                  <a:extLst>
                    <a:ext uri="{FF2B5EF4-FFF2-40B4-BE49-F238E27FC236}">
                      <a16:creationId xmlns:a16="http://schemas.microsoft.com/office/drawing/2014/main" id="{896C1EF8-5093-95E4-FF9A-5FBB9C8525BF}"/>
                    </a:ext>
                  </a:extLst>
                </p:cNvPr>
                <p:cNvSpPr txBox="1"/>
                <p:nvPr/>
              </p:nvSpPr>
              <p:spPr>
                <a:xfrm>
                  <a:off x="3168" y="2688"/>
                  <a:ext cx="253" cy="286"/>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Sup>
                          <m:sSubSupPr>
                            <m:ctrlPr>
                              <a:rPr lang="en-US" sz="2000" i="1">
                                <a:solidFill>
                                  <a:srgbClr val="000000"/>
                                </a:solidFill>
                                <a:latin typeface="Cambria Math" panose="02040503050406030204" pitchFamily="18" charset="0"/>
                              </a:rPr>
                            </m:ctrlPr>
                          </m:sSubSupPr>
                          <m:e>
                            <m:r>
                              <a:rPr lang="en-US" sz="2000" i="1">
                                <a:solidFill>
                                  <a:srgbClr val="000000"/>
                                </a:solidFill>
                                <a:latin typeface="Cambria Math" panose="02040503050406030204" pitchFamily="18" charset="0"/>
                              </a:rPr>
                              <m:t>𝑝</m:t>
                            </m:r>
                          </m:e>
                          <m:sub>
                            <m:r>
                              <a:rPr lang="en-US" sz="2000" i="1">
                                <a:solidFill>
                                  <a:srgbClr val="000000"/>
                                </a:solidFill>
                                <a:latin typeface="Cambria Math" panose="02040503050406030204" pitchFamily="18" charset="0"/>
                              </a:rPr>
                              <m:t>2</m:t>
                            </m:r>
                          </m:sub>
                          <m:sup>
                            <m:r>
                              <a:rPr lang="en-US" sz="2000" i="1">
                                <a:solidFill>
                                  <a:srgbClr val="000000"/>
                                </a:solidFill>
                                <a:latin typeface="Cambria Math" panose="02040503050406030204" pitchFamily="18" charset="0"/>
                              </a:rPr>
                              <m:t>′</m:t>
                            </m:r>
                          </m:sup>
                        </m:sSubSup>
                      </m:oMath>
                    </m:oMathPara>
                  </a14:m>
                  <a:endParaRPr lang="en-US" sz="2000"/>
                </a:p>
              </p:txBody>
            </p:sp>
          </mc:Choice>
          <mc:Fallback xmlns="">
            <p:sp>
              <p:nvSpPr>
                <p:cNvPr id="33" name="Object 31">
                  <a:extLst>
                    <a:ext uri="{FF2B5EF4-FFF2-40B4-BE49-F238E27FC236}">
                      <a16:creationId xmlns:a16="http://schemas.microsoft.com/office/drawing/2014/main" id="{896C1EF8-5093-95E4-FF9A-5FBB9C8525BF}"/>
                    </a:ext>
                  </a:extLst>
                </p:cNvPr>
                <p:cNvSpPr txBox="1">
                  <a:spLocks noRot="1" noChangeAspect="1" noMove="1" noResize="1" noEditPoints="1" noAdjustHandles="1" noChangeArrowheads="1" noChangeShapeType="1" noTextEdit="1"/>
                </p:cNvSpPr>
                <p:nvPr/>
              </p:nvSpPr>
              <p:spPr>
                <a:xfrm>
                  <a:off x="3168" y="2688"/>
                  <a:ext cx="253" cy="286"/>
                </a:xfrm>
                <a:prstGeom prst="rect">
                  <a:avLst/>
                </a:prstGeom>
                <a:blipFill>
                  <a:blip r:embed="rId30"/>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Object 32">
                  <a:extLst>
                    <a:ext uri="{FF2B5EF4-FFF2-40B4-BE49-F238E27FC236}">
                      <a16:creationId xmlns:a16="http://schemas.microsoft.com/office/drawing/2014/main" id="{A1B68985-8ED7-DE48-6C70-D5FB87B19BF7}"/>
                    </a:ext>
                  </a:extLst>
                </p:cNvPr>
                <p:cNvSpPr txBox="1"/>
                <p:nvPr/>
              </p:nvSpPr>
              <p:spPr>
                <a:xfrm>
                  <a:off x="4623" y="2140"/>
                  <a:ext cx="705" cy="292"/>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Sup>
                          <m:sSubSupPr>
                            <m:ctrlPr>
                              <a:rPr lang="en-US" sz="2000" i="1">
                                <a:solidFill>
                                  <a:srgbClr val="000000"/>
                                </a:solidFill>
                                <a:latin typeface="Cambria Math" panose="02040503050406030204" pitchFamily="18" charset="0"/>
                              </a:rPr>
                            </m:ctrlPr>
                          </m:sSubSupPr>
                          <m:e>
                            <m:r>
                              <a:rPr lang="en-US" sz="2000" i="1">
                                <a:solidFill>
                                  <a:srgbClr val="000000"/>
                                </a:solidFill>
                                <a:latin typeface="Cambria Math" panose="02040503050406030204" pitchFamily="18" charset="0"/>
                              </a:rPr>
                              <m:t>𝑇</m:t>
                            </m:r>
                          </m:e>
                          <m:sub>
                            <m:r>
                              <a:rPr lang="en-US" sz="2000" i="1">
                                <a:solidFill>
                                  <a:srgbClr val="000000"/>
                                </a:solidFill>
                                <a:latin typeface="Cambria Math" panose="02040503050406030204" pitchFamily="18" charset="0"/>
                              </a:rPr>
                              <m:t>2</m:t>
                            </m:r>
                          </m:sub>
                          <m:sup>
                            <m:r>
                              <a:rPr lang="en-US" sz="2000" i="1">
                                <a:solidFill>
                                  <a:srgbClr val="000000"/>
                                </a:solidFill>
                                <a:latin typeface="Cambria Math" panose="02040503050406030204" pitchFamily="18" charset="0"/>
                              </a:rPr>
                              <m:t>′</m:t>
                            </m:r>
                          </m:sup>
                        </m:sSubSup>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𝑇</m:t>
                            </m:r>
                          </m:e>
                          <m:sub>
                            <m:r>
                              <a:rPr lang="en-US" sz="2000" i="1">
                                <a:solidFill>
                                  <a:srgbClr val="000000"/>
                                </a:solidFill>
                                <a:latin typeface="Cambria Math" panose="02040503050406030204" pitchFamily="18" charset="0"/>
                              </a:rPr>
                              <m:t>1</m:t>
                            </m:r>
                          </m:sub>
                        </m:sSub>
                      </m:oMath>
                    </m:oMathPara>
                  </a14:m>
                  <a:endParaRPr lang="en-US" sz="2000" dirty="0"/>
                </a:p>
              </p:txBody>
            </p:sp>
          </mc:Choice>
          <mc:Fallback xmlns="">
            <p:sp>
              <p:nvSpPr>
                <p:cNvPr id="34" name="Object 32">
                  <a:extLst>
                    <a:ext uri="{FF2B5EF4-FFF2-40B4-BE49-F238E27FC236}">
                      <a16:creationId xmlns:a16="http://schemas.microsoft.com/office/drawing/2014/main" id="{A1B68985-8ED7-DE48-6C70-D5FB87B19BF7}"/>
                    </a:ext>
                  </a:extLst>
                </p:cNvPr>
                <p:cNvSpPr txBox="1">
                  <a:spLocks noRot="1" noChangeAspect="1" noMove="1" noResize="1" noEditPoints="1" noAdjustHandles="1" noChangeArrowheads="1" noChangeShapeType="1" noTextEdit="1"/>
                </p:cNvSpPr>
                <p:nvPr/>
              </p:nvSpPr>
              <p:spPr>
                <a:xfrm>
                  <a:off x="4623" y="2140"/>
                  <a:ext cx="705" cy="292"/>
                </a:xfrm>
                <a:prstGeom prst="rect">
                  <a:avLst/>
                </a:prstGeom>
                <a:blipFill>
                  <a:blip r:embed="rId31"/>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Object 33">
                  <a:extLst>
                    <a:ext uri="{FF2B5EF4-FFF2-40B4-BE49-F238E27FC236}">
                      <a16:creationId xmlns:a16="http://schemas.microsoft.com/office/drawing/2014/main" id="{DFED0DAB-4B2E-69B1-3AA2-42A794AFF4AB}"/>
                    </a:ext>
                  </a:extLst>
                </p:cNvPr>
                <p:cNvSpPr txBox="1"/>
                <p:nvPr/>
              </p:nvSpPr>
              <p:spPr>
                <a:xfrm>
                  <a:off x="4224" y="2496"/>
                  <a:ext cx="576" cy="233"/>
                </a:xfrm>
                <a:prstGeom prst="rect">
                  <a:avLst/>
                </a:prstGeom>
                <a:noFill/>
                <a:ln w="9525" cap="flat" cmpd="sng">
                  <a:noFill/>
                  <a:prstDash val="solid"/>
                  <a:miter/>
                  <a:headEnd type="none" w="med" len="med"/>
                  <a:tailEnd type="none" w="med" len="med"/>
                </a:ln>
              </p:spPr>
              <p:txBody>
                <a:bodyPr>
                  <a:noAutofit/>
                </a:bodyPr>
                <a:lstStyle/>
                <a:p>
                  <a:pPr/>
                  <a14:m>
                    <m:oMathPara xmlns:m="http://schemas.openxmlformats.org/officeDocument/2006/math">
                      <m:oMathParaPr>
                        <m:jc m:val="centerGroup"/>
                      </m:oMathParaPr>
                      <m:oMath xmlns:m="http://schemas.openxmlformats.org/officeDocument/2006/math">
                        <m:r>
                          <a:rPr lang="en-US" sz="2000" i="1">
                            <a:solidFill>
                              <a:srgbClr val="000000"/>
                            </a:solidFill>
                            <a:latin typeface="Cambria Math" panose="02040503050406030204" pitchFamily="18" charset="0"/>
                          </a:rPr>
                          <m:t>𝑄</m:t>
                        </m:r>
                        <m:r>
                          <a:rPr lang="en-US" sz="2000" i="1">
                            <a:solidFill>
                              <a:srgbClr val="000000"/>
                            </a:solidFill>
                            <a:latin typeface="Cambria Math" panose="02040503050406030204" pitchFamily="18" charset="0"/>
                          </a:rPr>
                          <m:t>=0</m:t>
                        </m:r>
                      </m:oMath>
                    </m:oMathPara>
                  </a14:m>
                  <a:endParaRPr lang="en-US" sz="2000" dirty="0"/>
                </a:p>
              </p:txBody>
            </p:sp>
          </mc:Choice>
          <mc:Fallback xmlns="">
            <p:sp>
              <p:nvSpPr>
                <p:cNvPr id="35" name="Object 33">
                  <a:extLst>
                    <a:ext uri="{FF2B5EF4-FFF2-40B4-BE49-F238E27FC236}">
                      <a16:creationId xmlns:a16="http://schemas.microsoft.com/office/drawing/2014/main" id="{DFED0DAB-4B2E-69B1-3AA2-42A794AFF4AB}"/>
                    </a:ext>
                  </a:extLst>
                </p:cNvPr>
                <p:cNvSpPr txBox="1">
                  <a:spLocks noRot="1" noChangeAspect="1" noMove="1" noResize="1" noEditPoints="1" noAdjustHandles="1" noChangeArrowheads="1" noChangeShapeType="1" noTextEdit="1"/>
                </p:cNvSpPr>
                <p:nvPr/>
              </p:nvSpPr>
              <p:spPr>
                <a:xfrm>
                  <a:off x="4224" y="2496"/>
                  <a:ext cx="576" cy="233"/>
                </a:xfrm>
                <a:prstGeom prst="rect">
                  <a:avLst/>
                </a:prstGeom>
                <a:blipFill>
                  <a:blip r:embed="rId32"/>
                  <a:stretch>
                    <a:fillRect b="-19672"/>
                  </a:stretch>
                </a:blipFill>
                <a:ln w="9525" cap="flat" cmpd="sng">
                  <a:noFill/>
                  <a:prstDash val="solid"/>
                  <a:miter/>
                  <a:headEnd type="none" w="med" len="med"/>
                  <a:tailEnd type="none" w="med" len="me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Object 34">
                  <a:extLst>
                    <a:ext uri="{FF2B5EF4-FFF2-40B4-BE49-F238E27FC236}">
                      <a16:creationId xmlns:a16="http://schemas.microsoft.com/office/drawing/2014/main" id="{C82C4118-DF5D-5AAC-9E0F-EEC6864E31DF}"/>
                    </a:ext>
                  </a:extLst>
                </p:cNvPr>
                <p:cNvSpPr txBox="1"/>
                <p:nvPr/>
              </p:nvSpPr>
              <p:spPr>
                <a:xfrm>
                  <a:off x="3889" y="3296"/>
                  <a:ext cx="519" cy="19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000" i="1">
                            <a:solidFill>
                              <a:srgbClr val="000000"/>
                            </a:solidFill>
                            <a:latin typeface="Cambria Math" panose="02040503050406030204" pitchFamily="18" charset="0"/>
                          </a:rPr>
                          <m:t>𝑇</m:t>
                        </m:r>
                        <m:r>
                          <a:rPr lang="en-US" sz="2000" i="1">
                            <a:solidFill>
                              <a:srgbClr val="000000"/>
                            </a:solidFill>
                            <a:latin typeface="Cambria Math" panose="02040503050406030204" pitchFamily="18" charset="0"/>
                          </a:rPr>
                          <m:t>=</m:t>
                        </m:r>
                      </m:oMath>
                    </m:oMathPara>
                  </a14:m>
                  <a:endParaRPr lang="en-US" sz="2000" dirty="0"/>
                </a:p>
              </p:txBody>
            </p:sp>
          </mc:Choice>
          <mc:Fallback xmlns="">
            <p:sp>
              <p:nvSpPr>
                <p:cNvPr id="36" name="Object 34">
                  <a:extLst>
                    <a:ext uri="{FF2B5EF4-FFF2-40B4-BE49-F238E27FC236}">
                      <a16:creationId xmlns:a16="http://schemas.microsoft.com/office/drawing/2014/main" id="{C82C4118-DF5D-5AAC-9E0F-EEC6864E31DF}"/>
                    </a:ext>
                  </a:extLst>
                </p:cNvPr>
                <p:cNvSpPr txBox="1">
                  <a:spLocks noRot="1" noChangeAspect="1" noMove="1" noResize="1" noEditPoints="1" noAdjustHandles="1" noChangeArrowheads="1" noChangeShapeType="1" noTextEdit="1"/>
                </p:cNvSpPr>
                <p:nvPr/>
              </p:nvSpPr>
              <p:spPr>
                <a:xfrm>
                  <a:off x="3889" y="3296"/>
                  <a:ext cx="519" cy="195"/>
                </a:xfrm>
                <a:prstGeom prst="rect">
                  <a:avLst/>
                </a:prstGeom>
                <a:blipFill>
                  <a:blip r:embed="rId33"/>
                  <a:stretch>
                    <a:fillRect b="-24000"/>
                  </a:stretch>
                </a:blipFill>
                <a:ln w="38100">
                  <a:noFill/>
                  <a:miter/>
                </a:ln>
              </p:spPr>
              <p:txBody>
                <a:bodyPr/>
                <a:lstStyle/>
                <a:p>
                  <a:r>
                    <a:rPr lang="zh-CN" altLang="en-US">
                      <a:noFill/>
                    </a:rPr>
                    <a:t> </a:t>
                  </a:r>
                </a:p>
              </p:txBody>
            </p:sp>
          </mc:Fallback>
        </mc:AlternateContent>
        <p:sp>
          <p:nvSpPr>
            <p:cNvPr id="37" name="Line 35">
              <a:extLst>
                <a:ext uri="{FF2B5EF4-FFF2-40B4-BE49-F238E27FC236}">
                  <a16:creationId xmlns:a16="http://schemas.microsoft.com/office/drawing/2014/main" id="{723914C8-A298-BD13-A3A4-784EF216C351}"/>
                </a:ext>
              </a:extLst>
            </p:cNvPr>
            <p:cNvSpPr/>
            <p:nvPr/>
          </p:nvSpPr>
          <p:spPr>
            <a:xfrm flipH="1">
              <a:off x="4224" y="2736"/>
              <a:ext cx="96" cy="240"/>
            </a:xfrm>
            <a:prstGeom prst="line">
              <a:avLst/>
            </a:prstGeom>
            <a:ln w="19050" cap="flat" cmpd="sng">
              <a:solidFill>
                <a:srgbClr val="CC0099"/>
              </a:solidFill>
              <a:prstDash val="dash"/>
              <a:headEnd type="none" w="med" len="med"/>
              <a:tailEnd type="triangle" w="sm" len="lg"/>
            </a:ln>
          </p:spPr>
        </p:sp>
        <p:sp>
          <p:nvSpPr>
            <p:cNvPr id="38" name="Line 36">
              <a:extLst>
                <a:ext uri="{FF2B5EF4-FFF2-40B4-BE49-F238E27FC236}">
                  <a16:creationId xmlns:a16="http://schemas.microsoft.com/office/drawing/2014/main" id="{E6859B7F-6B0B-C21D-1247-4EBE627A1B6B}"/>
                </a:ext>
              </a:extLst>
            </p:cNvPr>
            <p:cNvSpPr/>
            <p:nvPr/>
          </p:nvSpPr>
          <p:spPr>
            <a:xfrm flipV="1">
              <a:off x="4224" y="3168"/>
              <a:ext cx="144" cy="192"/>
            </a:xfrm>
            <a:prstGeom prst="line">
              <a:avLst/>
            </a:prstGeom>
            <a:ln w="19050" cap="flat" cmpd="sng">
              <a:solidFill>
                <a:srgbClr val="0000FF"/>
              </a:solidFill>
              <a:prstDash val="dash"/>
              <a:headEnd type="none" w="med" len="med"/>
              <a:tailEnd type="triangle" w="sm" len="lg"/>
            </a:ln>
          </p:spPr>
        </p:sp>
        <mc:AlternateContent xmlns:mc="http://schemas.openxmlformats.org/markup-compatibility/2006" xmlns:a14="http://schemas.microsoft.com/office/drawing/2010/main">
          <mc:Choice Requires="a14">
            <p:sp>
              <p:nvSpPr>
                <p:cNvPr id="39" name="Object 37">
                  <a:extLst>
                    <a:ext uri="{FF2B5EF4-FFF2-40B4-BE49-F238E27FC236}">
                      <a16:creationId xmlns:a16="http://schemas.microsoft.com/office/drawing/2014/main" id="{B245422B-7A37-B552-5FAC-C5BB78684223}"/>
                    </a:ext>
                  </a:extLst>
                </p:cNvPr>
                <p:cNvSpPr txBox="1"/>
                <p:nvPr/>
              </p:nvSpPr>
              <p:spPr>
                <a:xfrm>
                  <a:off x="3602" y="2928"/>
                  <a:ext cx="165" cy="18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000" i="1">
                            <a:solidFill>
                              <a:srgbClr val="000000"/>
                            </a:solidFill>
                            <a:latin typeface="Cambria Math" panose="02040503050406030204" pitchFamily="18" charset="0"/>
                          </a:rPr>
                          <m:t>2′</m:t>
                        </m:r>
                      </m:oMath>
                    </m:oMathPara>
                  </a14:m>
                  <a:endParaRPr lang="en-US" sz="2000"/>
                </a:p>
              </p:txBody>
            </p:sp>
          </mc:Choice>
          <mc:Fallback xmlns="">
            <p:sp>
              <p:nvSpPr>
                <p:cNvPr id="39" name="Object 37">
                  <a:extLst>
                    <a:ext uri="{FF2B5EF4-FFF2-40B4-BE49-F238E27FC236}">
                      <a16:creationId xmlns:a16="http://schemas.microsoft.com/office/drawing/2014/main" id="{B245422B-7A37-B552-5FAC-C5BB78684223}"/>
                    </a:ext>
                  </a:extLst>
                </p:cNvPr>
                <p:cNvSpPr txBox="1">
                  <a:spLocks noRot="1" noChangeAspect="1" noMove="1" noResize="1" noEditPoints="1" noAdjustHandles="1" noChangeArrowheads="1" noChangeShapeType="1" noTextEdit="1"/>
                </p:cNvSpPr>
                <p:nvPr/>
              </p:nvSpPr>
              <p:spPr>
                <a:xfrm>
                  <a:off x="3602" y="2928"/>
                  <a:ext cx="165" cy="185"/>
                </a:xfrm>
                <a:prstGeom prst="rect">
                  <a:avLst/>
                </a:prstGeom>
                <a:blipFill>
                  <a:blip r:embed="rId34"/>
                  <a:stretch>
                    <a:fillRect l="-4651" r="-51163" b="-33333"/>
                  </a:stretch>
                </a:blipFill>
                <a:ln w="38100">
                  <a:noFill/>
                  <a:miter/>
                </a:ln>
              </p:spPr>
              <p:txBody>
                <a:bodyPr/>
                <a:lstStyle/>
                <a:p>
                  <a:r>
                    <a:rPr lang="zh-CN" altLang="en-US">
                      <a:noFill/>
                    </a:rPr>
                    <a:t> </a:t>
                  </a:r>
                </a:p>
              </p:txBody>
            </p:sp>
          </mc:Fallback>
        </mc:AlternateContent>
        <p:sp>
          <p:nvSpPr>
            <p:cNvPr id="40" name="Rectangle 38">
              <a:extLst>
                <a:ext uri="{FF2B5EF4-FFF2-40B4-BE49-F238E27FC236}">
                  <a16:creationId xmlns:a16="http://schemas.microsoft.com/office/drawing/2014/main" id="{58EF6964-1AB4-B513-B95C-D771458B8691}"/>
                </a:ext>
              </a:extLst>
            </p:cNvPr>
            <p:cNvSpPr/>
            <p:nvPr/>
          </p:nvSpPr>
          <p:spPr>
            <a:xfrm>
              <a:off x="4272" y="3280"/>
              <a:ext cx="720" cy="252"/>
            </a:xfrm>
            <a:prstGeom prst="rect">
              <a:avLst/>
            </a:prstGeom>
            <a:noFill/>
            <a:ln w="9525">
              <a:noFill/>
            </a:ln>
          </p:spPr>
          <p:txBody>
            <a:bodyPr>
              <a:spAutoFit/>
            </a:bodyPr>
            <a:lstStyle/>
            <a:p>
              <a:pPr eaLnBrk="1" hangingPunct="1"/>
              <a:r>
                <a:rPr lang="zh-CN" altLang="en-US" sz="2000" b="1" dirty="0">
                  <a:solidFill>
                    <a:srgbClr val="000000"/>
                  </a:solidFill>
                  <a:latin typeface="Times New Roman" panose="02020603050405020304" pitchFamily="18" charset="0"/>
                </a:rPr>
                <a:t>常量</a:t>
              </a:r>
            </a:p>
          </p:txBody>
        </p:sp>
      </p:grpSp>
    </p:spTree>
    <p:extLst>
      <p:ext uri="{BB962C8B-B14F-4D97-AF65-F5344CB8AC3E}">
        <p14:creationId xmlns:p14="http://schemas.microsoft.com/office/powerpoint/2010/main" val="1296996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4" grpId="0"/>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C7321-2A2A-3AE0-F334-710FB428F7C9}"/>
            </a:ext>
          </a:extLst>
        </p:cNvPr>
        <p:cNvGrpSpPr/>
        <p:nvPr/>
      </p:nvGrpSpPr>
      <p:grpSpPr>
        <a:xfrm>
          <a:off x="0" y="0"/>
          <a:ext cx="0" cy="0"/>
          <a:chOff x="0" y="0"/>
          <a:chExt cx="0" cy="0"/>
        </a:xfrm>
      </p:grpSpPr>
      <p:sp>
        <p:nvSpPr>
          <p:cNvPr id="374787" name="Text Box 3">
            <a:extLst>
              <a:ext uri="{FF2B5EF4-FFF2-40B4-BE49-F238E27FC236}">
                <a16:creationId xmlns:a16="http://schemas.microsoft.com/office/drawing/2014/main" id="{CF26E08E-0E76-1048-CCFE-BB686C68F251}"/>
              </a:ext>
            </a:extLst>
          </p:cNvPr>
          <p:cNvSpPr txBox="1"/>
          <p:nvPr/>
        </p:nvSpPr>
        <p:spPr>
          <a:xfrm>
            <a:off x="882650" y="423864"/>
            <a:ext cx="10674350" cy="1692771"/>
          </a:xfrm>
          <a:prstGeom prst="rect">
            <a:avLst/>
          </a:prstGeom>
          <a:noFill/>
          <a:ln w="9525">
            <a:noFill/>
          </a:ln>
        </p:spPr>
        <p:txBody>
          <a:bodyPr wrap="square">
            <a:spAutoFit/>
          </a:bodyPr>
          <a:lstStyle/>
          <a:p>
            <a:r>
              <a:rPr lang="zh-CN" altLang="en-US" sz="2600" dirty="0">
                <a:latin typeface="Times New Roman" panose="02020603050405020304" pitchFamily="18" charset="0"/>
              </a:rPr>
              <a:t>例：</a:t>
            </a:r>
            <a:r>
              <a:rPr lang="en-US" altLang="zh-CN" sz="2600" dirty="0">
                <a:latin typeface="Times New Roman" panose="02020603050405020304" pitchFamily="18" charset="0"/>
              </a:rPr>
              <a:t> </a:t>
            </a:r>
            <a:r>
              <a:rPr lang="zh-CN" altLang="en-US" sz="2600" dirty="0">
                <a:latin typeface="Bookman Old Style" panose="02050604050505020204" pitchFamily="18" charset="0"/>
              </a:rPr>
              <a:t>空气中的声速。空气中有声波传播时，各空气质元不断地反复经历着压缩和膨胀的过程，由于这种变化过程的频率较高，压缩和膨胀进行得都较快，各质元都来不及和周围的质元发生热传递，因而过程可视为绝热的。试根据是理想气体的绝热过程这一假定，求空气中的声速。</a:t>
            </a:r>
          </a:p>
        </p:txBody>
      </p:sp>
      <mc:AlternateContent xmlns:mc="http://schemas.openxmlformats.org/markup-compatibility/2006" xmlns:a14="http://schemas.microsoft.com/office/drawing/2010/main">
        <mc:Choice Requires="a14">
          <p:sp>
            <p:nvSpPr>
              <p:cNvPr id="2" name="Rectangle 3">
                <a:extLst>
                  <a:ext uri="{FF2B5EF4-FFF2-40B4-BE49-F238E27FC236}">
                    <a16:creationId xmlns:a16="http://schemas.microsoft.com/office/drawing/2014/main" id="{AFFC84E3-C157-7A69-FB0B-1D2D9E158A83}"/>
                  </a:ext>
                </a:extLst>
              </p:cNvPr>
              <p:cNvSpPr/>
              <p:nvPr/>
            </p:nvSpPr>
            <p:spPr>
              <a:xfrm>
                <a:off x="882650" y="2249872"/>
                <a:ext cx="8407021" cy="892552"/>
              </a:xfrm>
              <a:prstGeom prst="rect">
                <a:avLst/>
              </a:prstGeom>
              <a:noFill/>
              <a:ln w="9525">
                <a:noFill/>
              </a:ln>
            </p:spPr>
            <p:txBody>
              <a:bodyPr>
                <a:spAutoFit/>
              </a:bodyPr>
              <a:lstStyle/>
              <a:p>
                <a:r>
                  <a:rPr lang="zh-CN" altLang="en-US" sz="2600" dirty="0">
                    <a:latin typeface="+mn-ea"/>
                  </a:rPr>
                  <a:t>气体中的纵波波速公式                          </a:t>
                </a:r>
                <a:r>
                  <a:rPr lang="en-US" altLang="zh-CN" sz="2600" dirty="0">
                    <a:latin typeface="+mn-ea"/>
                  </a:rPr>
                  <a:t>,</a:t>
                </a:r>
                <a:r>
                  <a:rPr lang="zh-CN" altLang="en-US" sz="2600" dirty="0">
                    <a:latin typeface="+mn-ea"/>
                  </a:rPr>
                  <a:t>其中</a:t>
                </a:r>
                <a:r>
                  <a:rPr lang="en-US" altLang="zh-CN" sz="2600" b="1" i="1" dirty="0">
                    <a:latin typeface="+mn-ea"/>
                    <a:cs typeface="Times New Roman" panose="02020603050405020304" pitchFamily="18" charset="0"/>
                  </a:rPr>
                  <a:t>K</a:t>
                </a:r>
                <a:r>
                  <a:rPr lang="zh-CN" altLang="en-US" sz="2600" dirty="0">
                    <a:latin typeface="+mn-ea"/>
                  </a:rPr>
                  <a:t>为气体的体弹模量                          </a:t>
                </a:r>
                <a:r>
                  <a:rPr lang="en-US" altLang="zh-CN" sz="2600" dirty="0">
                    <a:latin typeface="+mn-ea"/>
                  </a:rPr>
                  <a:t>,</a:t>
                </a:r>
                <a:r>
                  <a:rPr lang="en-US" altLang="zh-CN" sz="2600" dirty="0">
                    <a:solidFill>
                      <a:srgbClr val="000000"/>
                    </a:solidFill>
                  </a:rPr>
                  <a:t> </a:t>
                </a:r>
                <a14:m>
                  <m:oMath xmlns:m="http://schemas.openxmlformats.org/officeDocument/2006/math">
                    <m:r>
                      <a:rPr lang="en-US" altLang="zh-CN" sz="2600" i="1">
                        <a:solidFill>
                          <a:srgbClr val="000000"/>
                        </a:solidFill>
                        <a:latin typeface="Cambria Math" panose="02040503050406030204" pitchFamily="18" charset="0"/>
                      </a:rPr>
                      <m:t>𝜌</m:t>
                    </m:r>
                  </m:oMath>
                </a14:m>
                <a:r>
                  <a:rPr lang="zh-CN" altLang="en-US" sz="2600" dirty="0">
                    <a:latin typeface="+mn-ea"/>
                  </a:rPr>
                  <a:t>为气体的密度</a:t>
                </a:r>
                <a:endParaRPr lang="en-US" altLang="zh-CN" sz="2600" dirty="0">
                  <a:latin typeface="+mn-ea"/>
                </a:endParaRPr>
              </a:p>
            </p:txBody>
          </p:sp>
        </mc:Choice>
        <mc:Fallback xmlns="">
          <p:sp>
            <p:nvSpPr>
              <p:cNvPr id="2" name="Rectangle 3">
                <a:extLst>
                  <a:ext uri="{FF2B5EF4-FFF2-40B4-BE49-F238E27FC236}">
                    <a16:creationId xmlns:a16="http://schemas.microsoft.com/office/drawing/2014/main" id="{AFFC84E3-C157-7A69-FB0B-1D2D9E158A83}"/>
                  </a:ext>
                </a:extLst>
              </p:cNvPr>
              <p:cNvSpPr>
                <a:spLocks noRot="1" noChangeAspect="1" noMove="1" noResize="1" noEditPoints="1" noAdjustHandles="1" noChangeArrowheads="1" noChangeShapeType="1" noTextEdit="1"/>
              </p:cNvSpPr>
              <p:nvPr/>
            </p:nvSpPr>
            <p:spPr>
              <a:xfrm>
                <a:off x="882650" y="2249872"/>
                <a:ext cx="8407021" cy="892552"/>
              </a:xfrm>
              <a:prstGeom prst="rect">
                <a:avLst/>
              </a:prstGeom>
              <a:blipFill>
                <a:blip r:embed="rId3"/>
                <a:stretch>
                  <a:fillRect l="-1305" t="-6164" b="-17123"/>
                </a:stretch>
              </a:blipFill>
              <a:ln w="9525">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对象 4">
                <a:extLst>
                  <a:ext uri="{FF2B5EF4-FFF2-40B4-BE49-F238E27FC236}">
                    <a16:creationId xmlns:a16="http://schemas.microsoft.com/office/drawing/2014/main" id="{E774D80F-8659-2D8D-23D5-CE352800ACC5}"/>
                  </a:ext>
                </a:extLst>
              </p:cNvPr>
              <p:cNvSpPr txBox="1"/>
              <p:nvPr/>
            </p:nvSpPr>
            <p:spPr>
              <a:xfrm>
                <a:off x="4306697" y="2213370"/>
                <a:ext cx="2030223" cy="730250"/>
              </a:xfrm>
              <a:prstGeom prst="rect">
                <a:avLst/>
              </a:prstGeom>
            </p:spPr>
            <p:txBody>
              <a:bodyPr>
                <a:noAutofit/>
              </a:bodyPr>
              <a:lstStyle/>
              <a:p>
                <a:pPr/>
                <a14:m>
                  <m:oMathPara xmlns:m="http://schemas.openxmlformats.org/officeDocument/2006/math">
                    <m:oMathParaPr>
                      <m:jc m:val="centerGroup"/>
                    </m:oMathParaPr>
                    <m:oMath xmlns:m="http://schemas.openxmlformats.org/officeDocument/2006/math">
                      <m:r>
                        <a:rPr lang="en-US" sz="2600" i="1">
                          <a:solidFill>
                            <a:srgbClr val="000000"/>
                          </a:solidFill>
                          <a:latin typeface="Cambria Math" panose="02040503050406030204" pitchFamily="18" charset="0"/>
                        </a:rPr>
                        <m:t>𝑢</m:t>
                      </m:r>
                      <m:r>
                        <a:rPr lang="en-US" sz="2600" i="1">
                          <a:solidFill>
                            <a:srgbClr val="000000"/>
                          </a:solidFill>
                          <a:latin typeface="Cambria Math" panose="02040503050406030204" pitchFamily="18" charset="0"/>
                        </a:rPr>
                        <m:t>=</m:t>
                      </m:r>
                      <m:rad>
                        <m:radPr>
                          <m:degHide m:val="on"/>
                          <m:ctrlPr>
                            <a:rPr lang="en-US" sz="2600" i="1">
                              <a:solidFill>
                                <a:srgbClr val="000000"/>
                              </a:solidFill>
                              <a:latin typeface="Cambria Math" panose="02040503050406030204" pitchFamily="18" charset="0"/>
                            </a:rPr>
                          </m:ctrlPr>
                        </m:radPr>
                        <m:deg/>
                        <m:e>
                          <m:r>
                            <a:rPr lang="en-US" sz="2600" i="1">
                              <a:solidFill>
                                <a:srgbClr val="000000"/>
                              </a:solidFill>
                              <a:latin typeface="Cambria Math" panose="02040503050406030204" pitchFamily="18" charset="0"/>
                            </a:rPr>
                            <m:t>𝐾</m:t>
                          </m:r>
                          <m:r>
                            <a:rPr lang="en-US" sz="2600" i="1">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𝜌</m:t>
                          </m:r>
                        </m:e>
                      </m:rad>
                    </m:oMath>
                  </m:oMathPara>
                </a14:m>
                <a:endParaRPr lang="en-US" sz="2600" dirty="0">
                  <a:latin typeface="+mn-ea"/>
                </a:endParaRPr>
              </a:p>
            </p:txBody>
          </p:sp>
        </mc:Choice>
        <mc:Fallback xmlns="">
          <p:sp>
            <p:nvSpPr>
              <p:cNvPr id="3" name="对象 4">
                <a:extLst>
                  <a:ext uri="{FF2B5EF4-FFF2-40B4-BE49-F238E27FC236}">
                    <a16:creationId xmlns:a16="http://schemas.microsoft.com/office/drawing/2014/main" id="{E774D80F-8659-2D8D-23D5-CE352800ACC5}"/>
                  </a:ext>
                </a:extLst>
              </p:cNvPr>
              <p:cNvSpPr txBox="1">
                <a:spLocks noRot="1" noChangeAspect="1" noMove="1" noResize="1" noEditPoints="1" noAdjustHandles="1" noChangeArrowheads="1" noChangeShapeType="1" noTextEdit="1"/>
              </p:cNvSpPr>
              <p:nvPr/>
            </p:nvSpPr>
            <p:spPr>
              <a:xfrm>
                <a:off x="4306697" y="2213370"/>
                <a:ext cx="2030223" cy="73025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对象 6">
                <a:extLst>
                  <a:ext uri="{FF2B5EF4-FFF2-40B4-BE49-F238E27FC236}">
                    <a16:creationId xmlns:a16="http://schemas.microsoft.com/office/drawing/2014/main" id="{A3777490-BDC9-31F8-1FF5-EBD78235009D}"/>
                  </a:ext>
                </a:extLst>
              </p:cNvPr>
              <p:cNvSpPr txBox="1"/>
              <p:nvPr/>
            </p:nvSpPr>
            <p:spPr>
              <a:xfrm>
                <a:off x="1773174" y="2678924"/>
                <a:ext cx="2567305" cy="483235"/>
              </a:xfrm>
              <a:prstGeom prst="rect">
                <a:avLst/>
              </a:prstGeom>
            </p:spPr>
            <p:txBody>
              <a:bodyPr>
                <a:noAutofit/>
              </a:bodyPr>
              <a:lstStyle/>
              <a:p>
                <a:pPr/>
                <a14:m>
                  <m:oMathPara xmlns:m="http://schemas.openxmlformats.org/officeDocument/2006/math">
                    <m:oMathParaPr>
                      <m:jc m:val="centerGroup"/>
                    </m:oMathParaPr>
                    <m:oMath xmlns:m="http://schemas.openxmlformats.org/officeDocument/2006/math">
                      <m:r>
                        <a:rPr lang="en-US" sz="2600" i="1">
                          <a:solidFill>
                            <a:srgbClr val="000000"/>
                          </a:solidFill>
                          <a:latin typeface="Cambria Math" panose="02040503050406030204" pitchFamily="18" charset="0"/>
                        </a:rPr>
                        <m:t>𝐾</m:t>
                      </m:r>
                      <m:r>
                        <a:rPr lang="en-US" sz="2600" i="1">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𝑉</m:t>
                      </m:r>
                      <m:r>
                        <m:rPr>
                          <m:sty m:val="p"/>
                        </m:rPr>
                        <a:rPr lang="en-US" sz="2600" i="0">
                          <a:solidFill>
                            <a:srgbClr val="000000"/>
                          </a:solidFill>
                          <a:latin typeface="Cambria Math" panose="02040503050406030204" pitchFamily="18" charset="0"/>
                        </a:rPr>
                        <m:t>d</m:t>
                      </m:r>
                      <m:r>
                        <a:rPr lang="en-US" sz="2600" i="1">
                          <a:solidFill>
                            <a:srgbClr val="000000"/>
                          </a:solidFill>
                          <a:latin typeface="Cambria Math" panose="02040503050406030204" pitchFamily="18" charset="0"/>
                        </a:rPr>
                        <m:t>𝑝</m:t>
                      </m:r>
                      <m:r>
                        <a:rPr lang="en-US" sz="2600" i="1">
                          <a:solidFill>
                            <a:srgbClr val="000000"/>
                          </a:solidFill>
                          <a:latin typeface="Cambria Math" panose="02040503050406030204" pitchFamily="18" charset="0"/>
                        </a:rPr>
                        <m:t>/</m:t>
                      </m:r>
                      <m:r>
                        <m:rPr>
                          <m:sty m:val="p"/>
                        </m:rPr>
                        <a:rPr lang="en-US" sz="2600" i="0">
                          <a:solidFill>
                            <a:srgbClr val="000000"/>
                          </a:solidFill>
                          <a:latin typeface="Cambria Math" panose="02040503050406030204" pitchFamily="18" charset="0"/>
                        </a:rPr>
                        <m:t>d</m:t>
                      </m:r>
                      <m:r>
                        <a:rPr lang="en-US" sz="2600" i="1">
                          <a:solidFill>
                            <a:srgbClr val="000000"/>
                          </a:solidFill>
                          <a:latin typeface="Cambria Math" panose="02040503050406030204" pitchFamily="18" charset="0"/>
                        </a:rPr>
                        <m:t>𝑉</m:t>
                      </m:r>
                    </m:oMath>
                  </m:oMathPara>
                </a14:m>
                <a:endParaRPr lang="en-US" sz="2600" dirty="0">
                  <a:latin typeface="+mn-ea"/>
                </a:endParaRPr>
              </a:p>
            </p:txBody>
          </p:sp>
        </mc:Choice>
        <mc:Fallback xmlns="">
          <p:sp>
            <p:nvSpPr>
              <p:cNvPr id="4" name="对象 6">
                <a:extLst>
                  <a:ext uri="{FF2B5EF4-FFF2-40B4-BE49-F238E27FC236}">
                    <a16:creationId xmlns:a16="http://schemas.microsoft.com/office/drawing/2014/main" id="{A3777490-BDC9-31F8-1FF5-EBD78235009D}"/>
                  </a:ext>
                </a:extLst>
              </p:cNvPr>
              <p:cNvSpPr txBox="1">
                <a:spLocks noRot="1" noChangeAspect="1" noMove="1" noResize="1" noEditPoints="1" noAdjustHandles="1" noChangeArrowheads="1" noChangeShapeType="1" noTextEdit="1"/>
              </p:cNvSpPr>
              <p:nvPr/>
            </p:nvSpPr>
            <p:spPr>
              <a:xfrm>
                <a:off x="1773174" y="2678924"/>
                <a:ext cx="2567305" cy="483235"/>
              </a:xfrm>
              <a:prstGeom prst="rect">
                <a:avLst/>
              </a:prstGeom>
              <a:blipFill>
                <a:blip r:embed="rId5"/>
                <a:stretch>
                  <a:fillRect/>
                </a:stretch>
              </a:blipFill>
            </p:spPr>
            <p:txBody>
              <a:bodyPr/>
              <a:lstStyle/>
              <a:p>
                <a:r>
                  <a:rPr lang="zh-CN" altLang="en-US">
                    <a:noFill/>
                  </a:rPr>
                  <a:t> </a:t>
                </a:r>
              </a:p>
            </p:txBody>
          </p:sp>
        </mc:Fallback>
      </mc:AlternateContent>
      <p:sp>
        <p:nvSpPr>
          <p:cNvPr id="5" name="Rectangle 5">
            <a:extLst>
              <a:ext uri="{FF2B5EF4-FFF2-40B4-BE49-F238E27FC236}">
                <a16:creationId xmlns:a16="http://schemas.microsoft.com/office/drawing/2014/main" id="{CDD33FCE-FDD5-C4E6-7613-BC88CA688652}"/>
              </a:ext>
            </a:extLst>
          </p:cNvPr>
          <p:cNvSpPr/>
          <p:nvPr/>
        </p:nvSpPr>
        <p:spPr>
          <a:xfrm>
            <a:off x="828674" y="3286608"/>
            <a:ext cx="8556625" cy="492443"/>
          </a:xfrm>
          <a:prstGeom prst="rect">
            <a:avLst/>
          </a:prstGeom>
          <a:noFill/>
          <a:ln w="9525">
            <a:noFill/>
          </a:ln>
        </p:spPr>
        <p:txBody>
          <a:bodyPr wrap="square">
            <a:spAutoFit/>
          </a:bodyPr>
          <a:lstStyle/>
          <a:p>
            <a:r>
              <a:rPr lang="zh-CN" altLang="en-US" sz="2600" dirty="0">
                <a:latin typeface="+mn-ea"/>
              </a:rPr>
              <a:t>由                          可得</a:t>
            </a:r>
          </a:p>
        </p:txBody>
      </p:sp>
      <mc:AlternateContent xmlns:mc="http://schemas.openxmlformats.org/markup-compatibility/2006" xmlns:a14="http://schemas.microsoft.com/office/drawing/2010/main">
        <mc:Choice Requires="a14">
          <p:sp>
            <p:nvSpPr>
              <p:cNvPr id="6" name="对象 8">
                <a:extLst>
                  <a:ext uri="{FF2B5EF4-FFF2-40B4-BE49-F238E27FC236}">
                    <a16:creationId xmlns:a16="http://schemas.microsoft.com/office/drawing/2014/main" id="{C7C3E5E6-46CC-DFB8-6B27-C2B3B0550FE8}"/>
                  </a:ext>
                </a:extLst>
              </p:cNvPr>
              <p:cNvSpPr txBox="1"/>
              <p:nvPr/>
            </p:nvSpPr>
            <p:spPr>
              <a:xfrm>
                <a:off x="8160559" y="3546237"/>
                <a:ext cx="2609215" cy="562610"/>
              </a:xfrm>
              <a:prstGeom prst="rect">
                <a:avLst/>
              </a:prstGeom>
            </p:spPr>
            <p:txBody>
              <a:bodyPr>
                <a:normAutofit/>
              </a:bodyPr>
              <a:lstStyle/>
              <a:p>
                <a:pPr/>
                <a14:m>
                  <m:oMathPara xmlns:m="http://schemas.openxmlformats.org/officeDocument/2006/math">
                    <m:oMathParaPr>
                      <m:jc m:val="centerGroup"/>
                    </m:oMathParaPr>
                    <m:oMath xmlns:m="http://schemas.openxmlformats.org/officeDocument/2006/math">
                      <m:r>
                        <a:rPr lang="en-US" sz="2600" i="1">
                          <a:solidFill>
                            <a:srgbClr val="000000"/>
                          </a:solidFill>
                          <a:latin typeface="Cambria Math" panose="02040503050406030204" pitchFamily="18" charset="0"/>
                        </a:rPr>
                        <m:t>𝐾</m:t>
                      </m:r>
                      <m:r>
                        <a:rPr lang="en-US" sz="2600" i="1">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𝛾𝜌</m:t>
                      </m:r>
                      <m:r>
                        <a:rPr lang="en-US" sz="2600" i="1">
                          <a:solidFill>
                            <a:srgbClr val="000000"/>
                          </a:solidFill>
                          <a:latin typeface="Cambria Math" panose="02040503050406030204" pitchFamily="18" charset="0"/>
                        </a:rPr>
                        <m:t>𝑅𝑇</m:t>
                      </m:r>
                      <m:r>
                        <a:rPr lang="en-US" sz="2600" i="1">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𝑀</m:t>
                      </m:r>
                    </m:oMath>
                  </m:oMathPara>
                </a14:m>
                <a:endParaRPr lang="en-US" sz="2600" dirty="0">
                  <a:latin typeface="+mn-ea"/>
                </a:endParaRPr>
              </a:p>
            </p:txBody>
          </p:sp>
        </mc:Choice>
        <mc:Fallback xmlns="">
          <p:sp>
            <p:nvSpPr>
              <p:cNvPr id="6" name="对象 8">
                <a:extLst>
                  <a:ext uri="{FF2B5EF4-FFF2-40B4-BE49-F238E27FC236}">
                    <a16:creationId xmlns:a16="http://schemas.microsoft.com/office/drawing/2014/main" id="{A24ED7C9-8230-709B-6B2A-185C3578F975}"/>
                  </a:ext>
                </a:extLst>
              </p:cNvPr>
              <p:cNvSpPr txBox="1">
                <a:spLocks noRot="1" noChangeAspect="1" noMove="1" noResize="1" noEditPoints="1" noAdjustHandles="1" noChangeArrowheads="1" noChangeShapeType="1" noTextEdit="1"/>
              </p:cNvSpPr>
              <p:nvPr/>
            </p:nvSpPr>
            <p:spPr>
              <a:xfrm>
                <a:off x="8160559" y="3546237"/>
                <a:ext cx="2609215" cy="562610"/>
              </a:xfrm>
              <a:prstGeom prst="rect">
                <a:avLst/>
              </a:prstGeom>
              <a:blipFill>
                <a:blip r:embed="rId6"/>
                <a:stretch>
                  <a:fillRect/>
                </a:stretch>
              </a:blipFill>
            </p:spPr>
            <p:txBody>
              <a:bodyPr/>
              <a:lstStyle/>
              <a:p>
                <a:r>
                  <a:rPr lang="en-US">
                    <a:noFill/>
                  </a:rPr>
                  <a:t> </a:t>
                </a:r>
              </a:p>
            </p:txBody>
          </p:sp>
        </mc:Fallback>
      </mc:AlternateContent>
      <p:sp>
        <p:nvSpPr>
          <p:cNvPr id="7" name="Rectangle 11">
            <a:extLst>
              <a:ext uri="{FF2B5EF4-FFF2-40B4-BE49-F238E27FC236}">
                <a16:creationId xmlns:a16="http://schemas.microsoft.com/office/drawing/2014/main" id="{F0EC6185-D994-D903-4F2F-E5B9BA24AEB4}"/>
              </a:ext>
            </a:extLst>
          </p:cNvPr>
          <p:cNvSpPr/>
          <p:nvPr/>
        </p:nvSpPr>
        <p:spPr>
          <a:xfrm>
            <a:off x="765174" y="4702802"/>
            <a:ext cx="7632700" cy="492443"/>
          </a:xfrm>
          <a:prstGeom prst="rect">
            <a:avLst/>
          </a:prstGeom>
          <a:noFill/>
          <a:ln w="9525">
            <a:noFill/>
          </a:ln>
        </p:spPr>
        <p:txBody>
          <a:bodyPr>
            <a:spAutoFit/>
          </a:bodyPr>
          <a:lstStyle/>
          <a:p>
            <a:r>
              <a:rPr lang="zh-CN" altLang="en-US" sz="2600" dirty="0">
                <a:latin typeface="+mn-ea"/>
              </a:rPr>
              <a:t>得到空气中的声速为</a:t>
            </a:r>
          </a:p>
        </p:txBody>
      </p:sp>
      <mc:AlternateContent xmlns:mc="http://schemas.openxmlformats.org/markup-compatibility/2006" xmlns:a14="http://schemas.microsoft.com/office/drawing/2010/main">
        <mc:Choice Requires="a14">
          <p:sp>
            <p:nvSpPr>
              <p:cNvPr id="8" name="对象 1">
                <a:extLst>
                  <a:ext uri="{FF2B5EF4-FFF2-40B4-BE49-F238E27FC236}">
                    <a16:creationId xmlns:a16="http://schemas.microsoft.com/office/drawing/2014/main" id="{CE930268-DFB1-B817-7805-55D2DCE4898B}"/>
                  </a:ext>
                </a:extLst>
              </p:cNvPr>
              <p:cNvSpPr txBox="1"/>
              <p:nvPr/>
            </p:nvSpPr>
            <p:spPr>
              <a:xfrm>
                <a:off x="3614577" y="4289417"/>
                <a:ext cx="2857818" cy="826770"/>
              </a:xfrm>
              <a:prstGeom prst="rect">
                <a:avLst/>
              </a:prstGeom>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𝑢</m:t>
                          </m:r>
                        </m:e>
                        <m:sub>
                          <m:r>
                            <a:rPr lang="en-US" sz="2600" i="1">
                              <a:solidFill>
                                <a:srgbClr val="000000"/>
                              </a:solidFill>
                              <a:latin typeface="Cambria Math" panose="02040503050406030204" pitchFamily="18" charset="0"/>
                            </a:rPr>
                            <m:t>1</m:t>
                          </m:r>
                        </m:sub>
                      </m:sSub>
                      <m:r>
                        <a:rPr lang="en-US" sz="2600" i="1">
                          <a:solidFill>
                            <a:srgbClr val="000000"/>
                          </a:solidFill>
                          <a:latin typeface="Cambria Math" panose="02040503050406030204" pitchFamily="18" charset="0"/>
                        </a:rPr>
                        <m:t>=</m:t>
                      </m:r>
                      <m:rad>
                        <m:radPr>
                          <m:degHide m:val="on"/>
                          <m:ctrlPr>
                            <a:rPr lang="en-US" sz="2600" i="1">
                              <a:solidFill>
                                <a:srgbClr val="000000"/>
                              </a:solidFill>
                              <a:latin typeface="Cambria Math" panose="02040503050406030204" pitchFamily="18" charset="0"/>
                            </a:rPr>
                          </m:ctrlPr>
                        </m:radPr>
                        <m:deg/>
                        <m:e>
                          <m:f>
                            <m:fPr>
                              <m:ctrlPr>
                                <a:rPr lang="en-US" sz="2600" i="1">
                                  <a:solidFill>
                                    <a:srgbClr val="000000"/>
                                  </a:solidFill>
                                  <a:latin typeface="Cambria Math" panose="02040503050406030204" pitchFamily="18" charset="0"/>
                                </a:rPr>
                              </m:ctrlPr>
                            </m:fPr>
                            <m:num>
                              <m:r>
                                <a:rPr lang="en-US" sz="2600" i="1">
                                  <a:solidFill>
                                    <a:srgbClr val="000000"/>
                                  </a:solidFill>
                                  <a:latin typeface="Cambria Math" panose="02040503050406030204" pitchFamily="18" charset="0"/>
                                </a:rPr>
                                <m:t>𝛾</m:t>
                              </m:r>
                              <m:r>
                                <a:rPr lang="en-US" sz="2600" i="1">
                                  <a:solidFill>
                                    <a:srgbClr val="000000"/>
                                  </a:solidFill>
                                  <a:latin typeface="Cambria Math" panose="02040503050406030204" pitchFamily="18" charset="0"/>
                                </a:rPr>
                                <m:t>𝑅𝑇</m:t>
                              </m:r>
                            </m:num>
                            <m:den>
                              <m:r>
                                <a:rPr lang="en-US" sz="2600" i="1">
                                  <a:solidFill>
                                    <a:srgbClr val="000000"/>
                                  </a:solidFill>
                                  <a:latin typeface="Cambria Math" panose="02040503050406030204" pitchFamily="18" charset="0"/>
                                </a:rPr>
                                <m:t>𝑀</m:t>
                              </m:r>
                            </m:den>
                          </m:f>
                        </m:e>
                      </m:rad>
                    </m:oMath>
                  </m:oMathPara>
                </a14:m>
                <a:endParaRPr lang="en-US" sz="2600" dirty="0">
                  <a:latin typeface="+mn-ea"/>
                </a:endParaRPr>
              </a:p>
            </p:txBody>
          </p:sp>
        </mc:Choice>
        <mc:Fallback xmlns="">
          <p:sp>
            <p:nvSpPr>
              <p:cNvPr id="8" name="对象 1">
                <a:extLst>
                  <a:ext uri="{FF2B5EF4-FFF2-40B4-BE49-F238E27FC236}">
                    <a16:creationId xmlns:a16="http://schemas.microsoft.com/office/drawing/2014/main" id="{B448DB6C-5F10-01B8-DAEF-E0C9AD81A900}"/>
                  </a:ext>
                </a:extLst>
              </p:cNvPr>
              <p:cNvSpPr txBox="1">
                <a:spLocks noRot="1" noChangeAspect="1" noMove="1" noResize="1" noEditPoints="1" noAdjustHandles="1" noChangeArrowheads="1" noChangeShapeType="1" noTextEdit="1"/>
              </p:cNvSpPr>
              <p:nvPr/>
            </p:nvSpPr>
            <p:spPr>
              <a:xfrm>
                <a:off x="3614577" y="4289417"/>
                <a:ext cx="2857818" cy="826770"/>
              </a:xfrm>
              <a:prstGeom prst="rect">
                <a:avLst/>
              </a:prstGeom>
              <a:blipFill>
                <a:blip r:embed="rId7"/>
                <a:stretch>
                  <a:fillRect b="-48148"/>
                </a:stretch>
              </a:blipFill>
            </p:spPr>
            <p:txBody>
              <a:bodyPr/>
              <a:lstStyle/>
              <a:p>
                <a:r>
                  <a:rPr lang="zh-CN" altLang="en-US">
                    <a:noFill/>
                  </a:rPr>
                  <a:t> </a:t>
                </a:r>
              </a:p>
            </p:txBody>
          </p:sp>
        </mc:Fallback>
      </mc:AlternateContent>
      <p:sp>
        <p:nvSpPr>
          <p:cNvPr id="9" name="Rectangle 9">
            <a:extLst>
              <a:ext uri="{FF2B5EF4-FFF2-40B4-BE49-F238E27FC236}">
                <a16:creationId xmlns:a16="http://schemas.microsoft.com/office/drawing/2014/main" id="{8B2466B8-513D-EE84-966C-67FB4352DC40}"/>
              </a:ext>
            </a:extLst>
          </p:cNvPr>
          <p:cNvSpPr/>
          <p:nvPr/>
        </p:nvSpPr>
        <p:spPr>
          <a:xfrm>
            <a:off x="870204" y="5608630"/>
            <a:ext cx="6940550" cy="892552"/>
          </a:xfrm>
          <a:prstGeom prst="rect">
            <a:avLst/>
          </a:prstGeom>
          <a:noFill/>
          <a:ln w="9525">
            <a:noFill/>
          </a:ln>
        </p:spPr>
        <p:txBody>
          <a:bodyPr wrap="square">
            <a:spAutoFit/>
          </a:bodyPr>
          <a:lstStyle/>
          <a:p>
            <a:r>
              <a:rPr lang="zh-CN" altLang="en-US" sz="2600" dirty="0"/>
              <a:t>标准状态下的空气，</a:t>
            </a:r>
            <a:r>
              <a:rPr lang="en-US" altLang="zh-CN" sz="2600" i="1" dirty="0">
                <a:cs typeface="Times New Roman" panose="02020603050405020304" pitchFamily="18" charset="0"/>
              </a:rPr>
              <a:t>γ</a:t>
            </a:r>
            <a:r>
              <a:rPr lang="en-US" altLang="zh-CN" sz="2600" dirty="0">
                <a:cs typeface="Times New Roman" panose="02020603050405020304" pitchFamily="18" charset="0"/>
              </a:rPr>
              <a:t>=1.40, </a:t>
            </a:r>
            <a:r>
              <a:rPr lang="en-US" altLang="zh-CN" sz="2600" i="1" dirty="0">
                <a:cs typeface="Times New Roman" panose="02020603050405020304" pitchFamily="18" charset="0"/>
              </a:rPr>
              <a:t>T</a:t>
            </a:r>
            <a:r>
              <a:rPr lang="en-US" altLang="zh-CN" sz="2600" dirty="0">
                <a:cs typeface="Times New Roman" panose="02020603050405020304" pitchFamily="18" charset="0"/>
              </a:rPr>
              <a:t>=273K,  </a:t>
            </a:r>
            <a:r>
              <a:rPr lang="en-US" altLang="zh-CN" sz="2600" i="1" dirty="0">
                <a:cs typeface="Times New Roman" panose="02020603050405020304" pitchFamily="18" charset="0"/>
              </a:rPr>
              <a:t>M </a:t>
            </a:r>
            <a:r>
              <a:rPr lang="en-US" altLang="zh-CN" sz="2600" dirty="0">
                <a:cs typeface="Times New Roman" panose="02020603050405020304" pitchFamily="18" charset="0"/>
              </a:rPr>
              <a:t>= 29.0×10</a:t>
            </a:r>
            <a:r>
              <a:rPr lang="en-US" altLang="zh-CN" sz="2600" baseline="30000" dirty="0">
                <a:cs typeface="Times New Roman" panose="02020603050405020304" pitchFamily="18" charset="0"/>
              </a:rPr>
              <a:t>-3</a:t>
            </a:r>
            <a:r>
              <a:rPr lang="en-US" altLang="zh-CN" sz="2600" dirty="0">
                <a:cs typeface="Times New Roman" panose="02020603050405020304" pitchFamily="18" charset="0"/>
              </a:rPr>
              <a:t>kg/mol, </a:t>
            </a:r>
            <a:r>
              <a:rPr lang="en-US" altLang="zh-CN" sz="2600" i="1" dirty="0">
                <a:cs typeface="Times New Roman" panose="02020603050405020304" pitchFamily="18" charset="0"/>
              </a:rPr>
              <a:t>R</a:t>
            </a:r>
            <a:r>
              <a:rPr lang="en-US" altLang="zh-CN" sz="2600" dirty="0">
                <a:cs typeface="Times New Roman" panose="02020603050405020304" pitchFamily="18" charset="0"/>
              </a:rPr>
              <a:t>=8.31J/(</a:t>
            </a:r>
            <a:r>
              <a:rPr lang="en-US" altLang="zh-CN" sz="2600" dirty="0" err="1">
                <a:cs typeface="Times New Roman" panose="02020603050405020304" pitchFamily="18" charset="0"/>
              </a:rPr>
              <a:t>mol</a:t>
            </a:r>
            <a:r>
              <a:rPr lang="en-US" altLang="zh-CN" sz="2600" dirty="0" err="1"/>
              <a:t>·</a:t>
            </a:r>
            <a:r>
              <a:rPr lang="en-US" altLang="zh-CN" sz="2600" dirty="0" err="1">
                <a:cs typeface="Times New Roman" panose="02020603050405020304" pitchFamily="18" charset="0"/>
              </a:rPr>
              <a:t>K</a:t>
            </a:r>
            <a:r>
              <a:rPr lang="en-US" altLang="zh-CN" sz="2600" dirty="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10" name="对象 11">
                <a:extLst>
                  <a:ext uri="{FF2B5EF4-FFF2-40B4-BE49-F238E27FC236}">
                    <a16:creationId xmlns:a16="http://schemas.microsoft.com/office/drawing/2014/main" id="{A65750B4-9454-F3B6-E809-E74902F31E86}"/>
                  </a:ext>
                </a:extLst>
              </p:cNvPr>
              <p:cNvSpPr txBox="1"/>
              <p:nvPr/>
            </p:nvSpPr>
            <p:spPr>
              <a:xfrm>
                <a:off x="5497830" y="4289417"/>
                <a:ext cx="5928996" cy="1003300"/>
              </a:xfrm>
              <a:prstGeom prst="rect">
                <a:avLst/>
              </a:prstGeom>
            </p:spPr>
            <p:txBody>
              <a:bodyPr>
                <a:noAutofit/>
              </a:bodyPr>
              <a:lstStyle/>
              <a:p>
                <a:pPr/>
                <a14:m>
                  <m:oMathPara xmlns:m="http://schemas.openxmlformats.org/officeDocument/2006/math">
                    <m:oMathParaPr>
                      <m:jc m:val="centerGroup"/>
                    </m:oMathParaPr>
                    <m:oMath xmlns:m="http://schemas.openxmlformats.org/officeDocument/2006/math">
                      <m:r>
                        <a:rPr lang="en-US" sz="2600" i="1">
                          <a:solidFill>
                            <a:srgbClr val="000000"/>
                          </a:solidFill>
                          <a:latin typeface="Cambria Math" panose="02040503050406030204" pitchFamily="18" charset="0"/>
                        </a:rPr>
                        <m:t>=</m:t>
                      </m:r>
                      <m:rad>
                        <m:radPr>
                          <m:degHide m:val="on"/>
                          <m:ctrlPr>
                            <a:rPr lang="en-US" sz="2600" i="1">
                              <a:solidFill>
                                <a:srgbClr val="000000"/>
                              </a:solidFill>
                              <a:latin typeface="Cambria Math" panose="02040503050406030204" pitchFamily="18" charset="0"/>
                            </a:rPr>
                          </m:ctrlPr>
                        </m:radPr>
                        <m:deg/>
                        <m:e>
                          <m:f>
                            <m:fPr>
                              <m:ctrlPr>
                                <a:rPr lang="en-US" sz="2600" i="1">
                                  <a:solidFill>
                                    <a:srgbClr val="000000"/>
                                  </a:solidFill>
                                  <a:latin typeface="Cambria Math" panose="02040503050406030204" pitchFamily="18" charset="0"/>
                                </a:rPr>
                              </m:ctrlPr>
                            </m:fPr>
                            <m:num>
                              <m:r>
                                <a:rPr lang="en-US" sz="2600" i="1">
                                  <a:solidFill>
                                    <a:srgbClr val="000000"/>
                                  </a:solidFill>
                                  <a:latin typeface="Cambria Math" panose="02040503050406030204" pitchFamily="18" charset="0"/>
                                </a:rPr>
                                <m:t>1.40×8.31×273</m:t>
                              </m:r>
                            </m:num>
                            <m:den>
                              <m:r>
                                <a:rPr lang="en-US" sz="2600" i="1">
                                  <a:solidFill>
                                    <a:srgbClr val="000000"/>
                                  </a:solidFill>
                                  <a:latin typeface="Cambria Math" panose="02040503050406030204" pitchFamily="18" charset="0"/>
                                </a:rPr>
                                <m:t>29.0×1</m:t>
                              </m:r>
                              <m:sSup>
                                <m:sSupPr>
                                  <m:ctrlPr>
                                    <a:rPr lang="en-US" sz="2600" i="1">
                                      <a:solidFill>
                                        <a:srgbClr val="000000"/>
                                      </a:solidFill>
                                      <a:latin typeface="Cambria Math" panose="02040503050406030204" pitchFamily="18" charset="0"/>
                                    </a:rPr>
                                  </m:ctrlPr>
                                </m:sSupPr>
                                <m:e>
                                  <m:r>
                                    <a:rPr lang="en-US" sz="2600" i="1">
                                      <a:solidFill>
                                        <a:srgbClr val="000000"/>
                                      </a:solidFill>
                                      <a:latin typeface="Cambria Math" panose="02040503050406030204" pitchFamily="18" charset="0"/>
                                    </a:rPr>
                                    <m:t>0</m:t>
                                  </m:r>
                                </m:e>
                                <m:sup>
                                  <m:r>
                                    <a:rPr lang="en-US" sz="2600" i="1">
                                      <a:solidFill>
                                        <a:srgbClr val="000000"/>
                                      </a:solidFill>
                                      <a:latin typeface="Cambria Math" panose="02040503050406030204" pitchFamily="18" charset="0"/>
                                    </a:rPr>
                                    <m:t>−3</m:t>
                                  </m:r>
                                </m:sup>
                              </m:sSup>
                            </m:den>
                          </m:f>
                        </m:e>
                      </m:rad>
                      <m:r>
                        <a:rPr lang="en-US" sz="2600" i="1">
                          <a:solidFill>
                            <a:srgbClr val="000000"/>
                          </a:solidFill>
                          <a:latin typeface="Cambria Math" panose="02040503050406030204" pitchFamily="18" charset="0"/>
                        </a:rPr>
                        <m:t>=331</m:t>
                      </m:r>
                      <m:r>
                        <m:rPr>
                          <m:sty m:val="p"/>
                        </m:rPr>
                        <a:rPr lang="en-US" sz="2600" i="0">
                          <a:solidFill>
                            <a:srgbClr val="000000"/>
                          </a:solidFill>
                          <a:latin typeface="Cambria Math" panose="02040503050406030204" pitchFamily="18" charset="0"/>
                        </a:rPr>
                        <m:t>m</m:t>
                      </m:r>
                      <m:r>
                        <a:rPr lang="en-US" sz="2600" i="1">
                          <a:solidFill>
                            <a:srgbClr val="000000"/>
                          </a:solidFill>
                          <a:latin typeface="Cambria Math" panose="02040503050406030204" pitchFamily="18" charset="0"/>
                        </a:rPr>
                        <m:t>/</m:t>
                      </m:r>
                      <m:r>
                        <m:rPr>
                          <m:sty m:val="p"/>
                        </m:rPr>
                        <a:rPr lang="en-US" sz="2600" i="0">
                          <a:solidFill>
                            <a:srgbClr val="000000"/>
                          </a:solidFill>
                          <a:latin typeface="Cambria Math" panose="02040503050406030204" pitchFamily="18" charset="0"/>
                        </a:rPr>
                        <m:t>s</m:t>
                      </m:r>
                    </m:oMath>
                  </m:oMathPara>
                </a14:m>
                <a:endParaRPr lang="en-US" sz="2600" dirty="0">
                  <a:latin typeface="+mn-ea"/>
                </a:endParaRPr>
              </a:p>
            </p:txBody>
          </p:sp>
        </mc:Choice>
        <mc:Fallback xmlns="">
          <p:sp>
            <p:nvSpPr>
              <p:cNvPr id="10" name="对象 11">
                <a:extLst>
                  <a:ext uri="{FF2B5EF4-FFF2-40B4-BE49-F238E27FC236}">
                    <a16:creationId xmlns:a16="http://schemas.microsoft.com/office/drawing/2014/main" id="{ED9DC014-0A90-B9CD-C5DB-5EC0766A64EA}"/>
                  </a:ext>
                </a:extLst>
              </p:cNvPr>
              <p:cNvSpPr txBox="1">
                <a:spLocks noRot="1" noChangeAspect="1" noMove="1" noResize="1" noEditPoints="1" noAdjustHandles="1" noChangeArrowheads="1" noChangeShapeType="1" noTextEdit="1"/>
              </p:cNvSpPr>
              <p:nvPr/>
            </p:nvSpPr>
            <p:spPr>
              <a:xfrm>
                <a:off x="5497830" y="4289417"/>
                <a:ext cx="5928996" cy="1003300"/>
              </a:xfrm>
              <a:prstGeom prst="rect">
                <a:avLst/>
              </a:prstGeom>
              <a:blipFill>
                <a:blip r:embed="rId8"/>
                <a:stretch>
                  <a:fillRect b="-21951"/>
                </a:stretch>
              </a:blipFill>
            </p:spPr>
            <p:txBody>
              <a:bodyPr/>
              <a:lstStyle/>
              <a:p>
                <a:r>
                  <a:rPr lang="zh-CN" altLang="en-US">
                    <a:noFill/>
                  </a:rPr>
                  <a:t> </a:t>
                </a:r>
              </a:p>
            </p:txBody>
          </p:sp>
        </mc:Fallback>
      </mc:AlternateContent>
      <p:sp>
        <p:nvSpPr>
          <p:cNvPr id="11" name="Rectangle 12">
            <a:extLst>
              <a:ext uri="{FF2B5EF4-FFF2-40B4-BE49-F238E27FC236}">
                <a16:creationId xmlns:a16="http://schemas.microsoft.com/office/drawing/2014/main" id="{2D583082-4BCD-579A-2EB4-A2CDC74874EF}"/>
              </a:ext>
            </a:extLst>
          </p:cNvPr>
          <p:cNvSpPr/>
          <p:nvPr/>
        </p:nvSpPr>
        <p:spPr>
          <a:xfrm>
            <a:off x="7623174" y="5541584"/>
            <a:ext cx="3933826" cy="892552"/>
          </a:xfrm>
          <a:prstGeom prst="rect">
            <a:avLst/>
          </a:prstGeom>
          <a:noFill/>
          <a:ln w="9525">
            <a:noFill/>
          </a:ln>
        </p:spPr>
        <p:txBody>
          <a:bodyPr wrap="square">
            <a:spAutoFit/>
          </a:bodyPr>
          <a:lstStyle/>
          <a:p>
            <a:r>
              <a:rPr lang="zh-CN" altLang="en-US" sz="2600" dirty="0">
                <a:latin typeface="+mn-ea"/>
              </a:rPr>
              <a:t>此结果经实验证实，表明声波传播为绝热过程</a:t>
            </a:r>
          </a:p>
        </p:txBody>
      </p:sp>
      <mc:AlternateContent xmlns:mc="http://schemas.openxmlformats.org/markup-compatibility/2006" xmlns:a14="http://schemas.microsoft.com/office/drawing/2010/main">
        <mc:Choice Requires="a14">
          <p:sp>
            <p:nvSpPr>
              <p:cNvPr id="13" name="Object 10">
                <a:extLst>
                  <a:ext uri="{FF2B5EF4-FFF2-40B4-BE49-F238E27FC236}">
                    <a16:creationId xmlns:a16="http://schemas.microsoft.com/office/drawing/2014/main" id="{40D33CA0-3F37-0015-51BC-0CDBF2FFE104}"/>
                  </a:ext>
                </a:extLst>
              </p:cNvPr>
              <p:cNvSpPr txBox="1"/>
              <p:nvPr/>
            </p:nvSpPr>
            <p:spPr>
              <a:xfrm>
                <a:off x="1022176" y="3245342"/>
                <a:ext cx="2074257" cy="637280"/>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𝑝</m:t>
                      </m:r>
                      <m:sSup>
                        <m:sSupPr>
                          <m:ctrlPr>
                            <a:rPr lang="en-US" sz="2800" i="1">
                              <a:solidFill>
                                <a:srgbClr val="000000"/>
                              </a:solidFill>
                              <a:latin typeface="Cambria Math" panose="02040503050406030204" pitchFamily="18" charset="0"/>
                            </a:rPr>
                          </m:ctrlPr>
                        </m:sSupPr>
                        <m:e>
                          <m:r>
                            <a:rPr lang="en-US" sz="2800" b="0" i="1">
                              <a:solidFill>
                                <a:srgbClr val="000000"/>
                              </a:solidFill>
                              <a:latin typeface="Cambria Math" panose="02040503050406030204" pitchFamily="18" charset="0"/>
                            </a:rPr>
                            <m:t>𝑉</m:t>
                          </m:r>
                        </m:e>
                        <m:sup>
                          <m:r>
                            <a:rPr lang="en-US" sz="2800" b="0" i="1">
                              <a:solidFill>
                                <a:srgbClr val="000000"/>
                              </a:solidFill>
                              <a:latin typeface="Cambria Math" panose="02040503050406030204" pitchFamily="18" charset="0"/>
                            </a:rPr>
                            <m:t>𝛾</m:t>
                          </m:r>
                        </m:sup>
                      </m:sSup>
                      <m:r>
                        <a:rPr lang="en-US" sz="2800" b="0" i="1">
                          <a:solidFill>
                            <a:srgbClr val="000000"/>
                          </a:solidFill>
                          <a:latin typeface="Cambria Math" panose="02040503050406030204" pitchFamily="18" charset="0"/>
                        </a:rPr>
                        <m:t>=</m:t>
                      </m:r>
                    </m:oMath>
                  </m:oMathPara>
                </a14:m>
                <a:endParaRPr lang="en-US" sz="2800" dirty="0"/>
              </a:p>
            </p:txBody>
          </p:sp>
        </mc:Choice>
        <mc:Fallback xmlns="">
          <p:sp>
            <p:nvSpPr>
              <p:cNvPr id="13" name="Object 10">
                <a:extLst>
                  <a:ext uri="{FF2B5EF4-FFF2-40B4-BE49-F238E27FC236}">
                    <a16:creationId xmlns:a16="http://schemas.microsoft.com/office/drawing/2014/main" id="{88A01AD1-190C-48F8-8657-377D8CE1823E}"/>
                  </a:ext>
                </a:extLst>
              </p:cNvPr>
              <p:cNvSpPr txBox="1">
                <a:spLocks noRot="1" noChangeAspect="1" noMove="1" noResize="1" noEditPoints="1" noAdjustHandles="1" noChangeArrowheads="1" noChangeShapeType="1" noTextEdit="1"/>
              </p:cNvSpPr>
              <p:nvPr/>
            </p:nvSpPr>
            <p:spPr>
              <a:xfrm>
                <a:off x="1022176" y="3245342"/>
                <a:ext cx="2074257" cy="637280"/>
              </a:xfrm>
              <a:prstGeom prst="rect">
                <a:avLst/>
              </a:prstGeom>
              <a:blipFill>
                <a:blip r:embed="rId9"/>
                <a:stretch>
                  <a:fillRect/>
                </a:stretch>
              </a:blipFill>
              <a:ln w="38100">
                <a:noFill/>
                <a:miter/>
              </a:ln>
            </p:spPr>
            <p:txBody>
              <a:bodyPr/>
              <a:lstStyle/>
              <a:p>
                <a:r>
                  <a:rPr lang="en-US">
                    <a:noFill/>
                  </a:rPr>
                  <a:t> </a:t>
                </a:r>
              </a:p>
            </p:txBody>
          </p:sp>
        </mc:Fallback>
      </mc:AlternateContent>
      <p:sp>
        <p:nvSpPr>
          <p:cNvPr id="14" name="Rectangle 13">
            <a:extLst>
              <a:ext uri="{FF2B5EF4-FFF2-40B4-BE49-F238E27FC236}">
                <a16:creationId xmlns:a16="http://schemas.microsoft.com/office/drawing/2014/main" id="{88FEDE6C-CB57-8994-4399-B05271C2899C}"/>
              </a:ext>
            </a:extLst>
          </p:cNvPr>
          <p:cNvSpPr/>
          <p:nvPr/>
        </p:nvSpPr>
        <p:spPr>
          <a:xfrm>
            <a:off x="2538096" y="3302552"/>
            <a:ext cx="4106543" cy="523220"/>
          </a:xfrm>
          <a:prstGeom prst="rect">
            <a:avLst/>
          </a:prstGeom>
          <a:noFill/>
          <a:ln w="9525">
            <a:noFill/>
          </a:ln>
        </p:spPr>
        <p:txBody>
          <a:bodyPr wrap="square">
            <a:spAutoFit/>
          </a:bodyPr>
          <a:lstStyle/>
          <a:p>
            <a:pPr>
              <a:spcBef>
                <a:spcPct val="50000"/>
              </a:spcBef>
            </a:pPr>
            <a:r>
              <a:rPr lang="zh-CN" altLang="en-US" sz="2800" dirty="0">
                <a:solidFill>
                  <a:srgbClr val="000000"/>
                </a:solidFill>
                <a:latin typeface="Times New Roman" panose="02020603050405020304" pitchFamily="18" charset="0"/>
              </a:rPr>
              <a:t>常量</a:t>
            </a:r>
          </a:p>
        </p:txBody>
      </p:sp>
      <mc:AlternateContent xmlns:mc="http://schemas.openxmlformats.org/markup-compatibility/2006" xmlns:a14="http://schemas.microsoft.com/office/drawing/2010/main">
        <mc:Choice Requires="a14">
          <p:sp>
            <p:nvSpPr>
              <p:cNvPr id="15" name="Object 5">
                <a:extLst>
                  <a:ext uri="{FF2B5EF4-FFF2-40B4-BE49-F238E27FC236}">
                    <a16:creationId xmlns:a16="http://schemas.microsoft.com/office/drawing/2014/main" id="{1F9E486E-7796-DCFF-2CC8-7F1B23E50266}"/>
                  </a:ext>
                </a:extLst>
              </p:cNvPr>
              <p:cNvSpPr txBox="1"/>
              <p:nvPr/>
            </p:nvSpPr>
            <p:spPr>
              <a:xfrm>
                <a:off x="3680932" y="3068883"/>
                <a:ext cx="2906713" cy="1087438"/>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f>
                        <m:fPr>
                          <m:ctrlPr>
                            <a:rPr lang="en-US" sz="2800" i="1">
                              <a:solidFill>
                                <a:srgbClr val="000000"/>
                              </a:solidFill>
                              <a:latin typeface="Cambria Math" panose="02040503050406030204" pitchFamily="18" charset="0"/>
                            </a:rPr>
                          </m:ctrlPr>
                        </m:fPr>
                        <m:num>
                          <m:r>
                            <m:rPr>
                              <m:sty m:val="p"/>
                            </m:rPr>
                            <a:rPr lang="en-US" sz="2800" b="0" i="0" smtClean="0">
                              <a:solidFill>
                                <a:srgbClr val="000000"/>
                              </a:solidFill>
                              <a:latin typeface="Cambria Math" panose="02040503050406030204" pitchFamily="18" charset="0"/>
                            </a:rPr>
                            <m:t>d</m:t>
                          </m:r>
                          <m:r>
                            <a:rPr lang="en-US" sz="2800" b="0" i="1" smtClean="0">
                              <a:solidFill>
                                <a:srgbClr val="000000"/>
                              </a:solidFill>
                              <a:latin typeface="Cambria Math" panose="02040503050406030204" pitchFamily="18" charset="0"/>
                            </a:rPr>
                            <m:t>𝑝</m:t>
                          </m:r>
                        </m:num>
                        <m:den>
                          <m:r>
                            <m:rPr>
                              <m:sty m:val="p"/>
                            </m:rPr>
                            <a:rPr lang="en-US" sz="2800" b="0" i="0" smtClean="0">
                              <a:solidFill>
                                <a:srgbClr val="000000"/>
                              </a:solidFill>
                              <a:latin typeface="Cambria Math" panose="02040503050406030204" pitchFamily="18" charset="0"/>
                            </a:rPr>
                            <m:t>d</m:t>
                          </m:r>
                          <m:r>
                            <a:rPr lang="en-US" sz="2800" b="0" i="1" smtClean="0">
                              <a:solidFill>
                                <a:srgbClr val="000000"/>
                              </a:solidFill>
                              <a:latin typeface="Cambria Math" panose="02040503050406030204" pitchFamily="18" charset="0"/>
                            </a:rPr>
                            <m:t>𝑉</m:t>
                          </m:r>
                        </m:den>
                      </m:f>
                      <m:r>
                        <a:rPr lang="en-US" sz="2800" b="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𝛾</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𝑝</m:t>
                          </m:r>
                        </m:num>
                        <m:den>
                          <m:r>
                            <a:rPr lang="en-US" sz="2800" i="1">
                              <a:solidFill>
                                <a:srgbClr val="000000"/>
                              </a:solidFill>
                              <a:latin typeface="Cambria Math" panose="02040503050406030204" pitchFamily="18" charset="0"/>
                            </a:rPr>
                            <m:t>𝑉</m:t>
                          </m:r>
                        </m:den>
                      </m:f>
                    </m:oMath>
                  </m:oMathPara>
                </a14:m>
                <a:endParaRPr lang="en-US" sz="2800" dirty="0"/>
              </a:p>
            </p:txBody>
          </p:sp>
        </mc:Choice>
        <mc:Fallback xmlns="">
          <p:sp>
            <p:nvSpPr>
              <p:cNvPr id="15" name="Object 5">
                <a:extLst>
                  <a:ext uri="{FF2B5EF4-FFF2-40B4-BE49-F238E27FC236}">
                    <a16:creationId xmlns:a16="http://schemas.microsoft.com/office/drawing/2014/main" id="{309F6099-373E-42F7-8A9D-1518659B4EA9}"/>
                  </a:ext>
                </a:extLst>
              </p:cNvPr>
              <p:cNvSpPr txBox="1">
                <a:spLocks noRot="1" noChangeAspect="1" noMove="1" noResize="1" noEditPoints="1" noAdjustHandles="1" noChangeArrowheads="1" noChangeShapeType="1" noTextEdit="1"/>
              </p:cNvSpPr>
              <p:nvPr/>
            </p:nvSpPr>
            <p:spPr>
              <a:xfrm>
                <a:off x="3680932" y="3068883"/>
                <a:ext cx="2906713" cy="1087438"/>
              </a:xfrm>
              <a:prstGeom prst="rect">
                <a:avLst/>
              </a:prstGeom>
              <a:blipFill>
                <a:blip r:embed="rId10"/>
                <a:stretch>
                  <a:fillRect/>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2269C49F-57B7-4AB2-3825-3C1692FC77E8}"/>
                  </a:ext>
                </a:extLst>
              </p:cNvPr>
              <p:cNvSpPr/>
              <p:nvPr/>
            </p:nvSpPr>
            <p:spPr>
              <a:xfrm>
                <a:off x="2351830" y="4025987"/>
                <a:ext cx="3146000" cy="492443"/>
              </a:xfrm>
              <a:prstGeom prst="rect">
                <a:avLst/>
              </a:prstGeom>
            </p:spPr>
            <p:txBody>
              <a:bodyPr wrap="square">
                <a:spAutoFit/>
              </a:bodyPr>
              <a:lstStyle/>
              <a:p>
                <a:r>
                  <a:rPr lang="zh-CN" altLang="en-US" sz="2600" dirty="0">
                    <a:solidFill>
                      <a:srgbClr val="000000"/>
                    </a:solidFill>
                    <a:latin typeface="Times New Roman" panose="02020603050405020304" pitchFamily="18" charset="0"/>
                  </a:rPr>
                  <a:t>由 </a:t>
                </a:r>
                <a14:m>
                  <m:oMath xmlns:m="http://schemas.openxmlformats.org/officeDocument/2006/math">
                    <m:r>
                      <a:rPr lang="en-US" sz="2600" i="1">
                        <a:solidFill>
                          <a:srgbClr val="000000"/>
                        </a:solidFill>
                        <a:latin typeface="Cambria Math" panose="02040503050406030204" pitchFamily="18" charset="0"/>
                      </a:rPr>
                      <m:t>𝑝𝑉</m:t>
                    </m:r>
                    <m:r>
                      <a:rPr lang="en-US" sz="2600" i="1">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𝜈</m:t>
                    </m:r>
                    <m:r>
                      <a:rPr lang="en-US" sz="2600" i="1">
                        <a:solidFill>
                          <a:srgbClr val="000000"/>
                        </a:solidFill>
                        <a:latin typeface="Cambria Math" panose="02040503050406030204" pitchFamily="18" charset="0"/>
                      </a:rPr>
                      <m:t>𝑅𝑇</m:t>
                    </m:r>
                  </m:oMath>
                </a14:m>
                <a:endParaRPr lang="en-US" sz="2600" dirty="0"/>
              </a:p>
            </p:txBody>
          </p:sp>
        </mc:Choice>
        <mc:Fallback xmlns="">
          <p:sp>
            <p:nvSpPr>
              <p:cNvPr id="16" name="矩形 15">
                <a:extLst>
                  <a:ext uri="{FF2B5EF4-FFF2-40B4-BE49-F238E27FC236}">
                    <a16:creationId xmlns:a16="http://schemas.microsoft.com/office/drawing/2014/main" id="{2269C49F-57B7-4AB2-3825-3C1692FC77E8}"/>
                  </a:ext>
                </a:extLst>
              </p:cNvPr>
              <p:cNvSpPr>
                <a:spLocks noRot="1" noChangeAspect="1" noMove="1" noResize="1" noEditPoints="1" noAdjustHandles="1" noChangeArrowheads="1" noChangeShapeType="1" noTextEdit="1"/>
              </p:cNvSpPr>
              <p:nvPr/>
            </p:nvSpPr>
            <p:spPr>
              <a:xfrm>
                <a:off x="2351830" y="4025987"/>
                <a:ext cx="3146000" cy="492443"/>
              </a:xfrm>
              <a:prstGeom prst="rect">
                <a:avLst/>
              </a:prstGeom>
              <a:blipFill>
                <a:blip r:embed="rId11"/>
                <a:stretch>
                  <a:fillRect l="-3488" t="-11111" b="-30864"/>
                </a:stretch>
              </a:blipFill>
            </p:spPr>
            <p:txBody>
              <a:bodyPr/>
              <a:lstStyle/>
              <a:p>
                <a:r>
                  <a:rPr lang="zh-CN" altLang="en-US">
                    <a:noFill/>
                  </a:rPr>
                  <a:t> </a:t>
                </a:r>
              </a:p>
            </p:txBody>
          </p:sp>
        </mc:Fallback>
      </mc:AlternateContent>
      <p:sp>
        <p:nvSpPr>
          <p:cNvPr id="17" name="矩形 16">
            <a:extLst>
              <a:ext uri="{FF2B5EF4-FFF2-40B4-BE49-F238E27FC236}">
                <a16:creationId xmlns:a16="http://schemas.microsoft.com/office/drawing/2014/main" id="{776ED0CD-0975-92EA-8F4A-743308F14BAB}"/>
              </a:ext>
            </a:extLst>
          </p:cNvPr>
          <p:cNvSpPr/>
          <p:nvPr/>
        </p:nvSpPr>
        <p:spPr>
          <a:xfrm>
            <a:off x="7576060" y="3553570"/>
            <a:ext cx="851515" cy="492443"/>
          </a:xfrm>
          <a:prstGeom prst="rect">
            <a:avLst/>
          </a:prstGeom>
        </p:spPr>
        <p:txBody>
          <a:bodyPr wrap="none">
            <a:spAutoFit/>
          </a:bodyPr>
          <a:lstStyle/>
          <a:p>
            <a:r>
              <a:rPr lang="zh-CN" altLang="en-US" sz="2600" dirty="0">
                <a:latin typeface="+mn-ea"/>
              </a:rPr>
              <a:t>可得</a:t>
            </a:r>
            <a:endParaRPr lang="en-US" sz="2600" dirty="0"/>
          </a:p>
        </p:txBody>
      </p:sp>
    </p:spTree>
    <p:extLst>
      <p:ext uri="{BB962C8B-B14F-4D97-AF65-F5344CB8AC3E}">
        <p14:creationId xmlns:p14="http://schemas.microsoft.com/office/powerpoint/2010/main" val="2718409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3" grpId="0"/>
      <p:bldP spid="14" grpId="0"/>
      <p:bldP spid="15" grpId="0"/>
      <p:bldP spid="16" grpId="0"/>
      <p:bldP spid="1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E384D-F46C-8847-BB21-C6A06E9036C7}"/>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894B1AAB-9DCA-F46B-F1AC-B79522C08E7A}"/>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800" dirty="0">
                <a:latin typeface="Times New Roman" panose="02020603050405020304" pitchFamily="18" charset="0"/>
              </a:rPr>
              <a:t>一定量的理想气体起始温度为</a:t>
            </a:r>
            <a:r>
              <a:rPr lang="en-US" altLang="zh-CN" sz="2800" dirty="0">
                <a:latin typeface="Times New Roman" panose="02020603050405020304" pitchFamily="18" charset="0"/>
              </a:rPr>
              <a:t>T, </a:t>
            </a:r>
            <a:r>
              <a:rPr lang="zh-CN" altLang="en-US" sz="2800" dirty="0">
                <a:latin typeface="Times New Roman" panose="02020603050405020304" pitchFamily="18" charset="0"/>
              </a:rPr>
              <a:t>体积为</a:t>
            </a:r>
            <a:r>
              <a:rPr lang="en-US" altLang="zh-CN" sz="2800" dirty="0">
                <a:latin typeface="Times New Roman" panose="02020603050405020304" pitchFamily="18" charset="0"/>
              </a:rPr>
              <a:t>V, </a:t>
            </a:r>
            <a:r>
              <a:rPr lang="zh-CN" altLang="en-US" sz="2800" dirty="0">
                <a:latin typeface="Times New Roman" panose="02020603050405020304" pitchFamily="18" charset="0"/>
              </a:rPr>
              <a:t>先经过绝热膨胀到体积</a:t>
            </a:r>
            <a:r>
              <a:rPr lang="en-US" altLang="zh-CN" sz="2800" dirty="0">
                <a:latin typeface="Times New Roman" panose="02020603050405020304" pitchFamily="18" charset="0"/>
              </a:rPr>
              <a:t>2V, </a:t>
            </a:r>
            <a:r>
              <a:rPr lang="zh-CN" altLang="en-US" sz="2800" dirty="0">
                <a:latin typeface="Times New Roman" panose="02020603050405020304" pitchFamily="18" charset="0"/>
              </a:rPr>
              <a:t>再经过等容过程使温度恢复到</a:t>
            </a:r>
            <a:r>
              <a:rPr lang="en-US" altLang="zh-CN" sz="2800" dirty="0">
                <a:latin typeface="Times New Roman" panose="02020603050405020304" pitchFamily="18" charset="0"/>
              </a:rPr>
              <a:t>T, </a:t>
            </a:r>
            <a:r>
              <a:rPr lang="zh-CN" altLang="en-US" sz="2800" dirty="0">
                <a:latin typeface="Times New Roman" panose="02020603050405020304" pitchFamily="18" charset="0"/>
              </a:rPr>
              <a:t>最后在等温压缩过程中体积回到</a:t>
            </a:r>
            <a:r>
              <a:rPr lang="en-US" altLang="zh-CN" sz="2800" dirty="0">
                <a:latin typeface="Times New Roman" panose="02020603050405020304" pitchFamily="18" charset="0"/>
              </a:rPr>
              <a:t>V, </a:t>
            </a:r>
            <a:r>
              <a:rPr lang="zh-CN" altLang="en-US" sz="2800" dirty="0">
                <a:latin typeface="Times New Roman" panose="02020603050405020304" pitchFamily="18" charset="0"/>
              </a:rPr>
              <a:t>则在此过程中</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a:extLst>
              <a:ext uri="{FF2B5EF4-FFF2-40B4-BE49-F238E27FC236}">
                <a16:creationId xmlns:a16="http://schemas.microsoft.com/office/drawing/2014/main" id="{1265E3E5-B315-C7AA-2B6C-814CA7482CAF}"/>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800" dirty="0">
                <a:latin typeface="Times New Roman" panose="02020603050405020304" pitchFamily="18" charset="0"/>
              </a:rPr>
              <a:t>气体向外界放热</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a:extLst>
              <a:ext uri="{FF2B5EF4-FFF2-40B4-BE49-F238E27FC236}">
                <a16:creationId xmlns:a16="http://schemas.microsoft.com/office/drawing/2014/main" id="{24D86B36-10EF-1FAD-F89B-536B174068F7}"/>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zh-CN" altLang="en-US" sz="2800" dirty="0">
                <a:latin typeface="Times New Roman" panose="02020603050405020304" pitchFamily="18" charset="0"/>
              </a:rPr>
              <a:t>气体对外界做功</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a:extLst>
              <a:ext uri="{FF2B5EF4-FFF2-40B4-BE49-F238E27FC236}">
                <a16:creationId xmlns:a16="http://schemas.microsoft.com/office/drawing/2014/main" id="{2BD9DC78-4718-A08F-B077-49A2DA34AC32}"/>
              </a:ext>
            </a:extLst>
          </p:cNvPr>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zh-CN" altLang="en-US" sz="2800" dirty="0">
                <a:latin typeface="Times New Roman" panose="02020603050405020304" pitchFamily="18" charset="0"/>
              </a:rPr>
              <a:t>气体内能增加</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2D0F4697-FAFA-A5B6-586E-7DDE1C1787A1}"/>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zh-CN" altLang="en-US" sz="2800" dirty="0">
                <a:latin typeface="Times New Roman" panose="02020603050405020304" pitchFamily="18" charset="0"/>
              </a:rPr>
              <a:t>气体内能减小</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a:extLst>
              <a:ext uri="{FF2B5EF4-FFF2-40B4-BE49-F238E27FC236}">
                <a16:creationId xmlns:a16="http://schemas.microsoft.com/office/drawing/2014/main" id="{9C0C3861-62D6-EF7E-400A-2E86E0DE7313}"/>
              </a:ext>
            </a:extLst>
          </p:cNvPr>
          <p:cNvSpPr>
            <a:spLocks noChangeAspect="1"/>
          </p:cNvSpPr>
          <p:nvPr>
            <p:custDataLst>
              <p:tags r:id="rId7"/>
            </p:custDataLst>
          </p:nvPr>
        </p:nvSpPr>
        <p:spPr>
          <a:xfrm>
            <a:off x="1571625" y="28503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0D550604-78C0-26C4-F32B-F711F14890EC}"/>
              </a:ext>
            </a:extLst>
          </p:cNvPr>
          <p:cNvSpPr>
            <a:spLocks noChangeAspect="1"/>
          </p:cNvSpPr>
          <p:nvPr>
            <p:custDataLst>
              <p:tags r:id="rId8"/>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46DD82AA-C40E-DD5C-0135-6199033A434C}"/>
              </a:ext>
            </a:extLst>
          </p:cNvPr>
          <p:cNvSpPr>
            <a:spLocks noChangeAspect="1"/>
          </p:cNvSpPr>
          <p:nvPr>
            <p:custDataLst>
              <p:tags r:id="rId9"/>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788AC2A1-273E-FFE4-0921-51C08F3B63E7}"/>
              </a:ext>
            </a:extLst>
          </p:cNvPr>
          <p:cNvSpPr>
            <a:spLocks noChangeAspect="1"/>
          </p:cNvSpPr>
          <p:nvPr>
            <p:custDataLst>
              <p:tags r:id="rId10"/>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87C4DAF0-5B3B-E0C5-9784-C330BC3D8CD5}"/>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a:extLst>
              <a:ext uri="{FF2B5EF4-FFF2-40B4-BE49-F238E27FC236}">
                <a16:creationId xmlns:a16="http://schemas.microsoft.com/office/drawing/2014/main" id="{428169A5-A0C9-8C2F-6E74-6EE23973522E}"/>
              </a:ext>
            </a:extLst>
          </p:cNvPr>
          <p:cNvGrpSpPr/>
          <p:nvPr>
            <p:custDataLst>
              <p:tags r:id="rId12"/>
            </p:custDataLst>
          </p:nvPr>
        </p:nvGrpSpPr>
        <p:grpSpPr>
          <a:xfrm>
            <a:off x="0" y="0"/>
            <a:ext cx="12192000" cy="635000"/>
            <a:chOff x="0" y="0"/>
            <a:chExt cx="12192000" cy="635000"/>
          </a:xfrm>
        </p:grpSpPr>
        <p:sp>
          <p:nvSpPr>
            <p:cNvPr id="14" name="TitleBackground">
              <a:extLst>
                <a:ext uri="{FF2B5EF4-FFF2-40B4-BE49-F238E27FC236}">
                  <a16:creationId xmlns:a16="http://schemas.microsoft.com/office/drawing/2014/main" id="{50969F22-3D49-7017-08D0-8B5DDEAABC48}"/>
                </a:ext>
              </a:extLst>
            </p:cNvPr>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FA5071E9-77F1-4715-C033-E77777DDCE77}"/>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AE6EDE68-E7CF-440C-AFE2-C6B8C28565A0}"/>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a:extLst>
                <a:ext uri="{FF2B5EF4-FFF2-40B4-BE49-F238E27FC236}">
                  <a16:creationId xmlns:a16="http://schemas.microsoft.com/office/drawing/2014/main" id="{F35AA7E3-DF9E-DE5D-B019-D5E3B9A37294}"/>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80992BBA-A2FA-6D22-6839-5CD68A79F952}"/>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2835278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3">
            <a:hlinkClick r:id="" action="ppaction://noaction"/>
            <a:extLst>
              <a:ext uri="{FF2B5EF4-FFF2-40B4-BE49-F238E27FC236}">
                <a16:creationId xmlns:a16="http://schemas.microsoft.com/office/drawing/2014/main" id="{98AE2C39-077D-160E-3DE3-A259B478E4D4}"/>
              </a:ext>
            </a:extLst>
          </p:cNvPr>
          <p:cNvSpPr txBox="1">
            <a:spLocks noChangeArrowheads="1"/>
          </p:cNvSpPr>
          <p:nvPr/>
        </p:nvSpPr>
        <p:spPr bwMode="auto">
          <a:xfrm>
            <a:off x="617888" y="32923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绝热自由膨胀</a:t>
            </a:r>
          </a:p>
        </p:txBody>
      </p:sp>
      <p:grpSp>
        <p:nvGrpSpPr>
          <p:cNvPr id="3" name="Group 9">
            <a:extLst>
              <a:ext uri="{FF2B5EF4-FFF2-40B4-BE49-F238E27FC236}">
                <a16:creationId xmlns:a16="http://schemas.microsoft.com/office/drawing/2014/main" id="{F089FC52-BC5A-DDC0-5D29-3112CA7E74FF}"/>
              </a:ext>
            </a:extLst>
          </p:cNvPr>
          <p:cNvGrpSpPr/>
          <p:nvPr/>
        </p:nvGrpSpPr>
        <p:grpSpPr>
          <a:xfrm>
            <a:off x="5020310" y="1413951"/>
            <a:ext cx="3048000" cy="1654175"/>
            <a:chOff x="2592" y="864"/>
            <a:chExt cx="1920" cy="1042"/>
          </a:xfrm>
        </p:grpSpPr>
        <mc:AlternateContent xmlns:mc="http://schemas.openxmlformats.org/markup-compatibility/2006" xmlns:a14="http://schemas.microsoft.com/office/drawing/2010/main">
          <mc:Choice Requires="a14">
            <p:sp>
              <p:nvSpPr>
                <p:cNvPr id="4" name="Object 10">
                  <a:extLst>
                    <a:ext uri="{FF2B5EF4-FFF2-40B4-BE49-F238E27FC236}">
                      <a16:creationId xmlns:a16="http://schemas.microsoft.com/office/drawing/2014/main" id="{E169645C-5779-1081-8E6A-9900E91CB2C3}"/>
                    </a:ext>
                  </a:extLst>
                </p:cNvPr>
                <p:cNvSpPr txBox="1"/>
                <p:nvPr/>
              </p:nvSpPr>
              <p:spPr>
                <a:xfrm>
                  <a:off x="3067" y="1576"/>
                  <a:ext cx="1445" cy="330"/>
                </a:xfrm>
                <a:prstGeom prst="rect">
                  <a:avLst/>
                </a:prstGeom>
                <a:noFill/>
                <a:ln w="38100">
                  <a:noFill/>
                  <a:miter/>
                </a:ln>
              </p:spPr>
              <p:txBody>
                <a:bodyPr>
                  <a:normAutofit fontScale="92500"/>
                </a:bodyPr>
                <a:lstStyle/>
                <a:p>
                  <a:pPr/>
                  <a14:m>
                    <m:oMathPara xmlns:m="http://schemas.openxmlformats.org/officeDocument/2006/math">
                      <m:oMathParaPr>
                        <m:jc m:val="centerGroup"/>
                      </m:oMathParaPr>
                      <m:oMath xmlns:m="http://schemas.openxmlformats.org/officeDocument/2006/math">
                        <m:r>
                          <a:rPr lang="en-US" sz="2600" b="0" i="1">
                            <a:solidFill>
                              <a:srgbClr val="000000"/>
                            </a:solidFill>
                            <a:latin typeface="Cambria Math" panose="02040503050406030204" pitchFamily="18" charset="0"/>
                          </a:rPr>
                          <m:t>(</m:t>
                        </m:r>
                        <m:sSub>
                          <m:sSubPr>
                            <m:ctrlPr>
                              <a:rPr lang="en-US" sz="2600" i="1">
                                <a:solidFill>
                                  <a:srgbClr val="000000"/>
                                </a:solidFill>
                                <a:latin typeface="Cambria Math" panose="02040503050406030204" pitchFamily="18" charset="0"/>
                              </a:rPr>
                            </m:ctrlPr>
                          </m:sSubPr>
                          <m:e>
                            <m:r>
                              <a:rPr lang="en-US" sz="2600" b="0" i="1">
                                <a:solidFill>
                                  <a:srgbClr val="000000"/>
                                </a:solidFill>
                                <a:latin typeface="Cambria Math" panose="02040503050406030204" pitchFamily="18" charset="0"/>
                              </a:rPr>
                              <m:t>𝑝</m:t>
                            </m:r>
                          </m:e>
                          <m:sub>
                            <m:r>
                              <a:rPr lang="en-US" sz="2600" b="0" i="1">
                                <a:solidFill>
                                  <a:srgbClr val="000000"/>
                                </a:solidFill>
                                <a:latin typeface="Cambria Math" panose="02040503050406030204" pitchFamily="18" charset="0"/>
                              </a:rPr>
                              <m:t>2</m:t>
                            </m:r>
                          </m:sub>
                        </m:sSub>
                        <m:r>
                          <a:rPr lang="en-US" sz="2600" b="0" i="1">
                            <a:solidFill>
                              <a:srgbClr val="000000"/>
                            </a:solidFill>
                            <a:latin typeface="Cambria Math" panose="02040503050406030204" pitchFamily="18" charset="0"/>
                          </a:rPr>
                          <m:t>,</m:t>
                        </m:r>
                        <m:sSub>
                          <m:sSubPr>
                            <m:ctrlPr>
                              <a:rPr lang="en-US" sz="2600" i="1">
                                <a:solidFill>
                                  <a:srgbClr val="000000"/>
                                </a:solidFill>
                                <a:latin typeface="Cambria Math" panose="02040503050406030204" pitchFamily="18" charset="0"/>
                              </a:rPr>
                            </m:ctrlPr>
                          </m:sSubPr>
                          <m:e>
                            <m:r>
                              <a:rPr lang="en-US" sz="2600" b="0" i="1">
                                <a:solidFill>
                                  <a:srgbClr val="000000"/>
                                </a:solidFill>
                                <a:latin typeface="Cambria Math" panose="02040503050406030204" pitchFamily="18" charset="0"/>
                              </a:rPr>
                              <m:t>𝑉</m:t>
                            </m:r>
                          </m:e>
                          <m:sub>
                            <m:r>
                              <a:rPr lang="en-US" sz="2600" b="0" i="1">
                                <a:solidFill>
                                  <a:srgbClr val="000000"/>
                                </a:solidFill>
                                <a:latin typeface="Cambria Math" panose="02040503050406030204" pitchFamily="18" charset="0"/>
                              </a:rPr>
                              <m:t>2</m:t>
                            </m:r>
                          </m:sub>
                        </m:sSub>
                        <m:r>
                          <a:rPr lang="en-US" sz="2600" b="0" i="1">
                            <a:solidFill>
                              <a:srgbClr val="000000"/>
                            </a:solidFill>
                            <a:latin typeface="Cambria Math" panose="02040503050406030204" pitchFamily="18" charset="0"/>
                          </a:rPr>
                          <m:t>,</m:t>
                        </m:r>
                        <m:sSub>
                          <m:sSubPr>
                            <m:ctrlPr>
                              <a:rPr lang="en-US" sz="2600" i="1">
                                <a:solidFill>
                                  <a:srgbClr val="000000"/>
                                </a:solidFill>
                                <a:latin typeface="Cambria Math" panose="02040503050406030204" pitchFamily="18" charset="0"/>
                              </a:rPr>
                            </m:ctrlPr>
                          </m:sSubPr>
                          <m:e>
                            <m:r>
                              <a:rPr lang="en-US" sz="2600" b="0" i="1">
                                <a:solidFill>
                                  <a:srgbClr val="000000"/>
                                </a:solidFill>
                                <a:latin typeface="Cambria Math" panose="02040503050406030204" pitchFamily="18" charset="0"/>
                              </a:rPr>
                              <m:t>𝑇</m:t>
                            </m:r>
                          </m:e>
                          <m:sub>
                            <m:r>
                              <a:rPr lang="en-US" sz="2600" b="0" i="1">
                                <a:solidFill>
                                  <a:srgbClr val="000000"/>
                                </a:solidFill>
                                <a:latin typeface="Cambria Math" panose="02040503050406030204" pitchFamily="18" charset="0"/>
                              </a:rPr>
                              <m:t>2</m:t>
                            </m:r>
                          </m:sub>
                        </m:sSub>
                        <m:r>
                          <a:rPr lang="en-US" sz="2600" b="0" i="1">
                            <a:solidFill>
                              <a:srgbClr val="000000"/>
                            </a:solidFill>
                            <a:latin typeface="Cambria Math" panose="02040503050406030204" pitchFamily="18" charset="0"/>
                          </a:rPr>
                          <m:t>=</m:t>
                        </m:r>
                        <m:r>
                          <a:rPr lang="en-US" sz="2600" b="0" i="1">
                            <a:solidFill>
                              <a:srgbClr val="000000"/>
                            </a:solidFill>
                            <a:latin typeface="Cambria Math" panose="02040503050406030204" pitchFamily="18" charset="0"/>
                          </a:rPr>
                          <m:t>？</m:t>
                        </m:r>
                        <m:r>
                          <a:rPr lang="en-US" sz="2600" b="0" i="1">
                            <a:solidFill>
                              <a:srgbClr val="000000"/>
                            </a:solidFill>
                            <a:latin typeface="Cambria Math" panose="02040503050406030204" pitchFamily="18" charset="0"/>
                          </a:rPr>
                          <m:t>)</m:t>
                        </m:r>
                      </m:oMath>
                    </m:oMathPara>
                  </a14:m>
                  <a:endParaRPr lang="en-US" sz="2600" dirty="0"/>
                </a:p>
              </p:txBody>
            </p:sp>
          </mc:Choice>
          <mc:Fallback xmlns="">
            <p:sp>
              <p:nvSpPr>
                <p:cNvPr id="4" name="Object 10">
                  <a:extLst>
                    <a:ext uri="{FF2B5EF4-FFF2-40B4-BE49-F238E27FC236}">
                      <a16:creationId xmlns:a16="http://schemas.microsoft.com/office/drawing/2014/main" id="{E169645C-5779-1081-8E6A-9900E91CB2C3}"/>
                    </a:ext>
                  </a:extLst>
                </p:cNvPr>
                <p:cNvSpPr txBox="1">
                  <a:spLocks noRot="1" noChangeAspect="1" noMove="1" noResize="1" noEditPoints="1" noAdjustHandles="1" noChangeArrowheads="1" noChangeShapeType="1" noTextEdit="1"/>
                </p:cNvSpPr>
                <p:nvPr/>
              </p:nvSpPr>
              <p:spPr>
                <a:xfrm>
                  <a:off x="3067" y="1576"/>
                  <a:ext cx="1445" cy="330"/>
                </a:xfrm>
                <a:prstGeom prst="rect">
                  <a:avLst/>
                </a:prstGeom>
                <a:blipFill>
                  <a:blip r:embed="rId2"/>
                  <a:stretch>
                    <a:fillRect l="-1061" r="-1061" b="-4651"/>
                  </a:stretch>
                </a:blipFill>
                <a:ln w="38100">
                  <a:noFill/>
                  <a:miter/>
                </a:ln>
              </p:spPr>
              <p:txBody>
                <a:bodyPr/>
                <a:lstStyle/>
                <a:p>
                  <a:r>
                    <a:rPr lang="zh-CN" altLang="en-US">
                      <a:noFill/>
                    </a:rPr>
                    <a:t> </a:t>
                  </a:r>
                </a:p>
              </p:txBody>
            </p:sp>
          </mc:Fallback>
        </mc:AlternateContent>
        <p:grpSp>
          <p:nvGrpSpPr>
            <p:cNvPr id="5" name="Group 11">
              <a:extLst>
                <a:ext uri="{FF2B5EF4-FFF2-40B4-BE49-F238E27FC236}">
                  <a16:creationId xmlns:a16="http://schemas.microsoft.com/office/drawing/2014/main" id="{A3587664-5B51-816F-74F8-976B5516AFA5}"/>
                </a:ext>
              </a:extLst>
            </p:cNvPr>
            <p:cNvGrpSpPr/>
            <p:nvPr/>
          </p:nvGrpSpPr>
          <p:grpSpPr>
            <a:xfrm>
              <a:off x="2592" y="864"/>
              <a:ext cx="1920" cy="655"/>
              <a:chOff x="2496" y="864"/>
              <a:chExt cx="2160" cy="720"/>
            </a:xfrm>
          </p:grpSpPr>
          <p:sp>
            <p:nvSpPr>
              <p:cNvPr id="6" name="AutoShape 12">
                <a:extLst>
                  <a:ext uri="{FF2B5EF4-FFF2-40B4-BE49-F238E27FC236}">
                    <a16:creationId xmlns:a16="http://schemas.microsoft.com/office/drawing/2014/main" id="{3F1DE0EC-9E9E-2DF2-B243-284471F37CF2}"/>
                  </a:ext>
                </a:extLst>
              </p:cNvPr>
              <p:cNvSpPr/>
              <p:nvPr/>
            </p:nvSpPr>
            <p:spPr>
              <a:xfrm>
                <a:off x="2496" y="1104"/>
                <a:ext cx="576" cy="144"/>
              </a:xfrm>
              <a:prstGeom prst="rightArrow">
                <a:avLst>
                  <a:gd name="adj1" fmla="val 40277"/>
                  <a:gd name="adj2" fmla="val 131814"/>
                </a:avLst>
              </a:prstGeom>
              <a:gradFill rotWithShape="0">
                <a:gsLst>
                  <a:gs pos="0">
                    <a:srgbClr val="765E76"/>
                  </a:gs>
                  <a:gs pos="50000">
                    <a:srgbClr val="FFCCFF"/>
                  </a:gs>
                  <a:gs pos="100000">
                    <a:srgbClr val="765E76"/>
                  </a:gs>
                </a:gsLst>
                <a:lin ang="5400000" scaled="1"/>
                <a:tileRect/>
              </a:gradFill>
              <a:ln w="28575" cap="flat" cmpd="sng">
                <a:solidFill>
                  <a:srgbClr val="CC00CC"/>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grpSp>
            <p:nvGrpSpPr>
              <p:cNvPr id="7" name="Group 13">
                <a:extLst>
                  <a:ext uri="{FF2B5EF4-FFF2-40B4-BE49-F238E27FC236}">
                    <a16:creationId xmlns:a16="http://schemas.microsoft.com/office/drawing/2014/main" id="{D865485C-AF97-0BD3-3177-EA60540ED251}"/>
                  </a:ext>
                </a:extLst>
              </p:cNvPr>
              <p:cNvGrpSpPr/>
              <p:nvPr/>
            </p:nvGrpSpPr>
            <p:grpSpPr>
              <a:xfrm>
                <a:off x="3168" y="864"/>
                <a:ext cx="1488" cy="720"/>
                <a:chOff x="2976" y="816"/>
                <a:chExt cx="1488" cy="720"/>
              </a:xfrm>
            </p:grpSpPr>
            <p:sp>
              <p:nvSpPr>
                <p:cNvPr id="8" name="AutoShape 14">
                  <a:extLst>
                    <a:ext uri="{FF2B5EF4-FFF2-40B4-BE49-F238E27FC236}">
                      <a16:creationId xmlns:a16="http://schemas.microsoft.com/office/drawing/2014/main" id="{9AD58716-7447-9232-E9C4-1441C7BB9AC8}"/>
                    </a:ext>
                  </a:extLst>
                </p:cNvPr>
                <p:cNvSpPr/>
                <p:nvPr/>
              </p:nvSpPr>
              <p:spPr>
                <a:xfrm>
                  <a:off x="2976" y="816"/>
                  <a:ext cx="1488" cy="720"/>
                </a:xfrm>
                <a:prstGeom prst="bevel">
                  <a:avLst>
                    <a:gd name="adj" fmla="val 12500"/>
                  </a:avLst>
                </a:prstGeom>
                <a:solidFill>
                  <a:srgbClr val="996633"/>
                </a:solidFill>
                <a:ln w="9525" cap="flat" cmpd="sng">
                  <a:solidFill>
                    <a:schemeClr val="tx1"/>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sp>
              <p:nvSpPr>
                <p:cNvPr id="9" name="Rectangle 15" descr="10%">
                  <a:extLst>
                    <a:ext uri="{FF2B5EF4-FFF2-40B4-BE49-F238E27FC236}">
                      <a16:creationId xmlns:a16="http://schemas.microsoft.com/office/drawing/2014/main" id="{F58CF25D-F379-B25D-B4EE-5F9DC019F440}"/>
                    </a:ext>
                  </a:extLst>
                </p:cNvPr>
                <p:cNvSpPr/>
                <p:nvPr/>
              </p:nvSpPr>
              <p:spPr>
                <a:xfrm>
                  <a:off x="3072" y="912"/>
                  <a:ext cx="1296" cy="528"/>
                </a:xfrm>
                <a:prstGeom prst="rect">
                  <a:avLst/>
                </a:prstGeom>
                <a:pattFill prst="pct10">
                  <a:fgClr>
                    <a:schemeClr val="tx1"/>
                  </a:fgClr>
                  <a:bgClr>
                    <a:srgbClr val="FFFFFF"/>
                  </a:bgClr>
                </a:pattFill>
                <a:ln w="9525" cap="flat" cmpd="sng">
                  <a:solidFill>
                    <a:schemeClr val="tx1"/>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grpSp>
        </p:grpSp>
      </p:grpSp>
      <p:grpSp>
        <p:nvGrpSpPr>
          <p:cNvPr id="10" name="Group 16">
            <a:extLst>
              <a:ext uri="{FF2B5EF4-FFF2-40B4-BE49-F238E27FC236}">
                <a16:creationId xmlns:a16="http://schemas.microsoft.com/office/drawing/2014/main" id="{5ACCBED2-7B36-30C1-302B-87DEF4DF525D}"/>
              </a:ext>
            </a:extLst>
          </p:cNvPr>
          <p:cNvGrpSpPr/>
          <p:nvPr/>
        </p:nvGrpSpPr>
        <p:grpSpPr>
          <a:xfrm>
            <a:off x="2734310" y="1261551"/>
            <a:ext cx="2133600" cy="1806575"/>
            <a:chOff x="1152" y="768"/>
            <a:chExt cx="1344" cy="1138"/>
          </a:xfrm>
        </p:grpSpPr>
        <mc:AlternateContent xmlns:mc="http://schemas.openxmlformats.org/markup-compatibility/2006" xmlns:a14="http://schemas.microsoft.com/office/drawing/2010/main">
          <mc:Choice Requires="a14">
            <p:sp>
              <p:nvSpPr>
                <p:cNvPr id="11" name="Object 17">
                  <a:extLst>
                    <a:ext uri="{FF2B5EF4-FFF2-40B4-BE49-F238E27FC236}">
                      <a16:creationId xmlns:a16="http://schemas.microsoft.com/office/drawing/2014/main" id="{5202609E-54D7-A56A-8658-57CF07C112C1}"/>
                    </a:ext>
                  </a:extLst>
                </p:cNvPr>
                <p:cNvSpPr txBox="1"/>
                <p:nvPr/>
              </p:nvSpPr>
              <p:spPr>
                <a:xfrm>
                  <a:off x="1439" y="1566"/>
                  <a:ext cx="866" cy="340"/>
                </a:xfrm>
                <a:prstGeom prst="rect">
                  <a:avLst/>
                </a:prstGeom>
                <a:noFill/>
                <a:ln w="38100">
                  <a:noFill/>
                  <a:miter/>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en-US" sz="2600" b="0" i="1">
                            <a:solidFill>
                              <a:srgbClr val="000000"/>
                            </a:solidFill>
                            <a:latin typeface="Cambria Math" panose="02040503050406030204" pitchFamily="18" charset="0"/>
                          </a:rPr>
                          <m:t>(</m:t>
                        </m:r>
                        <m:sSub>
                          <m:sSubPr>
                            <m:ctrlPr>
                              <a:rPr lang="en-US" sz="2600" i="1">
                                <a:solidFill>
                                  <a:srgbClr val="000000"/>
                                </a:solidFill>
                                <a:latin typeface="Cambria Math" panose="02040503050406030204" pitchFamily="18" charset="0"/>
                              </a:rPr>
                            </m:ctrlPr>
                          </m:sSubPr>
                          <m:e>
                            <m:r>
                              <a:rPr lang="en-US" sz="2600" b="0" i="1">
                                <a:solidFill>
                                  <a:srgbClr val="000000"/>
                                </a:solidFill>
                                <a:latin typeface="Cambria Math" panose="02040503050406030204" pitchFamily="18" charset="0"/>
                              </a:rPr>
                              <m:t>𝑝</m:t>
                            </m:r>
                          </m:e>
                          <m:sub>
                            <m:r>
                              <a:rPr lang="en-US" sz="2600" b="0" i="1">
                                <a:solidFill>
                                  <a:srgbClr val="000000"/>
                                </a:solidFill>
                                <a:latin typeface="Cambria Math" panose="02040503050406030204" pitchFamily="18" charset="0"/>
                              </a:rPr>
                              <m:t>1</m:t>
                            </m:r>
                          </m:sub>
                        </m:sSub>
                        <m:r>
                          <a:rPr lang="en-US" sz="2600" b="0" i="1">
                            <a:solidFill>
                              <a:srgbClr val="000000"/>
                            </a:solidFill>
                            <a:latin typeface="Cambria Math" panose="02040503050406030204" pitchFamily="18" charset="0"/>
                          </a:rPr>
                          <m:t>,</m:t>
                        </m:r>
                        <m:sSub>
                          <m:sSubPr>
                            <m:ctrlPr>
                              <a:rPr lang="en-US" sz="2600" i="1">
                                <a:solidFill>
                                  <a:srgbClr val="000000"/>
                                </a:solidFill>
                                <a:latin typeface="Cambria Math" panose="02040503050406030204" pitchFamily="18" charset="0"/>
                              </a:rPr>
                            </m:ctrlPr>
                          </m:sSubPr>
                          <m:e>
                            <m:r>
                              <a:rPr lang="en-US" sz="2600" b="0" i="1">
                                <a:solidFill>
                                  <a:srgbClr val="000000"/>
                                </a:solidFill>
                                <a:latin typeface="Cambria Math" panose="02040503050406030204" pitchFamily="18" charset="0"/>
                              </a:rPr>
                              <m:t>𝑉</m:t>
                            </m:r>
                          </m:e>
                          <m:sub>
                            <m:r>
                              <a:rPr lang="en-US" sz="2600" b="0" i="1">
                                <a:solidFill>
                                  <a:srgbClr val="000000"/>
                                </a:solidFill>
                                <a:latin typeface="Cambria Math" panose="02040503050406030204" pitchFamily="18" charset="0"/>
                              </a:rPr>
                              <m:t>1</m:t>
                            </m:r>
                          </m:sub>
                        </m:sSub>
                        <m:r>
                          <a:rPr lang="en-US" sz="2600" b="0" i="1">
                            <a:solidFill>
                              <a:srgbClr val="000000"/>
                            </a:solidFill>
                            <a:latin typeface="Cambria Math" panose="02040503050406030204" pitchFamily="18" charset="0"/>
                          </a:rPr>
                          <m:t>,</m:t>
                        </m:r>
                        <m:sSub>
                          <m:sSubPr>
                            <m:ctrlPr>
                              <a:rPr lang="en-US" sz="2600" i="1">
                                <a:solidFill>
                                  <a:srgbClr val="000000"/>
                                </a:solidFill>
                                <a:latin typeface="Cambria Math" panose="02040503050406030204" pitchFamily="18" charset="0"/>
                              </a:rPr>
                            </m:ctrlPr>
                          </m:sSubPr>
                          <m:e>
                            <m:r>
                              <a:rPr lang="en-US" sz="2600" b="0" i="1">
                                <a:solidFill>
                                  <a:srgbClr val="000000"/>
                                </a:solidFill>
                                <a:latin typeface="Cambria Math" panose="02040503050406030204" pitchFamily="18" charset="0"/>
                              </a:rPr>
                              <m:t>𝑇</m:t>
                            </m:r>
                          </m:e>
                          <m:sub>
                            <m:r>
                              <a:rPr lang="en-US" sz="2600" b="0" i="1">
                                <a:solidFill>
                                  <a:srgbClr val="000000"/>
                                </a:solidFill>
                                <a:latin typeface="Cambria Math" panose="02040503050406030204" pitchFamily="18" charset="0"/>
                              </a:rPr>
                              <m:t>1</m:t>
                            </m:r>
                          </m:sub>
                        </m:sSub>
                        <m:r>
                          <a:rPr lang="en-US" sz="2600" b="0" i="1">
                            <a:solidFill>
                              <a:srgbClr val="000000"/>
                            </a:solidFill>
                            <a:latin typeface="Cambria Math" panose="02040503050406030204" pitchFamily="18" charset="0"/>
                          </a:rPr>
                          <m:t>)</m:t>
                        </m:r>
                      </m:oMath>
                    </m:oMathPara>
                  </a14:m>
                  <a:endParaRPr lang="en-US" sz="2600" dirty="0"/>
                </a:p>
              </p:txBody>
            </p:sp>
          </mc:Choice>
          <mc:Fallback xmlns="">
            <p:sp>
              <p:nvSpPr>
                <p:cNvPr id="11" name="Object 17">
                  <a:extLst>
                    <a:ext uri="{FF2B5EF4-FFF2-40B4-BE49-F238E27FC236}">
                      <a16:creationId xmlns:a16="http://schemas.microsoft.com/office/drawing/2014/main" id="{5202609E-54D7-A56A-8658-57CF07C112C1}"/>
                    </a:ext>
                  </a:extLst>
                </p:cNvPr>
                <p:cNvSpPr txBox="1">
                  <a:spLocks noRot="1" noChangeAspect="1" noMove="1" noResize="1" noEditPoints="1" noAdjustHandles="1" noChangeArrowheads="1" noChangeShapeType="1" noTextEdit="1"/>
                </p:cNvSpPr>
                <p:nvPr/>
              </p:nvSpPr>
              <p:spPr>
                <a:xfrm>
                  <a:off x="1439" y="1566"/>
                  <a:ext cx="866" cy="340"/>
                </a:xfrm>
                <a:prstGeom prst="rect">
                  <a:avLst/>
                </a:prstGeom>
                <a:blipFill>
                  <a:blip r:embed="rId3"/>
                  <a:stretch>
                    <a:fillRect l="-2655" r="-5752"/>
                  </a:stretch>
                </a:blipFill>
                <a:ln w="38100">
                  <a:noFill/>
                  <a:miter/>
                </a:ln>
              </p:spPr>
              <p:txBody>
                <a:bodyPr/>
                <a:lstStyle/>
                <a:p>
                  <a:r>
                    <a:rPr lang="zh-CN" altLang="en-US">
                      <a:noFill/>
                    </a:rPr>
                    <a:t> </a:t>
                  </a:r>
                </a:p>
              </p:txBody>
            </p:sp>
          </mc:Fallback>
        </mc:AlternateContent>
        <p:grpSp>
          <p:nvGrpSpPr>
            <p:cNvPr id="12" name="Group 18">
              <a:extLst>
                <a:ext uri="{FF2B5EF4-FFF2-40B4-BE49-F238E27FC236}">
                  <a16:creationId xmlns:a16="http://schemas.microsoft.com/office/drawing/2014/main" id="{44AE12D2-7FCB-E6F0-911A-B52C6717E279}"/>
                </a:ext>
              </a:extLst>
            </p:cNvPr>
            <p:cNvGrpSpPr/>
            <p:nvPr/>
          </p:nvGrpSpPr>
          <p:grpSpPr>
            <a:xfrm>
              <a:off x="1152" y="856"/>
              <a:ext cx="1344" cy="663"/>
              <a:chOff x="1632" y="816"/>
              <a:chExt cx="1488" cy="720"/>
            </a:xfrm>
          </p:grpSpPr>
          <p:sp>
            <p:nvSpPr>
              <p:cNvPr id="16" name="AutoShape 19">
                <a:extLst>
                  <a:ext uri="{FF2B5EF4-FFF2-40B4-BE49-F238E27FC236}">
                    <a16:creationId xmlns:a16="http://schemas.microsoft.com/office/drawing/2014/main" id="{CE5B1465-BB13-904E-95DD-4F81D69849BB}"/>
                  </a:ext>
                </a:extLst>
              </p:cNvPr>
              <p:cNvSpPr/>
              <p:nvPr/>
            </p:nvSpPr>
            <p:spPr>
              <a:xfrm>
                <a:off x="1632" y="816"/>
                <a:ext cx="1488" cy="720"/>
              </a:xfrm>
              <a:prstGeom prst="bevel">
                <a:avLst>
                  <a:gd name="adj" fmla="val 12500"/>
                </a:avLst>
              </a:prstGeom>
              <a:solidFill>
                <a:srgbClr val="996633"/>
              </a:solidFill>
              <a:ln w="9525" cap="flat" cmpd="sng">
                <a:solidFill>
                  <a:schemeClr val="tx1"/>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sp>
            <p:nvSpPr>
              <p:cNvPr id="17" name="Rectangle 20">
                <a:extLst>
                  <a:ext uri="{FF2B5EF4-FFF2-40B4-BE49-F238E27FC236}">
                    <a16:creationId xmlns:a16="http://schemas.microsoft.com/office/drawing/2014/main" id="{639D3E83-5750-83B8-1640-E0DC219B3A22}"/>
                  </a:ext>
                </a:extLst>
              </p:cNvPr>
              <p:cNvSpPr/>
              <p:nvPr/>
            </p:nvSpPr>
            <p:spPr>
              <a:xfrm>
                <a:off x="1728" y="912"/>
                <a:ext cx="1296" cy="52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grpSp>
        <p:sp>
          <p:nvSpPr>
            <p:cNvPr id="13" name="Rectangle 21" descr="20%">
              <a:extLst>
                <a:ext uri="{FF2B5EF4-FFF2-40B4-BE49-F238E27FC236}">
                  <a16:creationId xmlns:a16="http://schemas.microsoft.com/office/drawing/2014/main" id="{E51454C1-9C12-C170-24C4-3D1A8A61D68F}"/>
                </a:ext>
              </a:extLst>
            </p:cNvPr>
            <p:cNvSpPr/>
            <p:nvPr/>
          </p:nvSpPr>
          <p:spPr>
            <a:xfrm>
              <a:off x="1239" y="945"/>
              <a:ext cx="563" cy="486"/>
            </a:xfrm>
            <a:prstGeom prst="rect">
              <a:avLst/>
            </a:prstGeom>
            <a:pattFill prst="pct20">
              <a:fgClr>
                <a:schemeClr val="tx1"/>
              </a:fgClr>
              <a:bgClr>
                <a:srgbClr val="FFFFFF"/>
              </a:bgClr>
            </a:pattFill>
            <a:ln w="9525" cap="flat" cmpd="sng">
              <a:solidFill>
                <a:schemeClr val="tx1"/>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sp>
          <p:nvSpPr>
            <p:cNvPr id="14" name="Line 22">
              <a:extLst>
                <a:ext uri="{FF2B5EF4-FFF2-40B4-BE49-F238E27FC236}">
                  <a16:creationId xmlns:a16="http://schemas.microsoft.com/office/drawing/2014/main" id="{583F1AA6-7779-762D-17FD-8761D41C1116}"/>
                </a:ext>
              </a:extLst>
            </p:cNvPr>
            <p:cNvSpPr/>
            <p:nvPr/>
          </p:nvSpPr>
          <p:spPr>
            <a:xfrm>
              <a:off x="1802" y="768"/>
              <a:ext cx="0" cy="663"/>
            </a:xfrm>
            <a:prstGeom prst="line">
              <a:avLst/>
            </a:prstGeom>
            <a:ln w="57150" cap="flat" cmpd="sng">
              <a:solidFill>
                <a:srgbClr val="996633"/>
              </a:solidFill>
              <a:prstDash val="solid"/>
              <a:headEnd type="none" w="med" len="med"/>
              <a:tailEnd type="none" w="med" len="med"/>
            </a:ln>
          </p:spPr>
        </p:sp>
        <p:sp>
          <p:nvSpPr>
            <p:cNvPr id="15" name="Line 23">
              <a:extLst>
                <a:ext uri="{FF2B5EF4-FFF2-40B4-BE49-F238E27FC236}">
                  <a16:creationId xmlns:a16="http://schemas.microsoft.com/office/drawing/2014/main" id="{BB96BEA9-C74B-3D2F-67B7-2E89C1BA39D7}"/>
                </a:ext>
              </a:extLst>
            </p:cNvPr>
            <p:cNvSpPr/>
            <p:nvPr/>
          </p:nvSpPr>
          <p:spPr>
            <a:xfrm>
              <a:off x="1716" y="768"/>
              <a:ext cx="173" cy="0"/>
            </a:xfrm>
            <a:prstGeom prst="line">
              <a:avLst/>
            </a:prstGeom>
            <a:ln w="57150" cap="flat" cmpd="sng">
              <a:solidFill>
                <a:srgbClr val="996633"/>
              </a:solidFill>
              <a:prstDash val="solid"/>
              <a:headEnd type="none" w="med" len="med"/>
              <a:tailEnd type="none" w="med" len="med"/>
            </a:ln>
          </p:spPr>
        </p:sp>
      </p:grpSp>
      <p:sp>
        <p:nvSpPr>
          <p:cNvPr id="18" name="文本框 17">
            <a:extLst>
              <a:ext uri="{FF2B5EF4-FFF2-40B4-BE49-F238E27FC236}">
                <a16:creationId xmlns:a16="http://schemas.microsoft.com/office/drawing/2014/main" id="{A02A836D-1367-2C2B-444A-68767EA39D26}"/>
              </a:ext>
            </a:extLst>
          </p:cNvPr>
          <p:cNvSpPr txBox="1"/>
          <p:nvPr/>
        </p:nvSpPr>
        <p:spPr>
          <a:xfrm>
            <a:off x="2743200" y="1114865"/>
            <a:ext cx="268022" cy="492443"/>
          </a:xfrm>
          <a:prstGeom prst="rect">
            <a:avLst/>
          </a:prstGeom>
          <a:noFill/>
        </p:spPr>
        <p:txBody>
          <a:bodyPr wrap="none" rtlCol="0">
            <a:spAutoFit/>
          </a:bodyPr>
          <a:lstStyle/>
          <a:p>
            <a:r>
              <a:rPr lang="en-US" altLang="zh-CN" sz="2600"/>
              <a:t> </a:t>
            </a:r>
          </a:p>
        </p:txBody>
      </p:sp>
      <p:sp>
        <p:nvSpPr>
          <p:cNvPr id="20" name="文本框 19">
            <a:extLst>
              <a:ext uri="{FF2B5EF4-FFF2-40B4-BE49-F238E27FC236}">
                <a16:creationId xmlns:a16="http://schemas.microsoft.com/office/drawing/2014/main" id="{59451B9F-74E6-C695-904D-F69A4FA80B56}"/>
              </a:ext>
            </a:extLst>
          </p:cNvPr>
          <p:cNvSpPr txBox="1"/>
          <p:nvPr/>
        </p:nvSpPr>
        <p:spPr>
          <a:xfrm>
            <a:off x="1757045" y="3094097"/>
            <a:ext cx="4960076" cy="1232197"/>
          </a:xfrm>
          <a:prstGeom prst="rect">
            <a:avLst/>
          </a:prstGeom>
          <a:noFill/>
        </p:spPr>
        <p:txBody>
          <a:bodyPr wrap="none" rtlCol="0">
            <a:spAutoFit/>
          </a:bodyPr>
          <a:lstStyle/>
          <a:p>
            <a:pPr>
              <a:lnSpc>
                <a:spcPct val="150000"/>
              </a:lnSpc>
            </a:pPr>
            <a:r>
              <a:rPr lang="zh-CN" altLang="en-US" sz="2600" dirty="0">
                <a:latin typeface="Times New Roman" panose="02020603050405020304" pitchFamily="18" charset="0"/>
                <a:cs typeface="Times New Roman" panose="02020603050405020304" pitchFamily="18" charset="0"/>
              </a:rPr>
              <a:t>向真空自由膨胀，做功为</a:t>
            </a:r>
            <a:r>
              <a:rPr lang="en-US" altLang="zh-CN" sz="2600" dirty="0">
                <a:latin typeface="Times New Roman" panose="02020603050405020304" pitchFamily="18" charset="0"/>
                <a:cs typeface="Times New Roman" panose="02020603050405020304" pitchFamily="18" charset="0"/>
              </a:rPr>
              <a:t>   A = 0</a:t>
            </a:r>
          </a:p>
          <a:p>
            <a:pPr>
              <a:lnSpc>
                <a:spcPct val="150000"/>
              </a:lnSpc>
            </a:pPr>
            <a:r>
              <a:rPr lang="zh-CN" altLang="en-US" sz="2600" dirty="0">
                <a:latin typeface="Times New Roman" panose="02020603050405020304" pitchFamily="18" charset="0"/>
                <a:cs typeface="Times New Roman" panose="02020603050405020304" pitchFamily="18" charset="0"/>
              </a:rPr>
              <a:t>绝热条件，吸热为</a:t>
            </a:r>
            <a:r>
              <a:rPr lang="en-US" altLang="zh-CN" sz="2600" dirty="0">
                <a:latin typeface="Times New Roman" panose="02020603050405020304" pitchFamily="18" charset="0"/>
                <a:cs typeface="Times New Roman" panose="02020603050405020304" pitchFamily="18" charset="0"/>
              </a:rPr>
              <a:t>     Q  = 0</a:t>
            </a:r>
          </a:p>
        </p:txBody>
      </p:sp>
      <p:sp>
        <p:nvSpPr>
          <p:cNvPr id="21" name="文本框 20">
            <a:extLst>
              <a:ext uri="{FF2B5EF4-FFF2-40B4-BE49-F238E27FC236}">
                <a16:creationId xmlns:a16="http://schemas.microsoft.com/office/drawing/2014/main" id="{77C2D39A-8767-AB33-BDF3-6B34A79F2D4E}"/>
              </a:ext>
            </a:extLst>
          </p:cNvPr>
          <p:cNvSpPr txBox="1"/>
          <p:nvPr/>
        </p:nvSpPr>
        <p:spPr>
          <a:xfrm>
            <a:off x="1757045" y="4478356"/>
            <a:ext cx="2685351" cy="492443"/>
          </a:xfrm>
          <a:prstGeom prst="rect">
            <a:avLst/>
          </a:prstGeom>
          <a:noFill/>
        </p:spPr>
        <p:txBody>
          <a:bodyPr wrap="none" rtlCol="0">
            <a:spAutoFit/>
          </a:bodyPr>
          <a:lstStyle/>
          <a:p>
            <a:r>
              <a:rPr lang="zh-CN" altLang="en-US" sz="2600" dirty="0"/>
              <a:t>则内能变化为：</a:t>
            </a:r>
            <a:r>
              <a:rPr lang="en-US" altLang="zh-CN" sz="2600" dirty="0"/>
              <a:t>  </a:t>
            </a:r>
          </a:p>
        </p:txBody>
      </p:sp>
      <mc:AlternateContent xmlns:mc="http://schemas.openxmlformats.org/markup-compatibility/2006" xmlns:a14="http://schemas.microsoft.com/office/drawing/2010/main">
        <mc:Choice Requires="a14">
          <p:sp>
            <p:nvSpPr>
              <p:cNvPr id="22" name="对象 7">
                <a:extLst>
                  <a:ext uri="{FF2B5EF4-FFF2-40B4-BE49-F238E27FC236}">
                    <a16:creationId xmlns:a16="http://schemas.microsoft.com/office/drawing/2014/main" id="{3DC66BB4-BC6B-4104-7399-558FB39D30D3}"/>
                  </a:ext>
                </a:extLst>
              </p:cNvPr>
              <p:cNvSpPr txBox="1"/>
              <p:nvPr/>
            </p:nvSpPr>
            <p:spPr>
              <a:xfrm>
                <a:off x="4442396" y="4478356"/>
                <a:ext cx="2357755" cy="541020"/>
              </a:xfrm>
              <a:prstGeom prst="rect">
                <a:avLst/>
              </a:prstGeom>
            </p:spPr>
            <p:txBody>
              <a:bodyPr>
                <a:normAutofit fontScale="92500"/>
              </a:bodyPr>
              <a:lstStyle/>
              <a:p>
                <a:pPr/>
                <a14:m>
                  <m:oMathPara xmlns:m="http://schemas.openxmlformats.org/officeDocument/2006/math">
                    <m:oMathParaPr>
                      <m:jc m:val="centerGroup"/>
                    </m:oMathParaPr>
                    <m:oMath xmlns:m="http://schemas.openxmlformats.org/officeDocument/2006/math">
                      <m:r>
                        <a:rPr lang="en-US" sz="2600" b="0" i="1">
                          <a:solidFill>
                            <a:srgbClr val="000000"/>
                          </a:solidFill>
                          <a:latin typeface="Cambria Math" panose="02040503050406030204" pitchFamily="18" charset="0"/>
                        </a:rPr>
                        <m:t>𝛥</m:t>
                      </m:r>
                      <m:r>
                        <a:rPr lang="en-US" sz="2600" b="0" i="1">
                          <a:solidFill>
                            <a:srgbClr val="000000"/>
                          </a:solidFill>
                          <a:latin typeface="Cambria Math" panose="02040503050406030204" pitchFamily="18" charset="0"/>
                        </a:rPr>
                        <m:t>𝐸</m:t>
                      </m:r>
                      <m:r>
                        <a:rPr lang="en-US" sz="2600" b="0" i="1">
                          <a:solidFill>
                            <a:srgbClr val="000000"/>
                          </a:solidFill>
                          <a:latin typeface="Cambria Math" panose="02040503050406030204" pitchFamily="18" charset="0"/>
                        </a:rPr>
                        <m:t>=</m:t>
                      </m:r>
                      <m:r>
                        <a:rPr lang="en-US" sz="2600" b="0" i="1">
                          <a:solidFill>
                            <a:srgbClr val="000000"/>
                          </a:solidFill>
                          <a:latin typeface="Cambria Math" panose="02040503050406030204" pitchFamily="18" charset="0"/>
                        </a:rPr>
                        <m:t>𝑄</m:t>
                      </m:r>
                      <m:r>
                        <a:rPr lang="en-US" sz="2600" b="0" i="1">
                          <a:solidFill>
                            <a:srgbClr val="000000"/>
                          </a:solidFill>
                          <a:latin typeface="Cambria Math" panose="02040503050406030204" pitchFamily="18" charset="0"/>
                        </a:rPr>
                        <m:t>−</m:t>
                      </m:r>
                      <m:r>
                        <a:rPr lang="en-US" sz="2600" b="0" i="1">
                          <a:solidFill>
                            <a:srgbClr val="000000"/>
                          </a:solidFill>
                          <a:latin typeface="Cambria Math" panose="02040503050406030204" pitchFamily="18" charset="0"/>
                        </a:rPr>
                        <m:t>𝐴</m:t>
                      </m:r>
                      <m:r>
                        <a:rPr lang="en-US" sz="2600" b="0" i="1">
                          <a:solidFill>
                            <a:srgbClr val="000000"/>
                          </a:solidFill>
                          <a:latin typeface="Cambria Math" panose="02040503050406030204" pitchFamily="18" charset="0"/>
                        </a:rPr>
                        <m:t>=0</m:t>
                      </m:r>
                    </m:oMath>
                  </m:oMathPara>
                </a14:m>
                <a:endParaRPr lang="en-US" sz="2600"/>
              </a:p>
            </p:txBody>
          </p:sp>
        </mc:Choice>
        <mc:Fallback xmlns="">
          <p:sp>
            <p:nvSpPr>
              <p:cNvPr id="22" name="对象 7">
                <a:extLst>
                  <a:ext uri="{FF2B5EF4-FFF2-40B4-BE49-F238E27FC236}">
                    <a16:creationId xmlns:a16="http://schemas.microsoft.com/office/drawing/2014/main" id="{3DC66BB4-BC6B-4104-7399-558FB39D30D3}"/>
                  </a:ext>
                </a:extLst>
              </p:cNvPr>
              <p:cNvSpPr txBox="1">
                <a:spLocks noRot="1" noChangeAspect="1" noMove="1" noResize="1" noEditPoints="1" noAdjustHandles="1" noChangeArrowheads="1" noChangeShapeType="1" noTextEdit="1"/>
              </p:cNvSpPr>
              <p:nvPr/>
            </p:nvSpPr>
            <p:spPr>
              <a:xfrm>
                <a:off x="4442396" y="4478356"/>
                <a:ext cx="2357755" cy="54102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对象 9">
                <a:extLst>
                  <a:ext uri="{FF2B5EF4-FFF2-40B4-BE49-F238E27FC236}">
                    <a16:creationId xmlns:a16="http://schemas.microsoft.com/office/drawing/2014/main" id="{CCB0C4C6-DF4B-F26B-F55F-4DC9F1C7A1A3}"/>
                  </a:ext>
                </a:extLst>
              </p:cNvPr>
              <p:cNvSpPr txBox="1"/>
              <p:nvPr/>
            </p:nvSpPr>
            <p:spPr>
              <a:xfrm>
                <a:off x="6885733" y="4444383"/>
                <a:ext cx="2313304" cy="608965"/>
              </a:xfrm>
              <a:prstGeom prst="rect">
                <a:avLst/>
              </a:prstGeom>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600" i="1">
                              <a:solidFill>
                                <a:srgbClr val="000000"/>
                              </a:solidFill>
                              <a:latin typeface="Cambria Math" panose="02040503050406030204" pitchFamily="18" charset="0"/>
                            </a:rPr>
                          </m:ctrlPr>
                        </m:sSubPr>
                        <m:e>
                          <m:r>
                            <a:rPr lang="en-US" sz="2600" b="0" i="1">
                              <a:solidFill>
                                <a:srgbClr val="000000"/>
                              </a:solidFill>
                              <a:latin typeface="Cambria Math" panose="02040503050406030204" pitchFamily="18" charset="0"/>
                            </a:rPr>
                            <m:t>𝑇</m:t>
                          </m:r>
                        </m:e>
                        <m:sub>
                          <m:r>
                            <a:rPr lang="en-US" sz="2600" b="0" i="1">
                              <a:solidFill>
                                <a:srgbClr val="000000"/>
                              </a:solidFill>
                              <a:latin typeface="Cambria Math" panose="02040503050406030204" pitchFamily="18" charset="0"/>
                            </a:rPr>
                            <m:t>2</m:t>
                          </m:r>
                        </m:sub>
                      </m:sSub>
                      <m:r>
                        <a:rPr lang="en-US" sz="2600" b="0" i="1">
                          <a:solidFill>
                            <a:srgbClr val="000000"/>
                          </a:solidFill>
                          <a:latin typeface="Cambria Math" panose="02040503050406030204" pitchFamily="18" charset="0"/>
                        </a:rPr>
                        <m:t>=</m:t>
                      </m:r>
                      <m:sSub>
                        <m:sSubPr>
                          <m:ctrlPr>
                            <a:rPr lang="en-US" sz="2600" i="1">
                              <a:solidFill>
                                <a:srgbClr val="000000"/>
                              </a:solidFill>
                              <a:latin typeface="Cambria Math" panose="02040503050406030204" pitchFamily="18" charset="0"/>
                            </a:rPr>
                          </m:ctrlPr>
                        </m:sSubPr>
                        <m:e>
                          <m:r>
                            <a:rPr lang="en-US" sz="2600" b="0" i="1">
                              <a:solidFill>
                                <a:srgbClr val="000000"/>
                              </a:solidFill>
                              <a:latin typeface="Cambria Math" panose="02040503050406030204" pitchFamily="18" charset="0"/>
                            </a:rPr>
                            <m:t>𝑇</m:t>
                          </m:r>
                        </m:e>
                        <m:sub>
                          <m:r>
                            <a:rPr lang="en-US" sz="2600" b="0" i="1">
                              <a:solidFill>
                                <a:srgbClr val="000000"/>
                              </a:solidFill>
                              <a:latin typeface="Cambria Math" panose="02040503050406030204" pitchFamily="18" charset="0"/>
                            </a:rPr>
                            <m:t>1</m:t>
                          </m:r>
                        </m:sub>
                      </m:sSub>
                    </m:oMath>
                  </m:oMathPara>
                </a14:m>
                <a:endParaRPr lang="en-US" sz="2600" dirty="0"/>
              </a:p>
            </p:txBody>
          </p:sp>
        </mc:Choice>
        <mc:Fallback xmlns="">
          <p:sp>
            <p:nvSpPr>
              <p:cNvPr id="23" name="对象 9">
                <a:extLst>
                  <a:ext uri="{FF2B5EF4-FFF2-40B4-BE49-F238E27FC236}">
                    <a16:creationId xmlns:a16="http://schemas.microsoft.com/office/drawing/2014/main" id="{CCB0C4C6-DF4B-F26B-F55F-4DC9F1C7A1A3}"/>
                  </a:ext>
                </a:extLst>
              </p:cNvPr>
              <p:cNvSpPr txBox="1">
                <a:spLocks noRot="1" noChangeAspect="1" noMove="1" noResize="1" noEditPoints="1" noAdjustHandles="1" noChangeArrowheads="1" noChangeShapeType="1" noTextEdit="1"/>
              </p:cNvSpPr>
              <p:nvPr/>
            </p:nvSpPr>
            <p:spPr>
              <a:xfrm>
                <a:off x="6885733" y="4444383"/>
                <a:ext cx="2313304" cy="60896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对象 9">
                <a:extLst>
                  <a:ext uri="{FF2B5EF4-FFF2-40B4-BE49-F238E27FC236}">
                    <a16:creationId xmlns:a16="http://schemas.microsoft.com/office/drawing/2014/main" id="{24F2B031-C7BC-88E8-7C80-85B90DEA98C4}"/>
                  </a:ext>
                </a:extLst>
              </p:cNvPr>
              <p:cNvSpPr txBox="1"/>
              <p:nvPr/>
            </p:nvSpPr>
            <p:spPr>
              <a:xfrm>
                <a:off x="8835183" y="4420094"/>
                <a:ext cx="2313304" cy="608965"/>
              </a:xfrm>
              <a:prstGeom prst="rect">
                <a:avLst/>
              </a:prstGeom>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𝑝</m:t>
                          </m:r>
                        </m:e>
                        <m:sub>
                          <m:r>
                            <a:rPr lang="en-US" sz="2600" i="1">
                              <a:solidFill>
                                <a:srgbClr val="000000"/>
                              </a:solidFill>
                              <a:latin typeface="Cambria Math" panose="02040503050406030204" pitchFamily="18" charset="0"/>
                            </a:rPr>
                            <m:t>1</m:t>
                          </m:r>
                        </m:sub>
                      </m:sSub>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𝑉</m:t>
                          </m:r>
                        </m:e>
                        <m:sub>
                          <m:r>
                            <a:rPr lang="en-US" sz="2600" i="1">
                              <a:solidFill>
                                <a:srgbClr val="000000"/>
                              </a:solidFill>
                              <a:latin typeface="Cambria Math" panose="02040503050406030204" pitchFamily="18" charset="0"/>
                            </a:rPr>
                            <m:t>1</m:t>
                          </m:r>
                        </m:sub>
                      </m:sSub>
                      <m:r>
                        <a:rPr lang="en-US" sz="2600" i="1">
                          <a:solidFill>
                            <a:srgbClr val="000000"/>
                          </a:solidFill>
                          <a:latin typeface="Cambria Math" panose="02040503050406030204" pitchFamily="18" charset="0"/>
                        </a:rPr>
                        <m:t>=</m:t>
                      </m:r>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𝑝</m:t>
                          </m:r>
                        </m:e>
                        <m:sub>
                          <m:r>
                            <a:rPr lang="en-US" sz="2600" i="1">
                              <a:solidFill>
                                <a:srgbClr val="000000"/>
                              </a:solidFill>
                              <a:latin typeface="Cambria Math" panose="02040503050406030204" pitchFamily="18" charset="0"/>
                            </a:rPr>
                            <m:t>2</m:t>
                          </m:r>
                        </m:sub>
                      </m:sSub>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𝑉</m:t>
                          </m:r>
                        </m:e>
                        <m:sub>
                          <m:r>
                            <a:rPr lang="en-US" sz="2600" i="1">
                              <a:solidFill>
                                <a:srgbClr val="000000"/>
                              </a:solidFill>
                              <a:latin typeface="Cambria Math" panose="02040503050406030204" pitchFamily="18" charset="0"/>
                            </a:rPr>
                            <m:t>2</m:t>
                          </m:r>
                        </m:sub>
                      </m:sSub>
                    </m:oMath>
                  </m:oMathPara>
                </a14:m>
                <a:endParaRPr lang="en-US" sz="2600" dirty="0"/>
              </a:p>
            </p:txBody>
          </p:sp>
        </mc:Choice>
        <mc:Fallback xmlns="">
          <p:sp>
            <p:nvSpPr>
              <p:cNvPr id="24" name="对象 9">
                <a:extLst>
                  <a:ext uri="{FF2B5EF4-FFF2-40B4-BE49-F238E27FC236}">
                    <a16:creationId xmlns:a16="http://schemas.microsoft.com/office/drawing/2014/main" id="{24F2B031-C7BC-88E8-7C80-85B90DEA98C4}"/>
                  </a:ext>
                </a:extLst>
              </p:cNvPr>
              <p:cNvSpPr txBox="1">
                <a:spLocks noRot="1" noChangeAspect="1" noMove="1" noResize="1" noEditPoints="1" noAdjustHandles="1" noChangeArrowheads="1" noChangeShapeType="1" noTextEdit="1"/>
              </p:cNvSpPr>
              <p:nvPr/>
            </p:nvSpPr>
            <p:spPr>
              <a:xfrm>
                <a:off x="8835183" y="4420094"/>
                <a:ext cx="2313304" cy="608965"/>
              </a:xfrm>
              <a:prstGeom prst="rect">
                <a:avLst/>
              </a:prstGeom>
              <a:blipFill>
                <a:blip r:embed="rId6"/>
                <a:stretch>
                  <a:fillRect/>
                </a:stretch>
              </a:blipFill>
            </p:spPr>
            <p:txBody>
              <a:bodyPr/>
              <a:lstStyle/>
              <a:p>
                <a:r>
                  <a:rPr lang="en-US">
                    <a:noFill/>
                  </a:rPr>
                  <a:t> </a:t>
                </a:r>
              </a:p>
            </p:txBody>
          </p:sp>
        </mc:Fallback>
      </mc:AlternateContent>
      <p:sp>
        <p:nvSpPr>
          <p:cNvPr id="26" name="文本框 25">
            <a:extLst>
              <a:ext uri="{FF2B5EF4-FFF2-40B4-BE49-F238E27FC236}">
                <a16:creationId xmlns:a16="http://schemas.microsoft.com/office/drawing/2014/main" id="{010103BB-C201-1618-6BFC-7BEDF22D2E74}"/>
              </a:ext>
            </a:extLst>
          </p:cNvPr>
          <p:cNvSpPr txBox="1"/>
          <p:nvPr/>
        </p:nvSpPr>
        <p:spPr>
          <a:xfrm>
            <a:off x="825534" y="5122861"/>
            <a:ext cx="11284902" cy="1692771"/>
          </a:xfrm>
          <a:prstGeom prst="rect">
            <a:avLst/>
          </a:prstGeom>
          <a:noFill/>
        </p:spPr>
        <p:txBody>
          <a:bodyPr wrap="square">
            <a:spAutoFit/>
          </a:bodyPr>
          <a:lstStyle/>
          <a:p>
            <a:pPr marL="457200" indent="-457200" algn="l">
              <a:buFontTx/>
              <a:buChar char="-"/>
            </a:pPr>
            <a:r>
              <a:rPr lang="zh-CN" altLang="en-US" sz="2600" b="0" i="0" dirty="0">
                <a:effectLst/>
                <a:latin typeface="Helvetica Neue"/>
              </a:rPr>
              <a:t>理想气体绝热自由膨胀过程是非准静态过程，除初、末态外，系统每一时刻都处于非平衡态。</a:t>
            </a:r>
            <a:endParaRPr lang="en-US" altLang="zh-CN" sz="2600" b="0" i="0" dirty="0">
              <a:effectLst/>
              <a:latin typeface="Helvetica Neue"/>
            </a:endParaRPr>
          </a:p>
          <a:p>
            <a:pPr marL="457200" indent="-457200">
              <a:buFontTx/>
              <a:buChar char="-"/>
            </a:pPr>
            <a:r>
              <a:rPr lang="zh-CN" altLang="en-US" sz="2600" dirty="0">
                <a:latin typeface="Helvetica Neue"/>
              </a:rPr>
              <a:t>虽然理想气体绝热自由膨胀后温度恢复，但整个过程并不是恒温过程。</a:t>
            </a:r>
          </a:p>
          <a:p>
            <a:pPr algn="l"/>
            <a:endParaRPr lang="zh-CN" altLang="en-US" sz="2600" b="0" i="0" dirty="0">
              <a:effectLst/>
              <a:latin typeface="Helvetica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6">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2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95" name="Rectangle 2063">
            <a:extLst>
              <a:ext uri="{FF2B5EF4-FFF2-40B4-BE49-F238E27FC236}">
                <a16:creationId xmlns:a16="http://schemas.microsoft.com/office/drawing/2014/main" id="{CEA47830-A9D5-BDE2-4A08-4F019E5322B6}"/>
              </a:ext>
            </a:extLst>
          </p:cNvPr>
          <p:cNvSpPr>
            <a:spLocks noChangeArrowheads="1"/>
          </p:cNvSpPr>
          <p:nvPr/>
        </p:nvSpPr>
        <p:spPr bwMode="auto">
          <a:xfrm>
            <a:off x="7012780" y="4361929"/>
            <a:ext cx="1980029"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Bef>
                <a:spcPct val="0"/>
              </a:spcBef>
            </a:pPr>
            <a:r>
              <a:rPr lang="zh-CN" altLang="en-US" sz="2800" dirty="0">
                <a:latin typeface="黑体" panose="02010609060101010101" pitchFamily="49" charset="-122"/>
              </a:rPr>
              <a:t>实验结果：</a:t>
            </a:r>
          </a:p>
        </p:txBody>
      </p:sp>
      <p:sp>
        <p:nvSpPr>
          <p:cNvPr id="97296" name="Rectangle 2064">
            <a:extLst>
              <a:ext uri="{FF2B5EF4-FFF2-40B4-BE49-F238E27FC236}">
                <a16:creationId xmlns:a16="http://schemas.microsoft.com/office/drawing/2014/main" id="{7CE760CC-A0B7-65EF-0685-27B8429DB243}"/>
              </a:ext>
            </a:extLst>
          </p:cNvPr>
          <p:cNvSpPr>
            <a:spLocks noChangeArrowheads="1"/>
          </p:cNvSpPr>
          <p:nvPr/>
        </p:nvSpPr>
        <p:spPr bwMode="auto">
          <a:xfrm>
            <a:off x="8493406" y="4373041"/>
            <a:ext cx="1890261"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Bef>
                <a:spcPct val="0"/>
              </a:spcBef>
            </a:pPr>
            <a:r>
              <a:rPr lang="en-US" altLang="zh-CN" sz="2800" b="1" dirty="0">
                <a:latin typeface="+mn-ea"/>
              </a:rPr>
              <a:t>   </a:t>
            </a:r>
            <a:r>
              <a:rPr lang="zh-CN" altLang="en-US" sz="2800" b="1" dirty="0">
                <a:latin typeface="+mn-ea"/>
              </a:rPr>
              <a:t>水温不变</a:t>
            </a:r>
          </a:p>
        </p:txBody>
      </p:sp>
      <p:sp>
        <p:nvSpPr>
          <p:cNvPr id="97297" name="Rectangle 2065">
            <a:extLst>
              <a:ext uri="{FF2B5EF4-FFF2-40B4-BE49-F238E27FC236}">
                <a16:creationId xmlns:a16="http://schemas.microsoft.com/office/drawing/2014/main" id="{E38F25A9-7743-D6CD-2DEE-E7EDC3454F4B}"/>
              </a:ext>
            </a:extLst>
          </p:cNvPr>
          <p:cNvSpPr>
            <a:spLocks noChangeArrowheads="1"/>
          </p:cNvSpPr>
          <p:nvPr/>
        </p:nvSpPr>
        <p:spPr bwMode="auto">
          <a:xfrm>
            <a:off x="1196292" y="1031086"/>
            <a:ext cx="39497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20000"/>
              </a:spcBef>
            </a:pPr>
            <a:r>
              <a:rPr lang="en-US" altLang="zh-CN" sz="2800" dirty="0"/>
              <a:t>- </a:t>
            </a:r>
            <a:r>
              <a:rPr lang="zh-CN" altLang="en-US" sz="2800" dirty="0"/>
              <a:t>焦耳实验</a:t>
            </a:r>
            <a:r>
              <a:rPr lang="en-US" altLang="zh-CN" sz="2800" dirty="0">
                <a:latin typeface="宋体" panose="02010600030101010101" pitchFamily="2" charset="-122"/>
                <a:ea typeface="宋体" panose="02010600030101010101" pitchFamily="2" charset="-122"/>
              </a:rPr>
              <a:t>(</a:t>
            </a:r>
            <a:r>
              <a:rPr lang="en-US" altLang="zh-CN" sz="2800" dirty="0"/>
              <a:t>1845</a:t>
            </a:r>
            <a:r>
              <a:rPr lang="en-US" altLang="zh-CN" sz="2800" dirty="0">
                <a:latin typeface="宋体" panose="02010600030101010101" pitchFamily="2" charset="-122"/>
                <a:ea typeface="宋体" panose="02010600030101010101" pitchFamily="2" charset="-122"/>
              </a:rPr>
              <a:t>)</a:t>
            </a:r>
          </a:p>
        </p:txBody>
      </p:sp>
      <p:sp>
        <p:nvSpPr>
          <p:cNvPr id="97301" name="Rectangle 2069">
            <a:extLst>
              <a:ext uri="{FF2B5EF4-FFF2-40B4-BE49-F238E27FC236}">
                <a16:creationId xmlns:a16="http://schemas.microsoft.com/office/drawing/2014/main" id="{5DE9AF22-7217-101F-AFB4-FED1FE83B201}"/>
              </a:ext>
            </a:extLst>
          </p:cNvPr>
          <p:cNvSpPr>
            <a:spLocks noChangeArrowheads="1"/>
          </p:cNvSpPr>
          <p:nvPr/>
        </p:nvSpPr>
        <p:spPr bwMode="auto">
          <a:xfrm>
            <a:off x="6667702" y="2129016"/>
            <a:ext cx="4397375" cy="1669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25000"/>
              </a:lnSpc>
            </a:pPr>
            <a:r>
              <a:rPr lang="en-US" altLang="zh-CN" sz="2800" dirty="0"/>
              <a:t>     </a:t>
            </a:r>
            <a:r>
              <a:rPr lang="zh-CN" altLang="en-US" sz="2800" dirty="0"/>
              <a:t>打开活门</a:t>
            </a:r>
            <a:r>
              <a:rPr lang="en-US" altLang="zh-CN" sz="2800" dirty="0"/>
              <a:t>C</a:t>
            </a:r>
            <a:r>
              <a:rPr lang="zh-CN" altLang="en-US" sz="2800" dirty="0"/>
              <a:t>，让气体向真空中自由膨胀。测量膨胀前后水温的变化。</a:t>
            </a:r>
          </a:p>
        </p:txBody>
      </p:sp>
      <p:sp>
        <p:nvSpPr>
          <p:cNvPr id="97304" name="Text Box 2072">
            <a:extLst>
              <a:ext uri="{FF2B5EF4-FFF2-40B4-BE49-F238E27FC236}">
                <a16:creationId xmlns:a16="http://schemas.microsoft.com/office/drawing/2014/main" id="{A614F50A-5310-4EE2-D7EA-7634D9572D17}"/>
              </a:ext>
            </a:extLst>
          </p:cNvPr>
          <p:cNvSpPr txBox="1">
            <a:spLocks noChangeArrowheads="1"/>
          </p:cNvSpPr>
          <p:nvPr/>
        </p:nvSpPr>
        <p:spPr bwMode="auto">
          <a:xfrm>
            <a:off x="997057" y="5713852"/>
            <a:ext cx="10817817" cy="571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pPr>
            <a:r>
              <a:rPr lang="en-US" altLang="zh-CN" sz="2800" dirty="0">
                <a:latin typeface="黑体" panose="02010609060101010101" pitchFamily="49" charset="-122"/>
              </a:rPr>
              <a:t>  </a:t>
            </a:r>
            <a:r>
              <a:rPr lang="zh-CN" altLang="en-US" sz="2800" dirty="0">
                <a:latin typeface="黑体" panose="02010609060101010101" pitchFamily="49" charset="-122"/>
              </a:rPr>
              <a:t>但水的热容比气体的大得多，焦耳实验中气体温度变化不易测出。</a:t>
            </a:r>
          </a:p>
        </p:txBody>
      </p:sp>
      <p:grpSp>
        <p:nvGrpSpPr>
          <p:cNvPr id="97310" name="Group 2078">
            <a:extLst>
              <a:ext uri="{FF2B5EF4-FFF2-40B4-BE49-F238E27FC236}">
                <a16:creationId xmlns:a16="http://schemas.microsoft.com/office/drawing/2014/main" id="{4DDA8F18-6A8C-B04D-1B1A-AEC7396471C0}"/>
              </a:ext>
            </a:extLst>
          </p:cNvPr>
          <p:cNvGrpSpPr>
            <a:grpSpLocks/>
          </p:cNvGrpSpPr>
          <p:nvPr/>
        </p:nvGrpSpPr>
        <p:grpSpPr bwMode="auto">
          <a:xfrm>
            <a:off x="1578177" y="1494576"/>
            <a:ext cx="4397375" cy="3762375"/>
            <a:chOff x="2747" y="399"/>
            <a:chExt cx="2770" cy="2370"/>
          </a:xfrm>
        </p:grpSpPr>
        <p:grpSp>
          <p:nvGrpSpPr>
            <p:cNvPr id="97307" name="Group 2075">
              <a:extLst>
                <a:ext uri="{FF2B5EF4-FFF2-40B4-BE49-F238E27FC236}">
                  <a16:creationId xmlns:a16="http://schemas.microsoft.com/office/drawing/2014/main" id="{746CDBEE-6247-4BAA-FB27-751172FFA95F}"/>
                </a:ext>
              </a:extLst>
            </p:cNvPr>
            <p:cNvGrpSpPr>
              <a:grpSpLocks/>
            </p:cNvGrpSpPr>
            <p:nvPr/>
          </p:nvGrpSpPr>
          <p:grpSpPr bwMode="auto">
            <a:xfrm>
              <a:off x="2747" y="399"/>
              <a:ext cx="2770" cy="2370"/>
              <a:chOff x="2693" y="390"/>
              <a:chExt cx="2770" cy="2370"/>
            </a:xfrm>
          </p:grpSpPr>
          <p:sp>
            <p:nvSpPr>
              <p:cNvPr id="97306" name="Rectangle 2074">
                <a:extLst>
                  <a:ext uri="{FF2B5EF4-FFF2-40B4-BE49-F238E27FC236}">
                    <a16:creationId xmlns:a16="http://schemas.microsoft.com/office/drawing/2014/main" id="{ED7CCBA1-E673-37A0-CEC2-B7E19847380C}"/>
                  </a:ext>
                </a:extLst>
              </p:cNvPr>
              <p:cNvSpPr>
                <a:spLocks noChangeArrowheads="1"/>
              </p:cNvSpPr>
              <p:nvPr/>
            </p:nvSpPr>
            <p:spPr bwMode="auto">
              <a:xfrm>
                <a:off x="2693" y="913"/>
                <a:ext cx="2770" cy="1847"/>
              </a:xfrm>
              <a:prstGeom prst="rect">
                <a:avLst/>
              </a:prstGeom>
              <a:pattFill prst="wdUpDiag">
                <a:fgClr>
                  <a:schemeClr val="tx2"/>
                </a:fgClr>
                <a:bgClr>
                  <a:schemeClr val="bg1"/>
                </a:bgClr>
              </a:pattFill>
              <a:ln w="190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97283" name="Rectangle 2051">
                <a:extLst>
                  <a:ext uri="{FF2B5EF4-FFF2-40B4-BE49-F238E27FC236}">
                    <a16:creationId xmlns:a16="http://schemas.microsoft.com/office/drawing/2014/main" id="{6791EF25-30E5-A5DA-D950-67CCACF6245C}"/>
                  </a:ext>
                </a:extLst>
              </p:cNvPr>
              <p:cNvSpPr>
                <a:spLocks noChangeArrowheads="1"/>
              </p:cNvSpPr>
              <p:nvPr/>
            </p:nvSpPr>
            <p:spPr bwMode="auto">
              <a:xfrm>
                <a:off x="2771" y="983"/>
                <a:ext cx="2623" cy="1701"/>
              </a:xfrm>
              <a:prstGeom prst="rect">
                <a:avLst/>
              </a:prstGeom>
              <a:pattFill prst="pct40">
                <a:fgClr>
                  <a:schemeClr val="accent1"/>
                </a:fgClr>
                <a:bgClr>
                  <a:schemeClr val="bg1"/>
                </a:bgClr>
              </a:pattFill>
              <a:ln w="190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nvGrpSpPr>
              <p:cNvPr id="97305" name="Group 2073">
                <a:extLst>
                  <a:ext uri="{FF2B5EF4-FFF2-40B4-BE49-F238E27FC236}">
                    <a16:creationId xmlns:a16="http://schemas.microsoft.com/office/drawing/2014/main" id="{BF46EFF6-541B-559F-6C87-0C7B827CF502}"/>
                  </a:ext>
                </a:extLst>
              </p:cNvPr>
              <p:cNvGrpSpPr>
                <a:grpSpLocks/>
              </p:cNvGrpSpPr>
              <p:nvPr/>
            </p:nvGrpSpPr>
            <p:grpSpPr bwMode="auto">
              <a:xfrm>
                <a:off x="3184" y="390"/>
                <a:ext cx="2156" cy="1978"/>
                <a:chOff x="3184" y="390"/>
                <a:chExt cx="2156" cy="1978"/>
              </a:xfrm>
            </p:grpSpPr>
            <p:sp>
              <p:nvSpPr>
                <p:cNvPr id="97284" name="Freeform 2052">
                  <a:extLst>
                    <a:ext uri="{FF2B5EF4-FFF2-40B4-BE49-F238E27FC236}">
                      <a16:creationId xmlns:a16="http://schemas.microsoft.com/office/drawing/2014/main" id="{36354A09-8100-3E45-4E1F-ABECF4E54102}"/>
                    </a:ext>
                  </a:extLst>
                </p:cNvPr>
                <p:cNvSpPr>
                  <a:spLocks/>
                </p:cNvSpPr>
                <p:nvPr/>
              </p:nvSpPr>
              <p:spPr bwMode="auto">
                <a:xfrm>
                  <a:off x="3207" y="1264"/>
                  <a:ext cx="1680" cy="1104"/>
                </a:xfrm>
                <a:custGeom>
                  <a:avLst/>
                  <a:gdLst>
                    <a:gd name="T0" fmla="*/ 240 w 1680"/>
                    <a:gd name="T1" fmla="*/ 0 h 1104"/>
                    <a:gd name="T2" fmla="*/ 240 w 1680"/>
                    <a:gd name="T3" fmla="*/ 288 h 1104"/>
                    <a:gd name="T4" fmla="*/ 0 w 1680"/>
                    <a:gd name="T5" fmla="*/ 384 h 1104"/>
                    <a:gd name="T6" fmla="*/ 0 w 1680"/>
                    <a:gd name="T7" fmla="*/ 1104 h 1104"/>
                    <a:gd name="T8" fmla="*/ 624 w 1680"/>
                    <a:gd name="T9" fmla="*/ 1104 h 1104"/>
                    <a:gd name="T10" fmla="*/ 624 w 1680"/>
                    <a:gd name="T11" fmla="*/ 384 h 1104"/>
                    <a:gd name="T12" fmla="*/ 384 w 1680"/>
                    <a:gd name="T13" fmla="*/ 288 h 1104"/>
                    <a:gd name="T14" fmla="*/ 384 w 1680"/>
                    <a:gd name="T15" fmla="*/ 96 h 1104"/>
                    <a:gd name="T16" fmla="*/ 1296 w 1680"/>
                    <a:gd name="T17" fmla="*/ 96 h 1104"/>
                    <a:gd name="T18" fmla="*/ 1296 w 1680"/>
                    <a:gd name="T19" fmla="*/ 288 h 1104"/>
                    <a:gd name="T20" fmla="*/ 1008 w 1680"/>
                    <a:gd name="T21" fmla="*/ 384 h 1104"/>
                    <a:gd name="T22" fmla="*/ 1008 w 1680"/>
                    <a:gd name="T23" fmla="*/ 1104 h 1104"/>
                    <a:gd name="T24" fmla="*/ 1680 w 1680"/>
                    <a:gd name="T25" fmla="*/ 1104 h 1104"/>
                    <a:gd name="T26" fmla="*/ 1680 w 1680"/>
                    <a:gd name="T27" fmla="*/ 384 h 1104"/>
                    <a:gd name="T28" fmla="*/ 1440 w 1680"/>
                    <a:gd name="T29" fmla="*/ 288 h 1104"/>
                    <a:gd name="T30" fmla="*/ 1440 w 1680"/>
                    <a:gd name="T31" fmla="*/ 0 h 1104"/>
                    <a:gd name="T32" fmla="*/ 240 w 1680"/>
                    <a:gd name="T33" fmla="*/ 0 h 1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80" h="1104">
                      <a:moveTo>
                        <a:pt x="240" y="0"/>
                      </a:moveTo>
                      <a:lnTo>
                        <a:pt x="240" y="288"/>
                      </a:lnTo>
                      <a:lnTo>
                        <a:pt x="0" y="384"/>
                      </a:lnTo>
                      <a:lnTo>
                        <a:pt x="0" y="1104"/>
                      </a:lnTo>
                      <a:lnTo>
                        <a:pt x="624" y="1104"/>
                      </a:lnTo>
                      <a:lnTo>
                        <a:pt x="624" y="384"/>
                      </a:lnTo>
                      <a:lnTo>
                        <a:pt x="384" y="288"/>
                      </a:lnTo>
                      <a:lnTo>
                        <a:pt x="384" y="96"/>
                      </a:lnTo>
                      <a:lnTo>
                        <a:pt x="1296" y="96"/>
                      </a:lnTo>
                      <a:lnTo>
                        <a:pt x="1296" y="288"/>
                      </a:lnTo>
                      <a:lnTo>
                        <a:pt x="1008" y="384"/>
                      </a:lnTo>
                      <a:lnTo>
                        <a:pt x="1008" y="1104"/>
                      </a:lnTo>
                      <a:lnTo>
                        <a:pt x="1680" y="1104"/>
                      </a:lnTo>
                      <a:lnTo>
                        <a:pt x="1680" y="384"/>
                      </a:lnTo>
                      <a:lnTo>
                        <a:pt x="1440" y="288"/>
                      </a:lnTo>
                      <a:lnTo>
                        <a:pt x="1440" y="0"/>
                      </a:lnTo>
                      <a:lnTo>
                        <a:pt x="240" y="0"/>
                      </a:lnTo>
                      <a:close/>
                    </a:path>
                  </a:pathLst>
                </a:custGeom>
                <a:solidFill>
                  <a:srgbClr val="FFFFFF"/>
                </a:solidFill>
                <a:ln w="38100"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97285" name="Freeform 2053">
                  <a:extLst>
                    <a:ext uri="{FF2B5EF4-FFF2-40B4-BE49-F238E27FC236}">
                      <a16:creationId xmlns:a16="http://schemas.microsoft.com/office/drawing/2014/main" id="{8E64F06A-8C27-1C82-8ED6-F1BABF3F41E1}"/>
                    </a:ext>
                  </a:extLst>
                </p:cNvPr>
                <p:cNvSpPr>
                  <a:spLocks/>
                </p:cNvSpPr>
                <p:nvPr/>
              </p:nvSpPr>
              <p:spPr bwMode="auto">
                <a:xfrm>
                  <a:off x="3207" y="1264"/>
                  <a:ext cx="768" cy="1104"/>
                </a:xfrm>
                <a:custGeom>
                  <a:avLst/>
                  <a:gdLst>
                    <a:gd name="T0" fmla="*/ 768 w 768"/>
                    <a:gd name="T1" fmla="*/ 0 h 1104"/>
                    <a:gd name="T2" fmla="*/ 768 w 768"/>
                    <a:gd name="T3" fmla="*/ 96 h 1104"/>
                    <a:gd name="T4" fmla="*/ 384 w 768"/>
                    <a:gd name="T5" fmla="*/ 96 h 1104"/>
                    <a:gd name="T6" fmla="*/ 384 w 768"/>
                    <a:gd name="T7" fmla="*/ 288 h 1104"/>
                    <a:gd name="T8" fmla="*/ 624 w 768"/>
                    <a:gd name="T9" fmla="*/ 384 h 1104"/>
                    <a:gd name="T10" fmla="*/ 624 w 768"/>
                    <a:gd name="T11" fmla="*/ 1104 h 1104"/>
                    <a:gd name="T12" fmla="*/ 0 w 768"/>
                    <a:gd name="T13" fmla="*/ 1104 h 1104"/>
                    <a:gd name="T14" fmla="*/ 0 w 768"/>
                    <a:gd name="T15" fmla="*/ 384 h 1104"/>
                    <a:gd name="T16" fmla="*/ 240 w 768"/>
                    <a:gd name="T17" fmla="*/ 288 h 1104"/>
                    <a:gd name="T18" fmla="*/ 240 w 768"/>
                    <a:gd name="T19" fmla="*/ 0 h 1104"/>
                    <a:gd name="T20" fmla="*/ 768 w 768"/>
                    <a:gd name="T21" fmla="*/ 0 h 1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8" h="1104">
                      <a:moveTo>
                        <a:pt x="768" y="0"/>
                      </a:moveTo>
                      <a:lnTo>
                        <a:pt x="768" y="96"/>
                      </a:lnTo>
                      <a:lnTo>
                        <a:pt x="384" y="96"/>
                      </a:lnTo>
                      <a:lnTo>
                        <a:pt x="384" y="288"/>
                      </a:lnTo>
                      <a:lnTo>
                        <a:pt x="624" y="384"/>
                      </a:lnTo>
                      <a:lnTo>
                        <a:pt x="624" y="1104"/>
                      </a:lnTo>
                      <a:lnTo>
                        <a:pt x="0" y="1104"/>
                      </a:lnTo>
                      <a:lnTo>
                        <a:pt x="0" y="384"/>
                      </a:lnTo>
                      <a:lnTo>
                        <a:pt x="240" y="288"/>
                      </a:lnTo>
                      <a:lnTo>
                        <a:pt x="240" y="0"/>
                      </a:lnTo>
                      <a:lnTo>
                        <a:pt x="768" y="0"/>
                      </a:lnTo>
                      <a:close/>
                    </a:path>
                  </a:pathLst>
                </a:custGeom>
                <a:pattFill prst="pct40">
                  <a:fgClr>
                    <a:schemeClr val="bg1"/>
                  </a:fgClr>
                  <a:bgClr>
                    <a:srgbClr val="969696"/>
                  </a:bgClr>
                </a:pattFill>
                <a:ln>
                  <a:noFill/>
                </a:ln>
                <a:effectLst/>
                <a:extLst>
                  <a:ext uri="{91240B29-F687-4F45-9708-019B960494DF}">
                    <a14:hiddenLine xmlns:a14="http://schemas.microsoft.com/office/drawing/2010/main" w="9525"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97286" name="Freeform 2054">
                  <a:extLst>
                    <a:ext uri="{FF2B5EF4-FFF2-40B4-BE49-F238E27FC236}">
                      <a16:creationId xmlns:a16="http://schemas.microsoft.com/office/drawing/2014/main" id="{0AD843FA-D679-5D11-766E-7968D91B1A02}"/>
                    </a:ext>
                  </a:extLst>
                </p:cNvPr>
                <p:cNvSpPr>
                  <a:spLocks/>
                </p:cNvSpPr>
                <p:nvPr/>
              </p:nvSpPr>
              <p:spPr bwMode="auto">
                <a:xfrm>
                  <a:off x="3889" y="1108"/>
                  <a:ext cx="250" cy="216"/>
                </a:xfrm>
                <a:custGeom>
                  <a:avLst/>
                  <a:gdLst>
                    <a:gd name="T0" fmla="*/ 96 w 336"/>
                    <a:gd name="T1" fmla="*/ 96 h 336"/>
                    <a:gd name="T2" fmla="*/ 0 w 336"/>
                    <a:gd name="T3" fmla="*/ 96 h 336"/>
                    <a:gd name="T4" fmla="*/ 0 w 336"/>
                    <a:gd name="T5" fmla="*/ 0 h 336"/>
                    <a:gd name="T6" fmla="*/ 336 w 336"/>
                    <a:gd name="T7" fmla="*/ 0 h 336"/>
                    <a:gd name="T8" fmla="*/ 336 w 336"/>
                    <a:gd name="T9" fmla="*/ 96 h 336"/>
                    <a:gd name="T10" fmla="*/ 240 w 336"/>
                    <a:gd name="T11" fmla="*/ 96 h 336"/>
                    <a:gd name="T12" fmla="*/ 240 w 336"/>
                    <a:gd name="T13" fmla="*/ 336 h 336"/>
                    <a:gd name="T14" fmla="*/ 96 w 336"/>
                    <a:gd name="T15" fmla="*/ 336 h 336"/>
                    <a:gd name="T16" fmla="*/ 96 w 336"/>
                    <a:gd name="T17" fmla="*/ 96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6" h="336">
                      <a:moveTo>
                        <a:pt x="96" y="96"/>
                      </a:moveTo>
                      <a:lnTo>
                        <a:pt x="0" y="96"/>
                      </a:lnTo>
                      <a:lnTo>
                        <a:pt x="0" y="0"/>
                      </a:lnTo>
                      <a:lnTo>
                        <a:pt x="336" y="0"/>
                      </a:lnTo>
                      <a:lnTo>
                        <a:pt x="336" y="96"/>
                      </a:lnTo>
                      <a:lnTo>
                        <a:pt x="240" y="96"/>
                      </a:lnTo>
                      <a:lnTo>
                        <a:pt x="240" y="336"/>
                      </a:lnTo>
                      <a:lnTo>
                        <a:pt x="96" y="336"/>
                      </a:lnTo>
                      <a:lnTo>
                        <a:pt x="96" y="96"/>
                      </a:lnTo>
                      <a:close/>
                    </a:path>
                  </a:pathLst>
                </a:custGeom>
                <a:solidFill>
                  <a:srgbClr val="CCCC00"/>
                </a:solidFill>
                <a:ln w="9525"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97287" name="Oval 2055">
                  <a:extLst>
                    <a:ext uri="{FF2B5EF4-FFF2-40B4-BE49-F238E27FC236}">
                      <a16:creationId xmlns:a16="http://schemas.microsoft.com/office/drawing/2014/main" id="{85C820EC-6209-1FCB-4A3B-DF2B232064D6}"/>
                    </a:ext>
                  </a:extLst>
                </p:cNvPr>
                <p:cNvSpPr>
                  <a:spLocks noChangeArrowheads="1"/>
                </p:cNvSpPr>
                <p:nvPr/>
              </p:nvSpPr>
              <p:spPr bwMode="auto">
                <a:xfrm>
                  <a:off x="3917" y="1216"/>
                  <a:ext cx="207" cy="205"/>
                </a:xfrm>
                <a:prstGeom prst="ellipse">
                  <a:avLst/>
                </a:prstGeom>
                <a:solidFill>
                  <a:srgbClr val="FFFF99"/>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97288" name="Text Box 2056">
                  <a:extLst>
                    <a:ext uri="{FF2B5EF4-FFF2-40B4-BE49-F238E27FC236}">
                      <a16:creationId xmlns:a16="http://schemas.microsoft.com/office/drawing/2014/main" id="{4B6F83C6-F079-B9C6-F77A-FB7C4E2AA97D}"/>
                    </a:ext>
                  </a:extLst>
                </p:cNvPr>
                <p:cNvSpPr txBox="1">
                  <a:spLocks noChangeArrowheads="1"/>
                </p:cNvSpPr>
                <p:nvPr/>
              </p:nvSpPr>
              <p:spPr bwMode="auto">
                <a:xfrm>
                  <a:off x="3184" y="1791"/>
                  <a:ext cx="569"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Bef>
                      <a:spcPct val="0"/>
                    </a:spcBef>
                  </a:pPr>
                  <a:r>
                    <a:rPr lang="zh-CN" altLang="en-US" sz="2800"/>
                    <a:t>气体</a:t>
                  </a:r>
                </a:p>
              </p:txBody>
            </p:sp>
            <p:sp>
              <p:nvSpPr>
                <p:cNvPr id="97289" name="Text Box 2057">
                  <a:extLst>
                    <a:ext uri="{FF2B5EF4-FFF2-40B4-BE49-F238E27FC236}">
                      <a16:creationId xmlns:a16="http://schemas.microsoft.com/office/drawing/2014/main" id="{963C2A96-A3F7-B412-0A59-95FCADBD698F}"/>
                    </a:ext>
                  </a:extLst>
                </p:cNvPr>
                <p:cNvSpPr txBox="1">
                  <a:spLocks noChangeArrowheads="1"/>
                </p:cNvSpPr>
                <p:nvPr/>
              </p:nvSpPr>
              <p:spPr bwMode="auto">
                <a:xfrm>
                  <a:off x="4232" y="1791"/>
                  <a:ext cx="569"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Bef>
                      <a:spcPct val="0"/>
                    </a:spcBef>
                  </a:pPr>
                  <a:r>
                    <a:rPr lang="zh-CN" altLang="en-US" sz="2800"/>
                    <a:t>真空</a:t>
                  </a:r>
                </a:p>
              </p:txBody>
            </p:sp>
            <p:grpSp>
              <p:nvGrpSpPr>
                <p:cNvPr id="97291" name="Group 2059">
                  <a:extLst>
                    <a:ext uri="{FF2B5EF4-FFF2-40B4-BE49-F238E27FC236}">
                      <a16:creationId xmlns:a16="http://schemas.microsoft.com/office/drawing/2014/main" id="{F6AF9109-1E3B-8170-D54B-81328BB4C74E}"/>
                    </a:ext>
                  </a:extLst>
                </p:cNvPr>
                <p:cNvGrpSpPr>
                  <a:grpSpLocks/>
                </p:cNvGrpSpPr>
                <p:nvPr/>
              </p:nvGrpSpPr>
              <p:grpSpPr bwMode="auto">
                <a:xfrm>
                  <a:off x="5064" y="390"/>
                  <a:ext cx="65" cy="1578"/>
                  <a:chOff x="5376" y="1536"/>
                  <a:chExt cx="48" cy="1776"/>
                </a:xfrm>
              </p:grpSpPr>
              <p:sp>
                <p:nvSpPr>
                  <p:cNvPr id="97292" name="Rectangle 2060">
                    <a:extLst>
                      <a:ext uri="{FF2B5EF4-FFF2-40B4-BE49-F238E27FC236}">
                        <a16:creationId xmlns:a16="http://schemas.microsoft.com/office/drawing/2014/main" id="{ACB5AF28-65BF-5C9D-F52E-57C0439093A5}"/>
                      </a:ext>
                    </a:extLst>
                  </p:cNvPr>
                  <p:cNvSpPr>
                    <a:spLocks noChangeArrowheads="1"/>
                  </p:cNvSpPr>
                  <p:nvPr/>
                </p:nvSpPr>
                <p:spPr bwMode="auto">
                  <a:xfrm>
                    <a:off x="5376" y="1536"/>
                    <a:ext cx="48" cy="1680"/>
                  </a:xfrm>
                  <a:prstGeom prst="rect">
                    <a:avLst/>
                  </a:prstGeom>
                  <a:solidFill>
                    <a:srgbClr val="99CCFF"/>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97293" name="Rectangle 2061">
                    <a:extLst>
                      <a:ext uri="{FF2B5EF4-FFF2-40B4-BE49-F238E27FC236}">
                        <a16:creationId xmlns:a16="http://schemas.microsoft.com/office/drawing/2014/main" id="{B3DFA23B-6DCF-4E90-910B-22C1B9DD8F6E}"/>
                      </a:ext>
                    </a:extLst>
                  </p:cNvPr>
                  <p:cNvSpPr>
                    <a:spLocks noChangeArrowheads="1"/>
                  </p:cNvSpPr>
                  <p:nvPr/>
                </p:nvSpPr>
                <p:spPr bwMode="auto">
                  <a:xfrm>
                    <a:off x="5376" y="3216"/>
                    <a:ext cx="48" cy="96"/>
                  </a:xfrm>
                  <a:prstGeom prst="rect">
                    <a:avLst/>
                  </a:prstGeom>
                  <a:solidFill>
                    <a:schemeClr val="hlink"/>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spcBef>
                        <a:spcPct val="0"/>
                      </a:spcBef>
                    </a:pPr>
                    <a:endParaRPr lang="zh-CN" altLang="zh-CN" sz="2800"/>
                  </a:p>
                </p:txBody>
              </p:sp>
            </p:grpSp>
            <p:sp>
              <p:nvSpPr>
                <p:cNvPr id="97294" name="Line 2062">
                  <a:extLst>
                    <a:ext uri="{FF2B5EF4-FFF2-40B4-BE49-F238E27FC236}">
                      <a16:creationId xmlns:a16="http://schemas.microsoft.com/office/drawing/2014/main" id="{3C644016-9448-D423-2F89-627AAFD6F27B}"/>
                    </a:ext>
                  </a:extLst>
                </p:cNvPr>
                <p:cNvSpPr>
                  <a:spLocks noChangeShapeType="1"/>
                </p:cNvSpPr>
                <p:nvPr/>
              </p:nvSpPr>
              <p:spPr bwMode="auto">
                <a:xfrm flipV="1">
                  <a:off x="5064" y="1072"/>
                  <a:ext cx="0" cy="896"/>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97298" name="Text Box 2066">
                  <a:extLst>
                    <a:ext uri="{FF2B5EF4-FFF2-40B4-BE49-F238E27FC236}">
                      <a16:creationId xmlns:a16="http://schemas.microsoft.com/office/drawing/2014/main" id="{98EA31F5-B5DE-182F-A79A-984D563ED689}"/>
                    </a:ext>
                  </a:extLst>
                </p:cNvPr>
                <p:cNvSpPr txBox="1">
                  <a:spLocks noChangeArrowheads="1"/>
                </p:cNvSpPr>
                <p:nvPr/>
              </p:nvSpPr>
              <p:spPr bwMode="auto">
                <a:xfrm>
                  <a:off x="4910" y="1948"/>
                  <a:ext cx="43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a:latin typeface="黑体" panose="02010609060101010101" pitchFamily="49" charset="-122"/>
                    </a:rPr>
                    <a:t>水</a:t>
                  </a:r>
                </a:p>
              </p:txBody>
            </p:sp>
            <p:sp>
              <p:nvSpPr>
                <p:cNvPr id="97299" name="Text Box 2067">
                  <a:extLst>
                    <a:ext uri="{FF2B5EF4-FFF2-40B4-BE49-F238E27FC236}">
                      <a16:creationId xmlns:a16="http://schemas.microsoft.com/office/drawing/2014/main" id="{C5AEE8F5-1A97-F9E4-2383-5EE3334C9889}"/>
                    </a:ext>
                  </a:extLst>
                </p:cNvPr>
                <p:cNvSpPr txBox="1">
                  <a:spLocks noChangeArrowheads="1"/>
                </p:cNvSpPr>
                <p:nvPr/>
              </p:nvSpPr>
              <p:spPr bwMode="auto">
                <a:xfrm>
                  <a:off x="3553" y="936"/>
                  <a:ext cx="396"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a:t>C</a:t>
                  </a:r>
                </a:p>
              </p:txBody>
            </p:sp>
          </p:grpSp>
        </p:grpSp>
        <p:sp>
          <p:nvSpPr>
            <p:cNvPr id="97308" name="Text Box 2076">
              <a:extLst>
                <a:ext uri="{FF2B5EF4-FFF2-40B4-BE49-F238E27FC236}">
                  <a16:creationId xmlns:a16="http://schemas.microsoft.com/office/drawing/2014/main" id="{DCD898BA-2E96-7D53-2398-A3EB70E87037}"/>
                </a:ext>
              </a:extLst>
            </p:cNvPr>
            <p:cNvSpPr txBox="1">
              <a:spLocks noChangeArrowheads="1"/>
            </p:cNvSpPr>
            <p:nvPr/>
          </p:nvSpPr>
          <p:spPr bwMode="auto">
            <a:xfrm>
              <a:off x="3564" y="504"/>
              <a:ext cx="121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dirty="0">
                  <a:latin typeface="黑体" panose="02010609060101010101" pitchFamily="49" charset="-122"/>
                </a:rPr>
                <a:t>绝热壁</a:t>
              </a:r>
            </a:p>
          </p:txBody>
        </p:sp>
        <p:sp>
          <p:nvSpPr>
            <p:cNvPr id="97309" name="Line 2077">
              <a:extLst>
                <a:ext uri="{FF2B5EF4-FFF2-40B4-BE49-F238E27FC236}">
                  <a16:creationId xmlns:a16="http://schemas.microsoft.com/office/drawing/2014/main" id="{484B80BD-40E7-6F65-07B1-7DB7BECC0ABF}"/>
                </a:ext>
              </a:extLst>
            </p:cNvPr>
            <p:cNvSpPr>
              <a:spLocks noChangeShapeType="1"/>
            </p:cNvSpPr>
            <p:nvPr/>
          </p:nvSpPr>
          <p:spPr bwMode="auto">
            <a:xfrm flipH="1">
              <a:off x="3946" y="739"/>
              <a:ext cx="224" cy="189"/>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pSp>
      <p:sp>
        <p:nvSpPr>
          <p:cNvPr id="2" name="Text Box 13">
            <a:hlinkClick r:id="" action="ppaction://noaction"/>
            <a:extLst>
              <a:ext uri="{FF2B5EF4-FFF2-40B4-BE49-F238E27FC236}">
                <a16:creationId xmlns:a16="http://schemas.microsoft.com/office/drawing/2014/main" id="{E06429CC-504D-34DB-0156-BFBC88EE4970}"/>
              </a:ext>
            </a:extLst>
          </p:cNvPr>
          <p:cNvSpPr txBox="1">
            <a:spLocks noChangeArrowheads="1"/>
          </p:cNvSpPr>
          <p:nvPr/>
        </p:nvSpPr>
        <p:spPr bwMode="auto">
          <a:xfrm>
            <a:off x="663928" y="329121"/>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绝热自由膨胀</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9730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9729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9729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973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95" grpId="0" autoUpdateAnimBg="0"/>
      <p:bldP spid="97296" grpId="0" autoUpdateAnimBg="0"/>
      <p:bldP spid="97297" grpId="0" autoUpdateAnimBg="0"/>
      <p:bldP spid="97301" grpId="0" autoUpdateAnimBg="0"/>
      <p:bldP spid="97304"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descr="4.5: The Joule-Thomson Effect - Chemistry LibreTexts">
            <a:extLst>
              <a:ext uri="{FF2B5EF4-FFF2-40B4-BE49-F238E27FC236}">
                <a16:creationId xmlns:a16="http://schemas.microsoft.com/office/drawing/2014/main" id="{6100C6DB-8C29-1BF9-879D-9533FDCA18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9921" y="2384889"/>
            <a:ext cx="6096001" cy="2088222"/>
          </a:xfrm>
          <a:prstGeom prst="rect">
            <a:avLst/>
          </a:prstGeom>
          <a:noFill/>
          <a:extLst>
            <a:ext uri="{909E8E84-426E-40DD-AFC4-6F175D3DCCD1}">
              <a14:hiddenFill xmlns:a14="http://schemas.microsoft.com/office/drawing/2010/main">
                <a:solidFill>
                  <a:srgbClr val="FFFFFF"/>
                </a:solidFill>
              </a14:hiddenFill>
            </a:ext>
          </a:extLst>
        </p:spPr>
      </p:pic>
      <p:sp>
        <p:nvSpPr>
          <p:cNvPr id="13" name="Text Box 9">
            <a:extLst>
              <a:ext uri="{FF2B5EF4-FFF2-40B4-BE49-F238E27FC236}">
                <a16:creationId xmlns:a16="http://schemas.microsoft.com/office/drawing/2014/main" id="{8614E8CF-E9A7-A834-5B1F-F802CD6B3F6B}"/>
              </a:ext>
            </a:extLst>
          </p:cNvPr>
          <p:cNvSpPr txBox="1"/>
          <p:nvPr/>
        </p:nvSpPr>
        <p:spPr>
          <a:xfrm>
            <a:off x="3187700" y="1821326"/>
            <a:ext cx="7467600" cy="523220"/>
          </a:xfrm>
          <a:prstGeom prst="rect">
            <a:avLst/>
          </a:prstGeom>
          <a:noFill/>
          <a:ln w="9525">
            <a:noFill/>
          </a:ln>
        </p:spPr>
        <p:txBody>
          <a:bodyPr>
            <a:spAutoFit/>
          </a:bodyPr>
          <a:lstStyle/>
          <a:p>
            <a:pPr eaLnBrk="1" hangingPunct="1">
              <a:spcBef>
                <a:spcPct val="50000"/>
              </a:spcBef>
            </a:pPr>
            <a:r>
              <a:rPr lang="zh-CN" altLang="en-US" sz="2800" dirty="0">
                <a:solidFill>
                  <a:srgbClr val="0066FF"/>
                </a:solidFill>
                <a:latin typeface="楷体" panose="02010609060101010101" charset="-122"/>
                <a:ea typeface="楷体" panose="02010609060101010101" charset="-122"/>
              </a:rPr>
              <a:t>真实气体分子间存在相互作用的势能。</a:t>
            </a:r>
          </a:p>
        </p:txBody>
      </p:sp>
      <p:sp>
        <p:nvSpPr>
          <p:cNvPr id="14" name="Text Box 10">
            <a:extLst>
              <a:ext uri="{FF2B5EF4-FFF2-40B4-BE49-F238E27FC236}">
                <a16:creationId xmlns:a16="http://schemas.microsoft.com/office/drawing/2014/main" id="{913B7A35-E9AC-3FDD-C3D7-5757D92041DE}"/>
              </a:ext>
            </a:extLst>
          </p:cNvPr>
          <p:cNvSpPr txBox="1"/>
          <p:nvPr/>
        </p:nvSpPr>
        <p:spPr>
          <a:xfrm>
            <a:off x="1301750" y="5561955"/>
            <a:ext cx="8976179" cy="954107"/>
          </a:xfrm>
          <a:prstGeom prst="rect">
            <a:avLst/>
          </a:prstGeom>
          <a:noFill/>
          <a:ln w="9525">
            <a:noFill/>
          </a:ln>
        </p:spPr>
        <p:txBody>
          <a:bodyPr wrap="square">
            <a:spAutoFit/>
          </a:bodyPr>
          <a:lstStyle/>
          <a:p>
            <a:pPr eaLnBrk="1" hangingPunct="1">
              <a:spcBef>
                <a:spcPct val="50000"/>
              </a:spcBef>
            </a:pPr>
            <a:r>
              <a:rPr lang="zh-CN" altLang="en-US" sz="2800" dirty="0">
                <a:solidFill>
                  <a:schemeClr val="tx1"/>
                </a:solidFill>
                <a:latin typeface="Times New Roman" panose="02020603050405020304" pitchFamily="18" charset="0"/>
              </a:rPr>
              <a:t>实验的应用：干冰的制作。使高压二氧化碳从阀口的小孔喷射出来，从而使温度降低，制成干冰。</a:t>
            </a:r>
          </a:p>
        </p:txBody>
      </p:sp>
      <p:sp>
        <p:nvSpPr>
          <p:cNvPr id="15" name="Text Box 15">
            <a:extLst>
              <a:ext uri="{FF2B5EF4-FFF2-40B4-BE49-F238E27FC236}">
                <a16:creationId xmlns:a16="http://schemas.microsoft.com/office/drawing/2014/main" id="{7818D555-3330-D8CF-8649-5DA68EEEE135}"/>
              </a:ext>
            </a:extLst>
          </p:cNvPr>
          <p:cNvSpPr txBox="1"/>
          <p:nvPr/>
        </p:nvSpPr>
        <p:spPr>
          <a:xfrm>
            <a:off x="1301750" y="1194480"/>
            <a:ext cx="10623550" cy="523220"/>
          </a:xfrm>
          <a:prstGeom prst="rect">
            <a:avLst/>
          </a:prstGeom>
          <a:noFill/>
          <a:ln w="9525">
            <a:noFill/>
          </a:ln>
        </p:spPr>
        <p:txBody>
          <a:bodyPr wrap="square">
            <a:spAutoFit/>
          </a:bodyPr>
          <a:lstStyle/>
          <a:p>
            <a:pPr eaLnBrk="1" hangingPunct="1">
              <a:spcBef>
                <a:spcPct val="50000"/>
              </a:spcBef>
            </a:pPr>
            <a:r>
              <a:rPr lang="zh-CN" altLang="en-US" sz="2800" dirty="0">
                <a:solidFill>
                  <a:schemeClr val="tx1"/>
                </a:solidFill>
                <a:latin typeface="Times New Roman" panose="02020603050405020304" pitchFamily="18" charset="0"/>
              </a:rPr>
              <a:t>对真实气体，膨胀后温度发生变化</a:t>
            </a:r>
            <a:r>
              <a:rPr lang="en-US" altLang="zh-CN" sz="2800" dirty="0">
                <a:solidFill>
                  <a:schemeClr val="tx1"/>
                </a:solidFill>
                <a:latin typeface="Times New Roman" panose="02020603050405020304" pitchFamily="18" charset="0"/>
              </a:rPr>
              <a:t>---- </a:t>
            </a:r>
            <a:r>
              <a:rPr lang="zh-CN" altLang="en-US" sz="2800" dirty="0">
                <a:solidFill>
                  <a:schemeClr val="tx1"/>
                </a:solidFill>
                <a:latin typeface="Times New Roman" panose="02020603050405020304" pitchFamily="18" charset="0"/>
              </a:rPr>
              <a:t>焦耳</a:t>
            </a:r>
            <a:r>
              <a:rPr lang="en-US" altLang="zh-CN" sz="2800" dirty="0">
                <a:solidFill>
                  <a:schemeClr val="tx1"/>
                </a:solidFill>
                <a:latin typeface="Times New Roman" panose="02020603050405020304" pitchFamily="18" charset="0"/>
              </a:rPr>
              <a:t>-</a:t>
            </a:r>
            <a:r>
              <a:rPr lang="zh-CN" altLang="en-US" sz="2800" dirty="0">
                <a:solidFill>
                  <a:schemeClr val="tx1"/>
                </a:solidFill>
                <a:latin typeface="Times New Roman" panose="02020603050405020304" pitchFamily="18" charset="0"/>
              </a:rPr>
              <a:t>汤姆逊效应</a:t>
            </a:r>
          </a:p>
        </p:txBody>
      </p:sp>
      <p:sp>
        <p:nvSpPr>
          <p:cNvPr id="16" name="Text Box 13">
            <a:hlinkClick r:id="" action="ppaction://noaction"/>
            <a:extLst>
              <a:ext uri="{FF2B5EF4-FFF2-40B4-BE49-F238E27FC236}">
                <a16:creationId xmlns:a16="http://schemas.microsoft.com/office/drawing/2014/main" id="{01272835-7EBD-7910-94C9-4C2D85C057BC}"/>
              </a:ext>
            </a:extLst>
          </p:cNvPr>
          <p:cNvSpPr txBox="1">
            <a:spLocks noChangeArrowheads="1"/>
          </p:cNvSpPr>
          <p:nvPr/>
        </p:nvSpPr>
        <p:spPr bwMode="auto">
          <a:xfrm>
            <a:off x="617888" y="32923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绝热自由膨胀</a:t>
            </a:r>
          </a:p>
        </p:txBody>
      </p:sp>
      <p:sp>
        <p:nvSpPr>
          <p:cNvPr id="18" name="文本框 17">
            <a:extLst>
              <a:ext uri="{FF2B5EF4-FFF2-40B4-BE49-F238E27FC236}">
                <a16:creationId xmlns:a16="http://schemas.microsoft.com/office/drawing/2014/main" id="{5F641D4C-9E62-FC92-82BD-947B33FE89BF}"/>
              </a:ext>
            </a:extLst>
          </p:cNvPr>
          <p:cNvSpPr txBox="1"/>
          <p:nvPr/>
        </p:nvSpPr>
        <p:spPr>
          <a:xfrm>
            <a:off x="920750" y="4773619"/>
            <a:ext cx="10350500" cy="523220"/>
          </a:xfrm>
          <a:prstGeom prst="rect">
            <a:avLst/>
          </a:prstGeom>
          <a:noFill/>
        </p:spPr>
        <p:txBody>
          <a:bodyPr wrap="square">
            <a:spAutoFit/>
          </a:bodyPr>
          <a:lstStyle/>
          <a:p>
            <a:pPr eaLnBrk="1" hangingPunct="1">
              <a:spcBef>
                <a:spcPct val="50000"/>
              </a:spcBef>
            </a:pPr>
            <a:r>
              <a:rPr lang="zh-CN" altLang="en-US" sz="2800" dirty="0">
                <a:solidFill>
                  <a:schemeClr val="tx1"/>
                </a:solidFill>
                <a:latin typeface="Times New Roman" panose="02020603050405020304" pitchFamily="18" charset="0"/>
              </a:rPr>
              <a:t>节流膨胀后温度升高</a:t>
            </a:r>
            <a:r>
              <a:rPr lang="zh-CN" altLang="en-US" sz="2800" dirty="0">
                <a:latin typeface="Times New Roman" panose="02020603050405020304" pitchFamily="18" charset="0"/>
              </a:rPr>
              <a:t>或降低，取决于分子间作用力做正功或负功</a:t>
            </a:r>
            <a:endParaRPr lang="zh-CN" altLang="en-US" sz="2800" dirty="0">
              <a:solidFill>
                <a:schemeClr val="tx1"/>
              </a:solidFill>
              <a:latin typeface="Times New Roman" panose="02020603050405020304" pitchFamily="18" charset="0"/>
            </a:endParaRPr>
          </a:p>
        </p:txBody>
      </p:sp>
      <p:sp>
        <p:nvSpPr>
          <p:cNvPr id="22" name="文本框 21">
            <a:extLst>
              <a:ext uri="{FF2B5EF4-FFF2-40B4-BE49-F238E27FC236}">
                <a16:creationId xmlns:a16="http://schemas.microsoft.com/office/drawing/2014/main" id="{2ADFA489-E580-CB7A-39DF-AF1146807ED7}"/>
              </a:ext>
            </a:extLst>
          </p:cNvPr>
          <p:cNvSpPr txBox="1"/>
          <p:nvPr/>
        </p:nvSpPr>
        <p:spPr>
          <a:xfrm>
            <a:off x="6384925" y="2521059"/>
            <a:ext cx="5470525" cy="1815882"/>
          </a:xfrm>
          <a:prstGeom prst="rect">
            <a:avLst/>
          </a:prstGeom>
          <a:noFill/>
        </p:spPr>
        <p:txBody>
          <a:bodyPr wrap="square">
            <a:spAutoFit/>
          </a:bodyPr>
          <a:lstStyle/>
          <a:p>
            <a:r>
              <a:rPr lang="zh-CN" altLang="en-US" sz="2800" dirty="0"/>
              <a:t>气体在绝热条件下，从大压强空间经多孔塞缓慢迁移到小压强空间的过程称为节流过程或焦耳</a:t>
            </a:r>
            <a:r>
              <a:rPr lang="en-US" altLang="zh-CN" sz="2800" dirty="0"/>
              <a:t>---</a:t>
            </a:r>
            <a:r>
              <a:rPr lang="zh-CN" altLang="en-US" sz="2800" dirty="0"/>
              <a:t>汤姆逊过程。</a:t>
            </a:r>
          </a:p>
        </p:txBody>
      </p:sp>
    </p:spTree>
    <p:extLst>
      <p:ext uri="{BB962C8B-B14F-4D97-AF65-F5344CB8AC3E}">
        <p14:creationId xmlns:p14="http://schemas.microsoft.com/office/powerpoint/2010/main" val="3978276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89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8" grpId="0"/>
      <p:bldP spid="2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2"/>
          <p:cNvSpPr txBox="1"/>
          <p:nvPr/>
        </p:nvSpPr>
        <p:spPr>
          <a:xfrm>
            <a:off x="492125" y="295276"/>
            <a:ext cx="11207750" cy="1605889"/>
          </a:xfrm>
          <a:prstGeom prst="rect">
            <a:avLst/>
          </a:prstGeom>
          <a:noFill/>
          <a:ln w="9525">
            <a:noFill/>
          </a:ln>
        </p:spPr>
        <p:txBody>
          <a:bodyPr wrap="square">
            <a:spAutoFit/>
          </a:bodyPr>
          <a:lstStyle/>
          <a:p>
            <a:pPr>
              <a:lnSpc>
                <a:spcPct val="120000"/>
              </a:lnSpc>
              <a:spcBef>
                <a:spcPct val="50000"/>
              </a:spcBef>
            </a:pPr>
            <a:r>
              <a:rPr lang="en-US" altLang="zh-CN" sz="2800" dirty="0">
                <a:solidFill>
                  <a:srgbClr val="CC0000"/>
                </a:solidFill>
                <a:latin typeface="宋体" panose="02010600030101010101" pitchFamily="2" charset="-122"/>
              </a:rPr>
              <a:t>   </a:t>
            </a:r>
            <a:r>
              <a:rPr lang="en-US" altLang="zh-CN" sz="2800" dirty="0">
                <a:latin typeface="宋体" panose="02010600030101010101" pitchFamily="2" charset="-122"/>
              </a:rPr>
              <a:t> </a:t>
            </a:r>
            <a:r>
              <a:rPr lang="zh-CN" altLang="en-US" sz="2800" dirty="0">
                <a:latin typeface="宋体" panose="02010600030101010101" pitchFamily="2" charset="-122"/>
              </a:rPr>
              <a:t>例：</a:t>
            </a:r>
            <a:r>
              <a:rPr lang="en-US" altLang="zh-CN" sz="2800" dirty="0">
                <a:latin typeface="宋体" panose="02010600030101010101" pitchFamily="2" charset="-122"/>
              </a:rPr>
              <a:t> </a:t>
            </a:r>
            <a:r>
              <a:rPr lang="zh-CN" altLang="en-US" sz="2800" dirty="0">
                <a:solidFill>
                  <a:srgbClr val="000000"/>
                </a:solidFill>
                <a:latin typeface="宋体" panose="02010600030101010101" pitchFamily="2" charset="-122"/>
              </a:rPr>
              <a:t>氮气液化， 把氮气放在一个绝热的汽缸中</a:t>
            </a:r>
            <a:r>
              <a:rPr lang="zh-CN" altLang="en-US" sz="2800" dirty="0">
                <a:solidFill>
                  <a:srgbClr val="000000"/>
                </a:solidFill>
                <a:latin typeface="Times New Roman" panose="02020603050405020304" pitchFamily="18" charset="0"/>
              </a:rPr>
              <a:t>。</a:t>
            </a:r>
            <a:r>
              <a:rPr lang="zh-CN" altLang="en-US" sz="2800" dirty="0">
                <a:solidFill>
                  <a:srgbClr val="000000"/>
                </a:solidFill>
                <a:latin typeface="宋体" panose="02010600030101010101" pitchFamily="2" charset="-122"/>
              </a:rPr>
              <a:t>开始时</a:t>
            </a:r>
            <a:r>
              <a:rPr lang="en-US" altLang="zh-CN" sz="2800" dirty="0">
                <a:solidFill>
                  <a:srgbClr val="000000"/>
                </a:solidFill>
                <a:latin typeface="宋体" panose="02010600030101010101" pitchFamily="2" charset="-122"/>
              </a:rPr>
              <a:t>,</a:t>
            </a:r>
            <a:r>
              <a:rPr lang="zh-CN" altLang="en-US" sz="2800" dirty="0">
                <a:solidFill>
                  <a:srgbClr val="000000"/>
                </a:solidFill>
                <a:latin typeface="宋体" panose="02010600030101010101" pitchFamily="2" charset="-122"/>
              </a:rPr>
              <a:t>氮气的压强为</a:t>
            </a:r>
            <a:r>
              <a:rPr lang="en-US" altLang="zh-CN" sz="2800" dirty="0">
                <a:solidFill>
                  <a:srgbClr val="000000"/>
                </a:solidFill>
                <a:latin typeface="宋体" panose="02010600030101010101" pitchFamily="2" charset="-122"/>
              </a:rPr>
              <a:t>50</a:t>
            </a:r>
            <a:r>
              <a:rPr lang="zh-CN" altLang="en-US" sz="2800" dirty="0">
                <a:solidFill>
                  <a:srgbClr val="000000"/>
                </a:solidFill>
                <a:latin typeface="宋体" panose="02010600030101010101" pitchFamily="2" charset="-122"/>
              </a:rPr>
              <a:t>个标准大气压、温度为</a:t>
            </a:r>
            <a:r>
              <a:rPr lang="en-US" altLang="zh-CN" sz="2800" dirty="0">
                <a:solidFill>
                  <a:srgbClr val="000000"/>
                </a:solidFill>
                <a:latin typeface="宋体" panose="02010600030101010101" pitchFamily="2" charset="-122"/>
              </a:rPr>
              <a:t>300K</a:t>
            </a:r>
            <a:r>
              <a:rPr lang="zh-CN" altLang="en-US" sz="2800" dirty="0">
                <a:solidFill>
                  <a:srgbClr val="000000"/>
                </a:solidFill>
                <a:latin typeface="宋体" panose="02010600030101010101" pitchFamily="2" charset="-122"/>
              </a:rPr>
              <a:t>；经急速膨胀后，其压强降至</a:t>
            </a:r>
            <a:r>
              <a:rPr lang="en-US" altLang="zh-CN" sz="2800" dirty="0">
                <a:solidFill>
                  <a:srgbClr val="000000"/>
                </a:solidFill>
                <a:latin typeface="宋体" panose="02010600030101010101" pitchFamily="2" charset="-122"/>
              </a:rPr>
              <a:t>1</a:t>
            </a:r>
            <a:r>
              <a:rPr lang="zh-CN" altLang="en-US" sz="2800" dirty="0">
                <a:solidFill>
                  <a:srgbClr val="000000"/>
                </a:solidFill>
                <a:latin typeface="宋体" panose="02010600030101010101" pitchFamily="2" charset="-122"/>
              </a:rPr>
              <a:t>个标准大气压，从而使氮气液化</a:t>
            </a:r>
            <a:r>
              <a:rPr lang="zh-CN" altLang="en-US" sz="2800" dirty="0">
                <a:solidFill>
                  <a:srgbClr val="000000"/>
                </a:solidFill>
                <a:latin typeface="Times New Roman" panose="02020603050405020304" pitchFamily="18" charset="0"/>
              </a:rPr>
              <a:t>。</a:t>
            </a:r>
            <a:r>
              <a:rPr lang="en-US" altLang="zh-CN" sz="2800" dirty="0">
                <a:solidFill>
                  <a:srgbClr val="000000"/>
                </a:solidFill>
                <a:latin typeface="宋体" panose="02010600030101010101" pitchFamily="2" charset="-122"/>
              </a:rPr>
              <a:t> </a:t>
            </a:r>
            <a:r>
              <a:rPr lang="zh-CN" altLang="en-US" sz="2800" dirty="0">
                <a:solidFill>
                  <a:srgbClr val="000000"/>
                </a:solidFill>
                <a:latin typeface="宋体" panose="02010600030101010101" pitchFamily="2" charset="-122"/>
              </a:rPr>
              <a:t>试问此时氮的温度为多少？</a:t>
            </a:r>
          </a:p>
        </p:txBody>
      </p:sp>
      <p:sp>
        <p:nvSpPr>
          <p:cNvPr id="2" name="Text Box 2">
            <a:extLst>
              <a:ext uri="{FF2B5EF4-FFF2-40B4-BE49-F238E27FC236}">
                <a16:creationId xmlns:a16="http://schemas.microsoft.com/office/drawing/2014/main" id="{45B64403-7432-178F-4A04-F54BB9FB35B5}"/>
              </a:ext>
            </a:extLst>
          </p:cNvPr>
          <p:cNvSpPr txBox="1"/>
          <p:nvPr/>
        </p:nvSpPr>
        <p:spPr>
          <a:xfrm>
            <a:off x="733425" y="2222239"/>
            <a:ext cx="8782050" cy="576568"/>
          </a:xfrm>
          <a:prstGeom prst="rect">
            <a:avLst/>
          </a:prstGeom>
          <a:noFill/>
          <a:ln w="9525">
            <a:noFill/>
          </a:ln>
        </p:spPr>
        <p:txBody>
          <a:bodyPr wrap="square">
            <a:spAutoFit/>
          </a:bodyPr>
          <a:lstStyle/>
          <a:p>
            <a:pPr eaLnBrk="1" hangingPunct="1">
              <a:lnSpc>
                <a:spcPct val="120000"/>
              </a:lnSpc>
              <a:spcBef>
                <a:spcPct val="50000"/>
              </a:spcBef>
            </a:pPr>
            <a:r>
              <a:rPr lang="zh-CN" altLang="en-US" sz="2800" dirty="0">
                <a:solidFill>
                  <a:srgbClr val="000000"/>
                </a:solidFill>
                <a:latin typeface="+mn-ea"/>
              </a:rPr>
              <a:t>氮气可视为理想气体， 其液化过程为绝热过程</a:t>
            </a:r>
            <a:endParaRPr lang="en-US" altLang="zh-CN" sz="2800" dirty="0">
              <a:solidFill>
                <a:srgbClr val="000000"/>
              </a:solidFill>
              <a:latin typeface="+mn-ea"/>
            </a:endParaRPr>
          </a:p>
        </p:txBody>
      </p:sp>
      <mc:AlternateContent xmlns:mc="http://schemas.openxmlformats.org/markup-compatibility/2006" xmlns:a14="http://schemas.microsoft.com/office/drawing/2010/main">
        <mc:Choice Requires="a14">
          <p:sp>
            <p:nvSpPr>
              <p:cNvPr id="3" name="Object 5">
                <a:extLst>
                  <a:ext uri="{FF2B5EF4-FFF2-40B4-BE49-F238E27FC236}">
                    <a16:creationId xmlns:a16="http://schemas.microsoft.com/office/drawing/2014/main" id="{41BBC624-97AF-6A1C-4BA5-91350A3F3466}"/>
                  </a:ext>
                </a:extLst>
              </p:cNvPr>
              <p:cNvSpPr txBox="1"/>
              <p:nvPr/>
            </p:nvSpPr>
            <p:spPr>
              <a:xfrm>
                <a:off x="2844801" y="4858075"/>
                <a:ext cx="3957636" cy="1068388"/>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𝛾</m:t>
                      </m:r>
                      <m:r>
                        <a:rPr lang="en-US" sz="2800" b="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𝐶</m:t>
                              </m:r>
                            </m:e>
                            <m:sub>
                              <m:r>
                                <a:rPr lang="en-US" sz="2800" b="0" i="1">
                                  <a:solidFill>
                                    <a:srgbClr val="000000"/>
                                  </a:solidFill>
                                  <a:latin typeface="Cambria Math" panose="02040503050406030204" pitchFamily="18" charset="0"/>
                                </a:rPr>
                                <m:t>𝑉</m:t>
                              </m:r>
                            </m:sub>
                          </m:sSub>
                        </m:num>
                        <m:den>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𝐶</m:t>
                              </m:r>
                            </m:e>
                            <m:sub>
                              <m:r>
                                <a:rPr lang="en-US" sz="2800" b="0" i="1">
                                  <a:solidFill>
                                    <a:srgbClr val="000000"/>
                                  </a:solidFill>
                                  <a:latin typeface="Cambria Math" panose="02040503050406030204" pitchFamily="18" charset="0"/>
                                </a:rPr>
                                <m:t>𝑝</m:t>
                              </m:r>
                            </m:sub>
                          </m:sSub>
                        </m:den>
                      </m:f>
                      <m:r>
                        <a:rPr lang="en-US" sz="2800" b="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b="0" i="1">
                              <a:solidFill>
                                <a:srgbClr val="000000"/>
                              </a:solidFill>
                              <a:latin typeface="Cambria Math" panose="02040503050406030204" pitchFamily="18" charset="0"/>
                            </a:rPr>
                            <m:t>7</m:t>
                          </m:r>
                        </m:num>
                        <m:den>
                          <m:r>
                            <a:rPr lang="en-US" sz="2800" b="0" i="1">
                              <a:solidFill>
                                <a:srgbClr val="000000"/>
                              </a:solidFill>
                              <a:latin typeface="Cambria Math" panose="02040503050406030204" pitchFamily="18" charset="0"/>
                            </a:rPr>
                            <m:t>5</m:t>
                          </m:r>
                        </m:den>
                      </m:f>
                      <m:r>
                        <a:rPr lang="en-US" sz="2800" b="0" i="1">
                          <a:solidFill>
                            <a:srgbClr val="000000"/>
                          </a:solidFill>
                          <a:latin typeface="Cambria Math" panose="02040503050406030204" pitchFamily="18" charset="0"/>
                        </a:rPr>
                        <m:t>=1.4</m:t>
                      </m:r>
                    </m:oMath>
                  </m:oMathPara>
                </a14:m>
                <a:endParaRPr lang="en-US" sz="2800" dirty="0">
                  <a:latin typeface="+mn-ea"/>
                </a:endParaRPr>
              </a:p>
            </p:txBody>
          </p:sp>
        </mc:Choice>
        <mc:Fallback xmlns="">
          <p:sp>
            <p:nvSpPr>
              <p:cNvPr id="3" name="Object 5">
                <a:extLst>
                  <a:ext uri="{FF2B5EF4-FFF2-40B4-BE49-F238E27FC236}">
                    <a16:creationId xmlns:a16="http://schemas.microsoft.com/office/drawing/2014/main" id="{41BBC624-97AF-6A1C-4BA5-91350A3F3466}"/>
                  </a:ext>
                </a:extLst>
              </p:cNvPr>
              <p:cNvSpPr txBox="1">
                <a:spLocks noRot="1" noChangeAspect="1" noMove="1" noResize="1" noEditPoints="1" noAdjustHandles="1" noChangeArrowheads="1" noChangeShapeType="1" noTextEdit="1"/>
              </p:cNvSpPr>
              <p:nvPr/>
            </p:nvSpPr>
            <p:spPr>
              <a:xfrm>
                <a:off x="2844801" y="4858075"/>
                <a:ext cx="3957636" cy="1068388"/>
              </a:xfrm>
              <a:prstGeom prst="rect">
                <a:avLst/>
              </a:prstGeom>
              <a:blipFill>
                <a:blip r:embed="rId2"/>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Object 6">
                <a:extLst>
                  <a:ext uri="{FF2B5EF4-FFF2-40B4-BE49-F238E27FC236}">
                    <a16:creationId xmlns:a16="http://schemas.microsoft.com/office/drawing/2014/main" id="{132F1C8D-0204-F4B6-9C8B-960EC31AEBDE}"/>
                  </a:ext>
                </a:extLst>
              </p:cNvPr>
              <p:cNvSpPr txBox="1"/>
              <p:nvPr/>
            </p:nvSpPr>
            <p:spPr>
              <a:xfrm>
                <a:off x="1172141" y="5926463"/>
                <a:ext cx="8444369" cy="1035050"/>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𝑇</m:t>
                          </m:r>
                        </m:e>
                        <m:sub>
                          <m:r>
                            <a:rPr lang="en-US" sz="2800" b="0" i="1">
                              <a:solidFill>
                                <a:srgbClr val="000000"/>
                              </a:solidFill>
                              <a:latin typeface="Cambria Math" panose="02040503050406030204" pitchFamily="18" charset="0"/>
                            </a:rPr>
                            <m:t>2</m:t>
                          </m:r>
                        </m:sub>
                      </m:sSub>
                      <m:r>
                        <a:rPr lang="en-US" sz="2800" b="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𝑇</m:t>
                          </m:r>
                        </m:e>
                        <m:sub>
                          <m:r>
                            <a:rPr lang="en-US" sz="2800" b="0" i="1">
                              <a:solidFill>
                                <a:srgbClr val="000000"/>
                              </a:solidFill>
                              <a:latin typeface="Cambria Math" panose="02040503050406030204" pitchFamily="18" charset="0"/>
                            </a:rPr>
                            <m:t>1</m:t>
                          </m:r>
                        </m:sub>
                      </m:sSub>
                      <m:r>
                        <a:rPr lang="en-US" sz="2800" b="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𝑝</m:t>
                              </m:r>
                            </m:e>
                            <m:sub>
                              <m:r>
                                <a:rPr lang="en-US" sz="2800" b="0" i="1">
                                  <a:solidFill>
                                    <a:srgbClr val="000000"/>
                                  </a:solidFill>
                                  <a:latin typeface="Cambria Math" panose="02040503050406030204" pitchFamily="18" charset="0"/>
                                </a:rPr>
                                <m:t>2</m:t>
                              </m:r>
                            </m:sub>
                          </m:sSub>
                        </m:num>
                        <m:den>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𝑝</m:t>
                              </m:r>
                            </m:e>
                            <m:sub>
                              <m:r>
                                <a:rPr lang="en-US" sz="2800" b="0" i="1">
                                  <a:solidFill>
                                    <a:srgbClr val="000000"/>
                                  </a:solidFill>
                                  <a:latin typeface="Cambria Math" panose="02040503050406030204" pitchFamily="18" charset="0"/>
                                </a:rPr>
                                <m:t>1</m:t>
                              </m:r>
                            </m:sub>
                          </m:sSub>
                        </m:den>
                      </m:f>
                      <m:sSup>
                        <m:sSupPr>
                          <m:ctrlPr>
                            <a:rPr lang="en-US" sz="2800" i="1">
                              <a:solidFill>
                                <a:srgbClr val="000000"/>
                              </a:solidFill>
                              <a:latin typeface="Cambria Math" panose="02040503050406030204" pitchFamily="18" charset="0"/>
                            </a:rPr>
                          </m:ctrlPr>
                        </m:sSupPr>
                        <m:e>
                          <m:r>
                            <a:rPr lang="en-US" sz="2800" b="0" i="1">
                              <a:solidFill>
                                <a:srgbClr val="000000"/>
                              </a:solidFill>
                              <a:latin typeface="Cambria Math" panose="02040503050406030204" pitchFamily="18" charset="0"/>
                            </a:rPr>
                            <m:t>)</m:t>
                          </m:r>
                        </m:e>
                        <m:sup>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𝛾</m:t>
                          </m:r>
                          <m:r>
                            <a:rPr lang="en-US" sz="2800" b="0" i="1">
                              <a:solidFill>
                                <a:srgbClr val="000000"/>
                              </a:solidFill>
                              <a:latin typeface="Cambria Math" panose="02040503050406030204" pitchFamily="18" charset="0"/>
                            </a:rPr>
                            <m:t>−1)/</m:t>
                          </m:r>
                          <m:r>
                            <a:rPr lang="en-US" sz="2800" b="0" i="1">
                              <a:solidFill>
                                <a:srgbClr val="000000"/>
                              </a:solidFill>
                              <a:latin typeface="Cambria Math" panose="02040503050406030204" pitchFamily="18" charset="0"/>
                            </a:rPr>
                            <m:t>𝛾</m:t>
                          </m:r>
                        </m:sup>
                      </m:sSup>
                      <m:r>
                        <a:rPr lang="en-US" sz="2800" b="0" i="1">
                          <a:solidFill>
                            <a:srgbClr val="000000"/>
                          </a:solidFill>
                          <a:latin typeface="Cambria Math" panose="02040503050406030204" pitchFamily="18" charset="0"/>
                        </a:rPr>
                        <m:t>=98.0</m:t>
                      </m:r>
                      <m:r>
                        <m:rPr>
                          <m:sty m:val="p"/>
                        </m:rPr>
                        <a:rPr lang="en-US" sz="2800" b="0" i="0">
                          <a:solidFill>
                            <a:srgbClr val="000000"/>
                          </a:solidFill>
                          <a:latin typeface="Cambria Math" panose="02040503050406030204" pitchFamily="18" charset="0"/>
                        </a:rPr>
                        <m:t>K</m:t>
                      </m:r>
                    </m:oMath>
                  </m:oMathPara>
                </a14:m>
                <a:endParaRPr lang="en-US" sz="2800" dirty="0">
                  <a:latin typeface="+mn-ea"/>
                </a:endParaRPr>
              </a:p>
            </p:txBody>
          </p:sp>
        </mc:Choice>
        <mc:Fallback xmlns="">
          <p:sp>
            <p:nvSpPr>
              <p:cNvPr id="4" name="Object 6">
                <a:extLst>
                  <a:ext uri="{FF2B5EF4-FFF2-40B4-BE49-F238E27FC236}">
                    <a16:creationId xmlns:a16="http://schemas.microsoft.com/office/drawing/2014/main" id="{132F1C8D-0204-F4B6-9C8B-960EC31AEBDE}"/>
                  </a:ext>
                </a:extLst>
              </p:cNvPr>
              <p:cNvSpPr txBox="1">
                <a:spLocks noRot="1" noChangeAspect="1" noMove="1" noResize="1" noEditPoints="1" noAdjustHandles="1" noChangeArrowheads="1" noChangeShapeType="1" noTextEdit="1"/>
              </p:cNvSpPr>
              <p:nvPr/>
            </p:nvSpPr>
            <p:spPr>
              <a:xfrm>
                <a:off x="1172141" y="5926463"/>
                <a:ext cx="8444369" cy="1035050"/>
              </a:xfrm>
              <a:prstGeom prst="rect">
                <a:avLst/>
              </a:prstGeom>
              <a:blipFill>
                <a:blip r:embed="rId3"/>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Object 7">
                <a:extLst>
                  <a:ext uri="{FF2B5EF4-FFF2-40B4-BE49-F238E27FC236}">
                    <a16:creationId xmlns:a16="http://schemas.microsoft.com/office/drawing/2014/main" id="{744337DC-99E8-A56A-D885-B6D3C9B4BD26}"/>
                  </a:ext>
                </a:extLst>
              </p:cNvPr>
              <p:cNvSpPr txBox="1"/>
              <p:nvPr/>
            </p:nvSpPr>
            <p:spPr>
              <a:xfrm>
                <a:off x="927523" y="3212201"/>
                <a:ext cx="4995439" cy="596900"/>
              </a:xfrm>
              <a:prstGeom prst="rect">
                <a:avLst/>
              </a:prstGeom>
              <a:noFill/>
              <a:ln w="38100">
                <a:noFill/>
                <a:miter/>
              </a:ln>
            </p:spPr>
            <p:txBody>
              <a:bodyPr>
                <a:noAutofit/>
              </a:bodyPr>
              <a:lstStyle/>
              <a:p>
                <a:r>
                  <a:rPr lang="zh-CN" altLang="en-US" sz="2800" dirty="0">
                    <a:solidFill>
                      <a:srgbClr val="000000"/>
                    </a:solidFill>
                  </a:rPr>
                  <a:t>已知</a:t>
                </a:r>
                <a14:m>
                  <m:oMath xmlns:m="http://schemas.openxmlformats.org/officeDocument/2006/math">
                    <m:r>
                      <a:rPr lang="zh-CN" altLang="en-US" sz="2800" i="1" smtClean="0">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𝑝</m:t>
                        </m:r>
                      </m:e>
                      <m:sub>
                        <m:r>
                          <a:rPr lang="en-US" sz="2800" b="0" i="1">
                            <a:solidFill>
                              <a:srgbClr val="000000"/>
                            </a:solidFill>
                            <a:latin typeface="Cambria Math" panose="02040503050406030204" pitchFamily="18" charset="0"/>
                          </a:rPr>
                          <m:t>1</m:t>
                        </m:r>
                      </m:sub>
                    </m:sSub>
                    <m:r>
                      <a:rPr lang="en-US" sz="2800" b="0" i="1">
                        <a:solidFill>
                          <a:srgbClr val="000000"/>
                        </a:solidFill>
                        <a:latin typeface="Cambria Math" panose="02040503050406030204" pitchFamily="18" charset="0"/>
                      </a:rPr>
                      <m:t>=50×1.01×1</m:t>
                    </m:r>
                    <m:sSup>
                      <m:sSupPr>
                        <m:ctrlPr>
                          <a:rPr lang="en-US" sz="2800" i="1">
                            <a:solidFill>
                              <a:srgbClr val="000000"/>
                            </a:solidFill>
                            <a:latin typeface="Cambria Math" panose="02040503050406030204" pitchFamily="18" charset="0"/>
                          </a:rPr>
                        </m:ctrlPr>
                      </m:sSupPr>
                      <m:e>
                        <m:r>
                          <a:rPr lang="en-US" sz="2800" b="0" i="1">
                            <a:solidFill>
                              <a:srgbClr val="000000"/>
                            </a:solidFill>
                            <a:latin typeface="Cambria Math" panose="02040503050406030204" pitchFamily="18" charset="0"/>
                          </a:rPr>
                          <m:t>0</m:t>
                        </m:r>
                      </m:e>
                      <m:sup>
                        <m:r>
                          <a:rPr lang="en-US" sz="2800" b="0" i="1">
                            <a:solidFill>
                              <a:srgbClr val="000000"/>
                            </a:solidFill>
                            <a:latin typeface="Cambria Math" panose="02040503050406030204" pitchFamily="18" charset="0"/>
                          </a:rPr>
                          <m:t>5</m:t>
                        </m:r>
                      </m:sup>
                    </m:sSup>
                    <m:r>
                      <m:rPr>
                        <m:nor/>
                      </m:rPr>
                      <a:rPr lang="en-US" sz="2800" i="0">
                        <a:solidFill>
                          <a:srgbClr val="000000"/>
                        </a:solidFill>
                        <a:latin typeface="+mn-ea"/>
                      </a:rPr>
                      <m:t>Pa</m:t>
                    </m:r>
                  </m:oMath>
                </a14:m>
                <a:endParaRPr lang="en-US" sz="2800" dirty="0">
                  <a:latin typeface="+mn-ea"/>
                </a:endParaRPr>
              </a:p>
            </p:txBody>
          </p:sp>
        </mc:Choice>
        <mc:Fallback xmlns="">
          <p:sp>
            <p:nvSpPr>
              <p:cNvPr id="5" name="Object 7">
                <a:extLst>
                  <a:ext uri="{FF2B5EF4-FFF2-40B4-BE49-F238E27FC236}">
                    <a16:creationId xmlns:a16="http://schemas.microsoft.com/office/drawing/2014/main" id="{744337DC-99E8-A56A-D885-B6D3C9B4BD26}"/>
                  </a:ext>
                </a:extLst>
              </p:cNvPr>
              <p:cNvSpPr txBox="1">
                <a:spLocks noRot="1" noChangeAspect="1" noMove="1" noResize="1" noEditPoints="1" noAdjustHandles="1" noChangeArrowheads="1" noChangeShapeType="1" noTextEdit="1"/>
              </p:cNvSpPr>
              <p:nvPr/>
            </p:nvSpPr>
            <p:spPr>
              <a:xfrm>
                <a:off x="927523" y="3212201"/>
                <a:ext cx="4995439" cy="596900"/>
              </a:xfrm>
              <a:prstGeom prst="rect">
                <a:avLst/>
              </a:prstGeom>
              <a:blipFill>
                <a:blip r:embed="rId4"/>
                <a:stretch>
                  <a:fillRect l="-2439" t="-8163" b="-18367"/>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Object 8">
                <a:extLst>
                  <a:ext uri="{FF2B5EF4-FFF2-40B4-BE49-F238E27FC236}">
                    <a16:creationId xmlns:a16="http://schemas.microsoft.com/office/drawing/2014/main" id="{1DB9017C-9C28-BAC1-B26F-E624A7E4905A}"/>
                  </a:ext>
                </a:extLst>
              </p:cNvPr>
              <p:cNvSpPr txBox="1"/>
              <p:nvPr/>
            </p:nvSpPr>
            <p:spPr>
              <a:xfrm>
                <a:off x="9378343" y="3155739"/>
                <a:ext cx="2463800" cy="476250"/>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𝑇</m:t>
                          </m:r>
                        </m:e>
                        <m:sub>
                          <m:r>
                            <a:rPr lang="en-US" sz="2800" b="0" i="1">
                              <a:solidFill>
                                <a:srgbClr val="000000"/>
                              </a:solidFill>
                              <a:latin typeface="Cambria Math" panose="02040503050406030204" pitchFamily="18" charset="0"/>
                            </a:rPr>
                            <m:t>1</m:t>
                          </m:r>
                        </m:sub>
                      </m:sSub>
                      <m:r>
                        <a:rPr lang="en-US" sz="2800" b="0" i="1">
                          <a:solidFill>
                            <a:srgbClr val="000000"/>
                          </a:solidFill>
                          <a:latin typeface="Cambria Math" panose="02040503050406030204" pitchFamily="18" charset="0"/>
                        </a:rPr>
                        <m:t>=300</m:t>
                      </m:r>
                      <m:r>
                        <m:rPr>
                          <m:sty m:val="p"/>
                        </m:rPr>
                        <a:rPr lang="en-US" sz="2800" b="0" i="0">
                          <a:solidFill>
                            <a:srgbClr val="000000"/>
                          </a:solidFill>
                          <a:latin typeface="Cambria Math" panose="02040503050406030204" pitchFamily="18" charset="0"/>
                        </a:rPr>
                        <m:t>K</m:t>
                      </m:r>
                    </m:oMath>
                  </m:oMathPara>
                </a14:m>
                <a:endParaRPr lang="en-US" sz="2800" dirty="0">
                  <a:latin typeface="+mn-ea"/>
                </a:endParaRPr>
              </a:p>
            </p:txBody>
          </p:sp>
        </mc:Choice>
        <mc:Fallback xmlns="">
          <p:sp>
            <p:nvSpPr>
              <p:cNvPr id="6" name="Object 8">
                <a:extLst>
                  <a:ext uri="{FF2B5EF4-FFF2-40B4-BE49-F238E27FC236}">
                    <a16:creationId xmlns:a16="http://schemas.microsoft.com/office/drawing/2014/main" id="{1DB9017C-9C28-BAC1-B26F-E624A7E4905A}"/>
                  </a:ext>
                </a:extLst>
              </p:cNvPr>
              <p:cNvSpPr txBox="1">
                <a:spLocks noRot="1" noChangeAspect="1" noMove="1" noResize="1" noEditPoints="1" noAdjustHandles="1" noChangeArrowheads="1" noChangeShapeType="1" noTextEdit="1"/>
              </p:cNvSpPr>
              <p:nvPr/>
            </p:nvSpPr>
            <p:spPr>
              <a:xfrm>
                <a:off x="9378343" y="3155739"/>
                <a:ext cx="2463800" cy="476250"/>
              </a:xfrm>
              <a:prstGeom prst="rect">
                <a:avLst/>
              </a:prstGeom>
              <a:blipFill>
                <a:blip r:embed="rId5"/>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Object 9">
                <a:extLst>
                  <a:ext uri="{FF2B5EF4-FFF2-40B4-BE49-F238E27FC236}">
                    <a16:creationId xmlns:a16="http://schemas.microsoft.com/office/drawing/2014/main" id="{3392D354-461F-B838-D4A1-EEF60DCE2FEA}"/>
                  </a:ext>
                </a:extLst>
              </p:cNvPr>
              <p:cNvSpPr txBox="1"/>
              <p:nvPr/>
            </p:nvSpPr>
            <p:spPr>
              <a:xfrm>
                <a:off x="5721351" y="3155739"/>
                <a:ext cx="4058630" cy="58737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𝑝</m:t>
                          </m:r>
                        </m:e>
                        <m:sub>
                          <m:r>
                            <a:rPr lang="en-US" sz="2800" b="0" i="1">
                              <a:solidFill>
                                <a:srgbClr val="000000"/>
                              </a:solidFill>
                              <a:latin typeface="Cambria Math" panose="02040503050406030204" pitchFamily="18" charset="0"/>
                            </a:rPr>
                            <m:t>2</m:t>
                          </m:r>
                        </m:sub>
                      </m:sSub>
                      <m:r>
                        <a:rPr lang="en-US" sz="2800" b="0" i="1">
                          <a:solidFill>
                            <a:srgbClr val="000000"/>
                          </a:solidFill>
                          <a:latin typeface="Cambria Math" panose="02040503050406030204" pitchFamily="18" charset="0"/>
                        </a:rPr>
                        <m:t>=1.01×1</m:t>
                      </m:r>
                      <m:sSup>
                        <m:sSupPr>
                          <m:ctrlPr>
                            <a:rPr lang="en-US" sz="2800" i="1">
                              <a:solidFill>
                                <a:srgbClr val="000000"/>
                              </a:solidFill>
                              <a:latin typeface="Cambria Math" panose="02040503050406030204" pitchFamily="18" charset="0"/>
                            </a:rPr>
                          </m:ctrlPr>
                        </m:sSupPr>
                        <m:e>
                          <m:r>
                            <a:rPr lang="en-US" sz="2800" b="0" i="1">
                              <a:solidFill>
                                <a:srgbClr val="000000"/>
                              </a:solidFill>
                              <a:latin typeface="Cambria Math" panose="02040503050406030204" pitchFamily="18" charset="0"/>
                            </a:rPr>
                            <m:t>0</m:t>
                          </m:r>
                        </m:e>
                        <m:sup>
                          <m:r>
                            <a:rPr lang="en-US" sz="2800" b="0" i="1">
                              <a:solidFill>
                                <a:srgbClr val="000000"/>
                              </a:solidFill>
                              <a:latin typeface="Cambria Math" panose="02040503050406030204" pitchFamily="18" charset="0"/>
                            </a:rPr>
                            <m:t>5</m:t>
                          </m:r>
                        </m:sup>
                      </m:sSup>
                      <m:r>
                        <m:rPr>
                          <m:nor/>
                        </m:rPr>
                        <a:rPr lang="en-US" sz="2800" i="0">
                          <a:solidFill>
                            <a:srgbClr val="000000"/>
                          </a:solidFill>
                          <a:latin typeface="+mn-ea"/>
                        </a:rPr>
                        <m:t>Pa</m:t>
                      </m:r>
                    </m:oMath>
                  </m:oMathPara>
                </a14:m>
                <a:endParaRPr lang="en-US" sz="2800" dirty="0">
                  <a:latin typeface="+mn-ea"/>
                </a:endParaRPr>
              </a:p>
            </p:txBody>
          </p:sp>
        </mc:Choice>
        <mc:Fallback xmlns="">
          <p:sp>
            <p:nvSpPr>
              <p:cNvPr id="7" name="Object 9">
                <a:extLst>
                  <a:ext uri="{FF2B5EF4-FFF2-40B4-BE49-F238E27FC236}">
                    <a16:creationId xmlns:a16="http://schemas.microsoft.com/office/drawing/2014/main" id="{3392D354-461F-B838-D4A1-EEF60DCE2FEA}"/>
                  </a:ext>
                </a:extLst>
              </p:cNvPr>
              <p:cNvSpPr txBox="1">
                <a:spLocks noRot="1" noChangeAspect="1" noMove="1" noResize="1" noEditPoints="1" noAdjustHandles="1" noChangeArrowheads="1" noChangeShapeType="1" noTextEdit="1"/>
              </p:cNvSpPr>
              <p:nvPr/>
            </p:nvSpPr>
            <p:spPr>
              <a:xfrm>
                <a:off x="5721351" y="3155739"/>
                <a:ext cx="4058630" cy="587375"/>
              </a:xfrm>
              <a:prstGeom prst="rect">
                <a:avLst/>
              </a:prstGeom>
              <a:blipFill>
                <a:blip r:embed="rId6"/>
                <a:stretch>
                  <a:fillRect/>
                </a:stretch>
              </a:blipFill>
              <a:ln w="38100">
                <a:noFill/>
                <a:miter/>
              </a:ln>
            </p:spPr>
            <p:txBody>
              <a:bodyPr/>
              <a:lstStyle/>
              <a:p>
                <a:r>
                  <a:rPr lang="zh-CN" altLang="en-US">
                    <a:noFill/>
                  </a:rPr>
                  <a:t> </a:t>
                </a:r>
              </a:p>
            </p:txBody>
          </p:sp>
        </mc:Fallback>
      </mc:AlternateContent>
      <p:grpSp>
        <p:nvGrpSpPr>
          <p:cNvPr id="8" name="Group 12">
            <a:extLst>
              <a:ext uri="{FF2B5EF4-FFF2-40B4-BE49-F238E27FC236}">
                <a16:creationId xmlns:a16="http://schemas.microsoft.com/office/drawing/2014/main" id="{4B318FBA-1B60-6DB9-F0BC-782CFE1D75F2}"/>
              </a:ext>
            </a:extLst>
          </p:cNvPr>
          <p:cNvGrpSpPr/>
          <p:nvPr/>
        </p:nvGrpSpPr>
        <p:grpSpPr>
          <a:xfrm>
            <a:off x="798513" y="4174203"/>
            <a:ext cx="5638800" cy="527050"/>
            <a:chOff x="231" y="1721"/>
            <a:chExt cx="3552" cy="332"/>
          </a:xfrm>
        </p:grpSpPr>
        <p:sp>
          <p:nvSpPr>
            <p:cNvPr id="9" name="Rectangle 4">
              <a:extLst>
                <a:ext uri="{FF2B5EF4-FFF2-40B4-BE49-F238E27FC236}">
                  <a16:creationId xmlns:a16="http://schemas.microsoft.com/office/drawing/2014/main" id="{443736DD-9FFB-4AE7-8206-E7B0862185AA}"/>
                </a:ext>
              </a:extLst>
            </p:cNvPr>
            <p:cNvSpPr/>
            <p:nvPr/>
          </p:nvSpPr>
          <p:spPr>
            <a:xfrm>
              <a:off x="231" y="1723"/>
              <a:ext cx="3552" cy="330"/>
            </a:xfrm>
            <a:prstGeom prst="rect">
              <a:avLst/>
            </a:prstGeom>
            <a:noFill/>
            <a:ln w="9525">
              <a:noFill/>
            </a:ln>
          </p:spPr>
          <p:txBody>
            <a:bodyPr>
              <a:spAutoFit/>
            </a:bodyPr>
            <a:lstStyle/>
            <a:p>
              <a:pPr eaLnBrk="1" hangingPunct="1"/>
              <a:r>
                <a:rPr lang="zh-CN" altLang="en-US" sz="2800" dirty="0">
                  <a:solidFill>
                    <a:srgbClr val="000000"/>
                  </a:solidFill>
                  <a:latin typeface="+mn-ea"/>
                </a:rPr>
                <a:t>氮气为双原子气体</a:t>
              </a:r>
              <a:r>
                <a:rPr lang="en-US" altLang="zh-CN" sz="2800" dirty="0">
                  <a:solidFill>
                    <a:srgbClr val="000000"/>
                  </a:solidFill>
                  <a:latin typeface="+mn-ea"/>
                </a:rPr>
                <a:t>, </a:t>
              </a:r>
            </a:p>
          </p:txBody>
        </p:sp>
        <mc:AlternateContent xmlns:mc="http://schemas.openxmlformats.org/markup-compatibility/2006" xmlns:a14="http://schemas.microsoft.com/office/drawing/2010/main">
          <mc:Choice Requires="a14">
            <p:sp>
              <p:nvSpPr>
                <p:cNvPr id="10" name="Object 10">
                  <a:extLst>
                    <a:ext uri="{FF2B5EF4-FFF2-40B4-BE49-F238E27FC236}">
                      <a16:creationId xmlns:a16="http://schemas.microsoft.com/office/drawing/2014/main" id="{62C274C8-DA5A-7CEA-A50E-D80F3290F03B}"/>
                    </a:ext>
                  </a:extLst>
                </p:cNvPr>
                <p:cNvSpPr txBox="1"/>
                <p:nvPr/>
              </p:nvSpPr>
              <p:spPr>
                <a:xfrm>
                  <a:off x="2220" y="1721"/>
                  <a:ext cx="906" cy="308"/>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𝑖</m:t>
                        </m:r>
                        <m:r>
                          <a:rPr lang="en-US" sz="2800" b="0" i="1">
                            <a:solidFill>
                              <a:srgbClr val="000000"/>
                            </a:solidFill>
                            <a:latin typeface="Cambria Math" panose="02040503050406030204" pitchFamily="18" charset="0"/>
                          </a:rPr>
                          <m:t>=5</m:t>
                        </m:r>
                      </m:oMath>
                    </m:oMathPara>
                  </a14:m>
                  <a:endParaRPr lang="en-US" sz="2800" dirty="0">
                    <a:latin typeface="+mn-ea"/>
                  </a:endParaRPr>
                </a:p>
              </p:txBody>
            </p:sp>
          </mc:Choice>
          <mc:Fallback xmlns="">
            <p:sp>
              <p:nvSpPr>
                <p:cNvPr id="10" name="Object 10">
                  <a:extLst>
                    <a:ext uri="{FF2B5EF4-FFF2-40B4-BE49-F238E27FC236}">
                      <a16:creationId xmlns:a16="http://schemas.microsoft.com/office/drawing/2014/main" id="{62C274C8-DA5A-7CEA-A50E-D80F3290F03B}"/>
                    </a:ext>
                  </a:extLst>
                </p:cNvPr>
                <p:cNvSpPr txBox="1">
                  <a:spLocks noRot="1" noChangeAspect="1" noMove="1" noResize="1" noEditPoints="1" noAdjustHandles="1" noChangeArrowheads="1" noChangeShapeType="1" noTextEdit="1"/>
                </p:cNvSpPr>
                <p:nvPr/>
              </p:nvSpPr>
              <p:spPr>
                <a:xfrm>
                  <a:off x="2220" y="1721"/>
                  <a:ext cx="906" cy="308"/>
                </a:xfrm>
                <a:prstGeom prst="rect">
                  <a:avLst/>
                </a:prstGeom>
                <a:blipFill>
                  <a:blip r:embed="rId7"/>
                  <a:stretch>
                    <a:fillRect/>
                  </a:stretch>
                </a:blipFill>
                <a:ln w="38100">
                  <a:noFill/>
                  <a:miter/>
                </a:ln>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1" name="Object 11">
                <a:extLst>
                  <a:ext uri="{FF2B5EF4-FFF2-40B4-BE49-F238E27FC236}">
                    <a16:creationId xmlns:a16="http://schemas.microsoft.com/office/drawing/2014/main" id="{5C8F3E96-87AC-8333-F01E-6ECCBEC930D3}"/>
                  </a:ext>
                </a:extLst>
              </p:cNvPr>
              <p:cNvSpPr txBox="1"/>
              <p:nvPr/>
            </p:nvSpPr>
            <p:spPr>
              <a:xfrm>
                <a:off x="5573106" y="3987394"/>
                <a:ext cx="4770437" cy="935038"/>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𝐶</m:t>
                          </m:r>
                        </m:e>
                        <m:sub>
                          <m:r>
                            <a:rPr lang="en-US" sz="2800" b="0" i="1">
                              <a:solidFill>
                                <a:srgbClr val="000000"/>
                              </a:solidFill>
                              <a:latin typeface="Cambria Math" panose="02040503050406030204" pitchFamily="18" charset="0"/>
                            </a:rPr>
                            <m:t>𝑉</m:t>
                          </m:r>
                        </m:sub>
                      </m:sSub>
                      <m:r>
                        <a:rPr lang="en-US" sz="2800" b="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b="0" i="1">
                              <a:solidFill>
                                <a:srgbClr val="000000"/>
                              </a:solidFill>
                              <a:latin typeface="Cambria Math" panose="02040503050406030204" pitchFamily="18" charset="0"/>
                            </a:rPr>
                            <m:t>𝑖</m:t>
                          </m:r>
                        </m:num>
                        <m:den>
                          <m:r>
                            <a:rPr lang="en-US" sz="2800" b="0" i="1">
                              <a:solidFill>
                                <a:srgbClr val="000000"/>
                              </a:solidFill>
                              <a:latin typeface="Cambria Math" panose="02040503050406030204" pitchFamily="18" charset="0"/>
                            </a:rPr>
                            <m:t>2</m:t>
                          </m:r>
                        </m:den>
                      </m:f>
                      <m:r>
                        <a:rPr lang="en-US" sz="2800" b="0" i="1">
                          <a:solidFill>
                            <a:srgbClr val="000000"/>
                          </a:solidFill>
                          <a:latin typeface="Cambria Math" panose="02040503050406030204" pitchFamily="18" charset="0"/>
                        </a:rPr>
                        <m:t>𝑅</m:t>
                      </m:r>
                      <m:r>
                        <a:rPr lang="en-US" sz="2800" b="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  </m:t>
                          </m:r>
                          <m:r>
                            <a:rPr lang="en-US" sz="2800" b="0" i="1">
                              <a:solidFill>
                                <a:srgbClr val="000000"/>
                              </a:solidFill>
                              <a:latin typeface="Cambria Math" panose="02040503050406030204" pitchFamily="18" charset="0"/>
                            </a:rPr>
                            <m:t>𝐶</m:t>
                          </m:r>
                        </m:e>
                        <m:sub>
                          <m:r>
                            <a:rPr lang="en-US" sz="2800" b="0" i="1">
                              <a:solidFill>
                                <a:srgbClr val="000000"/>
                              </a:solidFill>
                              <a:latin typeface="Cambria Math" panose="02040503050406030204" pitchFamily="18" charset="0"/>
                            </a:rPr>
                            <m:t>𝑝</m:t>
                          </m:r>
                        </m:sub>
                      </m:sSub>
                      <m:r>
                        <a:rPr lang="en-US" sz="2800" b="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b="0" i="1">
                              <a:solidFill>
                                <a:srgbClr val="000000"/>
                              </a:solidFill>
                              <a:latin typeface="Cambria Math" panose="02040503050406030204" pitchFamily="18" charset="0"/>
                            </a:rPr>
                            <m:t>𝑖</m:t>
                          </m:r>
                        </m:num>
                        <m:den>
                          <m:r>
                            <a:rPr lang="en-US" sz="2800" b="0" i="1">
                              <a:solidFill>
                                <a:srgbClr val="000000"/>
                              </a:solidFill>
                              <a:latin typeface="Cambria Math" panose="02040503050406030204" pitchFamily="18" charset="0"/>
                            </a:rPr>
                            <m:t>2</m:t>
                          </m:r>
                        </m:den>
                      </m:f>
                      <m:r>
                        <a:rPr lang="en-US" sz="2800" b="0" i="1">
                          <a:solidFill>
                            <a:srgbClr val="000000"/>
                          </a:solidFill>
                          <a:latin typeface="Cambria Math" panose="02040503050406030204" pitchFamily="18" charset="0"/>
                        </a:rPr>
                        <m:t>𝑅</m:t>
                      </m:r>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𝑅</m:t>
                      </m:r>
                    </m:oMath>
                  </m:oMathPara>
                </a14:m>
                <a:endParaRPr lang="en-US" sz="2800" dirty="0">
                  <a:latin typeface="+mn-ea"/>
                </a:endParaRPr>
              </a:p>
            </p:txBody>
          </p:sp>
        </mc:Choice>
        <mc:Fallback xmlns="">
          <p:sp>
            <p:nvSpPr>
              <p:cNvPr id="11" name="Object 11">
                <a:extLst>
                  <a:ext uri="{FF2B5EF4-FFF2-40B4-BE49-F238E27FC236}">
                    <a16:creationId xmlns:a16="http://schemas.microsoft.com/office/drawing/2014/main" id="{5C8F3E96-87AC-8333-F01E-6ECCBEC930D3}"/>
                  </a:ext>
                </a:extLst>
              </p:cNvPr>
              <p:cNvSpPr txBox="1">
                <a:spLocks noRot="1" noChangeAspect="1" noMove="1" noResize="1" noEditPoints="1" noAdjustHandles="1" noChangeArrowheads="1" noChangeShapeType="1" noTextEdit="1"/>
              </p:cNvSpPr>
              <p:nvPr/>
            </p:nvSpPr>
            <p:spPr>
              <a:xfrm>
                <a:off x="5573106" y="3987394"/>
                <a:ext cx="4770437" cy="935038"/>
              </a:xfrm>
              <a:prstGeom prst="rect">
                <a:avLst/>
              </a:prstGeom>
              <a:blipFill>
                <a:blip r:embed="rId8"/>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Object 11">
                <a:extLst>
                  <a:ext uri="{FF2B5EF4-FFF2-40B4-BE49-F238E27FC236}">
                    <a16:creationId xmlns:a16="http://schemas.microsoft.com/office/drawing/2014/main" id="{377FEA98-63E1-70B1-47CE-1CD3272F267C}"/>
                  </a:ext>
                </a:extLst>
              </p:cNvPr>
              <p:cNvSpPr txBox="1"/>
              <p:nvPr/>
            </p:nvSpPr>
            <p:spPr>
              <a:xfrm>
                <a:off x="7883805" y="2321975"/>
                <a:ext cx="2584627" cy="589484"/>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p>
                        <m:sSupPr>
                          <m:ctrlPr>
                            <a:rPr lang="en-US" sz="2800" i="1">
                              <a:solidFill>
                                <a:srgbClr val="000000"/>
                              </a:solidFill>
                              <a:latin typeface="Cambria Math" panose="02040503050406030204" pitchFamily="18" charset="0"/>
                            </a:rPr>
                          </m:ctrlPr>
                        </m:sSupPr>
                        <m:e>
                          <m:r>
                            <a:rPr lang="en-US" sz="2800" b="0" i="1">
                              <a:solidFill>
                                <a:srgbClr val="000000"/>
                              </a:solidFill>
                              <a:latin typeface="Cambria Math" panose="02040503050406030204" pitchFamily="18" charset="0"/>
                            </a:rPr>
                            <m:t>𝑝</m:t>
                          </m:r>
                        </m:e>
                        <m:sup>
                          <m:r>
                            <a:rPr lang="en-US" sz="2800" b="0" i="1">
                              <a:solidFill>
                                <a:srgbClr val="000000"/>
                              </a:solidFill>
                              <a:latin typeface="Cambria Math" panose="02040503050406030204" pitchFamily="18" charset="0"/>
                            </a:rPr>
                            <m:t>𝛾</m:t>
                          </m:r>
                          <m:r>
                            <a:rPr lang="en-US" sz="2800" b="0" i="1">
                              <a:solidFill>
                                <a:srgbClr val="000000"/>
                              </a:solidFill>
                              <a:latin typeface="Cambria Math" panose="02040503050406030204" pitchFamily="18" charset="0"/>
                            </a:rPr>
                            <m:t>−1</m:t>
                          </m:r>
                        </m:sup>
                      </m:sSup>
                      <m:sSup>
                        <m:sSupPr>
                          <m:ctrlPr>
                            <a:rPr lang="en-US" sz="2800" i="1">
                              <a:solidFill>
                                <a:srgbClr val="000000"/>
                              </a:solidFill>
                              <a:latin typeface="Cambria Math" panose="02040503050406030204" pitchFamily="18" charset="0"/>
                            </a:rPr>
                          </m:ctrlPr>
                        </m:sSupPr>
                        <m:e>
                          <m:r>
                            <a:rPr lang="en-US" sz="2800" b="0" i="1">
                              <a:solidFill>
                                <a:srgbClr val="000000"/>
                              </a:solidFill>
                              <a:latin typeface="Cambria Math" panose="02040503050406030204" pitchFamily="18" charset="0"/>
                            </a:rPr>
                            <m:t>𝑇</m:t>
                          </m:r>
                        </m:e>
                        <m:sup>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𝛾</m:t>
                          </m:r>
                        </m:sup>
                      </m:sSup>
                      <m:r>
                        <a:rPr lang="en-US" sz="2800" b="0" i="1">
                          <a:solidFill>
                            <a:srgbClr val="000000"/>
                          </a:solidFill>
                          <a:latin typeface="Cambria Math" panose="02040503050406030204" pitchFamily="18" charset="0"/>
                        </a:rPr>
                        <m:t>=</m:t>
                      </m:r>
                    </m:oMath>
                  </m:oMathPara>
                </a14:m>
                <a:endParaRPr lang="en-US" sz="2800" dirty="0"/>
              </a:p>
            </p:txBody>
          </p:sp>
        </mc:Choice>
        <mc:Fallback xmlns="">
          <p:sp>
            <p:nvSpPr>
              <p:cNvPr id="14" name="Object 11">
                <a:extLst>
                  <a:ext uri="{FF2B5EF4-FFF2-40B4-BE49-F238E27FC236}">
                    <a16:creationId xmlns:a16="http://schemas.microsoft.com/office/drawing/2014/main" id="{377FEA98-63E1-70B1-47CE-1CD3272F267C}"/>
                  </a:ext>
                </a:extLst>
              </p:cNvPr>
              <p:cNvSpPr txBox="1">
                <a:spLocks noRot="1" noChangeAspect="1" noMove="1" noResize="1" noEditPoints="1" noAdjustHandles="1" noChangeArrowheads="1" noChangeShapeType="1" noTextEdit="1"/>
              </p:cNvSpPr>
              <p:nvPr/>
            </p:nvSpPr>
            <p:spPr>
              <a:xfrm>
                <a:off x="7883805" y="2321975"/>
                <a:ext cx="2584627" cy="589484"/>
              </a:xfrm>
              <a:prstGeom prst="rect">
                <a:avLst/>
              </a:prstGeom>
              <a:blipFill>
                <a:blip r:embed="rId9"/>
                <a:stretch>
                  <a:fillRect/>
                </a:stretch>
              </a:blipFill>
              <a:ln w="38100">
                <a:noFill/>
                <a:miter/>
              </a:ln>
            </p:spPr>
            <p:txBody>
              <a:bodyPr/>
              <a:lstStyle/>
              <a:p>
                <a:r>
                  <a:rPr lang="zh-CN" altLang="en-US">
                    <a:noFill/>
                  </a:rPr>
                  <a:t> </a:t>
                </a:r>
              </a:p>
            </p:txBody>
          </p:sp>
        </mc:Fallback>
      </mc:AlternateContent>
      <p:sp>
        <p:nvSpPr>
          <p:cNvPr id="15" name="Rectangle 14">
            <a:extLst>
              <a:ext uri="{FF2B5EF4-FFF2-40B4-BE49-F238E27FC236}">
                <a16:creationId xmlns:a16="http://schemas.microsoft.com/office/drawing/2014/main" id="{A8E67028-58AE-43E4-7FE3-CB65660530E2}"/>
              </a:ext>
            </a:extLst>
          </p:cNvPr>
          <p:cNvSpPr/>
          <p:nvPr/>
        </p:nvSpPr>
        <p:spPr>
          <a:xfrm>
            <a:off x="10014249" y="2355287"/>
            <a:ext cx="1685626" cy="522860"/>
          </a:xfrm>
          <a:prstGeom prst="rect">
            <a:avLst/>
          </a:prstGeom>
          <a:noFill/>
          <a:ln w="9525">
            <a:noFill/>
          </a:ln>
        </p:spPr>
        <p:txBody>
          <a:bodyPr>
            <a:spAutoFit/>
          </a:bodyPr>
          <a:lstStyle/>
          <a:p>
            <a:pPr eaLnBrk="1" hangingPunct="1">
              <a:spcBef>
                <a:spcPct val="50000"/>
              </a:spcBef>
            </a:pPr>
            <a:r>
              <a:rPr lang="zh-CN" altLang="en-US" sz="2800" dirty="0">
                <a:solidFill>
                  <a:srgbClr val="000000"/>
                </a:solidFill>
                <a:latin typeface="Times New Roman" panose="02020603050405020304" pitchFamily="18" charset="0"/>
              </a:rPr>
              <a:t>常量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11" grpId="0"/>
      <p:bldP spid="14" grpId="0"/>
      <p:bldP spid="1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8" name="Rectangle 2"/>
          <p:cNvSpPr/>
          <p:nvPr/>
        </p:nvSpPr>
        <p:spPr>
          <a:xfrm>
            <a:off x="2200275" y="2867024"/>
            <a:ext cx="3733800" cy="2971800"/>
          </a:xfrm>
          <a:prstGeom prst="rect">
            <a:avLst/>
          </a:prstGeom>
          <a:solidFill>
            <a:srgbClr val="FFFFFF"/>
          </a:solidFill>
          <a:ln w="9525" cap="flat" cmpd="sng">
            <a:noFill/>
            <a:prstDash val="solid"/>
            <a:miter/>
            <a:headEnd type="none" w="med" len="med"/>
            <a:tailEnd type="none" w="med" len="med"/>
          </a:ln>
        </p:spPr>
        <p:txBody>
          <a:bodyPr wrap="none" anchor="ctr" anchorCtr="0"/>
          <a:lstStyle/>
          <a:p>
            <a:endParaRPr lang="zh-CN" altLang="en-US" sz="2800" dirty="0">
              <a:latin typeface="Bookman Old Style" panose="02050604050505020204" pitchFamily="18" charset="0"/>
            </a:endParaRPr>
          </a:p>
        </p:txBody>
      </p:sp>
      <p:grpSp>
        <p:nvGrpSpPr>
          <p:cNvPr id="4109" name="Group 3"/>
          <p:cNvGrpSpPr/>
          <p:nvPr/>
        </p:nvGrpSpPr>
        <p:grpSpPr>
          <a:xfrm>
            <a:off x="2276475" y="2897188"/>
            <a:ext cx="3513138" cy="2797175"/>
            <a:chOff x="3072" y="1632"/>
            <a:chExt cx="2213" cy="1762"/>
          </a:xfrm>
        </p:grpSpPr>
        <p:sp>
          <p:nvSpPr>
            <p:cNvPr id="4127" name="Line 4"/>
            <p:cNvSpPr/>
            <p:nvPr/>
          </p:nvSpPr>
          <p:spPr>
            <a:xfrm flipV="1">
              <a:off x="3306" y="3120"/>
              <a:ext cx="1974" cy="6"/>
            </a:xfrm>
            <a:prstGeom prst="line">
              <a:avLst/>
            </a:prstGeom>
            <a:ln w="19050" cap="flat" cmpd="sng">
              <a:solidFill>
                <a:srgbClr val="333333"/>
              </a:solidFill>
              <a:prstDash val="solid"/>
              <a:headEnd type="none" w="med" len="med"/>
              <a:tailEnd type="triangle" w="sm" len="lg"/>
            </a:ln>
          </p:spPr>
        </p:sp>
        <p:sp>
          <p:nvSpPr>
            <p:cNvPr id="4128" name="Line 5"/>
            <p:cNvSpPr/>
            <p:nvPr/>
          </p:nvSpPr>
          <p:spPr>
            <a:xfrm flipV="1">
              <a:off x="3306" y="1638"/>
              <a:ext cx="0" cy="1488"/>
            </a:xfrm>
            <a:prstGeom prst="line">
              <a:avLst/>
            </a:prstGeom>
            <a:ln w="19050" cap="flat" cmpd="sng">
              <a:solidFill>
                <a:srgbClr val="333333"/>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4105" name="Object 6"/>
                <p:cNvSpPr txBox="1"/>
                <p:nvPr/>
              </p:nvSpPr>
              <p:spPr>
                <a:xfrm>
                  <a:off x="3072" y="1632"/>
                  <a:ext cx="192" cy="228"/>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𝑝</m:t>
                        </m:r>
                      </m:oMath>
                    </m:oMathPara>
                  </a14:m>
                  <a:endParaRPr lang="zh-CN" altLang="en-US" sz="2800"/>
                </a:p>
              </p:txBody>
            </p:sp>
          </mc:Choice>
          <mc:Fallback xmlns="">
            <p:sp>
              <p:nvSpPr>
                <p:cNvPr id="4105" name="Object 6"/>
                <p:cNvSpPr txBox="1">
                  <a:spLocks noRot="1" noChangeAspect="1" noMove="1" noResize="1" noEditPoints="1" noAdjustHandles="1" noChangeArrowheads="1" noChangeShapeType="1" noTextEdit="1"/>
                </p:cNvSpPr>
                <p:nvPr/>
              </p:nvSpPr>
              <p:spPr>
                <a:xfrm>
                  <a:off x="3072" y="1632"/>
                  <a:ext cx="192" cy="228"/>
                </a:xfrm>
                <a:prstGeom prst="rect">
                  <a:avLst/>
                </a:prstGeom>
                <a:blipFill>
                  <a:blip r:embed="rId2"/>
                  <a:stretch>
                    <a:fillRect b="-26667"/>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06" name="Object 7"/>
                <p:cNvSpPr txBox="1"/>
                <p:nvPr/>
              </p:nvSpPr>
              <p:spPr>
                <a:xfrm>
                  <a:off x="5088" y="3174"/>
                  <a:ext cx="197" cy="220"/>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𝑉</m:t>
                        </m:r>
                      </m:oMath>
                    </m:oMathPara>
                  </a14:m>
                  <a:endParaRPr lang="zh-CN" altLang="en-US" sz="2800"/>
                </a:p>
              </p:txBody>
            </p:sp>
          </mc:Choice>
          <mc:Fallback xmlns="">
            <p:sp>
              <p:nvSpPr>
                <p:cNvPr id="4106" name="Object 7"/>
                <p:cNvSpPr txBox="1">
                  <a:spLocks noRot="1" noChangeAspect="1" noMove="1" noResize="1" noEditPoints="1" noAdjustHandles="1" noChangeArrowheads="1" noChangeShapeType="1" noTextEdit="1"/>
                </p:cNvSpPr>
                <p:nvPr/>
              </p:nvSpPr>
              <p:spPr>
                <a:xfrm>
                  <a:off x="5088" y="3174"/>
                  <a:ext cx="197" cy="220"/>
                </a:xfrm>
                <a:prstGeom prst="rect">
                  <a:avLst/>
                </a:prstGeom>
                <a:blipFill>
                  <a:blip r:embed="rId3"/>
                  <a:stretch>
                    <a:fillRect b="-12281"/>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07" name="Object 8"/>
                <p:cNvSpPr txBox="1"/>
                <p:nvPr/>
              </p:nvSpPr>
              <p:spPr>
                <a:xfrm>
                  <a:off x="3210" y="3126"/>
                  <a:ext cx="177" cy="204"/>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𝑜</m:t>
                        </m:r>
                      </m:oMath>
                    </m:oMathPara>
                  </a14:m>
                  <a:endParaRPr lang="zh-CN" altLang="en-US" sz="2800"/>
                </a:p>
              </p:txBody>
            </p:sp>
          </mc:Choice>
          <mc:Fallback xmlns="">
            <p:sp>
              <p:nvSpPr>
                <p:cNvPr id="4107" name="Object 8"/>
                <p:cNvSpPr txBox="1">
                  <a:spLocks noRot="1" noChangeAspect="1" noMove="1" noResize="1" noEditPoints="1" noAdjustHandles="1" noChangeArrowheads="1" noChangeShapeType="1" noTextEdit="1"/>
                </p:cNvSpPr>
                <p:nvPr/>
              </p:nvSpPr>
              <p:spPr>
                <a:xfrm>
                  <a:off x="3210" y="3126"/>
                  <a:ext cx="177" cy="204"/>
                </a:xfrm>
                <a:prstGeom prst="rect">
                  <a:avLst/>
                </a:prstGeom>
                <a:blipFill>
                  <a:blip r:embed="rId4"/>
                  <a:stretch>
                    <a:fillRect b="-22642"/>
                  </a:stretch>
                </a:blipFill>
                <a:ln w="38100">
                  <a:noFill/>
                  <a:miter/>
                </a:ln>
              </p:spPr>
              <p:txBody>
                <a:bodyPr/>
                <a:lstStyle/>
                <a:p>
                  <a:r>
                    <a:rPr lang="zh-CN" altLang="en-US">
                      <a:noFill/>
                    </a:rPr>
                    <a:t> </a:t>
                  </a:r>
                </a:p>
              </p:txBody>
            </p:sp>
          </mc:Fallback>
        </mc:AlternateContent>
      </p:grpSp>
      <p:sp>
        <p:nvSpPr>
          <p:cNvPr id="4126" name="Freeform 10" descr="浅色下对角线"/>
          <p:cNvSpPr/>
          <p:nvPr/>
        </p:nvSpPr>
        <p:spPr>
          <a:xfrm>
            <a:off x="3190875" y="3389629"/>
            <a:ext cx="1981200" cy="1219200"/>
          </a:xfrm>
          <a:custGeom>
            <a:avLst/>
            <a:gdLst>
              <a:gd name="txL" fmla="*/ 0 w 1248"/>
              <a:gd name="txT" fmla="*/ 0 h 768"/>
              <a:gd name="txR" fmla="*/ 1248 w 1248"/>
              <a:gd name="txB" fmla="*/ 768 h 768"/>
            </a:gdLst>
            <a:ahLst/>
            <a:cxnLst>
              <a:cxn ang="0">
                <a:pos x="0" y="0"/>
              </a:cxn>
              <a:cxn ang="0">
                <a:pos x="250" y="0"/>
              </a:cxn>
              <a:cxn ang="0">
                <a:pos x="624" y="96"/>
              </a:cxn>
              <a:cxn ang="0">
                <a:pos x="957" y="288"/>
              </a:cxn>
              <a:cxn ang="0">
                <a:pos x="1118" y="446"/>
              </a:cxn>
              <a:cxn ang="0">
                <a:pos x="1206" y="624"/>
              </a:cxn>
              <a:cxn ang="0">
                <a:pos x="1248" y="768"/>
              </a:cxn>
              <a:cxn ang="0">
                <a:pos x="1040" y="768"/>
              </a:cxn>
              <a:cxn ang="0">
                <a:pos x="790" y="720"/>
              </a:cxn>
              <a:cxn ang="0">
                <a:pos x="582" y="624"/>
              </a:cxn>
              <a:cxn ang="0">
                <a:pos x="374" y="528"/>
              </a:cxn>
              <a:cxn ang="0">
                <a:pos x="250" y="432"/>
              </a:cxn>
              <a:cxn ang="0">
                <a:pos x="166" y="336"/>
              </a:cxn>
              <a:cxn ang="0">
                <a:pos x="62" y="206"/>
              </a:cxn>
              <a:cxn ang="0">
                <a:pos x="27" y="103"/>
              </a:cxn>
              <a:cxn ang="0">
                <a:pos x="0" y="0"/>
              </a:cxn>
            </a:cxnLst>
            <a:rect l="txL" t="txT" r="txR" b="txB"/>
            <a:pathLst>
              <a:path w="1248" h="768">
                <a:moveTo>
                  <a:pt x="0" y="0"/>
                </a:moveTo>
                <a:lnTo>
                  <a:pt x="250" y="0"/>
                </a:lnTo>
                <a:lnTo>
                  <a:pt x="624" y="96"/>
                </a:lnTo>
                <a:lnTo>
                  <a:pt x="957" y="288"/>
                </a:lnTo>
                <a:lnTo>
                  <a:pt x="1118" y="446"/>
                </a:lnTo>
                <a:lnTo>
                  <a:pt x="1206" y="624"/>
                </a:lnTo>
                <a:lnTo>
                  <a:pt x="1248" y="768"/>
                </a:lnTo>
                <a:lnTo>
                  <a:pt x="1040" y="768"/>
                </a:lnTo>
                <a:lnTo>
                  <a:pt x="790" y="720"/>
                </a:lnTo>
                <a:lnTo>
                  <a:pt x="582" y="624"/>
                </a:lnTo>
                <a:lnTo>
                  <a:pt x="374" y="528"/>
                </a:lnTo>
                <a:lnTo>
                  <a:pt x="250" y="432"/>
                </a:lnTo>
                <a:lnTo>
                  <a:pt x="166" y="336"/>
                </a:lnTo>
                <a:lnTo>
                  <a:pt x="62" y="206"/>
                </a:lnTo>
                <a:lnTo>
                  <a:pt x="27" y="103"/>
                </a:lnTo>
                <a:lnTo>
                  <a:pt x="0" y="0"/>
                </a:lnTo>
                <a:close/>
              </a:path>
            </a:pathLst>
          </a:custGeom>
          <a:pattFill prst="ltDnDiag">
            <a:fgClr>
              <a:srgbClr val="CC0099">
                <a:alpha val="100000"/>
              </a:srgbClr>
            </a:fgClr>
            <a:bgClr>
              <a:schemeClr val="bg1">
                <a:alpha val="100000"/>
              </a:schemeClr>
            </a:bgClr>
          </a:pattFill>
          <a:ln w="9525">
            <a:noFill/>
          </a:ln>
        </p:spPr>
        <p:txBody>
          <a:bodyPr/>
          <a:lstStyle/>
          <a:p>
            <a:endParaRPr lang="zh-CN" altLang="en-US" sz="2800"/>
          </a:p>
        </p:txBody>
      </p:sp>
      <p:sp>
        <p:nvSpPr>
          <p:cNvPr id="456716" name="Text Box 12"/>
          <p:cNvSpPr txBox="1"/>
          <p:nvPr/>
        </p:nvSpPr>
        <p:spPr>
          <a:xfrm>
            <a:off x="1320800" y="1163637"/>
            <a:ext cx="9271000" cy="1260475"/>
          </a:xfrm>
          <a:prstGeom prst="rect">
            <a:avLst/>
          </a:prstGeom>
          <a:noFill/>
          <a:ln w="9525">
            <a:noFill/>
          </a:ln>
        </p:spPr>
        <p:txBody>
          <a:bodyPr wrap="square">
            <a:spAutoFit/>
          </a:bodyPr>
          <a:lstStyle/>
          <a:p>
            <a:pPr>
              <a:lnSpc>
                <a:spcPct val="120000"/>
              </a:lnSpc>
              <a:spcBef>
                <a:spcPct val="50000"/>
              </a:spcBef>
            </a:pPr>
            <a:r>
              <a:rPr lang="zh-CN" altLang="en-US" sz="3200" dirty="0">
                <a:solidFill>
                  <a:srgbClr val="010000"/>
                </a:solidFill>
                <a:latin typeface="Times New Roman" panose="02020603050405020304" pitchFamily="18" charset="0"/>
              </a:rPr>
              <a:t>系统经过一系列变化状态过程后，又回到原来的状态的过程叫热力学循环过程 </a:t>
            </a:r>
            <a:endParaRPr lang="en-US" altLang="zh-CN" sz="3200" dirty="0">
              <a:solidFill>
                <a:srgbClr val="010000"/>
              </a:solidFill>
              <a:latin typeface="Times New Roman" panose="02020603050405020304" pitchFamily="18" charset="0"/>
            </a:endParaRPr>
          </a:p>
        </p:txBody>
      </p:sp>
      <p:sp>
        <p:nvSpPr>
          <p:cNvPr id="456717" name="Text Box 13"/>
          <p:cNvSpPr txBox="1"/>
          <p:nvPr/>
        </p:nvSpPr>
        <p:spPr>
          <a:xfrm>
            <a:off x="7258049" y="3242112"/>
            <a:ext cx="3600450" cy="523220"/>
          </a:xfrm>
          <a:prstGeom prst="rect">
            <a:avLst/>
          </a:prstGeom>
          <a:noFill/>
          <a:ln w="9525">
            <a:noFill/>
          </a:ln>
        </p:spPr>
        <p:txBody>
          <a:bodyPr>
            <a:spAutoFit/>
          </a:bodyPr>
          <a:lstStyle/>
          <a:p>
            <a:pPr>
              <a:spcBef>
                <a:spcPct val="50000"/>
              </a:spcBef>
            </a:pPr>
            <a:r>
              <a:rPr lang="zh-CN" altLang="en-US" sz="2800" dirty="0">
                <a:solidFill>
                  <a:srgbClr val="010000"/>
                </a:solidFill>
                <a:latin typeface="Times New Roman" panose="02020603050405020304" pitchFamily="18" charset="0"/>
              </a:rPr>
              <a:t>由热力学第一定律</a:t>
            </a:r>
            <a:endParaRPr lang="zh-CN" altLang="en-US" sz="2800" dirty="0">
              <a:solidFill>
                <a:srgbClr val="010000"/>
              </a:solidFill>
              <a:latin typeface="Times New Roman" panose="02020603050405020304" pitchFamily="18" charset="0"/>
              <a:ea typeface="楷体_GB2312" panose="02010609030101010101" pitchFamily="49" charset="-122"/>
            </a:endParaRPr>
          </a:p>
        </p:txBody>
      </p:sp>
      <mc:AlternateContent xmlns:mc="http://schemas.openxmlformats.org/markup-compatibility/2006" xmlns:a14="http://schemas.microsoft.com/office/drawing/2010/main">
        <mc:Choice Requires="a14">
          <p:sp>
            <p:nvSpPr>
              <p:cNvPr id="456718" name="Object 14"/>
              <p:cNvSpPr txBox="1"/>
              <p:nvPr/>
            </p:nvSpPr>
            <p:spPr>
              <a:xfrm>
                <a:off x="8027985" y="3941167"/>
                <a:ext cx="1416685" cy="70739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𝑄</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𝐴</m:t>
                      </m:r>
                    </m:oMath>
                  </m:oMathPara>
                </a14:m>
                <a:endParaRPr lang="zh-CN" altLang="en-US" sz="2800" dirty="0"/>
              </a:p>
            </p:txBody>
          </p:sp>
        </mc:Choice>
        <mc:Fallback xmlns="">
          <p:sp>
            <p:nvSpPr>
              <p:cNvPr id="456718" name="Object 14"/>
              <p:cNvSpPr txBox="1">
                <a:spLocks noRot="1" noChangeAspect="1" noMove="1" noResize="1" noEditPoints="1" noAdjustHandles="1" noChangeArrowheads="1" noChangeShapeType="1" noTextEdit="1"/>
              </p:cNvSpPr>
              <p:nvPr/>
            </p:nvSpPr>
            <p:spPr>
              <a:xfrm>
                <a:off x="8027985" y="3941167"/>
                <a:ext cx="1416685" cy="707390"/>
              </a:xfrm>
              <a:prstGeom prst="rect">
                <a:avLst/>
              </a:prstGeom>
              <a:blipFill>
                <a:blip r:embed="rId5"/>
                <a:stretch>
                  <a:fillRect/>
                </a:stretch>
              </a:blipFill>
              <a:ln w="38100">
                <a:noFill/>
                <a:miter/>
              </a:ln>
            </p:spPr>
            <p:txBody>
              <a:bodyPr/>
              <a:lstStyle/>
              <a:p>
                <a:r>
                  <a:rPr lang="en-US">
                    <a:noFill/>
                  </a:rPr>
                  <a:t> </a:t>
                </a:r>
              </a:p>
            </p:txBody>
          </p:sp>
        </mc:Fallback>
      </mc:AlternateContent>
      <p:grpSp>
        <p:nvGrpSpPr>
          <p:cNvPr id="4" name="Group 15"/>
          <p:cNvGrpSpPr/>
          <p:nvPr/>
        </p:nvGrpSpPr>
        <p:grpSpPr>
          <a:xfrm>
            <a:off x="7153274" y="2499975"/>
            <a:ext cx="2408238" cy="558800"/>
            <a:chOff x="619" y="1706"/>
            <a:chExt cx="1517" cy="352"/>
          </a:xfrm>
        </p:grpSpPr>
        <mc:AlternateContent xmlns:mc="http://schemas.openxmlformats.org/markup-compatibility/2006" xmlns:a14="http://schemas.microsoft.com/office/drawing/2010/main">
          <mc:Choice Requires="a14">
            <p:sp>
              <p:nvSpPr>
                <p:cNvPr id="4103" name="Object 16"/>
                <p:cNvSpPr txBox="1"/>
                <p:nvPr/>
              </p:nvSpPr>
              <p:spPr>
                <a:xfrm>
                  <a:off x="1196" y="1706"/>
                  <a:ext cx="940" cy="292"/>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m:rPr>
                            <m:sty m:val="p"/>
                          </m:rPr>
                          <a:rPr lang="zh-CN" altLang="en-US" sz="2800" i="1">
                            <a:solidFill>
                              <a:srgbClr val="000000"/>
                            </a:solidFill>
                            <a:latin typeface="Cambria Math" panose="02040503050406030204" pitchFamily="18" charset="0"/>
                          </a:rPr>
                          <m:t>Δ</m:t>
                        </m:r>
                        <m:r>
                          <a:rPr lang="zh-CN" altLang="en-US" sz="2800" i="1">
                            <a:solidFill>
                              <a:srgbClr val="000000"/>
                            </a:solidFill>
                            <a:latin typeface="Cambria Math" panose="02040503050406030204" pitchFamily="18" charset="0"/>
                          </a:rPr>
                          <m:t>𝐸</m:t>
                        </m:r>
                        <m:r>
                          <a:rPr lang="zh-CN" altLang="en-US" sz="2800" i="1">
                            <a:solidFill>
                              <a:srgbClr val="000000"/>
                            </a:solidFill>
                            <a:latin typeface="Cambria Math" panose="02040503050406030204" pitchFamily="18" charset="0"/>
                          </a:rPr>
                          <m:t>=0</m:t>
                        </m:r>
                      </m:oMath>
                    </m:oMathPara>
                  </a14:m>
                  <a:endParaRPr lang="zh-CN" altLang="en-US" sz="2800" dirty="0"/>
                </a:p>
              </p:txBody>
            </p:sp>
          </mc:Choice>
          <mc:Fallback xmlns="">
            <p:sp>
              <p:nvSpPr>
                <p:cNvPr id="4103" name="Object 16"/>
                <p:cNvSpPr txBox="1">
                  <a:spLocks noRot="1" noChangeAspect="1" noMove="1" noResize="1" noEditPoints="1" noAdjustHandles="1" noChangeArrowheads="1" noChangeShapeType="1" noTextEdit="1"/>
                </p:cNvSpPr>
                <p:nvPr/>
              </p:nvSpPr>
              <p:spPr>
                <a:xfrm>
                  <a:off x="1196" y="1706"/>
                  <a:ext cx="940" cy="292"/>
                </a:xfrm>
                <a:prstGeom prst="rect">
                  <a:avLst/>
                </a:prstGeom>
                <a:blipFill>
                  <a:blip r:embed="rId6"/>
                  <a:stretch>
                    <a:fillRect/>
                  </a:stretch>
                </a:blipFill>
                <a:ln w="38100">
                  <a:noFill/>
                  <a:miter/>
                </a:ln>
              </p:spPr>
              <p:txBody>
                <a:bodyPr/>
                <a:lstStyle/>
                <a:p>
                  <a:r>
                    <a:rPr lang="en-US">
                      <a:noFill/>
                    </a:rPr>
                    <a:t> </a:t>
                  </a:r>
                </a:p>
              </p:txBody>
            </p:sp>
          </mc:Fallback>
        </mc:AlternateContent>
        <p:sp>
          <p:nvSpPr>
            <p:cNvPr id="4125" name="Rectangle 17"/>
            <p:cNvSpPr/>
            <p:nvPr/>
          </p:nvSpPr>
          <p:spPr>
            <a:xfrm>
              <a:off x="619" y="1728"/>
              <a:ext cx="1200" cy="330"/>
            </a:xfrm>
            <a:prstGeom prst="rect">
              <a:avLst/>
            </a:prstGeom>
            <a:noFill/>
            <a:ln w="9525">
              <a:noFill/>
            </a:ln>
          </p:spPr>
          <p:txBody>
            <a:bodyPr>
              <a:spAutoFit/>
            </a:bodyPr>
            <a:lstStyle/>
            <a:p>
              <a:pPr>
                <a:spcBef>
                  <a:spcPct val="50000"/>
                </a:spcBef>
              </a:pPr>
              <a:r>
                <a:rPr lang="zh-CN" altLang="en-US" sz="2800" dirty="0">
                  <a:solidFill>
                    <a:srgbClr val="010000"/>
                  </a:solidFill>
                  <a:latin typeface="Times New Roman" panose="02020603050405020304" pitchFamily="18" charset="0"/>
                </a:rPr>
                <a:t>特征</a:t>
              </a:r>
            </a:p>
          </p:txBody>
        </p:sp>
      </p:grpSp>
      <p:grpSp>
        <p:nvGrpSpPr>
          <p:cNvPr id="4115" name="Group 19"/>
          <p:cNvGrpSpPr/>
          <p:nvPr/>
        </p:nvGrpSpPr>
        <p:grpSpPr>
          <a:xfrm>
            <a:off x="2962275" y="2916237"/>
            <a:ext cx="2743200" cy="2895600"/>
            <a:chOff x="3504" y="1632"/>
            <a:chExt cx="1728" cy="1824"/>
          </a:xfrm>
        </p:grpSpPr>
        <p:sp>
          <p:nvSpPr>
            <p:cNvPr id="4119" name="Arc 20"/>
            <p:cNvSpPr/>
            <p:nvPr/>
          </p:nvSpPr>
          <p:spPr>
            <a:xfrm>
              <a:off x="3648" y="1921"/>
              <a:ext cx="1252" cy="816"/>
            </a:xfrm>
            <a:custGeom>
              <a:avLst/>
              <a:gdLst>
                <a:gd name="txL" fmla="*/ 0 w 21594"/>
                <a:gd name="txT" fmla="*/ 0 h 21600"/>
                <a:gd name="txR" fmla="*/ 21594 w 21594"/>
                <a:gd name="txB" fmla="*/ 21600 h 21600"/>
              </a:gdLst>
              <a:ahLst/>
              <a:cxnLst>
                <a:cxn ang="0">
                  <a:pos x="0" y="0"/>
                </a:cxn>
                <a:cxn ang="0">
                  <a:pos x="73" y="30"/>
                </a:cxn>
                <a:cxn ang="0">
                  <a:pos x="0" y="31"/>
                </a:cxn>
              </a:cxnLst>
              <a:rect l="txL" t="txT" r="txR" b="txB"/>
              <a:pathLst>
                <a:path w="21594" h="21600" fill="none">
                  <a:moveTo>
                    <a:pt x="-1" y="0"/>
                  </a:moveTo>
                  <a:cubicBezTo>
                    <a:pt x="11723" y="0"/>
                    <a:pt x="21306" y="9351"/>
                    <a:pt x="21593" y="21072"/>
                  </a:cubicBezTo>
                </a:path>
                <a:path w="21594" h="21600" stroke="0">
                  <a:moveTo>
                    <a:pt x="-1" y="0"/>
                  </a:moveTo>
                  <a:cubicBezTo>
                    <a:pt x="11723" y="0"/>
                    <a:pt x="21306" y="9351"/>
                    <a:pt x="21593" y="21072"/>
                  </a:cubicBezTo>
                  <a:lnTo>
                    <a:pt x="0" y="21600"/>
                  </a:lnTo>
                  <a:close/>
                </a:path>
              </a:pathLst>
            </a:custGeom>
            <a:noFill/>
            <a:ln w="28575" cap="flat" cmpd="sng">
              <a:solidFill>
                <a:srgbClr val="CC00CC">
                  <a:alpha val="100000"/>
                </a:srgbClr>
              </a:solidFill>
              <a:prstDash val="solid"/>
              <a:round/>
              <a:headEnd type="none" w="med" len="med"/>
              <a:tailEnd type="none" w="med" len="med"/>
            </a:ln>
          </p:spPr>
          <p:txBody>
            <a:bodyPr/>
            <a:lstStyle/>
            <a:p>
              <a:endParaRPr lang="zh-CN" altLang="en-US" sz="2800"/>
            </a:p>
          </p:txBody>
        </p:sp>
        <p:sp>
          <p:nvSpPr>
            <p:cNvPr id="4120" name="Line 21"/>
            <p:cNvSpPr/>
            <p:nvPr/>
          </p:nvSpPr>
          <p:spPr>
            <a:xfrm>
              <a:off x="4368" y="2064"/>
              <a:ext cx="192" cy="96"/>
            </a:xfrm>
            <a:prstGeom prst="line">
              <a:avLst/>
            </a:prstGeom>
            <a:ln w="57150" cap="flat" cmpd="sng">
              <a:solidFill>
                <a:srgbClr val="CC0099"/>
              </a:solidFill>
              <a:prstDash val="solid"/>
              <a:headEnd type="none" w="med" len="med"/>
              <a:tailEnd type="triangle" w="sm" len="lg"/>
            </a:ln>
          </p:spPr>
        </p:sp>
        <p:sp>
          <p:nvSpPr>
            <p:cNvPr id="4121" name="Text Box 22"/>
            <p:cNvSpPr txBox="1"/>
            <p:nvPr/>
          </p:nvSpPr>
          <p:spPr>
            <a:xfrm>
              <a:off x="3504" y="1632"/>
              <a:ext cx="336" cy="330"/>
            </a:xfrm>
            <a:prstGeom prst="rect">
              <a:avLst/>
            </a:prstGeom>
            <a:noFill/>
            <a:ln w="9525">
              <a:noFill/>
            </a:ln>
          </p:spPr>
          <p:txBody>
            <a:bodyPr>
              <a:spAutoFit/>
            </a:bodyPr>
            <a:lstStyle/>
            <a:p>
              <a:pPr>
                <a:spcBef>
                  <a:spcPct val="50000"/>
                </a:spcBef>
              </a:pPr>
              <a:r>
                <a:rPr lang="en-US" altLang="zh-CN" sz="2800" i="1" dirty="0">
                  <a:solidFill>
                    <a:srgbClr val="010000"/>
                  </a:solidFill>
                  <a:latin typeface="Times New Roman" panose="02020603050405020304" pitchFamily="18" charset="0"/>
                  <a:ea typeface="楷体_GB2312" panose="02010609030101010101" pitchFamily="49" charset="-122"/>
                </a:rPr>
                <a:t>A</a:t>
              </a:r>
            </a:p>
          </p:txBody>
        </p:sp>
        <p:sp>
          <p:nvSpPr>
            <p:cNvPr id="4122" name="Text Box 23"/>
            <p:cNvSpPr txBox="1"/>
            <p:nvPr/>
          </p:nvSpPr>
          <p:spPr>
            <a:xfrm>
              <a:off x="4896" y="2544"/>
              <a:ext cx="336" cy="330"/>
            </a:xfrm>
            <a:prstGeom prst="rect">
              <a:avLst/>
            </a:prstGeom>
            <a:noFill/>
            <a:ln w="9525">
              <a:noFill/>
            </a:ln>
          </p:spPr>
          <p:txBody>
            <a:bodyPr>
              <a:spAutoFit/>
            </a:bodyPr>
            <a:lstStyle/>
            <a:p>
              <a:pPr>
                <a:spcBef>
                  <a:spcPct val="50000"/>
                </a:spcBef>
              </a:pPr>
              <a:r>
                <a:rPr lang="en-US" altLang="zh-CN" sz="2800" i="1" dirty="0">
                  <a:solidFill>
                    <a:srgbClr val="010000"/>
                  </a:solidFill>
                  <a:latin typeface="Times New Roman" panose="02020603050405020304" pitchFamily="18" charset="0"/>
                  <a:ea typeface="楷体_GB2312" panose="02010609030101010101" pitchFamily="49" charset="-122"/>
                </a:rPr>
                <a:t>B</a:t>
              </a:r>
            </a:p>
          </p:txBody>
        </p:sp>
        <p:sp>
          <p:nvSpPr>
            <p:cNvPr id="4123" name="Line 24"/>
            <p:cNvSpPr/>
            <p:nvPr/>
          </p:nvSpPr>
          <p:spPr>
            <a:xfrm>
              <a:off x="3648" y="1920"/>
              <a:ext cx="0" cy="1200"/>
            </a:xfrm>
            <a:prstGeom prst="line">
              <a:avLst/>
            </a:prstGeom>
            <a:ln w="19050" cap="flat" cmpd="sng">
              <a:solidFill>
                <a:srgbClr val="1C1C1C"/>
              </a:solidFill>
              <a:prstDash val="dash"/>
              <a:headEnd type="none" w="med" len="med"/>
              <a:tailEnd type="none" w="med" len="med"/>
            </a:ln>
          </p:spPr>
        </p:sp>
        <p:sp>
          <p:nvSpPr>
            <p:cNvPr id="4124" name="Line 25"/>
            <p:cNvSpPr/>
            <p:nvPr/>
          </p:nvSpPr>
          <p:spPr>
            <a:xfrm>
              <a:off x="4896" y="2688"/>
              <a:ext cx="0" cy="432"/>
            </a:xfrm>
            <a:prstGeom prst="line">
              <a:avLst/>
            </a:prstGeom>
            <a:ln w="19050" cap="flat" cmpd="sng">
              <a:solidFill>
                <a:srgbClr val="1C1C1C"/>
              </a:solidFill>
              <a:prstDash val="dash"/>
              <a:headEnd type="none" w="med" len="med"/>
              <a:tailEnd type="none" w="med" len="med"/>
            </a:ln>
          </p:spPr>
        </p:sp>
        <mc:AlternateContent xmlns:mc="http://schemas.openxmlformats.org/markup-compatibility/2006" xmlns:a14="http://schemas.microsoft.com/office/drawing/2010/main">
          <mc:Choice Requires="a14">
            <p:sp>
              <p:nvSpPr>
                <p:cNvPr id="4100" name="Object 26"/>
                <p:cNvSpPr txBox="1"/>
                <p:nvPr/>
              </p:nvSpPr>
              <p:spPr>
                <a:xfrm>
                  <a:off x="3552" y="3072"/>
                  <a:ext cx="287" cy="336"/>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𝐴</m:t>
                            </m:r>
                          </m:sub>
                        </m:sSub>
                      </m:oMath>
                    </m:oMathPara>
                  </a14:m>
                  <a:endParaRPr lang="zh-CN" altLang="en-US" sz="2800"/>
                </a:p>
              </p:txBody>
            </p:sp>
          </mc:Choice>
          <mc:Fallback xmlns="">
            <p:sp>
              <p:nvSpPr>
                <p:cNvPr id="4100" name="Object 26"/>
                <p:cNvSpPr txBox="1">
                  <a:spLocks noRot="1" noChangeAspect="1" noMove="1" noResize="1" noEditPoints="1" noAdjustHandles="1" noChangeArrowheads="1" noChangeShapeType="1" noTextEdit="1"/>
                </p:cNvSpPr>
                <p:nvPr/>
              </p:nvSpPr>
              <p:spPr>
                <a:xfrm>
                  <a:off x="3552" y="3072"/>
                  <a:ext cx="287" cy="336"/>
                </a:xfrm>
                <a:prstGeom prst="rect">
                  <a:avLst/>
                </a:prstGeom>
                <a:blipFill>
                  <a:blip r:embed="rId7"/>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01" name="Object 27"/>
                <p:cNvSpPr txBox="1"/>
                <p:nvPr/>
              </p:nvSpPr>
              <p:spPr>
                <a:xfrm>
                  <a:off x="4800" y="3120"/>
                  <a:ext cx="287" cy="336"/>
                </a:xfrm>
                <a:prstGeom prst="rect">
                  <a:avLst/>
                </a:prstGeom>
                <a:noFill/>
                <a:ln w="38100">
                  <a:noFill/>
                  <a:miter/>
                </a:ln>
              </p:spPr>
              <p:txBody>
                <a:bodyPr>
                  <a:normAutofit fontScale="92500"/>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𝐵</m:t>
                            </m:r>
                          </m:sub>
                        </m:sSub>
                      </m:oMath>
                    </m:oMathPara>
                  </a14:m>
                  <a:endParaRPr lang="zh-CN" altLang="en-US" sz="2800"/>
                </a:p>
              </p:txBody>
            </p:sp>
          </mc:Choice>
          <mc:Fallback xmlns="">
            <p:sp>
              <p:nvSpPr>
                <p:cNvPr id="4101" name="Object 27"/>
                <p:cNvSpPr txBox="1">
                  <a:spLocks noRot="1" noChangeAspect="1" noMove="1" noResize="1" noEditPoints="1" noAdjustHandles="1" noChangeArrowheads="1" noChangeShapeType="1" noTextEdit="1"/>
                </p:cNvSpPr>
                <p:nvPr/>
              </p:nvSpPr>
              <p:spPr>
                <a:xfrm>
                  <a:off x="4800" y="3120"/>
                  <a:ext cx="287" cy="336"/>
                </a:xfrm>
                <a:prstGeom prst="rect">
                  <a:avLst/>
                </a:prstGeom>
                <a:blipFill>
                  <a:blip r:embed="rId8"/>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02" name="Object 28"/>
                <p:cNvSpPr txBox="1"/>
                <p:nvPr/>
              </p:nvSpPr>
              <p:spPr>
                <a:xfrm>
                  <a:off x="4430" y="1920"/>
                  <a:ext cx="163" cy="204"/>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𝑐</m:t>
                        </m:r>
                      </m:oMath>
                    </m:oMathPara>
                  </a14:m>
                  <a:endParaRPr lang="zh-CN" altLang="en-US" sz="2800"/>
                </a:p>
              </p:txBody>
            </p:sp>
          </mc:Choice>
          <mc:Fallback xmlns="">
            <p:sp>
              <p:nvSpPr>
                <p:cNvPr id="4102" name="Object 28"/>
                <p:cNvSpPr txBox="1">
                  <a:spLocks noRot="1" noChangeAspect="1" noMove="1" noResize="1" noEditPoints="1" noAdjustHandles="1" noChangeArrowheads="1" noChangeShapeType="1" noTextEdit="1"/>
                </p:cNvSpPr>
                <p:nvPr/>
              </p:nvSpPr>
              <p:spPr>
                <a:xfrm>
                  <a:off x="4430" y="1920"/>
                  <a:ext cx="163" cy="204"/>
                </a:xfrm>
                <a:prstGeom prst="rect">
                  <a:avLst/>
                </a:prstGeom>
                <a:blipFill>
                  <a:blip r:embed="rId9"/>
                  <a:stretch>
                    <a:fillRect b="-20370"/>
                  </a:stretch>
                </a:blipFill>
                <a:ln w="38100">
                  <a:noFill/>
                  <a:miter/>
                </a:ln>
              </p:spPr>
              <p:txBody>
                <a:bodyPr/>
                <a:lstStyle/>
                <a:p>
                  <a:r>
                    <a:rPr lang="zh-CN" altLang="en-US">
                      <a:noFill/>
                    </a:rPr>
                    <a:t> </a:t>
                  </a:r>
                </a:p>
              </p:txBody>
            </p:sp>
          </mc:Fallback>
        </mc:AlternateContent>
      </p:grpSp>
      <p:grpSp>
        <p:nvGrpSpPr>
          <p:cNvPr id="4116" name="Group 29"/>
          <p:cNvGrpSpPr/>
          <p:nvPr/>
        </p:nvGrpSpPr>
        <p:grpSpPr>
          <a:xfrm>
            <a:off x="3190875" y="3317874"/>
            <a:ext cx="1981200" cy="1422400"/>
            <a:chOff x="3648" y="1872"/>
            <a:chExt cx="1248" cy="896"/>
          </a:xfrm>
        </p:grpSpPr>
        <p:sp>
          <p:nvSpPr>
            <p:cNvPr id="4117" name="Arc 30"/>
            <p:cNvSpPr/>
            <p:nvPr/>
          </p:nvSpPr>
          <p:spPr>
            <a:xfrm flipH="1" flipV="1">
              <a:off x="3648" y="1872"/>
              <a:ext cx="1248" cy="816"/>
            </a:xfrm>
            <a:custGeom>
              <a:avLst/>
              <a:gdLst>
                <a:gd name="txL" fmla="*/ 0 w 21591"/>
                <a:gd name="txT" fmla="*/ 0 h 21600"/>
                <a:gd name="txR" fmla="*/ 21591 w 21591"/>
                <a:gd name="txB" fmla="*/ 21600 h 21600"/>
              </a:gdLst>
              <a:ahLst/>
              <a:cxnLst>
                <a:cxn ang="0">
                  <a:pos x="0" y="0"/>
                </a:cxn>
                <a:cxn ang="0">
                  <a:pos x="72" y="30"/>
                </a:cxn>
                <a:cxn ang="0">
                  <a:pos x="0" y="31"/>
                </a:cxn>
              </a:cxnLst>
              <a:rect l="txL" t="txT" r="txR" b="txB"/>
              <a:pathLst>
                <a:path w="21591" h="21600" fill="none">
                  <a:moveTo>
                    <a:pt x="-1" y="0"/>
                  </a:moveTo>
                  <a:cubicBezTo>
                    <a:pt x="11681" y="0"/>
                    <a:pt x="21246" y="9287"/>
                    <a:pt x="21590" y="20964"/>
                  </a:cubicBezTo>
                </a:path>
                <a:path w="21591" h="21600" stroke="0">
                  <a:moveTo>
                    <a:pt x="-1" y="0"/>
                  </a:moveTo>
                  <a:cubicBezTo>
                    <a:pt x="11681" y="0"/>
                    <a:pt x="21246" y="9287"/>
                    <a:pt x="21590" y="20964"/>
                  </a:cubicBezTo>
                  <a:lnTo>
                    <a:pt x="0" y="21600"/>
                  </a:lnTo>
                  <a:close/>
                </a:path>
              </a:pathLst>
            </a:custGeom>
            <a:noFill/>
            <a:ln w="28575" cap="flat" cmpd="sng">
              <a:solidFill>
                <a:srgbClr val="0000FF">
                  <a:alpha val="100000"/>
                </a:srgbClr>
              </a:solidFill>
              <a:prstDash val="solid"/>
              <a:round/>
              <a:headEnd type="none" w="med" len="med"/>
              <a:tailEnd type="none" w="med" len="med"/>
            </a:ln>
          </p:spPr>
          <p:txBody>
            <a:bodyPr/>
            <a:lstStyle/>
            <a:p>
              <a:endParaRPr lang="zh-CN" altLang="en-US" sz="2800"/>
            </a:p>
          </p:txBody>
        </p:sp>
        <p:sp>
          <p:nvSpPr>
            <p:cNvPr id="4118" name="Line 31"/>
            <p:cNvSpPr/>
            <p:nvPr/>
          </p:nvSpPr>
          <p:spPr>
            <a:xfrm flipH="1" flipV="1">
              <a:off x="4176" y="2544"/>
              <a:ext cx="144" cy="48"/>
            </a:xfrm>
            <a:prstGeom prst="line">
              <a:avLst/>
            </a:prstGeom>
            <a:ln w="57150" cap="flat" cmpd="sng">
              <a:solidFill>
                <a:srgbClr val="0000FF"/>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4099" name="Object 32"/>
                <p:cNvSpPr txBox="1"/>
                <p:nvPr/>
              </p:nvSpPr>
              <p:spPr>
                <a:xfrm>
                  <a:off x="4080" y="2544"/>
                  <a:ext cx="168" cy="224"/>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𝑑</m:t>
                        </m:r>
                      </m:oMath>
                    </m:oMathPara>
                  </a14:m>
                  <a:endParaRPr lang="zh-CN" altLang="en-US" sz="2800"/>
                </a:p>
              </p:txBody>
            </p:sp>
          </mc:Choice>
          <mc:Fallback xmlns="">
            <p:sp>
              <p:nvSpPr>
                <p:cNvPr id="4099" name="Object 32"/>
                <p:cNvSpPr txBox="1">
                  <a:spLocks noRot="1" noChangeAspect="1" noMove="1" noResize="1" noEditPoints="1" noAdjustHandles="1" noChangeArrowheads="1" noChangeShapeType="1" noTextEdit="1"/>
                </p:cNvSpPr>
                <p:nvPr/>
              </p:nvSpPr>
              <p:spPr>
                <a:xfrm>
                  <a:off x="4080" y="2544"/>
                  <a:ext cx="168" cy="224"/>
                </a:xfrm>
                <a:prstGeom prst="rect">
                  <a:avLst/>
                </a:prstGeom>
                <a:blipFill>
                  <a:blip r:embed="rId10"/>
                  <a:stretch>
                    <a:fillRect r="-6818" b="-10169"/>
                  </a:stretch>
                </a:blipFill>
                <a:ln w="38100">
                  <a:noFill/>
                  <a:miter/>
                </a:ln>
              </p:spPr>
              <p:txBody>
                <a:bodyPr/>
                <a:lstStyle/>
                <a:p>
                  <a:r>
                    <a:rPr lang="zh-CN" altLang="en-US">
                      <a:noFill/>
                    </a:rPr>
                    <a:t> </a:t>
                  </a:r>
                </a:p>
              </p:txBody>
            </p:sp>
          </mc:Fallback>
        </mc:AlternateContent>
      </p:grpSp>
      <p:sp>
        <p:nvSpPr>
          <p:cNvPr id="21" name="Text Box 13">
            <a:hlinkClick r:id="" action="ppaction://noaction"/>
            <a:extLst>
              <a:ext uri="{FF2B5EF4-FFF2-40B4-BE49-F238E27FC236}">
                <a16:creationId xmlns:a16="http://schemas.microsoft.com/office/drawing/2014/main" id="{F735530B-2ADB-1EDE-751D-0E360C889E5E}"/>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循环过程</a:t>
            </a:r>
          </a:p>
        </p:txBody>
      </p:sp>
      <p:grpSp>
        <p:nvGrpSpPr>
          <p:cNvPr id="22" name="Group 2">
            <a:extLst>
              <a:ext uri="{FF2B5EF4-FFF2-40B4-BE49-F238E27FC236}">
                <a16:creationId xmlns:a16="http://schemas.microsoft.com/office/drawing/2014/main" id="{B9EBA620-7400-B76B-0560-597334E6AC3C}"/>
              </a:ext>
            </a:extLst>
          </p:cNvPr>
          <p:cNvGrpSpPr/>
          <p:nvPr/>
        </p:nvGrpSpPr>
        <p:grpSpPr>
          <a:xfrm>
            <a:off x="6831645" y="5929192"/>
            <a:ext cx="4999859" cy="616191"/>
            <a:chOff x="586" y="742"/>
            <a:chExt cx="3145" cy="585"/>
          </a:xfrm>
        </p:grpSpPr>
        <mc:AlternateContent xmlns:mc="http://schemas.openxmlformats.org/markup-compatibility/2006" xmlns:a14="http://schemas.microsoft.com/office/drawing/2010/main">
          <mc:Choice Requires="a14">
            <p:sp>
              <p:nvSpPr>
                <p:cNvPr id="23" name="Object 3">
                  <a:extLst>
                    <a:ext uri="{FF2B5EF4-FFF2-40B4-BE49-F238E27FC236}">
                      <a16:creationId xmlns:a16="http://schemas.microsoft.com/office/drawing/2014/main" id="{D3DA3538-0F9D-CD9D-39CD-C8582AFA597B}"/>
                    </a:ext>
                  </a:extLst>
                </p:cNvPr>
                <p:cNvSpPr txBox="1"/>
                <p:nvPr/>
              </p:nvSpPr>
              <p:spPr>
                <a:xfrm>
                  <a:off x="1160" y="755"/>
                  <a:ext cx="2571" cy="572"/>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𝐴</m:t>
                        </m:r>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2</m:t>
                            </m:r>
                          </m:sub>
                        </m:sSub>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𝑄</m:t>
                        </m:r>
                      </m:oMath>
                    </m:oMathPara>
                  </a14:m>
                  <a:endParaRPr lang="zh-CN" altLang="en-US" sz="2800" dirty="0"/>
                </a:p>
              </p:txBody>
            </p:sp>
          </mc:Choice>
          <mc:Fallback xmlns="">
            <p:sp>
              <p:nvSpPr>
                <p:cNvPr id="23" name="Object 3">
                  <a:extLst>
                    <a:ext uri="{FF2B5EF4-FFF2-40B4-BE49-F238E27FC236}">
                      <a16:creationId xmlns:a16="http://schemas.microsoft.com/office/drawing/2014/main" id="{D3DA3538-0F9D-CD9D-39CD-C8582AFA597B}"/>
                    </a:ext>
                  </a:extLst>
                </p:cNvPr>
                <p:cNvSpPr txBox="1">
                  <a:spLocks noRot="1" noChangeAspect="1" noMove="1" noResize="1" noEditPoints="1" noAdjustHandles="1" noChangeArrowheads="1" noChangeShapeType="1" noTextEdit="1"/>
                </p:cNvSpPr>
                <p:nvPr/>
              </p:nvSpPr>
              <p:spPr>
                <a:xfrm>
                  <a:off x="1160" y="755"/>
                  <a:ext cx="2571" cy="572"/>
                </a:xfrm>
                <a:prstGeom prst="rect">
                  <a:avLst/>
                </a:prstGeom>
                <a:blipFill>
                  <a:blip r:embed="rId11"/>
                  <a:stretch>
                    <a:fillRect/>
                  </a:stretch>
                </a:blipFill>
                <a:ln w="38100">
                  <a:noFill/>
                  <a:miter/>
                </a:ln>
              </p:spPr>
              <p:txBody>
                <a:bodyPr/>
                <a:lstStyle/>
                <a:p>
                  <a:r>
                    <a:rPr lang="zh-CN" altLang="en-US">
                      <a:noFill/>
                    </a:rPr>
                    <a:t> </a:t>
                  </a:r>
                </a:p>
              </p:txBody>
            </p:sp>
          </mc:Fallback>
        </mc:AlternateContent>
        <p:sp>
          <p:nvSpPr>
            <p:cNvPr id="24" name="Text Box 4">
              <a:extLst>
                <a:ext uri="{FF2B5EF4-FFF2-40B4-BE49-F238E27FC236}">
                  <a16:creationId xmlns:a16="http://schemas.microsoft.com/office/drawing/2014/main" id="{3928D423-D535-3DEB-47D6-694551388667}"/>
                </a:ext>
              </a:extLst>
            </p:cNvPr>
            <p:cNvSpPr txBox="1"/>
            <p:nvPr/>
          </p:nvSpPr>
          <p:spPr>
            <a:xfrm>
              <a:off x="586" y="742"/>
              <a:ext cx="938" cy="554"/>
            </a:xfrm>
            <a:prstGeom prst="rect">
              <a:avLst/>
            </a:prstGeom>
            <a:noFill/>
            <a:ln w="9525">
              <a:noFill/>
            </a:ln>
          </p:spPr>
          <p:txBody>
            <a:bodyPr>
              <a:spAutoFit/>
            </a:bodyPr>
            <a:lstStyle/>
            <a:p>
              <a:pPr>
                <a:spcBef>
                  <a:spcPct val="50000"/>
                </a:spcBef>
              </a:pPr>
              <a:r>
                <a:rPr lang="zh-CN" altLang="en-US" sz="3200" dirty="0">
                  <a:solidFill>
                    <a:srgbClr val="010000"/>
                  </a:solidFill>
                  <a:latin typeface="Times New Roman" panose="02020603050405020304" pitchFamily="18" charset="0"/>
                </a:rPr>
                <a:t>净功</a:t>
              </a:r>
            </a:p>
          </p:txBody>
        </p:sp>
      </p:grpSp>
      <p:grpSp>
        <p:nvGrpSpPr>
          <p:cNvPr id="26" name="Group 6">
            <a:extLst>
              <a:ext uri="{FF2B5EF4-FFF2-40B4-BE49-F238E27FC236}">
                <a16:creationId xmlns:a16="http://schemas.microsoft.com/office/drawing/2014/main" id="{5705FFFF-E900-3836-FE15-C750F1EA3554}"/>
              </a:ext>
            </a:extLst>
          </p:cNvPr>
          <p:cNvGrpSpPr/>
          <p:nvPr/>
        </p:nvGrpSpPr>
        <p:grpSpPr>
          <a:xfrm>
            <a:off x="7267441" y="4698999"/>
            <a:ext cx="2176463" cy="579438"/>
            <a:chOff x="943" y="1666"/>
            <a:chExt cx="1371" cy="365"/>
          </a:xfrm>
        </p:grpSpPr>
        <p:grpSp>
          <p:nvGrpSpPr>
            <p:cNvPr id="27" name="Group 7">
              <a:extLst>
                <a:ext uri="{FF2B5EF4-FFF2-40B4-BE49-F238E27FC236}">
                  <a16:creationId xmlns:a16="http://schemas.microsoft.com/office/drawing/2014/main" id="{693B25DE-EAD2-39ED-90D1-515FC739BEF6}"/>
                </a:ext>
              </a:extLst>
            </p:cNvPr>
            <p:cNvGrpSpPr/>
            <p:nvPr/>
          </p:nvGrpSpPr>
          <p:grpSpPr>
            <a:xfrm>
              <a:off x="943" y="1666"/>
              <a:ext cx="1371" cy="365"/>
              <a:chOff x="943" y="1666"/>
              <a:chExt cx="1371" cy="365"/>
            </a:xfrm>
          </p:grpSpPr>
          <p:sp>
            <p:nvSpPr>
              <p:cNvPr id="29" name="Text Box 8">
                <a:extLst>
                  <a:ext uri="{FF2B5EF4-FFF2-40B4-BE49-F238E27FC236}">
                    <a16:creationId xmlns:a16="http://schemas.microsoft.com/office/drawing/2014/main" id="{51BE8FAE-C8D7-5DE1-CE79-D24BFB025ED1}"/>
                  </a:ext>
                </a:extLst>
              </p:cNvPr>
              <p:cNvSpPr txBox="1"/>
              <p:nvPr/>
            </p:nvSpPr>
            <p:spPr>
              <a:xfrm>
                <a:off x="943" y="1666"/>
                <a:ext cx="1030" cy="365"/>
              </a:xfrm>
              <a:prstGeom prst="rect">
                <a:avLst/>
              </a:prstGeom>
              <a:noFill/>
              <a:ln w="9525">
                <a:noFill/>
              </a:ln>
            </p:spPr>
            <p:txBody>
              <a:bodyPr>
                <a:spAutoFit/>
              </a:bodyPr>
              <a:lstStyle/>
              <a:p>
                <a:pPr>
                  <a:spcBef>
                    <a:spcPct val="50000"/>
                  </a:spcBef>
                </a:pPr>
                <a:r>
                  <a:rPr lang="zh-CN" altLang="en-US" sz="3200" dirty="0">
                    <a:solidFill>
                      <a:srgbClr val="010000"/>
                    </a:solidFill>
                    <a:latin typeface="Times New Roman" panose="02020603050405020304" pitchFamily="18" charset="0"/>
                  </a:rPr>
                  <a:t>总吸热</a:t>
                </a:r>
              </a:p>
            </p:txBody>
          </p:sp>
          <p:sp>
            <p:nvSpPr>
              <p:cNvPr id="30" name="Line 9">
                <a:extLst>
                  <a:ext uri="{FF2B5EF4-FFF2-40B4-BE49-F238E27FC236}">
                    <a16:creationId xmlns:a16="http://schemas.microsoft.com/office/drawing/2014/main" id="{1E15F757-56A9-F149-1BAA-7D97E313EEAA}"/>
                  </a:ext>
                </a:extLst>
              </p:cNvPr>
              <p:cNvSpPr/>
              <p:nvPr/>
            </p:nvSpPr>
            <p:spPr>
              <a:xfrm>
                <a:off x="1799" y="1810"/>
                <a:ext cx="515" cy="0"/>
              </a:xfrm>
              <a:prstGeom prst="line">
                <a:avLst/>
              </a:prstGeom>
              <a:ln w="38100">
                <a:noFill/>
              </a:ln>
            </p:spPr>
          </p:sp>
        </p:grpSp>
        <p:sp>
          <p:nvSpPr>
            <p:cNvPr id="28" name="Line 10">
              <a:extLst>
                <a:ext uri="{FF2B5EF4-FFF2-40B4-BE49-F238E27FC236}">
                  <a16:creationId xmlns:a16="http://schemas.microsoft.com/office/drawing/2014/main" id="{590AF6BA-79C8-C320-DA52-EDF2B211A884}"/>
                </a:ext>
              </a:extLst>
            </p:cNvPr>
            <p:cNvSpPr/>
            <p:nvPr/>
          </p:nvSpPr>
          <p:spPr>
            <a:xfrm>
              <a:off x="1857" y="1858"/>
              <a:ext cx="457" cy="0"/>
            </a:xfrm>
            <a:prstGeom prst="line">
              <a:avLst/>
            </a:prstGeom>
            <a:ln w="38100" cap="flat" cmpd="sng">
              <a:solidFill>
                <a:srgbClr val="FF3300"/>
              </a:solidFill>
              <a:prstDash val="solid"/>
              <a:headEnd type="none" w="med" len="med"/>
              <a:tailEnd type="triangle" w="med" len="med"/>
            </a:ln>
          </p:spPr>
        </p:sp>
      </p:grpSp>
      <mc:AlternateContent xmlns:mc="http://schemas.openxmlformats.org/markup-compatibility/2006" xmlns:a14="http://schemas.microsoft.com/office/drawing/2010/main">
        <mc:Choice Requires="a14">
          <p:sp>
            <p:nvSpPr>
              <p:cNvPr id="31" name="Object 11">
                <a:extLst>
                  <a:ext uri="{FF2B5EF4-FFF2-40B4-BE49-F238E27FC236}">
                    <a16:creationId xmlns:a16="http://schemas.microsoft.com/office/drawing/2014/main" id="{FFDD7CB8-059D-85E5-CD48-6E5514E1835D}"/>
                  </a:ext>
                </a:extLst>
              </p:cNvPr>
              <p:cNvSpPr txBox="1">
                <a:spLocks/>
              </p:cNvSpPr>
              <p:nvPr/>
            </p:nvSpPr>
            <p:spPr>
              <a:xfrm>
                <a:off x="9426440" y="4695824"/>
                <a:ext cx="503238" cy="566738"/>
              </a:xfrm>
              <a:prstGeom prst="rect">
                <a:avLst/>
              </a:prstGeom>
              <a:noFill/>
              <a:ln w="38100">
                <a:miter/>
              </a:ln>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14:m>
                  <m:oMathPara xmlns:m="http://schemas.openxmlformats.org/officeDocument/2006/math">
                    <m:oMathParaPr>
                      <m:jc m:val="left"/>
                    </m:oMathParaPr>
                    <m:oMath xmlns:m="http://schemas.openxmlformats.org/officeDocument/2006/math">
                      <m:sSub>
                        <m:sSubPr>
                          <m:ctrlPr>
                            <a:rPr lang="zh-CN" altLang="en-US" i="1" smtClean="0">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𝑄</m:t>
                          </m:r>
                        </m:e>
                        <m:sub>
                          <m:r>
                            <a:rPr lang="zh-CN" altLang="en-US" i="1">
                              <a:solidFill>
                                <a:srgbClr val="000000"/>
                              </a:solidFill>
                              <a:latin typeface="Cambria Math" panose="02040503050406030204" pitchFamily="18" charset="0"/>
                            </a:rPr>
                            <m:t>1</m:t>
                          </m:r>
                        </m:sub>
                      </m:sSub>
                    </m:oMath>
                  </m:oMathPara>
                </a14:m>
                <a:endParaRPr lang="zh-CN" altLang="en-US" dirty="0"/>
              </a:p>
            </p:txBody>
          </p:sp>
        </mc:Choice>
        <mc:Fallback xmlns="">
          <p:sp>
            <p:nvSpPr>
              <p:cNvPr id="31" name="Object 11">
                <a:extLst>
                  <a:ext uri="{FF2B5EF4-FFF2-40B4-BE49-F238E27FC236}">
                    <a16:creationId xmlns:a16="http://schemas.microsoft.com/office/drawing/2014/main" id="{FFDD7CB8-059D-85E5-CD48-6E5514E1835D}"/>
                  </a:ext>
                </a:extLst>
              </p:cNvPr>
              <p:cNvSpPr txBox="1">
                <a:spLocks noRot="1" noChangeAspect="1" noMove="1" noResize="1" noEditPoints="1" noAdjustHandles="1" noChangeArrowheads="1" noChangeShapeType="1" noTextEdit="1"/>
              </p:cNvSpPr>
              <p:nvPr/>
            </p:nvSpPr>
            <p:spPr>
              <a:xfrm>
                <a:off x="9426440" y="4695824"/>
                <a:ext cx="503238" cy="566738"/>
              </a:xfrm>
              <a:prstGeom prst="rect">
                <a:avLst/>
              </a:prstGeom>
              <a:blipFill>
                <a:blip r:embed="rId12"/>
                <a:stretch>
                  <a:fillRect l="-12048" r="-7229"/>
                </a:stretch>
              </a:blipFill>
              <a:ln w="38100">
                <a:miter/>
              </a:ln>
            </p:spPr>
            <p:txBody>
              <a:bodyPr/>
              <a:lstStyle/>
              <a:p>
                <a:r>
                  <a:rPr lang="en-US">
                    <a:noFill/>
                  </a:rPr>
                  <a:t> </a:t>
                </a:r>
              </a:p>
            </p:txBody>
          </p:sp>
        </mc:Fallback>
      </mc:AlternateContent>
      <p:grpSp>
        <p:nvGrpSpPr>
          <p:cNvPr id="38" name="Group 25">
            <a:extLst>
              <a:ext uri="{FF2B5EF4-FFF2-40B4-BE49-F238E27FC236}">
                <a16:creationId xmlns:a16="http://schemas.microsoft.com/office/drawing/2014/main" id="{ED372F04-9E1E-6BA7-2876-83BAD40469BF}"/>
              </a:ext>
            </a:extLst>
          </p:cNvPr>
          <p:cNvGrpSpPr/>
          <p:nvPr/>
        </p:nvGrpSpPr>
        <p:grpSpPr>
          <a:xfrm>
            <a:off x="7276966" y="5235237"/>
            <a:ext cx="6072188" cy="587375"/>
            <a:chOff x="930" y="1520"/>
            <a:chExt cx="3825" cy="370"/>
          </a:xfrm>
        </p:grpSpPr>
        <p:grpSp>
          <p:nvGrpSpPr>
            <p:cNvPr id="39" name="Group 26">
              <a:extLst>
                <a:ext uri="{FF2B5EF4-FFF2-40B4-BE49-F238E27FC236}">
                  <a16:creationId xmlns:a16="http://schemas.microsoft.com/office/drawing/2014/main" id="{77019A3C-564D-03ED-CC75-D2B5CD727B63}"/>
                </a:ext>
              </a:extLst>
            </p:cNvPr>
            <p:cNvGrpSpPr/>
            <p:nvPr/>
          </p:nvGrpSpPr>
          <p:grpSpPr>
            <a:xfrm>
              <a:off x="930" y="1525"/>
              <a:ext cx="3825" cy="365"/>
              <a:chOff x="930" y="1525"/>
              <a:chExt cx="3825" cy="365"/>
            </a:xfrm>
          </p:grpSpPr>
          <p:sp>
            <p:nvSpPr>
              <p:cNvPr id="44" name="Text Box 27">
                <a:extLst>
                  <a:ext uri="{FF2B5EF4-FFF2-40B4-BE49-F238E27FC236}">
                    <a16:creationId xmlns:a16="http://schemas.microsoft.com/office/drawing/2014/main" id="{A5A17604-2C84-9A05-6FCF-89CB4A205DA2}"/>
                  </a:ext>
                </a:extLst>
              </p:cNvPr>
              <p:cNvSpPr txBox="1"/>
              <p:nvPr/>
            </p:nvSpPr>
            <p:spPr>
              <a:xfrm>
                <a:off x="930" y="1525"/>
                <a:ext cx="930" cy="365"/>
              </a:xfrm>
              <a:prstGeom prst="rect">
                <a:avLst/>
              </a:prstGeom>
              <a:noFill/>
              <a:ln w="9525">
                <a:noFill/>
              </a:ln>
            </p:spPr>
            <p:txBody>
              <a:bodyPr>
                <a:spAutoFit/>
              </a:bodyPr>
              <a:lstStyle/>
              <a:p>
                <a:pPr>
                  <a:spcBef>
                    <a:spcPct val="50000"/>
                  </a:spcBef>
                </a:pPr>
                <a:r>
                  <a:rPr lang="zh-CN" altLang="en-US" sz="3200" dirty="0">
                    <a:solidFill>
                      <a:srgbClr val="010000"/>
                    </a:solidFill>
                    <a:latin typeface="Times New Roman" panose="02020603050405020304" pitchFamily="18" charset="0"/>
                  </a:rPr>
                  <a:t>总放热</a:t>
                </a:r>
              </a:p>
            </p:txBody>
          </p:sp>
          <p:sp>
            <p:nvSpPr>
              <p:cNvPr id="45" name="Line 28">
                <a:extLst>
                  <a:ext uri="{FF2B5EF4-FFF2-40B4-BE49-F238E27FC236}">
                    <a16:creationId xmlns:a16="http://schemas.microsoft.com/office/drawing/2014/main" id="{B3BEF343-0B6F-FF23-AA68-507EABB62C33}"/>
                  </a:ext>
                </a:extLst>
              </p:cNvPr>
              <p:cNvSpPr/>
              <p:nvPr/>
            </p:nvSpPr>
            <p:spPr>
              <a:xfrm>
                <a:off x="1841" y="1717"/>
                <a:ext cx="465" cy="0"/>
              </a:xfrm>
              <a:prstGeom prst="line">
                <a:avLst/>
              </a:prstGeom>
              <a:ln w="38100" cap="flat" cmpd="sng">
                <a:solidFill>
                  <a:srgbClr val="0000FF"/>
                </a:solidFill>
                <a:prstDash val="solid"/>
                <a:headEnd type="none" w="med" len="med"/>
                <a:tailEnd type="triangle" w="med" len="med"/>
              </a:ln>
            </p:spPr>
          </p:sp>
          <p:sp>
            <p:nvSpPr>
              <p:cNvPr id="46" name="Text Box 29">
                <a:extLst>
                  <a:ext uri="{FF2B5EF4-FFF2-40B4-BE49-F238E27FC236}">
                    <a16:creationId xmlns:a16="http://schemas.microsoft.com/office/drawing/2014/main" id="{6D3DC73C-28A0-091F-1089-FB6CA20F1B24}"/>
                  </a:ext>
                </a:extLst>
              </p:cNvPr>
              <p:cNvSpPr txBox="1"/>
              <p:nvPr/>
            </p:nvSpPr>
            <p:spPr>
              <a:xfrm>
                <a:off x="2843" y="1525"/>
                <a:ext cx="1912" cy="365"/>
              </a:xfrm>
              <a:prstGeom prst="rect">
                <a:avLst/>
              </a:prstGeom>
              <a:noFill/>
              <a:ln w="9525">
                <a:noFill/>
              </a:ln>
            </p:spPr>
            <p:txBody>
              <a:bodyPr>
                <a:spAutoFit/>
              </a:bodyPr>
              <a:lstStyle/>
              <a:p>
                <a:pPr>
                  <a:spcBef>
                    <a:spcPct val="50000"/>
                  </a:spcBef>
                </a:pPr>
                <a:endParaRPr lang="zh-CN" altLang="en-US" sz="3200" dirty="0">
                  <a:solidFill>
                    <a:srgbClr val="CC0000"/>
                  </a:solidFill>
                  <a:latin typeface="Times New Roman" panose="02020603050405020304" pitchFamily="18" charset="0"/>
                  <a:ea typeface="楷体_GB2312" panose="02010609030101010101" pitchFamily="49" charset="-122"/>
                </a:endParaRPr>
              </a:p>
            </p:txBody>
          </p:sp>
        </p:grpSp>
        <p:grpSp>
          <p:nvGrpSpPr>
            <p:cNvPr id="40" name="Group 30">
              <a:extLst>
                <a:ext uri="{FF2B5EF4-FFF2-40B4-BE49-F238E27FC236}">
                  <a16:creationId xmlns:a16="http://schemas.microsoft.com/office/drawing/2014/main" id="{FCE54853-BFD2-78EA-9997-7764C81ACAD0}"/>
                </a:ext>
              </a:extLst>
            </p:cNvPr>
            <p:cNvGrpSpPr>
              <a:grpSpLocks noChangeAspect="1"/>
            </p:cNvGrpSpPr>
            <p:nvPr/>
          </p:nvGrpSpPr>
          <p:grpSpPr>
            <a:xfrm>
              <a:off x="2328" y="1520"/>
              <a:ext cx="341" cy="363"/>
              <a:chOff x="2328" y="1520"/>
              <a:chExt cx="341" cy="363"/>
            </a:xfrm>
          </p:grpSpPr>
          <p:sp>
            <p:nvSpPr>
              <p:cNvPr id="41" name="AutoShape 31">
                <a:extLst>
                  <a:ext uri="{FF2B5EF4-FFF2-40B4-BE49-F238E27FC236}">
                    <a16:creationId xmlns:a16="http://schemas.microsoft.com/office/drawing/2014/main" id="{F4CB8AE4-E553-C952-AFEC-8C99C6E2514B}"/>
                  </a:ext>
                </a:extLst>
              </p:cNvPr>
              <p:cNvSpPr>
                <a:spLocks noChangeAspect="1" noTextEdit="1"/>
              </p:cNvSpPr>
              <p:nvPr/>
            </p:nvSpPr>
            <p:spPr>
              <a:xfrm>
                <a:off x="2328" y="1520"/>
                <a:ext cx="341" cy="363"/>
              </a:xfrm>
              <a:prstGeom prst="rect">
                <a:avLst/>
              </a:prstGeom>
              <a:noFill/>
              <a:ln w="9525">
                <a:noFill/>
              </a:ln>
            </p:spPr>
            <p:txBody>
              <a:bodyPr/>
              <a:lstStyle/>
              <a:p>
                <a:endParaRPr lang="zh-CN" altLang="en-US"/>
              </a:p>
            </p:txBody>
          </p:sp>
          <p:sp>
            <p:nvSpPr>
              <p:cNvPr id="42" name="Rectangle 32">
                <a:extLst>
                  <a:ext uri="{FF2B5EF4-FFF2-40B4-BE49-F238E27FC236}">
                    <a16:creationId xmlns:a16="http://schemas.microsoft.com/office/drawing/2014/main" id="{AA5CAE3F-03D0-26A7-6C80-3E3B1ADD9D12}"/>
                  </a:ext>
                </a:extLst>
              </p:cNvPr>
              <p:cNvSpPr/>
              <p:nvPr/>
            </p:nvSpPr>
            <p:spPr>
              <a:xfrm>
                <a:off x="2540" y="1689"/>
                <a:ext cx="81" cy="194"/>
              </a:xfrm>
              <a:prstGeom prst="rect">
                <a:avLst/>
              </a:prstGeom>
              <a:noFill/>
              <a:ln w="9525">
                <a:noFill/>
              </a:ln>
            </p:spPr>
            <p:txBody>
              <a:bodyPr wrap="none" lIns="0" tIns="0" rIns="0" bIns="0">
                <a:spAutoFit/>
              </a:bodyPr>
              <a:lstStyle/>
              <a:p>
                <a:pPr eaLnBrk="1" hangingPunct="1"/>
                <a:r>
                  <a:rPr lang="en-US" altLang="zh-CN" sz="2000" dirty="0">
                    <a:solidFill>
                      <a:srgbClr val="000000"/>
                    </a:solidFill>
                    <a:latin typeface="Times New Roman" panose="02020603050405020304" pitchFamily="18" charset="0"/>
                  </a:rPr>
                  <a:t>2</a:t>
                </a:r>
                <a:endParaRPr lang="en-US" altLang="zh-CN" dirty="0">
                  <a:latin typeface="Arial" panose="020B0604020202020204" pitchFamily="34" charset="0"/>
                </a:endParaRPr>
              </a:p>
            </p:txBody>
          </p:sp>
          <p:sp>
            <p:nvSpPr>
              <p:cNvPr id="43" name="Rectangle 33">
                <a:extLst>
                  <a:ext uri="{FF2B5EF4-FFF2-40B4-BE49-F238E27FC236}">
                    <a16:creationId xmlns:a16="http://schemas.microsoft.com/office/drawing/2014/main" id="{62A15B6C-2881-2B52-8276-AFD74FBBCBFB}"/>
                  </a:ext>
                </a:extLst>
              </p:cNvPr>
              <p:cNvSpPr/>
              <p:nvPr/>
            </p:nvSpPr>
            <p:spPr>
              <a:xfrm>
                <a:off x="2362" y="1547"/>
                <a:ext cx="181" cy="301"/>
              </a:xfrm>
              <a:prstGeom prst="rect">
                <a:avLst/>
              </a:prstGeom>
              <a:noFill/>
              <a:ln w="9525">
                <a:noFill/>
              </a:ln>
            </p:spPr>
            <p:txBody>
              <a:bodyPr wrap="none" lIns="0" tIns="0" rIns="0" bIns="0">
                <a:spAutoFit/>
              </a:bodyPr>
              <a:lstStyle/>
              <a:p>
                <a:pPr eaLnBrk="1" hangingPunct="1"/>
                <a:r>
                  <a:rPr lang="en-US" altLang="zh-CN" sz="3100" i="1" dirty="0">
                    <a:solidFill>
                      <a:srgbClr val="000000"/>
                    </a:solidFill>
                    <a:latin typeface="Times New Roman" panose="02020603050405020304" pitchFamily="18" charset="0"/>
                  </a:rPr>
                  <a:t>Q</a:t>
                </a:r>
                <a:endParaRPr lang="en-US" altLang="zh-CN" dirty="0">
                  <a:latin typeface="Arial" panose="020B0604020202020204" pitchFamily="34"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67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0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10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12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1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1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567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567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8" grpId="0" animBg="1"/>
      <p:bldP spid="4126" grpId="0" animBg="1"/>
      <p:bldP spid="456716" grpId="0"/>
      <p:bldP spid="456717" grpId="0"/>
      <p:bldP spid="456718" grpId="0"/>
      <p:bldP spid="3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1" name="Oval 2"/>
          <p:cNvSpPr/>
          <p:nvPr/>
        </p:nvSpPr>
        <p:spPr>
          <a:xfrm>
            <a:off x="8283180" y="2426239"/>
            <a:ext cx="1728787" cy="803275"/>
          </a:xfrm>
          <a:prstGeom prst="ellipse">
            <a:avLst/>
          </a:prstGeom>
          <a:solidFill>
            <a:schemeClr val="accent1"/>
          </a:solidFill>
          <a:ln w="19050" cap="flat" cmpd="sng">
            <a:solidFill>
              <a:srgbClr val="CC6600"/>
            </a:solidFill>
            <a:prstDash val="solid"/>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sp>
        <p:nvSpPr>
          <p:cNvPr id="6162" name="Text Box 3"/>
          <p:cNvSpPr txBox="1"/>
          <p:nvPr/>
        </p:nvSpPr>
        <p:spPr>
          <a:xfrm>
            <a:off x="8556229" y="2570700"/>
            <a:ext cx="1166812" cy="492443"/>
          </a:xfrm>
          <a:prstGeom prst="rect">
            <a:avLst/>
          </a:prstGeom>
          <a:solidFill>
            <a:schemeClr val="accent1"/>
          </a:solidFill>
          <a:ln w="9525">
            <a:noFill/>
          </a:ln>
        </p:spPr>
        <p:txBody>
          <a:bodyPr>
            <a:spAutoFit/>
          </a:bodyPr>
          <a:lstStyle/>
          <a:p>
            <a:pPr>
              <a:spcBef>
                <a:spcPct val="50000"/>
              </a:spcBef>
            </a:pPr>
            <a:r>
              <a:rPr lang="zh-CN" altLang="en-US" sz="2600" dirty="0">
                <a:solidFill>
                  <a:srgbClr val="333333"/>
                </a:solidFill>
                <a:latin typeface="Times New Roman" panose="02020603050405020304" pitchFamily="18" charset="0"/>
              </a:rPr>
              <a:t>热机</a:t>
            </a:r>
          </a:p>
        </p:txBody>
      </p:sp>
      <p:grpSp>
        <p:nvGrpSpPr>
          <p:cNvPr id="2" name="Group 4"/>
          <p:cNvGrpSpPr>
            <a:grpSpLocks noChangeAspect="1"/>
          </p:cNvGrpSpPr>
          <p:nvPr/>
        </p:nvGrpSpPr>
        <p:grpSpPr>
          <a:xfrm>
            <a:off x="4663974" y="4990309"/>
            <a:ext cx="6864350" cy="923925"/>
            <a:chOff x="1068" y="3200"/>
            <a:chExt cx="4324" cy="582"/>
          </a:xfrm>
        </p:grpSpPr>
        <p:sp>
          <p:nvSpPr>
            <p:cNvPr id="6191" name="Text Box 5"/>
            <p:cNvSpPr txBox="1"/>
            <p:nvPr/>
          </p:nvSpPr>
          <p:spPr>
            <a:xfrm>
              <a:off x="1068" y="3383"/>
              <a:ext cx="1536" cy="330"/>
            </a:xfrm>
            <a:prstGeom prst="rect">
              <a:avLst/>
            </a:prstGeom>
            <a:noFill/>
            <a:ln w="12700">
              <a:noFill/>
            </a:ln>
          </p:spPr>
          <p:txBody>
            <a:bodyPr>
              <a:spAutoFit/>
            </a:bodyPr>
            <a:lstStyle/>
            <a:p>
              <a:pPr>
                <a:spcBef>
                  <a:spcPct val="50000"/>
                </a:spcBef>
              </a:pPr>
              <a:r>
                <a:rPr lang="zh-CN" altLang="en-US" sz="2800" dirty="0">
                  <a:solidFill>
                    <a:srgbClr val="333333"/>
                  </a:solidFill>
                  <a:latin typeface="Times New Roman" panose="02020603050405020304" pitchFamily="18" charset="0"/>
                </a:rPr>
                <a:t>热机效率</a:t>
              </a:r>
            </a:p>
          </p:txBody>
        </p:sp>
        <mc:AlternateContent xmlns:mc="http://schemas.openxmlformats.org/markup-compatibility/2006" xmlns:a14="http://schemas.microsoft.com/office/drawing/2010/main">
          <mc:Choice Requires="a14">
            <p:sp>
              <p:nvSpPr>
                <p:cNvPr id="6160" name="Object 6"/>
                <p:cNvSpPr txBox="1"/>
                <p:nvPr/>
              </p:nvSpPr>
              <p:spPr>
                <a:xfrm>
                  <a:off x="2204" y="3200"/>
                  <a:ext cx="3188" cy="582"/>
                </a:xfrm>
                <a:prstGeom prst="rect">
                  <a:avLst/>
                </a:prstGeom>
                <a:noFill/>
                <a:ln w="12700" cap="flat" cmpd="sng">
                  <a:noFill/>
                  <a:prstDash val="solid"/>
                  <a:miter/>
                  <a:headEnd type="none" w="med" len="med"/>
                  <a:tailEnd type="none" w="med" len="med"/>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𝜂</m:t>
                        </m:r>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𝐴</m:t>
                            </m:r>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1</m:t>
                                </m:r>
                              </m:sub>
                            </m:sSub>
                          </m:den>
                        </m:f>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2</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1</m:t>
                                </m:r>
                              </m:sub>
                            </m:sSub>
                          </m:den>
                        </m:f>
                        <m:r>
                          <a:rPr lang="zh-CN" altLang="en-US" sz="2800" i="1">
                            <a:solidFill>
                              <a:srgbClr val="000000"/>
                            </a:solidFill>
                            <a:latin typeface="Cambria Math" panose="02040503050406030204" pitchFamily="18" charset="0"/>
                          </a:rPr>
                          <m:t>=1−</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2</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1</m:t>
                                </m:r>
                              </m:sub>
                            </m:sSub>
                          </m:den>
                        </m:f>
                      </m:oMath>
                    </m:oMathPara>
                  </a14:m>
                  <a:endParaRPr lang="zh-CN" altLang="en-US" sz="2800" dirty="0"/>
                </a:p>
              </p:txBody>
            </p:sp>
          </mc:Choice>
          <mc:Fallback xmlns="">
            <p:sp>
              <p:nvSpPr>
                <p:cNvPr id="6160" name="Object 6"/>
                <p:cNvSpPr txBox="1">
                  <a:spLocks noRot="1" noChangeAspect="1" noMove="1" noResize="1" noEditPoints="1" noAdjustHandles="1" noChangeArrowheads="1" noChangeShapeType="1" noTextEdit="1"/>
                </p:cNvSpPr>
                <p:nvPr/>
              </p:nvSpPr>
              <p:spPr>
                <a:xfrm>
                  <a:off x="2204" y="3200"/>
                  <a:ext cx="3188" cy="582"/>
                </a:xfrm>
                <a:prstGeom prst="rect">
                  <a:avLst/>
                </a:prstGeom>
                <a:blipFill>
                  <a:blip r:embed="rId2"/>
                  <a:stretch>
                    <a:fillRect/>
                  </a:stretch>
                </a:blipFill>
                <a:ln w="12700" cap="flat" cmpd="sng">
                  <a:noFill/>
                  <a:prstDash val="solid"/>
                  <a:miter/>
                  <a:headEnd type="none" w="med" len="med"/>
                  <a:tailEnd type="none" w="med" len="med"/>
                </a:ln>
              </p:spPr>
              <p:txBody>
                <a:bodyPr/>
                <a:lstStyle/>
                <a:p>
                  <a:r>
                    <a:rPr lang="en-US">
                      <a:noFill/>
                    </a:rPr>
                    <a:t> </a:t>
                  </a:r>
                </a:p>
              </p:txBody>
            </p:sp>
          </mc:Fallback>
        </mc:AlternateContent>
      </p:grpSp>
      <p:grpSp>
        <p:nvGrpSpPr>
          <p:cNvPr id="6165" name="Group 8"/>
          <p:cNvGrpSpPr/>
          <p:nvPr/>
        </p:nvGrpSpPr>
        <p:grpSpPr>
          <a:xfrm>
            <a:off x="8278416" y="1305464"/>
            <a:ext cx="2057400" cy="533400"/>
            <a:chOff x="3648" y="864"/>
            <a:chExt cx="1296" cy="336"/>
          </a:xfrm>
        </p:grpSpPr>
        <p:sp>
          <p:nvSpPr>
            <p:cNvPr id="6189" name="Rectangle 9"/>
            <p:cNvSpPr/>
            <p:nvPr/>
          </p:nvSpPr>
          <p:spPr>
            <a:xfrm>
              <a:off x="3648" y="864"/>
              <a:ext cx="1152" cy="336"/>
            </a:xfrm>
            <a:prstGeom prst="rect">
              <a:avLst/>
            </a:prstGeom>
            <a:solidFill>
              <a:srgbClr val="FDE3F0"/>
            </a:solidFill>
            <a:ln w="19050" cap="flat" cmpd="sng">
              <a:solidFill>
                <a:srgbClr val="CC0099"/>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sp>
          <p:nvSpPr>
            <p:cNvPr id="6190" name="Text Box 10"/>
            <p:cNvSpPr txBox="1"/>
            <p:nvPr/>
          </p:nvSpPr>
          <p:spPr>
            <a:xfrm>
              <a:off x="3696" y="870"/>
              <a:ext cx="1248" cy="310"/>
            </a:xfrm>
            <a:prstGeom prst="rect">
              <a:avLst/>
            </a:prstGeom>
            <a:noFill/>
            <a:ln w="9525">
              <a:noFill/>
            </a:ln>
          </p:spPr>
          <p:txBody>
            <a:bodyPr>
              <a:spAutoFit/>
            </a:bodyPr>
            <a:lstStyle/>
            <a:p>
              <a:pPr>
                <a:spcBef>
                  <a:spcPct val="50000"/>
                </a:spcBef>
              </a:pPr>
              <a:r>
                <a:rPr lang="zh-CN" altLang="en-US" sz="2600" dirty="0">
                  <a:solidFill>
                    <a:srgbClr val="333333"/>
                  </a:solidFill>
                  <a:latin typeface="Times New Roman" panose="02020603050405020304" pitchFamily="18" charset="0"/>
                </a:rPr>
                <a:t>高温热源</a:t>
              </a:r>
              <a:endParaRPr lang="zh-CN" altLang="en-US" sz="2600" dirty="0">
                <a:solidFill>
                  <a:srgbClr val="333333"/>
                </a:solidFill>
                <a:latin typeface="Times New Roman" panose="02020603050405020304" pitchFamily="18" charset="0"/>
                <a:ea typeface="楷体_GB2312" panose="02010609030101010101" pitchFamily="49" charset="-122"/>
              </a:endParaRPr>
            </a:p>
          </p:txBody>
        </p:sp>
      </p:grpSp>
      <p:sp>
        <p:nvSpPr>
          <p:cNvPr id="6166" name="Text Box 11"/>
          <p:cNvSpPr txBox="1"/>
          <p:nvPr/>
        </p:nvSpPr>
        <p:spPr>
          <a:xfrm>
            <a:off x="8202216" y="3667663"/>
            <a:ext cx="1981200" cy="492443"/>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lstStyle/>
          <a:p>
            <a:pPr>
              <a:spcBef>
                <a:spcPct val="50000"/>
              </a:spcBef>
            </a:pPr>
            <a:r>
              <a:rPr lang="zh-CN" altLang="en-US" sz="2600" dirty="0">
                <a:solidFill>
                  <a:srgbClr val="333333"/>
                </a:solidFill>
                <a:latin typeface="Times New Roman" panose="02020603050405020304" pitchFamily="18" charset="0"/>
              </a:rPr>
              <a:t>低温热源</a:t>
            </a:r>
          </a:p>
        </p:txBody>
      </p:sp>
      <p:grpSp>
        <p:nvGrpSpPr>
          <p:cNvPr id="4" name="Group 12"/>
          <p:cNvGrpSpPr/>
          <p:nvPr/>
        </p:nvGrpSpPr>
        <p:grpSpPr>
          <a:xfrm>
            <a:off x="8964216" y="1819813"/>
            <a:ext cx="819150" cy="838200"/>
            <a:chOff x="4080" y="1152"/>
            <a:chExt cx="516" cy="528"/>
          </a:xfrm>
        </p:grpSpPr>
        <p:sp>
          <p:nvSpPr>
            <p:cNvPr id="6188" name="AutoShape 13"/>
            <p:cNvSpPr/>
            <p:nvPr/>
          </p:nvSpPr>
          <p:spPr>
            <a:xfrm>
              <a:off x="4080" y="1152"/>
              <a:ext cx="144" cy="528"/>
            </a:xfrm>
            <a:prstGeom prst="downArrow">
              <a:avLst>
                <a:gd name="adj1" fmla="val 40000"/>
                <a:gd name="adj2" fmla="val 146921"/>
              </a:avLst>
            </a:prstGeom>
            <a:solidFill>
              <a:srgbClr val="FFCCCC"/>
            </a:solidFill>
            <a:ln w="19050" cap="flat" cmpd="sng">
              <a:solidFill>
                <a:srgbClr val="FF0000"/>
              </a:solidFill>
              <a:prstDash val="solid"/>
              <a:miter/>
              <a:headEnd type="none" w="med" len="med"/>
              <a:tailEnd type="none" w="med" len="med"/>
            </a:ln>
          </p:spPr>
          <p:txBody>
            <a:bodyPr vert="eaVert" wrap="none" anchor="ctr" anchorCtr="0"/>
            <a:lstStyle/>
            <a:p>
              <a:endParaRPr lang="zh-CN" altLang="en-US" sz="2600"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6159" name="Object 14"/>
                <p:cNvSpPr txBox="1"/>
                <p:nvPr/>
              </p:nvSpPr>
              <p:spPr>
                <a:xfrm>
                  <a:off x="4224" y="1152"/>
                  <a:ext cx="372" cy="436"/>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𝑄</m:t>
                            </m:r>
                          </m:e>
                          <m:sub>
                            <m:r>
                              <a:rPr lang="zh-CN" altLang="en-US" sz="2600" i="1">
                                <a:solidFill>
                                  <a:srgbClr val="000000"/>
                                </a:solidFill>
                                <a:latin typeface="Cambria Math" panose="02040503050406030204" pitchFamily="18" charset="0"/>
                              </a:rPr>
                              <m:t>1</m:t>
                            </m:r>
                          </m:sub>
                        </m:sSub>
                      </m:oMath>
                    </m:oMathPara>
                  </a14:m>
                  <a:endParaRPr lang="zh-CN" altLang="en-US" sz="2600"/>
                </a:p>
              </p:txBody>
            </p:sp>
          </mc:Choice>
          <mc:Fallback xmlns="">
            <p:sp>
              <p:nvSpPr>
                <p:cNvPr id="6159" name="Object 14"/>
                <p:cNvSpPr txBox="1">
                  <a:spLocks noRot="1" noChangeAspect="1" noMove="1" noResize="1" noEditPoints="1" noAdjustHandles="1" noChangeArrowheads="1" noChangeShapeType="1" noTextEdit="1"/>
                </p:cNvSpPr>
                <p:nvPr/>
              </p:nvSpPr>
              <p:spPr>
                <a:xfrm>
                  <a:off x="4224" y="1152"/>
                  <a:ext cx="372" cy="436"/>
                </a:xfrm>
                <a:prstGeom prst="rect">
                  <a:avLst/>
                </a:prstGeom>
                <a:blipFill>
                  <a:blip r:embed="rId3"/>
                  <a:stretch>
                    <a:fillRect/>
                  </a:stretch>
                </a:blipFill>
                <a:ln w="38100">
                  <a:noFill/>
                  <a:miter/>
                </a:ln>
              </p:spPr>
              <p:txBody>
                <a:bodyPr/>
                <a:lstStyle/>
                <a:p>
                  <a:r>
                    <a:rPr lang="zh-CN" altLang="en-US">
                      <a:noFill/>
                    </a:rPr>
                    <a:t> </a:t>
                  </a:r>
                </a:p>
              </p:txBody>
            </p:sp>
          </mc:Fallback>
        </mc:AlternateContent>
      </p:grpSp>
      <p:grpSp>
        <p:nvGrpSpPr>
          <p:cNvPr id="5" name="Group 15"/>
          <p:cNvGrpSpPr/>
          <p:nvPr/>
        </p:nvGrpSpPr>
        <p:grpSpPr>
          <a:xfrm>
            <a:off x="8997563" y="3058065"/>
            <a:ext cx="841376" cy="804863"/>
            <a:chOff x="4101" y="1968"/>
            <a:chExt cx="530" cy="507"/>
          </a:xfrm>
        </p:grpSpPr>
        <p:sp>
          <p:nvSpPr>
            <p:cNvPr id="6187" name="AutoShape 16"/>
            <p:cNvSpPr/>
            <p:nvPr/>
          </p:nvSpPr>
          <p:spPr>
            <a:xfrm>
              <a:off x="4101" y="1968"/>
              <a:ext cx="144" cy="480"/>
            </a:xfrm>
            <a:prstGeom prst="downArrow">
              <a:avLst>
                <a:gd name="adj1" fmla="val 35416"/>
                <a:gd name="adj2" fmla="val 138888"/>
              </a:avLst>
            </a:prstGeom>
            <a:solidFill>
              <a:srgbClr val="CCECFF"/>
            </a:solidFill>
            <a:ln w="19050" cap="flat" cmpd="sng">
              <a:solidFill>
                <a:srgbClr val="0000FF"/>
              </a:solidFill>
              <a:prstDash val="solid"/>
              <a:miter/>
              <a:headEnd type="none" w="med" len="med"/>
              <a:tailEnd type="none" w="med" len="med"/>
            </a:ln>
          </p:spPr>
          <p:txBody>
            <a:bodyPr vert="eaVert" wrap="none" anchor="ctr" anchorCtr="0"/>
            <a:lstStyle/>
            <a:p>
              <a:endParaRPr lang="zh-CN" altLang="en-US" sz="2600"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6158" name="Object 17"/>
                <p:cNvSpPr txBox="1"/>
                <p:nvPr/>
              </p:nvSpPr>
              <p:spPr>
                <a:xfrm>
                  <a:off x="4259" y="2040"/>
                  <a:ext cx="372" cy="435"/>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𝑄</m:t>
                            </m:r>
                          </m:e>
                          <m:sub>
                            <m:r>
                              <a:rPr lang="zh-CN" altLang="en-US" sz="2600" i="1">
                                <a:solidFill>
                                  <a:srgbClr val="000000"/>
                                </a:solidFill>
                                <a:latin typeface="Cambria Math" panose="02040503050406030204" pitchFamily="18" charset="0"/>
                              </a:rPr>
                              <m:t>2</m:t>
                            </m:r>
                          </m:sub>
                        </m:sSub>
                      </m:oMath>
                    </m:oMathPara>
                  </a14:m>
                  <a:endParaRPr lang="zh-CN" altLang="en-US" sz="2600" dirty="0"/>
                </a:p>
              </p:txBody>
            </p:sp>
          </mc:Choice>
          <mc:Fallback xmlns="">
            <p:sp>
              <p:nvSpPr>
                <p:cNvPr id="6158" name="Object 17"/>
                <p:cNvSpPr txBox="1">
                  <a:spLocks noRot="1" noChangeAspect="1" noMove="1" noResize="1" noEditPoints="1" noAdjustHandles="1" noChangeArrowheads="1" noChangeShapeType="1" noTextEdit="1"/>
                </p:cNvSpPr>
                <p:nvPr/>
              </p:nvSpPr>
              <p:spPr>
                <a:xfrm>
                  <a:off x="4259" y="2040"/>
                  <a:ext cx="372" cy="435"/>
                </a:xfrm>
                <a:prstGeom prst="rect">
                  <a:avLst/>
                </a:prstGeom>
                <a:blipFill>
                  <a:blip r:embed="rId4"/>
                  <a:stretch>
                    <a:fillRect/>
                  </a:stretch>
                </a:blipFill>
                <a:ln w="38100">
                  <a:noFill/>
                  <a:miter/>
                </a:ln>
              </p:spPr>
              <p:txBody>
                <a:bodyPr/>
                <a:lstStyle/>
                <a:p>
                  <a:r>
                    <a:rPr lang="zh-CN" altLang="en-US">
                      <a:noFill/>
                    </a:rPr>
                    <a:t> </a:t>
                  </a:r>
                </a:p>
              </p:txBody>
            </p:sp>
          </mc:Fallback>
        </mc:AlternateContent>
      </p:grpSp>
      <p:grpSp>
        <p:nvGrpSpPr>
          <p:cNvPr id="6" name="Group 18"/>
          <p:cNvGrpSpPr/>
          <p:nvPr/>
        </p:nvGrpSpPr>
        <p:grpSpPr>
          <a:xfrm>
            <a:off x="10053897" y="2492739"/>
            <a:ext cx="1371097" cy="490535"/>
            <a:chOff x="4711" y="1683"/>
            <a:chExt cx="803" cy="223"/>
          </a:xfrm>
        </p:grpSpPr>
        <p:sp>
          <p:nvSpPr>
            <p:cNvPr id="6186" name="AutoShape 19"/>
            <p:cNvSpPr/>
            <p:nvPr/>
          </p:nvSpPr>
          <p:spPr>
            <a:xfrm>
              <a:off x="4711" y="1784"/>
              <a:ext cx="528" cy="102"/>
            </a:xfrm>
            <a:prstGeom prst="rightArrow">
              <a:avLst>
                <a:gd name="adj1" fmla="val 58666"/>
                <a:gd name="adj2" fmla="val 189204"/>
              </a:avLst>
            </a:prstGeom>
            <a:solidFill>
              <a:schemeClr val="accent1"/>
            </a:solidFill>
            <a:ln w="19050" cap="flat" cmpd="sng">
              <a:solidFill>
                <a:srgbClr val="CC6600"/>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6157" name="Object 20"/>
                <p:cNvSpPr txBox="1"/>
                <p:nvPr/>
              </p:nvSpPr>
              <p:spPr>
                <a:xfrm>
                  <a:off x="5295" y="1683"/>
                  <a:ext cx="219" cy="223"/>
                </a:xfrm>
                <a:prstGeom prst="rect">
                  <a:avLst/>
                </a:prstGeom>
                <a:solidFill>
                  <a:schemeClr val="accent1"/>
                </a:solidFill>
                <a:ln w="9525" cap="flat" cmpd="sng">
                  <a:solidFill>
                    <a:srgbClr val="CC6600"/>
                  </a:solidFill>
                  <a:prstDash val="solid"/>
                  <a:miter/>
                  <a:headEnd type="none" w="med" len="med"/>
                  <a:tailEnd type="none" w="med" len="med"/>
                </a:ln>
              </p:spPr>
              <p:txBody>
                <a:bodyPr>
                  <a:no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𝐴</m:t>
                        </m:r>
                      </m:oMath>
                    </m:oMathPara>
                  </a14:m>
                  <a:endParaRPr lang="zh-CN" altLang="en-US" sz="2600" dirty="0"/>
                </a:p>
              </p:txBody>
            </p:sp>
          </mc:Choice>
          <mc:Fallback xmlns="">
            <p:sp>
              <p:nvSpPr>
                <p:cNvPr id="6157" name="Object 20"/>
                <p:cNvSpPr txBox="1">
                  <a:spLocks noRot="1" noChangeAspect="1" noMove="1" noResize="1" noEditPoints="1" noAdjustHandles="1" noChangeArrowheads="1" noChangeShapeType="1" noTextEdit="1"/>
                </p:cNvSpPr>
                <p:nvPr/>
              </p:nvSpPr>
              <p:spPr>
                <a:xfrm>
                  <a:off x="5295" y="1683"/>
                  <a:ext cx="219" cy="223"/>
                </a:xfrm>
                <a:prstGeom prst="rect">
                  <a:avLst/>
                </a:prstGeom>
                <a:blipFill>
                  <a:blip r:embed="rId5"/>
                  <a:stretch>
                    <a:fillRect/>
                  </a:stretch>
                </a:blipFill>
                <a:ln w="9525" cap="flat" cmpd="sng">
                  <a:solidFill>
                    <a:srgbClr val="CC6600"/>
                  </a:solidFill>
                  <a:prstDash val="solid"/>
                  <a:miter/>
                  <a:headEnd type="none" w="med" len="med"/>
                  <a:tailEnd type="none" w="med" len="med"/>
                </a:ln>
              </p:spPr>
              <p:txBody>
                <a:bodyPr/>
                <a:lstStyle/>
                <a:p>
                  <a:r>
                    <a:rPr lang="en-US">
                      <a:noFill/>
                    </a:rPr>
                    <a:t> </a:t>
                  </a:r>
                </a:p>
              </p:txBody>
            </p:sp>
          </mc:Fallback>
        </mc:AlternateContent>
      </p:grpSp>
      <p:sp>
        <p:nvSpPr>
          <p:cNvPr id="6185" name="Freeform 23" descr="浅色下对角线"/>
          <p:cNvSpPr/>
          <p:nvPr/>
        </p:nvSpPr>
        <p:spPr>
          <a:xfrm>
            <a:off x="995606" y="2585174"/>
            <a:ext cx="1981200" cy="1219200"/>
          </a:xfrm>
          <a:custGeom>
            <a:avLst/>
            <a:gdLst>
              <a:gd name="txL" fmla="*/ 0 w 1248"/>
              <a:gd name="txT" fmla="*/ 0 h 768"/>
              <a:gd name="txR" fmla="*/ 1248 w 1248"/>
              <a:gd name="txB" fmla="*/ 768 h 768"/>
            </a:gdLst>
            <a:ahLst/>
            <a:cxnLst>
              <a:cxn ang="0">
                <a:pos x="0" y="0"/>
              </a:cxn>
              <a:cxn ang="0">
                <a:pos x="250" y="0"/>
              </a:cxn>
              <a:cxn ang="0">
                <a:pos x="624" y="96"/>
              </a:cxn>
              <a:cxn ang="0">
                <a:pos x="957" y="288"/>
              </a:cxn>
              <a:cxn ang="0">
                <a:pos x="1118" y="446"/>
              </a:cxn>
              <a:cxn ang="0">
                <a:pos x="1206" y="624"/>
              </a:cxn>
              <a:cxn ang="0">
                <a:pos x="1248" y="768"/>
              </a:cxn>
              <a:cxn ang="0">
                <a:pos x="1040" y="768"/>
              </a:cxn>
              <a:cxn ang="0">
                <a:pos x="790" y="720"/>
              </a:cxn>
              <a:cxn ang="0">
                <a:pos x="582" y="624"/>
              </a:cxn>
              <a:cxn ang="0">
                <a:pos x="374" y="528"/>
              </a:cxn>
              <a:cxn ang="0">
                <a:pos x="250" y="432"/>
              </a:cxn>
              <a:cxn ang="0">
                <a:pos x="166" y="336"/>
              </a:cxn>
              <a:cxn ang="0">
                <a:pos x="62" y="206"/>
              </a:cxn>
              <a:cxn ang="0">
                <a:pos x="27" y="103"/>
              </a:cxn>
              <a:cxn ang="0">
                <a:pos x="0" y="0"/>
              </a:cxn>
            </a:cxnLst>
            <a:rect l="txL" t="txT" r="txR" b="txB"/>
            <a:pathLst>
              <a:path w="1248" h="768">
                <a:moveTo>
                  <a:pt x="0" y="0"/>
                </a:moveTo>
                <a:lnTo>
                  <a:pt x="250" y="0"/>
                </a:lnTo>
                <a:lnTo>
                  <a:pt x="624" y="96"/>
                </a:lnTo>
                <a:lnTo>
                  <a:pt x="957" y="288"/>
                </a:lnTo>
                <a:lnTo>
                  <a:pt x="1118" y="446"/>
                </a:lnTo>
                <a:lnTo>
                  <a:pt x="1206" y="624"/>
                </a:lnTo>
                <a:lnTo>
                  <a:pt x="1248" y="768"/>
                </a:lnTo>
                <a:lnTo>
                  <a:pt x="1040" y="768"/>
                </a:lnTo>
                <a:lnTo>
                  <a:pt x="790" y="720"/>
                </a:lnTo>
                <a:lnTo>
                  <a:pt x="582" y="624"/>
                </a:lnTo>
                <a:lnTo>
                  <a:pt x="374" y="528"/>
                </a:lnTo>
                <a:lnTo>
                  <a:pt x="250" y="432"/>
                </a:lnTo>
                <a:lnTo>
                  <a:pt x="166" y="336"/>
                </a:lnTo>
                <a:lnTo>
                  <a:pt x="62" y="206"/>
                </a:lnTo>
                <a:lnTo>
                  <a:pt x="27" y="103"/>
                </a:lnTo>
                <a:lnTo>
                  <a:pt x="0" y="0"/>
                </a:lnTo>
                <a:close/>
              </a:path>
            </a:pathLst>
          </a:custGeom>
          <a:pattFill prst="ltDnDiag">
            <a:fgClr>
              <a:srgbClr val="CC0099">
                <a:alpha val="100000"/>
              </a:srgbClr>
            </a:fgClr>
            <a:bgClr>
              <a:schemeClr val="bg1">
                <a:alpha val="100000"/>
              </a:schemeClr>
            </a:bgClr>
          </a:pattFill>
          <a:ln w="9525">
            <a:noFill/>
          </a:ln>
        </p:spPr>
        <p:txBody>
          <a:bodyPr/>
          <a:lstStyle/>
          <a:p>
            <a:endParaRPr lang="zh-CN" altLang="en-US" sz="2600"/>
          </a:p>
        </p:txBody>
      </p:sp>
      <p:grpSp>
        <p:nvGrpSpPr>
          <p:cNvPr id="6172" name="Group 25"/>
          <p:cNvGrpSpPr/>
          <p:nvPr/>
        </p:nvGrpSpPr>
        <p:grpSpPr>
          <a:xfrm>
            <a:off x="81206" y="2127658"/>
            <a:ext cx="3513138" cy="2797175"/>
            <a:chOff x="3072" y="1632"/>
            <a:chExt cx="2213" cy="1762"/>
          </a:xfrm>
        </p:grpSpPr>
        <p:sp>
          <p:nvSpPr>
            <p:cNvPr id="6183" name="Line 26"/>
            <p:cNvSpPr/>
            <p:nvPr/>
          </p:nvSpPr>
          <p:spPr>
            <a:xfrm flipV="1">
              <a:off x="3306" y="3120"/>
              <a:ext cx="1974" cy="6"/>
            </a:xfrm>
            <a:prstGeom prst="line">
              <a:avLst/>
            </a:prstGeom>
            <a:ln w="19050" cap="flat" cmpd="sng">
              <a:solidFill>
                <a:srgbClr val="333333"/>
              </a:solidFill>
              <a:prstDash val="solid"/>
              <a:headEnd type="none" w="med" len="med"/>
              <a:tailEnd type="triangle" w="sm" len="lg"/>
            </a:ln>
          </p:spPr>
        </p:sp>
        <p:sp>
          <p:nvSpPr>
            <p:cNvPr id="6184" name="Line 27"/>
            <p:cNvSpPr/>
            <p:nvPr/>
          </p:nvSpPr>
          <p:spPr>
            <a:xfrm flipV="1">
              <a:off x="3306" y="1638"/>
              <a:ext cx="0" cy="1488"/>
            </a:xfrm>
            <a:prstGeom prst="line">
              <a:avLst/>
            </a:prstGeom>
            <a:ln w="19050" cap="flat" cmpd="sng">
              <a:solidFill>
                <a:srgbClr val="333333"/>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6153" name="Object 28"/>
                <p:cNvSpPr txBox="1"/>
                <p:nvPr/>
              </p:nvSpPr>
              <p:spPr>
                <a:xfrm>
                  <a:off x="3072" y="1632"/>
                  <a:ext cx="192" cy="228"/>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𝑝</m:t>
                        </m:r>
                      </m:oMath>
                    </m:oMathPara>
                  </a14:m>
                  <a:endParaRPr lang="zh-CN" altLang="en-US" sz="2600"/>
                </a:p>
              </p:txBody>
            </p:sp>
          </mc:Choice>
          <mc:Fallback xmlns="">
            <p:sp>
              <p:nvSpPr>
                <p:cNvPr id="6153" name="Object 28"/>
                <p:cNvSpPr txBox="1">
                  <a:spLocks noRot="1" noChangeAspect="1" noMove="1" noResize="1" noEditPoints="1" noAdjustHandles="1" noChangeArrowheads="1" noChangeShapeType="1" noTextEdit="1"/>
                </p:cNvSpPr>
                <p:nvPr/>
              </p:nvSpPr>
              <p:spPr>
                <a:xfrm>
                  <a:off x="3072" y="1632"/>
                  <a:ext cx="192" cy="228"/>
                </a:xfrm>
                <a:prstGeom prst="rect">
                  <a:avLst/>
                </a:prstGeom>
                <a:blipFill>
                  <a:blip r:embed="rId6"/>
                  <a:stretch>
                    <a:fillRect b="-20000"/>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54" name="Object 29"/>
                <p:cNvSpPr txBox="1"/>
                <p:nvPr/>
              </p:nvSpPr>
              <p:spPr>
                <a:xfrm>
                  <a:off x="5088" y="3174"/>
                  <a:ext cx="197" cy="220"/>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𝑉</m:t>
                        </m:r>
                      </m:oMath>
                    </m:oMathPara>
                  </a14:m>
                  <a:endParaRPr lang="zh-CN" altLang="en-US" sz="2600"/>
                </a:p>
              </p:txBody>
            </p:sp>
          </mc:Choice>
          <mc:Fallback xmlns="">
            <p:sp>
              <p:nvSpPr>
                <p:cNvPr id="6154" name="Object 29"/>
                <p:cNvSpPr txBox="1">
                  <a:spLocks noRot="1" noChangeAspect="1" noMove="1" noResize="1" noEditPoints="1" noAdjustHandles="1" noChangeArrowheads="1" noChangeShapeType="1" noTextEdit="1"/>
                </p:cNvSpPr>
                <p:nvPr/>
              </p:nvSpPr>
              <p:spPr>
                <a:xfrm>
                  <a:off x="5088" y="3174"/>
                  <a:ext cx="197" cy="220"/>
                </a:xfrm>
                <a:prstGeom prst="rect">
                  <a:avLst/>
                </a:prstGeom>
                <a:blipFill>
                  <a:blip r:embed="rId7"/>
                  <a:stretch>
                    <a:fillRect b="-5263"/>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55" name="Object 30"/>
                <p:cNvSpPr txBox="1"/>
                <p:nvPr/>
              </p:nvSpPr>
              <p:spPr>
                <a:xfrm>
                  <a:off x="3210" y="3126"/>
                  <a:ext cx="177" cy="204"/>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𝑜</m:t>
                        </m:r>
                      </m:oMath>
                    </m:oMathPara>
                  </a14:m>
                  <a:endParaRPr lang="zh-CN" altLang="en-US" sz="2600"/>
                </a:p>
              </p:txBody>
            </p:sp>
          </mc:Choice>
          <mc:Fallback xmlns="">
            <p:sp>
              <p:nvSpPr>
                <p:cNvPr id="6155" name="Object 30"/>
                <p:cNvSpPr txBox="1">
                  <a:spLocks noRot="1" noChangeAspect="1" noMove="1" noResize="1" noEditPoints="1" noAdjustHandles="1" noChangeArrowheads="1" noChangeShapeType="1" noTextEdit="1"/>
                </p:cNvSpPr>
                <p:nvPr/>
              </p:nvSpPr>
              <p:spPr>
                <a:xfrm>
                  <a:off x="3210" y="3126"/>
                  <a:ext cx="177" cy="204"/>
                </a:xfrm>
                <a:prstGeom prst="rect">
                  <a:avLst/>
                </a:prstGeom>
                <a:blipFill>
                  <a:blip r:embed="rId8"/>
                  <a:stretch>
                    <a:fillRect b="-15094"/>
                  </a:stretch>
                </a:blipFill>
                <a:ln w="38100">
                  <a:noFill/>
                  <a:miter/>
                </a:ln>
              </p:spPr>
              <p:txBody>
                <a:bodyPr/>
                <a:lstStyle/>
                <a:p>
                  <a:r>
                    <a:rPr lang="zh-CN" altLang="en-US">
                      <a:noFill/>
                    </a:rPr>
                    <a:t> </a:t>
                  </a:r>
                </a:p>
              </p:txBody>
            </p:sp>
          </mc:Fallback>
        </mc:AlternateContent>
      </p:grpSp>
      <p:grpSp>
        <p:nvGrpSpPr>
          <p:cNvPr id="6173" name="Group 31"/>
          <p:cNvGrpSpPr/>
          <p:nvPr/>
        </p:nvGrpSpPr>
        <p:grpSpPr>
          <a:xfrm>
            <a:off x="767006" y="2127657"/>
            <a:ext cx="2743200" cy="2895600"/>
            <a:chOff x="3504" y="1632"/>
            <a:chExt cx="1728" cy="1824"/>
          </a:xfrm>
        </p:grpSpPr>
        <p:sp>
          <p:nvSpPr>
            <p:cNvPr id="6177" name="Arc 32"/>
            <p:cNvSpPr/>
            <p:nvPr/>
          </p:nvSpPr>
          <p:spPr>
            <a:xfrm>
              <a:off x="3648" y="1921"/>
              <a:ext cx="1252" cy="816"/>
            </a:xfrm>
            <a:custGeom>
              <a:avLst/>
              <a:gdLst>
                <a:gd name="txL" fmla="*/ 0 w 21594"/>
                <a:gd name="txT" fmla="*/ 0 h 21600"/>
                <a:gd name="txR" fmla="*/ 21594 w 21594"/>
                <a:gd name="txB" fmla="*/ 21600 h 21600"/>
              </a:gdLst>
              <a:ahLst/>
              <a:cxnLst>
                <a:cxn ang="0">
                  <a:pos x="0" y="0"/>
                </a:cxn>
                <a:cxn ang="0">
                  <a:pos x="73" y="30"/>
                </a:cxn>
                <a:cxn ang="0">
                  <a:pos x="0" y="31"/>
                </a:cxn>
              </a:cxnLst>
              <a:rect l="txL" t="txT" r="txR" b="txB"/>
              <a:pathLst>
                <a:path w="21594" h="21600" fill="none">
                  <a:moveTo>
                    <a:pt x="-1" y="0"/>
                  </a:moveTo>
                  <a:cubicBezTo>
                    <a:pt x="11723" y="0"/>
                    <a:pt x="21306" y="9351"/>
                    <a:pt x="21593" y="21072"/>
                  </a:cubicBezTo>
                </a:path>
                <a:path w="21594" h="21600" stroke="0">
                  <a:moveTo>
                    <a:pt x="-1" y="0"/>
                  </a:moveTo>
                  <a:cubicBezTo>
                    <a:pt x="11723" y="0"/>
                    <a:pt x="21306" y="9351"/>
                    <a:pt x="21593" y="21072"/>
                  </a:cubicBezTo>
                  <a:lnTo>
                    <a:pt x="0" y="21600"/>
                  </a:lnTo>
                  <a:close/>
                </a:path>
              </a:pathLst>
            </a:custGeom>
            <a:noFill/>
            <a:ln w="28575" cap="flat" cmpd="sng">
              <a:solidFill>
                <a:srgbClr val="CC00CC">
                  <a:alpha val="100000"/>
                </a:srgbClr>
              </a:solidFill>
              <a:prstDash val="solid"/>
              <a:round/>
              <a:headEnd type="none" w="med" len="med"/>
              <a:tailEnd type="none" w="med" len="med"/>
            </a:ln>
          </p:spPr>
          <p:txBody>
            <a:bodyPr/>
            <a:lstStyle/>
            <a:p>
              <a:endParaRPr lang="zh-CN" altLang="en-US" sz="2600"/>
            </a:p>
          </p:txBody>
        </p:sp>
        <p:sp>
          <p:nvSpPr>
            <p:cNvPr id="6178" name="Line 33"/>
            <p:cNvSpPr/>
            <p:nvPr/>
          </p:nvSpPr>
          <p:spPr>
            <a:xfrm>
              <a:off x="4368" y="2064"/>
              <a:ext cx="192" cy="96"/>
            </a:xfrm>
            <a:prstGeom prst="line">
              <a:avLst/>
            </a:prstGeom>
            <a:ln w="57150" cap="flat" cmpd="sng">
              <a:solidFill>
                <a:srgbClr val="CC0099"/>
              </a:solidFill>
              <a:prstDash val="solid"/>
              <a:headEnd type="none" w="med" len="med"/>
              <a:tailEnd type="triangle" w="sm" len="lg"/>
            </a:ln>
          </p:spPr>
        </p:sp>
        <p:sp>
          <p:nvSpPr>
            <p:cNvPr id="6179" name="Text Box 34"/>
            <p:cNvSpPr txBox="1"/>
            <p:nvPr/>
          </p:nvSpPr>
          <p:spPr>
            <a:xfrm>
              <a:off x="3504" y="1632"/>
              <a:ext cx="336" cy="310"/>
            </a:xfrm>
            <a:prstGeom prst="rect">
              <a:avLst/>
            </a:prstGeom>
            <a:noFill/>
            <a:ln w="9525">
              <a:noFill/>
            </a:ln>
          </p:spPr>
          <p:txBody>
            <a:bodyPr>
              <a:spAutoFit/>
            </a:bodyPr>
            <a:lstStyle/>
            <a:p>
              <a:pPr>
                <a:spcBef>
                  <a:spcPct val="50000"/>
                </a:spcBef>
              </a:pPr>
              <a:r>
                <a:rPr lang="en-US" altLang="zh-CN" sz="2600" i="1" dirty="0">
                  <a:solidFill>
                    <a:srgbClr val="010000"/>
                  </a:solidFill>
                  <a:latin typeface="Times New Roman" panose="02020603050405020304" pitchFamily="18" charset="0"/>
                  <a:ea typeface="楷体_GB2312" panose="02010609030101010101" pitchFamily="49" charset="-122"/>
                </a:rPr>
                <a:t>A</a:t>
              </a:r>
            </a:p>
          </p:txBody>
        </p:sp>
        <p:sp>
          <p:nvSpPr>
            <p:cNvPr id="6180" name="Text Box 35"/>
            <p:cNvSpPr txBox="1"/>
            <p:nvPr/>
          </p:nvSpPr>
          <p:spPr>
            <a:xfrm>
              <a:off x="4896" y="2544"/>
              <a:ext cx="336" cy="310"/>
            </a:xfrm>
            <a:prstGeom prst="rect">
              <a:avLst/>
            </a:prstGeom>
            <a:noFill/>
            <a:ln w="9525">
              <a:noFill/>
            </a:ln>
          </p:spPr>
          <p:txBody>
            <a:bodyPr>
              <a:spAutoFit/>
            </a:bodyPr>
            <a:lstStyle/>
            <a:p>
              <a:pPr>
                <a:spcBef>
                  <a:spcPct val="50000"/>
                </a:spcBef>
              </a:pPr>
              <a:r>
                <a:rPr lang="en-US" altLang="zh-CN" sz="2600" i="1" dirty="0">
                  <a:solidFill>
                    <a:srgbClr val="010000"/>
                  </a:solidFill>
                  <a:latin typeface="Times New Roman" panose="02020603050405020304" pitchFamily="18" charset="0"/>
                  <a:ea typeface="楷体_GB2312" panose="02010609030101010101" pitchFamily="49" charset="-122"/>
                </a:rPr>
                <a:t>B</a:t>
              </a:r>
            </a:p>
          </p:txBody>
        </p:sp>
        <p:sp>
          <p:nvSpPr>
            <p:cNvPr id="6181" name="Line 36"/>
            <p:cNvSpPr/>
            <p:nvPr/>
          </p:nvSpPr>
          <p:spPr>
            <a:xfrm>
              <a:off x="3648" y="1920"/>
              <a:ext cx="0" cy="1200"/>
            </a:xfrm>
            <a:prstGeom prst="line">
              <a:avLst/>
            </a:prstGeom>
            <a:ln w="19050" cap="flat" cmpd="sng">
              <a:solidFill>
                <a:srgbClr val="1C1C1C"/>
              </a:solidFill>
              <a:prstDash val="dash"/>
              <a:headEnd type="none" w="med" len="med"/>
              <a:tailEnd type="none" w="med" len="med"/>
            </a:ln>
          </p:spPr>
        </p:sp>
        <p:sp>
          <p:nvSpPr>
            <p:cNvPr id="6182" name="Line 37"/>
            <p:cNvSpPr/>
            <p:nvPr/>
          </p:nvSpPr>
          <p:spPr>
            <a:xfrm>
              <a:off x="4896" y="2688"/>
              <a:ext cx="0" cy="432"/>
            </a:xfrm>
            <a:prstGeom prst="line">
              <a:avLst/>
            </a:prstGeom>
            <a:ln w="19050" cap="flat" cmpd="sng">
              <a:solidFill>
                <a:srgbClr val="1C1C1C"/>
              </a:solidFill>
              <a:prstDash val="dash"/>
              <a:headEnd type="none" w="med" len="med"/>
              <a:tailEnd type="none" w="med" len="med"/>
            </a:ln>
          </p:spPr>
        </p:sp>
        <mc:AlternateContent xmlns:mc="http://schemas.openxmlformats.org/markup-compatibility/2006" xmlns:a14="http://schemas.microsoft.com/office/drawing/2010/main">
          <mc:Choice Requires="a14">
            <p:sp>
              <p:nvSpPr>
                <p:cNvPr id="6150" name="Object 38"/>
                <p:cNvSpPr txBox="1"/>
                <p:nvPr/>
              </p:nvSpPr>
              <p:spPr>
                <a:xfrm>
                  <a:off x="3552" y="3072"/>
                  <a:ext cx="287" cy="336"/>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𝑉</m:t>
                            </m:r>
                          </m:e>
                          <m:sub>
                            <m:r>
                              <a:rPr lang="zh-CN" altLang="en-US" sz="2600" i="1">
                                <a:solidFill>
                                  <a:srgbClr val="000000"/>
                                </a:solidFill>
                                <a:latin typeface="Cambria Math" panose="02040503050406030204" pitchFamily="18" charset="0"/>
                              </a:rPr>
                              <m:t>𝐴</m:t>
                            </m:r>
                          </m:sub>
                        </m:sSub>
                      </m:oMath>
                    </m:oMathPara>
                  </a14:m>
                  <a:endParaRPr lang="zh-CN" altLang="en-US" sz="2600"/>
                </a:p>
              </p:txBody>
            </p:sp>
          </mc:Choice>
          <mc:Fallback xmlns="">
            <p:sp>
              <p:nvSpPr>
                <p:cNvPr id="6150" name="Object 38"/>
                <p:cNvSpPr txBox="1">
                  <a:spLocks noRot="1" noChangeAspect="1" noMove="1" noResize="1" noEditPoints="1" noAdjustHandles="1" noChangeArrowheads="1" noChangeShapeType="1" noTextEdit="1"/>
                </p:cNvSpPr>
                <p:nvPr/>
              </p:nvSpPr>
              <p:spPr>
                <a:xfrm>
                  <a:off x="3552" y="3072"/>
                  <a:ext cx="287" cy="336"/>
                </a:xfrm>
                <a:prstGeom prst="rect">
                  <a:avLst/>
                </a:prstGeom>
                <a:blipFill>
                  <a:blip r:embed="rId9"/>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51" name="Object 39"/>
                <p:cNvSpPr txBox="1"/>
                <p:nvPr/>
              </p:nvSpPr>
              <p:spPr>
                <a:xfrm>
                  <a:off x="4800" y="3120"/>
                  <a:ext cx="287" cy="336"/>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𝑉</m:t>
                            </m:r>
                          </m:e>
                          <m:sub>
                            <m:r>
                              <a:rPr lang="zh-CN" altLang="en-US" sz="2600" i="1">
                                <a:solidFill>
                                  <a:srgbClr val="000000"/>
                                </a:solidFill>
                                <a:latin typeface="Cambria Math" panose="02040503050406030204" pitchFamily="18" charset="0"/>
                              </a:rPr>
                              <m:t>𝐵</m:t>
                            </m:r>
                          </m:sub>
                        </m:sSub>
                      </m:oMath>
                    </m:oMathPara>
                  </a14:m>
                  <a:endParaRPr lang="zh-CN" altLang="en-US" sz="2600"/>
                </a:p>
              </p:txBody>
            </p:sp>
          </mc:Choice>
          <mc:Fallback xmlns="">
            <p:sp>
              <p:nvSpPr>
                <p:cNvPr id="6151" name="Object 39"/>
                <p:cNvSpPr txBox="1">
                  <a:spLocks noRot="1" noChangeAspect="1" noMove="1" noResize="1" noEditPoints="1" noAdjustHandles="1" noChangeArrowheads="1" noChangeShapeType="1" noTextEdit="1"/>
                </p:cNvSpPr>
                <p:nvPr/>
              </p:nvSpPr>
              <p:spPr>
                <a:xfrm>
                  <a:off x="4800" y="3120"/>
                  <a:ext cx="287" cy="336"/>
                </a:xfrm>
                <a:prstGeom prst="rect">
                  <a:avLst/>
                </a:prstGeom>
                <a:blipFill>
                  <a:blip r:embed="rId10"/>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52" name="Object 40"/>
                <p:cNvSpPr txBox="1"/>
                <p:nvPr/>
              </p:nvSpPr>
              <p:spPr>
                <a:xfrm>
                  <a:off x="4430" y="1920"/>
                  <a:ext cx="163" cy="204"/>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𝑐</m:t>
                        </m:r>
                      </m:oMath>
                    </m:oMathPara>
                  </a14:m>
                  <a:endParaRPr lang="zh-CN" altLang="en-US" sz="2600"/>
                </a:p>
              </p:txBody>
            </p:sp>
          </mc:Choice>
          <mc:Fallback xmlns="">
            <p:sp>
              <p:nvSpPr>
                <p:cNvPr id="6152" name="Object 40"/>
                <p:cNvSpPr txBox="1">
                  <a:spLocks noRot="1" noChangeAspect="1" noMove="1" noResize="1" noEditPoints="1" noAdjustHandles="1" noChangeArrowheads="1" noChangeShapeType="1" noTextEdit="1"/>
                </p:cNvSpPr>
                <p:nvPr/>
              </p:nvSpPr>
              <p:spPr>
                <a:xfrm>
                  <a:off x="4430" y="1920"/>
                  <a:ext cx="163" cy="204"/>
                </a:xfrm>
                <a:prstGeom prst="rect">
                  <a:avLst/>
                </a:prstGeom>
                <a:blipFill>
                  <a:blip r:embed="rId11"/>
                  <a:stretch>
                    <a:fillRect b="-15094"/>
                  </a:stretch>
                </a:blipFill>
                <a:ln w="38100">
                  <a:noFill/>
                  <a:miter/>
                </a:ln>
              </p:spPr>
              <p:txBody>
                <a:bodyPr/>
                <a:lstStyle/>
                <a:p>
                  <a:r>
                    <a:rPr lang="zh-CN" altLang="en-US">
                      <a:noFill/>
                    </a:rPr>
                    <a:t> </a:t>
                  </a:r>
                </a:p>
              </p:txBody>
            </p:sp>
          </mc:Fallback>
        </mc:AlternateContent>
      </p:grpSp>
      <p:grpSp>
        <p:nvGrpSpPr>
          <p:cNvPr id="6174" name="Group 41"/>
          <p:cNvGrpSpPr/>
          <p:nvPr/>
        </p:nvGrpSpPr>
        <p:grpSpPr>
          <a:xfrm>
            <a:off x="995606" y="2508657"/>
            <a:ext cx="1981200" cy="1422400"/>
            <a:chOff x="3648" y="1872"/>
            <a:chExt cx="1248" cy="896"/>
          </a:xfrm>
        </p:grpSpPr>
        <p:sp>
          <p:nvSpPr>
            <p:cNvPr id="6175" name="Arc 42"/>
            <p:cNvSpPr/>
            <p:nvPr/>
          </p:nvSpPr>
          <p:spPr>
            <a:xfrm flipH="1" flipV="1">
              <a:off x="3648" y="1872"/>
              <a:ext cx="1248" cy="816"/>
            </a:xfrm>
            <a:custGeom>
              <a:avLst/>
              <a:gdLst>
                <a:gd name="txL" fmla="*/ 0 w 21591"/>
                <a:gd name="txT" fmla="*/ 0 h 21600"/>
                <a:gd name="txR" fmla="*/ 21591 w 21591"/>
                <a:gd name="txB" fmla="*/ 21600 h 21600"/>
              </a:gdLst>
              <a:ahLst/>
              <a:cxnLst>
                <a:cxn ang="0">
                  <a:pos x="0" y="0"/>
                </a:cxn>
                <a:cxn ang="0">
                  <a:pos x="72" y="30"/>
                </a:cxn>
                <a:cxn ang="0">
                  <a:pos x="0" y="31"/>
                </a:cxn>
              </a:cxnLst>
              <a:rect l="txL" t="txT" r="txR" b="txB"/>
              <a:pathLst>
                <a:path w="21591" h="21600" fill="none">
                  <a:moveTo>
                    <a:pt x="-1" y="0"/>
                  </a:moveTo>
                  <a:cubicBezTo>
                    <a:pt x="11681" y="0"/>
                    <a:pt x="21246" y="9287"/>
                    <a:pt x="21590" y="20964"/>
                  </a:cubicBezTo>
                </a:path>
                <a:path w="21591" h="21600" stroke="0">
                  <a:moveTo>
                    <a:pt x="-1" y="0"/>
                  </a:moveTo>
                  <a:cubicBezTo>
                    <a:pt x="11681" y="0"/>
                    <a:pt x="21246" y="9287"/>
                    <a:pt x="21590" y="20964"/>
                  </a:cubicBezTo>
                  <a:lnTo>
                    <a:pt x="0" y="21600"/>
                  </a:lnTo>
                  <a:close/>
                </a:path>
              </a:pathLst>
            </a:custGeom>
            <a:noFill/>
            <a:ln w="28575" cap="flat" cmpd="sng">
              <a:solidFill>
                <a:srgbClr val="0000FF">
                  <a:alpha val="100000"/>
                </a:srgbClr>
              </a:solidFill>
              <a:prstDash val="solid"/>
              <a:round/>
              <a:headEnd type="none" w="med" len="med"/>
              <a:tailEnd type="none" w="med" len="med"/>
            </a:ln>
          </p:spPr>
          <p:txBody>
            <a:bodyPr/>
            <a:lstStyle/>
            <a:p>
              <a:endParaRPr lang="zh-CN" altLang="en-US" sz="2600"/>
            </a:p>
          </p:txBody>
        </p:sp>
        <p:sp>
          <p:nvSpPr>
            <p:cNvPr id="6176" name="Line 43"/>
            <p:cNvSpPr/>
            <p:nvPr/>
          </p:nvSpPr>
          <p:spPr>
            <a:xfrm flipH="1" flipV="1">
              <a:off x="4176" y="2544"/>
              <a:ext cx="144" cy="48"/>
            </a:xfrm>
            <a:prstGeom prst="line">
              <a:avLst/>
            </a:prstGeom>
            <a:ln w="57150" cap="flat" cmpd="sng">
              <a:solidFill>
                <a:srgbClr val="0000FF"/>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6149" name="Object 44"/>
                <p:cNvSpPr txBox="1"/>
                <p:nvPr/>
              </p:nvSpPr>
              <p:spPr>
                <a:xfrm>
                  <a:off x="4080" y="2544"/>
                  <a:ext cx="168" cy="224"/>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𝑑</m:t>
                        </m:r>
                      </m:oMath>
                    </m:oMathPara>
                  </a14:m>
                  <a:endParaRPr lang="zh-CN" altLang="en-US" sz="2600"/>
                </a:p>
              </p:txBody>
            </p:sp>
          </mc:Choice>
          <mc:Fallback xmlns="">
            <p:sp>
              <p:nvSpPr>
                <p:cNvPr id="6149" name="Object 44"/>
                <p:cNvSpPr txBox="1">
                  <a:spLocks noRot="1" noChangeAspect="1" noMove="1" noResize="1" noEditPoints="1" noAdjustHandles="1" noChangeArrowheads="1" noChangeShapeType="1" noTextEdit="1"/>
                </p:cNvSpPr>
                <p:nvPr/>
              </p:nvSpPr>
              <p:spPr>
                <a:xfrm>
                  <a:off x="4080" y="2544"/>
                  <a:ext cx="168" cy="224"/>
                </a:xfrm>
                <a:prstGeom prst="rect">
                  <a:avLst/>
                </a:prstGeom>
                <a:blipFill>
                  <a:blip r:embed="rId12"/>
                  <a:stretch>
                    <a:fillRect r="-2273" b="-3448"/>
                  </a:stretch>
                </a:blipFill>
                <a:ln w="38100">
                  <a:noFill/>
                  <a:miter/>
                </a:ln>
              </p:spPr>
              <p:txBody>
                <a:bodyPr/>
                <a:lstStyle/>
                <a:p>
                  <a:r>
                    <a:rPr lang="zh-CN" altLang="en-US">
                      <a:noFill/>
                    </a:rPr>
                    <a:t> </a:t>
                  </a:r>
                </a:p>
              </p:txBody>
            </p:sp>
          </mc:Fallback>
        </mc:AlternateContent>
      </p:grpSp>
      <p:sp>
        <p:nvSpPr>
          <p:cNvPr id="33" name="Text Box 13">
            <a:hlinkClick r:id="" action="ppaction://noaction"/>
            <a:extLst>
              <a:ext uri="{FF2B5EF4-FFF2-40B4-BE49-F238E27FC236}">
                <a16:creationId xmlns:a16="http://schemas.microsoft.com/office/drawing/2014/main" id="{59E766E3-561E-BB2E-99BE-047E171C812E}"/>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热机</a:t>
            </a:r>
          </a:p>
        </p:txBody>
      </p:sp>
      <p:sp>
        <p:nvSpPr>
          <p:cNvPr id="34" name="Text Box 14">
            <a:extLst>
              <a:ext uri="{FF2B5EF4-FFF2-40B4-BE49-F238E27FC236}">
                <a16:creationId xmlns:a16="http://schemas.microsoft.com/office/drawing/2014/main" id="{3B0AC272-9E11-0416-E6AE-566A5C9F716D}"/>
              </a:ext>
            </a:extLst>
          </p:cNvPr>
          <p:cNvSpPr txBox="1"/>
          <p:nvPr/>
        </p:nvSpPr>
        <p:spPr>
          <a:xfrm>
            <a:off x="159584" y="1190519"/>
            <a:ext cx="4897438" cy="523875"/>
          </a:xfrm>
          <a:prstGeom prst="rect">
            <a:avLst/>
          </a:prstGeom>
          <a:noFill/>
          <a:ln w="9525">
            <a:noFill/>
          </a:ln>
        </p:spPr>
        <p:txBody>
          <a:bodyPr>
            <a:spAutoFit/>
          </a:bodyPr>
          <a:lstStyle/>
          <a:p>
            <a:pPr>
              <a:spcBef>
                <a:spcPct val="50000"/>
              </a:spcBef>
            </a:pPr>
            <a:r>
              <a:rPr lang="zh-CN" altLang="en-US" sz="2800" dirty="0">
                <a:solidFill>
                  <a:srgbClr val="333333"/>
                </a:solidFill>
                <a:latin typeface="Times New Roman" panose="02020603050405020304" pitchFamily="18" charset="0"/>
              </a:rPr>
              <a:t>热机（</a:t>
            </a:r>
            <a:r>
              <a:rPr lang="zh-CN" altLang="en-US" sz="2800" b="1" dirty="0">
                <a:solidFill>
                  <a:srgbClr val="FF0000"/>
                </a:solidFill>
                <a:latin typeface="Times New Roman" panose="02020603050405020304" pitchFamily="18" charset="0"/>
              </a:rPr>
              <a:t>正</a:t>
            </a:r>
            <a:r>
              <a:rPr lang="zh-CN" altLang="en-US" sz="2800" dirty="0">
                <a:solidFill>
                  <a:srgbClr val="333333"/>
                </a:solidFill>
                <a:latin typeface="Times New Roman" panose="02020603050405020304" pitchFamily="18" charset="0"/>
              </a:rPr>
              <a:t>循环）</a:t>
            </a:r>
            <a:endParaRPr lang="zh-CN" altLang="zh-CN" sz="2800" dirty="0">
              <a:solidFill>
                <a:srgbClr val="333333"/>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35" name="Object 15">
                <a:extLst>
                  <a:ext uri="{FF2B5EF4-FFF2-40B4-BE49-F238E27FC236}">
                    <a16:creationId xmlns:a16="http://schemas.microsoft.com/office/drawing/2014/main" id="{C5BA9E45-FE82-8711-BB98-BD09D29A9701}"/>
                  </a:ext>
                </a:extLst>
              </p:cNvPr>
              <p:cNvSpPr txBox="1"/>
              <p:nvPr/>
            </p:nvSpPr>
            <p:spPr>
              <a:xfrm>
                <a:off x="2555151" y="1168807"/>
                <a:ext cx="1255713" cy="327025"/>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𝐴</m:t>
                      </m:r>
                      <m:r>
                        <a:rPr lang="zh-CN" altLang="en-US" sz="2800" i="1">
                          <a:solidFill>
                            <a:srgbClr val="000000"/>
                          </a:solidFill>
                          <a:latin typeface="Cambria Math" panose="02040503050406030204" pitchFamily="18" charset="0"/>
                        </a:rPr>
                        <m:t>&gt;0</m:t>
                      </m:r>
                    </m:oMath>
                  </m:oMathPara>
                </a14:m>
                <a:endParaRPr lang="zh-CN" altLang="en-US" sz="2800" dirty="0"/>
              </a:p>
            </p:txBody>
          </p:sp>
        </mc:Choice>
        <mc:Fallback xmlns="">
          <p:sp>
            <p:nvSpPr>
              <p:cNvPr id="35" name="Object 15">
                <a:extLst>
                  <a:ext uri="{FF2B5EF4-FFF2-40B4-BE49-F238E27FC236}">
                    <a16:creationId xmlns:a16="http://schemas.microsoft.com/office/drawing/2014/main" id="{C5BA9E45-FE82-8711-BB98-BD09D29A9701}"/>
                  </a:ext>
                </a:extLst>
              </p:cNvPr>
              <p:cNvSpPr txBox="1">
                <a:spLocks noRot="1" noChangeAspect="1" noMove="1" noResize="1" noEditPoints="1" noAdjustHandles="1" noChangeArrowheads="1" noChangeShapeType="1" noTextEdit="1"/>
              </p:cNvSpPr>
              <p:nvPr/>
            </p:nvSpPr>
            <p:spPr>
              <a:xfrm>
                <a:off x="2555151" y="1168807"/>
                <a:ext cx="1255713" cy="327025"/>
              </a:xfrm>
              <a:prstGeom prst="rect">
                <a:avLst/>
              </a:prstGeom>
              <a:blipFill>
                <a:blip r:embed="rId13"/>
                <a:stretch>
                  <a:fillRect b="-22642"/>
                </a:stretch>
              </a:blipFill>
              <a:ln w="38100">
                <a:noFill/>
                <a:miter/>
              </a:ln>
            </p:spPr>
            <p:txBody>
              <a:bodyPr/>
              <a:lstStyle/>
              <a:p>
                <a:r>
                  <a:rPr lang="en-US">
                    <a:noFill/>
                  </a:rPr>
                  <a:t> </a:t>
                </a:r>
              </a:p>
            </p:txBody>
          </p:sp>
        </mc:Fallback>
      </mc:AlternateContent>
      <p:grpSp>
        <p:nvGrpSpPr>
          <p:cNvPr id="3" name="组合 2">
            <a:extLst>
              <a:ext uri="{FF2B5EF4-FFF2-40B4-BE49-F238E27FC236}">
                <a16:creationId xmlns:a16="http://schemas.microsoft.com/office/drawing/2014/main" id="{58434E4A-4C94-41ED-BEA0-E457F34549FA}"/>
              </a:ext>
            </a:extLst>
          </p:cNvPr>
          <p:cNvGrpSpPr/>
          <p:nvPr/>
        </p:nvGrpSpPr>
        <p:grpSpPr>
          <a:xfrm>
            <a:off x="4111523" y="1314989"/>
            <a:ext cx="3423935" cy="3174868"/>
            <a:chOff x="4890180" y="1338019"/>
            <a:chExt cx="3282364" cy="3039795"/>
          </a:xfrm>
        </p:grpSpPr>
        <p:pic>
          <p:nvPicPr>
            <p:cNvPr id="44" name="Picture 25">
              <a:hlinkClick r:id="rId14" action="ppaction://hlinkfile"/>
              <a:extLst>
                <a:ext uri="{FF2B5EF4-FFF2-40B4-BE49-F238E27FC236}">
                  <a16:creationId xmlns:a16="http://schemas.microsoft.com/office/drawing/2014/main" id="{7D2C8CB0-6612-4D4D-A4BE-A71587824777}"/>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l="9204" t="16136" r="27871" b="8509"/>
            <a:stretch/>
          </p:blipFill>
          <p:spPr bwMode="auto">
            <a:xfrm>
              <a:off x="4890180" y="1338019"/>
              <a:ext cx="3277421" cy="3039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45" name="Picture 25">
              <a:hlinkClick r:id="rId14" action="ppaction://hlinkfile"/>
              <a:extLst>
                <a:ext uri="{FF2B5EF4-FFF2-40B4-BE49-F238E27FC236}">
                  <a16:creationId xmlns:a16="http://schemas.microsoft.com/office/drawing/2014/main" id="{667B9CC0-98E2-452A-969E-6F0B9AB91AA2}"/>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l="9204" t="66153" r="86066" b="8509"/>
            <a:stretch/>
          </p:blipFill>
          <p:spPr bwMode="auto">
            <a:xfrm>
              <a:off x="7926214" y="2653108"/>
              <a:ext cx="246330" cy="819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46" name="Picture 25">
              <a:hlinkClick r:id="rId14" action="ppaction://hlinkfile"/>
              <a:extLst>
                <a:ext uri="{FF2B5EF4-FFF2-40B4-BE49-F238E27FC236}">
                  <a16:creationId xmlns:a16="http://schemas.microsoft.com/office/drawing/2014/main" id="{5F309337-91C5-43CD-9929-45364D741016}"/>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l="9204" t="66153" r="86066" b="8509"/>
            <a:stretch/>
          </p:blipFill>
          <p:spPr bwMode="auto">
            <a:xfrm>
              <a:off x="7921042" y="3531388"/>
              <a:ext cx="246330" cy="819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6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16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16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16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61" grpId="0" animBg="1"/>
      <p:bldP spid="6162" grpId="0" animBg="1"/>
      <p:bldP spid="616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8" name="Picture 8" descr="什麼是熱機?|概述|機械助推188金宝慱体育官网- 188bet娱乐场,188金宝慱体育官网">
            <a:extLst>
              <a:ext uri="{FF2B5EF4-FFF2-40B4-BE49-F238E27FC236}">
                <a16:creationId xmlns:a16="http://schemas.microsoft.com/office/drawing/2014/main" id="{F66B4C8E-F3C6-EA03-EF6E-E0C99223F7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076" y="899887"/>
            <a:ext cx="10097859" cy="528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14564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26CBA2DA-A6BB-1F8A-246F-05F08E5A81BC}"/>
              </a:ext>
            </a:extLst>
          </p:cNvPr>
          <p:cNvGrpSpPr/>
          <p:nvPr/>
        </p:nvGrpSpPr>
        <p:grpSpPr>
          <a:xfrm>
            <a:off x="1114425" y="964746"/>
            <a:ext cx="9445108" cy="4928508"/>
            <a:chOff x="1560739" y="1167492"/>
            <a:chExt cx="8884494" cy="4523015"/>
          </a:xfrm>
        </p:grpSpPr>
        <p:pic>
          <p:nvPicPr>
            <p:cNvPr id="41986" name="Picture 2">
              <a:extLst>
                <a:ext uri="{FF2B5EF4-FFF2-40B4-BE49-F238E27FC236}">
                  <a16:creationId xmlns:a16="http://schemas.microsoft.com/office/drawing/2014/main" id="{CF5363FD-992D-C1D0-A985-F48AF08A5D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0739" y="1167492"/>
              <a:ext cx="8884494" cy="4523015"/>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a:extLst>
                <a:ext uri="{FF2B5EF4-FFF2-40B4-BE49-F238E27FC236}">
                  <a16:creationId xmlns:a16="http://schemas.microsoft.com/office/drawing/2014/main" id="{5E2166C3-2B5B-BDD0-1642-B347FBB13A5C}"/>
                </a:ext>
              </a:extLst>
            </p:cNvPr>
            <p:cNvPicPr>
              <a:picLocks noChangeAspect="1"/>
            </p:cNvPicPr>
            <p:nvPr/>
          </p:nvPicPr>
          <p:blipFill>
            <a:blip r:embed="rId3"/>
            <a:stretch>
              <a:fillRect/>
            </a:stretch>
          </p:blipFill>
          <p:spPr>
            <a:xfrm>
              <a:off x="1560739" y="1167492"/>
              <a:ext cx="3810000" cy="1352550"/>
            </a:xfrm>
            <a:prstGeom prst="rect">
              <a:avLst/>
            </a:prstGeom>
          </p:spPr>
        </p:pic>
      </p:grpSp>
    </p:spTree>
    <p:extLst>
      <p:ext uri="{BB962C8B-B14F-4D97-AF65-F5344CB8AC3E}">
        <p14:creationId xmlns:p14="http://schemas.microsoft.com/office/powerpoint/2010/main" val="37125053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p:nvPr/>
        </p:nvSpPr>
        <p:spPr>
          <a:xfrm>
            <a:off x="931864" y="1263651"/>
            <a:ext cx="8240712" cy="5016758"/>
          </a:xfrm>
          <a:prstGeom prst="rect">
            <a:avLst/>
          </a:prstGeom>
          <a:noFill/>
          <a:ln w="9525">
            <a:noFill/>
          </a:ln>
        </p:spPr>
        <p:txBody>
          <a:bodyPr wrap="square">
            <a:spAutoFit/>
          </a:bodyPr>
          <a:lstStyle/>
          <a:p>
            <a:pPr marL="457200" indent="-457200">
              <a:spcBef>
                <a:spcPct val="50000"/>
              </a:spcBef>
              <a:buFontTx/>
              <a:buChar char="-"/>
            </a:pPr>
            <a:r>
              <a:rPr lang="en-US" altLang="zh-CN" sz="3200" dirty="0">
                <a:solidFill>
                  <a:srgbClr val="080808"/>
                </a:solidFill>
                <a:latin typeface="Times New Roman" panose="02020603050405020304" pitchFamily="18" charset="0"/>
              </a:rPr>
              <a:t>1698</a:t>
            </a:r>
            <a:r>
              <a:rPr lang="zh-CN" altLang="en-US" sz="3200" dirty="0">
                <a:solidFill>
                  <a:srgbClr val="080808"/>
                </a:solidFill>
                <a:latin typeface="Times New Roman" panose="02020603050405020304" pitchFamily="18" charset="0"/>
              </a:rPr>
              <a:t>年萨维利和</a:t>
            </a:r>
            <a:r>
              <a:rPr lang="en-US" altLang="zh-CN" sz="3200" dirty="0">
                <a:solidFill>
                  <a:srgbClr val="080808"/>
                </a:solidFill>
                <a:latin typeface="Times New Roman" panose="02020603050405020304" pitchFamily="18" charset="0"/>
              </a:rPr>
              <a:t>1705</a:t>
            </a:r>
            <a:r>
              <a:rPr lang="zh-CN" altLang="en-US" sz="3200" dirty="0">
                <a:solidFill>
                  <a:srgbClr val="080808"/>
                </a:solidFill>
                <a:latin typeface="Times New Roman" panose="02020603050405020304" pitchFamily="18" charset="0"/>
              </a:rPr>
              <a:t>年纽卡门先后发明了</a:t>
            </a:r>
            <a:r>
              <a:rPr lang="zh-CN" altLang="en-US" sz="3200" dirty="0">
                <a:solidFill>
                  <a:srgbClr val="000000"/>
                </a:solidFill>
                <a:latin typeface="Times New Roman" panose="02020603050405020304" pitchFamily="18" charset="0"/>
              </a:rPr>
              <a:t>蒸气机 ，当时蒸气机的效率极低  （</a:t>
            </a:r>
            <a:r>
              <a:rPr lang="en-US" altLang="zh-CN" sz="3200" dirty="0">
                <a:solidFill>
                  <a:srgbClr val="000000"/>
                </a:solidFill>
                <a:latin typeface="Times New Roman" panose="02020603050405020304" pitchFamily="18" charset="0"/>
              </a:rPr>
              <a:t>0.5%</a:t>
            </a:r>
            <a:r>
              <a:rPr lang="zh-CN" altLang="en-US" sz="3200" dirty="0">
                <a:solidFill>
                  <a:srgbClr val="000000"/>
                </a:solidFill>
                <a:latin typeface="Times New Roman" panose="02020603050405020304" pitchFamily="18" charset="0"/>
              </a:rPr>
              <a:t>）。</a:t>
            </a:r>
            <a:endParaRPr lang="en-US" altLang="zh-CN" sz="3200" dirty="0">
              <a:solidFill>
                <a:srgbClr val="000000"/>
              </a:solidFill>
              <a:latin typeface="Times New Roman" panose="02020603050405020304" pitchFamily="18" charset="0"/>
            </a:endParaRPr>
          </a:p>
          <a:p>
            <a:pPr marL="457200" indent="-457200">
              <a:spcBef>
                <a:spcPct val="50000"/>
              </a:spcBef>
              <a:buFontTx/>
              <a:buChar char="-"/>
            </a:pPr>
            <a:r>
              <a:rPr lang="en-US" altLang="zh-CN" sz="3200" dirty="0">
                <a:solidFill>
                  <a:srgbClr val="080808"/>
                </a:solidFill>
                <a:latin typeface="Times New Roman" panose="02020603050405020304" pitchFamily="18" charset="0"/>
              </a:rPr>
              <a:t>1765</a:t>
            </a:r>
            <a:r>
              <a:rPr lang="zh-CN" altLang="en-US" sz="3200" dirty="0">
                <a:solidFill>
                  <a:srgbClr val="080808"/>
                </a:solidFill>
                <a:latin typeface="Times New Roman" panose="02020603050405020304" pitchFamily="18" charset="0"/>
              </a:rPr>
              <a:t>年瓦特进行了重大改进 ，大大提高了效率（</a:t>
            </a:r>
            <a:r>
              <a:rPr lang="zh-CN" altLang="en-US" sz="3200" dirty="0"/>
              <a:t>总效率不超过</a:t>
            </a:r>
            <a:r>
              <a:rPr lang="en-US" altLang="zh-CN" sz="3200" dirty="0"/>
              <a:t>3</a:t>
            </a:r>
            <a:r>
              <a:rPr lang="zh-CN" altLang="en-US" sz="3200" dirty="0"/>
              <a:t>％，最好时达到了</a:t>
            </a:r>
            <a:r>
              <a:rPr lang="en-US" altLang="zh-CN" sz="3200" dirty="0"/>
              <a:t>4.5%</a:t>
            </a:r>
            <a:r>
              <a:rPr lang="zh-CN" altLang="en-US" sz="3200" dirty="0">
                <a:solidFill>
                  <a:srgbClr val="080808"/>
                </a:solidFill>
                <a:latin typeface="Times New Roman" panose="02020603050405020304" pitchFamily="18" charset="0"/>
              </a:rPr>
              <a:t>）</a:t>
            </a:r>
            <a:endParaRPr lang="en-US" altLang="zh-CN" sz="3200" dirty="0">
              <a:solidFill>
                <a:srgbClr val="080808"/>
              </a:solidFill>
              <a:latin typeface="Times New Roman" panose="02020603050405020304" pitchFamily="18" charset="0"/>
            </a:endParaRPr>
          </a:p>
          <a:p>
            <a:pPr marL="457200" indent="-457200">
              <a:spcBef>
                <a:spcPct val="50000"/>
              </a:spcBef>
              <a:buFontTx/>
              <a:buChar char="-"/>
            </a:pPr>
            <a:r>
              <a:rPr lang="en-US" altLang="zh-CN" sz="3200" dirty="0">
                <a:latin typeface="Times New Roman" panose="02020603050405020304" pitchFamily="18" charset="0"/>
              </a:rPr>
              <a:t> </a:t>
            </a:r>
            <a:r>
              <a:rPr lang="en-US" altLang="zh-CN" sz="3200" dirty="0"/>
              <a:t>1824</a:t>
            </a:r>
            <a:r>
              <a:rPr lang="zh-CN" altLang="en-US" sz="3200" dirty="0">
                <a:latin typeface="宋体" panose="02010600030101010101" pitchFamily="2" charset="-122"/>
              </a:rPr>
              <a:t>年，法国</a:t>
            </a:r>
            <a:r>
              <a:rPr lang="zh-CN" altLang="en-US" sz="3200" dirty="0"/>
              <a:t> </a:t>
            </a:r>
            <a:r>
              <a:rPr lang="en-US" altLang="zh-CN" sz="3200" dirty="0"/>
              <a:t>28 </a:t>
            </a:r>
            <a:r>
              <a:rPr lang="zh-CN" altLang="en-US" sz="3200" dirty="0">
                <a:latin typeface="宋体" panose="02010600030101010101" pitchFamily="2" charset="-122"/>
              </a:rPr>
              <a:t>岁工程师卡诺采用科学抽象的方法建立了理想化的模型，即卡诺热机 </a:t>
            </a:r>
            <a:r>
              <a:rPr lang="zh-CN" altLang="en-US" sz="3200" dirty="0">
                <a:latin typeface="Times New Roman" panose="02020603050405020304" pitchFamily="18" charset="0"/>
              </a:rPr>
              <a:t>。</a:t>
            </a:r>
            <a:endParaRPr lang="en-US" altLang="zh-CN" sz="3200" dirty="0">
              <a:latin typeface="Times New Roman" panose="02020603050405020304" pitchFamily="18" charset="0"/>
            </a:endParaRPr>
          </a:p>
        </p:txBody>
      </p:sp>
      <p:sp>
        <p:nvSpPr>
          <p:cNvPr id="2" name="Text Box 13">
            <a:hlinkClick r:id="" action="ppaction://noaction"/>
            <a:extLst>
              <a:ext uri="{FF2B5EF4-FFF2-40B4-BE49-F238E27FC236}">
                <a16:creationId xmlns:a16="http://schemas.microsoft.com/office/drawing/2014/main" id="{92EA64BA-4917-F152-4335-BF42C85A309B}"/>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热机效率</a:t>
            </a:r>
          </a:p>
        </p:txBody>
      </p:sp>
      <p:pic>
        <p:nvPicPr>
          <p:cNvPr id="6" name="Picture 16" descr="carnot">
            <a:extLst>
              <a:ext uri="{FF2B5EF4-FFF2-40B4-BE49-F238E27FC236}">
                <a16:creationId xmlns:a16="http://schemas.microsoft.com/office/drawing/2014/main" id="{FB79EFAD-2313-F067-2F86-3112E882C0DC}"/>
              </a:ext>
            </a:extLst>
          </p:cNvPr>
          <p:cNvPicPr>
            <a:picLocks noChangeAspect="1" noChangeArrowheads="1"/>
          </p:cNvPicPr>
          <p:nvPr/>
        </p:nvPicPr>
        <p:blipFill>
          <a:blip r:embed="rId2">
            <a:lum bright="12000" contrast="12000"/>
            <a:extLst>
              <a:ext uri="{28A0092B-C50C-407E-A947-70E740481C1C}">
                <a14:useLocalDpi xmlns:a14="http://schemas.microsoft.com/office/drawing/2010/main" val="0"/>
              </a:ext>
            </a:extLst>
          </a:blip>
          <a:srcRect/>
          <a:stretch>
            <a:fillRect/>
          </a:stretch>
        </p:blipFill>
        <p:spPr bwMode="auto">
          <a:xfrm>
            <a:off x="8934074" y="2200103"/>
            <a:ext cx="2771674" cy="3575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17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17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17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Text Box 2"/>
          <p:cNvSpPr txBox="1">
            <a:spLocks noChangeArrowheads="1"/>
          </p:cNvSpPr>
          <p:nvPr/>
        </p:nvSpPr>
        <p:spPr bwMode="auto">
          <a:xfrm>
            <a:off x="3626226" y="1257598"/>
            <a:ext cx="5934387" cy="1097223"/>
          </a:xfrm>
          <a:prstGeom prst="rect">
            <a:avLst/>
          </a:prstGeom>
          <a:solidFill>
            <a:schemeClr val="bg1"/>
          </a:solidFill>
          <a:ln w="9525">
            <a:solidFill>
              <a:schemeClr val="bg1"/>
            </a:solidFill>
            <a:miter lim="800000"/>
          </a:ln>
          <a:effectLst/>
        </p:spPr>
        <p:txBody>
          <a:bodyPr wrap="square">
            <a:spAutoFit/>
          </a:bodyPr>
          <a:lstStyle/>
          <a:p>
            <a:pPr>
              <a:lnSpc>
                <a:spcPct val="120000"/>
              </a:lnSpc>
              <a:spcBef>
                <a:spcPct val="50000"/>
              </a:spcBef>
              <a:defRPr/>
            </a:pPr>
            <a:r>
              <a:rPr kumimoji="1" lang="en-US" altLang="zh-CN" sz="2800" dirty="0">
                <a:solidFill>
                  <a:srgbClr val="CC0000"/>
                </a:solidFill>
                <a:latin typeface="+mn-ea"/>
              </a:rPr>
              <a:t>- </a:t>
            </a:r>
            <a:r>
              <a:rPr kumimoji="1" lang="zh-CN" altLang="en-US" sz="2800" dirty="0">
                <a:solidFill>
                  <a:srgbClr val="CC0000"/>
                </a:solidFill>
                <a:latin typeface="+mn-ea"/>
              </a:rPr>
              <a:t>卡诺</a:t>
            </a:r>
            <a:r>
              <a:rPr kumimoji="1" lang="zh-CN" altLang="en-US" sz="2800" dirty="0">
                <a:solidFill>
                  <a:srgbClr val="000000"/>
                </a:solidFill>
                <a:latin typeface="+mn-ea"/>
              </a:rPr>
              <a:t>循环是由两个准静态</a:t>
            </a:r>
            <a:r>
              <a:rPr kumimoji="1" lang="zh-CN" altLang="en-US" sz="2800" dirty="0">
                <a:solidFill>
                  <a:srgbClr val="CC0000"/>
                </a:solidFill>
                <a:latin typeface="+mn-ea"/>
              </a:rPr>
              <a:t>等温</a:t>
            </a:r>
            <a:r>
              <a:rPr kumimoji="1" lang="zh-CN" altLang="en-US" sz="2800" dirty="0">
                <a:solidFill>
                  <a:srgbClr val="000000"/>
                </a:solidFill>
                <a:latin typeface="+mn-ea"/>
              </a:rPr>
              <a:t>过程和两个准静态</a:t>
            </a:r>
            <a:r>
              <a:rPr kumimoji="1" lang="zh-CN" altLang="en-US" sz="2800" dirty="0">
                <a:solidFill>
                  <a:srgbClr val="CC0000"/>
                </a:solidFill>
                <a:latin typeface="+mn-ea"/>
              </a:rPr>
              <a:t>绝热</a:t>
            </a:r>
            <a:r>
              <a:rPr kumimoji="1" lang="zh-CN" altLang="en-US" sz="2800" dirty="0">
                <a:solidFill>
                  <a:srgbClr val="000000"/>
                </a:solidFill>
                <a:latin typeface="+mn-ea"/>
              </a:rPr>
              <a:t>过程组成 </a:t>
            </a:r>
            <a:r>
              <a:rPr kumimoji="1" lang="zh-CN" altLang="en-US" sz="2800" dirty="0">
                <a:solidFill>
                  <a:srgbClr val="333333"/>
                </a:solidFill>
                <a:latin typeface="+mn-ea"/>
              </a:rPr>
              <a:t>。</a:t>
            </a:r>
            <a:endParaRPr kumimoji="1" lang="en-US" altLang="zh-CN" sz="2800" dirty="0">
              <a:solidFill>
                <a:srgbClr val="333333"/>
              </a:solidFill>
              <a:latin typeface="+mn-ea"/>
            </a:endParaRPr>
          </a:p>
        </p:txBody>
      </p:sp>
      <p:grpSp>
        <p:nvGrpSpPr>
          <p:cNvPr id="2" name="Group 3"/>
          <p:cNvGrpSpPr/>
          <p:nvPr/>
        </p:nvGrpSpPr>
        <p:grpSpPr>
          <a:xfrm>
            <a:off x="715491" y="3178910"/>
            <a:ext cx="2520950" cy="973137"/>
            <a:chOff x="3061" y="2387"/>
            <a:chExt cx="1588" cy="613"/>
          </a:xfrm>
        </p:grpSpPr>
        <p:sp>
          <p:nvSpPr>
            <p:cNvPr id="10303" name="Oval 4"/>
            <p:cNvSpPr/>
            <p:nvPr/>
          </p:nvSpPr>
          <p:spPr>
            <a:xfrm>
              <a:off x="3061" y="2387"/>
              <a:ext cx="1588" cy="613"/>
            </a:xfrm>
            <a:prstGeom prst="ellipse">
              <a:avLst/>
            </a:prstGeom>
            <a:solidFill>
              <a:schemeClr val="accent1"/>
            </a:solidFill>
            <a:ln w="19050" cap="flat" cmpd="sng">
              <a:solidFill>
                <a:srgbClr val="CC6600"/>
              </a:solidFill>
              <a:prstDash val="solid"/>
              <a:headEnd type="none" w="med" len="med"/>
              <a:tailEnd type="none" w="med" len="med"/>
            </a:ln>
          </p:spPr>
          <p:txBody>
            <a:bodyPr wrap="none" anchor="ctr" anchorCtr="0"/>
            <a:lstStyle/>
            <a:p>
              <a:endParaRPr lang="zh-CN" altLang="en-US" sz="2800" dirty="0">
                <a:latin typeface="+mn-ea"/>
              </a:endParaRPr>
            </a:p>
          </p:txBody>
        </p:sp>
        <p:sp>
          <p:nvSpPr>
            <p:cNvPr id="10304" name="Text Box 5"/>
            <p:cNvSpPr txBox="1"/>
            <p:nvPr/>
          </p:nvSpPr>
          <p:spPr>
            <a:xfrm>
              <a:off x="3215" y="2532"/>
              <a:ext cx="1286" cy="330"/>
            </a:xfrm>
            <a:prstGeom prst="rect">
              <a:avLst/>
            </a:prstGeom>
            <a:solidFill>
              <a:schemeClr val="accent1"/>
            </a:solidFill>
            <a:ln w="9525">
              <a:noFill/>
            </a:ln>
          </p:spPr>
          <p:txBody>
            <a:bodyPr>
              <a:spAutoFit/>
            </a:bodyPr>
            <a:lstStyle/>
            <a:p>
              <a:pPr>
                <a:spcBef>
                  <a:spcPct val="50000"/>
                </a:spcBef>
              </a:pPr>
              <a:r>
                <a:rPr lang="zh-CN" altLang="en-US" sz="2800" dirty="0">
                  <a:solidFill>
                    <a:srgbClr val="000000"/>
                  </a:solidFill>
                  <a:latin typeface="+mn-ea"/>
                </a:rPr>
                <a:t>卡诺热机</a:t>
              </a:r>
            </a:p>
          </p:txBody>
        </p:sp>
      </p:grpSp>
      <p:grpSp>
        <p:nvGrpSpPr>
          <p:cNvPr id="3" name="Group 6"/>
          <p:cNvGrpSpPr/>
          <p:nvPr/>
        </p:nvGrpSpPr>
        <p:grpSpPr>
          <a:xfrm>
            <a:off x="1629891" y="2628046"/>
            <a:ext cx="990600" cy="838200"/>
            <a:chOff x="4080" y="1152"/>
            <a:chExt cx="516" cy="528"/>
          </a:xfrm>
        </p:grpSpPr>
        <p:sp>
          <p:nvSpPr>
            <p:cNvPr id="10302" name="AutoShape 7"/>
            <p:cNvSpPr/>
            <p:nvPr/>
          </p:nvSpPr>
          <p:spPr>
            <a:xfrm>
              <a:off x="4080" y="1152"/>
              <a:ext cx="144" cy="528"/>
            </a:xfrm>
            <a:prstGeom prst="downArrow">
              <a:avLst>
                <a:gd name="adj1" fmla="val 40000"/>
                <a:gd name="adj2" fmla="val 146921"/>
              </a:avLst>
            </a:prstGeom>
            <a:solidFill>
              <a:srgbClr val="FFCCCC"/>
            </a:solidFill>
            <a:ln w="19050" cap="flat" cmpd="sng">
              <a:solidFill>
                <a:srgbClr val="FF0000"/>
              </a:solidFill>
              <a:prstDash val="solid"/>
              <a:miter/>
              <a:headEnd type="none" w="med" len="med"/>
              <a:tailEnd type="none" w="med" len="med"/>
            </a:ln>
          </p:spPr>
          <p:txBody>
            <a:bodyPr vert="eaVert" wrap="none" anchor="ctr" anchorCtr="0"/>
            <a:lstStyle/>
            <a:p>
              <a:endParaRPr lang="zh-CN" altLang="en-US" sz="2800" dirty="0">
                <a:latin typeface="+mn-ea"/>
              </a:endParaRPr>
            </a:p>
          </p:txBody>
        </p:sp>
        <mc:AlternateContent xmlns:mc="http://schemas.openxmlformats.org/markup-compatibility/2006" xmlns:a14="http://schemas.microsoft.com/office/drawing/2010/main">
          <mc:Choice Requires="a14">
            <p:sp>
              <p:nvSpPr>
                <p:cNvPr id="10257" name="Object 8"/>
                <p:cNvSpPr txBox="1"/>
                <p:nvPr/>
              </p:nvSpPr>
              <p:spPr>
                <a:xfrm>
                  <a:off x="4224" y="1152"/>
                  <a:ext cx="372" cy="436"/>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1</m:t>
                            </m:r>
                          </m:sub>
                        </m:sSub>
                      </m:oMath>
                    </m:oMathPara>
                  </a14:m>
                  <a:endParaRPr lang="zh-CN" altLang="en-US" sz="2800">
                    <a:latin typeface="+mn-ea"/>
                  </a:endParaRPr>
                </a:p>
              </p:txBody>
            </p:sp>
          </mc:Choice>
          <mc:Fallback xmlns="">
            <p:sp>
              <p:nvSpPr>
                <p:cNvPr id="10257" name="Object 8"/>
                <p:cNvSpPr txBox="1">
                  <a:spLocks noRot="1" noChangeAspect="1" noMove="1" noResize="1" noEditPoints="1" noAdjustHandles="1" noChangeArrowheads="1" noChangeShapeType="1" noTextEdit="1"/>
                </p:cNvSpPr>
                <p:nvPr/>
              </p:nvSpPr>
              <p:spPr>
                <a:xfrm>
                  <a:off x="4224" y="1152"/>
                  <a:ext cx="372" cy="436"/>
                </a:xfrm>
                <a:prstGeom prst="rect">
                  <a:avLst/>
                </a:prstGeom>
                <a:blipFill>
                  <a:blip r:embed="rId2"/>
                  <a:stretch>
                    <a:fillRect/>
                  </a:stretch>
                </a:blipFill>
                <a:ln w="38100">
                  <a:noFill/>
                  <a:miter/>
                </a:ln>
              </p:spPr>
              <p:txBody>
                <a:bodyPr/>
                <a:lstStyle/>
                <a:p>
                  <a:r>
                    <a:rPr lang="zh-CN" altLang="en-US">
                      <a:noFill/>
                    </a:rPr>
                    <a:t> </a:t>
                  </a:r>
                </a:p>
              </p:txBody>
            </p:sp>
          </mc:Fallback>
        </mc:AlternateContent>
      </p:grpSp>
      <p:grpSp>
        <p:nvGrpSpPr>
          <p:cNvPr id="4" name="Group 9"/>
          <p:cNvGrpSpPr/>
          <p:nvPr/>
        </p:nvGrpSpPr>
        <p:grpSpPr>
          <a:xfrm>
            <a:off x="944091" y="4144109"/>
            <a:ext cx="990600" cy="762000"/>
            <a:chOff x="3792" y="1968"/>
            <a:chExt cx="480" cy="480"/>
          </a:xfrm>
        </p:grpSpPr>
        <p:sp>
          <p:nvSpPr>
            <p:cNvPr id="10301" name="AutoShape 10"/>
            <p:cNvSpPr/>
            <p:nvPr/>
          </p:nvSpPr>
          <p:spPr>
            <a:xfrm>
              <a:off x="4128" y="1968"/>
              <a:ext cx="144" cy="480"/>
            </a:xfrm>
            <a:prstGeom prst="downArrow">
              <a:avLst>
                <a:gd name="adj1" fmla="val 35416"/>
                <a:gd name="adj2" fmla="val 138888"/>
              </a:avLst>
            </a:prstGeom>
            <a:solidFill>
              <a:srgbClr val="CCECFF"/>
            </a:solidFill>
            <a:ln w="19050" cap="flat" cmpd="sng">
              <a:solidFill>
                <a:srgbClr val="0000FF"/>
              </a:solidFill>
              <a:prstDash val="solid"/>
              <a:miter/>
              <a:headEnd type="none" w="med" len="med"/>
              <a:tailEnd type="none" w="med" len="med"/>
            </a:ln>
          </p:spPr>
          <p:txBody>
            <a:bodyPr vert="eaVert" wrap="none" anchor="ctr" anchorCtr="0"/>
            <a:lstStyle/>
            <a:p>
              <a:endParaRPr lang="zh-CN" altLang="en-US" sz="2800" dirty="0">
                <a:latin typeface="+mn-ea"/>
              </a:endParaRPr>
            </a:p>
          </p:txBody>
        </p:sp>
        <mc:AlternateContent xmlns:mc="http://schemas.openxmlformats.org/markup-compatibility/2006" xmlns:a14="http://schemas.microsoft.com/office/drawing/2010/main">
          <mc:Choice Requires="a14">
            <p:sp>
              <p:nvSpPr>
                <p:cNvPr id="10256" name="Object 11"/>
                <p:cNvSpPr txBox="1"/>
                <p:nvPr/>
              </p:nvSpPr>
              <p:spPr>
                <a:xfrm>
                  <a:off x="3792" y="1968"/>
                  <a:ext cx="401" cy="435"/>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2</m:t>
                            </m:r>
                          </m:sub>
                        </m:sSub>
                      </m:oMath>
                    </m:oMathPara>
                  </a14:m>
                  <a:endParaRPr lang="zh-CN" altLang="en-US" sz="2800">
                    <a:latin typeface="+mn-ea"/>
                  </a:endParaRPr>
                </a:p>
              </p:txBody>
            </p:sp>
          </mc:Choice>
          <mc:Fallback xmlns="">
            <p:sp>
              <p:nvSpPr>
                <p:cNvPr id="10256" name="Object 11"/>
                <p:cNvSpPr txBox="1">
                  <a:spLocks noRot="1" noChangeAspect="1" noMove="1" noResize="1" noEditPoints="1" noAdjustHandles="1" noChangeArrowheads="1" noChangeShapeType="1" noTextEdit="1"/>
                </p:cNvSpPr>
                <p:nvPr/>
              </p:nvSpPr>
              <p:spPr>
                <a:xfrm>
                  <a:off x="3792" y="1968"/>
                  <a:ext cx="401" cy="435"/>
                </a:xfrm>
                <a:prstGeom prst="rect">
                  <a:avLst/>
                </a:prstGeom>
                <a:blipFill>
                  <a:blip r:embed="rId3"/>
                  <a:stretch>
                    <a:fillRect/>
                  </a:stretch>
                </a:blipFill>
                <a:ln w="38100">
                  <a:noFill/>
                  <a:miter/>
                </a:ln>
              </p:spPr>
              <p:txBody>
                <a:bodyPr/>
                <a:lstStyle/>
                <a:p>
                  <a:r>
                    <a:rPr lang="zh-CN" altLang="en-US">
                      <a:noFill/>
                    </a:rPr>
                    <a:t> </a:t>
                  </a:r>
                </a:p>
              </p:txBody>
            </p:sp>
          </mc:Fallback>
        </mc:AlternateContent>
      </p:grpSp>
      <p:grpSp>
        <p:nvGrpSpPr>
          <p:cNvPr id="5" name="Group 12"/>
          <p:cNvGrpSpPr/>
          <p:nvPr/>
        </p:nvGrpSpPr>
        <p:grpSpPr>
          <a:xfrm>
            <a:off x="3017367" y="3388459"/>
            <a:ext cx="1370013" cy="390525"/>
            <a:chOff x="1632" y="2519"/>
            <a:chExt cx="863" cy="246"/>
          </a:xfrm>
        </p:grpSpPr>
        <p:sp>
          <p:nvSpPr>
            <p:cNvPr id="10300" name="AutoShape 13"/>
            <p:cNvSpPr/>
            <p:nvPr/>
          </p:nvSpPr>
          <p:spPr>
            <a:xfrm>
              <a:off x="1632" y="2634"/>
              <a:ext cx="528" cy="102"/>
            </a:xfrm>
            <a:prstGeom prst="rightArrow">
              <a:avLst>
                <a:gd name="adj1" fmla="val 58666"/>
                <a:gd name="adj2" fmla="val 189204"/>
              </a:avLst>
            </a:prstGeom>
            <a:solidFill>
              <a:schemeClr val="accent1"/>
            </a:solidFill>
            <a:ln w="19050" cap="flat" cmpd="sng">
              <a:solidFill>
                <a:srgbClr val="CC6600"/>
              </a:solidFill>
              <a:prstDash val="solid"/>
              <a:miter/>
              <a:headEnd type="none" w="med" len="med"/>
              <a:tailEnd type="none" w="med" len="med"/>
            </a:ln>
          </p:spPr>
          <p:txBody>
            <a:bodyPr wrap="none" anchor="ctr" anchorCtr="0"/>
            <a:lstStyle/>
            <a:p>
              <a:endParaRPr lang="zh-CN" altLang="en-US" sz="2800" dirty="0">
                <a:latin typeface="+mn-ea"/>
              </a:endParaRPr>
            </a:p>
          </p:txBody>
        </p:sp>
        <mc:AlternateContent xmlns:mc="http://schemas.openxmlformats.org/markup-compatibility/2006" xmlns:a14="http://schemas.microsoft.com/office/drawing/2010/main">
          <mc:Choice Requires="a14">
            <p:sp>
              <p:nvSpPr>
                <p:cNvPr id="10255" name="Object 14"/>
                <p:cNvSpPr txBox="1"/>
                <p:nvPr/>
              </p:nvSpPr>
              <p:spPr>
                <a:xfrm>
                  <a:off x="2269" y="2519"/>
                  <a:ext cx="226" cy="246"/>
                </a:xfrm>
                <a:prstGeom prst="rect">
                  <a:avLst/>
                </a:prstGeom>
                <a:solidFill>
                  <a:schemeClr val="accent1"/>
                </a:solidFill>
                <a:ln w="9525" cap="flat" cmpd="sng">
                  <a:solidFill>
                    <a:srgbClr val="CC9900"/>
                  </a:solidFill>
                  <a:prstDash val="solid"/>
                  <a:miter/>
                  <a:headEnd type="none" w="med" len="med"/>
                  <a:tailEnd type="none" w="med" len="med"/>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𝐴</m:t>
                        </m:r>
                      </m:oMath>
                    </m:oMathPara>
                  </a14:m>
                  <a:endParaRPr lang="zh-CN" altLang="en-US" sz="2800">
                    <a:latin typeface="+mn-ea"/>
                  </a:endParaRPr>
                </a:p>
              </p:txBody>
            </p:sp>
          </mc:Choice>
          <mc:Fallback xmlns="">
            <p:sp>
              <p:nvSpPr>
                <p:cNvPr id="10255" name="Object 14"/>
                <p:cNvSpPr txBox="1">
                  <a:spLocks noRot="1" noChangeAspect="1" noMove="1" noResize="1" noEditPoints="1" noAdjustHandles="1" noChangeArrowheads="1" noChangeShapeType="1" noTextEdit="1"/>
                </p:cNvSpPr>
                <p:nvPr/>
              </p:nvSpPr>
              <p:spPr>
                <a:xfrm>
                  <a:off x="2269" y="2519"/>
                  <a:ext cx="226" cy="246"/>
                </a:xfrm>
                <a:prstGeom prst="rect">
                  <a:avLst/>
                </a:prstGeom>
                <a:blipFill>
                  <a:blip r:embed="rId4"/>
                  <a:stretch>
                    <a:fillRect/>
                  </a:stretch>
                </a:blipFill>
                <a:ln w="9525" cap="flat" cmpd="sng">
                  <a:solidFill>
                    <a:srgbClr val="CC9900"/>
                  </a:solidFill>
                  <a:prstDash val="solid"/>
                  <a:miter/>
                  <a:headEnd type="none" w="med" len="med"/>
                  <a:tailEnd type="none" w="med" len="med"/>
                </a:ln>
              </p:spPr>
              <p:txBody>
                <a:bodyPr/>
                <a:lstStyle/>
                <a:p>
                  <a:r>
                    <a:rPr lang="zh-CN" altLang="en-US">
                      <a:noFill/>
                    </a:rPr>
                    <a:t> </a:t>
                  </a:r>
                </a:p>
              </p:txBody>
            </p:sp>
          </mc:Fallback>
        </mc:AlternateContent>
      </p:grpSp>
      <p:grpSp>
        <p:nvGrpSpPr>
          <p:cNvPr id="10263" name="Group 15"/>
          <p:cNvGrpSpPr/>
          <p:nvPr/>
        </p:nvGrpSpPr>
        <p:grpSpPr>
          <a:xfrm>
            <a:off x="4866220" y="2758970"/>
            <a:ext cx="3457575" cy="3078163"/>
            <a:chOff x="569" y="1788"/>
            <a:chExt cx="2178" cy="1939"/>
          </a:xfrm>
        </p:grpSpPr>
        <p:sp>
          <p:nvSpPr>
            <p:cNvPr id="10276" name="Line 17"/>
            <p:cNvSpPr/>
            <p:nvPr/>
          </p:nvSpPr>
          <p:spPr>
            <a:xfrm>
              <a:off x="835" y="3476"/>
              <a:ext cx="1912" cy="0"/>
            </a:xfrm>
            <a:prstGeom prst="line">
              <a:avLst/>
            </a:prstGeom>
            <a:ln w="19050" cap="flat" cmpd="sng">
              <a:solidFill>
                <a:srgbClr val="000000"/>
              </a:solidFill>
              <a:prstDash val="solid"/>
              <a:headEnd type="none" w="med" len="med"/>
              <a:tailEnd type="triangle" w="sm" len="lg"/>
            </a:ln>
          </p:spPr>
        </p:sp>
        <p:sp>
          <p:nvSpPr>
            <p:cNvPr id="10277" name="Line 18"/>
            <p:cNvSpPr/>
            <p:nvPr/>
          </p:nvSpPr>
          <p:spPr>
            <a:xfrm flipV="1">
              <a:off x="835" y="1790"/>
              <a:ext cx="0" cy="1679"/>
            </a:xfrm>
            <a:prstGeom prst="line">
              <a:avLst/>
            </a:prstGeom>
            <a:ln w="19050" cap="flat" cmpd="sng">
              <a:solidFill>
                <a:srgbClr val="000000"/>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10242" name="Object 19"/>
                <p:cNvSpPr txBox="1"/>
                <p:nvPr/>
              </p:nvSpPr>
              <p:spPr>
                <a:xfrm>
                  <a:off x="2577" y="3270"/>
                  <a:ext cx="170" cy="187"/>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𝑉</m:t>
                        </m:r>
                      </m:oMath>
                    </m:oMathPara>
                  </a14:m>
                  <a:endParaRPr lang="zh-CN" altLang="en-US" sz="2800">
                    <a:latin typeface="+mn-ea"/>
                  </a:endParaRPr>
                </a:p>
              </p:txBody>
            </p:sp>
          </mc:Choice>
          <mc:Fallback xmlns="">
            <p:sp>
              <p:nvSpPr>
                <p:cNvPr id="10242" name="Object 19"/>
                <p:cNvSpPr txBox="1">
                  <a:spLocks noRot="1" noChangeAspect="1" noMove="1" noResize="1" noEditPoints="1" noAdjustHandles="1" noChangeArrowheads="1" noChangeShapeType="1" noTextEdit="1"/>
                </p:cNvSpPr>
                <p:nvPr/>
              </p:nvSpPr>
              <p:spPr>
                <a:xfrm>
                  <a:off x="2577" y="3270"/>
                  <a:ext cx="170" cy="187"/>
                </a:xfrm>
                <a:prstGeom prst="rect">
                  <a:avLst/>
                </a:prstGeom>
                <a:blipFill>
                  <a:blip r:embed="rId5"/>
                  <a:stretch>
                    <a:fillRect r="-15909" b="-29167"/>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243" name="Object 20"/>
                <p:cNvSpPr txBox="1"/>
                <p:nvPr/>
              </p:nvSpPr>
              <p:spPr>
                <a:xfrm>
                  <a:off x="742" y="3471"/>
                  <a:ext cx="149" cy="169"/>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𝑜</m:t>
                        </m:r>
                      </m:oMath>
                    </m:oMathPara>
                  </a14:m>
                  <a:endParaRPr lang="zh-CN" altLang="en-US" sz="2800">
                    <a:latin typeface="+mn-ea"/>
                  </a:endParaRPr>
                </a:p>
              </p:txBody>
            </p:sp>
          </mc:Choice>
          <mc:Fallback xmlns="">
            <p:sp>
              <p:nvSpPr>
                <p:cNvPr id="10243" name="Object 20"/>
                <p:cNvSpPr txBox="1">
                  <a:spLocks noRot="1" noChangeAspect="1" noMove="1" noResize="1" noEditPoints="1" noAdjustHandles="1" noChangeArrowheads="1" noChangeShapeType="1" noTextEdit="1"/>
                </p:cNvSpPr>
                <p:nvPr/>
              </p:nvSpPr>
              <p:spPr>
                <a:xfrm>
                  <a:off x="742" y="3471"/>
                  <a:ext cx="149" cy="169"/>
                </a:xfrm>
                <a:prstGeom prst="rect">
                  <a:avLst/>
                </a:prstGeom>
                <a:blipFill>
                  <a:blip r:embed="rId6"/>
                  <a:stretch>
                    <a:fillRect r="-12821" b="-43182"/>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244" name="Object 21"/>
                <p:cNvSpPr txBox="1"/>
                <p:nvPr/>
              </p:nvSpPr>
              <p:spPr>
                <a:xfrm>
                  <a:off x="602" y="1788"/>
                  <a:ext cx="179" cy="206"/>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𝑝</m:t>
                        </m:r>
                      </m:oMath>
                    </m:oMathPara>
                  </a14:m>
                  <a:endParaRPr lang="zh-CN" altLang="en-US" sz="2800">
                    <a:latin typeface="+mn-ea"/>
                  </a:endParaRPr>
                </a:p>
              </p:txBody>
            </p:sp>
          </mc:Choice>
          <mc:Fallback xmlns="">
            <p:sp>
              <p:nvSpPr>
                <p:cNvPr id="10244" name="Object 21"/>
                <p:cNvSpPr txBox="1">
                  <a:spLocks noRot="1" noChangeAspect="1" noMove="1" noResize="1" noEditPoints="1" noAdjustHandles="1" noChangeArrowheads="1" noChangeShapeType="1" noTextEdit="1"/>
                </p:cNvSpPr>
                <p:nvPr/>
              </p:nvSpPr>
              <p:spPr>
                <a:xfrm>
                  <a:off x="602" y="1788"/>
                  <a:ext cx="179" cy="206"/>
                </a:xfrm>
                <a:prstGeom prst="rect">
                  <a:avLst/>
                </a:prstGeom>
                <a:blipFill>
                  <a:blip r:embed="rId7"/>
                  <a:stretch>
                    <a:fillRect b="-39623"/>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245" name="Object 22"/>
                <p:cNvSpPr txBox="1"/>
                <p:nvPr/>
              </p:nvSpPr>
              <p:spPr>
                <a:xfrm>
                  <a:off x="2059" y="3165"/>
                  <a:ext cx="210" cy="256"/>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2</m:t>
                            </m:r>
                          </m:sub>
                        </m:sSub>
                      </m:oMath>
                    </m:oMathPara>
                  </a14:m>
                  <a:endParaRPr lang="zh-CN" altLang="en-US" sz="2800">
                    <a:latin typeface="+mn-ea"/>
                  </a:endParaRPr>
                </a:p>
              </p:txBody>
            </p:sp>
          </mc:Choice>
          <mc:Fallback xmlns="">
            <p:sp>
              <p:nvSpPr>
                <p:cNvPr id="10245" name="Object 22"/>
                <p:cNvSpPr txBox="1">
                  <a:spLocks noRot="1" noChangeAspect="1" noMove="1" noResize="1" noEditPoints="1" noAdjustHandles="1" noChangeArrowheads="1" noChangeShapeType="1" noTextEdit="1"/>
                </p:cNvSpPr>
                <p:nvPr/>
              </p:nvSpPr>
              <p:spPr>
                <a:xfrm>
                  <a:off x="2059" y="3165"/>
                  <a:ext cx="210" cy="256"/>
                </a:xfrm>
                <a:prstGeom prst="rect">
                  <a:avLst/>
                </a:prstGeom>
                <a:blipFill>
                  <a:blip r:embed="rId8"/>
                  <a:stretch>
                    <a:fillRect r="-18182" b="-10448"/>
                  </a:stretch>
                </a:blipFill>
                <a:ln w="38100">
                  <a:noFill/>
                  <a:miter/>
                </a:ln>
              </p:spPr>
              <p:txBody>
                <a:bodyPr/>
                <a:lstStyle/>
                <a:p>
                  <a:r>
                    <a:rPr lang="zh-CN" altLang="en-US">
                      <a:noFill/>
                    </a:rPr>
                    <a:t> </a:t>
                  </a:r>
                </a:p>
              </p:txBody>
            </p:sp>
          </mc:Fallback>
        </mc:AlternateContent>
        <p:sp>
          <p:nvSpPr>
            <p:cNvPr id="10278" name="Freeform 23" descr="浅色上对角线"/>
            <p:cNvSpPr/>
            <p:nvPr/>
          </p:nvSpPr>
          <p:spPr>
            <a:xfrm>
              <a:off x="1089" y="2133"/>
              <a:ext cx="1297" cy="1045"/>
            </a:xfrm>
            <a:custGeom>
              <a:avLst/>
              <a:gdLst>
                <a:gd name="txL" fmla="*/ 0 w 1465"/>
                <a:gd name="txT" fmla="*/ 0 h 1219"/>
                <a:gd name="txR" fmla="*/ 1465 w 1465"/>
                <a:gd name="txB" fmla="*/ 1219 h 1219"/>
              </a:gdLst>
              <a:ahLst/>
              <a:cxnLst>
                <a:cxn ang="0">
                  <a:pos x="20" y="46"/>
                </a:cxn>
                <a:cxn ang="0">
                  <a:pos x="47" y="211"/>
                </a:cxn>
                <a:cxn ang="0">
                  <a:pos x="94" y="350"/>
                </a:cxn>
                <a:cxn ang="0">
                  <a:pos x="157" y="535"/>
                </a:cxn>
                <a:cxn ang="0">
                  <a:pos x="220" y="654"/>
                </a:cxn>
                <a:cxn ang="0">
                  <a:pos x="309" y="772"/>
                </a:cxn>
                <a:cxn ang="0">
                  <a:pos x="439" y="829"/>
                </a:cxn>
                <a:cxn ang="0">
                  <a:pos x="613" y="905"/>
                </a:cxn>
                <a:cxn ang="0">
                  <a:pos x="878" y="973"/>
                </a:cxn>
                <a:cxn ang="0">
                  <a:pos x="1086" y="1013"/>
                </a:cxn>
                <a:cxn ang="0">
                  <a:pos x="1297" y="1045"/>
                </a:cxn>
                <a:cxn ang="0">
                  <a:pos x="1197" y="958"/>
                </a:cxn>
                <a:cxn ang="0">
                  <a:pos x="1082" y="880"/>
                </a:cxn>
                <a:cxn ang="0">
                  <a:pos x="1046" y="839"/>
                </a:cxn>
                <a:cxn ang="0">
                  <a:pos x="993" y="777"/>
                </a:cxn>
                <a:cxn ang="0">
                  <a:pos x="968" y="736"/>
                </a:cxn>
                <a:cxn ang="0">
                  <a:pos x="904" y="613"/>
                </a:cxn>
                <a:cxn ang="0">
                  <a:pos x="826" y="567"/>
                </a:cxn>
                <a:cxn ang="0">
                  <a:pos x="889" y="582"/>
                </a:cxn>
                <a:cxn ang="0">
                  <a:pos x="765" y="543"/>
                </a:cxn>
                <a:cxn ang="0">
                  <a:pos x="700" y="520"/>
                </a:cxn>
                <a:cxn ang="0">
                  <a:pos x="617" y="489"/>
                </a:cxn>
                <a:cxn ang="0">
                  <a:pos x="523" y="432"/>
                </a:cxn>
                <a:cxn ang="0">
                  <a:pos x="339" y="315"/>
                </a:cxn>
                <a:cxn ang="0">
                  <a:pos x="189" y="206"/>
                </a:cxn>
                <a:cxn ang="0">
                  <a:pos x="110" y="139"/>
                </a:cxn>
                <a:cxn ang="0">
                  <a:pos x="0" y="0"/>
                </a:cxn>
              </a:cxnLst>
              <a:rect l="txL" t="txT" r="txR" b="txB"/>
              <a:pathLst>
                <a:path w="1465" h="1219">
                  <a:moveTo>
                    <a:pt x="23" y="54"/>
                  </a:moveTo>
                  <a:lnTo>
                    <a:pt x="53" y="246"/>
                  </a:lnTo>
                  <a:lnTo>
                    <a:pt x="106" y="408"/>
                  </a:lnTo>
                  <a:lnTo>
                    <a:pt x="177" y="624"/>
                  </a:lnTo>
                  <a:lnTo>
                    <a:pt x="248" y="763"/>
                  </a:lnTo>
                  <a:lnTo>
                    <a:pt x="349" y="901"/>
                  </a:lnTo>
                  <a:lnTo>
                    <a:pt x="496" y="967"/>
                  </a:lnTo>
                  <a:lnTo>
                    <a:pt x="692" y="1056"/>
                  </a:lnTo>
                  <a:lnTo>
                    <a:pt x="992" y="1135"/>
                  </a:lnTo>
                  <a:lnTo>
                    <a:pt x="1227" y="1182"/>
                  </a:lnTo>
                  <a:lnTo>
                    <a:pt x="1465" y="1219"/>
                  </a:lnTo>
                  <a:lnTo>
                    <a:pt x="1352" y="1117"/>
                  </a:lnTo>
                  <a:lnTo>
                    <a:pt x="1222" y="1027"/>
                  </a:lnTo>
                  <a:lnTo>
                    <a:pt x="1181" y="979"/>
                  </a:lnTo>
                  <a:lnTo>
                    <a:pt x="1122" y="906"/>
                  </a:lnTo>
                  <a:lnTo>
                    <a:pt x="1093" y="859"/>
                  </a:lnTo>
                  <a:lnTo>
                    <a:pt x="1021" y="715"/>
                  </a:lnTo>
                  <a:lnTo>
                    <a:pt x="933" y="661"/>
                  </a:lnTo>
                  <a:lnTo>
                    <a:pt x="1004" y="679"/>
                  </a:lnTo>
                  <a:lnTo>
                    <a:pt x="864" y="633"/>
                  </a:lnTo>
                  <a:lnTo>
                    <a:pt x="791" y="607"/>
                  </a:lnTo>
                  <a:lnTo>
                    <a:pt x="697" y="570"/>
                  </a:lnTo>
                  <a:lnTo>
                    <a:pt x="591" y="504"/>
                  </a:lnTo>
                  <a:lnTo>
                    <a:pt x="383" y="367"/>
                  </a:lnTo>
                  <a:lnTo>
                    <a:pt x="213" y="240"/>
                  </a:lnTo>
                  <a:lnTo>
                    <a:pt x="124" y="162"/>
                  </a:lnTo>
                  <a:lnTo>
                    <a:pt x="0" y="0"/>
                  </a:lnTo>
                </a:path>
              </a:pathLst>
            </a:custGeom>
            <a:pattFill prst="ltUpDiag">
              <a:fgClr>
                <a:srgbClr val="CC3399">
                  <a:alpha val="100000"/>
                </a:srgbClr>
              </a:fgClr>
              <a:bgClr>
                <a:schemeClr val="bg1">
                  <a:alpha val="100000"/>
                </a:schemeClr>
              </a:bgClr>
            </a:pattFill>
            <a:ln w="9525">
              <a:noFill/>
            </a:ln>
          </p:spPr>
          <p:txBody>
            <a:bodyPr/>
            <a:lstStyle/>
            <a:p>
              <a:endParaRPr lang="zh-CN" altLang="en-US" sz="2800">
                <a:latin typeface="+mn-ea"/>
              </a:endParaRPr>
            </a:p>
          </p:txBody>
        </p:sp>
        <p:sp>
          <p:nvSpPr>
            <p:cNvPr id="10279" name="Text Box 24"/>
            <p:cNvSpPr txBox="1"/>
            <p:nvPr/>
          </p:nvSpPr>
          <p:spPr>
            <a:xfrm flipH="1">
              <a:off x="1492" y="2638"/>
              <a:ext cx="330" cy="330"/>
            </a:xfrm>
            <a:prstGeom prst="rect">
              <a:avLst/>
            </a:prstGeom>
            <a:noFill/>
            <a:ln w="9525">
              <a:noFill/>
            </a:ln>
          </p:spPr>
          <p:txBody>
            <a:bodyPr>
              <a:spAutoFit/>
            </a:bodyPr>
            <a:lstStyle/>
            <a:p>
              <a:pPr>
                <a:spcBef>
                  <a:spcPct val="50000"/>
                </a:spcBef>
              </a:pPr>
              <a:r>
                <a:rPr lang="en-US" altLang="zh-CN" sz="2800" i="1" dirty="0">
                  <a:solidFill>
                    <a:srgbClr val="CC0000"/>
                  </a:solidFill>
                  <a:latin typeface="+mn-ea"/>
                </a:rPr>
                <a:t>W</a:t>
              </a:r>
              <a:endParaRPr lang="en-US" altLang="zh-CN" sz="2800" i="1" dirty="0">
                <a:solidFill>
                  <a:srgbClr val="A50021"/>
                </a:solidFill>
                <a:latin typeface="+mn-ea"/>
              </a:endParaRPr>
            </a:p>
          </p:txBody>
        </p:sp>
        <p:sp>
          <p:nvSpPr>
            <p:cNvPr id="10280" name="Line 25"/>
            <p:cNvSpPr/>
            <p:nvPr/>
          </p:nvSpPr>
          <p:spPr>
            <a:xfrm flipH="1" flipV="1">
              <a:off x="1675" y="3034"/>
              <a:ext cx="109" cy="36"/>
            </a:xfrm>
            <a:prstGeom prst="line">
              <a:avLst/>
            </a:prstGeom>
            <a:ln w="57150" cap="flat" cmpd="sng">
              <a:solidFill>
                <a:srgbClr val="0000FF"/>
              </a:solidFill>
              <a:prstDash val="solid"/>
              <a:headEnd type="none" w="med" len="med"/>
              <a:tailEnd type="triangle" w="sm" len="lg"/>
            </a:ln>
          </p:spPr>
        </p:sp>
        <p:sp>
          <p:nvSpPr>
            <p:cNvPr id="10281" name="Line 26"/>
            <p:cNvSpPr/>
            <p:nvPr/>
          </p:nvSpPr>
          <p:spPr>
            <a:xfrm>
              <a:off x="1516" y="2492"/>
              <a:ext cx="122" cy="73"/>
            </a:xfrm>
            <a:prstGeom prst="line">
              <a:avLst/>
            </a:prstGeom>
            <a:ln w="57150" cap="flat" cmpd="sng">
              <a:solidFill>
                <a:srgbClr val="0000FF"/>
              </a:solidFill>
              <a:prstDash val="solid"/>
              <a:headEnd type="none" w="med" len="med"/>
              <a:tailEnd type="triangle" w="sm" len="lg"/>
            </a:ln>
          </p:spPr>
        </p:sp>
        <p:sp>
          <p:nvSpPr>
            <p:cNvPr id="10282" name="Line 27"/>
            <p:cNvSpPr/>
            <p:nvPr/>
          </p:nvSpPr>
          <p:spPr>
            <a:xfrm flipH="1" flipV="1">
              <a:off x="1163" y="2457"/>
              <a:ext cx="36" cy="108"/>
            </a:xfrm>
            <a:prstGeom prst="line">
              <a:avLst/>
            </a:prstGeom>
            <a:ln w="57150" cap="flat" cmpd="sng">
              <a:solidFill>
                <a:srgbClr val="CC0099"/>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10246" name="Object 28"/>
                <p:cNvSpPr txBox="1"/>
                <p:nvPr/>
              </p:nvSpPr>
              <p:spPr>
                <a:xfrm>
                  <a:off x="1684" y="2365"/>
                  <a:ext cx="179" cy="252"/>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1</m:t>
                            </m:r>
                          </m:sub>
                        </m:sSub>
                      </m:oMath>
                    </m:oMathPara>
                  </a14:m>
                  <a:endParaRPr lang="zh-CN" altLang="en-US" sz="2800">
                    <a:latin typeface="+mn-ea"/>
                  </a:endParaRPr>
                </a:p>
              </p:txBody>
            </p:sp>
          </mc:Choice>
          <mc:Fallback xmlns="">
            <p:sp>
              <p:nvSpPr>
                <p:cNvPr id="10246" name="Object 28"/>
                <p:cNvSpPr txBox="1">
                  <a:spLocks noRot="1" noChangeAspect="1" noMove="1" noResize="1" noEditPoints="1" noAdjustHandles="1" noChangeArrowheads="1" noChangeShapeType="1" noTextEdit="1"/>
                </p:cNvSpPr>
                <p:nvPr/>
              </p:nvSpPr>
              <p:spPr>
                <a:xfrm>
                  <a:off x="1684" y="2365"/>
                  <a:ext cx="179" cy="252"/>
                </a:xfrm>
                <a:prstGeom prst="rect">
                  <a:avLst/>
                </a:prstGeom>
                <a:blipFill>
                  <a:blip r:embed="rId9"/>
                  <a:stretch>
                    <a:fillRect r="-39130" b="-12121"/>
                  </a:stretch>
                </a:blipFill>
                <a:ln w="38100">
                  <a:noFill/>
                  <a:miter/>
                </a:ln>
              </p:spPr>
              <p:txBody>
                <a:bodyPr/>
                <a:lstStyle/>
                <a:p>
                  <a:r>
                    <a:rPr lang="zh-CN" altLang="en-US">
                      <a:noFill/>
                    </a:rPr>
                    <a:t> </a:t>
                  </a:r>
                </a:p>
              </p:txBody>
            </p:sp>
          </mc:Fallback>
        </mc:AlternateContent>
        <p:sp>
          <p:nvSpPr>
            <p:cNvPr id="10283" name="Line 29"/>
            <p:cNvSpPr/>
            <p:nvPr/>
          </p:nvSpPr>
          <p:spPr>
            <a:xfrm>
              <a:off x="2109" y="2900"/>
              <a:ext cx="78" cy="98"/>
            </a:xfrm>
            <a:prstGeom prst="line">
              <a:avLst/>
            </a:prstGeom>
            <a:ln w="57150" cap="flat" cmpd="sng">
              <a:solidFill>
                <a:srgbClr val="CC0099"/>
              </a:solidFill>
              <a:prstDash val="solid"/>
              <a:headEnd type="none" w="med" len="med"/>
              <a:tailEnd type="triangle" w="sm" len="lg"/>
            </a:ln>
          </p:spPr>
        </p:sp>
        <p:sp>
          <p:nvSpPr>
            <p:cNvPr id="10284" name="Freeform 30"/>
            <p:cNvSpPr/>
            <p:nvPr/>
          </p:nvSpPr>
          <p:spPr>
            <a:xfrm>
              <a:off x="1089" y="2133"/>
              <a:ext cx="925" cy="583"/>
            </a:xfrm>
            <a:custGeom>
              <a:avLst/>
              <a:gdLst>
                <a:gd name="txL" fmla="*/ 0 w 1044"/>
                <a:gd name="txT" fmla="*/ 0 h 680"/>
                <a:gd name="txR" fmla="*/ 1044 w 1044"/>
                <a:gd name="txB" fmla="*/ 680 h 680"/>
              </a:gdLst>
              <a:ahLst/>
              <a:cxnLst>
                <a:cxn ang="0">
                  <a:pos x="0" y="0"/>
                </a:cxn>
                <a:cxn ang="0">
                  <a:pos x="214" y="211"/>
                </a:cxn>
                <a:cxn ang="0">
                  <a:pos x="444" y="373"/>
                </a:cxn>
                <a:cxn ang="0">
                  <a:pos x="650" y="484"/>
                </a:cxn>
                <a:cxn ang="0">
                  <a:pos x="887" y="570"/>
                </a:cxn>
                <a:cxn ang="0">
                  <a:pos x="882" y="564"/>
                </a:cxn>
              </a:cxnLst>
              <a:rect l="txL" t="txT" r="txR" b="txB"/>
              <a:pathLst>
                <a:path w="1044" h="680">
                  <a:moveTo>
                    <a:pt x="0" y="0"/>
                  </a:moveTo>
                  <a:cubicBezTo>
                    <a:pt x="40" y="41"/>
                    <a:pt x="159" y="174"/>
                    <a:pt x="242" y="246"/>
                  </a:cubicBezTo>
                  <a:cubicBezTo>
                    <a:pt x="325" y="318"/>
                    <a:pt x="419" y="382"/>
                    <a:pt x="501" y="435"/>
                  </a:cubicBezTo>
                  <a:cubicBezTo>
                    <a:pt x="583" y="488"/>
                    <a:pt x="651" y="527"/>
                    <a:pt x="734" y="565"/>
                  </a:cubicBezTo>
                  <a:cubicBezTo>
                    <a:pt x="817" y="603"/>
                    <a:pt x="958" y="650"/>
                    <a:pt x="1001" y="665"/>
                  </a:cubicBezTo>
                  <a:cubicBezTo>
                    <a:pt x="1044" y="680"/>
                    <a:pt x="996" y="658"/>
                    <a:pt x="995" y="658"/>
                  </a:cubicBezTo>
                </a:path>
              </a:pathLst>
            </a:custGeom>
            <a:noFill/>
            <a:ln w="28575" cap="flat" cmpd="sng">
              <a:solidFill>
                <a:srgbClr val="0000FF">
                  <a:alpha val="100000"/>
                </a:srgbClr>
              </a:solidFill>
              <a:prstDash val="solid"/>
              <a:round/>
              <a:headEnd type="none" w="med" len="med"/>
              <a:tailEnd type="none" w="med" len="med"/>
            </a:ln>
          </p:spPr>
          <p:txBody>
            <a:bodyPr/>
            <a:lstStyle/>
            <a:p>
              <a:endParaRPr lang="zh-CN" altLang="en-US" sz="2800">
                <a:latin typeface="+mn-ea"/>
              </a:endParaRPr>
            </a:p>
          </p:txBody>
        </p:sp>
        <p:sp>
          <p:nvSpPr>
            <p:cNvPr id="10285" name="Freeform 31"/>
            <p:cNvSpPr/>
            <p:nvPr/>
          </p:nvSpPr>
          <p:spPr>
            <a:xfrm>
              <a:off x="1367" y="2895"/>
              <a:ext cx="1040" cy="283"/>
            </a:xfrm>
            <a:custGeom>
              <a:avLst/>
              <a:gdLst>
                <a:gd name="txL" fmla="*/ 0 w 1175"/>
                <a:gd name="txT" fmla="*/ 0 h 330"/>
                <a:gd name="txR" fmla="*/ 1175 w 1175"/>
                <a:gd name="txB" fmla="*/ 330 h 330"/>
              </a:gdLst>
              <a:ahLst/>
              <a:cxnLst>
                <a:cxn ang="0">
                  <a:pos x="0" y="0"/>
                </a:cxn>
                <a:cxn ang="0">
                  <a:pos x="160" y="75"/>
                </a:cxn>
                <a:cxn ang="0">
                  <a:pos x="419" y="175"/>
                </a:cxn>
                <a:cxn ang="0">
                  <a:pos x="767" y="251"/>
                </a:cxn>
                <a:cxn ang="0">
                  <a:pos x="1040" y="283"/>
                </a:cxn>
              </a:cxnLst>
              <a:rect l="txL" t="txT" r="txR" b="txB"/>
              <a:pathLst>
                <a:path w="1175" h="330">
                  <a:moveTo>
                    <a:pt x="0" y="0"/>
                  </a:moveTo>
                  <a:cubicBezTo>
                    <a:pt x="30" y="14"/>
                    <a:pt x="102" y="53"/>
                    <a:pt x="181" y="87"/>
                  </a:cubicBezTo>
                  <a:cubicBezTo>
                    <a:pt x="260" y="121"/>
                    <a:pt x="359" y="170"/>
                    <a:pt x="473" y="204"/>
                  </a:cubicBezTo>
                  <a:cubicBezTo>
                    <a:pt x="587" y="238"/>
                    <a:pt x="749" y="272"/>
                    <a:pt x="866" y="293"/>
                  </a:cubicBezTo>
                  <a:cubicBezTo>
                    <a:pt x="983" y="314"/>
                    <a:pt x="1111" y="322"/>
                    <a:pt x="1175" y="330"/>
                  </a:cubicBezTo>
                </a:path>
              </a:pathLst>
            </a:custGeom>
            <a:noFill/>
            <a:ln w="28575" cap="flat" cmpd="sng">
              <a:solidFill>
                <a:srgbClr val="0000FF">
                  <a:alpha val="100000"/>
                </a:srgbClr>
              </a:solidFill>
              <a:prstDash val="solid"/>
              <a:round/>
              <a:headEnd type="none" w="med" len="med"/>
              <a:tailEnd type="none" w="med" len="med"/>
            </a:ln>
          </p:spPr>
          <p:txBody>
            <a:bodyPr/>
            <a:lstStyle/>
            <a:p>
              <a:endParaRPr lang="zh-CN" altLang="en-US" sz="2800">
                <a:latin typeface="+mn-ea"/>
              </a:endParaRPr>
            </a:p>
          </p:txBody>
        </p:sp>
        <p:sp>
          <p:nvSpPr>
            <p:cNvPr id="10286" name="Freeform 32"/>
            <p:cNvSpPr/>
            <p:nvPr/>
          </p:nvSpPr>
          <p:spPr>
            <a:xfrm>
              <a:off x="1089" y="2133"/>
              <a:ext cx="288" cy="767"/>
            </a:xfrm>
            <a:custGeom>
              <a:avLst/>
              <a:gdLst>
                <a:gd name="txL" fmla="*/ 0 w 325"/>
                <a:gd name="txT" fmla="*/ 0 h 895"/>
                <a:gd name="txR" fmla="*/ 325 w 325"/>
                <a:gd name="txB" fmla="*/ 895 h 895"/>
              </a:gdLst>
              <a:ahLst/>
              <a:cxnLst>
                <a:cxn ang="0">
                  <a:pos x="0" y="0"/>
                </a:cxn>
                <a:cxn ang="0">
                  <a:pos x="55" y="255"/>
                </a:cxn>
                <a:cxn ang="0">
                  <a:pos x="163" y="560"/>
                </a:cxn>
                <a:cxn ang="0">
                  <a:pos x="288" y="767"/>
                </a:cxn>
              </a:cxnLst>
              <a:rect l="txL" t="txT" r="txR" b="txB"/>
              <a:pathLst>
                <a:path w="325" h="895">
                  <a:moveTo>
                    <a:pt x="0" y="0"/>
                  </a:moveTo>
                  <a:cubicBezTo>
                    <a:pt x="10" y="49"/>
                    <a:pt x="31" y="188"/>
                    <a:pt x="62" y="297"/>
                  </a:cubicBezTo>
                  <a:cubicBezTo>
                    <a:pt x="93" y="406"/>
                    <a:pt x="140" y="554"/>
                    <a:pt x="184" y="654"/>
                  </a:cubicBezTo>
                  <a:cubicBezTo>
                    <a:pt x="228" y="754"/>
                    <a:pt x="296" y="845"/>
                    <a:pt x="325" y="895"/>
                  </a:cubicBezTo>
                </a:path>
              </a:pathLst>
            </a:custGeom>
            <a:noFill/>
            <a:ln w="28575" cap="flat" cmpd="sng">
              <a:solidFill>
                <a:srgbClr val="CC00CC">
                  <a:alpha val="100000"/>
                </a:srgbClr>
              </a:solidFill>
              <a:prstDash val="solid"/>
              <a:round/>
              <a:headEnd type="none" w="med" len="med"/>
              <a:tailEnd type="none" w="med" len="med"/>
            </a:ln>
          </p:spPr>
          <p:txBody>
            <a:bodyPr/>
            <a:lstStyle/>
            <a:p>
              <a:endParaRPr lang="zh-CN" altLang="en-US" sz="2800">
                <a:latin typeface="+mn-ea"/>
              </a:endParaRPr>
            </a:p>
          </p:txBody>
        </p:sp>
        <p:sp>
          <p:nvSpPr>
            <p:cNvPr id="10287" name="Freeform 33"/>
            <p:cNvSpPr/>
            <p:nvPr/>
          </p:nvSpPr>
          <p:spPr>
            <a:xfrm>
              <a:off x="1978" y="2705"/>
              <a:ext cx="429" cy="473"/>
            </a:xfrm>
            <a:custGeom>
              <a:avLst/>
              <a:gdLst>
                <a:gd name="txL" fmla="*/ 0 w 484"/>
                <a:gd name="txT" fmla="*/ 0 h 552"/>
                <a:gd name="txR" fmla="*/ 484 w 484"/>
                <a:gd name="txB" fmla="*/ 552 h 552"/>
              </a:gdLst>
              <a:ahLst/>
              <a:cxnLst>
                <a:cxn ang="0">
                  <a:pos x="0" y="0"/>
                </a:cxn>
                <a:cxn ang="0">
                  <a:pos x="186" y="265"/>
                </a:cxn>
                <a:cxn ang="0">
                  <a:pos x="429" y="473"/>
                </a:cxn>
              </a:cxnLst>
              <a:rect l="txL" t="txT" r="txR" b="txB"/>
              <a:pathLst>
                <a:path w="484" h="552">
                  <a:moveTo>
                    <a:pt x="0" y="0"/>
                  </a:moveTo>
                  <a:cubicBezTo>
                    <a:pt x="35" y="51"/>
                    <a:pt x="129" y="217"/>
                    <a:pt x="210" y="309"/>
                  </a:cubicBezTo>
                  <a:cubicBezTo>
                    <a:pt x="291" y="401"/>
                    <a:pt x="427" y="501"/>
                    <a:pt x="484" y="552"/>
                  </a:cubicBezTo>
                </a:path>
              </a:pathLst>
            </a:custGeom>
            <a:noFill/>
            <a:ln w="28575" cap="flat" cmpd="sng">
              <a:solidFill>
                <a:srgbClr val="CC00CC">
                  <a:alpha val="100000"/>
                </a:srgbClr>
              </a:solidFill>
              <a:prstDash val="solid"/>
              <a:round/>
              <a:headEnd type="none" w="med" len="med"/>
              <a:tailEnd type="none" w="med" len="med"/>
            </a:ln>
          </p:spPr>
          <p:txBody>
            <a:bodyPr/>
            <a:lstStyle/>
            <a:p>
              <a:endParaRPr lang="zh-CN" altLang="en-US" sz="2800">
                <a:latin typeface="+mn-ea"/>
              </a:endParaRPr>
            </a:p>
          </p:txBody>
        </p:sp>
        <p:sp>
          <p:nvSpPr>
            <p:cNvPr id="10288" name="Text Box 34"/>
            <p:cNvSpPr txBox="1"/>
            <p:nvPr/>
          </p:nvSpPr>
          <p:spPr>
            <a:xfrm>
              <a:off x="1005" y="1912"/>
              <a:ext cx="254" cy="330"/>
            </a:xfrm>
            <a:prstGeom prst="rect">
              <a:avLst/>
            </a:prstGeom>
            <a:noFill/>
            <a:ln w="9525">
              <a:noFill/>
            </a:ln>
          </p:spPr>
          <p:txBody>
            <a:bodyPr>
              <a:spAutoFit/>
            </a:bodyPr>
            <a:lstStyle/>
            <a:p>
              <a:pPr eaLnBrk="1" hangingPunct="1">
                <a:spcBef>
                  <a:spcPct val="50000"/>
                </a:spcBef>
              </a:pPr>
              <a:r>
                <a:rPr lang="en-US" altLang="zh-CN" sz="2800" i="1" dirty="0">
                  <a:solidFill>
                    <a:srgbClr val="1C1C1C"/>
                  </a:solidFill>
                  <a:latin typeface="+mn-ea"/>
                </a:rPr>
                <a:t>A</a:t>
              </a:r>
            </a:p>
          </p:txBody>
        </p:sp>
        <p:sp>
          <p:nvSpPr>
            <p:cNvPr id="10289" name="Text Box 35"/>
            <p:cNvSpPr txBox="1"/>
            <p:nvPr/>
          </p:nvSpPr>
          <p:spPr>
            <a:xfrm>
              <a:off x="1982" y="2488"/>
              <a:ext cx="297" cy="330"/>
            </a:xfrm>
            <a:prstGeom prst="rect">
              <a:avLst/>
            </a:prstGeom>
            <a:noFill/>
            <a:ln w="9525">
              <a:noFill/>
            </a:ln>
          </p:spPr>
          <p:txBody>
            <a:bodyPr>
              <a:spAutoFit/>
            </a:bodyPr>
            <a:lstStyle/>
            <a:p>
              <a:pPr eaLnBrk="1" hangingPunct="1">
                <a:spcBef>
                  <a:spcPct val="50000"/>
                </a:spcBef>
              </a:pPr>
              <a:r>
                <a:rPr lang="en-US" altLang="zh-CN" sz="2800" i="1" dirty="0">
                  <a:solidFill>
                    <a:srgbClr val="1C1C1C"/>
                  </a:solidFill>
                  <a:latin typeface="+mn-ea"/>
                </a:rPr>
                <a:t>B</a:t>
              </a:r>
            </a:p>
          </p:txBody>
        </p:sp>
        <p:sp>
          <p:nvSpPr>
            <p:cNvPr id="10290" name="Text Box 36"/>
            <p:cNvSpPr txBox="1"/>
            <p:nvPr/>
          </p:nvSpPr>
          <p:spPr>
            <a:xfrm>
              <a:off x="2407" y="2981"/>
              <a:ext cx="255" cy="330"/>
            </a:xfrm>
            <a:prstGeom prst="rect">
              <a:avLst/>
            </a:prstGeom>
            <a:noFill/>
            <a:ln w="9525">
              <a:noFill/>
            </a:ln>
          </p:spPr>
          <p:txBody>
            <a:bodyPr>
              <a:spAutoFit/>
            </a:bodyPr>
            <a:lstStyle/>
            <a:p>
              <a:pPr eaLnBrk="1" hangingPunct="1">
                <a:spcBef>
                  <a:spcPct val="50000"/>
                </a:spcBef>
              </a:pPr>
              <a:r>
                <a:rPr lang="en-US" altLang="zh-CN" sz="2800" i="1" dirty="0">
                  <a:solidFill>
                    <a:srgbClr val="1C1C1C"/>
                  </a:solidFill>
                  <a:latin typeface="+mn-ea"/>
                </a:rPr>
                <a:t>C</a:t>
              </a:r>
            </a:p>
          </p:txBody>
        </p:sp>
        <p:sp>
          <p:nvSpPr>
            <p:cNvPr id="10291" name="Text Box 37"/>
            <p:cNvSpPr txBox="1"/>
            <p:nvPr/>
          </p:nvSpPr>
          <p:spPr>
            <a:xfrm>
              <a:off x="1174" y="2858"/>
              <a:ext cx="298" cy="330"/>
            </a:xfrm>
            <a:prstGeom prst="rect">
              <a:avLst/>
            </a:prstGeom>
            <a:noFill/>
            <a:ln w="9525">
              <a:noFill/>
            </a:ln>
          </p:spPr>
          <p:txBody>
            <a:bodyPr>
              <a:spAutoFit/>
            </a:bodyPr>
            <a:lstStyle/>
            <a:p>
              <a:pPr eaLnBrk="1" hangingPunct="1">
                <a:spcBef>
                  <a:spcPct val="50000"/>
                </a:spcBef>
              </a:pPr>
              <a:r>
                <a:rPr lang="en-US" altLang="zh-CN" sz="2800" i="1" dirty="0">
                  <a:solidFill>
                    <a:srgbClr val="1C1C1C"/>
                  </a:solidFill>
                  <a:latin typeface="+mn-ea"/>
                </a:rPr>
                <a:t>D</a:t>
              </a:r>
            </a:p>
          </p:txBody>
        </p:sp>
        <p:sp>
          <p:nvSpPr>
            <p:cNvPr id="10292" name="Line 38"/>
            <p:cNvSpPr/>
            <p:nvPr/>
          </p:nvSpPr>
          <p:spPr>
            <a:xfrm flipH="1">
              <a:off x="835" y="2159"/>
              <a:ext cx="254" cy="0"/>
            </a:xfrm>
            <a:prstGeom prst="line">
              <a:avLst/>
            </a:prstGeom>
            <a:ln w="12700" cap="flat" cmpd="sng">
              <a:solidFill>
                <a:srgbClr val="000000"/>
              </a:solidFill>
              <a:prstDash val="dash"/>
              <a:headEnd type="none" w="med" len="med"/>
              <a:tailEnd type="none" w="med" len="med"/>
            </a:ln>
          </p:spPr>
        </p:sp>
        <p:sp>
          <p:nvSpPr>
            <p:cNvPr id="10293" name="Line 39"/>
            <p:cNvSpPr/>
            <p:nvPr/>
          </p:nvSpPr>
          <p:spPr>
            <a:xfrm flipH="1">
              <a:off x="835" y="2694"/>
              <a:ext cx="1147" cy="0"/>
            </a:xfrm>
            <a:prstGeom prst="line">
              <a:avLst/>
            </a:prstGeom>
            <a:ln w="12700" cap="flat" cmpd="sng">
              <a:solidFill>
                <a:srgbClr val="000000"/>
              </a:solidFill>
              <a:prstDash val="dash"/>
              <a:headEnd type="none" w="med" len="med"/>
              <a:tailEnd type="none" w="med" len="med"/>
            </a:ln>
          </p:spPr>
        </p:sp>
        <p:sp>
          <p:nvSpPr>
            <p:cNvPr id="10294" name="Line 40"/>
            <p:cNvSpPr/>
            <p:nvPr/>
          </p:nvSpPr>
          <p:spPr>
            <a:xfrm flipH="1">
              <a:off x="835" y="3188"/>
              <a:ext cx="1572" cy="0"/>
            </a:xfrm>
            <a:prstGeom prst="line">
              <a:avLst/>
            </a:prstGeom>
            <a:ln w="12700" cap="flat" cmpd="sng">
              <a:solidFill>
                <a:srgbClr val="000000"/>
              </a:solidFill>
              <a:prstDash val="dash"/>
              <a:headEnd type="none" w="med" len="med"/>
              <a:tailEnd type="none" w="med" len="med"/>
            </a:ln>
          </p:spPr>
        </p:sp>
        <p:sp>
          <p:nvSpPr>
            <p:cNvPr id="10295" name="Line 41"/>
            <p:cNvSpPr/>
            <p:nvPr/>
          </p:nvSpPr>
          <p:spPr>
            <a:xfrm flipH="1">
              <a:off x="835" y="2900"/>
              <a:ext cx="552" cy="0"/>
            </a:xfrm>
            <a:prstGeom prst="line">
              <a:avLst/>
            </a:prstGeom>
            <a:ln w="12700" cap="flat" cmpd="sng">
              <a:solidFill>
                <a:srgbClr val="000000"/>
              </a:solidFill>
              <a:prstDash val="dash"/>
              <a:headEnd type="none" w="med" len="med"/>
              <a:tailEnd type="none" w="med" len="med"/>
            </a:ln>
          </p:spPr>
        </p:sp>
        <p:sp>
          <p:nvSpPr>
            <p:cNvPr id="10296" name="Line 42"/>
            <p:cNvSpPr/>
            <p:nvPr/>
          </p:nvSpPr>
          <p:spPr>
            <a:xfrm flipH="1">
              <a:off x="1089" y="2159"/>
              <a:ext cx="0" cy="1317"/>
            </a:xfrm>
            <a:prstGeom prst="line">
              <a:avLst/>
            </a:prstGeom>
            <a:ln w="12700" cap="flat" cmpd="sng">
              <a:solidFill>
                <a:srgbClr val="000000"/>
              </a:solidFill>
              <a:prstDash val="dash"/>
              <a:headEnd type="none" w="med" len="med"/>
              <a:tailEnd type="none" w="med" len="med"/>
            </a:ln>
          </p:spPr>
        </p:sp>
        <p:sp>
          <p:nvSpPr>
            <p:cNvPr id="10297" name="Line 43"/>
            <p:cNvSpPr/>
            <p:nvPr/>
          </p:nvSpPr>
          <p:spPr>
            <a:xfrm flipH="1">
              <a:off x="1982" y="2694"/>
              <a:ext cx="0" cy="782"/>
            </a:xfrm>
            <a:prstGeom prst="line">
              <a:avLst/>
            </a:prstGeom>
            <a:ln w="12700" cap="flat" cmpd="sng">
              <a:solidFill>
                <a:srgbClr val="000000"/>
              </a:solidFill>
              <a:prstDash val="dash"/>
              <a:headEnd type="none" w="med" len="med"/>
              <a:tailEnd type="none" w="med" len="med"/>
            </a:ln>
          </p:spPr>
        </p:sp>
        <p:sp>
          <p:nvSpPr>
            <p:cNvPr id="10298" name="Line 44"/>
            <p:cNvSpPr/>
            <p:nvPr/>
          </p:nvSpPr>
          <p:spPr>
            <a:xfrm flipH="1">
              <a:off x="1387" y="2900"/>
              <a:ext cx="0" cy="576"/>
            </a:xfrm>
            <a:prstGeom prst="line">
              <a:avLst/>
            </a:prstGeom>
            <a:ln w="12700" cap="flat" cmpd="sng">
              <a:solidFill>
                <a:srgbClr val="000000"/>
              </a:solidFill>
              <a:prstDash val="dash"/>
              <a:headEnd type="none" w="med" len="med"/>
              <a:tailEnd type="none" w="med" len="med"/>
            </a:ln>
          </p:spPr>
        </p:sp>
        <p:sp>
          <p:nvSpPr>
            <p:cNvPr id="10299" name="Line 45"/>
            <p:cNvSpPr/>
            <p:nvPr/>
          </p:nvSpPr>
          <p:spPr>
            <a:xfrm flipH="1">
              <a:off x="2407" y="3188"/>
              <a:ext cx="0" cy="288"/>
            </a:xfrm>
            <a:prstGeom prst="line">
              <a:avLst/>
            </a:prstGeom>
            <a:ln w="12700" cap="flat" cmpd="sng">
              <a:solidFill>
                <a:srgbClr val="000000"/>
              </a:solidFill>
              <a:prstDash val="dash"/>
              <a:headEnd type="none" w="med" len="med"/>
              <a:tailEnd type="none" w="med" len="med"/>
            </a:ln>
          </p:spPr>
        </p:sp>
        <mc:AlternateContent xmlns:mc="http://schemas.openxmlformats.org/markup-compatibility/2006" xmlns:a14="http://schemas.microsoft.com/office/drawing/2010/main">
          <mc:Choice Requires="a14">
            <p:sp>
              <p:nvSpPr>
                <p:cNvPr id="10247" name="Object 46"/>
                <p:cNvSpPr txBox="1"/>
                <p:nvPr/>
              </p:nvSpPr>
              <p:spPr>
                <a:xfrm>
                  <a:off x="595" y="1994"/>
                  <a:ext cx="234" cy="271"/>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𝑝</m:t>
                            </m:r>
                          </m:e>
                          <m:sub>
                            <m:r>
                              <a:rPr lang="zh-CN" altLang="en-US" sz="2800" i="1">
                                <a:solidFill>
                                  <a:srgbClr val="000000"/>
                                </a:solidFill>
                                <a:latin typeface="Cambria Math" panose="02040503050406030204" pitchFamily="18" charset="0"/>
                              </a:rPr>
                              <m:t>1</m:t>
                            </m:r>
                          </m:sub>
                        </m:sSub>
                      </m:oMath>
                    </m:oMathPara>
                  </a14:m>
                  <a:endParaRPr lang="zh-CN" altLang="en-US" sz="2800">
                    <a:latin typeface="+mn-ea"/>
                  </a:endParaRPr>
                </a:p>
              </p:txBody>
            </p:sp>
          </mc:Choice>
          <mc:Fallback xmlns="">
            <p:sp>
              <p:nvSpPr>
                <p:cNvPr id="10247" name="Object 46"/>
                <p:cNvSpPr txBox="1">
                  <a:spLocks noRot="1" noChangeAspect="1" noMove="1" noResize="1" noEditPoints="1" noAdjustHandles="1" noChangeArrowheads="1" noChangeShapeType="1" noTextEdit="1"/>
                </p:cNvSpPr>
                <p:nvPr/>
              </p:nvSpPr>
              <p:spPr>
                <a:xfrm>
                  <a:off x="595" y="1994"/>
                  <a:ext cx="234" cy="271"/>
                </a:xfrm>
                <a:prstGeom prst="rect">
                  <a:avLst/>
                </a:prstGeom>
                <a:blipFill>
                  <a:blip r:embed="rId10"/>
                  <a:stretch>
                    <a:fillRect r="-6557" b="-5634"/>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248" name="Object 47"/>
                <p:cNvSpPr txBox="1"/>
                <p:nvPr/>
              </p:nvSpPr>
              <p:spPr>
                <a:xfrm>
                  <a:off x="569" y="2488"/>
                  <a:ext cx="257" cy="271"/>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𝑝</m:t>
                            </m:r>
                          </m:e>
                          <m:sub>
                            <m:r>
                              <a:rPr lang="zh-CN" altLang="en-US" sz="2800" i="1">
                                <a:solidFill>
                                  <a:srgbClr val="000000"/>
                                </a:solidFill>
                                <a:latin typeface="Cambria Math" panose="02040503050406030204" pitchFamily="18" charset="0"/>
                              </a:rPr>
                              <m:t>2</m:t>
                            </m:r>
                          </m:sub>
                        </m:sSub>
                      </m:oMath>
                    </m:oMathPara>
                  </a14:m>
                  <a:endParaRPr lang="zh-CN" altLang="en-US" sz="2800">
                    <a:latin typeface="+mn-ea"/>
                  </a:endParaRPr>
                </a:p>
              </p:txBody>
            </p:sp>
          </mc:Choice>
          <mc:Fallback xmlns="">
            <p:sp>
              <p:nvSpPr>
                <p:cNvPr id="10248" name="Object 47"/>
                <p:cNvSpPr txBox="1">
                  <a:spLocks noRot="1" noChangeAspect="1" noMove="1" noResize="1" noEditPoints="1" noAdjustHandles="1" noChangeArrowheads="1" noChangeShapeType="1" noTextEdit="1"/>
                </p:cNvSpPr>
                <p:nvPr/>
              </p:nvSpPr>
              <p:spPr>
                <a:xfrm>
                  <a:off x="569" y="2488"/>
                  <a:ext cx="257" cy="271"/>
                </a:xfrm>
                <a:prstGeom prst="rect">
                  <a:avLst/>
                </a:prstGeom>
                <a:blipFill>
                  <a:blip r:embed="rId11"/>
                  <a:stretch>
                    <a:fillRect b="-4225"/>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249" name="Object 48"/>
                <p:cNvSpPr txBox="1"/>
                <p:nvPr/>
              </p:nvSpPr>
              <p:spPr>
                <a:xfrm>
                  <a:off x="569" y="2735"/>
                  <a:ext cx="257" cy="271"/>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𝑝</m:t>
                            </m:r>
                          </m:e>
                          <m:sub>
                            <m:r>
                              <a:rPr lang="zh-CN" altLang="en-US" sz="2800" i="1">
                                <a:solidFill>
                                  <a:srgbClr val="000000"/>
                                </a:solidFill>
                                <a:latin typeface="Cambria Math" panose="02040503050406030204" pitchFamily="18" charset="0"/>
                              </a:rPr>
                              <m:t>4</m:t>
                            </m:r>
                          </m:sub>
                        </m:sSub>
                      </m:oMath>
                    </m:oMathPara>
                  </a14:m>
                  <a:endParaRPr lang="zh-CN" altLang="en-US" sz="2800">
                    <a:latin typeface="+mn-ea"/>
                  </a:endParaRPr>
                </a:p>
              </p:txBody>
            </p:sp>
          </mc:Choice>
          <mc:Fallback xmlns="">
            <p:sp>
              <p:nvSpPr>
                <p:cNvPr id="10249" name="Object 48"/>
                <p:cNvSpPr txBox="1">
                  <a:spLocks noRot="1" noChangeAspect="1" noMove="1" noResize="1" noEditPoints="1" noAdjustHandles="1" noChangeArrowheads="1" noChangeShapeType="1" noTextEdit="1"/>
                </p:cNvSpPr>
                <p:nvPr/>
              </p:nvSpPr>
              <p:spPr>
                <a:xfrm>
                  <a:off x="569" y="2735"/>
                  <a:ext cx="257" cy="271"/>
                </a:xfrm>
                <a:prstGeom prst="rect">
                  <a:avLst/>
                </a:prstGeom>
                <a:blipFill>
                  <a:blip r:embed="rId12"/>
                  <a:stretch>
                    <a:fillRect b="-5634"/>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250" name="Object 49"/>
                <p:cNvSpPr txBox="1"/>
                <p:nvPr/>
              </p:nvSpPr>
              <p:spPr>
                <a:xfrm>
                  <a:off x="574" y="3023"/>
                  <a:ext cx="246" cy="299"/>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𝑝</m:t>
                            </m:r>
                          </m:e>
                          <m:sub>
                            <m:r>
                              <a:rPr lang="zh-CN" altLang="en-US" sz="2800" i="1">
                                <a:solidFill>
                                  <a:srgbClr val="000000"/>
                                </a:solidFill>
                                <a:latin typeface="Cambria Math" panose="02040503050406030204" pitchFamily="18" charset="0"/>
                              </a:rPr>
                              <m:t>3</m:t>
                            </m:r>
                          </m:sub>
                        </m:sSub>
                      </m:oMath>
                    </m:oMathPara>
                  </a14:m>
                  <a:endParaRPr lang="zh-CN" altLang="en-US" sz="2800">
                    <a:latin typeface="+mn-ea"/>
                  </a:endParaRPr>
                </a:p>
              </p:txBody>
            </p:sp>
          </mc:Choice>
          <mc:Fallback xmlns="">
            <p:sp>
              <p:nvSpPr>
                <p:cNvPr id="10250" name="Object 49"/>
                <p:cNvSpPr txBox="1">
                  <a:spLocks noRot="1" noChangeAspect="1" noMove="1" noResize="1" noEditPoints="1" noAdjustHandles="1" noChangeArrowheads="1" noChangeShapeType="1" noTextEdit="1"/>
                </p:cNvSpPr>
                <p:nvPr/>
              </p:nvSpPr>
              <p:spPr>
                <a:xfrm>
                  <a:off x="574" y="3023"/>
                  <a:ext cx="246" cy="299"/>
                </a:xfrm>
                <a:prstGeom prst="rect">
                  <a:avLst/>
                </a:prstGeom>
                <a:blipFill>
                  <a:blip r:embed="rId13"/>
                  <a:stretch>
                    <a:fillRect r="-1563"/>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251" name="Object 50"/>
                <p:cNvSpPr txBox="1"/>
                <p:nvPr/>
              </p:nvSpPr>
              <p:spPr>
                <a:xfrm>
                  <a:off x="999" y="3465"/>
                  <a:ext cx="180" cy="247"/>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1</m:t>
                            </m:r>
                          </m:sub>
                        </m:sSub>
                      </m:oMath>
                    </m:oMathPara>
                  </a14:m>
                  <a:endParaRPr lang="zh-CN" altLang="en-US" sz="2800">
                    <a:latin typeface="+mn-ea"/>
                  </a:endParaRPr>
                </a:p>
              </p:txBody>
            </p:sp>
          </mc:Choice>
          <mc:Fallback xmlns="">
            <p:sp>
              <p:nvSpPr>
                <p:cNvPr id="10251" name="Object 50"/>
                <p:cNvSpPr txBox="1">
                  <a:spLocks noRot="1" noChangeAspect="1" noMove="1" noResize="1" noEditPoints="1" noAdjustHandles="1" noChangeArrowheads="1" noChangeShapeType="1" noTextEdit="1"/>
                </p:cNvSpPr>
                <p:nvPr/>
              </p:nvSpPr>
              <p:spPr>
                <a:xfrm>
                  <a:off x="999" y="3465"/>
                  <a:ext cx="180" cy="247"/>
                </a:xfrm>
                <a:prstGeom prst="rect">
                  <a:avLst/>
                </a:prstGeom>
                <a:blipFill>
                  <a:blip r:embed="rId14"/>
                  <a:stretch>
                    <a:fillRect r="-36170" b="-13846"/>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252" name="Object 51"/>
                <p:cNvSpPr txBox="1"/>
                <p:nvPr/>
              </p:nvSpPr>
              <p:spPr>
                <a:xfrm>
                  <a:off x="1292" y="3476"/>
                  <a:ext cx="200" cy="246"/>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4</m:t>
                            </m:r>
                          </m:sub>
                        </m:sSub>
                      </m:oMath>
                    </m:oMathPara>
                  </a14:m>
                  <a:endParaRPr lang="zh-CN" altLang="en-US" sz="2800">
                    <a:latin typeface="+mn-ea"/>
                  </a:endParaRPr>
                </a:p>
              </p:txBody>
            </p:sp>
          </mc:Choice>
          <mc:Fallback xmlns="">
            <p:sp>
              <p:nvSpPr>
                <p:cNvPr id="10252" name="Object 51"/>
                <p:cNvSpPr txBox="1">
                  <a:spLocks noRot="1" noChangeAspect="1" noMove="1" noResize="1" noEditPoints="1" noAdjustHandles="1" noChangeArrowheads="1" noChangeShapeType="1" noTextEdit="1"/>
                </p:cNvSpPr>
                <p:nvPr/>
              </p:nvSpPr>
              <p:spPr>
                <a:xfrm>
                  <a:off x="1292" y="3476"/>
                  <a:ext cx="200" cy="246"/>
                </a:xfrm>
                <a:prstGeom prst="rect">
                  <a:avLst/>
                </a:prstGeom>
                <a:blipFill>
                  <a:blip r:embed="rId15"/>
                  <a:stretch>
                    <a:fillRect r="-24528" b="-15625"/>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253" name="Object 52"/>
                <p:cNvSpPr txBox="1"/>
                <p:nvPr/>
              </p:nvSpPr>
              <p:spPr>
                <a:xfrm>
                  <a:off x="1887" y="3476"/>
                  <a:ext cx="199" cy="246"/>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2</m:t>
                            </m:r>
                          </m:sub>
                        </m:sSub>
                      </m:oMath>
                    </m:oMathPara>
                  </a14:m>
                  <a:endParaRPr lang="zh-CN" altLang="en-US" sz="2800" dirty="0">
                    <a:latin typeface="+mn-ea"/>
                  </a:endParaRPr>
                </a:p>
              </p:txBody>
            </p:sp>
          </mc:Choice>
          <mc:Fallback xmlns="">
            <p:sp>
              <p:nvSpPr>
                <p:cNvPr id="10253" name="Object 52"/>
                <p:cNvSpPr txBox="1">
                  <a:spLocks noRot="1" noChangeAspect="1" noMove="1" noResize="1" noEditPoints="1" noAdjustHandles="1" noChangeArrowheads="1" noChangeShapeType="1" noTextEdit="1"/>
                </p:cNvSpPr>
                <p:nvPr/>
              </p:nvSpPr>
              <p:spPr>
                <a:xfrm>
                  <a:off x="1887" y="3476"/>
                  <a:ext cx="199" cy="246"/>
                </a:xfrm>
                <a:prstGeom prst="rect">
                  <a:avLst/>
                </a:prstGeom>
                <a:blipFill>
                  <a:blip r:embed="rId16"/>
                  <a:stretch>
                    <a:fillRect r="-23077" b="-15625"/>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254" name="Object 53"/>
                <p:cNvSpPr txBox="1"/>
                <p:nvPr/>
              </p:nvSpPr>
              <p:spPr>
                <a:xfrm>
                  <a:off x="2335" y="3471"/>
                  <a:ext cx="199" cy="256"/>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3</m:t>
                            </m:r>
                          </m:sub>
                        </m:sSub>
                      </m:oMath>
                    </m:oMathPara>
                  </a14:m>
                  <a:endParaRPr lang="zh-CN" altLang="en-US" sz="2800" dirty="0">
                    <a:latin typeface="+mn-ea"/>
                  </a:endParaRPr>
                </a:p>
              </p:txBody>
            </p:sp>
          </mc:Choice>
          <mc:Fallback xmlns="">
            <p:sp>
              <p:nvSpPr>
                <p:cNvPr id="10254" name="Object 53"/>
                <p:cNvSpPr txBox="1">
                  <a:spLocks noRot="1" noChangeAspect="1" noMove="1" noResize="1" noEditPoints="1" noAdjustHandles="1" noChangeArrowheads="1" noChangeShapeType="1" noTextEdit="1"/>
                </p:cNvSpPr>
                <p:nvPr/>
              </p:nvSpPr>
              <p:spPr>
                <a:xfrm>
                  <a:off x="2335" y="3471"/>
                  <a:ext cx="199" cy="256"/>
                </a:xfrm>
                <a:prstGeom prst="rect">
                  <a:avLst/>
                </a:prstGeom>
                <a:blipFill>
                  <a:blip r:embed="rId17"/>
                  <a:stretch>
                    <a:fillRect r="-21154" b="-10448"/>
                  </a:stretch>
                </a:blipFill>
                <a:ln w="38100">
                  <a:noFill/>
                  <a:miter/>
                </a:ln>
              </p:spPr>
              <p:txBody>
                <a:bodyPr/>
                <a:lstStyle/>
                <a:p>
                  <a:r>
                    <a:rPr lang="zh-CN" altLang="en-US">
                      <a:noFill/>
                    </a:rPr>
                    <a:t> </a:t>
                  </a:r>
                </a:p>
              </p:txBody>
            </p:sp>
          </mc:Fallback>
        </mc:AlternateContent>
      </p:grpSp>
      <p:sp>
        <p:nvSpPr>
          <p:cNvPr id="463926" name="Text Box 54"/>
          <p:cNvSpPr txBox="1"/>
          <p:nvPr/>
        </p:nvSpPr>
        <p:spPr>
          <a:xfrm>
            <a:off x="791691" y="4875947"/>
            <a:ext cx="2286000" cy="523220"/>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lstStyle/>
          <a:p>
            <a:pPr>
              <a:spcBef>
                <a:spcPct val="50000"/>
              </a:spcBef>
            </a:pPr>
            <a:r>
              <a:rPr lang="zh-CN" altLang="en-US" sz="2800" dirty="0">
                <a:solidFill>
                  <a:srgbClr val="333333"/>
                </a:solidFill>
                <a:latin typeface="+mn-ea"/>
              </a:rPr>
              <a:t>低温热源</a:t>
            </a:r>
            <a:r>
              <a:rPr lang="en-US" altLang="zh-CN" sz="2800" i="1" dirty="0">
                <a:solidFill>
                  <a:srgbClr val="333333"/>
                </a:solidFill>
                <a:latin typeface="+mn-ea"/>
              </a:rPr>
              <a:t>T</a:t>
            </a:r>
            <a:r>
              <a:rPr lang="en-US" altLang="zh-CN" sz="2800" baseline="-25000" dirty="0">
                <a:solidFill>
                  <a:srgbClr val="333333"/>
                </a:solidFill>
                <a:latin typeface="+mn-ea"/>
              </a:rPr>
              <a:t>2</a:t>
            </a:r>
          </a:p>
        </p:txBody>
      </p:sp>
      <p:grpSp>
        <p:nvGrpSpPr>
          <p:cNvPr id="7" name="Group 55"/>
          <p:cNvGrpSpPr/>
          <p:nvPr/>
        </p:nvGrpSpPr>
        <p:grpSpPr>
          <a:xfrm>
            <a:off x="572617" y="2170844"/>
            <a:ext cx="2663825" cy="533400"/>
            <a:chOff x="3061" y="1752"/>
            <a:chExt cx="1678" cy="336"/>
          </a:xfrm>
        </p:grpSpPr>
        <p:sp>
          <p:nvSpPr>
            <p:cNvPr id="10273" name="Rectangle 56"/>
            <p:cNvSpPr/>
            <p:nvPr/>
          </p:nvSpPr>
          <p:spPr>
            <a:xfrm>
              <a:off x="3061" y="1752"/>
              <a:ext cx="1440" cy="336"/>
            </a:xfrm>
            <a:prstGeom prst="rect">
              <a:avLst/>
            </a:prstGeom>
            <a:solidFill>
              <a:srgbClr val="FDE3F0"/>
            </a:solidFill>
            <a:ln w="19050" cap="flat" cmpd="sng">
              <a:solidFill>
                <a:srgbClr val="CC0099"/>
              </a:solidFill>
              <a:prstDash val="solid"/>
              <a:miter/>
              <a:headEnd type="none" w="med" len="med"/>
              <a:tailEnd type="none" w="med" len="med"/>
            </a:ln>
          </p:spPr>
          <p:txBody>
            <a:bodyPr wrap="none" anchor="ctr" anchorCtr="0"/>
            <a:lstStyle/>
            <a:p>
              <a:endParaRPr lang="zh-CN" altLang="en-US" sz="2800" dirty="0">
                <a:latin typeface="+mn-ea"/>
              </a:endParaRPr>
            </a:p>
          </p:txBody>
        </p:sp>
        <p:sp>
          <p:nvSpPr>
            <p:cNvPr id="10274" name="Text Box 57"/>
            <p:cNvSpPr txBox="1"/>
            <p:nvPr/>
          </p:nvSpPr>
          <p:spPr>
            <a:xfrm>
              <a:off x="3107" y="1752"/>
              <a:ext cx="1632" cy="330"/>
            </a:xfrm>
            <a:prstGeom prst="rect">
              <a:avLst/>
            </a:prstGeom>
            <a:noFill/>
            <a:ln w="9525">
              <a:noFill/>
            </a:ln>
          </p:spPr>
          <p:txBody>
            <a:bodyPr>
              <a:spAutoFit/>
            </a:bodyPr>
            <a:lstStyle/>
            <a:p>
              <a:pPr>
                <a:spcBef>
                  <a:spcPct val="50000"/>
                </a:spcBef>
              </a:pPr>
              <a:r>
                <a:rPr lang="zh-CN" altLang="en-US" sz="2800" dirty="0">
                  <a:solidFill>
                    <a:srgbClr val="000000"/>
                  </a:solidFill>
                  <a:latin typeface="+mn-ea"/>
                </a:rPr>
                <a:t>高温热源</a:t>
              </a:r>
              <a:r>
                <a:rPr lang="en-US" altLang="zh-CN" sz="2800" i="1" dirty="0">
                  <a:solidFill>
                    <a:srgbClr val="000000"/>
                  </a:solidFill>
                  <a:latin typeface="+mn-ea"/>
                </a:rPr>
                <a:t>T</a:t>
              </a:r>
              <a:r>
                <a:rPr lang="en-US" altLang="zh-CN" sz="2800" baseline="-25000" dirty="0">
                  <a:solidFill>
                    <a:srgbClr val="000000"/>
                  </a:solidFill>
                  <a:latin typeface="+mn-ea"/>
                </a:rPr>
                <a:t>1</a:t>
              </a:r>
            </a:p>
          </p:txBody>
        </p:sp>
      </p:grpSp>
      <p:sp>
        <p:nvSpPr>
          <p:cNvPr id="6" name="Text Box 13">
            <a:hlinkClick r:id="" action="ppaction://noaction"/>
            <a:extLst>
              <a:ext uri="{FF2B5EF4-FFF2-40B4-BE49-F238E27FC236}">
                <a16:creationId xmlns:a16="http://schemas.microsoft.com/office/drawing/2014/main" id="{50B01485-918A-C511-5BE3-FF0E37D0D954}"/>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卡诺循环</a:t>
            </a:r>
          </a:p>
        </p:txBody>
      </p:sp>
      <p:sp>
        <p:nvSpPr>
          <p:cNvPr id="8" name="Text Box 3">
            <a:extLst>
              <a:ext uri="{FF2B5EF4-FFF2-40B4-BE49-F238E27FC236}">
                <a16:creationId xmlns:a16="http://schemas.microsoft.com/office/drawing/2014/main" id="{722523BF-CDEE-1605-F9EC-A97FDDEC0D63}"/>
              </a:ext>
            </a:extLst>
          </p:cNvPr>
          <p:cNvSpPr txBox="1"/>
          <p:nvPr/>
        </p:nvSpPr>
        <p:spPr>
          <a:xfrm>
            <a:off x="8839200" y="2707376"/>
            <a:ext cx="3352800" cy="2462213"/>
          </a:xfrm>
          <a:prstGeom prst="rect">
            <a:avLst/>
          </a:prstGeom>
          <a:noFill/>
          <a:ln w="9525">
            <a:noFill/>
          </a:ln>
        </p:spPr>
        <p:txBody>
          <a:bodyPr>
            <a:spAutoFit/>
          </a:bodyPr>
          <a:lstStyle/>
          <a:p>
            <a:pPr>
              <a:spcBef>
                <a:spcPct val="50000"/>
              </a:spcBef>
            </a:pPr>
            <a:r>
              <a:rPr lang="en-US" altLang="zh-CN" sz="2800" dirty="0">
                <a:latin typeface="Times New Roman" panose="02020603050405020304" pitchFamily="18" charset="0"/>
              </a:rPr>
              <a:t> </a:t>
            </a:r>
            <a:r>
              <a:rPr lang="en-US" altLang="zh-CN" sz="2800" i="1" dirty="0">
                <a:solidFill>
                  <a:srgbClr val="333333"/>
                </a:solidFill>
                <a:latin typeface="Times New Roman" panose="02020603050405020304" pitchFamily="18" charset="0"/>
              </a:rPr>
              <a:t>A — B</a:t>
            </a:r>
            <a:r>
              <a:rPr lang="en-US" altLang="zh-CN" sz="2800" dirty="0">
                <a:solidFill>
                  <a:srgbClr val="333333"/>
                </a:solidFill>
                <a:latin typeface="Times New Roman" panose="02020603050405020304" pitchFamily="18" charset="0"/>
              </a:rPr>
              <a:t>  </a:t>
            </a:r>
            <a:r>
              <a:rPr lang="zh-CN" altLang="en-US" sz="2800" dirty="0">
                <a:solidFill>
                  <a:srgbClr val="333333"/>
                </a:solidFill>
                <a:latin typeface="Times New Roman" panose="02020603050405020304" pitchFamily="18" charset="0"/>
              </a:rPr>
              <a:t>等温膨胀</a:t>
            </a:r>
          </a:p>
          <a:p>
            <a:pPr>
              <a:spcBef>
                <a:spcPct val="50000"/>
              </a:spcBef>
            </a:pPr>
            <a:r>
              <a:rPr lang="zh-CN" altLang="en-US" sz="2800" dirty="0">
                <a:solidFill>
                  <a:srgbClr val="333333"/>
                </a:solidFill>
                <a:latin typeface="Times New Roman" panose="02020603050405020304" pitchFamily="18" charset="0"/>
              </a:rPr>
              <a:t> </a:t>
            </a:r>
            <a:r>
              <a:rPr lang="en-US" altLang="zh-CN" sz="2800" i="1" dirty="0">
                <a:solidFill>
                  <a:srgbClr val="333333"/>
                </a:solidFill>
                <a:latin typeface="Times New Roman" panose="02020603050405020304" pitchFamily="18" charset="0"/>
              </a:rPr>
              <a:t>B — C</a:t>
            </a:r>
            <a:r>
              <a:rPr lang="en-US" altLang="zh-CN" sz="2800" dirty="0">
                <a:solidFill>
                  <a:srgbClr val="333333"/>
                </a:solidFill>
                <a:latin typeface="Times New Roman" panose="02020603050405020304" pitchFamily="18" charset="0"/>
              </a:rPr>
              <a:t>  </a:t>
            </a:r>
            <a:r>
              <a:rPr lang="zh-CN" altLang="en-US" sz="2800" dirty="0">
                <a:solidFill>
                  <a:srgbClr val="333333"/>
                </a:solidFill>
                <a:latin typeface="Times New Roman" panose="02020603050405020304" pitchFamily="18" charset="0"/>
              </a:rPr>
              <a:t>绝热膨胀</a:t>
            </a:r>
          </a:p>
          <a:p>
            <a:pPr>
              <a:spcBef>
                <a:spcPct val="50000"/>
              </a:spcBef>
            </a:pPr>
            <a:r>
              <a:rPr lang="zh-CN" altLang="en-US" sz="2800" dirty="0">
                <a:solidFill>
                  <a:srgbClr val="333333"/>
                </a:solidFill>
                <a:latin typeface="Times New Roman" panose="02020603050405020304" pitchFamily="18" charset="0"/>
              </a:rPr>
              <a:t> </a:t>
            </a:r>
            <a:r>
              <a:rPr lang="en-US" altLang="zh-CN" sz="2800" i="1" dirty="0">
                <a:solidFill>
                  <a:srgbClr val="333333"/>
                </a:solidFill>
                <a:latin typeface="Times New Roman" panose="02020603050405020304" pitchFamily="18" charset="0"/>
              </a:rPr>
              <a:t>C — D</a:t>
            </a:r>
            <a:r>
              <a:rPr lang="en-US" altLang="zh-CN" sz="2800" dirty="0">
                <a:solidFill>
                  <a:srgbClr val="333333"/>
                </a:solidFill>
                <a:latin typeface="Times New Roman" panose="02020603050405020304" pitchFamily="18" charset="0"/>
              </a:rPr>
              <a:t>  </a:t>
            </a:r>
            <a:r>
              <a:rPr lang="zh-CN" altLang="en-US" sz="2800" dirty="0">
                <a:solidFill>
                  <a:srgbClr val="333333"/>
                </a:solidFill>
                <a:latin typeface="Times New Roman" panose="02020603050405020304" pitchFamily="18" charset="0"/>
              </a:rPr>
              <a:t>等温压缩</a:t>
            </a:r>
          </a:p>
          <a:p>
            <a:pPr>
              <a:spcBef>
                <a:spcPct val="50000"/>
              </a:spcBef>
            </a:pPr>
            <a:r>
              <a:rPr lang="zh-CN" altLang="en-US" sz="2800" dirty="0">
                <a:solidFill>
                  <a:srgbClr val="333333"/>
                </a:solidFill>
                <a:latin typeface="Times New Roman" panose="02020603050405020304" pitchFamily="18" charset="0"/>
              </a:rPr>
              <a:t> </a:t>
            </a:r>
            <a:r>
              <a:rPr lang="en-US" altLang="zh-CN" sz="2800" i="1" dirty="0">
                <a:solidFill>
                  <a:srgbClr val="333333"/>
                </a:solidFill>
                <a:latin typeface="Times New Roman" panose="02020603050405020304" pitchFamily="18" charset="0"/>
              </a:rPr>
              <a:t>D — A</a:t>
            </a:r>
            <a:r>
              <a:rPr lang="en-US" altLang="zh-CN" sz="2800" dirty="0">
                <a:solidFill>
                  <a:srgbClr val="333333"/>
                </a:solidFill>
                <a:latin typeface="Times New Roman" panose="02020603050405020304" pitchFamily="18" charset="0"/>
              </a:rPr>
              <a:t>  </a:t>
            </a:r>
            <a:r>
              <a:rPr lang="zh-CN" altLang="en-US" sz="2800" dirty="0">
                <a:solidFill>
                  <a:srgbClr val="333333"/>
                </a:solidFill>
                <a:latin typeface="Times New Roman" panose="02020603050405020304" pitchFamily="18" charset="0"/>
              </a:rPr>
              <a:t>绝热压缩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38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387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3">
            <a:hlinkClick r:id="" action="ppaction://noaction"/>
            <a:extLst>
              <a:ext uri="{FF2B5EF4-FFF2-40B4-BE49-F238E27FC236}">
                <a16:creationId xmlns:a16="http://schemas.microsoft.com/office/drawing/2014/main" id="{DE1E5AA0-B039-64CC-03ED-54BC4133CACD}"/>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卡诺循环</a:t>
            </a:r>
          </a:p>
        </p:txBody>
      </p:sp>
      <mc:AlternateContent xmlns:mc="http://schemas.openxmlformats.org/markup-compatibility/2006" xmlns:a14="http://schemas.microsoft.com/office/drawing/2010/main">
        <mc:Choice Requires="a14">
          <p:sp>
            <p:nvSpPr>
              <p:cNvPr id="41" name="Object 2">
                <a:extLst>
                  <a:ext uri="{FF2B5EF4-FFF2-40B4-BE49-F238E27FC236}">
                    <a16:creationId xmlns:a16="http://schemas.microsoft.com/office/drawing/2014/main" id="{EFA63071-47E9-C3E8-0916-D46F67739601}"/>
                  </a:ext>
                </a:extLst>
              </p:cNvPr>
              <p:cNvSpPr txBox="1"/>
              <p:nvPr/>
            </p:nvSpPr>
            <p:spPr>
              <a:xfrm>
                <a:off x="5365233" y="1343521"/>
                <a:ext cx="3967162" cy="114300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𝑄</m:t>
                          </m:r>
                        </m:e>
                        <m:sub>
                          <m:r>
                            <a:rPr lang="zh-CN" altLang="en-US" sz="2800" b="0" i="1">
                              <a:solidFill>
                                <a:srgbClr val="000000"/>
                              </a:solidFill>
                              <a:latin typeface="Cambria Math" panose="02040503050406030204" pitchFamily="18" charset="0"/>
                            </a:rPr>
                            <m:t>1</m:t>
                          </m:r>
                        </m:sub>
                      </m:sSub>
                      <m:r>
                        <a:rPr lang="zh-CN" altLang="en-US" sz="2800" b="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𝑄</m:t>
                          </m:r>
                        </m:e>
                        <m:sub>
                          <m:r>
                            <a:rPr lang="zh-CN" altLang="en-US" sz="2800" b="0" i="1">
                              <a:solidFill>
                                <a:srgbClr val="000000"/>
                              </a:solidFill>
                              <a:latin typeface="Cambria Math" panose="02040503050406030204" pitchFamily="18" charset="0"/>
                            </a:rPr>
                            <m:t>𝑎𝑏</m:t>
                          </m:r>
                        </m:sub>
                      </m:sSub>
                      <m:r>
                        <a:rPr lang="zh-CN" altLang="en-US" sz="2800" b="0" i="1">
                          <a:solidFill>
                            <a:srgbClr val="000000"/>
                          </a:solidFill>
                          <a:latin typeface="Cambria Math" panose="02040503050406030204" pitchFamily="18" charset="0"/>
                        </a:rPr>
                        <m:t>=</m:t>
                      </m:r>
                      <m:r>
                        <a:rPr lang="zh-CN" altLang="en-US" sz="2800" b="0" i="1">
                          <a:solidFill>
                            <a:srgbClr val="000000"/>
                          </a:solidFill>
                          <a:latin typeface="Cambria Math" panose="02040503050406030204" pitchFamily="18" charset="0"/>
                        </a:rPr>
                        <m:t>𝜈</m:t>
                      </m:r>
                      <m:r>
                        <a:rPr lang="zh-CN" altLang="en-US" sz="2800" b="0" i="1">
                          <a:solidFill>
                            <a:srgbClr val="000000"/>
                          </a:solidFill>
                          <a:latin typeface="Cambria Math" panose="02040503050406030204" pitchFamily="18" charset="0"/>
                        </a:rPr>
                        <m:t>𝑅</m:t>
                      </m:r>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1</m:t>
                          </m:r>
                        </m:sub>
                      </m:sSub>
                      <m:func>
                        <m:funcPr>
                          <m:ctrlPr>
                            <a:rPr lang="zh-CN" altLang="en-US" sz="2800" i="1">
                              <a:solidFill>
                                <a:srgbClr val="000000"/>
                              </a:solidFill>
                              <a:latin typeface="Cambria Math" panose="02040503050406030204" pitchFamily="18" charset="0"/>
                            </a:rPr>
                          </m:ctrlPr>
                        </m:funcPr>
                        <m:fName>
                          <m:r>
                            <m:rPr>
                              <m:sty m:val="p"/>
                            </m:rPr>
                            <a:rPr lang="zh-CN" altLang="en-US" sz="2800" b="0" i="0">
                              <a:solidFill>
                                <a:srgbClr val="000000"/>
                              </a:solidFill>
                              <a:latin typeface="Cambria Math" panose="02040503050406030204" pitchFamily="18" charset="0"/>
                            </a:rPr>
                            <m:t>ln</m:t>
                          </m:r>
                        </m:fName>
                        <m:e>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𝑉</m:t>
                                  </m:r>
                                </m:e>
                                <m:sub>
                                  <m:r>
                                    <a:rPr lang="zh-CN" altLang="en-US" sz="2800" b="0" i="1">
                                      <a:solidFill>
                                        <a:srgbClr val="000000"/>
                                      </a:solidFill>
                                      <a:latin typeface="Cambria Math" panose="02040503050406030204" pitchFamily="18" charset="0"/>
                                    </a:rPr>
                                    <m:t>2</m:t>
                                  </m:r>
                                </m:sub>
                              </m:sSub>
                            </m:num>
                            <m:den>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𝑉</m:t>
                                  </m:r>
                                </m:e>
                                <m:sub>
                                  <m:r>
                                    <a:rPr lang="zh-CN" altLang="en-US" sz="2800" b="0" i="1">
                                      <a:solidFill>
                                        <a:srgbClr val="000000"/>
                                      </a:solidFill>
                                      <a:latin typeface="Cambria Math" panose="02040503050406030204" pitchFamily="18" charset="0"/>
                                    </a:rPr>
                                    <m:t>1</m:t>
                                  </m:r>
                                </m:sub>
                              </m:sSub>
                            </m:den>
                          </m:f>
                        </m:e>
                      </m:func>
                    </m:oMath>
                  </m:oMathPara>
                </a14:m>
                <a:endParaRPr lang="zh-CN" altLang="en-US" sz="2800" dirty="0">
                  <a:latin typeface="+mn-ea"/>
                </a:endParaRPr>
              </a:p>
            </p:txBody>
          </p:sp>
        </mc:Choice>
        <mc:Fallback xmlns="">
          <p:sp>
            <p:nvSpPr>
              <p:cNvPr id="41" name="Object 2">
                <a:extLst>
                  <a:ext uri="{FF2B5EF4-FFF2-40B4-BE49-F238E27FC236}">
                    <a16:creationId xmlns:a16="http://schemas.microsoft.com/office/drawing/2014/main" id="{EFA63071-47E9-C3E8-0916-D46F67739601}"/>
                  </a:ext>
                </a:extLst>
              </p:cNvPr>
              <p:cNvSpPr txBox="1">
                <a:spLocks noRot="1" noChangeAspect="1" noMove="1" noResize="1" noEditPoints="1" noAdjustHandles="1" noChangeArrowheads="1" noChangeShapeType="1" noTextEdit="1"/>
              </p:cNvSpPr>
              <p:nvPr/>
            </p:nvSpPr>
            <p:spPr>
              <a:xfrm>
                <a:off x="5365233" y="1343521"/>
                <a:ext cx="3967162" cy="1143000"/>
              </a:xfrm>
              <a:prstGeom prst="rect">
                <a:avLst/>
              </a:prstGeom>
              <a:blipFill>
                <a:blip r:embed="rId2"/>
                <a:stretch>
                  <a:fillRect/>
                </a:stretch>
              </a:blipFill>
              <a:ln w="38100">
                <a:noFill/>
                <a:miter/>
              </a:ln>
            </p:spPr>
            <p:txBody>
              <a:bodyPr/>
              <a:lstStyle/>
              <a:p>
                <a:r>
                  <a:rPr lang="zh-CN" altLang="en-US">
                    <a:noFill/>
                  </a:rPr>
                  <a:t> </a:t>
                </a:r>
              </a:p>
            </p:txBody>
          </p:sp>
        </mc:Fallback>
      </mc:AlternateContent>
      <p:sp>
        <p:nvSpPr>
          <p:cNvPr id="42" name="Rectangle 3">
            <a:extLst>
              <a:ext uri="{FF2B5EF4-FFF2-40B4-BE49-F238E27FC236}">
                <a16:creationId xmlns:a16="http://schemas.microsoft.com/office/drawing/2014/main" id="{CEDA27B6-30AF-EAF0-48E9-6D01885E17B3}"/>
              </a:ext>
            </a:extLst>
          </p:cNvPr>
          <p:cNvSpPr>
            <a:spLocks noChangeArrowheads="1"/>
          </p:cNvSpPr>
          <p:nvPr/>
        </p:nvSpPr>
        <p:spPr bwMode="auto">
          <a:xfrm>
            <a:off x="5289033" y="809915"/>
            <a:ext cx="4029075" cy="523220"/>
          </a:xfrm>
          <a:prstGeom prst="rect">
            <a:avLst/>
          </a:prstGeom>
          <a:solidFill>
            <a:schemeClr val="bg1"/>
          </a:solidFill>
          <a:ln w="12700">
            <a:solidFill>
              <a:schemeClr val="bg1"/>
            </a:solidFill>
            <a:miter lim="800000"/>
          </a:ln>
          <a:effectLst/>
        </p:spPr>
        <p:txBody>
          <a:bodyPr>
            <a:spAutoFit/>
          </a:bodyPr>
          <a:lstStyle/>
          <a:p>
            <a:pPr fontAlgn="base">
              <a:spcBef>
                <a:spcPct val="0"/>
              </a:spcBef>
              <a:spcAft>
                <a:spcPct val="0"/>
              </a:spcAft>
              <a:defRPr/>
            </a:pPr>
            <a:r>
              <a:rPr kumimoji="1" lang="en-US" altLang="zh-CN" sz="2800" i="1" dirty="0">
                <a:solidFill>
                  <a:srgbClr val="000000"/>
                </a:solidFill>
                <a:latin typeface="+mn-ea"/>
              </a:rPr>
              <a:t>A </a:t>
            </a:r>
            <a:r>
              <a:rPr kumimoji="1" lang="en-US" altLang="zh-CN" sz="2800" dirty="0">
                <a:solidFill>
                  <a:srgbClr val="000000"/>
                </a:solidFill>
                <a:latin typeface="+mn-ea"/>
              </a:rPr>
              <a:t>— </a:t>
            </a:r>
            <a:r>
              <a:rPr kumimoji="1" lang="en-US" altLang="zh-CN" sz="2800" i="1" dirty="0">
                <a:solidFill>
                  <a:srgbClr val="000000"/>
                </a:solidFill>
                <a:latin typeface="+mn-ea"/>
              </a:rPr>
              <a:t>B </a:t>
            </a:r>
            <a:r>
              <a:rPr kumimoji="1" lang="zh-CN" altLang="en-US" sz="2800" dirty="0">
                <a:solidFill>
                  <a:srgbClr val="000000"/>
                </a:solidFill>
                <a:latin typeface="+mn-ea"/>
              </a:rPr>
              <a:t>等温膨胀</a:t>
            </a:r>
            <a:r>
              <a:rPr kumimoji="1" lang="zh-CN" altLang="en-US" sz="2800" dirty="0">
                <a:solidFill>
                  <a:srgbClr val="CC0000"/>
                </a:solidFill>
                <a:latin typeface="+mn-ea"/>
              </a:rPr>
              <a:t>吸</a:t>
            </a:r>
            <a:r>
              <a:rPr kumimoji="1" lang="zh-CN" altLang="en-US" sz="2800" dirty="0">
                <a:solidFill>
                  <a:srgbClr val="000000"/>
                </a:solidFill>
                <a:latin typeface="+mn-ea"/>
              </a:rPr>
              <a:t>热</a:t>
            </a:r>
          </a:p>
        </p:txBody>
      </p:sp>
      <mc:AlternateContent xmlns:mc="http://schemas.openxmlformats.org/markup-compatibility/2006" xmlns:a14="http://schemas.microsoft.com/office/drawing/2010/main">
        <mc:Choice Requires="a14">
          <p:sp>
            <p:nvSpPr>
              <p:cNvPr id="43" name="Object 4">
                <a:extLst>
                  <a:ext uri="{FF2B5EF4-FFF2-40B4-BE49-F238E27FC236}">
                    <a16:creationId xmlns:a16="http://schemas.microsoft.com/office/drawing/2014/main" id="{D0EA4500-E6FA-BA2D-81FC-3B86E9DA847F}"/>
                  </a:ext>
                </a:extLst>
              </p:cNvPr>
              <p:cNvSpPr txBox="1"/>
              <p:nvPr/>
            </p:nvSpPr>
            <p:spPr>
              <a:xfrm>
                <a:off x="5356778" y="3142864"/>
                <a:ext cx="3949065" cy="1157605"/>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𝑄</m:t>
                          </m:r>
                        </m:e>
                        <m:sub>
                          <m:r>
                            <a:rPr lang="zh-CN" altLang="en-US" sz="2800" b="0" i="1">
                              <a:solidFill>
                                <a:srgbClr val="000000"/>
                              </a:solidFill>
                              <a:latin typeface="Cambria Math" panose="02040503050406030204" pitchFamily="18" charset="0"/>
                            </a:rPr>
                            <m:t>2</m:t>
                          </m:r>
                        </m:sub>
                      </m:sSub>
                      <m:r>
                        <a:rPr lang="zh-CN" altLang="en-US" sz="2800" b="0" i="1">
                          <a:solidFill>
                            <a:srgbClr val="000000"/>
                          </a:solidFill>
                          <a:latin typeface="Cambria Math" panose="02040503050406030204" pitchFamily="18" charset="0"/>
                        </a:rPr>
                        <m:t>=</m:t>
                      </m:r>
                      <m:d>
                        <m:dPr>
                          <m:begChr m:val="|"/>
                          <m:endChr m:val="|"/>
                          <m:ctrlPr>
                            <a:rPr lang="zh-CN" altLang="en-US" sz="2800" i="1">
                              <a:solidFill>
                                <a:srgbClr val="000000"/>
                              </a:solidFill>
                              <a:latin typeface="Cambria Math" panose="02040503050406030204" pitchFamily="18" charset="0"/>
                            </a:rPr>
                          </m:ctrlPr>
                        </m:dPr>
                        <m:e>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𝑄</m:t>
                              </m:r>
                            </m:e>
                            <m:sub>
                              <m:r>
                                <a:rPr lang="zh-CN" altLang="en-US" sz="2800" b="0" i="1">
                                  <a:solidFill>
                                    <a:srgbClr val="000000"/>
                                  </a:solidFill>
                                  <a:latin typeface="Cambria Math" panose="02040503050406030204" pitchFamily="18" charset="0"/>
                                </a:rPr>
                                <m:t>𝑐𝑑</m:t>
                              </m:r>
                            </m:sub>
                          </m:sSub>
                        </m:e>
                      </m:d>
                      <m:r>
                        <a:rPr lang="zh-CN" altLang="en-US" sz="2800" b="0" i="1">
                          <a:solidFill>
                            <a:srgbClr val="000000"/>
                          </a:solidFill>
                          <a:latin typeface="Cambria Math" panose="02040503050406030204" pitchFamily="18" charset="0"/>
                        </a:rPr>
                        <m:t>=</m:t>
                      </m:r>
                      <m:r>
                        <a:rPr lang="zh-CN" altLang="en-US" sz="2800" b="0" i="1">
                          <a:solidFill>
                            <a:srgbClr val="000000"/>
                          </a:solidFill>
                          <a:latin typeface="Cambria Math" panose="02040503050406030204" pitchFamily="18" charset="0"/>
                        </a:rPr>
                        <m:t>𝜈</m:t>
                      </m:r>
                      <m:r>
                        <a:rPr lang="zh-CN" altLang="en-US" sz="2800" b="0" i="1">
                          <a:solidFill>
                            <a:srgbClr val="000000"/>
                          </a:solidFill>
                          <a:latin typeface="Cambria Math" panose="02040503050406030204" pitchFamily="18" charset="0"/>
                        </a:rPr>
                        <m:t>𝑅</m:t>
                      </m:r>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2</m:t>
                          </m:r>
                        </m:sub>
                      </m:sSub>
                      <m:func>
                        <m:funcPr>
                          <m:ctrlPr>
                            <a:rPr lang="zh-CN" altLang="en-US" sz="2800" i="1">
                              <a:solidFill>
                                <a:srgbClr val="000000"/>
                              </a:solidFill>
                              <a:latin typeface="Cambria Math" panose="02040503050406030204" pitchFamily="18" charset="0"/>
                            </a:rPr>
                          </m:ctrlPr>
                        </m:funcPr>
                        <m:fName>
                          <m:r>
                            <m:rPr>
                              <m:sty m:val="p"/>
                            </m:rPr>
                            <a:rPr lang="zh-CN" altLang="en-US" sz="2800" b="0" i="0">
                              <a:solidFill>
                                <a:srgbClr val="000000"/>
                              </a:solidFill>
                              <a:latin typeface="Cambria Math" panose="02040503050406030204" pitchFamily="18" charset="0"/>
                            </a:rPr>
                            <m:t>ln</m:t>
                          </m:r>
                        </m:fName>
                        <m:e>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𝑉</m:t>
                                  </m:r>
                                </m:e>
                                <m:sub>
                                  <m:r>
                                    <a:rPr lang="zh-CN" altLang="en-US" sz="2800" b="0" i="1">
                                      <a:solidFill>
                                        <a:srgbClr val="000000"/>
                                      </a:solidFill>
                                      <a:latin typeface="Cambria Math" panose="02040503050406030204" pitchFamily="18" charset="0"/>
                                    </a:rPr>
                                    <m:t>3</m:t>
                                  </m:r>
                                </m:sub>
                              </m:sSub>
                            </m:num>
                            <m:den>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𝑉</m:t>
                                  </m:r>
                                </m:e>
                                <m:sub>
                                  <m:r>
                                    <a:rPr lang="zh-CN" altLang="en-US" sz="2800" b="0" i="1">
                                      <a:solidFill>
                                        <a:srgbClr val="000000"/>
                                      </a:solidFill>
                                      <a:latin typeface="Cambria Math" panose="02040503050406030204" pitchFamily="18" charset="0"/>
                                    </a:rPr>
                                    <m:t>4</m:t>
                                  </m:r>
                                </m:sub>
                              </m:sSub>
                            </m:den>
                          </m:f>
                        </m:e>
                      </m:func>
                    </m:oMath>
                  </m:oMathPara>
                </a14:m>
                <a:endParaRPr lang="zh-CN" altLang="en-US" sz="2800" dirty="0">
                  <a:latin typeface="+mn-ea"/>
                </a:endParaRPr>
              </a:p>
            </p:txBody>
          </p:sp>
        </mc:Choice>
        <mc:Fallback xmlns="">
          <p:sp>
            <p:nvSpPr>
              <p:cNvPr id="43" name="Object 4">
                <a:extLst>
                  <a:ext uri="{FF2B5EF4-FFF2-40B4-BE49-F238E27FC236}">
                    <a16:creationId xmlns:a16="http://schemas.microsoft.com/office/drawing/2014/main" id="{D0EA4500-E6FA-BA2D-81FC-3B86E9DA847F}"/>
                  </a:ext>
                </a:extLst>
              </p:cNvPr>
              <p:cNvSpPr txBox="1">
                <a:spLocks noRot="1" noChangeAspect="1" noMove="1" noResize="1" noEditPoints="1" noAdjustHandles="1" noChangeArrowheads="1" noChangeShapeType="1" noTextEdit="1"/>
              </p:cNvSpPr>
              <p:nvPr/>
            </p:nvSpPr>
            <p:spPr>
              <a:xfrm>
                <a:off x="5356778" y="3142864"/>
                <a:ext cx="3949065" cy="1157605"/>
              </a:xfrm>
              <a:prstGeom prst="rect">
                <a:avLst/>
              </a:prstGeom>
              <a:blipFill>
                <a:blip r:embed="rId3"/>
                <a:stretch>
                  <a:fillRect/>
                </a:stretch>
              </a:blipFill>
              <a:ln w="38100">
                <a:noFill/>
                <a:miter/>
              </a:ln>
            </p:spPr>
            <p:txBody>
              <a:bodyPr/>
              <a:lstStyle/>
              <a:p>
                <a:r>
                  <a:rPr lang="zh-CN" altLang="en-US">
                    <a:noFill/>
                  </a:rPr>
                  <a:t> </a:t>
                </a:r>
              </a:p>
            </p:txBody>
          </p:sp>
        </mc:Fallback>
      </mc:AlternateContent>
      <p:sp>
        <p:nvSpPr>
          <p:cNvPr id="44" name="Rectangle 5">
            <a:extLst>
              <a:ext uri="{FF2B5EF4-FFF2-40B4-BE49-F238E27FC236}">
                <a16:creationId xmlns:a16="http://schemas.microsoft.com/office/drawing/2014/main" id="{7762498E-778D-62DD-D555-38428A1F6335}"/>
              </a:ext>
            </a:extLst>
          </p:cNvPr>
          <p:cNvSpPr>
            <a:spLocks noChangeArrowheads="1"/>
          </p:cNvSpPr>
          <p:nvPr/>
        </p:nvSpPr>
        <p:spPr bwMode="auto">
          <a:xfrm>
            <a:off x="5365233" y="2512249"/>
            <a:ext cx="4032250" cy="523220"/>
          </a:xfrm>
          <a:prstGeom prst="rect">
            <a:avLst/>
          </a:prstGeom>
          <a:solidFill>
            <a:schemeClr val="bg1"/>
          </a:solidFill>
          <a:ln w="12700">
            <a:solidFill>
              <a:schemeClr val="bg1"/>
            </a:solidFill>
            <a:miter lim="800000"/>
          </a:ln>
          <a:effectLst/>
        </p:spPr>
        <p:txBody>
          <a:bodyPr>
            <a:spAutoFit/>
          </a:bodyPr>
          <a:lstStyle/>
          <a:p>
            <a:pPr fontAlgn="base">
              <a:spcBef>
                <a:spcPct val="0"/>
              </a:spcBef>
              <a:spcAft>
                <a:spcPct val="0"/>
              </a:spcAft>
              <a:defRPr/>
            </a:pPr>
            <a:r>
              <a:rPr kumimoji="1" lang="en-US" altLang="zh-CN" sz="2800" i="1" dirty="0">
                <a:solidFill>
                  <a:srgbClr val="333333"/>
                </a:solidFill>
                <a:latin typeface="+mn-ea"/>
              </a:rPr>
              <a:t>C — D</a:t>
            </a:r>
            <a:r>
              <a:rPr kumimoji="1" lang="en-US" altLang="zh-CN" sz="2800" dirty="0">
                <a:solidFill>
                  <a:srgbClr val="333333"/>
                </a:solidFill>
                <a:latin typeface="+mn-ea"/>
              </a:rPr>
              <a:t> </a:t>
            </a:r>
            <a:r>
              <a:rPr kumimoji="1" lang="zh-CN" altLang="en-US" sz="2800" dirty="0">
                <a:solidFill>
                  <a:srgbClr val="000000"/>
                </a:solidFill>
                <a:latin typeface="+mn-ea"/>
              </a:rPr>
              <a:t>等温压缩放热</a:t>
            </a:r>
          </a:p>
        </p:txBody>
      </p:sp>
      <p:grpSp>
        <p:nvGrpSpPr>
          <p:cNvPr id="45" name="Group 6">
            <a:extLst>
              <a:ext uri="{FF2B5EF4-FFF2-40B4-BE49-F238E27FC236}">
                <a16:creationId xmlns:a16="http://schemas.microsoft.com/office/drawing/2014/main" id="{A41EA02C-22FA-1A80-FB18-39AA44EE2C29}"/>
              </a:ext>
            </a:extLst>
          </p:cNvPr>
          <p:cNvGrpSpPr/>
          <p:nvPr/>
        </p:nvGrpSpPr>
        <p:grpSpPr>
          <a:xfrm>
            <a:off x="809108" y="1539488"/>
            <a:ext cx="3524250" cy="3208338"/>
            <a:chOff x="569" y="1706"/>
            <a:chExt cx="2220" cy="2021"/>
          </a:xfrm>
        </p:grpSpPr>
        <p:grpSp>
          <p:nvGrpSpPr>
            <p:cNvPr id="46" name="Group 7">
              <a:extLst>
                <a:ext uri="{FF2B5EF4-FFF2-40B4-BE49-F238E27FC236}">
                  <a16:creationId xmlns:a16="http://schemas.microsoft.com/office/drawing/2014/main" id="{610EDCC5-D3DA-5494-6CFF-8822795FAE57}"/>
                </a:ext>
              </a:extLst>
            </p:cNvPr>
            <p:cNvGrpSpPr/>
            <p:nvPr/>
          </p:nvGrpSpPr>
          <p:grpSpPr>
            <a:xfrm>
              <a:off x="569" y="1706"/>
              <a:ext cx="2220" cy="2021"/>
              <a:chOff x="569" y="1706"/>
              <a:chExt cx="2220" cy="2021"/>
            </a:xfrm>
          </p:grpSpPr>
          <p:grpSp>
            <p:nvGrpSpPr>
              <p:cNvPr id="53" name="Group 8">
                <a:extLst>
                  <a:ext uri="{FF2B5EF4-FFF2-40B4-BE49-F238E27FC236}">
                    <a16:creationId xmlns:a16="http://schemas.microsoft.com/office/drawing/2014/main" id="{B7BE71C6-719C-532E-5098-77EADBDBA871}"/>
                  </a:ext>
                </a:extLst>
              </p:cNvPr>
              <p:cNvGrpSpPr/>
              <p:nvPr/>
            </p:nvGrpSpPr>
            <p:grpSpPr>
              <a:xfrm>
                <a:off x="569" y="1706"/>
                <a:ext cx="2220" cy="2021"/>
                <a:chOff x="569" y="1706"/>
                <a:chExt cx="2220" cy="2021"/>
              </a:xfrm>
            </p:grpSpPr>
            <p:sp>
              <p:nvSpPr>
                <p:cNvPr id="55" name="Rectangle 9">
                  <a:extLst>
                    <a:ext uri="{FF2B5EF4-FFF2-40B4-BE49-F238E27FC236}">
                      <a16:creationId xmlns:a16="http://schemas.microsoft.com/office/drawing/2014/main" id="{7EFE2862-1F27-67D1-D541-9093F3777BF2}"/>
                    </a:ext>
                  </a:extLst>
                </p:cNvPr>
                <p:cNvSpPr/>
                <p:nvPr/>
              </p:nvSpPr>
              <p:spPr>
                <a:xfrm>
                  <a:off x="580" y="1706"/>
                  <a:ext cx="2209" cy="2017"/>
                </a:xfrm>
                <a:prstGeom prst="rect">
                  <a:avLst/>
                </a:prstGeom>
                <a:solidFill>
                  <a:schemeClr val="bg1"/>
                </a:solidFill>
                <a:ln w="9525" cap="flat" cmpd="sng">
                  <a:noFill/>
                  <a:prstDash val="solid"/>
                  <a:miter/>
                  <a:headEnd type="none" w="med" len="med"/>
                  <a:tailEnd type="none" w="med" len="med"/>
                </a:ln>
              </p:spPr>
              <p:txBody>
                <a:bodyPr wrap="none" anchor="ctr" anchorCtr="0"/>
                <a:lstStyle/>
                <a:p>
                  <a:endParaRPr lang="zh-CN" altLang="en-US" sz="2600" dirty="0">
                    <a:latin typeface="+mn-ea"/>
                  </a:endParaRPr>
                </a:p>
              </p:txBody>
            </p:sp>
            <p:sp>
              <p:nvSpPr>
                <p:cNvPr id="56" name="Line 10">
                  <a:extLst>
                    <a:ext uri="{FF2B5EF4-FFF2-40B4-BE49-F238E27FC236}">
                      <a16:creationId xmlns:a16="http://schemas.microsoft.com/office/drawing/2014/main" id="{4EE75B1E-C050-ADAB-056B-C0BB3487CD05}"/>
                    </a:ext>
                  </a:extLst>
                </p:cNvPr>
                <p:cNvSpPr/>
                <p:nvPr/>
              </p:nvSpPr>
              <p:spPr>
                <a:xfrm>
                  <a:off x="835" y="3476"/>
                  <a:ext cx="1912" cy="0"/>
                </a:xfrm>
                <a:prstGeom prst="line">
                  <a:avLst/>
                </a:prstGeom>
                <a:ln w="19050" cap="flat" cmpd="sng">
                  <a:solidFill>
                    <a:srgbClr val="000000"/>
                  </a:solidFill>
                  <a:prstDash val="solid"/>
                  <a:headEnd type="none" w="med" len="med"/>
                  <a:tailEnd type="triangle" w="sm" len="lg"/>
                </a:ln>
              </p:spPr>
            </p:sp>
            <p:sp>
              <p:nvSpPr>
                <p:cNvPr id="57" name="Line 11">
                  <a:extLst>
                    <a:ext uri="{FF2B5EF4-FFF2-40B4-BE49-F238E27FC236}">
                      <a16:creationId xmlns:a16="http://schemas.microsoft.com/office/drawing/2014/main" id="{BC38CD6B-3108-CBCE-FCAC-A7876292C8C2}"/>
                    </a:ext>
                  </a:extLst>
                </p:cNvPr>
                <p:cNvSpPr/>
                <p:nvPr/>
              </p:nvSpPr>
              <p:spPr>
                <a:xfrm flipV="1">
                  <a:off x="835" y="1790"/>
                  <a:ext cx="0" cy="1679"/>
                </a:xfrm>
                <a:prstGeom prst="line">
                  <a:avLst/>
                </a:prstGeom>
                <a:ln w="19050" cap="flat" cmpd="sng">
                  <a:solidFill>
                    <a:srgbClr val="000000"/>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58" name="Object 12">
                      <a:extLst>
                        <a:ext uri="{FF2B5EF4-FFF2-40B4-BE49-F238E27FC236}">
                          <a16:creationId xmlns:a16="http://schemas.microsoft.com/office/drawing/2014/main" id="{EE364DCB-CABF-F5B6-8863-FE62FFE33A6C}"/>
                        </a:ext>
                      </a:extLst>
                    </p:cNvPr>
                    <p:cNvSpPr txBox="1"/>
                    <p:nvPr/>
                  </p:nvSpPr>
                  <p:spPr>
                    <a:xfrm>
                      <a:off x="2577" y="3270"/>
                      <a:ext cx="170" cy="187"/>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600" b="0" i="1">
                                <a:solidFill>
                                  <a:srgbClr val="000000"/>
                                </a:solidFill>
                                <a:latin typeface="Cambria Math" panose="02040503050406030204" pitchFamily="18" charset="0"/>
                              </a:rPr>
                              <m:t>𝑉</m:t>
                            </m:r>
                          </m:oMath>
                        </m:oMathPara>
                      </a14:m>
                      <a:endParaRPr lang="zh-CN" altLang="en-US" sz="2600">
                        <a:latin typeface="+mn-ea"/>
                      </a:endParaRPr>
                    </a:p>
                  </p:txBody>
                </p:sp>
              </mc:Choice>
              <mc:Fallback xmlns="">
                <p:sp>
                  <p:nvSpPr>
                    <p:cNvPr id="58" name="Object 12">
                      <a:extLst>
                        <a:ext uri="{FF2B5EF4-FFF2-40B4-BE49-F238E27FC236}">
                          <a16:creationId xmlns:a16="http://schemas.microsoft.com/office/drawing/2014/main" id="{EE364DCB-CABF-F5B6-8863-FE62FFE33A6C}"/>
                        </a:ext>
                      </a:extLst>
                    </p:cNvPr>
                    <p:cNvSpPr txBox="1">
                      <a:spLocks noRot="1" noChangeAspect="1" noMove="1" noResize="1" noEditPoints="1" noAdjustHandles="1" noChangeArrowheads="1" noChangeShapeType="1" noTextEdit="1"/>
                    </p:cNvSpPr>
                    <p:nvPr/>
                  </p:nvSpPr>
                  <p:spPr>
                    <a:xfrm>
                      <a:off x="2577" y="3270"/>
                      <a:ext cx="170" cy="187"/>
                    </a:xfrm>
                    <a:prstGeom prst="rect">
                      <a:avLst/>
                    </a:prstGeom>
                    <a:blipFill>
                      <a:blip r:embed="rId4"/>
                      <a:stretch>
                        <a:fillRect r="-11364" b="-18367"/>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 name="Object 13">
                      <a:extLst>
                        <a:ext uri="{FF2B5EF4-FFF2-40B4-BE49-F238E27FC236}">
                          <a16:creationId xmlns:a16="http://schemas.microsoft.com/office/drawing/2014/main" id="{4C76DE25-CFC9-ECE8-35C3-1A57A5EC0D97}"/>
                        </a:ext>
                      </a:extLst>
                    </p:cNvPr>
                    <p:cNvSpPr txBox="1"/>
                    <p:nvPr/>
                  </p:nvSpPr>
                  <p:spPr>
                    <a:xfrm>
                      <a:off x="742" y="3471"/>
                      <a:ext cx="149" cy="169"/>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600" b="0" i="1">
                                <a:solidFill>
                                  <a:srgbClr val="000000"/>
                                </a:solidFill>
                                <a:latin typeface="Cambria Math" panose="02040503050406030204" pitchFamily="18" charset="0"/>
                              </a:rPr>
                              <m:t>𝑜</m:t>
                            </m:r>
                          </m:oMath>
                        </m:oMathPara>
                      </a14:m>
                      <a:endParaRPr lang="zh-CN" altLang="en-US" sz="2600">
                        <a:latin typeface="+mn-ea"/>
                      </a:endParaRPr>
                    </a:p>
                  </p:txBody>
                </p:sp>
              </mc:Choice>
              <mc:Fallback xmlns="">
                <p:sp>
                  <p:nvSpPr>
                    <p:cNvPr id="59" name="Object 13">
                      <a:extLst>
                        <a:ext uri="{FF2B5EF4-FFF2-40B4-BE49-F238E27FC236}">
                          <a16:creationId xmlns:a16="http://schemas.microsoft.com/office/drawing/2014/main" id="{4C76DE25-CFC9-ECE8-35C3-1A57A5EC0D97}"/>
                        </a:ext>
                      </a:extLst>
                    </p:cNvPr>
                    <p:cNvSpPr txBox="1">
                      <a:spLocks noRot="1" noChangeAspect="1" noMove="1" noResize="1" noEditPoints="1" noAdjustHandles="1" noChangeArrowheads="1" noChangeShapeType="1" noTextEdit="1"/>
                    </p:cNvSpPr>
                    <p:nvPr/>
                  </p:nvSpPr>
                  <p:spPr>
                    <a:xfrm>
                      <a:off x="742" y="3471"/>
                      <a:ext cx="149" cy="169"/>
                    </a:xfrm>
                    <a:prstGeom prst="rect">
                      <a:avLst/>
                    </a:prstGeom>
                    <a:blipFill>
                      <a:blip r:embed="rId5"/>
                      <a:stretch>
                        <a:fillRect r="-5128" b="-34091"/>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 name="Object 14">
                      <a:extLst>
                        <a:ext uri="{FF2B5EF4-FFF2-40B4-BE49-F238E27FC236}">
                          <a16:creationId xmlns:a16="http://schemas.microsoft.com/office/drawing/2014/main" id="{C2FAD23B-BF18-B2AF-D619-C563AF988A2C}"/>
                        </a:ext>
                      </a:extLst>
                    </p:cNvPr>
                    <p:cNvSpPr txBox="1"/>
                    <p:nvPr/>
                  </p:nvSpPr>
                  <p:spPr>
                    <a:xfrm>
                      <a:off x="602" y="1788"/>
                      <a:ext cx="179" cy="206"/>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600" b="0" i="1">
                                <a:solidFill>
                                  <a:srgbClr val="000000"/>
                                </a:solidFill>
                                <a:latin typeface="Cambria Math" panose="02040503050406030204" pitchFamily="18" charset="0"/>
                              </a:rPr>
                              <m:t>𝑝</m:t>
                            </m:r>
                          </m:oMath>
                        </m:oMathPara>
                      </a14:m>
                      <a:endParaRPr lang="zh-CN" altLang="en-US" sz="2600">
                        <a:latin typeface="+mn-ea"/>
                      </a:endParaRPr>
                    </a:p>
                  </p:txBody>
                </p:sp>
              </mc:Choice>
              <mc:Fallback xmlns="">
                <p:sp>
                  <p:nvSpPr>
                    <p:cNvPr id="60" name="Object 14">
                      <a:extLst>
                        <a:ext uri="{FF2B5EF4-FFF2-40B4-BE49-F238E27FC236}">
                          <a16:creationId xmlns:a16="http://schemas.microsoft.com/office/drawing/2014/main" id="{C2FAD23B-BF18-B2AF-D619-C563AF988A2C}"/>
                        </a:ext>
                      </a:extLst>
                    </p:cNvPr>
                    <p:cNvSpPr txBox="1">
                      <a:spLocks noRot="1" noChangeAspect="1" noMove="1" noResize="1" noEditPoints="1" noAdjustHandles="1" noChangeArrowheads="1" noChangeShapeType="1" noTextEdit="1"/>
                    </p:cNvSpPr>
                    <p:nvPr/>
                  </p:nvSpPr>
                  <p:spPr>
                    <a:xfrm>
                      <a:off x="602" y="1788"/>
                      <a:ext cx="179" cy="206"/>
                    </a:xfrm>
                    <a:prstGeom prst="rect">
                      <a:avLst/>
                    </a:prstGeom>
                    <a:blipFill>
                      <a:blip r:embed="rId6"/>
                      <a:stretch>
                        <a:fillRect b="-27778"/>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Object 15">
                      <a:extLst>
                        <a:ext uri="{FF2B5EF4-FFF2-40B4-BE49-F238E27FC236}">
                          <a16:creationId xmlns:a16="http://schemas.microsoft.com/office/drawing/2014/main" id="{FC541D31-FF36-4471-4D78-302EB4D75CF5}"/>
                        </a:ext>
                      </a:extLst>
                    </p:cNvPr>
                    <p:cNvSpPr txBox="1"/>
                    <p:nvPr/>
                  </p:nvSpPr>
                  <p:spPr>
                    <a:xfrm>
                      <a:off x="2077" y="3165"/>
                      <a:ext cx="210" cy="256"/>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𝑇</m:t>
                                </m:r>
                              </m:e>
                              <m:sub>
                                <m:r>
                                  <a:rPr lang="zh-CN" altLang="en-US" sz="2600" b="0" i="1">
                                    <a:solidFill>
                                      <a:srgbClr val="000000"/>
                                    </a:solidFill>
                                    <a:latin typeface="Cambria Math" panose="02040503050406030204" pitchFamily="18" charset="0"/>
                                  </a:rPr>
                                  <m:t>2</m:t>
                                </m:r>
                              </m:sub>
                            </m:sSub>
                          </m:oMath>
                        </m:oMathPara>
                      </a14:m>
                      <a:endParaRPr lang="zh-CN" altLang="en-US" sz="2600">
                        <a:latin typeface="+mn-ea"/>
                      </a:endParaRPr>
                    </a:p>
                  </p:txBody>
                </p:sp>
              </mc:Choice>
              <mc:Fallback xmlns="">
                <p:sp>
                  <p:nvSpPr>
                    <p:cNvPr id="61" name="Object 15">
                      <a:extLst>
                        <a:ext uri="{FF2B5EF4-FFF2-40B4-BE49-F238E27FC236}">
                          <a16:creationId xmlns:a16="http://schemas.microsoft.com/office/drawing/2014/main" id="{FC541D31-FF36-4471-4D78-302EB4D75CF5}"/>
                        </a:ext>
                      </a:extLst>
                    </p:cNvPr>
                    <p:cNvSpPr txBox="1">
                      <a:spLocks noRot="1" noChangeAspect="1" noMove="1" noResize="1" noEditPoints="1" noAdjustHandles="1" noChangeArrowheads="1" noChangeShapeType="1" noTextEdit="1"/>
                    </p:cNvSpPr>
                    <p:nvPr/>
                  </p:nvSpPr>
                  <p:spPr>
                    <a:xfrm>
                      <a:off x="2077" y="3165"/>
                      <a:ext cx="210" cy="256"/>
                    </a:xfrm>
                    <a:prstGeom prst="rect">
                      <a:avLst/>
                    </a:prstGeom>
                    <a:blipFill>
                      <a:blip r:embed="rId7"/>
                      <a:stretch>
                        <a:fillRect r="-9091" b="-2985"/>
                      </a:stretch>
                    </a:blipFill>
                    <a:ln w="38100">
                      <a:noFill/>
                      <a:miter/>
                    </a:ln>
                  </p:spPr>
                  <p:txBody>
                    <a:bodyPr/>
                    <a:lstStyle/>
                    <a:p>
                      <a:r>
                        <a:rPr lang="zh-CN" altLang="en-US">
                          <a:noFill/>
                        </a:rPr>
                        <a:t> </a:t>
                      </a:r>
                    </a:p>
                  </p:txBody>
                </p:sp>
              </mc:Fallback>
            </mc:AlternateContent>
            <p:sp>
              <p:nvSpPr>
                <p:cNvPr id="62" name="Freeform 16" descr="浅色上对角线">
                  <a:extLst>
                    <a:ext uri="{FF2B5EF4-FFF2-40B4-BE49-F238E27FC236}">
                      <a16:creationId xmlns:a16="http://schemas.microsoft.com/office/drawing/2014/main" id="{56E897EA-4816-C4D5-3D21-6DFA92017C76}"/>
                    </a:ext>
                  </a:extLst>
                </p:cNvPr>
                <p:cNvSpPr/>
                <p:nvPr/>
              </p:nvSpPr>
              <p:spPr>
                <a:xfrm>
                  <a:off x="1089" y="2133"/>
                  <a:ext cx="1297" cy="1045"/>
                </a:xfrm>
                <a:custGeom>
                  <a:avLst/>
                  <a:gdLst>
                    <a:gd name="txL" fmla="*/ 0 w 1465"/>
                    <a:gd name="txT" fmla="*/ 0 h 1219"/>
                    <a:gd name="txR" fmla="*/ 1465 w 1465"/>
                    <a:gd name="txB" fmla="*/ 1219 h 1219"/>
                  </a:gdLst>
                  <a:ahLst/>
                  <a:cxnLst>
                    <a:cxn ang="0">
                      <a:pos x="20" y="46"/>
                    </a:cxn>
                    <a:cxn ang="0">
                      <a:pos x="47" y="211"/>
                    </a:cxn>
                    <a:cxn ang="0">
                      <a:pos x="94" y="350"/>
                    </a:cxn>
                    <a:cxn ang="0">
                      <a:pos x="157" y="535"/>
                    </a:cxn>
                    <a:cxn ang="0">
                      <a:pos x="220" y="654"/>
                    </a:cxn>
                    <a:cxn ang="0">
                      <a:pos x="309" y="772"/>
                    </a:cxn>
                    <a:cxn ang="0">
                      <a:pos x="439" y="829"/>
                    </a:cxn>
                    <a:cxn ang="0">
                      <a:pos x="613" y="905"/>
                    </a:cxn>
                    <a:cxn ang="0">
                      <a:pos x="878" y="973"/>
                    </a:cxn>
                    <a:cxn ang="0">
                      <a:pos x="1086" y="1013"/>
                    </a:cxn>
                    <a:cxn ang="0">
                      <a:pos x="1297" y="1045"/>
                    </a:cxn>
                    <a:cxn ang="0">
                      <a:pos x="1197" y="958"/>
                    </a:cxn>
                    <a:cxn ang="0">
                      <a:pos x="1082" y="880"/>
                    </a:cxn>
                    <a:cxn ang="0">
                      <a:pos x="1046" y="839"/>
                    </a:cxn>
                    <a:cxn ang="0">
                      <a:pos x="993" y="777"/>
                    </a:cxn>
                    <a:cxn ang="0">
                      <a:pos x="968" y="736"/>
                    </a:cxn>
                    <a:cxn ang="0">
                      <a:pos x="904" y="613"/>
                    </a:cxn>
                    <a:cxn ang="0">
                      <a:pos x="826" y="567"/>
                    </a:cxn>
                    <a:cxn ang="0">
                      <a:pos x="889" y="582"/>
                    </a:cxn>
                    <a:cxn ang="0">
                      <a:pos x="765" y="543"/>
                    </a:cxn>
                    <a:cxn ang="0">
                      <a:pos x="700" y="520"/>
                    </a:cxn>
                    <a:cxn ang="0">
                      <a:pos x="617" y="489"/>
                    </a:cxn>
                    <a:cxn ang="0">
                      <a:pos x="523" y="432"/>
                    </a:cxn>
                    <a:cxn ang="0">
                      <a:pos x="339" y="315"/>
                    </a:cxn>
                    <a:cxn ang="0">
                      <a:pos x="189" y="206"/>
                    </a:cxn>
                    <a:cxn ang="0">
                      <a:pos x="110" y="139"/>
                    </a:cxn>
                    <a:cxn ang="0">
                      <a:pos x="0" y="0"/>
                    </a:cxn>
                  </a:cxnLst>
                  <a:rect l="txL" t="txT" r="txR" b="txB"/>
                  <a:pathLst>
                    <a:path w="1465" h="1219">
                      <a:moveTo>
                        <a:pt x="23" y="54"/>
                      </a:moveTo>
                      <a:lnTo>
                        <a:pt x="53" y="246"/>
                      </a:lnTo>
                      <a:lnTo>
                        <a:pt x="106" y="408"/>
                      </a:lnTo>
                      <a:lnTo>
                        <a:pt x="177" y="624"/>
                      </a:lnTo>
                      <a:lnTo>
                        <a:pt x="248" y="763"/>
                      </a:lnTo>
                      <a:lnTo>
                        <a:pt x="349" y="901"/>
                      </a:lnTo>
                      <a:lnTo>
                        <a:pt x="496" y="967"/>
                      </a:lnTo>
                      <a:lnTo>
                        <a:pt x="692" y="1056"/>
                      </a:lnTo>
                      <a:lnTo>
                        <a:pt x="992" y="1135"/>
                      </a:lnTo>
                      <a:lnTo>
                        <a:pt x="1227" y="1182"/>
                      </a:lnTo>
                      <a:lnTo>
                        <a:pt x="1465" y="1219"/>
                      </a:lnTo>
                      <a:lnTo>
                        <a:pt x="1352" y="1117"/>
                      </a:lnTo>
                      <a:lnTo>
                        <a:pt x="1222" y="1027"/>
                      </a:lnTo>
                      <a:lnTo>
                        <a:pt x="1181" y="979"/>
                      </a:lnTo>
                      <a:lnTo>
                        <a:pt x="1122" y="906"/>
                      </a:lnTo>
                      <a:lnTo>
                        <a:pt x="1093" y="859"/>
                      </a:lnTo>
                      <a:lnTo>
                        <a:pt x="1021" y="715"/>
                      </a:lnTo>
                      <a:lnTo>
                        <a:pt x="933" y="661"/>
                      </a:lnTo>
                      <a:lnTo>
                        <a:pt x="1004" y="679"/>
                      </a:lnTo>
                      <a:lnTo>
                        <a:pt x="864" y="633"/>
                      </a:lnTo>
                      <a:lnTo>
                        <a:pt x="791" y="607"/>
                      </a:lnTo>
                      <a:lnTo>
                        <a:pt x="697" y="570"/>
                      </a:lnTo>
                      <a:lnTo>
                        <a:pt x="591" y="504"/>
                      </a:lnTo>
                      <a:lnTo>
                        <a:pt x="383" y="367"/>
                      </a:lnTo>
                      <a:lnTo>
                        <a:pt x="213" y="240"/>
                      </a:lnTo>
                      <a:lnTo>
                        <a:pt x="124" y="162"/>
                      </a:lnTo>
                      <a:lnTo>
                        <a:pt x="0" y="0"/>
                      </a:lnTo>
                    </a:path>
                  </a:pathLst>
                </a:custGeom>
                <a:pattFill prst="ltUpDiag">
                  <a:fgClr>
                    <a:srgbClr val="CC3399">
                      <a:alpha val="100000"/>
                    </a:srgbClr>
                  </a:fgClr>
                  <a:bgClr>
                    <a:schemeClr val="bg1">
                      <a:alpha val="100000"/>
                    </a:schemeClr>
                  </a:bgClr>
                </a:pattFill>
                <a:ln w="9525">
                  <a:noFill/>
                </a:ln>
              </p:spPr>
              <p:txBody>
                <a:bodyPr/>
                <a:lstStyle/>
                <a:p>
                  <a:endParaRPr lang="zh-CN" altLang="en-US" sz="2600">
                    <a:latin typeface="+mn-ea"/>
                  </a:endParaRPr>
                </a:p>
              </p:txBody>
            </p:sp>
            <p:sp>
              <p:nvSpPr>
                <p:cNvPr id="63" name="Text Box 17">
                  <a:extLst>
                    <a:ext uri="{FF2B5EF4-FFF2-40B4-BE49-F238E27FC236}">
                      <a16:creationId xmlns:a16="http://schemas.microsoft.com/office/drawing/2014/main" id="{FE3F9C49-ECD5-7C2B-05A4-A7ACC1FA626D}"/>
                    </a:ext>
                  </a:extLst>
                </p:cNvPr>
                <p:cNvSpPr txBox="1"/>
                <p:nvPr/>
              </p:nvSpPr>
              <p:spPr>
                <a:xfrm flipH="1">
                  <a:off x="1492" y="2638"/>
                  <a:ext cx="330" cy="310"/>
                </a:xfrm>
                <a:prstGeom prst="rect">
                  <a:avLst/>
                </a:prstGeom>
                <a:noFill/>
                <a:ln w="9525">
                  <a:noFill/>
                </a:ln>
              </p:spPr>
              <p:txBody>
                <a:bodyPr>
                  <a:spAutoFit/>
                </a:bodyPr>
                <a:lstStyle/>
                <a:p>
                  <a:pPr>
                    <a:spcBef>
                      <a:spcPct val="50000"/>
                    </a:spcBef>
                  </a:pPr>
                  <a:r>
                    <a:rPr lang="en-US" altLang="zh-CN" sz="2600" i="1" dirty="0">
                      <a:solidFill>
                        <a:srgbClr val="CC0000"/>
                      </a:solidFill>
                      <a:latin typeface="+mn-ea"/>
                    </a:rPr>
                    <a:t>A</a:t>
                  </a:r>
                  <a:endParaRPr lang="en-US" altLang="zh-CN" sz="2600" i="1" dirty="0">
                    <a:solidFill>
                      <a:srgbClr val="A50021"/>
                    </a:solidFill>
                    <a:latin typeface="+mn-ea"/>
                  </a:endParaRPr>
                </a:p>
              </p:txBody>
            </p:sp>
            <p:sp>
              <p:nvSpPr>
                <p:cNvPr id="64" name="Line 18">
                  <a:extLst>
                    <a:ext uri="{FF2B5EF4-FFF2-40B4-BE49-F238E27FC236}">
                      <a16:creationId xmlns:a16="http://schemas.microsoft.com/office/drawing/2014/main" id="{0657D7C9-425E-75DA-AF06-647E5D52C10D}"/>
                    </a:ext>
                  </a:extLst>
                </p:cNvPr>
                <p:cNvSpPr/>
                <p:nvPr/>
              </p:nvSpPr>
              <p:spPr>
                <a:xfrm flipH="1" flipV="1">
                  <a:off x="1675" y="3034"/>
                  <a:ext cx="109" cy="36"/>
                </a:xfrm>
                <a:prstGeom prst="line">
                  <a:avLst/>
                </a:prstGeom>
                <a:ln w="57150" cap="flat" cmpd="sng">
                  <a:solidFill>
                    <a:srgbClr val="0000FF"/>
                  </a:solidFill>
                  <a:prstDash val="solid"/>
                  <a:headEnd type="none" w="med" len="med"/>
                  <a:tailEnd type="triangle" w="sm" len="lg"/>
                </a:ln>
              </p:spPr>
            </p:sp>
            <p:sp>
              <p:nvSpPr>
                <p:cNvPr id="65" name="Line 19">
                  <a:extLst>
                    <a:ext uri="{FF2B5EF4-FFF2-40B4-BE49-F238E27FC236}">
                      <a16:creationId xmlns:a16="http://schemas.microsoft.com/office/drawing/2014/main" id="{333043DD-18ED-89A6-CCBB-3DE38E652473}"/>
                    </a:ext>
                  </a:extLst>
                </p:cNvPr>
                <p:cNvSpPr/>
                <p:nvPr/>
              </p:nvSpPr>
              <p:spPr>
                <a:xfrm>
                  <a:off x="1516" y="2492"/>
                  <a:ext cx="122" cy="73"/>
                </a:xfrm>
                <a:prstGeom prst="line">
                  <a:avLst/>
                </a:prstGeom>
                <a:ln w="57150" cap="flat" cmpd="sng">
                  <a:solidFill>
                    <a:srgbClr val="0000FF"/>
                  </a:solidFill>
                  <a:prstDash val="solid"/>
                  <a:headEnd type="none" w="med" len="med"/>
                  <a:tailEnd type="triangle" w="sm" len="lg"/>
                </a:ln>
              </p:spPr>
            </p:sp>
            <p:sp>
              <p:nvSpPr>
                <p:cNvPr id="66" name="Line 20">
                  <a:extLst>
                    <a:ext uri="{FF2B5EF4-FFF2-40B4-BE49-F238E27FC236}">
                      <a16:creationId xmlns:a16="http://schemas.microsoft.com/office/drawing/2014/main" id="{11E4B7D1-39F9-0642-7904-F39E82A8ED34}"/>
                    </a:ext>
                  </a:extLst>
                </p:cNvPr>
                <p:cNvSpPr/>
                <p:nvPr/>
              </p:nvSpPr>
              <p:spPr>
                <a:xfrm flipH="1" flipV="1">
                  <a:off x="1163" y="2457"/>
                  <a:ext cx="36" cy="108"/>
                </a:xfrm>
                <a:prstGeom prst="line">
                  <a:avLst/>
                </a:prstGeom>
                <a:ln w="57150" cap="flat" cmpd="sng">
                  <a:solidFill>
                    <a:srgbClr val="CC0099"/>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67" name="Object 21">
                      <a:extLst>
                        <a:ext uri="{FF2B5EF4-FFF2-40B4-BE49-F238E27FC236}">
                          <a16:creationId xmlns:a16="http://schemas.microsoft.com/office/drawing/2014/main" id="{98F5553E-9AEB-E8A8-EB4F-E7491CFC8C9B}"/>
                        </a:ext>
                      </a:extLst>
                    </p:cNvPr>
                    <p:cNvSpPr txBox="1"/>
                    <p:nvPr/>
                  </p:nvSpPr>
                  <p:spPr>
                    <a:xfrm>
                      <a:off x="1684" y="2365"/>
                      <a:ext cx="179" cy="252"/>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𝑇</m:t>
                                </m:r>
                              </m:e>
                              <m:sub>
                                <m:r>
                                  <a:rPr lang="zh-CN" altLang="en-US" sz="2600" b="0" i="1">
                                    <a:solidFill>
                                      <a:srgbClr val="000000"/>
                                    </a:solidFill>
                                    <a:latin typeface="Cambria Math" panose="02040503050406030204" pitchFamily="18" charset="0"/>
                                  </a:rPr>
                                  <m:t>1</m:t>
                                </m:r>
                              </m:sub>
                            </m:sSub>
                          </m:oMath>
                        </m:oMathPara>
                      </a14:m>
                      <a:endParaRPr lang="zh-CN" altLang="en-US" sz="2600">
                        <a:latin typeface="+mn-ea"/>
                      </a:endParaRPr>
                    </a:p>
                  </p:txBody>
                </p:sp>
              </mc:Choice>
              <mc:Fallback xmlns="">
                <p:sp>
                  <p:nvSpPr>
                    <p:cNvPr id="67" name="Object 21">
                      <a:extLst>
                        <a:ext uri="{FF2B5EF4-FFF2-40B4-BE49-F238E27FC236}">
                          <a16:creationId xmlns:a16="http://schemas.microsoft.com/office/drawing/2014/main" id="{98F5553E-9AEB-E8A8-EB4F-E7491CFC8C9B}"/>
                        </a:ext>
                      </a:extLst>
                    </p:cNvPr>
                    <p:cNvSpPr txBox="1">
                      <a:spLocks noRot="1" noChangeAspect="1" noMove="1" noResize="1" noEditPoints="1" noAdjustHandles="1" noChangeArrowheads="1" noChangeShapeType="1" noTextEdit="1"/>
                    </p:cNvSpPr>
                    <p:nvPr/>
                  </p:nvSpPr>
                  <p:spPr>
                    <a:xfrm>
                      <a:off x="1684" y="2365"/>
                      <a:ext cx="179" cy="252"/>
                    </a:xfrm>
                    <a:prstGeom prst="rect">
                      <a:avLst/>
                    </a:prstGeom>
                    <a:blipFill>
                      <a:blip r:embed="rId8"/>
                      <a:stretch>
                        <a:fillRect r="-27660" b="-4545"/>
                      </a:stretch>
                    </a:blipFill>
                    <a:ln w="38100">
                      <a:noFill/>
                      <a:miter/>
                    </a:ln>
                  </p:spPr>
                  <p:txBody>
                    <a:bodyPr/>
                    <a:lstStyle/>
                    <a:p>
                      <a:r>
                        <a:rPr lang="zh-CN" altLang="en-US">
                          <a:noFill/>
                        </a:rPr>
                        <a:t> </a:t>
                      </a:r>
                    </a:p>
                  </p:txBody>
                </p:sp>
              </mc:Fallback>
            </mc:AlternateContent>
            <p:sp>
              <p:nvSpPr>
                <p:cNvPr id="68" name="Line 22">
                  <a:extLst>
                    <a:ext uri="{FF2B5EF4-FFF2-40B4-BE49-F238E27FC236}">
                      <a16:creationId xmlns:a16="http://schemas.microsoft.com/office/drawing/2014/main" id="{6C1298FA-277F-2AD4-5542-CEB6D1324287}"/>
                    </a:ext>
                  </a:extLst>
                </p:cNvPr>
                <p:cNvSpPr/>
                <p:nvPr/>
              </p:nvSpPr>
              <p:spPr>
                <a:xfrm>
                  <a:off x="2109" y="2900"/>
                  <a:ext cx="78" cy="98"/>
                </a:xfrm>
                <a:prstGeom prst="line">
                  <a:avLst/>
                </a:prstGeom>
                <a:ln w="57150" cap="flat" cmpd="sng">
                  <a:solidFill>
                    <a:srgbClr val="CC0099"/>
                  </a:solidFill>
                  <a:prstDash val="solid"/>
                  <a:headEnd type="none" w="med" len="med"/>
                  <a:tailEnd type="triangle" w="sm" len="lg"/>
                </a:ln>
              </p:spPr>
            </p:sp>
            <p:sp>
              <p:nvSpPr>
                <p:cNvPr id="69" name="Freeform 23">
                  <a:extLst>
                    <a:ext uri="{FF2B5EF4-FFF2-40B4-BE49-F238E27FC236}">
                      <a16:creationId xmlns:a16="http://schemas.microsoft.com/office/drawing/2014/main" id="{C24C451A-E0AA-665D-47BF-52419039BD2C}"/>
                    </a:ext>
                  </a:extLst>
                </p:cNvPr>
                <p:cNvSpPr/>
                <p:nvPr/>
              </p:nvSpPr>
              <p:spPr>
                <a:xfrm>
                  <a:off x="1089" y="2133"/>
                  <a:ext cx="925" cy="583"/>
                </a:xfrm>
                <a:custGeom>
                  <a:avLst/>
                  <a:gdLst>
                    <a:gd name="txL" fmla="*/ 0 w 1044"/>
                    <a:gd name="txT" fmla="*/ 0 h 680"/>
                    <a:gd name="txR" fmla="*/ 1044 w 1044"/>
                    <a:gd name="txB" fmla="*/ 680 h 680"/>
                  </a:gdLst>
                  <a:ahLst/>
                  <a:cxnLst>
                    <a:cxn ang="0">
                      <a:pos x="0" y="0"/>
                    </a:cxn>
                    <a:cxn ang="0">
                      <a:pos x="214" y="211"/>
                    </a:cxn>
                    <a:cxn ang="0">
                      <a:pos x="444" y="373"/>
                    </a:cxn>
                    <a:cxn ang="0">
                      <a:pos x="650" y="484"/>
                    </a:cxn>
                    <a:cxn ang="0">
                      <a:pos x="887" y="570"/>
                    </a:cxn>
                    <a:cxn ang="0">
                      <a:pos x="882" y="564"/>
                    </a:cxn>
                  </a:cxnLst>
                  <a:rect l="txL" t="txT" r="txR" b="txB"/>
                  <a:pathLst>
                    <a:path w="1044" h="680">
                      <a:moveTo>
                        <a:pt x="0" y="0"/>
                      </a:moveTo>
                      <a:cubicBezTo>
                        <a:pt x="40" y="41"/>
                        <a:pt x="159" y="174"/>
                        <a:pt x="242" y="246"/>
                      </a:cubicBezTo>
                      <a:cubicBezTo>
                        <a:pt x="325" y="318"/>
                        <a:pt x="419" y="382"/>
                        <a:pt x="501" y="435"/>
                      </a:cubicBezTo>
                      <a:cubicBezTo>
                        <a:pt x="583" y="488"/>
                        <a:pt x="651" y="527"/>
                        <a:pt x="734" y="565"/>
                      </a:cubicBezTo>
                      <a:cubicBezTo>
                        <a:pt x="817" y="603"/>
                        <a:pt x="958" y="650"/>
                        <a:pt x="1001" y="665"/>
                      </a:cubicBezTo>
                      <a:cubicBezTo>
                        <a:pt x="1044" y="680"/>
                        <a:pt x="996" y="658"/>
                        <a:pt x="995" y="658"/>
                      </a:cubicBezTo>
                    </a:path>
                  </a:pathLst>
                </a:custGeom>
                <a:noFill/>
                <a:ln w="28575" cap="flat" cmpd="sng">
                  <a:solidFill>
                    <a:srgbClr val="0000FF">
                      <a:alpha val="100000"/>
                    </a:srgbClr>
                  </a:solidFill>
                  <a:prstDash val="solid"/>
                  <a:round/>
                  <a:headEnd type="none" w="med" len="med"/>
                  <a:tailEnd type="none" w="med" len="med"/>
                </a:ln>
              </p:spPr>
              <p:txBody>
                <a:bodyPr/>
                <a:lstStyle/>
                <a:p>
                  <a:endParaRPr lang="zh-CN" altLang="en-US" sz="2600">
                    <a:latin typeface="+mn-ea"/>
                  </a:endParaRPr>
                </a:p>
              </p:txBody>
            </p:sp>
            <p:sp>
              <p:nvSpPr>
                <p:cNvPr id="70" name="Freeform 24">
                  <a:extLst>
                    <a:ext uri="{FF2B5EF4-FFF2-40B4-BE49-F238E27FC236}">
                      <a16:creationId xmlns:a16="http://schemas.microsoft.com/office/drawing/2014/main" id="{B72337AA-BCF7-98B3-9B59-C5A3051D2429}"/>
                    </a:ext>
                  </a:extLst>
                </p:cNvPr>
                <p:cNvSpPr/>
                <p:nvPr/>
              </p:nvSpPr>
              <p:spPr>
                <a:xfrm>
                  <a:off x="1367" y="2895"/>
                  <a:ext cx="1040" cy="283"/>
                </a:xfrm>
                <a:custGeom>
                  <a:avLst/>
                  <a:gdLst>
                    <a:gd name="txL" fmla="*/ 0 w 1175"/>
                    <a:gd name="txT" fmla="*/ 0 h 330"/>
                    <a:gd name="txR" fmla="*/ 1175 w 1175"/>
                    <a:gd name="txB" fmla="*/ 330 h 330"/>
                  </a:gdLst>
                  <a:ahLst/>
                  <a:cxnLst>
                    <a:cxn ang="0">
                      <a:pos x="0" y="0"/>
                    </a:cxn>
                    <a:cxn ang="0">
                      <a:pos x="160" y="75"/>
                    </a:cxn>
                    <a:cxn ang="0">
                      <a:pos x="419" y="175"/>
                    </a:cxn>
                    <a:cxn ang="0">
                      <a:pos x="767" y="251"/>
                    </a:cxn>
                    <a:cxn ang="0">
                      <a:pos x="1040" y="283"/>
                    </a:cxn>
                  </a:cxnLst>
                  <a:rect l="txL" t="txT" r="txR" b="txB"/>
                  <a:pathLst>
                    <a:path w="1175" h="330">
                      <a:moveTo>
                        <a:pt x="0" y="0"/>
                      </a:moveTo>
                      <a:cubicBezTo>
                        <a:pt x="30" y="14"/>
                        <a:pt x="102" y="53"/>
                        <a:pt x="181" y="87"/>
                      </a:cubicBezTo>
                      <a:cubicBezTo>
                        <a:pt x="260" y="121"/>
                        <a:pt x="359" y="170"/>
                        <a:pt x="473" y="204"/>
                      </a:cubicBezTo>
                      <a:cubicBezTo>
                        <a:pt x="587" y="238"/>
                        <a:pt x="749" y="272"/>
                        <a:pt x="866" y="293"/>
                      </a:cubicBezTo>
                      <a:cubicBezTo>
                        <a:pt x="983" y="314"/>
                        <a:pt x="1111" y="322"/>
                        <a:pt x="1175" y="330"/>
                      </a:cubicBezTo>
                    </a:path>
                  </a:pathLst>
                </a:custGeom>
                <a:noFill/>
                <a:ln w="28575" cap="flat" cmpd="sng">
                  <a:solidFill>
                    <a:srgbClr val="0000FF">
                      <a:alpha val="100000"/>
                    </a:srgbClr>
                  </a:solidFill>
                  <a:prstDash val="solid"/>
                  <a:round/>
                  <a:headEnd type="none" w="med" len="med"/>
                  <a:tailEnd type="none" w="med" len="med"/>
                </a:ln>
              </p:spPr>
              <p:txBody>
                <a:bodyPr/>
                <a:lstStyle/>
                <a:p>
                  <a:endParaRPr lang="zh-CN" altLang="en-US" sz="2600">
                    <a:latin typeface="+mn-ea"/>
                  </a:endParaRPr>
                </a:p>
              </p:txBody>
            </p:sp>
            <p:sp>
              <p:nvSpPr>
                <p:cNvPr id="71" name="Freeform 25">
                  <a:extLst>
                    <a:ext uri="{FF2B5EF4-FFF2-40B4-BE49-F238E27FC236}">
                      <a16:creationId xmlns:a16="http://schemas.microsoft.com/office/drawing/2014/main" id="{4DEA03ED-BCA7-AE5F-6A9D-24A1AAD6E2E7}"/>
                    </a:ext>
                  </a:extLst>
                </p:cNvPr>
                <p:cNvSpPr/>
                <p:nvPr/>
              </p:nvSpPr>
              <p:spPr>
                <a:xfrm>
                  <a:off x="1089" y="2133"/>
                  <a:ext cx="288" cy="767"/>
                </a:xfrm>
                <a:custGeom>
                  <a:avLst/>
                  <a:gdLst>
                    <a:gd name="txL" fmla="*/ 0 w 325"/>
                    <a:gd name="txT" fmla="*/ 0 h 895"/>
                    <a:gd name="txR" fmla="*/ 325 w 325"/>
                    <a:gd name="txB" fmla="*/ 895 h 895"/>
                  </a:gdLst>
                  <a:ahLst/>
                  <a:cxnLst>
                    <a:cxn ang="0">
                      <a:pos x="0" y="0"/>
                    </a:cxn>
                    <a:cxn ang="0">
                      <a:pos x="55" y="255"/>
                    </a:cxn>
                    <a:cxn ang="0">
                      <a:pos x="163" y="560"/>
                    </a:cxn>
                    <a:cxn ang="0">
                      <a:pos x="288" y="767"/>
                    </a:cxn>
                  </a:cxnLst>
                  <a:rect l="txL" t="txT" r="txR" b="txB"/>
                  <a:pathLst>
                    <a:path w="325" h="895">
                      <a:moveTo>
                        <a:pt x="0" y="0"/>
                      </a:moveTo>
                      <a:cubicBezTo>
                        <a:pt x="10" y="49"/>
                        <a:pt x="31" y="188"/>
                        <a:pt x="62" y="297"/>
                      </a:cubicBezTo>
                      <a:cubicBezTo>
                        <a:pt x="93" y="406"/>
                        <a:pt x="140" y="554"/>
                        <a:pt x="184" y="654"/>
                      </a:cubicBezTo>
                      <a:cubicBezTo>
                        <a:pt x="228" y="754"/>
                        <a:pt x="296" y="845"/>
                        <a:pt x="325" y="895"/>
                      </a:cubicBezTo>
                    </a:path>
                  </a:pathLst>
                </a:custGeom>
                <a:noFill/>
                <a:ln w="28575" cap="flat" cmpd="sng">
                  <a:solidFill>
                    <a:srgbClr val="CC00CC">
                      <a:alpha val="100000"/>
                    </a:srgbClr>
                  </a:solidFill>
                  <a:prstDash val="solid"/>
                  <a:round/>
                  <a:headEnd type="none" w="med" len="med"/>
                  <a:tailEnd type="none" w="med" len="med"/>
                </a:ln>
              </p:spPr>
              <p:txBody>
                <a:bodyPr/>
                <a:lstStyle/>
                <a:p>
                  <a:endParaRPr lang="zh-CN" altLang="en-US" sz="2600">
                    <a:latin typeface="+mn-ea"/>
                  </a:endParaRPr>
                </a:p>
              </p:txBody>
            </p:sp>
            <p:sp>
              <p:nvSpPr>
                <p:cNvPr id="72" name="Freeform 26">
                  <a:extLst>
                    <a:ext uri="{FF2B5EF4-FFF2-40B4-BE49-F238E27FC236}">
                      <a16:creationId xmlns:a16="http://schemas.microsoft.com/office/drawing/2014/main" id="{BBD92D8A-421F-AB99-5E8B-85A99005E019}"/>
                    </a:ext>
                  </a:extLst>
                </p:cNvPr>
                <p:cNvSpPr/>
                <p:nvPr/>
              </p:nvSpPr>
              <p:spPr>
                <a:xfrm>
                  <a:off x="1978" y="2705"/>
                  <a:ext cx="429" cy="473"/>
                </a:xfrm>
                <a:custGeom>
                  <a:avLst/>
                  <a:gdLst>
                    <a:gd name="txL" fmla="*/ 0 w 484"/>
                    <a:gd name="txT" fmla="*/ 0 h 552"/>
                    <a:gd name="txR" fmla="*/ 484 w 484"/>
                    <a:gd name="txB" fmla="*/ 552 h 552"/>
                  </a:gdLst>
                  <a:ahLst/>
                  <a:cxnLst>
                    <a:cxn ang="0">
                      <a:pos x="0" y="0"/>
                    </a:cxn>
                    <a:cxn ang="0">
                      <a:pos x="186" y="265"/>
                    </a:cxn>
                    <a:cxn ang="0">
                      <a:pos x="429" y="473"/>
                    </a:cxn>
                  </a:cxnLst>
                  <a:rect l="txL" t="txT" r="txR" b="txB"/>
                  <a:pathLst>
                    <a:path w="484" h="552">
                      <a:moveTo>
                        <a:pt x="0" y="0"/>
                      </a:moveTo>
                      <a:cubicBezTo>
                        <a:pt x="35" y="51"/>
                        <a:pt x="129" y="217"/>
                        <a:pt x="210" y="309"/>
                      </a:cubicBezTo>
                      <a:cubicBezTo>
                        <a:pt x="291" y="401"/>
                        <a:pt x="427" y="501"/>
                        <a:pt x="484" y="552"/>
                      </a:cubicBezTo>
                    </a:path>
                  </a:pathLst>
                </a:custGeom>
                <a:noFill/>
                <a:ln w="28575" cap="flat" cmpd="sng">
                  <a:solidFill>
                    <a:srgbClr val="CC00CC">
                      <a:alpha val="100000"/>
                    </a:srgbClr>
                  </a:solidFill>
                  <a:prstDash val="solid"/>
                  <a:round/>
                  <a:headEnd type="none" w="med" len="med"/>
                  <a:tailEnd type="none" w="med" len="med"/>
                </a:ln>
              </p:spPr>
              <p:txBody>
                <a:bodyPr/>
                <a:lstStyle/>
                <a:p>
                  <a:endParaRPr lang="zh-CN" altLang="en-US" sz="2600">
                    <a:latin typeface="+mn-ea"/>
                  </a:endParaRPr>
                </a:p>
              </p:txBody>
            </p:sp>
            <p:sp>
              <p:nvSpPr>
                <p:cNvPr id="73" name="Text Box 27">
                  <a:extLst>
                    <a:ext uri="{FF2B5EF4-FFF2-40B4-BE49-F238E27FC236}">
                      <a16:creationId xmlns:a16="http://schemas.microsoft.com/office/drawing/2014/main" id="{FA7C18BC-8D0E-50F1-CF8A-7AB37361505F}"/>
                    </a:ext>
                  </a:extLst>
                </p:cNvPr>
                <p:cNvSpPr txBox="1"/>
                <p:nvPr/>
              </p:nvSpPr>
              <p:spPr>
                <a:xfrm>
                  <a:off x="1005" y="1912"/>
                  <a:ext cx="254" cy="310"/>
                </a:xfrm>
                <a:prstGeom prst="rect">
                  <a:avLst/>
                </a:prstGeom>
                <a:noFill/>
                <a:ln w="9525">
                  <a:noFill/>
                </a:ln>
              </p:spPr>
              <p:txBody>
                <a:bodyPr>
                  <a:spAutoFit/>
                </a:bodyPr>
                <a:lstStyle/>
                <a:p>
                  <a:pPr eaLnBrk="1" hangingPunct="1">
                    <a:spcBef>
                      <a:spcPct val="50000"/>
                    </a:spcBef>
                  </a:pPr>
                  <a:r>
                    <a:rPr lang="en-US" altLang="zh-CN" sz="2600" i="1" dirty="0">
                      <a:solidFill>
                        <a:srgbClr val="1C1C1C"/>
                      </a:solidFill>
                      <a:latin typeface="+mn-ea"/>
                    </a:rPr>
                    <a:t>A</a:t>
                  </a:r>
                </a:p>
              </p:txBody>
            </p:sp>
            <p:sp>
              <p:nvSpPr>
                <p:cNvPr id="74" name="Text Box 28">
                  <a:extLst>
                    <a:ext uri="{FF2B5EF4-FFF2-40B4-BE49-F238E27FC236}">
                      <a16:creationId xmlns:a16="http://schemas.microsoft.com/office/drawing/2014/main" id="{6E308223-C980-3ADC-CB15-3AA279E002F2}"/>
                    </a:ext>
                  </a:extLst>
                </p:cNvPr>
                <p:cNvSpPr txBox="1"/>
                <p:nvPr/>
              </p:nvSpPr>
              <p:spPr>
                <a:xfrm>
                  <a:off x="1982" y="2488"/>
                  <a:ext cx="297" cy="310"/>
                </a:xfrm>
                <a:prstGeom prst="rect">
                  <a:avLst/>
                </a:prstGeom>
                <a:noFill/>
                <a:ln w="9525">
                  <a:noFill/>
                </a:ln>
              </p:spPr>
              <p:txBody>
                <a:bodyPr>
                  <a:spAutoFit/>
                </a:bodyPr>
                <a:lstStyle/>
                <a:p>
                  <a:pPr eaLnBrk="1" hangingPunct="1">
                    <a:spcBef>
                      <a:spcPct val="50000"/>
                    </a:spcBef>
                  </a:pPr>
                  <a:r>
                    <a:rPr lang="en-US" altLang="zh-CN" sz="2600" i="1" dirty="0">
                      <a:solidFill>
                        <a:srgbClr val="1C1C1C"/>
                      </a:solidFill>
                      <a:latin typeface="+mn-ea"/>
                    </a:rPr>
                    <a:t>B</a:t>
                  </a:r>
                </a:p>
              </p:txBody>
            </p:sp>
            <p:sp>
              <p:nvSpPr>
                <p:cNvPr id="75" name="Text Box 29">
                  <a:extLst>
                    <a:ext uri="{FF2B5EF4-FFF2-40B4-BE49-F238E27FC236}">
                      <a16:creationId xmlns:a16="http://schemas.microsoft.com/office/drawing/2014/main" id="{93972C0E-4044-16BF-530F-83A621125C41}"/>
                    </a:ext>
                  </a:extLst>
                </p:cNvPr>
                <p:cNvSpPr txBox="1"/>
                <p:nvPr/>
              </p:nvSpPr>
              <p:spPr>
                <a:xfrm>
                  <a:off x="2407" y="2981"/>
                  <a:ext cx="255" cy="310"/>
                </a:xfrm>
                <a:prstGeom prst="rect">
                  <a:avLst/>
                </a:prstGeom>
                <a:noFill/>
                <a:ln w="9525">
                  <a:noFill/>
                </a:ln>
              </p:spPr>
              <p:txBody>
                <a:bodyPr>
                  <a:spAutoFit/>
                </a:bodyPr>
                <a:lstStyle/>
                <a:p>
                  <a:pPr eaLnBrk="1" hangingPunct="1">
                    <a:spcBef>
                      <a:spcPct val="50000"/>
                    </a:spcBef>
                  </a:pPr>
                  <a:r>
                    <a:rPr lang="en-US" altLang="zh-CN" sz="2600" i="1" dirty="0">
                      <a:solidFill>
                        <a:srgbClr val="1C1C1C"/>
                      </a:solidFill>
                      <a:latin typeface="+mn-ea"/>
                    </a:rPr>
                    <a:t>C</a:t>
                  </a:r>
                </a:p>
              </p:txBody>
            </p:sp>
            <p:sp>
              <p:nvSpPr>
                <p:cNvPr id="76" name="Text Box 30">
                  <a:extLst>
                    <a:ext uri="{FF2B5EF4-FFF2-40B4-BE49-F238E27FC236}">
                      <a16:creationId xmlns:a16="http://schemas.microsoft.com/office/drawing/2014/main" id="{72294DBC-CE3A-38C9-9138-8F7CB391DA7F}"/>
                    </a:ext>
                  </a:extLst>
                </p:cNvPr>
                <p:cNvSpPr txBox="1"/>
                <p:nvPr/>
              </p:nvSpPr>
              <p:spPr>
                <a:xfrm>
                  <a:off x="1174" y="2858"/>
                  <a:ext cx="298" cy="310"/>
                </a:xfrm>
                <a:prstGeom prst="rect">
                  <a:avLst/>
                </a:prstGeom>
                <a:noFill/>
                <a:ln w="9525">
                  <a:noFill/>
                </a:ln>
              </p:spPr>
              <p:txBody>
                <a:bodyPr>
                  <a:spAutoFit/>
                </a:bodyPr>
                <a:lstStyle/>
                <a:p>
                  <a:pPr eaLnBrk="1" hangingPunct="1">
                    <a:spcBef>
                      <a:spcPct val="50000"/>
                    </a:spcBef>
                  </a:pPr>
                  <a:r>
                    <a:rPr lang="en-US" altLang="zh-CN" sz="2600" i="1" dirty="0">
                      <a:solidFill>
                        <a:srgbClr val="1C1C1C"/>
                      </a:solidFill>
                      <a:latin typeface="+mn-ea"/>
                    </a:rPr>
                    <a:t>D</a:t>
                  </a:r>
                </a:p>
              </p:txBody>
            </p:sp>
            <p:sp>
              <p:nvSpPr>
                <p:cNvPr id="77" name="Line 31">
                  <a:extLst>
                    <a:ext uri="{FF2B5EF4-FFF2-40B4-BE49-F238E27FC236}">
                      <a16:creationId xmlns:a16="http://schemas.microsoft.com/office/drawing/2014/main" id="{B744A0CB-5B2B-4C65-9940-BFC94B950A44}"/>
                    </a:ext>
                  </a:extLst>
                </p:cNvPr>
                <p:cNvSpPr/>
                <p:nvPr/>
              </p:nvSpPr>
              <p:spPr>
                <a:xfrm flipH="1">
                  <a:off x="835" y="2159"/>
                  <a:ext cx="254" cy="0"/>
                </a:xfrm>
                <a:prstGeom prst="line">
                  <a:avLst/>
                </a:prstGeom>
                <a:ln w="12700" cap="flat" cmpd="sng">
                  <a:solidFill>
                    <a:srgbClr val="000000"/>
                  </a:solidFill>
                  <a:prstDash val="dash"/>
                  <a:headEnd type="none" w="med" len="med"/>
                  <a:tailEnd type="none" w="med" len="med"/>
                </a:ln>
              </p:spPr>
            </p:sp>
            <p:sp>
              <p:nvSpPr>
                <p:cNvPr id="78" name="Line 32">
                  <a:extLst>
                    <a:ext uri="{FF2B5EF4-FFF2-40B4-BE49-F238E27FC236}">
                      <a16:creationId xmlns:a16="http://schemas.microsoft.com/office/drawing/2014/main" id="{913C462E-BAD9-54D9-309C-39AF7BB58D4C}"/>
                    </a:ext>
                  </a:extLst>
                </p:cNvPr>
                <p:cNvSpPr/>
                <p:nvPr/>
              </p:nvSpPr>
              <p:spPr>
                <a:xfrm flipH="1">
                  <a:off x="835" y="2694"/>
                  <a:ext cx="1147" cy="0"/>
                </a:xfrm>
                <a:prstGeom prst="line">
                  <a:avLst/>
                </a:prstGeom>
                <a:ln w="12700" cap="flat" cmpd="sng">
                  <a:solidFill>
                    <a:srgbClr val="000000"/>
                  </a:solidFill>
                  <a:prstDash val="dash"/>
                  <a:headEnd type="none" w="med" len="med"/>
                  <a:tailEnd type="none" w="med" len="med"/>
                </a:ln>
              </p:spPr>
            </p:sp>
            <p:sp>
              <p:nvSpPr>
                <p:cNvPr id="79" name="Line 33">
                  <a:extLst>
                    <a:ext uri="{FF2B5EF4-FFF2-40B4-BE49-F238E27FC236}">
                      <a16:creationId xmlns:a16="http://schemas.microsoft.com/office/drawing/2014/main" id="{4A3D87E4-2B5E-689C-C67C-F8AEF0948083}"/>
                    </a:ext>
                  </a:extLst>
                </p:cNvPr>
                <p:cNvSpPr/>
                <p:nvPr/>
              </p:nvSpPr>
              <p:spPr>
                <a:xfrm flipH="1">
                  <a:off x="835" y="3188"/>
                  <a:ext cx="1572" cy="0"/>
                </a:xfrm>
                <a:prstGeom prst="line">
                  <a:avLst/>
                </a:prstGeom>
                <a:ln w="12700" cap="flat" cmpd="sng">
                  <a:solidFill>
                    <a:srgbClr val="000000"/>
                  </a:solidFill>
                  <a:prstDash val="dash"/>
                  <a:headEnd type="none" w="med" len="med"/>
                  <a:tailEnd type="none" w="med" len="med"/>
                </a:ln>
              </p:spPr>
            </p:sp>
            <p:sp>
              <p:nvSpPr>
                <p:cNvPr id="80" name="Line 34">
                  <a:extLst>
                    <a:ext uri="{FF2B5EF4-FFF2-40B4-BE49-F238E27FC236}">
                      <a16:creationId xmlns:a16="http://schemas.microsoft.com/office/drawing/2014/main" id="{3543BCB8-02CA-A89B-0500-A7C1DB312A4B}"/>
                    </a:ext>
                  </a:extLst>
                </p:cNvPr>
                <p:cNvSpPr/>
                <p:nvPr/>
              </p:nvSpPr>
              <p:spPr>
                <a:xfrm flipH="1">
                  <a:off x="835" y="2900"/>
                  <a:ext cx="552" cy="0"/>
                </a:xfrm>
                <a:prstGeom prst="line">
                  <a:avLst/>
                </a:prstGeom>
                <a:ln w="12700" cap="flat" cmpd="sng">
                  <a:solidFill>
                    <a:srgbClr val="000000"/>
                  </a:solidFill>
                  <a:prstDash val="dash"/>
                  <a:headEnd type="none" w="med" len="med"/>
                  <a:tailEnd type="none" w="med" len="med"/>
                </a:ln>
              </p:spPr>
            </p:sp>
            <p:sp>
              <p:nvSpPr>
                <p:cNvPr id="81" name="Line 35">
                  <a:extLst>
                    <a:ext uri="{FF2B5EF4-FFF2-40B4-BE49-F238E27FC236}">
                      <a16:creationId xmlns:a16="http://schemas.microsoft.com/office/drawing/2014/main" id="{71EEA64C-12F8-9425-61D0-338E03A94780}"/>
                    </a:ext>
                  </a:extLst>
                </p:cNvPr>
                <p:cNvSpPr/>
                <p:nvPr/>
              </p:nvSpPr>
              <p:spPr>
                <a:xfrm flipH="1">
                  <a:off x="1089" y="2159"/>
                  <a:ext cx="0" cy="1317"/>
                </a:xfrm>
                <a:prstGeom prst="line">
                  <a:avLst/>
                </a:prstGeom>
                <a:ln w="12700" cap="flat" cmpd="sng">
                  <a:solidFill>
                    <a:srgbClr val="000000"/>
                  </a:solidFill>
                  <a:prstDash val="dash"/>
                  <a:headEnd type="none" w="med" len="med"/>
                  <a:tailEnd type="none" w="med" len="med"/>
                </a:ln>
              </p:spPr>
            </p:sp>
            <p:sp>
              <p:nvSpPr>
                <p:cNvPr id="82" name="Line 36">
                  <a:extLst>
                    <a:ext uri="{FF2B5EF4-FFF2-40B4-BE49-F238E27FC236}">
                      <a16:creationId xmlns:a16="http://schemas.microsoft.com/office/drawing/2014/main" id="{0959BA65-278A-98BB-3B1C-EC42B6FD6BC1}"/>
                    </a:ext>
                  </a:extLst>
                </p:cNvPr>
                <p:cNvSpPr/>
                <p:nvPr/>
              </p:nvSpPr>
              <p:spPr>
                <a:xfrm flipH="1">
                  <a:off x="1982" y="2694"/>
                  <a:ext cx="0" cy="782"/>
                </a:xfrm>
                <a:prstGeom prst="line">
                  <a:avLst/>
                </a:prstGeom>
                <a:ln w="12700" cap="flat" cmpd="sng">
                  <a:solidFill>
                    <a:srgbClr val="000000"/>
                  </a:solidFill>
                  <a:prstDash val="dash"/>
                  <a:headEnd type="none" w="med" len="med"/>
                  <a:tailEnd type="none" w="med" len="med"/>
                </a:ln>
              </p:spPr>
            </p:sp>
            <p:sp>
              <p:nvSpPr>
                <p:cNvPr id="83" name="Line 37">
                  <a:extLst>
                    <a:ext uri="{FF2B5EF4-FFF2-40B4-BE49-F238E27FC236}">
                      <a16:creationId xmlns:a16="http://schemas.microsoft.com/office/drawing/2014/main" id="{B4A79D5C-D496-9D95-7284-86C0199D3A0B}"/>
                    </a:ext>
                  </a:extLst>
                </p:cNvPr>
                <p:cNvSpPr/>
                <p:nvPr/>
              </p:nvSpPr>
              <p:spPr>
                <a:xfrm flipH="1">
                  <a:off x="1387" y="2900"/>
                  <a:ext cx="0" cy="576"/>
                </a:xfrm>
                <a:prstGeom prst="line">
                  <a:avLst/>
                </a:prstGeom>
                <a:ln w="12700" cap="flat" cmpd="sng">
                  <a:solidFill>
                    <a:srgbClr val="000000"/>
                  </a:solidFill>
                  <a:prstDash val="dash"/>
                  <a:headEnd type="none" w="med" len="med"/>
                  <a:tailEnd type="none" w="med" len="med"/>
                </a:ln>
              </p:spPr>
            </p:sp>
            <p:sp>
              <p:nvSpPr>
                <p:cNvPr id="84" name="Line 38">
                  <a:extLst>
                    <a:ext uri="{FF2B5EF4-FFF2-40B4-BE49-F238E27FC236}">
                      <a16:creationId xmlns:a16="http://schemas.microsoft.com/office/drawing/2014/main" id="{5DB15E18-BAC3-6C58-297D-3160440AF01D}"/>
                    </a:ext>
                  </a:extLst>
                </p:cNvPr>
                <p:cNvSpPr/>
                <p:nvPr/>
              </p:nvSpPr>
              <p:spPr>
                <a:xfrm flipH="1">
                  <a:off x="2407" y="3188"/>
                  <a:ext cx="0" cy="288"/>
                </a:xfrm>
                <a:prstGeom prst="line">
                  <a:avLst/>
                </a:prstGeom>
                <a:ln w="12700" cap="flat" cmpd="sng">
                  <a:solidFill>
                    <a:srgbClr val="000000"/>
                  </a:solidFill>
                  <a:prstDash val="dash"/>
                  <a:headEnd type="none" w="med" len="med"/>
                  <a:tailEnd type="none" w="med" len="med"/>
                </a:ln>
              </p:spPr>
            </p:sp>
            <mc:AlternateContent xmlns:mc="http://schemas.openxmlformats.org/markup-compatibility/2006" xmlns:a14="http://schemas.microsoft.com/office/drawing/2010/main">
              <mc:Choice Requires="a14">
                <p:sp>
                  <p:nvSpPr>
                    <p:cNvPr id="85" name="Object 39">
                      <a:extLst>
                        <a:ext uri="{FF2B5EF4-FFF2-40B4-BE49-F238E27FC236}">
                          <a16:creationId xmlns:a16="http://schemas.microsoft.com/office/drawing/2014/main" id="{714DA03D-7116-E1E0-8E4C-8496B5A09DD6}"/>
                        </a:ext>
                      </a:extLst>
                    </p:cNvPr>
                    <p:cNvSpPr txBox="1"/>
                    <p:nvPr/>
                  </p:nvSpPr>
                  <p:spPr>
                    <a:xfrm>
                      <a:off x="595" y="1994"/>
                      <a:ext cx="234" cy="271"/>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𝑝</m:t>
                                </m:r>
                              </m:e>
                              <m:sub>
                                <m:r>
                                  <a:rPr lang="zh-CN" altLang="en-US" sz="2600" b="0" i="1">
                                    <a:solidFill>
                                      <a:srgbClr val="000000"/>
                                    </a:solidFill>
                                    <a:latin typeface="Cambria Math" panose="02040503050406030204" pitchFamily="18" charset="0"/>
                                  </a:rPr>
                                  <m:t>1</m:t>
                                </m:r>
                              </m:sub>
                            </m:sSub>
                          </m:oMath>
                        </m:oMathPara>
                      </a14:m>
                      <a:endParaRPr lang="zh-CN" altLang="en-US" sz="2600">
                        <a:latin typeface="+mn-ea"/>
                      </a:endParaRPr>
                    </a:p>
                  </p:txBody>
                </p:sp>
              </mc:Choice>
              <mc:Fallback xmlns="">
                <p:sp>
                  <p:nvSpPr>
                    <p:cNvPr id="85" name="Object 39">
                      <a:extLst>
                        <a:ext uri="{FF2B5EF4-FFF2-40B4-BE49-F238E27FC236}">
                          <a16:creationId xmlns:a16="http://schemas.microsoft.com/office/drawing/2014/main" id="{714DA03D-7116-E1E0-8E4C-8496B5A09DD6}"/>
                        </a:ext>
                      </a:extLst>
                    </p:cNvPr>
                    <p:cNvSpPr txBox="1">
                      <a:spLocks noRot="1" noChangeAspect="1" noMove="1" noResize="1" noEditPoints="1" noAdjustHandles="1" noChangeArrowheads="1" noChangeShapeType="1" noTextEdit="1"/>
                    </p:cNvSpPr>
                    <p:nvPr/>
                  </p:nvSpPr>
                  <p:spPr>
                    <a:xfrm>
                      <a:off x="595" y="1994"/>
                      <a:ext cx="234" cy="271"/>
                    </a:xfrm>
                    <a:prstGeom prst="rect">
                      <a:avLst/>
                    </a:prstGeom>
                    <a:blipFill>
                      <a:blip r:embed="rId9"/>
                      <a:stretch>
                        <a:fillRect r="-3279"/>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6" name="Object 40">
                      <a:extLst>
                        <a:ext uri="{FF2B5EF4-FFF2-40B4-BE49-F238E27FC236}">
                          <a16:creationId xmlns:a16="http://schemas.microsoft.com/office/drawing/2014/main" id="{432B60AD-41C6-5225-E19D-A80570CDA613}"/>
                        </a:ext>
                      </a:extLst>
                    </p:cNvPr>
                    <p:cNvSpPr txBox="1"/>
                    <p:nvPr/>
                  </p:nvSpPr>
                  <p:spPr>
                    <a:xfrm>
                      <a:off x="569" y="2488"/>
                      <a:ext cx="257" cy="271"/>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𝑝</m:t>
                                </m:r>
                              </m:e>
                              <m:sub>
                                <m:r>
                                  <a:rPr lang="zh-CN" altLang="en-US" sz="2600" b="0" i="1">
                                    <a:solidFill>
                                      <a:srgbClr val="000000"/>
                                    </a:solidFill>
                                    <a:latin typeface="Cambria Math" panose="02040503050406030204" pitchFamily="18" charset="0"/>
                                  </a:rPr>
                                  <m:t>2</m:t>
                                </m:r>
                              </m:sub>
                            </m:sSub>
                          </m:oMath>
                        </m:oMathPara>
                      </a14:m>
                      <a:endParaRPr lang="zh-CN" altLang="en-US" sz="2600">
                        <a:latin typeface="+mn-ea"/>
                      </a:endParaRPr>
                    </a:p>
                  </p:txBody>
                </p:sp>
              </mc:Choice>
              <mc:Fallback xmlns="">
                <p:sp>
                  <p:nvSpPr>
                    <p:cNvPr id="86" name="Object 40">
                      <a:extLst>
                        <a:ext uri="{FF2B5EF4-FFF2-40B4-BE49-F238E27FC236}">
                          <a16:creationId xmlns:a16="http://schemas.microsoft.com/office/drawing/2014/main" id="{432B60AD-41C6-5225-E19D-A80570CDA613}"/>
                        </a:ext>
                      </a:extLst>
                    </p:cNvPr>
                    <p:cNvSpPr txBox="1">
                      <a:spLocks noRot="1" noChangeAspect="1" noMove="1" noResize="1" noEditPoints="1" noAdjustHandles="1" noChangeArrowheads="1" noChangeShapeType="1" noTextEdit="1"/>
                    </p:cNvSpPr>
                    <p:nvPr/>
                  </p:nvSpPr>
                  <p:spPr>
                    <a:xfrm>
                      <a:off x="569" y="2488"/>
                      <a:ext cx="257" cy="271"/>
                    </a:xfrm>
                    <a:prstGeom prst="rect">
                      <a:avLst/>
                    </a:prstGeom>
                    <a:blipFill>
                      <a:blip r:embed="rId10"/>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7" name="Object 41">
                      <a:extLst>
                        <a:ext uri="{FF2B5EF4-FFF2-40B4-BE49-F238E27FC236}">
                          <a16:creationId xmlns:a16="http://schemas.microsoft.com/office/drawing/2014/main" id="{5383A752-E189-44DF-1875-370774D1F343}"/>
                        </a:ext>
                      </a:extLst>
                    </p:cNvPr>
                    <p:cNvSpPr txBox="1"/>
                    <p:nvPr/>
                  </p:nvSpPr>
                  <p:spPr>
                    <a:xfrm>
                      <a:off x="569" y="2735"/>
                      <a:ext cx="257" cy="271"/>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𝑝</m:t>
                                </m:r>
                              </m:e>
                              <m:sub>
                                <m:r>
                                  <a:rPr lang="zh-CN" altLang="en-US" sz="2600" b="0" i="1">
                                    <a:solidFill>
                                      <a:srgbClr val="000000"/>
                                    </a:solidFill>
                                    <a:latin typeface="Cambria Math" panose="02040503050406030204" pitchFamily="18" charset="0"/>
                                  </a:rPr>
                                  <m:t>4</m:t>
                                </m:r>
                              </m:sub>
                            </m:sSub>
                          </m:oMath>
                        </m:oMathPara>
                      </a14:m>
                      <a:endParaRPr lang="zh-CN" altLang="en-US" sz="2600">
                        <a:latin typeface="+mn-ea"/>
                      </a:endParaRPr>
                    </a:p>
                  </p:txBody>
                </p:sp>
              </mc:Choice>
              <mc:Fallback xmlns="">
                <p:sp>
                  <p:nvSpPr>
                    <p:cNvPr id="87" name="Object 41">
                      <a:extLst>
                        <a:ext uri="{FF2B5EF4-FFF2-40B4-BE49-F238E27FC236}">
                          <a16:creationId xmlns:a16="http://schemas.microsoft.com/office/drawing/2014/main" id="{5383A752-E189-44DF-1875-370774D1F343}"/>
                        </a:ext>
                      </a:extLst>
                    </p:cNvPr>
                    <p:cNvSpPr txBox="1">
                      <a:spLocks noRot="1" noChangeAspect="1" noMove="1" noResize="1" noEditPoints="1" noAdjustHandles="1" noChangeArrowheads="1" noChangeShapeType="1" noTextEdit="1"/>
                    </p:cNvSpPr>
                    <p:nvPr/>
                  </p:nvSpPr>
                  <p:spPr>
                    <a:xfrm>
                      <a:off x="569" y="2735"/>
                      <a:ext cx="257" cy="271"/>
                    </a:xfrm>
                    <a:prstGeom prst="rect">
                      <a:avLst/>
                    </a:prstGeom>
                    <a:blipFill>
                      <a:blip r:embed="rId11"/>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8" name="Object 42">
                      <a:extLst>
                        <a:ext uri="{FF2B5EF4-FFF2-40B4-BE49-F238E27FC236}">
                          <a16:creationId xmlns:a16="http://schemas.microsoft.com/office/drawing/2014/main" id="{6D783D69-9932-F9BD-FCDA-F0235542859C}"/>
                        </a:ext>
                      </a:extLst>
                    </p:cNvPr>
                    <p:cNvSpPr txBox="1"/>
                    <p:nvPr/>
                  </p:nvSpPr>
                  <p:spPr>
                    <a:xfrm>
                      <a:off x="574" y="3023"/>
                      <a:ext cx="246" cy="299"/>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𝑝</m:t>
                                </m:r>
                              </m:e>
                              <m:sub>
                                <m:r>
                                  <a:rPr lang="zh-CN" altLang="en-US" sz="2600" b="0" i="1">
                                    <a:solidFill>
                                      <a:srgbClr val="000000"/>
                                    </a:solidFill>
                                    <a:latin typeface="Cambria Math" panose="02040503050406030204" pitchFamily="18" charset="0"/>
                                  </a:rPr>
                                  <m:t>3</m:t>
                                </m:r>
                              </m:sub>
                            </m:sSub>
                          </m:oMath>
                        </m:oMathPara>
                      </a14:m>
                      <a:endParaRPr lang="zh-CN" altLang="en-US" sz="2600">
                        <a:latin typeface="+mn-ea"/>
                      </a:endParaRPr>
                    </a:p>
                  </p:txBody>
                </p:sp>
              </mc:Choice>
              <mc:Fallback xmlns="">
                <p:sp>
                  <p:nvSpPr>
                    <p:cNvPr id="88" name="Object 42">
                      <a:extLst>
                        <a:ext uri="{FF2B5EF4-FFF2-40B4-BE49-F238E27FC236}">
                          <a16:creationId xmlns:a16="http://schemas.microsoft.com/office/drawing/2014/main" id="{6D783D69-9932-F9BD-FCDA-F0235542859C}"/>
                        </a:ext>
                      </a:extLst>
                    </p:cNvPr>
                    <p:cNvSpPr txBox="1">
                      <a:spLocks noRot="1" noChangeAspect="1" noMove="1" noResize="1" noEditPoints="1" noAdjustHandles="1" noChangeArrowheads="1" noChangeShapeType="1" noTextEdit="1"/>
                    </p:cNvSpPr>
                    <p:nvPr/>
                  </p:nvSpPr>
                  <p:spPr>
                    <a:xfrm>
                      <a:off x="574" y="3023"/>
                      <a:ext cx="246" cy="299"/>
                    </a:xfrm>
                    <a:prstGeom prst="rect">
                      <a:avLst/>
                    </a:prstGeom>
                    <a:blipFill>
                      <a:blip r:embed="rId12"/>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9" name="Object 43">
                      <a:extLst>
                        <a:ext uri="{FF2B5EF4-FFF2-40B4-BE49-F238E27FC236}">
                          <a16:creationId xmlns:a16="http://schemas.microsoft.com/office/drawing/2014/main" id="{110A99F6-6372-CA71-97BF-A2F9BA0873FA}"/>
                        </a:ext>
                      </a:extLst>
                    </p:cNvPr>
                    <p:cNvSpPr txBox="1"/>
                    <p:nvPr/>
                  </p:nvSpPr>
                  <p:spPr>
                    <a:xfrm>
                      <a:off x="999" y="3465"/>
                      <a:ext cx="180" cy="247"/>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𝑉</m:t>
                                </m:r>
                              </m:e>
                              <m:sub>
                                <m:r>
                                  <a:rPr lang="zh-CN" altLang="en-US" sz="2600" b="0" i="1">
                                    <a:solidFill>
                                      <a:srgbClr val="000000"/>
                                    </a:solidFill>
                                    <a:latin typeface="Cambria Math" panose="02040503050406030204" pitchFamily="18" charset="0"/>
                                  </a:rPr>
                                  <m:t>1</m:t>
                                </m:r>
                              </m:sub>
                            </m:sSub>
                          </m:oMath>
                        </m:oMathPara>
                      </a14:m>
                      <a:endParaRPr lang="zh-CN" altLang="en-US" sz="2600">
                        <a:latin typeface="+mn-ea"/>
                      </a:endParaRPr>
                    </a:p>
                  </p:txBody>
                </p:sp>
              </mc:Choice>
              <mc:Fallback xmlns="">
                <p:sp>
                  <p:nvSpPr>
                    <p:cNvPr id="89" name="Object 43">
                      <a:extLst>
                        <a:ext uri="{FF2B5EF4-FFF2-40B4-BE49-F238E27FC236}">
                          <a16:creationId xmlns:a16="http://schemas.microsoft.com/office/drawing/2014/main" id="{110A99F6-6372-CA71-97BF-A2F9BA0873FA}"/>
                        </a:ext>
                      </a:extLst>
                    </p:cNvPr>
                    <p:cNvSpPr txBox="1">
                      <a:spLocks noRot="1" noChangeAspect="1" noMove="1" noResize="1" noEditPoints="1" noAdjustHandles="1" noChangeArrowheads="1" noChangeShapeType="1" noTextEdit="1"/>
                    </p:cNvSpPr>
                    <p:nvPr/>
                  </p:nvSpPr>
                  <p:spPr>
                    <a:xfrm>
                      <a:off x="999" y="3465"/>
                      <a:ext cx="180" cy="247"/>
                    </a:xfrm>
                    <a:prstGeom prst="rect">
                      <a:avLst/>
                    </a:prstGeom>
                    <a:blipFill>
                      <a:blip r:embed="rId13"/>
                      <a:stretch>
                        <a:fillRect r="-29787" b="-7813"/>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0" name="Object 44">
                      <a:extLst>
                        <a:ext uri="{FF2B5EF4-FFF2-40B4-BE49-F238E27FC236}">
                          <a16:creationId xmlns:a16="http://schemas.microsoft.com/office/drawing/2014/main" id="{51644FC7-8ED5-E815-0EAD-B03498F6D31B}"/>
                        </a:ext>
                      </a:extLst>
                    </p:cNvPr>
                    <p:cNvSpPr txBox="1"/>
                    <p:nvPr/>
                  </p:nvSpPr>
                  <p:spPr>
                    <a:xfrm>
                      <a:off x="1292" y="3476"/>
                      <a:ext cx="200" cy="246"/>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𝑉</m:t>
                                </m:r>
                              </m:e>
                              <m:sub>
                                <m:r>
                                  <a:rPr lang="zh-CN" altLang="en-US" sz="2600" b="0" i="1">
                                    <a:solidFill>
                                      <a:srgbClr val="000000"/>
                                    </a:solidFill>
                                    <a:latin typeface="Cambria Math" panose="02040503050406030204" pitchFamily="18" charset="0"/>
                                  </a:rPr>
                                  <m:t>4</m:t>
                                </m:r>
                              </m:sub>
                            </m:sSub>
                          </m:oMath>
                        </m:oMathPara>
                      </a14:m>
                      <a:endParaRPr lang="zh-CN" altLang="en-US" sz="2600">
                        <a:latin typeface="+mn-ea"/>
                      </a:endParaRPr>
                    </a:p>
                  </p:txBody>
                </p:sp>
              </mc:Choice>
              <mc:Fallback xmlns="">
                <p:sp>
                  <p:nvSpPr>
                    <p:cNvPr id="90" name="Object 44">
                      <a:extLst>
                        <a:ext uri="{FF2B5EF4-FFF2-40B4-BE49-F238E27FC236}">
                          <a16:creationId xmlns:a16="http://schemas.microsoft.com/office/drawing/2014/main" id="{51644FC7-8ED5-E815-0EAD-B03498F6D31B}"/>
                        </a:ext>
                      </a:extLst>
                    </p:cNvPr>
                    <p:cNvSpPr txBox="1">
                      <a:spLocks noRot="1" noChangeAspect="1" noMove="1" noResize="1" noEditPoints="1" noAdjustHandles="1" noChangeArrowheads="1" noChangeShapeType="1" noTextEdit="1"/>
                    </p:cNvSpPr>
                    <p:nvPr/>
                  </p:nvSpPr>
                  <p:spPr>
                    <a:xfrm>
                      <a:off x="1292" y="3476"/>
                      <a:ext cx="200" cy="246"/>
                    </a:xfrm>
                    <a:prstGeom prst="rect">
                      <a:avLst/>
                    </a:prstGeom>
                    <a:blipFill>
                      <a:blip r:embed="rId14"/>
                      <a:stretch>
                        <a:fillRect r="-21154" b="-6154"/>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1" name="Object 45">
                      <a:extLst>
                        <a:ext uri="{FF2B5EF4-FFF2-40B4-BE49-F238E27FC236}">
                          <a16:creationId xmlns:a16="http://schemas.microsoft.com/office/drawing/2014/main" id="{197FFA6A-9D54-73C1-5F23-7222ABEC520E}"/>
                        </a:ext>
                      </a:extLst>
                    </p:cNvPr>
                    <p:cNvSpPr txBox="1"/>
                    <p:nvPr/>
                  </p:nvSpPr>
                  <p:spPr>
                    <a:xfrm>
                      <a:off x="1887" y="3476"/>
                      <a:ext cx="199" cy="246"/>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𝑉</m:t>
                                </m:r>
                              </m:e>
                              <m:sub>
                                <m:r>
                                  <a:rPr lang="zh-CN" altLang="en-US" sz="2600" b="0" i="1">
                                    <a:solidFill>
                                      <a:srgbClr val="000000"/>
                                    </a:solidFill>
                                    <a:latin typeface="Cambria Math" panose="02040503050406030204" pitchFamily="18" charset="0"/>
                                  </a:rPr>
                                  <m:t>2</m:t>
                                </m:r>
                              </m:sub>
                            </m:sSub>
                          </m:oMath>
                        </m:oMathPara>
                      </a14:m>
                      <a:endParaRPr lang="zh-CN" altLang="en-US" sz="2600">
                        <a:latin typeface="+mn-ea"/>
                      </a:endParaRPr>
                    </a:p>
                  </p:txBody>
                </p:sp>
              </mc:Choice>
              <mc:Fallback xmlns="">
                <p:sp>
                  <p:nvSpPr>
                    <p:cNvPr id="91" name="Object 45">
                      <a:extLst>
                        <a:ext uri="{FF2B5EF4-FFF2-40B4-BE49-F238E27FC236}">
                          <a16:creationId xmlns:a16="http://schemas.microsoft.com/office/drawing/2014/main" id="{197FFA6A-9D54-73C1-5F23-7222ABEC520E}"/>
                        </a:ext>
                      </a:extLst>
                    </p:cNvPr>
                    <p:cNvSpPr txBox="1">
                      <a:spLocks noRot="1" noChangeAspect="1" noMove="1" noResize="1" noEditPoints="1" noAdjustHandles="1" noChangeArrowheads="1" noChangeShapeType="1" noTextEdit="1"/>
                    </p:cNvSpPr>
                    <p:nvPr/>
                  </p:nvSpPr>
                  <p:spPr>
                    <a:xfrm>
                      <a:off x="1887" y="3476"/>
                      <a:ext cx="199" cy="246"/>
                    </a:xfrm>
                    <a:prstGeom prst="rect">
                      <a:avLst/>
                    </a:prstGeom>
                    <a:blipFill>
                      <a:blip r:embed="rId15"/>
                      <a:stretch>
                        <a:fillRect r="-17308" b="-6154"/>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2" name="Object 46">
                      <a:extLst>
                        <a:ext uri="{FF2B5EF4-FFF2-40B4-BE49-F238E27FC236}">
                          <a16:creationId xmlns:a16="http://schemas.microsoft.com/office/drawing/2014/main" id="{259FCC06-7354-88CC-00B3-07B67F2BE93B}"/>
                        </a:ext>
                      </a:extLst>
                    </p:cNvPr>
                    <p:cNvSpPr txBox="1"/>
                    <p:nvPr/>
                  </p:nvSpPr>
                  <p:spPr>
                    <a:xfrm>
                      <a:off x="2335" y="3471"/>
                      <a:ext cx="199" cy="256"/>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𝑉</m:t>
                                </m:r>
                              </m:e>
                              <m:sub>
                                <m:r>
                                  <a:rPr lang="zh-CN" altLang="en-US" sz="2600" b="0" i="1">
                                    <a:solidFill>
                                      <a:srgbClr val="000000"/>
                                    </a:solidFill>
                                    <a:latin typeface="Cambria Math" panose="02040503050406030204" pitchFamily="18" charset="0"/>
                                  </a:rPr>
                                  <m:t>3</m:t>
                                </m:r>
                              </m:sub>
                            </m:sSub>
                          </m:oMath>
                        </m:oMathPara>
                      </a14:m>
                      <a:endParaRPr lang="zh-CN" altLang="en-US" sz="2600">
                        <a:latin typeface="+mn-ea"/>
                      </a:endParaRPr>
                    </a:p>
                  </p:txBody>
                </p:sp>
              </mc:Choice>
              <mc:Fallback xmlns="">
                <p:sp>
                  <p:nvSpPr>
                    <p:cNvPr id="92" name="Object 46">
                      <a:extLst>
                        <a:ext uri="{FF2B5EF4-FFF2-40B4-BE49-F238E27FC236}">
                          <a16:creationId xmlns:a16="http://schemas.microsoft.com/office/drawing/2014/main" id="{259FCC06-7354-88CC-00B3-07B67F2BE93B}"/>
                        </a:ext>
                      </a:extLst>
                    </p:cNvPr>
                    <p:cNvSpPr txBox="1">
                      <a:spLocks noRot="1" noChangeAspect="1" noMove="1" noResize="1" noEditPoints="1" noAdjustHandles="1" noChangeArrowheads="1" noChangeShapeType="1" noTextEdit="1"/>
                    </p:cNvSpPr>
                    <p:nvPr/>
                  </p:nvSpPr>
                  <p:spPr>
                    <a:xfrm>
                      <a:off x="2335" y="3471"/>
                      <a:ext cx="199" cy="256"/>
                    </a:xfrm>
                    <a:prstGeom prst="rect">
                      <a:avLst/>
                    </a:prstGeom>
                    <a:blipFill>
                      <a:blip r:embed="rId16"/>
                      <a:stretch>
                        <a:fillRect r="-19608" b="-2985"/>
                      </a:stretch>
                    </a:blipFill>
                    <a:ln w="38100">
                      <a:noFill/>
                      <a:miter/>
                    </a:ln>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54" name="Object 47">
                    <a:extLst>
                      <a:ext uri="{FF2B5EF4-FFF2-40B4-BE49-F238E27FC236}">
                        <a16:creationId xmlns:a16="http://schemas.microsoft.com/office/drawing/2014/main" id="{F13D0202-3DB5-54C9-87B3-98285BF9ACA5}"/>
                      </a:ext>
                    </a:extLst>
                  </p:cNvPr>
                  <p:cNvSpPr txBox="1"/>
                  <p:nvPr/>
                </p:nvSpPr>
                <p:spPr>
                  <a:xfrm>
                    <a:off x="1913" y="1764"/>
                    <a:ext cx="649" cy="263"/>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𝑇</m:t>
                              </m:r>
                            </m:e>
                            <m:sub>
                              <m:r>
                                <a:rPr lang="zh-CN" altLang="en-US" sz="2600" b="0" i="1">
                                  <a:solidFill>
                                    <a:srgbClr val="000000"/>
                                  </a:solidFill>
                                  <a:latin typeface="Cambria Math" panose="02040503050406030204" pitchFamily="18" charset="0"/>
                                </a:rPr>
                                <m:t>1</m:t>
                              </m:r>
                            </m:sub>
                          </m:sSub>
                          <m:r>
                            <a:rPr lang="zh-CN" altLang="en-US" sz="2600" b="0" i="1">
                              <a:solidFill>
                                <a:srgbClr val="000000"/>
                              </a:solidFill>
                              <a:latin typeface="Cambria Math" panose="02040503050406030204" pitchFamily="18" charset="0"/>
                            </a:rPr>
                            <m:t>&gt;</m:t>
                          </m:r>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𝑇</m:t>
                              </m:r>
                            </m:e>
                            <m:sub>
                              <m:r>
                                <a:rPr lang="zh-CN" altLang="en-US" sz="2600" b="0" i="1">
                                  <a:solidFill>
                                    <a:srgbClr val="000000"/>
                                  </a:solidFill>
                                  <a:latin typeface="Cambria Math" panose="02040503050406030204" pitchFamily="18" charset="0"/>
                                </a:rPr>
                                <m:t>2</m:t>
                              </m:r>
                            </m:sub>
                          </m:sSub>
                        </m:oMath>
                      </m:oMathPara>
                    </a14:m>
                    <a:endParaRPr lang="zh-CN" altLang="en-US" sz="2600">
                      <a:latin typeface="+mn-ea"/>
                    </a:endParaRPr>
                  </a:p>
                </p:txBody>
              </p:sp>
            </mc:Choice>
            <mc:Fallback xmlns="">
              <p:sp>
                <p:nvSpPr>
                  <p:cNvPr id="54" name="Object 47">
                    <a:extLst>
                      <a:ext uri="{FF2B5EF4-FFF2-40B4-BE49-F238E27FC236}">
                        <a16:creationId xmlns:a16="http://schemas.microsoft.com/office/drawing/2014/main" id="{F13D0202-3DB5-54C9-87B3-98285BF9ACA5}"/>
                      </a:ext>
                    </a:extLst>
                  </p:cNvPr>
                  <p:cNvSpPr txBox="1">
                    <a:spLocks noRot="1" noChangeAspect="1" noMove="1" noResize="1" noEditPoints="1" noAdjustHandles="1" noChangeArrowheads="1" noChangeShapeType="1" noTextEdit="1"/>
                  </p:cNvSpPr>
                  <p:nvPr/>
                </p:nvSpPr>
                <p:spPr>
                  <a:xfrm>
                    <a:off x="1913" y="1764"/>
                    <a:ext cx="649" cy="263"/>
                  </a:xfrm>
                  <a:prstGeom prst="rect">
                    <a:avLst/>
                  </a:prstGeom>
                  <a:blipFill>
                    <a:blip r:embed="rId17"/>
                    <a:stretch>
                      <a:fillRect b="-95588"/>
                    </a:stretch>
                  </a:blipFill>
                  <a:ln w="38100">
                    <a:noFill/>
                    <a:miter/>
                  </a:ln>
                </p:spPr>
                <p:txBody>
                  <a:bodyPr/>
                  <a:lstStyle/>
                  <a:p>
                    <a:r>
                      <a:rPr lang="zh-CN" altLang="en-US">
                        <a:noFill/>
                      </a:rPr>
                      <a:t> </a:t>
                    </a:r>
                  </a:p>
                </p:txBody>
              </p:sp>
            </mc:Fallback>
          </mc:AlternateContent>
        </p:grpSp>
        <p:grpSp>
          <p:nvGrpSpPr>
            <p:cNvPr id="47" name="Group 48">
              <a:extLst>
                <a:ext uri="{FF2B5EF4-FFF2-40B4-BE49-F238E27FC236}">
                  <a16:creationId xmlns:a16="http://schemas.microsoft.com/office/drawing/2014/main" id="{CA76A612-D6CD-5E82-278D-2D6F8C5FCFE0}"/>
                </a:ext>
              </a:extLst>
            </p:cNvPr>
            <p:cNvGrpSpPr/>
            <p:nvPr/>
          </p:nvGrpSpPr>
          <p:grpSpPr>
            <a:xfrm>
              <a:off x="1338" y="2069"/>
              <a:ext cx="497" cy="487"/>
              <a:chOff x="1392" y="1248"/>
              <a:chExt cx="575" cy="672"/>
            </a:xfrm>
          </p:grpSpPr>
          <mc:AlternateContent xmlns:mc="http://schemas.openxmlformats.org/markup-compatibility/2006" xmlns:a14="http://schemas.microsoft.com/office/drawing/2010/main">
            <mc:Choice Requires="a14">
              <p:sp>
                <p:nvSpPr>
                  <p:cNvPr id="51" name="Object 49">
                    <a:extLst>
                      <a:ext uri="{FF2B5EF4-FFF2-40B4-BE49-F238E27FC236}">
                        <a16:creationId xmlns:a16="http://schemas.microsoft.com/office/drawing/2014/main" id="{781DC0E2-32FB-7CAC-B313-C0780BEA7860}"/>
                      </a:ext>
                    </a:extLst>
                  </p:cNvPr>
                  <p:cNvSpPr txBox="1"/>
                  <p:nvPr/>
                </p:nvSpPr>
                <p:spPr>
                  <a:xfrm>
                    <a:off x="1440" y="1248"/>
                    <a:ext cx="527" cy="488"/>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𝑄</m:t>
                              </m:r>
                            </m:e>
                            <m:sub>
                              <m:r>
                                <a:rPr lang="zh-CN" altLang="en-US" sz="2600" b="0" i="1">
                                  <a:solidFill>
                                    <a:srgbClr val="000000"/>
                                  </a:solidFill>
                                  <a:latin typeface="Cambria Math" panose="02040503050406030204" pitchFamily="18" charset="0"/>
                                </a:rPr>
                                <m:t>𝑎𝑏</m:t>
                              </m:r>
                            </m:sub>
                          </m:sSub>
                        </m:oMath>
                      </m:oMathPara>
                    </a14:m>
                    <a:endParaRPr lang="zh-CN" altLang="en-US" sz="2600">
                      <a:latin typeface="+mn-ea"/>
                    </a:endParaRPr>
                  </a:p>
                </p:txBody>
              </p:sp>
            </mc:Choice>
            <mc:Fallback xmlns="">
              <p:sp>
                <p:nvSpPr>
                  <p:cNvPr id="51" name="Object 49">
                    <a:extLst>
                      <a:ext uri="{FF2B5EF4-FFF2-40B4-BE49-F238E27FC236}">
                        <a16:creationId xmlns:a16="http://schemas.microsoft.com/office/drawing/2014/main" id="{781DC0E2-32FB-7CAC-B313-C0780BEA7860}"/>
                      </a:ext>
                    </a:extLst>
                  </p:cNvPr>
                  <p:cNvSpPr txBox="1">
                    <a:spLocks noRot="1" noChangeAspect="1" noMove="1" noResize="1" noEditPoints="1" noAdjustHandles="1" noChangeArrowheads="1" noChangeShapeType="1" noTextEdit="1"/>
                  </p:cNvSpPr>
                  <p:nvPr/>
                </p:nvSpPr>
                <p:spPr>
                  <a:xfrm>
                    <a:off x="1440" y="1248"/>
                    <a:ext cx="527" cy="488"/>
                  </a:xfrm>
                  <a:prstGeom prst="rect">
                    <a:avLst/>
                  </a:prstGeom>
                  <a:blipFill>
                    <a:blip r:embed="rId18"/>
                    <a:stretch>
                      <a:fillRect/>
                    </a:stretch>
                  </a:blipFill>
                  <a:ln w="38100">
                    <a:noFill/>
                    <a:miter/>
                  </a:ln>
                </p:spPr>
                <p:txBody>
                  <a:bodyPr/>
                  <a:lstStyle/>
                  <a:p>
                    <a:r>
                      <a:rPr lang="zh-CN" altLang="en-US">
                        <a:noFill/>
                      </a:rPr>
                      <a:t> </a:t>
                    </a:r>
                  </a:p>
                </p:txBody>
              </p:sp>
            </mc:Fallback>
          </mc:AlternateContent>
          <p:sp>
            <p:nvSpPr>
              <p:cNvPr id="52" name="AutoShape 50">
                <a:extLst>
                  <a:ext uri="{FF2B5EF4-FFF2-40B4-BE49-F238E27FC236}">
                    <a16:creationId xmlns:a16="http://schemas.microsoft.com/office/drawing/2014/main" id="{79565866-FE51-C90B-CAFE-6A57091DA4B3}"/>
                  </a:ext>
                </a:extLst>
              </p:cNvPr>
              <p:cNvSpPr/>
              <p:nvPr/>
            </p:nvSpPr>
            <p:spPr>
              <a:xfrm>
                <a:off x="1392" y="1536"/>
                <a:ext cx="96" cy="384"/>
              </a:xfrm>
              <a:prstGeom prst="downArrow">
                <a:avLst>
                  <a:gd name="adj1" fmla="val 50000"/>
                  <a:gd name="adj2" fmla="val 100000"/>
                </a:avLst>
              </a:prstGeom>
              <a:solidFill>
                <a:schemeClr val="bg2"/>
              </a:solidFill>
              <a:ln w="28575" cap="flat" cmpd="sng">
                <a:solidFill>
                  <a:srgbClr val="FF0066"/>
                </a:solidFill>
                <a:prstDash val="solid"/>
                <a:miter/>
                <a:headEnd type="none" w="med" len="med"/>
                <a:tailEnd type="none" w="med" len="med"/>
              </a:ln>
            </p:spPr>
            <p:txBody>
              <a:bodyPr wrap="none" anchor="ctr" anchorCtr="0"/>
              <a:lstStyle/>
              <a:p>
                <a:endParaRPr lang="zh-CN" altLang="en-US" sz="2600" dirty="0">
                  <a:latin typeface="+mn-ea"/>
                </a:endParaRPr>
              </a:p>
            </p:txBody>
          </p:sp>
        </p:grpSp>
        <p:grpSp>
          <p:nvGrpSpPr>
            <p:cNvPr id="48" name="Group 51">
              <a:extLst>
                <a:ext uri="{FF2B5EF4-FFF2-40B4-BE49-F238E27FC236}">
                  <a16:creationId xmlns:a16="http://schemas.microsoft.com/office/drawing/2014/main" id="{EDBFADF3-8EF5-FBB4-68D4-672CD983AF4E}"/>
                </a:ext>
              </a:extLst>
            </p:cNvPr>
            <p:cNvGrpSpPr/>
            <p:nvPr/>
          </p:nvGrpSpPr>
          <p:grpSpPr>
            <a:xfrm>
              <a:off x="1610" y="2958"/>
              <a:ext cx="350" cy="517"/>
              <a:chOff x="1584" y="2352"/>
              <a:chExt cx="540" cy="739"/>
            </a:xfrm>
          </p:grpSpPr>
          <mc:AlternateContent xmlns:mc="http://schemas.openxmlformats.org/markup-compatibility/2006" xmlns:a14="http://schemas.microsoft.com/office/drawing/2010/main">
            <mc:Choice Requires="a14">
              <p:sp>
                <p:nvSpPr>
                  <p:cNvPr id="49" name="Object 52">
                    <a:extLst>
                      <a:ext uri="{FF2B5EF4-FFF2-40B4-BE49-F238E27FC236}">
                        <a16:creationId xmlns:a16="http://schemas.microsoft.com/office/drawing/2014/main" id="{75B5464C-0ED2-8821-9BAD-6E29D1DE6E9D}"/>
                      </a:ext>
                    </a:extLst>
                  </p:cNvPr>
                  <p:cNvSpPr txBox="1"/>
                  <p:nvPr/>
                </p:nvSpPr>
                <p:spPr>
                  <a:xfrm>
                    <a:off x="1584" y="2592"/>
                    <a:ext cx="540" cy="499"/>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𝑄</m:t>
                              </m:r>
                            </m:e>
                            <m:sub>
                              <m:r>
                                <a:rPr lang="zh-CN" altLang="en-US" sz="2600" b="0" i="1">
                                  <a:solidFill>
                                    <a:srgbClr val="000000"/>
                                  </a:solidFill>
                                  <a:latin typeface="Cambria Math" panose="02040503050406030204" pitchFamily="18" charset="0"/>
                                </a:rPr>
                                <m:t>𝑐𝑑</m:t>
                              </m:r>
                            </m:sub>
                          </m:sSub>
                        </m:oMath>
                      </m:oMathPara>
                    </a14:m>
                    <a:endParaRPr lang="zh-CN" altLang="en-US" sz="2600">
                      <a:latin typeface="+mn-ea"/>
                    </a:endParaRPr>
                  </a:p>
                </p:txBody>
              </p:sp>
            </mc:Choice>
            <mc:Fallback xmlns="">
              <p:sp>
                <p:nvSpPr>
                  <p:cNvPr id="49" name="Object 52">
                    <a:extLst>
                      <a:ext uri="{FF2B5EF4-FFF2-40B4-BE49-F238E27FC236}">
                        <a16:creationId xmlns:a16="http://schemas.microsoft.com/office/drawing/2014/main" id="{75B5464C-0ED2-8821-9BAD-6E29D1DE6E9D}"/>
                      </a:ext>
                    </a:extLst>
                  </p:cNvPr>
                  <p:cNvSpPr txBox="1">
                    <a:spLocks noRot="1" noChangeAspect="1" noMove="1" noResize="1" noEditPoints="1" noAdjustHandles="1" noChangeArrowheads="1" noChangeShapeType="1" noTextEdit="1"/>
                  </p:cNvSpPr>
                  <p:nvPr/>
                </p:nvSpPr>
                <p:spPr>
                  <a:xfrm>
                    <a:off x="1584" y="2592"/>
                    <a:ext cx="540" cy="499"/>
                  </a:xfrm>
                  <a:prstGeom prst="rect">
                    <a:avLst/>
                  </a:prstGeom>
                  <a:blipFill>
                    <a:blip r:embed="rId19"/>
                    <a:stretch>
                      <a:fillRect/>
                    </a:stretch>
                  </a:blipFill>
                  <a:ln w="38100">
                    <a:noFill/>
                    <a:miter/>
                  </a:ln>
                </p:spPr>
                <p:txBody>
                  <a:bodyPr/>
                  <a:lstStyle/>
                  <a:p>
                    <a:r>
                      <a:rPr lang="zh-CN" altLang="en-US">
                        <a:noFill/>
                      </a:rPr>
                      <a:t> </a:t>
                    </a:r>
                  </a:p>
                </p:txBody>
              </p:sp>
            </mc:Fallback>
          </mc:AlternateContent>
          <p:sp>
            <p:nvSpPr>
              <p:cNvPr id="50" name="AutoShape 53">
                <a:extLst>
                  <a:ext uri="{FF2B5EF4-FFF2-40B4-BE49-F238E27FC236}">
                    <a16:creationId xmlns:a16="http://schemas.microsoft.com/office/drawing/2014/main" id="{714E8918-6D66-54FA-E8C2-C85F77932EE0}"/>
                  </a:ext>
                </a:extLst>
              </p:cNvPr>
              <p:cNvSpPr/>
              <p:nvPr/>
            </p:nvSpPr>
            <p:spPr>
              <a:xfrm>
                <a:off x="1584" y="2352"/>
                <a:ext cx="96" cy="384"/>
              </a:xfrm>
              <a:prstGeom prst="downArrow">
                <a:avLst>
                  <a:gd name="adj1" fmla="val 50000"/>
                  <a:gd name="adj2" fmla="val 100000"/>
                </a:avLst>
              </a:prstGeom>
              <a:solidFill>
                <a:schemeClr val="accent2"/>
              </a:solidFill>
              <a:ln w="28575" cap="flat" cmpd="sng">
                <a:solidFill>
                  <a:srgbClr val="0066FF"/>
                </a:solidFill>
                <a:prstDash val="solid"/>
                <a:miter/>
                <a:headEnd type="none" w="med" len="med"/>
                <a:tailEnd type="none" w="med" len="med"/>
              </a:ln>
            </p:spPr>
            <p:txBody>
              <a:bodyPr wrap="none" anchor="ctr" anchorCtr="0"/>
              <a:lstStyle/>
              <a:p>
                <a:endParaRPr lang="zh-CN" altLang="en-US" sz="2600" dirty="0">
                  <a:latin typeface="+mn-ea"/>
                </a:endParaRPr>
              </a:p>
            </p:txBody>
          </p:sp>
        </p:grpSp>
      </p:grpSp>
      <mc:AlternateContent xmlns:mc="http://schemas.openxmlformats.org/markup-compatibility/2006" xmlns:a14="http://schemas.microsoft.com/office/drawing/2010/main">
        <mc:Choice Requires="a14">
          <p:sp>
            <p:nvSpPr>
              <p:cNvPr id="98" name="Object 2">
                <a:extLst>
                  <a:ext uri="{FF2B5EF4-FFF2-40B4-BE49-F238E27FC236}">
                    <a16:creationId xmlns:a16="http://schemas.microsoft.com/office/drawing/2014/main" id="{18AD3EF7-6BCD-1232-8C7E-43A400752378}"/>
                  </a:ext>
                </a:extLst>
              </p:cNvPr>
              <p:cNvSpPr txBox="1">
                <a:spLocks/>
              </p:cNvSpPr>
              <p:nvPr/>
            </p:nvSpPr>
            <p:spPr>
              <a:xfrm>
                <a:off x="5401745" y="4609009"/>
                <a:ext cx="5422347" cy="1627187"/>
              </a:xfrm>
              <a:prstGeom prst="rect">
                <a:avLst/>
              </a:prstGeom>
              <a:noFill/>
              <a:ln w="38100">
                <a:miter/>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14:m>
                  <m:oMathPara xmlns:m="http://schemas.openxmlformats.org/officeDocument/2006/math">
                    <m:oMathParaPr>
                      <m:jc m:val="left"/>
                    </m:oMathParaPr>
                    <m:oMath xmlns:m="http://schemas.openxmlformats.org/officeDocument/2006/math">
                      <m:r>
                        <a:rPr lang="zh-CN" altLang="en-US" i="1" smtClean="0">
                          <a:solidFill>
                            <a:srgbClr val="000000"/>
                          </a:solidFill>
                          <a:latin typeface="Cambria Math" panose="02040503050406030204" pitchFamily="18" charset="0"/>
                        </a:rPr>
                        <m:t>𝜂</m:t>
                      </m:r>
                      <m:r>
                        <a:rPr lang="zh-CN" altLang="en-US" i="1" smtClean="0">
                          <a:solidFill>
                            <a:srgbClr val="000000"/>
                          </a:solidFill>
                          <a:latin typeface="Cambria Math" panose="02040503050406030204" pitchFamily="18" charset="0"/>
                        </a:rPr>
                        <m:t>=1−</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𝑄</m:t>
                              </m:r>
                            </m:e>
                            <m:sub>
                              <m:r>
                                <a:rPr lang="zh-CN" altLang="en-US" i="1">
                                  <a:solidFill>
                                    <a:srgbClr val="000000"/>
                                  </a:solidFill>
                                  <a:latin typeface="Cambria Math" panose="02040503050406030204" pitchFamily="18" charset="0"/>
                                </a:rPr>
                                <m:t>2</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𝑄</m:t>
                              </m:r>
                            </m:e>
                            <m:sub>
                              <m:r>
                                <a:rPr lang="zh-CN" altLang="en-US" i="1">
                                  <a:solidFill>
                                    <a:srgbClr val="000000"/>
                                  </a:solidFill>
                                  <a:latin typeface="Cambria Math" panose="02040503050406030204" pitchFamily="18" charset="0"/>
                                </a:rPr>
                                <m:t>1</m:t>
                              </m:r>
                            </m:sub>
                          </m:sSub>
                        </m:den>
                      </m:f>
                      <m:r>
                        <a:rPr lang="zh-CN" altLang="en-US" i="1">
                          <a:solidFill>
                            <a:srgbClr val="000000"/>
                          </a:solidFill>
                          <a:latin typeface="Cambria Math" panose="02040503050406030204" pitchFamily="18" charset="0"/>
                        </a:rPr>
                        <m:t>=1−</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𝑇</m:t>
                              </m:r>
                            </m:e>
                            <m:sub>
                              <m:r>
                                <a:rPr lang="zh-CN" altLang="en-US" i="1">
                                  <a:solidFill>
                                    <a:srgbClr val="000000"/>
                                  </a:solidFill>
                                  <a:latin typeface="Cambria Math" panose="02040503050406030204" pitchFamily="18" charset="0"/>
                                </a:rPr>
                                <m:t>2</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𝑇</m:t>
                              </m:r>
                            </m:e>
                            <m:sub>
                              <m:r>
                                <a:rPr lang="zh-CN" altLang="en-US" i="1">
                                  <a:solidFill>
                                    <a:srgbClr val="000000"/>
                                  </a:solidFill>
                                  <a:latin typeface="Cambria Math" panose="02040503050406030204" pitchFamily="18" charset="0"/>
                                </a:rPr>
                                <m:t>1</m:t>
                              </m:r>
                            </m:sub>
                          </m:sSub>
                        </m:den>
                      </m:f>
                      <m:f>
                        <m:fPr>
                          <m:ctrlPr>
                            <a:rPr lang="zh-CN" altLang="en-US" i="1">
                              <a:solidFill>
                                <a:srgbClr val="000000"/>
                              </a:solidFill>
                              <a:latin typeface="Cambria Math" panose="02040503050406030204" pitchFamily="18" charset="0"/>
                            </a:rPr>
                          </m:ctrlPr>
                        </m:fPr>
                        <m:num>
                          <m:func>
                            <m:funcPr>
                              <m:ctrlPr>
                                <a:rPr lang="zh-CN" altLang="en-US" i="1">
                                  <a:solidFill>
                                    <a:srgbClr val="000000"/>
                                  </a:solidFill>
                                  <a:latin typeface="Cambria Math" panose="02040503050406030204" pitchFamily="18" charset="0"/>
                                </a:rPr>
                              </m:ctrlPr>
                            </m:funcPr>
                            <m:fName>
                              <m:r>
                                <m:rPr>
                                  <m:sty m:val="p"/>
                                </m:rPr>
                                <a:rPr lang="zh-CN" altLang="en-US">
                                  <a:solidFill>
                                    <a:srgbClr val="000000"/>
                                  </a:solidFill>
                                  <a:latin typeface="Cambria Math" panose="02040503050406030204" pitchFamily="18" charset="0"/>
                                </a:rPr>
                                <m:t>ln</m:t>
                              </m:r>
                            </m:fName>
                            <m:e>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a:rPr lang="zh-CN" altLang="en-US" i="1">
                                          <a:solidFill>
                                            <a:srgbClr val="000000"/>
                                          </a:solidFill>
                                          <a:latin typeface="Cambria Math" panose="02040503050406030204" pitchFamily="18" charset="0"/>
                                        </a:rPr>
                                        <m:t>3</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a:rPr lang="zh-CN" altLang="en-US" i="1">
                                          <a:solidFill>
                                            <a:srgbClr val="000000"/>
                                          </a:solidFill>
                                          <a:latin typeface="Cambria Math" panose="02040503050406030204" pitchFamily="18" charset="0"/>
                                        </a:rPr>
                                        <m:t>4</m:t>
                                      </m:r>
                                    </m:sub>
                                  </m:sSub>
                                </m:den>
                              </m:f>
                            </m:e>
                          </m:func>
                        </m:num>
                        <m:den>
                          <m:func>
                            <m:funcPr>
                              <m:ctrlPr>
                                <a:rPr lang="zh-CN" altLang="en-US" i="1">
                                  <a:solidFill>
                                    <a:srgbClr val="000000"/>
                                  </a:solidFill>
                                  <a:latin typeface="Cambria Math" panose="02040503050406030204" pitchFamily="18" charset="0"/>
                                </a:rPr>
                              </m:ctrlPr>
                            </m:funcPr>
                            <m:fName>
                              <m:r>
                                <m:rPr>
                                  <m:sty m:val="p"/>
                                </m:rPr>
                                <a:rPr lang="zh-CN" altLang="en-US">
                                  <a:solidFill>
                                    <a:srgbClr val="000000"/>
                                  </a:solidFill>
                                  <a:latin typeface="Cambria Math" panose="02040503050406030204" pitchFamily="18" charset="0"/>
                                </a:rPr>
                                <m:t>ln</m:t>
                              </m:r>
                            </m:fName>
                            <m:e>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a:rPr lang="zh-CN" altLang="en-US" i="1">
                                          <a:solidFill>
                                            <a:srgbClr val="000000"/>
                                          </a:solidFill>
                                          <a:latin typeface="Cambria Math" panose="02040503050406030204" pitchFamily="18" charset="0"/>
                                        </a:rPr>
                                        <m:t>2</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a:rPr lang="zh-CN" altLang="en-US" i="1">
                                          <a:solidFill>
                                            <a:srgbClr val="000000"/>
                                          </a:solidFill>
                                          <a:latin typeface="Cambria Math" panose="02040503050406030204" pitchFamily="18" charset="0"/>
                                        </a:rPr>
                                        <m:t>1</m:t>
                                      </m:r>
                                    </m:sub>
                                  </m:sSub>
                                </m:den>
                              </m:f>
                            </m:e>
                          </m:func>
                        </m:den>
                      </m:f>
                    </m:oMath>
                  </m:oMathPara>
                </a14:m>
                <a:endParaRPr lang="zh-CN" altLang="en-US" dirty="0"/>
              </a:p>
            </p:txBody>
          </p:sp>
        </mc:Choice>
        <mc:Fallback xmlns="">
          <p:sp>
            <p:nvSpPr>
              <p:cNvPr id="98" name="Object 2">
                <a:extLst>
                  <a:ext uri="{FF2B5EF4-FFF2-40B4-BE49-F238E27FC236}">
                    <a16:creationId xmlns:a16="http://schemas.microsoft.com/office/drawing/2014/main" id="{18AD3EF7-6BCD-1232-8C7E-43A400752378}"/>
                  </a:ext>
                </a:extLst>
              </p:cNvPr>
              <p:cNvSpPr txBox="1">
                <a:spLocks noRot="1" noChangeAspect="1" noMove="1" noResize="1" noEditPoints="1" noAdjustHandles="1" noChangeArrowheads="1" noChangeShapeType="1" noTextEdit="1"/>
              </p:cNvSpPr>
              <p:nvPr/>
            </p:nvSpPr>
            <p:spPr>
              <a:xfrm>
                <a:off x="5401745" y="4609009"/>
                <a:ext cx="5422347" cy="1627187"/>
              </a:xfrm>
              <a:prstGeom prst="rect">
                <a:avLst/>
              </a:prstGeom>
              <a:blipFill>
                <a:blip r:embed="rId20"/>
                <a:stretch>
                  <a:fillRect t="-1498"/>
                </a:stretch>
              </a:blipFill>
              <a:ln w="38100">
                <a:miter/>
              </a:ln>
            </p:spPr>
            <p:txBody>
              <a:bodyPr/>
              <a:lstStyle/>
              <a:p>
                <a:r>
                  <a:rPr lang="zh-CN" altLang="en-US">
                    <a:noFill/>
                  </a:rPr>
                  <a:t> </a:t>
                </a:r>
              </a:p>
            </p:txBody>
          </p:sp>
        </mc:Fallback>
      </mc:AlternateContent>
    </p:spTree>
    <p:extLst>
      <p:ext uri="{BB962C8B-B14F-4D97-AF65-F5344CB8AC3E}">
        <p14:creationId xmlns:p14="http://schemas.microsoft.com/office/powerpoint/2010/main" val="407426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animBg="1"/>
      <p:bldP spid="43" grpId="0"/>
      <p:bldP spid="44" grpId="0" animBg="1"/>
      <p:bldP spid="9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3">
            <a:hlinkClick r:id="" action="ppaction://noaction"/>
            <a:extLst>
              <a:ext uri="{FF2B5EF4-FFF2-40B4-BE49-F238E27FC236}">
                <a16:creationId xmlns:a16="http://schemas.microsoft.com/office/drawing/2014/main" id="{DE1E5AA0-B039-64CC-03ED-54BC4133CACD}"/>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卡诺循环</a:t>
            </a:r>
          </a:p>
        </p:txBody>
      </p:sp>
      <p:grpSp>
        <p:nvGrpSpPr>
          <p:cNvPr id="45" name="Group 6">
            <a:extLst>
              <a:ext uri="{FF2B5EF4-FFF2-40B4-BE49-F238E27FC236}">
                <a16:creationId xmlns:a16="http://schemas.microsoft.com/office/drawing/2014/main" id="{A41EA02C-22FA-1A80-FB18-39AA44EE2C29}"/>
              </a:ext>
            </a:extLst>
          </p:cNvPr>
          <p:cNvGrpSpPr/>
          <p:nvPr/>
        </p:nvGrpSpPr>
        <p:grpSpPr>
          <a:xfrm>
            <a:off x="809108" y="1539488"/>
            <a:ext cx="3524250" cy="3208338"/>
            <a:chOff x="569" y="1706"/>
            <a:chExt cx="2220" cy="2021"/>
          </a:xfrm>
        </p:grpSpPr>
        <p:grpSp>
          <p:nvGrpSpPr>
            <p:cNvPr id="46" name="Group 7">
              <a:extLst>
                <a:ext uri="{FF2B5EF4-FFF2-40B4-BE49-F238E27FC236}">
                  <a16:creationId xmlns:a16="http://schemas.microsoft.com/office/drawing/2014/main" id="{610EDCC5-D3DA-5494-6CFF-8822795FAE57}"/>
                </a:ext>
              </a:extLst>
            </p:cNvPr>
            <p:cNvGrpSpPr/>
            <p:nvPr/>
          </p:nvGrpSpPr>
          <p:grpSpPr>
            <a:xfrm>
              <a:off x="569" y="1706"/>
              <a:ext cx="2220" cy="2021"/>
              <a:chOff x="569" y="1706"/>
              <a:chExt cx="2220" cy="2021"/>
            </a:xfrm>
          </p:grpSpPr>
          <p:grpSp>
            <p:nvGrpSpPr>
              <p:cNvPr id="53" name="Group 8">
                <a:extLst>
                  <a:ext uri="{FF2B5EF4-FFF2-40B4-BE49-F238E27FC236}">
                    <a16:creationId xmlns:a16="http://schemas.microsoft.com/office/drawing/2014/main" id="{B7BE71C6-719C-532E-5098-77EADBDBA871}"/>
                  </a:ext>
                </a:extLst>
              </p:cNvPr>
              <p:cNvGrpSpPr/>
              <p:nvPr/>
            </p:nvGrpSpPr>
            <p:grpSpPr>
              <a:xfrm>
                <a:off x="569" y="1706"/>
                <a:ext cx="2220" cy="2021"/>
                <a:chOff x="569" y="1706"/>
                <a:chExt cx="2220" cy="2021"/>
              </a:xfrm>
            </p:grpSpPr>
            <p:sp>
              <p:nvSpPr>
                <p:cNvPr id="55" name="Rectangle 9">
                  <a:extLst>
                    <a:ext uri="{FF2B5EF4-FFF2-40B4-BE49-F238E27FC236}">
                      <a16:creationId xmlns:a16="http://schemas.microsoft.com/office/drawing/2014/main" id="{7EFE2862-1F27-67D1-D541-9093F3777BF2}"/>
                    </a:ext>
                  </a:extLst>
                </p:cNvPr>
                <p:cNvSpPr/>
                <p:nvPr/>
              </p:nvSpPr>
              <p:spPr>
                <a:xfrm>
                  <a:off x="580" y="1706"/>
                  <a:ext cx="2209" cy="2017"/>
                </a:xfrm>
                <a:prstGeom prst="rect">
                  <a:avLst/>
                </a:prstGeom>
                <a:solidFill>
                  <a:schemeClr val="bg1"/>
                </a:solidFill>
                <a:ln w="9525" cap="flat" cmpd="sng">
                  <a:noFill/>
                  <a:prstDash val="solid"/>
                  <a:miter/>
                  <a:headEnd type="none" w="med" len="med"/>
                  <a:tailEnd type="none" w="med" len="med"/>
                </a:ln>
              </p:spPr>
              <p:txBody>
                <a:bodyPr wrap="none" anchor="ctr" anchorCtr="0"/>
                <a:lstStyle/>
                <a:p>
                  <a:endParaRPr lang="zh-CN" altLang="en-US" sz="2600" dirty="0">
                    <a:latin typeface="+mn-ea"/>
                  </a:endParaRPr>
                </a:p>
              </p:txBody>
            </p:sp>
            <p:sp>
              <p:nvSpPr>
                <p:cNvPr id="56" name="Line 10">
                  <a:extLst>
                    <a:ext uri="{FF2B5EF4-FFF2-40B4-BE49-F238E27FC236}">
                      <a16:creationId xmlns:a16="http://schemas.microsoft.com/office/drawing/2014/main" id="{4EE75B1E-C050-ADAB-056B-C0BB3487CD05}"/>
                    </a:ext>
                  </a:extLst>
                </p:cNvPr>
                <p:cNvSpPr/>
                <p:nvPr/>
              </p:nvSpPr>
              <p:spPr>
                <a:xfrm>
                  <a:off x="835" y="3476"/>
                  <a:ext cx="1912" cy="0"/>
                </a:xfrm>
                <a:prstGeom prst="line">
                  <a:avLst/>
                </a:prstGeom>
                <a:ln w="19050" cap="flat" cmpd="sng">
                  <a:solidFill>
                    <a:srgbClr val="000000"/>
                  </a:solidFill>
                  <a:prstDash val="solid"/>
                  <a:headEnd type="none" w="med" len="med"/>
                  <a:tailEnd type="triangle" w="sm" len="lg"/>
                </a:ln>
              </p:spPr>
            </p:sp>
            <p:sp>
              <p:nvSpPr>
                <p:cNvPr id="57" name="Line 11">
                  <a:extLst>
                    <a:ext uri="{FF2B5EF4-FFF2-40B4-BE49-F238E27FC236}">
                      <a16:creationId xmlns:a16="http://schemas.microsoft.com/office/drawing/2014/main" id="{BC38CD6B-3108-CBCE-FCAC-A7876292C8C2}"/>
                    </a:ext>
                  </a:extLst>
                </p:cNvPr>
                <p:cNvSpPr/>
                <p:nvPr/>
              </p:nvSpPr>
              <p:spPr>
                <a:xfrm flipV="1">
                  <a:off x="835" y="1790"/>
                  <a:ext cx="0" cy="1679"/>
                </a:xfrm>
                <a:prstGeom prst="line">
                  <a:avLst/>
                </a:prstGeom>
                <a:ln w="19050" cap="flat" cmpd="sng">
                  <a:solidFill>
                    <a:srgbClr val="000000"/>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58" name="Object 12">
                      <a:extLst>
                        <a:ext uri="{FF2B5EF4-FFF2-40B4-BE49-F238E27FC236}">
                          <a16:creationId xmlns:a16="http://schemas.microsoft.com/office/drawing/2014/main" id="{EE364DCB-CABF-F5B6-8863-FE62FFE33A6C}"/>
                        </a:ext>
                      </a:extLst>
                    </p:cNvPr>
                    <p:cNvSpPr txBox="1"/>
                    <p:nvPr/>
                  </p:nvSpPr>
                  <p:spPr>
                    <a:xfrm>
                      <a:off x="2577" y="3270"/>
                      <a:ext cx="170" cy="187"/>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600" b="0" i="1">
                                <a:solidFill>
                                  <a:srgbClr val="000000"/>
                                </a:solidFill>
                                <a:latin typeface="Cambria Math" panose="02040503050406030204" pitchFamily="18" charset="0"/>
                              </a:rPr>
                              <m:t>𝑉</m:t>
                            </m:r>
                          </m:oMath>
                        </m:oMathPara>
                      </a14:m>
                      <a:endParaRPr lang="zh-CN" altLang="en-US" sz="2600">
                        <a:latin typeface="+mn-ea"/>
                      </a:endParaRPr>
                    </a:p>
                  </p:txBody>
                </p:sp>
              </mc:Choice>
              <mc:Fallback xmlns="">
                <p:sp>
                  <p:nvSpPr>
                    <p:cNvPr id="58" name="Object 12">
                      <a:extLst>
                        <a:ext uri="{FF2B5EF4-FFF2-40B4-BE49-F238E27FC236}">
                          <a16:creationId xmlns:a16="http://schemas.microsoft.com/office/drawing/2014/main" id="{EE364DCB-CABF-F5B6-8863-FE62FFE33A6C}"/>
                        </a:ext>
                      </a:extLst>
                    </p:cNvPr>
                    <p:cNvSpPr txBox="1">
                      <a:spLocks noRot="1" noChangeAspect="1" noMove="1" noResize="1" noEditPoints="1" noAdjustHandles="1" noChangeArrowheads="1" noChangeShapeType="1" noTextEdit="1"/>
                    </p:cNvSpPr>
                    <p:nvPr/>
                  </p:nvSpPr>
                  <p:spPr>
                    <a:xfrm>
                      <a:off x="2577" y="3270"/>
                      <a:ext cx="170" cy="187"/>
                    </a:xfrm>
                    <a:prstGeom prst="rect">
                      <a:avLst/>
                    </a:prstGeom>
                    <a:blipFill>
                      <a:blip r:embed="rId2"/>
                      <a:stretch>
                        <a:fillRect r="-11364" b="-18367"/>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 name="Object 13">
                      <a:extLst>
                        <a:ext uri="{FF2B5EF4-FFF2-40B4-BE49-F238E27FC236}">
                          <a16:creationId xmlns:a16="http://schemas.microsoft.com/office/drawing/2014/main" id="{4C76DE25-CFC9-ECE8-35C3-1A57A5EC0D97}"/>
                        </a:ext>
                      </a:extLst>
                    </p:cNvPr>
                    <p:cNvSpPr txBox="1"/>
                    <p:nvPr/>
                  </p:nvSpPr>
                  <p:spPr>
                    <a:xfrm>
                      <a:off x="742" y="3471"/>
                      <a:ext cx="149" cy="169"/>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600" b="0" i="1">
                                <a:solidFill>
                                  <a:srgbClr val="000000"/>
                                </a:solidFill>
                                <a:latin typeface="Cambria Math" panose="02040503050406030204" pitchFamily="18" charset="0"/>
                              </a:rPr>
                              <m:t>𝑜</m:t>
                            </m:r>
                          </m:oMath>
                        </m:oMathPara>
                      </a14:m>
                      <a:endParaRPr lang="zh-CN" altLang="en-US" sz="2600">
                        <a:latin typeface="+mn-ea"/>
                      </a:endParaRPr>
                    </a:p>
                  </p:txBody>
                </p:sp>
              </mc:Choice>
              <mc:Fallback xmlns="">
                <p:sp>
                  <p:nvSpPr>
                    <p:cNvPr id="59" name="Object 13">
                      <a:extLst>
                        <a:ext uri="{FF2B5EF4-FFF2-40B4-BE49-F238E27FC236}">
                          <a16:creationId xmlns:a16="http://schemas.microsoft.com/office/drawing/2014/main" id="{4C76DE25-CFC9-ECE8-35C3-1A57A5EC0D97}"/>
                        </a:ext>
                      </a:extLst>
                    </p:cNvPr>
                    <p:cNvSpPr txBox="1">
                      <a:spLocks noRot="1" noChangeAspect="1" noMove="1" noResize="1" noEditPoints="1" noAdjustHandles="1" noChangeArrowheads="1" noChangeShapeType="1" noTextEdit="1"/>
                    </p:cNvSpPr>
                    <p:nvPr/>
                  </p:nvSpPr>
                  <p:spPr>
                    <a:xfrm>
                      <a:off x="742" y="3471"/>
                      <a:ext cx="149" cy="169"/>
                    </a:xfrm>
                    <a:prstGeom prst="rect">
                      <a:avLst/>
                    </a:prstGeom>
                    <a:blipFill>
                      <a:blip r:embed="rId3"/>
                      <a:stretch>
                        <a:fillRect r="-5128" b="-34091"/>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 name="Object 14">
                      <a:extLst>
                        <a:ext uri="{FF2B5EF4-FFF2-40B4-BE49-F238E27FC236}">
                          <a16:creationId xmlns:a16="http://schemas.microsoft.com/office/drawing/2014/main" id="{C2FAD23B-BF18-B2AF-D619-C563AF988A2C}"/>
                        </a:ext>
                      </a:extLst>
                    </p:cNvPr>
                    <p:cNvSpPr txBox="1"/>
                    <p:nvPr/>
                  </p:nvSpPr>
                  <p:spPr>
                    <a:xfrm>
                      <a:off x="602" y="1788"/>
                      <a:ext cx="179" cy="206"/>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600" b="0" i="1">
                                <a:solidFill>
                                  <a:srgbClr val="000000"/>
                                </a:solidFill>
                                <a:latin typeface="Cambria Math" panose="02040503050406030204" pitchFamily="18" charset="0"/>
                              </a:rPr>
                              <m:t>𝑝</m:t>
                            </m:r>
                          </m:oMath>
                        </m:oMathPara>
                      </a14:m>
                      <a:endParaRPr lang="zh-CN" altLang="en-US" sz="2600">
                        <a:latin typeface="+mn-ea"/>
                      </a:endParaRPr>
                    </a:p>
                  </p:txBody>
                </p:sp>
              </mc:Choice>
              <mc:Fallback xmlns="">
                <p:sp>
                  <p:nvSpPr>
                    <p:cNvPr id="60" name="Object 14">
                      <a:extLst>
                        <a:ext uri="{FF2B5EF4-FFF2-40B4-BE49-F238E27FC236}">
                          <a16:creationId xmlns:a16="http://schemas.microsoft.com/office/drawing/2014/main" id="{C2FAD23B-BF18-B2AF-D619-C563AF988A2C}"/>
                        </a:ext>
                      </a:extLst>
                    </p:cNvPr>
                    <p:cNvSpPr txBox="1">
                      <a:spLocks noRot="1" noChangeAspect="1" noMove="1" noResize="1" noEditPoints="1" noAdjustHandles="1" noChangeArrowheads="1" noChangeShapeType="1" noTextEdit="1"/>
                    </p:cNvSpPr>
                    <p:nvPr/>
                  </p:nvSpPr>
                  <p:spPr>
                    <a:xfrm>
                      <a:off x="602" y="1788"/>
                      <a:ext cx="179" cy="206"/>
                    </a:xfrm>
                    <a:prstGeom prst="rect">
                      <a:avLst/>
                    </a:prstGeom>
                    <a:blipFill>
                      <a:blip r:embed="rId4"/>
                      <a:stretch>
                        <a:fillRect b="-27778"/>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Object 15">
                      <a:extLst>
                        <a:ext uri="{FF2B5EF4-FFF2-40B4-BE49-F238E27FC236}">
                          <a16:creationId xmlns:a16="http://schemas.microsoft.com/office/drawing/2014/main" id="{FC541D31-FF36-4471-4D78-302EB4D75CF5}"/>
                        </a:ext>
                      </a:extLst>
                    </p:cNvPr>
                    <p:cNvSpPr txBox="1"/>
                    <p:nvPr/>
                  </p:nvSpPr>
                  <p:spPr>
                    <a:xfrm>
                      <a:off x="2077" y="3165"/>
                      <a:ext cx="210" cy="256"/>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𝑇</m:t>
                                </m:r>
                              </m:e>
                              <m:sub>
                                <m:r>
                                  <a:rPr lang="zh-CN" altLang="en-US" sz="2600" b="0" i="1">
                                    <a:solidFill>
                                      <a:srgbClr val="000000"/>
                                    </a:solidFill>
                                    <a:latin typeface="Cambria Math" panose="02040503050406030204" pitchFamily="18" charset="0"/>
                                  </a:rPr>
                                  <m:t>2</m:t>
                                </m:r>
                              </m:sub>
                            </m:sSub>
                          </m:oMath>
                        </m:oMathPara>
                      </a14:m>
                      <a:endParaRPr lang="zh-CN" altLang="en-US" sz="2600">
                        <a:latin typeface="+mn-ea"/>
                      </a:endParaRPr>
                    </a:p>
                  </p:txBody>
                </p:sp>
              </mc:Choice>
              <mc:Fallback xmlns="">
                <p:sp>
                  <p:nvSpPr>
                    <p:cNvPr id="61" name="Object 15">
                      <a:extLst>
                        <a:ext uri="{FF2B5EF4-FFF2-40B4-BE49-F238E27FC236}">
                          <a16:creationId xmlns:a16="http://schemas.microsoft.com/office/drawing/2014/main" id="{FC541D31-FF36-4471-4D78-302EB4D75CF5}"/>
                        </a:ext>
                      </a:extLst>
                    </p:cNvPr>
                    <p:cNvSpPr txBox="1">
                      <a:spLocks noRot="1" noChangeAspect="1" noMove="1" noResize="1" noEditPoints="1" noAdjustHandles="1" noChangeArrowheads="1" noChangeShapeType="1" noTextEdit="1"/>
                    </p:cNvSpPr>
                    <p:nvPr/>
                  </p:nvSpPr>
                  <p:spPr>
                    <a:xfrm>
                      <a:off x="2077" y="3165"/>
                      <a:ext cx="210" cy="256"/>
                    </a:xfrm>
                    <a:prstGeom prst="rect">
                      <a:avLst/>
                    </a:prstGeom>
                    <a:blipFill>
                      <a:blip r:embed="rId5"/>
                      <a:stretch>
                        <a:fillRect r="-9091" b="-2985"/>
                      </a:stretch>
                    </a:blipFill>
                    <a:ln w="38100">
                      <a:noFill/>
                      <a:miter/>
                    </a:ln>
                  </p:spPr>
                  <p:txBody>
                    <a:bodyPr/>
                    <a:lstStyle/>
                    <a:p>
                      <a:r>
                        <a:rPr lang="zh-CN" altLang="en-US">
                          <a:noFill/>
                        </a:rPr>
                        <a:t> </a:t>
                      </a:r>
                    </a:p>
                  </p:txBody>
                </p:sp>
              </mc:Fallback>
            </mc:AlternateContent>
            <p:sp>
              <p:nvSpPr>
                <p:cNvPr id="62" name="Freeform 16" descr="浅色上对角线">
                  <a:extLst>
                    <a:ext uri="{FF2B5EF4-FFF2-40B4-BE49-F238E27FC236}">
                      <a16:creationId xmlns:a16="http://schemas.microsoft.com/office/drawing/2014/main" id="{56E897EA-4816-C4D5-3D21-6DFA92017C76}"/>
                    </a:ext>
                  </a:extLst>
                </p:cNvPr>
                <p:cNvSpPr/>
                <p:nvPr/>
              </p:nvSpPr>
              <p:spPr>
                <a:xfrm>
                  <a:off x="1089" y="2133"/>
                  <a:ext cx="1297" cy="1045"/>
                </a:xfrm>
                <a:custGeom>
                  <a:avLst/>
                  <a:gdLst>
                    <a:gd name="txL" fmla="*/ 0 w 1465"/>
                    <a:gd name="txT" fmla="*/ 0 h 1219"/>
                    <a:gd name="txR" fmla="*/ 1465 w 1465"/>
                    <a:gd name="txB" fmla="*/ 1219 h 1219"/>
                  </a:gdLst>
                  <a:ahLst/>
                  <a:cxnLst>
                    <a:cxn ang="0">
                      <a:pos x="20" y="46"/>
                    </a:cxn>
                    <a:cxn ang="0">
                      <a:pos x="47" y="211"/>
                    </a:cxn>
                    <a:cxn ang="0">
                      <a:pos x="94" y="350"/>
                    </a:cxn>
                    <a:cxn ang="0">
                      <a:pos x="157" y="535"/>
                    </a:cxn>
                    <a:cxn ang="0">
                      <a:pos x="220" y="654"/>
                    </a:cxn>
                    <a:cxn ang="0">
                      <a:pos x="309" y="772"/>
                    </a:cxn>
                    <a:cxn ang="0">
                      <a:pos x="439" y="829"/>
                    </a:cxn>
                    <a:cxn ang="0">
                      <a:pos x="613" y="905"/>
                    </a:cxn>
                    <a:cxn ang="0">
                      <a:pos x="878" y="973"/>
                    </a:cxn>
                    <a:cxn ang="0">
                      <a:pos x="1086" y="1013"/>
                    </a:cxn>
                    <a:cxn ang="0">
                      <a:pos x="1297" y="1045"/>
                    </a:cxn>
                    <a:cxn ang="0">
                      <a:pos x="1197" y="958"/>
                    </a:cxn>
                    <a:cxn ang="0">
                      <a:pos x="1082" y="880"/>
                    </a:cxn>
                    <a:cxn ang="0">
                      <a:pos x="1046" y="839"/>
                    </a:cxn>
                    <a:cxn ang="0">
                      <a:pos x="993" y="777"/>
                    </a:cxn>
                    <a:cxn ang="0">
                      <a:pos x="968" y="736"/>
                    </a:cxn>
                    <a:cxn ang="0">
                      <a:pos x="904" y="613"/>
                    </a:cxn>
                    <a:cxn ang="0">
                      <a:pos x="826" y="567"/>
                    </a:cxn>
                    <a:cxn ang="0">
                      <a:pos x="889" y="582"/>
                    </a:cxn>
                    <a:cxn ang="0">
                      <a:pos x="765" y="543"/>
                    </a:cxn>
                    <a:cxn ang="0">
                      <a:pos x="700" y="520"/>
                    </a:cxn>
                    <a:cxn ang="0">
                      <a:pos x="617" y="489"/>
                    </a:cxn>
                    <a:cxn ang="0">
                      <a:pos x="523" y="432"/>
                    </a:cxn>
                    <a:cxn ang="0">
                      <a:pos x="339" y="315"/>
                    </a:cxn>
                    <a:cxn ang="0">
                      <a:pos x="189" y="206"/>
                    </a:cxn>
                    <a:cxn ang="0">
                      <a:pos x="110" y="139"/>
                    </a:cxn>
                    <a:cxn ang="0">
                      <a:pos x="0" y="0"/>
                    </a:cxn>
                  </a:cxnLst>
                  <a:rect l="txL" t="txT" r="txR" b="txB"/>
                  <a:pathLst>
                    <a:path w="1465" h="1219">
                      <a:moveTo>
                        <a:pt x="23" y="54"/>
                      </a:moveTo>
                      <a:lnTo>
                        <a:pt x="53" y="246"/>
                      </a:lnTo>
                      <a:lnTo>
                        <a:pt x="106" y="408"/>
                      </a:lnTo>
                      <a:lnTo>
                        <a:pt x="177" y="624"/>
                      </a:lnTo>
                      <a:lnTo>
                        <a:pt x="248" y="763"/>
                      </a:lnTo>
                      <a:lnTo>
                        <a:pt x="349" y="901"/>
                      </a:lnTo>
                      <a:lnTo>
                        <a:pt x="496" y="967"/>
                      </a:lnTo>
                      <a:lnTo>
                        <a:pt x="692" y="1056"/>
                      </a:lnTo>
                      <a:lnTo>
                        <a:pt x="992" y="1135"/>
                      </a:lnTo>
                      <a:lnTo>
                        <a:pt x="1227" y="1182"/>
                      </a:lnTo>
                      <a:lnTo>
                        <a:pt x="1465" y="1219"/>
                      </a:lnTo>
                      <a:lnTo>
                        <a:pt x="1352" y="1117"/>
                      </a:lnTo>
                      <a:lnTo>
                        <a:pt x="1222" y="1027"/>
                      </a:lnTo>
                      <a:lnTo>
                        <a:pt x="1181" y="979"/>
                      </a:lnTo>
                      <a:lnTo>
                        <a:pt x="1122" y="906"/>
                      </a:lnTo>
                      <a:lnTo>
                        <a:pt x="1093" y="859"/>
                      </a:lnTo>
                      <a:lnTo>
                        <a:pt x="1021" y="715"/>
                      </a:lnTo>
                      <a:lnTo>
                        <a:pt x="933" y="661"/>
                      </a:lnTo>
                      <a:lnTo>
                        <a:pt x="1004" y="679"/>
                      </a:lnTo>
                      <a:lnTo>
                        <a:pt x="864" y="633"/>
                      </a:lnTo>
                      <a:lnTo>
                        <a:pt x="791" y="607"/>
                      </a:lnTo>
                      <a:lnTo>
                        <a:pt x="697" y="570"/>
                      </a:lnTo>
                      <a:lnTo>
                        <a:pt x="591" y="504"/>
                      </a:lnTo>
                      <a:lnTo>
                        <a:pt x="383" y="367"/>
                      </a:lnTo>
                      <a:lnTo>
                        <a:pt x="213" y="240"/>
                      </a:lnTo>
                      <a:lnTo>
                        <a:pt x="124" y="162"/>
                      </a:lnTo>
                      <a:lnTo>
                        <a:pt x="0" y="0"/>
                      </a:lnTo>
                    </a:path>
                  </a:pathLst>
                </a:custGeom>
                <a:pattFill prst="ltUpDiag">
                  <a:fgClr>
                    <a:srgbClr val="CC3399">
                      <a:alpha val="100000"/>
                    </a:srgbClr>
                  </a:fgClr>
                  <a:bgClr>
                    <a:schemeClr val="bg1">
                      <a:alpha val="100000"/>
                    </a:schemeClr>
                  </a:bgClr>
                </a:pattFill>
                <a:ln w="9525">
                  <a:noFill/>
                </a:ln>
              </p:spPr>
              <p:txBody>
                <a:bodyPr/>
                <a:lstStyle/>
                <a:p>
                  <a:endParaRPr lang="zh-CN" altLang="en-US" sz="2600">
                    <a:latin typeface="+mn-ea"/>
                  </a:endParaRPr>
                </a:p>
              </p:txBody>
            </p:sp>
            <p:sp>
              <p:nvSpPr>
                <p:cNvPr id="63" name="Text Box 17">
                  <a:extLst>
                    <a:ext uri="{FF2B5EF4-FFF2-40B4-BE49-F238E27FC236}">
                      <a16:creationId xmlns:a16="http://schemas.microsoft.com/office/drawing/2014/main" id="{FE3F9C49-ECD5-7C2B-05A4-A7ACC1FA626D}"/>
                    </a:ext>
                  </a:extLst>
                </p:cNvPr>
                <p:cNvSpPr txBox="1"/>
                <p:nvPr/>
              </p:nvSpPr>
              <p:spPr>
                <a:xfrm flipH="1">
                  <a:off x="1492" y="2638"/>
                  <a:ext cx="330" cy="310"/>
                </a:xfrm>
                <a:prstGeom prst="rect">
                  <a:avLst/>
                </a:prstGeom>
                <a:noFill/>
                <a:ln w="9525">
                  <a:noFill/>
                </a:ln>
              </p:spPr>
              <p:txBody>
                <a:bodyPr>
                  <a:spAutoFit/>
                </a:bodyPr>
                <a:lstStyle/>
                <a:p>
                  <a:pPr>
                    <a:spcBef>
                      <a:spcPct val="50000"/>
                    </a:spcBef>
                  </a:pPr>
                  <a:r>
                    <a:rPr lang="en-US" altLang="zh-CN" sz="2600" i="1" dirty="0">
                      <a:solidFill>
                        <a:srgbClr val="CC0000"/>
                      </a:solidFill>
                      <a:latin typeface="+mn-ea"/>
                    </a:rPr>
                    <a:t>A</a:t>
                  </a:r>
                  <a:endParaRPr lang="en-US" altLang="zh-CN" sz="2600" i="1" dirty="0">
                    <a:solidFill>
                      <a:srgbClr val="A50021"/>
                    </a:solidFill>
                    <a:latin typeface="+mn-ea"/>
                  </a:endParaRPr>
                </a:p>
              </p:txBody>
            </p:sp>
            <p:sp>
              <p:nvSpPr>
                <p:cNvPr id="64" name="Line 18">
                  <a:extLst>
                    <a:ext uri="{FF2B5EF4-FFF2-40B4-BE49-F238E27FC236}">
                      <a16:creationId xmlns:a16="http://schemas.microsoft.com/office/drawing/2014/main" id="{0657D7C9-425E-75DA-AF06-647E5D52C10D}"/>
                    </a:ext>
                  </a:extLst>
                </p:cNvPr>
                <p:cNvSpPr/>
                <p:nvPr/>
              </p:nvSpPr>
              <p:spPr>
                <a:xfrm flipH="1" flipV="1">
                  <a:off x="1675" y="3034"/>
                  <a:ext cx="109" cy="36"/>
                </a:xfrm>
                <a:prstGeom prst="line">
                  <a:avLst/>
                </a:prstGeom>
                <a:ln w="57150" cap="flat" cmpd="sng">
                  <a:solidFill>
                    <a:srgbClr val="0000FF"/>
                  </a:solidFill>
                  <a:prstDash val="solid"/>
                  <a:headEnd type="none" w="med" len="med"/>
                  <a:tailEnd type="triangle" w="sm" len="lg"/>
                </a:ln>
              </p:spPr>
            </p:sp>
            <p:sp>
              <p:nvSpPr>
                <p:cNvPr id="65" name="Line 19">
                  <a:extLst>
                    <a:ext uri="{FF2B5EF4-FFF2-40B4-BE49-F238E27FC236}">
                      <a16:creationId xmlns:a16="http://schemas.microsoft.com/office/drawing/2014/main" id="{333043DD-18ED-89A6-CCBB-3DE38E652473}"/>
                    </a:ext>
                  </a:extLst>
                </p:cNvPr>
                <p:cNvSpPr/>
                <p:nvPr/>
              </p:nvSpPr>
              <p:spPr>
                <a:xfrm>
                  <a:off x="1516" y="2492"/>
                  <a:ext cx="122" cy="73"/>
                </a:xfrm>
                <a:prstGeom prst="line">
                  <a:avLst/>
                </a:prstGeom>
                <a:ln w="57150" cap="flat" cmpd="sng">
                  <a:solidFill>
                    <a:srgbClr val="0000FF"/>
                  </a:solidFill>
                  <a:prstDash val="solid"/>
                  <a:headEnd type="none" w="med" len="med"/>
                  <a:tailEnd type="triangle" w="sm" len="lg"/>
                </a:ln>
              </p:spPr>
            </p:sp>
            <p:sp>
              <p:nvSpPr>
                <p:cNvPr id="66" name="Line 20">
                  <a:extLst>
                    <a:ext uri="{FF2B5EF4-FFF2-40B4-BE49-F238E27FC236}">
                      <a16:creationId xmlns:a16="http://schemas.microsoft.com/office/drawing/2014/main" id="{11E4B7D1-39F9-0642-7904-F39E82A8ED34}"/>
                    </a:ext>
                  </a:extLst>
                </p:cNvPr>
                <p:cNvSpPr/>
                <p:nvPr/>
              </p:nvSpPr>
              <p:spPr>
                <a:xfrm flipH="1" flipV="1">
                  <a:off x="1163" y="2457"/>
                  <a:ext cx="36" cy="108"/>
                </a:xfrm>
                <a:prstGeom prst="line">
                  <a:avLst/>
                </a:prstGeom>
                <a:ln w="57150" cap="flat" cmpd="sng">
                  <a:solidFill>
                    <a:srgbClr val="CC0099"/>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67" name="Object 21">
                      <a:extLst>
                        <a:ext uri="{FF2B5EF4-FFF2-40B4-BE49-F238E27FC236}">
                          <a16:creationId xmlns:a16="http://schemas.microsoft.com/office/drawing/2014/main" id="{98F5553E-9AEB-E8A8-EB4F-E7491CFC8C9B}"/>
                        </a:ext>
                      </a:extLst>
                    </p:cNvPr>
                    <p:cNvSpPr txBox="1"/>
                    <p:nvPr/>
                  </p:nvSpPr>
                  <p:spPr>
                    <a:xfrm>
                      <a:off x="1684" y="2365"/>
                      <a:ext cx="179" cy="252"/>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𝑇</m:t>
                                </m:r>
                              </m:e>
                              <m:sub>
                                <m:r>
                                  <a:rPr lang="zh-CN" altLang="en-US" sz="2600" b="0" i="1">
                                    <a:solidFill>
                                      <a:srgbClr val="000000"/>
                                    </a:solidFill>
                                    <a:latin typeface="Cambria Math" panose="02040503050406030204" pitchFamily="18" charset="0"/>
                                  </a:rPr>
                                  <m:t>1</m:t>
                                </m:r>
                              </m:sub>
                            </m:sSub>
                          </m:oMath>
                        </m:oMathPara>
                      </a14:m>
                      <a:endParaRPr lang="zh-CN" altLang="en-US" sz="2600">
                        <a:latin typeface="+mn-ea"/>
                      </a:endParaRPr>
                    </a:p>
                  </p:txBody>
                </p:sp>
              </mc:Choice>
              <mc:Fallback xmlns="">
                <p:sp>
                  <p:nvSpPr>
                    <p:cNvPr id="67" name="Object 21">
                      <a:extLst>
                        <a:ext uri="{FF2B5EF4-FFF2-40B4-BE49-F238E27FC236}">
                          <a16:creationId xmlns:a16="http://schemas.microsoft.com/office/drawing/2014/main" id="{98F5553E-9AEB-E8A8-EB4F-E7491CFC8C9B}"/>
                        </a:ext>
                      </a:extLst>
                    </p:cNvPr>
                    <p:cNvSpPr txBox="1">
                      <a:spLocks noRot="1" noChangeAspect="1" noMove="1" noResize="1" noEditPoints="1" noAdjustHandles="1" noChangeArrowheads="1" noChangeShapeType="1" noTextEdit="1"/>
                    </p:cNvSpPr>
                    <p:nvPr/>
                  </p:nvSpPr>
                  <p:spPr>
                    <a:xfrm>
                      <a:off x="1684" y="2365"/>
                      <a:ext cx="179" cy="252"/>
                    </a:xfrm>
                    <a:prstGeom prst="rect">
                      <a:avLst/>
                    </a:prstGeom>
                    <a:blipFill>
                      <a:blip r:embed="rId6"/>
                      <a:stretch>
                        <a:fillRect r="-27660" b="-4545"/>
                      </a:stretch>
                    </a:blipFill>
                    <a:ln w="38100">
                      <a:noFill/>
                      <a:miter/>
                    </a:ln>
                  </p:spPr>
                  <p:txBody>
                    <a:bodyPr/>
                    <a:lstStyle/>
                    <a:p>
                      <a:r>
                        <a:rPr lang="zh-CN" altLang="en-US">
                          <a:noFill/>
                        </a:rPr>
                        <a:t> </a:t>
                      </a:r>
                    </a:p>
                  </p:txBody>
                </p:sp>
              </mc:Fallback>
            </mc:AlternateContent>
            <p:sp>
              <p:nvSpPr>
                <p:cNvPr id="68" name="Line 22">
                  <a:extLst>
                    <a:ext uri="{FF2B5EF4-FFF2-40B4-BE49-F238E27FC236}">
                      <a16:creationId xmlns:a16="http://schemas.microsoft.com/office/drawing/2014/main" id="{6C1298FA-277F-2AD4-5542-CEB6D1324287}"/>
                    </a:ext>
                  </a:extLst>
                </p:cNvPr>
                <p:cNvSpPr/>
                <p:nvPr/>
              </p:nvSpPr>
              <p:spPr>
                <a:xfrm>
                  <a:off x="2109" y="2900"/>
                  <a:ext cx="78" cy="98"/>
                </a:xfrm>
                <a:prstGeom prst="line">
                  <a:avLst/>
                </a:prstGeom>
                <a:ln w="57150" cap="flat" cmpd="sng">
                  <a:solidFill>
                    <a:srgbClr val="CC0099"/>
                  </a:solidFill>
                  <a:prstDash val="solid"/>
                  <a:headEnd type="none" w="med" len="med"/>
                  <a:tailEnd type="triangle" w="sm" len="lg"/>
                </a:ln>
              </p:spPr>
            </p:sp>
            <p:sp>
              <p:nvSpPr>
                <p:cNvPr id="69" name="Freeform 23">
                  <a:extLst>
                    <a:ext uri="{FF2B5EF4-FFF2-40B4-BE49-F238E27FC236}">
                      <a16:creationId xmlns:a16="http://schemas.microsoft.com/office/drawing/2014/main" id="{C24C451A-E0AA-665D-47BF-52419039BD2C}"/>
                    </a:ext>
                  </a:extLst>
                </p:cNvPr>
                <p:cNvSpPr/>
                <p:nvPr/>
              </p:nvSpPr>
              <p:spPr>
                <a:xfrm>
                  <a:off x="1089" y="2133"/>
                  <a:ext cx="925" cy="583"/>
                </a:xfrm>
                <a:custGeom>
                  <a:avLst/>
                  <a:gdLst>
                    <a:gd name="txL" fmla="*/ 0 w 1044"/>
                    <a:gd name="txT" fmla="*/ 0 h 680"/>
                    <a:gd name="txR" fmla="*/ 1044 w 1044"/>
                    <a:gd name="txB" fmla="*/ 680 h 680"/>
                  </a:gdLst>
                  <a:ahLst/>
                  <a:cxnLst>
                    <a:cxn ang="0">
                      <a:pos x="0" y="0"/>
                    </a:cxn>
                    <a:cxn ang="0">
                      <a:pos x="214" y="211"/>
                    </a:cxn>
                    <a:cxn ang="0">
                      <a:pos x="444" y="373"/>
                    </a:cxn>
                    <a:cxn ang="0">
                      <a:pos x="650" y="484"/>
                    </a:cxn>
                    <a:cxn ang="0">
                      <a:pos x="887" y="570"/>
                    </a:cxn>
                    <a:cxn ang="0">
                      <a:pos x="882" y="564"/>
                    </a:cxn>
                  </a:cxnLst>
                  <a:rect l="txL" t="txT" r="txR" b="txB"/>
                  <a:pathLst>
                    <a:path w="1044" h="680">
                      <a:moveTo>
                        <a:pt x="0" y="0"/>
                      </a:moveTo>
                      <a:cubicBezTo>
                        <a:pt x="40" y="41"/>
                        <a:pt x="159" y="174"/>
                        <a:pt x="242" y="246"/>
                      </a:cubicBezTo>
                      <a:cubicBezTo>
                        <a:pt x="325" y="318"/>
                        <a:pt x="419" y="382"/>
                        <a:pt x="501" y="435"/>
                      </a:cubicBezTo>
                      <a:cubicBezTo>
                        <a:pt x="583" y="488"/>
                        <a:pt x="651" y="527"/>
                        <a:pt x="734" y="565"/>
                      </a:cubicBezTo>
                      <a:cubicBezTo>
                        <a:pt x="817" y="603"/>
                        <a:pt x="958" y="650"/>
                        <a:pt x="1001" y="665"/>
                      </a:cubicBezTo>
                      <a:cubicBezTo>
                        <a:pt x="1044" y="680"/>
                        <a:pt x="996" y="658"/>
                        <a:pt x="995" y="658"/>
                      </a:cubicBezTo>
                    </a:path>
                  </a:pathLst>
                </a:custGeom>
                <a:noFill/>
                <a:ln w="28575" cap="flat" cmpd="sng">
                  <a:solidFill>
                    <a:srgbClr val="0000FF">
                      <a:alpha val="100000"/>
                    </a:srgbClr>
                  </a:solidFill>
                  <a:prstDash val="solid"/>
                  <a:round/>
                  <a:headEnd type="none" w="med" len="med"/>
                  <a:tailEnd type="none" w="med" len="med"/>
                </a:ln>
              </p:spPr>
              <p:txBody>
                <a:bodyPr/>
                <a:lstStyle/>
                <a:p>
                  <a:endParaRPr lang="zh-CN" altLang="en-US" sz="2600">
                    <a:latin typeface="+mn-ea"/>
                  </a:endParaRPr>
                </a:p>
              </p:txBody>
            </p:sp>
            <p:sp>
              <p:nvSpPr>
                <p:cNvPr id="70" name="Freeform 24">
                  <a:extLst>
                    <a:ext uri="{FF2B5EF4-FFF2-40B4-BE49-F238E27FC236}">
                      <a16:creationId xmlns:a16="http://schemas.microsoft.com/office/drawing/2014/main" id="{B72337AA-BCF7-98B3-9B59-C5A3051D2429}"/>
                    </a:ext>
                  </a:extLst>
                </p:cNvPr>
                <p:cNvSpPr/>
                <p:nvPr/>
              </p:nvSpPr>
              <p:spPr>
                <a:xfrm>
                  <a:off x="1367" y="2895"/>
                  <a:ext cx="1040" cy="283"/>
                </a:xfrm>
                <a:custGeom>
                  <a:avLst/>
                  <a:gdLst>
                    <a:gd name="txL" fmla="*/ 0 w 1175"/>
                    <a:gd name="txT" fmla="*/ 0 h 330"/>
                    <a:gd name="txR" fmla="*/ 1175 w 1175"/>
                    <a:gd name="txB" fmla="*/ 330 h 330"/>
                  </a:gdLst>
                  <a:ahLst/>
                  <a:cxnLst>
                    <a:cxn ang="0">
                      <a:pos x="0" y="0"/>
                    </a:cxn>
                    <a:cxn ang="0">
                      <a:pos x="160" y="75"/>
                    </a:cxn>
                    <a:cxn ang="0">
                      <a:pos x="419" y="175"/>
                    </a:cxn>
                    <a:cxn ang="0">
                      <a:pos x="767" y="251"/>
                    </a:cxn>
                    <a:cxn ang="0">
                      <a:pos x="1040" y="283"/>
                    </a:cxn>
                  </a:cxnLst>
                  <a:rect l="txL" t="txT" r="txR" b="txB"/>
                  <a:pathLst>
                    <a:path w="1175" h="330">
                      <a:moveTo>
                        <a:pt x="0" y="0"/>
                      </a:moveTo>
                      <a:cubicBezTo>
                        <a:pt x="30" y="14"/>
                        <a:pt x="102" y="53"/>
                        <a:pt x="181" y="87"/>
                      </a:cubicBezTo>
                      <a:cubicBezTo>
                        <a:pt x="260" y="121"/>
                        <a:pt x="359" y="170"/>
                        <a:pt x="473" y="204"/>
                      </a:cubicBezTo>
                      <a:cubicBezTo>
                        <a:pt x="587" y="238"/>
                        <a:pt x="749" y="272"/>
                        <a:pt x="866" y="293"/>
                      </a:cubicBezTo>
                      <a:cubicBezTo>
                        <a:pt x="983" y="314"/>
                        <a:pt x="1111" y="322"/>
                        <a:pt x="1175" y="330"/>
                      </a:cubicBezTo>
                    </a:path>
                  </a:pathLst>
                </a:custGeom>
                <a:noFill/>
                <a:ln w="28575" cap="flat" cmpd="sng">
                  <a:solidFill>
                    <a:srgbClr val="0000FF">
                      <a:alpha val="100000"/>
                    </a:srgbClr>
                  </a:solidFill>
                  <a:prstDash val="solid"/>
                  <a:round/>
                  <a:headEnd type="none" w="med" len="med"/>
                  <a:tailEnd type="none" w="med" len="med"/>
                </a:ln>
              </p:spPr>
              <p:txBody>
                <a:bodyPr/>
                <a:lstStyle/>
                <a:p>
                  <a:endParaRPr lang="zh-CN" altLang="en-US" sz="2600">
                    <a:latin typeface="+mn-ea"/>
                  </a:endParaRPr>
                </a:p>
              </p:txBody>
            </p:sp>
            <p:sp>
              <p:nvSpPr>
                <p:cNvPr id="71" name="Freeform 25">
                  <a:extLst>
                    <a:ext uri="{FF2B5EF4-FFF2-40B4-BE49-F238E27FC236}">
                      <a16:creationId xmlns:a16="http://schemas.microsoft.com/office/drawing/2014/main" id="{4DEA03ED-BCA7-AE5F-6A9D-24A1AAD6E2E7}"/>
                    </a:ext>
                  </a:extLst>
                </p:cNvPr>
                <p:cNvSpPr/>
                <p:nvPr/>
              </p:nvSpPr>
              <p:spPr>
                <a:xfrm>
                  <a:off x="1089" y="2133"/>
                  <a:ext cx="288" cy="767"/>
                </a:xfrm>
                <a:custGeom>
                  <a:avLst/>
                  <a:gdLst>
                    <a:gd name="txL" fmla="*/ 0 w 325"/>
                    <a:gd name="txT" fmla="*/ 0 h 895"/>
                    <a:gd name="txR" fmla="*/ 325 w 325"/>
                    <a:gd name="txB" fmla="*/ 895 h 895"/>
                  </a:gdLst>
                  <a:ahLst/>
                  <a:cxnLst>
                    <a:cxn ang="0">
                      <a:pos x="0" y="0"/>
                    </a:cxn>
                    <a:cxn ang="0">
                      <a:pos x="55" y="255"/>
                    </a:cxn>
                    <a:cxn ang="0">
                      <a:pos x="163" y="560"/>
                    </a:cxn>
                    <a:cxn ang="0">
                      <a:pos x="288" y="767"/>
                    </a:cxn>
                  </a:cxnLst>
                  <a:rect l="txL" t="txT" r="txR" b="txB"/>
                  <a:pathLst>
                    <a:path w="325" h="895">
                      <a:moveTo>
                        <a:pt x="0" y="0"/>
                      </a:moveTo>
                      <a:cubicBezTo>
                        <a:pt x="10" y="49"/>
                        <a:pt x="31" y="188"/>
                        <a:pt x="62" y="297"/>
                      </a:cubicBezTo>
                      <a:cubicBezTo>
                        <a:pt x="93" y="406"/>
                        <a:pt x="140" y="554"/>
                        <a:pt x="184" y="654"/>
                      </a:cubicBezTo>
                      <a:cubicBezTo>
                        <a:pt x="228" y="754"/>
                        <a:pt x="296" y="845"/>
                        <a:pt x="325" y="895"/>
                      </a:cubicBezTo>
                    </a:path>
                  </a:pathLst>
                </a:custGeom>
                <a:noFill/>
                <a:ln w="28575" cap="flat" cmpd="sng">
                  <a:solidFill>
                    <a:srgbClr val="CC00CC">
                      <a:alpha val="100000"/>
                    </a:srgbClr>
                  </a:solidFill>
                  <a:prstDash val="solid"/>
                  <a:round/>
                  <a:headEnd type="none" w="med" len="med"/>
                  <a:tailEnd type="none" w="med" len="med"/>
                </a:ln>
              </p:spPr>
              <p:txBody>
                <a:bodyPr/>
                <a:lstStyle/>
                <a:p>
                  <a:endParaRPr lang="zh-CN" altLang="en-US" sz="2600">
                    <a:latin typeface="+mn-ea"/>
                  </a:endParaRPr>
                </a:p>
              </p:txBody>
            </p:sp>
            <p:sp>
              <p:nvSpPr>
                <p:cNvPr id="72" name="Freeform 26">
                  <a:extLst>
                    <a:ext uri="{FF2B5EF4-FFF2-40B4-BE49-F238E27FC236}">
                      <a16:creationId xmlns:a16="http://schemas.microsoft.com/office/drawing/2014/main" id="{BBD92D8A-421F-AB99-5E8B-85A99005E019}"/>
                    </a:ext>
                  </a:extLst>
                </p:cNvPr>
                <p:cNvSpPr/>
                <p:nvPr/>
              </p:nvSpPr>
              <p:spPr>
                <a:xfrm>
                  <a:off x="1978" y="2705"/>
                  <a:ext cx="429" cy="473"/>
                </a:xfrm>
                <a:custGeom>
                  <a:avLst/>
                  <a:gdLst>
                    <a:gd name="txL" fmla="*/ 0 w 484"/>
                    <a:gd name="txT" fmla="*/ 0 h 552"/>
                    <a:gd name="txR" fmla="*/ 484 w 484"/>
                    <a:gd name="txB" fmla="*/ 552 h 552"/>
                  </a:gdLst>
                  <a:ahLst/>
                  <a:cxnLst>
                    <a:cxn ang="0">
                      <a:pos x="0" y="0"/>
                    </a:cxn>
                    <a:cxn ang="0">
                      <a:pos x="186" y="265"/>
                    </a:cxn>
                    <a:cxn ang="0">
                      <a:pos x="429" y="473"/>
                    </a:cxn>
                  </a:cxnLst>
                  <a:rect l="txL" t="txT" r="txR" b="txB"/>
                  <a:pathLst>
                    <a:path w="484" h="552">
                      <a:moveTo>
                        <a:pt x="0" y="0"/>
                      </a:moveTo>
                      <a:cubicBezTo>
                        <a:pt x="35" y="51"/>
                        <a:pt x="129" y="217"/>
                        <a:pt x="210" y="309"/>
                      </a:cubicBezTo>
                      <a:cubicBezTo>
                        <a:pt x="291" y="401"/>
                        <a:pt x="427" y="501"/>
                        <a:pt x="484" y="552"/>
                      </a:cubicBezTo>
                    </a:path>
                  </a:pathLst>
                </a:custGeom>
                <a:noFill/>
                <a:ln w="28575" cap="flat" cmpd="sng">
                  <a:solidFill>
                    <a:srgbClr val="CC00CC">
                      <a:alpha val="100000"/>
                    </a:srgbClr>
                  </a:solidFill>
                  <a:prstDash val="solid"/>
                  <a:round/>
                  <a:headEnd type="none" w="med" len="med"/>
                  <a:tailEnd type="none" w="med" len="med"/>
                </a:ln>
              </p:spPr>
              <p:txBody>
                <a:bodyPr/>
                <a:lstStyle/>
                <a:p>
                  <a:endParaRPr lang="zh-CN" altLang="en-US" sz="2600">
                    <a:latin typeface="+mn-ea"/>
                  </a:endParaRPr>
                </a:p>
              </p:txBody>
            </p:sp>
            <p:sp>
              <p:nvSpPr>
                <p:cNvPr id="73" name="Text Box 27">
                  <a:extLst>
                    <a:ext uri="{FF2B5EF4-FFF2-40B4-BE49-F238E27FC236}">
                      <a16:creationId xmlns:a16="http://schemas.microsoft.com/office/drawing/2014/main" id="{FA7C18BC-8D0E-50F1-CF8A-7AB37361505F}"/>
                    </a:ext>
                  </a:extLst>
                </p:cNvPr>
                <p:cNvSpPr txBox="1"/>
                <p:nvPr/>
              </p:nvSpPr>
              <p:spPr>
                <a:xfrm>
                  <a:off x="1005" y="1912"/>
                  <a:ext cx="254" cy="310"/>
                </a:xfrm>
                <a:prstGeom prst="rect">
                  <a:avLst/>
                </a:prstGeom>
                <a:noFill/>
                <a:ln w="9525">
                  <a:noFill/>
                </a:ln>
              </p:spPr>
              <p:txBody>
                <a:bodyPr>
                  <a:spAutoFit/>
                </a:bodyPr>
                <a:lstStyle/>
                <a:p>
                  <a:pPr eaLnBrk="1" hangingPunct="1">
                    <a:spcBef>
                      <a:spcPct val="50000"/>
                    </a:spcBef>
                  </a:pPr>
                  <a:r>
                    <a:rPr lang="en-US" altLang="zh-CN" sz="2600" i="1" dirty="0">
                      <a:solidFill>
                        <a:srgbClr val="1C1C1C"/>
                      </a:solidFill>
                      <a:latin typeface="+mn-ea"/>
                    </a:rPr>
                    <a:t>A</a:t>
                  </a:r>
                </a:p>
              </p:txBody>
            </p:sp>
            <p:sp>
              <p:nvSpPr>
                <p:cNvPr id="74" name="Text Box 28">
                  <a:extLst>
                    <a:ext uri="{FF2B5EF4-FFF2-40B4-BE49-F238E27FC236}">
                      <a16:creationId xmlns:a16="http://schemas.microsoft.com/office/drawing/2014/main" id="{6E308223-C980-3ADC-CB15-3AA279E002F2}"/>
                    </a:ext>
                  </a:extLst>
                </p:cNvPr>
                <p:cNvSpPr txBox="1"/>
                <p:nvPr/>
              </p:nvSpPr>
              <p:spPr>
                <a:xfrm>
                  <a:off x="1982" y="2488"/>
                  <a:ext cx="297" cy="310"/>
                </a:xfrm>
                <a:prstGeom prst="rect">
                  <a:avLst/>
                </a:prstGeom>
                <a:noFill/>
                <a:ln w="9525">
                  <a:noFill/>
                </a:ln>
              </p:spPr>
              <p:txBody>
                <a:bodyPr>
                  <a:spAutoFit/>
                </a:bodyPr>
                <a:lstStyle/>
                <a:p>
                  <a:pPr eaLnBrk="1" hangingPunct="1">
                    <a:spcBef>
                      <a:spcPct val="50000"/>
                    </a:spcBef>
                  </a:pPr>
                  <a:r>
                    <a:rPr lang="en-US" altLang="zh-CN" sz="2600" i="1" dirty="0">
                      <a:solidFill>
                        <a:srgbClr val="1C1C1C"/>
                      </a:solidFill>
                      <a:latin typeface="+mn-ea"/>
                    </a:rPr>
                    <a:t>B</a:t>
                  </a:r>
                </a:p>
              </p:txBody>
            </p:sp>
            <p:sp>
              <p:nvSpPr>
                <p:cNvPr id="75" name="Text Box 29">
                  <a:extLst>
                    <a:ext uri="{FF2B5EF4-FFF2-40B4-BE49-F238E27FC236}">
                      <a16:creationId xmlns:a16="http://schemas.microsoft.com/office/drawing/2014/main" id="{93972C0E-4044-16BF-530F-83A621125C41}"/>
                    </a:ext>
                  </a:extLst>
                </p:cNvPr>
                <p:cNvSpPr txBox="1"/>
                <p:nvPr/>
              </p:nvSpPr>
              <p:spPr>
                <a:xfrm>
                  <a:off x="2407" y="2981"/>
                  <a:ext cx="255" cy="310"/>
                </a:xfrm>
                <a:prstGeom prst="rect">
                  <a:avLst/>
                </a:prstGeom>
                <a:noFill/>
                <a:ln w="9525">
                  <a:noFill/>
                </a:ln>
              </p:spPr>
              <p:txBody>
                <a:bodyPr>
                  <a:spAutoFit/>
                </a:bodyPr>
                <a:lstStyle/>
                <a:p>
                  <a:pPr eaLnBrk="1" hangingPunct="1">
                    <a:spcBef>
                      <a:spcPct val="50000"/>
                    </a:spcBef>
                  </a:pPr>
                  <a:r>
                    <a:rPr lang="en-US" altLang="zh-CN" sz="2600" i="1" dirty="0">
                      <a:solidFill>
                        <a:srgbClr val="1C1C1C"/>
                      </a:solidFill>
                      <a:latin typeface="+mn-ea"/>
                    </a:rPr>
                    <a:t>C</a:t>
                  </a:r>
                </a:p>
              </p:txBody>
            </p:sp>
            <p:sp>
              <p:nvSpPr>
                <p:cNvPr id="76" name="Text Box 30">
                  <a:extLst>
                    <a:ext uri="{FF2B5EF4-FFF2-40B4-BE49-F238E27FC236}">
                      <a16:creationId xmlns:a16="http://schemas.microsoft.com/office/drawing/2014/main" id="{72294DBC-CE3A-38C9-9138-8F7CB391DA7F}"/>
                    </a:ext>
                  </a:extLst>
                </p:cNvPr>
                <p:cNvSpPr txBox="1"/>
                <p:nvPr/>
              </p:nvSpPr>
              <p:spPr>
                <a:xfrm>
                  <a:off x="1174" y="2858"/>
                  <a:ext cx="298" cy="310"/>
                </a:xfrm>
                <a:prstGeom prst="rect">
                  <a:avLst/>
                </a:prstGeom>
                <a:noFill/>
                <a:ln w="9525">
                  <a:noFill/>
                </a:ln>
              </p:spPr>
              <p:txBody>
                <a:bodyPr>
                  <a:spAutoFit/>
                </a:bodyPr>
                <a:lstStyle/>
                <a:p>
                  <a:pPr eaLnBrk="1" hangingPunct="1">
                    <a:spcBef>
                      <a:spcPct val="50000"/>
                    </a:spcBef>
                  </a:pPr>
                  <a:r>
                    <a:rPr lang="en-US" altLang="zh-CN" sz="2600" i="1" dirty="0">
                      <a:solidFill>
                        <a:srgbClr val="1C1C1C"/>
                      </a:solidFill>
                      <a:latin typeface="+mn-ea"/>
                    </a:rPr>
                    <a:t>D</a:t>
                  </a:r>
                </a:p>
              </p:txBody>
            </p:sp>
            <p:sp>
              <p:nvSpPr>
                <p:cNvPr id="77" name="Line 31">
                  <a:extLst>
                    <a:ext uri="{FF2B5EF4-FFF2-40B4-BE49-F238E27FC236}">
                      <a16:creationId xmlns:a16="http://schemas.microsoft.com/office/drawing/2014/main" id="{B744A0CB-5B2B-4C65-9940-BFC94B950A44}"/>
                    </a:ext>
                  </a:extLst>
                </p:cNvPr>
                <p:cNvSpPr/>
                <p:nvPr/>
              </p:nvSpPr>
              <p:spPr>
                <a:xfrm flipH="1">
                  <a:off x="835" y="2159"/>
                  <a:ext cx="254" cy="0"/>
                </a:xfrm>
                <a:prstGeom prst="line">
                  <a:avLst/>
                </a:prstGeom>
                <a:ln w="12700" cap="flat" cmpd="sng">
                  <a:solidFill>
                    <a:srgbClr val="000000"/>
                  </a:solidFill>
                  <a:prstDash val="dash"/>
                  <a:headEnd type="none" w="med" len="med"/>
                  <a:tailEnd type="none" w="med" len="med"/>
                </a:ln>
              </p:spPr>
            </p:sp>
            <p:sp>
              <p:nvSpPr>
                <p:cNvPr id="78" name="Line 32">
                  <a:extLst>
                    <a:ext uri="{FF2B5EF4-FFF2-40B4-BE49-F238E27FC236}">
                      <a16:creationId xmlns:a16="http://schemas.microsoft.com/office/drawing/2014/main" id="{913C462E-BAD9-54D9-309C-39AF7BB58D4C}"/>
                    </a:ext>
                  </a:extLst>
                </p:cNvPr>
                <p:cNvSpPr/>
                <p:nvPr/>
              </p:nvSpPr>
              <p:spPr>
                <a:xfrm flipH="1">
                  <a:off x="835" y="2694"/>
                  <a:ext cx="1147" cy="0"/>
                </a:xfrm>
                <a:prstGeom prst="line">
                  <a:avLst/>
                </a:prstGeom>
                <a:ln w="12700" cap="flat" cmpd="sng">
                  <a:solidFill>
                    <a:srgbClr val="000000"/>
                  </a:solidFill>
                  <a:prstDash val="dash"/>
                  <a:headEnd type="none" w="med" len="med"/>
                  <a:tailEnd type="none" w="med" len="med"/>
                </a:ln>
              </p:spPr>
            </p:sp>
            <p:sp>
              <p:nvSpPr>
                <p:cNvPr id="79" name="Line 33">
                  <a:extLst>
                    <a:ext uri="{FF2B5EF4-FFF2-40B4-BE49-F238E27FC236}">
                      <a16:creationId xmlns:a16="http://schemas.microsoft.com/office/drawing/2014/main" id="{4A3D87E4-2B5E-689C-C67C-F8AEF0948083}"/>
                    </a:ext>
                  </a:extLst>
                </p:cNvPr>
                <p:cNvSpPr/>
                <p:nvPr/>
              </p:nvSpPr>
              <p:spPr>
                <a:xfrm flipH="1">
                  <a:off x="835" y="3188"/>
                  <a:ext cx="1572" cy="0"/>
                </a:xfrm>
                <a:prstGeom prst="line">
                  <a:avLst/>
                </a:prstGeom>
                <a:ln w="12700" cap="flat" cmpd="sng">
                  <a:solidFill>
                    <a:srgbClr val="000000"/>
                  </a:solidFill>
                  <a:prstDash val="dash"/>
                  <a:headEnd type="none" w="med" len="med"/>
                  <a:tailEnd type="none" w="med" len="med"/>
                </a:ln>
              </p:spPr>
            </p:sp>
            <p:sp>
              <p:nvSpPr>
                <p:cNvPr id="80" name="Line 34">
                  <a:extLst>
                    <a:ext uri="{FF2B5EF4-FFF2-40B4-BE49-F238E27FC236}">
                      <a16:creationId xmlns:a16="http://schemas.microsoft.com/office/drawing/2014/main" id="{3543BCB8-02CA-A89B-0500-A7C1DB312A4B}"/>
                    </a:ext>
                  </a:extLst>
                </p:cNvPr>
                <p:cNvSpPr/>
                <p:nvPr/>
              </p:nvSpPr>
              <p:spPr>
                <a:xfrm flipH="1">
                  <a:off x="835" y="2900"/>
                  <a:ext cx="552" cy="0"/>
                </a:xfrm>
                <a:prstGeom prst="line">
                  <a:avLst/>
                </a:prstGeom>
                <a:ln w="12700" cap="flat" cmpd="sng">
                  <a:solidFill>
                    <a:srgbClr val="000000"/>
                  </a:solidFill>
                  <a:prstDash val="dash"/>
                  <a:headEnd type="none" w="med" len="med"/>
                  <a:tailEnd type="none" w="med" len="med"/>
                </a:ln>
              </p:spPr>
            </p:sp>
            <p:sp>
              <p:nvSpPr>
                <p:cNvPr id="81" name="Line 35">
                  <a:extLst>
                    <a:ext uri="{FF2B5EF4-FFF2-40B4-BE49-F238E27FC236}">
                      <a16:creationId xmlns:a16="http://schemas.microsoft.com/office/drawing/2014/main" id="{71EEA64C-12F8-9425-61D0-338E03A94780}"/>
                    </a:ext>
                  </a:extLst>
                </p:cNvPr>
                <p:cNvSpPr/>
                <p:nvPr/>
              </p:nvSpPr>
              <p:spPr>
                <a:xfrm flipH="1">
                  <a:off x="1089" y="2159"/>
                  <a:ext cx="0" cy="1317"/>
                </a:xfrm>
                <a:prstGeom prst="line">
                  <a:avLst/>
                </a:prstGeom>
                <a:ln w="12700" cap="flat" cmpd="sng">
                  <a:solidFill>
                    <a:srgbClr val="000000"/>
                  </a:solidFill>
                  <a:prstDash val="dash"/>
                  <a:headEnd type="none" w="med" len="med"/>
                  <a:tailEnd type="none" w="med" len="med"/>
                </a:ln>
              </p:spPr>
            </p:sp>
            <p:sp>
              <p:nvSpPr>
                <p:cNvPr id="82" name="Line 36">
                  <a:extLst>
                    <a:ext uri="{FF2B5EF4-FFF2-40B4-BE49-F238E27FC236}">
                      <a16:creationId xmlns:a16="http://schemas.microsoft.com/office/drawing/2014/main" id="{0959BA65-278A-98BB-3B1C-EC42B6FD6BC1}"/>
                    </a:ext>
                  </a:extLst>
                </p:cNvPr>
                <p:cNvSpPr/>
                <p:nvPr/>
              </p:nvSpPr>
              <p:spPr>
                <a:xfrm flipH="1">
                  <a:off x="1982" y="2694"/>
                  <a:ext cx="0" cy="782"/>
                </a:xfrm>
                <a:prstGeom prst="line">
                  <a:avLst/>
                </a:prstGeom>
                <a:ln w="12700" cap="flat" cmpd="sng">
                  <a:solidFill>
                    <a:srgbClr val="000000"/>
                  </a:solidFill>
                  <a:prstDash val="dash"/>
                  <a:headEnd type="none" w="med" len="med"/>
                  <a:tailEnd type="none" w="med" len="med"/>
                </a:ln>
              </p:spPr>
            </p:sp>
            <p:sp>
              <p:nvSpPr>
                <p:cNvPr id="83" name="Line 37">
                  <a:extLst>
                    <a:ext uri="{FF2B5EF4-FFF2-40B4-BE49-F238E27FC236}">
                      <a16:creationId xmlns:a16="http://schemas.microsoft.com/office/drawing/2014/main" id="{B4A79D5C-D496-9D95-7284-86C0199D3A0B}"/>
                    </a:ext>
                  </a:extLst>
                </p:cNvPr>
                <p:cNvSpPr/>
                <p:nvPr/>
              </p:nvSpPr>
              <p:spPr>
                <a:xfrm flipH="1">
                  <a:off x="1387" y="2900"/>
                  <a:ext cx="0" cy="576"/>
                </a:xfrm>
                <a:prstGeom prst="line">
                  <a:avLst/>
                </a:prstGeom>
                <a:ln w="12700" cap="flat" cmpd="sng">
                  <a:solidFill>
                    <a:srgbClr val="000000"/>
                  </a:solidFill>
                  <a:prstDash val="dash"/>
                  <a:headEnd type="none" w="med" len="med"/>
                  <a:tailEnd type="none" w="med" len="med"/>
                </a:ln>
              </p:spPr>
            </p:sp>
            <p:sp>
              <p:nvSpPr>
                <p:cNvPr id="84" name="Line 38">
                  <a:extLst>
                    <a:ext uri="{FF2B5EF4-FFF2-40B4-BE49-F238E27FC236}">
                      <a16:creationId xmlns:a16="http://schemas.microsoft.com/office/drawing/2014/main" id="{5DB15E18-BAC3-6C58-297D-3160440AF01D}"/>
                    </a:ext>
                  </a:extLst>
                </p:cNvPr>
                <p:cNvSpPr/>
                <p:nvPr/>
              </p:nvSpPr>
              <p:spPr>
                <a:xfrm flipH="1">
                  <a:off x="2407" y="3188"/>
                  <a:ext cx="0" cy="288"/>
                </a:xfrm>
                <a:prstGeom prst="line">
                  <a:avLst/>
                </a:prstGeom>
                <a:ln w="12700" cap="flat" cmpd="sng">
                  <a:solidFill>
                    <a:srgbClr val="000000"/>
                  </a:solidFill>
                  <a:prstDash val="dash"/>
                  <a:headEnd type="none" w="med" len="med"/>
                  <a:tailEnd type="none" w="med" len="med"/>
                </a:ln>
              </p:spPr>
            </p:sp>
            <mc:AlternateContent xmlns:mc="http://schemas.openxmlformats.org/markup-compatibility/2006" xmlns:a14="http://schemas.microsoft.com/office/drawing/2010/main">
              <mc:Choice Requires="a14">
                <p:sp>
                  <p:nvSpPr>
                    <p:cNvPr id="85" name="Object 39">
                      <a:extLst>
                        <a:ext uri="{FF2B5EF4-FFF2-40B4-BE49-F238E27FC236}">
                          <a16:creationId xmlns:a16="http://schemas.microsoft.com/office/drawing/2014/main" id="{714DA03D-7116-E1E0-8E4C-8496B5A09DD6}"/>
                        </a:ext>
                      </a:extLst>
                    </p:cNvPr>
                    <p:cNvSpPr txBox="1"/>
                    <p:nvPr/>
                  </p:nvSpPr>
                  <p:spPr>
                    <a:xfrm>
                      <a:off x="595" y="1994"/>
                      <a:ext cx="234" cy="271"/>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𝑝</m:t>
                                </m:r>
                              </m:e>
                              <m:sub>
                                <m:r>
                                  <a:rPr lang="zh-CN" altLang="en-US" sz="2600" b="0" i="1">
                                    <a:solidFill>
                                      <a:srgbClr val="000000"/>
                                    </a:solidFill>
                                    <a:latin typeface="Cambria Math" panose="02040503050406030204" pitchFamily="18" charset="0"/>
                                  </a:rPr>
                                  <m:t>1</m:t>
                                </m:r>
                              </m:sub>
                            </m:sSub>
                          </m:oMath>
                        </m:oMathPara>
                      </a14:m>
                      <a:endParaRPr lang="zh-CN" altLang="en-US" sz="2600">
                        <a:latin typeface="+mn-ea"/>
                      </a:endParaRPr>
                    </a:p>
                  </p:txBody>
                </p:sp>
              </mc:Choice>
              <mc:Fallback xmlns="">
                <p:sp>
                  <p:nvSpPr>
                    <p:cNvPr id="85" name="Object 39">
                      <a:extLst>
                        <a:ext uri="{FF2B5EF4-FFF2-40B4-BE49-F238E27FC236}">
                          <a16:creationId xmlns:a16="http://schemas.microsoft.com/office/drawing/2014/main" id="{714DA03D-7116-E1E0-8E4C-8496B5A09DD6}"/>
                        </a:ext>
                      </a:extLst>
                    </p:cNvPr>
                    <p:cNvSpPr txBox="1">
                      <a:spLocks noRot="1" noChangeAspect="1" noMove="1" noResize="1" noEditPoints="1" noAdjustHandles="1" noChangeArrowheads="1" noChangeShapeType="1" noTextEdit="1"/>
                    </p:cNvSpPr>
                    <p:nvPr/>
                  </p:nvSpPr>
                  <p:spPr>
                    <a:xfrm>
                      <a:off x="595" y="1994"/>
                      <a:ext cx="234" cy="271"/>
                    </a:xfrm>
                    <a:prstGeom prst="rect">
                      <a:avLst/>
                    </a:prstGeom>
                    <a:blipFill>
                      <a:blip r:embed="rId7"/>
                      <a:stretch>
                        <a:fillRect r="-3279"/>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6" name="Object 40">
                      <a:extLst>
                        <a:ext uri="{FF2B5EF4-FFF2-40B4-BE49-F238E27FC236}">
                          <a16:creationId xmlns:a16="http://schemas.microsoft.com/office/drawing/2014/main" id="{432B60AD-41C6-5225-E19D-A80570CDA613}"/>
                        </a:ext>
                      </a:extLst>
                    </p:cNvPr>
                    <p:cNvSpPr txBox="1"/>
                    <p:nvPr/>
                  </p:nvSpPr>
                  <p:spPr>
                    <a:xfrm>
                      <a:off x="569" y="2488"/>
                      <a:ext cx="257" cy="271"/>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𝑝</m:t>
                                </m:r>
                              </m:e>
                              <m:sub>
                                <m:r>
                                  <a:rPr lang="zh-CN" altLang="en-US" sz="2600" b="0" i="1">
                                    <a:solidFill>
                                      <a:srgbClr val="000000"/>
                                    </a:solidFill>
                                    <a:latin typeface="Cambria Math" panose="02040503050406030204" pitchFamily="18" charset="0"/>
                                  </a:rPr>
                                  <m:t>2</m:t>
                                </m:r>
                              </m:sub>
                            </m:sSub>
                          </m:oMath>
                        </m:oMathPara>
                      </a14:m>
                      <a:endParaRPr lang="zh-CN" altLang="en-US" sz="2600">
                        <a:latin typeface="+mn-ea"/>
                      </a:endParaRPr>
                    </a:p>
                  </p:txBody>
                </p:sp>
              </mc:Choice>
              <mc:Fallback xmlns="">
                <p:sp>
                  <p:nvSpPr>
                    <p:cNvPr id="86" name="Object 40">
                      <a:extLst>
                        <a:ext uri="{FF2B5EF4-FFF2-40B4-BE49-F238E27FC236}">
                          <a16:creationId xmlns:a16="http://schemas.microsoft.com/office/drawing/2014/main" id="{432B60AD-41C6-5225-E19D-A80570CDA613}"/>
                        </a:ext>
                      </a:extLst>
                    </p:cNvPr>
                    <p:cNvSpPr txBox="1">
                      <a:spLocks noRot="1" noChangeAspect="1" noMove="1" noResize="1" noEditPoints="1" noAdjustHandles="1" noChangeArrowheads="1" noChangeShapeType="1" noTextEdit="1"/>
                    </p:cNvSpPr>
                    <p:nvPr/>
                  </p:nvSpPr>
                  <p:spPr>
                    <a:xfrm>
                      <a:off x="569" y="2488"/>
                      <a:ext cx="257" cy="271"/>
                    </a:xfrm>
                    <a:prstGeom prst="rect">
                      <a:avLst/>
                    </a:prstGeom>
                    <a:blipFill>
                      <a:blip r:embed="rId8"/>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7" name="Object 41">
                      <a:extLst>
                        <a:ext uri="{FF2B5EF4-FFF2-40B4-BE49-F238E27FC236}">
                          <a16:creationId xmlns:a16="http://schemas.microsoft.com/office/drawing/2014/main" id="{5383A752-E189-44DF-1875-370774D1F343}"/>
                        </a:ext>
                      </a:extLst>
                    </p:cNvPr>
                    <p:cNvSpPr txBox="1"/>
                    <p:nvPr/>
                  </p:nvSpPr>
                  <p:spPr>
                    <a:xfrm>
                      <a:off x="569" y="2735"/>
                      <a:ext cx="257" cy="271"/>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𝑝</m:t>
                                </m:r>
                              </m:e>
                              <m:sub>
                                <m:r>
                                  <a:rPr lang="zh-CN" altLang="en-US" sz="2600" b="0" i="1">
                                    <a:solidFill>
                                      <a:srgbClr val="000000"/>
                                    </a:solidFill>
                                    <a:latin typeface="Cambria Math" panose="02040503050406030204" pitchFamily="18" charset="0"/>
                                  </a:rPr>
                                  <m:t>4</m:t>
                                </m:r>
                              </m:sub>
                            </m:sSub>
                          </m:oMath>
                        </m:oMathPara>
                      </a14:m>
                      <a:endParaRPr lang="zh-CN" altLang="en-US" sz="2600">
                        <a:latin typeface="+mn-ea"/>
                      </a:endParaRPr>
                    </a:p>
                  </p:txBody>
                </p:sp>
              </mc:Choice>
              <mc:Fallback xmlns="">
                <p:sp>
                  <p:nvSpPr>
                    <p:cNvPr id="87" name="Object 41">
                      <a:extLst>
                        <a:ext uri="{FF2B5EF4-FFF2-40B4-BE49-F238E27FC236}">
                          <a16:creationId xmlns:a16="http://schemas.microsoft.com/office/drawing/2014/main" id="{5383A752-E189-44DF-1875-370774D1F343}"/>
                        </a:ext>
                      </a:extLst>
                    </p:cNvPr>
                    <p:cNvSpPr txBox="1">
                      <a:spLocks noRot="1" noChangeAspect="1" noMove="1" noResize="1" noEditPoints="1" noAdjustHandles="1" noChangeArrowheads="1" noChangeShapeType="1" noTextEdit="1"/>
                    </p:cNvSpPr>
                    <p:nvPr/>
                  </p:nvSpPr>
                  <p:spPr>
                    <a:xfrm>
                      <a:off x="569" y="2735"/>
                      <a:ext cx="257" cy="271"/>
                    </a:xfrm>
                    <a:prstGeom prst="rect">
                      <a:avLst/>
                    </a:prstGeom>
                    <a:blipFill>
                      <a:blip r:embed="rId9"/>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8" name="Object 42">
                      <a:extLst>
                        <a:ext uri="{FF2B5EF4-FFF2-40B4-BE49-F238E27FC236}">
                          <a16:creationId xmlns:a16="http://schemas.microsoft.com/office/drawing/2014/main" id="{6D783D69-9932-F9BD-FCDA-F0235542859C}"/>
                        </a:ext>
                      </a:extLst>
                    </p:cNvPr>
                    <p:cNvSpPr txBox="1"/>
                    <p:nvPr/>
                  </p:nvSpPr>
                  <p:spPr>
                    <a:xfrm>
                      <a:off x="574" y="3023"/>
                      <a:ext cx="246" cy="299"/>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𝑝</m:t>
                                </m:r>
                              </m:e>
                              <m:sub>
                                <m:r>
                                  <a:rPr lang="zh-CN" altLang="en-US" sz="2600" b="0" i="1">
                                    <a:solidFill>
                                      <a:srgbClr val="000000"/>
                                    </a:solidFill>
                                    <a:latin typeface="Cambria Math" panose="02040503050406030204" pitchFamily="18" charset="0"/>
                                  </a:rPr>
                                  <m:t>3</m:t>
                                </m:r>
                              </m:sub>
                            </m:sSub>
                          </m:oMath>
                        </m:oMathPara>
                      </a14:m>
                      <a:endParaRPr lang="zh-CN" altLang="en-US" sz="2600">
                        <a:latin typeface="+mn-ea"/>
                      </a:endParaRPr>
                    </a:p>
                  </p:txBody>
                </p:sp>
              </mc:Choice>
              <mc:Fallback xmlns="">
                <p:sp>
                  <p:nvSpPr>
                    <p:cNvPr id="88" name="Object 42">
                      <a:extLst>
                        <a:ext uri="{FF2B5EF4-FFF2-40B4-BE49-F238E27FC236}">
                          <a16:creationId xmlns:a16="http://schemas.microsoft.com/office/drawing/2014/main" id="{6D783D69-9932-F9BD-FCDA-F0235542859C}"/>
                        </a:ext>
                      </a:extLst>
                    </p:cNvPr>
                    <p:cNvSpPr txBox="1">
                      <a:spLocks noRot="1" noChangeAspect="1" noMove="1" noResize="1" noEditPoints="1" noAdjustHandles="1" noChangeArrowheads="1" noChangeShapeType="1" noTextEdit="1"/>
                    </p:cNvSpPr>
                    <p:nvPr/>
                  </p:nvSpPr>
                  <p:spPr>
                    <a:xfrm>
                      <a:off x="574" y="3023"/>
                      <a:ext cx="246" cy="299"/>
                    </a:xfrm>
                    <a:prstGeom prst="rect">
                      <a:avLst/>
                    </a:prstGeom>
                    <a:blipFill>
                      <a:blip r:embed="rId10"/>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9" name="Object 43">
                      <a:extLst>
                        <a:ext uri="{FF2B5EF4-FFF2-40B4-BE49-F238E27FC236}">
                          <a16:creationId xmlns:a16="http://schemas.microsoft.com/office/drawing/2014/main" id="{110A99F6-6372-CA71-97BF-A2F9BA0873FA}"/>
                        </a:ext>
                      </a:extLst>
                    </p:cNvPr>
                    <p:cNvSpPr txBox="1"/>
                    <p:nvPr/>
                  </p:nvSpPr>
                  <p:spPr>
                    <a:xfrm>
                      <a:off x="999" y="3465"/>
                      <a:ext cx="180" cy="247"/>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𝑉</m:t>
                                </m:r>
                              </m:e>
                              <m:sub>
                                <m:r>
                                  <a:rPr lang="zh-CN" altLang="en-US" sz="2600" b="0" i="1">
                                    <a:solidFill>
                                      <a:srgbClr val="000000"/>
                                    </a:solidFill>
                                    <a:latin typeface="Cambria Math" panose="02040503050406030204" pitchFamily="18" charset="0"/>
                                  </a:rPr>
                                  <m:t>1</m:t>
                                </m:r>
                              </m:sub>
                            </m:sSub>
                          </m:oMath>
                        </m:oMathPara>
                      </a14:m>
                      <a:endParaRPr lang="zh-CN" altLang="en-US" sz="2600">
                        <a:latin typeface="+mn-ea"/>
                      </a:endParaRPr>
                    </a:p>
                  </p:txBody>
                </p:sp>
              </mc:Choice>
              <mc:Fallback xmlns="">
                <p:sp>
                  <p:nvSpPr>
                    <p:cNvPr id="89" name="Object 43">
                      <a:extLst>
                        <a:ext uri="{FF2B5EF4-FFF2-40B4-BE49-F238E27FC236}">
                          <a16:creationId xmlns:a16="http://schemas.microsoft.com/office/drawing/2014/main" id="{110A99F6-6372-CA71-97BF-A2F9BA0873FA}"/>
                        </a:ext>
                      </a:extLst>
                    </p:cNvPr>
                    <p:cNvSpPr txBox="1">
                      <a:spLocks noRot="1" noChangeAspect="1" noMove="1" noResize="1" noEditPoints="1" noAdjustHandles="1" noChangeArrowheads="1" noChangeShapeType="1" noTextEdit="1"/>
                    </p:cNvSpPr>
                    <p:nvPr/>
                  </p:nvSpPr>
                  <p:spPr>
                    <a:xfrm>
                      <a:off x="999" y="3465"/>
                      <a:ext cx="180" cy="247"/>
                    </a:xfrm>
                    <a:prstGeom prst="rect">
                      <a:avLst/>
                    </a:prstGeom>
                    <a:blipFill>
                      <a:blip r:embed="rId11"/>
                      <a:stretch>
                        <a:fillRect r="-29787" b="-7813"/>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0" name="Object 44">
                      <a:extLst>
                        <a:ext uri="{FF2B5EF4-FFF2-40B4-BE49-F238E27FC236}">
                          <a16:creationId xmlns:a16="http://schemas.microsoft.com/office/drawing/2014/main" id="{51644FC7-8ED5-E815-0EAD-B03498F6D31B}"/>
                        </a:ext>
                      </a:extLst>
                    </p:cNvPr>
                    <p:cNvSpPr txBox="1"/>
                    <p:nvPr/>
                  </p:nvSpPr>
                  <p:spPr>
                    <a:xfrm>
                      <a:off x="1292" y="3476"/>
                      <a:ext cx="200" cy="246"/>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𝑉</m:t>
                                </m:r>
                              </m:e>
                              <m:sub>
                                <m:r>
                                  <a:rPr lang="zh-CN" altLang="en-US" sz="2600" b="0" i="1">
                                    <a:solidFill>
                                      <a:srgbClr val="000000"/>
                                    </a:solidFill>
                                    <a:latin typeface="Cambria Math" panose="02040503050406030204" pitchFamily="18" charset="0"/>
                                  </a:rPr>
                                  <m:t>4</m:t>
                                </m:r>
                              </m:sub>
                            </m:sSub>
                          </m:oMath>
                        </m:oMathPara>
                      </a14:m>
                      <a:endParaRPr lang="zh-CN" altLang="en-US" sz="2600">
                        <a:latin typeface="+mn-ea"/>
                      </a:endParaRPr>
                    </a:p>
                  </p:txBody>
                </p:sp>
              </mc:Choice>
              <mc:Fallback xmlns="">
                <p:sp>
                  <p:nvSpPr>
                    <p:cNvPr id="90" name="Object 44">
                      <a:extLst>
                        <a:ext uri="{FF2B5EF4-FFF2-40B4-BE49-F238E27FC236}">
                          <a16:creationId xmlns:a16="http://schemas.microsoft.com/office/drawing/2014/main" id="{51644FC7-8ED5-E815-0EAD-B03498F6D31B}"/>
                        </a:ext>
                      </a:extLst>
                    </p:cNvPr>
                    <p:cNvSpPr txBox="1">
                      <a:spLocks noRot="1" noChangeAspect="1" noMove="1" noResize="1" noEditPoints="1" noAdjustHandles="1" noChangeArrowheads="1" noChangeShapeType="1" noTextEdit="1"/>
                    </p:cNvSpPr>
                    <p:nvPr/>
                  </p:nvSpPr>
                  <p:spPr>
                    <a:xfrm>
                      <a:off x="1292" y="3476"/>
                      <a:ext cx="200" cy="246"/>
                    </a:xfrm>
                    <a:prstGeom prst="rect">
                      <a:avLst/>
                    </a:prstGeom>
                    <a:blipFill>
                      <a:blip r:embed="rId12"/>
                      <a:stretch>
                        <a:fillRect r="-21154" b="-6154"/>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1" name="Object 45">
                      <a:extLst>
                        <a:ext uri="{FF2B5EF4-FFF2-40B4-BE49-F238E27FC236}">
                          <a16:creationId xmlns:a16="http://schemas.microsoft.com/office/drawing/2014/main" id="{197FFA6A-9D54-73C1-5F23-7222ABEC520E}"/>
                        </a:ext>
                      </a:extLst>
                    </p:cNvPr>
                    <p:cNvSpPr txBox="1"/>
                    <p:nvPr/>
                  </p:nvSpPr>
                  <p:spPr>
                    <a:xfrm>
                      <a:off x="1887" y="3476"/>
                      <a:ext cx="199" cy="246"/>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𝑉</m:t>
                                </m:r>
                              </m:e>
                              <m:sub>
                                <m:r>
                                  <a:rPr lang="zh-CN" altLang="en-US" sz="2600" b="0" i="1">
                                    <a:solidFill>
                                      <a:srgbClr val="000000"/>
                                    </a:solidFill>
                                    <a:latin typeface="Cambria Math" panose="02040503050406030204" pitchFamily="18" charset="0"/>
                                  </a:rPr>
                                  <m:t>2</m:t>
                                </m:r>
                              </m:sub>
                            </m:sSub>
                          </m:oMath>
                        </m:oMathPara>
                      </a14:m>
                      <a:endParaRPr lang="zh-CN" altLang="en-US" sz="2600">
                        <a:latin typeface="+mn-ea"/>
                      </a:endParaRPr>
                    </a:p>
                  </p:txBody>
                </p:sp>
              </mc:Choice>
              <mc:Fallback xmlns="">
                <p:sp>
                  <p:nvSpPr>
                    <p:cNvPr id="91" name="Object 45">
                      <a:extLst>
                        <a:ext uri="{FF2B5EF4-FFF2-40B4-BE49-F238E27FC236}">
                          <a16:creationId xmlns:a16="http://schemas.microsoft.com/office/drawing/2014/main" id="{197FFA6A-9D54-73C1-5F23-7222ABEC520E}"/>
                        </a:ext>
                      </a:extLst>
                    </p:cNvPr>
                    <p:cNvSpPr txBox="1">
                      <a:spLocks noRot="1" noChangeAspect="1" noMove="1" noResize="1" noEditPoints="1" noAdjustHandles="1" noChangeArrowheads="1" noChangeShapeType="1" noTextEdit="1"/>
                    </p:cNvSpPr>
                    <p:nvPr/>
                  </p:nvSpPr>
                  <p:spPr>
                    <a:xfrm>
                      <a:off x="1887" y="3476"/>
                      <a:ext cx="199" cy="246"/>
                    </a:xfrm>
                    <a:prstGeom prst="rect">
                      <a:avLst/>
                    </a:prstGeom>
                    <a:blipFill>
                      <a:blip r:embed="rId13"/>
                      <a:stretch>
                        <a:fillRect r="-17308" b="-6154"/>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2" name="Object 46">
                      <a:extLst>
                        <a:ext uri="{FF2B5EF4-FFF2-40B4-BE49-F238E27FC236}">
                          <a16:creationId xmlns:a16="http://schemas.microsoft.com/office/drawing/2014/main" id="{259FCC06-7354-88CC-00B3-07B67F2BE93B}"/>
                        </a:ext>
                      </a:extLst>
                    </p:cNvPr>
                    <p:cNvSpPr txBox="1"/>
                    <p:nvPr/>
                  </p:nvSpPr>
                  <p:spPr>
                    <a:xfrm>
                      <a:off x="2335" y="3471"/>
                      <a:ext cx="199" cy="256"/>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𝑉</m:t>
                                </m:r>
                              </m:e>
                              <m:sub>
                                <m:r>
                                  <a:rPr lang="zh-CN" altLang="en-US" sz="2600" b="0" i="1">
                                    <a:solidFill>
                                      <a:srgbClr val="000000"/>
                                    </a:solidFill>
                                    <a:latin typeface="Cambria Math" panose="02040503050406030204" pitchFamily="18" charset="0"/>
                                  </a:rPr>
                                  <m:t>3</m:t>
                                </m:r>
                              </m:sub>
                            </m:sSub>
                          </m:oMath>
                        </m:oMathPara>
                      </a14:m>
                      <a:endParaRPr lang="zh-CN" altLang="en-US" sz="2600">
                        <a:latin typeface="+mn-ea"/>
                      </a:endParaRPr>
                    </a:p>
                  </p:txBody>
                </p:sp>
              </mc:Choice>
              <mc:Fallback xmlns="">
                <p:sp>
                  <p:nvSpPr>
                    <p:cNvPr id="92" name="Object 46">
                      <a:extLst>
                        <a:ext uri="{FF2B5EF4-FFF2-40B4-BE49-F238E27FC236}">
                          <a16:creationId xmlns:a16="http://schemas.microsoft.com/office/drawing/2014/main" id="{259FCC06-7354-88CC-00B3-07B67F2BE93B}"/>
                        </a:ext>
                      </a:extLst>
                    </p:cNvPr>
                    <p:cNvSpPr txBox="1">
                      <a:spLocks noRot="1" noChangeAspect="1" noMove="1" noResize="1" noEditPoints="1" noAdjustHandles="1" noChangeArrowheads="1" noChangeShapeType="1" noTextEdit="1"/>
                    </p:cNvSpPr>
                    <p:nvPr/>
                  </p:nvSpPr>
                  <p:spPr>
                    <a:xfrm>
                      <a:off x="2335" y="3471"/>
                      <a:ext cx="199" cy="256"/>
                    </a:xfrm>
                    <a:prstGeom prst="rect">
                      <a:avLst/>
                    </a:prstGeom>
                    <a:blipFill>
                      <a:blip r:embed="rId14"/>
                      <a:stretch>
                        <a:fillRect r="-19608" b="-2985"/>
                      </a:stretch>
                    </a:blipFill>
                    <a:ln w="38100">
                      <a:noFill/>
                      <a:miter/>
                    </a:ln>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54" name="Object 47">
                    <a:extLst>
                      <a:ext uri="{FF2B5EF4-FFF2-40B4-BE49-F238E27FC236}">
                        <a16:creationId xmlns:a16="http://schemas.microsoft.com/office/drawing/2014/main" id="{F13D0202-3DB5-54C9-87B3-98285BF9ACA5}"/>
                      </a:ext>
                    </a:extLst>
                  </p:cNvPr>
                  <p:cNvSpPr txBox="1"/>
                  <p:nvPr/>
                </p:nvSpPr>
                <p:spPr>
                  <a:xfrm>
                    <a:off x="1913" y="1764"/>
                    <a:ext cx="649" cy="263"/>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𝑇</m:t>
                              </m:r>
                            </m:e>
                            <m:sub>
                              <m:r>
                                <a:rPr lang="zh-CN" altLang="en-US" sz="2600" b="0" i="1">
                                  <a:solidFill>
                                    <a:srgbClr val="000000"/>
                                  </a:solidFill>
                                  <a:latin typeface="Cambria Math" panose="02040503050406030204" pitchFamily="18" charset="0"/>
                                </a:rPr>
                                <m:t>1</m:t>
                              </m:r>
                            </m:sub>
                          </m:sSub>
                          <m:r>
                            <a:rPr lang="zh-CN" altLang="en-US" sz="2600" b="0" i="1">
                              <a:solidFill>
                                <a:srgbClr val="000000"/>
                              </a:solidFill>
                              <a:latin typeface="Cambria Math" panose="02040503050406030204" pitchFamily="18" charset="0"/>
                            </a:rPr>
                            <m:t>&gt;</m:t>
                          </m:r>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𝑇</m:t>
                              </m:r>
                            </m:e>
                            <m:sub>
                              <m:r>
                                <a:rPr lang="zh-CN" altLang="en-US" sz="2600" b="0" i="1">
                                  <a:solidFill>
                                    <a:srgbClr val="000000"/>
                                  </a:solidFill>
                                  <a:latin typeface="Cambria Math" panose="02040503050406030204" pitchFamily="18" charset="0"/>
                                </a:rPr>
                                <m:t>2</m:t>
                              </m:r>
                            </m:sub>
                          </m:sSub>
                        </m:oMath>
                      </m:oMathPara>
                    </a14:m>
                    <a:endParaRPr lang="zh-CN" altLang="en-US" sz="2600">
                      <a:latin typeface="+mn-ea"/>
                    </a:endParaRPr>
                  </a:p>
                </p:txBody>
              </p:sp>
            </mc:Choice>
            <mc:Fallback xmlns="">
              <p:sp>
                <p:nvSpPr>
                  <p:cNvPr id="54" name="Object 47">
                    <a:extLst>
                      <a:ext uri="{FF2B5EF4-FFF2-40B4-BE49-F238E27FC236}">
                        <a16:creationId xmlns:a16="http://schemas.microsoft.com/office/drawing/2014/main" id="{F13D0202-3DB5-54C9-87B3-98285BF9ACA5}"/>
                      </a:ext>
                    </a:extLst>
                  </p:cNvPr>
                  <p:cNvSpPr txBox="1">
                    <a:spLocks noRot="1" noChangeAspect="1" noMove="1" noResize="1" noEditPoints="1" noAdjustHandles="1" noChangeArrowheads="1" noChangeShapeType="1" noTextEdit="1"/>
                  </p:cNvSpPr>
                  <p:nvPr/>
                </p:nvSpPr>
                <p:spPr>
                  <a:xfrm>
                    <a:off x="1913" y="1764"/>
                    <a:ext cx="649" cy="263"/>
                  </a:xfrm>
                  <a:prstGeom prst="rect">
                    <a:avLst/>
                  </a:prstGeom>
                  <a:blipFill>
                    <a:blip r:embed="rId15"/>
                    <a:stretch>
                      <a:fillRect b="-95588"/>
                    </a:stretch>
                  </a:blipFill>
                  <a:ln w="38100">
                    <a:noFill/>
                    <a:miter/>
                  </a:ln>
                </p:spPr>
                <p:txBody>
                  <a:bodyPr/>
                  <a:lstStyle/>
                  <a:p>
                    <a:r>
                      <a:rPr lang="zh-CN" altLang="en-US">
                        <a:noFill/>
                      </a:rPr>
                      <a:t> </a:t>
                    </a:r>
                  </a:p>
                </p:txBody>
              </p:sp>
            </mc:Fallback>
          </mc:AlternateContent>
        </p:grpSp>
        <p:grpSp>
          <p:nvGrpSpPr>
            <p:cNvPr id="47" name="Group 48">
              <a:extLst>
                <a:ext uri="{FF2B5EF4-FFF2-40B4-BE49-F238E27FC236}">
                  <a16:creationId xmlns:a16="http://schemas.microsoft.com/office/drawing/2014/main" id="{CA76A612-D6CD-5E82-278D-2D6F8C5FCFE0}"/>
                </a:ext>
              </a:extLst>
            </p:cNvPr>
            <p:cNvGrpSpPr/>
            <p:nvPr/>
          </p:nvGrpSpPr>
          <p:grpSpPr>
            <a:xfrm>
              <a:off x="1338" y="2069"/>
              <a:ext cx="497" cy="487"/>
              <a:chOff x="1392" y="1248"/>
              <a:chExt cx="575" cy="672"/>
            </a:xfrm>
          </p:grpSpPr>
          <mc:AlternateContent xmlns:mc="http://schemas.openxmlformats.org/markup-compatibility/2006" xmlns:a14="http://schemas.microsoft.com/office/drawing/2010/main">
            <mc:Choice Requires="a14">
              <p:sp>
                <p:nvSpPr>
                  <p:cNvPr id="51" name="Object 49">
                    <a:extLst>
                      <a:ext uri="{FF2B5EF4-FFF2-40B4-BE49-F238E27FC236}">
                        <a16:creationId xmlns:a16="http://schemas.microsoft.com/office/drawing/2014/main" id="{781DC0E2-32FB-7CAC-B313-C0780BEA7860}"/>
                      </a:ext>
                    </a:extLst>
                  </p:cNvPr>
                  <p:cNvSpPr txBox="1"/>
                  <p:nvPr/>
                </p:nvSpPr>
                <p:spPr>
                  <a:xfrm>
                    <a:off x="1440" y="1248"/>
                    <a:ext cx="527" cy="488"/>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𝑄</m:t>
                              </m:r>
                            </m:e>
                            <m:sub>
                              <m:r>
                                <a:rPr lang="zh-CN" altLang="en-US" sz="2600" b="0" i="1">
                                  <a:solidFill>
                                    <a:srgbClr val="000000"/>
                                  </a:solidFill>
                                  <a:latin typeface="Cambria Math" panose="02040503050406030204" pitchFamily="18" charset="0"/>
                                </a:rPr>
                                <m:t>𝑎𝑏</m:t>
                              </m:r>
                            </m:sub>
                          </m:sSub>
                        </m:oMath>
                      </m:oMathPara>
                    </a14:m>
                    <a:endParaRPr lang="zh-CN" altLang="en-US" sz="2600">
                      <a:latin typeface="+mn-ea"/>
                    </a:endParaRPr>
                  </a:p>
                </p:txBody>
              </p:sp>
            </mc:Choice>
            <mc:Fallback xmlns="">
              <p:sp>
                <p:nvSpPr>
                  <p:cNvPr id="51" name="Object 49">
                    <a:extLst>
                      <a:ext uri="{FF2B5EF4-FFF2-40B4-BE49-F238E27FC236}">
                        <a16:creationId xmlns:a16="http://schemas.microsoft.com/office/drawing/2014/main" id="{781DC0E2-32FB-7CAC-B313-C0780BEA7860}"/>
                      </a:ext>
                    </a:extLst>
                  </p:cNvPr>
                  <p:cNvSpPr txBox="1">
                    <a:spLocks noRot="1" noChangeAspect="1" noMove="1" noResize="1" noEditPoints="1" noAdjustHandles="1" noChangeArrowheads="1" noChangeShapeType="1" noTextEdit="1"/>
                  </p:cNvSpPr>
                  <p:nvPr/>
                </p:nvSpPr>
                <p:spPr>
                  <a:xfrm>
                    <a:off x="1440" y="1248"/>
                    <a:ext cx="527" cy="488"/>
                  </a:xfrm>
                  <a:prstGeom prst="rect">
                    <a:avLst/>
                  </a:prstGeom>
                  <a:blipFill>
                    <a:blip r:embed="rId16"/>
                    <a:stretch>
                      <a:fillRect/>
                    </a:stretch>
                  </a:blipFill>
                  <a:ln w="38100">
                    <a:noFill/>
                    <a:miter/>
                  </a:ln>
                </p:spPr>
                <p:txBody>
                  <a:bodyPr/>
                  <a:lstStyle/>
                  <a:p>
                    <a:r>
                      <a:rPr lang="zh-CN" altLang="en-US">
                        <a:noFill/>
                      </a:rPr>
                      <a:t> </a:t>
                    </a:r>
                  </a:p>
                </p:txBody>
              </p:sp>
            </mc:Fallback>
          </mc:AlternateContent>
          <p:sp>
            <p:nvSpPr>
              <p:cNvPr id="52" name="AutoShape 50">
                <a:extLst>
                  <a:ext uri="{FF2B5EF4-FFF2-40B4-BE49-F238E27FC236}">
                    <a16:creationId xmlns:a16="http://schemas.microsoft.com/office/drawing/2014/main" id="{79565866-FE51-C90B-CAFE-6A57091DA4B3}"/>
                  </a:ext>
                </a:extLst>
              </p:cNvPr>
              <p:cNvSpPr/>
              <p:nvPr/>
            </p:nvSpPr>
            <p:spPr>
              <a:xfrm>
                <a:off x="1392" y="1536"/>
                <a:ext cx="96" cy="384"/>
              </a:xfrm>
              <a:prstGeom prst="downArrow">
                <a:avLst>
                  <a:gd name="adj1" fmla="val 50000"/>
                  <a:gd name="adj2" fmla="val 100000"/>
                </a:avLst>
              </a:prstGeom>
              <a:solidFill>
                <a:schemeClr val="bg2"/>
              </a:solidFill>
              <a:ln w="28575" cap="flat" cmpd="sng">
                <a:solidFill>
                  <a:srgbClr val="FF0066"/>
                </a:solidFill>
                <a:prstDash val="solid"/>
                <a:miter/>
                <a:headEnd type="none" w="med" len="med"/>
                <a:tailEnd type="none" w="med" len="med"/>
              </a:ln>
            </p:spPr>
            <p:txBody>
              <a:bodyPr wrap="none" anchor="ctr" anchorCtr="0"/>
              <a:lstStyle/>
              <a:p>
                <a:endParaRPr lang="zh-CN" altLang="en-US" sz="2600" dirty="0">
                  <a:latin typeface="+mn-ea"/>
                </a:endParaRPr>
              </a:p>
            </p:txBody>
          </p:sp>
        </p:grpSp>
        <p:grpSp>
          <p:nvGrpSpPr>
            <p:cNvPr id="48" name="Group 51">
              <a:extLst>
                <a:ext uri="{FF2B5EF4-FFF2-40B4-BE49-F238E27FC236}">
                  <a16:creationId xmlns:a16="http://schemas.microsoft.com/office/drawing/2014/main" id="{EDBFADF3-8EF5-FBB4-68D4-672CD983AF4E}"/>
                </a:ext>
              </a:extLst>
            </p:cNvPr>
            <p:cNvGrpSpPr/>
            <p:nvPr/>
          </p:nvGrpSpPr>
          <p:grpSpPr>
            <a:xfrm>
              <a:off x="1610" y="2958"/>
              <a:ext cx="350" cy="517"/>
              <a:chOff x="1584" y="2352"/>
              <a:chExt cx="540" cy="739"/>
            </a:xfrm>
          </p:grpSpPr>
          <mc:AlternateContent xmlns:mc="http://schemas.openxmlformats.org/markup-compatibility/2006" xmlns:a14="http://schemas.microsoft.com/office/drawing/2010/main">
            <mc:Choice Requires="a14">
              <p:sp>
                <p:nvSpPr>
                  <p:cNvPr id="49" name="Object 52">
                    <a:extLst>
                      <a:ext uri="{FF2B5EF4-FFF2-40B4-BE49-F238E27FC236}">
                        <a16:creationId xmlns:a16="http://schemas.microsoft.com/office/drawing/2014/main" id="{75B5464C-0ED2-8821-9BAD-6E29D1DE6E9D}"/>
                      </a:ext>
                    </a:extLst>
                  </p:cNvPr>
                  <p:cNvSpPr txBox="1"/>
                  <p:nvPr/>
                </p:nvSpPr>
                <p:spPr>
                  <a:xfrm>
                    <a:off x="1584" y="2592"/>
                    <a:ext cx="540" cy="499"/>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𝑄</m:t>
                              </m:r>
                            </m:e>
                            <m:sub>
                              <m:r>
                                <a:rPr lang="zh-CN" altLang="en-US" sz="2600" b="0" i="1">
                                  <a:solidFill>
                                    <a:srgbClr val="000000"/>
                                  </a:solidFill>
                                  <a:latin typeface="Cambria Math" panose="02040503050406030204" pitchFamily="18" charset="0"/>
                                </a:rPr>
                                <m:t>𝑐𝑑</m:t>
                              </m:r>
                            </m:sub>
                          </m:sSub>
                        </m:oMath>
                      </m:oMathPara>
                    </a14:m>
                    <a:endParaRPr lang="zh-CN" altLang="en-US" sz="2600">
                      <a:latin typeface="+mn-ea"/>
                    </a:endParaRPr>
                  </a:p>
                </p:txBody>
              </p:sp>
            </mc:Choice>
            <mc:Fallback xmlns="">
              <p:sp>
                <p:nvSpPr>
                  <p:cNvPr id="49" name="Object 52">
                    <a:extLst>
                      <a:ext uri="{FF2B5EF4-FFF2-40B4-BE49-F238E27FC236}">
                        <a16:creationId xmlns:a16="http://schemas.microsoft.com/office/drawing/2014/main" id="{75B5464C-0ED2-8821-9BAD-6E29D1DE6E9D}"/>
                      </a:ext>
                    </a:extLst>
                  </p:cNvPr>
                  <p:cNvSpPr txBox="1">
                    <a:spLocks noRot="1" noChangeAspect="1" noMove="1" noResize="1" noEditPoints="1" noAdjustHandles="1" noChangeArrowheads="1" noChangeShapeType="1" noTextEdit="1"/>
                  </p:cNvSpPr>
                  <p:nvPr/>
                </p:nvSpPr>
                <p:spPr>
                  <a:xfrm>
                    <a:off x="1584" y="2592"/>
                    <a:ext cx="540" cy="499"/>
                  </a:xfrm>
                  <a:prstGeom prst="rect">
                    <a:avLst/>
                  </a:prstGeom>
                  <a:blipFill>
                    <a:blip r:embed="rId17"/>
                    <a:stretch>
                      <a:fillRect/>
                    </a:stretch>
                  </a:blipFill>
                  <a:ln w="38100">
                    <a:noFill/>
                    <a:miter/>
                  </a:ln>
                </p:spPr>
                <p:txBody>
                  <a:bodyPr/>
                  <a:lstStyle/>
                  <a:p>
                    <a:r>
                      <a:rPr lang="zh-CN" altLang="en-US">
                        <a:noFill/>
                      </a:rPr>
                      <a:t> </a:t>
                    </a:r>
                  </a:p>
                </p:txBody>
              </p:sp>
            </mc:Fallback>
          </mc:AlternateContent>
          <p:sp>
            <p:nvSpPr>
              <p:cNvPr id="50" name="AutoShape 53">
                <a:extLst>
                  <a:ext uri="{FF2B5EF4-FFF2-40B4-BE49-F238E27FC236}">
                    <a16:creationId xmlns:a16="http://schemas.microsoft.com/office/drawing/2014/main" id="{714E8918-6D66-54FA-E8C2-C85F77932EE0}"/>
                  </a:ext>
                </a:extLst>
              </p:cNvPr>
              <p:cNvSpPr/>
              <p:nvPr/>
            </p:nvSpPr>
            <p:spPr>
              <a:xfrm>
                <a:off x="1584" y="2352"/>
                <a:ext cx="96" cy="384"/>
              </a:xfrm>
              <a:prstGeom prst="downArrow">
                <a:avLst>
                  <a:gd name="adj1" fmla="val 50000"/>
                  <a:gd name="adj2" fmla="val 100000"/>
                </a:avLst>
              </a:prstGeom>
              <a:solidFill>
                <a:schemeClr val="accent2"/>
              </a:solidFill>
              <a:ln w="28575" cap="flat" cmpd="sng">
                <a:solidFill>
                  <a:srgbClr val="0066FF"/>
                </a:solidFill>
                <a:prstDash val="solid"/>
                <a:miter/>
                <a:headEnd type="none" w="med" len="med"/>
                <a:tailEnd type="none" w="med" len="med"/>
              </a:ln>
            </p:spPr>
            <p:txBody>
              <a:bodyPr wrap="none" anchor="ctr" anchorCtr="0"/>
              <a:lstStyle/>
              <a:p>
                <a:endParaRPr lang="zh-CN" altLang="en-US" sz="2600" dirty="0">
                  <a:latin typeface="+mn-ea"/>
                </a:endParaRPr>
              </a:p>
            </p:txBody>
          </p:sp>
        </p:grpSp>
      </p:grpSp>
      <p:sp>
        <p:nvSpPr>
          <p:cNvPr id="93" name="Text Box 2">
            <a:extLst>
              <a:ext uri="{FF2B5EF4-FFF2-40B4-BE49-F238E27FC236}">
                <a16:creationId xmlns:a16="http://schemas.microsoft.com/office/drawing/2014/main" id="{69AD431B-7F43-A5A1-4294-A8BB7CABF694}"/>
              </a:ext>
            </a:extLst>
          </p:cNvPr>
          <p:cNvSpPr txBox="1">
            <a:spLocks noChangeArrowheads="1"/>
          </p:cNvSpPr>
          <p:nvPr/>
        </p:nvSpPr>
        <p:spPr bwMode="auto">
          <a:xfrm>
            <a:off x="4443412" y="3756237"/>
            <a:ext cx="3527425" cy="523220"/>
          </a:xfrm>
          <a:prstGeom prst="rect">
            <a:avLst/>
          </a:prstGeom>
          <a:solidFill>
            <a:schemeClr val="bg1"/>
          </a:solidFill>
          <a:ln w="9525">
            <a:solidFill>
              <a:schemeClr val="bg1"/>
            </a:solidFill>
            <a:miter lim="800000"/>
          </a:ln>
          <a:effectLst/>
        </p:spPr>
        <p:txBody>
          <a:bodyPr>
            <a:spAutoFit/>
          </a:bodyPr>
          <a:lstStyle/>
          <a:p>
            <a:pPr>
              <a:spcBef>
                <a:spcPct val="50000"/>
              </a:spcBef>
              <a:defRPr/>
            </a:pPr>
            <a:r>
              <a:rPr kumimoji="1" lang="en-US" altLang="zh-CN" sz="2800" dirty="0">
                <a:latin typeface="+mn-ea"/>
              </a:rPr>
              <a:t> </a:t>
            </a:r>
            <a:r>
              <a:rPr kumimoji="1" lang="en-US" altLang="zh-CN" sz="2800" i="1" dirty="0">
                <a:solidFill>
                  <a:srgbClr val="000000"/>
                </a:solidFill>
                <a:latin typeface="+mn-ea"/>
              </a:rPr>
              <a:t>D — A</a:t>
            </a:r>
            <a:r>
              <a:rPr kumimoji="1" lang="en-US" altLang="zh-CN" sz="2800" dirty="0">
                <a:solidFill>
                  <a:srgbClr val="000000"/>
                </a:solidFill>
                <a:latin typeface="+mn-ea"/>
              </a:rPr>
              <a:t> </a:t>
            </a:r>
            <a:r>
              <a:rPr kumimoji="1" lang="zh-CN" altLang="en-US" sz="2800" dirty="0">
                <a:solidFill>
                  <a:srgbClr val="000000"/>
                </a:solidFill>
                <a:latin typeface="+mn-ea"/>
              </a:rPr>
              <a:t>绝热过程</a:t>
            </a:r>
          </a:p>
        </p:txBody>
      </p:sp>
      <mc:AlternateContent xmlns:mc="http://schemas.openxmlformats.org/markup-compatibility/2006" xmlns:a14="http://schemas.microsoft.com/office/drawing/2010/main">
        <mc:Choice Requires="a14">
          <p:sp>
            <p:nvSpPr>
              <p:cNvPr id="94" name="Object 3">
                <a:extLst>
                  <a:ext uri="{FF2B5EF4-FFF2-40B4-BE49-F238E27FC236}">
                    <a16:creationId xmlns:a16="http://schemas.microsoft.com/office/drawing/2014/main" id="{42439170-246C-98BB-7996-8537E85499EE}"/>
                  </a:ext>
                </a:extLst>
              </p:cNvPr>
              <p:cNvSpPr txBox="1"/>
              <p:nvPr/>
            </p:nvSpPr>
            <p:spPr>
              <a:xfrm>
                <a:off x="7568128" y="3700403"/>
                <a:ext cx="2897188" cy="698500"/>
              </a:xfrm>
              <a:prstGeom prst="rect">
                <a:avLst/>
              </a:prstGeom>
              <a:solidFill>
                <a:schemeClr val="bg1"/>
              </a:solidFill>
              <a:ln w="38100">
                <a:solidFill>
                  <a:schemeClr val="bg1"/>
                </a:solidFill>
                <a:miter/>
              </a:ln>
            </p:spPr>
            <p:txBody>
              <a:bodyPr>
                <a:normAutofit/>
              </a:bodyPr>
              <a:lstStyle/>
              <a:p>
                <a:pPr/>
                <a14:m>
                  <m:oMathPara xmlns:m="http://schemas.openxmlformats.org/officeDocument/2006/math">
                    <m:oMathParaPr>
                      <m:jc m:val="left"/>
                    </m:oMathParaPr>
                    <m:oMath xmlns:m="http://schemas.openxmlformats.org/officeDocument/2006/math">
                      <m:sSubSup>
                        <m:sSubSupPr>
                          <m:ctrlPr>
                            <a:rPr lang="zh-CN" altLang="en-US" sz="2800" i="1">
                              <a:solidFill>
                                <a:srgbClr val="000000"/>
                              </a:solidFill>
                              <a:latin typeface="Cambria Math" panose="02040503050406030204" pitchFamily="18" charset="0"/>
                            </a:rPr>
                          </m:ctrlPr>
                        </m:sSubSupPr>
                        <m:e>
                          <m:r>
                            <a:rPr lang="zh-CN" altLang="en-US" sz="2800" b="0" i="1">
                              <a:solidFill>
                                <a:srgbClr val="000000"/>
                              </a:solidFill>
                              <a:latin typeface="Cambria Math" panose="02040503050406030204" pitchFamily="18" charset="0"/>
                            </a:rPr>
                            <m:t>𝑉</m:t>
                          </m:r>
                        </m:e>
                        <m:sub>
                          <m:r>
                            <a:rPr lang="zh-CN" altLang="en-US" sz="2800" b="0" i="1">
                              <a:solidFill>
                                <a:srgbClr val="000000"/>
                              </a:solidFill>
                              <a:latin typeface="Cambria Math" panose="02040503050406030204" pitchFamily="18" charset="0"/>
                            </a:rPr>
                            <m:t>1</m:t>
                          </m:r>
                        </m:sub>
                        <m:sup>
                          <m:r>
                            <a:rPr lang="zh-CN" altLang="en-US" sz="2800" b="0" i="1">
                              <a:solidFill>
                                <a:srgbClr val="000000"/>
                              </a:solidFill>
                              <a:latin typeface="Cambria Math" panose="02040503050406030204" pitchFamily="18" charset="0"/>
                            </a:rPr>
                            <m:t>𝛾</m:t>
                          </m:r>
                          <m:r>
                            <a:rPr lang="zh-CN" altLang="en-US" sz="2800" b="0" i="1">
                              <a:solidFill>
                                <a:srgbClr val="000000"/>
                              </a:solidFill>
                              <a:latin typeface="Cambria Math" panose="02040503050406030204" pitchFamily="18" charset="0"/>
                            </a:rPr>
                            <m:t>−1</m:t>
                          </m:r>
                        </m:sup>
                      </m:sSubSup>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1</m:t>
                          </m:r>
                        </m:sub>
                      </m:sSub>
                      <m:r>
                        <a:rPr lang="zh-CN" altLang="en-US" sz="2800" b="0" i="1">
                          <a:solidFill>
                            <a:srgbClr val="000000"/>
                          </a:solidFill>
                          <a:latin typeface="Cambria Math" panose="02040503050406030204" pitchFamily="18" charset="0"/>
                        </a:rPr>
                        <m:t>=</m:t>
                      </m:r>
                      <m:sSubSup>
                        <m:sSubSupPr>
                          <m:ctrlPr>
                            <a:rPr lang="zh-CN" altLang="en-US" sz="2800" i="1">
                              <a:solidFill>
                                <a:srgbClr val="000000"/>
                              </a:solidFill>
                              <a:latin typeface="Cambria Math" panose="02040503050406030204" pitchFamily="18" charset="0"/>
                            </a:rPr>
                          </m:ctrlPr>
                        </m:sSubSupPr>
                        <m:e>
                          <m:r>
                            <a:rPr lang="zh-CN" altLang="en-US" sz="2800" b="0" i="1">
                              <a:solidFill>
                                <a:srgbClr val="000000"/>
                              </a:solidFill>
                              <a:latin typeface="Cambria Math" panose="02040503050406030204" pitchFamily="18" charset="0"/>
                            </a:rPr>
                            <m:t>𝑉</m:t>
                          </m:r>
                        </m:e>
                        <m:sub>
                          <m:r>
                            <a:rPr lang="zh-CN" altLang="en-US" sz="2800" b="0" i="1">
                              <a:solidFill>
                                <a:srgbClr val="000000"/>
                              </a:solidFill>
                              <a:latin typeface="Cambria Math" panose="02040503050406030204" pitchFamily="18" charset="0"/>
                            </a:rPr>
                            <m:t>4</m:t>
                          </m:r>
                        </m:sub>
                        <m:sup>
                          <m:r>
                            <a:rPr lang="zh-CN" altLang="en-US" sz="2800" b="0" i="1">
                              <a:solidFill>
                                <a:srgbClr val="000000"/>
                              </a:solidFill>
                              <a:latin typeface="Cambria Math" panose="02040503050406030204" pitchFamily="18" charset="0"/>
                            </a:rPr>
                            <m:t>𝛾</m:t>
                          </m:r>
                          <m:r>
                            <a:rPr lang="zh-CN" altLang="en-US" sz="2800" b="0" i="1">
                              <a:solidFill>
                                <a:srgbClr val="000000"/>
                              </a:solidFill>
                              <a:latin typeface="Cambria Math" panose="02040503050406030204" pitchFamily="18" charset="0"/>
                            </a:rPr>
                            <m:t>−1</m:t>
                          </m:r>
                        </m:sup>
                      </m:sSubSup>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2</m:t>
                          </m:r>
                        </m:sub>
                      </m:sSub>
                    </m:oMath>
                  </m:oMathPara>
                </a14:m>
                <a:endParaRPr lang="zh-CN" altLang="en-US" sz="2800" dirty="0">
                  <a:latin typeface="+mn-ea"/>
                </a:endParaRPr>
              </a:p>
            </p:txBody>
          </p:sp>
        </mc:Choice>
        <mc:Fallback xmlns="">
          <p:sp>
            <p:nvSpPr>
              <p:cNvPr id="94" name="Object 3">
                <a:extLst>
                  <a:ext uri="{FF2B5EF4-FFF2-40B4-BE49-F238E27FC236}">
                    <a16:creationId xmlns:a16="http://schemas.microsoft.com/office/drawing/2014/main" id="{42439170-246C-98BB-7996-8537E85499EE}"/>
                  </a:ext>
                </a:extLst>
              </p:cNvPr>
              <p:cNvSpPr txBox="1">
                <a:spLocks noRot="1" noChangeAspect="1" noMove="1" noResize="1" noEditPoints="1" noAdjustHandles="1" noChangeArrowheads="1" noChangeShapeType="1" noTextEdit="1"/>
              </p:cNvSpPr>
              <p:nvPr/>
            </p:nvSpPr>
            <p:spPr>
              <a:xfrm>
                <a:off x="7568128" y="3700403"/>
                <a:ext cx="2897188" cy="698500"/>
              </a:xfrm>
              <a:prstGeom prst="rect">
                <a:avLst/>
              </a:prstGeom>
              <a:blipFill>
                <a:blip r:embed="rId18"/>
                <a:stretch>
                  <a:fillRect/>
                </a:stretch>
              </a:blipFill>
              <a:ln w="38100">
                <a:solidFill>
                  <a:schemeClr val="bg1"/>
                </a:solidFill>
                <a:miter/>
              </a:ln>
            </p:spPr>
            <p:txBody>
              <a:bodyPr/>
              <a:lstStyle/>
              <a:p>
                <a:r>
                  <a:rPr lang="zh-CN" altLang="en-US">
                    <a:noFill/>
                  </a:rPr>
                  <a:t> </a:t>
                </a:r>
              </a:p>
            </p:txBody>
          </p:sp>
        </mc:Fallback>
      </mc:AlternateContent>
      <p:sp>
        <p:nvSpPr>
          <p:cNvPr id="95" name="Rectangle 4">
            <a:extLst>
              <a:ext uri="{FF2B5EF4-FFF2-40B4-BE49-F238E27FC236}">
                <a16:creationId xmlns:a16="http://schemas.microsoft.com/office/drawing/2014/main" id="{56106D0F-DC10-9A15-CA48-A4B61D373BAF}"/>
              </a:ext>
            </a:extLst>
          </p:cNvPr>
          <p:cNvSpPr>
            <a:spLocks noChangeArrowheads="1"/>
          </p:cNvSpPr>
          <p:nvPr/>
        </p:nvSpPr>
        <p:spPr bwMode="auto">
          <a:xfrm>
            <a:off x="4566166" y="2847838"/>
            <a:ext cx="3744913" cy="523220"/>
          </a:xfrm>
          <a:prstGeom prst="rect">
            <a:avLst/>
          </a:prstGeom>
          <a:solidFill>
            <a:schemeClr val="bg1"/>
          </a:solidFill>
          <a:ln w="9525">
            <a:solidFill>
              <a:schemeClr val="bg1"/>
            </a:solidFill>
            <a:miter lim="800000"/>
          </a:ln>
          <a:effectLst/>
        </p:spPr>
        <p:txBody>
          <a:bodyPr>
            <a:spAutoFit/>
          </a:bodyPr>
          <a:lstStyle/>
          <a:p>
            <a:pPr eaLnBrk="0" fontAlgn="base" hangingPunct="0">
              <a:spcBef>
                <a:spcPct val="50000"/>
              </a:spcBef>
              <a:spcAft>
                <a:spcPct val="0"/>
              </a:spcAft>
              <a:defRPr/>
            </a:pPr>
            <a:r>
              <a:rPr kumimoji="1" lang="en-US" altLang="zh-CN" sz="2800" i="1" dirty="0">
                <a:solidFill>
                  <a:srgbClr val="000000"/>
                </a:solidFill>
                <a:latin typeface="+mn-ea"/>
              </a:rPr>
              <a:t>B — C</a:t>
            </a:r>
            <a:r>
              <a:rPr kumimoji="1" lang="en-US" altLang="zh-CN" sz="2800" dirty="0">
                <a:latin typeface="+mn-ea"/>
              </a:rPr>
              <a:t>  </a:t>
            </a:r>
            <a:r>
              <a:rPr kumimoji="1" lang="zh-CN" altLang="en-US" sz="2800" dirty="0">
                <a:solidFill>
                  <a:srgbClr val="1C1C1C"/>
                </a:solidFill>
                <a:latin typeface="+mn-ea"/>
              </a:rPr>
              <a:t>绝热过程</a:t>
            </a:r>
            <a:r>
              <a:rPr kumimoji="1" lang="zh-CN" altLang="en-US" sz="2800" dirty="0">
                <a:latin typeface="+mn-ea"/>
              </a:rPr>
              <a:t> </a:t>
            </a:r>
          </a:p>
        </p:txBody>
      </p:sp>
      <mc:AlternateContent xmlns:mc="http://schemas.openxmlformats.org/markup-compatibility/2006" xmlns:a14="http://schemas.microsoft.com/office/drawing/2010/main">
        <mc:Choice Requires="a14">
          <p:sp>
            <p:nvSpPr>
              <p:cNvPr id="96" name="Object 5">
                <a:extLst>
                  <a:ext uri="{FF2B5EF4-FFF2-40B4-BE49-F238E27FC236}">
                    <a16:creationId xmlns:a16="http://schemas.microsoft.com/office/drawing/2014/main" id="{C785729E-2333-D0E3-8DD5-C817352A051F}"/>
                  </a:ext>
                </a:extLst>
              </p:cNvPr>
              <p:cNvSpPr txBox="1"/>
              <p:nvPr/>
            </p:nvSpPr>
            <p:spPr>
              <a:xfrm>
                <a:off x="7568128" y="2752974"/>
                <a:ext cx="2863850" cy="746125"/>
              </a:xfrm>
              <a:prstGeom prst="rect">
                <a:avLst/>
              </a:prstGeom>
              <a:solidFill>
                <a:schemeClr val="bg1"/>
              </a:solidFill>
              <a:ln w="38100">
                <a:solidFill>
                  <a:schemeClr val="bg1"/>
                </a:solid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1</m:t>
                          </m:r>
                        </m:sub>
                      </m:sSub>
                      <m:sSubSup>
                        <m:sSubSupPr>
                          <m:ctrlPr>
                            <a:rPr lang="zh-CN" altLang="en-US" sz="2800" i="1">
                              <a:solidFill>
                                <a:srgbClr val="000000"/>
                              </a:solidFill>
                              <a:latin typeface="Cambria Math" panose="02040503050406030204" pitchFamily="18" charset="0"/>
                            </a:rPr>
                          </m:ctrlPr>
                        </m:sSubSupPr>
                        <m:e>
                          <m:r>
                            <a:rPr lang="zh-CN" altLang="en-US" sz="2800" b="0" i="1">
                              <a:solidFill>
                                <a:srgbClr val="000000"/>
                              </a:solidFill>
                              <a:latin typeface="Cambria Math" panose="02040503050406030204" pitchFamily="18" charset="0"/>
                            </a:rPr>
                            <m:t>𝑉</m:t>
                          </m:r>
                        </m:e>
                        <m:sub>
                          <m:r>
                            <a:rPr lang="zh-CN" altLang="en-US" sz="2800" b="0" i="1">
                              <a:solidFill>
                                <a:srgbClr val="000000"/>
                              </a:solidFill>
                              <a:latin typeface="Cambria Math" panose="02040503050406030204" pitchFamily="18" charset="0"/>
                            </a:rPr>
                            <m:t>2</m:t>
                          </m:r>
                        </m:sub>
                        <m:sup>
                          <m:r>
                            <a:rPr lang="zh-CN" altLang="en-US" sz="2800" b="0" i="1">
                              <a:solidFill>
                                <a:srgbClr val="000000"/>
                              </a:solidFill>
                              <a:latin typeface="Cambria Math" panose="02040503050406030204" pitchFamily="18" charset="0"/>
                            </a:rPr>
                            <m:t>𝛾</m:t>
                          </m:r>
                          <m:r>
                            <a:rPr lang="zh-CN" altLang="en-US" sz="2800" b="0" i="1">
                              <a:solidFill>
                                <a:srgbClr val="000000"/>
                              </a:solidFill>
                              <a:latin typeface="Cambria Math" panose="02040503050406030204" pitchFamily="18" charset="0"/>
                            </a:rPr>
                            <m:t>−1</m:t>
                          </m:r>
                        </m:sup>
                      </m:sSubSup>
                      <m:r>
                        <a:rPr lang="zh-CN" altLang="en-US" sz="2800" b="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2</m:t>
                          </m:r>
                        </m:sub>
                      </m:sSub>
                      <m:sSubSup>
                        <m:sSubSupPr>
                          <m:ctrlPr>
                            <a:rPr lang="zh-CN" altLang="en-US" sz="2800" i="1">
                              <a:solidFill>
                                <a:srgbClr val="000000"/>
                              </a:solidFill>
                              <a:latin typeface="Cambria Math" panose="02040503050406030204" pitchFamily="18" charset="0"/>
                            </a:rPr>
                          </m:ctrlPr>
                        </m:sSubSupPr>
                        <m:e>
                          <m:r>
                            <a:rPr lang="zh-CN" altLang="en-US" sz="2800" b="0" i="1">
                              <a:solidFill>
                                <a:srgbClr val="000000"/>
                              </a:solidFill>
                              <a:latin typeface="Cambria Math" panose="02040503050406030204" pitchFamily="18" charset="0"/>
                            </a:rPr>
                            <m:t>𝑉</m:t>
                          </m:r>
                        </m:e>
                        <m:sub>
                          <m:r>
                            <a:rPr lang="zh-CN" altLang="en-US" sz="2800" b="0" i="1">
                              <a:solidFill>
                                <a:srgbClr val="000000"/>
                              </a:solidFill>
                              <a:latin typeface="Cambria Math" panose="02040503050406030204" pitchFamily="18" charset="0"/>
                            </a:rPr>
                            <m:t>3</m:t>
                          </m:r>
                        </m:sub>
                        <m:sup>
                          <m:r>
                            <a:rPr lang="zh-CN" altLang="en-US" sz="2800" b="0" i="1">
                              <a:solidFill>
                                <a:srgbClr val="000000"/>
                              </a:solidFill>
                              <a:latin typeface="Cambria Math" panose="02040503050406030204" pitchFamily="18" charset="0"/>
                            </a:rPr>
                            <m:t>𝛾</m:t>
                          </m:r>
                          <m:r>
                            <a:rPr lang="zh-CN" altLang="en-US" sz="2800" b="0" i="1">
                              <a:solidFill>
                                <a:srgbClr val="000000"/>
                              </a:solidFill>
                              <a:latin typeface="Cambria Math" panose="02040503050406030204" pitchFamily="18" charset="0"/>
                            </a:rPr>
                            <m:t>−1</m:t>
                          </m:r>
                        </m:sup>
                      </m:sSubSup>
                    </m:oMath>
                  </m:oMathPara>
                </a14:m>
                <a:endParaRPr lang="zh-CN" altLang="en-US" sz="2800" dirty="0">
                  <a:latin typeface="+mn-ea"/>
                </a:endParaRPr>
              </a:p>
            </p:txBody>
          </p:sp>
        </mc:Choice>
        <mc:Fallback xmlns="">
          <p:sp>
            <p:nvSpPr>
              <p:cNvPr id="96" name="Object 5">
                <a:extLst>
                  <a:ext uri="{FF2B5EF4-FFF2-40B4-BE49-F238E27FC236}">
                    <a16:creationId xmlns:a16="http://schemas.microsoft.com/office/drawing/2014/main" id="{C785729E-2333-D0E3-8DD5-C817352A051F}"/>
                  </a:ext>
                </a:extLst>
              </p:cNvPr>
              <p:cNvSpPr txBox="1">
                <a:spLocks noRot="1" noChangeAspect="1" noMove="1" noResize="1" noEditPoints="1" noAdjustHandles="1" noChangeArrowheads="1" noChangeShapeType="1" noTextEdit="1"/>
              </p:cNvSpPr>
              <p:nvPr/>
            </p:nvSpPr>
            <p:spPr>
              <a:xfrm>
                <a:off x="7568128" y="2752974"/>
                <a:ext cx="2863850" cy="746125"/>
              </a:xfrm>
              <a:prstGeom prst="rect">
                <a:avLst/>
              </a:prstGeom>
              <a:blipFill>
                <a:blip r:embed="rId19"/>
                <a:stretch>
                  <a:fillRect/>
                </a:stretch>
              </a:blipFill>
              <a:ln w="38100">
                <a:solidFill>
                  <a:schemeClr val="bg1"/>
                </a:solid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7" name="Object 6">
                <a:extLst>
                  <a:ext uri="{FF2B5EF4-FFF2-40B4-BE49-F238E27FC236}">
                    <a16:creationId xmlns:a16="http://schemas.microsoft.com/office/drawing/2014/main" id="{208F1E78-D117-E51A-D447-487494798552}"/>
                  </a:ext>
                </a:extLst>
              </p:cNvPr>
              <p:cNvSpPr txBox="1"/>
              <p:nvPr/>
            </p:nvSpPr>
            <p:spPr>
              <a:xfrm>
                <a:off x="6610868" y="4618289"/>
                <a:ext cx="1652588" cy="1208088"/>
              </a:xfrm>
              <a:prstGeom prst="rect">
                <a:avLst/>
              </a:prstGeom>
              <a:solidFill>
                <a:schemeClr val="bg1"/>
              </a:solidFill>
              <a:ln w="38100">
                <a:solidFill>
                  <a:schemeClr val="bg1"/>
                </a:solidFill>
                <a:miter/>
              </a:ln>
            </p:spPr>
            <p:txBody>
              <a:bodyPr>
                <a:normAutofit/>
              </a:bodyPr>
              <a:lstStyle/>
              <a:p>
                <a:pPr/>
                <a14:m>
                  <m:oMathPara xmlns:m="http://schemas.openxmlformats.org/officeDocument/2006/math">
                    <m:oMathParaPr>
                      <m:jc m:val="left"/>
                    </m:oMathParaPr>
                    <m:oMath xmlns:m="http://schemas.openxmlformats.org/officeDocument/2006/math">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𝑉</m:t>
                              </m:r>
                            </m:e>
                            <m:sub>
                              <m:r>
                                <a:rPr lang="zh-CN" altLang="en-US" sz="2800" b="0" i="1">
                                  <a:solidFill>
                                    <a:srgbClr val="000000"/>
                                  </a:solidFill>
                                  <a:latin typeface="Cambria Math" panose="02040503050406030204" pitchFamily="18" charset="0"/>
                                </a:rPr>
                                <m:t>2</m:t>
                              </m:r>
                            </m:sub>
                          </m:sSub>
                        </m:num>
                        <m:den>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𝑉</m:t>
                              </m:r>
                            </m:e>
                            <m:sub>
                              <m:r>
                                <a:rPr lang="zh-CN" altLang="en-US" sz="2800" b="0" i="1">
                                  <a:solidFill>
                                    <a:srgbClr val="000000"/>
                                  </a:solidFill>
                                  <a:latin typeface="Cambria Math" panose="02040503050406030204" pitchFamily="18" charset="0"/>
                                </a:rPr>
                                <m:t>1</m:t>
                              </m:r>
                            </m:sub>
                          </m:sSub>
                        </m:den>
                      </m:f>
                      <m:r>
                        <a:rPr lang="zh-CN" altLang="en-US" sz="2800" b="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𝑉</m:t>
                              </m:r>
                            </m:e>
                            <m:sub>
                              <m:r>
                                <a:rPr lang="zh-CN" altLang="en-US" sz="2800" b="0" i="1">
                                  <a:solidFill>
                                    <a:srgbClr val="000000"/>
                                  </a:solidFill>
                                  <a:latin typeface="Cambria Math" panose="02040503050406030204" pitchFamily="18" charset="0"/>
                                </a:rPr>
                                <m:t>3</m:t>
                              </m:r>
                            </m:sub>
                          </m:sSub>
                        </m:num>
                        <m:den>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𝑉</m:t>
                              </m:r>
                            </m:e>
                            <m:sub>
                              <m:r>
                                <a:rPr lang="zh-CN" altLang="en-US" sz="2800" b="0" i="1">
                                  <a:solidFill>
                                    <a:srgbClr val="000000"/>
                                  </a:solidFill>
                                  <a:latin typeface="Cambria Math" panose="02040503050406030204" pitchFamily="18" charset="0"/>
                                </a:rPr>
                                <m:t>4</m:t>
                              </m:r>
                            </m:sub>
                          </m:sSub>
                        </m:den>
                      </m:f>
                    </m:oMath>
                  </m:oMathPara>
                </a14:m>
                <a:endParaRPr lang="zh-CN" altLang="en-US" sz="2800" dirty="0">
                  <a:latin typeface="+mn-ea"/>
                </a:endParaRPr>
              </a:p>
            </p:txBody>
          </p:sp>
        </mc:Choice>
        <mc:Fallback xmlns="">
          <p:sp>
            <p:nvSpPr>
              <p:cNvPr id="97" name="Object 6">
                <a:extLst>
                  <a:ext uri="{FF2B5EF4-FFF2-40B4-BE49-F238E27FC236}">
                    <a16:creationId xmlns:a16="http://schemas.microsoft.com/office/drawing/2014/main" id="{208F1E78-D117-E51A-D447-487494798552}"/>
                  </a:ext>
                </a:extLst>
              </p:cNvPr>
              <p:cNvSpPr txBox="1">
                <a:spLocks noRot="1" noChangeAspect="1" noMove="1" noResize="1" noEditPoints="1" noAdjustHandles="1" noChangeArrowheads="1" noChangeShapeType="1" noTextEdit="1"/>
              </p:cNvSpPr>
              <p:nvPr/>
            </p:nvSpPr>
            <p:spPr>
              <a:xfrm>
                <a:off x="6610868" y="4618289"/>
                <a:ext cx="1652588" cy="1208088"/>
              </a:xfrm>
              <a:prstGeom prst="rect">
                <a:avLst/>
              </a:prstGeom>
              <a:blipFill>
                <a:blip r:embed="rId20"/>
                <a:stretch>
                  <a:fillRect/>
                </a:stretch>
              </a:blipFill>
              <a:ln w="38100">
                <a:solidFill>
                  <a:schemeClr val="bg1"/>
                </a:solid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Object 2">
                <a:extLst>
                  <a:ext uri="{FF2B5EF4-FFF2-40B4-BE49-F238E27FC236}">
                    <a16:creationId xmlns:a16="http://schemas.microsoft.com/office/drawing/2014/main" id="{6DE7B72F-E468-2F28-61E5-F9DC6D78249F}"/>
                  </a:ext>
                </a:extLst>
              </p:cNvPr>
              <p:cNvSpPr txBox="1">
                <a:spLocks/>
              </p:cNvSpPr>
              <p:nvPr/>
            </p:nvSpPr>
            <p:spPr>
              <a:xfrm>
                <a:off x="5126313" y="863969"/>
                <a:ext cx="5422347" cy="1627187"/>
              </a:xfrm>
              <a:prstGeom prst="rect">
                <a:avLst/>
              </a:prstGeom>
              <a:noFill/>
              <a:ln w="38100">
                <a:miter/>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14:m>
                  <m:oMathPara xmlns:m="http://schemas.openxmlformats.org/officeDocument/2006/math">
                    <m:oMathParaPr>
                      <m:jc m:val="left"/>
                    </m:oMathParaPr>
                    <m:oMath xmlns:m="http://schemas.openxmlformats.org/officeDocument/2006/math">
                      <m:r>
                        <a:rPr lang="zh-CN" altLang="en-US" i="1" smtClean="0">
                          <a:solidFill>
                            <a:srgbClr val="000000"/>
                          </a:solidFill>
                          <a:latin typeface="Cambria Math" panose="02040503050406030204" pitchFamily="18" charset="0"/>
                        </a:rPr>
                        <m:t>𝜂</m:t>
                      </m:r>
                      <m:r>
                        <a:rPr lang="zh-CN" altLang="en-US" i="1" smtClean="0">
                          <a:solidFill>
                            <a:srgbClr val="000000"/>
                          </a:solidFill>
                          <a:latin typeface="Cambria Math" panose="02040503050406030204" pitchFamily="18" charset="0"/>
                        </a:rPr>
                        <m:t>=1−</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𝑄</m:t>
                              </m:r>
                            </m:e>
                            <m:sub>
                              <m:r>
                                <a:rPr lang="zh-CN" altLang="en-US" i="1">
                                  <a:solidFill>
                                    <a:srgbClr val="000000"/>
                                  </a:solidFill>
                                  <a:latin typeface="Cambria Math" panose="02040503050406030204" pitchFamily="18" charset="0"/>
                                </a:rPr>
                                <m:t>2</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𝑄</m:t>
                              </m:r>
                            </m:e>
                            <m:sub>
                              <m:r>
                                <a:rPr lang="zh-CN" altLang="en-US" i="1">
                                  <a:solidFill>
                                    <a:srgbClr val="000000"/>
                                  </a:solidFill>
                                  <a:latin typeface="Cambria Math" panose="02040503050406030204" pitchFamily="18" charset="0"/>
                                </a:rPr>
                                <m:t>1</m:t>
                              </m:r>
                            </m:sub>
                          </m:sSub>
                        </m:den>
                      </m:f>
                      <m:r>
                        <a:rPr lang="zh-CN" altLang="en-US" i="1">
                          <a:solidFill>
                            <a:srgbClr val="000000"/>
                          </a:solidFill>
                          <a:latin typeface="Cambria Math" panose="02040503050406030204" pitchFamily="18" charset="0"/>
                        </a:rPr>
                        <m:t>=1−</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𝑇</m:t>
                              </m:r>
                            </m:e>
                            <m:sub>
                              <m:r>
                                <a:rPr lang="zh-CN" altLang="en-US" i="1">
                                  <a:solidFill>
                                    <a:srgbClr val="000000"/>
                                  </a:solidFill>
                                  <a:latin typeface="Cambria Math" panose="02040503050406030204" pitchFamily="18" charset="0"/>
                                </a:rPr>
                                <m:t>2</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𝑇</m:t>
                              </m:r>
                            </m:e>
                            <m:sub>
                              <m:r>
                                <a:rPr lang="zh-CN" altLang="en-US" i="1">
                                  <a:solidFill>
                                    <a:srgbClr val="000000"/>
                                  </a:solidFill>
                                  <a:latin typeface="Cambria Math" panose="02040503050406030204" pitchFamily="18" charset="0"/>
                                </a:rPr>
                                <m:t>1</m:t>
                              </m:r>
                            </m:sub>
                          </m:sSub>
                        </m:den>
                      </m:f>
                      <m:f>
                        <m:fPr>
                          <m:ctrlPr>
                            <a:rPr lang="zh-CN" altLang="en-US" i="1">
                              <a:solidFill>
                                <a:srgbClr val="000000"/>
                              </a:solidFill>
                              <a:latin typeface="Cambria Math" panose="02040503050406030204" pitchFamily="18" charset="0"/>
                            </a:rPr>
                          </m:ctrlPr>
                        </m:fPr>
                        <m:num>
                          <m:func>
                            <m:funcPr>
                              <m:ctrlPr>
                                <a:rPr lang="zh-CN" altLang="en-US" i="1">
                                  <a:solidFill>
                                    <a:srgbClr val="000000"/>
                                  </a:solidFill>
                                  <a:latin typeface="Cambria Math" panose="02040503050406030204" pitchFamily="18" charset="0"/>
                                </a:rPr>
                              </m:ctrlPr>
                            </m:funcPr>
                            <m:fName>
                              <m:r>
                                <m:rPr>
                                  <m:sty m:val="p"/>
                                </m:rPr>
                                <a:rPr lang="zh-CN" altLang="en-US">
                                  <a:solidFill>
                                    <a:srgbClr val="000000"/>
                                  </a:solidFill>
                                  <a:latin typeface="Cambria Math" panose="02040503050406030204" pitchFamily="18" charset="0"/>
                                </a:rPr>
                                <m:t>ln</m:t>
                              </m:r>
                            </m:fName>
                            <m:e>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a:rPr lang="zh-CN" altLang="en-US" i="1">
                                          <a:solidFill>
                                            <a:srgbClr val="000000"/>
                                          </a:solidFill>
                                          <a:latin typeface="Cambria Math" panose="02040503050406030204" pitchFamily="18" charset="0"/>
                                        </a:rPr>
                                        <m:t>3</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a:rPr lang="zh-CN" altLang="en-US" i="1">
                                          <a:solidFill>
                                            <a:srgbClr val="000000"/>
                                          </a:solidFill>
                                          <a:latin typeface="Cambria Math" panose="02040503050406030204" pitchFamily="18" charset="0"/>
                                        </a:rPr>
                                        <m:t>4</m:t>
                                      </m:r>
                                    </m:sub>
                                  </m:sSub>
                                </m:den>
                              </m:f>
                            </m:e>
                          </m:func>
                        </m:num>
                        <m:den>
                          <m:func>
                            <m:funcPr>
                              <m:ctrlPr>
                                <a:rPr lang="zh-CN" altLang="en-US" i="1">
                                  <a:solidFill>
                                    <a:srgbClr val="000000"/>
                                  </a:solidFill>
                                  <a:latin typeface="Cambria Math" panose="02040503050406030204" pitchFamily="18" charset="0"/>
                                </a:rPr>
                              </m:ctrlPr>
                            </m:funcPr>
                            <m:fName>
                              <m:r>
                                <m:rPr>
                                  <m:sty m:val="p"/>
                                </m:rPr>
                                <a:rPr lang="zh-CN" altLang="en-US">
                                  <a:solidFill>
                                    <a:srgbClr val="000000"/>
                                  </a:solidFill>
                                  <a:latin typeface="Cambria Math" panose="02040503050406030204" pitchFamily="18" charset="0"/>
                                </a:rPr>
                                <m:t>ln</m:t>
                              </m:r>
                            </m:fName>
                            <m:e>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a:rPr lang="zh-CN" altLang="en-US" i="1">
                                          <a:solidFill>
                                            <a:srgbClr val="000000"/>
                                          </a:solidFill>
                                          <a:latin typeface="Cambria Math" panose="02040503050406030204" pitchFamily="18" charset="0"/>
                                        </a:rPr>
                                        <m:t>2</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a:rPr lang="zh-CN" altLang="en-US" i="1">
                                          <a:solidFill>
                                            <a:srgbClr val="000000"/>
                                          </a:solidFill>
                                          <a:latin typeface="Cambria Math" panose="02040503050406030204" pitchFamily="18" charset="0"/>
                                        </a:rPr>
                                        <m:t>1</m:t>
                                      </m:r>
                                    </m:sub>
                                  </m:sSub>
                                </m:den>
                              </m:f>
                            </m:e>
                          </m:func>
                        </m:den>
                      </m:f>
                    </m:oMath>
                  </m:oMathPara>
                </a14:m>
                <a:endParaRPr lang="zh-CN" altLang="en-US" dirty="0"/>
              </a:p>
            </p:txBody>
          </p:sp>
        </mc:Choice>
        <mc:Fallback xmlns="">
          <p:sp>
            <p:nvSpPr>
              <p:cNvPr id="3" name="Object 2">
                <a:extLst>
                  <a:ext uri="{FF2B5EF4-FFF2-40B4-BE49-F238E27FC236}">
                    <a16:creationId xmlns:a16="http://schemas.microsoft.com/office/drawing/2014/main" id="{6DE7B72F-E468-2F28-61E5-F9DC6D78249F}"/>
                  </a:ext>
                </a:extLst>
              </p:cNvPr>
              <p:cNvSpPr txBox="1">
                <a:spLocks noRot="1" noChangeAspect="1" noMove="1" noResize="1" noEditPoints="1" noAdjustHandles="1" noChangeArrowheads="1" noChangeShapeType="1" noTextEdit="1"/>
              </p:cNvSpPr>
              <p:nvPr/>
            </p:nvSpPr>
            <p:spPr>
              <a:xfrm>
                <a:off x="5126313" y="863969"/>
                <a:ext cx="5422347" cy="1627187"/>
              </a:xfrm>
              <a:prstGeom prst="rect">
                <a:avLst/>
              </a:prstGeom>
              <a:blipFill>
                <a:blip r:embed="rId21"/>
                <a:stretch>
                  <a:fillRect t="-1498"/>
                </a:stretch>
              </a:blipFill>
              <a:ln w="38100">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FFDB6A4F-3A86-2092-C84B-36A9B42B25E8}"/>
                  </a:ext>
                </a:extLst>
              </p:cNvPr>
              <p:cNvSpPr txBox="1"/>
              <p:nvPr/>
            </p:nvSpPr>
            <p:spPr>
              <a:xfrm>
                <a:off x="9093200" y="992062"/>
                <a:ext cx="2045770" cy="109485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3200" b="1" i="1" smtClean="0">
                          <a:solidFill>
                            <a:srgbClr val="FF0000"/>
                          </a:solidFill>
                          <a:latin typeface="Cambria Math" panose="02040503050406030204" pitchFamily="18" charset="0"/>
                        </a:rPr>
                        <m:t>=</m:t>
                      </m:r>
                      <m:r>
                        <a:rPr lang="zh-CN" altLang="en-US" sz="3200" b="1" i="1" smtClean="0">
                          <a:solidFill>
                            <a:srgbClr val="FF0000"/>
                          </a:solidFill>
                          <a:latin typeface="Cambria Math" panose="02040503050406030204" pitchFamily="18" charset="0"/>
                        </a:rPr>
                        <m:t>𝟏</m:t>
                      </m:r>
                      <m:r>
                        <a:rPr lang="zh-CN" altLang="en-US" sz="3200" b="1" i="1" smtClean="0">
                          <a:solidFill>
                            <a:srgbClr val="FF0000"/>
                          </a:solidFill>
                          <a:latin typeface="Cambria Math" panose="02040503050406030204" pitchFamily="18" charset="0"/>
                        </a:rPr>
                        <m:t>−</m:t>
                      </m:r>
                      <m:f>
                        <m:fPr>
                          <m:ctrlPr>
                            <a:rPr lang="zh-CN" altLang="en-US" sz="3200" b="1" i="1">
                              <a:solidFill>
                                <a:srgbClr val="FF0000"/>
                              </a:solidFill>
                              <a:latin typeface="Cambria Math" panose="02040503050406030204" pitchFamily="18" charset="0"/>
                            </a:rPr>
                          </m:ctrlPr>
                        </m:fPr>
                        <m:num>
                          <m:sSub>
                            <m:sSubPr>
                              <m:ctrlPr>
                                <a:rPr lang="zh-CN" altLang="en-US" sz="3200" b="1" i="1">
                                  <a:solidFill>
                                    <a:srgbClr val="FF0000"/>
                                  </a:solidFill>
                                  <a:latin typeface="Cambria Math" panose="02040503050406030204" pitchFamily="18" charset="0"/>
                                </a:rPr>
                              </m:ctrlPr>
                            </m:sSubPr>
                            <m:e>
                              <m:r>
                                <a:rPr lang="zh-CN" altLang="en-US" sz="3200" b="1" i="1">
                                  <a:solidFill>
                                    <a:srgbClr val="FF0000"/>
                                  </a:solidFill>
                                  <a:latin typeface="Cambria Math" panose="02040503050406030204" pitchFamily="18" charset="0"/>
                                </a:rPr>
                                <m:t>𝑻</m:t>
                              </m:r>
                            </m:e>
                            <m:sub>
                              <m:r>
                                <a:rPr lang="zh-CN" altLang="en-US" sz="3200" b="1" i="1">
                                  <a:solidFill>
                                    <a:srgbClr val="FF0000"/>
                                  </a:solidFill>
                                  <a:latin typeface="Cambria Math" panose="02040503050406030204" pitchFamily="18" charset="0"/>
                                </a:rPr>
                                <m:t>𝟐</m:t>
                              </m:r>
                            </m:sub>
                          </m:sSub>
                        </m:num>
                        <m:den>
                          <m:sSub>
                            <m:sSubPr>
                              <m:ctrlPr>
                                <a:rPr lang="zh-CN" altLang="en-US" sz="3200" b="1" i="1">
                                  <a:solidFill>
                                    <a:srgbClr val="FF0000"/>
                                  </a:solidFill>
                                  <a:latin typeface="Cambria Math" panose="02040503050406030204" pitchFamily="18" charset="0"/>
                                </a:rPr>
                              </m:ctrlPr>
                            </m:sSubPr>
                            <m:e>
                              <m:r>
                                <a:rPr lang="zh-CN" altLang="en-US" sz="3200" b="1" i="1">
                                  <a:solidFill>
                                    <a:srgbClr val="FF0000"/>
                                  </a:solidFill>
                                  <a:latin typeface="Cambria Math" panose="02040503050406030204" pitchFamily="18" charset="0"/>
                                </a:rPr>
                                <m:t>𝑻</m:t>
                              </m:r>
                            </m:e>
                            <m:sub>
                              <m:r>
                                <a:rPr lang="zh-CN" altLang="en-US" sz="3200" b="1" i="1">
                                  <a:solidFill>
                                    <a:srgbClr val="FF0000"/>
                                  </a:solidFill>
                                  <a:latin typeface="Cambria Math" panose="02040503050406030204" pitchFamily="18" charset="0"/>
                                </a:rPr>
                                <m:t>𝟏</m:t>
                              </m:r>
                            </m:sub>
                          </m:sSub>
                        </m:den>
                      </m:f>
                    </m:oMath>
                  </m:oMathPara>
                </a14:m>
                <a:endParaRPr lang="zh-CN" altLang="en-US" sz="3200" b="1" dirty="0">
                  <a:solidFill>
                    <a:srgbClr val="FF0000"/>
                  </a:solidFill>
                </a:endParaRPr>
              </a:p>
            </p:txBody>
          </p:sp>
        </mc:Choice>
        <mc:Fallback xmlns="">
          <p:sp>
            <p:nvSpPr>
              <p:cNvPr id="5" name="文本框 4">
                <a:extLst>
                  <a:ext uri="{FF2B5EF4-FFF2-40B4-BE49-F238E27FC236}">
                    <a16:creationId xmlns:a16="http://schemas.microsoft.com/office/drawing/2014/main" id="{FFDB6A4F-3A86-2092-C84B-36A9B42B25E8}"/>
                  </a:ext>
                </a:extLst>
              </p:cNvPr>
              <p:cNvSpPr txBox="1">
                <a:spLocks noRot="1" noChangeAspect="1" noMove="1" noResize="1" noEditPoints="1" noAdjustHandles="1" noChangeArrowheads="1" noChangeShapeType="1" noTextEdit="1"/>
              </p:cNvSpPr>
              <p:nvPr/>
            </p:nvSpPr>
            <p:spPr>
              <a:xfrm>
                <a:off x="9093200" y="992062"/>
                <a:ext cx="2045770" cy="1094852"/>
              </a:xfrm>
              <a:prstGeom prst="rect">
                <a:avLst/>
              </a:prstGeom>
              <a:blipFill>
                <a:blip r:embed="rId22"/>
                <a:stretch>
                  <a:fillRect/>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31624EF6-81F6-AD7D-302F-9B82E90CF9DA}"/>
              </a:ext>
            </a:extLst>
          </p:cNvPr>
          <p:cNvSpPr txBox="1"/>
          <p:nvPr/>
        </p:nvSpPr>
        <p:spPr>
          <a:xfrm>
            <a:off x="1320284" y="5657694"/>
            <a:ext cx="9820792" cy="954107"/>
          </a:xfrm>
          <a:prstGeom prst="rect">
            <a:avLst/>
          </a:prstGeom>
          <a:noFill/>
        </p:spPr>
        <p:txBody>
          <a:bodyPr wrap="square">
            <a:spAutoFit/>
          </a:bodyPr>
          <a:lstStyle/>
          <a:p>
            <a:r>
              <a:rPr lang="zh-CN" altLang="en-US" sz="2800" dirty="0">
                <a:solidFill>
                  <a:srgbClr val="000000"/>
                </a:solidFill>
                <a:latin typeface="Times New Roman" panose="02020603050405020304" pitchFamily="18" charset="0"/>
              </a:rPr>
              <a:t>卡诺热机效率与工作物质无关，只与两个热源的温度有关，两热源的温差越大，则卡诺循环的效率越高 </a:t>
            </a:r>
            <a:endParaRPr lang="zh-CN" altLang="en-US" sz="2800" dirty="0"/>
          </a:p>
        </p:txBody>
      </p:sp>
    </p:spTree>
    <p:extLst>
      <p:ext uri="{BB962C8B-B14F-4D97-AF65-F5344CB8AC3E}">
        <p14:creationId xmlns:p14="http://schemas.microsoft.com/office/powerpoint/2010/main" val="1503223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animBg="1"/>
      <p:bldP spid="94" grpId="0" animBg="1"/>
      <p:bldP spid="95" grpId="0" animBg="1"/>
      <p:bldP spid="96" grpId="0" animBg="1"/>
      <p:bldP spid="97" grpId="0" animBg="1"/>
      <p:bldP spid="5" grpId="0"/>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6386" name="Object 5"/>
              <p:cNvSpPr txBox="1"/>
              <p:nvPr/>
            </p:nvSpPr>
            <p:spPr>
              <a:xfrm>
                <a:off x="2719388" y="4973638"/>
                <a:ext cx="1674813" cy="654050"/>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𝜂</m:t>
                          </m:r>
                        </m:e>
                        <m:sub>
                          <m:r>
                            <a:rPr lang="zh-CN" altLang="en-US" sz="3200" i="1">
                              <a:solidFill>
                                <a:srgbClr val="000000"/>
                              </a:solidFill>
                              <a:latin typeface="Cambria Math" panose="02040503050406030204" pitchFamily="18" charset="0"/>
                            </a:rPr>
                            <m:t>1</m:t>
                          </m:r>
                        </m:sub>
                      </m:sSub>
                      <m:r>
                        <a:rPr lang="zh-CN" altLang="en-US" sz="3200" i="1">
                          <a:solidFill>
                            <a:srgbClr val="000000"/>
                          </a:solidFill>
                          <a:latin typeface="Cambria Math" panose="02040503050406030204" pitchFamily="18" charset="0"/>
                        </a:rPr>
                        <m:t>=</m:t>
                      </m:r>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𝜂</m:t>
                          </m:r>
                        </m:e>
                        <m:sub>
                          <m:r>
                            <a:rPr lang="zh-CN" altLang="en-US" sz="3200" i="1">
                              <a:solidFill>
                                <a:srgbClr val="000000"/>
                              </a:solidFill>
                              <a:latin typeface="Cambria Math" panose="02040503050406030204" pitchFamily="18" charset="0"/>
                            </a:rPr>
                            <m:t>2</m:t>
                          </m:r>
                        </m:sub>
                      </m:sSub>
                    </m:oMath>
                  </m:oMathPara>
                </a14:m>
                <a:endParaRPr lang="zh-CN" altLang="en-US" sz="3200" dirty="0"/>
              </a:p>
            </p:txBody>
          </p:sp>
        </mc:Choice>
        <mc:Fallback>
          <p:sp>
            <p:nvSpPr>
              <p:cNvPr id="16386" name="Object 5"/>
              <p:cNvSpPr txBox="1">
                <a:spLocks noRot="1" noChangeAspect="1" noMove="1" noResize="1" noEditPoints="1" noAdjustHandles="1" noChangeArrowheads="1" noChangeShapeType="1" noTextEdit="1"/>
              </p:cNvSpPr>
              <p:nvPr/>
            </p:nvSpPr>
            <p:spPr>
              <a:xfrm>
                <a:off x="2719388" y="4973638"/>
                <a:ext cx="1674813" cy="654050"/>
              </a:xfrm>
              <a:prstGeom prst="rect">
                <a:avLst/>
              </a:prstGeom>
              <a:blipFill>
                <a:blip r:embed="rId2"/>
                <a:stretch>
                  <a:fillRect/>
                </a:stretch>
              </a:blipFill>
              <a:ln w="38100">
                <a:noFill/>
                <a:miter/>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387" name="Object 6"/>
              <p:cNvSpPr txBox="1"/>
              <p:nvPr/>
            </p:nvSpPr>
            <p:spPr>
              <a:xfrm>
                <a:off x="7484269" y="4954588"/>
                <a:ext cx="1674813" cy="654050"/>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𝜂</m:t>
                          </m:r>
                        </m:e>
                        <m:sub>
                          <m:r>
                            <a:rPr lang="zh-CN" altLang="en-US" sz="3200" i="1">
                              <a:solidFill>
                                <a:srgbClr val="000000"/>
                              </a:solidFill>
                              <a:latin typeface="Cambria Math" panose="02040503050406030204" pitchFamily="18" charset="0"/>
                            </a:rPr>
                            <m:t>1</m:t>
                          </m:r>
                        </m:sub>
                      </m:sSub>
                      <m:r>
                        <a:rPr lang="zh-CN" altLang="en-US" sz="3200" i="1">
                          <a:solidFill>
                            <a:srgbClr val="000000"/>
                          </a:solidFill>
                          <a:latin typeface="Cambria Math" panose="02040503050406030204" pitchFamily="18" charset="0"/>
                        </a:rPr>
                        <m:t>&lt;</m:t>
                      </m:r>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𝜂</m:t>
                          </m:r>
                        </m:e>
                        <m:sub>
                          <m:r>
                            <a:rPr lang="zh-CN" altLang="en-US" sz="3200" i="1">
                              <a:solidFill>
                                <a:srgbClr val="000000"/>
                              </a:solidFill>
                              <a:latin typeface="Cambria Math" panose="02040503050406030204" pitchFamily="18" charset="0"/>
                            </a:rPr>
                            <m:t>2</m:t>
                          </m:r>
                        </m:sub>
                      </m:sSub>
                    </m:oMath>
                  </m:oMathPara>
                </a14:m>
                <a:endParaRPr lang="zh-CN" altLang="en-US" sz="3200" dirty="0"/>
              </a:p>
            </p:txBody>
          </p:sp>
        </mc:Choice>
        <mc:Fallback>
          <p:sp>
            <p:nvSpPr>
              <p:cNvPr id="16387" name="Object 6"/>
              <p:cNvSpPr txBox="1">
                <a:spLocks noRot="1" noChangeAspect="1" noMove="1" noResize="1" noEditPoints="1" noAdjustHandles="1" noChangeArrowheads="1" noChangeShapeType="1" noTextEdit="1"/>
              </p:cNvSpPr>
              <p:nvPr/>
            </p:nvSpPr>
            <p:spPr>
              <a:xfrm>
                <a:off x="7484269" y="4954588"/>
                <a:ext cx="1674813" cy="654050"/>
              </a:xfrm>
              <a:prstGeom prst="rect">
                <a:avLst/>
              </a:prstGeom>
              <a:blipFill>
                <a:blip r:embed="rId3"/>
                <a:stretch>
                  <a:fillRect/>
                </a:stretch>
              </a:blipFill>
              <a:ln w="38100">
                <a:noFill/>
                <a:miter/>
              </a:ln>
            </p:spPr>
            <p:txBody>
              <a:bodyPr/>
              <a:lstStyle/>
              <a:p>
                <a:r>
                  <a:rPr lang="en-US">
                    <a:noFill/>
                  </a:rPr>
                  <a:t> </a:t>
                </a:r>
              </a:p>
            </p:txBody>
          </p:sp>
        </mc:Fallback>
      </mc:AlternateContent>
      <p:grpSp>
        <p:nvGrpSpPr>
          <p:cNvPr id="16407" name="Group 7"/>
          <p:cNvGrpSpPr/>
          <p:nvPr/>
        </p:nvGrpSpPr>
        <p:grpSpPr>
          <a:xfrm>
            <a:off x="1490663" y="1643063"/>
            <a:ext cx="3722688" cy="3048000"/>
            <a:chOff x="480" y="1632"/>
            <a:chExt cx="2345" cy="1920"/>
          </a:xfrm>
        </p:grpSpPr>
        <p:sp>
          <p:nvSpPr>
            <p:cNvPr id="16425" name="Rectangle 8"/>
            <p:cNvSpPr/>
            <p:nvPr/>
          </p:nvSpPr>
          <p:spPr>
            <a:xfrm>
              <a:off x="480" y="1632"/>
              <a:ext cx="2304" cy="192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sp>
          <p:nvSpPr>
            <p:cNvPr id="16426" name="Freeform 9" descr="浅色下对角线"/>
            <p:cNvSpPr/>
            <p:nvPr/>
          </p:nvSpPr>
          <p:spPr>
            <a:xfrm>
              <a:off x="1893" y="2510"/>
              <a:ext cx="617" cy="596"/>
            </a:xfrm>
            <a:custGeom>
              <a:avLst/>
              <a:gdLst>
                <a:gd name="txL" fmla="*/ 0 w 617"/>
                <a:gd name="txT" fmla="*/ 0 h 596"/>
                <a:gd name="txR" fmla="*/ 617 w 617"/>
                <a:gd name="txB" fmla="*/ 596 h 596"/>
              </a:gdLst>
              <a:ahLst/>
              <a:cxnLst>
                <a:cxn ang="0">
                  <a:pos x="0" y="0"/>
                </a:cxn>
                <a:cxn ang="0">
                  <a:pos x="178" y="61"/>
                </a:cxn>
                <a:cxn ang="0">
                  <a:pos x="322" y="103"/>
                </a:cxn>
                <a:cxn ang="0">
                  <a:pos x="486" y="397"/>
                </a:cxn>
                <a:cxn ang="0">
                  <a:pos x="617" y="596"/>
                </a:cxn>
                <a:cxn ang="0">
                  <a:pos x="500" y="596"/>
                </a:cxn>
                <a:cxn ang="0">
                  <a:pos x="473" y="589"/>
                </a:cxn>
                <a:cxn ang="0">
                  <a:pos x="346" y="586"/>
                </a:cxn>
                <a:cxn ang="0">
                  <a:pos x="177" y="340"/>
                </a:cxn>
                <a:cxn ang="0">
                  <a:pos x="0" y="0"/>
                </a:cxn>
              </a:cxnLst>
              <a:rect l="txL" t="txT" r="txR" b="txB"/>
              <a:pathLst>
                <a:path w="617" h="596">
                  <a:moveTo>
                    <a:pt x="0" y="0"/>
                  </a:moveTo>
                  <a:lnTo>
                    <a:pt x="178" y="61"/>
                  </a:lnTo>
                  <a:lnTo>
                    <a:pt x="322" y="103"/>
                  </a:lnTo>
                  <a:lnTo>
                    <a:pt x="486" y="397"/>
                  </a:lnTo>
                  <a:lnTo>
                    <a:pt x="617" y="596"/>
                  </a:lnTo>
                  <a:lnTo>
                    <a:pt x="500" y="596"/>
                  </a:lnTo>
                  <a:lnTo>
                    <a:pt x="473" y="589"/>
                  </a:lnTo>
                  <a:lnTo>
                    <a:pt x="346" y="586"/>
                  </a:lnTo>
                  <a:lnTo>
                    <a:pt x="177" y="340"/>
                  </a:lnTo>
                  <a:lnTo>
                    <a:pt x="0" y="0"/>
                  </a:lnTo>
                  <a:close/>
                </a:path>
              </a:pathLst>
            </a:custGeom>
            <a:pattFill prst="ltDnDiag">
              <a:fgClr>
                <a:srgbClr val="99CCFF">
                  <a:alpha val="100000"/>
                </a:srgbClr>
              </a:fgClr>
              <a:bgClr>
                <a:srgbClr val="FFFFFF">
                  <a:alpha val="100000"/>
                </a:srgbClr>
              </a:bgClr>
            </a:pattFill>
            <a:ln w="19050" cap="flat" cmpd="sng">
              <a:solidFill>
                <a:srgbClr val="0000FF">
                  <a:alpha val="100000"/>
                </a:srgbClr>
              </a:solidFill>
              <a:prstDash val="solid"/>
              <a:round/>
              <a:headEnd type="none" w="med" len="med"/>
              <a:tailEnd type="none" w="med" len="med"/>
            </a:ln>
          </p:spPr>
          <p:txBody>
            <a:bodyPr/>
            <a:lstStyle/>
            <a:p>
              <a:endParaRPr lang="zh-CN" altLang="en-US" sz="2600"/>
            </a:p>
          </p:txBody>
        </p:sp>
        <p:sp>
          <p:nvSpPr>
            <p:cNvPr id="16427" name="Freeform 10" descr="浅色下对角线"/>
            <p:cNvSpPr/>
            <p:nvPr/>
          </p:nvSpPr>
          <p:spPr>
            <a:xfrm>
              <a:off x="1303" y="1845"/>
              <a:ext cx="624" cy="1234"/>
            </a:xfrm>
            <a:custGeom>
              <a:avLst/>
              <a:gdLst>
                <a:gd name="txL" fmla="*/ 0 w 624"/>
                <a:gd name="txT" fmla="*/ 0 h 1234"/>
                <a:gd name="txR" fmla="*/ 624 w 624"/>
                <a:gd name="txB" fmla="*/ 1234 h 1234"/>
              </a:gdLst>
              <a:ahLst/>
              <a:cxnLst>
                <a:cxn ang="0">
                  <a:pos x="0" y="0"/>
                </a:cxn>
                <a:cxn ang="0">
                  <a:pos x="123" y="253"/>
                </a:cxn>
                <a:cxn ang="0">
                  <a:pos x="240" y="425"/>
                </a:cxn>
                <a:cxn ang="0">
                  <a:pos x="370" y="548"/>
                </a:cxn>
                <a:cxn ang="0">
                  <a:pos x="473" y="870"/>
                </a:cxn>
                <a:cxn ang="0">
                  <a:pos x="528" y="1028"/>
                </a:cxn>
                <a:cxn ang="0">
                  <a:pos x="624" y="1234"/>
                </a:cxn>
                <a:cxn ang="0">
                  <a:pos x="322" y="1186"/>
                </a:cxn>
                <a:cxn ang="0">
                  <a:pos x="240" y="1008"/>
                </a:cxn>
                <a:cxn ang="0">
                  <a:pos x="151" y="754"/>
                </a:cxn>
                <a:cxn ang="0">
                  <a:pos x="68" y="438"/>
                </a:cxn>
                <a:cxn ang="0">
                  <a:pos x="0" y="0"/>
                </a:cxn>
              </a:cxnLst>
              <a:rect l="txL" t="txT" r="txR" b="txB"/>
              <a:pathLst>
                <a:path w="624" h="1234">
                  <a:moveTo>
                    <a:pt x="0" y="0"/>
                  </a:moveTo>
                  <a:lnTo>
                    <a:pt x="123" y="253"/>
                  </a:lnTo>
                  <a:lnTo>
                    <a:pt x="240" y="425"/>
                  </a:lnTo>
                  <a:lnTo>
                    <a:pt x="370" y="548"/>
                  </a:lnTo>
                  <a:lnTo>
                    <a:pt x="473" y="870"/>
                  </a:lnTo>
                  <a:lnTo>
                    <a:pt x="528" y="1028"/>
                  </a:lnTo>
                  <a:lnTo>
                    <a:pt x="624" y="1234"/>
                  </a:lnTo>
                  <a:lnTo>
                    <a:pt x="322" y="1186"/>
                  </a:lnTo>
                  <a:lnTo>
                    <a:pt x="240" y="1008"/>
                  </a:lnTo>
                  <a:lnTo>
                    <a:pt x="151" y="754"/>
                  </a:lnTo>
                  <a:lnTo>
                    <a:pt x="68" y="438"/>
                  </a:lnTo>
                  <a:lnTo>
                    <a:pt x="0" y="0"/>
                  </a:lnTo>
                  <a:close/>
                </a:path>
              </a:pathLst>
            </a:custGeom>
            <a:pattFill prst="ltDnDiag">
              <a:fgClr>
                <a:srgbClr val="FF33CC">
                  <a:alpha val="100000"/>
                </a:srgbClr>
              </a:fgClr>
              <a:bgClr>
                <a:srgbClr val="FFFFFF">
                  <a:alpha val="100000"/>
                </a:srgbClr>
              </a:bgClr>
            </a:pattFill>
            <a:ln w="19050" cap="flat" cmpd="sng">
              <a:solidFill>
                <a:srgbClr val="CC0099">
                  <a:alpha val="100000"/>
                </a:srgbClr>
              </a:solidFill>
              <a:prstDash val="solid"/>
              <a:round/>
              <a:headEnd type="none" w="med" len="med"/>
              <a:tailEnd type="none" w="med" len="med"/>
            </a:ln>
          </p:spPr>
          <p:txBody>
            <a:bodyPr/>
            <a:lstStyle/>
            <a:p>
              <a:endParaRPr lang="zh-CN" altLang="en-US" sz="2600"/>
            </a:p>
          </p:txBody>
        </p:sp>
        <p:sp>
          <p:nvSpPr>
            <p:cNvPr id="16428" name="Line 11"/>
            <p:cNvSpPr/>
            <p:nvPr/>
          </p:nvSpPr>
          <p:spPr>
            <a:xfrm flipV="1">
              <a:off x="768" y="1728"/>
              <a:ext cx="0" cy="1539"/>
            </a:xfrm>
            <a:prstGeom prst="line">
              <a:avLst/>
            </a:prstGeom>
            <a:ln w="12700" cap="flat" cmpd="sng">
              <a:solidFill>
                <a:srgbClr val="000000"/>
              </a:solidFill>
              <a:prstDash val="solid"/>
              <a:headEnd type="none" w="med" len="med"/>
              <a:tailEnd type="triangle" w="sm" len="lg"/>
            </a:ln>
          </p:spPr>
        </p:sp>
        <p:sp>
          <p:nvSpPr>
            <p:cNvPr id="16429" name="Line 12"/>
            <p:cNvSpPr/>
            <p:nvPr/>
          </p:nvSpPr>
          <p:spPr>
            <a:xfrm>
              <a:off x="768" y="3264"/>
              <a:ext cx="1872" cy="0"/>
            </a:xfrm>
            <a:prstGeom prst="line">
              <a:avLst/>
            </a:prstGeom>
            <a:ln w="12700" cap="flat" cmpd="sng">
              <a:solidFill>
                <a:srgbClr val="000000"/>
              </a:solidFill>
              <a:prstDash val="solid"/>
              <a:headEnd type="none" w="med" len="med"/>
              <a:tailEnd type="triangle" w="sm" len="lg"/>
            </a:ln>
          </p:spPr>
        </p:sp>
        <p:sp>
          <p:nvSpPr>
            <p:cNvPr id="16430" name="Freeform 13"/>
            <p:cNvSpPr/>
            <p:nvPr/>
          </p:nvSpPr>
          <p:spPr>
            <a:xfrm>
              <a:off x="946" y="1790"/>
              <a:ext cx="1694" cy="1325"/>
            </a:xfrm>
            <a:custGeom>
              <a:avLst/>
              <a:gdLst>
                <a:gd name="txL" fmla="*/ 0 w 1694"/>
                <a:gd name="txT" fmla="*/ 0 h 1325"/>
                <a:gd name="txR" fmla="*/ 1694 w 1694"/>
                <a:gd name="txB" fmla="*/ 1325 h 1325"/>
              </a:gdLst>
              <a:ahLst/>
              <a:cxnLst>
                <a:cxn ang="0">
                  <a:pos x="0" y="0"/>
                </a:cxn>
                <a:cxn ang="0">
                  <a:pos x="103" y="691"/>
                </a:cxn>
                <a:cxn ang="0">
                  <a:pos x="295" y="1015"/>
                </a:cxn>
                <a:cxn ang="0">
                  <a:pos x="590" y="1207"/>
                </a:cxn>
                <a:cxn ang="0">
                  <a:pos x="1248" y="1306"/>
                </a:cxn>
                <a:cxn ang="0">
                  <a:pos x="1694" y="1323"/>
                </a:cxn>
              </a:cxnLst>
              <a:rect l="txL" t="txT" r="txR" b="txB"/>
              <a:pathLst>
                <a:path w="1694" h="1325">
                  <a:moveTo>
                    <a:pt x="0" y="0"/>
                  </a:moveTo>
                  <a:cubicBezTo>
                    <a:pt x="17" y="115"/>
                    <a:pt x="54" y="522"/>
                    <a:pt x="103" y="691"/>
                  </a:cubicBezTo>
                  <a:cubicBezTo>
                    <a:pt x="152" y="860"/>
                    <a:pt x="214" y="929"/>
                    <a:pt x="295" y="1015"/>
                  </a:cubicBezTo>
                  <a:cubicBezTo>
                    <a:pt x="376" y="1101"/>
                    <a:pt x="431" y="1158"/>
                    <a:pt x="590" y="1207"/>
                  </a:cubicBezTo>
                  <a:cubicBezTo>
                    <a:pt x="749" y="1256"/>
                    <a:pt x="1064" y="1287"/>
                    <a:pt x="1248" y="1306"/>
                  </a:cubicBezTo>
                  <a:cubicBezTo>
                    <a:pt x="1432" y="1325"/>
                    <a:pt x="1601" y="1320"/>
                    <a:pt x="1694" y="1323"/>
                  </a:cubicBezTo>
                </a:path>
              </a:pathLst>
            </a:custGeom>
            <a:noFill/>
            <a:ln w="19050" cap="flat" cmpd="sng">
              <a:solidFill>
                <a:srgbClr val="000000">
                  <a:alpha val="100000"/>
                </a:srgbClr>
              </a:solidFill>
              <a:prstDash val="dash"/>
              <a:round/>
              <a:headEnd type="none" w="med" len="med"/>
              <a:tailEnd type="none" w="med" len="med"/>
            </a:ln>
          </p:spPr>
          <p:txBody>
            <a:bodyPr/>
            <a:lstStyle/>
            <a:p>
              <a:endParaRPr lang="zh-CN" altLang="en-US" sz="2600"/>
            </a:p>
          </p:txBody>
        </p:sp>
        <mc:AlternateContent xmlns:mc="http://schemas.openxmlformats.org/markup-compatibility/2006" xmlns:a14="http://schemas.microsoft.com/office/drawing/2010/main">
          <mc:Choice Requires="a14">
            <p:sp>
              <p:nvSpPr>
                <p:cNvPr id="16397" name="Object 14"/>
                <p:cNvSpPr txBox="1"/>
                <p:nvPr/>
              </p:nvSpPr>
              <p:spPr>
                <a:xfrm>
                  <a:off x="2208" y="2304"/>
                  <a:ext cx="286" cy="334"/>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𝑇</m:t>
                            </m:r>
                          </m:e>
                          <m:sub>
                            <m:r>
                              <a:rPr lang="zh-CN" altLang="en-US" sz="2600" i="1">
                                <a:solidFill>
                                  <a:srgbClr val="000000"/>
                                </a:solidFill>
                                <a:latin typeface="Cambria Math" panose="02040503050406030204" pitchFamily="18" charset="0"/>
                              </a:rPr>
                              <m:t>2</m:t>
                            </m:r>
                          </m:sub>
                        </m:sSub>
                      </m:oMath>
                    </m:oMathPara>
                  </a14:m>
                  <a:endParaRPr lang="zh-CN" altLang="en-US" sz="2600"/>
                </a:p>
              </p:txBody>
            </p:sp>
          </mc:Choice>
          <mc:Fallback xmlns="">
            <p:sp>
              <p:nvSpPr>
                <p:cNvPr id="16397" name="Object 14"/>
                <p:cNvSpPr txBox="1">
                  <a:spLocks noRot="1" noChangeAspect="1" noMove="1" noResize="1" noEditPoints="1" noAdjustHandles="1" noChangeArrowheads="1" noChangeShapeType="1" noTextEdit="1"/>
                </p:cNvSpPr>
                <p:nvPr/>
              </p:nvSpPr>
              <p:spPr>
                <a:xfrm>
                  <a:off x="2208" y="2304"/>
                  <a:ext cx="286" cy="334"/>
                </a:xfrm>
                <a:prstGeom prst="rect">
                  <a:avLst/>
                </a:prstGeom>
                <a:blipFill>
                  <a:blip r:embed="rId5"/>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398" name="Object 15"/>
                <p:cNvSpPr txBox="1"/>
                <p:nvPr/>
              </p:nvSpPr>
              <p:spPr>
                <a:xfrm>
                  <a:off x="864" y="2496"/>
                  <a:ext cx="241" cy="311"/>
                </a:xfrm>
                <a:prstGeom prst="rect">
                  <a:avLst/>
                </a:prstGeom>
                <a:noFill/>
                <a:ln w="38100">
                  <a:noFill/>
                  <a:miter/>
                </a:ln>
              </p:spPr>
              <p:txBody>
                <a:bodyPr>
                  <a:normAutofit fontScale="92500"/>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𝑇</m:t>
                            </m:r>
                          </m:e>
                          <m:sub>
                            <m:r>
                              <a:rPr lang="zh-CN" altLang="en-US" sz="2600" i="1">
                                <a:solidFill>
                                  <a:srgbClr val="000000"/>
                                </a:solidFill>
                                <a:latin typeface="Cambria Math" panose="02040503050406030204" pitchFamily="18" charset="0"/>
                              </a:rPr>
                              <m:t>1</m:t>
                            </m:r>
                          </m:sub>
                        </m:sSub>
                      </m:oMath>
                    </m:oMathPara>
                  </a14:m>
                  <a:endParaRPr lang="zh-CN" altLang="en-US" sz="2600"/>
                </a:p>
              </p:txBody>
            </p:sp>
          </mc:Choice>
          <mc:Fallback xmlns="">
            <p:sp>
              <p:nvSpPr>
                <p:cNvPr id="16398" name="Object 15"/>
                <p:cNvSpPr txBox="1">
                  <a:spLocks noRot="1" noChangeAspect="1" noMove="1" noResize="1" noEditPoints="1" noAdjustHandles="1" noChangeArrowheads="1" noChangeShapeType="1" noTextEdit="1"/>
                </p:cNvSpPr>
                <p:nvPr/>
              </p:nvSpPr>
              <p:spPr>
                <a:xfrm>
                  <a:off x="864" y="2496"/>
                  <a:ext cx="241" cy="311"/>
                </a:xfrm>
                <a:prstGeom prst="rect">
                  <a:avLst/>
                </a:prstGeom>
                <a:blipFill>
                  <a:blip r:embed="rId6"/>
                  <a:stretch>
                    <a:fillRect l="-4839" r="-16129"/>
                  </a:stretch>
                </a:blipFill>
                <a:ln w="38100">
                  <a:noFill/>
                  <a:miter/>
                </a:ln>
              </p:spPr>
              <p:txBody>
                <a:bodyPr/>
                <a:lstStyle/>
                <a:p>
                  <a:r>
                    <a:rPr lang="zh-CN" altLang="en-US">
                      <a:noFill/>
                    </a:rPr>
                    <a:t> </a:t>
                  </a:r>
                </a:p>
              </p:txBody>
            </p:sp>
          </mc:Fallback>
        </mc:AlternateContent>
        <p:sp>
          <p:nvSpPr>
            <p:cNvPr id="16431" name="Line 16"/>
            <p:cNvSpPr/>
            <p:nvPr/>
          </p:nvSpPr>
          <p:spPr>
            <a:xfrm>
              <a:off x="1728" y="2592"/>
              <a:ext cx="57" cy="185"/>
            </a:xfrm>
            <a:prstGeom prst="line">
              <a:avLst/>
            </a:prstGeom>
            <a:ln w="28575" cap="flat" cmpd="sng">
              <a:solidFill>
                <a:srgbClr val="CC0099"/>
              </a:solidFill>
              <a:prstDash val="solid"/>
              <a:headEnd type="none" w="med" len="med"/>
              <a:tailEnd type="triangle" w="sm" len="lg"/>
            </a:ln>
          </p:spPr>
        </p:sp>
        <p:sp>
          <p:nvSpPr>
            <p:cNvPr id="16432" name="Line 17"/>
            <p:cNvSpPr/>
            <p:nvPr/>
          </p:nvSpPr>
          <p:spPr>
            <a:xfrm flipH="1" flipV="1">
              <a:off x="2256" y="2688"/>
              <a:ext cx="96" cy="192"/>
            </a:xfrm>
            <a:prstGeom prst="line">
              <a:avLst/>
            </a:prstGeom>
            <a:ln w="28575" cap="flat" cmpd="sng">
              <a:solidFill>
                <a:srgbClr val="0000FF"/>
              </a:solidFill>
              <a:prstDash val="solid"/>
              <a:headEnd type="triangle" w="med" len="med"/>
              <a:tailEnd type="none" w="sm" len="lg"/>
            </a:ln>
          </p:spPr>
        </p:sp>
        <p:sp>
          <p:nvSpPr>
            <p:cNvPr id="16433" name="Line 18"/>
            <p:cNvSpPr/>
            <p:nvPr/>
          </p:nvSpPr>
          <p:spPr>
            <a:xfrm flipH="1" flipV="1">
              <a:off x="1392" y="2352"/>
              <a:ext cx="48" cy="192"/>
            </a:xfrm>
            <a:prstGeom prst="line">
              <a:avLst/>
            </a:prstGeom>
            <a:ln w="28575" cap="flat" cmpd="sng">
              <a:solidFill>
                <a:srgbClr val="CC0099"/>
              </a:solidFill>
              <a:prstDash val="solid"/>
              <a:headEnd type="none" w="med" len="med"/>
              <a:tailEnd type="triangle" w="sm" len="lg"/>
            </a:ln>
          </p:spPr>
        </p:sp>
        <p:sp>
          <p:nvSpPr>
            <p:cNvPr id="16434" name="Freeform 19"/>
            <p:cNvSpPr/>
            <p:nvPr/>
          </p:nvSpPr>
          <p:spPr>
            <a:xfrm>
              <a:off x="1262" y="1749"/>
              <a:ext cx="1255" cy="939"/>
            </a:xfrm>
            <a:custGeom>
              <a:avLst/>
              <a:gdLst>
                <a:gd name="txL" fmla="*/ 0 w 1255"/>
                <a:gd name="txT" fmla="*/ 0 h 939"/>
                <a:gd name="txR" fmla="*/ 1255 w 1255"/>
                <a:gd name="txB" fmla="*/ 939 h 939"/>
              </a:gdLst>
              <a:ahLst/>
              <a:cxnLst>
                <a:cxn ang="0">
                  <a:pos x="0" y="0"/>
                </a:cxn>
                <a:cxn ang="0">
                  <a:pos x="156" y="335"/>
                </a:cxn>
                <a:cxn ang="0">
                  <a:pos x="404" y="630"/>
                </a:cxn>
                <a:cxn ang="0">
                  <a:pos x="754" y="809"/>
                </a:cxn>
                <a:cxn ang="0">
                  <a:pos x="1255" y="939"/>
                </a:cxn>
              </a:cxnLst>
              <a:rect l="txL" t="txT" r="txR" b="txB"/>
              <a:pathLst>
                <a:path w="1255" h="939">
                  <a:moveTo>
                    <a:pt x="0" y="0"/>
                  </a:moveTo>
                  <a:cubicBezTo>
                    <a:pt x="26" y="56"/>
                    <a:pt x="89" y="230"/>
                    <a:pt x="156" y="335"/>
                  </a:cubicBezTo>
                  <a:cubicBezTo>
                    <a:pt x="223" y="440"/>
                    <a:pt x="304" y="551"/>
                    <a:pt x="404" y="630"/>
                  </a:cubicBezTo>
                  <a:cubicBezTo>
                    <a:pt x="504" y="709"/>
                    <a:pt x="612" y="758"/>
                    <a:pt x="754" y="809"/>
                  </a:cubicBezTo>
                  <a:cubicBezTo>
                    <a:pt x="896" y="860"/>
                    <a:pt x="1151" y="912"/>
                    <a:pt x="1255" y="939"/>
                  </a:cubicBezTo>
                </a:path>
              </a:pathLst>
            </a:custGeom>
            <a:noFill/>
            <a:ln w="19050" cap="flat" cmpd="sng">
              <a:solidFill>
                <a:srgbClr val="000000">
                  <a:alpha val="100000"/>
                </a:srgbClr>
              </a:solidFill>
              <a:prstDash val="dash"/>
              <a:round/>
              <a:headEnd type="none" w="med" len="med"/>
              <a:tailEnd type="none" w="med" len="med"/>
            </a:ln>
          </p:spPr>
          <p:txBody>
            <a:bodyPr/>
            <a:lstStyle/>
            <a:p>
              <a:endParaRPr lang="zh-CN" altLang="en-US" sz="2600"/>
            </a:p>
          </p:txBody>
        </p:sp>
        <p:sp>
          <p:nvSpPr>
            <p:cNvPr id="16435" name="Line 20"/>
            <p:cNvSpPr/>
            <p:nvPr/>
          </p:nvSpPr>
          <p:spPr>
            <a:xfrm>
              <a:off x="2064" y="2832"/>
              <a:ext cx="96" cy="144"/>
            </a:xfrm>
            <a:prstGeom prst="line">
              <a:avLst/>
            </a:prstGeom>
            <a:ln w="28575" cap="flat" cmpd="sng">
              <a:solidFill>
                <a:srgbClr val="0000FF"/>
              </a:solidFill>
              <a:prstDash val="solid"/>
              <a:headEnd type="triangle" w="med" len="med"/>
              <a:tailEnd type="none" w="sm" len="lg"/>
            </a:ln>
          </p:spPr>
        </p:sp>
        <mc:AlternateContent xmlns:mc="http://schemas.openxmlformats.org/markup-compatibility/2006" xmlns:a14="http://schemas.microsoft.com/office/drawing/2010/main">
          <mc:Choice Requires="a14">
            <p:sp>
              <p:nvSpPr>
                <p:cNvPr id="16399" name="Object 21"/>
                <p:cNvSpPr txBox="1"/>
                <p:nvPr/>
              </p:nvSpPr>
              <p:spPr>
                <a:xfrm>
                  <a:off x="2016" y="2592"/>
                  <a:ext cx="218" cy="287"/>
                </a:xfrm>
                <a:prstGeom prst="rect">
                  <a:avLst/>
                </a:prstGeom>
                <a:noFill/>
                <a:ln w="38100">
                  <a:noFill/>
                  <a:miter/>
                </a:ln>
              </p:spPr>
              <p:txBody>
                <a:bodyPr>
                  <a:normAutofit fontScale="62500" lnSpcReduction="20000"/>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𝑊</m:t>
                            </m:r>
                          </m:e>
                          <m:sub>
                            <m:r>
                              <a:rPr lang="zh-CN" altLang="en-US" sz="2600" i="1">
                                <a:solidFill>
                                  <a:srgbClr val="000000"/>
                                </a:solidFill>
                                <a:latin typeface="Cambria Math" panose="02040503050406030204" pitchFamily="18" charset="0"/>
                              </a:rPr>
                              <m:t>2</m:t>
                            </m:r>
                          </m:sub>
                        </m:sSub>
                      </m:oMath>
                    </m:oMathPara>
                  </a14:m>
                  <a:endParaRPr lang="zh-CN" altLang="en-US" sz="2600"/>
                </a:p>
              </p:txBody>
            </p:sp>
          </mc:Choice>
          <mc:Fallback xmlns="">
            <p:sp>
              <p:nvSpPr>
                <p:cNvPr id="16399" name="Object 21"/>
                <p:cNvSpPr txBox="1">
                  <a:spLocks noRot="1" noChangeAspect="1" noMove="1" noResize="1" noEditPoints="1" noAdjustHandles="1" noChangeArrowheads="1" noChangeShapeType="1" noTextEdit="1"/>
                </p:cNvSpPr>
                <p:nvPr/>
              </p:nvSpPr>
              <p:spPr>
                <a:xfrm>
                  <a:off x="2016" y="2592"/>
                  <a:ext cx="218" cy="287"/>
                </a:xfrm>
                <a:prstGeom prst="rect">
                  <a:avLst/>
                </a:prstGeom>
                <a:blipFill>
                  <a:blip r:embed="rId7"/>
                  <a:stretch>
                    <a:fillRect r="-14286"/>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400" name="Object 22"/>
                <p:cNvSpPr txBox="1"/>
                <p:nvPr/>
              </p:nvSpPr>
              <p:spPr>
                <a:xfrm>
                  <a:off x="1473" y="2496"/>
                  <a:ext cx="200" cy="288"/>
                </a:xfrm>
                <a:prstGeom prst="rect">
                  <a:avLst/>
                </a:prstGeom>
                <a:noFill/>
                <a:ln w="38100">
                  <a:noFill/>
                  <a:miter/>
                </a:ln>
              </p:spPr>
              <p:txBody>
                <a:bodyPr>
                  <a:normAutofit fontScale="62500" lnSpcReduction="20000"/>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𝑊</m:t>
                            </m:r>
                          </m:e>
                          <m:sub>
                            <m:r>
                              <a:rPr lang="zh-CN" altLang="en-US" sz="2600" i="1">
                                <a:solidFill>
                                  <a:srgbClr val="000000"/>
                                </a:solidFill>
                                <a:latin typeface="Cambria Math" panose="02040503050406030204" pitchFamily="18" charset="0"/>
                              </a:rPr>
                              <m:t>1</m:t>
                            </m:r>
                          </m:sub>
                        </m:sSub>
                      </m:oMath>
                    </m:oMathPara>
                  </a14:m>
                  <a:endParaRPr lang="zh-CN" altLang="en-US" sz="2600"/>
                </a:p>
              </p:txBody>
            </p:sp>
          </mc:Choice>
          <mc:Fallback xmlns="">
            <p:sp>
              <p:nvSpPr>
                <p:cNvPr id="16400" name="Object 22"/>
                <p:cNvSpPr txBox="1">
                  <a:spLocks noRot="1" noChangeAspect="1" noMove="1" noResize="1" noEditPoints="1" noAdjustHandles="1" noChangeArrowheads="1" noChangeShapeType="1" noTextEdit="1"/>
                </p:cNvSpPr>
                <p:nvPr/>
              </p:nvSpPr>
              <p:spPr>
                <a:xfrm>
                  <a:off x="1473" y="2496"/>
                  <a:ext cx="200" cy="288"/>
                </a:xfrm>
                <a:prstGeom prst="rect">
                  <a:avLst/>
                </a:prstGeom>
                <a:blipFill>
                  <a:blip r:embed="rId8"/>
                  <a:stretch>
                    <a:fillRect r="-21154"/>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401" name="Object 23"/>
                <p:cNvSpPr txBox="1"/>
                <p:nvPr/>
              </p:nvSpPr>
              <p:spPr>
                <a:xfrm>
                  <a:off x="1776" y="1728"/>
                  <a:ext cx="1049" cy="303"/>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smtClean="0">
                                <a:solidFill>
                                  <a:srgbClr val="000000"/>
                                </a:solidFill>
                                <a:latin typeface="Cambria Math" panose="02040503050406030204" pitchFamily="18" charset="0"/>
                              </a:rPr>
                            </m:ctrlPr>
                          </m:sSubPr>
                          <m:e>
                            <m:r>
                              <a:rPr lang="en-US" altLang="zh-CN" sz="2600" b="0" i="1" smtClean="0">
                                <a:solidFill>
                                  <a:srgbClr val="000000"/>
                                </a:solidFill>
                                <a:latin typeface="Cambria Math" panose="02040503050406030204" pitchFamily="18" charset="0"/>
                              </a:rPr>
                              <m:t>𝐴</m:t>
                            </m:r>
                          </m:e>
                          <m:sub>
                            <m:r>
                              <a:rPr lang="zh-CN" altLang="en-US" sz="2600" i="1">
                                <a:solidFill>
                                  <a:srgbClr val="000000"/>
                                </a:solidFill>
                                <a:latin typeface="Cambria Math" panose="02040503050406030204" pitchFamily="18" charset="0"/>
                              </a:rPr>
                              <m:t>1</m:t>
                            </m:r>
                          </m:sub>
                        </m:sSub>
                        <m:r>
                          <a:rPr lang="zh-CN" altLang="en-US" sz="2600" i="1">
                            <a:solidFill>
                              <a:srgbClr val="000000"/>
                            </a:solidFill>
                            <a:latin typeface="Cambria Math" panose="02040503050406030204" pitchFamily="18" charset="0"/>
                          </a:rPr>
                          <m:t>&gt;</m:t>
                        </m:r>
                        <m:sSub>
                          <m:sSubPr>
                            <m:ctrlPr>
                              <a:rPr lang="zh-CN" altLang="en-US" sz="2600" i="1">
                                <a:solidFill>
                                  <a:srgbClr val="000000"/>
                                </a:solidFill>
                                <a:latin typeface="Cambria Math" panose="02040503050406030204" pitchFamily="18" charset="0"/>
                              </a:rPr>
                            </m:ctrlPr>
                          </m:sSubPr>
                          <m:e>
                            <m:r>
                              <a:rPr lang="en-US" altLang="zh-CN" sz="2600" b="0" i="1" smtClean="0">
                                <a:solidFill>
                                  <a:srgbClr val="000000"/>
                                </a:solidFill>
                                <a:latin typeface="Cambria Math" panose="02040503050406030204" pitchFamily="18" charset="0"/>
                              </a:rPr>
                              <m:t>𝐴</m:t>
                            </m:r>
                          </m:e>
                          <m:sub>
                            <m:r>
                              <a:rPr lang="zh-CN" altLang="en-US" sz="2600" i="1">
                                <a:solidFill>
                                  <a:srgbClr val="000000"/>
                                </a:solidFill>
                                <a:latin typeface="Cambria Math" panose="02040503050406030204" pitchFamily="18" charset="0"/>
                              </a:rPr>
                              <m:t>2</m:t>
                            </m:r>
                          </m:sub>
                        </m:sSub>
                      </m:oMath>
                    </m:oMathPara>
                  </a14:m>
                  <a:endParaRPr lang="zh-CN" altLang="en-US" sz="2600" dirty="0"/>
                </a:p>
              </p:txBody>
            </p:sp>
          </mc:Choice>
          <mc:Fallback xmlns="">
            <p:sp>
              <p:nvSpPr>
                <p:cNvPr id="16401" name="Object 23"/>
                <p:cNvSpPr txBox="1">
                  <a:spLocks noRot="1" noChangeAspect="1" noMove="1" noResize="1" noEditPoints="1" noAdjustHandles="1" noChangeArrowheads="1" noChangeShapeType="1" noTextEdit="1"/>
                </p:cNvSpPr>
                <p:nvPr/>
              </p:nvSpPr>
              <p:spPr>
                <a:xfrm>
                  <a:off x="1776" y="1728"/>
                  <a:ext cx="1049" cy="303"/>
                </a:xfrm>
                <a:prstGeom prst="rect">
                  <a:avLst/>
                </a:prstGeom>
                <a:blipFill>
                  <a:blip r:embed="rId9"/>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402" name="Object 24"/>
                <p:cNvSpPr txBox="1"/>
                <p:nvPr/>
              </p:nvSpPr>
              <p:spPr>
                <a:xfrm>
                  <a:off x="528" y="1776"/>
                  <a:ext cx="226" cy="268"/>
                </a:xfrm>
                <a:prstGeom prst="rect">
                  <a:avLst/>
                </a:prstGeom>
                <a:noFill/>
                <a:ln w="38100">
                  <a:noFill/>
                  <a:miter/>
                </a:ln>
              </p:spPr>
              <p:txBody>
                <a:bodyPr>
                  <a:normAutofit fontScale="77500" lnSpcReduction="20000"/>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𝑝</m:t>
                        </m:r>
                      </m:oMath>
                    </m:oMathPara>
                  </a14:m>
                  <a:endParaRPr lang="zh-CN" altLang="en-US" sz="2600"/>
                </a:p>
              </p:txBody>
            </p:sp>
          </mc:Choice>
          <mc:Fallback xmlns="">
            <p:sp>
              <p:nvSpPr>
                <p:cNvPr id="16402" name="Object 24"/>
                <p:cNvSpPr txBox="1">
                  <a:spLocks noRot="1" noChangeAspect="1" noMove="1" noResize="1" noEditPoints="1" noAdjustHandles="1" noChangeArrowheads="1" noChangeShapeType="1" noTextEdit="1"/>
                </p:cNvSpPr>
                <p:nvPr/>
              </p:nvSpPr>
              <p:spPr>
                <a:xfrm>
                  <a:off x="528" y="1776"/>
                  <a:ext cx="226" cy="268"/>
                </a:xfrm>
                <a:prstGeom prst="rect">
                  <a:avLst/>
                </a:prstGeom>
                <a:blipFill>
                  <a:blip r:embed="rId10"/>
                  <a:stretch>
                    <a:fillRect b="-2857"/>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403" name="Object 25"/>
                <p:cNvSpPr txBox="1"/>
                <p:nvPr/>
              </p:nvSpPr>
              <p:spPr>
                <a:xfrm>
                  <a:off x="768" y="3264"/>
                  <a:ext cx="187" cy="216"/>
                </a:xfrm>
                <a:prstGeom prst="rect">
                  <a:avLst/>
                </a:prstGeom>
                <a:noFill/>
                <a:ln w="38100">
                  <a:noFill/>
                  <a:miter/>
                </a:ln>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𝑜</m:t>
                        </m:r>
                      </m:oMath>
                    </m:oMathPara>
                  </a14:m>
                  <a:endParaRPr lang="zh-CN" altLang="en-US" sz="2600"/>
                </a:p>
              </p:txBody>
            </p:sp>
          </mc:Choice>
          <mc:Fallback xmlns="">
            <p:sp>
              <p:nvSpPr>
                <p:cNvPr id="16403" name="Object 25"/>
                <p:cNvSpPr txBox="1">
                  <a:spLocks noRot="1" noChangeAspect="1" noMove="1" noResize="1" noEditPoints="1" noAdjustHandles="1" noChangeArrowheads="1" noChangeShapeType="1" noTextEdit="1"/>
                </p:cNvSpPr>
                <p:nvPr/>
              </p:nvSpPr>
              <p:spPr>
                <a:xfrm>
                  <a:off x="768" y="3264"/>
                  <a:ext cx="187" cy="216"/>
                </a:xfrm>
                <a:prstGeom prst="rect">
                  <a:avLst/>
                </a:prstGeom>
                <a:blipFill>
                  <a:blip r:embed="rId11"/>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404" name="Object 26"/>
                <p:cNvSpPr txBox="1"/>
                <p:nvPr/>
              </p:nvSpPr>
              <p:spPr>
                <a:xfrm>
                  <a:off x="2309" y="3264"/>
                  <a:ext cx="215" cy="240"/>
                </a:xfrm>
                <a:prstGeom prst="rect">
                  <a:avLst/>
                </a:prstGeom>
                <a:noFill/>
                <a:ln w="38100">
                  <a:noFill/>
                  <a:miter/>
                </a:ln>
              </p:spPr>
              <p:txBody>
                <a:bodyPr>
                  <a:normAutofit fontScale="70000" lnSpcReduction="20000"/>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𝑉</m:t>
                        </m:r>
                      </m:oMath>
                    </m:oMathPara>
                  </a14:m>
                  <a:endParaRPr lang="zh-CN" altLang="en-US" sz="2600"/>
                </a:p>
              </p:txBody>
            </p:sp>
          </mc:Choice>
          <mc:Fallback xmlns="">
            <p:sp>
              <p:nvSpPr>
                <p:cNvPr id="16404" name="Object 26"/>
                <p:cNvSpPr txBox="1">
                  <a:spLocks noRot="1" noChangeAspect="1" noMove="1" noResize="1" noEditPoints="1" noAdjustHandles="1" noChangeArrowheads="1" noChangeShapeType="1" noTextEdit="1"/>
                </p:cNvSpPr>
                <p:nvPr/>
              </p:nvSpPr>
              <p:spPr>
                <a:xfrm>
                  <a:off x="2309" y="3264"/>
                  <a:ext cx="215" cy="240"/>
                </a:xfrm>
                <a:prstGeom prst="rect">
                  <a:avLst/>
                </a:prstGeom>
                <a:blipFill>
                  <a:blip r:embed="rId12"/>
                  <a:stretch>
                    <a:fillRect/>
                  </a:stretch>
                </a:blipFill>
                <a:ln w="38100">
                  <a:noFill/>
                  <a:miter/>
                </a:ln>
              </p:spPr>
              <p:txBody>
                <a:bodyPr/>
                <a:lstStyle/>
                <a:p>
                  <a:r>
                    <a:rPr lang="zh-CN" altLang="en-US">
                      <a:noFill/>
                    </a:rPr>
                    <a:t> </a:t>
                  </a:r>
                </a:p>
              </p:txBody>
            </p:sp>
          </mc:Fallback>
        </mc:AlternateContent>
      </p:grpSp>
      <p:grpSp>
        <p:nvGrpSpPr>
          <p:cNvPr id="16409" name="Group 30"/>
          <p:cNvGrpSpPr/>
          <p:nvPr/>
        </p:nvGrpSpPr>
        <p:grpSpPr>
          <a:xfrm>
            <a:off x="6084888" y="1643063"/>
            <a:ext cx="3800475" cy="3048000"/>
            <a:chOff x="3120" y="1632"/>
            <a:chExt cx="2394" cy="1920"/>
          </a:xfrm>
        </p:grpSpPr>
        <p:grpSp>
          <p:nvGrpSpPr>
            <p:cNvPr id="16410" name="Group 31"/>
            <p:cNvGrpSpPr/>
            <p:nvPr/>
          </p:nvGrpSpPr>
          <p:grpSpPr>
            <a:xfrm>
              <a:off x="3120" y="1632"/>
              <a:ext cx="2304" cy="1920"/>
              <a:chOff x="576" y="1728"/>
              <a:chExt cx="2304" cy="1920"/>
            </a:xfrm>
          </p:grpSpPr>
          <p:sp>
            <p:nvSpPr>
              <p:cNvPr id="16420" name="Rectangle 32"/>
              <p:cNvSpPr/>
              <p:nvPr/>
            </p:nvSpPr>
            <p:spPr>
              <a:xfrm>
                <a:off x="576" y="1728"/>
                <a:ext cx="2304" cy="192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sp>
            <p:nvSpPr>
              <p:cNvPr id="16421" name="Line 33"/>
              <p:cNvSpPr/>
              <p:nvPr/>
            </p:nvSpPr>
            <p:spPr>
              <a:xfrm flipV="1">
                <a:off x="864" y="1824"/>
                <a:ext cx="0" cy="1539"/>
              </a:xfrm>
              <a:prstGeom prst="line">
                <a:avLst/>
              </a:prstGeom>
              <a:ln w="12700" cap="flat" cmpd="sng">
                <a:solidFill>
                  <a:srgbClr val="000000"/>
                </a:solidFill>
                <a:prstDash val="solid"/>
                <a:headEnd type="none" w="med" len="med"/>
                <a:tailEnd type="triangle" w="sm" len="lg"/>
              </a:ln>
            </p:spPr>
          </p:sp>
          <p:sp>
            <p:nvSpPr>
              <p:cNvPr id="16422" name="Line 34"/>
              <p:cNvSpPr/>
              <p:nvPr/>
            </p:nvSpPr>
            <p:spPr>
              <a:xfrm>
                <a:off x="864" y="3360"/>
                <a:ext cx="1872" cy="0"/>
              </a:xfrm>
              <a:prstGeom prst="line">
                <a:avLst/>
              </a:prstGeom>
              <a:ln w="12700" cap="flat" cmpd="sng">
                <a:solidFill>
                  <a:srgbClr val="000000"/>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16394" name="Object 35"/>
                  <p:cNvSpPr txBox="1"/>
                  <p:nvPr/>
                </p:nvSpPr>
                <p:spPr>
                  <a:xfrm>
                    <a:off x="624" y="1872"/>
                    <a:ext cx="226" cy="268"/>
                  </a:xfrm>
                  <a:prstGeom prst="rect">
                    <a:avLst/>
                  </a:prstGeom>
                  <a:noFill/>
                  <a:ln w="38100">
                    <a:noFill/>
                    <a:miter/>
                  </a:ln>
                </p:spPr>
                <p:txBody>
                  <a:bodyPr>
                    <a:normAutofit fontScale="77500" lnSpcReduction="20000"/>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𝑝</m:t>
                          </m:r>
                        </m:oMath>
                      </m:oMathPara>
                    </a14:m>
                    <a:endParaRPr lang="zh-CN" altLang="en-US" sz="2600"/>
                  </a:p>
                </p:txBody>
              </p:sp>
            </mc:Choice>
            <mc:Fallback xmlns="">
              <p:sp>
                <p:nvSpPr>
                  <p:cNvPr id="16394" name="Object 35"/>
                  <p:cNvSpPr txBox="1">
                    <a:spLocks noRot="1" noChangeAspect="1" noMove="1" noResize="1" noEditPoints="1" noAdjustHandles="1" noChangeArrowheads="1" noChangeShapeType="1" noTextEdit="1"/>
                  </p:cNvSpPr>
                  <p:nvPr/>
                </p:nvSpPr>
                <p:spPr>
                  <a:xfrm>
                    <a:off x="624" y="1872"/>
                    <a:ext cx="226" cy="268"/>
                  </a:xfrm>
                  <a:prstGeom prst="rect">
                    <a:avLst/>
                  </a:prstGeom>
                  <a:blipFill>
                    <a:blip r:embed="rId13"/>
                    <a:stretch>
                      <a:fillRect b="-2857"/>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395" name="Object 36"/>
                  <p:cNvSpPr txBox="1"/>
                  <p:nvPr/>
                </p:nvSpPr>
                <p:spPr>
                  <a:xfrm>
                    <a:off x="864" y="3360"/>
                    <a:ext cx="187" cy="216"/>
                  </a:xfrm>
                  <a:prstGeom prst="rect">
                    <a:avLst/>
                  </a:prstGeom>
                  <a:noFill/>
                  <a:ln w="38100">
                    <a:noFill/>
                    <a:miter/>
                  </a:ln>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𝑜</m:t>
                          </m:r>
                        </m:oMath>
                      </m:oMathPara>
                    </a14:m>
                    <a:endParaRPr lang="zh-CN" altLang="en-US" sz="2600"/>
                  </a:p>
                </p:txBody>
              </p:sp>
            </mc:Choice>
            <mc:Fallback xmlns="">
              <p:sp>
                <p:nvSpPr>
                  <p:cNvPr id="16395" name="Object 36"/>
                  <p:cNvSpPr txBox="1">
                    <a:spLocks noRot="1" noChangeAspect="1" noMove="1" noResize="1" noEditPoints="1" noAdjustHandles="1" noChangeArrowheads="1" noChangeShapeType="1" noTextEdit="1"/>
                  </p:cNvSpPr>
                  <p:nvPr/>
                </p:nvSpPr>
                <p:spPr>
                  <a:xfrm>
                    <a:off x="864" y="3360"/>
                    <a:ext cx="187" cy="216"/>
                  </a:xfrm>
                  <a:prstGeom prst="rect">
                    <a:avLst/>
                  </a:prstGeom>
                  <a:blipFill>
                    <a:blip r:embed="rId14"/>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396" name="Object 37"/>
                  <p:cNvSpPr txBox="1"/>
                  <p:nvPr/>
                </p:nvSpPr>
                <p:spPr>
                  <a:xfrm>
                    <a:off x="2405" y="3360"/>
                    <a:ext cx="215" cy="240"/>
                  </a:xfrm>
                  <a:prstGeom prst="rect">
                    <a:avLst/>
                  </a:prstGeom>
                  <a:noFill/>
                  <a:ln w="38100">
                    <a:noFill/>
                    <a:miter/>
                  </a:ln>
                </p:spPr>
                <p:txBody>
                  <a:bodyPr>
                    <a:normAutofit fontScale="70000" lnSpcReduction="20000"/>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𝑉</m:t>
                          </m:r>
                        </m:oMath>
                      </m:oMathPara>
                    </a14:m>
                    <a:endParaRPr lang="zh-CN" altLang="en-US" sz="2600"/>
                  </a:p>
                </p:txBody>
              </p:sp>
            </mc:Choice>
            <mc:Fallback xmlns="">
              <p:sp>
                <p:nvSpPr>
                  <p:cNvPr id="16396" name="Object 37"/>
                  <p:cNvSpPr txBox="1">
                    <a:spLocks noRot="1" noChangeAspect="1" noMove="1" noResize="1" noEditPoints="1" noAdjustHandles="1" noChangeArrowheads="1" noChangeShapeType="1" noTextEdit="1"/>
                  </p:cNvSpPr>
                  <p:nvPr/>
                </p:nvSpPr>
                <p:spPr>
                  <a:xfrm>
                    <a:off x="2405" y="3360"/>
                    <a:ext cx="215" cy="240"/>
                  </a:xfrm>
                  <a:prstGeom prst="rect">
                    <a:avLst/>
                  </a:prstGeom>
                  <a:blipFill>
                    <a:blip r:embed="rId15"/>
                    <a:stretch>
                      <a:fillRect/>
                    </a:stretch>
                  </a:blipFill>
                  <a:ln w="38100">
                    <a:noFill/>
                    <a:miter/>
                  </a:ln>
                </p:spPr>
                <p:txBody>
                  <a:bodyPr/>
                  <a:lstStyle/>
                  <a:p>
                    <a:r>
                      <a:rPr lang="zh-CN" altLang="en-US">
                        <a:noFill/>
                      </a:rPr>
                      <a:t> </a:t>
                    </a:r>
                  </a:p>
                </p:txBody>
              </p:sp>
            </mc:Fallback>
          </mc:AlternateContent>
        </p:grpSp>
        <p:sp>
          <p:nvSpPr>
            <p:cNvPr id="16411" name="Freeform 38" descr="浅色下对角线"/>
            <p:cNvSpPr/>
            <p:nvPr/>
          </p:nvSpPr>
          <p:spPr>
            <a:xfrm>
              <a:off x="3798" y="1794"/>
              <a:ext cx="570" cy="1292"/>
            </a:xfrm>
            <a:custGeom>
              <a:avLst/>
              <a:gdLst>
                <a:gd name="txL" fmla="*/ 0 w 570"/>
                <a:gd name="txT" fmla="*/ 0 h 1292"/>
                <a:gd name="txR" fmla="*/ 570 w 570"/>
                <a:gd name="txB" fmla="*/ 1292 h 1292"/>
              </a:gdLst>
              <a:ahLst/>
              <a:cxnLst>
                <a:cxn ang="0">
                  <a:pos x="60" y="150"/>
                </a:cxn>
                <a:cxn ang="0">
                  <a:pos x="162" y="390"/>
                </a:cxn>
                <a:cxn ang="0">
                  <a:pos x="248" y="572"/>
                </a:cxn>
                <a:cxn ang="0">
                  <a:pos x="330" y="723"/>
                </a:cxn>
                <a:cxn ang="0">
                  <a:pos x="397" y="962"/>
                </a:cxn>
                <a:cxn ang="0">
                  <a:pos x="570" y="1292"/>
                </a:cxn>
                <a:cxn ang="0">
                  <a:pos x="344" y="1182"/>
                </a:cxn>
                <a:cxn ang="0">
                  <a:pos x="241" y="1113"/>
                </a:cxn>
                <a:cxn ang="0">
                  <a:pos x="145" y="839"/>
                </a:cxn>
                <a:cxn ang="0">
                  <a:pos x="69" y="496"/>
                </a:cxn>
                <a:cxn ang="0">
                  <a:pos x="0" y="0"/>
                </a:cxn>
              </a:cxnLst>
              <a:rect l="txL" t="txT" r="txR" b="txB"/>
              <a:pathLst>
                <a:path w="570" h="1292">
                  <a:moveTo>
                    <a:pt x="60" y="150"/>
                  </a:moveTo>
                  <a:lnTo>
                    <a:pt x="162" y="390"/>
                  </a:lnTo>
                  <a:lnTo>
                    <a:pt x="248" y="572"/>
                  </a:lnTo>
                  <a:lnTo>
                    <a:pt x="330" y="723"/>
                  </a:lnTo>
                  <a:lnTo>
                    <a:pt x="397" y="962"/>
                  </a:lnTo>
                  <a:lnTo>
                    <a:pt x="570" y="1292"/>
                  </a:lnTo>
                  <a:lnTo>
                    <a:pt x="344" y="1182"/>
                  </a:lnTo>
                  <a:lnTo>
                    <a:pt x="241" y="1113"/>
                  </a:lnTo>
                  <a:lnTo>
                    <a:pt x="145" y="839"/>
                  </a:lnTo>
                  <a:lnTo>
                    <a:pt x="69" y="496"/>
                  </a:lnTo>
                  <a:lnTo>
                    <a:pt x="0" y="0"/>
                  </a:lnTo>
                </a:path>
              </a:pathLst>
            </a:custGeom>
            <a:pattFill prst="ltDnDiag">
              <a:fgClr>
                <a:srgbClr val="FF33CC">
                  <a:alpha val="100000"/>
                </a:srgbClr>
              </a:fgClr>
              <a:bgClr>
                <a:schemeClr val="bg1">
                  <a:alpha val="100000"/>
                </a:schemeClr>
              </a:bgClr>
            </a:pattFill>
            <a:ln w="19050" cap="flat" cmpd="sng">
              <a:solidFill>
                <a:srgbClr val="CC0099">
                  <a:alpha val="100000"/>
                </a:srgbClr>
              </a:solidFill>
              <a:prstDash val="solid"/>
              <a:round/>
              <a:headEnd type="none" w="med" len="med"/>
              <a:tailEnd type="none" w="med" len="med"/>
            </a:ln>
          </p:spPr>
          <p:txBody>
            <a:bodyPr/>
            <a:lstStyle/>
            <a:p>
              <a:endParaRPr lang="zh-CN" altLang="en-US" sz="2600"/>
            </a:p>
          </p:txBody>
        </p:sp>
        <p:sp>
          <p:nvSpPr>
            <p:cNvPr id="16412" name="Freeform 39" descr="浅色下对角线"/>
            <p:cNvSpPr/>
            <p:nvPr/>
          </p:nvSpPr>
          <p:spPr>
            <a:xfrm>
              <a:off x="4416" y="2400"/>
              <a:ext cx="733" cy="786"/>
            </a:xfrm>
            <a:custGeom>
              <a:avLst/>
              <a:gdLst>
                <a:gd name="txL" fmla="*/ 0 w 733"/>
                <a:gd name="txT" fmla="*/ 0 h 786"/>
                <a:gd name="txR" fmla="*/ 733 w 733"/>
                <a:gd name="txB" fmla="*/ 786 h 786"/>
              </a:gdLst>
              <a:ahLst/>
              <a:cxnLst>
                <a:cxn ang="0">
                  <a:pos x="0" y="0"/>
                </a:cxn>
                <a:cxn ang="0">
                  <a:pos x="110" y="89"/>
                </a:cxn>
                <a:cxn ang="0">
                  <a:pos x="220" y="144"/>
                </a:cxn>
                <a:cxn ang="0">
                  <a:pos x="361" y="186"/>
                </a:cxn>
                <a:cxn ang="0">
                  <a:pos x="373" y="192"/>
                </a:cxn>
                <a:cxn ang="0">
                  <a:pos x="451" y="354"/>
                </a:cxn>
                <a:cxn ang="0">
                  <a:pos x="535" y="510"/>
                </a:cxn>
                <a:cxn ang="0">
                  <a:pos x="733" y="786"/>
                </a:cxn>
                <a:cxn ang="0">
                  <a:pos x="631" y="782"/>
                </a:cxn>
                <a:cxn ang="0">
                  <a:pos x="475" y="768"/>
                </a:cxn>
                <a:cxn ang="0">
                  <a:pos x="343" y="594"/>
                </a:cxn>
                <a:cxn ang="0">
                  <a:pos x="199" y="372"/>
                </a:cxn>
                <a:cxn ang="0">
                  <a:pos x="0" y="0"/>
                </a:cxn>
              </a:cxnLst>
              <a:rect l="txL" t="txT" r="txR" b="txB"/>
              <a:pathLst>
                <a:path w="733" h="786">
                  <a:moveTo>
                    <a:pt x="0" y="0"/>
                  </a:moveTo>
                  <a:lnTo>
                    <a:pt x="110" y="89"/>
                  </a:lnTo>
                  <a:lnTo>
                    <a:pt x="220" y="144"/>
                  </a:lnTo>
                  <a:lnTo>
                    <a:pt x="361" y="186"/>
                  </a:lnTo>
                  <a:lnTo>
                    <a:pt x="373" y="192"/>
                  </a:lnTo>
                  <a:lnTo>
                    <a:pt x="451" y="354"/>
                  </a:lnTo>
                  <a:lnTo>
                    <a:pt x="535" y="510"/>
                  </a:lnTo>
                  <a:lnTo>
                    <a:pt x="733" y="786"/>
                  </a:lnTo>
                  <a:lnTo>
                    <a:pt x="631" y="782"/>
                  </a:lnTo>
                  <a:lnTo>
                    <a:pt x="475" y="768"/>
                  </a:lnTo>
                  <a:lnTo>
                    <a:pt x="343" y="594"/>
                  </a:lnTo>
                  <a:lnTo>
                    <a:pt x="199" y="372"/>
                  </a:lnTo>
                  <a:lnTo>
                    <a:pt x="0" y="0"/>
                  </a:lnTo>
                  <a:close/>
                </a:path>
              </a:pathLst>
            </a:custGeom>
            <a:pattFill prst="ltDnDiag">
              <a:fgClr>
                <a:srgbClr val="99CCFF">
                  <a:alpha val="100000"/>
                </a:srgbClr>
              </a:fgClr>
              <a:bgClr>
                <a:srgbClr val="FFFFFF">
                  <a:alpha val="100000"/>
                </a:srgbClr>
              </a:bgClr>
            </a:pattFill>
            <a:ln w="19050" cap="flat" cmpd="sng">
              <a:solidFill>
                <a:srgbClr val="0000FF">
                  <a:alpha val="100000"/>
                </a:srgbClr>
              </a:solidFill>
              <a:prstDash val="solid"/>
              <a:round/>
              <a:headEnd type="none" w="med" len="med"/>
              <a:tailEnd type="none" w="med" len="med"/>
            </a:ln>
          </p:spPr>
          <p:txBody>
            <a:bodyPr/>
            <a:lstStyle/>
            <a:p>
              <a:endParaRPr lang="zh-CN" altLang="en-US" sz="2600"/>
            </a:p>
          </p:txBody>
        </p:sp>
        <p:sp>
          <p:nvSpPr>
            <p:cNvPr id="16413" name="Freeform 40"/>
            <p:cNvSpPr/>
            <p:nvPr/>
          </p:nvSpPr>
          <p:spPr>
            <a:xfrm>
              <a:off x="3573" y="1824"/>
              <a:ext cx="1734" cy="1373"/>
            </a:xfrm>
            <a:custGeom>
              <a:avLst/>
              <a:gdLst>
                <a:gd name="txL" fmla="*/ 0 w 1734"/>
                <a:gd name="txT" fmla="*/ 0 h 1373"/>
                <a:gd name="txR" fmla="*/ 1734 w 1734"/>
                <a:gd name="txB" fmla="*/ 1373 h 1373"/>
              </a:gdLst>
              <a:ahLst/>
              <a:cxnLst>
                <a:cxn ang="0">
                  <a:pos x="0" y="0"/>
                </a:cxn>
                <a:cxn ang="0">
                  <a:pos x="68" y="295"/>
                </a:cxn>
                <a:cxn ang="0">
                  <a:pos x="157" y="603"/>
                </a:cxn>
                <a:cxn ang="0">
                  <a:pos x="301" y="891"/>
                </a:cxn>
                <a:cxn ang="0">
                  <a:pos x="713" y="1221"/>
                </a:cxn>
                <a:cxn ang="0">
                  <a:pos x="1419" y="1351"/>
                </a:cxn>
                <a:cxn ang="0">
                  <a:pos x="1734" y="1351"/>
                </a:cxn>
              </a:cxnLst>
              <a:rect l="txL" t="txT" r="txR" b="txB"/>
              <a:pathLst>
                <a:path w="1734" h="1373">
                  <a:moveTo>
                    <a:pt x="0" y="0"/>
                  </a:moveTo>
                  <a:cubicBezTo>
                    <a:pt x="11" y="49"/>
                    <a:pt x="42" y="194"/>
                    <a:pt x="68" y="295"/>
                  </a:cubicBezTo>
                  <a:cubicBezTo>
                    <a:pt x="94" y="396"/>
                    <a:pt x="118" y="504"/>
                    <a:pt x="157" y="603"/>
                  </a:cubicBezTo>
                  <a:cubicBezTo>
                    <a:pt x="196" y="702"/>
                    <a:pt x="208" y="788"/>
                    <a:pt x="301" y="891"/>
                  </a:cubicBezTo>
                  <a:cubicBezTo>
                    <a:pt x="394" y="994"/>
                    <a:pt x="527" y="1144"/>
                    <a:pt x="713" y="1221"/>
                  </a:cubicBezTo>
                  <a:cubicBezTo>
                    <a:pt x="899" y="1298"/>
                    <a:pt x="1249" y="1329"/>
                    <a:pt x="1419" y="1351"/>
                  </a:cubicBezTo>
                  <a:cubicBezTo>
                    <a:pt x="1589" y="1373"/>
                    <a:pt x="1669" y="1351"/>
                    <a:pt x="1734" y="1351"/>
                  </a:cubicBezTo>
                </a:path>
              </a:pathLst>
            </a:custGeom>
            <a:noFill/>
            <a:ln w="19050" cap="flat" cmpd="sng">
              <a:solidFill>
                <a:srgbClr val="000000">
                  <a:alpha val="100000"/>
                </a:srgbClr>
              </a:solidFill>
              <a:prstDash val="dash"/>
              <a:round/>
              <a:headEnd type="none" w="med" len="med"/>
              <a:tailEnd type="none" w="med" len="med"/>
            </a:ln>
          </p:spPr>
          <p:txBody>
            <a:bodyPr/>
            <a:lstStyle/>
            <a:p>
              <a:endParaRPr lang="zh-CN" altLang="en-US" sz="2600"/>
            </a:p>
          </p:txBody>
        </p:sp>
        <mc:AlternateContent xmlns:mc="http://schemas.openxmlformats.org/markup-compatibility/2006" xmlns:a14="http://schemas.microsoft.com/office/drawing/2010/main">
          <mc:Choice Requires="a14">
            <p:sp>
              <p:nvSpPr>
                <p:cNvPr id="16388" name="Object 41"/>
                <p:cNvSpPr txBox="1"/>
                <p:nvPr/>
              </p:nvSpPr>
              <p:spPr>
                <a:xfrm>
                  <a:off x="5184" y="2790"/>
                  <a:ext cx="186" cy="282"/>
                </a:xfrm>
                <a:prstGeom prst="rect">
                  <a:avLst/>
                </a:prstGeom>
                <a:noFill/>
                <a:ln w="38100">
                  <a:noFill/>
                  <a:miter/>
                </a:ln>
              </p:spPr>
              <p:txBody>
                <a:bodyPr>
                  <a:normAutofit fontScale="70000" lnSpcReduction="20000"/>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𝑇</m:t>
                            </m:r>
                          </m:e>
                          <m:sub>
                            <m:r>
                              <a:rPr lang="zh-CN" altLang="en-US" sz="2600" i="1">
                                <a:solidFill>
                                  <a:srgbClr val="000000"/>
                                </a:solidFill>
                                <a:latin typeface="Cambria Math" panose="02040503050406030204" pitchFamily="18" charset="0"/>
                              </a:rPr>
                              <m:t>2</m:t>
                            </m:r>
                          </m:sub>
                        </m:sSub>
                      </m:oMath>
                    </m:oMathPara>
                  </a14:m>
                  <a:endParaRPr lang="zh-CN" altLang="en-US" sz="2600"/>
                </a:p>
              </p:txBody>
            </p:sp>
          </mc:Choice>
          <mc:Fallback xmlns="">
            <p:sp>
              <p:nvSpPr>
                <p:cNvPr id="16388" name="Object 41"/>
                <p:cNvSpPr txBox="1">
                  <a:spLocks noRot="1" noChangeAspect="1" noMove="1" noResize="1" noEditPoints="1" noAdjustHandles="1" noChangeArrowheads="1" noChangeShapeType="1" noTextEdit="1"/>
                </p:cNvSpPr>
                <p:nvPr/>
              </p:nvSpPr>
              <p:spPr>
                <a:xfrm>
                  <a:off x="5184" y="2790"/>
                  <a:ext cx="186" cy="282"/>
                </a:xfrm>
                <a:prstGeom prst="rect">
                  <a:avLst/>
                </a:prstGeom>
                <a:blipFill>
                  <a:blip r:embed="rId16"/>
                  <a:stretch>
                    <a:fillRect r="-22917"/>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389" name="Object 42"/>
                <p:cNvSpPr txBox="1"/>
                <p:nvPr/>
              </p:nvSpPr>
              <p:spPr>
                <a:xfrm>
                  <a:off x="3504" y="2208"/>
                  <a:ext cx="206" cy="268"/>
                </a:xfrm>
                <a:prstGeom prst="rect">
                  <a:avLst/>
                </a:prstGeom>
                <a:noFill/>
                <a:ln w="38100">
                  <a:noFill/>
                  <a:miter/>
                </a:ln>
              </p:spPr>
              <p:txBody>
                <a:bodyPr>
                  <a:normAutofit fontScale="77500" lnSpcReduction="20000"/>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𝑇</m:t>
                            </m:r>
                          </m:e>
                          <m:sub>
                            <m:r>
                              <a:rPr lang="zh-CN" altLang="en-US" sz="2600" i="1">
                                <a:solidFill>
                                  <a:srgbClr val="000000"/>
                                </a:solidFill>
                                <a:latin typeface="Cambria Math" panose="02040503050406030204" pitchFamily="18" charset="0"/>
                              </a:rPr>
                              <m:t>1</m:t>
                            </m:r>
                          </m:sub>
                        </m:sSub>
                      </m:oMath>
                    </m:oMathPara>
                  </a14:m>
                  <a:endParaRPr lang="zh-CN" altLang="en-US" sz="2600"/>
                </a:p>
              </p:txBody>
            </p:sp>
          </mc:Choice>
          <mc:Fallback xmlns="">
            <p:sp>
              <p:nvSpPr>
                <p:cNvPr id="16389" name="Object 42"/>
                <p:cNvSpPr txBox="1">
                  <a:spLocks noRot="1" noChangeAspect="1" noMove="1" noResize="1" noEditPoints="1" noAdjustHandles="1" noChangeArrowheads="1" noChangeShapeType="1" noTextEdit="1"/>
                </p:cNvSpPr>
                <p:nvPr/>
              </p:nvSpPr>
              <p:spPr>
                <a:xfrm>
                  <a:off x="3504" y="2208"/>
                  <a:ext cx="206" cy="268"/>
                </a:xfrm>
                <a:prstGeom prst="rect">
                  <a:avLst/>
                </a:prstGeom>
                <a:blipFill>
                  <a:blip r:embed="rId17"/>
                  <a:stretch>
                    <a:fillRect r="-14815"/>
                  </a:stretch>
                </a:blipFill>
                <a:ln w="38100">
                  <a:noFill/>
                  <a:miter/>
                </a:ln>
              </p:spPr>
              <p:txBody>
                <a:bodyPr/>
                <a:lstStyle/>
                <a:p>
                  <a:r>
                    <a:rPr lang="zh-CN" altLang="en-US">
                      <a:noFill/>
                    </a:rPr>
                    <a:t> </a:t>
                  </a:r>
                </a:p>
              </p:txBody>
            </p:sp>
          </mc:Fallback>
        </mc:AlternateContent>
        <p:sp>
          <p:nvSpPr>
            <p:cNvPr id="16414" name="Line 43"/>
            <p:cNvSpPr/>
            <p:nvPr/>
          </p:nvSpPr>
          <p:spPr>
            <a:xfrm>
              <a:off x="3888" y="2400"/>
              <a:ext cx="48" cy="192"/>
            </a:xfrm>
            <a:prstGeom prst="line">
              <a:avLst/>
            </a:prstGeom>
            <a:ln w="28575" cap="flat" cmpd="sng">
              <a:solidFill>
                <a:srgbClr val="CC0099"/>
              </a:solidFill>
              <a:prstDash val="solid"/>
              <a:headEnd type="triangle" w="med" len="med"/>
              <a:tailEnd type="none" w="sm" len="lg"/>
            </a:ln>
          </p:spPr>
        </p:sp>
        <p:sp>
          <p:nvSpPr>
            <p:cNvPr id="16415" name="Line 44"/>
            <p:cNvSpPr/>
            <p:nvPr/>
          </p:nvSpPr>
          <p:spPr>
            <a:xfrm flipH="1" flipV="1">
              <a:off x="4653" y="2818"/>
              <a:ext cx="99" cy="158"/>
            </a:xfrm>
            <a:prstGeom prst="line">
              <a:avLst/>
            </a:prstGeom>
            <a:ln w="28575" cap="flat" cmpd="sng">
              <a:solidFill>
                <a:srgbClr val="0000FF"/>
              </a:solidFill>
              <a:prstDash val="solid"/>
              <a:headEnd type="none" w="med" len="med"/>
              <a:tailEnd type="triangle" w="sm" len="lg"/>
            </a:ln>
          </p:spPr>
        </p:sp>
        <p:sp>
          <p:nvSpPr>
            <p:cNvPr id="16416" name="Line 45"/>
            <p:cNvSpPr/>
            <p:nvPr/>
          </p:nvSpPr>
          <p:spPr>
            <a:xfrm flipH="1" flipV="1">
              <a:off x="4176" y="2688"/>
              <a:ext cx="48" cy="144"/>
            </a:xfrm>
            <a:prstGeom prst="line">
              <a:avLst/>
            </a:prstGeom>
            <a:ln w="28575" cap="flat" cmpd="sng">
              <a:solidFill>
                <a:srgbClr val="CC0099"/>
              </a:solidFill>
              <a:prstDash val="solid"/>
              <a:headEnd type="triangle" w="med" len="med"/>
              <a:tailEnd type="none" w="sm" len="lg"/>
            </a:ln>
          </p:spPr>
        </p:sp>
        <p:sp>
          <p:nvSpPr>
            <p:cNvPr id="16417" name="Freeform 46"/>
            <p:cNvSpPr/>
            <p:nvPr/>
          </p:nvSpPr>
          <p:spPr>
            <a:xfrm>
              <a:off x="3792" y="1776"/>
              <a:ext cx="1413" cy="1147"/>
            </a:xfrm>
            <a:custGeom>
              <a:avLst/>
              <a:gdLst>
                <a:gd name="txL" fmla="*/ 0 w 1413"/>
                <a:gd name="txT" fmla="*/ 0 h 1147"/>
                <a:gd name="txR" fmla="*/ 1413 w 1413"/>
                <a:gd name="txB" fmla="*/ 1147 h 1147"/>
              </a:gdLst>
              <a:ahLst/>
              <a:cxnLst>
                <a:cxn ang="0">
                  <a:pos x="0" y="0"/>
                </a:cxn>
                <a:cxn ang="0">
                  <a:pos x="219" y="494"/>
                </a:cxn>
                <a:cxn ang="0">
                  <a:pos x="411" y="795"/>
                </a:cxn>
                <a:cxn ang="0">
                  <a:pos x="754" y="1001"/>
                </a:cxn>
                <a:cxn ang="0">
                  <a:pos x="1097" y="1104"/>
                </a:cxn>
                <a:cxn ang="0">
                  <a:pos x="1344" y="1140"/>
                </a:cxn>
                <a:cxn ang="0">
                  <a:pos x="1413" y="1145"/>
                </a:cxn>
              </a:cxnLst>
              <a:rect l="txL" t="txT" r="txR" b="txB"/>
              <a:pathLst>
                <a:path w="1413" h="1147">
                  <a:moveTo>
                    <a:pt x="0" y="0"/>
                  </a:moveTo>
                  <a:cubicBezTo>
                    <a:pt x="36" y="82"/>
                    <a:pt x="150" y="361"/>
                    <a:pt x="219" y="494"/>
                  </a:cubicBezTo>
                  <a:cubicBezTo>
                    <a:pt x="288" y="627"/>
                    <a:pt x="322" y="710"/>
                    <a:pt x="411" y="795"/>
                  </a:cubicBezTo>
                  <a:cubicBezTo>
                    <a:pt x="500" y="880"/>
                    <a:pt x="640" y="950"/>
                    <a:pt x="754" y="1001"/>
                  </a:cubicBezTo>
                  <a:cubicBezTo>
                    <a:pt x="868" y="1052"/>
                    <a:pt x="999" y="1081"/>
                    <a:pt x="1097" y="1104"/>
                  </a:cubicBezTo>
                  <a:cubicBezTo>
                    <a:pt x="1195" y="1127"/>
                    <a:pt x="1291" y="1133"/>
                    <a:pt x="1344" y="1140"/>
                  </a:cubicBezTo>
                  <a:cubicBezTo>
                    <a:pt x="1397" y="1147"/>
                    <a:pt x="1399" y="1144"/>
                    <a:pt x="1413" y="1145"/>
                  </a:cubicBezTo>
                </a:path>
              </a:pathLst>
            </a:custGeom>
            <a:noFill/>
            <a:ln w="19050" cap="flat" cmpd="sng">
              <a:solidFill>
                <a:srgbClr val="000000">
                  <a:alpha val="100000"/>
                </a:srgbClr>
              </a:solidFill>
              <a:prstDash val="dash"/>
              <a:round/>
              <a:headEnd type="none" w="med" len="med"/>
              <a:tailEnd type="none" w="med" len="med"/>
            </a:ln>
          </p:spPr>
          <p:txBody>
            <a:bodyPr/>
            <a:lstStyle/>
            <a:p>
              <a:endParaRPr lang="zh-CN" altLang="en-US" sz="2600"/>
            </a:p>
          </p:txBody>
        </p:sp>
        <p:sp>
          <p:nvSpPr>
            <p:cNvPr id="16418" name="Line 47"/>
            <p:cNvSpPr/>
            <p:nvPr/>
          </p:nvSpPr>
          <p:spPr>
            <a:xfrm>
              <a:off x="4944" y="2880"/>
              <a:ext cx="113" cy="172"/>
            </a:xfrm>
            <a:prstGeom prst="line">
              <a:avLst/>
            </a:prstGeom>
            <a:ln w="28575" cap="flat" cmpd="sng">
              <a:solidFill>
                <a:srgbClr val="0000FF"/>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16390" name="Object 48"/>
                <p:cNvSpPr txBox="1"/>
                <p:nvPr/>
              </p:nvSpPr>
              <p:spPr>
                <a:xfrm>
                  <a:off x="4640" y="2592"/>
                  <a:ext cx="208" cy="278"/>
                </a:xfrm>
                <a:prstGeom prst="rect">
                  <a:avLst/>
                </a:prstGeom>
                <a:noFill/>
                <a:ln w="38100">
                  <a:noFill/>
                  <a:miter/>
                </a:ln>
              </p:spPr>
              <p:txBody>
                <a:bodyPr>
                  <a:normAutofit fontScale="62500" lnSpcReduction="20000"/>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𝑊</m:t>
                            </m:r>
                          </m:e>
                          <m:sub>
                            <m:r>
                              <a:rPr lang="zh-CN" altLang="en-US" sz="2600" i="1">
                                <a:solidFill>
                                  <a:srgbClr val="000000"/>
                                </a:solidFill>
                                <a:latin typeface="Cambria Math" panose="02040503050406030204" pitchFamily="18" charset="0"/>
                              </a:rPr>
                              <m:t>2</m:t>
                            </m:r>
                          </m:sub>
                        </m:sSub>
                      </m:oMath>
                    </m:oMathPara>
                  </a14:m>
                  <a:endParaRPr lang="zh-CN" altLang="en-US" sz="2600"/>
                </a:p>
              </p:txBody>
            </p:sp>
          </mc:Choice>
          <mc:Fallback xmlns="">
            <p:sp>
              <p:nvSpPr>
                <p:cNvPr id="16390" name="Object 48"/>
                <p:cNvSpPr txBox="1">
                  <a:spLocks noRot="1" noChangeAspect="1" noMove="1" noResize="1" noEditPoints="1" noAdjustHandles="1" noChangeArrowheads="1" noChangeShapeType="1" noTextEdit="1"/>
                </p:cNvSpPr>
                <p:nvPr/>
              </p:nvSpPr>
              <p:spPr>
                <a:xfrm>
                  <a:off x="4640" y="2592"/>
                  <a:ext cx="208" cy="278"/>
                </a:xfrm>
                <a:prstGeom prst="rect">
                  <a:avLst/>
                </a:prstGeom>
                <a:blipFill>
                  <a:blip r:embed="rId18"/>
                  <a:stretch>
                    <a:fillRect r="-18519"/>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391" name="Object 49"/>
                <p:cNvSpPr txBox="1"/>
                <p:nvPr/>
              </p:nvSpPr>
              <p:spPr>
                <a:xfrm>
                  <a:off x="3936" y="2448"/>
                  <a:ext cx="190" cy="277"/>
                </a:xfrm>
                <a:prstGeom prst="rect">
                  <a:avLst/>
                </a:prstGeom>
                <a:noFill/>
                <a:ln w="38100">
                  <a:noFill/>
                  <a:miter/>
                </a:ln>
              </p:spPr>
              <p:txBody>
                <a:bodyPr>
                  <a:normAutofit fontScale="55000" lnSpcReduction="20000"/>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𝑊</m:t>
                            </m:r>
                          </m:e>
                          <m:sub>
                            <m:r>
                              <a:rPr lang="zh-CN" altLang="en-US" sz="2600" i="1">
                                <a:solidFill>
                                  <a:srgbClr val="000000"/>
                                </a:solidFill>
                                <a:latin typeface="Cambria Math" panose="02040503050406030204" pitchFamily="18" charset="0"/>
                              </a:rPr>
                              <m:t>1</m:t>
                            </m:r>
                          </m:sub>
                        </m:sSub>
                      </m:oMath>
                    </m:oMathPara>
                  </a14:m>
                  <a:endParaRPr lang="zh-CN" altLang="en-US" sz="2600"/>
                </a:p>
              </p:txBody>
            </p:sp>
          </mc:Choice>
          <mc:Fallback xmlns="">
            <p:sp>
              <p:nvSpPr>
                <p:cNvPr id="16391" name="Object 49"/>
                <p:cNvSpPr txBox="1">
                  <a:spLocks noRot="1" noChangeAspect="1" noMove="1" noResize="1" noEditPoints="1" noAdjustHandles="1" noChangeArrowheads="1" noChangeShapeType="1" noTextEdit="1"/>
                </p:cNvSpPr>
                <p:nvPr/>
              </p:nvSpPr>
              <p:spPr>
                <a:xfrm>
                  <a:off x="3936" y="2448"/>
                  <a:ext cx="190" cy="277"/>
                </a:xfrm>
                <a:prstGeom prst="rect">
                  <a:avLst/>
                </a:prstGeom>
                <a:blipFill>
                  <a:blip r:embed="rId19"/>
                  <a:stretch>
                    <a:fillRect r="-16327"/>
                  </a:stretch>
                </a:blipFill>
                <a:ln w="38100">
                  <a:noFill/>
                  <a:miter/>
                </a:ln>
              </p:spPr>
              <p:txBody>
                <a:bodyPr/>
                <a:lstStyle/>
                <a:p>
                  <a:r>
                    <a:rPr lang="zh-CN" altLang="en-US">
                      <a:noFill/>
                    </a:rPr>
                    <a:t> </a:t>
                  </a:r>
                </a:p>
              </p:txBody>
            </p:sp>
          </mc:Fallback>
        </mc:AlternateContent>
        <p:sp>
          <p:nvSpPr>
            <p:cNvPr id="16419" name="Freeform 50"/>
            <p:cNvSpPr/>
            <p:nvPr/>
          </p:nvSpPr>
          <p:spPr>
            <a:xfrm>
              <a:off x="4005" y="1803"/>
              <a:ext cx="1145" cy="899"/>
            </a:xfrm>
            <a:custGeom>
              <a:avLst/>
              <a:gdLst>
                <a:gd name="txL" fmla="*/ 0 w 1145"/>
                <a:gd name="txT" fmla="*/ 0 h 899"/>
                <a:gd name="txR" fmla="*/ 1145 w 1145"/>
                <a:gd name="txB" fmla="*/ 899 h 899"/>
              </a:gdLst>
              <a:ahLst/>
              <a:cxnLst>
                <a:cxn ang="0">
                  <a:pos x="0" y="0"/>
                </a:cxn>
                <a:cxn ang="0">
                  <a:pos x="137" y="282"/>
                </a:cxn>
                <a:cxn ang="0">
                  <a:pos x="301" y="515"/>
                </a:cxn>
                <a:cxn ang="0">
                  <a:pos x="617" y="727"/>
                </a:cxn>
                <a:cxn ang="0">
                  <a:pos x="1145" y="899"/>
                </a:cxn>
              </a:cxnLst>
              <a:rect l="txL" t="txT" r="txR" b="txB"/>
              <a:pathLst>
                <a:path w="1145" h="899">
                  <a:moveTo>
                    <a:pt x="0" y="0"/>
                  </a:moveTo>
                  <a:cubicBezTo>
                    <a:pt x="23" y="47"/>
                    <a:pt x="87" y="196"/>
                    <a:pt x="137" y="282"/>
                  </a:cubicBezTo>
                  <a:cubicBezTo>
                    <a:pt x="187" y="368"/>
                    <a:pt x="221" y="441"/>
                    <a:pt x="301" y="515"/>
                  </a:cubicBezTo>
                  <a:cubicBezTo>
                    <a:pt x="381" y="589"/>
                    <a:pt x="476" y="663"/>
                    <a:pt x="617" y="727"/>
                  </a:cubicBezTo>
                  <a:cubicBezTo>
                    <a:pt x="758" y="791"/>
                    <a:pt x="1035" y="863"/>
                    <a:pt x="1145" y="899"/>
                  </a:cubicBezTo>
                </a:path>
              </a:pathLst>
            </a:custGeom>
            <a:noFill/>
            <a:ln w="19050" cap="flat" cmpd="sng">
              <a:solidFill>
                <a:srgbClr val="000000">
                  <a:alpha val="100000"/>
                </a:srgbClr>
              </a:solidFill>
              <a:prstDash val="dash"/>
              <a:round/>
              <a:headEnd type="none" w="med" len="med"/>
              <a:tailEnd type="none" w="med" len="med"/>
            </a:ln>
          </p:spPr>
          <p:txBody>
            <a:bodyPr/>
            <a:lstStyle/>
            <a:p>
              <a:endParaRPr lang="zh-CN" altLang="en-US" sz="2600"/>
            </a:p>
          </p:txBody>
        </p:sp>
        <mc:AlternateContent xmlns:mc="http://schemas.openxmlformats.org/markup-compatibility/2006" xmlns:a14="http://schemas.microsoft.com/office/drawing/2010/main">
          <mc:Choice Requires="a14">
            <p:sp>
              <p:nvSpPr>
                <p:cNvPr id="16392" name="Object 51"/>
                <p:cNvSpPr txBox="1"/>
                <p:nvPr/>
              </p:nvSpPr>
              <p:spPr>
                <a:xfrm>
                  <a:off x="4165" y="1872"/>
                  <a:ext cx="244" cy="295"/>
                </a:xfrm>
                <a:prstGeom prst="rect">
                  <a:avLst/>
                </a:prstGeom>
                <a:noFill/>
                <a:ln w="38100">
                  <a:noFill/>
                  <a:miter/>
                </a:ln>
              </p:spPr>
              <p:txBody>
                <a:bodyPr>
                  <a:normAutofit fontScale="92500"/>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𝑇</m:t>
                            </m:r>
                          </m:e>
                          <m:sub>
                            <m:r>
                              <a:rPr lang="zh-CN" altLang="en-US" sz="2600" i="1">
                                <a:solidFill>
                                  <a:srgbClr val="000000"/>
                                </a:solidFill>
                                <a:latin typeface="Cambria Math" panose="02040503050406030204" pitchFamily="18" charset="0"/>
                              </a:rPr>
                              <m:t>3</m:t>
                            </m:r>
                          </m:sub>
                        </m:sSub>
                      </m:oMath>
                    </m:oMathPara>
                  </a14:m>
                  <a:endParaRPr lang="zh-CN" altLang="en-US" sz="2600"/>
                </a:p>
              </p:txBody>
            </p:sp>
          </mc:Choice>
          <mc:Fallback xmlns="">
            <p:sp>
              <p:nvSpPr>
                <p:cNvPr id="16392" name="Object 51"/>
                <p:cNvSpPr txBox="1">
                  <a:spLocks noRot="1" noChangeAspect="1" noMove="1" noResize="1" noEditPoints="1" noAdjustHandles="1" noChangeArrowheads="1" noChangeShapeType="1" noTextEdit="1"/>
                </p:cNvSpPr>
                <p:nvPr/>
              </p:nvSpPr>
              <p:spPr>
                <a:xfrm>
                  <a:off x="4165" y="1872"/>
                  <a:ext cx="244" cy="295"/>
                </a:xfrm>
                <a:prstGeom prst="rect">
                  <a:avLst/>
                </a:prstGeom>
                <a:blipFill>
                  <a:blip r:embed="rId20"/>
                  <a:stretch>
                    <a:fillRect l="-3125" r="-14063" b="-1299"/>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393" name="Object 52"/>
                <p:cNvSpPr txBox="1"/>
                <p:nvPr/>
              </p:nvSpPr>
              <p:spPr>
                <a:xfrm>
                  <a:off x="4425" y="1707"/>
                  <a:ext cx="1089" cy="303"/>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smtClean="0">
                                <a:solidFill>
                                  <a:srgbClr val="000000"/>
                                </a:solidFill>
                                <a:latin typeface="Cambria Math" panose="02040503050406030204" pitchFamily="18" charset="0"/>
                              </a:rPr>
                            </m:ctrlPr>
                          </m:sSubPr>
                          <m:e>
                            <m:r>
                              <a:rPr lang="en-US" altLang="zh-CN" sz="2600" b="0" i="1" smtClean="0">
                                <a:solidFill>
                                  <a:srgbClr val="000000"/>
                                </a:solidFill>
                                <a:latin typeface="Cambria Math" panose="02040503050406030204" pitchFamily="18" charset="0"/>
                              </a:rPr>
                              <m:t>𝐴</m:t>
                            </m:r>
                          </m:e>
                          <m:sub>
                            <m:r>
                              <a:rPr lang="zh-CN" altLang="en-US" sz="2600" i="1">
                                <a:solidFill>
                                  <a:srgbClr val="000000"/>
                                </a:solidFill>
                                <a:latin typeface="Cambria Math" panose="02040503050406030204" pitchFamily="18" charset="0"/>
                              </a:rPr>
                              <m:t>1</m:t>
                            </m:r>
                          </m:sub>
                        </m:sSub>
                        <m:r>
                          <a:rPr lang="zh-CN" altLang="en-US" sz="2600" i="1">
                            <a:solidFill>
                              <a:srgbClr val="000000"/>
                            </a:solidFill>
                            <a:latin typeface="Cambria Math" panose="02040503050406030204" pitchFamily="18" charset="0"/>
                          </a:rPr>
                          <m:t>=</m:t>
                        </m:r>
                        <m:sSub>
                          <m:sSubPr>
                            <m:ctrlPr>
                              <a:rPr lang="zh-CN" altLang="en-US" sz="2600" i="1">
                                <a:solidFill>
                                  <a:srgbClr val="000000"/>
                                </a:solidFill>
                                <a:latin typeface="Cambria Math" panose="02040503050406030204" pitchFamily="18" charset="0"/>
                              </a:rPr>
                            </m:ctrlPr>
                          </m:sSubPr>
                          <m:e>
                            <m:r>
                              <a:rPr lang="en-US" altLang="zh-CN" sz="2600" b="0" i="1" smtClean="0">
                                <a:solidFill>
                                  <a:srgbClr val="000000"/>
                                </a:solidFill>
                                <a:latin typeface="Cambria Math" panose="02040503050406030204" pitchFamily="18" charset="0"/>
                              </a:rPr>
                              <m:t>𝐴</m:t>
                            </m:r>
                          </m:e>
                          <m:sub>
                            <m:r>
                              <a:rPr lang="zh-CN" altLang="en-US" sz="2600" i="1">
                                <a:solidFill>
                                  <a:srgbClr val="000000"/>
                                </a:solidFill>
                                <a:latin typeface="Cambria Math" panose="02040503050406030204" pitchFamily="18" charset="0"/>
                              </a:rPr>
                              <m:t>2</m:t>
                            </m:r>
                          </m:sub>
                        </m:sSub>
                      </m:oMath>
                    </m:oMathPara>
                  </a14:m>
                  <a:endParaRPr lang="zh-CN" altLang="en-US" sz="2600" dirty="0"/>
                </a:p>
              </p:txBody>
            </p:sp>
          </mc:Choice>
          <mc:Fallback xmlns="">
            <p:sp>
              <p:nvSpPr>
                <p:cNvPr id="16393" name="Object 52"/>
                <p:cNvSpPr txBox="1">
                  <a:spLocks noRot="1" noChangeAspect="1" noMove="1" noResize="1" noEditPoints="1" noAdjustHandles="1" noChangeArrowheads="1" noChangeShapeType="1" noTextEdit="1"/>
                </p:cNvSpPr>
                <p:nvPr/>
              </p:nvSpPr>
              <p:spPr>
                <a:xfrm>
                  <a:off x="4425" y="1707"/>
                  <a:ext cx="1089" cy="303"/>
                </a:xfrm>
                <a:prstGeom prst="rect">
                  <a:avLst/>
                </a:prstGeom>
                <a:blipFill>
                  <a:blip r:embed="rId21"/>
                  <a:stretch>
                    <a:fillRect/>
                  </a:stretch>
                </a:blipFill>
                <a:ln w="38100">
                  <a:noFill/>
                  <a:miter/>
                </a:ln>
              </p:spPr>
              <p:txBody>
                <a:bodyPr/>
                <a:lstStyle/>
                <a:p>
                  <a:r>
                    <a:rPr lang="zh-CN" altLang="en-US">
                      <a:noFill/>
                    </a:rPr>
                    <a:t> </a:t>
                  </a:r>
                </a:p>
              </p:txBody>
            </p:sp>
          </mc:Fallback>
        </mc:AlternateContent>
      </p:grpSp>
      <p:sp>
        <p:nvSpPr>
          <p:cNvPr id="2" name="Text Box 13">
            <a:hlinkClick r:id="" action="ppaction://noaction"/>
            <a:extLst>
              <a:ext uri="{FF2B5EF4-FFF2-40B4-BE49-F238E27FC236}">
                <a16:creationId xmlns:a16="http://schemas.microsoft.com/office/drawing/2014/main" id="{9A1D1B90-7BCE-AE7D-D7BB-3437E75A8549}"/>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卡诺循环</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3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3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p:bldP spid="1638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ext Box 2"/>
          <p:cNvSpPr txBox="1"/>
          <p:nvPr/>
        </p:nvSpPr>
        <p:spPr>
          <a:xfrm>
            <a:off x="1012004" y="490838"/>
            <a:ext cx="10221019" cy="1022139"/>
          </a:xfrm>
          <a:prstGeom prst="rect">
            <a:avLst/>
          </a:prstGeom>
          <a:noFill/>
          <a:ln w="9525">
            <a:noFill/>
          </a:ln>
        </p:spPr>
        <p:txBody>
          <a:bodyPr wrap="square">
            <a:spAutoFit/>
          </a:bodyPr>
          <a:lstStyle/>
          <a:p>
            <a:pPr eaLnBrk="1" hangingPunct="1">
              <a:lnSpc>
                <a:spcPct val="120000"/>
              </a:lnSpc>
              <a:spcBef>
                <a:spcPct val="50000"/>
              </a:spcBef>
            </a:pPr>
            <a:r>
              <a:rPr lang="en-US" altLang="zh-CN" sz="2600" dirty="0">
                <a:latin typeface="Times New Roman" panose="02020603050405020304" pitchFamily="18" charset="0"/>
              </a:rPr>
              <a:t>        </a:t>
            </a:r>
            <a:r>
              <a:rPr lang="zh-CN" altLang="en-US" sz="2600" dirty="0">
                <a:latin typeface="Times New Roman" panose="02020603050405020304" pitchFamily="18" charset="0"/>
              </a:rPr>
              <a:t>例 </a:t>
            </a:r>
            <a:r>
              <a:rPr lang="zh-CN" altLang="en-US" sz="2600" dirty="0">
                <a:latin typeface="宋体" panose="02010600030101010101" pitchFamily="2" charset="-122"/>
              </a:rPr>
              <a:t>汽油机可近似看成如图循环过程</a:t>
            </a:r>
            <a:r>
              <a:rPr lang="en-US" altLang="zh-CN" sz="2600" dirty="0">
                <a:latin typeface="宋体" panose="02010600030101010101" pitchFamily="2" charset="-122"/>
              </a:rPr>
              <a:t>(</a:t>
            </a:r>
            <a:r>
              <a:rPr lang="en-US" altLang="zh-CN" sz="2600" dirty="0">
                <a:latin typeface="Times New Roman" panose="02020603050405020304" pitchFamily="18" charset="0"/>
              </a:rPr>
              <a:t>Otto</a:t>
            </a:r>
            <a:r>
              <a:rPr lang="zh-CN" altLang="en-US" sz="2600" dirty="0">
                <a:latin typeface="宋体" panose="02010600030101010101" pitchFamily="2" charset="-122"/>
              </a:rPr>
              <a:t>循环</a:t>
            </a:r>
            <a:r>
              <a:rPr lang="en-US" altLang="zh-CN" sz="2600" dirty="0">
                <a:latin typeface="宋体" panose="02010600030101010101" pitchFamily="2" charset="-122"/>
              </a:rPr>
              <a:t>)</a:t>
            </a:r>
            <a:r>
              <a:rPr lang="zh-CN" altLang="en-US" sz="2600" dirty="0">
                <a:latin typeface="宋体" panose="02010600030101010101" pitchFamily="2" charset="-122"/>
              </a:rPr>
              <a:t>，其中</a:t>
            </a:r>
            <a:r>
              <a:rPr lang="en-US" altLang="zh-CN" sz="2600" dirty="0">
                <a:latin typeface="Times New Roman" panose="02020603050405020304" pitchFamily="18" charset="0"/>
              </a:rPr>
              <a:t>AB</a:t>
            </a:r>
            <a:r>
              <a:rPr lang="zh-CN" altLang="en-US" sz="2600" dirty="0">
                <a:latin typeface="宋体" panose="02010600030101010101" pitchFamily="2" charset="-122"/>
              </a:rPr>
              <a:t>和</a:t>
            </a:r>
            <a:r>
              <a:rPr lang="en-US" altLang="zh-CN" sz="2600" dirty="0">
                <a:latin typeface="Times New Roman" panose="02020603050405020304" pitchFamily="18" charset="0"/>
              </a:rPr>
              <a:t>CD</a:t>
            </a:r>
            <a:r>
              <a:rPr lang="zh-CN" altLang="en-US" sz="2600" dirty="0">
                <a:latin typeface="宋体" panose="02010600030101010101" pitchFamily="2" charset="-122"/>
              </a:rPr>
              <a:t>为绝热过程，求此循环效率</a:t>
            </a:r>
            <a:r>
              <a:rPr lang="zh-CN" altLang="en-US" sz="2600" dirty="0">
                <a:latin typeface="Times New Roman" panose="02020603050405020304" pitchFamily="18" charset="0"/>
              </a:rPr>
              <a:t>。</a:t>
            </a:r>
            <a:endParaRPr lang="en-US" altLang="zh-CN" sz="2600" dirty="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460804" name="Object 4"/>
              <p:cNvSpPr txBox="1"/>
              <p:nvPr/>
            </p:nvSpPr>
            <p:spPr>
              <a:xfrm>
                <a:off x="549236" y="1637506"/>
                <a:ext cx="3936922" cy="337185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𝜂</m:t>
                      </m:r>
                      <m:r>
                        <a:rPr lang="zh-CN" altLang="en-US" sz="2800" i="1">
                          <a:solidFill>
                            <a:srgbClr val="000000"/>
                          </a:solidFill>
                          <a:latin typeface="Cambria Math" panose="02040503050406030204" pitchFamily="18" charset="0"/>
                        </a:rPr>
                        <m:t>=1−</m:t>
                      </m:r>
                      <m:f>
                        <m:fPr>
                          <m:ctrlPr>
                            <a:rPr lang="zh-CN" altLang="en-US" sz="2800" i="1">
                              <a:solidFill>
                                <a:srgbClr val="000000"/>
                              </a:solidFill>
                              <a:latin typeface="Cambria Math" panose="02040503050406030204" pitchFamily="18" charset="0"/>
                            </a:rPr>
                          </m:ctrlPr>
                        </m:fPr>
                        <m:num>
                          <m:d>
                            <m:dPr>
                              <m:begChr m:val="|"/>
                              <m:endChr m:val=""/>
                              <m:ctrlPr>
                                <a:rPr lang="zh-CN" altLang="en-US" sz="2800" i="1">
                                  <a:solidFill>
                                    <a:srgbClr val="000000"/>
                                  </a:solidFill>
                                  <a:latin typeface="Cambria Math" panose="02040503050406030204" pitchFamily="18" charset="0"/>
                                </a:rPr>
                              </m:ctrlPr>
                            </m:dPr>
                            <m:e>
                              <m:d>
                                <m:dPr>
                                  <m:begChr m:val=""/>
                                  <m:endChr m:val="|"/>
                                  <m:ctrlPr>
                                    <a:rPr lang="zh-CN" altLang="en-US" sz="2800" i="1">
                                      <a:solidFill>
                                        <a:srgbClr val="000000"/>
                                      </a:solidFill>
                                      <a:latin typeface="Cambria Math" panose="02040503050406030204" pitchFamily="18" charset="0"/>
                                    </a:rPr>
                                  </m:ctrlPr>
                                </m:dPr>
                                <m:e>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𝐷𝐴</m:t>
                                      </m:r>
                                    </m:sub>
                                  </m:sSub>
                                </m:e>
                              </m:d>
                            </m:e>
                          </m:d>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𝐵𝐶</m:t>
                              </m:r>
                            </m:sub>
                          </m:sSub>
                        </m:den>
                      </m:f>
                    </m:oMath>
                    <m:oMath xmlns:m="http://schemas.openxmlformats.org/officeDocument/2006/math">
                      <m:r>
                        <a:rPr lang="zh-CN" altLang="en-US" sz="2800" i="1">
                          <a:solidFill>
                            <a:srgbClr val="000000"/>
                          </a:solidFill>
                          <a:latin typeface="Cambria Math" panose="02040503050406030204" pitchFamily="18" charset="0"/>
                        </a:rPr>
                        <m:t>=1−</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𝜈</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𝐶</m:t>
                              </m:r>
                            </m:e>
                            <m:sub>
                              <m:r>
                                <a:rPr lang="zh-CN" altLang="en-US" sz="2800" i="1">
                                  <a:solidFill>
                                    <a:srgbClr val="000000"/>
                                  </a:solidFill>
                                  <a:latin typeface="Cambria Math" panose="02040503050406030204" pitchFamily="18" charset="0"/>
                                </a:rPr>
                                <m:t>𝑉</m:t>
                              </m:r>
                              <m:r>
                                <a:rPr lang="zh-CN" altLang="en-US" sz="2800" i="1">
                                  <a:solidFill>
                                    <a:srgbClr val="000000"/>
                                  </a:solidFill>
                                  <a:latin typeface="Cambria Math" panose="02040503050406030204" pitchFamily="18" charset="0"/>
                                </a:rPr>
                                <m:t>,</m:t>
                              </m:r>
                              <m:r>
                                <m:rPr>
                                  <m:sty m:val="p"/>
                                </m:rPr>
                                <a:rPr lang="zh-CN" altLang="en-US" sz="2800" i="0">
                                  <a:solidFill>
                                    <a:srgbClr val="000000"/>
                                  </a:solidFill>
                                  <a:latin typeface="Cambria Math" panose="02040503050406030204" pitchFamily="18" charset="0"/>
                                </a:rPr>
                                <m:t>m</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𝐷</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𝐴</m:t>
                              </m:r>
                            </m:sub>
                          </m:sSub>
                          <m:r>
                            <a:rPr lang="zh-CN" altLang="en-US" sz="2800" i="1">
                              <a:solidFill>
                                <a:srgbClr val="000000"/>
                              </a:solidFill>
                              <a:latin typeface="Cambria Math" panose="02040503050406030204" pitchFamily="18" charset="0"/>
                            </a:rPr>
                            <m:t>)</m:t>
                          </m:r>
                        </m:num>
                        <m:den>
                          <m:r>
                            <a:rPr lang="zh-CN" altLang="en-US" sz="2800" i="1">
                              <a:solidFill>
                                <a:srgbClr val="000000"/>
                              </a:solidFill>
                              <a:latin typeface="Cambria Math" panose="02040503050406030204" pitchFamily="18" charset="0"/>
                            </a:rPr>
                            <m:t>𝜈</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𝐶</m:t>
                              </m:r>
                            </m:e>
                            <m:sub>
                              <m:r>
                                <a:rPr lang="zh-CN" altLang="en-US" sz="2800" i="1">
                                  <a:solidFill>
                                    <a:srgbClr val="000000"/>
                                  </a:solidFill>
                                  <a:latin typeface="Cambria Math" panose="02040503050406030204" pitchFamily="18" charset="0"/>
                                </a:rPr>
                                <m:t>𝑉</m:t>
                              </m:r>
                              <m:r>
                                <a:rPr lang="zh-CN" altLang="en-US" sz="2800" i="1">
                                  <a:solidFill>
                                    <a:srgbClr val="000000"/>
                                  </a:solidFill>
                                  <a:latin typeface="Cambria Math" panose="02040503050406030204" pitchFamily="18" charset="0"/>
                                </a:rPr>
                                <m:t>,</m:t>
                              </m:r>
                              <m:r>
                                <m:rPr>
                                  <m:sty m:val="p"/>
                                </m:rPr>
                                <a:rPr lang="zh-CN" altLang="en-US" sz="2800" i="0">
                                  <a:solidFill>
                                    <a:srgbClr val="000000"/>
                                  </a:solidFill>
                                  <a:latin typeface="Cambria Math" panose="02040503050406030204" pitchFamily="18" charset="0"/>
                                </a:rPr>
                                <m:t>m</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𝐶</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𝐵</m:t>
                              </m:r>
                            </m:sub>
                          </m:sSub>
                          <m:r>
                            <a:rPr lang="zh-CN" altLang="en-US" sz="2800" i="1">
                              <a:solidFill>
                                <a:srgbClr val="000000"/>
                              </a:solidFill>
                              <a:latin typeface="Cambria Math" panose="02040503050406030204" pitchFamily="18" charset="0"/>
                            </a:rPr>
                            <m:t>)</m:t>
                          </m:r>
                        </m:den>
                      </m:f>
                    </m:oMath>
                    <m:oMath xmlns:m="http://schemas.openxmlformats.org/officeDocument/2006/math">
                      <m:r>
                        <a:rPr lang="zh-CN" altLang="en-US" sz="2800" i="1">
                          <a:solidFill>
                            <a:srgbClr val="000000"/>
                          </a:solidFill>
                          <a:latin typeface="Cambria Math" panose="02040503050406030204" pitchFamily="18" charset="0"/>
                        </a:rPr>
                        <m:t>=1−</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𝐷</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𝐴</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𝐶</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𝐵</m:t>
                              </m:r>
                            </m:sub>
                          </m:sSub>
                        </m:den>
                      </m:f>
                    </m:oMath>
                  </m:oMathPara>
                </a14:m>
                <a:endParaRPr lang="zh-CN" altLang="en-US" sz="2800" dirty="0"/>
              </a:p>
            </p:txBody>
          </p:sp>
        </mc:Choice>
        <mc:Fallback xmlns="">
          <p:sp>
            <p:nvSpPr>
              <p:cNvPr id="460804" name="Object 4"/>
              <p:cNvSpPr txBox="1">
                <a:spLocks noRot="1" noChangeAspect="1" noMove="1" noResize="1" noEditPoints="1" noAdjustHandles="1" noChangeArrowheads="1" noChangeShapeType="1" noTextEdit="1"/>
              </p:cNvSpPr>
              <p:nvPr/>
            </p:nvSpPr>
            <p:spPr>
              <a:xfrm>
                <a:off x="549236" y="1637506"/>
                <a:ext cx="3936922" cy="3371850"/>
              </a:xfrm>
              <a:prstGeom prst="rect">
                <a:avLst/>
              </a:prstGeom>
              <a:blipFill>
                <a:blip r:embed="rId2"/>
                <a:stretch>
                  <a:fillRect/>
                </a:stretch>
              </a:blipFill>
              <a:ln w="38100">
                <a:noFill/>
                <a:miter/>
              </a:ln>
            </p:spPr>
            <p:txBody>
              <a:bodyPr/>
              <a:lstStyle/>
              <a:p>
                <a:r>
                  <a:rPr lang="zh-CN" altLang="en-US">
                    <a:noFill/>
                  </a:rPr>
                  <a:t> </a:t>
                </a:r>
              </a:p>
            </p:txBody>
          </p:sp>
        </mc:Fallback>
      </mc:AlternateContent>
      <p:grpSp>
        <p:nvGrpSpPr>
          <p:cNvPr id="8197" name="Group 5"/>
          <p:cNvGrpSpPr/>
          <p:nvPr/>
        </p:nvGrpSpPr>
        <p:grpSpPr>
          <a:xfrm>
            <a:off x="8489825" y="1669462"/>
            <a:ext cx="3529012" cy="3582988"/>
            <a:chOff x="3333" y="1534"/>
            <a:chExt cx="2223" cy="2257"/>
          </a:xfrm>
        </p:grpSpPr>
        <p:grpSp>
          <p:nvGrpSpPr>
            <p:cNvPr id="8198" name="Group 6"/>
            <p:cNvGrpSpPr/>
            <p:nvPr/>
          </p:nvGrpSpPr>
          <p:grpSpPr>
            <a:xfrm>
              <a:off x="3333" y="1534"/>
              <a:ext cx="2223" cy="2257"/>
              <a:chOff x="3333" y="1534"/>
              <a:chExt cx="2223" cy="2257"/>
            </a:xfrm>
          </p:grpSpPr>
          <p:sp>
            <p:nvSpPr>
              <p:cNvPr id="8200" name="Text Box 7"/>
              <p:cNvSpPr txBox="1"/>
              <p:nvPr/>
            </p:nvSpPr>
            <p:spPr>
              <a:xfrm>
                <a:off x="4256" y="3311"/>
                <a:ext cx="116" cy="365"/>
              </a:xfrm>
              <a:prstGeom prst="rect">
                <a:avLst/>
              </a:prstGeom>
              <a:noFill/>
              <a:ln w="9525">
                <a:noFill/>
              </a:ln>
            </p:spPr>
            <p:txBody>
              <a:bodyPr wrap="none">
                <a:spAutoFit/>
              </a:bodyPr>
              <a:lstStyle/>
              <a:p>
                <a:pPr eaLnBrk="1" hangingPunct="1"/>
                <a:endParaRPr lang="zh-CN" altLang="zh-CN" sz="3200" dirty="0">
                  <a:solidFill>
                    <a:srgbClr val="1C1C1C"/>
                  </a:solidFill>
                  <a:latin typeface="Times New Roman" panose="02020603050405020304" pitchFamily="18" charset="0"/>
                </a:endParaRPr>
              </a:p>
            </p:txBody>
          </p:sp>
          <p:sp>
            <p:nvSpPr>
              <p:cNvPr id="8201" name="AutoShape 8"/>
              <p:cNvSpPr/>
              <p:nvPr/>
            </p:nvSpPr>
            <p:spPr>
              <a:xfrm>
                <a:off x="3742" y="2007"/>
                <a:ext cx="363" cy="398"/>
              </a:xfrm>
              <a:prstGeom prst="rightArrow">
                <a:avLst>
                  <a:gd name="adj1" fmla="val 50000"/>
                  <a:gd name="adj2" fmla="val 25000"/>
                </a:avLst>
              </a:prstGeom>
              <a:solidFill>
                <a:srgbClr val="FFFFFF"/>
              </a:solidFill>
              <a:ln w="9525" cap="flat" cmpd="sng">
                <a:solidFill>
                  <a:schemeClr val="tx1"/>
                </a:solidFill>
                <a:prstDash val="solid"/>
                <a:miter/>
                <a:headEnd type="none" w="med" len="med"/>
                <a:tailEnd type="none" w="med" len="med"/>
              </a:ln>
            </p:spPr>
            <p:txBody>
              <a:bodyPr wrap="none" anchor="ctr" anchorCtr="0"/>
              <a:lstStyle/>
              <a:p>
                <a:pPr algn="ctr" eaLnBrk="1" hangingPunct="1"/>
                <a:r>
                  <a:rPr lang="zh-CN" altLang="en-US" sz="2800" dirty="0">
                    <a:solidFill>
                      <a:srgbClr val="000099"/>
                    </a:solidFill>
                    <a:latin typeface="Times New Roman" panose="02020603050405020304" pitchFamily="18" charset="0"/>
                  </a:rPr>
                  <a:t>吸</a:t>
                </a:r>
              </a:p>
            </p:txBody>
          </p:sp>
          <p:sp>
            <p:nvSpPr>
              <p:cNvPr id="8202" name="AutoShape 9"/>
              <p:cNvSpPr/>
              <p:nvPr/>
            </p:nvSpPr>
            <p:spPr>
              <a:xfrm>
                <a:off x="5153" y="2595"/>
                <a:ext cx="403" cy="444"/>
              </a:xfrm>
              <a:prstGeom prst="rightArrow">
                <a:avLst>
                  <a:gd name="adj1" fmla="val 50000"/>
                  <a:gd name="adj2" fmla="val 25000"/>
                </a:avLst>
              </a:prstGeom>
              <a:solidFill>
                <a:srgbClr val="FFFFFF"/>
              </a:solidFill>
              <a:ln w="9525" cap="flat" cmpd="sng">
                <a:solidFill>
                  <a:schemeClr val="tx1"/>
                </a:solidFill>
                <a:prstDash val="solid"/>
                <a:miter/>
                <a:headEnd type="none" w="med" len="med"/>
                <a:tailEnd type="none" w="med" len="med"/>
              </a:ln>
            </p:spPr>
            <p:txBody>
              <a:bodyPr wrap="none" anchor="ctr" anchorCtr="0"/>
              <a:lstStyle/>
              <a:p>
                <a:pPr algn="ctr" eaLnBrk="1" hangingPunct="1"/>
                <a:r>
                  <a:rPr lang="zh-CN" altLang="en-US" sz="2800" dirty="0">
                    <a:solidFill>
                      <a:srgbClr val="000099"/>
                    </a:solidFill>
                    <a:latin typeface="Times New Roman" panose="02020603050405020304" pitchFamily="18" charset="0"/>
                  </a:rPr>
                  <a:t>放</a:t>
                </a:r>
              </a:p>
            </p:txBody>
          </p:sp>
          <p:sp>
            <p:nvSpPr>
              <p:cNvPr id="8203" name="Line 10"/>
              <p:cNvSpPr/>
              <p:nvPr/>
            </p:nvSpPr>
            <p:spPr>
              <a:xfrm flipV="1">
                <a:off x="3669" y="1678"/>
                <a:ext cx="0" cy="1753"/>
              </a:xfrm>
              <a:prstGeom prst="line">
                <a:avLst/>
              </a:prstGeom>
              <a:ln w="19050" cap="flat" cmpd="sng">
                <a:solidFill>
                  <a:schemeClr val="tx1"/>
                </a:solidFill>
                <a:prstDash val="solid"/>
                <a:headEnd type="none" w="med" len="med"/>
                <a:tailEnd type="triangle" w="sm" len="lg"/>
              </a:ln>
            </p:spPr>
          </p:sp>
          <p:sp>
            <p:nvSpPr>
              <p:cNvPr id="8204" name="Line 11"/>
              <p:cNvSpPr/>
              <p:nvPr/>
            </p:nvSpPr>
            <p:spPr>
              <a:xfrm flipV="1">
                <a:off x="3669" y="3406"/>
                <a:ext cx="1872" cy="4"/>
              </a:xfrm>
              <a:prstGeom prst="line">
                <a:avLst/>
              </a:prstGeom>
              <a:ln w="19050" cap="flat" cmpd="sng">
                <a:solidFill>
                  <a:schemeClr val="tx1"/>
                </a:solidFill>
                <a:prstDash val="solid"/>
                <a:headEnd type="none" w="med" len="med"/>
                <a:tailEnd type="triangle" w="sm" len="lg"/>
              </a:ln>
            </p:spPr>
          </p:sp>
          <p:sp>
            <p:nvSpPr>
              <p:cNvPr id="8205" name="Text Box 12"/>
              <p:cNvSpPr txBox="1"/>
              <p:nvPr/>
            </p:nvSpPr>
            <p:spPr>
              <a:xfrm>
                <a:off x="3957" y="1726"/>
                <a:ext cx="265" cy="327"/>
              </a:xfrm>
              <a:prstGeom prst="rect">
                <a:avLst/>
              </a:prstGeom>
              <a:noFill/>
              <a:ln w="38100">
                <a:noFill/>
              </a:ln>
            </p:spPr>
            <p:txBody>
              <a:bodyPr wrap="none">
                <a:spAutoFit/>
              </a:bodyPr>
              <a:lstStyle/>
              <a:p>
                <a:pPr eaLnBrk="1" hangingPunct="1"/>
                <a:r>
                  <a:rPr lang="en-US" altLang="zh-CN" sz="2800" i="1" dirty="0">
                    <a:solidFill>
                      <a:schemeClr val="tx2"/>
                    </a:solidFill>
                    <a:latin typeface="Times New Roman" panose="02020603050405020304" pitchFamily="18" charset="0"/>
                  </a:rPr>
                  <a:t>C</a:t>
                </a:r>
              </a:p>
            </p:txBody>
          </p:sp>
          <p:sp>
            <p:nvSpPr>
              <p:cNvPr id="8206" name="Text Box 13"/>
              <p:cNvSpPr txBox="1"/>
              <p:nvPr/>
            </p:nvSpPr>
            <p:spPr>
              <a:xfrm>
                <a:off x="5013" y="2350"/>
                <a:ext cx="278" cy="327"/>
              </a:xfrm>
              <a:prstGeom prst="rect">
                <a:avLst/>
              </a:prstGeom>
              <a:noFill/>
              <a:ln w="38100">
                <a:noFill/>
              </a:ln>
            </p:spPr>
            <p:txBody>
              <a:bodyPr wrap="none">
                <a:spAutoFit/>
              </a:bodyPr>
              <a:lstStyle/>
              <a:p>
                <a:pPr eaLnBrk="1" hangingPunct="1"/>
                <a:r>
                  <a:rPr lang="en-US" altLang="zh-CN" sz="2800" i="1" dirty="0">
                    <a:solidFill>
                      <a:schemeClr val="tx2"/>
                    </a:solidFill>
                    <a:latin typeface="Times New Roman" panose="02020603050405020304" pitchFamily="18" charset="0"/>
                  </a:rPr>
                  <a:t>D</a:t>
                </a:r>
              </a:p>
            </p:txBody>
          </p:sp>
          <p:sp>
            <p:nvSpPr>
              <p:cNvPr id="8207" name="Text Box 14"/>
              <p:cNvSpPr txBox="1"/>
              <p:nvPr/>
            </p:nvSpPr>
            <p:spPr>
              <a:xfrm>
                <a:off x="3909" y="2398"/>
                <a:ext cx="253" cy="327"/>
              </a:xfrm>
              <a:prstGeom prst="rect">
                <a:avLst/>
              </a:prstGeom>
              <a:noFill/>
              <a:ln w="38100">
                <a:noFill/>
              </a:ln>
            </p:spPr>
            <p:txBody>
              <a:bodyPr wrap="none">
                <a:spAutoFit/>
              </a:bodyPr>
              <a:lstStyle/>
              <a:p>
                <a:pPr eaLnBrk="1" hangingPunct="1"/>
                <a:r>
                  <a:rPr lang="en-US" altLang="zh-CN" sz="2800" i="1" dirty="0">
                    <a:solidFill>
                      <a:schemeClr val="tx2"/>
                    </a:solidFill>
                    <a:latin typeface="Times New Roman" panose="02020603050405020304" pitchFamily="18" charset="0"/>
                  </a:rPr>
                  <a:t>B</a:t>
                </a:r>
              </a:p>
            </p:txBody>
          </p:sp>
          <p:sp>
            <p:nvSpPr>
              <p:cNvPr id="8208" name="Text Box 15"/>
              <p:cNvSpPr txBox="1"/>
              <p:nvPr/>
            </p:nvSpPr>
            <p:spPr>
              <a:xfrm>
                <a:off x="5061" y="2926"/>
                <a:ext cx="253" cy="327"/>
              </a:xfrm>
              <a:prstGeom prst="rect">
                <a:avLst/>
              </a:prstGeom>
              <a:noFill/>
              <a:ln w="38100">
                <a:noFill/>
              </a:ln>
            </p:spPr>
            <p:txBody>
              <a:bodyPr wrap="none">
                <a:spAutoFit/>
              </a:bodyPr>
              <a:lstStyle/>
              <a:p>
                <a:pPr eaLnBrk="1" hangingPunct="1"/>
                <a:r>
                  <a:rPr lang="en-US" altLang="zh-CN" sz="2800" i="1" dirty="0">
                    <a:solidFill>
                      <a:schemeClr val="tx2"/>
                    </a:solidFill>
                    <a:latin typeface="Times New Roman" panose="02020603050405020304" pitchFamily="18" charset="0"/>
                  </a:rPr>
                  <a:t>A</a:t>
                </a:r>
              </a:p>
            </p:txBody>
          </p:sp>
          <p:sp>
            <p:nvSpPr>
              <p:cNvPr id="8209" name="Text Box 16"/>
              <p:cNvSpPr txBox="1"/>
              <p:nvPr/>
            </p:nvSpPr>
            <p:spPr>
              <a:xfrm>
                <a:off x="3333" y="1534"/>
                <a:ext cx="336" cy="365"/>
              </a:xfrm>
              <a:prstGeom prst="rect">
                <a:avLst/>
              </a:prstGeom>
              <a:noFill/>
              <a:ln w="9525">
                <a:noFill/>
              </a:ln>
            </p:spPr>
            <p:txBody>
              <a:bodyPr>
                <a:spAutoFit/>
              </a:bodyPr>
              <a:lstStyle/>
              <a:p>
                <a:pPr eaLnBrk="1" hangingPunct="1">
                  <a:spcBef>
                    <a:spcPct val="50000"/>
                  </a:spcBef>
                </a:pPr>
                <a:r>
                  <a:rPr lang="en-US" altLang="zh-CN" sz="3200" i="1" dirty="0">
                    <a:solidFill>
                      <a:schemeClr val="tx2"/>
                    </a:solidFill>
                    <a:latin typeface="Times New Roman" panose="02020603050405020304" pitchFamily="18" charset="0"/>
                  </a:rPr>
                  <a:t>p</a:t>
                </a:r>
              </a:p>
            </p:txBody>
          </p:sp>
          <p:sp>
            <p:nvSpPr>
              <p:cNvPr id="8210" name="Line 17"/>
              <p:cNvSpPr/>
              <p:nvPr/>
            </p:nvSpPr>
            <p:spPr>
              <a:xfrm flipV="1">
                <a:off x="4149" y="2014"/>
                <a:ext cx="0" cy="384"/>
              </a:xfrm>
              <a:prstGeom prst="line">
                <a:avLst/>
              </a:prstGeom>
              <a:ln w="25400" cap="flat" cmpd="sng">
                <a:solidFill>
                  <a:srgbClr val="FF0000"/>
                </a:solidFill>
                <a:prstDash val="solid"/>
                <a:headEnd type="none" w="med" len="med"/>
                <a:tailEnd type="none" w="med" len="med"/>
              </a:ln>
            </p:spPr>
          </p:sp>
          <p:sp>
            <p:nvSpPr>
              <p:cNvPr id="8211" name="Line 18"/>
              <p:cNvSpPr/>
              <p:nvPr/>
            </p:nvSpPr>
            <p:spPr>
              <a:xfrm flipV="1">
                <a:off x="5061" y="2638"/>
                <a:ext cx="0" cy="384"/>
              </a:xfrm>
              <a:prstGeom prst="line">
                <a:avLst/>
              </a:prstGeom>
              <a:ln w="25400" cap="flat" cmpd="sng">
                <a:solidFill>
                  <a:srgbClr val="FF0000"/>
                </a:solidFill>
                <a:prstDash val="solid"/>
                <a:headEnd type="none" w="med" len="med"/>
                <a:tailEnd type="none" w="med" len="med"/>
              </a:ln>
            </p:spPr>
          </p:sp>
          <p:sp>
            <p:nvSpPr>
              <p:cNvPr id="8212" name="Freeform 19"/>
              <p:cNvSpPr/>
              <p:nvPr/>
            </p:nvSpPr>
            <p:spPr>
              <a:xfrm>
                <a:off x="4149" y="2014"/>
                <a:ext cx="912" cy="624"/>
              </a:xfrm>
              <a:custGeom>
                <a:avLst/>
                <a:gdLst>
                  <a:gd name="txL" fmla="*/ 0 w 912"/>
                  <a:gd name="txT" fmla="*/ 0 h 624"/>
                  <a:gd name="txR" fmla="*/ 912 w 912"/>
                  <a:gd name="txB" fmla="*/ 624 h 624"/>
                </a:gdLst>
                <a:ahLst/>
                <a:cxnLst>
                  <a:cxn ang="0">
                    <a:pos x="0" y="0"/>
                  </a:cxn>
                  <a:cxn ang="0">
                    <a:pos x="480" y="432"/>
                  </a:cxn>
                  <a:cxn ang="0">
                    <a:pos x="912" y="624"/>
                  </a:cxn>
                </a:cxnLst>
                <a:rect l="txL" t="txT" r="txR" b="txB"/>
                <a:pathLst>
                  <a:path w="912" h="624">
                    <a:moveTo>
                      <a:pt x="0" y="0"/>
                    </a:moveTo>
                    <a:cubicBezTo>
                      <a:pt x="164" y="164"/>
                      <a:pt x="328" y="328"/>
                      <a:pt x="480" y="432"/>
                    </a:cubicBezTo>
                    <a:cubicBezTo>
                      <a:pt x="632" y="536"/>
                      <a:pt x="772" y="580"/>
                      <a:pt x="912" y="624"/>
                    </a:cubicBezTo>
                  </a:path>
                </a:pathLst>
              </a:custGeom>
              <a:noFill/>
              <a:ln w="25400" cap="flat" cmpd="sng">
                <a:solidFill>
                  <a:srgbClr val="FF0000">
                    <a:alpha val="100000"/>
                  </a:srgbClr>
                </a:solidFill>
                <a:prstDash val="solid"/>
                <a:round/>
                <a:headEnd type="none" w="med" len="med"/>
                <a:tailEnd type="none" w="med" len="med"/>
              </a:ln>
            </p:spPr>
            <p:txBody>
              <a:bodyPr/>
              <a:lstStyle/>
              <a:p>
                <a:endParaRPr lang="zh-CN" altLang="en-US"/>
              </a:p>
            </p:txBody>
          </p:sp>
          <p:sp>
            <p:nvSpPr>
              <p:cNvPr id="8213" name="Freeform 20"/>
              <p:cNvSpPr/>
              <p:nvPr/>
            </p:nvSpPr>
            <p:spPr>
              <a:xfrm>
                <a:off x="4149" y="2398"/>
                <a:ext cx="912" cy="624"/>
              </a:xfrm>
              <a:custGeom>
                <a:avLst/>
                <a:gdLst>
                  <a:gd name="txL" fmla="*/ 0 w 912"/>
                  <a:gd name="txT" fmla="*/ 0 h 624"/>
                  <a:gd name="txR" fmla="*/ 912 w 912"/>
                  <a:gd name="txB" fmla="*/ 624 h 624"/>
                </a:gdLst>
                <a:ahLst/>
                <a:cxnLst>
                  <a:cxn ang="0">
                    <a:pos x="0" y="0"/>
                  </a:cxn>
                  <a:cxn ang="0">
                    <a:pos x="480" y="432"/>
                  </a:cxn>
                  <a:cxn ang="0">
                    <a:pos x="912" y="624"/>
                  </a:cxn>
                </a:cxnLst>
                <a:rect l="txL" t="txT" r="txR" b="txB"/>
                <a:pathLst>
                  <a:path w="912" h="624">
                    <a:moveTo>
                      <a:pt x="0" y="0"/>
                    </a:moveTo>
                    <a:cubicBezTo>
                      <a:pt x="164" y="164"/>
                      <a:pt x="328" y="328"/>
                      <a:pt x="480" y="432"/>
                    </a:cubicBezTo>
                    <a:cubicBezTo>
                      <a:pt x="632" y="536"/>
                      <a:pt x="772" y="580"/>
                      <a:pt x="912" y="624"/>
                    </a:cubicBezTo>
                  </a:path>
                </a:pathLst>
              </a:custGeom>
              <a:noFill/>
              <a:ln w="25400" cap="flat" cmpd="sng">
                <a:solidFill>
                  <a:srgbClr val="FF0000">
                    <a:alpha val="100000"/>
                  </a:srgbClr>
                </a:solidFill>
                <a:prstDash val="solid"/>
                <a:round/>
                <a:headEnd type="none" w="med" len="med"/>
                <a:tailEnd type="none" w="med" len="med"/>
              </a:ln>
            </p:spPr>
            <p:txBody>
              <a:bodyPr/>
              <a:lstStyle/>
              <a:p>
                <a:endParaRPr lang="zh-CN" altLang="en-US"/>
              </a:p>
            </p:txBody>
          </p:sp>
          <p:sp>
            <p:nvSpPr>
              <p:cNvPr id="8214" name="Line 21"/>
              <p:cNvSpPr/>
              <p:nvPr/>
            </p:nvSpPr>
            <p:spPr>
              <a:xfrm>
                <a:off x="4149" y="2398"/>
                <a:ext cx="0" cy="1008"/>
              </a:xfrm>
              <a:prstGeom prst="line">
                <a:avLst/>
              </a:prstGeom>
              <a:ln w="9525" cap="flat" cmpd="sng">
                <a:solidFill>
                  <a:schemeClr val="tx1"/>
                </a:solidFill>
                <a:prstDash val="sysDot"/>
                <a:headEnd type="none" w="med" len="med"/>
                <a:tailEnd type="none" w="med" len="med"/>
              </a:ln>
            </p:spPr>
          </p:sp>
          <p:sp>
            <p:nvSpPr>
              <p:cNvPr id="8215" name="Line 22"/>
              <p:cNvSpPr/>
              <p:nvPr/>
            </p:nvSpPr>
            <p:spPr>
              <a:xfrm>
                <a:off x="5061" y="3022"/>
                <a:ext cx="0" cy="384"/>
              </a:xfrm>
              <a:prstGeom prst="line">
                <a:avLst/>
              </a:prstGeom>
              <a:ln w="9525" cap="flat" cmpd="sng">
                <a:solidFill>
                  <a:schemeClr val="tx1"/>
                </a:solidFill>
                <a:prstDash val="sysDot"/>
                <a:headEnd type="none" w="med" len="med"/>
                <a:tailEnd type="none" w="med" len="med"/>
              </a:ln>
            </p:spPr>
          </p:sp>
          <p:sp>
            <p:nvSpPr>
              <p:cNvPr id="8216" name="Line 23"/>
              <p:cNvSpPr/>
              <p:nvPr/>
            </p:nvSpPr>
            <p:spPr>
              <a:xfrm flipH="1">
                <a:off x="3669" y="2014"/>
                <a:ext cx="480" cy="0"/>
              </a:xfrm>
              <a:prstGeom prst="line">
                <a:avLst/>
              </a:prstGeom>
              <a:ln w="9525" cap="flat" cmpd="sng">
                <a:solidFill>
                  <a:schemeClr val="tx1"/>
                </a:solidFill>
                <a:prstDash val="sysDot"/>
                <a:headEnd type="none" w="med" len="med"/>
                <a:tailEnd type="none" w="med" len="med"/>
              </a:ln>
            </p:spPr>
          </p:sp>
          <p:sp>
            <p:nvSpPr>
              <p:cNvPr id="8217" name="Line 24"/>
              <p:cNvSpPr/>
              <p:nvPr/>
            </p:nvSpPr>
            <p:spPr>
              <a:xfrm flipH="1">
                <a:off x="3669" y="2398"/>
                <a:ext cx="480" cy="0"/>
              </a:xfrm>
              <a:prstGeom prst="line">
                <a:avLst/>
              </a:prstGeom>
              <a:ln w="9525" cap="flat" cmpd="sng">
                <a:solidFill>
                  <a:schemeClr val="tx1"/>
                </a:solidFill>
                <a:prstDash val="sysDot"/>
                <a:headEnd type="none" w="med" len="med"/>
                <a:tailEnd type="none" w="med" len="med"/>
              </a:ln>
            </p:spPr>
          </p:sp>
          <p:sp>
            <p:nvSpPr>
              <p:cNvPr id="8218" name="Line 25"/>
              <p:cNvSpPr/>
              <p:nvPr/>
            </p:nvSpPr>
            <p:spPr>
              <a:xfrm>
                <a:off x="4453" y="2302"/>
                <a:ext cx="144" cy="144"/>
              </a:xfrm>
              <a:prstGeom prst="line">
                <a:avLst/>
              </a:prstGeom>
              <a:ln w="38100" cap="flat" cmpd="sng">
                <a:solidFill>
                  <a:srgbClr val="0033CC"/>
                </a:solidFill>
                <a:prstDash val="solid"/>
                <a:headEnd type="none" w="med" len="med"/>
                <a:tailEnd type="triangle" w="med" len="med"/>
              </a:ln>
            </p:spPr>
          </p:sp>
          <p:sp>
            <p:nvSpPr>
              <p:cNvPr id="8219" name="Line 26"/>
              <p:cNvSpPr/>
              <p:nvPr/>
            </p:nvSpPr>
            <p:spPr>
              <a:xfrm flipH="1" flipV="1">
                <a:off x="4581" y="2814"/>
                <a:ext cx="192" cy="96"/>
              </a:xfrm>
              <a:prstGeom prst="line">
                <a:avLst/>
              </a:prstGeom>
              <a:ln w="38100" cap="flat" cmpd="sng">
                <a:solidFill>
                  <a:srgbClr val="0033CC"/>
                </a:solidFill>
                <a:prstDash val="solid"/>
                <a:headEnd type="none" w="med" len="med"/>
                <a:tailEnd type="triangle" w="med" len="med"/>
              </a:ln>
            </p:spPr>
          </p:sp>
          <p:sp>
            <p:nvSpPr>
              <p:cNvPr id="8220" name="Line 27"/>
              <p:cNvSpPr/>
              <p:nvPr/>
            </p:nvSpPr>
            <p:spPr>
              <a:xfrm flipV="1">
                <a:off x="4149" y="2158"/>
                <a:ext cx="0" cy="192"/>
              </a:xfrm>
              <a:prstGeom prst="line">
                <a:avLst/>
              </a:prstGeom>
              <a:ln w="38100" cap="flat" cmpd="sng">
                <a:solidFill>
                  <a:srgbClr val="0033CC"/>
                </a:solidFill>
                <a:prstDash val="solid"/>
                <a:headEnd type="none" w="med" len="med"/>
                <a:tailEnd type="triangle" w="med" len="med"/>
              </a:ln>
            </p:spPr>
          </p:sp>
          <p:sp>
            <p:nvSpPr>
              <p:cNvPr id="8221" name="Line 28"/>
              <p:cNvSpPr/>
              <p:nvPr/>
            </p:nvSpPr>
            <p:spPr>
              <a:xfrm flipV="1">
                <a:off x="5061" y="2734"/>
                <a:ext cx="0" cy="192"/>
              </a:xfrm>
              <a:prstGeom prst="line">
                <a:avLst/>
              </a:prstGeom>
              <a:ln w="38100" cap="flat" cmpd="sng">
                <a:solidFill>
                  <a:srgbClr val="0033CC"/>
                </a:solidFill>
                <a:prstDash val="solid"/>
                <a:headEnd type="triangle" w="med" len="med"/>
                <a:tailEnd type="none" w="med" len="med"/>
              </a:ln>
            </p:spPr>
          </p:sp>
          <p:sp>
            <p:nvSpPr>
              <p:cNvPr id="8222" name="Text Box 29"/>
              <p:cNvSpPr txBox="1"/>
              <p:nvPr/>
            </p:nvSpPr>
            <p:spPr>
              <a:xfrm>
                <a:off x="4001" y="3374"/>
                <a:ext cx="360" cy="368"/>
              </a:xfrm>
              <a:prstGeom prst="rect">
                <a:avLst/>
              </a:prstGeom>
              <a:noFill/>
              <a:ln w="9525">
                <a:noFill/>
              </a:ln>
            </p:spPr>
            <p:txBody>
              <a:bodyPr wrap="none">
                <a:spAutoFit/>
              </a:bodyPr>
              <a:lstStyle/>
              <a:p>
                <a:pPr eaLnBrk="1" hangingPunct="1"/>
                <a:r>
                  <a:rPr lang="en-US" altLang="zh-CN" sz="3200" i="1" dirty="0">
                    <a:solidFill>
                      <a:srgbClr val="1C1C1C"/>
                    </a:solidFill>
                    <a:latin typeface="Times New Roman" panose="02020603050405020304" pitchFamily="18" charset="0"/>
                  </a:rPr>
                  <a:t>V</a:t>
                </a:r>
                <a:r>
                  <a:rPr lang="en-US" altLang="zh-CN" sz="3200" baseline="-25000" dirty="0">
                    <a:solidFill>
                      <a:srgbClr val="1C1C1C"/>
                    </a:solidFill>
                    <a:latin typeface="Times New Roman" panose="02020603050405020304" pitchFamily="18" charset="0"/>
                  </a:rPr>
                  <a:t>1</a:t>
                </a:r>
              </a:p>
            </p:txBody>
          </p:sp>
          <p:sp>
            <p:nvSpPr>
              <p:cNvPr id="8223" name="Text Box 30"/>
              <p:cNvSpPr txBox="1"/>
              <p:nvPr/>
            </p:nvSpPr>
            <p:spPr>
              <a:xfrm>
                <a:off x="4921" y="3423"/>
                <a:ext cx="360" cy="368"/>
              </a:xfrm>
              <a:prstGeom prst="rect">
                <a:avLst/>
              </a:prstGeom>
              <a:noFill/>
              <a:ln w="9525">
                <a:noFill/>
              </a:ln>
            </p:spPr>
            <p:txBody>
              <a:bodyPr wrap="none">
                <a:spAutoFit/>
              </a:bodyPr>
              <a:lstStyle/>
              <a:p>
                <a:pPr eaLnBrk="1" hangingPunct="1"/>
                <a:r>
                  <a:rPr lang="en-US" altLang="zh-CN" sz="3200" i="1" dirty="0">
                    <a:solidFill>
                      <a:srgbClr val="1C1C1C"/>
                    </a:solidFill>
                    <a:latin typeface="Times New Roman" panose="02020603050405020304" pitchFamily="18" charset="0"/>
                  </a:rPr>
                  <a:t>V</a:t>
                </a:r>
                <a:r>
                  <a:rPr lang="en-US" altLang="zh-CN" sz="3200" baseline="-25000" dirty="0">
                    <a:solidFill>
                      <a:srgbClr val="1C1C1C"/>
                    </a:solidFill>
                    <a:latin typeface="Times New Roman" panose="02020603050405020304" pitchFamily="18" charset="0"/>
                  </a:rPr>
                  <a:t>2</a:t>
                </a:r>
              </a:p>
            </p:txBody>
          </p:sp>
        </p:grpSp>
        <p:sp>
          <p:nvSpPr>
            <p:cNvPr id="8199" name="Text Box 31"/>
            <p:cNvSpPr txBox="1"/>
            <p:nvPr/>
          </p:nvSpPr>
          <p:spPr>
            <a:xfrm>
              <a:off x="3525" y="3380"/>
              <a:ext cx="307" cy="365"/>
            </a:xfrm>
            <a:prstGeom prst="rect">
              <a:avLst/>
            </a:prstGeom>
            <a:noFill/>
            <a:ln w="9525">
              <a:noFill/>
            </a:ln>
          </p:spPr>
          <p:txBody>
            <a:bodyPr>
              <a:spAutoFit/>
            </a:bodyPr>
            <a:lstStyle/>
            <a:p>
              <a:pPr eaLnBrk="1" hangingPunct="1">
                <a:spcBef>
                  <a:spcPct val="50000"/>
                </a:spcBef>
              </a:pPr>
              <a:r>
                <a:rPr lang="en-US" altLang="zh-CN" sz="3200" dirty="0">
                  <a:latin typeface="Times New Roman" panose="02020603050405020304" pitchFamily="18" charset="0"/>
                </a:rPr>
                <a:t>o</a:t>
              </a:r>
            </a:p>
          </p:txBody>
        </p:sp>
      </p:grpSp>
      <p:sp>
        <p:nvSpPr>
          <p:cNvPr id="2" name="Text Box 2">
            <a:extLst>
              <a:ext uri="{FF2B5EF4-FFF2-40B4-BE49-F238E27FC236}">
                <a16:creationId xmlns:a16="http://schemas.microsoft.com/office/drawing/2014/main" id="{4987EB1B-225D-0D08-4ADA-E4CE1BD70399}"/>
              </a:ext>
            </a:extLst>
          </p:cNvPr>
          <p:cNvSpPr txBox="1"/>
          <p:nvPr/>
        </p:nvSpPr>
        <p:spPr>
          <a:xfrm>
            <a:off x="331982" y="4691081"/>
            <a:ext cx="7714395" cy="523220"/>
          </a:xfrm>
          <a:prstGeom prst="rect">
            <a:avLst/>
          </a:prstGeom>
          <a:noFill/>
          <a:ln w="9525">
            <a:noFill/>
          </a:ln>
        </p:spPr>
        <p:txBody>
          <a:bodyPr wrap="square">
            <a:spAutoFit/>
          </a:bodyPr>
          <a:lstStyle/>
          <a:p>
            <a:pPr eaLnBrk="1" hangingPunct="1"/>
            <a:r>
              <a:rPr lang="zh-CN" altLang="en-US" sz="2800" dirty="0">
                <a:solidFill>
                  <a:srgbClr val="1C1C1C"/>
                </a:solidFill>
                <a:latin typeface="宋体" panose="02010600030101010101" pitchFamily="2" charset="-122"/>
              </a:rPr>
              <a:t>又</a:t>
            </a:r>
            <a:r>
              <a:rPr lang="en-US" altLang="zh-CN" sz="2800" dirty="0">
                <a:solidFill>
                  <a:srgbClr val="1C1C1C"/>
                </a:solidFill>
                <a:latin typeface="Times New Roman" panose="02020603050405020304" pitchFamily="18" charset="0"/>
              </a:rPr>
              <a:t>AB</a:t>
            </a:r>
            <a:r>
              <a:rPr lang="zh-CN" altLang="en-US" sz="2800" dirty="0">
                <a:solidFill>
                  <a:srgbClr val="1C1C1C"/>
                </a:solidFill>
                <a:latin typeface="宋体" panose="02010600030101010101" pitchFamily="2" charset="-122"/>
              </a:rPr>
              <a:t>和</a:t>
            </a:r>
            <a:r>
              <a:rPr lang="en-US" altLang="zh-CN" sz="2800" dirty="0">
                <a:solidFill>
                  <a:srgbClr val="1C1C1C"/>
                </a:solidFill>
                <a:latin typeface="Times New Roman" panose="02020603050405020304" pitchFamily="18" charset="0"/>
              </a:rPr>
              <a:t>CD</a:t>
            </a:r>
            <a:r>
              <a:rPr lang="zh-CN" altLang="en-US" sz="2800" dirty="0">
                <a:solidFill>
                  <a:srgbClr val="1C1C1C"/>
                </a:solidFill>
                <a:latin typeface="宋体" panose="02010600030101010101" pitchFamily="2" charset="-122"/>
              </a:rPr>
              <a:t>是绝热过程： </a:t>
            </a:r>
          </a:p>
        </p:txBody>
      </p:sp>
      <mc:AlternateContent xmlns:mc="http://schemas.openxmlformats.org/markup-compatibility/2006" xmlns:a14="http://schemas.microsoft.com/office/drawing/2010/main">
        <mc:Choice Requires="a14">
          <p:sp>
            <p:nvSpPr>
              <p:cNvPr id="3" name="Object 3">
                <a:extLst>
                  <a:ext uri="{FF2B5EF4-FFF2-40B4-BE49-F238E27FC236}">
                    <a16:creationId xmlns:a16="http://schemas.microsoft.com/office/drawing/2014/main" id="{30C10C25-280E-C8B2-E8D7-19138FA1DAD2}"/>
                  </a:ext>
                </a:extLst>
              </p:cNvPr>
              <p:cNvSpPr txBox="1"/>
              <p:nvPr/>
            </p:nvSpPr>
            <p:spPr>
              <a:xfrm>
                <a:off x="466918" y="5345130"/>
                <a:ext cx="3771878" cy="1200150"/>
              </a:xfrm>
              <a:prstGeom prst="rect">
                <a:avLst/>
              </a:prstGeom>
              <a:noFill/>
              <a:ln w="38100">
                <a:miter/>
              </a:ln>
            </p:spPr>
            <p:txBody>
              <a:bodyPr>
                <a:noAutofit/>
              </a:bodyPr>
              <a:lstStyle/>
              <a:p>
                <a:pPr/>
                <a14:m>
                  <m:oMathPara xmlns:m="http://schemas.openxmlformats.org/officeDocument/2006/math">
                    <m:oMathParaPr>
                      <m:jc m:val="left"/>
                    </m:oMathParaPr>
                    <m:oMath xmlns:m="http://schemas.openxmlformats.org/officeDocument/2006/math">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𝐵</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𝐴</m:t>
                              </m:r>
                            </m:sub>
                          </m:sSub>
                        </m:den>
                      </m:f>
                      <m:r>
                        <a:rPr lang="zh-CN" altLang="en-US" sz="2800"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d>
                            <m:dPr>
                              <m:ctrlPr>
                                <a:rPr lang="zh-CN" altLang="en-US" sz="2800" i="1">
                                  <a:solidFill>
                                    <a:srgbClr val="000000"/>
                                  </a:solidFill>
                                  <a:latin typeface="Cambria Math" panose="02040503050406030204" pitchFamily="18" charset="0"/>
                                </a:rPr>
                              </m:ctrlPr>
                            </m:dPr>
                            <m:e>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2</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1</m:t>
                                      </m:r>
                                    </m:sub>
                                  </m:sSub>
                                </m:den>
                              </m:f>
                            </m:e>
                          </m:d>
                        </m:e>
                        <m:sup>
                          <m:r>
                            <a:rPr lang="zh-CN" altLang="en-US" sz="2800" i="1">
                              <a:solidFill>
                                <a:srgbClr val="000000"/>
                              </a:solidFill>
                              <a:latin typeface="Cambria Math" panose="02040503050406030204" pitchFamily="18" charset="0"/>
                            </a:rPr>
                            <m:t>𝛾</m:t>
                          </m:r>
                          <m:r>
                            <a:rPr lang="zh-CN" altLang="en-US" sz="2800" i="1">
                              <a:solidFill>
                                <a:srgbClr val="000000"/>
                              </a:solidFill>
                              <a:latin typeface="Cambria Math" panose="02040503050406030204" pitchFamily="18" charset="0"/>
                            </a:rPr>
                            <m:t>−1</m:t>
                          </m:r>
                        </m:sup>
                      </m:sSup>
                      <m:r>
                        <a:rPr lang="zh-CN" altLang="en-US" sz="2800" i="1">
                          <a:solidFill>
                            <a:srgbClr val="000000"/>
                          </a:solidFill>
                          <a:latin typeface="Cambria Math" panose="02040503050406030204" pitchFamily="18" charset="0"/>
                        </a:rPr>
                        <m:t>,</m:t>
                      </m:r>
                    </m:oMath>
                  </m:oMathPara>
                </a14:m>
                <a:endParaRPr lang="zh-CN" altLang="en-US" sz="2800" dirty="0"/>
              </a:p>
            </p:txBody>
          </p:sp>
        </mc:Choice>
        <mc:Fallback xmlns="">
          <p:sp>
            <p:nvSpPr>
              <p:cNvPr id="3" name="Object 3">
                <a:extLst>
                  <a:ext uri="{FF2B5EF4-FFF2-40B4-BE49-F238E27FC236}">
                    <a16:creationId xmlns:a16="http://schemas.microsoft.com/office/drawing/2014/main" id="{30C10C25-280E-C8B2-E8D7-19138FA1DAD2}"/>
                  </a:ext>
                </a:extLst>
              </p:cNvPr>
              <p:cNvSpPr txBox="1">
                <a:spLocks noRot="1" noChangeAspect="1" noMove="1" noResize="1" noEditPoints="1" noAdjustHandles="1" noChangeArrowheads="1" noChangeShapeType="1" noTextEdit="1"/>
              </p:cNvSpPr>
              <p:nvPr/>
            </p:nvSpPr>
            <p:spPr>
              <a:xfrm>
                <a:off x="466918" y="5345130"/>
                <a:ext cx="3771878" cy="1200150"/>
              </a:xfrm>
              <a:prstGeom prst="rect">
                <a:avLst/>
              </a:prstGeom>
              <a:blipFill>
                <a:blip r:embed="rId3"/>
                <a:stretch>
                  <a:fillRect/>
                </a:stretch>
              </a:blipFill>
              <a:ln w="38100">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Object 4">
                <a:extLst>
                  <a:ext uri="{FF2B5EF4-FFF2-40B4-BE49-F238E27FC236}">
                    <a16:creationId xmlns:a16="http://schemas.microsoft.com/office/drawing/2014/main" id="{F7B8213B-DF25-5AC8-5578-F71FF84CDCE4}"/>
                  </a:ext>
                </a:extLst>
              </p:cNvPr>
              <p:cNvSpPr txBox="1"/>
              <p:nvPr/>
            </p:nvSpPr>
            <p:spPr>
              <a:xfrm>
                <a:off x="2978309" y="5320032"/>
                <a:ext cx="3511549" cy="1185863"/>
              </a:xfrm>
              <a:prstGeom prst="rect">
                <a:avLst/>
              </a:prstGeom>
              <a:noFill/>
              <a:ln w="38100">
                <a:miter/>
              </a:ln>
            </p:spPr>
            <p:txBody>
              <a:bodyPr>
                <a:noAutofit/>
              </a:bodyPr>
              <a:lstStyle/>
              <a:p>
                <a:pPr/>
                <a14:m>
                  <m:oMathPara xmlns:m="http://schemas.openxmlformats.org/officeDocument/2006/math">
                    <m:oMathParaPr>
                      <m:jc m:val="left"/>
                    </m:oMathParaPr>
                    <m:oMath xmlns:m="http://schemas.openxmlformats.org/officeDocument/2006/math">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𝐶</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𝐷</m:t>
                              </m:r>
                            </m:sub>
                          </m:sSub>
                        </m:den>
                      </m:f>
                      <m:r>
                        <a:rPr lang="zh-CN" altLang="en-US" sz="2800"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d>
                            <m:dPr>
                              <m:ctrlPr>
                                <a:rPr lang="zh-CN" altLang="en-US" sz="2800" i="1">
                                  <a:solidFill>
                                    <a:srgbClr val="000000"/>
                                  </a:solidFill>
                                  <a:latin typeface="Cambria Math" panose="02040503050406030204" pitchFamily="18" charset="0"/>
                                </a:rPr>
                              </m:ctrlPr>
                            </m:dPr>
                            <m:e>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2</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1</m:t>
                                      </m:r>
                                    </m:sub>
                                  </m:sSub>
                                </m:den>
                              </m:f>
                            </m:e>
                          </m:d>
                        </m:e>
                        <m:sup>
                          <m:r>
                            <a:rPr lang="zh-CN" altLang="en-US" sz="2800" i="1">
                              <a:solidFill>
                                <a:srgbClr val="000000"/>
                              </a:solidFill>
                              <a:latin typeface="Cambria Math" panose="02040503050406030204" pitchFamily="18" charset="0"/>
                            </a:rPr>
                            <m:t>𝛾</m:t>
                          </m:r>
                          <m:r>
                            <a:rPr lang="zh-CN" altLang="en-US" sz="2800" i="1">
                              <a:solidFill>
                                <a:srgbClr val="000000"/>
                              </a:solidFill>
                              <a:latin typeface="Cambria Math" panose="02040503050406030204" pitchFamily="18" charset="0"/>
                            </a:rPr>
                            <m:t>−1</m:t>
                          </m:r>
                        </m:sup>
                      </m:sSup>
                    </m:oMath>
                  </m:oMathPara>
                </a14:m>
                <a:endParaRPr lang="zh-CN" altLang="en-US" sz="2800" dirty="0"/>
              </a:p>
            </p:txBody>
          </p:sp>
        </mc:Choice>
        <mc:Fallback xmlns="">
          <p:sp>
            <p:nvSpPr>
              <p:cNvPr id="4" name="Object 4">
                <a:extLst>
                  <a:ext uri="{FF2B5EF4-FFF2-40B4-BE49-F238E27FC236}">
                    <a16:creationId xmlns:a16="http://schemas.microsoft.com/office/drawing/2014/main" id="{F7B8213B-DF25-5AC8-5578-F71FF84CDCE4}"/>
                  </a:ext>
                </a:extLst>
              </p:cNvPr>
              <p:cNvSpPr txBox="1">
                <a:spLocks noRot="1" noChangeAspect="1" noMove="1" noResize="1" noEditPoints="1" noAdjustHandles="1" noChangeArrowheads="1" noChangeShapeType="1" noTextEdit="1"/>
              </p:cNvSpPr>
              <p:nvPr/>
            </p:nvSpPr>
            <p:spPr>
              <a:xfrm>
                <a:off x="2978309" y="5320032"/>
                <a:ext cx="3511549" cy="1185863"/>
              </a:xfrm>
              <a:prstGeom prst="rect">
                <a:avLst/>
              </a:prstGeom>
              <a:blipFill>
                <a:blip r:embed="rId4"/>
                <a:stretch>
                  <a:fillRect/>
                </a:stretch>
              </a:blipFill>
              <a:ln w="38100">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Object 5">
                <a:extLst>
                  <a:ext uri="{FF2B5EF4-FFF2-40B4-BE49-F238E27FC236}">
                    <a16:creationId xmlns:a16="http://schemas.microsoft.com/office/drawing/2014/main" id="{B2CF89A9-488E-A4C7-31F0-B9E941FD47A4}"/>
                  </a:ext>
                </a:extLst>
              </p:cNvPr>
              <p:cNvSpPr txBox="1"/>
              <p:nvPr/>
            </p:nvSpPr>
            <p:spPr>
              <a:xfrm>
                <a:off x="5768136" y="1787827"/>
                <a:ext cx="2504944" cy="1071562"/>
              </a:xfrm>
              <a:prstGeom prst="rect">
                <a:avLst/>
              </a:prstGeom>
              <a:noFill/>
              <a:ln w="38100">
                <a:miter/>
              </a:ln>
            </p:spPr>
            <p:txBody>
              <a:bodyPr>
                <a:noAutofit/>
              </a:bodyPr>
              <a:lstStyle/>
              <a:p>
                <a:pPr/>
                <a14:m>
                  <m:oMathPara xmlns:m="http://schemas.openxmlformats.org/officeDocument/2006/math">
                    <m:oMathParaPr>
                      <m:jc m:val="left"/>
                    </m:oMathParaPr>
                    <m:oMath xmlns:m="http://schemas.openxmlformats.org/officeDocument/2006/math">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𝐵</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𝐴</m:t>
                              </m:r>
                            </m:sub>
                          </m:sSub>
                        </m:den>
                      </m:f>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𝐶</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𝐷</m:t>
                              </m:r>
                            </m:sub>
                          </m:sSub>
                        </m:den>
                      </m:f>
                    </m:oMath>
                  </m:oMathPara>
                </a14:m>
                <a:endParaRPr lang="zh-CN" altLang="en-US" sz="2800" dirty="0"/>
              </a:p>
            </p:txBody>
          </p:sp>
        </mc:Choice>
        <mc:Fallback xmlns="">
          <p:sp>
            <p:nvSpPr>
              <p:cNvPr id="5" name="Object 5">
                <a:extLst>
                  <a:ext uri="{FF2B5EF4-FFF2-40B4-BE49-F238E27FC236}">
                    <a16:creationId xmlns:a16="http://schemas.microsoft.com/office/drawing/2014/main" id="{B2CF89A9-488E-A4C7-31F0-B9E941FD47A4}"/>
                  </a:ext>
                </a:extLst>
              </p:cNvPr>
              <p:cNvSpPr txBox="1">
                <a:spLocks noRot="1" noChangeAspect="1" noMove="1" noResize="1" noEditPoints="1" noAdjustHandles="1" noChangeArrowheads="1" noChangeShapeType="1" noTextEdit="1"/>
              </p:cNvSpPr>
              <p:nvPr/>
            </p:nvSpPr>
            <p:spPr>
              <a:xfrm>
                <a:off x="5768136" y="1787827"/>
                <a:ext cx="2504944" cy="1071562"/>
              </a:xfrm>
              <a:prstGeom prst="rect">
                <a:avLst/>
              </a:prstGeom>
              <a:blipFill>
                <a:blip r:embed="rId5"/>
                <a:stretch>
                  <a:fillRect/>
                </a:stretch>
              </a:blipFill>
              <a:ln w="38100">
                <a:miter/>
              </a:ln>
            </p:spPr>
            <p:txBody>
              <a:bodyPr/>
              <a:lstStyle/>
              <a:p>
                <a:r>
                  <a:rPr lang="zh-CN" altLang="en-US">
                    <a:noFill/>
                  </a:rPr>
                  <a:t> </a:t>
                </a:r>
              </a:p>
            </p:txBody>
          </p:sp>
        </mc:Fallback>
      </mc:AlternateContent>
      <p:sp>
        <p:nvSpPr>
          <p:cNvPr id="6" name="Text Box 6">
            <a:extLst>
              <a:ext uri="{FF2B5EF4-FFF2-40B4-BE49-F238E27FC236}">
                <a16:creationId xmlns:a16="http://schemas.microsoft.com/office/drawing/2014/main" id="{E9D2CFFF-AAC3-713C-96BE-180A48A10D59}"/>
              </a:ext>
            </a:extLst>
          </p:cNvPr>
          <p:cNvSpPr txBox="1"/>
          <p:nvPr/>
        </p:nvSpPr>
        <p:spPr>
          <a:xfrm>
            <a:off x="4512423" y="2003728"/>
            <a:ext cx="1644990" cy="523220"/>
          </a:xfrm>
          <a:prstGeom prst="rect">
            <a:avLst/>
          </a:prstGeom>
          <a:noFill/>
          <a:ln w="9525">
            <a:noFill/>
          </a:ln>
        </p:spPr>
        <p:txBody>
          <a:bodyPr wrap="square">
            <a:spAutoFit/>
          </a:bodyPr>
          <a:lstStyle/>
          <a:p>
            <a:pPr eaLnBrk="1" hangingPunct="1"/>
            <a:r>
              <a:rPr lang="zh-CN" altLang="en-US" sz="2800" dirty="0">
                <a:solidFill>
                  <a:srgbClr val="1C1C1C"/>
                </a:solidFill>
                <a:latin typeface="Times New Roman" panose="02020603050405020304" pitchFamily="18" charset="0"/>
              </a:rPr>
              <a:t>所以</a:t>
            </a:r>
          </a:p>
        </p:txBody>
      </p:sp>
      <mc:AlternateContent xmlns:mc="http://schemas.openxmlformats.org/markup-compatibility/2006" xmlns:a14="http://schemas.microsoft.com/office/drawing/2010/main">
        <mc:Choice Requires="a14">
          <p:sp>
            <p:nvSpPr>
              <p:cNvPr id="7" name="Object 7">
                <a:extLst>
                  <a:ext uri="{FF2B5EF4-FFF2-40B4-BE49-F238E27FC236}">
                    <a16:creationId xmlns:a16="http://schemas.microsoft.com/office/drawing/2014/main" id="{3139A2EE-28A3-319C-5A50-F5D46C5A3829}"/>
                  </a:ext>
                </a:extLst>
              </p:cNvPr>
              <p:cNvSpPr txBox="1"/>
              <p:nvPr/>
            </p:nvSpPr>
            <p:spPr>
              <a:xfrm>
                <a:off x="4770133" y="2909210"/>
                <a:ext cx="6094592" cy="2270125"/>
              </a:xfrm>
              <a:prstGeom prst="rect">
                <a:avLst/>
              </a:prstGeom>
              <a:noFill/>
              <a:ln w="38100">
                <a:miter/>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𝜂</m:t>
                      </m:r>
                      <m:r>
                        <a:rPr lang="zh-CN" altLang="en-US" sz="2800" i="1">
                          <a:solidFill>
                            <a:srgbClr val="000000"/>
                          </a:solidFill>
                          <a:latin typeface="Cambria Math" panose="02040503050406030204" pitchFamily="18" charset="0"/>
                        </a:rPr>
                        <m:t>=1−</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𝐷</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𝐴</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𝐶</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𝐵</m:t>
                              </m:r>
                            </m:sub>
                          </m:sSub>
                        </m:den>
                      </m:f>
                      <m:r>
                        <a:rPr lang="zh-CN" altLang="en-US" sz="2800" i="1">
                          <a:solidFill>
                            <a:srgbClr val="000000"/>
                          </a:solidFill>
                          <a:latin typeface="Cambria Math" panose="02040503050406030204" pitchFamily="18" charset="0"/>
                        </a:rPr>
                        <m:t>=1−</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𝐴</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𝐵</m:t>
                              </m:r>
                            </m:sub>
                          </m:sSub>
                        </m:den>
                      </m:f>
                    </m:oMath>
                    <m:oMath xmlns:m="http://schemas.openxmlformats.org/officeDocument/2006/math">
                      <m:r>
                        <a:rPr lang="zh-CN" altLang="en-US" sz="2800" i="1">
                          <a:solidFill>
                            <a:srgbClr val="000000"/>
                          </a:solidFill>
                          <a:latin typeface="Cambria Math" panose="02040503050406030204" pitchFamily="18" charset="0"/>
                        </a:rPr>
                        <m:t>=1−</m:t>
                      </m:r>
                      <m:sSup>
                        <m:sSupPr>
                          <m:ctrlPr>
                            <a:rPr lang="zh-CN" altLang="en-US" sz="2800" i="1">
                              <a:solidFill>
                                <a:srgbClr val="000000"/>
                              </a:solidFill>
                              <a:latin typeface="Cambria Math" panose="02040503050406030204" pitchFamily="18" charset="0"/>
                            </a:rPr>
                          </m:ctrlPr>
                        </m:sSupPr>
                        <m:e>
                          <m:d>
                            <m:dPr>
                              <m:ctrlPr>
                                <a:rPr lang="zh-CN" altLang="en-US" sz="2800" i="1">
                                  <a:solidFill>
                                    <a:srgbClr val="000000"/>
                                  </a:solidFill>
                                  <a:latin typeface="Cambria Math" panose="02040503050406030204" pitchFamily="18" charset="0"/>
                                </a:rPr>
                              </m:ctrlPr>
                            </m:dPr>
                            <m:e>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1</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2</m:t>
                                      </m:r>
                                    </m:sub>
                                  </m:sSub>
                                </m:den>
                              </m:f>
                            </m:e>
                          </m:d>
                        </m:e>
                        <m:sup>
                          <m:r>
                            <a:rPr lang="zh-CN" altLang="en-US" sz="2800" i="1">
                              <a:solidFill>
                                <a:srgbClr val="000000"/>
                              </a:solidFill>
                              <a:latin typeface="Cambria Math" panose="02040503050406030204" pitchFamily="18" charset="0"/>
                            </a:rPr>
                            <m:t>𝛾</m:t>
                          </m:r>
                          <m:r>
                            <a:rPr lang="zh-CN" altLang="en-US" sz="2800" i="1">
                              <a:solidFill>
                                <a:srgbClr val="000000"/>
                              </a:solidFill>
                              <a:latin typeface="Cambria Math" panose="02040503050406030204" pitchFamily="18" charset="0"/>
                            </a:rPr>
                            <m:t>−1</m:t>
                          </m:r>
                        </m:sup>
                      </m:sSup>
                    </m:oMath>
                  </m:oMathPara>
                </a14:m>
                <a:endParaRPr lang="zh-CN" altLang="en-US" sz="2800" dirty="0"/>
              </a:p>
            </p:txBody>
          </p:sp>
        </mc:Choice>
        <mc:Fallback xmlns="">
          <p:sp>
            <p:nvSpPr>
              <p:cNvPr id="7" name="Object 7">
                <a:extLst>
                  <a:ext uri="{FF2B5EF4-FFF2-40B4-BE49-F238E27FC236}">
                    <a16:creationId xmlns:a16="http://schemas.microsoft.com/office/drawing/2014/main" id="{3139A2EE-28A3-319C-5A50-F5D46C5A3829}"/>
                  </a:ext>
                </a:extLst>
              </p:cNvPr>
              <p:cNvSpPr txBox="1">
                <a:spLocks noRot="1" noChangeAspect="1" noMove="1" noResize="1" noEditPoints="1" noAdjustHandles="1" noChangeArrowheads="1" noChangeShapeType="1" noTextEdit="1"/>
              </p:cNvSpPr>
              <p:nvPr/>
            </p:nvSpPr>
            <p:spPr>
              <a:xfrm>
                <a:off x="4770133" y="2909210"/>
                <a:ext cx="6094592" cy="2270125"/>
              </a:xfrm>
              <a:prstGeom prst="rect">
                <a:avLst/>
              </a:prstGeom>
              <a:blipFill>
                <a:blip r:embed="rId6"/>
                <a:stretch>
                  <a:fillRect/>
                </a:stretch>
              </a:blipFill>
              <a:ln w="38100">
                <a:miter/>
              </a:ln>
            </p:spPr>
            <p:txBody>
              <a:bodyPr/>
              <a:lstStyle/>
              <a:p>
                <a:r>
                  <a:rPr lang="zh-CN" altLang="en-US">
                    <a:noFill/>
                  </a:rPr>
                  <a:t> </a:t>
                </a:r>
              </a:p>
            </p:txBody>
          </p:sp>
        </mc:Fallback>
      </mc:AlternateContent>
    </p:spTree>
    <p:extLst>
      <p:ext uri="{BB962C8B-B14F-4D97-AF65-F5344CB8AC3E}">
        <p14:creationId xmlns:p14="http://schemas.microsoft.com/office/powerpoint/2010/main" val="2237294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04" grpId="0"/>
      <p:bldP spid="2" grpId="0"/>
      <p:bldP spid="3" grpId="0" animBg="1"/>
      <p:bldP spid="4" grpId="0" animBg="1"/>
      <p:bldP spid="5" grpId="0" animBg="1"/>
      <p:bldP spid="6" grpId="0"/>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48" descr="终于搞懂了，火电厂原来是这样的工作原理">
            <a:extLst>
              <a:ext uri="{FF2B5EF4-FFF2-40B4-BE49-F238E27FC236}">
                <a16:creationId xmlns:a16="http://schemas.microsoft.com/office/drawing/2014/main" id="{995EDC39-9F8D-4629-B953-26243061924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380"/>
          <a:stretch/>
        </p:blipFill>
        <p:spPr bwMode="auto">
          <a:xfrm>
            <a:off x="4836319" y="168331"/>
            <a:ext cx="7396164" cy="5651117"/>
          </a:xfrm>
          <a:prstGeom prst="rect">
            <a:avLst/>
          </a:prstGeom>
          <a:noFill/>
          <a:extLst>
            <a:ext uri="{909E8E84-426E-40DD-AFC4-6F175D3DCCD1}">
              <a14:hiddenFill xmlns:a14="http://schemas.microsoft.com/office/drawing/2010/main">
                <a:solidFill>
                  <a:srgbClr val="FFFFFF"/>
                </a:solidFill>
              </a14:hiddenFill>
            </a:ext>
          </a:extLst>
        </p:spPr>
      </p:pic>
      <p:grpSp>
        <p:nvGrpSpPr>
          <p:cNvPr id="144392" name="Group 8">
            <a:extLst>
              <a:ext uri="{FF2B5EF4-FFF2-40B4-BE49-F238E27FC236}">
                <a16:creationId xmlns:a16="http://schemas.microsoft.com/office/drawing/2014/main" id="{782A40D0-7567-4432-AA6C-9B7CD8D0FD08}"/>
              </a:ext>
            </a:extLst>
          </p:cNvPr>
          <p:cNvGrpSpPr>
            <a:grpSpLocks/>
          </p:cNvGrpSpPr>
          <p:nvPr/>
        </p:nvGrpSpPr>
        <p:grpSpPr bwMode="auto">
          <a:xfrm>
            <a:off x="850901" y="4470397"/>
            <a:ext cx="3436938" cy="523875"/>
            <a:chOff x="154" y="3217"/>
            <a:chExt cx="2165" cy="330"/>
          </a:xfrm>
        </p:grpSpPr>
        <p:sp>
          <p:nvSpPr>
            <p:cNvPr id="144393" name="Rectangle 9">
              <a:extLst>
                <a:ext uri="{FF2B5EF4-FFF2-40B4-BE49-F238E27FC236}">
                  <a16:creationId xmlns:a16="http://schemas.microsoft.com/office/drawing/2014/main" id="{574B4EA6-EE4A-4AED-8077-DB86F71A044F}"/>
                </a:ext>
              </a:extLst>
            </p:cNvPr>
            <p:cNvSpPr>
              <a:spLocks noChangeArrowheads="1"/>
            </p:cNvSpPr>
            <p:nvPr/>
          </p:nvSpPr>
          <p:spPr bwMode="auto">
            <a:xfrm>
              <a:off x="154" y="3217"/>
              <a:ext cx="201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dirty="0">
                  <a:latin typeface="黑体" panose="02010609060101010101" pitchFamily="49" charset="-122"/>
                </a:rPr>
                <a:t>实际最高效率：</a:t>
              </a:r>
            </a:p>
          </p:txBody>
        </p:sp>
        <mc:AlternateContent xmlns:mc="http://schemas.openxmlformats.org/markup-compatibility/2006" xmlns:a14="http://schemas.microsoft.com/office/drawing/2010/main">
          <mc:Choice Requires="a14">
            <p:sp>
              <p:nvSpPr>
                <p:cNvPr id="144394" name="Object 10">
                  <a:extLst>
                    <a:ext uri="{FF2B5EF4-FFF2-40B4-BE49-F238E27FC236}">
                      <a16:creationId xmlns:a16="http://schemas.microsoft.com/office/drawing/2014/main" id="{B3D9D037-6EC3-4A87-889F-93F75CEF38B4}"/>
                    </a:ext>
                  </a:extLst>
                </p:cNvPr>
                <p:cNvSpPr txBox="1"/>
                <p:nvPr/>
              </p:nvSpPr>
              <p:spPr bwMode="auto">
                <a:xfrm>
                  <a:off x="1787" y="3229"/>
                  <a:ext cx="532" cy="30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36%</m:t>
                        </m:r>
                      </m:oMath>
                    </m:oMathPara>
                  </a14:m>
                  <a:endParaRPr lang="zh-CN" altLang="en-US" sz="2800" dirty="0"/>
                </a:p>
              </p:txBody>
            </p:sp>
          </mc:Choice>
          <mc:Fallback xmlns="">
            <p:sp>
              <p:nvSpPr>
                <p:cNvPr id="144394" name="Object 10">
                  <a:extLst>
                    <a:ext uri="{FF2B5EF4-FFF2-40B4-BE49-F238E27FC236}">
                      <a16:creationId xmlns:a16="http://schemas.microsoft.com/office/drawing/2014/main" id="{B3D9D037-6EC3-4A87-889F-93F75CEF38B4}"/>
                    </a:ext>
                  </a:extLst>
                </p:cNvPr>
                <p:cNvSpPr txBox="1">
                  <a:spLocks noRot="1" noChangeAspect="1" noMove="1" noResize="1" noEditPoints="1" noAdjustHandles="1" noChangeArrowheads="1" noChangeShapeType="1" noTextEdit="1"/>
                </p:cNvSpPr>
                <p:nvPr/>
              </p:nvSpPr>
              <p:spPr bwMode="auto">
                <a:xfrm>
                  <a:off x="1787" y="3229"/>
                  <a:ext cx="532" cy="305"/>
                </a:xfrm>
                <a:prstGeom prst="rect">
                  <a:avLst/>
                </a:prstGeom>
                <a:blipFill>
                  <a:blip r:embed="rId4"/>
                  <a:stretch>
                    <a:fillRect/>
                  </a:stretch>
                </a:blipFill>
                <a:ln>
                  <a:noFill/>
                </a:ln>
                <a:effectLst/>
              </p:spPr>
              <p:txBody>
                <a:bodyPr/>
                <a:lstStyle/>
                <a:p>
                  <a:r>
                    <a:rPr lang="zh-CN" altLang="en-US">
                      <a:noFill/>
                    </a:rPr>
                    <a:t> </a:t>
                  </a:r>
                </a:p>
              </p:txBody>
            </p:sp>
          </mc:Fallback>
        </mc:AlternateContent>
      </p:grpSp>
      <p:sp>
        <p:nvSpPr>
          <p:cNvPr id="144396" name="Rectangle 12">
            <a:extLst>
              <a:ext uri="{FF2B5EF4-FFF2-40B4-BE49-F238E27FC236}">
                <a16:creationId xmlns:a16="http://schemas.microsoft.com/office/drawing/2014/main" id="{CFD8E355-84D4-4DED-9443-9FBB0A31784A}"/>
              </a:ext>
            </a:extLst>
          </p:cNvPr>
          <p:cNvSpPr>
            <a:spLocks noChangeArrowheads="1"/>
          </p:cNvSpPr>
          <p:nvPr/>
        </p:nvSpPr>
        <p:spPr bwMode="auto">
          <a:xfrm>
            <a:off x="1152391" y="683663"/>
            <a:ext cx="338150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2800" dirty="0">
                <a:latin typeface="黑体" panose="02010609060101010101" pitchFamily="49" charset="-122"/>
              </a:rPr>
              <a:t>例</a:t>
            </a:r>
            <a:r>
              <a:rPr lang="en-US" altLang="zh-CN" sz="2800" dirty="0">
                <a:latin typeface="黑体" panose="02010609060101010101" pitchFamily="49" charset="-122"/>
              </a:rPr>
              <a:t>.</a:t>
            </a:r>
            <a:r>
              <a:rPr lang="zh-CN" altLang="en-US" sz="2800" dirty="0">
                <a:latin typeface="黑体" panose="02010609060101010101" pitchFamily="49" charset="-122"/>
              </a:rPr>
              <a:t>热电厂</a:t>
            </a:r>
          </a:p>
        </p:txBody>
      </p:sp>
      <mc:AlternateContent xmlns:mc="http://schemas.openxmlformats.org/markup-compatibility/2006" xmlns:a14="http://schemas.microsoft.com/office/drawing/2010/main">
        <mc:Choice Requires="a14">
          <p:sp>
            <p:nvSpPr>
              <p:cNvPr id="144397" name="Object 13">
                <a:extLst>
                  <a:ext uri="{FF2B5EF4-FFF2-40B4-BE49-F238E27FC236}">
                    <a16:creationId xmlns:a16="http://schemas.microsoft.com/office/drawing/2014/main" id="{FDBCA09E-8520-42D5-82A3-F580DA4FCDA1}"/>
                  </a:ext>
                </a:extLst>
              </p:cNvPr>
              <p:cNvSpPr txBox="1"/>
              <p:nvPr/>
            </p:nvSpPr>
            <p:spPr bwMode="auto">
              <a:xfrm>
                <a:off x="766763" y="1589088"/>
                <a:ext cx="3573463" cy="588963"/>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=58</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0</m:t>
                          </m:r>
                        </m:e>
                        <m:sup>
                          <m:r>
                            <a:rPr lang="zh-CN" altLang="en-US" sz="2800" i="1">
                              <a:solidFill>
                                <a:srgbClr val="000000"/>
                              </a:solidFill>
                              <a:latin typeface="Cambria Math" panose="02040503050406030204" pitchFamily="18" charset="0"/>
                            </a:rPr>
                            <m:t>°</m:t>
                          </m:r>
                        </m:sup>
                      </m:sSup>
                      <m:r>
                        <m:rPr>
                          <m:sty m:val="p"/>
                        </m:rPr>
                        <a:rPr lang="zh-CN" altLang="en-US" sz="2800" i="1">
                          <a:solidFill>
                            <a:srgbClr val="000000"/>
                          </a:solidFill>
                          <a:latin typeface="Cambria Math" panose="02040503050406030204" pitchFamily="18" charset="0"/>
                        </a:rPr>
                        <m:t>C</m:t>
                      </m:r>
                      <m:r>
                        <a:rPr lang="zh-CN" altLang="en-US" sz="2800" i="1">
                          <a:solidFill>
                            <a:srgbClr val="000000"/>
                          </a:solidFill>
                          <a:latin typeface="Cambria Math" panose="02040503050406030204" pitchFamily="18" charset="0"/>
                        </a:rPr>
                        <m:t>, </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2</m:t>
                          </m:r>
                        </m:sub>
                      </m:sSub>
                      <m:r>
                        <a:rPr lang="zh-CN" altLang="en-US" sz="2800" i="1">
                          <a:solidFill>
                            <a:srgbClr val="000000"/>
                          </a:solidFill>
                          <a:latin typeface="Cambria Math" panose="02040503050406030204" pitchFamily="18" charset="0"/>
                        </a:rPr>
                        <m:t>=3</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0</m:t>
                          </m:r>
                        </m:e>
                        <m:sup>
                          <m:r>
                            <a:rPr lang="zh-CN" altLang="en-US" sz="2800" i="1">
                              <a:solidFill>
                                <a:srgbClr val="000000"/>
                              </a:solidFill>
                              <a:latin typeface="Cambria Math" panose="02040503050406030204" pitchFamily="18" charset="0"/>
                            </a:rPr>
                            <m:t>°</m:t>
                          </m:r>
                        </m:sup>
                      </m:sSup>
                      <m:r>
                        <m:rPr>
                          <m:sty m:val="p"/>
                        </m:rPr>
                        <a:rPr lang="zh-CN" altLang="en-US" sz="2800" i="1">
                          <a:solidFill>
                            <a:srgbClr val="000000"/>
                          </a:solidFill>
                          <a:latin typeface="Cambria Math" panose="02040503050406030204" pitchFamily="18" charset="0"/>
                        </a:rPr>
                        <m:t>C</m:t>
                      </m:r>
                    </m:oMath>
                  </m:oMathPara>
                </a14:m>
                <a:endParaRPr lang="zh-CN" altLang="en-US" sz="2800" dirty="0"/>
              </a:p>
            </p:txBody>
          </p:sp>
        </mc:Choice>
        <mc:Fallback xmlns="">
          <p:sp>
            <p:nvSpPr>
              <p:cNvPr id="144397" name="Object 13">
                <a:extLst>
                  <a:ext uri="{FF2B5EF4-FFF2-40B4-BE49-F238E27FC236}">
                    <a16:creationId xmlns:a16="http://schemas.microsoft.com/office/drawing/2014/main" id="{FDBCA09E-8520-42D5-82A3-F580DA4FCDA1}"/>
                  </a:ext>
                </a:extLst>
              </p:cNvPr>
              <p:cNvSpPr txBox="1">
                <a:spLocks noRot="1" noChangeAspect="1" noMove="1" noResize="1" noEditPoints="1" noAdjustHandles="1" noChangeArrowheads="1" noChangeShapeType="1" noTextEdit="1"/>
              </p:cNvSpPr>
              <p:nvPr/>
            </p:nvSpPr>
            <p:spPr bwMode="auto">
              <a:xfrm>
                <a:off x="766763" y="1589088"/>
                <a:ext cx="3573463" cy="588963"/>
              </a:xfrm>
              <a:prstGeom prst="rect">
                <a:avLst/>
              </a:prstGeom>
              <a:blipFill>
                <a:blip r:embed="rId5"/>
                <a:stretch>
                  <a:fillRect/>
                </a:stretch>
              </a:blipFill>
              <a:ln>
                <a:noFill/>
              </a:ln>
              <a:effectLst/>
            </p:spPr>
            <p:txBody>
              <a:bodyPr/>
              <a:lstStyle/>
              <a:p>
                <a:r>
                  <a:rPr lang="zh-CN" altLang="en-US">
                    <a:noFill/>
                  </a:rPr>
                  <a:t> </a:t>
                </a:r>
              </a:p>
            </p:txBody>
          </p:sp>
        </mc:Fallback>
      </mc:AlternateContent>
      <p:sp>
        <p:nvSpPr>
          <p:cNvPr id="144399" name="Rectangle 15">
            <a:extLst>
              <a:ext uri="{FF2B5EF4-FFF2-40B4-BE49-F238E27FC236}">
                <a16:creationId xmlns:a16="http://schemas.microsoft.com/office/drawing/2014/main" id="{8C42FED4-A5D5-4466-AE5D-9C443B71C729}"/>
              </a:ext>
            </a:extLst>
          </p:cNvPr>
          <p:cNvSpPr>
            <a:spLocks noChangeArrowheads="1"/>
          </p:cNvSpPr>
          <p:nvPr/>
        </p:nvSpPr>
        <p:spPr bwMode="auto">
          <a:xfrm>
            <a:off x="766763" y="2519363"/>
            <a:ext cx="36703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a:latin typeface="黑体" panose="02010609060101010101" pitchFamily="49" charset="-122"/>
              </a:rPr>
              <a:t>按卡诺循环计算：</a:t>
            </a:r>
          </a:p>
        </p:txBody>
      </p:sp>
      <mc:AlternateContent xmlns:mc="http://schemas.openxmlformats.org/markup-compatibility/2006" xmlns:a14="http://schemas.microsoft.com/office/drawing/2010/main">
        <mc:Choice Requires="a14">
          <p:sp>
            <p:nvSpPr>
              <p:cNvPr id="144400" name="Object 16">
                <a:extLst>
                  <a:ext uri="{FF2B5EF4-FFF2-40B4-BE49-F238E27FC236}">
                    <a16:creationId xmlns:a16="http://schemas.microsoft.com/office/drawing/2014/main" id="{7DFA7C13-8DF2-4055-837D-1A8CB547F858}"/>
                  </a:ext>
                </a:extLst>
              </p:cNvPr>
              <p:cNvSpPr txBox="1"/>
              <p:nvPr/>
            </p:nvSpPr>
            <p:spPr bwMode="auto">
              <a:xfrm>
                <a:off x="841375" y="3338513"/>
                <a:ext cx="4073525" cy="914400"/>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𝜂</m:t>
                          </m:r>
                        </m:e>
                        <m:sub>
                          <m:r>
                            <a:rPr lang="zh-CN" altLang="en-US" sz="2800" i="1">
                              <a:solidFill>
                                <a:srgbClr val="000000"/>
                              </a:solidFill>
                              <a:latin typeface="Cambria Math" panose="02040503050406030204" pitchFamily="18" charset="0"/>
                            </a:rPr>
                            <m:t>𝐶</m:t>
                          </m:r>
                        </m:sub>
                      </m:sSub>
                      <m:r>
                        <a:rPr lang="zh-CN" altLang="en-US" sz="2800" i="1">
                          <a:solidFill>
                            <a:srgbClr val="000000"/>
                          </a:solidFill>
                          <a:latin typeface="Cambria Math" panose="02040503050406030204" pitchFamily="18" charset="0"/>
                        </a:rPr>
                        <m:t>=1−</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273+30</m:t>
                          </m:r>
                        </m:num>
                        <m:den>
                          <m:r>
                            <a:rPr lang="zh-CN" altLang="en-US" sz="2800" i="1">
                              <a:solidFill>
                                <a:srgbClr val="000000"/>
                              </a:solidFill>
                              <a:latin typeface="Cambria Math" panose="02040503050406030204" pitchFamily="18" charset="0"/>
                            </a:rPr>
                            <m:t>273+580</m:t>
                          </m:r>
                        </m:den>
                      </m:f>
                      <m:r>
                        <a:rPr lang="zh-CN" altLang="en-US" sz="2800" i="1">
                          <a:solidFill>
                            <a:srgbClr val="000000"/>
                          </a:solidFill>
                          <a:latin typeface="Cambria Math" panose="02040503050406030204" pitchFamily="18" charset="0"/>
                        </a:rPr>
                        <m:t>=64.5%</m:t>
                      </m:r>
                    </m:oMath>
                  </m:oMathPara>
                </a14:m>
                <a:endParaRPr lang="zh-CN" altLang="en-US" sz="2800" dirty="0"/>
              </a:p>
            </p:txBody>
          </p:sp>
        </mc:Choice>
        <mc:Fallback xmlns="">
          <p:sp>
            <p:nvSpPr>
              <p:cNvPr id="144400" name="Object 16">
                <a:extLst>
                  <a:ext uri="{FF2B5EF4-FFF2-40B4-BE49-F238E27FC236}">
                    <a16:creationId xmlns:a16="http://schemas.microsoft.com/office/drawing/2014/main" id="{7DFA7C13-8DF2-4055-837D-1A8CB547F858}"/>
                  </a:ext>
                </a:extLst>
              </p:cNvPr>
              <p:cNvSpPr txBox="1">
                <a:spLocks noRot="1" noChangeAspect="1" noMove="1" noResize="1" noEditPoints="1" noAdjustHandles="1" noChangeArrowheads="1" noChangeShapeType="1" noTextEdit="1"/>
              </p:cNvSpPr>
              <p:nvPr/>
            </p:nvSpPr>
            <p:spPr bwMode="auto">
              <a:xfrm>
                <a:off x="841375" y="3338513"/>
                <a:ext cx="4073525" cy="914400"/>
              </a:xfrm>
              <a:prstGeom prst="rect">
                <a:avLst/>
              </a:prstGeom>
              <a:blipFill>
                <a:blip r:embed="rId6"/>
                <a:stretch>
                  <a:fillRect/>
                </a:stretch>
              </a:blipFill>
              <a:ln>
                <a:noFill/>
              </a:ln>
              <a:effectLst/>
            </p:spPr>
            <p:txBody>
              <a:bodyPr/>
              <a:lstStyle/>
              <a:p>
                <a:r>
                  <a:rPr lang="zh-CN" altLang="en-US">
                    <a:noFill/>
                  </a:rPr>
                  <a:t> </a:t>
                </a:r>
              </a:p>
            </p:txBody>
          </p:sp>
        </mc:Fallback>
      </mc:AlternateContent>
      <p:sp>
        <p:nvSpPr>
          <p:cNvPr id="144401" name="Text Box 17">
            <a:extLst>
              <a:ext uri="{FF2B5EF4-FFF2-40B4-BE49-F238E27FC236}">
                <a16:creationId xmlns:a16="http://schemas.microsoft.com/office/drawing/2014/main" id="{991E1848-0CBA-4C6B-A421-4B5C727AF6BF}"/>
              </a:ext>
            </a:extLst>
          </p:cNvPr>
          <p:cNvSpPr txBox="1">
            <a:spLocks noChangeArrowheads="1"/>
          </p:cNvSpPr>
          <p:nvPr/>
        </p:nvSpPr>
        <p:spPr bwMode="auto">
          <a:xfrm>
            <a:off x="2065338" y="5576888"/>
            <a:ext cx="55419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spcBef>
                <a:spcPct val="0"/>
              </a:spcBef>
            </a:pPr>
            <a:r>
              <a:rPr lang="zh-CN" altLang="en-US" sz="2800" dirty="0">
                <a:latin typeface="+mn-ea"/>
              </a:rPr>
              <a:t>非卡诺循环、耗散（摩擦等）</a:t>
            </a:r>
          </a:p>
        </p:txBody>
      </p:sp>
      <p:sp>
        <p:nvSpPr>
          <p:cNvPr id="144409" name="Rectangle 25">
            <a:extLst>
              <a:ext uri="{FF2B5EF4-FFF2-40B4-BE49-F238E27FC236}">
                <a16:creationId xmlns:a16="http://schemas.microsoft.com/office/drawing/2014/main" id="{D28CFF3C-0669-4A4D-901D-409E75F86D84}"/>
              </a:ext>
            </a:extLst>
          </p:cNvPr>
          <p:cNvSpPr>
            <a:spLocks noChangeArrowheads="1"/>
          </p:cNvSpPr>
          <p:nvPr/>
        </p:nvSpPr>
        <p:spPr bwMode="auto">
          <a:xfrm>
            <a:off x="930276" y="5557838"/>
            <a:ext cx="126188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dirty="0"/>
              <a:t>原因：</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43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439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440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439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440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44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97" grpId="0"/>
      <p:bldP spid="144399" grpId="0"/>
      <p:bldP spid="144400" grpId="0"/>
      <p:bldP spid="144401" grpId="0"/>
      <p:bldP spid="14440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3">
            <a:hlinkClick r:id="" action="ppaction://noaction"/>
            <a:extLst>
              <a:ext uri="{FF2B5EF4-FFF2-40B4-BE49-F238E27FC236}">
                <a16:creationId xmlns:a16="http://schemas.microsoft.com/office/drawing/2014/main" id="{37006FC1-9979-F338-9248-95BA44E85F0A}"/>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有限时间循环</a:t>
            </a:r>
            <a:r>
              <a:rPr kumimoji="1" lang="en-US" altLang="zh-CN" sz="3200" dirty="0">
                <a:solidFill>
                  <a:srgbClr val="0066FF"/>
                </a:solidFill>
                <a:latin typeface="+mn-lt"/>
                <a:ea typeface="+mn-ea"/>
                <a:cs typeface="Times New Roman" panose="02020603050405020304" pitchFamily="18" charset="0"/>
              </a:rPr>
              <a:t>*</a:t>
            </a:r>
            <a:endParaRPr kumimoji="1" lang="zh-CN" altLang="en-US" sz="3200" dirty="0">
              <a:solidFill>
                <a:srgbClr val="0066FF"/>
              </a:solidFill>
              <a:latin typeface="+mn-lt"/>
              <a:ea typeface="+mn-ea"/>
              <a:cs typeface="Times New Roman" panose="02020603050405020304" pitchFamily="18" charset="0"/>
            </a:endParaRPr>
          </a:p>
        </p:txBody>
      </p:sp>
      <p:sp>
        <p:nvSpPr>
          <p:cNvPr id="3" name="Rectangle 32">
            <a:extLst>
              <a:ext uri="{FF2B5EF4-FFF2-40B4-BE49-F238E27FC236}">
                <a16:creationId xmlns:a16="http://schemas.microsoft.com/office/drawing/2014/main" id="{ECC24F7A-5843-676D-4AE7-2E499D499EE7}"/>
              </a:ext>
            </a:extLst>
          </p:cNvPr>
          <p:cNvSpPr>
            <a:spLocks noChangeArrowheads="1"/>
          </p:cNvSpPr>
          <p:nvPr/>
        </p:nvSpPr>
        <p:spPr bwMode="auto">
          <a:xfrm>
            <a:off x="1216364" y="2870348"/>
            <a:ext cx="4703466"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r>
              <a:rPr lang="en-US" altLang="zh-CN" b="0" dirty="0">
                <a:latin typeface="+mn-ea"/>
                <a:ea typeface="+mn-ea"/>
              </a:rPr>
              <a:t>- </a:t>
            </a:r>
            <a:r>
              <a:rPr lang="zh-CN" altLang="en-US" b="0" dirty="0">
                <a:latin typeface="+mn-ea"/>
                <a:ea typeface="+mn-ea"/>
              </a:rPr>
              <a:t>非平衡态到平衡态的过渡时间，即弛豫时间足够短</a:t>
            </a:r>
          </a:p>
        </p:txBody>
      </p:sp>
      <p:sp>
        <p:nvSpPr>
          <p:cNvPr id="19" name="Text Box 13">
            <a:hlinkClick r:id="" action="ppaction://noaction"/>
            <a:extLst>
              <a:ext uri="{FF2B5EF4-FFF2-40B4-BE49-F238E27FC236}">
                <a16:creationId xmlns:a16="http://schemas.microsoft.com/office/drawing/2014/main" id="{CCD1232D-B8E8-8894-2931-4A8DF6B28422}"/>
              </a:ext>
            </a:extLst>
          </p:cNvPr>
          <p:cNvSpPr txBox="1">
            <a:spLocks noChangeArrowheads="1"/>
          </p:cNvSpPr>
          <p:nvPr/>
        </p:nvSpPr>
        <p:spPr bwMode="auto">
          <a:xfrm>
            <a:off x="967772" y="1641068"/>
            <a:ext cx="486958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R="0" lvl="0" algn="l" defTabSz="914400" rtl="0" eaLnBrk="1" fontAlgn="auto" latinLnBrk="0" hangingPunct="1">
              <a:lnSpc>
                <a:spcPct val="100000"/>
              </a:lnSpc>
              <a:spcBef>
                <a:spcPts val="0"/>
              </a:spcBef>
              <a:spcAft>
                <a:spcPts val="0"/>
              </a:spcAft>
              <a:buClrTx/>
              <a:buSzTx/>
              <a:tabLst/>
              <a:defRPr/>
            </a:pPr>
            <a:r>
              <a:rPr kumimoji="1" lang="zh-CN" altLang="en-US" sz="3200" b="0" dirty="0">
                <a:latin typeface="+mn-lt"/>
                <a:ea typeface="+mn-ea"/>
                <a:cs typeface="Times New Roman" panose="02020603050405020304" pitchFamily="18" charset="0"/>
              </a:rPr>
              <a:t>卡诺循环基于准静态过程</a:t>
            </a:r>
          </a:p>
        </p:txBody>
      </p:sp>
      <p:sp>
        <p:nvSpPr>
          <p:cNvPr id="20" name="Rectangle 32">
            <a:extLst>
              <a:ext uri="{FF2B5EF4-FFF2-40B4-BE49-F238E27FC236}">
                <a16:creationId xmlns:a16="http://schemas.microsoft.com/office/drawing/2014/main" id="{EF989CFD-3E40-9E0D-0A92-4191F3936DBA}"/>
              </a:ext>
            </a:extLst>
          </p:cNvPr>
          <p:cNvSpPr>
            <a:spLocks noChangeArrowheads="1"/>
          </p:cNvSpPr>
          <p:nvPr/>
        </p:nvSpPr>
        <p:spPr bwMode="auto">
          <a:xfrm>
            <a:off x="1267164" y="4294575"/>
            <a:ext cx="470346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r>
              <a:rPr lang="en-US" altLang="zh-CN" b="0" dirty="0">
                <a:latin typeface="+mn-ea"/>
                <a:ea typeface="+mn-ea"/>
              </a:rPr>
              <a:t>- </a:t>
            </a:r>
            <a:r>
              <a:rPr lang="zh-CN" altLang="en-US" b="0" dirty="0">
                <a:latin typeface="+mn-ea"/>
                <a:ea typeface="+mn-ea"/>
              </a:rPr>
              <a:t>过程是无限缓慢的过程</a:t>
            </a:r>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CB414144-44F8-3C85-B987-2BCC01E445D4}"/>
                  </a:ext>
                </a:extLst>
              </p:cNvPr>
              <p:cNvSpPr txBox="1"/>
              <p:nvPr/>
            </p:nvSpPr>
            <p:spPr>
              <a:xfrm>
                <a:off x="6354643" y="1641068"/>
                <a:ext cx="4224473" cy="154734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i="1">
                          <a:solidFill>
                            <a:srgbClr val="000000"/>
                          </a:solidFill>
                          <a:latin typeface="Cambria Math" panose="02040503050406030204" pitchFamily="18" charset="0"/>
                        </a:rPr>
                        <m:t>𝜂</m:t>
                      </m:r>
                      <m:r>
                        <a:rPr lang="zh-CN" altLang="en-US" sz="3200" i="1">
                          <a:solidFill>
                            <a:srgbClr val="000000"/>
                          </a:solidFill>
                          <a:latin typeface="Cambria Math" panose="02040503050406030204" pitchFamily="18" charset="0"/>
                        </a:rPr>
                        <m:t>=</m:t>
                      </m:r>
                      <m:r>
                        <a:rPr lang="en-US" altLang="zh-CN" sz="3200" b="1" i="1" smtClean="0">
                          <a:solidFill>
                            <a:srgbClr val="FF0000"/>
                          </a:solidFill>
                          <a:latin typeface="Cambria Math" panose="02040503050406030204" pitchFamily="18" charset="0"/>
                        </a:rPr>
                        <m:t>𝟏</m:t>
                      </m:r>
                      <m:r>
                        <a:rPr lang="en-US" altLang="zh-CN" sz="3200" b="1" i="1" smtClean="0">
                          <a:solidFill>
                            <a:srgbClr val="FF0000"/>
                          </a:solidFill>
                          <a:latin typeface="Cambria Math" panose="02040503050406030204" pitchFamily="18" charset="0"/>
                        </a:rPr>
                        <m:t>−</m:t>
                      </m:r>
                      <m:rad>
                        <m:radPr>
                          <m:degHide m:val="on"/>
                          <m:ctrlPr>
                            <a:rPr lang="zh-CN" altLang="en-US" sz="3200" b="1" i="1" smtClean="0">
                              <a:solidFill>
                                <a:srgbClr val="FF0000"/>
                              </a:solidFill>
                              <a:latin typeface="Cambria Math" panose="02040503050406030204" pitchFamily="18" charset="0"/>
                            </a:rPr>
                          </m:ctrlPr>
                        </m:radPr>
                        <m:deg/>
                        <m:e>
                          <m:f>
                            <m:fPr>
                              <m:ctrlPr>
                                <a:rPr lang="zh-CN" altLang="en-US" sz="3200" b="1" i="1">
                                  <a:solidFill>
                                    <a:srgbClr val="FF0000"/>
                                  </a:solidFill>
                                  <a:latin typeface="Cambria Math" panose="02040503050406030204" pitchFamily="18" charset="0"/>
                                </a:rPr>
                              </m:ctrlPr>
                            </m:fPr>
                            <m:num>
                              <m:sSub>
                                <m:sSubPr>
                                  <m:ctrlPr>
                                    <a:rPr lang="zh-CN" altLang="en-US" sz="3200" b="1" i="1">
                                      <a:solidFill>
                                        <a:srgbClr val="FF0000"/>
                                      </a:solidFill>
                                      <a:latin typeface="Cambria Math" panose="02040503050406030204" pitchFamily="18" charset="0"/>
                                    </a:rPr>
                                  </m:ctrlPr>
                                </m:sSubPr>
                                <m:e>
                                  <m:r>
                                    <a:rPr lang="zh-CN" altLang="en-US" sz="3200" b="1" i="1">
                                      <a:solidFill>
                                        <a:srgbClr val="FF0000"/>
                                      </a:solidFill>
                                      <a:latin typeface="Cambria Math" panose="02040503050406030204" pitchFamily="18" charset="0"/>
                                    </a:rPr>
                                    <m:t>𝑻</m:t>
                                  </m:r>
                                </m:e>
                                <m:sub>
                                  <m:r>
                                    <a:rPr lang="zh-CN" altLang="en-US" sz="3200" b="1" i="1">
                                      <a:solidFill>
                                        <a:srgbClr val="FF0000"/>
                                      </a:solidFill>
                                      <a:latin typeface="Cambria Math" panose="02040503050406030204" pitchFamily="18" charset="0"/>
                                    </a:rPr>
                                    <m:t>𝟐</m:t>
                                  </m:r>
                                </m:sub>
                              </m:sSub>
                            </m:num>
                            <m:den>
                              <m:sSub>
                                <m:sSubPr>
                                  <m:ctrlPr>
                                    <a:rPr lang="zh-CN" altLang="en-US" sz="3200" b="1" i="1">
                                      <a:solidFill>
                                        <a:srgbClr val="FF0000"/>
                                      </a:solidFill>
                                      <a:latin typeface="Cambria Math" panose="02040503050406030204" pitchFamily="18" charset="0"/>
                                    </a:rPr>
                                  </m:ctrlPr>
                                </m:sSubPr>
                                <m:e>
                                  <m:r>
                                    <a:rPr lang="zh-CN" altLang="en-US" sz="3200" b="1" i="1">
                                      <a:solidFill>
                                        <a:srgbClr val="FF0000"/>
                                      </a:solidFill>
                                      <a:latin typeface="Cambria Math" panose="02040503050406030204" pitchFamily="18" charset="0"/>
                                    </a:rPr>
                                    <m:t>𝑻</m:t>
                                  </m:r>
                                </m:e>
                                <m:sub>
                                  <m:r>
                                    <a:rPr lang="zh-CN" altLang="en-US" sz="3200" b="1" i="1">
                                      <a:solidFill>
                                        <a:srgbClr val="FF0000"/>
                                      </a:solidFill>
                                      <a:latin typeface="Cambria Math" panose="02040503050406030204" pitchFamily="18" charset="0"/>
                                    </a:rPr>
                                    <m:t>𝟏</m:t>
                                  </m:r>
                                </m:sub>
                              </m:sSub>
                            </m:den>
                          </m:f>
                        </m:e>
                      </m:rad>
                    </m:oMath>
                  </m:oMathPara>
                </a14:m>
                <a:endParaRPr lang="zh-CN" altLang="en-US" sz="3200" b="1" dirty="0">
                  <a:solidFill>
                    <a:srgbClr val="FF0000"/>
                  </a:solidFill>
                </a:endParaRPr>
              </a:p>
            </p:txBody>
          </p:sp>
        </mc:Choice>
        <mc:Fallback xmlns="">
          <p:sp>
            <p:nvSpPr>
              <p:cNvPr id="21" name="文本框 20">
                <a:extLst>
                  <a:ext uri="{FF2B5EF4-FFF2-40B4-BE49-F238E27FC236}">
                    <a16:creationId xmlns:a16="http://schemas.microsoft.com/office/drawing/2014/main" id="{CB414144-44F8-3C85-B987-2BCC01E445D4}"/>
                  </a:ext>
                </a:extLst>
              </p:cNvPr>
              <p:cNvSpPr txBox="1">
                <a:spLocks noRot="1" noChangeAspect="1" noMove="1" noResize="1" noEditPoints="1" noAdjustHandles="1" noChangeArrowheads="1" noChangeShapeType="1" noTextEdit="1"/>
              </p:cNvSpPr>
              <p:nvPr/>
            </p:nvSpPr>
            <p:spPr>
              <a:xfrm>
                <a:off x="6354643" y="1641068"/>
                <a:ext cx="4224473" cy="1547347"/>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Object 16">
                <a:extLst>
                  <a:ext uri="{FF2B5EF4-FFF2-40B4-BE49-F238E27FC236}">
                    <a16:creationId xmlns:a16="http://schemas.microsoft.com/office/drawing/2014/main" id="{93790386-804F-C639-FAFF-07B7147AC789}"/>
                  </a:ext>
                </a:extLst>
              </p:cNvPr>
              <p:cNvSpPr txBox="1"/>
              <p:nvPr/>
            </p:nvSpPr>
            <p:spPr bwMode="auto">
              <a:xfrm>
                <a:off x="6511925" y="4479985"/>
                <a:ext cx="4949825" cy="9144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smtClean="0">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𝜂</m:t>
                          </m:r>
                        </m:e>
                        <m:sub>
                          <m:r>
                            <a:rPr lang="zh-CN" altLang="en-US" sz="2800" i="1">
                              <a:solidFill>
                                <a:srgbClr val="000000"/>
                              </a:solidFill>
                              <a:latin typeface="Cambria Math" panose="02040503050406030204" pitchFamily="18" charset="0"/>
                            </a:rPr>
                            <m:t>𝐶</m:t>
                          </m:r>
                        </m:sub>
                      </m:sSub>
                      <m:r>
                        <a:rPr lang="zh-CN" altLang="en-US" sz="2800" i="1">
                          <a:solidFill>
                            <a:srgbClr val="000000"/>
                          </a:solidFill>
                          <a:latin typeface="Cambria Math" panose="02040503050406030204" pitchFamily="18" charset="0"/>
                        </a:rPr>
                        <m:t>=1−</m:t>
                      </m:r>
                      <m:rad>
                        <m:radPr>
                          <m:degHide m:val="on"/>
                          <m:ctrlPr>
                            <a:rPr lang="zh-CN" altLang="en-US" sz="2800" b="1" i="1">
                              <a:solidFill>
                                <a:srgbClr val="FF0000"/>
                              </a:solidFill>
                              <a:latin typeface="Cambria Math" panose="02040503050406030204" pitchFamily="18" charset="0"/>
                            </a:rPr>
                          </m:ctrlPr>
                        </m:radPr>
                        <m:deg/>
                        <m:e>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273+30</m:t>
                              </m:r>
                            </m:num>
                            <m:den>
                              <m:r>
                                <a:rPr lang="zh-CN" altLang="en-US" sz="2800" i="1">
                                  <a:solidFill>
                                    <a:srgbClr val="000000"/>
                                  </a:solidFill>
                                  <a:latin typeface="Cambria Math" panose="02040503050406030204" pitchFamily="18" charset="0"/>
                                </a:rPr>
                                <m:t>273+580</m:t>
                              </m:r>
                            </m:den>
                          </m:f>
                        </m:e>
                      </m:rad>
                      <m:r>
                        <a:rPr lang="zh-CN" altLang="en-US" sz="2800" i="1">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40</m:t>
                      </m:r>
                      <m:r>
                        <a:rPr lang="zh-CN" altLang="en-US" sz="2800" i="1">
                          <a:solidFill>
                            <a:srgbClr val="000000"/>
                          </a:solidFill>
                          <a:latin typeface="Cambria Math" panose="02040503050406030204" pitchFamily="18" charset="0"/>
                        </a:rPr>
                        <m:t>%</m:t>
                      </m:r>
                    </m:oMath>
                  </m:oMathPara>
                </a14:m>
                <a:endParaRPr lang="zh-CN" altLang="en-US" sz="2800" dirty="0"/>
              </a:p>
            </p:txBody>
          </p:sp>
        </mc:Choice>
        <mc:Fallback xmlns="">
          <p:sp>
            <p:nvSpPr>
              <p:cNvPr id="22" name="Object 16">
                <a:extLst>
                  <a:ext uri="{FF2B5EF4-FFF2-40B4-BE49-F238E27FC236}">
                    <a16:creationId xmlns:a16="http://schemas.microsoft.com/office/drawing/2014/main" id="{93790386-804F-C639-FAFF-07B7147AC789}"/>
                  </a:ext>
                </a:extLst>
              </p:cNvPr>
              <p:cNvSpPr txBox="1">
                <a:spLocks noRot="1" noChangeAspect="1" noMove="1" noResize="1" noEditPoints="1" noAdjustHandles="1" noChangeArrowheads="1" noChangeShapeType="1" noTextEdit="1"/>
              </p:cNvSpPr>
              <p:nvPr/>
            </p:nvSpPr>
            <p:spPr bwMode="auto">
              <a:xfrm>
                <a:off x="6511925" y="4479985"/>
                <a:ext cx="4949825" cy="914400"/>
              </a:xfrm>
              <a:prstGeom prst="rect">
                <a:avLst/>
              </a:prstGeom>
              <a:blipFill>
                <a:blip r:embed="rId3"/>
                <a:stretch>
                  <a:fillRect b="-43333"/>
                </a:stretch>
              </a:blipFill>
              <a:ln>
                <a:noFill/>
              </a:ln>
              <a:effectLst/>
            </p:spPr>
            <p:txBody>
              <a:bodyPr/>
              <a:lstStyle/>
              <a:p>
                <a:r>
                  <a:rPr lang="zh-CN" altLang="en-US">
                    <a:noFill/>
                  </a:rPr>
                  <a:t> </a:t>
                </a:r>
              </a:p>
            </p:txBody>
          </p:sp>
        </mc:Fallback>
      </mc:AlternateContent>
      <p:sp>
        <p:nvSpPr>
          <p:cNvPr id="23" name="Rectangle 32">
            <a:extLst>
              <a:ext uri="{FF2B5EF4-FFF2-40B4-BE49-F238E27FC236}">
                <a16:creationId xmlns:a16="http://schemas.microsoft.com/office/drawing/2014/main" id="{5DD02743-F2DC-20FF-CED9-2307FE510309}"/>
              </a:ext>
            </a:extLst>
          </p:cNvPr>
          <p:cNvSpPr>
            <a:spLocks noChangeArrowheads="1"/>
          </p:cNvSpPr>
          <p:nvPr/>
        </p:nvSpPr>
        <p:spPr bwMode="auto">
          <a:xfrm>
            <a:off x="6272170" y="3771355"/>
            <a:ext cx="470346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r>
              <a:rPr lang="zh-CN" altLang="en-US" b="0" dirty="0">
                <a:latin typeface="+mn-ea"/>
                <a:ea typeface="+mn-ea"/>
              </a:rPr>
              <a:t>热电厂效率：</a:t>
            </a:r>
          </a:p>
        </p:txBody>
      </p:sp>
    </p:spTree>
    <p:extLst>
      <p:ext uri="{BB962C8B-B14F-4D97-AF65-F5344CB8AC3E}">
        <p14:creationId xmlns:p14="http://schemas.microsoft.com/office/powerpoint/2010/main" val="779334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3" grpId="1"/>
      <p:bldP spid="20" grpId="0" autoUpdateAnimBg="0"/>
      <p:bldP spid="20" grpId="1"/>
      <p:bldP spid="21" grpId="0"/>
      <p:bldP spid="22" grpId="0"/>
      <p:bldP spid="23" grpId="0" autoUpdateAnimBg="0"/>
      <p:bldP spid="23"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p:nvPr/>
        </p:nvSpPr>
        <p:spPr>
          <a:xfrm>
            <a:off x="2850298" y="2747080"/>
            <a:ext cx="4843382" cy="523220"/>
          </a:xfrm>
          <a:prstGeom prst="rect">
            <a:avLst/>
          </a:prstGeom>
          <a:noFill/>
          <a:ln w="9525">
            <a:noFill/>
          </a:ln>
        </p:spPr>
        <p:txBody>
          <a:bodyPr wrap="square">
            <a:spAutoFit/>
          </a:bodyPr>
          <a:lstStyle/>
          <a:p>
            <a:r>
              <a:rPr lang="zh-CN" altLang="en-US" sz="2800" dirty="0">
                <a:latin typeface="Times New Roman" panose="02020603050405020304" pitchFamily="18" charset="0"/>
              </a:rPr>
              <a:t>各种热机的效率 </a:t>
            </a:r>
            <a:r>
              <a:rPr lang="en-US" altLang="zh-CN" sz="2800" dirty="0">
                <a:latin typeface="Times New Roman" panose="02020603050405020304" pitchFamily="18" charset="0"/>
              </a:rPr>
              <a:t>(2005</a:t>
            </a:r>
            <a:r>
              <a:rPr lang="zh-CN" altLang="en-US" sz="2800" dirty="0">
                <a:latin typeface="Times New Roman" panose="02020603050405020304" pitchFamily="18" charset="0"/>
              </a:rPr>
              <a:t>年</a:t>
            </a:r>
            <a:r>
              <a:rPr lang="en-US" altLang="zh-CN" sz="2800" dirty="0">
                <a:latin typeface="Times New Roman" panose="02020603050405020304" pitchFamily="18" charset="0"/>
              </a:rPr>
              <a:t>)</a:t>
            </a:r>
            <a:endParaRPr lang="zh-CN" altLang="en-US" sz="2800" dirty="0">
              <a:latin typeface="Times New Roman" panose="02020603050405020304" pitchFamily="18" charset="0"/>
            </a:endParaRPr>
          </a:p>
        </p:txBody>
      </p:sp>
      <p:sp>
        <p:nvSpPr>
          <p:cNvPr id="453635" name="Rectangle 3"/>
          <p:cNvSpPr/>
          <p:nvPr/>
        </p:nvSpPr>
        <p:spPr>
          <a:xfrm>
            <a:off x="2923072" y="3521804"/>
            <a:ext cx="2819400" cy="523220"/>
          </a:xfrm>
          <a:prstGeom prst="rect">
            <a:avLst/>
          </a:prstGeom>
          <a:noFill/>
          <a:ln w="9525">
            <a:noFill/>
          </a:ln>
        </p:spPr>
        <p:txBody>
          <a:bodyPr>
            <a:spAutoFit/>
          </a:bodyPr>
          <a:lstStyle/>
          <a:p>
            <a:r>
              <a:rPr lang="zh-CN" altLang="en-US" sz="2800" dirty="0">
                <a:solidFill>
                  <a:srgbClr val="000000"/>
                </a:solidFill>
                <a:latin typeface="Times New Roman" panose="02020603050405020304" pitchFamily="18" charset="0"/>
              </a:rPr>
              <a:t>喷气发动机</a:t>
            </a:r>
          </a:p>
        </p:txBody>
      </p:sp>
      <p:sp>
        <p:nvSpPr>
          <p:cNvPr id="453636" name="Rectangle 4"/>
          <p:cNvSpPr/>
          <p:nvPr/>
        </p:nvSpPr>
        <p:spPr>
          <a:xfrm>
            <a:off x="2974298" y="4313965"/>
            <a:ext cx="1676400" cy="523220"/>
          </a:xfrm>
          <a:prstGeom prst="rect">
            <a:avLst/>
          </a:prstGeom>
          <a:noFill/>
          <a:ln w="9525">
            <a:noFill/>
          </a:ln>
        </p:spPr>
        <p:txBody>
          <a:bodyPr>
            <a:spAutoFit/>
          </a:bodyPr>
          <a:lstStyle/>
          <a:p>
            <a:r>
              <a:rPr lang="zh-CN" altLang="en-US" sz="2800" dirty="0">
                <a:solidFill>
                  <a:srgbClr val="000000"/>
                </a:solidFill>
                <a:latin typeface="Times New Roman" panose="02020603050405020304" pitchFamily="18" charset="0"/>
              </a:rPr>
              <a:t>柴油机</a:t>
            </a:r>
          </a:p>
        </p:txBody>
      </p:sp>
      <p:sp>
        <p:nvSpPr>
          <p:cNvPr id="453637" name="Rectangle 5"/>
          <p:cNvSpPr/>
          <p:nvPr/>
        </p:nvSpPr>
        <p:spPr>
          <a:xfrm>
            <a:off x="2974298" y="5109304"/>
            <a:ext cx="1828800" cy="523220"/>
          </a:xfrm>
          <a:prstGeom prst="rect">
            <a:avLst/>
          </a:prstGeom>
          <a:noFill/>
          <a:ln w="9525">
            <a:noFill/>
          </a:ln>
        </p:spPr>
        <p:txBody>
          <a:bodyPr>
            <a:spAutoFit/>
          </a:bodyPr>
          <a:lstStyle/>
          <a:p>
            <a:r>
              <a:rPr lang="zh-CN" altLang="en-US" sz="2800" dirty="0">
                <a:solidFill>
                  <a:srgbClr val="000000"/>
                </a:solidFill>
                <a:latin typeface="Times New Roman" panose="02020603050405020304" pitchFamily="18" charset="0"/>
              </a:rPr>
              <a:t>汽油机</a:t>
            </a:r>
          </a:p>
        </p:txBody>
      </p:sp>
      <p:sp>
        <p:nvSpPr>
          <p:cNvPr id="453638" name="Rectangle 6"/>
          <p:cNvSpPr/>
          <p:nvPr/>
        </p:nvSpPr>
        <p:spPr>
          <a:xfrm>
            <a:off x="2974298" y="5828440"/>
            <a:ext cx="2057400" cy="523220"/>
          </a:xfrm>
          <a:prstGeom prst="rect">
            <a:avLst/>
          </a:prstGeom>
          <a:noFill/>
          <a:ln w="9525">
            <a:noFill/>
          </a:ln>
        </p:spPr>
        <p:txBody>
          <a:bodyPr>
            <a:spAutoFit/>
          </a:bodyPr>
          <a:lstStyle/>
          <a:p>
            <a:r>
              <a:rPr lang="zh-CN" altLang="en-US" sz="2800" dirty="0">
                <a:solidFill>
                  <a:srgbClr val="000000"/>
                </a:solidFill>
                <a:latin typeface="Times New Roman" panose="02020603050405020304" pitchFamily="18" charset="0"/>
              </a:rPr>
              <a:t>蒸气机</a:t>
            </a:r>
          </a:p>
        </p:txBody>
      </p:sp>
      <mc:AlternateContent xmlns:mc="http://schemas.openxmlformats.org/markup-compatibility/2006" xmlns:a14="http://schemas.microsoft.com/office/drawing/2010/main">
        <mc:Choice Requires="a14">
          <p:sp>
            <p:nvSpPr>
              <p:cNvPr id="453639" name="Object 7"/>
              <p:cNvSpPr txBox="1"/>
              <p:nvPr/>
            </p:nvSpPr>
            <p:spPr>
              <a:xfrm>
                <a:off x="5143497" y="3521804"/>
                <a:ext cx="2364404" cy="519112"/>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i="1" smtClean="0">
                          <a:solidFill>
                            <a:srgbClr val="000000"/>
                          </a:solidFill>
                          <a:latin typeface="Cambria Math" panose="02040503050406030204" pitchFamily="18" charset="0"/>
                        </a:rPr>
                        <m:t>𝜂</m:t>
                      </m:r>
                      <m:r>
                        <a:rPr lang="en-US" sz="2800" i="1" smtClean="0">
                          <a:solidFill>
                            <a:srgbClr val="000000"/>
                          </a:solidFill>
                          <a:latin typeface="Cambria Math" panose="02040503050406030204" pitchFamily="18" charset="0"/>
                        </a:rPr>
                        <m:t>=50~60%</m:t>
                      </m:r>
                    </m:oMath>
                  </m:oMathPara>
                </a14:m>
                <a:endParaRPr lang="en-US" sz="2800" dirty="0"/>
              </a:p>
            </p:txBody>
          </p:sp>
        </mc:Choice>
        <mc:Fallback xmlns="">
          <p:sp>
            <p:nvSpPr>
              <p:cNvPr id="453639" name="Object 7"/>
              <p:cNvSpPr txBox="1">
                <a:spLocks noRot="1" noChangeAspect="1" noMove="1" noResize="1" noEditPoints="1" noAdjustHandles="1" noChangeArrowheads="1" noChangeShapeType="1" noTextEdit="1"/>
              </p:cNvSpPr>
              <p:nvPr/>
            </p:nvSpPr>
            <p:spPr>
              <a:xfrm>
                <a:off x="5143497" y="3521804"/>
                <a:ext cx="2364404" cy="519112"/>
              </a:xfrm>
              <a:prstGeom prst="rect">
                <a:avLst/>
              </a:prstGeom>
              <a:blipFill>
                <a:blip r:embed="rId3"/>
                <a:stretch>
                  <a:fillRect/>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3640" name="Object 8"/>
              <p:cNvSpPr txBox="1"/>
              <p:nvPr/>
            </p:nvSpPr>
            <p:spPr>
              <a:xfrm>
                <a:off x="5146671" y="5834539"/>
                <a:ext cx="2336256" cy="756582"/>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800" i="1" smtClean="0">
                          <a:solidFill>
                            <a:srgbClr val="000000"/>
                          </a:solidFill>
                          <a:latin typeface="Cambria Math" panose="02040503050406030204" pitchFamily="18" charset="0"/>
                        </a:rPr>
                        <m:t>𝜂</m:t>
                      </m:r>
                      <m:r>
                        <a:rPr lang="en-US" sz="2800" i="1" smtClean="0">
                          <a:solidFill>
                            <a:srgbClr val="000000"/>
                          </a:solidFill>
                          <a:latin typeface="Cambria Math" panose="02040503050406030204" pitchFamily="18" charset="0"/>
                        </a:rPr>
                        <m:t>=4~8%</m:t>
                      </m:r>
                    </m:oMath>
                  </m:oMathPara>
                </a14:m>
                <a:endParaRPr lang="en-US" sz="2800" dirty="0"/>
              </a:p>
            </p:txBody>
          </p:sp>
        </mc:Choice>
        <mc:Fallback xmlns="">
          <p:sp>
            <p:nvSpPr>
              <p:cNvPr id="453640" name="Object 8"/>
              <p:cNvSpPr txBox="1">
                <a:spLocks noRot="1" noChangeAspect="1" noMove="1" noResize="1" noEditPoints="1" noAdjustHandles="1" noChangeArrowheads="1" noChangeShapeType="1" noTextEdit="1"/>
              </p:cNvSpPr>
              <p:nvPr/>
            </p:nvSpPr>
            <p:spPr>
              <a:xfrm>
                <a:off x="5146671" y="5834539"/>
                <a:ext cx="2336256" cy="756582"/>
              </a:xfrm>
              <a:prstGeom prst="rect">
                <a:avLst/>
              </a:prstGeom>
              <a:blipFill>
                <a:blip r:embed="rId4"/>
                <a:stretch>
                  <a:fillRect/>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3641" name="Object 9"/>
              <p:cNvSpPr txBox="1"/>
              <p:nvPr/>
            </p:nvSpPr>
            <p:spPr>
              <a:xfrm>
                <a:off x="5143497" y="4304188"/>
                <a:ext cx="2340948" cy="520700"/>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i="1" smtClean="0">
                          <a:solidFill>
                            <a:srgbClr val="000000"/>
                          </a:solidFill>
                          <a:latin typeface="Cambria Math" panose="02040503050406030204" pitchFamily="18" charset="0"/>
                        </a:rPr>
                        <m:t>𝜂</m:t>
                      </m:r>
                      <m:r>
                        <a:rPr lang="en-US" sz="2800" i="1" smtClean="0">
                          <a:solidFill>
                            <a:srgbClr val="000000"/>
                          </a:solidFill>
                          <a:latin typeface="Cambria Math" panose="02040503050406030204" pitchFamily="18" charset="0"/>
                        </a:rPr>
                        <m:t>=34~45%</m:t>
                      </m:r>
                    </m:oMath>
                  </m:oMathPara>
                </a14:m>
                <a:endParaRPr lang="en-US" sz="2800" dirty="0"/>
              </a:p>
            </p:txBody>
          </p:sp>
        </mc:Choice>
        <mc:Fallback xmlns="">
          <p:sp>
            <p:nvSpPr>
              <p:cNvPr id="453641" name="Object 9"/>
              <p:cNvSpPr txBox="1">
                <a:spLocks noRot="1" noChangeAspect="1" noMove="1" noResize="1" noEditPoints="1" noAdjustHandles="1" noChangeArrowheads="1" noChangeShapeType="1" noTextEdit="1"/>
              </p:cNvSpPr>
              <p:nvPr/>
            </p:nvSpPr>
            <p:spPr>
              <a:xfrm>
                <a:off x="5143497" y="4304188"/>
                <a:ext cx="2340948" cy="520700"/>
              </a:xfrm>
              <a:prstGeom prst="rect">
                <a:avLst/>
              </a:prstGeom>
              <a:blipFill>
                <a:blip r:embed="rId5"/>
                <a:stretch>
                  <a:fillRect/>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3642" name="Object 10"/>
              <p:cNvSpPr txBox="1"/>
              <p:nvPr/>
            </p:nvSpPr>
            <p:spPr>
              <a:xfrm>
                <a:off x="5143497" y="5042376"/>
                <a:ext cx="2340948" cy="512763"/>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i="1" smtClean="0">
                          <a:solidFill>
                            <a:srgbClr val="000000"/>
                          </a:solidFill>
                          <a:latin typeface="Cambria Math" panose="02040503050406030204" pitchFamily="18" charset="0"/>
                        </a:rPr>
                        <m:t>𝜂</m:t>
                      </m:r>
                      <m:r>
                        <a:rPr lang="en-US" sz="2800" i="1" smtClean="0">
                          <a:solidFill>
                            <a:srgbClr val="000000"/>
                          </a:solidFill>
                          <a:latin typeface="Cambria Math" panose="02040503050406030204" pitchFamily="18" charset="0"/>
                        </a:rPr>
                        <m:t>=25~45%</m:t>
                      </m:r>
                    </m:oMath>
                  </m:oMathPara>
                </a14:m>
                <a:endParaRPr lang="en-US" sz="2800" dirty="0"/>
              </a:p>
            </p:txBody>
          </p:sp>
        </mc:Choice>
        <mc:Fallback xmlns="">
          <p:sp>
            <p:nvSpPr>
              <p:cNvPr id="453642" name="Object 10"/>
              <p:cNvSpPr txBox="1">
                <a:spLocks noRot="1" noChangeAspect="1" noMove="1" noResize="1" noEditPoints="1" noAdjustHandles="1" noChangeArrowheads="1" noChangeShapeType="1" noTextEdit="1"/>
              </p:cNvSpPr>
              <p:nvPr/>
            </p:nvSpPr>
            <p:spPr>
              <a:xfrm>
                <a:off x="5143497" y="5042376"/>
                <a:ext cx="2340948" cy="512763"/>
              </a:xfrm>
              <a:prstGeom prst="rect">
                <a:avLst/>
              </a:prstGeom>
              <a:blipFill>
                <a:blip r:embed="rId6"/>
                <a:stretch>
                  <a:fillRect/>
                </a:stretch>
              </a:blipFill>
              <a:ln w="38100">
                <a:noFill/>
                <a:miter/>
              </a:ln>
            </p:spPr>
            <p:txBody>
              <a:bodyPr/>
              <a:lstStyle/>
              <a:p>
                <a:r>
                  <a:rPr lang="en-US">
                    <a:noFill/>
                  </a:rPr>
                  <a:t> </a:t>
                </a:r>
              </a:p>
            </p:txBody>
          </p:sp>
        </mc:Fallback>
      </mc:AlternateContent>
      <p:sp>
        <p:nvSpPr>
          <p:cNvPr id="2" name="Text Box 13">
            <a:hlinkClick r:id="" action="ppaction://noaction"/>
            <a:extLst>
              <a:ext uri="{FF2B5EF4-FFF2-40B4-BE49-F238E27FC236}">
                <a16:creationId xmlns:a16="http://schemas.microsoft.com/office/drawing/2014/main" id="{051E78D3-D12B-BBC4-2A5C-7DBAE32E1897}"/>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热机效率</a:t>
            </a:r>
          </a:p>
        </p:txBody>
      </p:sp>
      <p:sp>
        <p:nvSpPr>
          <p:cNvPr id="13" name="Rectangle 11">
            <a:extLst>
              <a:ext uri="{FF2B5EF4-FFF2-40B4-BE49-F238E27FC236}">
                <a16:creationId xmlns:a16="http://schemas.microsoft.com/office/drawing/2014/main" id="{B09DD213-8E65-422E-AECE-B42F38F721FF}"/>
              </a:ext>
            </a:extLst>
          </p:cNvPr>
          <p:cNvSpPr>
            <a:spLocks noChangeArrowheads="1"/>
          </p:cNvSpPr>
          <p:nvPr/>
        </p:nvSpPr>
        <p:spPr bwMode="auto">
          <a:xfrm>
            <a:off x="1694994" y="1124824"/>
            <a:ext cx="8634412" cy="554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just">
              <a:buFont typeface="Monotype Sorts" pitchFamily="2" charset="2"/>
              <a:buNone/>
            </a:pPr>
            <a:r>
              <a:rPr lang="zh-CN" altLang="en-US" sz="3000" dirty="0">
                <a:latin typeface="+mj-ea"/>
                <a:ea typeface="+mj-ea"/>
              </a:rPr>
              <a:t>实际热机的可能效率的最大值，即</a:t>
            </a:r>
          </a:p>
        </p:txBody>
      </p:sp>
      <p:graphicFrame>
        <p:nvGraphicFramePr>
          <p:cNvPr id="14" name="Object 32">
            <a:extLst>
              <a:ext uri="{FF2B5EF4-FFF2-40B4-BE49-F238E27FC236}">
                <a16:creationId xmlns:a16="http://schemas.microsoft.com/office/drawing/2014/main" id="{D41B69B0-1CBC-418E-85A6-562435C8ADD9}"/>
              </a:ext>
            </a:extLst>
          </p:cNvPr>
          <p:cNvGraphicFramePr>
            <a:graphicFrameLocks/>
          </p:cNvGraphicFramePr>
          <p:nvPr/>
        </p:nvGraphicFramePr>
        <p:xfrm>
          <a:off x="4487017" y="1726770"/>
          <a:ext cx="1139333" cy="900571"/>
        </p:xfrm>
        <a:graphic>
          <a:graphicData uri="http://schemas.openxmlformats.org/presentationml/2006/ole">
            <mc:AlternateContent xmlns:mc="http://schemas.openxmlformats.org/markup-compatibility/2006">
              <mc:Choice xmlns:v="urn:schemas-microsoft-com:vml" Requires="v">
                <p:oleObj spid="_x0000_s3082" name="Equation" r:id="rId7" imgW="927000" imgH="609480" progId="Equation.3">
                  <p:embed/>
                </p:oleObj>
              </mc:Choice>
              <mc:Fallback>
                <p:oleObj name="Equation" r:id="rId7" imgW="927000" imgH="609480" progId="Equation.3">
                  <p:embed/>
                  <p:pic>
                    <p:nvPicPr>
                      <p:cNvPr id="14" name="Object 32">
                        <a:extLst>
                          <a:ext uri="{FF2B5EF4-FFF2-40B4-BE49-F238E27FC236}">
                            <a16:creationId xmlns:a16="http://schemas.microsoft.com/office/drawing/2014/main" id="{D41B69B0-1CBC-418E-85A6-562435C8ADD9}"/>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87017" y="1726770"/>
                        <a:ext cx="1139333" cy="900571"/>
                      </a:xfrm>
                      <a:prstGeom prst="rect">
                        <a:avLst/>
                      </a:prstGeom>
                      <a:noFill/>
                      <a:ln>
                        <a:noFill/>
                      </a:ln>
                      <a:effectLst/>
                    </p:spPr>
                  </p:pic>
                </p:oleObj>
              </mc:Fallback>
            </mc:AlternateContent>
          </a:graphicData>
        </a:graphic>
      </p:graphicFrame>
      <p:graphicFrame>
        <p:nvGraphicFramePr>
          <p:cNvPr id="15" name="Object 34">
            <a:extLst>
              <a:ext uri="{FF2B5EF4-FFF2-40B4-BE49-F238E27FC236}">
                <a16:creationId xmlns:a16="http://schemas.microsoft.com/office/drawing/2014/main" id="{07F353B9-6F12-472C-BE96-F8646BD05AD1}"/>
              </a:ext>
            </a:extLst>
          </p:cNvPr>
          <p:cNvGraphicFramePr>
            <a:graphicFrameLocks/>
          </p:cNvGraphicFramePr>
          <p:nvPr/>
        </p:nvGraphicFramePr>
        <p:xfrm>
          <a:off x="5775142" y="1595873"/>
          <a:ext cx="1600200" cy="1031468"/>
        </p:xfrm>
        <a:graphic>
          <a:graphicData uri="http://schemas.openxmlformats.org/presentationml/2006/ole">
            <mc:AlternateContent xmlns:mc="http://schemas.openxmlformats.org/markup-compatibility/2006">
              <mc:Choice xmlns:v="urn:schemas-microsoft-com:vml" Requires="v">
                <p:oleObj spid="_x0000_s3083" name="公式" r:id="rId9" imgW="825480" imgH="444240" progId="Equation.3">
                  <p:embed/>
                </p:oleObj>
              </mc:Choice>
              <mc:Fallback>
                <p:oleObj name="公式" r:id="rId9" imgW="825480" imgH="444240" progId="Equation.3">
                  <p:embed/>
                  <p:pic>
                    <p:nvPicPr>
                      <p:cNvPr id="15" name="Object 34">
                        <a:extLst>
                          <a:ext uri="{FF2B5EF4-FFF2-40B4-BE49-F238E27FC236}">
                            <a16:creationId xmlns:a16="http://schemas.microsoft.com/office/drawing/2014/main" id="{07F353B9-6F12-472C-BE96-F8646BD05AD1}"/>
                          </a:ext>
                        </a:extLst>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75142" y="1595873"/>
                        <a:ext cx="1600200" cy="1031468"/>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559874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5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5363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5363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5363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5364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5363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5364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5363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536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5" grpId="0"/>
      <p:bldP spid="453635" grpId="0"/>
      <p:bldP spid="453636" grpId="0"/>
      <p:bldP spid="453637" grpId="0"/>
      <p:bldP spid="453638" grpId="0"/>
      <p:bldP spid="453639" grpId="0"/>
      <p:bldP spid="453640" grpId="0"/>
      <p:bldP spid="453641" grpId="0"/>
      <p:bldP spid="453642" grpId="0"/>
      <p:bldP spid="13"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6076A12F-2F3B-7AFD-2DC9-D5529078667C}"/>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pPr eaLnBrk="1" hangingPunct="1">
              <a:lnSpc>
                <a:spcPct val="120000"/>
              </a:lnSpc>
              <a:spcBef>
                <a:spcPct val="50000"/>
              </a:spcBef>
            </a:pPr>
            <a:r>
              <a:rPr lang="en-US" altLang="zh-CN" sz="2800" dirty="0">
                <a:solidFill>
                  <a:srgbClr val="CC0000"/>
                </a:solidFill>
                <a:latin typeface="Times New Roman" panose="02020603050405020304" pitchFamily="18" charset="0"/>
              </a:rPr>
              <a:t> </a:t>
            </a:r>
            <a:r>
              <a:rPr lang="zh-CN" altLang="en-US" sz="2800" dirty="0">
                <a:latin typeface="Times New Roman" panose="02020603050405020304" pitchFamily="18" charset="0"/>
              </a:rPr>
              <a:t>在卡诺热机的一个循环过程中</a:t>
            </a:r>
            <a:r>
              <a:rPr lang="en-US" altLang="zh-CN" sz="2800" dirty="0">
                <a:latin typeface="Times New Roman" panose="02020603050405020304" pitchFamily="18" charset="0"/>
              </a:rPr>
              <a:t>, </a:t>
            </a:r>
            <a:r>
              <a:rPr lang="zh-CN" altLang="en-US" sz="2800" dirty="0">
                <a:latin typeface="Times New Roman" panose="02020603050405020304" pitchFamily="18" charset="0"/>
              </a:rPr>
              <a:t>从高温热源吸收的热量为 </a:t>
            </a:r>
            <a:r>
              <a:rPr lang="en-US" altLang="zh-CN" sz="2800" dirty="0">
                <a:latin typeface="Times New Roman" panose="02020603050405020304" pitchFamily="18" charset="0"/>
              </a:rPr>
              <a:t>Q</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 </a:t>
            </a:r>
            <a:r>
              <a:rPr lang="zh-CN" altLang="en-US" sz="2800" dirty="0">
                <a:latin typeface="Times New Roman" panose="02020603050405020304" pitchFamily="18" charset="0"/>
              </a:rPr>
              <a:t>若高温热源的温度是低温热源温度的</a:t>
            </a:r>
            <a:r>
              <a:rPr lang="en-US" altLang="zh-CN" sz="2800" dirty="0">
                <a:latin typeface="Times New Roman" panose="02020603050405020304" pitchFamily="18" charset="0"/>
              </a:rPr>
              <a:t>n</a:t>
            </a:r>
            <a:r>
              <a:rPr lang="zh-CN" altLang="en-US" sz="2800" dirty="0">
                <a:latin typeface="Times New Roman" panose="02020603050405020304" pitchFamily="18" charset="0"/>
              </a:rPr>
              <a:t>倍</a:t>
            </a:r>
            <a:r>
              <a:rPr lang="en-US" altLang="zh-CN" sz="2800" dirty="0">
                <a:latin typeface="Times New Roman" panose="02020603050405020304" pitchFamily="18" charset="0"/>
              </a:rPr>
              <a:t>, </a:t>
            </a:r>
            <a:r>
              <a:rPr lang="zh-CN" altLang="en-US" sz="2800" dirty="0">
                <a:latin typeface="Times New Roman" panose="02020603050405020304" pitchFamily="18" charset="0"/>
              </a:rPr>
              <a:t>那么传递给低温热源的热量为</a:t>
            </a:r>
            <a:r>
              <a:rPr lang="en-US" altLang="zh-CN" sz="2800" dirty="0">
                <a:latin typeface="Times New Roman" panose="02020603050405020304" pitchFamily="18" charset="0"/>
              </a:rPr>
              <a:t>: </a:t>
            </a:r>
          </a:p>
        </p:txBody>
      </p:sp>
      <p:sp>
        <p:nvSpPr>
          <p:cNvPr id="5" name="文本框 4">
            <a:extLst>
              <a:ext uri="{FF2B5EF4-FFF2-40B4-BE49-F238E27FC236}">
                <a16:creationId xmlns:a16="http://schemas.microsoft.com/office/drawing/2014/main" id="{1B34FB7E-B071-2DCA-3F64-094AB3D7EEB7}"/>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a:extLst>
              <a:ext uri="{FF2B5EF4-FFF2-40B4-BE49-F238E27FC236}">
                <a16:creationId xmlns:a16="http://schemas.microsoft.com/office/drawing/2014/main" id="{001AE7FF-CC08-8309-5657-1E8788882541}"/>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EE394E06-1E41-C2FF-9455-843C4D7BCF3A}"/>
              </a:ext>
            </a:extLst>
          </p:cNvPr>
          <p:cNvSpPr txBox="1"/>
          <p:nvPr>
            <p:custDataLst>
              <p:tags r:id="rId5"/>
            </p:custDataLst>
          </p:nvPr>
        </p:nvSpPr>
        <p:spPr>
          <a:xfrm>
            <a:off x="2438400" y="5357813"/>
            <a:ext cx="8534400" cy="642938"/>
          </a:xfrm>
          <a:prstGeom prst="rect">
            <a:avLst/>
          </a:prstGeom>
          <a:noFill/>
        </p:spPr>
        <p:txBody>
          <a:bodyPr vert="horz" rtlCol="0" anchor="ctr" anchorCtr="0">
            <a:noAutofit/>
          </a:bodyPr>
          <a:lstStyle/>
          <a:p>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a:extLst>
              <a:ext uri="{FF2B5EF4-FFF2-40B4-BE49-F238E27FC236}">
                <a16:creationId xmlns:a16="http://schemas.microsoft.com/office/drawing/2014/main" id="{3ACAF37D-659E-FBBD-2B12-81A1016BBD3F}"/>
              </a:ext>
            </a:extLst>
          </p:cNvPr>
          <p:cNvSpPr>
            <a:spLocks noChangeAspect="1"/>
          </p:cNvSpPr>
          <p:nvPr>
            <p:custDataLst>
              <p:tags r:id="rId6"/>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1BE6D634-6550-6EB4-4EFC-3798224A5576}"/>
              </a:ext>
            </a:extLst>
          </p:cNvPr>
          <p:cNvSpPr>
            <a:spLocks noChangeAspect="1"/>
          </p:cNvSpPr>
          <p:nvPr>
            <p:custDataLst>
              <p:tags r:id="rId7"/>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8BDC3935-D18C-74E9-6B9A-C1B2F4E51585}"/>
              </a:ext>
            </a:extLst>
          </p:cNvPr>
          <p:cNvSpPr>
            <a:spLocks noChangeAspect="1"/>
          </p:cNvSpPr>
          <p:nvPr>
            <p:custDataLst>
              <p:tags r:id="rId8"/>
            </p:custDataLst>
          </p:nvPr>
        </p:nvSpPr>
        <p:spPr>
          <a:xfrm>
            <a:off x="1571625"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0BDE7640-4A37-BE9D-F5BB-449803D71AA4}"/>
              </a:ext>
            </a:extLst>
          </p:cNvPr>
          <p:cNvSpPr>
            <a:spLocks noChangeAspect="1"/>
          </p:cNvSpPr>
          <p:nvPr>
            <p:custDataLst>
              <p:tags r:id="rId9"/>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FFAFF184-A7BA-6ED2-DEF6-D5D3E51F7100}"/>
              </a:ext>
            </a:extLst>
          </p:cNvPr>
          <p:cNvSpPr/>
          <p:nvPr>
            <p:custDataLst>
              <p:tags r:id="rId10"/>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mc:AlternateContent xmlns:mc="http://schemas.openxmlformats.org/markup-compatibility/2006" xmlns:a14="http://schemas.microsoft.com/office/drawing/2010/main">
        <mc:Choice Requires="a14">
          <p:sp>
            <p:nvSpPr>
              <p:cNvPr id="20" name="Object 12">
                <a:extLst>
                  <a:ext uri="{FF2B5EF4-FFF2-40B4-BE49-F238E27FC236}">
                    <a16:creationId xmlns:a16="http://schemas.microsoft.com/office/drawing/2014/main" id="{BCA20B5B-E9CA-92E5-1590-74B91F8CB42C}"/>
                  </a:ext>
                </a:extLst>
              </p:cNvPr>
              <p:cNvSpPr txBox="1"/>
              <p:nvPr/>
            </p:nvSpPr>
            <p:spPr>
              <a:xfrm>
                <a:off x="2563813" y="2921396"/>
                <a:ext cx="795337" cy="642938"/>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𝑛</m:t>
                      </m:r>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𝑄</m:t>
                          </m:r>
                        </m:e>
                        <m:sub>
                          <m:r>
                            <a:rPr lang="zh-CN" altLang="en-US" sz="2600" i="1">
                              <a:solidFill>
                                <a:srgbClr val="000000"/>
                              </a:solidFill>
                              <a:latin typeface="Cambria Math" panose="02040503050406030204" pitchFamily="18" charset="0"/>
                            </a:rPr>
                            <m:t>1</m:t>
                          </m:r>
                        </m:sub>
                      </m:sSub>
                    </m:oMath>
                  </m:oMathPara>
                </a14:m>
                <a:endParaRPr lang="zh-CN" altLang="en-US" sz="2600" dirty="0"/>
              </a:p>
            </p:txBody>
          </p:sp>
        </mc:Choice>
        <mc:Fallback xmlns="">
          <p:sp>
            <p:nvSpPr>
              <p:cNvPr id="20" name="Object 12">
                <a:extLst>
                  <a:ext uri="{FF2B5EF4-FFF2-40B4-BE49-F238E27FC236}">
                    <a16:creationId xmlns:a16="http://schemas.microsoft.com/office/drawing/2014/main" id="{BCA20B5B-E9CA-92E5-1590-74B91F8CB42C}"/>
                  </a:ext>
                </a:extLst>
              </p:cNvPr>
              <p:cNvSpPr txBox="1">
                <a:spLocks noRot="1" noChangeAspect="1" noMove="1" noResize="1" noEditPoints="1" noAdjustHandles="1" noChangeArrowheads="1" noChangeShapeType="1" noTextEdit="1"/>
              </p:cNvSpPr>
              <p:nvPr/>
            </p:nvSpPr>
            <p:spPr>
              <a:xfrm>
                <a:off x="2563813" y="2921396"/>
                <a:ext cx="795337" cy="642938"/>
              </a:xfrm>
              <a:prstGeom prst="rect">
                <a:avLst/>
              </a:prstGeom>
              <a:blipFill>
                <a:blip r:embed="rId18"/>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Object 13">
                <a:extLst>
                  <a:ext uri="{FF2B5EF4-FFF2-40B4-BE49-F238E27FC236}">
                    <a16:creationId xmlns:a16="http://schemas.microsoft.com/office/drawing/2014/main" id="{F231BAE2-B538-AC43-C7EF-187B945AF855}"/>
                  </a:ext>
                </a:extLst>
              </p:cNvPr>
              <p:cNvSpPr txBox="1"/>
              <p:nvPr/>
            </p:nvSpPr>
            <p:spPr>
              <a:xfrm>
                <a:off x="2438400" y="3726657"/>
                <a:ext cx="1690688" cy="73025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m:t>
                      </m:r>
                      <m:r>
                        <a:rPr lang="zh-CN" altLang="en-US" sz="2600" i="1">
                          <a:solidFill>
                            <a:srgbClr val="000000"/>
                          </a:solidFill>
                          <a:latin typeface="Cambria Math" panose="02040503050406030204" pitchFamily="18" charset="0"/>
                        </a:rPr>
                        <m:t>𝑛</m:t>
                      </m:r>
                      <m:r>
                        <a:rPr lang="zh-CN" altLang="en-US" sz="2600" i="1">
                          <a:solidFill>
                            <a:srgbClr val="000000"/>
                          </a:solidFill>
                          <a:latin typeface="Cambria Math" panose="02040503050406030204" pitchFamily="18" charset="0"/>
                        </a:rPr>
                        <m:t>−1)</m:t>
                      </m:r>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𝑄</m:t>
                          </m:r>
                        </m:e>
                        <m:sub>
                          <m:r>
                            <a:rPr lang="zh-CN" altLang="en-US" sz="2600" i="1">
                              <a:solidFill>
                                <a:srgbClr val="000000"/>
                              </a:solidFill>
                              <a:latin typeface="Cambria Math" panose="02040503050406030204" pitchFamily="18" charset="0"/>
                            </a:rPr>
                            <m:t>1</m:t>
                          </m:r>
                        </m:sub>
                      </m:sSub>
                    </m:oMath>
                  </m:oMathPara>
                </a14:m>
                <a:endParaRPr lang="zh-CN" altLang="en-US" sz="2600" dirty="0"/>
              </a:p>
            </p:txBody>
          </p:sp>
        </mc:Choice>
        <mc:Fallback xmlns="">
          <p:sp>
            <p:nvSpPr>
              <p:cNvPr id="21" name="Object 13">
                <a:extLst>
                  <a:ext uri="{FF2B5EF4-FFF2-40B4-BE49-F238E27FC236}">
                    <a16:creationId xmlns:a16="http://schemas.microsoft.com/office/drawing/2014/main" id="{F231BAE2-B538-AC43-C7EF-187B945AF855}"/>
                  </a:ext>
                </a:extLst>
              </p:cNvPr>
              <p:cNvSpPr txBox="1">
                <a:spLocks noRot="1" noChangeAspect="1" noMove="1" noResize="1" noEditPoints="1" noAdjustHandles="1" noChangeArrowheads="1" noChangeShapeType="1" noTextEdit="1"/>
              </p:cNvSpPr>
              <p:nvPr/>
            </p:nvSpPr>
            <p:spPr>
              <a:xfrm>
                <a:off x="2438400" y="3726657"/>
                <a:ext cx="1690688" cy="730250"/>
              </a:xfrm>
              <a:prstGeom prst="rect">
                <a:avLst/>
              </a:prstGeom>
              <a:blipFill>
                <a:blip r:embed="rId19"/>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Object 15">
                <a:extLst>
                  <a:ext uri="{FF2B5EF4-FFF2-40B4-BE49-F238E27FC236}">
                    <a16:creationId xmlns:a16="http://schemas.microsoft.com/office/drawing/2014/main" id="{A3FB9899-0817-5F2F-DFCF-B50F09D45612}"/>
                  </a:ext>
                </a:extLst>
              </p:cNvPr>
              <p:cNvSpPr txBox="1"/>
              <p:nvPr/>
            </p:nvSpPr>
            <p:spPr>
              <a:xfrm>
                <a:off x="2563813" y="4627563"/>
                <a:ext cx="1114425" cy="73025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𝑄</m:t>
                          </m:r>
                        </m:e>
                        <m:sub>
                          <m:r>
                            <a:rPr lang="zh-CN" altLang="en-US" sz="2600" i="1">
                              <a:solidFill>
                                <a:srgbClr val="000000"/>
                              </a:solidFill>
                              <a:latin typeface="Cambria Math" panose="02040503050406030204" pitchFamily="18" charset="0"/>
                            </a:rPr>
                            <m:t>1</m:t>
                          </m:r>
                        </m:sub>
                      </m:sSub>
                      <m:r>
                        <a:rPr lang="zh-CN" altLang="en-US" sz="2600" i="1">
                          <a:solidFill>
                            <a:srgbClr val="000000"/>
                          </a:solidFill>
                          <a:latin typeface="Cambria Math" panose="02040503050406030204" pitchFamily="18" charset="0"/>
                        </a:rPr>
                        <m:t>/</m:t>
                      </m:r>
                      <m:r>
                        <a:rPr lang="zh-CN" altLang="en-US" sz="2600" i="1">
                          <a:solidFill>
                            <a:srgbClr val="000000"/>
                          </a:solidFill>
                          <a:latin typeface="Cambria Math" panose="02040503050406030204" pitchFamily="18" charset="0"/>
                        </a:rPr>
                        <m:t>𝑛</m:t>
                      </m:r>
                    </m:oMath>
                  </m:oMathPara>
                </a14:m>
                <a:endParaRPr lang="zh-CN" altLang="en-US" sz="2600" dirty="0"/>
              </a:p>
            </p:txBody>
          </p:sp>
        </mc:Choice>
        <mc:Fallback xmlns="">
          <p:sp>
            <p:nvSpPr>
              <p:cNvPr id="22" name="Object 15">
                <a:extLst>
                  <a:ext uri="{FF2B5EF4-FFF2-40B4-BE49-F238E27FC236}">
                    <a16:creationId xmlns:a16="http://schemas.microsoft.com/office/drawing/2014/main" id="{A3FB9899-0817-5F2F-DFCF-B50F09D45612}"/>
                  </a:ext>
                </a:extLst>
              </p:cNvPr>
              <p:cNvSpPr txBox="1">
                <a:spLocks noRot="1" noChangeAspect="1" noMove="1" noResize="1" noEditPoints="1" noAdjustHandles="1" noChangeArrowheads="1" noChangeShapeType="1" noTextEdit="1"/>
              </p:cNvSpPr>
              <p:nvPr/>
            </p:nvSpPr>
            <p:spPr>
              <a:xfrm>
                <a:off x="2563813" y="4627563"/>
                <a:ext cx="1114425" cy="730250"/>
              </a:xfrm>
              <a:prstGeom prst="rect">
                <a:avLst/>
              </a:prstGeom>
              <a:blipFill>
                <a:blip r:embed="rId20"/>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Object 14">
                <a:extLst>
                  <a:ext uri="{FF2B5EF4-FFF2-40B4-BE49-F238E27FC236}">
                    <a16:creationId xmlns:a16="http://schemas.microsoft.com/office/drawing/2014/main" id="{41FA454A-5826-2247-F21F-C2EFF2977637}"/>
                  </a:ext>
                </a:extLst>
              </p:cNvPr>
              <p:cNvSpPr txBox="1"/>
              <p:nvPr/>
            </p:nvSpPr>
            <p:spPr>
              <a:xfrm>
                <a:off x="2438400" y="5484813"/>
                <a:ext cx="2228850" cy="73025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m:t>
                      </m:r>
                      <m:r>
                        <a:rPr lang="zh-CN" altLang="en-US" sz="2600" i="1">
                          <a:solidFill>
                            <a:srgbClr val="000000"/>
                          </a:solidFill>
                          <a:latin typeface="Cambria Math" panose="02040503050406030204" pitchFamily="18" charset="0"/>
                        </a:rPr>
                        <m:t>𝑛</m:t>
                      </m:r>
                      <m:r>
                        <a:rPr lang="zh-CN" altLang="en-US" sz="2600" i="1">
                          <a:solidFill>
                            <a:srgbClr val="000000"/>
                          </a:solidFill>
                          <a:latin typeface="Cambria Math" panose="02040503050406030204" pitchFamily="18" charset="0"/>
                        </a:rPr>
                        <m:t>+1)</m:t>
                      </m:r>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𝑄</m:t>
                          </m:r>
                        </m:e>
                        <m:sub>
                          <m:r>
                            <a:rPr lang="zh-CN" altLang="en-US" sz="2600" i="1">
                              <a:solidFill>
                                <a:srgbClr val="000000"/>
                              </a:solidFill>
                              <a:latin typeface="Cambria Math" panose="02040503050406030204" pitchFamily="18" charset="0"/>
                            </a:rPr>
                            <m:t>1</m:t>
                          </m:r>
                        </m:sub>
                      </m:sSub>
                      <m:r>
                        <a:rPr lang="zh-CN" altLang="en-US" sz="2600" i="1">
                          <a:solidFill>
                            <a:srgbClr val="000000"/>
                          </a:solidFill>
                          <a:latin typeface="Cambria Math" panose="02040503050406030204" pitchFamily="18" charset="0"/>
                        </a:rPr>
                        <m:t>/</m:t>
                      </m:r>
                      <m:r>
                        <a:rPr lang="zh-CN" altLang="en-US" sz="2600" i="1">
                          <a:solidFill>
                            <a:srgbClr val="000000"/>
                          </a:solidFill>
                          <a:latin typeface="Cambria Math" panose="02040503050406030204" pitchFamily="18" charset="0"/>
                        </a:rPr>
                        <m:t>𝑛</m:t>
                      </m:r>
                    </m:oMath>
                  </m:oMathPara>
                </a14:m>
                <a:endParaRPr lang="zh-CN" altLang="en-US" sz="2600" dirty="0"/>
              </a:p>
            </p:txBody>
          </p:sp>
        </mc:Choice>
        <mc:Fallback xmlns="">
          <p:sp>
            <p:nvSpPr>
              <p:cNvPr id="23" name="Object 14">
                <a:extLst>
                  <a:ext uri="{FF2B5EF4-FFF2-40B4-BE49-F238E27FC236}">
                    <a16:creationId xmlns:a16="http://schemas.microsoft.com/office/drawing/2014/main" id="{41FA454A-5826-2247-F21F-C2EFF2977637}"/>
                  </a:ext>
                </a:extLst>
              </p:cNvPr>
              <p:cNvSpPr txBox="1">
                <a:spLocks noRot="1" noChangeAspect="1" noMove="1" noResize="1" noEditPoints="1" noAdjustHandles="1" noChangeArrowheads="1" noChangeShapeType="1" noTextEdit="1"/>
              </p:cNvSpPr>
              <p:nvPr/>
            </p:nvSpPr>
            <p:spPr>
              <a:xfrm>
                <a:off x="2438400" y="5484813"/>
                <a:ext cx="2228850" cy="730250"/>
              </a:xfrm>
              <a:prstGeom prst="rect">
                <a:avLst/>
              </a:prstGeom>
              <a:blipFill>
                <a:blip r:embed="rId21"/>
                <a:stretch>
                  <a:fillRect/>
                </a:stretch>
              </a:blipFill>
              <a:ln w="38100">
                <a:noFill/>
                <a:miter/>
              </a:ln>
            </p:spPr>
            <p:txBody>
              <a:bodyPr/>
              <a:lstStyle/>
              <a:p>
                <a:r>
                  <a:rPr lang="zh-CN" altLang="en-US">
                    <a:noFill/>
                  </a:rPr>
                  <a:t> </a:t>
                </a:r>
              </a:p>
            </p:txBody>
          </p:sp>
        </mc:Fallback>
      </mc:AlternateContent>
      <p:grpSp>
        <p:nvGrpSpPr>
          <p:cNvPr id="18" name="组合 17">
            <a:extLst>
              <a:ext uri="{FF2B5EF4-FFF2-40B4-BE49-F238E27FC236}">
                <a16:creationId xmlns:a16="http://schemas.microsoft.com/office/drawing/2014/main" id="{2BB0D396-E1E4-E13B-354F-86A061B30E56}"/>
              </a:ext>
            </a:extLst>
          </p:cNvPr>
          <p:cNvGrpSpPr/>
          <p:nvPr>
            <p:custDataLst>
              <p:tags r:id="rId11"/>
            </p:custDataLst>
          </p:nvPr>
        </p:nvGrpSpPr>
        <p:grpSpPr>
          <a:xfrm>
            <a:off x="0" y="0"/>
            <a:ext cx="12192000" cy="635000"/>
            <a:chOff x="0" y="0"/>
            <a:chExt cx="12192000" cy="635000"/>
          </a:xfrm>
        </p:grpSpPr>
        <p:sp>
          <p:nvSpPr>
            <p:cNvPr id="14" name="TitleBackground">
              <a:extLst>
                <a:ext uri="{FF2B5EF4-FFF2-40B4-BE49-F238E27FC236}">
                  <a16:creationId xmlns:a16="http://schemas.microsoft.com/office/drawing/2014/main" id="{3828B437-3F84-4248-29A1-0C4131882872}"/>
                </a:ext>
              </a:extLst>
            </p:cNvPr>
            <p:cNvSpPr/>
            <p:nvPr>
              <p:custDataLst>
                <p:tags r:id="rId13"/>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2983F9AF-E1E4-E312-2AD7-9DC47988BFF8}"/>
                </a:ext>
              </a:extLst>
            </p:cNvPr>
            <p:cNvSpPr/>
            <p:nvPr>
              <p:custDataLst>
                <p:tags r:id="rId14"/>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CFD497E7-008A-3095-EEBF-B5A211B2F570}"/>
                </a:ext>
              </a:extLst>
            </p:cNvPr>
            <p:cNvSpPr txBox="1"/>
            <p:nvPr>
              <p:custDataLst>
                <p:tags r:id="rId15"/>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a:extLst>
                <a:ext uri="{FF2B5EF4-FFF2-40B4-BE49-F238E27FC236}">
                  <a16:creationId xmlns:a16="http://schemas.microsoft.com/office/drawing/2014/main" id="{245DC06A-A92A-737B-9AEC-C1DBE677C610}"/>
                </a:ext>
              </a:extLst>
            </p:cNvPr>
            <p:cNvSpPr txBox="1"/>
            <p:nvPr>
              <p:custDataLst>
                <p:tags r:id="rId16"/>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F3F3EF30-DF95-CF49-0D9D-7F0559830DF1}"/>
              </a:ext>
            </a:extLst>
          </p:cNvPr>
          <p:cNvPicPr>
            <a:picLocks/>
          </p:cNvPicPr>
          <p:nvPr>
            <p:custDataLst>
              <p:tags r:id="rId12"/>
            </p:custDataLst>
          </p:nvPr>
        </p:nvPicPr>
        <p:blipFill>
          <a:blip r:embed="rId22">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6438508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4462CF1-55F3-43C2-A841-58B60CE8BC1C}"/>
              </a:ext>
            </a:extLst>
          </p:cNvPr>
          <p:cNvSpPr txBox="1"/>
          <p:nvPr>
            <p:custDataLst>
              <p:tags r:id="rId3"/>
            </p:custDataLst>
          </p:nvPr>
        </p:nvSpPr>
        <p:spPr>
          <a:xfrm>
            <a:off x="1263650" y="1067594"/>
            <a:ext cx="9753600" cy="2143125"/>
          </a:xfrm>
          <a:prstGeom prst="rect">
            <a:avLst/>
          </a:prstGeom>
          <a:noFill/>
        </p:spPr>
        <p:txBody>
          <a:bodyPr vert="horz" wrap="square" rtlCol="0" anchor="ctr" anchorCtr="0">
            <a:noAutofit/>
          </a:bodyPr>
          <a:lstStyle/>
          <a:p>
            <a:r>
              <a:rPr lang="zh-CN" altLang="en-US" sz="2800" dirty="0"/>
              <a:t>如图所示，</a:t>
            </a:r>
            <a:r>
              <a:rPr lang="en-US" altLang="zh-CN" sz="2800" dirty="0"/>
              <a:t>DEA</a:t>
            </a:r>
            <a:r>
              <a:rPr lang="zh-CN" altLang="en-US" sz="2800" dirty="0"/>
              <a:t>为等温过程，放热</a:t>
            </a:r>
            <a:r>
              <a:rPr lang="en-US" altLang="zh-CN" sz="2800" dirty="0"/>
              <a:t>100J</a:t>
            </a:r>
            <a:r>
              <a:rPr lang="zh-CN" altLang="en-US" sz="2800" dirty="0"/>
              <a:t>；</a:t>
            </a:r>
            <a:r>
              <a:rPr lang="en-US" altLang="zh-CN" sz="2800" dirty="0"/>
              <a:t>AB</a:t>
            </a:r>
            <a:r>
              <a:rPr lang="zh-CN" altLang="en-US" sz="2800" dirty="0"/>
              <a:t>、</a:t>
            </a:r>
            <a:r>
              <a:rPr lang="en-US" altLang="zh-CN" sz="2800" dirty="0"/>
              <a:t>CD</a:t>
            </a:r>
            <a:r>
              <a:rPr lang="zh-CN" altLang="en-US" sz="2800" dirty="0"/>
              <a:t>为绝热过程；</a:t>
            </a:r>
          </a:p>
          <a:p>
            <a:r>
              <a:rPr lang="zh-CN" altLang="en-US" sz="2800" dirty="0"/>
              <a:t>在</a:t>
            </a:r>
            <a:r>
              <a:rPr lang="en-US" altLang="zh-CN" sz="2800" dirty="0"/>
              <a:t>ABEA</a:t>
            </a:r>
            <a:r>
              <a:rPr lang="zh-CN" altLang="en-US" sz="2800" dirty="0"/>
              <a:t>过程中做功大小为</a:t>
            </a:r>
            <a:r>
              <a:rPr lang="en-US" altLang="zh-CN" sz="2800" dirty="0"/>
              <a:t>30J</a:t>
            </a:r>
            <a:r>
              <a:rPr lang="zh-CN" altLang="en-US" sz="2800" dirty="0"/>
              <a:t>，</a:t>
            </a:r>
            <a:r>
              <a:rPr lang="en-US" altLang="zh-CN" sz="2800" dirty="0"/>
              <a:t>ECDE</a:t>
            </a:r>
            <a:r>
              <a:rPr lang="zh-CN" altLang="en-US" sz="2800" dirty="0"/>
              <a:t>过程做功大小为</a:t>
            </a:r>
            <a:r>
              <a:rPr lang="en-US" altLang="zh-CN" sz="2800" dirty="0"/>
              <a:t>70J</a:t>
            </a:r>
          </a:p>
          <a:p>
            <a:r>
              <a:rPr lang="zh-CN" altLang="en-US" sz="2800" dirty="0"/>
              <a:t>则</a:t>
            </a:r>
            <a:r>
              <a:rPr lang="en-US" altLang="zh-CN" sz="2800" dirty="0"/>
              <a:t>BEC</a:t>
            </a:r>
            <a:r>
              <a:rPr lang="zh-CN" altLang="en-US" sz="2800" dirty="0"/>
              <a:t>过程中热量变化为：</a:t>
            </a:r>
            <a:endParaRPr lang="en-US" altLang="zh-CN" sz="2800" dirty="0"/>
          </a:p>
          <a:p>
            <a:endParaRPr lang="en-US" altLang="zh-CN" sz="2800" dirty="0">
              <a:solidFill>
                <a:schemeClr val="accent2"/>
              </a:solidFill>
            </a:endParaRPr>
          </a:p>
        </p:txBody>
      </p:sp>
      <p:sp>
        <p:nvSpPr>
          <p:cNvPr id="5" name="文本框 4">
            <a:extLst>
              <a:ext uri="{FF2B5EF4-FFF2-40B4-BE49-F238E27FC236}">
                <a16:creationId xmlns:a16="http://schemas.microsoft.com/office/drawing/2014/main" id="{1F5B9961-5EC8-40BB-9EB0-93029424D9E3}"/>
              </a:ext>
            </a:extLst>
          </p:cNvPr>
          <p:cNvSpPr txBox="1"/>
          <p:nvPr>
            <p:custDataLst>
              <p:tags r:id="rId4"/>
            </p:custDataLst>
          </p:nvPr>
        </p:nvSpPr>
        <p:spPr>
          <a:xfrm>
            <a:off x="2438400" y="278606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40</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a:extLst>
              <a:ext uri="{FF2B5EF4-FFF2-40B4-BE49-F238E27FC236}">
                <a16:creationId xmlns:a16="http://schemas.microsoft.com/office/drawing/2014/main" id="{A5B7773D-4F46-4278-81AA-B0E4A9AD10A5}"/>
              </a:ext>
            </a:extLst>
          </p:cNvPr>
          <p:cNvSpPr txBox="1"/>
          <p:nvPr>
            <p:custDataLst>
              <p:tags r:id="rId5"/>
            </p:custDataLst>
          </p:nvPr>
        </p:nvSpPr>
        <p:spPr>
          <a:xfrm>
            <a:off x="2438400" y="364331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140</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a:extLst>
              <a:ext uri="{FF2B5EF4-FFF2-40B4-BE49-F238E27FC236}">
                <a16:creationId xmlns:a16="http://schemas.microsoft.com/office/drawing/2014/main" id="{6291BDC6-2BAB-4A18-AF79-3D249B5EC08A}"/>
              </a:ext>
            </a:extLst>
          </p:cNvPr>
          <p:cNvSpPr txBox="1"/>
          <p:nvPr>
            <p:custDataLst>
              <p:tags r:id="rId6"/>
            </p:custDataLst>
          </p:nvPr>
        </p:nvSpPr>
        <p:spPr>
          <a:xfrm>
            <a:off x="2438400" y="450056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60</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E4053D9B-6BA6-4F2C-A167-00BBB1F630D5}"/>
              </a:ext>
            </a:extLst>
          </p:cNvPr>
          <p:cNvSpPr txBox="1"/>
          <p:nvPr>
            <p:custDataLst>
              <p:tags r:id="rId7"/>
            </p:custDataLst>
          </p:nvPr>
        </p:nvSpPr>
        <p:spPr>
          <a:xfrm>
            <a:off x="2438400" y="535781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170</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a:extLst>
              <a:ext uri="{FF2B5EF4-FFF2-40B4-BE49-F238E27FC236}">
                <a16:creationId xmlns:a16="http://schemas.microsoft.com/office/drawing/2014/main" id="{F3954537-DCEE-46BE-A9D5-3FE9F5AA4B30}"/>
              </a:ext>
            </a:extLst>
          </p:cNvPr>
          <p:cNvSpPr>
            <a:spLocks noChangeAspect="1"/>
          </p:cNvSpPr>
          <p:nvPr>
            <p:custDataLst>
              <p:tags r:id="rId8"/>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p>
        </p:txBody>
      </p:sp>
      <p:sp>
        <p:nvSpPr>
          <p:cNvPr id="10" name="椭圆 9">
            <a:extLst>
              <a:ext uri="{FF2B5EF4-FFF2-40B4-BE49-F238E27FC236}">
                <a16:creationId xmlns:a16="http://schemas.microsoft.com/office/drawing/2014/main" id="{1C64D8EE-34D7-4DF4-AD90-E27EF07AD5DD}"/>
              </a:ext>
            </a:extLst>
          </p:cNvPr>
          <p:cNvSpPr>
            <a:spLocks noChangeAspect="1"/>
          </p:cNvSpPr>
          <p:nvPr>
            <p:custDataLst>
              <p:tags r:id="rId9"/>
            </p:custDataLst>
          </p:nvPr>
        </p:nvSpPr>
        <p:spPr>
          <a:xfrm>
            <a:off x="15716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p>
        </p:txBody>
      </p:sp>
      <p:sp>
        <p:nvSpPr>
          <p:cNvPr id="11" name="椭圆 10">
            <a:extLst>
              <a:ext uri="{FF2B5EF4-FFF2-40B4-BE49-F238E27FC236}">
                <a16:creationId xmlns:a16="http://schemas.microsoft.com/office/drawing/2014/main" id="{DAF3685B-75DD-4554-B928-114970EA0271}"/>
              </a:ext>
            </a:extLst>
          </p:cNvPr>
          <p:cNvSpPr>
            <a:spLocks noChangeAspect="1"/>
          </p:cNvSpPr>
          <p:nvPr>
            <p:custDataLst>
              <p:tags r:id="rId10"/>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p>
        </p:txBody>
      </p:sp>
      <p:sp>
        <p:nvSpPr>
          <p:cNvPr id="12" name="椭圆 11">
            <a:extLst>
              <a:ext uri="{FF2B5EF4-FFF2-40B4-BE49-F238E27FC236}">
                <a16:creationId xmlns:a16="http://schemas.microsoft.com/office/drawing/2014/main" id="{14E86519-0F9D-4806-8703-786373A2C974}"/>
              </a:ext>
            </a:extLst>
          </p:cNvPr>
          <p:cNvSpPr>
            <a:spLocks noChangeAspect="1"/>
          </p:cNvSpPr>
          <p:nvPr>
            <p:custDataLst>
              <p:tags r:id="rId11"/>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p>
        </p:txBody>
      </p:sp>
      <p:sp>
        <p:nvSpPr>
          <p:cNvPr id="13" name="矩形: 圆角 12">
            <a:extLst>
              <a:ext uri="{FF2B5EF4-FFF2-40B4-BE49-F238E27FC236}">
                <a16:creationId xmlns:a16="http://schemas.microsoft.com/office/drawing/2014/main" id="{F2B502D4-5C1E-41E0-B3E3-39697C137995}"/>
              </a:ext>
            </a:extLst>
          </p:cNvPr>
          <p:cNvSpPr/>
          <p:nvPr>
            <p:custDataLst>
              <p:tags r:id="rId12"/>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20" name="Group 4">
            <a:extLst>
              <a:ext uri="{FF2B5EF4-FFF2-40B4-BE49-F238E27FC236}">
                <a16:creationId xmlns:a16="http://schemas.microsoft.com/office/drawing/2014/main" id="{2327640D-76A9-40F8-8891-1F5401BADF2F}"/>
              </a:ext>
            </a:extLst>
          </p:cNvPr>
          <p:cNvGrpSpPr>
            <a:grpSpLocks/>
          </p:cNvGrpSpPr>
          <p:nvPr/>
        </p:nvGrpSpPr>
        <p:grpSpPr bwMode="auto">
          <a:xfrm>
            <a:off x="6572250" y="2422525"/>
            <a:ext cx="3816350" cy="3886200"/>
            <a:chOff x="2828" y="384"/>
            <a:chExt cx="2404" cy="2448"/>
          </a:xfrm>
        </p:grpSpPr>
        <p:grpSp>
          <p:nvGrpSpPr>
            <p:cNvPr id="21" name="Group 5">
              <a:extLst>
                <a:ext uri="{FF2B5EF4-FFF2-40B4-BE49-F238E27FC236}">
                  <a16:creationId xmlns:a16="http://schemas.microsoft.com/office/drawing/2014/main" id="{BB4C70CC-D635-4E0B-A1B4-5CC86601201B}"/>
                </a:ext>
              </a:extLst>
            </p:cNvPr>
            <p:cNvGrpSpPr>
              <a:grpSpLocks/>
            </p:cNvGrpSpPr>
            <p:nvPr/>
          </p:nvGrpSpPr>
          <p:grpSpPr bwMode="auto">
            <a:xfrm>
              <a:off x="2828" y="384"/>
              <a:ext cx="2404" cy="2448"/>
              <a:chOff x="2400" y="384"/>
              <a:chExt cx="2404" cy="2448"/>
            </a:xfrm>
          </p:grpSpPr>
          <p:graphicFrame>
            <p:nvGraphicFramePr>
              <p:cNvPr id="31" name="Object 6">
                <a:extLst>
                  <a:ext uri="{FF2B5EF4-FFF2-40B4-BE49-F238E27FC236}">
                    <a16:creationId xmlns:a16="http://schemas.microsoft.com/office/drawing/2014/main" id="{5C811821-BE65-42DA-BACE-C7710101C3D3}"/>
                  </a:ext>
                </a:extLst>
              </p:cNvPr>
              <p:cNvGraphicFramePr>
                <a:graphicFrameLocks noChangeAspect="1"/>
              </p:cNvGraphicFramePr>
              <p:nvPr/>
            </p:nvGraphicFramePr>
            <p:xfrm>
              <a:off x="2415" y="595"/>
              <a:ext cx="2289" cy="1964"/>
            </p:xfrm>
            <a:graphic>
              <a:graphicData uri="http://schemas.openxmlformats.org/presentationml/2006/ole">
                <mc:AlternateContent xmlns:mc="http://schemas.openxmlformats.org/markup-compatibility/2006">
                  <mc:Choice xmlns:v="urn:schemas-microsoft-com:vml" Requires="v">
                    <p:oleObj spid="_x0000_s4102" name="BMP 图象" r:id="rId20" imgW="1476309" imgH="1266685" progId="PBrush">
                      <p:embed/>
                    </p:oleObj>
                  </mc:Choice>
                  <mc:Fallback>
                    <p:oleObj name="BMP 图象" r:id="rId20" imgW="1476309" imgH="1266685" progId="PBrush">
                      <p:embed/>
                      <p:pic>
                        <p:nvPicPr>
                          <p:cNvPr id="31" name="Object 6">
                            <a:extLst>
                              <a:ext uri="{FF2B5EF4-FFF2-40B4-BE49-F238E27FC236}">
                                <a16:creationId xmlns:a16="http://schemas.microsoft.com/office/drawing/2014/main" id="{5C811821-BE65-42DA-BACE-C7710101C3D3}"/>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415" y="595"/>
                            <a:ext cx="2289" cy="1964"/>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 name="Line 7">
                <a:extLst>
                  <a:ext uri="{FF2B5EF4-FFF2-40B4-BE49-F238E27FC236}">
                    <a16:creationId xmlns:a16="http://schemas.microsoft.com/office/drawing/2014/main" id="{406B9ECE-A3FC-4485-B6C7-59BD8DC7C18A}"/>
                  </a:ext>
                </a:extLst>
              </p:cNvPr>
              <p:cNvSpPr>
                <a:spLocks noChangeShapeType="1"/>
              </p:cNvSpPr>
              <p:nvPr/>
            </p:nvSpPr>
            <p:spPr bwMode="auto">
              <a:xfrm flipV="1">
                <a:off x="2400" y="576"/>
                <a:ext cx="0" cy="196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3" name="Line 8">
                <a:extLst>
                  <a:ext uri="{FF2B5EF4-FFF2-40B4-BE49-F238E27FC236}">
                    <a16:creationId xmlns:a16="http://schemas.microsoft.com/office/drawing/2014/main" id="{DEDA4F12-EC83-44BA-B6AE-82C89A4494AC}"/>
                  </a:ext>
                </a:extLst>
              </p:cNvPr>
              <p:cNvSpPr>
                <a:spLocks noChangeShapeType="1"/>
              </p:cNvSpPr>
              <p:nvPr/>
            </p:nvSpPr>
            <p:spPr bwMode="auto">
              <a:xfrm>
                <a:off x="2400" y="2544"/>
                <a:ext cx="230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4" name="Text Box 9">
                <a:extLst>
                  <a:ext uri="{FF2B5EF4-FFF2-40B4-BE49-F238E27FC236}">
                    <a16:creationId xmlns:a16="http://schemas.microsoft.com/office/drawing/2014/main" id="{73647269-39B8-4F95-A8C4-3F68CBB49634}"/>
                  </a:ext>
                </a:extLst>
              </p:cNvPr>
              <p:cNvSpPr txBox="1">
                <a:spLocks noChangeArrowheads="1"/>
              </p:cNvSpPr>
              <p:nvPr/>
            </p:nvSpPr>
            <p:spPr bwMode="auto">
              <a:xfrm>
                <a:off x="2400" y="384"/>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i="1"/>
                  <a:t> p </a:t>
                </a:r>
              </a:p>
            </p:txBody>
          </p:sp>
          <p:sp>
            <p:nvSpPr>
              <p:cNvPr id="35" name="Text Box 10">
                <a:extLst>
                  <a:ext uri="{FF2B5EF4-FFF2-40B4-BE49-F238E27FC236}">
                    <a16:creationId xmlns:a16="http://schemas.microsoft.com/office/drawing/2014/main" id="{1E7C9944-B14E-4B61-BF21-353CFC98CBCE}"/>
                  </a:ext>
                </a:extLst>
              </p:cNvPr>
              <p:cNvSpPr txBox="1">
                <a:spLocks noChangeArrowheads="1"/>
              </p:cNvSpPr>
              <p:nvPr/>
            </p:nvSpPr>
            <p:spPr bwMode="auto">
              <a:xfrm>
                <a:off x="4512" y="2544"/>
                <a:ext cx="2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i="1"/>
                  <a:t>V </a:t>
                </a:r>
              </a:p>
            </p:txBody>
          </p:sp>
        </p:grpSp>
        <p:sp>
          <p:nvSpPr>
            <p:cNvPr id="22" name="Text Box 11">
              <a:extLst>
                <a:ext uri="{FF2B5EF4-FFF2-40B4-BE49-F238E27FC236}">
                  <a16:creationId xmlns:a16="http://schemas.microsoft.com/office/drawing/2014/main" id="{CAB9B4A4-D564-4A46-8A08-695BD20AA24E}"/>
                </a:ext>
              </a:extLst>
            </p:cNvPr>
            <p:cNvSpPr txBox="1">
              <a:spLocks noChangeArrowheads="1"/>
            </p:cNvSpPr>
            <p:nvPr/>
          </p:nvSpPr>
          <p:spPr bwMode="auto">
            <a:xfrm>
              <a:off x="3120" y="480"/>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a:t>A</a:t>
              </a:r>
            </a:p>
          </p:txBody>
        </p:sp>
        <p:sp>
          <p:nvSpPr>
            <p:cNvPr id="23" name="Text Box 12">
              <a:extLst>
                <a:ext uri="{FF2B5EF4-FFF2-40B4-BE49-F238E27FC236}">
                  <a16:creationId xmlns:a16="http://schemas.microsoft.com/office/drawing/2014/main" id="{4E84A3EE-569D-422A-83E8-2A49FB11A996}"/>
                </a:ext>
              </a:extLst>
            </p:cNvPr>
            <p:cNvSpPr txBox="1">
              <a:spLocks noChangeArrowheads="1"/>
            </p:cNvSpPr>
            <p:nvPr/>
          </p:nvSpPr>
          <p:spPr bwMode="auto">
            <a:xfrm>
              <a:off x="3360" y="1872"/>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a:t>B</a:t>
              </a:r>
            </a:p>
          </p:txBody>
        </p:sp>
        <p:sp>
          <p:nvSpPr>
            <p:cNvPr id="24" name="Text Box 13">
              <a:extLst>
                <a:ext uri="{FF2B5EF4-FFF2-40B4-BE49-F238E27FC236}">
                  <a16:creationId xmlns:a16="http://schemas.microsoft.com/office/drawing/2014/main" id="{6A7B82B4-A8F2-46F9-A162-42EFE3C2748F}"/>
                </a:ext>
              </a:extLst>
            </p:cNvPr>
            <p:cNvSpPr txBox="1">
              <a:spLocks noChangeArrowheads="1"/>
            </p:cNvSpPr>
            <p:nvPr/>
          </p:nvSpPr>
          <p:spPr bwMode="auto">
            <a:xfrm>
              <a:off x="4384" y="829"/>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a:t>C</a:t>
              </a:r>
            </a:p>
          </p:txBody>
        </p:sp>
        <p:sp>
          <p:nvSpPr>
            <p:cNvPr id="25" name="Text Box 14">
              <a:extLst>
                <a:ext uri="{FF2B5EF4-FFF2-40B4-BE49-F238E27FC236}">
                  <a16:creationId xmlns:a16="http://schemas.microsoft.com/office/drawing/2014/main" id="{821F4C3A-6B99-48F2-8672-FE2F70316A0B}"/>
                </a:ext>
              </a:extLst>
            </p:cNvPr>
            <p:cNvSpPr txBox="1">
              <a:spLocks noChangeArrowheads="1"/>
            </p:cNvSpPr>
            <p:nvPr/>
          </p:nvSpPr>
          <p:spPr bwMode="auto">
            <a:xfrm>
              <a:off x="4892" y="2180"/>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dirty="0"/>
                <a:t>D</a:t>
              </a:r>
            </a:p>
          </p:txBody>
        </p:sp>
        <p:sp>
          <p:nvSpPr>
            <p:cNvPr id="26" name="Text Box 15">
              <a:extLst>
                <a:ext uri="{FF2B5EF4-FFF2-40B4-BE49-F238E27FC236}">
                  <a16:creationId xmlns:a16="http://schemas.microsoft.com/office/drawing/2014/main" id="{4253516D-E6CB-432A-919A-01A8206827A5}"/>
                </a:ext>
              </a:extLst>
            </p:cNvPr>
            <p:cNvSpPr txBox="1">
              <a:spLocks noChangeArrowheads="1"/>
            </p:cNvSpPr>
            <p:nvPr/>
          </p:nvSpPr>
          <p:spPr bwMode="auto">
            <a:xfrm>
              <a:off x="3600" y="1152"/>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dirty="0"/>
                <a:t>E</a:t>
              </a:r>
            </a:p>
          </p:txBody>
        </p:sp>
        <p:sp>
          <p:nvSpPr>
            <p:cNvPr id="27" name="Line 16">
              <a:extLst>
                <a:ext uri="{FF2B5EF4-FFF2-40B4-BE49-F238E27FC236}">
                  <a16:creationId xmlns:a16="http://schemas.microsoft.com/office/drawing/2014/main" id="{A343C2C1-0469-4E11-A9C6-CA6D56DCEB1E}"/>
                </a:ext>
              </a:extLst>
            </p:cNvPr>
            <p:cNvSpPr>
              <a:spLocks noChangeShapeType="1"/>
            </p:cNvSpPr>
            <p:nvPr/>
          </p:nvSpPr>
          <p:spPr bwMode="auto">
            <a:xfrm>
              <a:off x="3246" y="1248"/>
              <a:ext cx="48" cy="192"/>
            </a:xfrm>
            <a:prstGeom prst="line">
              <a:avLst/>
            </a:prstGeom>
            <a:noFill/>
            <a:ln w="28575">
              <a:solidFill>
                <a:srgbClr val="CC0000"/>
              </a:solidFill>
              <a:round/>
              <a:headEnd/>
              <a:tailEnd type="arrow" w="med" len="lg"/>
            </a:ln>
            <a:extLst>
              <a:ext uri="{909E8E84-426E-40DD-AFC4-6F175D3DCCD1}">
                <a14:hiddenFill xmlns:a14="http://schemas.microsoft.com/office/drawing/2010/main">
                  <a:noFill/>
                </a14:hiddenFill>
              </a:ext>
            </a:extLst>
          </p:spPr>
          <p:txBody>
            <a:bodyPr wrap="none" anchor="ctr"/>
            <a:lstStyle/>
            <a:p>
              <a:endParaRPr lang="en-US"/>
            </a:p>
          </p:txBody>
        </p:sp>
        <p:sp>
          <p:nvSpPr>
            <p:cNvPr id="28" name="Line 17">
              <a:extLst>
                <a:ext uri="{FF2B5EF4-FFF2-40B4-BE49-F238E27FC236}">
                  <a16:creationId xmlns:a16="http://schemas.microsoft.com/office/drawing/2014/main" id="{47EE6CB8-B132-4D6D-B3EE-167D65FE3D4C}"/>
                </a:ext>
              </a:extLst>
            </p:cNvPr>
            <p:cNvSpPr>
              <a:spLocks noChangeShapeType="1"/>
            </p:cNvSpPr>
            <p:nvPr/>
          </p:nvSpPr>
          <p:spPr bwMode="auto">
            <a:xfrm flipV="1">
              <a:off x="3888" y="1238"/>
              <a:ext cx="96" cy="96"/>
            </a:xfrm>
            <a:prstGeom prst="line">
              <a:avLst/>
            </a:prstGeom>
            <a:noFill/>
            <a:ln w="28575">
              <a:solidFill>
                <a:srgbClr val="CC0000"/>
              </a:solidFill>
              <a:round/>
              <a:headEnd/>
              <a:tailEnd type="arrow" w="med" len="lg"/>
            </a:ln>
            <a:extLst>
              <a:ext uri="{909E8E84-426E-40DD-AFC4-6F175D3DCCD1}">
                <a14:hiddenFill xmlns:a14="http://schemas.microsoft.com/office/drawing/2010/main">
                  <a:noFill/>
                </a14:hiddenFill>
              </a:ext>
            </a:extLst>
          </p:spPr>
          <p:txBody>
            <a:bodyPr wrap="none" anchor="ctr"/>
            <a:lstStyle/>
            <a:p>
              <a:endParaRPr lang="en-US"/>
            </a:p>
          </p:txBody>
        </p:sp>
        <p:sp>
          <p:nvSpPr>
            <p:cNvPr id="29" name="Line 18">
              <a:extLst>
                <a:ext uri="{FF2B5EF4-FFF2-40B4-BE49-F238E27FC236}">
                  <a16:creationId xmlns:a16="http://schemas.microsoft.com/office/drawing/2014/main" id="{A2BDB828-0DEE-42AF-9832-39ECBA54B9A3}"/>
                </a:ext>
              </a:extLst>
            </p:cNvPr>
            <p:cNvSpPr>
              <a:spLocks noChangeShapeType="1"/>
            </p:cNvSpPr>
            <p:nvPr/>
          </p:nvSpPr>
          <p:spPr bwMode="auto">
            <a:xfrm>
              <a:off x="4512" y="1536"/>
              <a:ext cx="48" cy="192"/>
            </a:xfrm>
            <a:prstGeom prst="line">
              <a:avLst/>
            </a:prstGeom>
            <a:noFill/>
            <a:ln w="28575">
              <a:solidFill>
                <a:srgbClr val="CC0000"/>
              </a:solidFill>
              <a:round/>
              <a:headEnd/>
              <a:tailEnd type="arrow" w="med" len="lg"/>
            </a:ln>
            <a:extLst>
              <a:ext uri="{909E8E84-426E-40DD-AFC4-6F175D3DCCD1}">
                <a14:hiddenFill xmlns:a14="http://schemas.microsoft.com/office/drawing/2010/main">
                  <a:noFill/>
                </a14:hiddenFill>
              </a:ext>
            </a:extLst>
          </p:spPr>
          <p:txBody>
            <a:bodyPr wrap="none" anchor="ctr"/>
            <a:lstStyle/>
            <a:p>
              <a:endParaRPr lang="en-US"/>
            </a:p>
          </p:txBody>
        </p:sp>
        <p:sp>
          <p:nvSpPr>
            <p:cNvPr id="30" name="Line 19">
              <a:extLst>
                <a:ext uri="{FF2B5EF4-FFF2-40B4-BE49-F238E27FC236}">
                  <a16:creationId xmlns:a16="http://schemas.microsoft.com/office/drawing/2014/main" id="{B313E70D-1E73-464F-BF5E-1C636315DF42}"/>
                </a:ext>
              </a:extLst>
            </p:cNvPr>
            <p:cNvSpPr>
              <a:spLocks noChangeShapeType="1"/>
            </p:cNvSpPr>
            <p:nvPr/>
          </p:nvSpPr>
          <p:spPr bwMode="auto">
            <a:xfrm flipH="1" flipV="1">
              <a:off x="4032" y="1824"/>
              <a:ext cx="144" cy="96"/>
            </a:xfrm>
            <a:prstGeom prst="line">
              <a:avLst/>
            </a:prstGeom>
            <a:noFill/>
            <a:ln w="28575">
              <a:solidFill>
                <a:srgbClr val="CC0000"/>
              </a:solidFill>
              <a:round/>
              <a:headEnd/>
              <a:tailEnd type="arrow" w="med" len="lg"/>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8" name="组合 17">
            <a:extLst>
              <a:ext uri="{FF2B5EF4-FFF2-40B4-BE49-F238E27FC236}">
                <a16:creationId xmlns:a16="http://schemas.microsoft.com/office/drawing/2014/main" id="{FA589816-27A9-45E4-A948-0AD6B7E85243}"/>
              </a:ext>
            </a:extLst>
          </p:cNvPr>
          <p:cNvGrpSpPr/>
          <p:nvPr>
            <p:custDataLst>
              <p:tags r:id="rId13"/>
            </p:custDataLst>
          </p:nvPr>
        </p:nvGrpSpPr>
        <p:grpSpPr>
          <a:xfrm>
            <a:off x="0" y="0"/>
            <a:ext cx="12192000" cy="635000"/>
            <a:chOff x="0" y="0"/>
            <a:chExt cx="12192000" cy="635000"/>
          </a:xfrm>
        </p:grpSpPr>
        <p:sp>
          <p:nvSpPr>
            <p:cNvPr id="14" name="TitleBackground">
              <a:extLst>
                <a:ext uri="{FF2B5EF4-FFF2-40B4-BE49-F238E27FC236}">
                  <a16:creationId xmlns:a16="http://schemas.microsoft.com/office/drawing/2014/main" id="{0F915296-8909-4CDC-A8B4-1DB6CD4663EE}"/>
                </a:ext>
              </a:extLst>
            </p:cNvPr>
            <p:cNvSpPr/>
            <p:nvPr>
              <p:custDataLst>
                <p:tags r:id="rId15"/>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lorBlock">
              <a:extLst>
                <a:ext uri="{FF2B5EF4-FFF2-40B4-BE49-F238E27FC236}">
                  <a16:creationId xmlns:a16="http://schemas.microsoft.com/office/drawing/2014/main" id="{3DCEAB69-9669-4399-9698-B18E9B761DBB}"/>
                </a:ext>
              </a:extLst>
            </p:cNvPr>
            <p:cNvSpPr/>
            <p:nvPr>
              <p:custDataLst>
                <p:tags r:id="rId16"/>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ypeText">
              <a:extLst>
                <a:ext uri="{FF2B5EF4-FFF2-40B4-BE49-F238E27FC236}">
                  <a16:creationId xmlns:a16="http://schemas.microsoft.com/office/drawing/2014/main" id="{ED661DE5-04F7-4694-9AD3-B85EBC8AE027}"/>
                </a:ext>
              </a:extLst>
            </p:cNvPr>
            <p:cNvSpPr txBox="1"/>
            <p:nvPr>
              <p:custDataLst>
                <p:tags r:id="rId17"/>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TipText">
              <a:extLst>
                <a:ext uri="{FF2B5EF4-FFF2-40B4-BE49-F238E27FC236}">
                  <a16:creationId xmlns:a16="http://schemas.microsoft.com/office/drawing/2014/main" id="{639C68DB-5017-4498-84AC-B97AC3B42CE8}"/>
                </a:ext>
              </a:extLst>
            </p:cNvPr>
            <p:cNvSpPr txBox="1"/>
            <p:nvPr>
              <p:custDataLst>
                <p:tags r:id="rId18"/>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a:extLst>
              <a:ext uri="{FF2B5EF4-FFF2-40B4-BE49-F238E27FC236}">
                <a16:creationId xmlns:a16="http://schemas.microsoft.com/office/drawing/2014/main" id="{67996232-27AC-471B-AD19-96A99532EDD8}"/>
              </a:ext>
            </a:extLst>
          </p:cNvPr>
          <p:cNvPicPr>
            <a:picLocks/>
          </p:cNvPicPr>
          <p:nvPr>
            <p:custDataLst>
              <p:tags r:id="rId14"/>
            </p:custDataLst>
          </p:nvPr>
        </p:nvPicPr>
        <p:blipFill>
          <a:blip r:embed="rId22">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2"/>
    </p:custDataLst>
    <p:extLst>
      <p:ext uri="{BB962C8B-B14F-4D97-AF65-F5344CB8AC3E}">
        <p14:creationId xmlns:p14="http://schemas.microsoft.com/office/powerpoint/2010/main" val="22342840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D27AE52-C91E-4E25-A044-C2059D5EBED2}"/>
              </a:ext>
            </a:extLst>
          </p:cNvPr>
          <p:cNvSpPr/>
          <p:nvPr/>
        </p:nvSpPr>
        <p:spPr>
          <a:xfrm>
            <a:off x="820737" y="2766503"/>
            <a:ext cx="6258719" cy="4093428"/>
          </a:xfrm>
          <a:prstGeom prst="rect">
            <a:avLst/>
          </a:prstGeom>
        </p:spPr>
        <p:txBody>
          <a:bodyPr wrap="square">
            <a:spAutoFit/>
          </a:bodyPr>
          <a:lstStyle/>
          <a:p>
            <a:pPr marR="16510">
              <a:spcAft>
                <a:spcPts val="0"/>
              </a:spcAft>
            </a:pPr>
            <a:r>
              <a:rPr lang="en-US" sz="2600" kern="100" dirty="0"/>
              <a:t>(1)</a:t>
            </a:r>
            <a:r>
              <a:rPr lang="en-US" sz="2600" kern="100" baseline="-25000" dirty="0"/>
              <a:t> </a:t>
            </a:r>
            <a:r>
              <a:rPr lang="en-US" sz="2600" kern="100" dirty="0"/>
              <a:t>Q</a:t>
            </a:r>
            <a:r>
              <a:rPr lang="en-US" sz="2600" kern="100" baseline="-25000" dirty="0"/>
              <a:t>ABCDEA </a:t>
            </a:r>
            <a:r>
              <a:rPr lang="en-US" sz="2600" kern="100" dirty="0"/>
              <a:t>=A</a:t>
            </a:r>
          </a:p>
          <a:p>
            <a:pPr marR="16510" indent="1466850">
              <a:spcAft>
                <a:spcPts val="0"/>
              </a:spcAft>
            </a:pPr>
            <a:r>
              <a:rPr lang="en-US" sz="2600" kern="100" dirty="0"/>
              <a:t>=A</a:t>
            </a:r>
            <a:r>
              <a:rPr lang="en-US" sz="2600" kern="100" baseline="-25000" dirty="0"/>
              <a:t>EABE</a:t>
            </a:r>
            <a:r>
              <a:rPr lang="en-US" sz="2600" kern="100" dirty="0"/>
              <a:t>(</a:t>
            </a:r>
            <a:r>
              <a:rPr lang="zh-CN" altLang="en-US" sz="2600" kern="100" dirty="0"/>
              <a:t>逆循环</a:t>
            </a:r>
            <a:r>
              <a:rPr lang="en-US" sz="2600" kern="100" dirty="0"/>
              <a:t>)+A</a:t>
            </a:r>
            <a:r>
              <a:rPr lang="en-US" sz="2600" kern="100" baseline="-25000" dirty="0"/>
              <a:t>ECDE</a:t>
            </a:r>
            <a:r>
              <a:rPr lang="en-US" sz="2600" kern="100" dirty="0"/>
              <a:t>(</a:t>
            </a:r>
            <a:r>
              <a:rPr lang="zh-CN" altLang="en-US" sz="2600" kern="100" dirty="0"/>
              <a:t>正循环</a:t>
            </a:r>
            <a:r>
              <a:rPr lang="en-US" sz="2600" kern="100" dirty="0"/>
              <a:t>)</a:t>
            </a:r>
          </a:p>
          <a:p>
            <a:pPr marR="16510" indent="1466850">
              <a:spcAft>
                <a:spcPts val="0"/>
              </a:spcAft>
            </a:pPr>
            <a:r>
              <a:rPr lang="en-US" sz="2600" kern="100" dirty="0"/>
              <a:t>=</a:t>
            </a:r>
            <a:r>
              <a:rPr lang="zh-CN" altLang="en-US" sz="2600" kern="100" dirty="0"/>
              <a:t>（</a:t>
            </a:r>
            <a:r>
              <a:rPr lang="en-US" sz="2600" kern="100" dirty="0"/>
              <a:t>-30</a:t>
            </a:r>
            <a:r>
              <a:rPr lang="zh-CN" altLang="en-US" sz="2600" kern="100" dirty="0"/>
              <a:t>）</a:t>
            </a:r>
            <a:r>
              <a:rPr lang="en-US" sz="2600" kern="100" dirty="0"/>
              <a:t>+70=40J</a:t>
            </a:r>
          </a:p>
          <a:p>
            <a:pPr marR="16510" indent="1466850">
              <a:spcAft>
                <a:spcPts val="0"/>
              </a:spcAft>
            </a:pPr>
            <a:br>
              <a:rPr lang="en-US" sz="2600" kern="100" dirty="0"/>
            </a:br>
            <a:br>
              <a:rPr lang="en-US" sz="2600" kern="100" dirty="0"/>
            </a:br>
            <a:r>
              <a:rPr lang="en-US" sz="2600" kern="100" dirty="0"/>
              <a:t>(2)Q</a:t>
            </a:r>
            <a:r>
              <a:rPr lang="en-US" sz="2600" kern="100" baseline="-25000" dirty="0"/>
              <a:t> ABCDEA</a:t>
            </a:r>
            <a:r>
              <a:rPr lang="en-US" sz="2600" kern="100" dirty="0"/>
              <a:t>=Q</a:t>
            </a:r>
            <a:r>
              <a:rPr lang="en-US" sz="2600" kern="100" baseline="-25000" dirty="0"/>
              <a:t>AB</a:t>
            </a:r>
            <a:r>
              <a:rPr lang="en-US" sz="2600" kern="100" dirty="0"/>
              <a:t>+ Q</a:t>
            </a:r>
            <a:r>
              <a:rPr lang="en-US" sz="2600" kern="100" baseline="-25000" dirty="0"/>
              <a:t>BEC</a:t>
            </a:r>
            <a:r>
              <a:rPr lang="en-US" sz="2600" kern="100" dirty="0"/>
              <a:t> + Q</a:t>
            </a:r>
            <a:r>
              <a:rPr lang="en-US" sz="2600" kern="100" baseline="-25000" dirty="0"/>
              <a:t>CD</a:t>
            </a:r>
            <a:r>
              <a:rPr lang="en-US" sz="2600" kern="100" dirty="0"/>
              <a:t>+ Q</a:t>
            </a:r>
            <a:r>
              <a:rPr lang="en-US" sz="2600" kern="100" baseline="-25000" dirty="0"/>
              <a:t>DEA</a:t>
            </a:r>
            <a:endParaRPr lang="en-US" sz="2600" kern="100" dirty="0"/>
          </a:p>
          <a:p>
            <a:pPr marR="16510" indent="1421765">
              <a:spcAft>
                <a:spcPts val="0"/>
              </a:spcAft>
            </a:pPr>
            <a:r>
              <a:rPr lang="en-US" sz="2600" kern="100" dirty="0"/>
              <a:t>= 0+ Q</a:t>
            </a:r>
            <a:r>
              <a:rPr lang="en-US" sz="2600" kern="100" baseline="-25000" dirty="0"/>
              <a:t>BEC</a:t>
            </a:r>
            <a:r>
              <a:rPr lang="en-US" sz="2600" kern="100" dirty="0"/>
              <a:t> +0+ Q</a:t>
            </a:r>
            <a:r>
              <a:rPr lang="en-US" sz="2600" kern="100" baseline="-25000" dirty="0"/>
              <a:t>DEA</a:t>
            </a:r>
            <a:endParaRPr lang="en-US" sz="2600" kern="100" dirty="0"/>
          </a:p>
          <a:p>
            <a:pPr marR="16510" indent="1421765">
              <a:spcAft>
                <a:spcPts val="0"/>
              </a:spcAft>
            </a:pPr>
            <a:r>
              <a:rPr lang="en-US" sz="2600" kern="100" dirty="0"/>
              <a:t>= Q</a:t>
            </a:r>
            <a:r>
              <a:rPr lang="en-US" sz="2600" kern="100" baseline="-25000" dirty="0"/>
              <a:t>BEC</a:t>
            </a:r>
            <a:r>
              <a:rPr lang="en-US" sz="2600" kern="100" dirty="0"/>
              <a:t>+(</a:t>
            </a:r>
            <a:r>
              <a:rPr lang="en-US" altLang="zh-CN" sz="2600" kern="100" dirty="0"/>
              <a:t>—</a:t>
            </a:r>
            <a:r>
              <a:rPr lang="en-US" sz="2600" kern="100" dirty="0"/>
              <a:t>100)=40J</a:t>
            </a:r>
          </a:p>
          <a:p>
            <a:pPr marR="16510" indent="288290">
              <a:spcAft>
                <a:spcPts val="0"/>
              </a:spcAft>
            </a:pPr>
            <a:r>
              <a:rPr lang="en-US" sz="2600" kern="100" dirty="0"/>
              <a:t>            </a:t>
            </a:r>
            <a:r>
              <a:rPr lang="zh-CN" altLang="en-US" sz="2600" kern="100" dirty="0"/>
              <a:t>所以</a:t>
            </a:r>
            <a:r>
              <a:rPr lang="en-US" sz="2600" kern="100" dirty="0"/>
              <a:t>    Q</a:t>
            </a:r>
            <a:r>
              <a:rPr lang="en-US" sz="2600" kern="100" baseline="-25000" dirty="0"/>
              <a:t>BEC</a:t>
            </a:r>
            <a:r>
              <a:rPr lang="en-US" sz="2600" kern="100" dirty="0"/>
              <a:t>=140J</a:t>
            </a:r>
          </a:p>
          <a:p>
            <a:pPr marR="16510">
              <a:spcAft>
                <a:spcPts val="0"/>
              </a:spcAft>
            </a:pPr>
            <a:endParaRPr lang="en-US" sz="2600" kern="100" dirty="0">
              <a:latin typeface="+mj-lt"/>
              <a:ea typeface="+mj-ea"/>
            </a:endParaRPr>
          </a:p>
        </p:txBody>
      </p:sp>
      <p:sp>
        <p:nvSpPr>
          <p:cNvPr id="3" name="文本框 2">
            <a:extLst>
              <a:ext uri="{FF2B5EF4-FFF2-40B4-BE49-F238E27FC236}">
                <a16:creationId xmlns:a16="http://schemas.microsoft.com/office/drawing/2014/main" id="{E760303B-56CF-485C-AF3E-15A02FE7F7E1}"/>
              </a:ext>
            </a:extLst>
          </p:cNvPr>
          <p:cNvSpPr txBox="1"/>
          <p:nvPr>
            <p:custDataLst>
              <p:tags r:id="rId2"/>
            </p:custDataLst>
          </p:nvPr>
        </p:nvSpPr>
        <p:spPr>
          <a:xfrm>
            <a:off x="1263650" y="1067594"/>
            <a:ext cx="9753600" cy="2143125"/>
          </a:xfrm>
          <a:prstGeom prst="rect">
            <a:avLst/>
          </a:prstGeom>
          <a:noFill/>
        </p:spPr>
        <p:txBody>
          <a:bodyPr vert="horz" wrap="square" rtlCol="0" anchor="ctr" anchorCtr="0">
            <a:noAutofit/>
          </a:bodyPr>
          <a:lstStyle/>
          <a:p>
            <a:r>
              <a:rPr lang="zh-CN" altLang="en-US" sz="2800" dirty="0"/>
              <a:t>如图所示，</a:t>
            </a:r>
            <a:r>
              <a:rPr lang="en-US" altLang="zh-CN" sz="2800" dirty="0"/>
              <a:t>DEA</a:t>
            </a:r>
            <a:r>
              <a:rPr lang="zh-CN" altLang="en-US" sz="2800" dirty="0"/>
              <a:t>为等温过程，放热</a:t>
            </a:r>
            <a:r>
              <a:rPr lang="en-US" altLang="zh-CN" sz="2800" dirty="0"/>
              <a:t>100J</a:t>
            </a:r>
            <a:r>
              <a:rPr lang="zh-CN" altLang="en-US" sz="2800" dirty="0"/>
              <a:t>；</a:t>
            </a:r>
            <a:r>
              <a:rPr lang="en-US" altLang="zh-CN" sz="2800" dirty="0"/>
              <a:t>AB</a:t>
            </a:r>
            <a:r>
              <a:rPr lang="zh-CN" altLang="en-US" sz="2800" dirty="0"/>
              <a:t>、</a:t>
            </a:r>
            <a:r>
              <a:rPr lang="en-US" altLang="zh-CN" sz="2800" dirty="0"/>
              <a:t>CD</a:t>
            </a:r>
            <a:r>
              <a:rPr lang="zh-CN" altLang="en-US" sz="2800" dirty="0"/>
              <a:t>为绝热过程；</a:t>
            </a:r>
          </a:p>
          <a:p>
            <a:r>
              <a:rPr lang="zh-CN" altLang="en-US" sz="2800" dirty="0"/>
              <a:t>在</a:t>
            </a:r>
            <a:r>
              <a:rPr lang="en-US" altLang="zh-CN" sz="2800" dirty="0"/>
              <a:t>ABEA</a:t>
            </a:r>
            <a:r>
              <a:rPr lang="zh-CN" altLang="en-US" sz="2800" dirty="0"/>
              <a:t>过程中做功大小为</a:t>
            </a:r>
            <a:r>
              <a:rPr lang="en-US" altLang="zh-CN" sz="2800" dirty="0"/>
              <a:t>30J</a:t>
            </a:r>
            <a:r>
              <a:rPr lang="zh-CN" altLang="en-US" sz="2800" dirty="0"/>
              <a:t>，</a:t>
            </a:r>
            <a:r>
              <a:rPr lang="en-US" altLang="zh-CN" sz="2800" dirty="0"/>
              <a:t>ECDE</a:t>
            </a:r>
            <a:r>
              <a:rPr lang="zh-CN" altLang="en-US" sz="2800" dirty="0"/>
              <a:t>过程做功大小为</a:t>
            </a:r>
            <a:r>
              <a:rPr lang="en-US" altLang="zh-CN" sz="2800" dirty="0"/>
              <a:t>70J</a:t>
            </a:r>
          </a:p>
          <a:p>
            <a:r>
              <a:rPr lang="zh-CN" altLang="en-US" sz="2800" dirty="0"/>
              <a:t>则</a:t>
            </a:r>
            <a:r>
              <a:rPr lang="en-US" altLang="zh-CN" sz="2800" dirty="0"/>
              <a:t>BEC</a:t>
            </a:r>
            <a:r>
              <a:rPr lang="zh-CN" altLang="en-US" sz="2800" dirty="0"/>
              <a:t>过程中热量变化为：</a:t>
            </a:r>
            <a:endParaRPr lang="en-US" altLang="zh-CN" sz="2800" dirty="0"/>
          </a:p>
          <a:p>
            <a:endParaRPr lang="en-US" altLang="zh-CN" sz="2800" dirty="0">
              <a:solidFill>
                <a:schemeClr val="accent2"/>
              </a:solidFill>
            </a:endParaRPr>
          </a:p>
        </p:txBody>
      </p:sp>
      <p:grpSp>
        <p:nvGrpSpPr>
          <p:cNvPr id="4" name="Group 4">
            <a:extLst>
              <a:ext uri="{FF2B5EF4-FFF2-40B4-BE49-F238E27FC236}">
                <a16:creationId xmlns:a16="http://schemas.microsoft.com/office/drawing/2014/main" id="{A4883E53-AA10-43F7-8230-CE766075E269}"/>
              </a:ext>
            </a:extLst>
          </p:cNvPr>
          <p:cNvGrpSpPr>
            <a:grpSpLocks/>
          </p:cNvGrpSpPr>
          <p:nvPr/>
        </p:nvGrpSpPr>
        <p:grpSpPr bwMode="auto">
          <a:xfrm>
            <a:off x="7359650" y="2374817"/>
            <a:ext cx="3816350" cy="3886200"/>
            <a:chOff x="2828" y="384"/>
            <a:chExt cx="2404" cy="2448"/>
          </a:xfrm>
        </p:grpSpPr>
        <p:grpSp>
          <p:nvGrpSpPr>
            <p:cNvPr id="5" name="Group 5">
              <a:extLst>
                <a:ext uri="{FF2B5EF4-FFF2-40B4-BE49-F238E27FC236}">
                  <a16:creationId xmlns:a16="http://schemas.microsoft.com/office/drawing/2014/main" id="{AAFD44D3-4E18-414F-AA2C-53B539C22732}"/>
                </a:ext>
              </a:extLst>
            </p:cNvPr>
            <p:cNvGrpSpPr>
              <a:grpSpLocks/>
            </p:cNvGrpSpPr>
            <p:nvPr/>
          </p:nvGrpSpPr>
          <p:grpSpPr bwMode="auto">
            <a:xfrm>
              <a:off x="2828" y="384"/>
              <a:ext cx="2404" cy="2448"/>
              <a:chOff x="2400" y="384"/>
              <a:chExt cx="2404" cy="2448"/>
            </a:xfrm>
          </p:grpSpPr>
          <p:graphicFrame>
            <p:nvGraphicFramePr>
              <p:cNvPr id="15" name="Object 6">
                <a:extLst>
                  <a:ext uri="{FF2B5EF4-FFF2-40B4-BE49-F238E27FC236}">
                    <a16:creationId xmlns:a16="http://schemas.microsoft.com/office/drawing/2014/main" id="{16C6D7D8-C2A6-4AAB-8099-72487D0A90E3}"/>
                  </a:ext>
                </a:extLst>
              </p:cNvPr>
              <p:cNvGraphicFramePr>
                <a:graphicFrameLocks noChangeAspect="1"/>
              </p:cNvGraphicFramePr>
              <p:nvPr/>
            </p:nvGraphicFramePr>
            <p:xfrm>
              <a:off x="2415" y="595"/>
              <a:ext cx="2289" cy="1964"/>
            </p:xfrm>
            <a:graphic>
              <a:graphicData uri="http://schemas.openxmlformats.org/presentationml/2006/ole">
                <mc:AlternateContent xmlns:mc="http://schemas.openxmlformats.org/markup-compatibility/2006">
                  <mc:Choice xmlns:v="urn:schemas-microsoft-com:vml" Requires="v">
                    <p:oleObj spid="_x0000_s5126" name="BMP 图象" r:id="rId4" imgW="1476309" imgH="1266685" progId="PBrush">
                      <p:embed/>
                    </p:oleObj>
                  </mc:Choice>
                  <mc:Fallback>
                    <p:oleObj name="BMP 图象" r:id="rId4" imgW="1476309" imgH="1266685" progId="PBrush">
                      <p:embed/>
                      <p:pic>
                        <p:nvPicPr>
                          <p:cNvPr id="15" name="Object 6">
                            <a:extLst>
                              <a:ext uri="{FF2B5EF4-FFF2-40B4-BE49-F238E27FC236}">
                                <a16:creationId xmlns:a16="http://schemas.microsoft.com/office/drawing/2014/main" id="{16C6D7D8-C2A6-4AAB-8099-72487D0A90E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5" y="595"/>
                            <a:ext cx="2289" cy="1964"/>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 name="Line 7">
                <a:extLst>
                  <a:ext uri="{FF2B5EF4-FFF2-40B4-BE49-F238E27FC236}">
                    <a16:creationId xmlns:a16="http://schemas.microsoft.com/office/drawing/2014/main" id="{26DF4692-83D0-4CCD-96B8-8EDB8408C6D1}"/>
                  </a:ext>
                </a:extLst>
              </p:cNvPr>
              <p:cNvSpPr>
                <a:spLocks noChangeShapeType="1"/>
              </p:cNvSpPr>
              <p:nvPr/>
            </p:nvSpPr>
            <p:spPr bwMode="auto">
              <a:xfrm flipV="1">
                <a:off x="2400" y="576"/>
                <a:ext cx="0" cy="196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8">
                <a:extLst>
                  <a:ext uri="{FF2B5EF4-FFF2-40B4-BE49-F238E27FC236}">
                    <a16:creationId xmlns:a16="http://schemas.microsoft.com/office/drawing/2014/main" id="{520A96D1-700C-45F8-923B-451C0145F48C}"/>
                  </a:ext>
                </a:extLst>
              </p:cNvPr>
              <p:cNvSpPr>
                <a:spLocks noChangeShapeType="1"/>
              </p:cNvSpPr>
              <p:nvPr/>
            </p:nvSpPr>
            <p:spPr bwMode="auto">
              <a:xfrm>
                <a:off x="2400" y="2544"/>
                <a:ext cx="230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 name="Text Box 9">
                <a:extLst>
                  <a:ext uri="{FF2B5EF4-FFF2-40B4-BE49-F238E27FC236}">
                    <a16:creationId xmlns:a16="http://schemas.microsoft.com/office/drawing/2014/main" id="{66083097-DFB6-4F52-B6C2-27D0343B8F03}"/>
                  </a:ext>
                </a:extLst>
              </p:cNvPr>
              <p:cNvSpPr txBox="1">
                <a:spLocks noChangeArrowheads="1"/>
              </p:cNvSpPr>
              <p:nvPr/>
            </p:nvSpPr>
            <p:spPr bwMode="auto">
              <a:xfrm>
                <a:off x="2400" y="384"/>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i="1"/>
                  <a:t> p </a:t>
                </a:r>
              </a:p>
            </p:txBody>
          </p:sp>
          <p:sp>
            <p:nvSpPr>
              <p:cNvPr id="19" name="Text Box 10">
                <a:extLst>
                  <a:ext uri="{FF2B5EF4-FFF2-40B4-BE49-F238E27FC236}">
                    <a16:creationId xmlns:a16="http://schemas.microsoft.com/office/drawing/2014/main" id="{41FE456A-3347-41E4-80EF-366CAB91FC08}"/>
                  </a:ext>
                </a:extLst>
              </p:cNvPr>
              <p:cNvSpPr txBox="1">
                <a:spLocks noChangeArrowheads="1"/>
              </p:cNvSpPr>
              <p:nvPr/>
            </p:nvSpPr>
            <p:spPr bwMode="auto">
              <a:xfrm>
                <a:off x="4512" y="2544"/>
                <a:ext cx="2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i="1"/>
                  <a:t>V </a:t>
                </a:r>
              </a:p>
            </p:txBody>
          </p:sp>
        </p:grpSp>
        <p:sp>
          <p:nvSpPr>
            <p:cNvPr id="6" name="Text Box 11">
              <a:extLst>
                <a:ext uri="{FF2B5EF4-FFF2-40B4-BE49-F238E27FC236}">
                  <a16:creationId xmlns:a16="http://schemas.microsoft.com/office/drawing/2014/main" id="{3E8C3170-72C2-4C73-9E1C-D793D0BCEF8B}"/>
                </a:ext>
              </a:extLst>
            </p:cNvPr>
            <p:cNvSpPr txBox="1">
              <a:spLocks noChangeArrowheads="1"/>
            </p:cNvSpPr>
            <p:nvPr/>
          </p:nvSpPr>
          <p:spPr bwMode="auto">
            <a:xfrm>
              <a:off x="3120" y="480"/>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a:t>A</a:t>
              </a:r>
            </a:p>
          </p:txBody>
        </p:sp>
        <p:sp>
          <p:nvSpPr>
            <p:cNvPr id="7" name="Text Box 12">
              <a:extLst>
                <a:ext uri="{FF2B5EF4-FFF2-40B4-BE49-F238E27FC236}">
                  <a16:creationId xmlns:a16="http://schemas.microsoft.com/office/drawing/2014/main" id="{31CF8E80-70BD-4F20-8D98-9BF7847BE69B}"/>
                </a:ext>
              </a:extLst>
            </p:cNvPr>
            <p:cNvSpPr txBox="1">
              <a:spLocks noChangeArrowheads="1"/>
            </p:cNvSpPr>
            <p:nvPr/>
          </p:nvSpPr>
          <p:spPr bwMode="auto">
            <a:xfrm>
              <a:off x="3360" y="1872"/>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a:t>B</a:t>
              </a:r>
            </a:p>
          </p:txBody>
        </p:sp>
        <p:sp>
          <p:nvSpPr>
            <p:cNvPr id="8" name="Text Box 13">
              <a:extLst>
                <a:ext uri="{FF2B5EF4-FFF2-40B4-BE49-F238E27FC236}">
                  <a16:creationId xmlns:a16="http://schemas.microsoft.com/office/drawing/2014/main" id="{7E8B3D4F-774B-4D4B-A897-5E9634EA18B2}"/>
                </a:ext>
              </a:extLst>
            </p:cNvPr>
            <p:cNvSpPr txBox="1">
              <a:spLocks noChangeArrowheads="1"/>
            </p:cNvSpPr>
            <p:nvPr/>
          </p:nvSpPr>
          <p:spPr bwMode="auto">
            <a:xfrm>
              <a:off x="4384" y="829"/>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a:t>C</a:t>
              </a:r>
            </a:p>
          </p:txBody>
        </p:sp>
        <p:sp>
          <p:nvSpPr>
            <p:cNvPr id="9" name="Text Box 14">
              <a:extLst>
                <a:ext uri="{FF2B5EF4-FFF2-40B4-BE49-F238E27FC236}">
                  <a16:creationId xmlns:a16="http://schemas.microsoft.com/office/drawing/2014/main" id="{ED443ADB-502A-4C24-AFB1-B194909F2540}"/>
                </a:ext>
              </a:extLst>
            </p:cNvPr>
            <p:cNvSpPr txBox="1">
              <a:spLocks noChangeArrowheads="1"/>
            </p:cNvSpPr>
            <p:nvPr/>
          </p:nvSpPr>
          <p:spPr bwMode="auto">
            <a:xfrm>
              <a:off x="4892" y="2180"/>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dirty="0"/>
                <a:t>D</a:t>
              </a:r>
            </a:p>
          </p:txBody>
        </p:sp>
        <p:sp>
          <p:nvSpPr>
            <p:cNvPr id="10" name="Text Box 15">
              <a:extLst>
                <a:ext uri="{FF2B5EF4-FFF2-40B4-BE49-F238E27FC236}">
                  <a16:creationId xmlns:a16="http://schemas.microsoft.com/office/drawing/2014/main" id="{68411B0D-E2DE-40C5-BABE-E57A263DF3DF}"/>
                </a:ext>
              </a:extLst>
            </p:cNvPr>
            <p:cNvSpPr txBox="1">
              <a:spLocks noChangeArrowheads="1"/>
            </p:cNvSpPr>
            <p:nvPr/>
          </p:nvSpPr>
          <p:spPr bwMode="auto">
            <a:xfrm>
              <a:off x="3600" y="1152"/>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dirty="0"/>
                <a:t>E</a:t>
              </a:r>
            </a:p>
          </p:txBody>
        </p:sp>
        <p:sp>
          <p:nvSpPr>
            <p:cNvPr id="11" name="Line 16">
              <a:extLst>
                <a:ext uri="{FF2B5EF4-FFF2-40B4-BE49-F238E27FC236}">
                  <a16:creationId xmlns:a16="http://schemas.microsoft.com/office/drawing/2014/main" id="{5A651E82-FED1-4852-B48B-7EDEAA8CCC2D}"/>
                </a:ext>
              </a:extLst>
            </p:cNvPr>
            <p:cNvSpPr>
              <a:spLocks noChangeShapeType="1"/>
            </p:cNvSpPr>
            <p:nvPr/>
          </p:nvSpPr>
          <p:spPr bwMode="auto">
            <a:xfrm>
              <a:off x="3246" y="1248"/>
              <a:ext cx="48" cy="192"/>
            </a:xfrm>
            <a:prstGeom prst="line">
              <a:avLst/>
            </a:prstGeom>
            <a:noFill/>
            <a:ln w="28575">
              <a:solidFill>
                <a:srgbClr val="CC0000"/>
              </a:solidFill>
              <a:round/>
              <a:headEnd/>
              <a:tailEnd type="arrow" w="med" len="lg"/>
            </a:ln>
            <a:extLst>
              <a:ext uri="{909E8E84-426E-40DD-AFC4-6F175D3DCCD1}">
                <a14:hiddenFill xmlns:a14="http://schemas.microsoft.com/office/drawing/2010/main">
                  <a:noFill/>
                </a14:hiddenFill>
              </a:ext>
            </a:extLst>
          </p:spPr>
          <p:txBody>
            <a:bodyPr wrap="none" anchor="ctr"/>
            <a:lstStyle/>
            <a:p>
              <a:endParaRPr lang="en-US"/>
            </a:p>
          </p:txBody>
        </p:sp>
        <p:sp>
          <p:nvSpPr>
            <p:cNvPr id="12" name="Line 17">
              <a:extLst>
                <a:ext uri="{FF2B5EF4-FFF2-40B4-BE49-F238E27FC236}">
                  <a16:creationId xmlns:a16="http://schemas.microsoft.com/office/drawing/2014/main" id="{923523B6-B6C1-4579-B7F2-6E4B97B422B1}"/>
                </a:ext>
              </a:extLst>
            </p:cNvPr>
            <p:cNvSpPr>
              <a:spLocks noChangeShapeType="1"/>
            </p:cNvSpPr>
            <p:nvPr/>
          </p:nvSpPr>
          <p:spPr bwMode="auto">
            <a:xfrm flipV="1">
              <a:off x="3888" y="1238"/>
              <a:ext cx="96" cy="96"/>
            </a:xfrm>
            <a:prstGeom prst="line">
              <a:avLst/>
            </a:prstGeom>
            <a:noFill/>
            <a:ln w="28575">
              <a:solidFill>
                <a:srgbClr val="CC0000"/>
              </a:solidFill>
              <a:round/>
              <a:headEnd/>
              <a:tailEnd type="arrow" w="med" len="lg"/>
            </a:ln>
            <a:extLst>
              <a:ext uri="{909E8E84-426E-40DD-AFC4-6F175D3DCCD1}">
                <a14:hiddenFill xmlns:a14="http://schemas.microsoft.com/office/drawing/2010/main">
                  <a:noFill/>
                </a14:hiddenFill>
              </a:ext>
            </a:extLst>
          </p:spPr>
          <p:txBody>
            <a:bodyPr wrap="none" anchor="ctr"/>
            <a:lstStyle/>
            <a:p>
              <a:endParaRPr lang="en-US"/>
            </a:p>
          </p:txBody>
        </p:sp>
        <p:sp>
          <p:nvSpPr>
            <p:cNvPr id="13" name="Line 18">
              <a:extLst>
                <a:ext uri="{FF2B5EF4-FFF2-40B4-BE49-F238E27FC236}">
                  <a16:creationId xmlns:a16="http://schemas.microsoft.com/office/drawing/2014/main" id="{3D42A6EE-BF73-4DA9-BB71-153340B25688}"/>
                </a:ext>
              </a:extLst>
            </p:cNvPr>
            <p:cNvSpPr>
              <a:spLocks noChangeShapeType="1"/>
            </p:cNvSpPr>
            <p:nvPr/>
          </p:nvSpPr>
          <p:spPr bwMode="auto">
            <a:xfrm>
              <a:off x="4512" y="1536"/>
              <a:ext cx="48" cy="192"/>
            </a:xfrm>
            <a:prstGeom prst="line">
              <a:avLst/>
            </a:prstGeom>
            <a:noFill/>
            <a:ln w="28575">
              <a:solidFill>
                <a:srgbClr val="CC0000"/>
              </a:solidFill>
              <a:round/>
              <a:headEnd/>
              <a:tailEnd type="arrow" w="med" len="lg"/>
            </a:ln>
            <a:extLst>
              <a:ext uri="{909E8E84-426E-40DD-AFC4-6F175D3DCCD1}">
                <a14:hiddenFill xmlns:a14="http://schemas.microsoft.com/office/drawing/2010/main">
                  <a:noFill/>
                </a14:hiddenFill>
              </a:ext>
            </a:extLst>
          </p:spPr>
          <p:txBody>
            <a:bodyPr wrap="none" anchor="ctr"/>
            <a:lstStyle/>
            <a:p>
              <a:endParaRPr lang="en-US"/>
            </a:p>
          </p:txBody>
        </p:sp>
        <p:sp>
          <p:nvSpPr>
            <p:cNvPr id="14" name="Line 19">
              <a:extLst>
                <a:ext uri="{FF2B5EF4-FFF2-40B4-BE49-F238E27FC236}">
                  <a16:creationId xmlns:a16="http://schemas.microsoft.com/office/drawing/2014/main" id="{FB81FFC7-8C3C-4FCB-87C9-94A79EC803C4}"/>
                </a:ext>
              </a:extLst>
            </p:cNvPr>
            <p:cNvSpPr>
              <a:spLocks noChangeShapeType="1"/>
            </p:cNvSpPr>
            <p:nvPr/>
          </p:nvSpPr>
          <p:spPr bwMode="auto">
            <a:xfrm flipH="1" flipV="1">
              <a:off x="4032" y="1824"/>
              <a:ext cx="144" cy="96"/>
            </a:xfrm>
            <a:prstGeom prst="line">
              <a:avLst/>
            </a:prstGeom>
            <a:noFill/>
            <a:ln w="28575">
              <a:solidFill>
                <a:srgbClr val="CC0000"/>
              </a:solidFill>
              <a:round/>
              <a:headEnd/>
              <a:tailEnd type="arrow" w="med" len="lg"/>
            </a:ln>
            <a:extLst>
              <a:ext uri="{909E8E84-426E-40DD-AFC4-6F175D3DCCD1}">
                <a14:hiddenFill xmlns:a14="http://schemas.microsoft.com/office/drawing/2010/main">
                  <a:noFill/>
                </a14:hiddenFill>
              </a:ext>
            </a:extLst>
          </p:spPr>
          <p:txBody>
            <a:bodyPr wrap="none" anchor="ctr"/>
            <a:lstStyle/>
            <a:p>
              <a:endParaRPr lang="en-US"/>
            </a:p>
          </p:txBody>
        </p:sp>
      </p:grpSp>
    </p:spTree>
    <p:extLst>
      <p:ext uri="{BB962C8B-B14F-4D97-AF65-F5344CB8AC3E}">
        <p14:creationId xmlns:p14="http://schemas.microsoft.com/office/powerpoint/2010/main" val="3394459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8" name="Text Box 4">
            <a:extLst>
              <a:ext uri="{FF2B5EF4-FFF2-40B4-BE49-F238E27FC236}">
                <a16:creationId xmlns:a16="http://schemas.microsoft.com/office/drawing/2014/main" id="{32C73768-713B-77A8-2104-07DB34AC8EDF}"/>
              </a:ext>
            </a:extLst>
          </p:cNvPr>
          <p:cNvSpPr txBox="1">
            <a:spLocks noChangeArrowheads="1"/>
          </p:cNvSpPr>
          <p:nvPr/>
        </p:nvSpPr>
        <p:spPr bwMode="auto">
          <a:xfrm>
            <a:off x="1282593" y="1109008"/>
            <a:ext cx="9626814"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zh-CN" sz="2800" dirty="0">
                <a:latin typeface="+mn-ea"/>
              </a:rPr>
              <a:t>    </a:t>
            </a:r>
            <a:r>
              <a:rPr lang="zh-CN" altLang="en-US" sz="2800" dirty="0">
                <a:latin typeface="+mn-ea"/>
              </a:rPr>
              <a:t>在卡诺循环中，从高温热库吸的热与放给低温热库的热之比，等于两热库温度</a:t>
            </a:r>
            <a:r>
              <a:rPr lang="en-US" altLang="zh-CN" sz="2800" i="1" dirty="0">
                <a:latin typeface="+mn-ea"/>
                <a:sym typeface="Symbol" panose="05050102010706020507" pitchFamily="18" charset="2"/>
              </a:rPr>
              <a:t>T</a:t>
            </a:r>
            <a:r>
              <a:rPr lang="en-US" altLang="zh-CN" sz="2800" baseline="-25000" dirty="0">
                <a:latin typeface="+mn-ea"/>
                <a:sym typeface="Symbol" panose="05050102010706020507" pitchFamily="18" charset="2"/>
              </a:rPr>
              <a:t>1</a:t>
            </a:r>
            <a:r>
              <a:rPr lang="zh-CN" altLang="en-US" sz="2800" dirty="0">
                <a:latin typeface="+mn-ea"/>
                <a:sym typeface="Symbol" panose="05050102010706020507" pitchFamily="18" charset="2"/>
              </a:rPr>
              <a:t>和</a:t>
            </a:r>
            <a:r>
              <a:rPr lang="en-US" altLang="zh-CN" sz="2800" i="1" dirty="0">
                <a:latin typeface="+mn-ea"/>
                <a:sym typeface="Symbol" panose="05050102010706020507" pitchFamily="18" charset="2"/>
              </a:rPr>
              <a:t>T</a:t>
            </a:r>
            <a:r>
              <a:rPr lang="en-US" altLang="zh-CN" sz="2800" baseline="-25000" dirty="0">
                <a:latin typeface="+mn-ea"/>
                <a:sym typeface="Symbol" panose="05050102010706020507" pitchFamily="18" charset="2"/>
              </a:rPr>
              <a:t>2</a:t>
            </a:r>
            <a:r>
              <a:rPr lang="zh-CN" altLang="en-US" sz="2800" dirty="0">
                <a:latin typeface="+mn-ea"/>
              </a:rPr>
              <a:t>之比，且与工质无关：</a:t>
            </a:r>
          </a:p>
        </p:txBody>
      </p:sp>
      <p:sp>
        <p:nvSpPr>
          <p:cNvPr id="139269" name="Text Box 5">
            <a:extLst>
              <a:ext uri="{FF2B5EF4-FFF2-40B4-BE49-F238E27FC236}">
                <a16:creationId xmlns:a16="http://schemas.microsoft.com/office/drawing/2014/main" id="{389EAB6A-0D96-3A06-D64B-6C728F15D413}"/>
              </a:ext>
            </a:extLst>
          </p:cNvPr>
          <p:cNvSpPr txBox="1">
            <a:spLocks noChangeArrowheads="1"/>
          </p:cNvSpPr>
          <p:nvPr/>
        </p:nvSpPr>
        <p:spPr bwMode="auto">
          <a:xfrm>
            <a:off x="1499944" y="3296576"/>
            <a:ext cx="805338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dirty="0">
                <a:latin typeface="+mn-ea"/>
              </a:rPr>
              <a:t>取水三相点温度为计量温度的定点，并规定</a:t>
            </a:r>
          </a:p>
        </p:txBody>
      </p:sp>
      <mc:AlternateContent xmlns:mc="http://schemas.openxmlformats.org/markup-compatibility/2006" xmlns:a14="http://schemas.microsoft.com/office/drawing/2010/main">
        <mc:Choice Requires="a14">
          <p:sp>
            <p:nvSpPr>
              <p:cNvPr id="139270" name="Object 6">
                <a:extLst>
                  <a:ext uri="{FF2B5EF4-FFF2-40B4-BE49-F238E27FC236}">
                    <a16:creationId xmlns:a16="http://schemas.microsoft.com/office/drawing/2014/main" id="{C53F0B5D-FFF1-2C28-D0E7-4BF871A293EB}"/>
                  </a:ext>
                </a:extLst>
              </p:cNvPr>
              <p:cNvSpPr txBox="1"/>
              <p:nvPr/>
            </p:nvSpPr>
            <p:spPr bwMode="auto">
              <a:xfrm>
                <a:off x="7717807" y="3293457"/>
                <a:ext cx="3911384" cy="595313"/>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0</m:t>
                          </m:r>
                        </m:sub>
                      </m:sSub>
                      <m:r>
                        <a:rPr lang="en-US" sz="2800" i="1">
                          <a:solidFill>
                            <a:srgbClr val="000000"/>
                          </a:solidFill>
                          <a:latin typeface="Cambria Math" panose="02040503050406030204" pitchFamily="18" charset="0"/>
                        </a:rPr>
                        <m:t>=273.16</m:t>
                      </m:r>
                      <m:r>
                        <m:rPr>
                          <m:sty m:val="p"/>
                        </m:rPr>
                        <a:rPr lang="en-US" sz="2800" i="1">
                          <a:solidFill>
                            <a:srgbClr val="000000"/>
                          </a:solidFill>
                          <a:latin typeface="Cambria Math" panose="02040503050406030204" pitchFamily="18" charset="0"/>
                        </a:rPr>
                        <m:t>K</m:t>
                      </m:r>
                    </m:oMath>
                  </m:oMathPara>
                </a14:m>
                <a:endParaRPr lang="en-US" sz="2800" dirty="0"/>
              </a:p>
            </p:txBody>
          </p:sp>
        </mc:Choice>
        <mc:Fallback xmlns="">
          <p:sp>
            <p:nvSpPr>
              <p:cNvPr id="139270" name="Object 6">
                <a:extLst>
                  <a:ext uri="{FF2B5EF4-FFF2-40B4-BE49-F238E27FC236}">
                    <a16:creationId xmlns:a16="http://schemas.microsoft.com/office/drawing/2014/main" id="{C53F0B5D-FFF1-2C28-D0E7-4BF871A293EB}"/>
                  </a:ext>
                </a:extLst>
              </p:cNvPr>
              <p:cNvSpPr txBox="1">
                <a:spLocks noRot="1" noChangeAspect="1" noMove="1" noResize="1" noEditPoints="1" noAdjustHandles="1" noChangeArrowheads="1" noChangeShapeType="1" noTextEdit="1"/>
              </p:cNvSpPr>
              <p:nvPr/>
            </p:nvSpPr>
            <p:spPr bwMode="auto">
              <a:xfrm>
                <a:off x="7717807" y="3293457"/>
                <a:ext cx="3911384" cy="595313"/>
              </a:xfrm>
              <a:prstGeom prst="rect">
                <a:avLst/>
              </a:prstGeom>
              <a:blipFill>
                <a:blip r:embed="rId2"/>
                <a:stretch>
                  <a:fillRect/>
                </a:stretch>
              </a:blipFill>
              <a:ln>
                <a:noFill/>
              </a:ln>
              <a:effectLst/>
              <a:extLst/>
            </p:spPr>
            <p:txBody>
              <a:bodyPr/>
              <a:lstStyle/>
              <a:p>
                <a:r>
                  <a:rPr lang="en-US">
                    <a:noFill/>
                  </a:rPr>
                  <a:t> </a:t>
                </a:r>
              </a:p>
            </p:txBody>
          </p:sp>
        </mc:Fallback>
      </mc:AlternateContent>
      <p:sp>
        <p:nvSpPr>
          <p:cNvPr id="139272" name="Rectangle 8">
            <a:extLst>
              <a:ext uri="{FF2B5EF4-FFF2-40B4-BE49-F238E27FC236}">
                <a16:creationId xmlns:a16="http://schemas.microsoft.com/office/drawing/2014/main" id="{F527F392-062C-86FB-C0F3-B3C1D9F161C6}"/>
              </a:ext>
            </a:extLst>
          </p:cNvPr>
          <p:cNvSpPr>
            <a:spLocks noChangeArrowheads="1"/>
          </p:cNvSpPr>
          <p:nvPr/>
        </p:nvSpPr>
        <p:spPr bwMode="auto">
          <a:xfrm>
            <a:off x="1952625" y="4146550"/>
            <a:ext cx="521168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dirty="0">
                <a:latin typeface="+mn-ea"/>
              </a:rPr>
              <a:t>得到热力学温标（理论温标）：</a:t>
            </a:r>
          </a:p>
        </p:txBody>
      </p:sp>
      <p:sp>
        <p:nvSpPr>
          <p:cNvPr id="139273" name="Text Box 9">
            <a:extLst>
              <a:ext uri="{FF2B5EF4-FFF2-40B4-BE49-F238E27FC236}">
                <a16:creationId xmlns:a16="http://schemas.microsoft.com/office/drawing/2014/main" id="{5FB6DBA1-1463-B936-F8E2-DFFB56E703AB}"/>
              </a:ext>
            </a:extLst>
          </p:cNvPr>
          <p:cNvSpPr txBox="1">
            <a:spLocks noChangeArrowheads="1"/>
          </p:cNvSpPr>
          <p:nvPr/>
        </p:nvSpPr>
        <p:spPr bwMode="auto">
          <a:xfrm>
            <a:off x="802872" y="5795790"/>
            <a:ext cx="105862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zh-CN" sz="2800" dirty="0">
                <a:latin typeface="+mn-ea"/>
              </a:rPr>
              <a:t>    </a:t>
            </a:r>
            <a:r>
              <a:rPr lang="zh-CN" altLang="en-US" sz="2800" dirty="0">
                <a:latin typeface="+mn-ea"/>
              </a:rPr>
              <a:t>在理想气体概念有效的范围内，热力学温标和理想气体温标等价。</a:t>
            </a:r>
          </a:p>
        </p:txBody>
      </p:sp>
      <mc:AlternateContent xmlns:mc="http://schemas.openxmlformats.org/markup-compatibility/2006" xmlns:a14="http://schemas.microsoft.com/office/drawing/2010/main">
        <mc:Choice Requires="a14">
          <p:sp>
            <p:nvSpPr>
              <p:cNvPr id="139274" name="Object 10">
                <a:extLst>
                  <a:ext uri="{FF2B5EF4-FFF2-40B4-BE49-F238E27FC236}">
                    <a16:creationId xmlns:a16="http://schemas.microsoft.com/office/drawing/2014/main" id="{02E9EFCD-4E81-13FA-DD90-E88835537FB2}"/>
                  </a:ext>
                </a:extLst>
              </p:cNvPr>
              <p:cNvSpPr txBox="1"/>
              <p:nvPr/>
            </p:nvSpPr>
            <p:spPr bwMode="auto">
              <a:xfrm>
                <a:off x="4118970" y="2168993"/>
                <a:ext cx="2815337" cy="1141412"/>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f>
                        <m:fPr>
                          <m:ctrlPr>
                            <a:rPr lang="en-US" sz="2800" i="1" smtClean="0">
                              <a:solidFill>
                                <a:srgbClr val="000000"/>
                              </a:solidFill>
                              <a:latin typeface="Cambria Math" panose="02040503050406030204" pitchFamily="18" charset="0"/>
                            </a:rPr>
                          </m:ctrlPr>
                        </m:fPr>
                        <m:num>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𝑄</m:t>
                              </m:r>
                            </m:e>
                            <m:sub>
                              <m:r>
                                <a:rPr lang="en-US" sz="2800" i="1">
                                  <a:solidFill>
                                    <a:srgbClr val="000000"/>
                                  </a:solidFill>
                                  <a:latin typeface="Cambria Math" panose="02040503050406030204" pitchFamily="18" charset="0"/>
                                </a:rPr>
                                <m:t>2</m:t>
                              </m:r>
                            </m:sub>
                          </m:sSub>
                        </m:num>
                        <m:den>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𝑄</m:t>
                              </m:r>
                            </m:e>
                            <m:sub>
                              <m:r>
                                <a:rPr lang="en-US" sz="2800" i="1">
                                  <a:solidFill>
                                    <a:srgbClr val="000000"/>
                                  </a:solidFill>
                                  <a:latin typeface="Cambria Math" panose="02040503050406030204" pitchFamily="18" charset="0"/>
                                </a:rPr>
                                <m:t>1</m:t>
                              </m:r>
                            </m:sub>
                          </m:sSub>
                        </m:den>
                      </m:f>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2</m:t>
                              </m:r>
                            </m:sub>
                          </m:sSub>
                        </m:num>
                        <m:den>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b="0" i="1" smtClean="0">
                                  <a:solidFill>
                                    <a:srgbClr val="000000"/>
                                  </a:solidFill>
                                  <a:latin typeface="Cambria Math" panose="02040503050406030204" pitchFamily="18" charset="0"/>
                                </a:rPr>
                                <m:t>1</m:t>
                              </m:r>
                            </m:sub>
                          </m:sSub>
                        </m:den>
                      </m:f>
                    </m:oMath>
                  </m:oMathPara>
                </a14:m>
                <a:endParaRPr lang="en-US" sz="2800" dirty="0"/>
              </a:p>
            </p:txBody>
          </p:sp>
        </mc:Choice>
        <mc:Fallback xmlns="">
          <p:sp>
            <p:nvSpPr>
              <p:cNvPr id="139274" name="Object 10">
                <a:extLst>
                  <a:ext uri="{FF2B5EF4-FFF2-40B4-BE49-F238E27FC236}">
                    <a16:creationId xmlns:a16="http://schemas.microsoft.com/office/drawing/2014/main" id="{02E9EFCD-4E81-13FA-DD90-E88835537FB2}"/>
                  </a:ext>
                </a:extLst>
              </p:cNvPr>
              <p:cNvSpPr txBox="1">
                <a:spLocks noRot="1" noChangeAspect="1" noMove="1" noResize="1" noEditPoints="1" noAdjustHandles="1" noChangeArrowheads="1" noChangeShapeType="1" noTextEdit="1"/>
              </p:cNvSpPr>
              <p:nvPr/>
            </p:nvSpPr>
            <p:spPr bwMode="auto">
              <a:xfrm>
                <a:off x="4118970" y="2168993"/>
                <a:ext cx="2815337" cy="1141412"/>
              </a:xfrm>
              <a:prstGeom prst="rect">
                <a:avLst/>
              </a:prstGeom>
              <a:blipFill>
                <a:blip r:embed="rId3"/>
                <a:stretch>
                  <a:fillRect/>
                </a:stretch>
              </a:blipFill>
              <a:ln>
                <a:noFill/>
              </a:ln>
              <a:effectLst/>
              <a:extLst/>
            </p:spPr>
            <p:txBody>
              <a:bodyPr/>
              <a:lstStyle/>
              <a:p>
                <a:r>
                  <a:rPr lang="en-US">
                    <a:noFill/>
                  </a:rPr>
                  <a:t> </a:t>
                </a:r>
              </a:p>
            </p:txBody>
          </p:sp>
        </mc:Fallback>
      </mc:AlternateContent>
      <p:sp>
        <p:nvSpPr>
          <p:cNvPr id="23" name="Text Box 13">
            <a:hlinkClick r:id="" action="ppaction://noaction"/>
            <a:extLst>
              <a:ext uri="{FF2B5EF4-FFF2-40B4-BE49-F238E27FC236}">
                <a16:creationId xmlns:a16="http://schemas.microsoft.com/office/drawing/2014/main" id="{4603BDA0-EB80-414C-AC50-43166A37B41A}"/>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卡诺循环 </a:t>
            </a:r>
            <a:r>
              <a:rPr kumimoji="1" lang="en-US" altLang="zh-CN" sz="3200" dirty="0">
                <a:solidFill>
                  <a:srgbClr val="0066FF"/>
                </a:solidFill>
                <a:latin typeface="+mn-lt"/>
                <a:ea typeface="+mn-ea"/>
                <a:cs typeface="Times New Roman" panose="02020603050405020304" pitchFamily="18" charset="0"/>
              </a:rPr>
              <a:t>- </a:t>
            </a:r>
            <a:r>
              <a:rPr kumimoji="1" lang="zh-CN" altLang="en-US" sz="3200" dirty="0">
                <a:solidFill>
                  <a:srgbClr val="0066FF"/>
                </a:solidFill>
                <a:latin typeface="+mn-lt"/>
                <a:ea typeface="+mn-ea"/>
                <a:cs typeface="Times New Roman" panose="02020603050405020304" pitchFamily="18" charset="0"/>
              </a:rPr>
              <a:t>热力学温标</a:t>
            </a:r>
          </a:p>
        </p:txBody>
      </p:sp>
      <mc:AlternateContent xmlns:mc="http://schemas.openxmlformats.org/markup-compatibility/2006" xmlns:a14="http://schemas.microsoft.com/office/drawing/2010/main">
        <mc:Choice Requires="a14">
          <p:sp>
            <p:nvSpPr>
              <p:cNvPr id="24" name="Object 10">
                <a:extLst>
                  <a:ext uri="{FF2B5EF4-FFF2-40B4-BE49-F238E27FC236}">
                    <a16:creationId xmlns:a16="http://schemas.microsoft.com/office/drawing/2014/main" id="{EBF1F359-6F8E-4DAB-A3F9-5054B6E4C444}"/>
                  </a:ext>
                </a:extLst>
              </p:cNvPr>
              <p:cNvSpPr txBox="1"/>
              <p:nvPr/>
            </p:nvSpPr>
            <p:spPr bwMode="auto">
              <a:xfrm>
                <a:off x="4199045" y="4792879"/>
                <a:ext cx="5316914" cy="1141412"/>
              </a:xfrm>
              <a:prstGeom prst="rect">
                <a:avLst/>
              </a:prstGeom>
              <a:noFill/>
              <a:ln>
                <a:noFill/>
              </a:ln>
              <a:effectLst/>
            </p:spPr>
            <p:txBody>
              <a:bodyPr>
                <a:normAutofit/>
              </a:bodyPr>
              <a:lstStyle/>
              <a:p>
                <a14:m>
                  <m:oMath xmlns:m="http://schemas.openxmlformats.org/officeDocument/2006/math">
                    <m:r>
                      <a:rPr lang="en-US" sz="2800" b="0" i="1" smtClean="0">
                        <a:solidFill>
                          <a:schemeClr val="tx1"/>
                        </a:solidFill>
                        <a:latin typeface="Cambria Math" panose="02040503050406030204" pitchFamily="18" charset="0"/>
                      </a:rPr>
                      <m:t>𝑇</m:t>
                    </m:r>
                    <m:r>
                      <a:rPr lang="en-US" sz="2800" b="0" i="1" smtClean="0">
                        <a:solidFill>
                          <a:schemeClr val="tx1"/>
                        </a:solidFill>
                        <a:latin typeface="Cambria Math" panose="02040503050406030204" pitchFamily="18" charset="0"/>
                      </a:rPr>
                      <m:t>=</m:t>
                    </m:r>
                    <m:f>
                      <m:fPr>
                        <m:ctrlPr>
                          <a:rPr lang="en-US" sz="2800" i="1" smtClean="0">
                            <a:solidFill>
                              <a:schemeClr val="tx1"/>
                            </a:solidFill>
                            <a:latin typeface="Cambria Math" panose="02040503050406030204" pitchFamily="18" charset="0"/>
                          </a:rPr>
                        </m:ctrlPr>
                      </m:fPr>
                      <m:num>
                        <m:r>
                          <a:rPr lang="en-US" sz="2800" b="0" i="1" smtClean="0">
                            <a:solidFill>
                              <a:schemeClr val="tx1"/>
                            </a:solidFill>
                            <a:latin typeface="Cambria Math" panose="02040503050406030204" pitchFamily="18" charset="0"/>
                          </a:rPr>
                          <m:t>𝑄</m:t>
                        </m:r>
                      </m:num>
                      <m:den>
                        <m:sSub>
                          <m:sSubPr>
                            <m:ctrlPr>
                              <a:rPr lang="en-US" sz="2800" i="1">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𝑄</m:t>
                            </m:r>
                          </m:e>
                          <m:sub>
                            <m:r>
                              <a:rPr lang="en-US" sz="2800" b="0" i="1" smtClean="0">
                                <a:solidFill>
                                  <a:schemeClr val="tx1"/>
                                </a:solidFill>
                                <a:latin typeface="Cambria Math" panose="02040503050406030204" pitchFamily="18" charset="0"/>
                              </a:rPr>
                              <m:t>0</m:t>
                            </m:r>
                          </m:sub>
                        </m:sSub>
                      </m:den>
                    </m:f>
                    <m:sSub>
                      <m:sSubPr>
                        <m:ctrlPr>
                          <a:rPr lang="en-US" sz="2800" i="1">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𝑇</m:t>
                        </m:r>
                      </m:e>
                      <m:sub>
                        <m:r>
                          <a:rPr lang="en-US" sz="2800" b="0" i="1" smtClean="0">
                            <a:solidFill>
                              <a:schemeClr val="tx1"/>
                            </a:solidFill>
                            <a:latin typeface="Cambria Math" panose="02040503050406030204" pitchFamily="18" charset="0"/>
                          </a:rPr>
                          <m:t>0</m:t>
                        </m:r>
                      </m:sub>
                    </m:sSub>
                    <m:r>
                      <a:rPr lang="en-US" sz="2800" b="0" i="1">
                        <a:solidFill>
                          <a:schemeClr val="tx1"/>
                        </a:solidFill>
                        <a:latin typeface="Cambria Math" panose="02040503050406030204" pitchFamily="18" charset="0"/>
                      </a:rPr>
                      <m:t>=</m:t>
                    </m:r>
                    <m:f>
                      <m:fPr>
                        <m:ctrlPr>
                          <a:rPr lang="en-US" sz="2800" i="1">
                            <a:solidFill>
                              <a:schemeClr val="tx1"/>
                            </a:solidFill>
                            <a:latin typeface="Cambria Math" panose="02040503050406030204" pitchFamily="18" charset="0"/>
                          </a:rPr>
                        </m:ctrlPr>
                      </m:fPr>
                      <m:num>
                        <m:r>
                          <a:rPr lang="en-US" sz="2800" b="0" i="1">
                            <a:solidFill>
                              <a:schemeClr val="tx1"/>
                            </a:solidFill>
                            <a:latin typeface="Cambria Math" panose="02040503050406030204" pitchFamily="18" charset="0"/>
                          </a:rPr>
                          <m:t>𝑄</m:t>
                        </m:r>
                      </m:num>
                      <m:den>
                        <m:sSub>
                          <m:sSubPr>
                            <m:ctrlPr>
                              <a:rPr lang="en-US" sz="2800" i="1">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𝑄</m:t>
                            </m:r>
                          </m:e>
                          <m:sub>
                            <m:r>
                              <a:rPr lang="en-US" sz="2800" b="0" i="1">
                                <a:solidFill>
                                  <a:schemeClr val="tx1"/>
                                </a:solidFill>
                                <a:latin typeface="Cambria Math" panose="02040503050406030204" pitchFamily="18" charset="0"/>
                              </a:rPr>
                              <m:t>0</m:t>
                            </m:r>
                          </m:sub>
                        </m:sSub>
                      </m:den>
                    </m:f>
                    <m:r>
                      <a:rPr lang="en-US" sz="2800" b="0" i="0" smtClean="0">
                        <a:solidFill>
                          <a:schemeClr val="tx1"/>
                        </a:solidFill>
                        <a:latin typeface="Cambria Math" panose="02040503050406030204" pitchFamily="18" charset="0"/>
                      </a:rPr>
                      <m:t> </m:t>
                    </m:r>
                    <m:r>
                      <a:rPr lang="en-US" sz="2800" b="0" i="1" smtClean="0">
                        <a:solidFill>
                          <a:schemeClr val="tx1"/>
                        </a:solidFill>
                        <a:latin typeface="Cambria Math" panose="02040503050406030204" pitchFamily="18" charset="0"/>
                      </a:rPr>
                      <m:t>⨯</m:t>
                    </m:r>
                  </m:oMath>
                </a14:m>
                <a:r>
                  <a:rPr lang="en-US" sz="2800" dirty="0">
                    <a:solidFill>
                      <a:schemeClr val="tx1"/>
                    </a:solidFill>
                    <a:latin typeface="+mn-ea"/>
                  </a:rPr>
                  <a:t> </a:t>
                </a:r>
                <a14:m>
                  <m:oMath xmlns:m="http://schemas.openxmlformats.org/officeDocument/2006/math">
                    <m:r>
                      <a:rPr lang="en-US" sz="2800" b="0" i="1">
                        <a:solidFill>
                          <a:schemeClr val="tx1"/>
                        </a:solidFill>
                        <a:latin typeface="Cambria Math" panose="02040503050406030204" pitchFamily="18" charset="0"/>
                      </a:rPr>
                      <m:t>273.16</m:t>
                    </m:r>
                    <m:r>
                      <a:rPr lang="en-US" sz="2800" b="0" i="1">
                        <a:solidFill>
                          <a:schemeClr val="tx1"/>
                        </a:solidFill>
                        <a:latin typeface="Cambria Math" panose="02040503050406030204" pitchFamily="18" charset="0"/>
                      </a:rPr>
                      <m:t>𝐾</m:t>
                    </m:r>
                  </m:oMath>
                </a14:m>
                <a:endParaRPr lang="en-US" sz="2800" dirty="0">
                  <a:solidFill>
                    <a:schemeClr val="tx1"/>
                  </a:solidFill>
                  <a:latin typeface="+mn-ea"/>
                </a:endParaRPr>
              </a:p>
            </p:txBody>
          </p:sp>
        </mc:Choice>
        <mc:Fallback xmlns="">
          <p:sp>
            <p:nvSpPr>
              <p:cNvPr id="24" name="Object 10">
                <a:extLst>
                  <a:ext uri="{FF2B5EF4-FFF2-40B4-BE49-F238E27FC236}">
                    <a16:creationId xmlns:a16="http://schemas.microsoft.com/office/drawing/2014/main" id="{EBF1F359-6F8E-4DAB-A3F9-5054B6E4C444}"/>
                  </a:ext>
                </a:extLst>
              </p:cNvPr>
              <p:cNvSpPr txBox="1">
                <a:spLocks noRot="1" noChangeAspect="1" noMove="1" noResize="1" noEditPoints="1" noAdjustHandles="1" noChangeArrowheads="1" noChangeShapeType="1" noTextEdit="1"/>
              </p:cNvSpPr>
              <p:nvPr/>
            </p:nvSpPr>
            <p:spPr bwMode="auto">
              <a:xfrm>
                <a:off x="4199045" y="4792879"/>
                <a:ext cx="5316914" cy="1141412"/>
              </a:xfrm>
              <a:prstGeom prst="rect">
                <a:avLst/>
              </a:prstGeom>
              <a:blipFill>
                <a:blip r:embed="rId4"/>
                <a:stretch>
                  <a:fillRect/>
                </a:stretch>
              </a:blipFill>
              <a:ln>
                <a:noFill/>
              </a:ln>
              <a:effectLst/>
              <a:extLst/>
            </p:spPr>
            <p:txBody>
              <a:bodyPr/>
              <a:lstStyle/>
              <a:p>
                <a:r>
                  <a:rPr 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3926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927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9270"/>
                                        </p:tgtEl>
                                        <p:attrNameLst>
                                          <p:attrName>style.visibility</p:attrName>
                                        </p:attrNameLst>
                                      </p:cBhvr>
                                      <p:to>
                                        <p:strVal val="visible"/>
                                      </p:to>
                                    </p:set>
                                  </p:childTnLst>
                                </p:cTn>
                              </p:par>
                              <p:par>
                                <p:cTn id="15" presetID="1" presetClass="entr" presetSubtype="0" fill="hold" grpId="1" nodeType="withEffect">
                                  <p:stCondLst>
                                    <p:cond delay="0"/>
                                  </p:stCondLst>
                                  <p:childTnLst>
                                    <p:set>
                                      <p:cBhvr>
                                        <p:cTn id="16" dur="1" fill="hold">
                                          <p:stCondLst>
                                            <p:cond delay="0"/>
                                          </p:stCondLst>
                                        </p:cTn>
                                        <p:tgtEl>
                                          <p:spTgt spid="13926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childTnLst>
                                    <p:set>
                                      <p:cBhvr>
                                        <p:cTn id="20" dur="1" fill="hold">
                                          <p:stCondLst>
                                            <p:cond delay="0"/>
                                          </p:stCondLst>
                                        </p:cTn>
                                        <p:tgtEl>
                                          <p:spTgt spid="13927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1" nodeType="clickEffect">
                                  <p:stCondLst>
                                    <p:cond delay="0"/>
                                  </p:stCondLst>
                                  <p:childTnLst>
                                    <p:set>
                                      <p:cBhvr>
                                        <p:cTn id="26" dur="1" fill="hold">
                                          <p:stCondLst>
                                            <p:cond delay="0"/>
                                          </p:stCondLst>
                                        </p:cTn>
                                        <p:tgtEl>
                                          <p:spTgt spid="1392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8" grpId="0" autoUpdateAnimBg="0"/>
      <p:bldP spid="139269" grpId="0" autoUpdateAnimBg="0"/>
      <p:bldP spid="139269" grpId="1"/>
      <p:bldP spid="139270" grpId="0"/>
      <p:bldP spid="139272" grpId="0" autoUpdateAnimBg="0"/>
      <p:bldP spid="139272" grpId="1"/>
      <p:bldP spid="139273" grpId="0" autoUpdateAnimBg="0"/>
      <p:bldP spid="139273" grpId="1"/>
      <p:bldP spid="139274" grpId="0"/>
      <p:bldP spid="2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undefined">
            <a:extLst>
              <a:ext uri="{FF2B5EF4-FFF2-40B4-BE49-F238E27FC236}">
                <a16:creationId xmlns:a16="http://schemas.microsoft.com/office/drawing/2014/main" id="{D4F3E5D5-347B-4CDC-92BF-F264187CDC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7495" y="1645444"/>
            <a:ext cx="3591160" cy="3567112"/>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Design is fine. History is mine. — Leonardo da Vinci, Study in Perpetual  Motion,...">
            <a:extLst>
              <a:ext uri="{FF2B5EF4-FFF2-40B4-BE49-F238E27FC236}">
                <a16:creationId xmlns:a16="http://schemas.microsoft.com/office/drawing/2014/main" id="{51C64B16-2D8F-4E75-BD0A-B88EBC1789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4976" y="468901"/>
            <a:ext cx="3889529" cy="5834294"/>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13">
            <a:hlinkClick r:id="" action="ppaction://noaction"/>
            <a:extLst>
              <a:ext uri="{FF2B5EF4-FFF2-40B4-BE49-F238E27FC236}">
                <a16:creationId xmlns:a16="http://schemas.microsoft.com/office/drawing/2014/main" id="{3C2C666E-B302-290F-7E56-B5F8BBA02C02}"/>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永动机</a:t>
            </a:r>
          </a:p>
        </p:txBody>
      </p:sp>
    </p:spTree>
    <p:extLst>
      <p:ext uri="{BB962C8B-B14F-4D97-AF65-F5344CB8AC3E}">
        <p14:creationId xmlns:p14="http://schemas.microsoft.com/office/powerpoint/2010/main" val="316360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77A3C-453E-4452-2089-5B46F8A574B7}"/>
            </a:ext>
          </a:extLst>
        </p:cNvPr>
        <p:cNvGrpSpPr/>
        <p:nvPr/>
      </p:nvGrpSpPr>
      <p:grpSpPr>
        <a:xfrm>
          <a:off x="0" y="0"/>
          <a:ext cx="0" cy="0"/>
          <a:chOff x="0" y="0"/>
          <a:chExt cx="0" cy="0"/>
        </a:xfrm>
      </p:grpSpPr>
      <p:grpSp>
        <p:nvGrpSpPr>
          <p:cNvPr id="7183" name="Group 3">
            <a:extLst>
              <a:ext uri="{FF2B5EF4-FFF2-40B4-BE49-F238E27FC236}">
                <a16:creationId xmlns:a16="http://schemas.microsoft.com/office/drawing/2014/main" id="{17468B19-BB62-275C-B871-7434CF4315AC}"/>
              </a:ext>
            </a:extLst>
          </p:cNvPr>
          <p:cNvGrpSpPr/>
          <p:nvPr/>
        </p:nvGrpSpPr>
        <p:grpSpPr>
          <a:xfrm>
            <a:off x="1206502" y="2612229"/>
            <a:ext cx="1981200" cy="1219200"/>
            <a:chOff x="1248" y="864"/>
            <a:chExt cx="1248" cy="768"/>
          </a:xfrm>
        </p:grpSpPr>
        <p:sp>
          <p:nvSpPr>
            <p:cNvPr id="7213" name="Freeform 4" descr="浅色下对角线">
              <a:extLst>
                <a:ext uri="{FF2B5EF4-FFF2-40B4-BE49-F238E27FC236}">
                  <a16:creationId xmlns:a16="http://schemas.microsoft.com/office/drawing/2014/main" id="{6290C681-900E-3EFD-7DA3-BEF133E2B6B1}"/>
                </a:ext>
              </a:extLst>
            </p:cNvPr>
            <p:cNvSpPr/>
            <p:nvPr/>
          </p:nvSpPr>
          <p:spPr>
            <a:xfrm>
              <a:off x="1248" y="864"/>
              <a:ext cx="1248" cy="768"/>
            </a:xfrm>
            <a:custGeom>
              <a:avLst/>
              <a:gdLst>
                <a:gd name="txL" fmla="*/ 0 w 1248"/>
                <a:gd name="txT" fmla="*/ 0 h 768"/>
                <a:gd name="txR" fmla="*/ 1248 w 1248"/>
                <a:gd name="txB" fmla="*/ 768 h 768"/>
              </a:gdLst>
              <a:ahLst/>
              <a:cxnLst>
                <a:cxn ang="0">
                  <a:pos x="0" y="0"/>
                </a:cxn>
                <a:cxn ang="0">
                  <a:pos x="250" y="0"/>
                </a:cxn>
                <a:cxn ang="0">
                  <a:pos x="624" y="96"/>
                </a:cxn>
                <a:cxn ang="0">
                  <a:pos x="957" y="288"/>
                </a:cxn>
                <a:cxn ang="0">
                  <a:pos x="1118" y="446"/>
                </a:cxn>
                <a:cxn ang="0">
                  <a:pos x="1206" y="624"/>
                </a:cxn>
                <a:cxn ang="0">
                  <a:pos x="1248" y="768"/>
                </a:cxn>
                <a:cxn ang="0">
                  <a:pos x="1040" y="768"/>
                </a:cxn>
                <a:cxn ang="0">
                  <a:pos x="790" y="720"/>
                </a:cxn>
                <a:cxn ang="0">
                  <a:pos x="582" y="624"/>
                </a:cxn>
                <a:cxn ang="0">
                  <a:pos x="374" y="528"/>
                </a:cxn>
                <a:cxn ang="0">
                  <a:pos x="250" y="432"/>
                </a:cxn>
                <a:cxn ang="0">
                  <a:pos x="166" y="336"/>
                </a:cxn>
                <a:cxn ang="0">
                  <a:pos x="62" y="206"/>
                </a:cxn>
                <a:cxn ang="0">
                  <a:pos x="27" y="103"/>
                </a:cxn>
                <a:cxn ang="0">
                  <a:pos x="0" y="0"/>
                </a:cxn>
              </a:cxnLst>
              <a:rect l="txL" t="txT" r="txR" b="txB"/>
              <a:pathLst>
                <a:path w="1248" h="768">
                  <a:moveTo>
                    <a:pt x="0" y="0"/>
                  </a:moveTo>
                  <a:lnTo>
                    <a:pt x="250" y="0"/>
                  </a:lnTo>
                  <a:lnTo>
                    <a:pt x="624" y="96"/>
                  </a:lnTo>
                  <a:lnTo>
                    <a:pt x="957" y="288"/>
                  </a:lnTo>
                  <a:lnTo>
                    <a:pt x="1118" y="446"/>
                  </a:lnTo>
                  <a:lnTo>
                    <a:pt x="1206" y="624"/>
                  </a:lnTo>
                  <a:lnTo>
                    <a:pt x="1248" y="768"/>
                  </a:lnTo>
                  <a:lnTo>
                    <a:pt x="1040" y="768"/>
                  </a:lnTo>
                  <a:lnTo>
                    <a:pt x="790" y="720"/>
                  </a:lnTo>
                  <a:lnTo>
                    <a:pt x="582" y="624"/>
                  </a:lnTo>
                  <a:lnTo>
                    <a:pt x="374" y="528"/>
                  </a:lnTo>
                  <a:lnTo>
                    <a:pt x="250" y="432"/>
                  </a:lnTo>
                  <a:lnTo>
                    <a:pt x="166" y="336"/>
                  </a:lnTo>
                  <a:lnTo>
                    <a:pt x="62" y="206"/>
                  </a:lnTo>
                  <a:lnTo>
                    <a:pt x="27" y="103"/>
                  </a:lnTo>
                  <a:lnTo>
                    <a:pt x="0" y="0"/>
                  </a:lnTo>
                  <a:close/>
                </a:path>
              </a:pathLst>
            </a:custGeom>
            <a:pattFill prst="ltDnDiag">
              <a:fgClr>
                <a:srgbClr val="0066FF">
                  <a:alpha val="100000"/>
                </a:srgbClr>
              </a:fgClr>
              <a:bgClr>
                <a:schemeClr val="bg1">
                  <a:alpha val="100000"/>
                </a:schemeClr>
              </a:bgClr>
            </a:pattFill>
            <a:ln w="9525">
              <a:noFill/>
            </a:ln>
          </p:spPr>
          <p:txBody>
            <a:bodyPr/>
            <a:lstStyle/>
            <a:p>
              <a:endParaRPr lang="zh-CN" altLang="en-US" sz="2800"/>
            </a:p>
          </p:txBody>
        </p:sp>
        <mc:AlternateContent xmlns:mc="http://schemas.openxmlformats.org/markup-compatibility/2006" xmlns:a14="http://schemas.microsoft.com/office/drawing/2010/main">
          <mc:Choice Requires="a14">
            <p:sp>
              <p:nvSpPr>
                <p:cNvPr id="7181" name="Object 5">
                  <a:extLst>
                    <a:ext uri="{FF2B5EF4-FFF2-40B4-BE49-F238E27FC236}">
                      <a16:creationId xmlns:a16="http://schemas.microsoft.com/office/drawing/2014/main" id="{FB80CC9B-0F70-AA24-D527-159E55897592}"/>
                    </a:ext>
                  </a:extLst>
                </p:cNvPr>
                <p:cNvSpPr txBox="1"/>
                <p:nvPr/>
              </p:nvSpPr>
              <p:spPr>
                <a:xfrm>
                  <a:off x="1776" y="1104"/>
                  <a:ext cx="288" cy="261"/>
                </a:xfrm>
                <a:prstGeom prst="rect">
                  <a:avLst/>
                </a:prstGeom>
                <a:noFill/>
                <a:ln w="38100">
                  <a:noFill/>
                  <a:miter/>
                </a:ln>
              </p:spPr>
              <p:txBody>
                <a:bodyPr>
                  <a:normAutofit fontScale="70000" lnSpcReduction="20000"/>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𝑊</m:t>
                        </m:r>
                      </m:oMath>
                    </m:oMathPara>
                  </a14:m>
                  <a:endParaRPr lang="zh-CN" altLang="en-US" sz="2800"/>
                </a:p>
              </p:txBody>
            </p:sp>
          </mc:Choice>
          <mc:Fallback xmlns="">
            <p:sp>
              <p:nvSpPr>
                <p:cNvPr id="7181" name="Object 5"/>
                <p:cNvSpPr txBox="1">
                  <a:spLocks noRot="1" noChangeAspect="1" noMove="1" noResize="1" noEditPoints="1" noAdjustHandles="1" noChangeArrowheads="1" noChangeShapeType="1" noTextEdit="1"/>
                </p:cNvSpPr>
                <p:nvPr/>
              </p:nvSpPr>
              <p:spPr>
                <a:xfrm>
                  <a:off x="1776" y="1104"/>
                  <a:ext cx="288" cy="261"/>
                </a:xfrm>
                <a:prstGeom prst="rect">
                  <a:avLst/>
                </a:prstGeom>
                <a:blipFill>
                  <a:blip r:embed="rId2"/>
                  <a:stretch>
                    <a:fillRect/>
                  </a:stretch>
                </a:blipFill>
                <a:ln w="38100">
                  <a:noFill/>
                  <a:miter/>
                </a:ln>
              </p:spPr>
              <p:txBody>
                <a:bodyPr/>
                <a:lstStyle/>
                <a:p>
                  <a:r>
                    <a:rPr lang="zh-CN" altLang="en-US">
                      <a:noFill/>
                    </a:rPr>
                    <a:t> </a:t>
                  </a:r>
                </a:p>
              </p:txBody>
            </p:sp>
          </mc:Fallback>
        </mc:AlternateContent>
      </p:grpSp>
      <p:grpSp>
        <p:nvGrpSpPr>
          <p:cNvPr id="3" name="Group 6">
            <a:extLst>
              <a:ext uri="{FF2B5EF4-FFF2-40B4-BE49-F238E27FC236}">
                <a16:creationId xmlns:a16="http://schemas.microsoft.com/office/drawing/2014/main" id="{CE687D0B-053C-7990-2CBA-95BCA57B638C}"/>
              </a:ext>
            </a:extLst>
          </p:cNvPr>
          <p:cNvGrpSpPr/>
          <p:nvPr/>
        </p:nvGrpSpPr>
        <p:grpSpPr>
          <a:xfrm>
            <a:off x="2197102" y="5447507"/>
            <a:ext cx="7029450" cy="1179513"/>
            <a:chOff x="368" y="3733"/>
            <a:chExt cx="4428" cy="743"/>
          </a:xfrm>
          <a:noFill/>
        </p:grpSpPr>
        <p:sp>
          <p:nvSpPr>
            <p:cNvPr id="7212" name="Text Box 7">
              <a:extLst>
                <a:ext uri="{FF2B5EF4-FFF2-40B4-BE49-F238E27FC236}">
                  <a16:creationId xmlns:a16="http://schemas.microsoft.com/office/drawing/2014/main" id="{C613D7B1-186D-B610-AE1F-5B9DF32A14D9}"/>
                </a:ext>
              </a:extLst>
            </p:cNvPr>
            <p:cNvSpPr txBox="1"/>
            <p:nvPr/>
          </p:nvSpPr>
          <p:spPr>
            <a:xfrm>
              <a:off x="368" y="3921"/>
              <a:ext cx="2496" cy="330"/>
            </a:xfrm>
            <a:prstGeom prst="rect">
              <a:avLst/>
            </a:prstGeom>
            <a:grpFill/>
            <a:ln w="19050">
              <a:noFill/>
            </a:ln>
          </p:spPr>
          <p:txBody>
            <a:bodyPr>
              <a:spAutoFit/>
            </a:bodyPr>
            <a:lstStyle/>
            <a:p>
              <a:pPr>
                <a:spcBef>
                  <a:spcPct val="50000"/>
                </a:spcBef>
              </a:pPr>
              <a:r>
                <a:rPr lang="zh-CN" altLang="en-US" sz="2800" dirty="0">
                  <a:solidFill>
                    <a:srgbClr val="1C1C1C"/>
                  </a:solidFill>
                  <a:latin typeface="Times New Roman" panose="02020603050405020304" pitchFamily="18" charset="0"/>
                </a:rPr>
                <a:t>制</a:t>
              </a:r>
              <a:r>
                <a:rPr lang="zh-CN" altLang="en-US" sz="2800" dirty="0">
                  <a:solidFill>
                    <a:srgbClr val="010000"/>
                  </a:solidFill>
                  <a:latin typeface="Times New Roman" panose="02020603050405020304" pitchFamily="18" charset="0"/>
                </a:rPr>
                <a:t>冷机</a:t>
              </a:r>
              <a:r>
                <a:rPr lang="zh-CN" altLang="en-US" sz="2800" dirty="0">
                  <a:solidFill>
                    <a:srgbClr val="1C1C1C"/>
                  </a:solidFill>
                  <a:latin typeface="Times New Roman" panose="02020603050405020304" pitchFamily="18" charset="0"/>
                </a:rPr>
                <a:t>制</a:t>
              </a:r>
              <a:r>
                <a:rPr lang="zh-CN" altLang="en-US" sz="2800" dirty="0">
                  <a:solidFill>
                    <a:srgbClr val="010000"/>
                  </a:solidFill>
                  <a:latin typeface="Times New Roman" panose="02020603050405020304" pitchFamily="18" charset="0"/>
                </a:rPr>
                <a:t>冷系数</a:t>
              </a:r>
            </a:p>
          </p:txBody>
        </p:sp>
        <mc:AlternateContent xmlns:mc="http://schemas.openxmlformats.org/markup-compatibility/2006" xmlns:a14="http://schemas.microsoft.com/office/drawing/2010/main">
          <mc:Choice Requires="a14">
            <p:sp>
              <p:nvSpPr>
                <p:cNvPr id="7180" name="Object 8">
                  <a:extLst>
                    <a:ext uri="{FF2B5EF4-FFF2-40B4-BE49-F238E27FC236}">
                      <a16:creationId xmlns:a16="http://schemas.microsoft.com/office/drawing/2014/main" id="{7766AFD6-39F4-131E-4395-1A2FAB69FF7A}"/>
                    </a:ext>
                  </a:extLst>
                </p:cNvPr>
                <p:cNvSpPr txBox="1"/>
                <p:nvPr/>
              </p:nvSpPr>
              <p:spPr>
                <a:xfrm>
                  <a:off x="2284" y="3733"/>
                  <a:ext cx="2512" cy="743"/>
                </a:xfrm>
                <a:prstGeom prst="rect">
                  <a:avLst/>
                </a:prstGeom>
                <a:grpFill/>
                <a:ln w="12700" cap="flat" cmpd="sng">
                  <a:noFill/>
                  <a:prstDash val="solid"/>
                  <a:miter/>
                  <a:headEnd type="none" w="med" len="med"/>
                  <a:tailEnd type="none" w="med" len="med"/>
                </a:ln>
              </p:spPr>
              <p:txBody>
                <a:bodyPr>
                  <a:norm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𝑒</m:t>
                        </m:r>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2</m:t>
                                </m:r>
                              </m:sub>
                            </m:sSub>
                          </m:num>
                          <m:den>
                            <m:d>
                              <m:dPr>
                                <m:begChr m:val="|"/>
                                <m:endChr m:val="|"/>
                                <m:ctrlPr>
                                  <a:rPr lang="zh-CN" altLang="en-US" sz="2800" i="1">
                                    <a:solidFill>
                                      <a:srgbClr val="000000"/>
                                    </a:solidFill>
                                    <a:latin typeface="Cambria Math" panose="02040503050406030204" pitchFamily="18" charset="0"/>
                                  </a:rPr>
                                </m:ctrlPr>
                              </m:dPr>
                              <m:e>
                                <m:r>
                                  <a:rPr lang="zh-CN" altLang="en-US" sz="2800" i="1">
                                    <a:solidFill>
                                      <a:srgbClr val="000000"/>
                                    </a:solidFill>
                                    <a:latin typeface="Cambria Math" panose="02040503050406030204" pitchFamily="18" charset="0"/>
                                  </a:rPr>
                                  <m:t>𝐴</m:t>
                                </m:r>
                              </m:e>
                            </m:d>
                          </m:den>
                        </m:f>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2</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2</m:t>
                                </m:r>
                              </m:sub>
                            </m:sSub>
                          </m:den>
                        </m:f>
                      </m:oMath>
                    </m:oMathPara>
                  </a14:m>
                  <a:endParaRPr lang="zh-CN" altLang="en-US" sz="2800"/>
                </a:p>
              </p:txBody>
            </p:sp>
          </mc:Choice>
          <mc:Fallback xmlns="">
            <p:sp>
              <p:nvSpPr>
                <p:cNvPr id="7180" name="Object 8"/>
                <p:cNvSpPr txBox="1">
                  <a:spLocks noRot="1" noChangeAspect="1" noMove="1" noResize="1" noEditPoints="1" noAdjustHandles="1" noChangeArrowheads="1" noChangeShapeType="1" noTextEdit="1"/>
                </p:cNvSpPr>
                <p:nvPr/>
              </p:nvSpPr>
              <p:spPr>
                <a:xfrm>
                  <a:off x="2284" y="3733"/>
                  <a:ext cx="2512" cy="743"/>
                </a:xfrm>
                <a:prstGeom prst="rect">
                  <a:avLst/>
                </a:prstGeom>
                <a:blipFill>
                  <a:blip r:embed="rId3"/>
                  <a:stretch>
                    <a:fillRect/>
                  </a:stretch>
                </a:blipFill>
                <a:ln w="12700" cap="flat" cmpd="sng">
                  <a:noFill/>
                  <a:prstDash val="solid"/>
                  <a:miter/>
                  <a:headEnd type="none" w="med" len="med"/>
                  <a:tailEnd type="none" w="med" len="med"/>
                </a:ln>
              </p:spPr>
              <p:txBody>
                <a:bodyPr/>
                <a:lstStyle/>
                <a:p>
                  <a:r>
                    <a:rPr lang="zh-CN" altLang="en-US">
                      <a:noFill/>
                    </a:rPr>
                    <a:t> </a:t>
                  </a:r>
                </a:p>
              </p:txBody>
            </p:sp>
          </mc:Fallback>
        </mc:AlternateContent>
      </p:grpSp>
      <p:grpSp>
        <p:nvGrpSpPr>
          <p:cNvPr id="7186" name="Group 10">
            <a:extLst>
              <a:ext uri="{FF2B5EF4-FFF2-40B4-BE49-F238E27FC236}">
                <a16:creationId xmlns:a16="http://schemas.microsoft.com/office/drawing/2014/main" id="{F50F969F-F54D-E16A-E664-4D2FFF062819}"/>
              </a:ext>
            </a:extLst>
          </p:cNvPr>
          <p:cNvGrpSpPr/>
          <p:nvPr/>
        </p:nvGrpSpPr>
        <p:grpSpPr>
          <a:xfrm>
            <a:off x="8927307" y="2630018"/>
            <a:ext cx="1981200" cy="781050"/>
            <a:chOff x="3552" y="1323"/>
            <a:chExt cx="1248" cy="492"/>
          </a:xfrm>
        </p:grpSpPr>
        <p:sp>
          <p:nvSpPr>
            <p:cNvPr id="7210" name="Oval 11">
              <a:extLst>
                <a:ext uri="{FF2B5EF4-FFF2-40B4-BE49-F238E27FC236}">
                  <a16:creationId xmlns:a16="http://schemas.microsoft.com/office/drawing/2014/main" id="{F162D84B-3036-F183-5B25-44F248A8F025}"/>
                </a:ext>
              </a:extLst>
            </p:cNvPr>
            <p:cNvSpPr/>
            <p:nvPr/>
          </p:nvSpPr>
          <p:spPr>
            <a:xfrm>
              <a:off x="3552" y="1323"/>
              <a:ext cx="1008" cy="492"/>
            </a:xfrm>
            <a:prstGeom prst="ellipse">
              <a:avLst/>
            </a:prstGeom>
            <a:solidFill>
              <a:schemeClr val="accent1"/>
            </a:solidFill>
            <a:ln w="19050" cap="flat" cmpd="sng">
              <a:solidFill>
                <a:schemeClr val="tx1"/>
              </a:solidFill>
              <a:prstDash val="solid"/>
              <a:headEnd type="none" w="med" len="med"/>
              <a:tailEnd type="none" w="med" len="med"/>
            </a:ln>
          </p:spPr>
          <p:txBody>
            <a:bodyPr wrap="none" anchor="ctr" anchorCtr="0"/>
            <a:lstStyle/>
            <a:p>
              <a:endParaRPr lang="zh-CN" altLang="en-US" sz="2800" dirty="0">
                <a:latin typeface="Bookman Old Style" panose="02050604050505020204" pitchFamily="18" charset="0"/>
              </a:endParaRPr>
            </a:p>
          </p:txBody>
        </p:sp>
        <p:sp>
          <p:nvSpPr>
            <p:cNvPr id="7211" name="Text Box 12">
              <a:extLst>
                <a:ext uri="{FF2B5EF4-FFF2-40B4-BE49-F238E27FC236}">
                  <a16:creationId xmlns:a16="http://schemas.microsoft.com/office/drawing/2014/main" id="{C6B6378A-E2CF-EAA2-C637-9F4B09885439}"/>
                </a:ext>
              </a:extLst>
            </p:cNvPr>
            <p:cNvSpPr txBox="1"/>
            <p:nvPr/>
          </p:nvSpPr>
          <p:spPr>
            <a:xfrm>
              <a:off x="3648" y="1391"/>
              <a:ext cx="1152" cy="330"/>
            </a:xfrm>
            <a:prstGeom prst="rect">
              <a:avLst/>
            </a:prstGeom>
            <a:noFill/>
            <a:ln w="9525">
              <a:noFill/>
            </a:ln>
          </p:spPr>
          <p:txBody>
            <a:bodyPr>
              <a:spAutoFit/>
            </a:bodyPr>
            <a:lstStyle/>
            <a:p>
              <a:pPr>
                <a:spcBef>
                  <a:spcPct val="50000"/>
                </a:spcBef>
              </a:pPr>
              <a:r>
                <a:rPr lang="zh-CN" altLang="en-US" sz="2800" dirty="0">
                  <a:solidFill>
                    <a:srgbClr val="1C1C1C"/>
                  </a:solidFill>
                  <a:latin typeface="Times New Roman" panose="02020603050405020304" pitchFamily="18" charset="0"/>
                </a:rPr>
                <a:t>制冷</a:t>
              </a:r>
              <a:r>
                <a:rPr lang="zh-CN" altLang="en-US" sz="2800" dirty="0">
                  <a:solidFill>
                    <a:srgbClr val="333333"/>
                  </a:solidFill>
                  <a:latin typeface="Times New Roman" panose="02020603050405020304" pitchFamily="18" charset="0"/>
                </a:rPr>
                <a:t>机</a:t>
              </a:r>
            </a:p>
          </p:txBody>
        </p:sp>
      </p:grpSp>
      <p:grpSp>
        <p:nvGrpSpPr>
          <p:cNvPr id="7187" name="Group 13">
            <a:extLst>
              <a:ext uri="{FF2B5EF4-FFF2-40B4-BE49-F238E27FC236}">
                <a16:creationId xmlns:a16="http://schemas.microsoft.com/office/drawing/2014/main" id="{5F277635-1A56-F419-94D8-18BF2D802558}"/>
              </a:ext>
            </a:extLst>
          </p:cNvPr>
          <p:cNvGrpSpPr/>
          <p:nvPr/>
        </p:nvGrpSpPr>
        <p:grpSpPr>
          <a:xfrm>
            <a:off x="8774907" y="1487019"/>
            <a:ext cx="2057400" cy="533400"/>
            <a:chOff x="3648" y="864"/>
            <a:chExt cx="1296" cy="336"/>
          </a:xfrm>
        </p:grpSpPr>
        <p:sp>
          <p:nvSpPr>
            <p:cNvPr id="7208" name="Rectangle 14">
              <a:extLst>
                <a:ext uri="{FF2B5EF4-FFF2-40B4-BE49-F238E27FC236}">
                  <a16:creationId xmlns:a16="http://schemas.microsoft.com/office/drawing/2014/main" id="{B2CF24AA-DCB7-8A3F-F6BF-9566B59360A2}"/>
                </a:ext>
              </a:extLst>
            </p:cNvPr>
            <p:cNvSpPr/>
            <p:nvPr/>
          </p:nvSpPr>
          <p:spPr>
            <a:xfrm>
              <a:off x="3648" y="864"/>
              <a:ext cx="1152" cy="336"/>
            </a:xfrm>
            <a:prstGeom prst="rect">
              <a:avLst/>
            </a:prstGeom>
            <a:solidFill>
              <a:srgbClr val="FDE3F0"/>
            </a:solidFill>
            <a:ln w="19050" cap="flat" cmpd="sng">
              <a:solidFill>
                <a:srgbClr val="CC0099"/>
              </a:solidFill>
              <a:prstDash val="solid"/>
              <a:miter/>
              <a:headEnd type="none" w="med" len="med"/>
              <a:tailEnd type="none" w="med" len="med"/>
            </a:ln>
          </p:spPr>
          <p:txBody>
            <a:bodyPr wrap="none" anchor="ctr" anchorCtr="0"/>
            <a:lstStyle/>
            <a:p>
              <a:endParaRPr lang="zh-CN" altLang="en-US" sz="2800" dirty="0">
                <a:latin typeface="Bookman Old Style" panose="02050604050505020204" pitchFamily="18" charset="0"/>
              </a:endParaRPr>
            </a:p>
          </p:txBody>
        </p:sp>
        <p:sp>
          <p:nvSpPr>
            <p:cNvPr id="7209" name="Text Box 15">
              <a:extLst>
                <a:ext uri="{FF2B5EF4-FFF2-40B4-BE49-F238E27FC236}">
                  <a16:creationId xmlns:a16="http://schemas.microsoft.com/office/drawing/2014/main" id="{28A083BC-CE5A-F4B3-5D6D-496432A88432}"/>
                </a:ext>
              </a:extLst>
            </p:cNvPr>
            <p:cNvSpPr txBox="1"/>
            <p:nvPr/>
          </p:nvSpPr>
          <p:spPr>
            <a:xfrm>
              <a:off x="3696" y="870"/>
              <a:ext cx="1248" cy="330"/>
            </a:xfrm>
            <a:prstGeom prst="rect">
              <a:avLst/>
            </a:prstGeom>
            <a:noFill/>
            <a:ln w="9525">
              <a:noFill/>
            </a:ln>
          </p:spPr>
          <p:txBody>
            <a:bodyPr>
              <a:spAutoFit/>
            </a:bodyPr>
            <a:lstStyle/>
            <a:p>
              <a:pPr>
                <a:spcBef>
                  <a:spcPct val="50000"/>
                </a:spcBef>
              </a:pPr>
              <a:r>
                <a:rPr lang="zh-CN" altLang="en-US" sz="2800" dirty="0">
                  <a:solidFill>
                    <a:srgbClr val="333333"/>
                  </a:solidFill>
                  <a:latin typeface="Times New Roman" panose="02020603050405020304" pitchFamily="18" charset="0"/>
                </a:rPr>
                <a:t>高温热源</a:t>
              </a:r>
              <a:endParaRPr lang="zh-CN" altLang="en-US" sz="2800" dirty="0">
                <a:solidFill>
                  <a:srgbClr val="333333"/>
                </a:solidFill>
                <a:latin typeface="Times New Roman" panose="02020603050405020304" pitchFamily="18" charset="0"/>
                <a:ea typeface="楷体_GB2312" panose="02010609030101010101" pitchFamily="49" charset="-122"/>
              </a:endParaRPr>
            </a:p>
          </p:txBody>
        </p:sp>
      </p:grpSp>
      <p:grpSp>
        <p:nvGrpSpPr>
          <p:cNvPr id="7188" name="Group 16">
            <a:extLst>
              <a:ext uri="{FF2B5EF4-FFF2-40B4-BE49-F238E27FC236}">
                <a16:creationId xmlns:a16="http://schemas.microsoft.com/office/drawing/2014/main" id="{25DFC75B-4216-34D6-0BF5-6D0582C53A5B}"/>
              </a:ext>
            </a:extLst>
          </p:cNvPr>
          <p:cNvGrpSpPr/>
          <p:nvPr/>
        </p:nvGrpSpPr>
        <p:grpSpPr>
          <a:xfrm>
            <a:off x="292102" y="2155030"/>
            <a:ext cx="3513138" cy="2797175"/>
            <a:chOff x="3072" y="1632"/>
            <a:chExt cx="2213" cy="1762"/>
          </a:xfrm>
        </p:grpSpPr>
        <p:sp>
          <p:nvSpPr>
            <p:cNvPr id="7206" name="Line 17">
              <a:extLst>
                <a:ext uri="{FF2B5EF4-FFF2-40B4-BE49-F238E27FC236}">
                  <a16:creationId xmlns:a16="http://schemas.microsoft.com/office/drawing/2014/main" id="{85806312-CEA1-411F-F568-CF97F3BAE56A}"/>
                </a:ext>
              </a:extLst>
            </p:cNvPr>
            <p:cNvSpPr/>
            <p:nvPr/>
          </p:nvSpPr>
          <p:spPr>
            <a:xfrm flipV="1">
              <a:off x="3306" y="3120"/>
              <a:ext cx="1974" cy="6"/>
            </a:xfrm>
            <a:prstGeom prst="line">
              <a:avLst/>
            </a:prstGeom>
            <a:ln w="19050" cap="flat" cmpd="sng">
              <a:solidFill>
                <a:srgbClr val="333333"/>
              </a:solidFill>
              <a:prstDash val="solid"/>
              <a:headEnd type="none" w="med" len="med"/>
              <a:tailEnd type="triangle" w="sm" len="lg"/>
            </a:ln>
          </p:spPr>
        </p:sp>
        <p:sp>
          <p:nvSpPr>
            <p:cNvPr id="7207" name="Line 18">
              <a:extLst>
                <a:ext uri="{FF2B5EF4-FFF2-40B4-BE49-F238E27FC236}">
                  <a16:creationId xmlns:a16="http://schemas.microsoft.com/office/drawing/2014/main" id="{42BDF9F0-9C00-9923-3574-7FDC39D6104F}"/>
                </a:ext>
              </a:extLst>
            </p:cNvPr>
            <p:cNvSpPr/>
            <p:nvPr/>
          </p:nvSpPr>
          <p:spPr>
            <a:xfrm flipV="1">
              <a:off x="3306" y="1638"/>
              <a:ext cx="0" cy="1488"/>
            </a:xfrm>
            <a:prstGeom prst="line">
              <a:avLst/>
            </a:prstGeom>
            <a:ln w="19050" cap="flat" cmpd="sng">
              <a:solidFill>
                <a:srgbClr val="333333"/>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7177" name="Object 19">
                  <a:extLst>
                    <a:ext uri="{FF2B5EF4-FFF2-40B4-BE49-F238E27FC236}">
                      <a16:creationId xmlns:a16="http://schemas.microsoft.com/office/drawing/2014/main" id="{8DF1C4F6-C29E-5C80-6AB1-1A68C896E446}"/>
                    </a:ext>
                  </a:extLst>
                </p:cNvPr>
                <p:cNvSpPr txBox="1"/>
                <p:nvPr/>
              </p:nvSpPr>
              <p:spPr>
                <a:xfrm>
                  <a:off x="3072" y="1632"/>
                  <a:ext cx="192" cy="228"/>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𝑝</m:t>
                        </m:r>
                      </m:oMath>
                    </m:oMathPara>
                  </a14:m>
                  <a:endParaRPr lang="zh-CN" altLang="en-US" sz="2800"/>
                </a:p>
              </p:txBody>
            </p:sp>
          </mc:Choice>
          <mc:Fallback xmlns="">
            <p:sp>
              <p:nvSpPr>
                <p:cNvPr id="7177" name="Object 19"/>
                <p:cNvSpPr txBox="1">
                  <a:spLocks noRot="1" noChangeAspect="1" noMove="1" noResize="1" noEditPoints="1" noAdjustHandles="1" noChangeArrowheads="1" noChangeShapeType="1" noTextEdit="1"/>
                </p:cNvSpPr>
                <p:nvPr/>
              </p:nvSpPr>
              <p:spPr>
                <a:xfrm>
                  <a:off x="3072" y="1632"/>
                  <a:ext cx="192" cy="228"/>
                </a:xfrm>
                <a:prstGeom prst="rect">
                  <a:avLst/>
                </a:prstGeom>
                <a:blipFill>
                  <a:blip r:embed="rId4"/>
                  <a:stretch>
                    <a:fillRect b="-28814"/>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78" name="Object 20">
                  <a:extLst>
                    <a:ext uri="{FF2B5EF4-FFF2-40B4-BE49-F238E27FC236}">
                      <a16:creationId xmlns:a16="http://schemas.microsoft.com/office/drawing/2014/main" id="{AFFE2306-5BBE-5A7E-81DF-2EEA7BF30171}"/>
                    </a:ext>
                  </a:extLst>
                </p:cNvPr>
                <p:cNvSpPr txBox="1"/>
                <p:nvPr/>
              </p:nvSpPr>
              <p:spPr>
                <a:xfrm>
                  <a:off x="5088" y="3174"/>
                  <a:ext cx="197" cy="220"/>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𝑉</m:t>
                        </m:r>
                      </m:oMath>
                    </m:oMathPara>
                  </a14:m>
                  <a:endParaRPr lang="zh-CN" altLang="en-US" sz="2800"/>
                </a:p>
              </p:txBody>
            </p:sp>
          </mc:Choice>
          <mc:Fallback xmlns="">
            <p:sp>
              <p:nvSpPr>
                <p:cNvPr id="7178" name="Object 20"/>
                <p:cNvSpPr txBox="1">
                  <a:spLocks noRot="1" noChangeAspect="1" noMove="1" noResize="1" noEditPoints="1" noAdjustHandles="1" noChangeArrowheads="1" noChangeShapeType="1" noTextEdit="1"/>
                </p:cNvSpPr>
                <p:nvPr/>
              </p:nvSpPr>
              <p:spPr>
                <a:xfrm>
                  <a:off x="5088" y="3174"/>
                  <a:ext cx="197" cy="220"/>
                </a:xfrm>
                <a:prstGeom prst="rect">
                  <a:avLst/>
                </a:prstGeom>
                <a:blipFill>
                  <a:blip r:embed="rId5"/>
                  <a:stretch>
                    <a:fillRect b="-12281"/>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79" name="Object 21">
                  <a:extLst>
                    <a:ext uri="{FF2B5EF4-FFF2-40B4-BE49-F238E27FC236}">
                      <a16:creationId xmlns:a16="http://schemas.microsoft.com/office/drawing/2014/main" id="{70553957-0E88-85D3-5F6A-2803CD4E884A}"/>
                    </a:ext>
                  </a:extLst>
                </p:cNvPr>
                <p:cNvSpPr txBox="1"/>
                <p:nvPr/>
              </p:nvSpPr>
              <p:spPr>
                <a:xfrm>
                  <a:off x="3210" y="3126"/>
                  <a:ext cx="177" cy="204"/>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𝑜</m:t>
                        </m:r>
                      </m:oMath>
                    </m:oMathPara>
                  </a14:m>
                  <a:endParaRPr lang="zh-CN" altLang="en-US" sz="2800"/>
                </a:p>
              </p:txBody>
            </p:sp>
          </mc:Choice>
          <mc:Fallback xmlns="">
            <p:sp>
              <p:nvSpPr>
                <p:cNvPr id="7179" name="Object 21"/>
                <p:cNvSpPr txBox="1">
                  <a:spLocks noRot="1" noChangeAspect="1" noMove="1" noResize="1" noEditPoints="1" noAdjustHandles="1" noChangeArrowheads="1" noChangeShapeType="1" noTextEdit="1"/>
                </p:cNvSpPr>
                <p:nvPr/>
              </p:nvSpPr>
              <p:spPr>
                <a:xfrm>
                  <a:off x="3210" y="3126"/>
                  <a:ext cx="177" cy="204"/>
                </a:xfrm>
                <a:prstGeom prst="rect">
                  <a:avLst/>
                </a:prstGeom>
                <a:blipFill>
                  <a:blip r:embed="rId6"/>
                  <a:stretch>
                    <a:fillRect b="-22642"/>
                  </a:stretch>
                </a:blipFill>
                <a:ln w="38100">
                  <a:noFill/>
                  <a:miter/>
                </a:ln>
              </p:spPr>
              <p:txBody>
                <a:bodyPr/>
                <a:lstStyle/>
                <a:p>
                  <a:r>
                    <a:rPr lang="zh-CN" altLang="en-US">
                      <a:noFill/>
                    </a:rPr>
                    <a:t> </a:t>
                  </a:r>
                </a:p>
              </p:txBody>
            </p:sp>
          </mc:Fallback>
        </mc:AlternateContent>
      </p:grpSp>
      <p:grpSp>
        <p:nvGrpSpPr>
          <p:cNvPr id="7189" name="Group 22">
            <a:extLst>
              <a:ext uri="{FF2B5EF4-FFF2-40B4-BE49-F238E27FC236}">
                <a16:creationId xmlns:a16="http://schemas.microsoft.com/office/drawing/2014/main" id="{CB789501-1D71-DF02-D861-503631035AE2}"/>
              </a:ext>
            </a:extLst>
          </p:cNvPr>
          <p:cNvGrpSpPr/>
          <p:nvPr/>
        </p:nvGrpSpPr>
        <p:grpSpPr>
          <a:xfrm>
            <a:off x="977902" y="2155029"/>
            <a:ext cx="2743200" cy="2895600"/>
            <a:chOff x="1104" y="576"/>
            <a:chExt cx="1728" cy="1824"/>
          </a:xfrm>
        </p:grpSpPr>
        <p:sp>
          <p:nvSpPr>
            <p:cNvPr id="7200" name="Arc 23">
              <a:extLst>
                <a:ext uri="{FF2B5EF4-FFF2-40B4-BE49-F238E27FC236}">
                  <a16:creationId xmlns:a16="http://schemas.microsoft.com/office/drawing/2014/main" id="{2C9F0424-DAD7-A1F8-DF00-8DD00D44AFEC}"/>
                </a:ext>
              </a:extLst>
            </p:cNvPr>
            <p:cNvSpPr/>
            <p:nvPr/>
          </p:nvSpPr>
          <p:spPr>
            <a:xfrm>
              <a:off x="1248" y="865"/>
              <a:ext cx="1252" cy="816"/>
            </a:xfrm>
            <a:custGeom>
              <a:avLst/>
              <a:gdLst>
                <a:gd name="txL" fmla="*/ 0 w 21594"/>
                <a:gd name="txT" fmla="*/ 0 h 21600"/>
                <a:gd name="txR" fmla="*/ 21594 w 21594"/>
                <a:gd name="txB" fmla="*/ 21600 h 21600"/>
              </a:gdLst>
              <a:ahLst/>
              <a:cxnLst>
                <a:cxn ang="0">
                  <a:pos x="0" y="0"/>
                </a:cxn>
                <a:cxn ang="0">
                  <a:pos x="73" y="30"/>
                </a:cxn>
                <a:cxn ang="0">
                  <a:pos x="0" y="31"/>
                </a:cxn>
              </a:cxnLst>
              <a:rect l="txL" t="txT" r="txR" b="txB"/>
              <a:pathLst>
                <a:path w="21594" h="21600" fill="none">
                  <a:moveTo>
                    <a:pt x="-1" y="0"/>
                  </a:moveTo>
                  <a:cubicBezTo>
                    <a:pt x="11723" y="0"/>
                    <a:pt x="21306" y="9351"/>
                    <a:pt x="21593" y="21072"/>
                  </a:cubicBezTo>
                </a:path>
                <a:path w="21594" h="21600" stroke="0">
                  <a:moveTo>
                    <a:pt x="-1" y="0"/>
                  </a:moveTo>
                  <a:cubicBezTo>
                    <a:pt x="11723" y="0"/>
                    <a:pt x="21306" y="9351"/>
                    <a:pt x="21593" y="21072"/>
                  </a:cubicBezTo>
                  <a:lnTo>
                    <a:pt x="0" y="21600"/>
                  </a:lnTo>
                  <a:close/>
                </a:path>
              </a:pathLst>
            </a:custGeom>
            <a:noFill/>
            <a:ln w="28575" cap="flat" cmpd="sng">
              <a:solidFill>
                <a:srgbClr val="CC00CC">
                  <a:alpha val="100000"/>
                </a:srgbClr>
              </a:solidFill>
              <a:prstDash val="solid"/>
              <a:round/>
              <a:headEnd type="none" w="med" len="med"/>
              <a:tailEnd type="none" w="med" len="med"/>
            </a:ln>
          </p:spPr>
          <p:txBody>
            <a:bodyPr/>
            <a:lstStyle/>
            <a:p>
              <a:endParaRPr lang="zh-CN" altLang="en-US" sz="2800"/>
            </a:p>
          </p:txBody>
        </p:sp>
        <p:sp>
          <p:nvSpPr>
            <p:cNvPr id="7201" name="Line 24">
              <a:extLst>
                <a:ext uri="{FF2B5EF4-FFF2-40B4-BE49-F238E27FC236}">
                  <a16:creationId xmlns:a16="http://schemas.microsoft.com/office/drawing/2014/main" id="{F956CDB0-5B24-F5FF-480A-2E7BE035B12C}"/>
                </a:ext>
              </a:extLst>
            </p:cNvPr>
            <p:cNvSpPr/>
            <p:nvPr/>
          </p:nvSpPr>
          <p:spPr>
            <a:xfrm>
              <a:off x="1968" y="1008"/>
              <a:ext cx="192" cy="96"/>
            </a:xfrm>
            <a:prstGeom prst="line">
              <a:avLst/>
            </a:prstGeom>
            <a:ln w="57150" cap="flat" cmpd="sng">
              <a:solidFill>
                <a:srgbClr val="CC0099"/>
              </a:solidFill>
              <a:prstDash val="solid"/>
              <a:headEnd type="triangle" w="sm" len="lg"/>
              <a:tailEnd type="none" w="sm" len="lg"/>
            </a:ln>
          </p:spPr>
        </p:sp>
        <p:sp>
          <p:nvSpPr>
            <p:cNvPr id="7202" name="Text Box 25">
              <a:extLst>
                <a:ext uri="{FF2B5EF4-FFF2-40B4-BE49-F238E27FC236}">
                  <a16:creationId xmlns:a16="http://schemas.microsoft.com/office/drawing/2014/main" id="{2971B271-8AE0-E693-0679-C2C9EEC87BD3}"/>
                </a:ext>
              </a:extLst>
            </p:cNvPr>
            <p:cNvSpPr txBox="1"/>
            <p:nvPr/>
          </p:nvSpPr>
          <p:spPr>
            <a:xfrm>
              <a:off x="1104" y="576"/>
              <a:ext cx="336" cy="330"/>
            </a:xfrm>
            <a:prstGeom prst="rect">
              <a:avLst/>
            </a:prstGeom>
            <a:noFill/>
            <a:ln w="9525">
              <a:noFill/>
            </a:ln>
          </p:spPr>
          <p:txBody>
            <a:bodyPr>
              <a:spAutoFit/>
            </a:bodyPr>
            <a:lstStyle/>
            <a:p>
              <a:pPr>
                <a:spcBef>
                  <a:spcPct val="50000"/>
                </a:spcBef>
              </a:pPr>
              <a:r>
                <a:rPr lang="en-US" altLang="zh-CN" sz="2800" i="1" dirty="0">
                  <a:solidFill>
                    <a:srgbClr val="010000"/>
                  </a:solidFill>
                  <a:latin typeface="Times New Roman" panose="02020603050405020304" pitchFamily="18" charset="0"/>
                  <a:ea typeface="楷体_GB2312" panose="02010609030101010101" pitchFamily="49" charset="-122"/>
                </a:rPr>
                <a:t>A</a:t>
              </a:r>
            </a:p>
          </p:txBody>
        </p:sp>
        <p:sp>
          <p:nvSpPr>
            <p:cNvPr id="7203" name="Text Box 26">
              <a:extLst>
                <a:ext uri="{FF2B5EF4-FFF2-40B4-BE49-F238E27FC236}">
                  <a16:creationId xmlns:a16="http://schemas.microsoft.com/office/drawing/2014/main" id="{1BBC7246-3551-3DFA-2F72-85CF7A02019E}"/>
                </a:ext>
              </a:extLst>
            </p:cNvPr>
            <p:cNvSpPr txBox="1"/>
            <p:nvPr/>
          </p:nvSpPr>
          <p:spPr>
            <a:xfrm>
              <a:off x="2496" y="1488"/>
              <a:ext cx="336" cy="330"/>
            </a:xfrm>
            <a:prstGeom prst="rect">
              <a:avLst/>
            </a:prstGeom>
            <a:noFill/>
            <a:ln w="9525">
              <a:noFill/>
            </a:ln>
          </p:spPr>
          <p:txBody>
            <a:bodyPr>
              <a:spAutoFit/>
            </a:bodyPr>
            <a:lstStyle/>
            <a:p>
              <a:pPr>
                <a:spcBef>
                  <a:spcPct val="50000"/>
                </a:spcBef>
              </a:pPr>
              <a:r>
                <a:rPr lang="en-US" altLang="zh-CN" sz="2800" i="1" dirty="0">
                  <a:solidFill>
                    <a:srgbClr val="010000"/>
                  </a:solidFill>
                  <a:latin typeface="Times New Roman" panose="02020603050405020304" pitchFamily="18" charset="0"/>
                  <a:ea typeface="楷体_GB2312" panose="02010609030101010101" pitchFamily="49" charset="-122"/>
                </a:rPr>
                <a:t>B</a:t>
              </a:r>
            </a:p>
          </p:txBody>
        </p:sp>
        <p:sp>
          <p:nvSpPr>
            <p:cNvPr id="7204" name="Line 27">
              <a:extLst>
                <a:ext uri="{FF2B5EF4-FFF2-40B4-BE49-F238E27FC236}">
                  <a16:creationId xmlns:a16="http://schemas.microsoft.com/office/drawing/2014/main" id="{ABCFF92D-049D-41E5-B642-D26C8FA48675}"/>
                </a:ext>
              </a:extLst>
            </p:cNvPr>
            <p:cNvSpPr/>
            <p:nvPr/>
          </p:nvSpPr>
          <p:spPr>
            <a:xfrm>
              <a:off x="1248" y="864"/>
              <a:ext cx="0" cy="1200"/>
            </a:xfrm>
            <a:prstGeom prst="line">
              <a:avLst/>
            </a:prstGeom>
            <a:ln w="19050" cap="flat" cmpd="sng">
              <a:solidFill>
                <a:srgbClr val="1C1C1C"/>
              </a:solidFill>
              <a:prstDash val="dash"/>
              <a:headEnd type="none" w="med" len="med"/>
              <a:tailEnd type="none" w="med" len="med"/>
            </a:ln>
          </p:spPr>
        </p:sp>
        <p:sp>
          <p:nvSpPr>
            <p:cNvPr id="7205" name="Line 28">
              <a:extLst>
                <a:ext uri="{FF2B5EF4-FFF2-40B4-BE49-F238E27FC236}">
                  <a16:creationId xmlns:a16="http://schemas.microsoft.com/office/drawing/2014/main" id="{E5F10799-B3B0-632C-1510-DF2A501F99EC}"/>
                </a:ext>
              </a:extLst>
            </p:cNvPr>
            <p:cNvSpPr/>
            <p:nvPr/>
          </p:nvSpPr>
          <p:spPr>
            <a:xfrm>
              <a:off x="2496" y="1632"/>
              <a:ext cx="0" cy="432"/>
            </a:xfrm>
            <a:prstGeom prst="line">
              <a:avLst/>
            </a:prstGeom>
            <a:ln w="19050" cap="flat" cmpd="sng">
              <a:solidFill>
                <a:srgbClr val="1C1C1C"/>
              </a:solidFill>
              <a:prstDash val="dash"/>
              <a:headEnd type="none" w="med" len="med"/>
              <a:tailEnd type="none" w="med" len="med"/>
            </a:ln>
          </p:spPr>
        </p:sp>
        <mc:AlternateContent xmlns:mc="http://schemas.openxmlformats.org/markup-compatibility/2006" xmlns:a14="http://schemas.microsoft.com/office/drawing/2010/main">
          <mc:Choice Requires="a14">
            <p:sp>
              <p:nvSpPr>
                <p:cNvPr id="7174" name="Object 29">
                  <a:extLst>
                    <a:ext uri="{FF2B5EF4-FFF2-40B4-BE49-F238E27FC236}">
                      <a16:creationId xmlns:a16="http://schemas.microsoft.com/office/drawing/2014/main" id="{C6F61F0C-8CA0-6F0B-EEDA-5F14F7B1B322}"/>
                    </a:ext>
                  </a:extLst>
                </p:cNvPr>
                <p:cNvSpPr txBox="1"/>
                <p:nvPr/>
              </p:nvSpPr>
              <p:spPr>
                <a:xfrm>
                  <a:off x="1152" y="2016"/>
                  <a:ext cx="287" cy="336"/>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𝐴</m:t>
                            </m:r>
                          </m:sub>
                        </m:sSub>
                      </m:oMath>
                    </m:oMathPara>
                  </a14:m>
                  <a:endParaRPr lang="zh-CN" altLang="en-US" sz="2800"/>
                </a:p>
              </p:txBody>
            </p:sp>
          </mc:Choice>
          <mc:Fallback xmlns="">
            <p:sp>
              <p:nvSpPr>
                <p:cNvPr id="7174" name="Object 29"/>
                <p:cNvSpPr txBox="1">
                  <a:spLocks noRot="1" noChangeAspect="1" noMove="1" noResize="1" noEditPoints="1" noAdjustHandles="1" noChangeArrowheads="1" noChangeShapeType="1" noTextEdit="1"/>
                </p:cNvSpPr>
                <p:nvPr/>
              </p:nvSpPr>
              <p:spPr>
                <a:xfrm>
                  <a:off x="1152" y="2016"/>
                  <a:ext cx="287" cy="336"/>
                </a:xfrm>
                <a:prstGeom prst="rect">
                  <a:avLst/>
                </a:prstGeom>
                <a:blipFill>
                  <a:blip r:embed="rId7"/>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75" name="Object 30">
                  <a:extLst>
                    <a:ext uri="{FF2B5EF4-FFF2-40B4-BE49-F238E27FC236}">
                      <a16:creationId xmlns:a16="http://schemas.microsoft.com/office/drawing/2014/main" id="{D390DCEE-72D3-0506-022E-D499435D7E5C}"/>
                    </a:ext>
                  </a:extLst>
                </p:cNvPr>
                <p:cNvSpPr txBox="1"/>
                <p:nvPr/>
              </p:nvSpPr>
              <p:spPr>
                <a:xfrm>
                  <a:off x="2400" y="2064"/>
                  <a:ext cx="287" cy="336"/>
                </a:xfrm>
                <a:prstGeom prst="rect">
                  <a:avLst/>
                </a:prstGeom>
                <a:noFill/>
                <a:ln w="38100">
                  <a:noFill/>
                  <a:miter/>
                </a:ln>
              </p:spPr>
              <p:txBody>
                <a:bodyPr>
                  <a:normAutofit fontScale="92500"/>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𝐵</m:t>
                            </m:r>
                          </m:sub>
                        </m:sSub>
                      </m:oMath>
                    </m:oMathPara>
                  </a14:m>
                  <a:endParaRPr lang="zh-CN" altLang="en-US" sz="2800"/>
                </a:p>
              </p:txBody>
            </p:sp>
          </mc:Choice>
          <mc:Fallback xmlns="">
            <p:sp>
              <p:nvSpPr>
                <p:cNvPr id="7175" name="Object 30"/>
                <p:cNvSpPr txBox="1">
                  <a:spLocks noRot="1" noChangeAspect="1" noMove="1" noResize="1" noEditPoints="1" noAdjustHandles="1" noChangeArrowheads="1" noChangeShapeType="1" noTextEdit="1"/>
                </p:cNvSpPr>
                <p:nvPr/>
              </p:nvSpPr>
              <p:spPr>
                <a:xfrm>
                  <a:off x="2400" y="2064"/>
                  <a:ext cx="287" cy="336"/>
                </a:xfrm>
                <a:prstGeom prst="rect">
                  <a:avLst/>
                </a:prstGeom>
                <a:blipFill>
                  <a:blip r:embed="rId8"/>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76" name="Object 31">
                  <a:extLst>
                    <a:ext uri="{FF2B5EF4-FFF2-40B4-BE49-F238E27FC236}">
                      <a16:creationId xmlns:a16="http://schemas.microsoft.com/office/drawing/2014/main" id="{C56DEA44-76F2-4EFD-B54C-0D8DF37F6826}"/>
                    </a:ext>
                  </a:extLst>
                </p:cNvPr>
                <p:cNvSpPr txBox="1"/>
                <p:nvPr/>
              </p:nvSpPr>
              <p:spPr>
                <a:xfrm>
                  <a:off x="2030" y="864"/>
                  <a:ext cx="163" cy="204"/>
                </a:xfrm>
                <a:prstGeom prst="rect">
                  <a:avLst/>
                </a:prstGeom>
                <a:noFill/>
                <a:ln w="38100">
                  <a:noFill/>
                  <a:miter/>
                </a:ln>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𝑐</m:t>
                        </m:r>
                      </m:oMath>
                    </m:oMathPara>
                  </a14:m>
                  <a:endParaRPr lang="zh-CN" altLang="en-US" sz="2800"/>
                </a:p>
              </p:txBody>
            </p:sp>
          </mc:Choice>
          <mc:Fallback xmlns="">
            <p:sp>
              <p:nvSpPr>
                <p:cNvPr id="7176" name="Object 31"/>
                <p:cNvSpPr txBox="1">
                  <a:spLocks noRot="1" noChangeAspect="1" noMove="1" noResize="1" noEditPoints="1" noAdjustHandles="1" noChangeArrowheads="1" noChangeShapeType="1" noTextEdit="1"/>
                </p:cNvSpPr>
                <p:nvPr/>
              </p:nvSpPr>
              <p:spPr>
                <a:xfrm>
                  <a:off x="2030" y="864"/>
                  <a:ext cx="163" cy="204"/>
                </a:xfrm>
                <a:prstGeom prst="rect">
                  <a:avLst/>
                </a:prstGeom>
                <a:blipFill>
                  <a:blip r:embed="rId9"/>
                  <a:stretch>
                    <a:fillRect/>
                  </a:stretch>
                </a:blipFill>
                <a:ln w="38100">
                  <a:noFill/>
                  <a:miter/>
                </a:ln>
              </p:spPr>
              <p:txBody>
                <a:bodyPr/>
                <a:lstStyle/>
                <a:p>
                  <a:r>
                    <a:rPr lang="zh-CN" altLang="en-US">
                      <a:noFill/>
                    </a:rPr>
                    <a:t> </a:t>
                  </a:r>
                </a:p>
              </p:txBody>
            </p:sp>
          </mc:Fallback>
        </mc:AlternateContent>
      </p:grpSp>
      <p:grpSp>
        <p:nvGrpSpPr>
          <p:cNvPr id="7190" name="Group 32">
            <a:extLst>
              <a:ext uri="{FF2B5EF4-FFF2-40B4-BE49-F238E27FC236}">
                <a16:creationId xmlns:a16="http://schemas.microsoft.com/office/drawing/2014/main" id="{3BA8E980-3C24-38E7-339B-DA58AF886E2D}"/>
              </a:ext>
            </a:extLst>
          </p:cNvPr>
          <p:cNvGrpSpPr/>
          <p:nvPr/>
        </p:nvGrpSpPr>
        <p:grpSpPr>
          <a:xfrm>
            <a:off x="1206502" y="2536029"/>
            <a:ext cx="1981200" cy="1447800"/>
            <a:chOff x="1248" y="816"/>
            <a:chExt cx="1248" cy="912"/>
          </a:xfrm>
        </p:grpSpPr>
        <p:sp>
          <p:nvSpPr>
            <p:cNvPr id="7198" name="Arc 33">
              <a:extLst>
                <a:ext uri="{FF2B5EF4-FFF2-40B4-BE49-F238E27FC236}">
                  <a16:creationId xmlns:a16="http://schemas.microsoft.com/office/drawing/2014/main" id="{EE9A158B-2332-B4CA-BC2A-EA0AA4493D2F}"/>
                </a:ext>
              </a:extLst>
            </p:cNvPr>
            <p:cNvSpPr/>
            <p:nvPr/>
          </p:nvSpPr>
          <p:spPr>
            <a:xfrm flipH="1" flipV="1">
              <a:off x="1248" y="816"/>
              <a:ext cx="1248" cy="816"/>
            </a:xfrm>
            <a:custGeom>
              <a:avLst/>
              <a:gdLst>
                <a:gd name="txL" fmla="*/ 0 w 21591"/>
                <a:gd name="txT" fmla="*/ 0 h 21600"/>
                <a:gd name="txR" fmla="*/ 21591 w 21591"/>
                <a:gd name="txB" fmla="*/ 21600 h 21600"/>
              </a:gdLst>
              <a:ahLst/>
              <a:cxnLst>
                <a:cxn ang="0">
                  <a:pos x="0" y="0"/>
                </a:cxn>
                <a:cxn ang="0">
                  <a:pos x="72" y="30"/>
                </a:cxn>
                <a:cxn ang="0">
                  <a:pos x="0" y="31"/>
                </a:cxn>
              </a:cxnLst>
              <a:rect l="txL" t="txT" r="txR" b="txB"/>
              <a:pathLst>
                <a:path w="21591" h="21600" fill="none">
                  <a:moveTo>
                    <a:pt x="-1" y="0"/>
                  </a:moveTo>
                  <a:cubicBezTo>
                    <a:pt x="11681" y="0"/>
                    <a:pt x="21246" y="9287"/>
                    <a:pt x="21590" y="20964"/>
                  </a:cubicBezTo>
                </a:path>
                <a:path w="21591" h="21600" stroke="0">
                  <a:moveTo>
                    <a:pt x="-1" y="0"/>
                  </a:moveTo>
                  <a:cubicBezTo>
                    <a:pt x="11681" y="0"/>
                    <a:pt x="21246" y="9287"/>
                    <a:pt x="21590" y="20964"/>
                  </a:cubicBezTo>
                  <a:lnTo>
                    <a:pt x="0" y="21600"/>
                  </a:lnTo>
                  <a:close/>
                </a:path>
              </a:pathLst>
            </a:custGeom>
            <a:noFill/>
            <a:ln w="28575" cap="flat" cmpd="sng">
              <a:solidFill>
                <a:srgbClr val="0000FF">
                  <a:alpha val="100000"/>
                </a:srgbClr>
              </a:solidFill>
              <a:prstDash val="solid"/>
              <a:round/>
              <a:headEnd type="none" w="med" len="med"/>
              <a:tailEnd type="none" w="med" len="med"/>
            </a:ln>
          </p:spPr>
          <p:txBody>
            <a:bodyPr/>
            <a:lstStyle/>
            <a:p>
              <a:endParaRPr lang="zh-CN" altLang="en-US" sz="2800"/>
            </a:p>
          </p:txBody>
        </p:sp>
        <p:sp>
          <p:nvSpPr>
            <p:cNvPr id="7199" name="Line 34">
              <a:extLst>
                <a:ext uri="{FF2B5EF4-FFF2-40B4-BE49-F238E27FC236}">
                  <a16:creationId xmlns:a16="http://schemas.microsoft.com/office/drawing/2014/main" id="{270BF974-1E43-3AF0-5D23-CDCE2FFA7173}"/>
                </a:ext>
              </a:extLst>
            </p:cNvPr>
            <p:cNvSpPr/>
            <p:nvPr/>
          </p:nvSpPr>
          <p:spPr>
            <a:xfrm flipH="1" flipV="1">
              <a:off x="1632" y="1392"/>
              <a:ext cx="144" cy="96"/>
            </a:xfrm>
            <a:prstGeom prst="line">
              <a:avLst/>
            </a:prstGeom>
            <a:ln w="57150" cap="flat" cmpd="sng">
              <a:solidFill>
                <a:srgbClr val="0000FF"/>
              </a:solidFill>
              <a:prstDash val="solid"/>
              <a:headEnd type="triangle" w="sm" len="lg"/>
              <a:tailEnd type="none" w="sm" len="lg"/>
            </a:ln>
          </p:spPr>
        </p:sp>
        <mc:AlternateContent xmlns:mc="http://schemas.openxmlformats.org/markup-compatibility/2006" xmlns:a14="http://schemas.microsoft.com/office/drawing/2010/main">
          <mc:Choice Requires="a14">
            <p:sp>
              <p:nvSpPr>
                <p:cNvPr id="7173" name="Object 35">
                  <a:extLst>
                    <a:ext uri="{FF2B5EF4-FFF2-40B4-BE49-F238E27FC236}">
                      <a16:creationId xmlns:a16="http://schemas.microsoft.com/office/drawing/2014/main" id="{95EF9BDC-87C1-BD3E-51CB-0AFC4A62600F}"/>
                    </a:ext>
                  </a:extLst>
                </p:cNvPr>
                <p:cNvSpPr txBox="1"/>
                <p:nvPr/>
              </p:nvSpPr>
              <p:spPr>
                <a:xfrm>
                  <a:off x="1680" y="1504"/>
                  <a:ext cx="168" cy="224"/>
                </a:xfrm>
                <a:prstGeom prst="rect">
                  <a:avLst/>
                </a:prstGeom>
                <a:noFill/>
                <a:ln w="38100">
                  <a:noFill/>
                  <a:miter/>
                </a:ln>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𝑑</m:t>
                        </m:r>
                      </m:oMath>
                    </m:oMathPara>
                  </a14:m>
                  <a:endParaRPr lang="zh-CN" altLang="en-US" sz="2800"/>
                </a:p>
              </p:txBody>
            </p:sp>
          </mc:Choice>
          <mc:Fallback xmlns="">
            <p:sp>
              <p:nvSpPr>
                <p:cNvPr id="7173" name="Object 35"/>
                <p:cNvSpPr txBox="1">
                  <a:spLocks noRot="1" noChangeAspect="1" noMove="1" noResize="1" noEditPoints="1" noAdjustHandles="1" noChangeArrowheads="1" noChangeShapeType="1" noTextEdit="1"/>
                </p:cNvSpPr>
                <p:nvPr/>
              </p:nvSpPr>
              <p:spPr>
                <a:xfrm>
                  <a:off x="1680" y="1504"/>
                  <a:ext cx="168" cy="224"/>
                </a:xfrm>
                <a:prstGeom prst="rect">
                  <a:avLst/>
                </a:prstGeom>
                <a:blipFill>
                  <a:blip r:embed="rId10"/>
                  <a:stretch>
                    <a:fillRect r="-2326"/>
                  </a:stretch>
                </a:blipFill>
                <a:ln w="38100">
                  <a:noFill/>
                  <a:miter/>
                </a:ln>
              </p:spPr>
              <p:txBody>
                <a:bodyPr/>
                <a:lstStyle/>
                <a:p>
                  <a:r>
                    <a:rPr lang="zh-CN" altLang="en-US">
                      <a:noFill/>
                    </a:rPr>
                    <a:t> </a:t>
                  </a:r>
                </a:p>
              </p:txBody>
            </p:sp>
          </mc:Fallback>
        </mc:AlternateContent>
      </p:grpSp>
      <p:grpSp>
        <p:nvGrpSpPr>
          <p:cNvPr id="9" name="Group 36">
            <a:extLst>
              <a:ext uri="{FF2B5EF4-FFF2-40B4-BE49-F238E27FC236}">
                <a16:creationId xmlns:a16="http://schemas.microsoft.com/office/drawing/2014/main" id="{F87231F7-9C99-53B8-3688-03F62868C0A4}"/>
              </a:ext>
            </a:extLst>
          </p:cNvPr>
          <p:cNvGrpSpPr/>
          <p:nvPr/>
        </p:nvGrpSpPr>
        <p:grpSpPr>
          <a:xfrm>
            <a:off x="9536907" y="1987081"/>
            <a:ext cx="895350" cy="892175"/>
            <a:chOff x="3792" y="1920"/>
            <a:chExt cx="564" cy="576"/>
          </a:xfrm>
        </p:grpSpPr>
        <mc:AlternateContent xmlns:mc="http://schemas.openxmlformats.org/markup-compatibility/2006" xmlns:a14="http://schemas.microsoft.com/office/drawing/2010/main">
          <mc:Choice Requires="a14">
            <p:sp>
              <p:nvSpPr>
                <p:cNvPr id="7172" name="Object 37">
                  <a:extLst>
                    <a:ext uri="{FF2B5EF4-FFF2-40B4-BE49-F238E27FC236}">
                      <a16:creationId xmlns:a16="http://schemas.microsoft.com/office/drawing/2014/main" id="{EC4E38A1-4715-93BC-9982-0B6ADC43D2B1}"/>
                    </a:ext>
                  </a:extLst>
                </p:cNvPr>
                <p:cNvSpPr txBox="1"/>
                <p:nvPr/>
              </p:nvSpPr>
              <p:spPr>
                <a:xfrm>
                  <a:off x="3984" y="1968"/>
                  <a:ext cx="372" cy="436"/>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1</m:t>
                            </m:r>
                          </m:sub>
                        </m:sSub>
                      </m:oMath>
                    </m:oMathPara>
                  </a14:m>
                  <a:endParaRPr lang="zh-CN" altLang="en-US" sz="2800"/>
                </a:p>
              </p:txBody>
            </p:sp>
          </mc:Choice>
          <mc:Fallback xmlns="">
            <p:sp>
              <p:nvSpPr>
                <p:cNvPr id="7172" name="Object 37"/>
                <p:cNvSpPr txBox="1">
                  <a:spLocks noRot="1" noChangeAspect="1" noMove="1" noResize="1" noEditPoints="1" noAdjustHandles="1" noChangeArrowheads="1" noChangeShapeType="1" noTextEdit="1"/>
                </p:cNvSpPr>
                <p:nvPr/>
              </p:nvSpPr>
              <p:spPr>
                <a:xfrm>
                  <a:off x="3984" y="1968"/>
                  <a:ext cx="372" cy="436"/>
                </a:xfrm>
                <a:prstGeom prst="rect">
                  <a:avLst/>
                </a:prstGeom>
                <a:blipFill>
                  <a:blip r:embed="rId11"/>
                  <a:stretch>
                    <a:fillRect/>
                  </a:stretch>
                </a:blipFill>
                <a:ln w="38100">
                  <a:noFill/>
                  <a:miter/>
                </a:ln>
              </p:spPr>
              <p:txBody>
                <a:bodyPr/>
                <a:lstStyle/>
                <a:p>
                  <a:r>
                    <a:rPr lang="zh-CN" altLang="en-US">
                      <a:noFill/>
                    </a:rPr>
                    <a:t> </a:t>
                  </a:r>
                </a:p>
              </p:txBody>
            </p:sp>
          </mc:Fallback>
        </mc:AlternateContent>
        <p:sp>
          <p:nvSpPr>
            <p:cNvPr id="7197" name="AutoShape 38">
              <a:extLst>
                <a:ext uri="{FF2B5EF4-FFF2-40B4-BE49-F238E27FC236}">
                  <a16:creationId xmlns:a16="http://schemas.microsoft.com/office/drawing/2014/main" id="{B2FD657A-E872-6B1B-8B93-68388B9A8E23}"/>
                </a:ext>
              </a:extLst>
            </p:cNvPr>
            <p:cNvSpPr/>
            <p:nvPr/>
          </p:nvSpPr>
          <p:spPr>
            <a:xfrm flipV="1">
              <a:off x="3792" y="1920"/>
              <a:ext cx="192" cy="576"/>
            </a:xfrm>
            <a:prstGeom prst="downArrow">
              <a:avLst>
                <a:gd name="adj1" fmla="val 35416"/>
                <a:gd name="adj2" fmla="val 125000"/>
              </a:avLst>
            </a:prstGeom>
            <a:solidFill>
              <a:srgbClr val="CCECFF"/>
            </a:solidFill>
            <a:ln w="19050" cap="flat" cmpd="sng">
              <a:solidFill>
                <a:srgbClr val="0000FF"/>
              </a:solidFill>
              <a:prstDash val="solid"/>
              <a:miter/>
              <a:headEnd type="none" w="med" len="med"/>
              <a:tailEnd type="none" w="med" len="med"/>
            </a:ln>
          </p:spPr>
          <p:txBody>
            <a:bodyPr vert="eaVert" wrap="none" anchor="ctr" anchorCtr="0"/>
            <a:lstStyle/>
            <a:p>
              <a:endParaRPr lang="zh-CN" altLang="en-US" sz="2800" dirty="0">
                <a:latin typeface="Bookman Old Style" panose="02050604050505020204" pitchFamily="18" charset="0"/>
              </a:endParaRPr>
            </a:p>
          </p:txBody>
        </p:sp>
      </p:grpSp>
      <p:grpSp>
        <p:nvGrpSpPr>
          <p:cNvPr id="10" name="Group 39">
            <a:extLst>
              <a:ext uri="{FF2B5EF4-FFF2-40B4-BE49-F238E27FC236}">
                <a16:creationId xmlns:a16="http://schemas.microsoft.com/office/drawing/2014/main" id="{82FF36A9-F1E1-7698-82A9-F77B500361A7}"/>
              </a:ext>
            </a:extLst>
          </p:cNvPr>
          <p:cNvGrpSpPr/>
          <p:nvPr/>
        </p:nvGrpSpPr>
        <p:grpSpPr>
          <a:xfrm>
            <a:off x="9613110" y="3331693"/>
            <a:ext cx="879476" cy="914400"/>
            <a:chOff x="3840" y="1765"/>
            <a:chExt cx="554" cy="576"/>
          </a:xfrm>
        </p:grpSpPr>
        <p:sp>
          <p:nvSpPr>
            <p:cNvPr id="7196" name="AutoShape 40">
              <a:extLst>
                <a:ext uri="{FF2B5EF4-FFF2-40B4-BE49-F238E27FC236}">
                  <a16:creationId xmlns:a16="http://schemas.microsoft.com/office/drawing/2014/main" id="{3AA149FF-3BD8-01E4-86A5-51E51FB70F1E}"/>
                </a:ext>
              </a:extLst>
            </p:cNvPr>
            <p:cNvSpPr/>
            <p:nvPr/>
          </p:nvSpPr>
          <p:spPr>
            <a:xfrm flipV="1">
              <a:off x="3840" y="1765"/>
              <a:ext cx="144" cy="576"/>
            </a:xfrm>
            <a:prstGeom prst="downArrow">
              <a:avLst>
                <a:gd name="adj1" fmla="val 40000"/>
                <a:gd name="adj2" fmla="val 160277"/>
              </a:avLst>
            </a:prstGeom>
            <a:solidFill>
              <a:srgbClr val="FFCCCC"/>
            </a:solidFill>
            <a:ln w="19050" cap="flat" cmpd="sng">
              <a:solidFill>
                <a:srgbClr val="FF0000"/>
              </a:solidFill>
              <a:prstDash val="solid"/>
              <a:miter/>
              <a:headEnd type="none" w="med" len="med"/>
              <a:tailEnd type="none" w="med" len="med"/>
            </a:ln>
          </p:spPr>
          <p:txBody>
            <a:bodyPr vert="eaVert" wrap="none" anchor="ctr" anchorCtr="0"/>
            <a:lstStyle/>
            <a:p>
              <a:endParaRPr lang="zh-CN" altLang="en-US" sz="2800"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7171" name="Object 41">
                  <a:extLst>
                    <a:ext uri="{FF2B5EF4-FFF2-40B4-BE49-F238E27FC236}">
                      <a16:creationId xmlns:a16="http://schemas.microsoft.com/office/drawing/2014/main" id="{494789C8-3A40-6C7E-7184-296113B039EB}"/>
                    </a:ext>
                  </a:extLst>
                </p:cNvPr>
                <p:cNvSpPr txBox="1"/>
                <p:nvPr/>
              </p:nvSpPr>
              <p:spPr>
                <a:xfrm>
                  <a:off x="3993" y="1852"/>
                  <a:ext cx="401" cy="435"/>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2</m:t>
                            </m:r>
                          </m:sub>
                        </m:sSub>
                      </m:oMath>
                    </m:oMathPara>
                  </a14:m>
                  <a:endParaRPr lang="zh-CN" altLang="en-US" sz="2800" dirty="0"/>
                </a:p>
              </p:txBody>
            </p:sp>
          </mc:Choice>
          <mc:Fallback xmlns="">
            <p:sp>
              <p:nvSpPr>
                <p:cNvPr id="7171" name="Object 41"/>
                <p:cNvSpPr txBox="1">
                  <a:spLocks noRot="1" noChangeAspect="1" noMove="1" noResize="1" noEditPoints="1" noAdjustHandles="1" noChangeArrowheads="1" noChangeShapeType="1" noTextEdit="1"/>
                </p:cNvSpPr>
                <p:nvPr/>
              </p:nvSpPr>
              <p:spPr>
                <a:xfrm>
                  <a:off x="3993" y="1852"/>
                  <a:ext cx="401" cy="435"/>
                </a:xfrm>
                <a:prstGeom prst="rect">
                  <a:avLst/>
                </a:prstGeom>
                <a:blipFill>
                  <a:blip r:embed="rId12"/>
                  <a:stretch>
                    <a:fillRect/>
                  </a:stretch>
                </a:blipFill>
                <a:ln w="38100">
                  <a:noFill/>
                  <a:miter/>
                </a:ln>
              </p:spPr>
              <p:txBody>
                <a:bodyPr/>
                <a:lstStyle/>
                <a:p>
                  <a:r>
                    <a:rPr lang="zh-CN" altLang="en-US">
                      <a:noFill/>
                    </a:rPr>
                    <a:t> </a:t>
                  </a:r>
                </a:p>
              </p:txBody>
            </p:sp>
          </mc:Fallback>
        </mc:AlternateContent>
      </p:grpSp>
      <p:grpSp>
        <p:nvGrpSpPr>
          <p:cNvPr id="11" name="Group 42">
            <a:extLst>
              <a:ext uri="{FF2B5EF4-FFF2-40B4-BE49-F238E27FC236}">
                <a16:creationId xmlns:a16="http://schemas.microsoft.com/office/drawing/2014/main" id="{8EDA8D1B-DFBF-0B95-26BC-3FE8C7570F83}"/>
              </a:ext>
            </a:extLst>
          </p:cNvPr>
          <p:cNvGrpSpPr/>
          <p:nvPr/>
        </p:nvGrpSpPr>
        <p:grpSpPr>
          <a:xfrm>
            <a:off x="10462423" y="2772891"/>
            <a:ext cx="1566863" cy="493713"/>
            <a:chOff x="4464" y="2448"/>
            <a:chExt cx="987" cy="311"/>
          </a:xfrm>
        </p:grpSpPr>
        <p:sp>
          <p:nvSpPr>
            <p:cNvPr id="7195" name="AutoShape 43">
              <a:extLst>
                <a:ext uri="{FF2B5EF4-FFF2-40B4-BE49-F238E27FC236}">
                  <a16:creationId xmlns:a16="http://schemas.microsoft.com/office/drawing/2014/main" id="{8848F109-183D-3B08-48D6-3F5C3AEB4A38}"/>
                </a:ext>
              </a:extLst>
            </p:cNvPr>
            <p:cNvSpPr/>
            <p:nvPr/>
          </p:nvSpPr>
          <p:spPr>
            <a:xfrm flipH="1">
              <a:off x="4464" y="2571"/>
              <a:ext cx="528" cy="96"/>
            </a:xfrm>
            <a:prstGeom prst="rightArrow">
              <a:avLst>
                <a:gd name="adj1" fmla="val 58666"/>
                <a:gd name="adj2" fmla="val 201030"/>
              </a:avLst>
            </a:prstGeom>
            <a:solidFill>
              <a:srgbClr val="99CCFF"/>
            </a:solidFill>
            <a:ln w="19050" cap="flat" cmpd="sng">
              <a:solidFill>
                <a:schemeClr val="tx2"/>
              </a:solidFill>
              <a:prstDash val="solid"/>
              <a:miter/>
              <a:headEnd type="none" w="med" len="med"/>
              <a:tailEnd type="none" w="med" len="med"/>
            </a:ln>
          </p:spPr>
          <p:txBody>
            <a:bodyPr wrap="none" anchor="ctr" anchorCtr="0"/>
            <a:lstStyle/>
            <a:p>
              <a:endParaRPr lang="zh-CN" altLang="en-US" sz="2800"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7170" name="Object 44">
                  <a:extLst>
                    <a:ext uri="{FF2B5EF4-FFF2-40B4-BE49-F238E27FC236}">
                      <a16:creationId xmlns:a16="http://schemas.microsoft.com/office/drawing/2014/main" id="{4C3216AC-0F38-E1B7-A29B-23E22A58BFF5}"/>
                    </a:ext>
                  </a:extLst>
                </p:cNvPr>
                <p:cNvSpPr txBox="1"/>
                <p:nvPr/>
              </p:nvSpPr>
              <p:spPr>
                <a:xfrm>
                  <a:off x="5081" y="2448"/>
                  <a:ext cx="370" cy="311"/>
                </a:xfrm>
                <a:prstGeom prst="rect">
                  <a:avLst/>
                </a:prstGeom>
                <a:solidFill>
                  <a:schemeClr val="accent1"/>
                </a:solidFill>
                <a:ln w="9525" cap="flat" cmpd="sng">
                  <a:solidFill>
                    <a:schemeClr val="tx1"/>
                  </a:solidFill>
                  <a:prstDash val="solid"/>
                  <a:miter/>
                  <a:headEnd type="none" w="med" len="med"/>
                  <a:tailEnd type="none" w="med" len="med"/>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𝐴</m:t>
                        </m:r>
                      </m:oMath>
                    </m:oMathPara>
                  </a14:m>
                  <a:endParaRPr lang="zh-CN" altLang="en-US" sz="2800" dirty="0"/>
                </a:p>
              </p:txBody>
            </p:sp>
          </mc:Choice>
          <mc:Fallback xmlns="">
            <p:sp>
              <p:nvSpPr>
                <p:cNvPr id="7170" name="Object 44"/>
                <p:cNvSpPr txBox="1">
                  <a:spLocks noRot="1" noChangeAspect="1" noMove="1" noResize="1" noEditPoints="1" noAdjustHandles="1" noChangeArrowheads="1" noChangeShapeType="1" noTextEdit="1"/>
                </p:cNvSpPr>
                <p:nvPr/>
              </p:nvSpPr>
              <p:spPr>
                <a:xfrm>
                  <a:off x="5081" y="2448"/>
                  <a:ext cx="370" cy="311"/>
                </a:xfrm>
                <a:prstGeom prst="rect">
                  <a:avLst/>
                </a:prstGeom>
                <a:blipFill>
                  <a:blip r:embed="rId13"/>
                  <a:stretch>
                    <a:fillRect/>
                  </a:stretch>
                </a:blipFill>
                <a:ln w="9525" cap="flat" cmpd="sng">
                  <a:solidFill>
                    <a:schemeClr val="tx1"/>
                  </a:solidFill>
                  <a:prstDash val="solid"/>
                  <a:miter/>
                  <a:headEnd type="none" w="med" len="med"/>
                  <a:tailEnd type="none" w="med" len="med"/>
                </a:ln>
              </p:spPr>
              <p:txBody>
                <a:bodyPr/>
                <a:lstStyle/>
                <a:p>
                  <a:r>
                    <a:rPr lang="zh-CN" altLang="en-US">
                      <a:noFill/>
                    </a:rPr>
                    <a:t> </a:t>
                  </a:r>
                </a:p>
              </p:txBody>
            </p:sp>
          </mc:Fallback>
        </mc:AlternateContent>
      </p:grpSp>
      <p:sp>
        <p:nvSpPr>
          <p:cNvPr id="7194" name="Text Box 45">
            <a:extLst>
              <a:ext uri="{FF2B5EF4-FFF2-40B4-BE49-F238E27FC236}">
                <a16:creationId xmlns:a16="http://schemas.microsoft.com/office/drawing/2014/main" id="{A4664EE6-EFB7-07F9-BBB4-16E892A1146E}"/>
              </a:ext>
            </a:extLst>
          </p:cNvPr>
          <p:cNvSpPr txBox="1"/>
          <p:nvPr/>
        </p:nvSpPr>
        <p:spPr>
          <a:xfrm>
            <a:off x="8698707" y="4263556"/>
            <a:ext cx="1981200" cy="523220"/>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lstStyle/>
          <a:p>
            <a:pPr>
              <a:spcBef>
                <a:spcPct val="50000"/>
              </a:spcBef>
            </a:pPr>
            <a:r>
              <a:rPr lang="zh-CN" altLang="en-US" sz="2800" dirty="0">
                <a:solidFill>
                  <a:srgbClr val="333333"/>
                </a:solidFill>
                <a:latin typeface="Times New Roman" panose="02020603050405020304" pitchFamily="18" charset="0"/>
              </a:rPr>
              <a:t>低温热源</a:t>
            </a:r>
          </a:p>
        </p:txBody>
      </p:sp>
      <p:sp>
        <p:nvSpPr>
          <p:cNvPr id="30" name="Text Box 13">
            <a:hlinkClick r:id="" action="ppaction://noaction"/>
            <a:extLst>
              <a:ext uri="{FF2B5EF4-FFF2-40B4-BE49-F238E27FC236}">
                <a16:creationId xmlns:a16="http://schemas.microsoft.com/office/drawing/2014/main" id="{442E0252-0AEA-E8D1-86D1-9F8417CA292E}"/>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制冷机</a:t>
            </a:r>
          </a:p>
        </p:txBody>
      </p:sp>
      <p:grpSp>
        <p:nvGrpSpPr>
          <p:cNvPr id="31" name="Group 16">
            <a:extLst>
              <a:ext uri="{FF2B5EF4-FFF2-40B4-BE49-F238E27FC236}">
                <a16:creationId xmlns:a16="http://schemas.microsoft.com/office/drawing/2014/main" id="{27AE5EA3-BF38-7C18-C461-C3401E959F35}"/>
              </a:ext>
            </a:extLst>
          </p:cNvPr>
          <p:cNvGrpSpPr/>
          <p:nvPr/>
        </p:nvGrpSpPr>
        <p:grpSpPr>
          <a:xfrm>
            <a:off x="444502" y="1400167"/>
            <a:ext cx="4367213" cy="523875"/>
            <a:chOff x="966" y="3292"/>
            <a:chExt cx="2751" cy="330"/>
          </a:xfrm>
        </p:grpSpPr>
        <p:sp>
          <p:nvSpPr>
            <p:cNvPr id="32" name="Text Box 17">
              <a:extLst>
                <a:ext uri="{FF2B5EF4-FFF2-40B4-BE49-F238E27FC236}">
                  <a16:creationId xmlns:a16="http://schemas.microsoft.com/office/drawing/2014/main" id="{A062D0F3-3473-98B0-33AE-966C6483710C}"/>
                </a:ext>
              </a:extLst>
            </p:cNvPr>
            <p:cNvSpPr txBox="1"/>
            <p:nvPr/>
          </p:nvSpPr>
          <p:spPr>
            <a:xfrm>
              <a:off x="966" y="3292"/>
              <a:ext cx="2208" cy="330"/>
            </a:xfrm>
            <a:prstGeom prst="rect">
              <a:avLst/>
            </a:prstGeom>
            <a:noFill/>
            <a:ln w="9525">
              <a:noFill/>
            </a:ln>
          </p:spPr>
          <p:txBody>
            <a:bodyPr>
              <a:spAutoFit/>
            </a:bodyPr>
            <a:lstStyle/>
            <a:p>
              <a:pPr>
                <a:spcBef>
                  <a:spcPct val="50000"/>
                </a:spcBef>
              </a:pPr>
              <a:r>
                <a:rPr lang="zh-CN" altLang="en-US" sz="2800" dirty="0">
                  <a:solidFill>
                    <a:srgbClr val="1C1C1C"/>
                  </a:solidFill>
                  <a:latin typeface="Times New Roman" panose="02020603050405020304" pitchFamily="18" charset="0"/>
                </a:rPr>
                <a:t>制冷机（</a:t>
              </a:r>
              <a:r>
                <a:rPr lang="zh-CN" altLang="en-US" sz="2800" dirty="0">
                  <a:solidFill>
                    <a:srgbClr val="0000FF"/>
                  </a:solidFill>
                  <a:latin typeface="Times New Roman" panose="02020603050405020304" pitchFamily="18" charset="0"/>
                </a:rPr>
                <a:t>逆</a:t>
              </a:r>
              <a:r>
                <a:rPr lang="zh-CN" altLang="en-US" sz="2800" dirty="0">
                  <a:solidFill>
                    <a:srgbClr val="1C1C1C"/>
                  </a:solidFill>
                  <a:latin typeface="Times New Roman" panose="02020603050405020304" pitchFamily="18" charset="0"/>
                </a:rPr>
                <a:t>循环）</a:t>
              </a:r>
              <a:endParaRPr lang="zh-CN" altLang="zh-CN" sz="2800" dirty="0">
                <a:solidFill>
                  <a:srgbClr val="1C1C1C"/>
                </a:solidFill>
                <a:latin typeface="Times New Roman" panose="02020603050405020304" pitchFamily="18" charset="0"/>
                <a:ea typeface="楷体_GB2312" panose="02010609030101010101" pitchFamily="49" charset="-122"/>
              </a:endParaRPr>
            </a:p>
          </p:txBody>
        </p:sp>
        <mc:AlternateContent xmlns:mc="http://schemas.openxmlformats.org/markup-compatibility/2006" xmlns:a14="http://schemas.microsoft.com/office/drawing/2010/main">
          <mc:Choice Requires="a14">
            <p:sp>
              <p:nvSpPr>
                <p:cNvPr id="33" name="Object 18">
                  <a:extLst>
                    <a:ext uri="{FF2B5EF4-FFF2-40B4-BE49-F238E27FC236}">
                      <a16:creationId xmlns:a16="http://schemas.microsoft.com/office/drawing/2014/main" id="{3D4414AB-5C4D-E9DD-3891-75830B4D2C21}"/>
                    </a:ext>
                  </a:extLst>
                </p:cNvPr>
                <p:cNvSpPr txBox="1"/>
                <p:nvPr/>
              </p:nvSpPr>
              <p:spPr>
                <a:xfrm>
                  <a:off x="2811" y="3319"/>
                  <a:ext cx="906" cy="274"/>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𝐴</m:t>
                        </m:r>
                        <m:r>
                          <a:rPr lang="zh-CN" altLang="en-US" sz="2800" i="1">
                            <a:solidFill>
                              <a:srgbClr val="000000"/>
                            </a:solidFill>
                            <a:latin typeface="Cambria Math" panose="02040503050406030204" pitchFamily="18" charset="0"/>
                          </a:rPr>
                          <m:t>&lt;0</m:t>
                        </m:r>
                      </m:oMath>
                    </m:oMathPara>
                  </a14:m>
                  <a:endParaRPr lang="zh-CN" altLang="en-US" sz="2800" dirty="0"/>
                </a:p>
              </p:txBody>
            </p:sp>
          </mc:Choice>
          <mc:Fallback xmlns="">
            <p:sp>
              <p:nvSpPr>
                <p:cNvPr id="33" name="Object 18">
                  <a:extLst>
                    <a:ext uri="{FF2B5EF4-FFF2-40B4-BE49-F238E27FC236}">
                      <a16:creationId xmlns:a16="http://schemas.microsoft.com/office/drawing/2014/main" id="{DBCEB0A7-A89E-E136-69D0-F7912DA782A8}"/>
                    </a:ext>
                  </a:extLst>
                </p:cNvPr>
                <p:cNvSpPr txBox="1">
                  <a:spLocks noRot="1" noChangeAspect="1" noMove="1" noResize="1" noEditPoints="1" noAdjustHandles="1" noChangeArrowheads="1" noChangeShapeType="1" noTextEdit="1"/>
                </p:cNvSpPr>
                <p:nvPr/>
              </p:nvSpPr>
              <p:spPr>
                <a:xfrm>
                  <a:off x="2811" y="3319"/>
                  <a:ext cx="906" cy="274"/>
                </a:xfrm>
                <a:prstGeom prst="rect">
                  <a:avLst/>
                </a:prstGeom>
                <a:blipFill>
                  <a:blip r:embed="rId14"/>
                  <a:stretch>
                    <a:fillRect/>
                  </a:stretch>
                </a:blipFill>
                <a:ln w="38100">
                  <a:noFill/>
                  <a:miter/>
                </a:ln>
              </p:spPr>
              <p:txBody>
                <a:bodyPr/>
                <a:lstStyle/>
                <a:p>
                  <a:r>
                    <a:rPr lang="zh-CN" altLang="en-US">
                      <a:noFill/>
                    </a:rPr>
                    <a:t> </a:t>
                  </a:r>
                </a:p>
              </p:txBody>
            </p:sp>
          </mc:Fallback>
        </mc:AlternateContent>
      </p:grpSp>
      <p:grpSp>
        <p:nvGrpSpPr>
          <p:cNvPr id="5" name="组合 4">
            <a:extLst>
              <a:ext uri="{FF2B5EF4-FFF2-40B4-BE49-F238E27FC236}">
                <a16:creationId xmlns:a16="http://schemas.microsoft.com/office/drawing/2014/main" id="{F395B888-8B51-63D4-9E7E-20052DC3BFBE}"/>
              </a:ext>
            </a:extLst>
          </p:cNvPr>
          <p:cNvGrpSpPr/>
          <p:nvPr/>
        </p:nvGrpSpPr>
        <p:grpSpPr>
          <a:xfrm>
            <a:off x="4650527" y="845466"/>
            <a:ext cx="3187017" cy="4517228"/>
            <a:chOff x="2051720" y="0"/>
            <a:chExt cx="5918944" cy="6858000"/>
          </a:xfrm>
        </p:grpSpPr>
        <p:pic>
          <p:nvPicPr>
            <p:cNvPr id="50" name="Picture 13">
              <a:hlinkClick r:id="rId15" action="ppaction://hlinkfile"/>
              <a:extLst>
                <a:ext uri="{FF2B5EF4-FFF2-40B4-BE49-F238E27FC236}">
                  <a16:creationId xmlns:a16="http://schemas.microsoft.com/office/drawing/2014/main" id="{72605BA0-ED34-3CEA-FED7-8F6FB5A84938}"/>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l="26667" t="6511" r="15085" b="4948"/>
            <a:stretch/>
          </p:blipFill>
          <p:spPr bwMode="auto">
            <a:xfrm>
              <a:off x="2051720" y="0"/>
              <a:ext cx="5904656"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51" name="Picture 13">
              <a:hlinkClick r:id="rId15" action="ppaction://hlinkfile"/>
              <a:extLst>
                <a:ext uri="{FF2B5EF4-FFF2-40B4-BE49-F238E27FC236}">
                  <a16:creationId xmlns:a16="http://schemas.microsoft.com/office/drawing/2014/main" id="{F814811F-1D86-E767-4EA0-6C881DA7A2DF}"/>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l="-15873" t="55977" r="79432" b="4948"/>
            <a:stretch/>
          </p:blipFill>
          <p:spPr bwMode="auto">
            <a:xfrm>
              <a:off x="4380837" y="3628229"/>
              <a:ext cx="3589827" cy="3191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spTree>
    <p:extLst>
      <p:ext uri="{BB962C8B-B14F-4D97-AF65-F5344CB8AC3E}">
        <p14:creationId xmlns:p14="http://schemas.microsoft.com/office/powerpoint/2010/main" val="1229613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8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18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19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9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74" name="Group 2"/>
          <p:cNvGrpSpPr/>
          <p:nvPr/>
        </p:nvGrpSpPr>
        <p:grpSpPr>
          <a:xfrm>
            <a:off x="1628776" y="1518444"/>
            <a:ext cx="3962400" cy="3733800"/>
            <a:chOff x="480" y="864"/>
            <a:chExt cx="2496" cy="2352"/>
          </a:xfrm>
        </p:grpSpPr>
        <p:sp>
          <p:nvSpPr>
            <p:cNvPr id="15395" name="Rectangle 3"/>
            <p:cNvSpPr/>
            <p:nvPr/>
          </p:nvSpPr>
          <p:spPr>
            <a:xfrm>
              <a:off x="480" y="864"/>
              <a:ext cx="2496" cy="2352"/>
            </a:xfrm>
            <a:prstGeom prst="rect">
              <a:avLst/>
            </a:prstGeom>
            <a:solidFill>
              <a:schemeClr val="bg1"/>
            </a:solidFill>
            <a:ln w="9525" cap="flat" cmpd="sng">
              <a:no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15396" name="Line 4"/>
            <p:cNvSpPr/>
            <p:nvPr/>
          </p:nvSpPr>
          <p:spPr>
            <a:xfrm>
              <a:off x="768" y="2928"/>
              <a:ext cx="2160" cy="0"/>
            </a:xfrm>
            <a:prstGeom prst="line">
              <a:avLst/>
            </a:prstGeom>
            <a:ln w="19050" cap="flat" cmpd="sng">
              <a:solidFill>
                <a:srgbClr val="000000"/>
              </a:solidFill>
              <a:prstDash val="solid"/>
              <a:headEnd type="none" w="med" len="med"/>
              <a:tailEnd type="triangle" w="sm" len="lg"/>
            </a:ln>
          </p:spPr>
        </p:sp>
        <p:sp>
          <p:nvSpPr>
            <p:cNvPr id="15397" name="Line 5"/>
            <p:cNvSpPr/>
            <p:nvPr/>
          </p:nvSpPr>
          <p:spPr>
            <a:xfrm flipV="1">
              <a:off x="768" y="962"/>
              <a:ext cx="1" cy="1958"/>
            </a:xfrm>
            <a:prstGeom prst="line">
              <a:avLst/>
            </a:prstGeom>
            <a:ln w="19050" cap="flat" cmpd="sng">
              <a:solidFill>
                <a:srgbClr val="000000"/>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15368" name="Object 6"/>
                <p:cNvSpPr txBox="1"/>
                <p:nvPr/>
              </p:nvSpPr>
              <p:spPr>
                <a:xfrm>
                  <a:off x="2737" y="2688"/>
                  <a:ext cx="191" cy="218"/>
                </a:xfrm>
                <a:prstGeom prst="rect">
                  <a:avLst/>
                </a:prstGeom>
                <a:noFill/>
                <a:ln w="38100">
                  <a:noFill/>
                  <a:miter/>
                </a:ln>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𝑉</m:t>
                        </m:r>
                      </m:oMath>
                    </m:oMathPara>
                  </a14:m>
                  <a:endParaRPr lang="zh-CN" altLang="en-US"/>
                </a:p>
              </p:txBody>
            </p:sp>
          </mc:Choice>
          <mc:Fallback xmlns="">
            <p:sp>
              <p:nvSpPr>
                <p:cNvPr id="15368" name="Object 6"/>
                <p:cNvSpPr txBox="1">
                  <a:spLocks noRot="1" noChangeAspect="1" noMove="1" noResize="1" noEditPoints="1" noAdjustHandles="1" noChangeArrowheads="1" noChangeShapeType="1" noTextEdit="1"/>
                </p:cNvSpPr>
                <p:nvPr/>
              </p:nvSpPr>
              <p:spPr>
                <a:xfrm>
                  <a:off x="2737" y="2688"/>
                  <a:ext cx="191" cy="218"/>
                </a:xfrm>
                <a:prstGeom prst="rect">
                  <a:avLst/>
                </a:prstGeom>
                <a:blipFill>
                  <a:blip r:embed="rId2"/>
                  <a:stretch>
                    <a:fillRect/>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369" name="Object 7"/>
                <p:cNvSpPr txBox="1"/>
                <p:nvPr/>
              </p:nvSpPr>
              <p:spPr>
                <a:xfrm>
                  <a:off x="664" y="2922"/>
                  <a:ext cx="168" cy="198"/>
                </a:xfrm>
                <a:prstGeom prst="rect">
                  <a:avLst/>
                </a:prstGeom>
                <a:noFill/>
                <a:ln w="38100">
                  <a:noFill/>
                  <a:miter/>
                </a:ln>
              </p:spPr>
              <p:txBody>
                <a:bodyPr>
                  <a:normAutofit fontScale="77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𝑜</m:t>
                        </m:r>
                      </m:oMath>
                    </m:oMathPara>
                  </a14:m>
                  <a:endParaRPr lang="zh-CN" altLang="en-US"/>
                </a:p>
              </p:txBody>
            </p:sp>
          </mc:Choice>
          <mc:Fallback xmlns="">
            <p:sp>
              <p:nvSpPr>
                <p:cNvPr id="15369" name="Object 7"/>
                <p:cNvSpPr txBox="1">
                  <a:spLocks noRot="1" noChangeAspect="1" noMove="1" noResize="1" noEditPoints="1" noAdjustHandles="1" noChangeArrowheads="1" noChangeShapeType="1" noTextEdit="1"/>
                </p:cNvSpPr>
                <p:nvPr/>
              </p:nvSpPr>
              <p:spPr>
                <a:xfrm>
                  <a:off x="664" y="2922"/>
                  <a:ext cx="168" cy="198"/>
                </a:xfrm>
                <a:prstGeom prst="rect">
                  <a:avLst/>
                </a:prstGeom>
                <a:blipFill>
                  <a:blip r:embed="rId3"/>
                  <a:stretch>
                    <a:fillRect/>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370" name="Object 8"/>
                <p:cNvSpPr txBox="1"/>
                <p:nvPr/>
              </p:nvSpPr>
              <p:spPr>
                <a:xfrm>
                  <a:off x="505" y="960"/>
                  <a:ext cx="202" cy="24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𝑝</m:t>
                        </m:r>
                      </m:oMath>
                    </m:oMathPara>
                  </a14:m>
                  <a:endParaRPr lang="zh-CN" altLang="en-US"/>
                </a:p>
              </p:txBody>
            </p:sp>
          </mc:Choice>
          <mc:Fallback xmlns="">
            <p:sp>
              <p:nvSpPr>
                <p:cNvPr id="15370" name="Object 8"/>
                <p:cNvSpPr txBox="1">
                  <a:spLocks noRot="1" noChangeAspect="1" noMove="1" noResize="1" noEditPoints="1" noAdjustHandles="1" noChangeArrowheads="1" noChangeShapeType="1" noTextEdit="1"/>
                </p:cNvSpPr>
                <p:nvPr/>
              </p:nvSpPr>
              <p:spPr>
                <a:xfrm>
                  <a:off x="505" y="960"/>
                  <a:ext cx="202" cy="240"/>
                </a:xfrm>
                <a:prstGeom prst="rect">
                  <a:avLst/>
                </a:prstGeom>
                <a:blipFill>
                  <a:blip r:embed="rId4"/>
                  <a:stretch>
                    <a:fillRect b="-4762"/>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371" name="Object 9"/>
                <p:cNvSpPr txBox="1"/>
                <p:nvPr/>
              </p:nvSpPr>
              <p:spPr>
                <a:xfrm>
                  <a:off x="2067" y="2544"/>
                  <a:ext cx="237" cy="299"/>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𝑇</m:t>
                            </m:r>
                          </m:e>
                          <m:sub>
                            <m:r>
                              <a:rPr lang="zh-CN" altLang="en-US" i="1">
                                <a:solidFill>
                                  <a:srgbClr val="000000"/>
                                </a:solidFill>
                                <a:latin typeface="Cambria Math" panose="02040503050406030204" pitchFamily="18" charset="0"/>
                              </a:rPr>
                              <m:t>2</m:t>
                            </m:r>
                          </m:sub>
                        </m:sSub>
                      </m:oMath>
                    </m:oMathPara>
                  </a14:m>
                  <a:endParaRPr lang="zh-CN" altLang="en-US"/>
                </a:p>
              </p:txBody>
            </p:sp>
          </mc:Choice>
          <mc:Fallback xmlns="">
            <p:sp>
              <p:nvSpPr>
                <p:cNvPr id="15371" name="Object 9"/>
                <p:cNvSpPr txBox="1">
                  <a:spLocks noRot="1" noChangeAspect="1" noMove="1" noResize="1" noEditPoints="1" noAdjustHandles="1" noChangeArrowheads="1" noChangeShapeType="1" noTextEdit="1"/>
                </p:cNvSpPr>
                <p:nvPr/>
              </p:nvSpPr>
              <p:spPr>
                <a:xfrm>
                  <a:off x="2067" y="2544"/>
                  <a:ext cx="237" cy="299"/>
                </a:xfrm>
                <a:prstGeom prst="rect">
                  <a:avLst/>
                </a:prstGeom>
                <a:blipFill>
                  <a:blip r:embed="rId5"/>
                  <a:stretch>
                    <a:fillRect/>
                  </a:stretch>
                </a:blipFill>
                <a:ln w="38100">
                  <a:noFill/>
                  <a:miter/>
                </a:ln>
              </p:spPr>
              <p:txBody>
                <a:bodyPr/>
                <a:lstStyle/>
                <a:p>
                  <a:r>
                    <a:rPr lang="en-US">
                      <a:noFill/>
                    </a:rPr>
                    <a:t> </a:t>
                  </a:r>
                </a:p>
              </p:txBody>
            </p:sp>
          </mc:Fallback>
        </mc:AlternateContent>
        <p:sp>
          <p:nvSpPr>
            <p:cNvPr id="15398" name="Freeform 10" descr="浅色下对角线"/>
            <p:cNvSpPr/>
            <p:nvPr/>
          </p:nvSpPr>
          <p:spPr>
            <a:xfrm>
              <a:off x="1056" y="1362"/>
              <a:ext cx="1465" cy="1219"/>
            </a:xfrm>
            <a:custGeom>
              <a:avLst/>
              <a:gdLst>
                <a:gd name="txL" fmla="*/ 0 w 1465"/>
                <a:gd name="txT" fmla="*/ 0 h 1219"/>
                <a:gd name="txR" fmla="*/ 1465 w 1465"/>
                <a:gd name="txB" fmla="*/ 1219 h 1219"/>
              </a:gdLst>
              <a:ahLst/>
              <a:cxnLst>
                <a:cxn ang="0">
                  <a:pos x="23" y="54"/>
                </a:cxn>
                <a:cxn ang="0">
                  <a:pos x="53" y="246"/>
                </a:cxn>
                <a:cxn ang="0">
                  <a:pos x="106" y="408"/>
                </a:cxn>
                <a:cxn ang="0">
                  <a:pos x="177" y="624"/>
                </a:cxn>
                <a:cxn ang="0">
                  <a:pos x="248" y="763"/>
                </a:cxn>
                <a:cxn ang="0">
                  <a:pos x="349" y="901"/>
                </a:cxn>
                <a:cxn ang="0">
                  <a:pos x="496" y="967"/>
                </a:cxn>
                <a:cxn ang="0">
                  <a:pos x="692" y="1056"/>
                </a:cxn>
                <a:cxn ang="0">
                  <a:pos x="992" y="1135"/>
                </a:cxn>
                <a:cxn ang="0">
                  <a:pos x="1227" y="1182"/>
                </a:cxn>
                <a:cxn ang="0">
                  <a:pos x="1465" y="1219"/>
                </a:cxn>
                <a:cxn ang="0">
                  <a:pos x="1352" y="1117"/>
                </a:cxn>
                <a:cxn ang="0">
                  <a:pos x="1222" y="1027"/>
                </a:cxn>
                <a:cxn ang="0">
                  <a:pos x="1181" y="979"/>
                </a:cxn>
                <a:cxn ang="0">
                  <a:pos x="1122" y="906"/>
                </a:cxn>
                <a:cxn ang="0">
                  <a:pos x="1093" y="859"/>
                </a:cxn>
                <a:cxn ang="0">
                  <a:pos x="1021" y="715"/>
                </a:cxn>
                <a:cxn ang="0">
                  <a:pos x="933" y="661"/>
                </a:cxn>
                <a:cxn ang="0">
                  <a:pos x="1004" y="679"/>
                </a:cxn>
                <a:cxn ang="0">
                  <a:pos x="864" y="633"/>
                </a:cxn>
                <a:cxn ang="0">
                  <a:pos x="791" y="607"/>
                </a:cxn>
                <a:cxn ang="0">
                  <a:pos x="697" y="570"/>
                </a:cxn>
                <a:cxn ang="0">
                  <a:pos x="591" y="504"/>
                </a:cxn>
                <a:cxn ang="0">
                  <a:pos x="383" y="367"/>
                </a:cxn>
                <a:cxn ang="0">
                  <a:pos x="213" y="240"/>
                </a:cxn>
                <a:cxn ang="0">
                  <a:pos x="124" y="162"/>
                </a:cxn>
                <a:cxn ang="0">
                  <a:pos x="0" y="0"/>
                </a:cxn>
              </a:cxnLst>
              <a:rect l="txL" t="txT" r="txR" b="txB"/>
              <a:pathLst>
                <a:path w="1465" h="1219">
                  <a:moveTo>
                    <a:pt x="23" y="54"/>
                  </a:moveTo>
                  <a:lnTo>
                    <a:pt x="53" y="246"/>
                  </a:lnTo>
                  <a:lnTo>
                    <a:pt x="106" y="408"/>
                  </a:lnTo>
                  <a:lnTo>
                    <a:pt x="177" y="624"/>
                  </a:lnTo>
                  <a:lnTo>
                    <a:pt x="248" y="763"/>
                  </a:lnTo>
                  <a:lnTo>
                    <a:pt x="349" y="901"/>
                  </a:lnTo>
                  <a:lnTo>
                    <a:pt x="496" y="967"/>
                  </a:lnTo>
                  <a:lnTo>
                    <a:pt x="692" y="1056"/>
                  </a:lnTo>
                  <a:lnTo>
                    <a:pt x="992" y="1135"/>
                  </a:lnTo>
                  <a:lnTo>
                    <a:pt x="1227" y="1182"/>
                  </a:lnTo>
                  <a:lnTo>
                    <a:pt x="1465" y="1219"/>
                  </a:lnTo>
                  <a:lnTo>
                    <a:pt x="1352" y="1117"/>
                  </a:lnTo>
                  <a:lnTo>
                    <a:pt x="1222" y="1027"/>
                  </a:lnTo>
                  <a:lnTo>
                    <a:pt x="1181" y="979"/>
                  </a:lnTo>
                  <a:lnTo>
                    <a:pt x="1122" y="906"/>
                  </a:lnTo>
                  <a:lnTo>
                    <a:pt x="1093" y="859"/>
                  </a:lnTo>
                  <a:lnTo>
                    <a:pt x="1021" y="715"/>
                  </a:lnTo>
                  <a:lnTo>
                    <a:pt x="933" y="661"/>
                  </a:lnTo>
                  <a:lnTo>
                    <a:pt x="1004" y="679"/>
                  </a:lnTo>
                  <a:lnTo>
                    <a:pt x="864" y="633"/>
                  </a:lnTo>
                  <a:lnTo>
                    <a:pt x="791" y="607"/>
                  </a:lnTo>
                  <a:lnTo>
                    <a:pt x="697" y="570"/>
                  </a:lnTo>
                  <a:lnTo>
                    <a:pt x="591" y="504"/>
                  </a:lnTo>
                  <a:lnTo>
                    <a:pt x="383" y="367"/>
                  </a:lnTo>
                  <a:lnTo>
                    <a:pt x="213" y="240"/>
                  </a:lnTo>
                  <a:lnTo>
                    <a:pt x="124" y="162"/>
                  </a:lnTo>
                  <a:lnTo>
                    <a:pt x="0" y="0"/>
                  </a:lnTo>
                </a:path>
              </a:pathLst>
            </a:custGeom>
            <a:pattFill prst="ltDnDiag">
              <a:fgClr>
                <a:srgbClr val="0066FF">
                  <a:alpha val="100000"/>
                </a:srgbClr>
              </a:fgClr>
              <a:bgClr>
                <a:schemeClr val="bg1">
                  <a:alpha val="100000"/>
                </a:schemeClr>
              </a:bgClr>
            </a:pattFill>
            <a:ln w="9525">
              <a:noFill/>
            </a:ln>
          </p:spPr>
          <p:txBody>
            <a:bodyPr/>
            <a:lstStyle/>
            <a:p>
              <a:endParaRPr lang="zh-CN" altLang="en-US"/>
            </a:p>
          </p:txBody>
        </p:sp>
        <p:sp>
          <p:nvSpPr>
            <p:cNvPr id="15399" name="Text Box 11"/>
            <p:cNvSpPr txBox="1"/>
            <p:nvPr/>
          </p:nvSpPr>
          <p:spPr>
            <a:xfrm flipH="1">
              <a:off x="1511" y="1951"/>
              <a:ext cx="372" cy="365"/>
            </a:xfrm>
            <a:prstGeom prst="rect">
              <a:avLst/>
            </a:prstGeom>
            <a:noFill/>
            <a:ln w="9525">
              <a:noFill/>
            </a:ln>
          </p:spPr>
          <p:txBody>
            <a:bodyPr>
              <a:spAutoFit/>
            </a:bodyPr>
            <a:lstStyle/>
            <a:p>
              <a:pPr>
                <a:spcBef>
                  <a:spcPct val="50000"/>
                </a:spcBef>
              </a:pPr>
              <a:r>
                <a:rPr lang="en-US" altLang="zh-CN" sz="3200" i="1" dirty="0">
                  <a:solidFill>
                    <a:srgbClr val="000000"/>
                  </a:solidFill>
                  <a:latin typeface="Times New Roman" panose="02020603050405020304" pitchFamily="18" charset="0"/>
                </a:rPr>
                <a:t>W</a:t>
              </a:r>
            </a:p>
          </p:txBody>
        </p:sp>
        <p:sp>
          <p:nvSpPr>
            <p:cNvPr id="15400" name="Line 12"/>
            <p:cNvSpPr/>
            <p:nvPr/>
          </p:nvSpPr>
          <p:spPr>
            <a:xfrm flipH="1" flipV="1">
              <a:off x="1748" y="2413"/>
              <a:ext cx="124" cy="42"/>
            </a:xfrm>
            <a:prstGeom prst="line">
              <a:avLst/>
            </a:prstGeom>
            <a:ln w="57150" cap="flat" cmpd="sng">
              <a:solidFill>
                <a:srgbClr val="0000FF"/>
              </a:solidFill>
              <a:prstDash val="solid"/>
              <a:headEnd type="triangle" w="sm" len="lg"/>
              <a:tailEnd type="none" w="sm" len="lg"/>
            </a:ln>
          </p:spPr>
        </p:sp>
        <p:sp>
          <p:nvSpPr>
            <p:cNvPr id="15401" name="Line 13"/>
            <p:cNvSpPr/>
            <p:nvPr/>
          </p:nvSpPr>
          <p:spPr>
            <a:xfrm>
              <a:off x="1488" y="1733"/>
              <a:ext cx="144" cy="96"/>
            </a:xfrm>
            <a:prstGeom prst="line">
              <a:avLst/>
            </a:prstGeom>
            <a:ln w="57150" cap="flat" cmpd="sng">
              <a:solidFill>
                <a:srgbClr val="0000FF"/>
              </a:solidFill>
              <a:prstDash val="solid"/>
              <a:headEnd type="triangle" w="sm" len="lg"/>
              <a:tailEnd type="none" w="sm" len="lg"/>
            </a:ln>
          </p:spPr>
        </p:sp>
        <p:sp>
          <p:nvSpPr>
            <p:cNvPr id="15402" name="Line 14"/>
            <p:cNvSpPr/>
            <p:nvPr/>
          </p:nvSpPr>
          <p:spPr>
            <a:xfrm flipH="1" flipV="1">
              <a:off x="1152" y="1799"/>
              <a:ext cx="41" cy="126"/>
            </a:xfrm>
            <a:prstGeom prst="line">
              <a:avLst/>
            </a:prstGeom>
            <a:ln w="57150" cap="flat" cmpd="sng">
              <a:solidFill>
                <a:srgbClr val="CC0099"/>
              </a:solidFill>
              <a:prstDash val="solid"/>
              <a:headEnd type="triangle" w="sm" len="lg"/>
              <a:tailEnd type="none" w="sm" len="lg"/>
            </a:ln>
          </p:spPr>
        </p:sp>
        <mc:AlternateContent xmlns:mc="http://schemas.openxmlformats.org/markup-compatibility/2006" xmlns:a14="http://schemas.microsoft.com/office/drawing/2010/main">
          <mc:Choice Requires="a14">
            <p:sp>
              <p:nvSpPr>
                <p:cNvPr id="15372" name="Object 15"/>
                <p:cNvSpPr txBox="1"/>
                <p:nvPr/>
              </p:nvSpPr>
              <p:spPr>
                <a:xfrm>
                  <a:off x="1728" y="1632"/>
                  <a:ext cx="202" cy="294"/>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𝑇</m:t>
                            </m:r>
                          </m:e>
                          <m:sub>
                            <m:r>
                              <a:rPr lang="zh-CN" altLang="en-US" i="1">
                                <a:solidFill>
                                  <a:srgbClr val="000000"/>
                                </a:solidFill>
                                <a:latin typeface="Cambria Math" panose="02040503050406030204" pitchFamily="18" charset="0"/>
                              </a:rPr>
                              <m:t>1</m:t>
                            </m:r>
                          </m:sub>
                        </m:sSub>
                      </m:oMath>
                    </m:oMathPara>
                  </a14:m>
                  <a:endParaRPr lang="zh-CN" altLang="en-US"/>
                </a:p>
              </p:txBody>
            </p:sp>
          </mc:Choice>
          <mc:Fallback xmlns="">
            <p:sp>
              <p:nvSpPr>
                <p:cNvPr id="15372" name="Object 15"/>
                <p:cNvSpPr txBox="1">
                  <a:spLocks noRot="1" noChangeAspect="1" noMove="1" noResize="1" noEditPoints="1" noAdjustHandles="1" noChangeArrowheads="1" noChangeShapeType="1" noTextEdit="1"/>
                </p:cNvSpPr>
                <p:nvPr/>
              </p:nvSpPr>
              <p:spPr>
                <a:xfrm>
                  <a:off x="1728" y="1632"/>
                  <a:ext cx="202" cy="294"/>
                </a:xfrm>
                <a:prstGeom prst="rect">
                  <a:avLst/>
                </a:prstGeom>
                <a:blipFill>
                  <a:blip r:embed="rId6"/>
                  <a:stretch>
                    <a:fillRect r="-11321"/>
                  </a:stretch>
                </a:blipFill>
                <a:ln w="38100">
                  <a:noFill/>
                  <a:miter/>
                </a:ln>
              </p:spPr>
              <p:txBody>
                <a:bodyPr/>
                <a:lstStyle/>
                <a:p>
                  <a:r>
                    <a:rPr lang="en-US">
                      <a:noFill/>
                    </a:rPr>
                    <a:t> </a:t>
                  </a:r>
                </a:p>
              </p:txBody>
            </p:sp>
          </mc:Fallback>
        </mc:AlternateContent>
        <p:sp>
          <p:nvSpPr>
            <p:cNvPr id="15403" name="Line 16"/>
            <p:cNvSpPr/>
            <p:nvPr/>
          </p:nvSpPr>
          <p:spPr>
            <a:xfrm>
              <a:off x="2160" y="2213"/>
              <a:ext cx="96" cy="96"/>
            </a:xfrm>
            <a:prstGeom prst="line">
              <a:avLst/>
            </a:prstGeom>
            <a:ln w="57150" cap="flat" cmpd="sng">
              <a:solidFill>
                <a:srgbClr val="CC0099"/>
              </a:solidFill>
              <a:prstDash val="solid"/>
              <a:headEnd type="triangle" w="sm" len="lg"/>
              <a:tailEnd type="none" w="sm" len="lg"/>
            </a:ln>
          </p:spPr>
        </p:sp>
        <p:sp>
          <p:nvSpPr>
            <p:cNvPr id="15404" name="Freeform 17"/>
            <p:cNvSpPr/>
            <p:nvPr/>
          </p:nvSpPr>
          <p:spPr>
            <a:xfrm>
              <a:off x="1056" y="1349"/>
              <a:ext cx="1044" cy="680"/>
            </a:xfrm>
            <a:custGeom>
              <a:avLst/>
              <a:gdLst>
                <a:gd name="txL" fmla="*/ 0 w 1044"/>
                <a:gd name="txT" fmla="*/ 0 h 680"/>
                <a:gd name="txR" fmla="*/ 1044 w 1044"/>
                <a:gd name="txB" fmla="*/ 680 h 680"/>
              </a:gdLst>
              <a:ahLst/>
              <a:cxnLst>
                <a:cxn ang="0">
                  <a:pos x="0" y="0"/>
                </a:cxn>
                <a:cxn ang="0">
                  <a:pos x="242" y="246"/>
                </a:cxn>
                <a:cxn ang="0">
                  <a:pos x="501" y="435"/>
                </a:cxn>
                <a:cxn ang="0">
                  <a:pos x="734" y="565"/>
                </a:cxn>
                <a:cxn ang="0">
                  <a:pos x="1001" y="665"/>
                </a:cxn>
                <a:cxn ang="0">
                  <a:pos x="995" y="658"/>
                </a:cxn>
              </a:cxnLst>
              <a:rect l="txL" t="txT" r="txR" b="txB"/>
              <a:pathLst>
                <a:path w="1044" h="680">
                  <a:moveTo>
                    <a:pt x="0" y="0"/>
                  </a:moveTo>
                  <a:cubicBezTo>
                    <a:pt x="40" y="41"/>
                    <a:pt x="159" y="174"/>
                    <a:pt x="242" y="246"/>
                  </a:cubicBezTo>
                  <a:cubicBezTo>
                    <a:pt x="325" y="318"/>
                    <a:pt x="419" y="382"/>
                    <a:pt x="501" y="435"/>
                  </a:cubicBezTo>
                  <a:cubicBezTo>
                    <a:pt x="583" y="488"/>
                    <a:pt x="651" y="527"/>
                    <a:pt x="734" y="565"/>
                  </a:cubicBezTo>
                  <a:cubicBezTo>
                    <a:pt x="817" y="603"/>
                    <a:pt x="958" y="650"/>
                    <a:pt x="1001" y="665"/>
                  </a:cubicBezTo>
                  <a:cubicBezTo>
                    <a:pt x="1044" y="680"/>
                    <a:pt x="996" y="658"/>
                    <a:pt x="995" y="658"/>
                  </a:cubicBezTo>
                </a:path>
              </a:pathLst>
            </a:custGeom>
            <a:noFill/>
            <a:ln w="28575" cap="flat" cmpd="sng">
              <a:solidFill>
                <a:srgbClr val="0000FF">
                  <a:alpha val="100000"/>
                </a:srgbClr>
              </a:solidFill>
              <a:prstDash val="solid"/>
              <a:round/>
              <a:headEnd type="none" w="med" len="med"/>
              <a:tailEnd type="none" w="med" len="med"/>
            </a:ln>
          </p:spPr>
          <p:txBody>
            <a:bodyPr/>
            <a:lstStyle/>
            <a:p>
              <a:endParaRPr lang="zh-CN" altLang="en-US"/>
            </a:p>
          </p:txBody>
        </p:sp>
        <p:sp>
          <p:nvSpPr>
            <p:cNvPr id="15405" name="Freeform 18"/>
            <p:cNvSpPr/>
            <p:nvPr/>
          </p:nvSpPr>
          <p:spPr>
            <a:xfrm>
              <a:off x="1369" y="2251"/>
              <a:ext cx="1175" cy="330"/>
            </a:xfrm>
            <a:custGeom>
              <a:avLst/>
              <a:gdLst>
                <a:gd name="txL" fmla="*/ 0 w 1175"/>
                <a:gd name="txT" fmla="*/ 0 h 330"/>
                <a:gd name="txR" fmla="*/ 1175 w 1175"/>
                <a:gd name="txB" fmla="*/ 330 h 330"/>
              </a:gdLst>
              <a:ahLst/>
              <a:cxnLst>
                <a:cxn ang="0">
                  <a:pos x="0" y="0"/>
                </a:cxn>
                <a:cxn ang="0">
                  <a:pos x="181" y="87"/>
                </a:cxn>
                <a:cxn ang="0">
                  <a:pos x="473" y="204"/>
                </a:cxn>
                <a:cxn ang="0">
                  <a:pos x="866" y="293"/>
                </a:cxn>
                <a:cxn ang="0">
                  <a:pos x="1175" y="330"/>
                </a:cxn>
              </a:cxnLst>
              <a:rect l="txL" t="txT" r="txR" b="txB"/>
              <a:pathLst>
                <a:path w="1175" h="330">
                  <a:moveTo>
                    <a:pt x="0" y="0"/>
                  </a:moveTo>
                  <a:cubicBezTo>
                    <a:pt x="30" y="14"/>
                    <a:pt x="102" y="53"/>
                    <a:pt x="181" y="87"/>
                  </a:cubicBezTo>
                  <a:cubicBezTo>
                    <a:pt x="260" y="121"/>
                    <a:pt x="359" y="170"/>
                    <a:pt x="473" y="204"/>
                  </a:cubicBezTo>
                  <a:cubicBezTo>
                    <a:pt x="587" y="238"/>
                    <a:pt x="749" y="272"/>
                    <a:pt x="866" y="293"/>
                  </a:cubicBezTo>
                  <a:cubicBezTo>
                    <a:pt x="983" y="314"/>
                    <a:pt x="1111" y="322"/>
                    <a:pt x="1175" y="330"/>
                  </a:cubicBezTo>
                </a:path>
              </a:pathLst>
            </a:custGeom>
            <a:noFill/>
            <a:ln w="28575" cap="flat" cmpd="sng">
              <a:solidFill>
                <a:srgbClr val="0000FF">
                  <a:alpha val="100000"/>
                </a:srgbClr>
              </a:solidFill>
              <a:prstDash val="solid"/>
              <a:round/>
              <a:headEnd type="none" w="med" len="med"/>
              <a:tailEnd type="none" w="med" len="med"/>
            </a:ln>
          </p:spPr>
          <p:txBody>
            <a:bodyPr/>
            <a:lstStyle/>
            <a:p>
              <a:endParaRPr lang="zh-CN" altLang="en-US"/>
            </a:p>
          </p:txBody>
        </p:sp>
        <p:sp>
          <p:nvSpPr>
            <p:cNvPr id="15406" name="Freeform 19"/>
            <p:cNvSpPr/>
            <p:nvPr/>
          </p:nvSpPr>
          <p:spPr>
            <a:xfrm>
              <a:off x="1056" y="1362"/>
              <a:ext cx="325" cy="895"/>
            </a:xfrm>
            <a:custGeom>
              <a:avLst/>
              <a:gdLst>
                <a:gd name="txL" fmla="*/ 0 w 325"/>
                <a:gd name="txT" fmla="*/ 0 h 895"/>
                <a:gd name="txR" fmla="*/ 325 w 325"/>
                <a:gd name="txB" fmla="*/ 895 h 895"/>
              </a:gdLst>
              <a:ahLst/>
              <a:cxnLst>
                <a:cxn ang="0">
                  <a:pos x="0" y="0"/>
                </a:cxn>
                <a:cxn ang="0">
                  <a:pos x="62" y="297"/>
                </a:cxn>
                <a:cxn ang="0">
                  <a:pos x="184" y="654"/>
                </a:cxn>
                <a:cxn ang="0">
                  <a:pos x="325" y="895"/>
                </a:cxn>
              </a:cxnLst>
              <a:rect l="txL" t="txT" r="txR" b="txB"/>
              <a:pathLst>
                <a:path w="325" h="895">
                  <a:moveTo>
                    <a:pt x="0" y="0"/>
                  </a:moveTo>
                  <a:cubicBezTo>
                    <a:pt x="10" y="49"/>
                    <a:pt x="31" y="188"/>
                    <a:pt x="62" y="297"/>
                  </a:cubicBezTo>
                  <a:cubicBezTo>
                    <a:pt x="93" y="406"/>
                    <a:pt x="140" y="554"/>
                    <a:pt x="184" y="654"/>
                  </a:cubicBezTo>
                  <a:cubicBezTo>
                    <a:pt x="228" y="754"/>
                    <a:pt x="296" y="845"/>
                    <a:pt x="325" y="895"/>
                  </a:cubicBezTo>
                </a:path>
              </a:pathLst>
            </a:custGeom>
            <a:noFill/>
            <a:ln w="28575" cap="flat" cmpd="sng">
              <a:solidFill>
                <a:srgbClr val="CC00CC">
                  <a:alpha val="100000"/>
                </a:srgbClr>
              </a:solidFill>
              <a:prstDash val="solid"/>
              <a:round/>
              <a:headEnd type="none" w="med" len="med"/>
              <a:tailEnd type="none" w="med" len="med"/>
            </a:ln>
          </p:spPr>
          <p:txBody>
            <a:bodyPr/>
            <a:lstStyle/>
            <a:p>
              <a:endParaRPr lang="zh-CN" altLang="en-US"/>
            </a:p>
          </p:txBody>
        </p:sp>
        <p:sp>
          <p:nvSpPr>
            <p:cNvPr id="15407" name="Freeform 20"/>
            <p:cNvSpPr/>
            <p:nvPr/>
          </p:nvSpPr>
          <p:spPr>
            <a:xfrm>
              <a:off x="2064" y="2021"/>
              <a:ext cx="484" cy="552"/>
            </a:xfrm>
            <a:custGeom>
              <a:avLst/>
              <a:gdLst>
                <a:gd name="txL" fmla="*/ 0 w 484"/>
                <a:gd name="txT" fmla="*/ 0 h 552"/>
                <a:gd name="txR" fmla="*/ 484 w 484"/>
                <a:gd name="txB" fmla="*/ 552 h 552"/>
              </a:gdLst>
              <a:ahLst/>
              <a:cxnLst>
                <a:cxn ang="0">
                  <a:pos x="0" y="0"/>
                </a:cxn>
                <a:cxn ang="0">
                  <a:pos x="210" y="309"/>
                </a:cxn>
                <a:cxn ang="0">
                  <a:pos x="484" y="552"/>
                </a:cxn>
              </a:cxnLst>
              <a:rect l="txL" t="txT" r="txR" b="txB"/>
              <a:pathLst>
                <a:path w="484" h="552">
                  <a:moveTo>
                    <a:pt x="0" y="0"/>
                  </a:moveTo>
                  <a:cubicBezTo>
                    <a:pt x="35" y="51"/>
                    <a:pt x="129" y="217"/>
                    <a:pt x="210" y="309"/>
                  </a:cubicBezTo>
                  <a:cubicBezTo>
                    <a:pt x="291" y="401"/>
                    <a:pt x="427" y="501"/>
                    <a:pt x="484" y="552"/>
                  </a:cubicBezTo>
                </a:path>
              </a:pathLst>
            </a:custGeom>
            <a:noFill/>
            <a:ln w="28575" cap="flat" cmpd="sng">
              <a:solidFill>
                <a:srgbClr val="CC00CC">
                  <a:alpha val="100000"/>
                </a:srgbClr>
              </a:solidFill>
              <a:prstDash val="solid"/>
              <a:round/>
              <a:headEnd type="none" w="med" len="med"/>
              <a:tailEnd type="none" w="med" len="med"/>
            </a:ln>
          </p:spPr>
          <p:txBody>
            <a:bodyPr/>
            <a:lstStyle/>
            <a:p>
              <a:endParaRPr lang="zh-CN" altLang="en-US"/>
            </a:p>
          </p:txBody>
        </p:sp>
        <p:sp>
          <p:nvSpPr>
            <p:cNvPr id="15408" name="Text Box 21"/>
            <p:cNvSpPr txBox="1"/>
            <p:nvPr/>
          </p:nvSpPr>
          <p:spPr>
            <a:xfrm>
              <a:off x="960" y="1104"/>
              <a:ext cx="288" cy="288"/>
            </a:xfrm>
            <a:prstGeom prst="rect">
              <a:avLst/>
            </a:prstGeom>
            <a:noFill/>
            <a:ln w="9525">
              <a:noFill/>
            </a:ln>
          </p:spPr>
          <p:txBody>
            <a:bodyPr>
              <a:spAutoFit/>
            </a:bodyPr>
            <a:lstStyle/>
            <a:p>
              <a:pPr eaLnBrk="1" hangingPunct="1">
                <a:spcBef>
                  <a:spcPct val="50000"/>
                </a:spcBef>
              </a:pPr>
              <a:r>
                <a:rPr lang="en-US" altLang="zh-CN" sz="2400" i="1" dirty="0">
                  <a:solidFill>
                    <a:srgbClr val="1C1C1C"/>
                  </a:solidFill>
                  <a:latin typeface="Times New Roman" panose="02020603050405020304" pitchFamily="18" charset="0"/>
                </a:rPr>
                <a:t>A</a:t>
              </a:r>
            </a:p>
          </p:txBody>
        </p:sp>
        <p:sp>
          <p:nvSpPr>
            <p:cNvPr id="15409" name="Text Box 22"/>
            <p:cNvSpPr txBox="1"/>
            <p:nvPr/>
          </p:nvSpPr>
          <p:spPr>
            <a:xfrm>
              <a:off x="2064" y="1776"/>
              <a:ext cx="336" cy="288"/>
            </a:xfrm>
            <a:prstGeom prst="rect">
              <a:avLst/>
            </a:prstGeom>
            <a:noFill/>
            <a:ln w="9525">
              <a:noFill/>
            </a:ln>
          </p:spPr>
          <p:txBody>
            <a:bodyPr>
              <a:spAutoFit/>
            </a:bodyPr>
            <a:lstStyle/>
            <a:p>
              <a:pPr eaLnBrk="1" hangingPunct="1">
                <a:spcBef>
                  <a:spcPct val="50000"/>
                </a:spcBef>
              </a:pPr>
              <a:r>
                <a:rPr lang="en-US" altLang="zh-CN" sz="2400" i="1" dirty="0">
                  <a:solidFill>
                    <a:srgbClr val="1C1C1C"/>
                  </a:solidFill>
                  <a:latin typeface="Times New Roman" panose="02020603050405020304" pitchFamily="18" charset="0"/>
                </a:rPr>
                <a:t>B</a:t>
              </a:r>
            </a:p>
          </p:txBody>
        </p:sp>
        <p:sp>
          <p:nvSpPr>
            <p:cNvPr id="15410" name="Text Box 23"/>
            <p:cNvSpPr txBox="1"/>
            <p:nvPr/>
          </p:nvSpPr>
          <p:spPr>
            <a:xfrm>
              <a:off x="2544" y="2352"/>
              <a:ext cx="288" cy="288"/>
            </a:xfrm>
            <a:prstGeom prst="rect">
              <a:avLst/>
            </a:prstGeom>
            <a:noFill/>
            <a:ln w="9525">
              <a:noFill/>
            </a:ln>
          </p:spPr>
          <p:txBody>
            <a:bodyPr>
              <a:spAutoFit/>
            </a:bodyPr>
            <a:lstStyle/>
            <a:p>
              <a:pPr eaLnBrk="1" hangingPunct="1">
                <a:spcBef>
                  <a:spcPct val="50000"/>
                </a:spcBef>
              </a:pPr>
              <a:r>
                <a:rPr lang="en-US" altLang="zh-CN" sz="2400" i="1" dirty="0">
                  <a:solidFill>
                    <a:srgbClr val="1C1C1C"/>
                  </a:solidFill>
                  <a:latin typeface="Times New Roman" panose="02020603050405020304" pitchFamily="18" charset="0"/>
                </a:rPr>
                <a:t>C</a:t>
              </a:r>
            </a:p>
          </p:txBody>
        </p:sp>
        <p:sp>
          <p:nvSpPr>
            <p:cNvPr id="15411" name="Text Box 24"/>
            <p:cNvSpPr txBox="1"/>
            <p:nvPr/>
          </p:nvSpPr>
          <p:spPr>
            <a:xfrm>
              <a:off x="1152" y="2208"/>
              <a:ext cx="336" cy="288"/>
            </a:xfrm>
            <a:prstGeom prst="rect">
              <a:avLst/>
            </a:prstGeom>
            <a:noFill/>
            <a:ln w="9525">
              <a:noFill/>
            </a:ln>
          </p:spPr>
          <p:txBody>
            <a:bodyPr>
              <a:spAutoFit/>
            </a:bodyPr>
            <a:lstStyle/>
            <a:p>
              <a:pPr eaLnBrk="1" hangingPunct="1">
                <a:spcBef>
                  <a:spcPct val="50000"/>
                </a:spcBef>
              </a:pPr>
              <a:r>
                <a:rPr lang="en-US" altLang="zh-CN" sz="2400" i="1" dirty="0">
                  <a:solidFill>
                    <a:srgbClr val="1C1C1C"/>
                  </a:solidFill>
                  <a:latin typeface="Times New Roman" panose="02020603050405020304" pitchFamily="18" charset="0"/>
                </a:rPr>
                <a:t>D</a:t>
              </a:r>
            </a:p>
          </p:txBody>
        </p:sp>
        <mc:AlternateContent xmlns:mc="http://schemas.openxmlformats.org/markup-compatibility/2006" xmlns:a14="http://schemas.microsoft.com/office/drawing/2010/main">
          <mc:Choice Requires="a14">
            <p:sp>
              <p:nvSpPr>
                <p:cNvPr id="15373" name="Object 25"/>
                <p:cNvSpPr txBox="1"/>
                <p:nvPr/>
              </p:nvSpPr>
              <p:spPr>
                <a:xfrm>
                  <a:off x="2208" y="960"/>
                  <a:ext cx="687" cy="328"/>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𝑇</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&gt;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𝑇</m:t>
                            </m:r>
                          </m:e>
                          <m:sub>
                            <m:r>
                              <a:rPr lang="zh-CN" altLang="en-US" i="1">
                                <a:solidFill>
                                  <a:srgbClr val="000000"/>
                                </a:solidFill>
                                <a:latin typeface="Cambria Math" panose="02040503050406030204" pitchFamily="18" charset="0"/>
                              </a:rPr>
                              <m:t>2</m:t>
                            </m:r>
                          </m:sub>
                        </m:sSub>
                      </m:oMath>
                    </m:oMathPara>
                  </a14:m>
                  <a:endParaRPr lang="zh-CN" altLang="en-US"/>
                </a:p>
              </p:txBody>
            </p:sp>
          </mc:Choice>
          <mc:Fallback xmlns="">
            <p:sp>
              <p:nvSpPr>
                <p:cNvPr id="15373" name="Object 25"/>
                <p:cNvSpPr txBox="1">
                  <a:spLocks noRot="1" noChangeAspect="1" noMove="1" noResize="1" noEditPoints="1" noAdjustHandles="1" noChangeArrowheads="1" noChangeShapeType="1" noTextEdit="1"/>
                </p:cNvSpPr>
                <p:nvPr/>
              </p:nvSpPr>
              <p:spPr>
                <a:xfrm>
                  <a:off x="2208" y="960"/>
                  <a:ext cx="687" cy="328"/>
                </a:xfrm>
                <a:prstGeom prst="rect">
                  <a:avLst/>
                </a:prstGeom>
                <a:blipFill>
                  <a:blip r:embed="rId7"/>
                  <a:stretch>
                    <a:fillRect/>
                  </a:stretch>
                </a:blipFill>
                <a:ln w="38100">
                  <a:noFill/>
                  <a:miter/>
                </a:ln>
              </p:spPr>
              <p:txBody>
                <a:bodyPr/>
                <a:lstStyle/>
                <a:p>
                  <a:r>
                    <a:rPr lang="en-US">
                      <a:noFill/>
                    </a:rPr>
                    <a:t> </a:t>
                  </a:r>
                </a:p>
              </p:txBody>
            </p:sp>
          </mc:Fallback>
        </mc:AlternateContent>
      </p:grpSp>
      <p:grpSp>
        <p:nvGrpSpPr>
          <p:cNvPr id="3" name="Group 26"/>
          <p:cNvGrpSpPr/>
          <p:nvPr/>
        </p:nvGrpSpPr>
        <p:grpSpPr>
          <a:xfrm>
            <a:off x="6591301" y="1412875"/>
            <a:ext cx="3076575" cy="604838"/>
            <a:chOff x="3527" y="890"/>
            <a:chExt cx="1938" cy="381"/>
          </a:xfrm>
        </p:grpSpPr>
        <p:sp>
          <p:nvSpPr>
            <p:cNvPr id="15393" name="Rectangle 27"/>
            <p:cNvSpPr/>
            <p:nvPr/>
          </p:nvSpPr>
          <p:spPr>
            <a:xfrm>
              <a:off x="3527" y="935"/>
              <a:ext cx="1440" cy="336"/>
            </a:xfrm>
            <a:prstGeom prst="rect">
              <a:avLst/>
            </a:prstGeom>
            <a:solidFill>
              <a:srgbClr val="FDE3F0"/>
            </a:solidFill>
            <a:ln w="19050" cap="flat" cmpd="sng">
              <a:solidFill>
                <a:srgbClr val="CC0099"/>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15394" name="Text Box 28"/>
            <p:cNvSpPr txBox="1"/>
            <p:nvPr/>
          </p:nvSpPr>
          <p:spPr>
            <a:xfrm>
              <a:off x="3593" y="890"/>
              <a:ext cx="1872" cy="365"/>
            </a:xfrm>
            <a:prstGeom prst="rect">
              <a:avLst/>
            </a:prstGeom>
            <a:noFill/>
            <a:ln w="9525">
              <a:noFill/>
            </a:ln>
          </p:spPr>
          <p:txBody>
            <a:bodyPr>
              <a:spAutoFit/>
            </a:bodyPr>
            <a:lstStyle/>
            <a:p>
              <a:pPr>
                <a:spcBef>
                  <a:spcPct val="50000"/>
                </a:spcBef>
              </a:pPr>
              <a:r>
                <a:rPr lang="zh-CN" altLang="en-US" sz="3200" dirty="0">
                  <a:solidFill>
                    <a:srgbClr val="000000"/>
                  </a:solidFill>
                  <a:latin typeface="Times New Roman" panose="02020603050405020304" pitchFamily="18" charset="0"/>
                </a:rPr>
                <a:t>高温热源</a:t>
              </a:r>
              <a:r>
                <a:rPr lang="en-US" altLang="zh-CN" sz="3200" i="1" dirty="0">
                  <a:solidFill>
                    <a:srgbClr val="000000"/>
                  </a:solidFill>
                  <a:latin typeface="Times New Roman" panose="02020603050405020304" pitchFamily="18" charset="0"/>
                </a:rPr>
                <a:t>T</a:t>
              </a:r>
              <a:r>
                <a:rPr lang="en-US" altLang="zh-CN" sz="3200" baseline="-25000" dirty="0">
                  <a:solidFill>
                    <a:srgbClr val="000000"/>
                  </a:solidFill>
                  <a:latin typeface="Times New Roman" panose="02020603050405020304" pitchFamily="18" charset="0"/>
                </a:rPr>
                <a:t>1</a:t>
              </a:r>
              <a:endParaRPr lang="en-US" altLang="zh-CN" sz="3200" baseline="-25000" dirty="0">
                <a:solidFill>
                  <a:srgbClr val="000000"/>
                </a:solidFill>
                <a:latin typeface="Times New Roman" panose="02020603050405020304" pitchFamily="18" charset="0"/>
                <a:ea typeface="楷体_GB2312" panose="02010609030101010101" pitchFamily="49" charset="-122"/>
              </a:endParaRPr>
            </a:p>
          </p:txBody>
        </p:sp>
      </p:grpSp>
      <p:grpSp>
        <p:nvGrpSpPr>
          <p:cNvPr id="4" name="Group 29"/>
          <p:cNvGrpSpPr/>
          <p:nvPr/>
        </p:nvGrpSpPr>
        <p:grpSpPr>
          <a:xfrm>
            <a:off x="6677025" y="2590800"/>
            <a:ext cx="2667000" cy="1066800"/>
            <a:chOff x="3264" y="2304"/>
            <a:chExt cx="1488" cy="576"/>
          </a:xfrm>
        </p:grpSpPr>
        <p:sp>
          <p:nvSpPr>
            <p:cNvPr id="15391" name="Oval 30"/>
            <p:cNvSpPr/>
            <p:nvPr/>
          </p:nvSpPr>
          <p:spPr>
            <a:xfrm>
              <a:off x="3264" y="2304"/>
              <a:ext cx="1344" cy="576"/>
            </a:xfrm>
            <a:prstGeom prst="ellipse">
              <a:avLst/>
            </a:prstGeom>
            <a:solidFill>
              <a:schemeClr val="accent1"/>
            </a:solidFill>
            <a:ln w="19050" cap="flat" cmpd="sng">
              <a:solidFill>
                <a:schemeClr val="tx1"/>
              </a:solidFill>
              <a:prstDash val="solid"/>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15392" name="Text Box 31"/>
            <p:cNvSpPr txBox="1"/>
            <p:nvPr/>
          </p:nvSpPr>
          <p:spPr>
            <a:xfrm>
              <a:off x="3312" y="2420"/>
              <a:ext cx="1440" cy="313"/>
            </a:xfrm>
            <a:prstGeom prst="rect">
              <a:avLst/>
            </a:prstGeom>
            <a:noFill/>
            <a:ln w="9525">
              <a:noFill/>
            </a:ln>
          </p:spPr>
          <p:txBody>
            <a:bodyPr>
              <a:spAutoFit/>
            </a:bodyPr>
            <a:lstStyle/>
            <a:p>
              <a:pPr>
                <a:spcBef>
                  <a:spcPct val="50000"/>
                </a:spcBef>
              </a:pPr>
              <a:r>
                <a:rPr lang="zh-CN" altLang="en-US" sz="3200" dirty="0">
                  <a:solidFill>
                    <a:srgbClr val="000000"/>
                  </a:solidFill>
                  <a:latin typeface="Times New Roman" panose="02020603050405020304" pitchFamily="18" charset="0"/>
                </a:rPr>
                <a:t>卡诺致冷机</a:t>
              </a:r>
            </a:p>
          </p:txBody>
        </p:sp>
      </p:grpSp>
      <p:grpSp>
        <p:nvGrpSpPr>
          <p:cNvPr id="5" name="Group 32"/>
          <p:cNvGrpSpPr/>
          <p:nvPr/>
        </p:nvGrpSpPr>
        <p:grpSpPr>
          <a:xfrm>
            <a:off x="7543800" y="1905000"/>
            <a:ext cx="990600" cy="914400"/>
            <a:chOff x="3792" y="1920"/>
            <a:chExt cx="564" cy="576"/>
          </a:xfrm>
        </p:grpSpPr>
        <mc:AlternateContent xmlns:mc="http://schemas.openxmlformats.org/markup-compatibility/2006" xmlns:a14="http://schemas.microsoft.com/office/drawing/2010/main">
          <mc:Choice Requires="a14">
            <p:sp>
              <p:nvSpPr>
                <p:cNvPr id="15367" name="Object 33"/>
                <p:cNvSpPr txBox="1"/>
                <p:nvPr/>
              </p:nvSpPr>
              <p:spPr>
                <a:xfrm>
                  <a:off x="3984" y="1968"/>
                  <a:ext cx="372" cy="436"/>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𝑄</m:t>
                            </m:r>
                          </m:e>
                          <m:sub>
                            <m:r>
                              <a:rPr lang="zh-CN" altLang="en-US" sz="2600" i="1">
                                <a:solidFill>
                                  <a:srgbClr val="000000"/>
                                </a:solidFill>
                                <a:latin typeface="Cambria Math" panose="02040503050406030204" pitchFamily="18" charset="0"/>
                              </a:rPr>
                              <m:t>1</m:t>
                            </m:r>
                          </m:sub>
                        </m:sSub>
                      </m:oMath>
                    </m:oMathPara>
                  </a14:m>
                  <a:endParaRPr lang="zh-CN" altLang="en-US" sz="2600"/>
                </a:p>
              </p:txBody>
            </p:sp>
          </mc:Choice>
          <mc:Fallback xmlns="">
            <p:sp>
              <p:nvSpPr>
                <p:cNvPr id="15367" name="Object 33"/>
                <p:cNvSpPr txBox="1">
                  <a:spLocks noRot="1" noChangeAspect="1" noMove="1" noResize="1" noEditPoints="1" noAdjustHandles="1" noChangeArrowheads="1" noChangeShapeType="1" noTextEdit="1"/>
                </p:cNvSpPr>
                <p:nvPr/>
              </p:nvSpPr>
              <p:spPr>
                <a:xfrm>
                  <a:off x="3984" y="1968"/>
                  <a:ext cx="372" cy="436"/>
                </a:xfrm>
                <a:prstGeom prst="rect">
                  <a:avLst/>
                </a:prstGeom>
                <a:blipFill>
                  <a:blip r:embed="rId8"/>
                  <a:stretch>
                    <a:fillRect/>
                  </a:stretch>
                </a:blipFill>
                <a:ln w="38100">
                  <a:noFill/>
                  <a:miter/>
                </a:ln>
              </p:spPr>
              <p:txBody>
                <a:bodyPr/>
                <a:lstStyle/>
                <a:p>
                  <a:r>
                    <a:rPr lang="zh-CN" altLang="en-US">
                      <a:noFill/>
                    </a:rPr>
                    <a:t> </a:t>
                  </a:r>
                </a:p>
              </p:txBody>
            </p:sp>
          </mc:Fallback>
        </mc:AlternateContent>
        <p:sp>
          <p:nvSpPr>
            <p:cNvPr id="15390" name="AutoShape 34"/>
            <p:cNvSpPr/>
            <p:nvPr/>
          </p:nvSpPr>
          <p:spPr>
            <a:xfrm flipV="1">
              <a:off x="3792" y="1920"/>
              <a:ext cx="192" cy="576"/>
            </a:xfrm>
            <a:prstGeom prst="downArrow">
              <a:avLst>
                <a:gd name="adj1" fmla="val 35416"/>
                <a:gd name="adj2" fmla="val 125000"/>
              </a:avLst>
            </a:prstGeom>
            <a:solidFill>
              <a:srgbClr val="CCECFF"/>
            </a:solidFill>
            <a:ln w="19050" cap="flat" cmpd="sng">
              <a:solidFill>
                <a:srgbClr val="0000FF"/>
              </a:solidFill>
              <a:prstDash val="solid"/>
              <a:miter/>
              <a:headEnd type="none" w="med" len="med"/>
              <a:tailEnd type="none" w="med" len="med"/>
            </a:ln>
          </p:spPr>
          <p:txBody>
            <a:bodyPr vert="eaVert" wrap="none" anchor="ctr" anchorCtr="0"/>
            <a:lstStyle/>
            <a:p>
              <a:endParaRPr lang="zh-CN" altLang="en-US" sz="2600" dirty="0">
                <a:latin typeface="Bookman Old Style" panose="02050604050505020204" pitchFamily="18" charset="0"/>
              </a:endParaRPr>
            </a:p>
          </p:txBody>
        </p:sp>
      </p:grpSp>
      <p:grpSp>
        <p:nvGrpSpPr>
          <p:cNvPr id="6" name="Group 35"/>
          <p:cNvGrpSpPr/>
          <p:nvPr/>
        </p:nvGrpSpPr>
        <p:grpSpPr>
          <a:xfrm>
            <a:off x="7086600" y="3505200"/>
            <a:ext cx="762000" cy="914400"/>
            <a:chOff x="3504" y="2784"/>
            <a:chExt cx="480" cy="576"/>
          </a:xfrm>
        </p:grpSpPr>
        <p:sp>
          <p:nvSpPr>
            <p:cNvPr id="15389" name="AutoShape 36"/>
            <p:cNvSpPr/>
            <p:nvPr/>
          </p:nvSpPr>
          <p:spPr>
            <a:xfrm flipV="1">
              <a:off x="3840" y="2784"/>
              <a:ext cx="144" cy="576"/>
            </a:xfrm>
            <a:prstGeom prst="downArrow">
              <a:avLst>
                <a:gd name="adj1" fmla="val 40000"/>
                <a:gd name="adj2" fmla="val 160277"/>
              </a:avLst>
            </a:prstGeom>
            <a:solidFill>
              <a:srgbClr val="FFCCCC"/>
            </a:solidFill>
            <a:ln w="19050" cap="flat" cmpd="sng">
              <a:solidFill>
                <a:srgbClr val="FF0000"/>
              </a:solidFill>
              <a:prstDash val="solid"/>
              <a:miter/>
              <a:headEnd type="none" w="med" len="med"/>
              <a:tailEnd type="none" w="med" len="med"/>
            </a:ln>
          </p:spPr>
          <p:txBody>
            <a:bodyPr vert="eaVert" wrap="none" anchor="ctr" anchorCtr="0"/>
            <a:lstStyle/>
            <a:p>
              <a:endParaRPr lang="zh-CN" altLang="en-US" sz="2600"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15366" name="Object 37"/>
                <p:cNvSpPr txBox="1"/>
                <p:nvPr/>
              </p:nvSpPr>
              <p:spPr>
                <a:xfrm>
                  <a:off x="3504" y="2832"/>
                  <a:ext cx="401" cy="435"/>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𝑄</m:t>
                            </m:r>
                          </m:e>
                          <m:sub>
                            <m:r>
                              <a:rPr lang="zh-CN" altLang="en-US" sz="2600" i="1">
                                <a:solidFill>
                                  <a:srgbClr val="000000"/>
                                </a:solidFill>
                                <a:latin typeface="Cambria Math" panose="02040503050406030204" pitchFamily="18" charset="0"/>
                              </a:rPr>
                              <m:t>2</m:t>
                            </m:r>
                          </m:sub>
                        </m:sSub>
                      </m:oMath>
                    </m:oMathPara>
                  </a14:m>
                  <a:endParaRPr lang="zh-CN" altLang="en-US" sz="2600"/>
                </a:p>
              </p:txBody>
            </p:sp>
          </mc:Choice>
          <mc:Fallback xmlns="">
            <p:sp>
              <p:nvSpPr>
                <p:cNvPr id="15366" name="Object 37"/>
                <p:cNvSpPr txBox="1">
                  <a:spLocks noRot="1" noChangeAspect="1" noMove="1" noResize="1" noEditPoints="1" noAdjustHandles="1" noChangeArrowheads="1" noChangeShapeType="1" noTextEdit="1"/>
                </p:cNvSpPr>
                <p:nvPr/>
              </p:nvSpPr>
              <p:spPr>
                <a:xfrm>
                  <a:off x="3504" y="2832"/>
                  <a:ext cx="401" cy="435"/>
                </a:xfrm>
                <a:prstGeom prst="rect">
                  <a:avLst/>
                </a:prstGeom>
                <a:blipFill>
                  <a:blip r:embed="rId9"/>
                  <a:stretch>
                    <a:fillRect/>
                  </a:stretch>
                </a:blipFill>
                <a:ln w="38100">
                  <a:noFill/>
                  <a:miter/>
                </a:ln>
              </p:spPr>
              <p:txBody>
                <a:bodyPr/>
                <a:lstStyle/>
                <a:p>
                  <a:r>
                    <a:rPr lang="zh-CN" altLang="en-US">
                      <a:noFill/>
                    </a:rPr>
                    <a:t> </a:t>
                  </a:r>
                </a:p>
              </p:txBody>
            </p:sp>
          </mc:Fallback>
        </mc:AlternateContent>
      </p:grpSp>
      <p:grpSp>
        <p:nvGrpSpPr>
          <p:cNvPr id="7" name="Group 38"/>
          <p:cNvGrpSpPr/>
          <p:nvPr/>
        </p:nvGrpSpPr>
        <p:grpSpPr>
          <a:xfrm>
            <a:off x="8915402" y="2874967"/>
            <a:ext cx="1460501" cy="481013"/>
            <a:chOff x="4464" y="2462"/>
            <a:chExt cx="920" cy="303"/>
          </a:xfrm>
        </p:grpSpPr>
        <p:sp>
          <p:nvSpPr>
            <p:cNvPr id="15388" name="AutoShape 39"/>
            <p:cNvSpPr/>
            <p:nvPr/>
          </p:nvSpPr>
          <p:spPr>
            <a:xfrm flipH="1">
              <a:off x="4464" y="2571"/>
              <a:ext cx="528" cy="96"/>
            </a:xfrm>
            <a:prstGeom prst="rightArrow">
              <a:avLst>
                <a:gd name="adj1" fmla="val 58666"/>
                <a:gd name="adj2" fmla="val 201030"/>
              </a:avLst>
            </a:prstGeom>
            <a:solidFill>
              <a:srgbClr val="99CCFF"/>
            </a:solidFill>
            <a:ln w="19050" cap="flat" cmpd="sng">
              <a:solidFill>
                <a:schemeClr val="tx2"/>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15365" name="Object 40"/>
                <p:cNvSpPr txBox="1"/>
                <p:nvPr/>
              </p:nvSpPr>
              <p:spPr>
                <a:xfrm>
                  <a:off x="5101" y="2462"/>
                  <a:ext cx="283" cy="303"/>
                </a:xfrm>
                <a:prstGeom prst="rect">
                  <a:avLst/>
                </a:prstGeom>
                <a:solidFill>
                  <a:schemeClr val="accent1"/>
                </a:solidFill>
                <a:ln w="9525" cap="flat" cmpd="sng">
                  <a:solidFill>
                    <a:schemeClr val="tx1"/>
                  </a:solidFill>
                  <a:prstDash val="solid"/>
                  <a:miter/>
                  <a:headEnd type="none" w="med" len="med"/>
                  <a:tailEnd type="none" w="med" len="med"/>
                </a:ln>
              </p:spPr>
              <p:txBody>
                <a:bodyPr>
                  <a:no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𝐴</m:t>
                        </m:r>
                      </m:oMath>
                    </m:oMathPara>
                  </a14:m>
                  <a:endParaRPr lang="zh-CN" altLang="en-US" sz="2600" dirty="0"/>
                </a:p>
              </p:txBody>
            </p:sp>
          </mc:Choice>
          <mc:Fallback xmlns="">
            <p:sp>
              <p:nvSpPr>
                <p:cNvPr id="15365" name="Object 40"/>
                <p:cNvSpPr txBox="1">
                  <a:spLocks noRot="1" noChangeAspect="1" noMove="1" noResize="1" noEditPoints="1" noAdjustHandles="1" noChangeArrowheads="1" noChangeShapeType="1" noTextEdit="1"/>
                </p:cNvSpPr>
                <p:nvPr/>
              </p:nvSpPr>
              <p:spPr>
                <a:xfrm>
                  <a:off x="5101" y="2462"/>
                  <a:ext cx="283" cy="303"/>
                </a:xfrm>
                <a:prstGeom prst="rect">
                  <a:avLst/>
                </a:prstGeom>
                <a:blipFill>
                  <a:blip r:embed="rId10"/>
                  <a:stretch>
                    <a:fillRect/>
                  </a:stretch>
                </a:blipFill>
                <a:ln w="9525" cap="flat" cmpd="sng">
                  <a:solidFill>
                    <a:schemeClr val="tx1"/>
                  </a:solidFill>
                  <a:prstDash val="solid"/>
                  <a:miter/>
                  <a:headEnd type="none" w="med" len="med"/>
                  <a:tailEnd type="none" w="med" len="med"/>
                </a:ln>
              </p:spPr>
              <p:txBody>
                <a:bodyPr/>
                <a:lstStyle/>
                <a:p>
                  <a:r>
                    <a:rPr lang="zh-CN" altLang="en-US">
                      <a:noFill/>
                    </a:rPr>
                    <a:t> </a:t>
                  </a:r>
                </a:p>
              </p:txBody>
            </p:sp>
          </mc:Fallback>
        </mc:AlternateContent>
      </p:grpSp>
      <p:grpSp>
        <p:nvGrpSpPr>
          <p:cNvPr id="8" name="Group 42"/>
          <p:cNvGrpSpPr/>
          <p:nvPr/>
        </p:nvGrpSpPr>
        <p:grpSpPr>
          <a:xfrm>
            <a:off x="2187576" y="5272881"/>
            <a:ext cx="8936249" cy="1081087"/>
            <a:chOff x="430" y="3354"/>
            <a:chExt cx="4011" cy="681"/>
          </a:xfrm>
        </p:grpSpPr>
        <p:sp>
          <p:nvSpPr>
            <p:cNvPr id="15387" name="Rectangle 43"/>
            <p:cNvSpPr/>
            <p:nvPr/>
          </p:nvSpPr>
          <p:spPr>
            <a:xfrm>
              <a:off x="430" y="3428"/>
              <a:ext cx="2586" cy="365"/>
            </a:xfrm>
            <a:prstGeom prst="rect">
              <a:avLst/>
            </a:prstGeom>
            <a:noFill/>
            <a:ln w="9525">
              <a:noFill/>
            </a:ln>
          </p:spPr>
          <p:txBody>
            <a:bodyPr>
              <a:spAutoFit/>
            </a:bodyPr>
            <a:lstStyle/>
            <a:p>
              <a:pPr>
                <a:spcBef>
                  <a:spcPct val="50000"/>
                </a:spcBef>
              </a:pPr>
              <a:r>
                <a:rPr lang="zh-CN" altLang="en-US" sz="3200" dirty="0">
                  <a:solidFill>
                    <a:srgbClr val="000000"/>
                  </a:solidFill>
                  <a:latin typeface="Times New Roman" panose="02020603050405020304" pitchFamily="18" charset="0"/>
                </a:rPr>
                <a:t>卡诺制冷机</a:t>
              </a:r>
              <a:r>
                <a:rPr lang="zh-CN" altLang="en-US" sz="3200" dirty="0">
                  <a:solidFill>
                    <a:srgbClr val="FF0000"/>
                  </a:solidFill>
                  <a:latin typeface="Times New Roman" panose="02020603050405020304" pitchFamily="18" charset="0"/>
                </a:rPr>
                <a:t>制冷</a:t>
              </a:r>
              <a:r>
                <a:rPr lang="zh-CN" altLang="en-US" sz="3200" dirty="0">
                  <a:solidFill>
                    <a:srgbClr val="000000"/>
                  </a:solidFill>
                  <a:latin typeface="Times New Roman" panose="02020603050405020304" pitchFamily="18" charset="0"/>
                </a:rPr>
                <a:t>系数</a:t>
              </a:r>
            </a:p>
          </p:txBody>
        </p:sp>
        <mc:AlternateContent xmlns:mc="http://schemas.openxmlformats.org/markup-compatibility/2006" xmlns:a14="http://schemas.microsoft.com/office/drawing/2010/main">
          <mc:Choice Requires="a14">
            <p:sp>
              <p:nvSpPr>
                <p:cNvPr id="15364" name="Object 44"/>
                <p:cNvSpPr txBox="1"/>
                <p:nvPr/>
              </p:nvSpPr>
              <p:spPr>
                <a:xfrm>
                  <a:off x="2407" y="3354"/>
                  <a:ext cx="2034" cy="681"/>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𝑒</m:t>
                        </m:r>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2</m:t>
                                </m:r>
                              </m:sub>
                            </m:sSub>
                          </m:num>
                          <m:den>
                            <m:r>
                              <a:rPr lang="zh-CN" altLang="en-US" sz="2800" i="1">
                                <a:solidFill>
                                  <a:srgbClr val="000000"/>
                                </a:solidFill>
                                <a:latin typeface="Cambria Math" panose="02040503050406030204" pitchFamily="18" charset="0"/>
                              </a:rPr>
                              <m:t>𝐴</m:t>
                            </m:r>
                          </m:den>
                        </m:f>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2</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2</m:t>
                                </m:r>
                              </m:sub>
                            </m:sSub>
                          </m:den>
                        </m:f>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2</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2</m:t>
                                </m:r>
                              </m:sub>
                            </m:sSub>
                          </m:den>
                        </m:f>
                      </m:oMath>
                    </m:oMathPara>
                  </a14:m>
                  <a:endParaRPr lang="zh-CN" altLang="en-US" sz="2800" dirty="0"/>
                </a:p>
              </p:txBody>
            </p:sp>
          </mc:Choice>
          <mc:Fallback xmlns="">
            <p:sp>
              <p:nvSpPr>
                <p:cNvPr id="15364" name="Object 44"/>
                <p:cNvSpPr txBox="1">
                  <a:spLocks noRot="1" noChangeAspect="1" noMove="1" noResize="1" noEditPoints="1" noAdjustHandles="1" noChangeArrowheads="1" noChangeShapeType="1" noTextEdit="1"/>
                </p:cNvSpPr>
                <p:nvPr/>
              </p:nvSpPr>
              <p:spPr>
                <a:xfrm>
                  <a:off x="2407" y="3354"/>
                  <a:ext cx="2034" cy="681"/>
                </a:xfrm>
                <a:prstGeom prst="rect">
                  <a:avLst/>
                </a:prstGeom>
                <a:blipFill>
                  <a:blip r:embed="rId11"/>
                  <a:stretch>
                    <a:fillRect/>
                  </a:stretch>
                </a:blipFill>
                <a:ln w="38100">
                  <a:noFill/>
                  <a:miter/>
                </a:ln>
              </p:spPr>
              <p:txBody>
                <a:bodyPr/>
                <a:lstStyle/>
                <a:p>
                  <a:r>
                    <a:rPr lang="zh-CN" altLang="en-US">
                      <a:noFill/>
                    </a:rPr>
                    <a:t> </a:t>
                  </a:r>
                </a:p>
              </p:txBody>
            </p:sp>
          </mc:Fallback>
        </mc:AlternateContent>
      </p:grpSp>
      <p:grpSp>
        <p:nvGrpSpPr>
          <p:cNvPr id="15382" name="Group 45"/>
          <p:cNvGrpSpPr/>
          <p:nvPr/>
        </p:nvGrpSpPr>
        <p:grpSpPr>
          <a:xfrm>
            <a:off x="3355976" y="3753644"/>
            <a:ext cx="647700" cy="850900"/>
            <a:chOff x="1519" y="2304"/>
            <a:chExt cx="408" cy="536"/>
          </a:xfrm>
        </p:grpSpPr>
        <p:sp>
          <p:nvSpPr>
            <p:cNvPr id="15386" name="AutoShape 46"/>
            <p:cNvSpPr/>
            <p:nvPr/>
          </p:nvSpPr>
          <p:spPr>
            <a:xfrm flipV="1">
              <a:off x="1848" y="2304"/>
              <a:ext cx="79" cy="402"/>
            </a:xfrm>
            <a:prstGeom prst="downArrow">
              <a:avLst>
                <a:gd name="adj1" fmla="val 50000"/>
                <a:gd name="adj2" fmla="val 127215"/>
              </a:avLst>
            </a:prstGeom>
            <a:solidFill>
              <a:schemeClr val="bg2"/>
            </a:solidFill>
            <a:ln w="28575" cap="flat" cmpd="sng">
              <a:solidFill>
                <a:srgbClr val="FF0066"/>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15363" name="Object 47"/>
                <p:cNvSpPr txBox="1"/>
                <p:nvPr/>
              </p:nvSpPr>
              <p:spPr>
                <a:xfrm>
                  <a:off x="1519" y="2569"/>
                  <a:ext cx="308" cy="271"/>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𝑄</m:t>
                            </m:r>
                          </m:e>
                          <m:sub>
                            <m:r>
                              <a:rPr lang="zh-CN" altLang="en-US" i="1">
                                <a:solidFill>
                                  <a:srgbClr val="000000"/>
                                </a:solidFill>
                                <a:latin typeface="Cambria Math" panose="02040503050406030204" pitchFamily="18" charset="0"/>
                              </a:rPr>
                              <m:t>2</m:t>
                            </m:r>
                          </m:sub>
                        </m:sSub>
                      </m:oMath>
                    </m:oMathPara>
                  </a14:m>
                  <a:endParaRPr lang="zh-CN" altLang="en-US"/>
                </a:p>
              </p:txBody>
            </p:sp>
          </mc:Choice>
          <mc:Fallback xmlns="">
            <p:sp>
              <p:nvSpPr>
                <p:cNvPr id="15363" name="Object 47"/>
                <p:cNvSpPr txBox="1">
                  <a:spLocks noRot="1" noChangeAspect="1" noMove="1" noResize="1" noEditPoints="1" noAdjustHandles="1" noChangeArrowheads="1" noChangeShapeType="1" noTextEdit="1"/>
                </p:cNvSpPr>
                <p:nvPr/>
              </p:nvSpPr>
              <p:spPr>
                <a:xfrm>
                  <a:off x="1519" y="2569"/>
                  <a:ext cx="308" cy="271"/>
                </a:xfrm>
                <a:prstGeom prst="rect">
                  <a:avLst/>
                </a:prstGeom>
                <a:blipFill>
                  <a:blip r:embed="rId13"/>
                  <a:stretch>
                    <a:fillRect l="-2500"/>
                  </a:stretch>
                </a:blipFill>
                <a:ln w="38100">
                  <a:noFill/>
                  <a:miter/>
                </a:ln>
              </p:spPr>
              <p:txBody>
                <a:bodyPr/>
                <a:lstStyle/>
                <a:p>
                  <a:r>
                    <a:rPr lang="zh-CN" altLang="en-US">
                      <a:noFill/>
                    </a:rPr>
                    <a:t> </a:t>
                  </a:r>
                </a:p>
              </p:txBody>
            </p:sp>
          </mc:Fallback>
        </mc:AlternateContent>
      </p:grpSp>
      <p:grpSp>
        <p:nvGrpSpPr>
          <p:cNvPr id="15383" name="Group 48"/>
          <p:cNvGrpSpPr/>
          <p:nvPr/>
        </p:nvGrpSpPr>
        <p:grpSpPr>
          <a:xfrm>
            <a:off x="3078164" y="2083594"/>
            <a:ext cx="638175" cy="1081088"/>
            <a:chOff x="1344" y="1298"/>
            <a:chExt cx="402" cy="681"/>
          </a:xfrm>
        </p:grpSpPr>
        <mc:AlternateContent xmlns:mc="http://schemas.openxmlformats.org/markup-compatibility/2006" xmlns:a14="http://schemas.microsoft.com/office/drawing/2010/main">
          <mc:Choice Requires="a14">
            <p:sp>
              <p:nvSpPr>
                <p:cNvPr id="15362" name="Object 49"/>
                <p:cNvSpPr txBox="1"/>
                <p:nvPr/>
              </p:nvSpPr>
              <p:spPr>
                <a:xfrm>
                  <a:off x="1428" y="1298"/>
                  <a:ext cx="318" cy="307"/>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𝑄</m:t>
                            </m:r>
                          </m:e>
                          <m:sub>
                            <m:r>
                              <a:rPr lang="zh-CN" altLang="en-US" i="1">
                                <a:solidFill>
                                  <a:srgbClr val="000000"/>
                                </a:solidFill>
                                <a:latin typeface="Cambria Math" panose="02040503050406030204" pitchFamily="18" charset="0"/>
                              </a:rPr>
                              <m:t>1</m:t>
                            </m:r>
                          </m:sub>
                        </m:sSub>
                      </m:oMath>
                    </m:oMathPara>
                  </a14:m>
                  <a:endParaRPr lang="zh-CN" altLang="en-US"/>
                </a:p>
              </p:txBody>
            </p:sp>
          </mc:Choice>
          <mc:Fallback xmlns="">
            <p:sp>
              <p:nvSpPr>
                <p:cNvPr id="15362" name="Object 49"/>
                <p:cNvSpPr txBox="1">
                  <a:spLocks noRot="1" noChangeAspect="1" noMove="1" noResize="1" noEditPoints="1" noAdjustHandles="1" noChangeArrowheads="1" noChangeShapeType="1" noTextEdit="1"/>
                </p:cNvSpPr>
                <p:nvPr/>
              </p:nvSpPr>
              <p:spPr>
                <a:xfrm>
                  <a:off x="1428" y="1298"/>
                  <a:ext cx="318" cy="307"/>
                </a:xfrm>
                <a:prstGeom prst="rect">
                  <a:avLst/>
                </a:prstGeom>
                <a:blipFill>
                  <a:blip r:embed="rId14"/>
                  <a:stretch>
                    <a:fillRect l="-2410"/>
                  </a:stretch>
                </a:blipFill>
                <a:ln w="38100">
                  <a:noFill/>
                  <a:miter/>
                </a:ln>
              </p:spPr>
              <p:txBody>
                <a:bodyPr/>
                <a:lstStyle/>
                <a:p>
                  <a:r>
                    <a:rPr lang="zh-CN" altLang="en-US">
                      <a:noFill/>
                    </a:rPr>
                    <a:t> </a:t>
                  </a:r>
                </a:p>
              </p:txBody>
            </p:sp>
          </mc:Fallback>
        </mc:AlternateContent>
        <p:sp>
          <p:nvSpPr>
            <p:cNvPr id="15385" name="AutoShape 50"/>
            <p:cNvSpPr/>
            <p:nvPr/>
          </p:nvSpPr>
          <p:spPr>
            <a:xfrm flipV="1">
              <a:off x="1344" y="1556"/>
              <a:ext cx="165" cy="423"/>
            </a:xfrm>
            <a:prstGeom prst="downArrow">
              <a:avLst>
                <a:gd name="adj1" fmla="val 50000"/>
                <a:gd name="adj2" fmla="val 64090"/>
              </a:avLst>
            </a:prstGeom>
            <a:solidFill>
              <a:schemeClr val="accent2"/>
            </a:solidFill>
            <a:ln w="28575" cap="flat" cmpd="sng">
              <a:solidFill>
                <a:srgbClr val="0066FF"/>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grpSp>
      <p:sp>
        <p:nvSpPr>
          <p:cNvPr id="469043" name="Text Box 51"/>
          <p:cNvSpPr txBox="1"/>
          <p:nvPr/>
        </p:nvSpPr>
        <p:spPr>
          <a:xfrm>
            <a:off x="6600825" y="4437063"/>
            <a:ext cx="2286000" cy="588962"/>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lstStyle/>
          <a:p>
            <a:pPr>
              <a:spcBef>
                <a:spcPct val="50000"/>
              </a:spcBef>
            </a:pPr>
            <a:r>
              <a:rPr lang="zh-CN" altLang="en-US" sz="3200" dirty="0">
                <a:solidFill>
                  <a:srgbClr val="333333"/>
                </a:solidFill>
                <a:latin typeface="Times New Roman" panose="02020603050405020304" pitchFamily="18" charset="0"/>
              </a:rPr>
              <a:t>低温热源</a:t>
            </a:r>
            <a:r>
              <a:rPr lang="en-US" altLang="zh-CN" sz="3200" i="1" dirty="0">
                <a:solidFill>
                  <a:srgbClr val="333333"/>
                </a:solidFill>
                <a:latin typeface="Times New Roman" panose="02020603050405020304" pitchFamily="18" charset="0"/>
              </a:rPr>
              <a:t>T</a:t>
            </a:r>
            <a:r>
              <a:rPr lang="en-US" altLang="zh-CN" sz="3200" baseline="-25000" dirty="0">
                <a:solidFill>
                  <a:srgbClr val="333333"/>
                </a:solidFill>
                <a:latin typeface="Times New Roman" panose="02020603050405020304" pitchFamily="18" charset="0"/>
              </a:rPr>
              <a:t>2</a:t>
            </a:r>
          </a:p>
        </p:txBody>
      </p:sp>
      <p:sp>
        <p:nvSpPr>
          <p:cNvPr id="2" name="Text Box 13">
            <a:hlinkClick r:id="" action="ppaction://noaction"/>
            <a:extLst>
              <a:ext uri="{FF2B5EF4-FFF2-40B4-BE49-F238E27FC236}">
                <a16:creationId xmlns:a16="http://schemas.microsoft.com/office/drawing/2014/main" id="{8BC358C0-7DEE-526C-902A-0679D983D6B4}"/>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卡诺制冷机（卡诺逆循环）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40" name="Text Box 2"/>
          <p:cNvSpPr txBox="1"/>
          <p:nvPr/>
        </p:nvSpPr>
        <p:spPr>
          <a:xfrm>
            <a:off x="528637" y="473268"/>
            <a:ext cx="11134725" cy="1982402"/>
          </a:xfrm>
          <a:prstGeom prst="rect">
            <a:avLst/>
          </a:prstGeom>
          <a:noFill/>
          <a:ln w="9525">
            <a:noFill/>
          </a:ln>
        </p:spPr>
        <p:txBody>
          <a:bodyPr wrap="square">
            <a:spAutoFit/>
          </a:bodyPr>
          <a:lstStyle/>
          <a:p>
            <a:pPr eaLnBrk="1" hangingPunct="1">
              <a:lnSpc>
                <a:spcPct val="120000"/>
              </a:lnSpc>
            </a:pPr>
            <a:r>
              <a:rPr lang="en-US" altLang="zh-CN" sz="2600" dirty="0">
                <a:latin typeface="Times New Roman" panose="02020603050405020304" pitchFamily="18" charset="0"/>
              </a:rPr>
              <a:t>       </a:t>
            </a:r>
            <a:r>
              <a:rPr lang="zh-CN" altLang="en-US" sz="2600" dirty="0">
                <a:latin typeface="Times New Roman" panose="02020603050405020304" pitchFamily="18" charset="0"/>
              </a:rPr>
              <a:t>例</a:t>
            </a:r>
            <a:r>
              <a:rPr lang="en-US" altLang="zh-CN" sz="2600" dirty="0">
                <a:latin typeface="Times New Roman" panose="02020603050405020304" pitchFamily="18" charset="0"/>
              </a:rPr>
              <a:t>:  </a:t>
            </a:r>
            <a:r>
              <a:rPr lang="zh-CN" altLang="en-US" sz="2600" dirty="0">
                <a:solidFill>
                  <a:srgbClr val="1C1C1C"/>
                </a:solidFill>
                <a:latin typeface="Times New Roman" panose="02020603050405020304" pitchFamily="18" charset="0"/>
              </a:rPr>
              <a:t>一电冰箱放在室温为           的房  间里 ，冰箱储藏柜中的温度维持在         。现每天有                  的热量自房间传入冰箱 内</a:t>
            </a:r>
            <a:r>
              <a:rPr lang="zh-CN" altLang="en-US" sz="2600" dirty="0">
                <a:solidFill>
                  <a:srgbClr val="1C1C1C"/>
                </a:solidFill>
                <a:latin typeface="宋体" panose="02010600030101010101" pitchFamily="2" charset="-122"/>
              </a:rPr>
              <a:t> </a:t>
            </a:r>
            <a:r>
              <a:rPr lang="en-US" altLang="zh-CN" sz="2600" dirty="0">
                <a:solidFill>
                  <a:srgbClr val="1C1C1C"/>
                </a:solidFill>
                <a:latin typeface="宋体" panose="02010600030101010101" pitchFamily="2" charset="-122"/>
              </a:rPr>
              <a:t>,</a:t>
            </a:r>
            <a:r>
              <a:rPr lang="en-US" altLang="zh-CN" sz="2600" dirty="0">
                <a:solidFill>
                  <a:srgbClr val="1C1C1C"/>
                </a:solidFill>
                <a:latin typeface="Times New Roman" panose="02020603050405020304" pitchFamily="18" charset="0"/>
              </a:rPr>
              <a:t> </a:t>
            </a:r>
            <a:r>
              <a:rPr lang="zh-CN" altLang="en-US" sz="2600" dirty="0">
                <a:solidFill>
                  <a:srgbClr val="1C1C1C"/>
                </a:solidFill>
                <a:latin typeface="Times New Roman" panose="02020603050405020304" pitchFamily="18" charset="0"/>
              </a:rPr>
              <a:t>若要维持冰箱内温度不变 </a:t>
            </a:r>
            <a:r>
              <a:rPr lang="en-US" altLang="zh-CN" sz="2600" dirty="0">
                <a:solidFill>
                  <a:srgbClr val="1C1C1C"/>
                </a:solidFill>
                <a:latin typeface="宋体" panose="02010600030101010101" pitchFamily="2" charset="-122"/>
              </a:rPr>
              <a:t>,</a:t>
            </a:r>
            <a:r>
              <a:rPr lang="en-US" altLang="zh-CN" sz="2600" dirty="0">
                <a:solidFill>
                  <a:srgbClr val="1C1C1C"/>
                </a:solidFill>
                <a:latin typeface="Times New Roman" panose="02020603050405020304" pitchFamily="18" charset="0"/>
              </a:rPr>
              <a:t> </a:t>
            </a:r>
            <a:r>
              <a:rPr lang="zh-CN" altLang="en-US" sz="2600" dirty="0">
                <a:solidFill>
                  <a:srgbClr val="1C1C1C"/>
                </a:solidFill>
                <a:latin typeface="Times New Roman" panose="02020603050405020304" pitchFamily="18" charset="0"/>
              </a:rPr>
              <a:t>外界每天 需作多少功 </a:t>
            </a:r>
            <a:r>
              <a:rPr lang="en-US" altLang="zh-CN" sz="2600" dirty="0">
                <a:solidFill>
                  <a:srgbClr val="1C1C1C"/>
                </a:solidFill>
                <a:latin typeface="宋体" panose="02010600030101010101" pitchFamily="2" charset="-122"/>
              </a:rPr>
              <a:t>,</a:t>
            </a:r>
            <a:r>
              <a:rPr lang="en-US" altLang="zh-CN" sz="2600" dirty="0">
                <a:solidFill>
                  <a:srgbClr val="1C1C1C"/>
                </a:solidFill>
                <a:latin typeface="Times New Roman" panose="02020603050405020304" pitchFamily="18" charset="0"/>
              </a:rPr>
              <a:t> </a:t>
            </a:r>
            <a:r>
              <a:rPr lang="zh-CN" altLang="en-US" sz="2600" dirty="0">
                <a:solidFill>
                  <a:srgbClr val="1C1C1C"/>
                </a:solidFill>
                <a:latin typeface="Times New Roman" panose="02020603050405020304" pitchFamily="18" charset="0"/>
              </a:rPr>
              <a:t>其功率为多少？设在       至</a:t>
            </a:r>
          </a:p>
          <a:p>
            <a:pPr eaLnBrk="1" hangingPunct="1">
              <a:lnSpc>
                <a:spcPct val="120000"/>
              </a:lnSpc>
            </a:pPr>
            <a:r>
              <a:rPr lang="zh-CN" altLang="en-US" sz="2600" dirty="0">
                <a:solidFill>
                  <a:srgbClr val="1C1C1C"/>
                </a:solidFill>
                <a:latin typeface="Times New Roman" panose="02020603050405020304" pitchFamily="18" charset="0"/>
              </a:rPr>
              <a:t>            之间运转的冰箱的致冷系数是卡诺致冷机致冷系数的 </a:t>
            </a:r>
            <a:r>
              <a:rPr lang="en-US" altLang="zh-CN" sz="2600" dirty="0">
                <a:solidFill>
                  <a:srgbClr val="1C1C1C"/>
                </a:solidFill>
                <a:latin typeface="Times New Roman" panose="02020603050405020304" pitchFamily="18" charset="0"/>
              </a:rPr>
              <a:t>55% </a:t>
            </a:r>
            <a:r>
              <a:rPr lang="zh-CN" altLang="en-US" sz="2600" dirty="0">
                <a:solidFill>
                  <a:srgbClr val="1C1C1C"/>
                </a:solidFill>
                <a:latin typeface="Times New Roman" panose="02020603050405020304" pitchFamily="18" charset="0"/>
              </a:rPr>
              <a:t>。</a:t>
            </a:r>
            <a:endParaRPr lang="en-US" altLang="zh-CN" sz="2600" dirty="0">
              <a:solidFill>
                <a:srgbClr val="1C1C1C"/>
              </a:solidFill>
              <a:latin typeface="Times New Roman" panose="02020603050405020304" pitchFamily="18" charset="0"/>
            </a:endParaRPr>
          </a:p>
        </p:txBody>
      </p:sp>
      <mc:AlternateContent xmlns:mc="http://schemas.openxmlformats.org/markup-compatibility/2006">
        <mc:Choice xmlns:a14="http://schemas.microsoft.com/office/drawing/2010/main" Requires="a14">
          <p:sp>
            <p:nvSpPr>
              <p:cNvPr id="18434" name="Object 3"/>
              <p:cNvSpPr txBox="1"/>
              <p:nvPr/>
            </p:nvSpPr>
            <p:spPr>
              <a:xfrm>
                <a:off x="8583613" y="1464469"/>
                <a:ext cx="647700" cy="53340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p>
                        <m:sSupPr>
                          <m:ctrlPr>
                            <a:rPr lang="zh-CN" altLang="en-US" sz="2600" i="1">
                              <a:solidFill>
                                <a:srgbClr val="000000"/>
                              </a:solidFill>
                              <a:latin typeface="Cambria Math" panose="02040503050406030204" pitchFamily="18" charset="0"/>
                            </a:rPr>
                          </m:ctrlPr>
                        </m:sSupPr>
                        <m:e>
                          <m:r>
                            <a:rPr lang="zh-CN" altLang="en-US" sz="2600" i="1">
                              <a:solidFill>
                                <a:srgbClr val="000000"/>
                              </a:solidFill>
                              <a:latin typeface="Cambria Math" panose="02040503050406030204" pitchFamily="18" charset="0"/>
                            </a:rPr>
                            <m:t>5</m:t>
                          </m:r>
                        </m:e>
                        <m:sup>
                          <m:r>
                            <a:rPr lang="zh-CN" altLang="en-US" sz="2600" i="1">
                              <a:solidFill>
                                <a:srgbClr val="000000"/>
                              </a:solidFill>
                              <a:latin typeface="Cambria Math" panose="02040503050406030204" pitchFamily="18" charset="0"/>
                            </a:rPr>
                            <m:t>∘</m:t>
                          </m:r>
                        </m:sup>
                      </m:sSup>
                      <m:r>
                        <m:rPr>
                          <m:sty m:val="p"/>
                        </m:rPr>
                        <a:rPr lang="zh-CN" altLang="en-US" sz="2600" i="0">
                          <a:solidFill>
                            <a:srgbClr val="000000"/>
                          </a:solidFill>
                          <a:latin typeface="Cambria Math" panose="02040503050406030204" pitchFamily="18" charset="0"/>
                        </a:rPr>
                        <m:t>C</m:t>
                      </m:r>
                    </m:oMath>
                  </m:oMathPara>
                </a14:m>
                <a:endParaRPr lang="zh-CN" altLang="en-US" sz="2600" dirty="0"/>
              </a:p>
            </p:txBody>
          </p:sp>
        </mc:Choice>
        <mc:Fallback>
          <p:sp>
            <p:nvSpPr>
              <p:cNvPr id="18434" name="Object 3"/>
              <p:cNvSpPr txBox="1">
                <a:spLocks noRot="1" noChangeAspect="1" noMove="1" noResize="1" noEditPoints="1" noAdjustHandles="1" noChangeArrowheads="1" noChangeShapeType="1" noTextEdit="1"/>
              </p:cNvSpPr>
              <p:nvPr/>
            </p:nvSpPr>
            <p:spPr>
              <a:xfrm>
                <a:off x="8583613" y="1464469"/>
                <a:ext cx="647700" cy="533400"/>
              </a:xfrm>
              <a:prstGeom prst="rect">
                <a:avLst/>
              </a:prstGeom>
              <a:blipFill>
                <a:blip r:embed="rId2"/>
                <a:stretch>
                  <a:fillRect/>
                </a:stretch>
              </a:blipFill>
              <a:ln w="38100">
                <a:noFill/>
                <a:miter/>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435" name="Object 4"/>
              <p:cNvSpPr txBox="1"/>
              <p:nvPr/>
            </p:nvSpPr>
            <p:spPr>
              <a:xfrm>
                <a:off x="4779453" y="504826"/>
                <a:ext cx="935038" cy="52070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2</m:t>
                      </m:r>
                      <m:sSup>
                        <m:sSupPr>
                          <m:ctrlPr>
                            <a:rPr lang="zh-CN" altLang="en-US" sz="2600" i="1">
                              <a:solidFill>
                                <a:srgbClr val="000000"/>
                              </a:solidFill>
                              <a:latin typeface="Cambria Math" panose="02040503050406030204" pitchFamily="18" charset="0"/>
                            </a:rPr>
                          </m:ctrlPr>
                        </m:sSupPr>
                        <m:e>
                          <m:r>
                            <a:rPr lang="zh-CN" altLang="en-US" sz="2600" i="1">
                              <a:solidFill>
                                <a:srgbClr val="000000"/>
                              </a:solidFill>
                              <a:latin typeface="Cambria Math" panose="02040503050406030204" pitchFamily="18" charset="0"/>
                            </a:rPr>
                            <m:t>0</m:t>
                          </m:r>
                        </m:e>
                        <m:sup>
                          <m:r>
                            <a:rPr lang="zh-CN" altLang="en-US" sz="2600" i="1">
                              <a:solidFill>
                                <a:srgbClr val="000000"/>
                              </a:solidFill>
                              <a:latin typeface="Cambria Math" panose="02040503050406030204" pitchFamily="18" charset="0"/>
                            </a:rPr>
                            <m:t>∘</m:t>
                          </m:r>
                        </m:sup>
                      </m:sSup>
                      <m:r>
                        <m:rPr>
                          <m:sty m:val="p"/>
                        </m:rPr>
                        <a:rPr lang="zh-CN" altLang="en-US" sz="2600" i="0">
                          <a:solidFill>
                            <a:srgbClr val="000000"/>
                          </a:solidFill>
                          <a:latin typeface="Cambria Math" panose="02040503050406030204" pitchFamily="18" charset="0"/>
                        </a:rPr>
                        <m:t>C</m:t>
                      </m:r>
                    </m:oMath>
                  </m:oMathPara>
                </a14:m>
                <a:endParaRPr lang="zh-CN" altLang="en-US" sz="2600" dirty="0"/>
              </a:p>
            </p:txBody>
          </p:sp>
        </mc:Choice>
        <mc:Fallback>
          <p:sp>
            <p:nvSpPr>
              <p:cNvPr id="18435" name="Object 4"/>
              <p:cNvSpPr txBox="1">
                <a:spLocks noRot="1" noChangeAspect="1" noMove="1" noResize="1" noEditPoints="1" noAdjustHandles="1" noChangeArrowheads="1" noChangeShapeType="1" noTextEdit="1"/>
              </p:cNvSpPr>
              <p:nvPr/>
            </p:nvSpPr>
            <p:spPr>
              <a:xfrm>
                <a:off x="4779453" y="504826"/>
                <a:ext cx="935038" cy="520700"/>
              </a:xfrm>
              <a:prstGeom prst="rect">
                <a:avLst/>
              </a:prstGeom>
              <a:blipFill>
                <a:blip r:embed="rId3"/>
                <a:stretch>
                  <a:fillRect/>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436" name="Object 5"/>
              <p:cNvSpPr txBox="1"/>
              <p:nvPr/>
            </p:nvSpPr>
            <p:spPr>
              <a:xfrm>
                <a:off x="3300413" y="998539"/>
                <a:ext cx="1657350" cy="512762"/>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2.0×1</m:t>
                      </m:r>
                      <m:sSup>
                        <m:sSupPr>
                          <m:ctrlPr>
                            <a:rPr lang="zh-CN" altLang="en-US" sz="2600" i="1">
                              <a:solidFill>
                                <a:srgbClr val="000000"/>
                              </a:solidFill>
                              <a:latin typeface="Cambria Math" panose="02040503050406030204" pitchFamily="18" charset="0"/>
                            </a:rPr>
                          </m:ctrlPr>
                        </m:sSupPr>
                        <m:e>
                          <m:r>
                            <a:rPr lang="zh-CN" altLang="en-US" sz="2600" i="1">
                              <a:solidFill>
                                <a:srgbClr val="000000"/>
                              </a:solidFill>
                              <a:latin typeface="Cambria Math" panose="02040503050406030204" pitchFamily="18" charset="0"/>
                            </a:rPr>
                            <m:t>0</m:t>
                          </m:r>
                        </m:e>
                        <m:sup>
                          <m:r>
                            <a:rPr lang="zh-CN" altLang="en-US" sz="2600" i="1">
                              <a:solidFill>
                                <a:srgbClr val="000000"/>
                              </a:solidFill>
                              <a:latin typeface="Cambria Math" panose="02040503050406030204" pitchFamily="18" charset="0"/>
                            </a:rPr>
                            <m:t>7</m:t>
                          </m:r>
                        </m:sup>
                      </m:sSup>
                      <m:r>
                        <m:rPr>
                          <m:sty m:val="p"/>
                        </m:rPr>
                        <a:rPr lang="zh-CN" altLang="en-US" sz="2600" i="0">
                          <a:solidFill>
                            <a:srgbClr val="000000"/>
                          </a:solidFill>
                          <a:latin typeface="Cambria Math" panose="02040503050406030204" pitchFamily="18" charset="0"/>
                        </a:rPr>
                        <m:t>J</m:t>
                      </m:r>
                    </m:oMath>
                  </m:oMathPara>
                </a14:m>
                <a:endParaRPr lang="zh-CN" altLang="en-US" sz="2600" dirty="0"/>
              </a:p>
            </p:txBody>
          </p:sp>
        </mc:Choice>
        <mc:Fallback xmlns="">
          <p:sp>
            <p:nvSpPr>
              <p:cNvPr id="18436" name="Object 5"/>
              <p:cNvSpPr txBox="1">
                <a:spLocks noRot="1" noChangeAspect="1" noMove="1" noResize="1" noEditPoints="1" noAdjustHandles="1" noChangeArrowheads="1" noChangeShapeType="1" noTextEdit="1"/>
              </p:cNvSpPr>
              <p:nvPr/>
            </p:nvSpPr>
            <p:spPr>
              <a:xfrm>
                <a:off x="3300413" y="998539"/>
                <a:ext cx="1657350" cy="512762"/>
              </a:xfrm>
              <a:prstGeom prst="rect">
                <a:avLst/>
              </a:prstGeom>
              <a:blipFill>
                <a:blip r:embed="rId4"/>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437" name="Object 6"/>
              <p:cNvSpPr txBox="1"/>
              <p:nvPr/>
            </p:nvSpPr>
            <p:spPr>
              <a:xfrm>
                <a:off x="960439" y="949325"/>
                <a:ext cx="649287" cy="534988"/>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p>
                        <m:sSupPr>
                          <m:ctrlPr>
                            <a:rPr lang="zh-CN" altLang="en-US" sz="2600" i="1">
                              <a:solidFill>
                                <a:srgbClr val="000000"/>
                              </a:solidFill>
                              <a:latin typeface="Cambria Math" panose="02040503050406030204" pitchFamily="18" charset="0"/>
                            </a:rPr>
                          </m:ctrlPr>
                        </m:sSupPr>
                        <m:e>
                          <m:r>
                            <a:rPr lang="zh-CN" altLang="en-US" sz="2600" i="1">
                              <a:solidFill>
                                <a:srgbClr val="000000"/>
                              </a:solidFill>
                              <a:latin typeface="Cambria Math" panose="02040503050406030204" pitchFamily="18" charset="0"/>
                            </a:rPr>
                            <m:t>5</m:t>
                          </m:r>
                        </m:e>
                        <m:sup>
                          <m:r>
                            <a:rPr lang="zh-CN" altLang="en-US" sz="2600" i="1">
                              <a:solidFill>
                                <a:srgbClr val="000000"/>
                              </a:solidFill>
                              <a:latin typeface="Cambria Math" panose="02040503050406030204" pitchFamily="18" charset="0"/>
                            </a:rPr>
                            <m:t>∘</m:t>
                          </m:r>
                        </m:sup>
                      </m:sSup>
                      <m:r>
                        <m:rPr>
                          <m:sty m:val="p"/>
                        </m:rPr>
                        <a:rPr lang="zh-CN" altLang="en-US" sz="2600" i="0">
                          <a:solidFill>
                            <a:srgbClr val="000000"/>
                          </a:solidFill>
                          <a:latin typeface="Cambria Math" panose="02040503050406030204" pitchFamily="18" charset="0"/>
                        </a:rPr>
                        <m:t>C</m:t>
                      </m:r>
                    </m:oMath>
                  </m:oMathPara>
                </a14:m>
                <a:endParaRPr lang="zh-CN" altLang="en-US" sz="2600" dirty="0"/>
              </a:p>
            </p:txBody>
          </p:sp>
        </mc:Choice>
        <mc:Fallback xmlns="">
          <p:sp>
            <p:nvSpPr>
              <p:cNvPr id="18437" name="Object 6"/>
              <p:cNvSpPr txBox="1">
                <a:spLocks noRot="1" noChangeAspect="1" noMove="1" noResize="1" noEditPoints="1" noAdjustHandles="1" noChangeArrowheads="1" noChangeShapeType="1" noTextEdit="1"/>
              </p:cNvSpPr>
              <p:nvPr/>
            </p:nvSpPr>
            <p:spPr>
              <a:xfrm>
                <a:off x="960439" y="949325"/>
                <a:ext cx="649287" cy="534988"/>
              </a:xfrm>
              <a:prstGeom prst="rect">
                <a:avLst/>
              </a:prstGeom>
              <a:blipFill>
                <a:blip r:embed="rId5"/>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438" name="Object 7"/>
              <p:cNvSpPr txBox="1"/>
              <p:nvPr/>
            </p:nvSpPr>
            <p:spPr>
              <a:xfrm>
                <a:off x="9556749" y="1464469"/>
                <a:ext cx="942975" cy="525463"/>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2</m:t>
                      </m:r>
                      <m:sSup>
                        <m:sSupPr>
                          <m:ctrlPr>
                            <a:rPr lang="zh-CN" altLang="en-US" sz="2600" i="1">
                              <a:solidFill>
                                <a:srgbClr val="000000"/>
                              </a:solidFill>
                              <a:latin typeface="Cambria Math" panose="02040503050406030204" pitchFamily="18" charset="0"/>
                            </a:rPr>
                          </m:ctrlPr>
                        </m:sSupPr>
                        <m:e>
                          <m:r>
                            <a:rPr lang="zh-CN" altLang="en-US" sz="2600" i="1">
                              <a:solidFill>
                                <a:srgbClr val="000000"/>
                              </a:solidFill>
                              <a:latin typeface="Cambria Math" panose="02040503050406030204" pitchFamily="18" charset="0"/>
                            </a:rPr>
                            <m:t>0</m:t>
                          </m:r>
                        </m:e>
                        <m:sup>
                          <m:r>
                            <a:rPr lang="zh-CN" altLang="en-US" sz="2600" i="1">
                              <a:solidFill>
                                <a:srgbClr val="000000"/>
                              </a:solidFill>
                              <a:latin typeface="Cambria Math" panose="02040503050406030204" pitchFamily="18" charset="0"/>
                            </a:rPr>
                            <m:t>∘</m:t>
                          </m:r>
                        </m:sup>
                      </m:sSup>
                      <m:r>
                        <m:rPr>
                          <m:sty m:val="p"/>
                        </m:rPr>
                        <a:rPr lang="zh-CN" altLang="en-US" sz="2600" i="0">
                          <a:solidFill>
                            <a:srgbClr val="000000"/>
                          </a:solidFill>
                          <a:latin typeface="Cambria Math" panose="02040503050406030204" pitchFamily="18" charset="0"/>
                        </a:rPr>
                        <m:t>C</m:t>
                      </m:r>
                    </m:oMath>
                  </m:oMathPara>
                </a14:m>
                <a:endParaRPr lang="zh-CN" altLang="en-US" sz="2600" dirty="0"/>
              </a:p>
            </p:txBody>
          </p:sp>
        </mc:Choice>
        <mc:Fallback xmlns="">
          <p:sp>
            <p:nvSpPr>
              <p:cNvPr id="18438" name="Object 7"/>
              <p:cNvSpPr txBox="1">
                <a:spLocks noRot="1" noChangeAspect="1" noMove="1" noResize="1" noEditPoints="1" noAdjustHandles="1" noChangeArrowheads="1" noChangeShapeType="1" noTextEdit="1"/>
              </p:cNvSpPr>
              <p:nvPr/>
            </p:nvSpPr>
            <p:spPr>
              <a:xfrm>
                <a:off x="9556749" y="1464469"/>
                <a:ext cx="942975" cy="525463"/>
              </a:xfrm>
              <a:prstGeom prst="rect">
                <a:avLst/>
              </a:prstGeom>
              <a:blipFill>
                <a:blip r:embed="rId6"/>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1049" name="Object 9"/>
              <p:cNvSpPr txBox="1"/>
              <p:nvPr/>
            </p:nvSpPr>
            <p:spPr>
              <a:xfrm>
                <a:off x="1609726" y="2688733"/>
                <a:ext cx="5472113" cy="1101725"/>
              </a:xfrm>
              <a:prstGeom prst="rect">
                <a:avLst/>
              </a:prstGeom>
              <a:noFill/>
              <a:ln w="38100">
                <a:noFill/>
                <a:miter/>
              </a:ln>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𝑒</m:t>
                      </m:r>
                      <m:r>
                        <a:rPr lang="zh-CN" altLang="en-US" sz="2600" i="1">
                          <a:solidFill>
                            <a:srgbClr val="000000"/>
                          </a:solidFill>
                          <a:latin typeface="Cambria Math" panose="02040503050406030204" pitchFamily="18" charset="0"/>
                        </a:rPr>
                        <m:t>=</m:t>
                      </m:r>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𝑒</m:t>
                          </m:r>
                        </m:e>
                        <m:sub>
                          <m:r>
                            <a:rPr lang="zh-CN" altLang="en-US" sz="2600" i="1">
                              <a:solidFill>
                                <a:srgbClr val="000000"/>
                              </a:solidFill>
                              <a:latin typeface="Cambria Math" panose="02040503050406030204" pitchFamily="18" charset="0"/>
                            </a:rPr>
                            <m:t>卡</m:t>
                          </m:r>
                        </m:sub>
                      </m:sSub>
                      <m:r>
                        <a:rPr lang="zh-CN" altLang="en-US" sz="2600" i="1">
                          <a:solidFill>
                            <a:srgbClr val="000000"/>
                          </a:solidFill>
                          <a:latin typeface="Cambria Math" panose="02040503050406030204" pitchFamily="18" charset="0"/>
                        </a:rPr>
                        <m:t>×55%=</m:t>
                      </m:r>
                      <m:f>
                        <m:fPr>
                          <m:ctrlPr>
                            <a:rPr lang="zh-CN" altLang="en-US" sz="2600" i="1">
                              <a:solidFill>
                                <a:srgbClr val="000000"/>
                              </a:solidFill>
                              <a:latin typeface="Cambria Math" panose="02040503050406030204" pitchFamily="18" charset="0"/>
                            </a:rPr>
                          </m:ctrlPr>
                        </m:fPr>
                        <m:num>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𝑇</m:t>
                              </m:r>
                            </m:e>
                            <m:sub>
                              <m:r>
                                <a:rPr lang="zh-CN" altLang="en-US" sz="2600" i="1">
                                  <a:solidFill>
                                    <a:srgbClr val="000000"/>
                                  </a:solidFill>
                                  <a:latin typeface="Cambria Math" panose="02040503050406030204" pitchFamily="18" charset="0"/>
                                </a:rPr>
                                <m:t>2</m:t>
                              </m:r>
                            </m:sub>
                          </m:sSub>
                        </m:num>
                        <m:den>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𝑇</m:t>
                              </m:r>
                            </m:e>
                            <m:sub>
                              <m:r>
                                <a:rPr lang="zh-CN" altLang="en-US" sz="2600" i="1">
                                  <a:solidFill>
                                    <a:srgbClr val="000000"/>
                                  </a:solidFill>
                                  <a:latin typeface="Cambria Math" panose="02040503050406030204" pitchFamily="18" charset="0"/>
                                </a:rPr>
                                <m:t>1</m:t>
                              </m:r>
                            </m:sub>
                          </m:sSub>
                          <m:r>
                            <a:rPr lang="zh-CN" altLang="en-US" sz="2600" i="1">
                              <a:solidFill>
                                <a:srgbClr val="000000"/>
                              </a:solidFill>
                              <a:latin typeface="Cambria Math" panose="02040503050406030204" pitchFamily="18" charset="0"/>
                            </a:rPr>
                            <m:t>−</m:t>
                          </m:r>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𝑇</m:t>
                              </m:r>
                            </m:e>
                            <m:sub>
                              <m:r>
                                <a:rPr lang="zh-CN" altLang="en-US" sz="2600" i="1">
                                  <a:solidFill>
                                    <a:srgbClr val="000000"/>
                                  </a:solidFill>
                                  <a:latin typeface="Cambria Math" panose="02040503050406030204" pitchFamily="18" charset="0"/>
                                </a:rPr>
                                <m:t>2</m:t>
                              </m:r>
                            </m:sub>
                          </m:sSub>
                        </m:den>
                      </m:f>
                      <m:r>
                        <a:rPr lang="zh-CN" altLang="en-US" sz="2600" i="1">
                          <a:solidFill>
                            <a:srgbClr val="000000"/>
                          </a:solidFill>
                          <a:latin typeface="Cambria Math" panose="02040503050406030204" pitchFamily="18" charset="0"/>
                        </a:rPr>
                        <m:t>×</m:t>
                      </m:r>
                      <m:f>
                        <m:fPr>
                          <m:ctrlPr>
                            <a:rPr lang="zh-CN" altLang="en-US" sz="2600" i="1">
                              <a:solidFill>
                                <a:srgbClr val="000000"/>
                              </a:solidFill>
                              <a:latin typeface="Cambria Math" panose="02040503050406030204" pitchFamily="18" charset="0"/>
                            </a:rPr>
                          </m:ctrlPr>
                        </m:fPr>
                        <m:num>
                          <m:r>
                            <a:rPr lang="zh-CN" altLang="en-US" sz="2600" i="1">
                              <a:solidFill>
                                <a:srgbClr val="000000"/>
                              </a:solidFill>
                              <a:latin typeface="Cambria Math" panose="02040503050406030204" pitchFamily="18" charset="0"/>
                            </a:rPr>
                            <m:t>55</m:t>
                          </m:r>
                        </m:num>
                        <m:den>
                          <m:r>
                            <a:rPr lang="zh-CN" altLang="en-US" sz="2600" i="1">
                              <a:solidFill>
                                <a:srgbClr val="000000"/>
                              </a:solidFill>
                              <a:latin typeface="Cambria Math" panose="02040503050406030204" pitchFamily="18" charset="0"/>
                            </a:rPr>
                            <m:t>100</m:t>
                          </m:r>
                        </m:den>
                      </m:f>
                      <m:r>
                        <a:rPr lang="zh-CN" altLang="en-US" sz="2600" i="1">
                          <a:solidFill>
                            <a:srgbClr val="000000"/>
                          </a:solidFill>
                          <a:latin typeface="Cambria Math" panose="02040503050406030204" pitchFamily="18" charset="0"/>
                        </a:rPr>
                        <m:t>=10.2</m:t>
                      </m:r>
                    </m:oMath>
                  </m:oMathPara>
                </a14:m>
                <a:endParaRPr lang="zh-CN" altLang="en-US" sz="2600" dirty="0"/>
              </a:p>
            </p:txBody>
          </p:sp>
        </mc:Choice>
        <mc:Fallback xmlns="">
          <p:sp>
            <p:nvSpPr>
              <p:cNvPr id="471049" name="Object 9"/>
              <p:cNvSpPr txBox="1">
                <a:spLocks noRot="1" noChangeAspect="1" noMove="1" noResize="1" noEditPoints="1" noAdjustHandles="1" noChangeArrowheads="1" noChangeShapeType="1" noTextEdit="1"/>
              </p:cNvSpPr>
              <p:nvPr/>
            </p:nvSpPr>
            <p:spPr>
              <a:xfrm>
                <a:off x="1609726" y="2688733"/>
                <a:ext cx="5472113" cy="1101725"/>
              </a:xfrm>
              <a:prstGeom prst="rect">
                <a:avLst/>
              </a:prstGeom>
              <a:blipFill>
                <a:blip r:embed="rId7"/>
                <a:stretch>
                  <a:fillRect/>
                </a:stretch>
              </a:blipFill>
              <a:ln w="38100">
                <a:noFill/>
                <a:miter/>
              </a:ln>
            </p:spPr>
            <p:txBody>
              <a:bodyPr/>
              <a:lstStyle/>
              <a:p>
                <a:r>
                  <a:rPr lang="zh-CN" altLang="en-US">
                    <a:noFill/>
                  </a:rPr>
                  <a:t> </a:t>
                </a:r>
              </a:p>
            </p:txBody>
          </p:sp>
        </mc:Fallback>
      </mc:AlternateContent>
      <p:grpSp>
        <p:nvGrpSpPr>
          <p:cNvPr id="2" name="Group 2">
            <a:extLst>
              <a:ext uri="{FF2B5EF4-FFF2-40B4-BE49-F238E27FC236}">
                <a16:creationId xmlns:a16="http://schemas.microsoft.com/office/drawing/2014/main" id="{91BCA85C-8DA8-64A5-5CDA-284640D2894F}"/>
              </a:ext>
            </a:extLst>
          </p:cNvPr>
          <p:cNvGrpSpPr/>
          <p:nvPr/>
        </p:nvGrpSpPr>
        <p:grpSpPr>
          <a:xfrm>
            <a:off x="925513" y="4899177"/>
            <a:ext cx="7924800" cy="612775"/>
            <a:chOff x="567" y="1480"/>
            <a:chExt cx="4992" cy="386"/>
          </a:xfrm>
        </p:grpSpPr>
        <p:sp>
          <p:nvSpPr>
            <p:cNvPr id="3" name="Rectangle 3">
              <a:extLst>
                <a:ext uri="{FF2B5EF4-FFF2-40B4-BE49-F238E27FC236}">
                  <a16:creationId xmlns:a16="http://schemas.microsoft.com/office/drawing/2014/main" id="{BBB4BCED-A515-27F8-AD54-2BC0BE1074EE}"/>
                </a:ext>
              </a:extLst>
            </p:cNvPr>
            <p:cNvSpPr/>
            <p:nvPr/>
          </p:nvSpPr>
          <p:spPr>
            <a:xfrm>
              <a:off x="567" y="1480"/>
              <a:ext cx="4992" cy="341"/>
            </a:xfrm>
            <a:prstGeom prst="rect">
              <a:avLst/>
            </a:prstGeom>
            <a:noFill/>
            <a:ln w="9525">
              <a:noFill/>
            </a:ln>
          </p:spPr>
          <p:txBody>
            <a:bodyPr>
              <a:spAutoFit/>
            </a:bodyPr>
            <a:lstStyle/>
            <a:p>
              <a:pPr eaLnBrk="1" hangingPunct="1">
                <a:lnSpc>
                  <a:spcPct val="120000"/>
                </a:lnSpc>
              </a:pPr>
              <a:r>
                <a:rPr lang="zh-CN" altLang="en-US" sz="2600" dirty="0">
                  <a:solidFill>
                    <a:srgbClr val="1C1C1C"/>
                  </a:solidFill>
                  <a:latin typeface="Times New Roman" panose="02020603050405020304" pitchFamily="18" charset="0"/>
                </a:rPr>
                <a:t>房间传入冰箱的热量                         </a:t>
              </a:r>
            </a:p>
          </p:txBody>
        </p:sp>
        <mc:AlternateContent xmlns:mc="http://schemas.openxmlformats.org/markup-compatibility/2006" xmlns:a14="http://schemas.microsoft.com/office/drawing/2010/main">
          <mc:Choice Requires="a14">
            <p:sp>
              <p:nvSpPr>
                <p:cNvPr id="4" name="Object 4">
                  <a:extLst>
                    <a:ext uri="{FF2B5EF4-FFF2-40B4-BE49-F238E27FC236}">
                      <a16:creationId xmlns:a16="http://schemas.microsoft.com/office/drawing/2014/main" id="{61FB0CD2-4197-C67E-92DC-C60B9CD8DB71}"/>
                    </a:ext>
                  </a:extLst>
                </p:cNvPr>
                <p:cNvSpPr txBox="1"/>
                <p:nvPr/>
              </p:nvSpPr>
              <p:spPr>
                <a:xfrm>
                  <a:off x="3180" y="1480"/>
                  <a:ext cx="1728" cy="386"/>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p>
                          <m:sSupPr>
                            <m:ctrlPr>
                              <a:rPr lang="zh-CN" altLang="en-US" sz="2600" i="1">
                                <a:solidFill>
                                  <a:srgbClr val="000000"/>
                                </a:solidFill>
                                <a:latin typeface="Cambria Math" panose="02040503050406030204" pitchFamily="18" charset="0"/>
                              </a:rPr>
                            </m:ctrlPr>
                          </m:sSupPr>
                          <m:e>
                            <m:r>
                              <a:rPr lang="zh-CN" altLang="en-US" sz="2600" i="1">
                                <a:solidFill>
                                  <a:srgbClr val="000000"/>
                                </a:solidFill>
                                <a:latin typeface="Cambria Math" panose="02040503050406030204" pitchFamily="18" charset="0"/>
                              </a:rPr>
                              <m:t>𝑄</m:t>
                            </m:r>
                          </m:e>
                          <m:sup>
                            <m:r>
                              <a:rPr lang="zh-CN" altLang="en-US" sz="2600" i="1">
                                <a:solidFill>
                                  <a:srgbClr val="000000"/>
                                </a:solidFill>
                                <a:latin typeface="Cambria Math" panose="02040503050406030204" pitchFamily="18" charset="0"/>
                              </a:rPr>
                              <m:t>′</m:t>
                            </m:r>
                          </m:sup>
                        </m:sSup>
                        <m:r>
                          <a:rPr lang="zh-CN" altLang="en-US" sz="2600" i="1">
                            <a:solidFill>
                              <a:srgbClr val="000000"/>
                            </a:solidFill>
                            <a:latin typeface="Cambria Math" panose="02040503050406030204" pitchFamily="18" charset="0"/>
                          </a:rPr>
                          <m:t>=2.0×1</m:t>
                        </m:r>
                        <m:sSup>
                          <m:sSupPr>
                            <m:ctrlPr>
                              <a:rPr lang="zh-CN" altLang="en-US" sz="2600" i="1">
                                <a:solidFill>
                                  <a:srgbClr val="000000"/>
                                </a:solidFill>
                                <a:latin typeface="Cambria Math" panose="02040503050406030204" pitchFamily="18" charset="0"/>
                              </a:rPr>
                            </m:ctrlPr>
                          </m:sSupPr>
                          <m:e>
                            <m:r>
                              <a:rPr lang="zh-CN" altLang="en-US" sz="2600" i="1">
                                <a:solidFill>
                                  <a:srgbClr val="000000"/>
                                </a:solidFill>
                                <a:latin typeface="Cambria Math" panose="02040503050406030204" pitchFamily="18" charset="0"/>
                              </a:rPr>
                              <m:t>0</m:t>
                            </m:r>
                          </m:e>
                          <m:sup>
                            <m:r>
                              <a:rPr lang="zh-CN" altLang="en-US" sz="2600" i="1">
                                <a:solidFill>
                                  <a:srgbClr val="000000"/>
                                </a:solidFill>
                                <a:latin typeface="Cambria Math" panose="02040503050406030204" pitchFamily="18" charset="0"/>
                              </a:rPr>
                              <m:t>7</m:t>
                            </m:r>
                          </m:sup>
                        </m:sSup>
                        <m:r>
                          <m:rPr>
                            <m:nor/>
                          </m:rPr>
                          <a:rPr lang="zh-CN" altLang="en-US" sz="2600" i="0">
                            <a:solidFill>
                              <a:srgbClr val="000000"/>
                            </a:solidFill>
                            <a:latin typeface="Cambria Math" panose="02040503050406030204" pitchFamily="18" charset="0"/>
                          </a:rPr>
                          <m:t> </m:t>
                        </m:r>
                        <m:r>
                          <m:rPr>
                            <m:nor/>
                          </m:rPr>
                          <a:rPr lang="zh-CN" altLang="en-US" sz="2600" i="0">
                            <a:solidFill>
                              <a:srgbClr val="000000"/>
                            </a:solidFill>
                            <a:latin typeface="Cambria Math" panose="02040503050406030204" pitchFamily="18" charset="0"/>
                          </a:rPr>
                          <m:t>J</m:t>
                        </m:r>
                      </m:oMath>
                    </m:oMathPara>
                  </a14:m>
                  <a:endParaRPr lang="zh-CN" altLang="en-US" sz="2600" dirty="0"/>
                </a:p>
              </p:txBody>
            </p:sp>
          </mc:Choice>
          <mc:Fallback xmlns="">
            <p:sp>
              <p:nvSpPr>
                <p:cNvPr id="4" name="Object 4">
                  <a:extLst>
                    <a:ext uri="{FF2B5EF4-FFF2-40B4-BE49-F238E27FC236}">
                      <a16:creationId xmlns:a16="http://schemas.microsoft.com/office/drawing/2014/main" id="{61FB0CD2-4197-C67E-92DC-C60B9CD8DB71}"/>
                    </a:ext>
                  </a:extLst>
                </p:cNvPr>
                <p:cNvSpPr txBox="1">
                  <a:spLocks noRot="1" noChangeAspect="1" noMove="1" noResize="1" noEditPoints="1" noAdjustHandles="1" noChangeArrowheads="1" noChangeShapeType="1" noTextEdit="1"/>
                </p:cNvSpPr>
                <p:nvPr/>
              </p:nvSpPr>
              <p:spPr>
                <a:xfrm>
                  <a:off x="3180" y="1480"/>
                  <a:ext cx="1728" cy="386"/>
                </a:xfrm>
                <a:prstGeom prst="rect">
                  <a:avLst/>
                </a:prstGeom>
                <a:blipFill>
                  <a:blip r:embed="rId8"/>
                  <a:stretch>
                    <a:fillRect/>
                  </a:stretch>
                </a:blipFill>
                <a:ln w="38100">
                  <a:noFill/>
                  <a:miter/>
                </a:ln>
              </p:spPr>
              <p:txBody>
                <a:bodyPr/>
                <a:lstStyle/>
                <a:p>
                  <a:r>
                    <a:rPr lang="zh-CN" altLang="en-US">
                      <a:noFill/>
                    </a:rPr>
                    <a:t> </a:t>
                  </a:r>
                </a:p>
              </p:txBody>
            </p:sp>
          </mc:Fallback>
        </mc:AlternateContent>
      </p:grpSp>
      <p:grpSp>
        <p:nvGrpSpPr>
          <p:cNvPr id="6" name="Group 6">
            <a:extLst>
              <a:ext uri="{FF2B5EF4-FFF2-40B4-BE49-F238E27FC236}">
                <a16:creationId xmlns:a16="http://schemas.microsoft.com/office/drawing/2014/main" id="{F643D3EE-DCD4-FC8E-B36F-93F01A2064FB}"/>
              </a:ext>
            </a:extLst>
          </p:cNvPr>
          <p:cNvGrpSpPr/>
          <p:nvPr/>
        </p:nvGrpSpPr>
        <p:grpSpPr>
          <a:xfrm>
            <a:off x="1192213" y="3565376"/>
            <a:ext cx="7391400" cy="1117600"/>
            <a:chOff x="521" y="3203"/>
            <a:chExt cx="4656" cy="704"/>
          </a:xfrm>
        </p:grpSpPr>
        <p:sp>
          <p:nvSpPr>
            <p:cNvPr id="7" name="Rectangle 7">
              <a:extLst>
                <a:ext uri="{FF2B5EF4-FFF2-40B4-BE49-F238E27FC236}">
                  <a16:creationId xmlns:a16="http://schemas.microsoft.com/office/drawing/2014/main" id="{4838B33D-F268-9635-8EB7-B93AB2A0A18A}"/>
                </a:ext>
              </a:extLst>
            </p:cNvPr>
            <p:cNvSpPr/>
            <p:nvPr/>
          </p:nvSpPr>
          <p:spPr>
            <a:xfrm>
              <a:off x="521" y="3385"/>
              <a:ext cx="4656" cy="310"/>
            </a:xfrm>
            <a:prstGeom prst="rect">
              <a:avLst/>
            </a:prstGeom>
            <a:noFill/>
            <a:ln w="9525">
              <a:noFill/>
            </a:ln>
          </p:spPr>
          <p:txBody>
            <a:bodyPr>
              <a:spAutoFit/>
            </a:bodyPr>
            <a:lstStyle/>
            <a:p>
              <a:pPr eaLnBrk="1" hangingPunct="1"/>
              <a:r>
                <a:rPr lang="zh-CN" altLang="en-US" sz="2600" dirty="0">
                  <a:solidFill>
                    <a:srgbClr val="1C1C1C"/>
                  </a:solidFill>
                  <a:latin typeface="Times New Roman" panose="02020603050405020304" pitchFamily="18" charset="0"/>
                </a:rPr>
                <a:t>由                                  得</a:t>
              </a:r>
            </a:p>
          </p:txBody>
        </p:sp>
        <mc:AlternateContent xmlns:mc="http://schemas.openxmlformats.org/markup-compatibility/2006" xmlns:a14="http://schemas.microsoft.com/office/drawing/2010/main">
          <mc:Choice Requires="a14">
            <p:sp>
              <p:nvSpPr>
                <p:cNvPr id="8" name="Object 8">
                  <a:extLst>
                    <a:ext uri="{FF2B5EF4-FFF2-40B4-BE49-F238E27FC236}">
                      <a16:creationId xmlns:a16="http://schemas.microsoft.com/office/drawing/2014/main" id="{B92960C0-E3C3-2A8D-C6BE-1785BCC33800}"/>
                    </a:ext>
                  </a:extLst>
                </p:cNvPr>
                <p:cNvSpPr txBox="1"/>
                <p:nvPr/>
              </p:nvSpPr>
              <p:spPr>
                <a:xfrm>
                  <a:off x="930" y="3203"/>
                  <a:ext cx="1248" cy="704"/>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𝑒</m:t>
                        </m:r>
                        <m:r>
                          <a:rPr lang="zh-CN" altLang="en-US" sz="2600" i="1">
                            <a:solidFill>
                              <a:srgbClr val="000000"/>
                            </a:solidFill>
                            <a:latin typeface="Cambria Math" panose="02040503050406030204" pitchFamily="18" charset="0"/>
                          </a:rPr>
                          <m:t>=</m:t>
                        </m:r>
                        <m:f>
                          <m:fPr>
                            <m:ctrlPr>
                              <a:rPr lang="zh-CN" altLang="en-US" sz="2600" i="1">
                                <a:solidFill>
                                  <a:srgbClr val="000000"/>
                                </a:solidFill>
                                <a:latin typeface="Cambria Math" panose="02040503050406030204" pitchFamily="18" charset="0"/>
                              </a:rPr>
                            </m:ctrlPr>
                          </m:fPr>
                          <m:num>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𝑄</m:t>
                                </m:r>
                              </m:e>
                              <m:sub>
                                <m:r>
                                  <a:rPr lang="zh-CN" altLang="en-US" sz="2600" i="1">
                                    <a:solidFill>
                                      <a:srgbClr val="000000"/>
                                    </a:solidFill>
                                    <a:latin typeface="Cambria Math" panose="02040503050406030204" pitchFamily="18" charset="0"/>
                                  </a:rPr>
                                  <m:t>2</m:t>
                                </m:r>
                              </m:sub>
                            </m:sSub>
                          </m:num>
                          <m:den>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𝑄</m:t>
                                </m:r>
                              </m:e>
                              <m:sub>
                                <m:r>
                                  <a:rPr lang="zh-CN" altLang="en-US" sz="2600" i="1">
                                    <a:solidFill>
                                      <a:srgbClr val="000000"/>
                                    </a:solidFill>
                                    <a:latin typeface="Cambria Math" panose="02040503050406030204" pitchFamily="18" charset="0"/>
                                  </a:rPr>
                                  <m:t>1</m:t>
                                </m:r>
                              </m:sub>
                            </m:sSub>
                            <m:r>
                              <a:rPr lang="zh-CN" altLang="en-US" sz="2600" i="1">
                                <a:solidFill>
                                  <a:srgbClr val="000000"/>
                                </a:solidFill>
                                <a:latin typeface="Cambria Math" panose="02040503050406030204" pitchFamily="18" charset="0"/>
                              </a:rPr>
                              <m:t>−</m:t>
                            </m:r>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𝑄</m:t>
                                </m:r>
                              </m:e>
                              <m:sub>
                                <m:r>
                                  <a:rPr lang="zh-CN" altLang="en-US" sz="2600" i="1">
                                    <a:solidFill>
                                      <a:srgbClr val="000000"/>
                                    </a:solidFill>
                                    <a:latin typeface="Cambria Math" panose="02040503050406030204" pitchFamily="18" charset="0"/>
                                  </a:rPr>
                                  <m:t>2</m:t>
                                </m:r>
                              </m:sub>
                            </m:sSub>
                          </m:den>
                        </m:f>
                      </m:oMath>
                    </m:oMathPara>
                  </a14:m>
                  <a:endParaRPr lang="zh-CN" altLang="en-US" sz="2600"/>
                </a:p>
              </p:txBody>
            </p:sp>
          </mc:Choice>
          <mc:Fallback xmlns="">
            <p:sp>
              <p:nvSpPr>
                <p:cNvPr id="19460" name="Object 8"/>
                <p:cNvSpPr txBox="1">
                  <a:spLocks noRot="1" noChangeAspect="1" noMove="1" noResize="1" noEditPoints="1" noAdjustHandles="1" noChangeArrowheads="1" noChangeShapeType="1" noTextEdit="1"/>
                </p:cNvSpPr>
                <p:nvPr/>
              </p:nvSpPr>
              <p:spPr>
                <a:xfrm>
                  <a:off x="930" y="3203"/>
                  <a:ext cx="1248" cy="704"/>
                </a:xfrm>
                <a:prstGeom prst="rect">
                  <a:avLst/>
                </a:prstGeom>
                <a:blipFill>
                  <a:blip r:embed="rId9"/>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Object 9">
                  <a:extLst>
                    <a:ext uri="{FF2B5EF4-FFF2-40B4-BE49-F238E27FC236}">
                      <a16:creationId xmlns:a16="http://schemas.microsoft.com/office/drawing/2014/main" id="{E1868823-F0B6-8242-6C81-82F7AB4F338E}"/>
                    </a:ext>
                  </a:extLst>
                </p:cNvPr>
                <p:cNvSpPr txBox="1"/>
                <p:nvPr/>
              </p:nvSpPr>
              <p:spPr>
                <a:xfrm>
                  <a:off x="3288" y="3203"/>
                  <a:ext cx="1520" cy="639"/>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𝑄</m:t>
                            </m:r>
                          </m:e>
                          <m:sub>
                            <m:r>
                              <a:rPr lang="zh-CN" altLang="en-US" sz="2600" i="1">
                                <a:solidFill>
                                  <a:srgbClr val="000000"/>
                                </a:solidFill>
                                <a:latin typeface="Cambria Math" panose="02040503050406030204" pitchFamily="18" charset="0"/>
                              </a:rPr>
                              <m:t>1</m:t>
                            </m:r>
                          </m:sub>
                        </m:sSub>
                        <m:r>
                          <a:rPr lang="zh-CN" altLang="en-US" sz="2600" i="1">
                            <a:solidFill>
                              <a:srgbClr val="000000"/>
                            </a:solidFill>
                            <a:latin typeface="Cambria Math" panose="02040503050406030204" pitchFamily="18" charset="0"/>
                          </a:rPr>
                          <m:t>=</m:t>
                        </m:r>
                        <m:f>
                          <m:fPr>
                            <m:ctrlPr>
                              <a:rPr lang="zh-CN" altLang="en-US" sz="2600" i="1">
                                <a:solidFill>
                                  <a:srgbClr val="000000"/>
                                </a:solidFill>
                                <a:latin typeface="Cambria Math" panose="02040503050406030204" pitchFamily="18" charset="0"/>
                              </a:rPr>
                            </m:ctrlPr>
                          </m:fPr>
                          <m:num>
                            <m:r>
                              <a:rPr lang="zh-CN" altLang="en-US" sz="2600" i="1">
                                <a:solidFill>
                                  <a:srgbClr val="000000"/>
                                </a:solidFill>
                                <a:latin typeface="Cambria Math" panose="02040503050406030204" pitchFamily="18" charset="0"/>
                              </a:rPr>
                              <m:t>𝑒</m:t>
                            </m:r>
                            <m:r>
                              <a:rPr lang="zh-CN" altLang="en-US" sz="2600" i="1">
                                <a:solidFill>
                                  <a:srgbClr val="000000"/>
                                </a:solidFill>
                                <a:latin typeface="Cambria Math" panose="02040503050406030204" pitchFamily="18" charset="0"/>
                              </a:rPr>
                              <m:t>+1</m:t>
                            </m:r>
                          </m:num>
                          <m:den>
                            <m:r>
                              <a:rPr lang="zh-CN" altLang="en-US" sz="2600" i="1">
                                <a:solidFill>
                                  <a:srgbClr val="000000"/>
                                </a:solidFill>
                                <a:latin typeface="Cambria Math" panose="02040503050406030204" pitchFamily="18" charset="0"/>
                              </a:rPr>
                              <m:t>𝑒</m:t>
                            </m:r>
                          </m:den>
                        </m:f>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𝑄</m:t>
                            </m:r>
                          </m:e>
                          <m:sub>
                            <m:r>
                              <a:rPr lang="zh-CN" altLang="en-US" sz="2600" i="1">
                                <a:solidFill>
                                  <a:srgbClr val="000000"/>
                                </a:solidFill>
                                <a:latin typeface="Cambria Math" panose="02040503050406030204" pitchFamily="18" charset="0"/>
                              </a:rPr>
                              <m:t>2</m:t>
                            </m:r>
                          </m:sub>
                        </m:sSub>
                      </m:oMath>
                    </m:oMathPara>
                  </a14:m>
                  <a:endParaRPr lang="zh-CN" altLang="en-US" sz="2600" dirty="0"/>
                </a:p>
              </p:txBody>
            </p:sp>
          </mc:Choice>
          <mc:Fallback xmlns="">
            <p:sp>
              <p:nvSpPr>
                <p:cNvPr id="9" name="Object 9">
                  <a:extLst>
                    <a:ext uri="{FF2B5EF4-FFF2-40B4-BE49-F238E27FC236}">
                      <a16:creationId xmlns:a16="http://schemas.microsoft.com/office/drawing/2014/main" id="{E1868823-F0B6-8242-6C81-82F7AB4F338E}"/>
                    </a:ext>
                  </a:extLst>
                </p:cNvPr>
                <p:cNvSpPr txBox="1">
                  <a:spLocks noRot="1" noChangeAspect="1" noMove="1" noResize="1" noEditPoints="1" noAdjustHandles="1" noChangeArrowheads="1" noChangeShapeType="1" noTextEdit="1"/>
                </p:cNvSpPr>
                <p:nvPr/>
              </p:nvSpPr>
              <p:spPr>
                <a:xfrm>
                  <a:off x="3288" y="3203"/>
                  <a:ext cx="1520" cy="639"/>
                </a:xfrm>
                <a:prstGeom prst="rect">
                  <a:avLst/>
                </a:prstGeom>
                <a:blipFill>
                  <a:blip r:embed="rId10"/>
                  <a:stretch>
                    <a:fillRect/>
                  </a:stretch>
                </a:blipFill>
                <a:ln w="38100">
                  <a:noFill/>
                  <a:miter/>
                </a:ln>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0" name="Object 10">
                <a:extLst>
                  <a:ext uri="{FF2B5EF4-FFF2-40B4-BE49-F238E27FC236}">
                    <a16:creationId xmlns:a16="http://schemas.microsoft.com/office/drawing/2014/main" id="{F0C5AE75-BD9F-EF3F-CFF9-A43D3E20BA71}"/>
                  </a:ext>
                </a:extLst>
              </p:cNvPr>
              <p:cNvSpPr txBox="1"/>
              <p:nvPr/>
            </p:nvSpPr>
            <p:spPr>
              <a:xfrm>
                <a:off x="4484688" y="5614346"/>
                <a:ext cx="2597151" cy="969963"/>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𝑄</m:t>
                          </m:r>
                        </m:e>
                        <m:sub>
                          <m:r>
                            <a:rPr lang="zh-CN" altLang="en-US" sz="2600" i="1">
                              <a:solidFill>
                                <a:srgbClr val="000000"/>
                              </a:solidFill>
                              <a:latin typeface="Cambria Math" panose="02040503050406030204" pitchFamily="18" charset="0"/>
                            </a:rPr>
                            <m:t>1</m:t>
                          </m:r>
                        </m:sub>
                      </m:sSub>
                      <m:r>
                        <a:rPr lang="zh-CN" altLang="en-US" sz="2600" i="1">
                          <a:solidFill>
                            <a:srgbClr val="000000"/>
                          </a:solidFill>
                          <a:latin typeface="Cambria Math" panose="02040503050406030204" pitchFamily="18" charset="0"/>
                        </a:rPr>
                        <m:t>=</m:t>
                      </m:r>
                      <m:f>
                        <m:fPr>
                          <m:ctrlPr>
                            <a:rPr lang="zh-CN" altLang="en-US" sz="2600" i="1">
                              <a:solidFill>
                                <a:srgbClr val="000000"/>
                              </a:solidFill>
                              <a:latin typeface="Cambria Math" panose="02040503050406030204" pitchFamily="18" charset="0"/>
                            </a:rPr>
                          </m:ctrlPr>
                        </m:fPr>
                        <m:num>
                          <m:r>
                            <a:rPr lang="zh-CN" altLang="en-US" sz="2600" i="1">
                              <a:solidFill>
                                <a:srgbClr val="000000"/>
                              </a:solidFill>
                              <a:latin typeface="Cambria Math" panose="02040503050406030204" pitchFamily="18" charset="0"/>
                            </a:rPr>
                            <m:t>𝑒</m:t>
                          </m:r>
                          <m:r>
                            <a:rPr lang="zh-CN" altLang="en-US" sz="2600" i="1">
                              <a:solidFill>
                                <a:srgbClr val="000000"/>
                              </a:solidFill>
                              <a:latin typeface="Cambria Math" panose="02040503050406030204" pitchFamily="18" charset="0"/>
                            </a:rPr>
                            <m:t>+1</m:t>
                          </m:r>
                        </m:num>
                        <m:den>
                          <m:r>
                            <a:rPr lang="zh-CN" altLang="en-US" sz="2600" i="1">
                              <a:solidFill>
                                <a:srgbClr val="000000"/>
                              </a:solidFill>
                              <a:latin typeface="Cambria Math" panose="02040503050406030204" pitchFamily="18" charset="0"/>
                            </a:rPr>
                            <m:t>𝑒</m:t>
                          </m:r>
                        </m:den>
                      </m:f>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𝑄</m:t>
                          </m:r>
                        </m:e>
                        <m:sub>
                          <m:r>
                            <a:rPr lang="zh-CN" altLang="en-US" sz="2600" i="1">
                              <a:solidFill>
                                <a:srgbClr val="000000"/>
                              </a:solidFill>
                              <a:latin typeface="Cambria Math" panose="02040503050406030204" pitchFamily="18" charset="0"/>
                            </a:rPr>
                            <m:t>2</m:t>
                          </m:r>
                        </m:sub>
                      </m:sSub>
                    </m:oMath>
                  </m:oMathPara>
                </a14:m>
                <a:endParaRPr lang="zh-CN" altLang="en-US" sz="2600" dirty="0"/>
              </a:p>
            </p:txBody>
          </p:sp>
        </mc:Choice>
        <mc:Fallback xmlns="">
          <p:sp>
            <p:nvSpPr>
              <p:cNvPr id="10" name="Object 10">
                <a:extLst>
                  <a:ext uri="{FF2B5EF4-FFF2-40B4-BE49-F238E27FC236}">
                    <a16:creationId xmlns:a16="http://schemas.microsoft.com/office/drawing/2014/main" id="{F0C5AE75-BD9F-EF3F-CFF9-A43D3E20BA71}"/>
                  </a:ext>
                </a:extLst>
              </p:cNvPr>
              <p:cNvSpPr txBox="1">
                <a:spLocks noRot="1" noChangeAspect="1" noMove="1" noResize="1" noEditPoints="1" noAdjustHandles="1" noChangeArrowheads="1" noChangeShapeType="1" noTextEdit="1"/>
              </p:cNvSpPr>
              <p:nvPr/>
            </p:nvSpPr>
            <p:spPr>
              <a:xfrm>
                <a:off x="4484688" y="5614346"/>
                <a:ext cx="2597151" cy="969963"/>
              </a:xfrm>
              <a:prstGeom prst="rect">
                <a:avLst/>
              </a:prstGeom>
              <a:blipFill>
                <a:blip r:embed="rId11"/>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Object 11">
                <a:extLst>
                  <a:ext uri="{FF2B5EF4-FFF2-40B4-BE49-F238E27FC236}">
                    <a16:creationId xmlns:a16="http://schemas.microsoft.com/office/drawing/2014/main" id="{2D7D263E-F437-AAC1-8633-6D722C43D6D3}"/>
                  </a:ext>
                </a:extLst>
              </p:cNvPr>
              <p:cNvSpPr txBox="1"/>
              <p:nvPr/>
            </p:nvSpPr>
            <p:spPr>
              <a:xfrm>
                <a:off x="6577014" y="5521477"/>
                <a:ext cx="5614986" cy="1004887"/>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m:t>
                      </m:r>
                      <m:f>
                        <m:fPr>
                          <m:ctrlPr>
                            <a:rPr lang="zh-CN" altLang="en-US" sz="2600" i="1">
                              <a:solidFill>
                                <a:srgbClr val="000000"/>
                              </a:solidFill>
                              <a:latin typeface="Cambria Math" panose="02040503050406030204" pitchFamily="18" charset="0"/>
                            </a:rPr>
                          </m:ctrlPr>
                        </m:fPr>
                        <m:num>
                          <m:r>
                            <a:rPr lang="zh-CN" altLang="en-US" sz="2600" i="1">
                              <a:solidFill>
                                <a:srgbClr val="000000"/>
                              </a:solidFill>
                              <a:latin typeface="Cambria Math" panose="02040503050406030204" pitchFamily="18" charset="0"/>
                            </a:rPr>
                            <m:t>𝑒</m:t>
                          </m:r>
                          <m:r>
                            <a:rPr lang="zh-CN" altLang="en-US" sz="2600" i="1">
                              <a:solidFill>
                                <a:srgbClr val="000000"/>
                              </a:solidFill>
                              <a:latin typeface="Cambria Math" panose="02040503050406030204" pitchFamily="18" charset="0"/>
                            </a:rPr>
                            <m:t>+1</m:t>
                          </m:r>
                        </m:num>
                        <m:den>
                          <m:r>
                            <a:rPr lang="zh-CN" altLang="en-US" sz="2600" i="1">
                              <a:solidFill>
                                <a:srgbClr val="000000"/>
                              </a:solidFill>
                              <a:latin typeface="Cambria Math" panose="02040503050406030204" pitchFamily="18" charset="0"/>
                            </a:rPr>
                            <m:t>𝑒</m:t>
                          </m:r>
                        </m:den>
                      </m:f>
                      <m:sSup>
                        <m:sSupPr>
                          <m:ctrlPr>
                            <a:rPr lang="zh-CN" altLang="en-US" sz="2600" i="1">
                              <a:solidFill>
                                <a:srgbClr val="000000"/>
                              </a:solidFill>
                              <a:latin typeface="Cambria Math" panose="02040503050406030204" pitchFamily="18" charset="0"/>
                            </a:rPr>
                          </m:ctrlPr>
                        </m:sSupPr>
                        <m:e>
                          <m:r>
                            <a:rPr lang="zh-CN" altLang="en-US" sz="2600" i="1">
                              <a:solidFill>
                                <a:srgbClr val="000000"/>
                              </a:solidFill>
                              <a:latin typeface="Cambria Math" panose="02040503050406030204" pitchFamily="18" charset="0"/>
                            </a:rPr>
                            <m:t>𝑄</m:t>
                          </m:r>
                        </m:e>
                        <m:sup>
                          <m:r>
                            <a:rPr lang="zh-CN" altLang="en-US" sz="2600" i="1">
                              <a:solidFill>
                                <a:srgbClr val="000000"/>
                              </a:solidFill>
                              <a:latin typeface="Cambria Math" panose="02040503050406030204" pitchFamily="18" charset="0"/>
                            </a:rPr>
                            <m:t>′</m:t>
                          </m:r>
                        </m:sup>
                      </m:sSup>
                      <m:r>
                        <a:rPr lang="zh-CN" altLang="en-US" sz="2600" i="1">
                          <a:solidFill>
                            <a:srgbClr val="000000"/>
                          </a:solidFill>
                          <a:latin typeface="Cambria Math" panose="02040503050406030204" pitchFamily="18" charset="0"/>
                        </a:rPr>
                        <m:t>=2.2×1</m:t>
                      </m:r>
                      <m:sSup>
                        <m:sSupPr>
                          <m:ctrlPr>
                            <a:rPr lang="zh-CN" altLang="en-US" sz="2600" i="1">
                              <a:solidFill>
                                <a:srgbClr val="000000"/>
                              </a:solidFill>
                              <a:latin typeface="Cambria Math" panose="02040503050406030204" pitchFamily="18" charset="0"/>
                            </a:rPr>
                          </m:ctrlPr>
                        </m:sSupPr>
                        <m:e>
                          <m:r>
                            <a:rPr lang="zh-CN" altLang="en-US" sz="2600" i="1">
                              <a:solidFill>
                                <a:srgbClr val="000000"/>
                              </a:solidFill>
                              <a:latin typeface="Cambria Math" panose="02040503050406030204" pitchFamily="18" charset="0"/>
                            </a:rPr>
                            <m:t>0</m:t>
                          </m:r>
                        </m:e>
                        <m:sup>
                          <m:r>
                            <a:rPr lang="zh-CN" altLang="en-US" sz="2600" i="1">
                              <a:solidFill>
                                <a:srgbClr val="000000"/>
                              </a:solidFill>
                              <a:latin typeface="Cambria Math" panose="02040503050406030204" pitchFamily="18" charset="0"/>
                            </a:rPr>
                            <m:t>7</m:t>
                          </m:r>
                        </m:sup>
                      </m:sSup>
                      <m:r>
                        <m:rPr>
                          <m:nor/>
                        </m:rPr>
                        <a:rPr lang="zh-CN" altLang="en-US" sz="2600" i="0">
                          <a:solidFill>
                            <a:srgbClr val="000000"/>
                          </a:solidFill>
                          <a:latin typeface="Cambria Math" panose="02040503050406030204" pitchFamily="18" charset="0"/>
                        </a:rPr>
                        <m:t> </m:t>
                      </m:r>
                      <m:r>
                        <m:rPr>
                          <m:nor/>
                        </m:rPr>
                        <a:rPr lang="zh-CN" altLang="en-US" sz="2600" i="0">
                          <a:solidFill>
                            <a:srgbClr val="000000"/>
                          </a:solidFill>
                          <a:latin typeface="Cambria Math" panose="02040503050406030204" pitchFamily="18" charset="0"/>
                        </a:rPr>
                        <m:t>J</m:t>
                      </m:r>
                    </m:oMath>
                  </m:oMathPara>
                </a14:m>
                <a:endParaRPr lang="zh-CN" altLang="en-US" sz="2600" dirty="0"/>
              </a:p>
            </p:txBody>
          </p:sp>
        </mc:Choice>
        <mc:Fallback xmlns="">
          <p:sp>
            <p:nvSpPr>
              <p:cNvPr id="11" name="Object 11">
                <a:extLst>
                  <a:ext uri="{FF2B5EF4-FFF2-40B4-BE49-F238E27FC236}">
                    <a16:creationId xmlns:a16="http://schemas.microsoft.com/office/drawing/2014/main" id="{2D7D263E-F437-AAC1-8633-6D722C43D6D3}"/>
                  </a:ext>
                </a:extLst>
              </p:cNvPr>
              <p:cNvSpPr txBox="1">
                <a:spLocks noRot="1" noChangeAspect="1" noMove="1" noResize="1" noEditPoints="1" noAdjustHandles="1" noChangeArrowheads="1" noChangeShapeType="1" noTextEdit="1"/>
              </p:cNvSpPr>
              <p:nvPr/>
            </p:nvSpPr>
            <p:spPr>
              <a:xfrm>
                <a:off x="6577014" y="5521477"/>
                <a:ext cx="5614986" cy="1004887"/>
              </a:xfrm>
              <a:prstGeom prst="rect">
                <a:avLst/>
              </a:prstGeom>
              <a:blipFill>
                <a:blip r:embed="rId12"/>
                <a:stretch>
                  <a:fillRect/>
                </a:stretch>
              </a:blipFill>
              <a:ln w="38100">
                <a:noFill/>
                <a:miter/>
              </a:ln>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B14B59F1-7A53-D026-43B0-968F42549088}"/>
              </a:ext>
            </a:extLst>
          </p:cNvPr>
          <p:cNvSpPr txBox="1"/>
          <p:nvPr/>
        </p:nvSpPr>
        <p:spPr>
          <a:xfrm>
            <a:off x="695326" y="5718021"/>
            <a:ext cx="6096000" cy="576568"/>
          </a:xfrm>
          <a:prstGeom prst="rect">
            <a:avLst/>
          </a:prstGeom>
          <a:noFill/>
        </p:spPr>
        <p:txBody>
          <a:bodyPr wrap="square">
            <a:spAutoFit/>
          </a:bodyPr>
          <a:lstStyle/>
          <a:p>
            <a:pPr eaLnBrk="1" hangingPunct="1">
              <a:lnSpc>
                <a:spcPct val="120000"/>
              </a:lnSpc>
            </a:pPr>
            <a:r>
              <a:rPr lang="zh-CN" altLang="en-US" sz="2800" dirty="0">
                <a:solidFill>
                  <a:srgbClr val="1C1C1C"/>
                </a:solidFill>
                <a:latin typeface="Times New Roman" panose="02020603050405020304" pitchFamily="18" charset="0"/>
              </a:rPr>
              <a:t>热平衡时</a:t>
            </a:r>
          </a:p>
        </p:txBody>
      </p:sp>
      <mc:AlternateContent xmlns:mc="http://schemas.openxmlformats.org/markup-compatibility/2006" xmlns:a14="http://schemas.microsoft.com/office/drawing/2010/main">
        <mc:Choice Requires="a14">
          <p:sp>
            <p:nvSpPr>
              <p:cNvPr id="14" name="Object 5">
                <a:extLst>
                  <a:ext uri="{FF2B5EF4-FFF2-40B4-BE49-F238E27FC236}">
                    <a16:creationId xmlns:a16="http://schemas.microsoft.com/office/drawing/2014/main" id="{4D9BCA74-BB20-1669-D420-C23706F96CE9}"/>
                  </a:ext>
                </a:extLst>
              </p:cNvPr>
              <p:cNvSpPr txBox="1"/>
              <p:nvPr/>
            </p:nvSpPr>
            <p:spPr>
              <a:xfrm>
                <a:off x="2247900" y="5753251"/>
                <a:ext cx="1881188" cy="541338"/>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𝑄</m:t>
                          </m:r>
                        </m:e>
                        <m:sup>
                          <m:r>
                            <a:rPr lang="zh-CN" altLang="en-US" sz="2800" i="1">
                              <a:solidFill>
                                <a:srgbClr val="000000"/>
                              </a:solidFill>
                              <a:latin typeface="Cambria Math" panose="02040503050406030204" pitchFamily="18" charset="0"/>
                            </a:rPr>
                            <m:t>′</m:t>
                          </m:r>
                        </m:sup>
                      </m:sSup>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2</m:t>
                          </m:r>
                        </m:sub>
                      </m:sSub>
                    </m:oMath>
                  </m:oMathPara>
                </a14:m>
                <a:endParaRPr lang="zh-CN" altLang="en-US" sz="2800" dirty="0"/>
              </a:p>
            </p:txBody>
          </p:sp>
        </mc:Choice>
        <mc:Fallback xmlns="">
          <p:sp>
            <p:nvSpPr>
              <p:cNvPr id="14" name="Object 5">
                <a:extLst>
                  <a:ext uri="{FF2B5EF4-FFF2-40B4-BE49-F238E27FC236}">
                    <a16:creationId xmlns:a16="http://schemas.microsoft.com/office/drawing/2014/main" id="{4D9BCA74-BB20-1669-D420-C23706F96CE9}"/>
                  </a:ext>
                </a:extLst>
              </p:cNvPr>
              <p:cNvSpPr txBox="1">
                <a:spLocks noRot="1" noChangeAspect="1" noMove="1" noResize="1" noEditPoints="1" noAdjustHandles="1" noChangeArrowheads="1" noChangeShapeType="1" noTextEdit="1"/>
              </p:cNvSpPr>
              <p:nvPr/>
            </p:nvSpPr>
            <p:spPr>
              <a:xfrm>
                <a:off x="2247900" y="5753251"/>
                <a:ext cx="1881188" cy="541338"/>
              </a:xfrm>
              <a:prstGeom prst="rect">
                <a:avLst/>
              </a:prstGeom>
              <a:blipFill>
                <a:blip r:embed="rId13"/>
                <a:stretch>
                  <a:fillRect/>
                </a:stretch>
              </a:blipFill>
              <a:ln w="38100">
                <a:noFill/>
                <a:miter/>
              </a:ln>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0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49" grpId="0"/>
      <p:bldP spid="10" grpId="0"/>
      <p:bldP spid="11" grpId="0"/>
      <p:bldP spid="13" grpId="0"/>
      <p:bldP spid="1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EE6B56-DBAD-4460-85C8-B9D868FF6142}"/>
              </a:ext>
            </a:extLst>
          </p:cNvPr>
          <p:cNvSpPr/>
          <p:nvPr/>
        </p:nvSpPr>
        <p:spPr>
          <a:xfrm>
            <a:off x="2033938" y="2533285"/>
            <a:ext cx="7981672" cy="584775"/>
          </a:xfrm>
          <a:prstGeom prst="rect">
            <a:avLst/>
          </a:prstGeom>
        </p:spPr>
        <p:txBody>
          <a:bodyPr wrap="none">
            <a:spAutoFit/>
          </a:bodyPr>
          <a:lstStyle/>
          <a:p>
            <a:r>
              <a:rPr lang="zh-CN" altLang="en-US" sz="3200" kern="0" dirty="0">
                <a:solidFill>
                  <a:srgbClr val="000000"/>
                </a:solidFill>
                <a:latin typeface="Times New Roman" panose="02020603050405020304" pitchFamily="18" charset="0"/>
                <a:ea typeface="+mj-ea"/>
                <a:cs typeface="Times New Roman" panose="02020603050405020304" pitchFamily="18" charset="0"/>
              </a:rPr>
              <a:t>作业 ：习题</a:t>
            </a:r>
            <a:r>
              <a:rPr lang="en-US" altLang="zh-CN" sz="3200" kern="0" dirty="0">
                <a:solidFill>
                  <a:srgbClr val="000000"/>
                </a:solidFill>
                <a:latin typeface="Times New Roman" panose="02020603050405020304" pitchFamily="18" charset="0"/>
                <a:ea typeface="+mj-ea"/>
                <a:cs typeface="Times New Roman" panose="02020603050405020304" pitchFamily="18" charset="0"/>
              </a:rPr>
              <a:t>10.1</a:t>
            </a:r>
            <a:r>
              <a:rPr lang="zh-CN" altLang="en-US" sz="3200" kern="0" dirty="0">
                <a:solidFill>
                  <a:srgbClr val="000000"/>
                </a:solidFill>
                <a:latin typeface="Times New Roman" panose="02020603050405020304" pitchFamily="18" charset="0"/>
                <a:ea typeface="+mj-ea"/>
                <a:cs typeface="Times New Roman" panose="02020603050405020304" pitchFamily="18" charset="0"/>
              </a:rPr>
              <a:t>，</a:t>
            </a:r>
            <a:r>
              <a:rPr lang="en-US" altLang="zh-CN" sz="3200" kern="0" dirty="0">
                <a:solidFill>
                  <a:srgbClr val="000000"/>
                </a:solidFill>
                <a:latin typeface="Times New Roman" panose="02020603050405020304" pitchFamily="18" charset="0"/>
                <a:ea typeface="+mj-ea"/>
                <a:cs typeface="Times New Roman" panose="02020603050405020304" pitchFamily="18" charset="0"/>
              </a:rPr>
              <a:t>10.8</a:t>
            </a:r>
            <a:r>
              <a:rPr lang="zh-CN" altLang="en-US" sz="3200" kern="0" dirty="0">
                <a:solidFill>
                  <a:srgbClr val="000000"/>
                </a:solidFill>
                <a:latin typeface="Times New Roman" panose="02020603050405020304" pitchFamily="18" charset="0"/>
                <a:ea typeface="+mj-ea"/>
                <a:cs typeface="Times New Roman" panose="02020603050405020304" pitchFamily="18" charset="0"/>
              </a:rPr>
              <a:t>，</a:t>
            </a:r>
            <a:r>
              <a:rPr lang="en-US" altLang="zh-CN" sz="3200" kern="0" dirty="0">
                <a:solidFill>
                  <a:srgbClr val="000000"/>
                </a:solidFill>
                <a:latin typeface="Times New Roman" panose="02020603050405020304" pitchFamily="18" charset="0"/>
                <a:ea typeface="+mj-ea"/>
                <a:cs typeface="Times New Roman" panose="02020603050405020304" pitchFamily="18" charset="0"/>
              </a:rPr>
              <a:t>10.9</a:t>
            </a:r>
            <a:r>
              <a:rPr lang="zh-CN" altLang="en-US" sz="3200" kern="0" dirty="0">
                <a:solidFill>
                  <a:srgbClr val="000000"/>
                </a:solidFill>
                <a:latin typeface="Times New Roman" panose="02020603050405020304" pitchFamily="18" charset="0"/>
                <a:ea typeface="+mj-ea"/>
                <a:cs typeface="Times New Roman" panose="02020603050405020304" pitchFamily="18" charset="0"/>
              </a:rPr>
              <a:t>，</a:t>
            </a:r>
            <a:r>
              <a:rPr lang="en-US" altLang="zh-CN" sz="3200" kern="0" dirty="0">
                <a:solidFill>
                  <a:srgbClr val="000000"/>
                </a:solidFill>
                <a:latin typeface="Times New Roman" panose="02020603050405020304" pitchFamily="18" charset="0"/>
                <a:ea typeface="+mj-ea"/>
                <a:cs typeface="Times New Roman" panose="02020603050405020304" pitchFamily="18" charset="0"/>
              </a:rPr>
              <a:t>10.16</a:t>
            </a:r>
            <a:r>
              <a:rPr lang="zh-CN" altLang="en-US" sz="3200" kern="0" dirty="0">
                <a:solidFill>
                  <a:srgbClr val="000000"/>
                </a:solidFill>
                <a:latin typeface="Times New Roman" panose="02020603050405020304" pitchFamily="18" charset="0"/>
                <a:ea typeface="+mj-ea"/>
                <a:cs typeface="Times New Roman" panose="02020603050405020304" pitchFamily="18" charset="0"/>
              </a:rPr>
              <a:t>，</a:t>
            </a:r>
            <a:r>
              <a:rPr lang="en-US" altLang="zh-CN" sz="3200" kern="0" dirty="0">
                <a:solidFill>
                  <a:srgbClr val="000000"/>
                </a:solidFill>
                <a:latin typeface="Times New Roman" panose="02020603050405020304" pitchFamily="18" charset="0"/>
                <a:ea typeface="+mj-ea"/>
                <a:cs typeface="Times New Roman" panose="02020603050405020304" pitchFamily="18" charset="0"/>
              </a:rPr>
              <a:t>10.19</a:t>
            </a:r>
            <a:endParaRPr lang="en-US" sz="3200" kern="100" dirty="0">
              <a:effectLst/>
              <a:latin typeface="Times New Roman" panose="02020603050405020304" pitchFamily="18" charset="0"/>
              <a:ea typeface="+mj-ea"/>
              <a:cs typeface="Times New Roman" panose="02020603050405020304" pitchFamily="18" charset="0"/>
            </a:endParaRPr>
          </a:p>
        </p:txBody>
      </p:sp>
      <p:sp>
        <p:nvSpPr>
          <p:cNvPr id="3" name="矩形 2">
            <a:extLst>
              <a:ext uri="{FF2B5EF4-FFF2-40B4-BE49-F238E27FC236}">
                <a16:creationId xmlns:a16="http://schemas.microsoft.com/office/drawing/2014/main" id="{557FC185-3475-403F-A50E-0427321BF6DE}"/>
              </a:ext>
            </a:extLst>
          </p:cNvPr>
          <p:cNvSpPr/>
          <p:nvPr/>
        </p:nvSpPr>
        <p:spPr>
          <a:xfrm>
            <a:off x="2908582" y="3739940"/>
            <a:ext cx="5724644" cy="584775"/>
          </a:xfrm>
          <a:prstGeom prst="rect">
            <a:avLst/>
          </a:prstGeom>
        </p:spPr>
        <p:txBody>
          <a:bodyPr wrap="none">
            <a:spAutoFit/>
          </a:bodyPr>
          <a:lstStyle/>
          <a:p>
            <a:r>
              <a:rPr lang="zh-CN" altLang="en-US" sz="3200" kern="0" dirty="0">
                <a:solidFill>
                  <a:srgbClr val="000000"/>
                </a:solidFill>
                <a:latin typeface="Times New Roman" panose="02020603050405020304" pitchFamily="18" charset="0"/>
                <a:ea typeface="+mj-ea"/>
                <a:cs typeface="Times New Roman" panose="02020603050405020304" pitchFamily="18" charset="0"/>
              </a:rPr>
              <a:t>截止时间：</a:t>
            </a:r>
            <a:r>
              <a:rPr lang="en-US" altLang="zh-CN" sz="3200" kern="0" dirty="0">
                <a:solidFill>
                  <a:srgbClr val="000000"/>
                </a:solidFill>
                <a:latin typeface="Times New Roman" panose="02020603050405020304" pitchFamily="18" charset="0"/>
                <a:ea typeface="+mj-ea"/>
                <a:cs typeface="Times New Roman" panose="02020603050405020304" pitchFamily="18" charset="0"/>
              </a:rPr>
              <a:t>3</a:t>
            </a:r>
            <a:r>
              <a:rPr lang="zh-CN" altLang="en-US" sz="3200" kern="0" dirty="0">
                <a:solidFill>
                  <a:srgbClr val="000000"/>
                </a:solidFill>
                <a:latin typeface="Times New Roman" panose="02020603050405020304" pitchFamily="18" charset="0"/>
                <a:ea typeface="+mj-ea"/>
                <a:cs typeface="Times New Roman" panose="02020603050405020304" pitchFamily="18" charset="0"/>
              </a:rPr>
              <a:t>月</a:t>
            </a:r>
            <a:r>
              <a:rPr lang="en-US" altLang="zh-CN" sz="3200" kern="0" dirty="0">
                <a:solidFill>
                  <a:srgbClr val="000000"/>
                </a:solidFill>
                <a:latin typeface="Times New Roman" panose="02020603050405020304" pitchFamily="18" charset="0"/>
                <a:ea typeface="+mj-ea"/>
                <a:cs typeface="Times New Roman" panose="02020603050405020304" pitchFamily="18" charset="0"/>
              </a:rPr>
              <a:t>7</a:t>
            </a:r>
            <a:r>
              <a:rPr lang="zh-CN" altLang="en-US" sz="3200" kern="0" dirty="0">
                <a:solidFill>
                  <a:srgbClr val="000000"/>
                </a:solidFill>
                <a:latin typeface="Times New Roman" panose="02020603050405020304" pitchFamily="18" charset="0"/>
                <a:ea typeface="+mj-ea"/>
                <a:cs typeface="Times New Roman" panose="02020603050405020304" pitchFamily="18" charset="0"/>
              </a:rPr>
              <a:t>日上午</a:t>
            </a:r>
            <a:r>
              <a:rPr lang="en-US" altLang="zh-CN" sz="3200" kern="0" dirty="0">
                <a:solidFill>
                  <a:srgbClr val="000000"/>
                </a:solidFill>
                <a:latin typeface="Times New Roman" panose="02020603050405020304" pitchFamily="18" charset="0"/>
                <a:ea typeface="+mj-ea"/>
                <a:cs typeface="Times New Roman" panose="02020603050405020304" pitchFamily="18" charset="0"/>
              </a:rPr>
              <a:t>10</a:t>
            </a:r>
            <a:r>
              <a:rPr lang="zh-CN" altLang="en-US" sz="3200" kern="0" dirty="0">
                <a:solidFill>
                  <a:srgbClr val="000000"/>
                </a:solidFill>
                <a:latin typeface="Times New Roman" panose="02020603050405020304" pitchFamily="18" charset="0"/>
                <a:ea typeface="+mj-ea"/>
                <a:cs typeface="Times New Roman" panose="02020603050405020304" pitchFamily="18" charset="0"/>
              </a:rPr>
              <a:t>：</a:t>
            </a:r>
            <a:r>
              <a:rPr lang="en-US" altLang="zh-CN" sz="3200" kern="0" dirty="0">
                <a:solidFill>
                  <a:srgbClr val="000000"/>
                </a:solidFill>
                <a:latin typeface="Times New Roman" panose="02020603050405020304" pitchFamily="18" charset="0"/>
                <a:ea typeface="+mj-ea"/>
                <a:cs typeface="Times New Roman" panose="02020603050405020304" pitchFamily="18" charset="0"/>
              </a:rPr>
              <a:t>10</a:t>
            </a:r>
            <a:endParaRPr lang="en-US" sz="3200" kern="100" dirty="0">
              <a:effectLst/>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232057270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3">
            <a:extLst>
              <a:ext uri="{FF2B5EF4-FFF2-40B4-BE49-F238E27FC236}">
                <a16:creationId xmlns:a16="http://schemas.microsoft.com/office/drawing/2014/main" id="{F390B67F-45AC-DCC0-0496-D1A227E26D45}"/>
              </a:ext>
            </a:extLst>
          </p:cNvPr>
          <p:cNvSpPr>
            <a:spLocks noChangeArrowheads="1"/>
          </p:cNvSpPr>
          <p:nvPr/>
        </p:nvSpPr>
        <p:spPr bwMode="auto">
          <a:xfrm>
            <a:off x="1049220" y="439925"/>
            <a:ext cx="326724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solidFill>
                  <a:srgbClr val="0066FF"/>
                </a:solidFill>
                <a:latin typeface="+mn-lt"/>
                <a:ea typeface="+mn-ea"/>
              </a:rPr>
              <a:t>- </a:t>
            </a:r>
            <a:r>
              <a:rPr lang="zh-CN" altLang="en-US" dirty="0">
                <a:solidFill>
                  <a:srgbClr val="0066FF"/>
                </a:solidFill>
                <a:latin typeface="+mn-lt"/>
                <a:ea typeface="+mn-ea"/>
              </a:rPr>
              <a:t>热力学第零定律：</a:t>
            </a:r>
          </a:p>
        </p:txBody>
      </p:sp>
      <p:sp>
        <p:nvSpPr>
          <p:cNvPr id="3" name="文本框 2">
            <a:extLst>
              <a:ext uri="{FF2B5EF4-FFF2-40B4-BE49-F238E27FC236}">
                <a16:creationId xmlns:a16="http://schemas.microsoft.com/office/drawing/2014/main" id="{A3058E40-0EC5-E10D-F020-23C6A286126A}"/>
              </a:ext>
            </a:extLst>
          </p:cNvPr>
          <p:cNvSpPr txBox="1"/>
          <p:nvPr/>
        </p:nvSpPr>
        <p:spPr>
          <a:xfrm>
            <a:off x="1520475" y="1125725"/>
            <a:ext cx="9414225" cy="954107"/>
          </a:xfrm>
          <a:prstGeom prst="rect">
            <a:avLst/>
          </a:prstGeom>
          <a:noFill/>
        </p:spPr>
        <p:txBody>
          <a:bodyPr wrap="square">
            <a:spAutoFit/>
          </a:bodyPr>
          <a:lstStyle/>
          <a:p>
            <a:r>
              <a:rPr lang="zh-CN" altLang="en-US" sz="2800" i="0" dirty="0">
                <a:solidFill>
                  <a:srgbClr val="202122"/>
                </a:solidFill>
                <a:effectLst/>
              </a:rPr>
              <a:t>若两个热力学系统均与第三个系统处于热平衡状态，此两个系统也必互相处于热平衡。</a:t>
            </a:r>
            <a:endParaRPr lang="zh-CN" altLang="en-US" sz="2800" dirty="0"/>
          </a:p>
        </p:txBody>
      </p:sp>
      <mc:AlternateContent xmlns:mc="http://schemas.openxmlformats.org/markup-compatibility/2006" xmlns:a14="http://schemas.microsoft.com/office/drawing/2010/main">
        <mc:Choice Requires="a14">
          <p:sp>
            <p:nvSpPr>
              <p:cNvPr id="4" name="Text Box 4">
                <a:extLst>
                  <a:ext uri="{FF2B5EF4-FFF2-40B4-BE49-F238E27FC236}">
                    <a16:creationId xmlns:a16="http://schemas.microsoft.com/office/drawing/2014/main" id="{E7521B2D-AEF9-26EA-7047-9C1207F0A899}"/>
                  </a:ext>
                </a:extLst>
              </p:cNvPr>
              <p:cNvSpPr txBox="1"/>
              <p:nvPr/>
            </p:nvSpPr>
            <p:spPr>
              <a:xfrm>
                <a:off x="1520475" y="3479186"/>
                <a:ext cx="9606783" cy="1093633"/>
              </a:xfrm>
              <a:prstGeom prst="rect">
                <a:avLst/>
              </a:prstGeom>
              <a:noFill/>
              <a:ln w="9525">
                <a:noFill/>
              </a:ln>
            </p:spPr>
            <p:txBody>
              <a:bodyPr wrap="square">
                <a:spAutoFit/>
              </a:bodyPr>
              <a:lstStyle/>
              <a:p>
                <a:pPr>
                  <a:lnSpc>
                    <a:spcPct val="120000"/>
                  </a:lnSpc>
                  <a:spcBef>
                    <a:spcPct val="50000"/>
                  </a:spcBef>
                </a:pPr>
                <a:r>
                  <a:rPr lang="zh-CN" altLang="en-US" sz="2800" dirty="0">
                    <a:solidFill>
                      <a:srgbClr val="080808"/>
                    </a:solidFill>
                    <a:latin typeface="Times New Roman" panose="02020603050405020304" pitchFamily="18" charset="0"/>
                  </a:rPr>
                  <a:t>系统</a:t>
                </a:r>
                <a:r>
                  <a:rPr lang="zh-CN" altLang="en-US" sz="2800" dirty="0">
                    <a:latin typeface="Times New Roman" panose="02020603050405020304" pitchFamily="18" charset="0"/>
                  </a:rPr>
                  <a:t>从外界吸收的热量（</a:t>
                </a:r>
                <a:r>
                  <a:rPr lang="en-US" sz="2800" dirty="0">
                    <a:solidFill>
                      <a:srgbClr val="0066FF"/>
                    </a:solidFill>
                  </a:rPr>
                  <a:t> </a:t>
                </a:r>
                <a14:m>
                  <m:oMath xmlns:m="http://schemas.openxmlformats.org/officeDocument/2006/math">
                    <m:r>
                      <a:rPr lang="en-US" sz="2800" i="1">
                        <a:solidFill>
                          <a:srgbClr val="0066FF"/>
                        </a:solidFill>
                        <a:latin typeface="Cambria Math" panose="02040503050406030204" pitchFamily="18" charset="0"/>
                      </a:rPr>
                      <m:t>𝑄</m:t>
                    </m:r>
                    <m:r>
                      <a:rPr lang="en-US" sz="2800" i="1">
                        <a:solidFill>
                          <a:srgbClr val="0066FF"/>
                        </a:solidFill>
                        <a:latin typeface="Cambria Math" panose="02040503050406030204" pitchFamily="18" charset="0"/>
                      </a:rPr>
                      <m:t> </m:t>
                    </m:r>
                  </m:oMath>
                </a14:m>
                <a:r>
                  <a:rPr lang="zh-CN" altLang="en-US" sz="2800" dirty="0">
                    <a:latin typeface="Times New Roman" panose="02020603050405020304" pitchFamily="18" charset="0"/>
                  </a:rPr>
                  <a:t>），一部分使系统的内能增加（</a:t>
                </a:r>
                <a:r>
                  <a:rPr lang="en-US" sz="2800" dirty="0">
                    <a:solidFill>
                      <a:srgbClr val="0066FF"/>
                    </a:solidFill>
                  </a:rPr>
                  <a:t> </a:t>
                </a:r>
                <a14:m>
                  <m:oMath xmlns:m="http://schemas.openxmlformats.org/officeDocument/2006/math">
                    <m:r>
                      <a:rPr lang="en-US" sz="2800" i="1">
                        <a:solidFill>
                          <a:srgbClr val="0066FF"/>
                        </a:solidFill>
                        <a:latin typeface="Cambria Math" panose="02040503050406030204" pitchFamily="18" charset="0"/>
                      </a:rPr>
                      <m:t>𝛥</m:t>
                    </m:r>
                    <m:r>
                      <a:rPr lang="en-US" sz="2800" i="1">
                        <a:solidFill>
                          <a:srgbClr val="0066FF"/>
                        </a:solidFill>
                        <a:latin typeface="Cambria Math" panose="02040503050406030204" pitchFamily="18" charset="0"/>
                      </a:rPr>
                      <m:t>𝐸</m:t>
                    </m:r>
                    <m:r>
                      <a:rPr lang="en-US" sz="2800" i="1">
                        <a:solidFill>
                          <a:srgbClr val="0066FF"/>
                        </a:solidFill>
                        <a:latin typeface="Cambria Math" panose="02040503050406030204" pitchFamily="18" charset="0"/>
                      </a:rPr>
                      <m:t> </m:t>
                    </m:r>
                  </m:oMath>
                </a14:m>
                <a:r>
                  <a:rPr lang="zh-CN" altLang="en-US" sz="2800" dirty="0">
                    <a:latin typeface="Times New Roman" panose="02020603050405020304" pitchFamily="18" charset="0"/>
                  </a:rPr>
                  <a:t>），另一部分使系统对外界做功（</a:t>
                </a:r>
                <a:r>
                  <a:rPr lang="en-US" sz="2800" dirty="0">
                    <a:solidFill>
                      <a:srgbClr val="0066FF"/>
                    </a:solidFill>
                  </a:rPr>
                  <a:t> </a:t>
                </a:r>
                <a14:m>
                  <m:oMath xmlns:m="http://schemas.openxmlformats.org/officeDocument/2006/math">
                    <m:r>
                      <a:rPr lang="en-US" sz="2800" i="1">
                        <a:solidFill>
                          <a:srgbClr val="0066FF"/>
                        </a:solidFill>
                        <a:latin typeface="Cambria Math" panose="02040503050406030204" pitchFamily="18" charset="0"/>
                      </a:rPr>
                      <m:t>𝐴</m:t>
                    </m:r>
                    <m:r>
                      <a:rPr lang="en-US" sz="2800" i="1">
                        <a:solidFill>
                          <a:srgbClr val="0066FF"/>
                        </a:solidFill>
                        <a:latin typeface="Cambria Math" panose="02040503050406030204" pitchFamily="18" charset="0"/>
                      </a:rPr>
                      <m:t> </m:t>
                    </m:r>
                  </m:oMath>
                </a14:m>
                <a:r>
                  <a:rPr lang="zh-CN" altLang="en-US" sz="2800" dirty="0">
                    <a:latin typeface="Times New Roman" panose="02020603050405020304" pitchFamily="18" charset="0"/>
                  </a:rPr>
                  <a:t>）</a:t>
                </a:r>
                <a:endParaRPr lang="en-US" altLang="zh-CN" sz="2800" dirty="0">
                  <a:solidFill>
                    <a:srgbClr val="CC0000"/>
                  </a:solidFill>
                  <a:latin typeface="Times New Roman" panose="02020603050405020304" pitchFamily="18" charset="0"/>
                </a:endParaRPr>
              </a:p>
            </p:txBody>
          </p:sp>
        </mc:Choice>
        <mc:Fallback xmlns="">
          <p:sp>
            <p:nvSpPr>
              <p:cNvPr id="4" name="Text Box 4">
                <a:extLst>
                  <a:ext uri="{FF2B5EF4-FFF2-40B4-BE49-F238E27FC236}">
                    <a16:creationId xmlns:a16="http://schemas.microsoft.com/office/drawing/2014/main" id="{E7521B2D-AEF9-26EA-7047-9C1207F0A899}"/>
                  </a:ext>
                </a:extLst>
              </p:cNvPr>
              <p:cNvSpPr txBox="1">
                <a:spLocks noRot="1" noChangeAspect="1" noMove="1" noResize="1" noEditPoints="1" noAdjustHandles="1" noChangeArrowheads="1" noChangeShapeType="1" noTextEdit="1"/>
              </p:cNvSpPr>
              <p:nvPr/>
            </p:nvSpPr>
            <p:spPr>
              <a:xfrm>
                <a:off x="1520475" y="3479186"/>
                <a:ext cx="9606783" cy="1093633"/>
              </a:xfrm>
              <a:prstGeom prst="rect">
                <a:avLst/>
              </a:prstGeom>
              <a:blipFill>
                <a:blip r:embed="rId2"/>
                <a:stretch>
                  <a:fillRect l="-1269" t="-1117" b="-15084"/>
                </a:stretch>
              </a:blipFill>
              <a:ln w="9525">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Object 24">
                <a:extLst>
                  <a:ext uri="{FF2B5EF4-FFF2-40B4-BE49-F238E27FC236}">
                    <a16:creationId xmlns:a16="http://schemas.microsoft.com/office/drawing/2014/main" id="{A960021C-34FF-17C7-9C7D-99C834891BAA}"/>
                  </a:ext>
                </a:extLst>
              </p:cNvPr>
              <p:cNvSpPr txBox="1"/>
              <p:nvPr/>
            </p:nvSpPr>
            <p:spPr>
              <a:xfrm>
                <a:off x="3100377" y="2862045"/>
                <a:ext cx="4125157" cy="77914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66FF"/>
                          </a:solidFill>
                          <a:latin typeface="Cambria Math" panose="02040503050406030204" pitchFamily="18" charset="0"/>
                        </a:rPr>
                        <m:t>𝑄</m:t>
                      </m:r>
                      <m:r>
                        <a:rPr lang="en-US" sz="2800" b="0" i="1" smtClean="0">
                          <a:solidFill>
                            <a:srgbClr val="0066FF"/>
                          </a:solidFill>
                          <a:latin typeface="Cambria Math" panose="02040503050406030204" pitchFamily="18" charset="0"/>
                        </a:rPr>
                        <m:t>=</m:t>
                      </m:r>
                      <m:r>
                        <a:rPr lang="en-US" sz="2800" b="0" i="1">
                          <a:solidFill>
                            <a:srgbClr val="0066FF"/>
                          </a:solidFill>
                          <a:latin typeface="Cambria Math" panose="02040503050406030204" pitchFamily="18" charset="0"/>
                        </a:rPr>
                        <m:t>𝛥</m:t>
                      </m:r>
                      <m:r>
                        <a:rPr lang="en-US" sz="2800" b="0" i="1">
                          <a:solidFill>
                            <a:srgbClr val="0066FF"/>
                          </a:solidFill>
                          <a:latin typeface="Cambria Math" panose="02040503050406030204" pitchFamily="18" charset="0"/>
                        </a:rPr>
                        <m:t>𝐸</m:t>
                      </m:r>
                      <m:r>
                        <a:rPr lang="en-US" sz="2800" b="0" i="1">
                          <a:solidFill>
                            <a:srgbClr val="0066FF"/>
                          </a:solidFill>
                          <a:latin typeface="Cambria Math" panose="02040503050406030204" pitchFamily="18" charset="0"/>
                        </a:rPr>
                        <m:t>+</m:t>
                      </m:r>
                      <m:r>
                        <a:rPr lang="en-US" sz="2800" b="0" i="1">
                          <a:solidFill>
                            <a:srgbClr val="0066FF"/>
                          </a:solidFill>
                          <a:latin typeface="Cambria Math" panose="02040503050406030204" pitchFamily="18" charset="0"/>
                        </a:rPr>
                        <m:t>𝐴</m:t>
                      </m:r>
                    </m:oMath>
                  </m:oMathPara>
                </a14:m>
                <a:endParaRPr lang="en-US" sz="2800" dirty="0">
                  <a:solidFill>
                    <a:srgbClr val="0066FF"/>
                  </a:solidFill>
                </a:endParaRPr>
              </a:p>
            </p:txBody>
          </p:sp>
        </mc:Choice>
        <mc:Fallback xmlns="">
          <p:sp>
            <p:nvSpPr>
              <p:cNvPr id="5" name="Object 24">
                <a:extLst>
                  <a:ext uri="{FF2B5EF4-FFF2-40B4-BE49-F238E27FC236}">
                    <a16:creationId xmlns:a16="http://schemas.microsoft.com/office/drawing/2014/main" id="{A960021C-34FF-17C7-9C7D-99C834891BAA}"/>
                  </a:ext>
                </a:extLst>
              </p:cNvPr>
              <p:cNvSpPr txBox="1">
                <a:spLocks noRot="1" noChangeAspect="1" noMove="1" noResize="1" noEditPoints="1" noAdjustHandles="1" noChangeArrowheads="1" noChangeShapeType="1" noTextEdit="1"/>
              </p:cNvSpPr>
              <p:nvPr/>
            </p:nvSpPr>
            <p:spPr>
              <a:xfrm>
                <a:off x="3100377" y="2862045"/>
                <a:ext cx="4125157" cy="779145"/>
              </a:xfrm>
              <a:prstGeom prst="rect">
                <a:avLst/>
              </a:prstGeom>
              <a:blipFill>
                <a:blip r:embed="rId3"/>
                <a:stretch>
                  <a:fillRect/>
                </a:stretch>
              </a:blipFill>
              <a:ln w="38100">
                <a:noFill/>
                <a:miter/>
              </a:ln>
            </p:spPr>
            <p:txBody>
              <a:bodyPr/>
              <a:lstStyle/>
              <a:p>
                <a:r>
                  <a:rPr lang="zh-CN" altLang="en-US">
                    <a:noFill/>
                  </a:rPr>
                  <a:t> </a:t>
                </a:r>
              </a:p>
            </p:txBody>
          </p:sp>
        </mc:Fallback>
      </mc:AlternateContent>
      <p:sp>
        <p:nvSpPr>
          <p:cNvPr id="6" name="Text Box 13">
            <a:hlinkClick r:id="" action="ppaction://noaction"/>
            <a:extLst>
              <a:ext uri="{FF2B5EF4-FFF2-40B4-BE49-F238E27FC236}">
                <a16:creationId xmlns:a16="http://schemas.microsoft.com/office/drawing/2014/main" id="{5C14C8D2-AAA7-0464-B76A-231C15162FCE}"/>
              </a:ext>
            </a:extLst>
          </p:cNvPr>
          <p:cNvSpPr txBox="1">
            <a:spLocks noChangeArrowheads="1"/>
          </p:cNvSpPr>
          <p:nvPr/>
        </p:nvSpPr>
        <p:spPr bwMode="auto">
          <a:xfrm>
            <a:off x="1119070" y="2862045"/>
            <a:ext cx="48695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lvl="0" eaLnBrk="1" hangingPunct="1">
              <a:defRPr/>
            </a:pPr>
            <a:r>
              <a:rPr kumimoji="1" lang="en-US" altLang="zh-CN" sz="2800" dirty="0">
                <a:solidFill>
                  <a:srgbClr val="0066FF"/>
                </a:solidFill>
                <a:latin typeface="+mn-lt"/>
                <a:ea typeface="+mn-ea"/>
                <a:cs typeface="Times New Roman" panose="02020603050405020304" pitchFamily="18" charset="0"/>
              </a:rPr>
              <a:t>- </a:t>
            </a:r>
            <a:r>
              <a:rPr kumimoji="1" lang="zh-CN" altLang="en-US" sz="2800" dirty="0">
                <a:solidFill>
                  <a:srgbClr val="0066FF"/>
                </a:solidFill>
                <a:latin typeface="+mn-lt"/>
                <a:ea typeface="+mn-ea"/>
                <a:cs typeface="Times New Roman" panose="02020603050405020304" pitchFamily="18" charset="0"/>
              </a:rPr>
              <a:t>热力学第一定律</a:t>
            </a:r>
          </a:p>
        </p:txBody>
      </p:sp>
      <p:sp>
        <p:nvSpPr>
          <p:cNvPr id="8" name="文本框 7">
            <a:extLst>
              <a:ext uri="{FF2B5EF4-FFF2-40B4-BE49-F238E27FC236}">
                <a16:creationId xmlns:a16="http://schemas.microsoft.com/office/drawing/2014/main" id="{37391883-1B8D-53BF-A33F-CDE1959A6E6D}"/>
              </a:ext>
            </a:extLst>
          </p:cNvPr>
          <p:cNvSpPr txBox="1"/>
          <p:nvPr/>
        </p:nvSpPr>
        <p:spPr>
          <a:xfrm>
            <a:off x="1520475" y="6224482"/>
            <a:ext cx="7138977" cy="523220"/>
          </a:xfrm>
          <a:prstGeom prst="rect">
            <a:avLst/>
          </a:prstGeom>
          <a:noFill/>
        </p:spPr>
        <p:txBody>
          <a:bodyPr wrap="square">
            <a:spAutoFit/>
          </a:bodyPr>
          <a:lstStyle/>
          <a:p>
            <a:r>
              <a:rPr lang="zh-CN" altLang="en-US" sz="2800" i="0" dirty="0">
                <a:solidFill>
                  <a:srgbClr val="333333"/>
                </a:solidFill>
                <a:effectLst/>
              </a:rPr>
              <a:t>绝对零度（</a:t>
            </a:r>
            <a:r>
              <a:rPr lang="en-US" altLang="zh-CN" sz="2800" i="0" dirty="0">
                <a:solidFill>
                  <a:srgbClr val="333333"/>
                </a:solidFill>
                <a:effectLst/>
              </a:rPr>
              <a:t>T = 0 K </a:t>
            </a:r>
            <a:r>
              <a:rPr lang="zh-CN" altLang="en-US" sz="2800" i="0" dirty="0">
                <a:solidFill>
                  <a:srgbClr val="333333"/>
                </a:solidFill>
                <a:effectLst/>
              </a:rPr>
              <a:t>即</a:t>
            </a:r>
            <a:r>
              <a:rPr lang="en-US" altLang="zh-CN" sz="2800" i="0" dirty="0">
                <a:solidFill>
                  <a:srgbClr val="333333"/>
                </a:solidFill>
                <a:effectLst/>
              </a:rPr>
              <a:t>-273.15℃</a:t>
            </a:r>
            <a:r>
              <a:rPr lang="zh-CN" altLang="en-US" sz="2800" i="0" dirty="0">
                <a:solidFill>
                  <a:srgbClr val="333333"/>
                </a:solidFill>
                <a:effectLst/>
              </a:rPr>
              <a:t>）不可达到</a:t>
            </a:r>
            <a:endParaRPr lang="zh-CN" altLang="en-US" sz="2800" dirty="0"/>
          </a:p>
        </p:txBody>
      </p:sp>
      <p:sp>
        <p:nvSpPr>
          <p:cNvPr id="11" name="文本框 10">
            <a:extLst>
              <a:ext uri="{FF2B5EF4-FFF2-40B4-BE49-F238E27FC236}">
                <a16:creationId xmlns:a16="http://schemas.microsoft.com/office/drawing/2014/main" id="{5916EA15-2ED6-CCA3-724B-25E90B94FDA4}"/>
              </a:ext>
            </a:extLst>
          </p:cNvPr>
          <p:cNvSpPr txBox="1"/>
          <p:nvPr/>
        </p:nvSpPr>
        <p:spPr>
          <a:xfrm>
            <a:off x="1520475" y="2173753"/>
            <a:ext cx="3483326" cy="523220"/>
          </a:xfrm>
          <a:prstGeom prst="rect">
            <a:avLst/>
          </a:prstGeom>
          <a:noFill/>
        </p:spPr>
        <p:txBody>
          <a:bodyPr wrap="square">
            <a:spAutoFit/>
          </a:bodyPr>
          <a:lstStyle/>
          <a:p>
            <a:r>
              <a:rPr lang="en-US" altLang="zh-CN" sz="2800" i="0" dirty="0">
                <a:solidFill>
                  <a:srgbClr val="202122"/>
                </a:solidFill>
                <a:effectLst/>
              </a:rPr>
              <a:t>- </a:t>
            </a:r>
            <a:r>
              <a:rPr lang="zh-CN" altLang="en-US" sz="2800" i="0" dirty="0">
                <a:solidFill>
                  <a:srgbClr val="202122"/>
                </a:solidFill>
                <a:effectLst/>
              </a:rPr>
              <a:t>定义了温度</a:t>
            </a:r>
            <a:endParaRPr lang="zh-CN" altLang="en-US" sz="2800" dirty="0"/>
          </a:p>
        </p:txBody>
      </p:sp>
      <p:sp>
        <p:nvSpPr>
          <p:cNvPr id="12" name="文本框 11">
            <a:extLst>
              <a:ext uri="{FF2B5EF4-FFF2-40B4-BE49-F238E27FC236}">
                <a16:creationId xmlns:a16="http://schemas.microsoft.com/office/drawing/2014/main" id="{1F5EEF36-F219-0F3C-C757-EE185ED93C4F}"/>
              </a:ext>
            </a:extLst>
          </p:cNvPr>
          <p:cNvSpPr txBox="1"/>
          <p:nvPr/>
        </p:nvSpPr>
        <p:spPr>
          <a:xfrm>
            <a:off x="1520475" y="4763171"/>
            <a:ext cx="4823550" cy="523220"/>
          </a:xfrm>
          <a:prstGeom prst="rect">
            <a:avLst/>
          </a:prstGeom>
          <a:noFill/>
        </p:spPr>
        <p:txBody>
          <a:bodyPr wrap="square">
            <a:spAutoFit/>
          </a:bodyPr>
          <a:lstStyle/>
          <a:p>
            <a:r>
              <a:rPr lang="en-US" altLang="zh-CN" sz="2800" i="0" dirty="0">
                <a:solidFill>
                  <a:srgbClr val="202122"/>
                </a:solidFill>
                <a:effectLst/>
              </a:rPr>
              <a:t>- </a:t>
            </a:r>
            <a:r>
              <a:rPr lang="zh-CN" altLang="en-US" sz="2800" i="0" dirty="0">
                <a:solidFill>
                  <a:srgbClr val="202122"/>
                </a:solidFill>
                <a:effectLst/>
              </a:rPr>
              <a:t>能量守恒，能量转换</a:t>
            </a:r>
            <a:endParaRPr lang="zh-CN" altLang="en-US" sz="2800" dirty="0"/>
          </a:p>
        </p:txBody>
      </p:sp>
      <p:sp>
        <p:nvSpPr>
          <p:cNvPr id="13" name="Text Box 13">
            <a:hlinkClick r:id="" action="ppaction://noaction"/>
            <a:extLst>
              <a:ext uri="{FF2B5EF4-FFF2-40B4-BE49-F238E27FC236}">
                <a16:creationId xmlns:a16="http://schemas.microsoft.com/office/drawing/2014/main" id="{ADCBEB27-CE03-08CE-7E83-0ED78339760E}"/>
              </a:ext>
            </a:extLst>
          </p:cNvPr>
          <p:cNvSpPr txBox="1">
            <a:spLocks noChangeArrowheads="1"/>
          </p:cNvSpPr>
          <p:nvPr/>
        </p:nvSpPr>
        <p:spPr bwMode="auto">
          <a:xfrm>
            <a:off x="1226413" y="5560148"/>
            <a:ext cx="48695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lvl="0" eaLnBrk="1" hangingPunct="1">
              <a:defRPr/>
            </a:pPr>
            <a:r>
              <a:rPr kumimoji="1" lang="en-US" altLang="zh-CN" sz="2800" dirty="0">
                <a:solidFill>
                  <a:srgbClr val="0066FF"/>
                </a:solidFill>
                <a:latin typeface="+mn-lt"/>
                <a:ea typeface="+mn-ea"/>
                <a:cs typeface="Times New Roman" panose="02020603050405020304" pitchFamily="18" charset="0"/>
              </a:rPr>
              <a:t>- </a:t>
            </a:r>
            <a:r>
              <a:rPr kumimoji="1" lang="zh-CN" altLang="en-US" sz="2800" dirty="0">
                <a:solidFill>
                  <a:srgbClr val="0066FF"/>
                </a:solidFill>
                <a:latin typeface="+mn-lt"/>
                <a:ea typeface="+mn-ea"/>
                <a:cs typeface="Times New Roman" panose="02020603050405020304" pitchFamily="18" charset="0"/>
              </a:rPr>
              <a:t>热力学第三定律</a:t>
            </a:r>
          </a:p>
        </p:txBody>
      </p:sp>
    </p:spTree>
    <p:extLst>
      <p:ext uri="{BB962C8B-B14F-4D97-AF65-F5344CB8AC3E}">
        <p14:creationId xmlns:p14="http://schemas.microsoft.com/office/powerpoint/2010/main" val="1213628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P spid="2" grpId="1"/>
      <p:bldP spid="3" grpId="0"/>
      <p:bldP spid="4" grpId="0"/>
      <p:bldP spid="5" grpId="0"/>
      <p:bldP spid="6" grpId="0"/>
      <p:bldP spid="8" grpId="0"/>
      <p:bldP spid="11" grpId="0"/>
      <p:bldP spid="12" grpId="0"/>
      <p:bldP spid="1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2">
            <a:extLst>
              <a:ext uri="{FF2B5EF4-FFF2-40B4-BE49-F238E27FC236}">
                <a16:creationId xmlns:a16="http://schemas.microsoft.com/office/drawing/2014/main" id="{511FDD6E-1258-2E7C-8D57-7E7F2F9E3D2F}"/>
              </a:ext>
            </a:extLst>
          </p:cNvPr>
          <p:cNvSpPr/>
          <p:nvPr/>
        </p:nvSpPr>
        <p:spPr>
          <a:xfrm>
            <a:off x="6371830" y="2396818"/>
            <a:ext cx="1728787" cy="803275"/>
          </a:xfrm>
          <a:prstGeom prst="ellipse">
            <a:avLst/>
          </a:prstGeom>
          <a:solidFill>
            <a:schemeClr val="accent1"/>
          </a:solidFill>
          <a:ln w="19050" cap="flat" cmpd="sng">
            <a:solidFill>
              <a:srgbClr val="CC6600"/>
            </a:solidFill>
            <a:prstDash val="solid"/>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sp>
        <p:nvSpPr>
          <p:cNvPr id="3" name="Text Box 3">
            <a:extLst>
              <a:ext uri="{FF2B5EF4-FFF2-40B4-BE49-F238E27FC236}">
                <a16:creationId xmlns:a16="http://schemas.microsoft.com/office/drawing/2014/main" id="{2BF724D2-1CDC-9C25-45EB-8950ABFF07C0}"/>
              </a:ext>
            </a:extLst>
          </p:cNvPr>
          <p:cNvSpPr txBox="1"/>
          <p:nvPr/>
        </p:nvSpPr>
        <p:spPr>
          <a:xfrm>
            <a:off x="6644879" y="2541279"/>
            <a:ext cx="1166812" cy="492443"/>
          </a:xfrm>
          <a:prstGeom prst="rect">
            <a:avLst/>
          </a:prstGeom>
          <a:solidFill>
            <a:schemeClr val="accent1"/>
          </a:solidFill>
          <a:ln w="9525">
            <a:noFill/>
          </a:ln>
        </p:spPr>
        <p:txBody>
          <a:bodyPr>
            <a:spAutoFit/>
          </a:bodyPr>
          <a:lstStyle/>
          <a:p>
            <a:pPr>
              <a:spcBef>
                <a:spcPct val="50000"/>
              </a:spcBef>
            </a:pPr>
            <a:r>
              <a:rPr lang="zh-CN" altLang="en-US" sz="2600" dirty="0">
                <a:solidFill>
                  <a:srgbClr val="333333"/>
                </a:solidFill>
                <a:latin typeface="Times New Roman" panose="02020603050405020304" pitchFamily="18" charset="0"/>
              </a:rPr>
              <a:t>热机</a:t>
            </a:r>
          </a:p>
        </p:txBody>
      </p:sp>
      <p:grpSp>
        <p:nvGrpSpPr>
          <p:cNvPr id="4" name="Group 8">
            <a:extLst>
              <a:ext uri="{FF2B5EF4-FFF2-40B4-BE49-F238E27FC236}">
                <a16:creationId xmlns:a16="http://schemas.microsoft.com/office/drawing/2014/main" id="{7E70D150-B823-389E-FFD5-D768FC6A2A7F}"/>
              </a:ext>
            </a:extLst>
          </p:cNvPr>
          <p:cNvGrpSpPr/>
          <p:nvPr/>
        </p:nvGrpSpPr>
        <p:grpSpPr>
          <a:xfrm>
            <a:off x="6367066" y="1276043"/>
            <a:ext cx="2057400" cy="533400"/>
            <a:chOff x="3648" y="864"/>
            <a:chExt cx="1296" cy="336"/>
          </a:xfrm>
        </p:grpSpPr>
        <p:sp>
          <p:nvSpPr>
            <p:cNvPr id="5" name="Rectangle 9">
              <a:extLst>
                <a:ext uri="{FF2B5EF4-FFF2-40B4-BE49-F238E27FC236}">
                  <a16:creationId xmlns:a16="http://schemas.microsoft.com/office/drawing/2014/main" id="{8DABCE11-78BF-271A-A383-981E5A798772}"/>
                </a:ext>
              </a:extLst>
            </p:cNvPr>
            <p:cNvSpPr/>
            <p:nvPr/>
          </p:nvSpPr>
          <p:spPr>
            <a:xfrm>
              <a:off x="3648" y="864"/>
              <a:ext cx="1152" cy="336"/>
            </a:xfrm>
            <a:prstGeom prst="rect">
              <a:avLst/>
            </a:prstGeom>
            <a:solidFill>
              <a:srgbClr val="FDE3F0"/>
            </a:solidFill>
            <a:ln w="19050" cap="flat" cmpd="sng">
              <a:solidFill>
                <a:srgbClr val="CC0099"/>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sp>
          <p:nvSpPr>
            <p:cNvPr id="6" name="Text Box 10">
              <a:extLst>
                <a:ext uri="{FF2B5EF4-FFF2-40B4-BE49-F238E27FC236}">
                  <a16:creationId xmlns:a16="http://schemas.microsoft.com/office/drawing/2014/main" id="{2D64E491-E6D1-100B-D426-EE93D83323FF}"/>
                </a:ext>
              </a:extLst>
            </p:cNvPr>
            <p:cNvSpPr txBox="1"/>
            <p:nvPr/>
          </p:nvSpPr>
          <p:spPr>
            <a:xfrm>
              <a:off x="3696" y="870"/>
              <a:ext cx="1248" cy="310"/>
            </a:xfrm>
            <a:prstGeom prst="rect">
              <a:avLst/>
            </a:prstGeom>
            <a:noFill/>
            <a:ln w="9525">
              <a:noFill/>
            </a:ln>
          </p:spPr>
          <p:txBody>
            <a:bodyPr>
              <a:spAutoFit/>
            </a:bodyPr>
            <a:lstStyle/>
            <a:p>
              <a:pPr>
                <a:spcBef>
                  <a:spcPct val="50000"/>
                </a:spcBef>
              </a:pPr>
              <a:r>
                <a:rPr lang="zh-CN" altLang="en-US" sz="2600" dirty="0">
                  <a:solidFill>
                    <a:srgbClr val="333333"/>
                  </a:solidFill>
                  <a:latin typeface="Times New Roman" panose="02020603050405020304" pitchFamily="18" charset="0"/>
                </a:rPr>
                <a:t>高温热源</a:t>
              </a:r>
              <a:endParaRPr lang="zh-CN" altLang="en-US" sz="2600" dirty="0">
                <a:solidFill>
                  <a:srgbClr val="333333"/>
                </a:solidFill>
                <a:latin typeface="Times New Roman" panose="02020603050405020304" pitchFamily="18" charset="0"/>
                <a:ea typeface="楷体_GB2312" panose="02010609030101010101" pitchFamily="49" charset="-122"/>
              </a:endParaRPr>
            </a:p>
          </p:txBody>
        </p:sp>
      </p:grpSp>
      <p:sp>
        <p:nvSpPr>
          <p:cNvPr id="7" name="Text Box 11">
            <a:extLst>
              <a:ext uri="{FF2B5EF4-FFF2-40B4-BE49-F238E27FC236}">
                <a16:creationId xmlns:a16="http://schemas.microsoft.com/office/drawing/2014/main" id="{FCD097E0-26F3-2734-C76E-D9BBB14CCA7B}"/>
              </a:ext>
            </a:extLst>
          </p:cNvPr>
          <p:cNvSpPr txBox="1"/>
          <p:nvPr/>
        </p:nvSpPr>
        <p:spPr>
          <a:xfrm>
            <a:off x="6290866" y="3638242"/>
            <a:ext cx="1981200" cy="492443"/>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lstStyle/>
          <a:p>
            <a:pPr>
              <a:spcBef>
                <a:spcPct val="50000"/>
              </a:spcBef>
            </a:pPr>
            <a:r>
              <a:rPr lang="zh-CN" altLang="en-US" sz="2600" dirty="0">
                <a:solidFill>
                  <a:srgbClr val="333333"/>
                </a:solidFill>
                <a:latin typeface="Times New Roman" panose="02020603050405020304" pitchFamily="18" charset="0"/>
              </a:rPr>
              <a:t>低温热源</a:t>
            </a:r>
          </a:p>
        </p:txBody>
      </p:sp>
      <p:grpSp>
        <p:nvGrpSpPr>
          <p:cNvPr id="8" name="Group 12">
            <a:extLst>
              <a:ext uri="{FF2B5EF4-FFF2-40B4-BE49-F238E27FC236}">
                <a16:creationId xmlns:a16="http://schemas.microsoft.com/office/drawing/2014/main" id="{E1B3507D-F857-D178-0612-86075D9596DC}"/>
              </a:ext>
            </a:extLst>
          </p:cNvPr>
          <p:cNvGrpSpPr/>
          <p:nvPr/>
        </p:nvGrpSpPr>
        <p:grpSpPr>
          <a:xfrm>
            <a:off x="7052866" y="1790392"/>
            <a:ext cx="819150" cy="838200"/>
            <a:chOff x="4080" y="1152"/>
            <a:chExt cx="516" cy="528"/>
          </a:xfrm>
        </p:grpSpPr>
        <p:sp>
          <p:nvSpPr>
            <p:cNvPr id="9" name="AutoShape 13">
              <a:extLst>
                <a:ext uri="{FF2B5EF4-FFF2-40B4-BE49-F238E27FC236}">
                  <a16:creationId xmlns:a16="http://schemas.microsoft.com/office/drawing/2014/main" id="{CCBCF216-F1D5-A12B-1FFF-6EC5BEB2B40B}"/>
                </a:ext>
              </a:extLst>
            </p:cNvPr>
            <p:cNvSpPr/>
            <p:nvPr/>
          </p:nvSpPr>
          <p:spPr>
            <a:xfrm>
              <a:off x="4080" y="1152"/>
              <a:ext cx="144" cy="528"/>
            </a:xfrm>
            <a:prstGeom prst="downArrow">
              <a:avLst>
                <a:gd name="adj1" fmla="val 40000"/>
                <a:gd name="adj2" fmla="val 146921"/>
              </a:avLst>
            </a:prstGeom>
            <a:solidFill>
              <a:srgbClr val="FFCCCC"/>
            </a:solidFill>
            <a:ln w="19050" cap="flat" cmpd="sng">
              <a:solidFill>
                <a:srgbClr val="FF0000"/>
              </a:solidFill>
              <a:prstDash val="solid"/>
              <a:miter/>
              <a:headEnd type="none" w="med" len="med"/>
              <a:tailEnd type="none" w="med" len="med"/>
            </a:ln>
          </p:spPr>
          <p:txBody>
            <a:bodyPr vert="eaVert" wrap="none" anchor="ctr" anchorCtr="0"/>
            <a:lstStyle/>
            <a:p>
              <a:endParaRPr lang="zh-CN" altLang="en-US" sz="2600"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10" name="Object 14">
                  <a:extLst>
                    <a:ext uri="{FF2B5EF4-FFF2-40B4-BE49-F238E27FC236}">
                      <a16:creationId xmlns:a16="http://schemas.microsoft.com/office/drawing/2014/main" id="{B1BB5F11-3F42-1140-AA72-D2DAC6693B2D}"/>
                    </a:ext>
                  </a:extLst>
                </p:cNvPr>
                <p:cNvSpPr txBox="1"/>
                <p:nvPr/>
              </p:nvSpPr>
              <p:spPr>
                <a:xfrm>
                  <a:off x="4224" y="1152"/>
                  <a:ext cx="372" cy="436"/>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𝑄</m:t>
                            </m:r>
                          </m:e>
                          <m:sub>
                            <m:r>
                              <a:rPr lang="zh-CN" altLang="en-US" sz="2600" i="1">
                                <a:solidFill>
                                  <a:srgbClr val="000000"/>
                                </a:solidFill>
                                <a:latin typeface="Cambria Math" panose="02040503050406030204" pitchFamily="18" charset="0"/>
                              </a:rPr>
                              <m:t>1</m:t>
                            </m:r>
                          </m:sub>
                        </m:sSub>
                      </m:oMath>
                    </m:oMathPara>
                  </a14:m>
                  <a:endParaRPr lang="zh-CN" altLang="en-US" sz="2600"/>
                </a:p>
              </p:txBody>
            </p:sp>
          </mc:Choice>
          <mc:Fallback xmlns="">
            <p:sp>
              <p:nvSpPr>
                <p:cNvPr id="6159" name="Object 14"/>
                <p:cNvSpPr txBox="1">
                  <a:spLocks noRot="1" noChangeAspect="1" noMove="1" noResize="1" noEditPoints="1" noAdjustHandles="1" noChangeArrowheads="1" noChangeShapeType="1" noTextEdit="1"/>
                </p:cNvSpPr>
                <p:nvPr/>
              </p:nvSpPr>
              <p:spPr>
                <a:xfrm>
                  <a:off x="4224" y="1152"/>
                  <a:ext cx="372" cy="436"/>
                </a:xfrm>
                <a:prstGeom prst="rect">
                  <a:avLst/>
                </a:prstGeom>
                <a:blipFill>
                  <a:blip r:embed="rId3"/>
                  <a:stretch>
                    <a:fillRect/>
                  </a:stretch>
                </a:blipFill>
                <a:ln w="38100">
                  <a:noFill/>
                  <a:miter/>
                </a:ln>
              </p:spPr>
              <p:txBody>
                <a:bodyPr/>
                <a:lstStyle/>
                <a:p>
                  <a:r>
                    <a:rPr lang="zh-CN" altLang="en-US">
                      <a:noFill/>
                    </a:rPr>
                    <a:t> </a:t>
                  </a:r>
                </a:p>
              </p:txBody>
            </p:sp>
          </mc:Fallback>
        </mc:AlternateContent>
      </p:grpSp>
      <p:grpSp>
        <p:nvGrpSpPr>
          <p:cNvPr id="11" name="Group 15">
            <a:extLst>
              <a:ext uri="{FF2B5EF4-FFF2-40B4-BE49-F238E27FC236}">
                <a16:creationId xmlns:a16="http://schemas.microsoft.com/office/drawing/2014/main" id="{5C8A4CA9-68D3-05BD-51E6-3D2C1235336C}"/>
              </a:ext>
            </a:extLst>
          </p:cNvPr>
          <p:cNvGrpSpPr/>
          <p:nvPr/>
        </p:nvGrpSpPr>
        <p:grpSpPr>
          <a:xfrm>
            <a:off x="7086213" y="3028644"/>
            <a:ext cx="841376" cy="804863"/>
            <a:chOff x="4101" y="1968"/>
            <a:chExt cx="530" cy="507"/>
          </a:xfrm>
        </p:grpSpPr>
        <p:sp>
          <p:nvSpPr>
            <p:cNvPr id="12" name="AutoShape 16">
              <a:extLst>
                <a:ext uri="{FF2B5EF4-FFF2-40B4-BE49-F238E27FC236}">
                  <a16:creationId xmlns:a16="http://schemas.microsoft.com/office/drawing/2014/main" id="{389C0892-9626-969C-8236-7F43302B61F2}"/>
                </a:ext>
              </a:extLst>
            </p:cNvPr>
            <p:cNvSpPr/>
            <p:nvPr/>
          </p:nvSpPr>
          <p:spPr>
            <a:xfrm>
              <a:off x="4101" y="1968"/>
              <a:ext cx="144" cy="480"/>
            </a:xfrm>
            <a:prstGeom prst="downArrow">
              <a:avLst>
                <a:gd name="adj1" fmla="val 35416"/>
                <a:gd name="adj2" fmla="val 138888"/>
              </a:avLst>
            </a:prstGeom>
            <a:solidFill>
              <a:srgbClr val="CCECFF"/>
            </a:solidFill>
            <a:ln w="19050" cap="flat" cmpd="sng">
              <a:solidFill>
                <a:srgbClr val="0000FF"/>
              </a:solidFill>
              <a:prstDash val="solid"/>
              <a:miter/>
              <a:headEnd type="none" w="med" len="med"/>
              <a:tailEnd type="none" w="med" len="med"/>
            </a:ln>
          </p:spPr>
          <p:txBody>
            <a:bodyPr vert="eaVert" wrap="none" anchor="ctr" anchorCtr="0"/>
            <a:lstStyle/>
            <a:p>
              <a:endParaRPr lang="zh-CN" altLang="en-US" sz="2600"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13" name="Object 17">
                  <a:extLst>
                    <a:ext uri="{FF2B5EF4-FFF2-40B4-BE49-F238E27FC236}">
                      <a16:creationId xmlns:a16="http://schemas.microsoft.com/office/drawing/2014/main" id="{56D7C993-B977-BE4F-D1FA-25D229399B1F}"/>
                    </a:ext>
                  </a:extLst>
                </p:cNvPr>
                <p:cNvSpPr txBox="1"/>
                <p:nvPr/>
              </p:nvSpPr>
              <p:spPr>
                <a:xfrm>
                  <a:off x="4259" y="2040"/>
                  <a:ext cx="372" cy="435"/>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𝑄</m:t>
                            </m:r>
                          </m:e>
                          <m:sub>
                            <m:r>
                              <a:rPr lang="zh-CN" altLang="en-US" sz="2600" i="1">
                                <a:solidFill>
                                  <a:srgbClr val="000000"/>
                                </a:solidFill>
                                <a:latin typeface="Cambria Math" panose="02040503050406030204" pitchFamily="18" charset="0"/>
                              </a:rPr>
                              <m:t>2</m:t>
                            </m:r>
                          </m:sub>
                        </m:sSub>
                      </m:oMath>
                    </m:oMathPara>
                  </a14:m>
                  <a:endParaRPr lang="zh-CN" altLang="en-US" sz="2600" dirty="0"/>
                </a:p>
              </p:txBody>
            </p:sp>
          </mc:Choice>
          <mc:Fallback xmlns="">
            <p:sp>
              <p:nvSpPr>
                <p:cNvPr id="6158" name="Object 17"/>
                <p:cNvSpPr txBox="1">
                  <a:spLocks noRot="1" noChangeAspect="1" noMove="1" noResize="1" noEditPoints="1" noAdjustHandles="1" noChangeArrowheads="1" noChangeShapeType="1" noTextEdit="1"/>
                </p:cNvSpPr>
                <p:nvPr/>
              </p:nvSpPr>
              <p:spPr>
                <a:xfrm>
                  <a:off x="4259" y="2040"/>
                  <a:ext cx="372" cy="435"/>
                </a:xfrm>
                <a:prstGeom prst="rect">
                  <a:avLst/>
                </a:prstGeom>
                <a:blipFill>
                  <a:blip r:embed="rId4"/>
                  <a:stretch>
                    <a:fillRect/>
                  </a:stretch>
                </a:blipFill>
                <a:ln w="38100">
                  <a:noFill/>
                  <a:miter/>
                </a:ln>
              </p:spPr>
              <p:txBody>
                <a:bodyPr/>
                <a:lstStyle/>
                <a:p>
                  <a:r>
                    <a:rPr lang="zh-CN" altLang="en-US">
                      <a:noFill/>
                    </a:rPr>
                    <a:t> </a:t>
                  </a:r>
                </a:p>
              </p:txBody>
            </p:sp>
          </mc:Fallback>
        </mc:AlternateContent>
      </p:grpSp>
      <p:grpSp>
        <p:nvGrpSpPr>
          <p:cNvPr id="14" name="Group 18">
            <a:extLst>
              <a:ext uri="{FF2B5EF4-FFF2-40B4-BE49-F238E27FC236}">
                <a16:creationId xmlns:a16="http://schemas.microsoft.com/office/drawing/2014/main" id="{421C8B1E-E47D-85B2-C29C-9C7FA2808F61}"/>
              </a:ext>
            </a:extLst>
          </p:cNvPr>
          <p:cNvGrpSpPr/>
          <p:nvPr/>
        </p:nvGrpSpPr>
        <p:grpSpPr>
          <a:xfrm>
            <a:off x="8142547" y="2463318"/>
            <a:ext cx="1371097" cy="490535"/>
            <a:chOff x="4711" y="1683"/>
            <a:chExt cx="803" cy="223"/>
          </a:xfrm>
        </p:grpSpPr>
        <p:sp>
          <p:nvSpPr>
            <p:cNvPr id="15" name="AutoShape 19">
              <a:extLst>
                <a:ext uri="{FF2B5EF4-FFF2-40B4-BE49-F238E27FC236}">
                  <a16:creationId xmlns:a16="http://schemas.microsoft.com/office/drawing/2014/main" id="{828E69BF-4CBA-5EFB-B39D-B0F26C1A8CB3}"/>
                </a:ext>
              </a:extLst>
            </p:cNvPr>
            <p:cNvSpPr/>
            <p:nvPr/>
          </p:nvSpPr>
          <p:spPr>
            <a:xfrm>
              <a:off x="4711" y="1784"/>
              <a:ext cx="528" cy="102"/>
            </a:xfrm>
            <a:prstGeom prst="rightArrow">
              <a:avLst>
                <a:gd name="adj1" fmla="val 58666"/>
                <a:gd name="adj2" fmla="val 189204"/>
              </a:avLst>
            </a:prstGeom>
            <a:solidFill>
              <a:schemeClr val="accent1"/>
            </a:solidFill>
            <a:ln w="19050" cap="flat" cmpd="sng">
              <a:solidFill>
                <a:srgbClr val="CC6600"/>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16" name="Object 20">
                  <a:extLst>
                    <a:ext uri="{FF2B5EF4-FFF2-40B4-BE49-F238E27FC236}">
                      <a16:creationId xmlns:a16="http://schemas.microsoft.com/office/drawing/2014/main" id="{CF7FAD1F-0A36-57C0-F050-048E3448F042}"/>
                    </a:ext>
                  </a:extLst>
                </p:cNvPr>
                <p:cNvSpPr txBox="1"/>
                <p:nvPr/>
              </p:nvSpPr>
              <p:spPr>
                <a:xfrm>
                  <a:off x="5295" y="1683"/>
                  <a:ext cx="219" cy="223"/>
                </a:xfrm>
                <a:prstGeom prst="rect">
                  <a:avLst/>
                </a:prstGeom>
                <a:solidFill>
                  <a:schemeClr val="accent1"/>
                </a:solidFill>
                <a:ln w="9525" cap="flat" cmpd="sng">
                  <a:solidFill>
                    <a:srgbClr val="CC6600"/>
                  </a:solidFill>
                  <a:prstDash val="solid"/>
                  <a:miter/>
                  <a:headEnd type="none" w="med" len="med"/>
                  <a:tailEnd type="none" w="med" len="med"/>
                </a:ln>
              </p:spPr>
              <p:txBody>
                <a:bodyPr>
                  <a:no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𝐴</m:t>
                        </m:r>
                      </m:oMath>
                    </m:oMathPara>
                  </a14:m>
                  <a:endParaRPr lang="zh-CN" altLang="en-US" sz="2600" dirty="0"/>
                </a:p>
              </p:txBody>
            </p:sp>
          </mc:Choice>
          <mc:Fallback xmlns="">
            <p:sp>
              <p:nvSpPr>
                <p:cNvPr id="6157" name="Object 20"/>
                <p:cNvSpPr txBox="1">
                  <a:spLocks noRot="1" noChangeAspect="1" noMove="1" noResize="1" noEditPoints="1" noAdjustHandles="1" noChangeArrowheads="1" noChangeShapeType="1" noTextEdit="1"/>
                </p:cNvSpPr>
                <p:nvPr/>
              </p:nvSpPr>
              <p:spPr>
                <a:xfrm>
                  <a:off x="5295" y="1683"/>
                  <a:ext cx="219" cy="223"/>
                </a:xfrm>
                <a:prstGeom prst="rect">
                  <a:avLst/>
                </a:prstGeom>
                <a:blipFill>
                  <a:blip r:embed="rId5"/>
                  <a:stretch>
                    <a:fillRect/>
                  </a:stretch>
                </a:blipFill>
                <a:ln w="9525" cap="flat" cmpd="sng">
                  <a:solidFill>
                    <a:srgbClr val="CC6600"/>
                  </a:solidFill>
                  <a:prstDash val="solid"/>
                  <a:miter/>
                  <a:headEnd type="none" w="med" len="med"/>
                  <a:tailEnd type="none" w="med" len="med"/>
                </a:ln>
              </p:spPr>
              <p:txBody>
                <a:bodyPr/>
                <a:lstStyle/>
                <a:p>
                  <a:r>
                    <a:rPr lang="en-US">
                      <a:noFill/>
                    </a:rPr>
                    <a:t> </a:t>
                  </a:r>
                </a:p>
              </p:txBody>
            </p:sp>
          </mc:Fallback>
        </mc:AlternateContent>
      </p:grpSp>
      <p:grpSp>
        <p:nvGrpSpPr>
          <p:cNvPr id="17" name="组合 16">
            <a:extLst>
              <a:ext uri="{FF2B5EF4-FFF2-40B4-BE49-F238E27FC236}">
                <a16:creationId xmlns:a16="http://schemas.microsoft.com/office/drawing/2014/main" id="{B5D4B1F7-FB18-E6BB-70A8-87B8412D856D}"/>
              </a:ext>
            </a:extLst>
          </p:cNvPr>
          <p:cNvGrpSpPr/>
          <p:nvPr/>
        </p:nvGrpSpPr>
        <p:grpSpPr>
          <a:xfrm>
            <a:off x="2168682" y="1261081"/>
            <a:ext cx="3423935" cy="3174868"/>
            <a:chOff x="4890180" y="1338019"/>
            <a:chExt cx="3282364" cy="3039795"/>
          </a:xfrm>
        </p:grpSpPr>
        <p:pic>
          <p:nvPicPr>
            <p:cNvPr id="18" name="Picture 25">
              <a:hlinkClick r:id="rId6" action="ppaction://hlinkfile"/>
              <a:extLst>
                <a:ext uri="{FF2B5EF4-FFF2-40B4-BE49-F238E27FC236}">
                  <a16:creationId xmlns:a16="http://schemas.microsoft.com/office/drawing/2014/main" id="{15B33C50-91EF-1EAA-E072-52DF11B2D13E}"/>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9204" t="16136" r="27871" b="8509"/>
            <a:stretch/>
          </p:blipFill>
          <p:spPr bwMode="auto">
            <a:xfrm>
              <a:off x="4890180" y="1338019"/>
              <a:ext cx="3277421" cy="3039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9" name="Picture 25">
              <a:hlinkClick r:id="rId6" action="ppaction://hlinkfile"/>
              <a:extLst>
                <a:ext uri="{FF2B5EF4-FFF2-40B4-BE49-F238E27FC236}">
                  <a16:creationId xmlns:a16="http://schemas.microsoft.com/office/drawing/2014/main" id="{B62AE037-0296-E170-8CEC-3DFFEB33D0FE}"/>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9204" t="66153" r="86066" b="8509"/>
            <a:stretch/>
          </p:blipFill>
          <p:spPr bwMode="auto">
            <a:xfrm>
              <a:off x="7926214" y="2653108"/>
              <a:ext cx="246330" cy="819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20" name="Picture 25">
              <a:hlinkClick r:id="rId6" action="ppaction://hlinkfile"/>
              <a:extLst>
                <a:ext uri="{FF2B5EF4-FFF2-40B4-BE49-F238E27FC236}">
                  <a16:creationId xmlns:a16="http://schemas.microsoft.com/office/drawing/2014/main" id="{5FEF6F8A-DA27-BC24-5375-7553E63F9089}"/>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9204" t="66153" r="86066" b="8509"/>
            <a:stretch/>
          </p:blipFill>
          <p:spPr bwMode="auto">
            <a:xfrm>
              <a:off x="7921042" y="3531388"/>
              <a:ext cx="246330" cy="819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grpSp>
        <p:nvGrpSpPr>
          <p:cNvPr id="23" name="组合 22">
            <a:extLst>
              <a:ext uri="{FF2B5EF4-FFF2-40B4-BE49-F238E27FC236}">
                <a16:creationId xmlns:a16="http://schemas.microsoft.com/office/drawing/2014/main" id="{6285993E-414A-F526-3AE1-DC6CEF091FD0}"/>
              </a:ext>
            </a:extLst>
          </p:cNvPr>
          <p:cNvGrpSpPr/>
          <p:nvPr/>
        </p:nvGrpSpPr>
        <p:grpSpPr>
          <a:xfrm>
            <a:off x="3987910" y="2935962"/>
            <a:ext cx="1287580" cy="1153438"/>
            <a:chOff x="3232260" y="3386812"/>
            <a:chExt cx="1287580" cy="1044028"/>
          </a:xfrm>
        </p:grpSpPr>
        <p:pic>
          <p:nvPicPr>
            <p:cNvPr id="21" name="Picture 25">
              <a:hlinkClick r:id="rId6" action="ppaction://hlinkfile"/>
              <a:extLst>
                <a:ext uri="{FF2B5EF4-FFF2-40B4-BE49-F238E27FC236}">
                  <a16:creationId xmlns:a16="http://schemas.microsoft.com/office/drawing/2014/main" id="{437F4CF1-6AC9-95A1-6756-C4BF890B89B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9204" t="66153" r="86066" b="8509"/>
            <a:stretch/>
          </p:blipFill>
          <p:spPr bwMode="auto">
            <a:xfrm>
              <a:off x="3232260" y="3386812"/>
              <a:ext cx="564164" cy="856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22" name="Picture 25">
              <a:hlinkClick r:id="rId6" action="ppaction://hlinkfile"/>
              <a:extLst>
                <a:ext uri="{FF2B5EF4-FFF2-40B4-BE49-F238E27FC236}">
                  <a16:creationId xmlns:a16="http://schemas.microsoft.com/office/drawing/2014/main" id="{5C42047D-1151-056C-FD54-AAAE5606A5C7}"/>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9204" t="66153" r="86066" b="8509"/>
            <a:stretch/>
          </p:blipFill>
          <p:spPr bwMode="auto">
            <a:xfrm>
              <a:off x="3955676" y="3574684"/>
              <a:ext cx="564164" cy="856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sp>
        <p:nvSpPr>
          <p:cNvPr id="24" name="文本框 23">
            <a:extLst>
              <a:ext uri="{FF2B5EF4-FFF2-40B4-BE49-F238E27FC236}">
                <a16:creationId xmlns:a16="http://schemas.microsoft.com/office/drawing/2014/main" id="{22611FF0-6EBD-3579-6287-7AC201670726}"/>
              </a:ext>
            </a:extLst>
          </p:cNvPr>
          <p:cNvSpPr txBox="1"/>
          <p:nvPr/>
        </p:nvSpPr>
        <p:spPr>
          <a:xfrm>
            <a:off x="2788002" y="5173263"/>
            <a:ext cx="6340197" cy="584775"/>
          </a:xfrm>
          <a:prstGeom prst="rect">
            <a:avLst/>
          </a:prstGeom>
          <a:noFill/>
        </p:spPr>
        <p:txBody>
          <a:bodyPr wrap="none" rtlCol="0">
            <a:spAutoFit/>
          </a:bodyPr>
          <a:lstStyle/>
          <a:p>
            <a:r>
              <a:rPr lang="zh-CN" altLang="en-US" sz="3200" b="1" dirty="0">
                <a:solidFill>
                  <a:srgbClr val="0066FF"/>
                </a:solidFill>
              </a:rPr>
              <a:t>可以从单一热源吸热对外做功吗？</a:t>
            </a:r>
          </a:p>
        </p:txBody>
      </p:sp>
      <p:sp>
        <p:nvSpPr>
          <p:cNvPr id="26" name="文本框 25">
            <a:extLst>
              <a:ext uri="{FF2B5EF4-FFF2-40B4-BE49-F238E27FC236}">
                <a16:creationId xmlns:a16="http://schemas.microsoft.com/office/drawing/2014/main" id="{40783808-6150-E230-01B7-D416A8DB281B}"/>
              </a:ext>
            </a:extLst>
          </p:cNvPr>
          <p:cNvSpPr txBox="1"/>
          <p:nvPr/>
        </p:nvSpPr>
        <p:spPr>
          <a:xfrm>
            <a:off x="9044090" y="3948142"/>
            <a:ext cx="2526630" cy="523220"/>
          </a:xfrm>
          <a:prstGeom prst="rect">
            <a:avLst/>
          </a:prstGeom>
          <a:noFill/>
        </p:spPr>
        <p:txBody>
          <a:bodyPr wrap="square">
            <a:spAutoFit/>
          </a:bodyPr>
          <a:lstStyle/>
          <a:p>
            <a:r>
              <a:rPr lang="zh-CN" altLang="en-US" sz="2800" b="1" dirty="0">
                <a:solidFill>
                  <a:srgbClr val="000000"/>
                </a:solidFill>
                <a:latin typeface="Times New Roman" panose="02020603050405020304" pitchFamily="18" charset="0"/>
              </a:rPr>
              <a:t>效率</a:t>
            </a:r>
            <a:r>
              <a:rPr lang="en-US" altLang="zh-CN" sz="2800" b="1" dirty="0">
                <a:solidFill>
                  <a:srgbClr val="000000"/>
                </a:solidFill>
                <a:latin typeface="Times New Roman" panose="02020603050405020304" pitchFamily="18" charset="0"/>
              </a:rPr>
              <a:t>100%</a:t>
            </a:r>
            <a:endParaRPr lang="zh-CN" altLang="en-US" sz="2800" b="1" dirty="0"/>
          </a:p>
        </p:txBody>
      </p:sp>
    </p:spTree>
    <p:extLst>
      <p:ext uri="{BB962C8B-B14F-4D97-AF65-F5344CB8AC3E}">
        <p14:creationId xmlns:p14="http://schemas.microsoft.com/office/powerpoint/2010/main" val="2829562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1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4" grpId="0"/>
      <p:bldP spid="2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6" name="Picture 4" descr="PMM2 - Perpetual Motion Machine of Second Kind | Thermodynamics Laws |  Engineering Thermodynamics on Make a GIF">
            <a:extLst>
              <a:ext uri="{FF2B5EF4-FFF2-40B4-BE49-F238E27FC236}">
                <a16:creationId xmlns:a16="http://schemas.microsoft.com/office/drawing/2014/main" id="{8B075AD9-FFE6-7FE5-EA76-B2D8F423968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099" b="14568"/>
          <a:stretch/>
        </p:blipFill>
        <p:spPr bwMode="auto">
          <a:xfrm>
            <a:off x="946150" y="1571624"/>
            <a:ext cx="9921394" cy="4092575"/>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ACE0A7B5-4ED7-A843-3679-D5AA685CFC5A}"/>
              </a:ext>
            </a:extLst>
          </p:cNvPr>
          <p:cNvSpPr txBox="1"/>
          <p:nvPr/>
        </p:nvSpPr>
        <p:spPr>
          <a:xfrm>
            <a:off x="4114800" y="806450"/>
            <a:ext cx="2954655" cy="646331"/>
          </a:xfrm>
          <a:prstGeom prst="rect">
            <a:avLst/>
          </a:prstGeom>
          <a:noFill/>
        </p:spPr>
        <p:txBody>
          <a:bodyPr wrap="none" rtlCol="0">
            <a:spAutoFit/>
          </a:bodyPr>
          <a:lstStyle/>
          <a:p>
            <a:r>
              <a:rPr lang="zh-CN" altLang="en-US" sz="3600" dirty="0"/>
              <a:t>第二类永动机</a:t>
            </a:r>
          </a:p>
        </p:txBody>
      </p:sp>
    </p:spTree>
    <p:extLst>
      <p:ext uri="{BB962C8B-B14F-4D97-AF65-F5344CB8AC3E}">
        <p14:creationId xmlns:p14="http://schemas.microsoft.com/office/powerpoint/2010/main" val="101508316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 val="ProblemBody"/>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大学物理">
      <a:majorFont>
        <a:latin typeface="Times New Roman"/>
        <a:ea typeface="华文楷体"/>
        <a:cs typeface=""/>
      </a:majorFont>
      <a:minorFont>
        <a:latin typeface="Times New Roman"/>
        <a:ea typeface="华文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4058</TotalTime>
  <Words>2916</Words>
  <Application>Microsoft Office PowerPoint</Application>
  <PresentationFormat>宽屏</PresentationFormat>
  <Paragraphs>598</Paragraphs>
  <Slides>40</Slides>
  <Notes>2</Notes>
  <HiddenSlides>1</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4</vt:i4>
      </vt:variant>
      <vt:variant>
        <vt:lpstr>幻灯片标题</vt:lpstr>
      </vt:variant>
      <vt:variant>
        <vt:i4>40</vt:i4>
      </vt:variant>
    </vt:vector>
  </HeadingPairs>
  <TitlesOfParts>
    <vt:vector size="61" baseType="lpstr">
      <vt:lpstr>Helvetica Neue</vt:lpstr>
      <vt:lpstr>Microsoft Yahei</vt:lpstr>
      <vt:lpstr>Monotype Sorts</vt:lpstr>
      <vt:lpstr>等线</vt:lpstr>
      <vt:lpstr>黑体</vt:lpstr>
      <vt:lpstr>华文楷体</vt:lpstr>
      <vt:lpstr>楷体</vt:lpstr>
      <vt:lpstr>楷体_GB2312</vt:lpstr>
      <vt:lpstr>宋体</vt:lpstr>
      <vt:lpstr>Arial</vt:lpstr>
      <vt:lpstr>Bookman Old Style</vt:lpstr>
      <vt:lpstr>Calibri</vt:lpstr>
      <vt:lpstr>Cambria Math</vt:lpstr>
      <vt:lpstr>Symbol</vt:lpstr>
      <vt:lpstr>Times New Roman</vt:lpstr>
      <vt:lpstr>Wingdings</vt:lpstr>
      <vt:lpstr>Office 主题​​</vt:lpstr>
      <vt:lpstr>BMP 图象</vt:lpstr>
      <vt:lpstr>Equation.3</vt:lpstr>
      <vt:lpstr>Equation</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Jingcheng  Li</dc:creator>
  <cp:lastModifiedBy>Jingcheng  Li</cp:lastModifiedBy>
  <cp:revision>94</cp:revision>
  <dcterms:created xsi:type="dcterms:W3CDTF">2023-02-17T03:39:54Z</dcterms:created>
  <dcterms:modified xsi:type="dcterms:W3CDTF">2024-02-29T01:34:09Z</dcterms:modified>
</cp:coreProperties>
</file>