
<file path=[Content_Types].xml><?xml version="1.0" encoding="utf-8"?>
<Types xmlns="http://schemas.openxmlformats.org/package/2006/content-types">
  <Default Extension="tmp" ContentType="image/png"/>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x-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1205" r:id="rId2"/>
    <p:sldId id="1017" r:id="rId3"/>
    <p:sldId id="1202" r:id="rId4"/>
    <p:sldId id="1018" r:id="rId5"/>
    <p:sldId id="995" r:id="rId6"/>
    <p:sldId id="459" r:id="rId7"/>
    <p:sldId id="821" r:id="rId8"/>
    <p:sldId id="1020" r:id="rId9"/>
    <p:sldId id="331" r:id="rId10"/>
    <p:sldId id="612" r:id="rId11"/>
    <p:sldId id="1021" r:id="rId12"/>
    <p:sldId id="504" r:id="rId13"/>
    <p:sldId id="506" r:id="rId14"/>
    <p:sldId id="505" r:id="rId15"/>
    <p:sldId id="1028" r:id="rId16"/>
    <p:sldId id="424" r:id="rId17"/>
    <p:sldId id="510" r:id="rId18"/>
    <p:sldId id="1030" r:id="rId19"/>
    <p:sldId id="514" r:id="rId20"/>
    <p:sldId id="518" r:id="rId21"/>
    <p:sldId id="520" r:id="rId22"/>
    <p:sldId id="523" r:id="rId23"/>
    <p:sldId id="1031" r:id="rId24"/>
    <p:sldId id="511" r:id="rId25"/>
    <p:sldId id="515" r:id="rId26"/>
    <p:sldId id="516" r:id="rId27"/>
    <p:sldId id="336" r:id="rId28"/>
    <p:sldId id="1032" r:id="rId29"/>
    <p:sldId id="1025" r:id="rId30"/>
    <p:sldId id="1033" r:id="rId31"/>
    <p:sldId id="530" r:id="rId32"/>
    <p:sldId id="1047" r:id="rId33"/>
    <p:sldId id="1203" r:id="rId34"/>
    <p:sldId id="1034" r:id="rId35"/>
    <p:sldId id="1204" r:id="rId36"/>
    <p:sldId id="383" r:id="rId37"/>
    <p:sldId id="1042" r:id="rId38"/>
    <p:sldId id="536" r:id="rId39"/>
    <p:sldId id="572" r:id="rId40"/>
    <p:sldId id="1035" r:id="rId41"/>
    <p:sldId id="59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92" autoAdjust="0"/>
    <p:restoredTop sz="94662" autoAdjust="0"/>
  </p:normalViewPr>
  <p:slideViewPr>
    <p:cSldViewPr snapToGrid="0">
      <p:cViewPr>
        <p:scale>
          <a:sx n="125" d="100"/>
          <a:sy n="125" d="100"/>
        </p:scale>
        <p:origin x="1284"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48EDF5-0999-437C-B6DD-8EA30FF11E05}" type="doc">
      <dgm:prSet loTypeId="urn:microsoft.com/office/officeart/2005/8/layout/cycle7" loCatId="cycle" qsTypeId="urn:microsoft.com/office/officeart/2005/8/quickstyle/simple1" qsCatId="simple" csTypeId="urn:microsoft.com/office/officeart/2005/8/colors/colorful1" csCatId="colorful" phldr="1"/>
      <dgm:spPr/>
      <dgm:t>
        <a:bodyPr/>
        <a:lstStyle/>
        <a:p>
          <a:endParaRPr lang="en-US"/>
        </a:p>
      </dgm:t>
    </dgm:pt>
    <dgm:pt modelId="{68769C6E-592E-4E6D-A29C-1E219C5E8C01}">
      <dgm:prSet phldrT="[文本]" custT="1"/>
      <dgm:spPr/>
      <dgm:t>
        <a:bodyPr/>
        <a:lstStyle/>
        <a:p>
          <a:r>
            <a:rPr lang="zh-CN" altLang="en-US" sz="2400" b="1" dirty="0">
              <a:latin typeface="+mn-ea"/>
            </a:rPr>
            <a:t>内能</a:t>
          </a:r>
          <a:endParaRPr lang="en-US" sz="2400" dirty="0"/>
        </a:p>
      </dgm:t>
    </dgm:pt>
    <dgm:pt modelId="{AE73AE1A-798C-4208-B972-898748427294}" type="parTrans" cxnId="{41201D18-6765-4373-A89F-A942B63319D2}">
      <dgm:prSet/>
      <dgm:spPr/>
      <dgm:t>
        <a:bodyPr/>
        <a:lstStyle/>
        <a:p>
          <a:endParaRPr lang="en-US" sz="2400"/>
        </a:p>
      </dgm:t>
    </dgm:pt>
    <dgm:pt modelId="{E3E4FA6B-24F5-4DD0-A0BE-40608E4E233F}" type="sibTrans" cxnId="{41201D18-6765-4373-A89F-A942B63319D2}">
      <dgm:prSet custT="1"/>
      <dgm:spPr/>
      <dgm:t>
        <a:bodyPr/>
        <a:lstStyle/>
        <a:p>
          <a:endParaRPr lang="en-US" sz="2400"/>
        </a:p>
      </dgm:t>
    </dgm:pt>
    <dgm:pt modelId="{7DD10B01-9D11-4535-92C1-98C36C977BDC}">
      <dgm:prSet phldrT="[文本]" custT="1"/>
      <dgm:spPr/>
      <dgm:t>
        <a:bodyPr/>
        <a:lstStyle/>
        <a:p>
          <a:r>
            <a:rPr lang="zh-CN" altLang="en-US" sz="2400" b="1" dirty="0">
              <a:latin typeface="+mn-ea"/>
            </a:rPr>
            <a:t>热量</a:t>
          </a:r>
          <a:endParaRPr lang="en-US" sz="2400" dirty="0"/>
        </a:p>
      </dgm:t>
    </dgm:pt>
    <dgm:pt modelId="{B078644C-9E9F-4777-8D06-D2B016AA7531}" type="parTrans" cxnId="{571D8742-FF82-4620-BF21-1360CD3A6B87}">
      <dgm:prSet/>
      <dgm:spPr/>
      <dgm:t>
        <a:bodyPr/>
        <a:lstStyle/>
        <a:p>
          <a:endParaRPr lang="en-US" sz="2400"/>
        </a:p>
      </dgm:t>
    </dgm:pt>
    <dgm:pt modelId="{5046C71E-9390-4DAA-A541-A281D598BB17}" type="sibTrans" cxnId="{571D8742-FF82-4620-BF21-1360CD3A6B87}">
      <dgm:prSet custT="1"/>
      <dgm:spPr/>
      <dgm:t>
        <a:bodyPr/>
        <a:lstStyle/>
        <a:p>
          <a:endParaRPr lang="en-US" sz="2400"/>
        </a:p>
      </dgm:t>
    </dgm:pt>
    <dgm:pt modelId="{B31D29E1-2859-45D0-9B70-F954047B8F03}">
      <dgm:prSet phldrT="[文本]" custT="1"/>
      <dgm:spPr/>
      <dgm:t>
        <a:bodyPr/>
        <a:lstStyle/>
        <a:p>
          <a:r>
            <a:rPr lang="zh-CN" altLang="en-US" sz="2400" b="1" dirty="0">
              <a:latin typeface="+mn-ea"/>
            </a:rPr>
            <a:t>功</a:t>
          </a:r>
          <a:endParaRPr lang="en-US" sz="2400" dirty="0"/>
        </a:p>
      </dgm:t>
    </dgm:pt>
    <dgm:pt modelId="{89EA8D0F-EE4B-466F-B9F7-ED5FF1335485}" type="parTrans" cxnId="{E92FB54C-9888-4131-B344-08684DCF1BC0}">
      <dgm:prSet/>
      <dgm:spPr/>
      <dgm:t>
        <a:bodyPr/>
        <a:lstStyle/>
        <a:p>
          <a:endParaRPr lang="en-US" sz="2400"/>
        </a:p>
      </dgm:t>
    </dgm:pt>
    <dgm:pt modelId="{7BD5E1E0-48DD-4BA0-9260-13E3D038C177}" type="sibTrans" cxnId="{E92FB54C-9888-4131-B344-08684DCF1BC0}">
      <dgm:prSet custT="1"/>
      <dgm:spPr/>
      <dgm:t>
        <a:bodyPr/>
        <a:lstStyle/>
        <a:p>
          <a:endParaRPr lang="en-US" sz="2400"/>
        </a:p>
      </dgm:t>
    </dgm:pt>
    <dgm:pt modelId="{E78EB1C9-073D-45DB-BB17-3E42E1C451E7}" type="pres">
      <dgm:prSet presAssocID="{BC48EDF5-0999-437C-B6DD-8EA30FF11E05}" presName="Name0" presStyleCnt="0">
        <dgm:presLayoutVars>
          <dgm:dir/>
          <dgm:resizeHandles val="exact"/>
        </dgm:presLayoutVars>
      </dgm:prSet>
      <dgm:spPr/>
    </dgm:pt>
    <dgm:pt modelId="{99FFA5A7-2B47-4B3A-A3C3-354D4081C0CA}" type="pres">
      <dgm:prSet presAssocID="{68769C6E-592E-4E6D-A29C-1E219C5E8C01}" presName="node" presStyleLbl="node1" presStyleIdx="0" presStyleCnt="3">
        <dgm:presLayoutVars>
          <dgm:bulletEnabled val="1"/>
        </dgm:presLayoutVars>
      </dgm:prSet>
      <dgm:spPr/>
    </dgm:pt>
    <dgm:pt modelId="{F5274847-A859-49C0-A5ED-213109809AE0}" type="pres">
      <dgm:prSet presAssocID="{E3E4FA6B-24F5-4DD0-A0BE-40608E4E233F}" presName="sibTrans" presStyleLbl="sibTrans2D1" presStyleIdx="0" presStyleCnt="3" custLinFactNeighborX="-1988" custLinFactNeighborY="1670"/>
      <dgm:spPr/>
    </dgm:pt>
    <dgm:pt modelId="{397C1FCA-13EC-40E9-805C-2CE0E63D969D}" type="pres">
      <dgm:prSet presAssocID="{E3E4FA6B-24F5-4DD0-A0BE-40608E4E233F}" presName="connectorText" presStyleLbl="sibTrans2D1" presStyleIdx="0" presStyleCnt="3"/>
      <dgm:spPr/>
    </dgm:pt>
    <dgm:pt modelId="{32E8C63E-5BC4-4061-A848-74DB035FD269}" type="pres">
      <dgm:prSet presAssocID="{7DD10B01-9D11-4535-92C1-98C36C977BDC}" presName="node" presStyleLbl="node1" presStyleIdx="1" presStyleCnt="3" custRadScaleRad="85031" custRadScaleInc="-15999">
        <dgm:presLayoutVars>
          <dgm:bulletEnabled val="1"/>
        </dgm:presLayoutVars>
      </dgm:prSet>
      <dgm:spPr/>
    </dgm:pt>
    <dgm:pt modelId="{23B2D849-FBB7-4F7D-87C3-364DFD0F7F67}" type="pres">
      <dgm:prSet presAssocID="{5046C71E-9390-4DAA-A541-A281D598BB17}" presName="sibTrans" presStyleLbl="sibTrans2D1" presStyleIdx="1" presStyleCnt="3"/>
      <dgm:spPr/>
    </dgm:pt>
    <dgm:pt modelId="{46E31496-8BF6-4FBB-9A77-9988E0108690}" type="pres">
      <dgm:prSet presAssocID="{5046C71E-9390-4DAA-A541-A281D598BB17}" presName="connectorText" presStyleLbl="sibTrans2D1" presStyleIdx="1" presStyleCnt="3"/>
      <dgm:spPr/>
    </dgm:pt>
    <dgm:pt modelId="{5C204AEA-B9F0-4FFA-8B48-F6E30AEFC66E}" type="pres">
      <dgm:prSet presAssocID="{B31D29E1-2859-45D0-9B70-F954047B8F03}" presName="node" presStyleLbl="node1" presStyleIdx="2" presStyleCnt="3" custRadScaleRad="93804" custRadScaleInc="19300">
        <dgm:presLayoutVars>
          <dgm:bulletEnabled val="1"/>
        </dgm:presLayoutVars>
      </dgm:prSet>
      <dgm:spPr/>
    </dgm:pt>
    <dgm:pt modelId="{A2E24287-8093-4AF7-AD25-491134E3B06A}" type="pres">
      <dgm:prSet presAssocID="{7BD5E1E0-48DD-4BA0-9260-13E3D038C177}" presName="sibTrans" presStyleLbl="sibTrans2D1" presStyleIdx="2" presStyleCnt="3" custLinFactNeighborX="-1988" custLinFactNeighborY="1670"/>
      <dgm:spPr/>
    </dgm:pt>
    <dgm:pt modelId="{447E2510-98AE-46AD-B322-7570EC3EB3F2}" type="pres">
      <dgm:prSet presAssocID="{7BD5E1E0-48DD-4BA0-9260-13E3D038C177}" presName="connectorText" presStyleLbl="sibTrans2D1" presStyleIdx="2" presStyleCnt="3"/>
      <dgm:spPr/>
    </dgm:pt>
  </dgm:ptLst>
  <dgm:cxnLst>
    <dgm:cxn modelId="{664A8701-DF10-4E69-8B09-5C491C6F5D8E}" type="presOf" srcId="{BC48EDF5-0999-437C-B6DD-8EA30FF11E05}" destId="{E78EB1C9-073D-45DB-BB17-3E42E1C451E7}" srcOrd="0" destOrd="0" presId="urn:microsoft.com/office/officeart/2005/8/layout/cycle7"/>
    <dgm:cxn modelId="{CCDFAC0A-1C12-4632-B2AA-60854DA8CBEB}" type="presOf" srcId="{7BD5E1E0-48DD-4BA0-9260-13E3D038C177}" destId="{447E2510-98AE-46AD-B322-7570EC3EB3F2}" srcOrd="1" destOrd="0" presId="urn:microsoft.com/office/officeart/2005/8/layout/cycle7"/>
    <dgm:cxn modelId="{043C3D15-8760-41CB-9ED0-F51EA94E2FF8}" type="presOf" srcId="{E3E4FA6B-24F5-4DD0-A0BE-40608E4E233F}" destId="{F5274847-A859-49C0-A5ED-213109809AE0}" srcOrd="0" destOrd="0" presId="urn:microsoft.com/office/officeart/2005/8/layout/cycle7"/>
    <dgm:cxn modelId="{41201D18-6765-4373-A89F-A942B63319D2}" srcId="{BC48EDF5-0999-437C-B6DD-8EA30FF11E05}" destId="{68769C6E-592E-4E6D-A29C-1E219C5E8C01}" srcOrd="0" destOrd="0" parTransId="{AE73AE1A-798C-4208-B972-898748427294}" sibTransId="{E3E4FA6B-24F5-4DD0-A0BE-40608E4E233F}"/>
    <dgm:cxn modelId="{3EDBC81A-E250-4748-8156-91F8FFC3C941}" type="presOf" srcId="{B31D29E1-2859-45D0-9B70-F954047B8F03}" destId="{5C204AEA-B9F0-4FFA-8B48-F6E30AEFC66E}" srcOrd="0" destOrd="0" presId="urn:microsoft.com/office/officeart/2005/8/layout/cycle7"/>
    <dgm:cxn modelId="{8038771C-DA6E-4CAD-A86A-4CFAF34546C0}" type="presOf" srcId="{E3E4FA6B-24F5-4DD0-A0BE-40608E4E233F}" destId="{397C1FCA-13EC-40E9-805C-2CE0E63D969D}" srcOrd="1" destOrd="0" presId="urn:microsoft.com/office/officeart/2005/8/layout/cycle7"/>
    <dgm:cxn modelId="{571D8742-FF82-4620-BF21-1360CD3A6B87}" srcId="{BC48EDF5-0999-437C-B6DD-8EA30FF11E05}" destId="{7DD10B01-9D11-4535-92C1-98C36C977BDC}" srcOrd="1" destOrd="0" parTransId="{B078644C-9E9F-4777-8D06-D2B016AA7531}" sibTransId="{5046C71E-9390-4DAA-A541-A281D598BB17}"/>
    <dgm:cxn modelId="{E92FB54C-9888-4131-B344-08684DCF1BC0}" srcId="{BC48EDF5-0999-437C-B6DD-8EA30FF11E05}" destId="{B31D29E1-2859-45D0-9B70-F954047B8F03}" srcOrd="2" destOrd="0" parTransId="{89EA8D0F-EE4B-466F-B9F7-ED5FF1335485}" sibTransId="{7BD5E1E0-48DD-4BA0-9260-13E3D038C177}"/>
    <dgm:cxn modelId="{EFEE5373-A3F1-4298-B914-BAB1B133F8E2}" type="presOf" srcId="{5046C71E-9390-4DAA-A541-A281D598BB17}" destId="{23B2D849-FBB7-4F7D-87C3-364DFD0F7F67}" srcOrd="0" destOrd="0" presId="urn:microsoft.com/office/officeart/2005/8/layout/cycle7"/>
    <dgm:cxn modelId="{3557A97E-4E74-4EBE-97BC-AEEFF757B6DF}" type="presOf" srcId="{7DD10B01-9D11-4535-92C1-98C36C977BDC}" destId="{32E8C63E-5BC4-4061-A848-74DB035FD269}" srcOrd="0" destOrd="0" presId="urn:microsoft.com/office/officeart/2005/8/layout/cycle7"/>
    <dgm:cxn modelId="{21DE38BD-3C89-411F-A5EB-17E5C3F2A9AA}" type="presOf" srcId="{68769C6E-592E-4E6D-A29C-1E219C5E8C01}" destId="{99FFA5A7-2B47-4B3A-A3C3-354D4081C0CA}" srcOrd="0" destOrd="0" presId="urn:microsoft.com/office/officeart/2005/8/layout/cycle7"/>
    <dgm:cxn modelId="{BB264ED2-F7E9-47FA-A0EA-6D88D991AB3F}" type="presOf" srcId="{5046C71E-9390-4DAA-A541-A281D598BB17}" destId="{46E31496-8BF6-4FBB-9A77-9988E0108690}" srcOrd="1" destOrd="0" presId="urn:microsoft.com/office/officeart/2005/8/layout/cycle7"/>
    <dgm:cxn modelId="{33E392F7-6E05-4E6B-8E02-3E436D9279F4}" type="presOf" srcId="{7BD5E1E0-48DD-4BA0-9260-13E3D038C177}" destId="{A2E24287-8093-4AF7-AD25-491134E3B06A}" srcOrd="0" destOrd="0" presId="urn:microsoft.com/office/officeart/2005/8/layout/cycle7"/>
    <dgm:cxn modelId="{461DBB46-3B79-46BC-B195-95775B78B57C}" type="presParOf" srcId="{E78EB1C9-073D-45DB-BB17-3E42E1C451E7}" destId="{99FFA5A7-2B47-4B3A-A3C3-354D4081C0CA}" srcOrd="0" destOrd="0" presId="urn:microsoft.com/office/officeart/2005/8/layout/cycle7"/>
    <dgm:cxn modelId="{938D4160-358A-4B37-B433-2A4D87E1339C}" type="presParOf" srcId="{E78EB1C9-073D-45DB-BB17-3E42E1C451E7}" destId="{F5274847-A859-49C0-A5ED-213109809AE0}" srcOrd="1" destOrd="0" presId="urn:microsoft.com/office/officeart/2005/8/layout/cycle7"/>
    <dgm:cxn modelId="{A5518151-330C-4613-B577-3F0861367077}" type="presParOf" srcId="{F5274847-A859-49C0-A5ED-213109809AE0}" destId="{397C1FCA-13EC-40E9-805C-2CE0E63D969D}" srcOrd="0" destOrd="0" presId="urn:microsoft.com/office/officeart/2005/8/layout/cycle7"/>
    <dgm:cxn modelId="{AA452E71-13CA-4C7D-9604-74DB8FD068B3}" type="presParOf" srcId="{E78EB1C9-073D-45DB-BB17-3E42E1C451E7}" destId="{32E8C63E-5BC4-4061-A848-74DB035FD269}" srcOrd="2" destOrd="0" presId="urn:microsoft.com/office/officeart/2005/8/layout/cycle7"/>
    <dgm:cxn modelId="{90CB8F00-95D9-4C04-B626-50D0473BDAFC}" type="presParOf" srcId="{E78EB1C9-073D-45DB-BB17-3E42E1C451E7}" destId="{23B2D849-FBB7-4F7D-87C3-364DFD0F7F67}" srcOrd="3" destOrd="0" presId="urn:microsoft.com/office/officeart/2005/8/layout/cycle7"/>
    <dgm:cxn modelId="{2D9A1E15-5569-49F2-B68D-E1CBF76EED8A}" type="presParOf" srcId="{23B2D849-FBB7-4F7D-87C3-364DFD0F7F67}" destId="{46E31496-8BF6-4FBB-9A77-9988E0108690}" srcOrd="0" destOrd="0" presId="urn:microsoft.com/office/officeart/2005/8/layout/cycle7"/>
    <dgm:cxn modelId="{3DFC8B94-DB8E-45A8-BEF1-9D6C5AC82AD1}" type="presParOf" srcId="{E78EB1C9-073D-45DB-BB17-3E42E1C451E7}" destId="{5C204AEA-B9F0-4FFA-8B48-F6E30AEFC66E}" srcOrd="4" destOrd="0" presId="urn:microsoft.com/office/officeart/2005/8/layout/cycle7"/>
    <dgm:cxn modelId="{519B3FAD-87EB-4229-A0F9-792F3AC9B0DC}" type="presParOf" srcId="{E78EB1C9-073D-45DB-BB17-3E42E1C451E7}" destId="{A2E24287-8093-4AF7-AD25-491134E3B06A}" srcOrd="5" destOrd="0" presId="urn:microsoft.com/office/officeart/2005/8/layout/cycle7"/>
    <dgm:cxn modelId="{E12D999B-A4BE-4D76-B82A-7B591BF67882}" type="presParOf" srcId="{A2E24287-8093-4AF7-AD25-491134E3B06A}" destId="{447E2510-98AE-46AD-B322-7570EC3EB3F2}"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48EDF5-0999-437C-B6DD-8EA30FF11E05}" type="doc">
      <dgm:prSet loTypeId="urn:microsoft.com/office/officeart/2005/8/layout/cycle7" loCatId="cycle" qsTypeId="urn:microsoft.com/office/officeart/2005/8/quickstyle/simple1" qsCatId="simple" csTypeId="urn:microsoft.com/office/officeart/2005/8/colors/colorful1" csCatId="colorful" phldr="1"/>
      <dgm:spPr/>
      <dgm:t>
        <a:bodyPr/>
        <a:lstStyle/>
        <a:p>
          <a:endParaRPr lang="en-US"/>
        </a:p>
      </dgm:t>
    </dgm:pt>
    <dgm:pt modelId="{68769C6E-592E-4E6D-A29C-1E219C5E8C01}">
      <dgm:prSet phldrT="[文本]" custT="1"/>
      <dgm:spPr/>
      <dgm:t>
        <a:bodyPr/>
        <a:lstStyle/>
        <a:p>
          <a:r>
            <a:rPr lang="zh-CN" altLang="en-US" sz="2400" b="1" dirty="0">
              <a:latin typeface="+mn-ea"/>
            </a:rPr>
            <a:t>内能</a:t>
          </a:r>
          <a:endParaRPr lang="en-US" sz="2400" dirty="0"/>
        </a:p>
      </dgm:t>
    </dgm:pt>
    <dgm:pt modelId="{AE73AE1A-798C-4208-B972-898748427294}" type="parTrans" cxnId="{41201D18-6765-4373-A89F-A942B63319D2}">
      <dgm:prSet/>
      <dgm:spPr/>
      <dgm:t>
        <a:bodyPr/>
        <a:lstStyle/>
        <a:p>
          <a:endParaRPr lang="en-US" sz="2400"/>
        </a:p>
      </dgm:t>
    </dgm:pt>
    <dgm:pt modelId="{E3E4FA6B-24F5-4DD0-A0BE-40608E4E233F}" type="sibTrans" cxnId="{41201D18-6765-4373-A89F-A942B63319D2}">
      <dgm:prSet custT="1"/>
      <dgm:spPr/>
      <dgm:t>
        <a:bodyPr/>
        <a:lstStyle/>
        <a:p>
          <a:endParaRPr lang="en-US" sz="2400"/>
        </a:p>
      </dgm:t>
    </dgm:pt>
    <dgm:pt modelId="{7DD10B01-9D11-4535-92C1-98C36C977BDC}">
      <dgm:prSet phldrT="[文本]" custT="1"/>
      <dgm:spPr/>
      <dgm:t>
        <a:bodyPr/>
        <a:lstStyle/>
        <a:p>
          <a:r>
            <a:rPr lang="zh-CN" altLang="en-US" sz="2400" b="1" dirty="0">
              <a:latin typeface="+mn-ea"/>
            </a:rPr>
            <a:t>热量</a:t>
          </a:r>
          <a:endParaRPr lang="en-US" sz="2400" dirty="0"/>
        </a:p>
      </dgm:t>
    </dgm:pt>
    <dgm:pt modelId="{B078644C-9E9F-4777-8D06-D2B016AA7531}" type="parTrans" cxnId="{571D8742-FF82-4620-BF21-1360CD3A6B87}">
      <dgm:prSet/>
      <dgm:spPr/>
      <dgm:t>
        <a:bodyPr/>
        <a:lstStyle/>
        <a:p>
          <a:endParaRPr lang="en-US" sz="2400"/>
        </a:p>
      </dgm:t>
    </dgm:pt>
    <dgm:pt modelId="{5046C71E-9390-4DAA-A541-A281D598BB17}" type="sibTrans" cxnId="{571D8742-FF82-4620-BF21-1360CD3A6B87}">
      <dgm:prSet custT="1"/>
      <dgm:spPr/>
      <dgm:t>
        <a:bodyPr/>
        <a:lstStyle/>
        <a:p>
          <a:endParaRPr lang="en-US" sz="2400"/>
        </a:p>
      </dgm:t>
    </dgm:pt>
    <dgm:pt modelId="{B31D29E1-2859-45D0-9B70-F954047B8F03}">
      <dgm:prSet phldrT="[文本]" custT="1"/>
      <dgm:spPr/>
      <dgm:t>
        <a:bodyPr/>
        <a:lstStyle/>
        <a:p>
          <a:r>
            <a:rPr lang="zh-CN" altLang="en-US" sz="2400" b="1" dirty="0">
              <a:latin typeface="+mn-ea"/>
            </a:rPr>
            <a:t>功</a:t>
          </a:r>
          <a:endParaRPr lang="en-US" sz="2400" dirty="0"/>
        </a:p>
      </dgm:t>
    </dgm:pt>
    <dgm:pt modelId="{89EA8D0F-EE4B-466F-B9F7-ED5FF1335485}" type="parTrans" cxnId="{E92FB54C-9888-4131-B344-08684DCF1BC0}">
      <dgm:prSet/>
      <dgm:spPr/>
      <dgm:t>
        <a:bodyPr/>
        <a:lstStyle/>
        <a:p>
          <a:endParaRPr lang="en-US" sz="2400"/>
        </a:p>
      </dgm:t>
    </dgm:pt>
    <dgm:pt modelId="{7BD5E1E0-48DD-4BA0-9260-13E3D038C177}" type="sibTrans" cxnId="{E92FB54C-9888-4131-B344-08684DCF1BC0}">
      <dgm:prSet custT="1"/>
      <dgm:spPr/>
      <dgm:t>
        <a:bodyPr/>
        <a:lstStyle/>
        <a:p>
          <a:endParaRPr lang="en-US" sz="2400"/>
        </a:p>
      </dgm:t>
    </dgm:pt>
    <dgm:pt modelId="{E78EB1C9-073D-45DB-BB17-3E42E1C451E7}" type="pres">
      <dgm:prSet presAssocID="{BC48EDF5-0999-437C-B6DD-8EA30FF11E05}" presName="Name0" presStyleCnt="0">
        <dgm:presLayoutVars>
          <dgm:dir/>
          <dgm:resizeHandles val="exact"/>
        </dgm:presLayoutVars>
      </dgm:prSet>
      <dgm:spPr/>
    </dgm:pt>
    <dgm:pt modelId="{99FFA5A7-2B47-4B3A-A3C3-354D4081C0CA}" type="pres">
      <dgm:prSet presAssocID="{68769C6E-592E-4E6D-A29C-1E219C5E8C01}" presName="node" presStyleLbl="node1" presStyleIdx="0" presStyleCnt="3">
        <dgm:presLayoutVars>
          <dgm:bulletEnabled val="1"/>
        </dgm:presLayoutVars>
      </dgm:prSet>
      <dgm:spPr/>
    </dgm:pt>
    <dgm:pt modelId="{F5274847-A859-49C0-A5ED-213109809AE0}" type="pres">
      <dgm:prSet presAssocID="{E3E4FA6B-24F5-4DD0-A0BE-40608E4E233F}" presName="sibTrans" presStyleLbl="sibTrans2D1" presStyleIdx="0" presStyleCnt="3" custLinFactNeighborX="-1988" custLinFactNeighborY="1670"/>
      <dgm:spPr/>
    </dgm:pt>
    <dgm:pt modelId="{397C1FCA-13EC-40E9-805C-2CE0E63D969D}" type="pres">
      <dgm:prSet presAssocID="{E3E4FA6B-24F5-4DD0-A0BE-40608E4E233F}" presName="connectorText" presStyleLbl="sibTrans2D1" presStyleIdx="0" presStyleCnt="3"/>
      <dgm:spPr/>
    </dgm:pt>
    <dgm:pt modelId="{32E8C63E-5BC4-4061-A848-74DB035FD269}" type="pres">
      <dgm:prSet presAssocID="{7DD10B01-9D11-4535-92C1-98C36C977BDC}" presName="node" presStyleLbl="node1" presStyleIdx="1" presStyleCnt="3" custRadScaleRad="85031" custRadScaleInc="-15999">
        <dgm:presLayoutVars>
          <dgm:bulletEnabled val="1"/>
        </dgm:presLayoutVars>
      </dgm:prSet>
      <dgm:spPr/>
    </dgm:pt>
    <dgm:pt modelId="{23B2D849-FBB7-4F7D-87C3-364DFD0F7F67}" type="pres">
      <dgm:prSet presAssocID="{5046C71E-9390-4DAA-A541-A281D598BB17}" presName="sibTrans" presStyleLbl="sibTrans2D1" presStyleIdx="1" presStyleCnt="3"/>
      <dgm:spPr/>
    </dgm:pt>
    <dgm:pt modelId="{46E31496-8BF6-4FBB-9A77-9988E0108690}" type="pres">
      <dgm:prSet presAssocID="{5046C71E-9390-4DAA-A541-A281D598BB17}" presName="connectorText" presStyleLbl="sibTrans2D1" presStyleIdx="1" presStyleCnt="3"/>
      <dgm:spPr/>
    </dgm:pt>
    <dgm:pt modelId="{5C204AEA-B9F0-4FFA-8B48-F6E30AEFC66E}" type="pres">
      <dgm:prSet presAssocID="{B31D29E1-2859-45D0-9B70-F954047B8F03}" presName="node" presStyleLbl="node1" presStyleIdx="2" presStyleCnt="3" custRadScaleRad="93804" custRadScaleInc="19300">
        <dgm:presLayoutVars>
          <dgm:bulletEnabled val="1"/>
        </dgm:presLayoutVars>
      </dgm:prSet>
      <dgm:spPr/>
    </dgm:pt>
    <dgm:pt modelId="{A2E24287-8093-4AF7-AD25-491134E3B06A}" type="pres">
      <dgm:prSet presAssocID="{7BD5E1E0-48DD-4BA0-9260-13E3D038C177}" presName="sibTrans" presStyleLbl="sibTrans2D1" presStyleIdx="2" presStyleCnt="3" custLinFactNeighborX="-1988" custLinFactNeighborY="1670"/>
      <dgm:spPr/>
    </dgm:pt>
    <dgm:pt modelId="{447E2510-98AE-46AD-B322-7570EC3EB3F2}" type="pres">
      <dgm:prSet presAssocID="{7BD5E1E0-48DD-4BA0-9260-13E3D038C177}" presName="connectorText" presStyleLbl="sibTrans2D1" presStyleIdx="2" presStyleCnt="3"/>
      <dgm:spPr/>
    </dgm:pt>
  </dgm:ptLst>
  <dgm:cxnLst>
    <dgm:cxn modelId="{664A8701-DF10-4E69-8B09-5C491C6F5D8E}" type="presOf" srcId="{BC48EDF5-0999-437C-B6DD-8EA30FF11E05}" destId="{E78EB1C9-073D-45DB-BB17-3E42E1C451E7}" srcOrd="0" destOrd="0" presId="urn:microsoft.com/office/officeart/2005/8/layout/cycle7"/>
    <dgm:cxn modelId="{CCDFAC0A-1C12-4632-B2AA-60854DA8CBEB}" type="presOf" srcId="{7BD5E1E0-48DD-4BA0-9260-13E3D038C177}" destId="{447E2510-98AE-46AD-B322-7570EC3EB3F2}" srcOrd="1" destOrd="0" presId="urn:microsoft.com/office/officeart/2005/8/layout/cycle7"/>
    <dgm:cxn modelId="{043C3D15-8760-41CB-9ED0-F51EA94E2FF8}" type="presOf" srcId="{E3E4FA6B-24F5-4DD0-A0BE-40608E4E233F}" destId="{F5274847-A859-49C0-A5ED-213109809AE0}" srcOrd="0" destOrd="0" presId="urn:microsoft.com/office/officeart/2005/8/layout/cycle7"/>
    <dgm:cxn modelId="{41201D18-6765-4373-A89F-A942B63319D2}" srcId="{BC48EDF5-0999-437C-B6DD-8EA30FF11E05}" destId="{68769C6E-592E-4E6D-A29C-1E219C5E8C01}" srcOrd="0" destOrd="0" parTransId="{AE73AE1A-798C-4208-B972-898748427294}" sibTransId="{E3E4FA6B-24F5-4DD0-A0BE-40608E4E233F}"/>
    <dgm:cxn modelId="{3EDBC81A-E250-4748-8156-91F8FFC3C941}" type="presOf" srcId="{B31D29E1-2859-45D0-9B70-F954047B8F03}" destId="{5C204AEA-B9F0-4FFA-8B48-F6E30AEFC66E}" srcOrd="0" destOrd="0" presId="urn:microsoft.com/office/officeart/2005/8/layout/cycle7"/>
    <dgm:cxn modelId="{8038771C-DA6E-4CAD-A86A-4CFAF34546C0}" type="presOf" srcId="{E3E4FA6B-24F5-4DD0-A0BE-40608E4E233F}" destId="{397C1FCA-13EC-40E9-805C-2CE0E63D969D}" srcOrd="1" destOrd="0" presId="urn:microsoft.com/office/officeart/2005/8/layout/cycle7"/>
    <dgm:cxn modelId="{571D8742-FF82-4620-BF21-1360CD3A6B87}" srcId="{BC48EDF5-0999-437C-B6DD-8EA30FF11E05}" destId="{7DD10B01-9D11-4535-92C1-98C36C977BDC}" srcOrd="1" destOrd="0" parTransId="{B078644C-9E9F-4777-8D06-D2B016AA7531}" sibTransId="{5046C71E-9390-4DAA-A541-A281D598BB17}"/>
    <dgm:cxn modelId="{E92FB54C-9888-4131-B344-08684DCF1BC0}" srcId="{BC48EDF5-0999-437C-B6DD-8EA30FF11E05}" destId="{B31D29E1-2859-45D0-9B70-F954047B8F03}" srcOrd="2" destOrd="0" parTransId="{89EA8D0F-EE4B-466F-B9F7-ED5FF1335485}" sibTransId="{7BD5E1E0-48DD-4BA0-9260-13E3D038C177}"/>
    <dgm:cxn modelId="{EFEE5373-A3F1-4298-B914-BAB1B133F8E2}" type="presOf" srcId="{5046C71E-9390-4DAA-A541-A281D598BB17}" destId="{23B2D849-FBB7-4F7D-87C3-364DFD0F7F67}" srcOrd="0" destOrd="0" presId="urn:microsoft.com/office/officeart/2005/8/layout/cycle7"/>
    <dgm:cxn modelId="{3557A97E-4E74-4EBE-97BC-AEEFF757B6DF}" type="presOf" srcId="{7DD10B01-9D11-4535-92C1-98C36C977BDC}" destId="{32E8C63E-5BC4-4061-A848-74DB035FD269}" srcOrd="0" destOrd="0" presId="urn:microsoft.com/office/officeart/2005/8/layout/cycle7"/>
    <dgm:cxn modelId="{21DE38BD-3C89-411F-A5EB-17E5C3F2A9AA}" type="presOf" srcId="{68769C6E-592E-4E6D-A29C-1E219C5E8C01}" destId="{99FFA5A7-2B47-4B3A-A3C3-354D4081C0CA}" srcOrd="0" destOrd="0" presId="urn:microsoft.com/office/officeart/2005/8/layout/cycle7"/>
    <dgm:cxn modelId="{BB264ED2-F7E9-47FA-A0EA-6D88D991AB3F}" type="presOf" srcId="{5046C71E-9390-4DAA-A541-A281D598BB17}" destId="{46E31496-8BF6-4FBB-9A77-9988E0108690}" srcOrd="1" destOrd="0" presId="urn:microsoft.com/office/officeart/2005/8/layout/cycle7"/>
    <dgm:cxn modelId="{33E392F7-6E05-4E6B-8E02-3E436D9279F4}" type="presOf" srcId="{7BD5E1E0-48DD-4BA0-9260-13E3D038C177}" destId="{A2E24287-8093-4AF7-AD25-491134E3B06A}" srcOrd="0" destOrd="0" presId="urn:microsoft.com/office/officeart/2005/8/layout/cycle7"/>
    <dgm:cxn modelId="{461DBB46-3B79-46BC-B195-95775B78B57C}" type="presParOf" srcId="{E78EB1C9-073D-45DB-BB17-3E42E1C451E7}" destId="{99FFA5A7-2B47-4B3A-A3C3-354D4081C0CA}" srcOrd="0" destOrd="0" presId="urn:microsoft.com/office/officeart/2005/8/layout/cycle7"/>
    <dgm:cxn modelId="{938D4160-358A-4B37-B433-2A4D87E1339C}" type="presParOf" srcId="{E78EB1C9-073D-45DB-BB17-3E42E1C451E7}" destId="{F5274847-A859-49C0-A5ED-213109809AE0}" srcOrd="1" destOrd="0" presId="urn:microsoft.com/office/officeart/2005/8/layout/cycle7"/>
    <dgm:cxn modelId="{A5518151-330C-4613-B577-3F0861367077}" type="presParOf" srcId="{F5274847-A859-49C0-A5ED-213109809AE0}" destId="{397C1FCA-13EC-40E9-805C-2CE0E63D969D}" srcOrd="0" destOrd="0" presId="urn:microsoft.com/office/officeart/2005/8/layout/cycle7"/>
    <dgm:cxn modelId="{AA452E71-13CA-4C7D-9604-74DB8FD068B3}" type="presParOf" srcId="{E78EB1C9-073D-45DB-BB17-3E42E1C451E7}" destId="{32E8C63E-5BC4-4061-A848-74DB035FD269}" srcOrd="2" destOrd="0" presId="urn:microsoft.com/office/officeart/2005/8/layout/cycle7"/>
    <dgm:cxn modelId="{90CB8F00-95D9-4C04-B626-50D0473BDAFC}" type="presParOf" srcId="{E78EB1C9-073D-45DB-BB17-3E42E1C451E7}" destId="{23B2D849-FBB7-4F7D-87C3-364DFD0F7F67}" srcOrd="3" destOrd="0" presId="urn:microsoft.com/office/officeart/2005/8/layout/cycle7"/>
    <dgm:cxn modelId="{2D9A1E15-5569-49F2-B68D-E1CBF76EED8A}" type="presParOf" srcId="{23B2D849-FBB7-4F7D-87C3-364DFD0F7F67}" destId="{46E31496-8BF6-4FBB-9A77-9988E0108690}" srcOrd="0" destOrd="0" presId="urn:microsoft.com/office/officeart/2005/8/layout/cycle7"/>
    <dgm:cxn modelId="{3DFC8B94-DB8E-45A8-BEF1-9D6C5AC82AD1}" type="presParOf" srcId="{E78EB1C9-073D-45DB-BB17-3E42E1C451E7}" destId="{5C204AEA-B9F0-4FFA-8B48-F6E30AEFC66E}" srcOrd="4" destOrd="0" presId="urn:microsoft.com/office/officeart/2005/8/layout/cycle7"/>
    <dgm:cxn modelId="{519B3FAD-87EB-4229-A0F9-792F3AC9B0DC}" type="presParOf" srcId="{E78EB1C9-073D-45DB-BB17-3E42E1C451E7}" destId="{A2E24287-8093-4AF7-AD25-491134E3B06A}" srcOrd="5" destOrd="0" presId="urn:microsoft.com/office/officeart/2005/8/layout/cycle7"/>
    <dgm:cxn modelId="{E12D999B-A4BE-4D76-B82A-7B591BF67882}" type="presParOf" srcId="{A2E24287-8093-4AF7-AD25-491134E3B06A}" destId="{447E2510-98AE-46AD-B322-7570EC3EB3F2}" srcOrd="0" destOrd="0" presId="urn:microsoft.com/office/officeart/2005/8/layout/cycle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FA5A7-2B47-4B3A-A3C3-354D4081C0CA}">
      <dsp:nvSpPr>
        <dsp:cNvPr id="0" name=""/>
        <dsp:cNvSpPr/>
      </dsp:nvSpPr>
      <dsp:spPr>
        <a:xfrm>
          <a:off x="902251" y="200959"/>
          <a:ext cx="1091752" cy="54587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内能</a:t>
          </a:r>
          <a:endParaRPr lang="en-US" sz="2400" kern="1200" dirty="0"/>
        </a:p>
      </dsp:txBody>
      <dsp:txXfrm>
        <a:off x="918239" y="216947"/>
        <a:ext cx="1059776" cy="513900"/>
      </dsp:txXfrm>
    </dsp:sp>
    <dsp:sp modelId="{F5274847-A859-49C0-A5ED-213109809AE0}">
      <dsp:nvSpPr>
        <dsp:cNvPr id="0" name=""/>
        <dsp:cNvSpPr/>
      </dsp:nvSpPr>
      <dsp:spPr>
        <a:xfrm rot="3505106">
          <a:off x="1596721" y="1056425"/>
          <a:ext cx="512208" cy="191056"/>
        </a:xfrm>
        <a:prstGeom prst="lef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1654038" y="1094636"/>
        <a:ext cx="397574" cy="114634"/>
      </dsp:txXfrm>
    </dsp:sp>
    <dsp:sp modelId="{32E8C63E-5BC4-4061-A848-74DB035FD269}">
      <dsp:nvSpPr>
        <dsp:cNvPr id="0" name=""/>
        <dsp:cNvSpPr/>
      </dsp:nvSpPr>
      <dsp:spPr>
        <a:xfrm>
          <a:off x="1732012" y="1550690"/>
          <a:ext cx="1091752" cy="54587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热量</a:t>
          </a:r>
          <a:endParaRPr lang="en-US" sz="2400" kern="1200" dirty="0"/>
        </a:p>
      </dsp:txBody>
      <dsp:txXfrm>
        <a:off x="1748000" y="1566678"/>
        <a:ext cx="1059776" cy="513900"/>
      </dsp:txXfrm>
    </dsp:sp>
    <dsp:sp modelId="{23B2D849-FBB7-4F7D-87C3-364DFD0F7F67}">
      <dsp:nvSpPr>
        <dsp:cNvPr id="0" name=""/>
        <dsp:cNvSpPr/>
      </dsp:nvSpPr>
      <dsp:spPr>
        <a:xfrm rot="10800001">
          <a:off x="1155778" y="1728099"/>
          <a:ext cx="512208" cy="191056"/>
        </a:xfrm>
        <a:prstGeom prst="lef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1213095" y="1766310"/>
        <a:ext cx="397574" cy="114634"/>
      </dsp:txXfrm>
    </dsp:sp>
    <dsp:sp modelId="{5C204AEA-B9F0-4FFA-8B48-F6E30AEFC66E}">
      <dsp:nvSpPr>
        <dsp:cNvPr id="0" name=""/>
        <dsp:cNvSpPr/>
      </dsp:nvSpPr>
      <dsp:spPr>
        <a:xfrm>
          <a:off x="0" y="1550689"/>
          <a:ext cx="1091752" cy="54587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功</a:t>
          </a:r>
          <a:endParaRPr lang="en-US" sz="2400" kern="1200" dirty="0"/>
        </a:p>
      </dsp:txBody>
      <dsp:txXfrm>
        <a:off x="15988" y="1566677"/>
        <a:ext cx="1059776" cy="513900"/>
      </dsp:txXfrm>
    </dsp:sp>
    <dsp:sp modelId="{A2E24287-8093-4AF7-AD25-491134E3B06A}">
      <dsp:nvSpPr>
        <dsp:cNvPr id="0" name=""/>
        <dsp:cNvSpPr/>
      </dsp:nvSpPr>
      <dsp:spPr>
        <a:xfrm rot="18225687">
          <a:off x="730714" y="1056424"/>
          <a:ext cx="512208" cy="191056"/>
        </a:xfrm>
        <a:prstGeom prst="lef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88031" y="1094635"/>
        <a:ext cx="397574" cy="1146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FA5A7-2B47-4B3A-A3C3-354D4081C0CA}">
      <dsp:nvSpPr>
        <dsp:cNvPr id="0" name=""/>
        <dsp:cNvSpPr/>
      </dsp:nvSpPr>
      <dsp:spPr>
        <a:xfrm>
          <a:off x="902251" y="200959"/>
          <a:ext cx="1091752" cy="54587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内能</a:t>
          </a:r>
          <a:endParaRPr lang="en-US" sz="2400" kern="1200" dirty="0"/>
        </a:p>
      </dsp:txBody>
      <dsp:txXfrm>
        <a:off x="918239" y="216947"/>
        <a:ext cx="1059776" cy="513900"/>
      </dsp:txXfrm>
    </dsp:sp>
    <dsp:sp modelId="{F5274847-A859-49C0-A5ED-213109809AE0}">
      <dsp:nvSpPr>
        <dsp:cNvPr id="0" name=""/>
        <dsp:cNvSpPr/>
      </dsp:nvSpPr>
      <dsp:spPr>
        <a:xfrm rot="3505106">
          <a:off x="1596721" y="1056425"/>
          <a:ext cx="512208" cy="191056"/>
        </a:xfrm>
        <a:prstGeom prst="lef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1654038" y="1094636"/>
        <a:ext cx="397574" cy="114634"/>
      </dsp:txXfrm>
    </dsp:sp>
    <dsp:sp modelId="{32E8C63E-5BC4-4061-A848-74DB035FD269}">
      <dsp:nvSpPr>
        <dsp:cNvPr id="0" name=""/>
        <dsp:cNvSpPr/>
      </dsp:nvSpPr>
      <dsp:spPr>
        <a:xfrm>
          <a:off x="1732012" y="1550690"/>
          <a:ext cx="1091752" cy="54587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热量</a:t>
          </a:r>
          <a:endParaRPr lang="en-US" sz="2400" kern="1200" dirty="0"/>
        </a:p>
      </dsp:txBody>
      <dsp:txXfrm>
        <a:off x="1748000" y="1566678"/>
        <a:ext cx="1059776" cy="513900"/>
      </dsp:txXfrm>
    </dsp:sp>
    <dsp:sp modelId="{23B2D849-FBB7-4F7D-87C3-364DFD0F7F67}">
      <dsp:nvSpPr>
        <dsp:cNvPr id="0" name=""/>
        <dsp:cNvSpPr/>
      </dsp:nvSpPr>
      <dsp:spPr>
        <a:xfrm rot="10800001">
          <a:off x="1155778" y="1728099"/>
          <a:ext cx="512208" cy="191056"/>
        </a:xfrm>
        <a:prstGeom prst="lef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1213095" y="1766310"/>
        <a:ext cx="397574" cy="114634"/>
      </dsp:txXfrm>
    </dsp:sp>
    <dsp:sp modelId="{5C204AEA-B9F0-4FFA-8B48-F6E30AEFC66E}">
      <dsp:nvSpPr>
        <dsp:cNvPr id="0" name=""/>
        <dsp:cNvSpPr/>
      </dsp:nvSpPr>
      <dsp:spPr>
        <a:xfrm>
          <a:off x="0" y="1550689"/>
          <a:ext cx="1091752" cy="54587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latin typeface="+mn-ea"/>
            </a:rPr>
            <a:t>功</a:t>
          </a:r>
          <a:endParaRPr lang="en-US" sz="2400" kern="1200" dirty="0"/>
        </a:p>
      </dsp:txBody>
      <dsp:txXfrm>
        <a:off x="15988" y="1566677"/>
        <a:ext cx="1059776" cy="513900"/>
      </dsp:txXfrm>
    </dsp:sp>
    <dsp:sp modelId="{A2E24287-8093-4AF7-AD25-491134E3B06A}">
      <dsp:nvSpPr>
        <dsp:cNvPr id="0" name=""/>
        <dsp:cNvSpPr/>
      </dsp:nvSpPr>
      <dsp:spPr>
        <a:xfrm rot="18225687">
          <a:off x="730714" y="1056424"/>
          <a:ext cx="512208" cy="191056"/>
        </a:xfrm>
        <a:prstGeom prst="lef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88031" y="1094635"/>
        <a:ext cx="397574" cy="114634"/>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4"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6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4" Type="http://schemas.openxmlformats.org/officeDocument/2006/relationships/image" Target="../media/image6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2/28/2024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2/28/2024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2/28/2024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7" Type="http://schemas.openxmlformats.org/officeDocument/2006/relationships/image" Target="../media/image1.gif"/><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gif"/><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gif"/><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8.gif"/><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27.png"/><Relationship Id="rId4" Type="http://schemas.openxmlformats.org/officeDocument/2006/relationships/image" Target="../media/image27.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7" Type="http://schemas.openxmlformats.org/officeDocument/2006/relationships/image" Target="../media/image18.png"/><Relationship Id="rId1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29.png"/><Relationship Id="rId5" Type="http://schemas.openxmlformats.org/officeDocument/2006/relationships/image" Target="../media/image36.png"/><Relationship Id="rId15" Type="http://schemas.openxmlformats.org/officeDocument/2006/relationships/image" Target="../media/image327.png"/><Relationship Id="rId10" Type="http://schemas.openxmlformats.org/officeDocument/2006/relationships/image" Target="../media/image28.png"/><Relationship Id="rId4" Type="http://schemas.openxmlformats.org/officeDocument/2006/relationships/image" Target="../media/image35.png"/><Relationship Id="rId9" Type="http://schemas.openxmlformats.org/officeDocument/2006/relationships/image" Target="../media/image27.png"/><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13" Type="http://schemas.openxmlformats.org/officeDocument/2006/relationships/image" Target="../media/image43.png"/><Relationship Id="rId18" Type="http://schemas.openxmlformats.org/officeDocument/2006/relationships/image" Target="../media/image461.png"/><Relationship Id="rId3" Type="http://schemas.openxmlformats.org/officeDocument/2006/relationships/image" Target="../media/image38.png"/><Relationship Id="rId7" Type="http://schemas.openxmlformats.org/officeDocument/2006/relationships/diagramColors" Target="../diagrams/colors2.xml"/><Relationship Id="rId12" Type="http://schemas.openxmlformats.org/officeDocument/2006/relationships/image" Target="../media/image42.png"/><Relationship Id="rId17" Type="http://schemas.openxmlformats.org/officeDocument/2006/relationships/image" Target="../media/image327.png"/><Relationship Id="rId2" Type="http://schemas.openxmlformats.org/officeDocument/2006/relationships/image" Target="../media/image34.png"/><Relationship Id="rId16" Type="http://schemas.openxmlformats.org/officeDocument/2006/relationships/image" Target="../media/image49.png"/><Relationship Id="rId20"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diagramQuickStyle" Target="../diagrams/quickStyle2.xml"/><Relationship Id="rId11" Type="http://schemas.openxmlformats.org/officeDocument/2006/relationships/image" Target="../media/image41.png"/><Relationship Id="rId5" Type="http://schemas.openxmlformats.org/officeDocument/2006/relationships/diagramLayout" Target="../diagrams/layout2.xml"/><Relationship Id="rId15" Type="http://schemas.openxmlformats.org/officeDocument/2006/relationships/image" Target="../media/image48.png"/><Relationship Id="rId10" Type="http://schemas.openxmlformats.org/officeDocument/2006/relationships/image" Target="../media/image40.png"/><Relationship Id="rId19" Type="http://schemas.openxmlformats.org/officeDocument/2006/relationships/image" Target="../media/image500.png"/><Relationship Id="rId4" Type="http://schemas.openxmlformats.org/officeDocument/2006/relationships/diagramData" Target="../diagrams/data2.xml"/><Relationship Id="rId9" Type="http://schemas.openxmlformats.org/officeDocument/2006/relationships/image" Target="../media/image39.png"/><Relationship Id="rId14" Type="http://schemas.openxmlformats.org/officeDocument/2006/relationships/image" Target="../media/image44.png"/></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0.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8.png"/><Relationship Id="rId4" Type="http://schemas.openxmlformats.org/officeDocument/2006/relationships/image" Target="../media/image67.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image" Target="../media/image78.png"/><Relationship Id="rId18" Type="http://schemas.openxmlformats.org/officeDocument/2006/relationships/image" Target="../media/image70.png"/><Relationship Id="rId3" Type="http://schemas.openxmlformats.org/officeDocument/2006/relationships/image" Target="../media/image72.png"/><Relationship Id="rId7" Type="http://schemas.openxmlformats.org/officeDocument/2006/relationships/image" Target="../media/image11.wmf"/><Relationship Id="rId12" Type="http://schemas.openxmlformats.org/officeDocument/2006/relationships/image" Target="../media/image77.png"/><Relationship Id="rId17" Type="http://schemas.openxmlformats.org/officeDocument/2006/relationships/image" Target="../media/image69.png"/><Relationship Id="rId2" Type="http://schemas.openxmlformats.org/officeDocument/2006/relationships/slideLayout" Target="../slideLayouts/slideLayout7.xml"/><Relationship Id="rId16" Type="http://schemas.openxmlformats.org/officeDocument/2006/relationships/image" Target="../media/image81.png"/><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76.png"/><Relationship Id="rId5" Type="http://schemas.openxmlformats.org/officeDocument/2006/relationships/image" Target="../media/image66.png"/><Relationship Id="rId15" Type="http://schemas.openxmlformats.org/officeDocument/2006/relationships/image" Target="../media/image80.png"/><Relationship Id="rId10" Type="http://schemas.openxmlformats.org/officeDocument/2006/relationships/image" Target="../media/image75.png"/><Relationship Id="rId4" Type="http://schemas.openxmlformats.org/officeDocument/2006/relationships/image" Target="../media/image73.png"/><Relationship Id="rId9" Type="http://schemas.openxmlformats.org/officeDocument/2006/relationships/image" Target="../media/image12.wmf"/><Relationship Id="rId14" Type="http://schemas.openxmlformats.org/officeDocument/2006/relationships/image" Target="../media/image79.png"/></Relationships>
</file>

<file path=ppt/slides/_rels/slide18.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100.png"/><Relationship Id="rId3" Type="http://schemas.openxmlformats.org/officeDocument/2006/relationships/image" Target="../media/image85.png"/><Relationship Id="rId21" Type="http://schemas.openxmlformats.org/officeDocument/2006/relationships/image" Target="../media/image103.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image" Target="../media/image84.png"/><Relationship Id="rId16" Type="http://schemas.openxmlformats.org/officeDocument/2006/relationships/image" Target="../media/image98.png"/><Relationship Id="rId20" Type="http://schemas.openxmlformats.org/officeDocument/2006/relationships/image" Target="../media/image102.png"/><Relationship Id="rId1" Type="http://schemas.openxmlformats.org/officeDocument/2006/relationships/slideLayout" Target="../slideLayouts/slideLayout7.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 Id="rId22" Type="http://schemas.openxmlformats.org/officeDocument/2006/relationships/image" Target="../media/image104.png"/></Relationships>
</file>

<file path=ppt/slides/_rels/slide19.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82.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74.png"/><Relationship Id="rId17" Type="http://schemas.openxmlformats.org/officeDocument/2006/relationships/image" Target="../media/image114.png"/><Relationship Id="rId16" Type="http://schemas.openxmlformats.org/officeDocument/2006/relationships/image" Target="../media/image113.png"/><Relationship Id="rId1" Type="http://schemas.openxmlformats.org/officeDocument/2006/relationships/slideLayout" Target="../slideLayouts/slideLayout7.xml"/><Relationship Id="rId6" Type="http://schemas.openxmlformats.org/officeDocument/2006/relationships/image" Target="../media/image108.png"/><Relationship Id="rId11" Type="http://schemas.openxmlformats.org/officeDocument/2006/relationships/image" Target="../media/image71.png"/><Relationship Id="rId5" Type="http://schemas.openxmlformats.org/officeDocument/2006/relationships/image" Target="../media/image107.png"/><Relationship Id="rId15" Type="http://schemas.openxmlformats.org/officeDocument/2006/relationships/image" Target="../media/image83.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24.png"/><Relationship Id="rId18" Type="http://schemas.openxmlformats.org/officeDocument/2006/relationships/image" Target="../media/image129.png"/><Relationship Id="rId26" Type="http://schemas.openxmlformats.org/officeDocument/2006/relationships/image" Target="../media/image137.png"/><Relationship Id="rId3" Type="http://schemas.openxmlformats.org/officeDocument/2006/relationships/image" Target="../media/image122.png"/><Relationship Id="rId21" Type="http://schemas.openxmlformats.org/officeDocument/2006/relationships/image" Target="../media/image132.png"/><Relationship Id="rId7" Type="http://schemas.openxmlformats.org/officeDocument/2006/relationships/image" Target="../media/image13.wmf"/><Relationship Id="rId12" Type="http://schemas.openxmlformats.org/officeDocument/2006/relationships/image" Target="../media/image123.png"/><Relationship Id="rId17" Type="http://schemas.openxmlformats.org/officeDocument/2006/relationships/image" Target="../media/image128.png"/><Relationship Id="rId25" Type="http://schemas.openxmlformats.org/officeDocument/2006/relationships/image" Target="../media/image136.png"/><Relationship Id="rId2" Type="http://schemas.openxmlformats.org/officeDocument/2006/relationships/slideLayout" Target="../slideLayouts/slideLayout7.xml"/><Relationship Id="rId16" Type="http://schemas.openxmlformats.org/officeDocument/2006/relationships/image" Target="../media/image127.png"/><Relationship Id="rId20" Type="http://schemas.openxmlformats.org/officeDocument/2006/relationships/image" Target="../media/image131.png"/><Relationship Id="rId29" Type="http://schemas.openxmlformats.org/officeDocument/2006/relationships/oleObject" Target="../embeddings/oleObject5.bin"/><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4.wmf"/><Relationship Id="rId24" Type="http://schemas.openxmlformats.org/officeDocument/2006/relationships/image" Target="../media/image135.png"/><Relationship Id="rId32" Type="http://schemas.openxmlformats.org/officeDocument/2006/relationships/oleObject" Target="../embeddings/oleObject6.bin"/><Relationship Id="rId5" Type="http://schemas.openxmlformats.org/officeDocument/2006/relationships/image" Target="../media/image13.wmf"/><Relationship Id="rId15" Type="http://schemas.openxmlformats.org/officeDocument/2006/relationships/image" Target="../media/image126.png"/><Relationship Id="rId23" Type="http://schemas.openxmlformats.org/officeDocument/2006/relationships/image" Target="../media/image134.png"/><Relationship Id="rId28" Type="http://schemas.openxmlformats.org/officeDocument/2006/relationships/image" Target="../media/image139.png"/><Relationship Id="rId10" Type="http://schemas.openxmlformats.org/officeDocument/2006/relationships/oleObject" Target="../embeddings/oleObject4.bin"/><Relationship Id="rId19" Type="http://schemas.openxmlformats.org/officeDocument/2006/relationships/image" Target="../media/image130.png"/><Relationship Id="rId31"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4.wmf"/><Relationship Id="rId14" Type="http://schemas.openxmlformats.org/officeDocument/2006/relationships/image" Target="../media/image125.png"/><Relationship Id="rId22" Type="http://schemas.openxmlformats.org/officeDocument/2006/relationships/image" Target="../media/image133.png"/><Relationship Id="rId27" Type="http://schemas.openxmlformats.org/officeDocument/2006/relationships/image" Target="../media/image138.png"/><Relationship Id="rId30"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image" Target="../media/image140.png"/><Relationship Id="rId18" Type="http://schemas.openxmlformats.org/officeDocument/2006/relationships/image" Target="../media/image145.png"/><Relationship Id="rId3" Type="http://schemas.openxmlformats.org/officeDocument/2006/relationships/image" Target="../media/image117.png"/><Relationship Id="rId21" Type="http://schemas.openxmlformats.org/officeDocument/2006/relationships/image" Target="../media/image148.png"/><Relationship Id="rId7" Type="http://schemas.openxmlformats.org/officeDocument/2006/relationships/oleObject" Target="../embeddings/oleObject7.bin"/><Relationship Id="rId12" Type="http://schemas.openxmlformats.org/officeDocument/2006/relationships/image" Target="../media/image16.wmf"/><Relationship Id="rId17" Type="http://schemas.openxmlformats.org/officeDocument/2006/relationships/image" Target="../media/image144.png"/><Relationship Id="rId2" Type="http://schemas.openxmlformats.org/officeDocument/2006/relationships/slideLayout" Target="../slideLayouts/slideLayout7.xml"/><Relationship Id="rId16" Type="http://schemas.openxmlformats.org/officeDocument/2006/relationships/image" Target="../media/image143.png"/><Relationship Id="rId20" Type="http://schemas.openxmlformats.org/officeDocument/2006/relationships/image" Target="../media/image147.png"/><Relationship Id="rId1" Type="http://schemas.openxmlformats.org/officeDocument/2006/relationships/vmlDrawing" Target="../drawings/vmlDrawing3.vml"/><Relationship Id="rId6" Type="http://schemas.openxmlformats.org/officeDocument/2006/relationships/image" Target="../media/image15.wmf"/><Relationship Id="rId11" Type="http://schemas.openxmlformats.org/officeDocument/2006/relationships/oleObject" Target="../embeddings/oleObject8.bin"/><Relationship Id="rId24" Type="http://schemas.openxmlformats.org/officeDocument/2006/relationships/image" Target="../media/image151.png"/><Relationship Id="rId5" Type="http://schemas.openxmlformats.org/officeDocument/2006/relationships/oleObject" Target="../embeddings/oleObject7.bin"/><Relationship Id="rId15" Type="http://schemas.openxmlformats.org/officeDocument/2006/relationships/image" Target="../media/image142.png"/><Relationship Id="rId23" Type="http://schemas.openxmlformats.org/officeDocument/2006/relationships/image" Target="../media/image150.png"/><Relationship Id="rId10" Type="http://schemas.openxmlformats.org/officeDocument/2006/relationships/image" Target="../media/image16.wmf"/><Relationship Id="rId19" Type="http://schemas.openxmlformats.org/officeDocument/2006/relationships/image" Target="../media/image146.png"/><Relationship Id="rId4" Type="http://schemas.openxmlformats.org/officeDocument/2006/relationships/image" Target="../media/image118.png"/><Relationship Id="rId9" Type="http://schemas.openxmlformats.org/officeDocument/2006/relationships/oleObject" Target="../embeddings/oleObject8.bin"/><Relationship Id="rId14" Type="http://schemas.openxmlformats.org/officeDocument/2006/relationships/image" Target="../media/image141.png"/><Relationship Id="rId22" Type="http://schemas.openxmlformats.org/officeDocument/2006/relationships/image" Target="../media/image149.png"/></Relationships>
</file>

<file path=ppt/slides/_rels/slide22.xml.rels><?xml version="1.0" encoding="UTF-8" standalone="yes"?>
<Relationships xmlns="http://schemas.openxmlformats.org/package/2006/relationships"><Relationship Id="rId13" Type="http://schemas.openxmlformats.org/officeDocument/2006/relationships/image" Target="../media/image154.png"/><Relationship Id="rId18" Type="http://schemas.openxmlformats.org/officeDocument/2006/relationships/image" Target="../media/image159.png"/><Relationship Id="rId26" Type="http://schemas.openxmlformats.org/officeDocument/2006/relationships/oleObject" Target="../embeddings/oleObject12.bin"/><Relationship Id="rId3" Type="http://schemas.openxmlformats.org/officeDocument/2006/relationships/image" Target="../media/image226.png"/><Relationship Id="rId21" Type="http://schemas.openxmlformats.org/officeDocument/2006/relationships/image" Target="../media/image19.wmf"/><Relationship Id="rId34" Type="http://schemas.openxmlformats.org/officeDocument/2006/relationships/image" Target="../media/image169.png"/><Relationship Id="rId7" Type="http://schemas.openxmlformats.org/officeDocument/2006/relationships/oleObject" Target="../embeddings/oleObject9.bin"/><Relationship Id="rId12" Type="http://schemas.openxmlformats.org/officeDocument/2006/relationships/image" Target="../media/image18.wmf"/><Relationship Id="rId17" Type="http://schemas.openxmlformats.org/officeDocument/2006/relationships/image" Target="../media/image158.png"/><Relationship Id="rId33" Type="http://schemas.openxmlformats.org/officeDocument/2006/relationships/image" Target="../media/image168.png"/><Relationship Id="rId2" Type="http://schemas.openxmlformats.org/officeDocument/2006/relationships/slideLayout" Target="../slideLayouts/slideLayout7.xml"/><Relationship Id="rId16" Type="http://schemas.openxmlformats.org/officeDocument/2006/relationships/image" Target="../media/image157.png"/><Relationship Id="rId20" Type="http://schemas.openxmlformats.org/officeDocument/2006/relationships/oleObject" Target="../embeddings/oleObject11.bin"/><Relationship Id="rId29" Type="http://schemas.openxmlformats.org/officeDocument/2006/relationships/image" Target="../media/image164.png"/><Relationship Id="rId1" Type="http://schemas.openxmlformats.org/officeDocument/2006/relationships/vmlDrawing" Target="../drawings/vmlDrawing4.vml"/><Relationship Id="rId6" Type="http://schemas.openxmlformats.org/officeDocument/2006/relationships/image" Target="../media/image17.wmf"/><Relationship Id="rId11" Type="http://schemas.openxmlformats.org/officeDocument/2006/relationships/oleObject" Target="../embeddings/oleObject10.bin"/><Relationship Id="rId24" Type="http://schemas.openxmlformats.org/officeDocument/2006/relationships/oleObject" Target="../embeddings/oleObject12.bin"/><Relationship Id="rId32" Type="http://schemas.openxmlformats.org/officeDocument/2006/relationships/image" Target="../media/image167.png"/><Relationship Id="rId5" Type="http://schemas.openxmlformats.org/officeDocument/2006/relationships/oleObject" Target="../embeddings/oleObject9.bin"/><Relationship Id="rId15" Type="http://schemas.openxmlformats.org/officeDocument/2006/relationships/image" Target="../media/image156.png"/><Relationship Id="rId23" Type="http://schemas.openxmlformats.org/officeDocument/2006/relationships/image" Target="../media/image19.wmf"/><Relationship Id="rId28" Type="http://schemas.openxmlformats.org/officeDocument/2006/relationships/image" Target="../media/image163.png"/><Relationship Id="rId36" Type="http://schemas.openxmlformats.org/officeDocument/2006/relationships/image" Target="../media/image242.png"/><Relationship Id="rId10" Type="http://schemas.openxmlformats.org/officeDocument/2006/relationships/image" Target="../media/image18.wmf"/><Relationship Id="rId19" Type="http://schemas.openxmlformats.org/officeDocument/2006/relationships/image" Target="../media/image160.png"/><Relationship Id="rId31" Type="http://schemas.openxmlformats.org/officeDocument/2006/relationships/image" Target="../media/image166.png"/><Relationship Id="rId4" Type="http://schemas.openxmlformats.org/officeDocument/2006/relationships/image" Target="../media/image227.png"/><Relationship Id="rId9" Type="http://schemas.openxmlformats.org/officeDocument/2006/relationships/oleObject" Target="../embeddings/oleObject10.bin"/><Relationship Id="rId14" Type="http://schemas.openxmlformats.org/officeDocument/2006/relationships/image" Target="../media/image155.png"/><Relationship Id="rId22" Type="http://schemas.openxmlformats.org/officeDocument/2006/relationships/oleObject" Target="../embeddings/oleObject11.bin"/><Relationship Id="rId27" Type="http://schemas.openxmlformats.org/officeDocument/2006/relationships/image" Target="../media/image65.wmf"/><Relationship Id="rId30" Type="http://schemas.openxmlformats.org/officeDocument/2006/relationships/image" Target="../media/image165.png"/><Relationship Id="rId35" Type="http://schemas.openxmlformats.org/officeDocument/2006/relationships/image" Target="../media/image241.png"/><Relationship Id="rId8" Type="http://schemas.openxmlformats.org/officeDocument/2006/relationships/image" Target="../media/image17.wmf"/></Relationships>
</file>

<file path=ppt/slides/_rels/slide23.xml.rels><?xml version="1.0" encoding="UTF-8" standalone="yes"?>
<Relationships xmlns="http://schemas.openxmlformats.org/package/2006/relationships"><Relationship Id="rId3" Type="http://schemas.openxmlformats.org/officeDocument/2006/relationships/image" Target="../media/image171.png"/><Relationship Id="rId7" Type="http://schemas.openxmlformats.org/officeDocument/2006/relationships/image" Target="../media/image175.png"/><Relationship Id="rId2" Type="http://schemas.openxmlformats.org/officeDocument/2006/relationships/image" Target="../media/image170.png"/><Relationship Id="rId1" Type="http://schemas.openxmlformats.org/officeDocument/2006/relationships/slideLayout" Target="../slideLayouts/slideLayout7.xml"/><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s>
</file>

<file path=ppt/slides/_rels/slide24.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image" Target="../media/image1500.png"/><Relationship Id="rId3" Type="http://schemas.openxmlformats.org/officeDocument/2006/relationships/image" Target="../media/image176.png"/><Relationship Id="rId7" Type="http://schemas.openxmlformats.org/officeDocument/2006/relationships/oleObject" Target="../embeddings/oleObject13.bin"/><Relationship Id="rId17" Type="http://schemas.openxmlformats.org/officeDocument/2006/relationships/image" Target="../media/image180.png"/><Relationship Id="rId2" Type="http://schemas.openxmlformats.org/officeDocument/2006/relationships/slideLayout" Target="../slideLayouts/slideLayout2.xml"/><Relationship Id="rId16" Type="http://schemas.openxmlformats.org/officeDocument/2006/relationships/image" Target="../media/image1510.png"/><Relationship Id="rId1" Type="http://schemas.openxmlformats.org/officeDocument/2006/relationships/vmlDrawing" Target="../drawings/vmlDrawing5.vml"/><Relationship Id="rId6" Type="http://schemas.openxmlformats.org/officeDocument/2006/relationships/image" Target="../media/image1470.png"/><Relationship Id="rId5" Type="http://schemas.openxmlformats.org/officeDocument/2006/relationships/image" Target="../media/image1460.png"/><Relationship Id="rId15" Type="http://schemas.openxmlformats.org/officeDocument/2006/relationships/image" Target="../media/image22.wmf"/><Relationship Id="rId10" Type="http://schemas.openxmlformats.org/officeDocument/2006/relationships/image" Target="../media/image21.wmf"/><Relationship Id="rId4" Type="http://schemas.openxmlformats.org/officeDocument/2006/relationships/image" Target="../media/image1450.png"/><Relationship Id="rId9" Type="http://schemas.openxmlformats.org/officeDocument/2006/relationships/oleObject" Target="../embeddings/oleObject14.bin"/><Relationship Id="rId14"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185.png"/><Relationship Id="rId3" Type="http://schemas.openxmlformats.org/officeDocument/2006/relationships/image" Target="../media/image1560.png"/><Relationship Id="rId7" Type="http://schemas.openxmlformats.org/officeDocument/2006/relationships/image" Target="../media/image23.wmf"/><Relationship Id="rId12" Type="http://schemas.openxmlformats.org/officeDocument/2006/relationships/image" Target="../media/image184.png"/><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16.bin"/><Relationship Id="rId11" Type="http://schemas.openxmlformats.org/officeDocument/2006/relationships/image" Target="../media/image25.wmf"/><Relationship Id="rId5" Type="http://schemas.openxmlformats.org/officeDocument/2006/relationships/image" Target="../media/image1580.png"/><Relationship Id="rId10" Type="http://schemas.openxmlformats.org/officeDocument/2006/relationships/oleObject" Target="../embeddings/oleObject18.bin"/><Relationship Id="rId4" Type="http://schemas.openxmlformats.org/officeDocument/2006/relationships/image" Target="../media/image1570.png"/><Relationship Id="rId9" Type="http://schemas.openxmlformats.org/officeDocument/2006/relationships/image" Target="../media/image24.wmf"/><Relationship Id="rId14" Type="http://schemas.openxmlformats.org/officeDocument/2006/relationships/image" Target="../media/image186.png"/></Relationships>
</file>

<file path=ppt/slides/_rels/slide26.xml.rels><?xml version="1.0" encoding="UTF-8" standalone="yes"?>
<Relationships xmlns="http://schemas.openxmlformats.org/package/2006/relationships"><Relationship Id="rId8" Type="http://schemas.openxmlformats.org/officeDocument/2006/relationships/image" Target="../media/image189.png"/><Relationship Id="rId3" Type="http://schemas.openxmlformats.org/officeDocument/2006/relationships/oleObject" Target="../embeddings/oleObject19.bin"/><Relationship Id="rId7" Type="http://schemas.openxmlformats.org/officeDocument/2006/relationships/image" Target="../media/image188.png"/><Relationship Id="rId12" Type="http://schemas.openxmlformats.org/officeDocument/2006/relationships/image" Target="../media/image193.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6.wmf"/><Relationship Id="rId11" Type="http://schemas.openxmlformats.org/officeDocument/2006/relationships/image" Target="../media/image192.png"/><Relationship Id="rId5" Type="http://schemas.openxmlformats.org/officeDocument/2006/relationships/oleObject" Target="../embeddings/oleObject20.bin"/><Relationship Id="rId10" Type="http://schemas.openxmlformats.org/officeDocument/2006/relationships/image" Target="../media/image191.png"/><Relationship Id="rId4" Type="http://schemas.openxmlformats.org/officeDocument/2006/relationships/image" Target="../media/image25.wmf"/><Relationship Id="rId9" Type="http://schemas.openxmlformats.org/officeDocument/2006/relationships/image" Target="../media/image190.png"/></Relationships>
</file>

<file path=ppt/slides/_rels/slide27.xml.rels><?xml version="1.0" encoding="UTF-8" standalone="yes"?>
<Relationships xmlns="http://schemas.openxmlformats.org/package/2006/relationships"><Relationship Id="rId3" Type="http://schemas.openxmlformats.org/officeDocument/2006/relationships/image" Target="../media/image194.png"/><Relationship Id="rId7" Type="http://schemas.openxmlformats.org/officeDocument/2006/relationships/image" Target="../media/image198.pn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0" Type="http://schemas.openxmlformats.org/officeDocument/2006/relationships/image" Target="../media/image201.png"/><Relationship Id="rId4" Type="http://schemas.openxmlformats.org/officeDocument/2006/relationships/image" Target="../media/image195.png"/></Relationships>
</file>

<file path=ppt/slides/_rels/slide28.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0.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9.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205.png"/><Relationship Id="rId18" Type="http://schemas.openxmlformats.org/officeDocument/2006/relationships/image" Target="../media/image207.png"/><Relationship Id="rId26" Type="http://schemas.openxmlformats.org/officeDocument/2006/relationships/image" Target="../media/image33.png"/><Relationship Id="rId3" Type="http://schemas.openxmlformats.org/officeDocument/2006/relationships/oleObject" Target="../embeddings/oleObject21.bin"/><Relationship Id="rId21" Type="http://schemas.openxmlformats.org/officeDocument/2006/relationships/oleObject" Target="../embeddings/oleObject23.bin"/><Relationship Id="rId7" Type="http://schemas.openxmlformats.org/officeDocument/2006/relationships/oleObject" Target="../embeddings/oleObject22.bin"/><Relationship Id="rId12" Type="http://schemas.openxmlformats.org/officeDocument/2006/relationships/image" Target="../media/image204.png"/><Relationship Id="rId17" Type="http://schemas.openxmlformats.org/officeDocument/2006/relationships/image" Target="../media/image260.png"/><Relationship Id="rId25" Type="http://schemas.openxmlformats.org/officeDocument/2006/relationships/image" Target="../media/image30.wmf"/><Relationship Id="rId2" Type="http://schemas.openxmlformats.org/officeDocument/2006/relationships/slideLayout" Target="../slideLayouts/slideLayout7.xml"/><Relationship Id="rId16" Type="http://schemas.openxmlformats.org/officeDocument/2006/relationships/image" Target="../media/image259.png"/><Relationship Id="rId20" Type="http://schemas.openxmlformats.org/officeDocument/2006/relationships/image" Target="../media/image209.png"/><Relationship Id="rId29" Type="http://schemas.openxmlformats.org/officeDocument/2006/relationships/image" Target="../media/image53.png"/><Relationship Id="rId1" Type="http://schemas.openxmlformats.org/officeDocument/2006/relationships/vmlDrawing" Target="../drawings/vmlDrawing8.vml"/><Relationship Id="rId6" Type="http://schemas.openxmlformats.org/officeDocument/2006/relationships/image" Target="../media/image27.wmf"/><Relationship Id="rId11" Type="http://schemas.openxmlformats.org/officeDocument/2006/relationships/image" Target="../media/image203.png"/><Relationship Id="rId24"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image" Target="../media/image258.png"/><Relationship Id="rId23" Type="http://schemas.openxmlformats.org/officeDocument/2006/relationships/image" Target="../media/image211.png"/><Relationship Id="rId28" Type="http://schemas.openxmlformats.org/officeDocument/2006/relationships/image" Target="../media/image52.png"/><Relationship Id="rId10" Type="http://schemas.openxmlformats.org/officeDocument/2006/relationships/image" Target="../media/image28.wmf"/><Relationship Id="rId19" Type="http://schemas.openxmlformats.org/officeDocument/2006/relationships/image" Target="../media/image208.png"/><Relationship Id="rId4" Type="http://schemas.openxmlformats.org/officeDocument/2006/relationships/image" Target="../media/image27.wmf"/><Relationship Id="rId9" Type="http://schemas.openxmlformats.org/officeDocument/2006/relationships/oleObject" Target="../embeddings/oleObject22.bin"/><Relationship Id="rId14" Type="http://schemas.openxmlformats.org/officeDocument/2006/relationships/image" Target="../media/image206.png"/><Relationship Id="rId22" Type="http://schemas.openxmlformats.org/officeDocument/2006/relationships/image" Target="../media/image29.wmf"/><Relationship Id="rId27" Type="http://schemas.openxmlformats.org/officeDocument/2006/relationships/image" Target="../media/image51.png"/></Relationships>
</file>

<file path=ppt/slides/_rels/slide30.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215.png"/><Relationship Id="rId18" Type="http://schemas.openxmlformats.org/officeDocument/2006/relationships/oleObject" Target="../embeddings/oleObject24.bin"/><Relationship Id="rId26" Type="http://schemas.openxmlformats.org/officeDocument/2006/relationships/oleObject" Target="../embeddings/oleObject26.bin"/><Relationship Id="rId3" Type="http://schemas.openxmlformats.org/officeDocument/2006/relationships/oleObject" Target="../embeddings/oleObject21.bin"/><Relationship Id="rId21" Type="http://schemas.openxmlformats.org/officeDocument/2006/relationships/oleObject" Target="../embeddings/oleObject25.bin"/><Relationship Id="rId7" Type="http://schemas.openxmlformats.org/officeDocument/2006/relationships/oleObject" Target="../embeddings/oleObject22.bin"/><Relationship Id="rId12" Type="http://schemas.openxmlformats.org/officeDocument/2006/relationships/image" Target="../media/image214.png"/><Relationship Id="rId17" Type="http://schemas.openxmlformats.org/officeDocument/2006/relationships/image" Target="../media/image260.png"/><Relationship Id="rId25" Type="http://schemas.openxmlformats.org/officeDocument/2006/relationships/image" Target="../media/image221.png"/><Relationship Id="rId2" Type="http://schemas.openxmlformats.org/officeDocument/2006/relationships/slideLayout" Target="../slideLayouts/slideLayout7.xml"/><Relationship Id="rId16" Type="http://schemas.openxmlformats.org/officeDocument/2006/relationships/image" Target="../media/image259.png"/><Relationship Id="rId20" Type="http://schemas.openxmlformats.org/officeDocument/2006/relationships/image" Target="../media/image217.png"/><Relationship Id="rId1" Type="http://schemas.openxmlformats.org/officeDocument/2006/relationships/vmlDrawing" Target="../drawings/vmlDrawing9.vml"/><Relationship Id="rId6" Type="http://schemas.openxmlformats.org/officeDocument/2006/relationships/image" Target="../media/image27.wmf"/><Relationship Id="rId11" Type="http://schemas.openxmlformats.org/officeDocument/2006/relationships/image" Target="../media/image213.png"/><Relationship Id="rId24" Type="http://schemas.openxmlformats.org/officeDocument/2006/relationships/image" Target="../media/image220.png"/><Relationship Id="rId5" Type="http://schemas.openxmlformats.org/officeDocument/2006/relationships/oleObject" Target="../embeddings/oleObject21.bin"/><Relationship Id="rId15" Type="http://schemas.openxmlformats.org/officeDocument/2006/relationships/image" Target="../media/image258.png"/><Relationship Id="rId23" Type="http://schemas.openxmlformats.org/officeDocument/2006/relationships/image" Target="../media/image219.png"/><Relationship Id="rId28" Type="http://schemas.openxmlformats.org/officeDocument/2006/relationships/image" Target="../media/image26.wmf"/><Relationship Id="rId10" Type="http://schemas.openxmlformats.org/officeDocument/2006/relationships/image" Target="../media/image28.wmf"/><Relationship Id="rId19"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22.bin"/><Relationship Id="rId14" Type="http://schemas.openxmlformats.org/officeDocument/2006/relationships/image" Target="../media/image216.png"/><Relationship Id="rId22" Type="http://schemas.openxmlformats.org/officeDocument/2006/relationships/image" Target="../media/image61.wmf"/><Relationship Id="rId27" Type="http://schemas.openxmlformats.org/officeDocument/2006/relationships/image" Target="../media/image25.wmf"/></Relationships>
</file>

<file path=ppt/slides/_rels/slide31.xml.rels><?xml version="1.0" encoding="UTF-8" standalone="yes"?>
<Relationships xmlns="http://schemas.openxmlformats.org/package/2006/relationships"><Relationship Id="rId13" Type="http://schemas.openxmlformats.org/officeDocument/2006/relationships/image" Target="../media/image230.png"/><Relationship Id="rId18" Type="http://schemas.openxmlformats.org/officeDocument/2006/relationships/oleObject" Target="../embeddings/oleObject29.bin"/><Relationship Id="rId26" Type="http://schemas.openxmlformats.org/officeDocument/2006/relationships/image" Target="../media/image316.png"/><Relationship Id="rId3" Type="http://schemas.openxmlformats.org/officeDocument/2006/relationships/oleObject" Target="../embeddings/oleObject27.bin"/><Relationship Id="rId21" Type="http://schemas.openxmlformats.org/officeDocument/2006/relationships/image" Target="../media/image64.wmf"/><Relationship Id="rId34" Type="http://schemas.openxmlformats.org/officeDocument/2006/relationships/image" Target="../media/image324.png"/><Relationship Id="rId7" Type="http://schemas.openxmlformats.org/officeDocument/2006/relationships/oleObject" Target="../embeddings/oleObject28.bin"/><Relationship Id="rId12" Type="http://schemas.openxmlformats.org/officeDocument/2006/relationships/image" Target="../media/image229.png"/><Relationship Id="rId17" Type="http://schemas.openxmlformats.org/officeDocument/2006/relationships/image" Target="../media/image234.png"/><Relationship Id="rId25" Type="http://schemas.openxmlformats.org/officeDocument/2006/relationships/image" Target="../media/image66.wmf"/><Relationship Id="rId33" Type="http://schemas.openxmlformats.org/officeDocument/2006/relationships/image" Target="../media/image323.png"/><Relationship Id="rId2" Type="http://schemas.openxmlformats.org/officeDocument/2006/relationships/slideLayout" Target="../slideLayouts/slideLayout7.xml"/><Relationship Id="rId16" Type="http://schemas.openxmlformats.org/officeDocument/2006/relationships/image" Target="../media/image233.png"/><Relationship Id="rId20" Type="http://schemas.openxmlformats.org/officeDocument/2006/relationships/oleObject" Target="../embeddings/oleObject29.bin"/><Relationship Id="rId29" Type="http://schemas.openxmlformats.org/officeDocument/2006/relationships/image" Target="../media/image319.png"/><Relationship Id="rId1" Type="http://schemas.openxmlformats.org/officeDocument/2006/relationships/vmlDrawing" Target="../drawings/vmlDrawing10.vml"/><Relationship Id="rId6" Type="http://schemas.openxmlformats.org/officeDocument/2006/relationships/image" Target="../media/image62.wmf"/><Relationship Id="rId11" Type="http://schemas.openxmlformats.org/officeDocument/2006/relationships/image" Target="../media/image228.png"/><Relationship Id="rId24" Type="http://schemas.openxmlformats.org/officeDocument/2006/relationships/oleObject" Target="../embeddings/oleObject30.bin"/><Relationship Id="rId32" Type="http://schemas.openxmlformats.org/officeDocument/2006/relationships/image" Target="../media/image322.png"/><Relationship Id="rId5" Type="http://schemas.openxmlformats.org/officeDocument/2006/relationships/oleObject" Target="../embeddings/oleObject27.bin"/><Relationship Id="rId15" Type="http://schemas.openxmlformats.org/officeDocument/2006/relationships/image" Target="../media/image232.png"/><Relationship Id="rId23" Type="http://schemas.openxmlformats.org/officeDocument/2006/relationships/image" Target="../media/image66.wmf"/><Relationship Id="rId28" Type="http://schemas.openxmlformats.org/officeDocument/2006/relationships/image" Target="../media/image318.png"/><Relationship Id="rId36" Type="http://schemas.openxmlformats.org/officeDocument/2006/relationships/image" Target="../media/image326.png"/><Relationship Id="rId10" Type="http://schemas.openxmlformats.org/officeDocument/2006/relationships/image" Target="../media/image63.wmf"/><Relationship Id="rId19" Type="http://schemas.openxmlformats.org/officeDocument/2006/relationships/image" Target="../media/image64.wmf"/><Relationship Id="rId31" Type="http://schemas.openxmlformats.org/officeDocument/2006/relationships/image" Target="../media/image321.png"/><Relationship Id="rId4" Type="http://schemas.openxmlformats.org/officeDocument/2006/relationships/image" Target="../media/image62.wmf"/><Relationship Id="rId9" Type="http://schemas.openxmlformats.org/officeDocument/2006/relationships/oleObject" Target="../embeddings/oleObject28.bin"/><Relationship Id="rId14" Type="http://schemas.openxmlformats.org/officeDocument/2006/relationships/image" Target="../media/image231.png"/><Relationship Id="rId22" Type="http://schemas.openxmlformats.org/officeDocument/2006/relationships/oleObject" Target="../embeddings/oleObject30.bin"/><Relationship Id="rId27" Type="http://schemas.openxmlformats.org/officeDocument/2006/relationships/image" Target="../media/image317.png"/><Relationship Id="rId30" Type="http://schemas.openxmlformats.org/officeDocument/2006/relationships/image" Target="../media/image320.png"/><Relationship Id="rId35" Type="http://schemas.openxmlformats.org/officeDocument/2006/relationships/image" Target="../media/image325.png"/><Relationship Id="rId8" Type="http://schemas.openxmlformats.org/officeDocument/2006/relationships/image" Target="../media/image63.wmf"/></Relationships>
</file>

<file path=ppt/slides/_rels/slide32.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250.png"/><Relationship Id="rId18" Type="http://schemas.openxmlformats.org/officeDocument/2006/relationships/image" Target="../media/image255.png"/><Relationship Id="rId3" Type="http://schemas.openxmlformats.org/officeDocument/2006/relationships/image" Target="../media/image238.png"/><Relationship Id="rId7" Type="http://schemas.openxmlformats.org/officeDocument/2006/relationships/image" Target="../media/image244.png"/><Relationship Id="rId12" Type="http://schemas.openxmlformats.org/officeDocument/2006/relationships/image" Target="../media/image249.png"/><Relationship Id="rId17" Type="http://schemas.openxmlformats.org/officeDocument/2006/relationships/image" Target="../media/image254.png"/><Relationship Id="rId2" Type="http://schemas.openxmlformats.org/officeDocument/2006/relationships/image" Target="../media/image237.png"/><Relationship Id="rId16" Type="http://schemas.openxmlformats.org/officeDocument/2006/relationships/image" Target="../media/image253.png"/><Relationship Id="rId1" Type="http://schemas.openxmlformats.org/officeDocument/2006/relationships/slideLayout" Target="../slideLayouts/slideLayout7.xml"/><Relationship Id="rId6" Type="http://schemas.openxmlformats.org/officeDocument/2006/relationships/image" Target="../media/image243.png"/><Relationship Id="rId11" Type="http://schemas.openxmlformats.org/officeDocument/2006/relationships/image" Target="../media/image248.png"/><Relationship Id="rId5" Type="http://schemas.openxmlformats.org/officeDocument/2006/relationships/image" Target="../media/image240.png"/><Relationship Id="rId15" Type="http://schemas.openxmlformats.org/officeDocument/2006/relationships/image" Target="../media/image252.png"/><Relationship Id="rId10" Type="http://schemas.openxmlformats.org/officeDocument/2006/relationships/image" Target="../media/image247.png"/><Relationship Id="rId4" Type="http://schemas.openxmlformats.org/officeDocument/2006/relationships/image" Target="../media/image239.png"/><Relationship Id="rId9" Type="http://schemas.openxmlformats.org/officeDocument/2006/relationships/image" Target="../media/image246.png"/><Relationship Id="rId14" Type="http://schemas.openxmlformats.org/officeDocument/2006/relationships/image" Target="../media/image251.png"/></Relationships>
</file>

<file path=ppt/slides/_rels/slide33.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250.png"/><Relationship Id="rId18" Type="http://schemas.openxmlformats.org/officeDocument/2006/relationships/image" Target="../media/image255.png"/><Relationship Id="rId21" Type="http://schemas.openxmlformats.org/officeDocument/2006/relationships/image" Target="../media/image480.png"/><Relationship Id="rId12" Type="http://schemas.openxmlformats.org/officeDocument/2006/relationships/image" Target="../media/image249.png"/><Relationship Id="rId17" Type="http://schemas.openxmlformats.org/officeDocument/2006/relationships/image" Target="../media/image254.png"/><Relationship Id="rId16" Type="http://schemas.openxmlformats.org/officeDocument/2006/relationships/image" Target="../media/image253.png"/><Relationship Id="rId20" Type="http://schemas.openxmlformats.org/officeDocument/2006/relationships/image" Target="../media/image470.png"/><Relationship Id="rId1" Type="http://schemas.openxmlformats.org/officeDocument/2006/relationships/slideLayout" Target="../slideLayouts/slideLayout7.xml"/><Relationship Id="rId11" Type="http://schemas.openxmlformats.org/officeDocument/2006/relationships/image" Target="../media/image248.png"/><Relationship Id="rId15" Type="http://schemas.openxmlformats.org/officeDocument/2006/relationships/image" Target="../media/image252.png"/><Relationship Id="rId10" Type="http://schemas.openxmlformats.org/officeDocument/2006/relationships/image" Target="../media/image247.png"/><Relationship Id="rId19" Type="http://schemas.openxmlformats.org/officeDocument/2006/relationships/image" Target="../media/image462.png"/><Relationship Id="rId9" Type="http://schemas.openxmlformats.org/officeDocument/2006/relationships/image" Target="../media/image246.png"/><Relationship Id="rId14" Type="http://schemas.openxmlformats.org/officeDocument/2006/relationships/image" Target="../media/image251.png"/></Relationships>
</file>

<file path=ppt/slides/_rels/slide3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10.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35.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0.png"/><Relationship Id="rId1" Type="http://schemas.openxmlformats.org/officeDocument/2006/relationships/slideLayout" Target="../slideLayouts/slideLayout7.xml"/><Relationship Id="rId6" Type="http://schemas.openxmlformats.org/officeDocument/2006/relationships/image" Target="../media/image460.png"/><Relationship Id="rId5" Type="http://schemas.openxmlformats.org/officeDocument/2006/relationships/image" Target="../media/image303.png"/><Relationship Id="rId4" Type="http://schemas.openxmlformats.org/officeDocument/2006/relationships/image" Target="../media/image30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266.png"/><Relationship Id="rId3" Type="http://schemas.openxmlformats.org/officeDocument/2006/relationships/image" Target="../media/image261.png"/><Relationship Id="rId7" Type="http://schemas.openxmlformats.org/officeDocument/2006/relationships/image" Target="../media/image265.png"/><Relationship Id="rId2" Type="http://schemas.openxmlformats.org/officeDocument/2006/relationships/image" Target="../media/image257.png"/><Relationship Id="rId1" Type="http://schemas.openxmlformats.org/officeDocument/2006/relationships/slideLayout" Target="../slideLayouts/slideLayout7.xml"/><Relationship Id="rId6" Type="http://schemas.openxmlformats.org/officeDocument/2006/relationships/image" Target="../media/image264.png"/><Relationship Id="rId5" Type="http://schemas.openxmlformats.org/officeDocument/2006/relationships/image" Target="../media/image263.png"/><Relationship Id="rId4" Type="http://schemas.openxmlformats.org/officeDocument/2006/relationships/image" Target="../media/image262.png"/><Relationship Id="rId9" Type="http://schemas.openxmlformats.org/officeDocument/2006/relationships/image" Target="../media/image267.png"/></Relationships>
</file>

<file path=ppt/slides/_rels/slide39.xml.rels><?xml version="1.0" encoding="UTF-8" standalone="yes"?>
<Relationships xmlns="http://schemas.openxmlformats.org/package/2006/relationships"><Relationship Id="rId8" Type="http://schemas.openxmlformats.org/officeDocument/2006/relationships/image" Target="../media/image274.png"/><Relationship Id="rId13" Type="http://schemas.openxmlformats.org/officeDocument/2006/relationships/image" Target="../media/image279.png"/><Relationship Id="rId18" Type="http://schemas.openxmlformats.org/officeDocument/2006/relationships/image" Target="../media/image284.png"/><Relationship Id="rId3" Type="http://schemas.openxmlformats.org/officeDocument/2006/relationships/image" Target="../media/image269.png"/><Relationship Id="rId21" Type="http://schemas.openxmlformats.org/officeDocument/2006/relationships/image" Target="../media/image287.png"/><Relationship Id="rId7" Type="http://schemas.openxmlformats.org/officeDocument/2006/relationships/image" Target="../media/image273.png"/><Relationship Id="rId12" Type="http://schemas.openxmlformats.org/officeDocument/2006/relationships/image" Target="../media/image278.png"/><Relationship Id="rId17" Type="http://schemas.openxmlformats.org/officeDocument/2006/relationships/image" Target="../media/image283.png"/><Relationship Id="rId25" Type="http://schemas.openxmlformats.org/officeDocument/2006/relationships/image" Target="../media/image291.png"/><Relationship Id="rId2" Type="http://schemas.openxmlformats.org/officeDocument/2006/relationships/image" Target="../media/image268.png"/><Relationship Id="rId16" Type="http://schemas.openxmlformats.org/officeDocument/2006/relationships/image" Target="../media/image282.png"/><Relationship Id="rId20" Type="http://schemas.openxmlformats.org/officeDocument/2006/relationships/image" Target="../media/image286.png"/><Relationship Id="rId1" Type="http://schemas.openxmlformats.org/officeDocument/2006/relationships/slideLayout" Target="../slideLayouts/slideLayout7.xml"/><Relationship Id="rId6" Type="http://schemas.openxmlformats.org/officeDocument/2006/relationships/image" Target="../media/image272.png"/><Relationship Id="rId11" Type="http://schemas.openxmlformats.org/officeDocument/2006/relationships/image" Target="../media/image277.png"/><Relationship Id="rId24" Type="http://schemas.openxmlformats.org/officeDocument/2006/relationships/image" Target="../media/image290.png"/><Relationship Id="rId5" Type="http://schemas.openxmlformats.org/officeDocument/2006/relationships/image" Target="../media/image271.png"/><Relationship Id="rId15" Type="http://schemas.openxmlformats.org/officeDocument/2006/relationships/image" Target="../media/image281.png"/><Relationship Id="rId23" Type="http://schemas.openxmlformats.org/officeDocument/2006/relationships/image" Target="../media/image289.png"/><Relationship Id="rId10" Type="http://schemas.openxmlformats.org/officeDocument/2006/relationships/image" Target="../media/image276.png"/><Relationship Id="rId19" Type="http://schemas.openxmlformats.org/officeDocument/2006/relationships/image" Target="../media/image285.png"/><Relationship Id="rId4" Type="http://schemas.openxmlformats.org/officeDocument/2006/relationships/image" Target="../media/image270.png"/><Relationship Id="rId9" Type="http://schemas.openxmlformats.org/officeDocument/2006/relationships/image" Target="../media/image275.png"/><Relationship Id="rId14" Type="http://schemas.openxmlformats.org/officeDocument/2006/relationships/image" Target="../media/image280.png"/><Relationship Id="rId22" Type="http://schemas.openxmlformats.org/officeDocument/2006/relationships/image" Target="../media/image288.png"/></Relationships>
</file>

<file path=ppt/slides/_rels/slide40.xml.rels><?xml version="1.0" encoding="UTF-8" standalone="yes"?>
<Relationships xmlns="http://schemas.openxmlformats.org/package/2006/relationships"><Relationship Id="rId8" Type="http://schemas.openxmlformats.org/officeDocument/2006/relationships/image" Target="../media/image274.png"/><Relationship Id="rId13" Type="http://schemas.openxmlformats.org/officeDocument/2006/relationships/image" Target="../media/image279.png"/><Relationship Id="rId18" Type="http://schemas.openxmlformats.org/officeDocument/2006/relationships/image" Target="../media/image292.png"/><Relationship Id="rId3" Type="http://schemas.openxmlformats.org/officeDocument/2006/relationships/image" Target="../media/image269.png"/><Relationship Id="rId7" Type="http://schemas.openxmlformats.org/officeDocument/2006/relationships/image" Target="../media/image273.png"/><Relationship Id="rId12" Type="http://schemas.openxmlformats.org/officeDocument/2006/relationships/image" Target="../media/image278.png"/><Relationship Id="rId17" Type="http://schemas.openxmlformats.org/officeDocument/2006/relationships/image" Target="../media/image283.png"/><Relationship Id="rId2" Type="http://schemas.openxmlformats.org/officeDocument/2006/relationships/image" Target="../media/image268.png"/><Relationship Id="rId16" Type="http://schemas.openxmlformats.org/officeDocument/2006/relationships/image" Target="../media/image282.png"/><Relationship Id="rId20" Type="http://schemas.openxmlformats.org/officeDocument/2006/relationships/image" Target="../media/image287.png"/><Relationship Id="rId1" Type="http://schemas.openxmlformats.org/officeDocument/2006/relationships/slideLayout" Target="../slideLayouts/slideLayout7.xml"/><Relationship Id="rId6" Type="http://schemas.openxmlformats.org/officeDocument/2006/relationships/image" Target="../media/image272.png"/><Relationship Id="rId11" Type="http://schemas.openxmlformats.org/officeDocument/2006/relationships/image" Target="../media/image277.png"/><Relationship Id="rId5" Type="http://schemas.openxmlformats.org/officeDocument/2006/relationships/image" Target="../media/image271.png"/><Relationship Id="rId15" Type="http://schemas.openxmlformats.org/officeDocument/2006/relationships/image" Target="../media/image281.png"/><Relationship Id="rId10" Type="http://schemas.openxmlformats.org/officeDocument/2006/relationships/image" Target="../media/image276.png"/><Relationship Id="rId19" Type="http://schemas.openxmlformats.org/officeDocument/2006/relationships/image" Target="../media/image293.png"/><Relationship Id="rId4" Type="http://schemas.openxmlformats.org/officeDocument/2006/relationships/image" Target="../media/image270.png"/><Relationship Id="rId9" Type="http://schemas.openxmlformats.org/officeDocument/2006/relationships/image" Target="../media/image275.png"/><Relationship Id="rId14" Type="http://schemas.openxmlformats.org/officeDocument/2006/relationships/image" Target="../media/image280.png"/></Relationships>
</file>

<file path=ppt/slides/_rels/slide41.xml.rels><?xml version="1.0" encoding="UTF-8" standalone="yes"?>
<Relationships xmlns="http://schemas.openxmlformats.org/package/2006/relationships"><Relationship Id="rId3" Type="http://schemas.openxmlformats.org/officeDocument/2006/relationships/image" Target="../media/image295.png"/><Relationship Id="rId7" Type="http://schemas.openxmlformats.org/officeDocument/2006/relationships/image" Target="../media/image299.png"/><Relationship Id="rId2" Type="http://schemas.openxmlformats.org/officeDocument/2006/relationships/image" Target="../media/image294.png"/><Relationship Id="rId1" Type="http://schemas.openxmlformats.org/officeDocument/2006/relationships/slideLayout" Target="../slideLayouts/slideLayout7.xml"/><Relationship Id="rId6" Type="http://schemas.openxmlformats.org/officeDocument/2006/relationships/image" Target="../media/image298.png"/><Relationship Id="rId5" Type="http://schemas.openxmlformats.org/officeDocument/2006/relationships/image" Target="../media/image297.png"/><Relationship Id="rId4" Type="http://schemas.openxmlformats.org/officeDocument/2006/relationships/image" Target="../media/image29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2D7433A-F249-4D88-99C7-2CD3A7B0318F}"/>
              </a:ext>
            </a:extLst>
          </p:cNvPr>
          <p:cNvSpPr txBox="1"/>
          <p:nvPr/>
        </p:nvSpPr>
        <p:spPr>
          <a:xfrm>
            <a:off x="281421" y="240832"/>
            <a:ext cx="9682667" cy="646331"/>
          </a:xfrm>
          <a:prstGeom prst="rect">
            <a:avLst/>
          </a:prstGeom>
          <a:noFill/>
        </p:spPr>
        <p:txBody>
          <a:bodyPr wrap="square" rtlCol="0">
            <a:spAutoFit/>
          </a:bodyPr>
          <a:lstStyle/>
          <a:p>
            <a:r>
              <a:rPr lang="zh-CN" altLang="en-US" sz="3600" b="1" dirty="0">
                <a:latin typeface="华文楷体" panose="02010600040101010101" pitchFamily="2" charset="-122"/>
                <a:ea typeface="华文楷体" panose="02010600040101010101" pitchFamily="2" charset="-122"/>
              </a:rPr>
              <a:t>大学物理学 </a:t>
            </a:r>
            <a:r>
              <a:rPr lang="en-US" altLang="zh-CN" sz="3600" b="1" dirty="0">
                <a:latin typeface="华文楷体" panose="02010600040101010101" pitchFamily="2" charset="-122"/>
                <a:ea typeface="华文楷体" panose="02010600040101010101" pitchFamily="2" charset="-122"/>
              </a:rPr>
              <a:t>II </a:t>
            </a:r>
            <a:r>
              <a:rPr lang="zh-CN" altLang="en-US" sz="3600" b="1" dirty="0">
                <a:latin typeface="华文楷体" panose="02010600040101010101" pitchFamily="2" charset="-122"/>
                <a:ea typeface="华文楷体" panose="02010600040101010101" pitchFamily="2" charset="-122"/>
              </a:rPr>
              <a:t>（热学</a:t>
            </a:r>
            <a:r>
              <a:rPr lang="en-US" altLang="zh-CN" sz="3600" b="1" dirty="0">
                <a:latin typeface="华文楷体" panose="02010600040101010101" pitchFamily="2" charset="-122"/>
                <a:ea typeface="华文楷体" panose="02010600040101010101" pitchFamily="2" charset="-122"/>
              </a:rPr>
              <a:t>/</a:t>
            </a:r>
            <a:r>
              <a:rPr lang="zh-CN" altLang="en-US" sz="3600" b="1" dirty="0">
                <a:latin typeface="华文楷体" panose="02010600040101010101" pitchFamily="2" charset="-122"/>
                <a:ea typeface="华文楷体" panose="02010600040101010101" pitchFamily="2" charset="-122"/>
              </a:rPr>
              <a:t>电磁学</a:t>
            </a:r>
            <a:r>
              <a:rPr lang="en-US" altLang="zh-CN" sz="3600" b="1" dirty="0">
                <a:latin typeface="华文楷体" panose="02010600040101010101" pitchFamily="2" charset="-122"/>
                <a:ea typeface="华文楷体" panose="02010600040101010101" pitchFamily="2" charset="-122"/>
              </a:rPr>
              <a:t>/</a:t>
            </a:r>
            <a:r>
              <a:rPr lang="zh-CN" altLang="en-US" sz="3600" b="1" dirty="0">
                <a:latin typeface="华文楷体" panose="02010600040101010101" pitchFamily="2" charset="-122"/>
                <a:ea typeface="华文楷体" panose="02010600040101010101" pitchFamily="2" charset="-122"/>
              </a:rPr>
              <a:t>光学</a:t>
            </a:r>
            <a:r>
              <a:rPr lang="en-US" altLang="zh-CN" sz="3600" b="1" dirty="0">
                <a:latin typeface="华文楷体" panose="02010600040101010101" pitchFamily="2" charset="-122"/>
                <a:ea typeface="华文楷体" panose="02010600040101010101" pitchFamily="2" charset="-122"/>
              </a:rPr>
              <a:t>/</a:t>
            </a:r>
            <a:r>
              <a:rPr lang="zh-CN" altLang="en-US" sz="3600" b="1" dirty="0">
                <a:latin typeface="华文楷体" panose="02010600040101010101" pitchFamily="2" charset="-122"/>
                <a:ea typeface="华文楷体" panose="02010600040101010101" pitchFamily="2" charset="-122"/>
              </a:rPr>
              <a:t>量子力学）</a:t>
            </a:r>
            <a:endParaRPr lang="en-US" sz="3600" b="1" dirty="0">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BFEF6794-3A6E-48CD-9594-F5F9A5517011}"/>
              </a:ext>
            </a:extLst>
          </p:cNvPr>
          <p:cNvSpPr txBox="1"/>
          <p:nvPr/>
        </p:nvSpPr>
        <p:spPr>
          <a:xfrm>
            <a:off x="754571" y="2237717"/>
            <a:ext cx="6448059" cy="492443"/>
          </a:xfrm>
          <a:prstGeom prst="rect">
            <a:avLst/>
          </a:prstGeom>
          <a:noFill/>
        </p:spPr>
        <p:txBody>
          <a:bodyPr wrap="square" rtlCol="0">
            <a:spAutoFit/>
          </a:bodyPr>
          <a:lstStyle/>
          <a:p>
            <a:pPr marL="342900" indent="-342900">
              <a:buFont typeface="Wingdings" panose="05000000000000000000" pitchFamily="2" charset="2"/>
              <a:buChar char="q"/>
            </a:pPr>
            <a:r>
              <a:rPr lang="en-US" sz="2600" dirty="0">
                <a:latin typeface="Times New Roman" panose="02020603050405020304" pitchFamily="18" charset="0"/>
                <a:ea typeface="华文楷体" panose="02010600040101010101" pitchFamily="2" charset="-122"/>
                <a:cs typeface="Times New Roman" panose="02020603050405020304" pitchFamily="18" charset="0"/>
              </a:rPr>
              <a:t>PPT</a:t>
            </a: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讲授为主，雨课堂 </a:t>
            </a:r>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64EA3BA6-45C0-4ED4-AB2E-0D71A3F9B320}"/>
              </a:ext>
            </a:extLst>
          </p:cNvPr>
          <p:cNvSpPr/>
          <p:nvPr/>
        </p:nvSpPr>
        <p:spPr>
          <a:xfrm>
            <a:off x="754571" y="2838872"/>
            <a:ext cx="6810756" cy="892552"/>
          </a:xfrm>
          <a:prstGeom prst="rect">
            <a:avLst/>
          </a:prstGeom>
        </p:spPr>
        <p:txBody>
          <a:bodyPr wrap="square">
            <a:spAutoFit/>
          </a:bodyPr>
          <a:lstStyle/>
          <a:p>
            <a:pPr marL="342900" indent="-342900">
              <a:buFont typeface="Wingdings" panose="05000000000000000000" pitchFamily="2" charset="2"/>
              <a:buChar char="q"/>
            </a:pPr>
            <a:r>
              <a:rPr lang="en-US" sz="2600" kern="100" dirty="0">
                <a:latin typeface="Times New Roman" panose="02020603050405020304" pitchFamily="18" charset="0"/>
                <a:ea typeface="华文楷体" panose="02010600040101010101" pitchFamily="2" charset="-122"/>
                <a:cs typeface="Times New Roman" panose="02020603050405020304" pitchFamily="18" charset="0"/>
              </a:rPr>
              <a:t>1-18</a:t>
            </a:r>
            <a:r>
              <a:rPr lang="zh-CN" altLang="en-US" sz="2600" kern="100" dirty="0">
                <a:latin typeface="Times New Roman" panose="02020603050405020304" pitchFamily="18" charset="0"/>
                <a:ea typeface="华文楷体" panose="02010600040101010101" pitchFamily="2" charset="-122"/>
                <a:cs typeface="Times New Roman" panose="02020603050405020304" pitchFamily="18" charset="0"/>
              </a:rPr>
              <a:t>周：周二、周四 </a:t>
            </a:r>
            <a:r>
              <a:rPr lang="en-US" altLang="zh-CN" sz="2600" kern="100" dirty="0">
                <a:latin typeface="Times New Roman" panose="02020603050405020304" pitchFamily="18" charset="0"/>
                <a:ea typeface="华文楷体" panose="02010600040101010101" pitchFamily="2" charset="-122"/>
                <a:cs typeface="Times New Roman" panose="02020603050405020304" pitchFamily="18" charset="0"/>
              </a:rPr>
              <a:t>3-4 </a:t>
            </a:r>
            <a:r>
              <a:rPr lang="zh-CN" altLang="en-US" sz="2600" kern="100" dirty="0">
                <a:latin typeface="Times New Roman" panose="02020603050405020304" pitchFamily="18" charset="0"/>
                <a:ea typeface="华文楷体" panose="02010600040101010101" pitchFamily="2" charset="-122"/>
                <a:cs typeface="Times New Roman" panose="02020603050405020304" pitchFamily="18" charset="0"/>
              </a:rPr>
              <a:t>节</a:t>
            </a:r>
            <a:endParaRPr lang="en-US" sz="26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6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sz="26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4DD7D5A9-E244-407E-8F50-E67E597F39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025" y="62042"/>
            <a:ext cx="2083981" cy="711069"/>
          </a:xfrm>
          <a:prstGeom prst="rect">
            <a:avLst/>
          </a:prstGeom>
        </p:spPr>
      </p:pic>
      <p:sp>
        <p:nvSpPr>
          <p:cNvPr id="10" name="矩形 9">
            <a:extLst>
              <a:ext uri="{FF2B5EF4-FFF2-40B4-BE49-F238E27FC236}">
                <a16:creationId xmlns:a16="http://schemas.microsoft.com/office/drawing/2014/main" id="{E2B502F4-6A74-4ED3-9C98-58A5BA872159}"/>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sz="2600">
              <a:solidFill>
                <a:prstClr val="white"/>
              </a:solidFill>
              <a:latin typeface="华文楷体" panose="02010600040101010101" pitchFamily="2" charset="-122"/>
              <a:ea typeface="华文楷体" panose="02010600040101010101" pitchFamily="2" charset="-122"/>
            </a:endParaRPr>
          </a:p>
        </p:txBody>
      </p:sp>
      <p:sp>
        <p:nvSpPr>
          <p:cNvPr id="11" name="文本框 10">
            <a:extLst>
              <a:ext uri="{FF2B5EF4-FFF2-40B4-BE49-F238E27FC236}">
                <a16:creationId xmlns:a16="http://schemas.microsoft.com/office/drawing/2014/main" id="{9ADECD86-CE5D-4EAC-B30C-B6B766B1B148}"/>
              </a:ext>
            </a:extLst>
          </p:cNvPr>
          <p:cNvSpPr txBox="1"/>
          <p:nvPr/>
        </p:nvSpPr>
        <p:spPr>
          <a:xfrm>
            <a:off x="754571" y="1236453"/>
            <a:ext cx="10649743" cy="1292662"/>
          </a:xfrm>
          <a:prstGeom prst="rect">
            <a:avLst/>
          </a:prstGeom>
          <a:noFill/>
        </p:spPr>
        <p:txBody>
          <a:bodyPr wrap="square" rtlCol="0">
            <a:spAutoFit/>
          </a:bodyPr>
          <a:lstStyle/>
          <a:p>
            <a:pPr marL="285750" indent="-285750">
              <a:buFont typeface="Wingdings" panose="05000000000000000000" pitchFamily="2" charset="2"/>
              <a:buChar char="q"/>
            </a:pPr>
            <a:r>
              <a:rPr lang="en-US" altLang="zh-CN" sz="26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kern="100" dirty="0">
                <a:latin typeface="Times New Roman" panose="02020603050405020304" pitchFamily="18" charset="0"/>
                <a:ea typeface="华文楷体" panose="02010600040101010101" pitchFamily="2" charset="-122"/>
                <a:cs typeface="Times New Roman" panose="02020603050405020304" pitchFamily="18" charset="0"/>
              </a:rPr>
              <a:t>大学物理学：电磁学、光学、量子物理</a:t>
            </a:r>
            <a:r>
              <a:rPr lang="en-US" altLang="zh-CN" sz="2600" kern="100" dirty="0">
                <a:latin typeface="Times New Roman" panose="02020603050405020304" pitchFamily="18" charset="0"/>
                <a:ea typeface="华文楷体" panose="02010600040101010101" pitchFamily="2" charset="-122"/>
                <a:cs typeface="Times New Roman" panose="02020603050405020304" pitchFamily="18" charset="0"/>
              </a:rPr>
              <a:t>》</a:t>
            </a:r>
            <a:br>
              <a:rPr lang="en-US" altLang="zh-CN" sz="2600" kern="100" dirty="0">
                <a:latin typeface="Times New Roman" panose="02020603050405020304" pitchFamily="18" charset="0"/>
                <a:ea typeface="华文楷体" panose="02010600040101010101" pitchFamily="2" charset="-122"/>
                <a:cs typeface="Times New Roman" panose="02020603050405020304" pitchFamily="18" charset="0"/>
              </a:rPr>
            </a:br>
            <a:r>
              <a:rPr lang="zh-CN" altLang="en-US" sz="2600" kern="100" dirty="0">
                <a:latin typeface="Times New Roman" panose="02020603050405020304" pitchFamily="18" charset="0"/>
                <a:ea typeface="华文楷体" panose="02010600040101010101" pitchFamily="2" charset="-122"/>
                <a:cs typeface="Times New Roman" panose="02020603050405020304" pitchFamily="18" charset="0"/>
              </a:rPr>
              <a:t>张三慧 编著，清华大学出版社，第四版，</a:t>
            </a:r>
            <a:r>
              <a:rPr lang="en-US" sz="2600" kern="100" dirty="0">
                <a:latin typeface="Times New Roman" panose="02020603050405020304" pitchFamily="18" charset="0"/>
                <a:ea typeface="华文楷体" panose="02010600040101010101" pitchFamily="2" charset="-122"/>
                <a:cs typeface="Times New Roman" panose="02020603050405020304" pitchFamily="18" charset="0"/>
              </a:rPr>
              <a:t>2018</a:t>
            </a:r>
          </a:p>
          <a:p>
            <a:pPr marL="285750" indent="-285750">
              <a:buFont typeface="Wingdings" panose="05000000000000000000" pitchFamily="2" charset="2"/>
              <a:buChar char="q"/>
            </a:pPr>
            <a:endParaRPr lang="en-US" sz="2600" dirty="0">
              <a:solidFill>
                <a:srgbClr val="FF0000"/>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53E604FE-572D-4D13-A1F1-539A54863AB9}"/>
              </a:ext>
            </a:extLst>
          </p:cNvPr>
          <p:cNvSpPr txBox="1"/>
          <p:nvPr/>
        </p:nvSpPr>
        <p:spPr>
          <a:xfrm>
            <a:off x="754571" y="3429000"/>
            <a:ext cx="11479951" cy="3293209"/>
          </a:xfrm>
          <a:prstGeom prst="rect">
            <a:avLst/>
          </a:prstGeom>
          <a:noFill/>
        </p:spPr>
        <p:txBody>
          <a:bodyPr wrap="square" rtlCol="0">
            <a:spAutoFit/>
          </a:bodyPr>
          <a:lstStyle/>
          <a:p>
            <a:pPr marL="342900" indent="-342900">
              <a:buFont typeface="Wingdings" panose="05000000000000000000" pitchFamily="2" charset="2"/>
              <a:buChar char="q"/>
            </a:pPr>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成绩：</a:t>
            </a:r>
          </a:p>
          <a:p>
            <a:r>
              <a:rPr lang="en-US" altLang="zh-CN" sz="2600" dirty="0"/>
              <a:t>- </a:t>
            </a:r>
            <a:r>
              <a:rPr lang="zh-CN" altLang="zh-CN" sz="2600" dirty="0"/>
              <a:t>平时成绩</a:t>
            </a:r>
            <a:r>
              <a:rPr lang="zh-CN" altLang="en-US" sz="2600" dirty="0"/>
              <a:t>：</a:t>
            </a:r>
            <a:r>
              <a:rPr lang="en-US" altLang="zh-CN" sz="2600" dirty="0"/>
              <a:t>40%</a:t>
            </a:r>
            <a:r>
              <a:rPr lang="zh-CN" altLang="en-US" sz="2600" dirty="0"/>
              <a:t> （</a:t>
            </a:r>
            <a:r>
              <a:rPr lang="zh-CN" altLang="zh-CN" sz="2600" dirty="0"/>
              <a:t>考勤占</a:t>
            </a:r>
            <a:r>
              <a:rPr lang="en-US" altLang="zh-CN" sz="2600" dirty="0"/>
              <a:t>5%</a:t>
            </a:r>
            <a:r>
              <a:rPr lang="zh-CN" altLang="zh-CN" sz="2600" dirty="0"/>
              <a:t>；两次小测占</a:t>
            </a:r>
            <a:r>
              <a:rPr lang="en-US" altLang="zh-CN" sz="2600" dirty="0"/>
              <a:t> 10%</a:t>
            </a:r>
            <a:r>
              <a:rPr lang="zh-CN" altLang="zh-CN" sz="2600" dirty="0"/>
              <a:t>；平时作业占</a:t>
            </a:r>
            <a:r>
              <a:rPr lang="en-US" altLang="zh-CN" sz="2600" dirty="0"/>
              <a:t> 25%</a:t>
            </a:r>
            <a:r>
              <a:rPr lang="zh-CN" altLang="en-US" sz="2600" dirty="0"/>
              <a:t>）</a:t>
            </a:r>
            <a:endParaRPr lang="en-US" altLang="zh-CN" sz="2600" dirty="0"/>
          </a:p>
          <a:p>
            <a:r>
              <a:rPr lang="zh-CN" altLang="en-US" sz="2600" dirty="0"/>
              <a:t>考勤：雨课堂签到（每次缺勤扣</a:t>
            </a:r>
            <a:r>
              <a:rPr lang="en-US" altLang="zh-CN" sz="2600" dirty="0"/>
              <a:t>0.25</a:t>
            </a:r>
            <a:r>
              <a:rPr lang="zh-CN" altLang="en-US" sz="2600" dirty="0"/>
              <a:t>分，扣完为止）</a:t>
            </a:r>
            <a:endParaRPr lang="en-US" altLang="zh-CN" sz="2600" dirty="0"/>
          </a:p>
          <a:p>
            <a:r>
              <a:rPr lang="zh-CN" altLang="en-US" sz="2600" dirty="0"/>
              <a:t>第一次小测：第</a:t>
            </a:r>
            <a:r>
              <a:rPr lang="en-US" altLang="zh-CN" sz="2600" dirty="0"/>
              <a:t>9</a:t>
            </a:r>
            <a:r>
              <a:rPr lang="zh-CN" altLang="en-US" sz="2600" dirty="0"/>
              <a:t>周，题型为选择题（</a:t>
            </a:r>
            <a:r>
              <a:rPr lang="en-US" altLang="zh-CN" sz="2600" dirty="0"/>
              <a:t>10</a:t>
            </a:r>
            <a:r>
              <a:rPr lang="zh-CN" altLang="en-US" sz="2600" dirty="0"/>
              <a:t>题，</a:t>
            </a:r>
            <a:r>
              <a:rPr lang="en-US" altLang="zh-CN" sz="2600" dirty="0"/>
              <a:t>15</a:t>
            </a:r>
            <a:r>
              <a:rPr lang="zh-CN" altLang="en-US" sz="2600" dirty="0"/>
              <a:t>分钟）</a:t>
            </a:r>
            <a:endParaRPr lang="en-US" altLang="zh-CN" sz="2600" dirty="0"/>
          </a:p>
          <a:p>
            <a:r>
              <a:rPr lang="zh-CN" altLang="en-US" sz="2600" dirty="0"/>
              <a:t>第二次小测：第</a:t>
            </a:r>
            <a:r>
              <a:rPr lang="en-US" altLang="zh-CN" sz="2600" dirty="0"/>
              <a:t>16</a:t>
            </a:r>
            <a:r>
              <a:rPr lang="zh-CN" altLang="en-US" sz="2600" dirty="0"/>
              <a:t>周，题型为选择题（</a:t>
            </a:r>
            <a:r>
              <a:rPr lang="en-US" altLang="zh-CN" sz="2600" dirty="0"/>
              <a:t>20</a:t>
            </a:r>
            <a:r>
              <a:rPr lang="zh-CN" altLang="en-US" sz="2600" dirty="0"/>
              <a:t>题，</a:t>
            </a:r>
            <a:r>
              <a:rPr lang="en-US" altLang="zh-CN" sz="2600" dirty="0"/>
              <a:t>30</a:t>
            </a:r>
            <a:r>
              <a:rPr lang="zh-CN" altLang="en-US" sz="2600" dirty="0"/>
              <a:t>分钟）</a:t>
            </a:r>
            <a:endParaRPr lang="en-US" altLang="zh-CN" sz="2600" dirty="0"/>
          </a:p>
          <a:p>
            <a:r>
              <a:rPr lang="zh-CN" altLang="en-US" sz="2600" dirty="0">
                <a:latin typeface="Times New Roman" panose="02020603050405020304" pitchFamily="18" charset="0"/>
                <a:ea typeface="华文楷体" panose="02010600040101010101" pitchFamily="2" charset="-122"/>
                <a:cs typeface="Times New Roman" panose="02020603050405020304" pitchFamily="18" charset="0"/>
              </a:rPr>
              <a:t>作业：</a:t>
            </a:r>
            <a:r>
              <a:rPr lang="zh-CN" altLang="en-US" sz="2600" dirty="0"/>
              <a:t>雨课堂，每章一次作业。（作业缺交按照零分记，缓交按照</a:t>
            </a:r>
            <a:r>
              <a:rPr lang="en-US" altLang="zh-CN" sz="2600" dirty="0"/>
              <a:t>80%</a:t>
            </a:r>
            <a:r>
              <a:rPr lang="zh-CN" altLang="en-US" sz="2600" dirty="0"/>
              <a:t>记）</a:t>
            </a:r>
            <a:endParaRPr lang="en-US" altLang="zh-CN" sz="2600" dirty="0"/>
          </a:p>
          <a:p>
            <a:endParaRPr lang="zh-CN" altLang="zh-CN" sz="2600" dirty="0"/>
          </a:p>
          <a:p>
            <a:r>
              <a:rPr lang="en-US" altLang="zh-CN" sz="2600" dirty="0"/>
              <a:t> - </a:t>
            </a:r>
            <a:r>
              <a:rPr lang="zh-CN" altLang="zh-CN" sz="2600" dirty="0"/>
              <a:t>期末考试</a:t>
            </a:r>
            <a:r>
              <a:rPr lang="zh-CN" altLang="en-US" sz="2600" dirty="0"/>
              <a:t>：</a:t>
            </a:r>
            <a:r>
              <a:rPr lang="zh-CN" altLang="zh-CN" sz="2600" dirty="0"/>
              <a:t>统一闭卷考试</a:t>
            </a:r>
            <a:r>
              <a:rPr lang="zh-CN" altLang="en-US" sz="2600" dirty="0"/>
              <a:t>，</a:t>
            </a:r>
            <a:r>
              <a:rPr lang="zh-CN" altLang="zh-CN" sz="2600" dirty="0"/>
              <a:t>总成绩的</a:t>
            </a:r>
            <a:r>
              <a:rPr lang="en-US" altLang="zh-CN" sz="2600" dirty="0"/>
              <a:t>60%</a:t>
            </a:r>
            <a:r>
              <a:rPr lang="zh-CN" altLang="en-US" sz="2600" dirty="0"/>
              <a:t>（</a:t>
            </a:r>
            <a:r>
              <a:rPr lang="en-US" altLang="zh-CN" sz="2600" dirty="0"/>
              <a:t>2024-07-06 09:30~11:30</a:t>
            </a:r>
            <a:r>
              <a:rPr lang="zh-CN" altLang="en-US" sz="2600" dirty="0"/>
              <a:t>）</a:t>
            </a:r>
            <a:endParaRPr lang="zh-CN" altLang="zh-CN" sz="2600" dirty="0"/>
          </a:p>
        </p:txBody>
      </p:sp>
    </p:spTree>
    <p:extLst>
      <p:ext uri="{BB962C8B-B14F-4D97-AF65-F5344CB8AC3E}">
        <p14:creationId xmlns:p14="http://schemas.microsoft.com/office/powerpoint/2010/main" val="204742362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7502123-EA77-483A-97F1-1ACDF291AD92}"/>
              </a:ext>
            </a:extLst>
          </p:cNvPr>
          <p:cNvSpPr txBox="1"/>
          <p:nvPr/>
        </p:nvSpPr>
        <p:spPr>
          <a:xfrm>
            <a:off x="5999748" y="1653145"/>
            <a:ext cx="2109570" cy="646331"/>
          </a:xfrm>
          <a:prstGeom prst="rect">
            <a:avLst/>
          </a:prstGeom>
          <a:noFill/>
        </p:spPr>
        <p:txBody>
          <a:bodyPr wrap="square" rtlCol="0">
            <a:spAutoFit/>
          </a:bodyPr>
          <a:lstStyle/>
          <a:p>
            <a:pPr algn="ctr"/>
            <a:r>
              <a:rPr lang="zh-CN" altLang="en-US" sz="3600" dirty="0">
                <a:solidFill>
                  <a:srgbClr val="0066FF"/>
                </a:solidFill>
                <a:latin typeface="华文楷体" panose="02010600040101010101" pitchFamily="2" charset="-122"/>
                <a:ea typeface="华文楷体" panose="02010600040101010101" pitchFamily="2" charset="-122"/>
              </a:rPr>
              <a:t>光学 </a:t>
            </a:r>
            <a:endParaRPr lang="en-US" altLang="zh-CN" sz="3600" dirty="0">
              <a:solidFill>
                <a:srgbClr val="0066FF"/>
              </a:solidFill>
              <a:latin typeface="华文楷体" panose="02010600040101010101" pitchFamily="2" charset="-122"/>
              <a:ea typeface="华文楷体" panose="02010600040101010101" pitchFamily="2" charset="-122"/>
            </a:endParaRPr>
          </a:p>
        </p:txBody>
      </p:sp>
      <p:sp>
        <p:nvSpPr>
          <p:cNvPr id="18" name="文本框 17">
            <a:extLst>
              <a:ext uri="{FF2B5EF4-FFF2-40B4-BE49-F238E27FC236}">
                <a16:creationId xmlns:a16="http://schemas.microsoft.com/office/drawing/2014/main" id="{8058EC12-F7DD-4B65-852A-68EE98AED092}"/>
              </a:ext>
            </a:extLst>
          </p:cNvPr>
          <p:cNvSpPr txBox="1"/>
          <p:nvPr/>
        </p:nvSpPr>
        <p:spPr>
          <a:xfrm>
            <a:off x="2190545" y="3978541"/>
            <a:ext cx="4004764" cy="1292662"/>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电场、 磁场</a:t>
            </a:r>
            <a:endParaRPr lang="en-US" altLang="zh-CN" sz="2600" dirty="0">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电</a:t>
            </a:r>
            <a:r>
              <a:rPr lang="en-US" altLang="zh-CN" sz="2600" dirty="0">
                <a:latin typeface="华文楷体" panose="02010600040101010101" pitchFamily="2" charset="-122"/>
                <a:ea typeface="华文楷体" panose="02010600040101010101" pitchFamily="2" charset="-122"/>
              </a:rPr>
              <a:t>/</a:t>
            </a:r>
            <a:r>
              <a:rPr lang="zh-CN" altLang="en-US" sz="2600" dirty="0">
                <a:latin typeface="华文楷体" panose="02010600040101010101" pitchFamily="2" charset="-122"/>
                <a:ea typeface="华文楷体" panose="02010600040101010101" pitchFamily="2" charset="-122"/>
              </a:rPr>
              <a:t>磁场与物质的相互作用</a:t>
            </a:r>
            <a:endParaRPr lang="en-US" altLang="zh-CN" sz="2600" dirty="0">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电磁感应</a:t>
            </a:r>
            <a:endParaRPr lang="en-US" altLang="zh-CN" sz="2600" dirty="0">
              <a:latin typeface="华文楷体" panose="02010600040101010101" pitchFamily="2" charset="-122"/>
              <a:ea typeface="华文楷体" panose="02010600040101010101" pitchFamily="2" charset="-122"/>
            </a:endParaRPr>
          </a:p>
        </p:txBody>
      </p:sp>
      <p:sp>
        <p:nvSpPr>
          <p:cNvPr id="22" name="文本框 21">
            <a:extLst>
              <a:ext uri="{FF2B5EF4-FFF2-40B4-BE49-F238E27FC236}">
                <a16:creationId xmlns:a16="http://schemas.microsoft.com/office/drawing/2014/main" id="{86D8AAEC-2E4D-4E8E-A8A4-A40E820B97E6}"/>
              </a:ext>
            </a:extLst>
          </p:cNvPr>
          <p:cNvSpPr txBox="1"/>
          <p:nvPr/>
        </p:nvSpPr>
        <p:spPr>
          <a:xfrm>
            <a:off x="8058597" y="1329979"/>
            <a:ext cx="1143982" cy="1292662"/>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干涉</a:t>
            </a:r>
            <a:endParaRPr lang="en-US" altLang="zh-CN" sz="2600" dirty="0">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衍射</a:t>
            </a:r>
            <a:endParaRPr lang="en-US" altLang="zh-CN" sz="2600" dirty="0">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偏振</a:t>
            </a:r>
            <a:endParaRPr lang="en-US" sz="2600" dirty="0">
              <a:latin typeface="华文楷体" panose="02010600040101010101" pitchFamily="2" charset="-122"/>
              <a:ea typeface="华文楷体" panose="02010600040101010101" pitchFamily="2" charset="-122"/>
            </a:endParaRPr>
          </a:p>
        </p:txBody>
      </p:sp>
      <p:sp>
        <p:nvSpPr>
          <p:cNvPr id="23" name="文本框 22">
            <a:extLst>
              <a:ext uri="{FF2B5EF4-FFF2-40B4-BE49-F238E27FC236}">
                <a16:creationId xmlns:a16="http://schemas.microsoft.com/office/drawing/2014/main" id="{C33C50F8-9750-4FCF-B455-72E72258E204}"/>
              </a:ext>
            </a:extLst>
          </p:cNvPr>
          <p:cNvSpPr txBox="1"/>
          <p:nvPr/>
        </p:nvSpPr>
        <p:spPr>
          <a:xfrm>
            <a:off x="8770611" y="3862961"/>
            <a:ext cx="2359693" cy="1292662"/>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量子化</a:t>
            </a:r>
            <a:endParaRPr lang="en-US" altLang="zh-CN" sz="2600" dirty="0">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波粒二象性</a:t>
            </a:r>
            <a:br>
              <a:rPr lang="en-US" altLang="zh-CN" sz="2600" dirty="0">
                <a:latin typeface="华文楷体" panose="02010600040101010101" pitchFamily="2" charset="-122"/>
                <a:ea typeface="华文楷体" panose="02010600040101010101" pitchFamily="2" charset="-122"/>
              </a:rPr>
            </a:br>
            <a:r>
              <a:rPr lang="zh-CN" altLang="en-US" sz="2600" dirty="0">
                <a:latin typeface="华文楷体" panose="02010600040101010101" pitchFamily="2" charset="-122"/>
                <a:ea typeface="华文楷体" panose="02010600040101010101" pitchFamily="2" charset="-122"/>
              </a:rPr>
              <a:t>不确定关系</a:t>
            </a:r>
            <a:endParaRPr lang="en-US" sz="2600" dirty="0">
              <a:latin typeface="华文楷体" panose="02010600040101010101" pitchFamily="2" charset="-122"/>
              <a:ea typeface="华文楷体" panose="02010600040101010101" pitchFamily="2" charset="-122"/>
            </a:endParaRPr>
          </a:p>
        </p:txBody>
      </p:sp>
      <p:sp>
        <p:nvSpPr>
          <p:cNvPr id="2" name="文本框 1">
            <a:extLst>
              <a:ext uri="{FF2B5EF4-FFF2-40B4-BE49-F238E27FC236}">
                <a16:creationId xmlns:a16="http://schemas.microsoft.com/office/drawing/2014/main" id="{7C43F02B-33C3-25F6-6710-3B2EC1593FE8}"/>
              </a:ext>
            </a:extLst>
          </p:cNvPr>
          <p:cNvSpPr txBox="1"/>
          <p:nvPr/>
        </p:nvSpPr>
        <p:spPr>
          <a:xfrm>
            <a:off x="122631" y="1705341"/>
            <a:ext cx="2109570" cy="646331"/>
          </a:xfrm>
          <a:prstGeom prst="rect">
            <a:avLst/>
          </a:prstGeom>
          <a:noFill/>
        </p:spPr>
        <p:txBody>
          <a:bodyPr wrap="square" rtlCol="0">
            <a:spAutoFit/>
          </a:bodyPr>
          <a:lstStyle/>
          <a:p>
            <a:pPr algn="ctr"/>
            <a:r>
              <a:rPr lang="zh-CN" altLang="en-US" sz="3600" dirty="0">
                <a:solidFill>
                  <a:srgbClr val="0066FF"/>
                </a:solidFill>
                <a:latin typeface="华文楷体" panose="02010600040101010101" pitchFamily="2" charset="-122"/>
                <a:ea typeface="华文楷体" panose="02010600040101010101" pitchFamily="2" charset="-122"/>
              </a:rPr>
              <a:t>热学</a:t>
            </a:r>
            <a:endParaRPr lang="en-US" sz="3600" dirty="0">
              <a:solidFill>
                <a:srgbClr val="0066FF"/>
              </a:solidFill>
              <a:latin typeface="华文楷体" panose="02010600040101010101" pitchFamily="2" charset="-122"/>
              <a:ea typeface="华文楷体" panose="02010600040101010101" pitchFamily="2" charset="-122"/>
            </a:endParaRPr>
          </a:p>
        </p:txBody>
      </p:sp>
      <p:sp>
        <p:nvSpPr>
          <p:cNvPr id="3" name="文本框 2">
            <a:extLst>
              <a:ext uri="{FF2B5EF4-FFF2-40B4-BE49-F238E27FC236}">
                <a16:creationId xmlns:a16="http://schemas.microsoft.com/office/drawing/2014/main" id="{F3C27DEA-91C5-1520-5F59-F52B4440C2A3}"/>
              </a:ext>
            </a:extLst>
          </p:cNvPr>
          <p:cNvSpPr txBox="1"/>
          <p:nvPr/>
        </p:nvSpPr>
        <p:spPr>
          <a:xfrm>
            <a:off x="287335" y="4346997"/>
            <a:ext cx="2109570" cy="646331"/>
          </a:xfrm>
          <a:prstGeom prst="rect">
            <a:avLst/>
          </a:prstGeom>
          <a:noFill/>
        </p:spPr>
        <p:txBody>
          <a:bodyPr wrap="square" rtlCol="0">
            <a:spAutoFit/>
          </a:bodyPr>
          <a:lstStyle/>
          <a:p>
            <a:pPr algn="ctr"/>
            <a:r>
              <a:rPr lang="zh-CN" altLang="en-US" sz="3600" dirty="0">
                <a:solidFill>
                  <a:srgbClr val="0066FF"/>
                </a:solidFill>
                <a:latin typeface="华文楷体" panose="02010600040101010101" pitchFamily="2" charset="-122"/>
                <a:ea typeface="华文楷体" panose="02010600040101010101" pitchFamily="2" charset="-122"/>
              </a:rPr>
              <a:t>电磁学</a:t>
            </a:r>
          </a:p>
        </p:txBody>
      </p:sp>
      <p:sp>
        <p:nvSpPr>
          <p:cNvPr id="5" name="文本框 4">
            <a:extLst>
              <a:ext uri="{FF2B5EF4-FFF2-40B4-BE49-F238E27FC236}">
                <a16:creationId xmlns:a16="http://schemas.microsoft.com/office/drawing/2014/main" id="{F51B6C01-306A-78B9-311F-A624900C6935}"/>
              </a:ext>
            </a:extLst>
          </p:cNvPr>
          <p:cNvSpPr txBox="1"/>
          <p:nvPr/>
        </p:nvSpPr>
        <p:spPr>
          <a:xfrm>
            <a:off x="6207618" y="4040934"/>
            <a:ext cx="2109570" cy="646331"/>
          </a:xfrm>
          <a:prstGeom prst="rect">
            <a:avLst/>
          </a:prstGeom>
          <a:noFill/>
        </p:spPr>
        <p:txBody>
          <a:bodyPr wrap="square" rtlCol="0">
            <a:spAutoFit/>
          </a:bodyPr>
          <a:lstStyle/>
          <a:p>
            <a:pPr algn="ctr"/>
            <a:r>
              <a:rPr lang="zh-CN" altLang="en-US" sz="3600" dirty="0">
                <a:solidFill>
                  <a:srgbClr val="0066FF"/>
                </a:solidFill>
                <a:latin typeface="华文楷体" panose="02010600040101010101" pitchFamily="2" charset="-122"/>
                <a:ea typeface="华文楷体" panose="02010600040101010101" pitchFamily="2" charset="-122"/>
              </a:rPr>
              <a:t>量子力学</a:t>
            </a:r>
            <a:endParaRPr lang="en-US" sz="3600" dirty="0">
              <a:solidFill>
                <a:srgbClr val="0066FF"/>
              </a:solidFill>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DE53C09A-3437-AA0C-8411-41EC26594315}"/>
              </a:ext>
            </a:extLst>
          </p:cNvPr>
          <p:cNvSpPr txBox="1"/>
          <p:nvPr/>
        </p:nvSpPr>
        <p:spPr>
          <a:xfrm>
            <a:off x="2130848" y="1043745"/>
            <a:ext cx="2547924" cy="892552"/>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热力学第一定律</a:t>
            </a:r>
            <a:endParaRPr lang="en-US" altLang="zh-CN" sz="2600" dirty="0">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热力学第二定律</a:t>
            </a:r>
            <a:endParaRPr lang="en-US" sz="2600" dirty="0">
              <a:latin typeface="华文楷体" panose="02010600040101010101" pitchFamily="2" charset="-122"/>
              <a:ea typeface="华文楷体" panose="02010600040101010101" pitchFamily="2" charset="-122"/>
            </a:endParaRPr>
          </a:p>
        </p:txBody>
      </p:sp>
      <p:pic>
        <p:nvPicPr>
          <p:cNvPr id="8" name="Picture 4" descr="蒸汽机">
            <a:extLst>
              <a:ext uri="{FF2B5EF4-FFF2-40B4-BE49-F238E27FC236}">
                <a16:creationId xmlns:a16="http://schemas.microsoft.com/office/drawing/2014/main" id="{1C18C9DE-9FD6-CDCB-D4CD-CCE1E56BF7B2}"/>
              </a:ext>
            </a:extLst>
          </p:cNvPr>
          <p:cNvPicPr>
            <a:picLocks noChangeAspect="1"/>
          </p:cNvPicPr>
          <p:nvPr/>
        </p:nvPicPr>
        <p:blipFill>
          <a:blip r:embed="rId2"/>
          <a:stretch>
            <a:fillRect/>
          </a:stretch>
        </p:blipFill>
        <p:spPr>
          <a:xfrm>
            <a:off x="2176711" y="1988901"/>
            <a:ext cx="2425150" cy="1863225"/>
          </a:xfrm>
          <a:prstGeom prst="rect">
            <a:avLst/>
          </a:prstGeom>
          <a:noFill/>
          <a:ln w="9525">
            <a:noFill/>
          </a:ln>
        </p:spPr>
      </p:pic>
      <p:pic>
        <p:nvPicPr>
          <p:cNvPr id="3076" name="Picture 4" descr="Diffraction And Interference">
            <a:extLst>
              <a:ext uri="{FF2B5EF4-FFF2-40B4-BE49-F238E27FC236}">
                <a16:creationId xmlns:a16="http://schemas.microsoft.com/office/drawing/2014/main" id="{174B9751-AC16-C38B-2779-8C947A686D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5928" y="1352550"/>
            <a:ext cx="2095500" cy="207645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Electromagnetic GIFs - Get the best gif on GIFER">
            <a:extLst>
              <a:ext uri="{FF2B5EF4-FFF2-40B4-BE49-F238E27FC236}">
                <a16:creationId xmlns:a16="http://schemas.microsoft.com/office/drawing/2014/main" id="{24F1A2A2-FF63-79F2-662F-2C74C1762E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5714" y="4889378"/>
            <a:ext cx="1717264" cy="170945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animated gif showing superposition by using skateboarders.">
            <a:extLst>
              <a:ext uri="{FF2B5EF4-FFF2-40B4-BE49-F238E27FC236}">
                <a16:creationId xmlns:a16="http://schemas.microsoft.com/office/drawing/2014/main" id="{3910D2D3-4203-48AE-B397-86AC96B690AA}"/>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8753992" y="5207909"/>
            <a:ext cx="2650860" cy="150581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Google demonstrates vital step towards large-scale quantum computers | New  Scientist">
            <a:extLst>
              <a:ext uri="{FF2B5EF4-FFF2-40B4-BE49-F238E27FC236}">
                <a16:creationId xmlns:a16="http://schemas.microsoft.com/office/drawing/2014/main" id="{D5156C67-E8F1-4534-941F-B2F8EFE64F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9774" y="5117619"/>
            <a:ext cx="2495254" cy="1663503"/>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B77DBF71-5574-41EA-BFE3-2A32918C5E77}"/>
              </a:ext>
            </a:extLst>
          </p:cNvPr>
          <p:cNvSpPr txBox="1"/>
          <p:nvPr/>
        </p:nvSpPr>
        <p:spPr>
          <a:xfrm>
            <a:off x="281421" y="240832"/>
            <a:ext cx="9682667" cy="646331"/>
          </a:xfrm>
          <a:prstGeom prst="rect">
            <a:avLst/>
          </a:prstGeom>
          <a:noFill/>
        </p:spPr>
        <p:txBody>
          <a:bodyPr wrap="square" rtlCol="0">
            <a:spAutoFit/>
          </a:bodyPr>
          <a:lstStyle/>
          <a:p>
            <a:r>
              <a:rPr lang="zh-CN" altLang="en-US" sz="3600" b="1" dirty="0">
                <a:latin typeface="华文楷体" panose="02010600040101010101" pitchFamily="2" charset="-122"/>
                <a:ea typeface="华文楷体" panose="02010600040101010101" pitchFamily="2" charset="-122"/>
              </a:rPr>
              <a:t>大学物理学 </a:t>
            </a:r>
            <a:r>
              <a:rPr lang="en-US" altLang="zh-CN" sz="3600" b="1" dirty="0">
                <a:latin typeface="华文楷体" panose="02010600040101010101" pitchFamily="2" charset="-122"/>
                <a:ea typeface="华文楷体" panose="02010600040101010101" pitchFamily="2" charset="-122"/>
              </a:rPr>
              <a:t>II </a:t>
            </a:r>
            <a:r>
              <a:rPr lang="zh-CN" altLang="en-US" sz="3600" b="1" dirty="0">
                <a:latin typeface="华文楷体" panose="02010600040101010101" pitchFamily="2" charset="-122"/>
                <a:ea typeface="华文楷体" panose="02010600040101010101" pitchFamily="2" charset="-122"/>
              </a:rPr>
              <a:t>（热学</a:t>
            </a:r>
            <a:r>
              <a:rPr lang="en-US" altLang="zh-CN" sz="3600" b="1" dirty="0">
                <a:latin typeface="华文楷体" panose="02010600040101010101" pitchFamily="2" charset="-122"/>
                <a:ea typeface="华文楷体" panose="02010600040101010101" pitchFamily="2" charset="-122"/>
              </a:rPr>
              <a:t>/</a:t>
            </a:r>
            <a:r>
              <a:rPr lang="zh-CN" altLang="en-US" sz="3600" b="1" dirty="0">
                <a:latin typeface="华文楷体" panose="02010600040101010101" pitchFamily="2" charset="-122"/>
                <a:ea typeface="华文楷体" panose="02010600040101010101" pitchFamily="2" charset="-122"/>
              </a:rPr>
              <a:t>电磁学</a:t>
            </a:r>
            <a:r>
              <a:rPr lang="en-US" altLang="zh-CN" sz="3600" b="1" dirty="0">
                <a:latin typeface="华文楷体" panose="02010600040101010101" pitchFamily="2" charset="-122"/>
                <a:ea typeface="华文楷体" panose="02010600040101010101" pitchFamily="2" charset="-122"/>
              </a:rPr>
              <a:t>/</a:t>
            </a:r>
            <a:r>
              <a:rPr lang="zh-CN" altLang="en-US" sz="3600" b="1" dirty="0">
                <a:latin typeface="华文楷体" panose="02010600040101010101" pitchFamily="2" charset="-122"/>
                <a:ea typeface="华文楷体" panose="02010600040101010101" pitchFamily="2" charset="-122"/>
              </a:rPr>
              <a:t>光学</a:t>
            </a:r>
            <a:r>
              <a:rPr lang="en-US" altLang="zh-CN" sz="3600" b="1" dirty="0">
                <a:latin typeface="华文楷体" panose="02010600040101010101" pitchFamily="2" charset="-122"/>
                <a:ea typeface="华文楷体" panose="02010600040101010101" pitchFamily="2" charset="-122"/>
              </a:rPr>
              <a:t>/</a:t>
            </a:r>
            <a:r>
              <a:rPr lang="zh-CN" altLang="en-US" sz="3600" b="1" dirty="0">
                <a:latin typeface="华文楷体" panose="02010600040101010101" pitchFamily="2" charset="-122"/>
                <a:ea typeface="华文楷体" panose="02010600040101010101" pitchFamily="2" charset="-122"/>
              </a:rPr>
              <a:t>量子力学）</a:t>
            </a:r>
            <a:endParaRPr lang="en-US" sz="3600" b="1" dirty="0">
              <a:latin typeface="华文楷体" panose="02010600040101010101" pitchFamily="2" charset="-122"/>
              <a:ea typeface="华文楷体" panose="02010600040101010101" pitchFamily="2" charset="-122"/>
            </a:endParaRPr>
          </a:p>
        </p:txBody>
      </p:sp>
      <p:pic>
        <p:nvPicPr>
          <p:cNvPr id="19" name="图片 18">
            <a:extLst>
              <a:ext uri="{FF2B5EF4-FFF2-40B4-BE49-F238E27FC236}">
                <a16:creationId xmlns:a16="http://schemas.microsoft.com/office/drawing/2014/main" id="{AD4A4032-9FD5-404E-A0FF-DF5B3BFCEE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86025" y="62042"/>
            <a:ext cx="2083981" cy="711069"/>
          </a:xfrm>
          <a:prstGeom prst="rect">
            <a:avLst/>
          </a:prstGeom>
        </p:spPr>
      </p:pic>
      <p:sp>
        <p:nvSpPr>
          <p:cNvPr id="20" name="矩形 19">
            <a:extLst>
              <a:ext uri="{FF2B5EF4-FFF2-40B4-BE49-F238E27FC236}">
                <a16:creationId xmlns:a16="http://schemas.microsoft.com/office/drawing/2014/main" id="{A5154680-521D-4049-ADFF-CAF8CDA58A96}"/>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sz="2600">
              <a:solidFill>
                <a:prstClr val="white"/>
              </a:solidFill>
              <a:latin typeface="华文楷体" panose="02010600040101010101" pitchFamily="2" charset="-122"/>
              <a:ea typeface="华文楷体" panose="02010600040101010101" pitchFamily="2" charset="-122"/>
            </a:endParaRPr>
          </a:p>
        </p:txBody>
      </p:sp>
      <p:sp>
        <p:nvSpPr>
          <p:cNvPr id="21" name="文本框 20">
            <a:extLst>
              <a:ext uri="{FF2B5EF4-FFF2-40B4-BE49-F238E27FC236}">
                <a16:creationId xmlns:a16="http://schemas.microsoft.com/office/drawing/2014/main" id="{825A6F79-D04F-458A-8C2B-37BE107E8954}"/>
              </a:ext>
            </a:extLst>
          </p:cNvPr>
          <p:cNvSpPr txBox="1"/>
          <p:nvPr/>
        </p:nvSpPr>
        <p:spPr>
          <a:xfrm>
            <a:off x="287335" y="2429961"/>
            <a:ext cx="2547924" cy="584775"/>
          </a:xfrm>
          <a:prstGeom prst="rect">
            <a:avLst/>
          </a:prstGeom>
          <a:noFill/>
        </p:spPr>
        <p:txBody>
          <a:bodyPr wrap="square" rtlCol="0">
            <a:spAutoFit/>
          </a:bodyPr>
          <a:lstStyle/>
          <a:p>
            <a:r>
              <a:rPr lang="en-US" sz="3200" dirty="0">
                <a:latin typeface="+mj-lt"/>
                <a:ea typeface="华文楷体" panose="02010600040101010101" pitchFamily="2" charset="-122"/>
              </a:rPr>
              <a:t>(10-11</a:t>
            </a:r>
            <a:r>
              <a:rPr lang="zh-CN" altLang="en-US" sz="3200" dirty="0">
                <a:latin typeface="+mj-lt"/>
                <a:ea typeface="华文楷体" panose="02010600040101010101" pitchFamily="2" charset="-122"/>
              </a:rPr>
              <a:t>章</a:t>
            </a:r>
            <a:r>
              <a:rPr lang="en-US" altLang="zh-CN" sz="3200" dirty="0">
                <a:latin typeface="+mj-lt"/>
                <a:ea typeface="华文楷体" panose="02010600040101010101" pitchFamily="2" charset="-122"/>
              </a:rPr>
              <a:t>)</a:t>
            </a:r>
            <a:endParaRPr lang="en-US" sz="3200" dirty="0">
              <a:latin typeface="+mj-lt"/>
              <a:ea typeface="华文楷体" panose="02010600040101010101" pitchFamily="2" charset="-122"/>
            </a:endParaRPr>
          </a:p>
        </p:txBody>
      </p:sp>
      <p:sp>
        <p:nvSpPr>
          <p:cNvPr id="24" name="文本框 23">
            <a:extLst>
              <a:ext uri="{FF2B5EF4-FFF2-40B4-BE49-F238E27FC236}">
                <a16:creationId xmlns:a16="http://schemas.microsoft.com/office/drawing/2014/main" id="{F00C3BEF-92E6-437E-AE17-6BFE00E352AF}"/>
              </a:ext>
            </a:extLst>
          </p:cNvPr>
          <p:cNvSpPr txBox="1"/>
          <p:nvPr/>
        </p:nvSpPr>
        <p:spPr>
          <a:xfrm>
            <a:off x="509022" y="5088807"/>
            <a:ext cx="2547924" cy="584775"/>
          </a:xfrm>
          <a:prstGeom prst="rect">
            <a:avLst/>
          </a:prstGeom>
          <a:noFill/>
        </p:spPr>
        <p:txBody>
          <a:bodyPr wrap="square" rtlCol="0">
            <a:spAutoFit/>
          </a:bodyPr>
          <a:lstStyle/>
          <a:p>
            <a:r>
              <a:rPr lang="en-US" sz="3200" dirty="0">
                <a:latin typeface="+mj-lt"/>
                <a:ea typeface="华文楷体" panose="02010600040101010101" pitchFamily="2" charset="-122"/>
              </a:rPr>
              <a:t>(12-21</a:t>
            </a:r>
            <a:r>
              <a:rPr lang="zh-CN" altLang="en-US" sz="3200" dirty="0">
                <a:latin typeface="+mj-lt"/>
                <a:ea typeface="华文楷体" panose="02010600040101010101" pitchFamily="2" charset="-122"/>
              </a:rPr>
              <a:t>章</a:t>
            </a:r>
            <a:r>
              <a:rPr lang="en-US" altLang="zh-CN" sz="3200" dirty="0">
                <a:latin typeface="+mj-lt"/>
                <a:ea typeface="华文楷体" panose="02010600040101010101" pitchFamily="2" charset="-122"/>
              </a:rPr>
              <a:t>)</a:t>
            </a:r>
            <a:endParaRPr lang="en-US" sz="3200" dirty="0">
              <a:latin typeface="+mj-lt"/>
              <a:ea typeface="华文楷体" panose="02010600040101010101" pitchFamily="2" charset="-122"/>
            </a:endParaRPr>
          </a:p>
        </p:txBody>
      </p:sp>
      <p:sp>
        <p:nvSpPr>
          <p:cNvPr id="25" name="文本框 24">
            <a:extLst>
              <a:ext uri="{FF2B5EF4-FFF2-40B4-BE49-F238E27FC236}">
                <a16:creationId xmlns:a16="http://schemas.microsoft.com/office/drawing/2014/main" id="{467BECCF-3337-4597-970F-74CC765E3DAC}"/>
              </a:ext>
            </a:extLst>
          </p:cNvPr>
          <p:cNvSpPr txBox="1"/>
          <p:nvPr/>
        </p:nvSpPr>
        <p:spPr>
          <a:xfrm>
            <a:off x="6291995" y="2351762"/>
            <a:ext cx="2547924" cy="584775"/>
          </a:xfrm>
          <a:prstGeom prst="rect">
            <a:avLst/>
          </a:prstGeom>
          <a:noFill/>
        </p:spPr>
        <p:txBody>
          <a:bodyPr wrap="square" rtlCol="0">
            <a:spAutoFit/>
          </a:bodyPr>
          <a:lstStyle/>
          <a:p>
            <a:r>
              <a:rPr lang="en-US" sz="3200" dirty="0">
                <a:latin typeface="+mj-lt"/>
                <a:ea typeface="华文楷体" panose="02010600040101010101" pitchFamily="2" charset="-122"/>
              </a:rPr>
              <a:t>(22-25</a:t>
            </a:r>
            <a:r>
              <a:rPr lang="zh-CN" altLang="en-US" sz="3200" dirty="0">
                <a:latin typeface="+mj-lt"/>
                <a:ea typeface="华文楷体" panose="02010600040101010101" pitchFamily="2" charset="-122"/>
              </a:rPr>
              <a:t>章</a:t>
            </a:r>
            <a:r>
              <a:rPr lang="en-US" altLang="zh-CN" sz="3200" dirty="0">
                <a:latin typeface="+mj-lt"/>
                <a:ea typeface="华文楷体" panose="02010600040101010101" pitchFamily="2" charset="-122"/>
              </a:rPr>
              <a:t>)</a:t>
            </a:r>
            <a:endParaRPr lang="en-US" sz="3200" dirty="0">
              <a:latin typeface="+mj-lt"/>
              <a:ea typeface="华文楷体" panose="02010600040101010101" pitchFamily="2" charset="-122"/>
            </a:endParaRPr>
          </a:p>
        </p:txBody>
      </p:sp>
      <p:sp>
        <p:nvSpPr>
          <p:cNvPr id="26" name="文本框 25">
            <a:extLst>
              <a:ext uri="{FF2B5EF4-FFF2-40B4-BE49-F238E27FC236}">
                <a16:creationId xmlns:a16="http://schemas.microsoft.com/office/drawing/2014/main" id="{73B38276-AB66-415D-8A34-E347D676523D}"/>
              </a:ext>
            </a:extLst>
          </p:cNvPr>
          <p:cNvSpPr txBox="1"/>
          <p:nvPr/>
        </p:nvSpPr>
        <p:spPr>
          <a:xfrm>
            <a:off x="6530527" y="4596991"/>
            <a:ext cx="2547924" cy="584775"/>
          </a:xfrm>
          <a:prstGeom prst="rect">
            <a:avLst/>
          </a:prstGeom>
          <a:noFill/>
        </p:spPr>
        <p:txBody>
          <a:bodyPr wrap="square" rtlCol="0">
            <a:spAutoFit/>
          </a:bodyPr>
          <a:lstStyle/>
          <a:p>
            <a:r>
              <a:rPr lang="en-US" sz="3200" dirty="0">
                <a:latin typeface="+mj-lt"/>
                <a:ea typeface="华文楷体" panose="02010600040101010101" pitchFamily="2" charset="-122"/>
              </a:rPr>
              <a:t>(26</a:t>
            </a:r>
            <a:r>
              <a:rPr lang="zh-CN" altLang="en-US" sz="3200" dirty="0">
                <a:latin typeface="+mj-lt"/>
                <a:ea typeface="华文楷体" panose="02010600040101010101" pitchFamily="2" charset="-122"/>
              </a:rPr>
              <a:t>章</a:t>
            </a:r>
            <a:r>
              <a:rPr lang="en-US" altLang="zh-CN" sz="3200" dirty="0">
                <a:latin typeface="+mj-lt"/>
                <a:ea typeface="华文楷体" panose="02010600040101010101" pitchFamily="2" charset="-122"/>
              </a:rPr>
              <a:t>)</a:t>
            </a:r>
            <a:endParaRPr lang="en-US" sz="3200" dirty="0">
              <a:latin typeface="+mj-lt"/>
              <a:ea typeface="华文楷体" panose="02010600040101010101" pitchFamily="2" charset="-122"/>
            </a:endParaRPr>
          </a:p>
        </p:txBody>
      </p:sp>
    </p:spTree>
    <p:extLst>
      <p:ext uri="{BB962C8B-B14F-4D97-AF65-F5344CB8AC3E}">
        <p14:creationId xmlns:p14="http://schemas.microsoft.com/office/powerpoint/2010/main" val="34288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7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P spid="22" grpId="0"/>
      <p:bldP spid="23" grpId="0"/>
      <p:bldP spid="2" grpId="0"/>
      <p:bldP spid="3" grpId="0"/>
      <p:bldP spid="5" grpId="0"/>
      <p:bldP spid="7" grpId="0"/>
      <p:bldP spid="21" grpId="0"/>
      <p:bldP spid="24" grpId="0"/>
      <p:bldP spid="25"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a:hlinkClick r:id="" action="ppaction://noaction"/>
            <a:extLst>
              <a:ext uri="{FF2B5EF4-FFF2-40B4-BE49-F238E27FC236}">
                <a16:creationId xmlns:a16="http://schemas.microsoft.com/office/drawing/2014/main" id="{CECC4B9C-E499-CE0D-D4D7-975642428AFD}"/>
              </a:ext>
            </a:extLst>
          </p:cNvPr>
          <p:cNvSpPr txBox="1">
            <a:spLocks noChangeArrowheads="1"/>
          </p:cNvSpPr>
          <p:nvPr/>
        </p:nvSpPr>
        <p:spPr bwMode="auto">
          <a:xfrm>
            <a:off x="511660" y="363896"/>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zh-CN" altLang="en-US" sz="3200" dirty="0">
                <a:solidFill>
                  <a:srgbClr val="0066FF"/>
                </a:solidFill>
                <a:latin typeface="+mn-lt"/>
                <a:ea typeface="+mn-ea"/>
                <a:cs typeface="Times New Roman" panose="02020603050405020304" pitchFamily="18" charset="0"/>
              </a:rPr>
              <a:t>热力学</a:t>
            </a:r>
            <a:endParaRPr kumimoji="1" lang="en-US" altLang="zh-CN" sz="3200" b="1" i="0" u="none" strike="noStrike" kern="1200" cap="none" spc="0" normalizeH="0" baseline="0" noProof="0" dirty="0">
              <a:ln>
                <a:noFill/>
              </a:ln>
              <a:solidFill>
                <a:srgbClr val="0066FF"/>
              </a:solidFill>
              <a:effectLst/>
              <a:uLnTx/>
              <a:uFillTx/>
              <a:latin typeface="+mn-lt"/>
              <a:ea typeface="+mn-ea"/>
              <a:cs typeface="Times New Roman" panose="02020603050405020304" pitchFamily="18" charset="0"/>
            </a:endParaRPr>
          </a:p>
        </p:txBody>
      </p:sp>
      <p:sp>
        <p:nvSpPr>
          <p:cNvPr id="2" name="Text Box 7">
            <a:extLst>
              <a:ext uri="{FF2B5EF4-FFF2-40B4-BE49-F238E27FC236}">
                <a16:creationId xmlns:a16="http://schemas.microsoft.com/office/drawing/2014/main" id="{3D309F45-4E3D-F77E-2316-8D37382637A5}"/>
              </a:ext>
            </a:extLst>
          </p:cNvPr>
          <p:cNvSpPr txBox="1"/>
          <p:nvPr/>
        </p:nvSpPr>
        <p:spPr>
          <a:xfrm>
            <a:off x="6504826" y="1239277"/>
            <a:ext cx="1905000" cy="592138"/>
          </a:xfrm>
          <a:prstGeom prst="rect">
            <a:avLst/>
          </a:prstGeom>
          <a:noFill/>
          <a:ln w="12700" cap="flat" cmpd="sng">
            <a:noFill/>
            <a:prstDash val="solid"/>
            <a:miter/>
            <a:headEnd type="none" w="med" len="med"/>
            <a:tailEnd type="none" w="med" len="med"/>
          </a:ln>
        </p:spPr>
        <p:txBody>
          <a:bodyPr anchor="t" anchorCtr="0">
            <a:spAutoFit/>
          </a:bodyPr>
          <a:lstStyle/>
          <a:p>
            <a:pPr algn="ctr">
              <a:spcBef>
                <a:spcPct val="50000"/>
              </a:spcBef>
            </a:pPr>
            <a:r>
              <a:rPr lang="zh-CN" altLang="en-US" sz="3200" b="1" dirty="0">
                <a:solidFill>
                  <a:srgbClr val="FF0000"/>
                </a:solidFill>
                <a:latin typeface="华文楷体" panose="02010600040101010101" pitchFamily="2" charset="-122"/>
                <a:ea typeface="华文楷体" panose="02010600040101010101" pitchFamily="2" charset="-122"/>
              </a:rPr>
              <a:t>宏观量</a:t>
            </a:r>
          </a:p>
        </p:txBody>
      </p:sp>
      <p:sp>
        <p:nvSpPr>
          <p:cNvPr id="5" name="Rectangle 8">
            <a:extLst>
              <a:ext uri="{FF2B5EF4-FFF2-40B4-BE49-F238E27FC236}">
                <a16:creationId xmlns:a16="http://schemas.microsoft.com/office/drawing/2014/main" id="{FF25B347-5354-FB66-6E58-CE067B596D94}"/>
              </a:ext>
            </a:extLst>
          </p:cNvPr>
          <p:cNvSpPr>
            <a:spLocks noChangeArrowheads="1"/>
          </p:cNvSpPr>
          <p:nvPr/>
        </p:nvSpPr>
        <p:spPr bwMode="auto">
          <a:xfrm>
            <a:off x="2578197" y="1222633"/>
            <a:ext cx="1905000" cy="592138"/>
          </a:xfrm>
          <a:prstGeom prst="rect">
            <a:avLst/>
          </a:prstGeom>
          <a:noFill/>
          <a:ln w="12700">
            <a:noFill/>
            <a:miter lim="800000"/>
          </a:ln>
          <a:effectLst/>
        </p:spPr>
        <p:txBody>
          <a:bodyPr>
            <a:spAutoFit/>
          </a:bodyPr>
          <a:lstStyle/>
          <a:p>
            <a:pPr algn="ctr" fontAlgn="base">
              <a:spcBef>
                <a:spcPct val="0"/>
              </a:spcBef>
              <a:spcAft>
                <a:spcPct val="0"/>
              </a:spcAft>
              <a:defRPr/>
            </a:pPr>
            <a:r>
              <a:rPr kumimoji="1" lang="zh-CN" altLang="en-US" sz="3200" b="1" dirty="0">
                <a:solidFill>
                  <a:srgbClr val="FF0000"/>
                </a:solidFill>
                <a:latin typeface="华文楷体" panose="02010600040101010101" pitchFamily="2" charset="-122"/>
                <a:ea typeface="华文楷体" panose="02010600040101010101" pitchFamily="2" charset="-122"/>
              </a:rPr>
              <a:t>微观量</a:t>
            </a:r>
          </a:p>
        </p:txBody>
      </p:sp>
      <p:sp>
        <p:nvSpPr>
          <p:cNvPr id="4" name="Text Box 23">
            <a:extLst>
              <a:ext uri="{FF2B5EF4-FFF2-40B4-BE49-F238E27FC236}">
                <a16:creationId xmlns:a16="http://schemas.microsoft.com/office/drawing/2014/main" id="{5FD583E3-FA2A-CCE1-0B18-7D39331ED3B5}"/>
              </a:ext>
            </a:extLst>
          </p:cNvPr>
          <p:cNvSpPr txBox="1">
            <a:spLocks noChangeArrowheads="1"/>
          </p:cNvSpPr>
          <p:nvPr/>
        </p:nvSpPr>
        <p:spPr bwMode="auto">
          <a:xfrm>
            <a:off x="5220953" y="1773596"/>
            <a:ext cx="547271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600" b="0" dirty="0">
                <a:latin typeface="+mn-lt"/>
                <a:ea typeface="+mn-ea"/>
              </a:rPr>
              <a:t>（压强</a:t>
            </a:r>
            <a:r>
              <a:rPr lang="en-US" altLang="zh-CN" sz="2600" b="0" dirty="0">
                <a:latin typeface="+mn-lt"/>
                <a:ea typeface="+mn-ea"/>
              </a:rPr>
              <a:t>P</a:t>
            </a:r>
            <a:r>
              <a:rPr lang="zh-CN" altLang="en-US" sz="2600" b="0" dirty="0">
                <a:latin typeface="+mn-lt"/>
                <a:ea typeface="+mn-ea"/>
              </a:rPr>
              <a:t>，体积</a:t>
            </a:r>
            <a:r>
              <a:rPr lang="en-US" altLang="zh-CN" sz="2600" b="0" dirty="0">
                <a:latin typeface="+mn-lt"/>
                <a:ea typeface="+mn-ea"/>
              </a:rPr>
              <a:t>V</a:t>
            </a:r>
            <a:r>
              <a:rPr lang="zh-CN" altLang="en-US" sz="2600" b="0" dirty="0">
                <a:latin typeface="+mn-lt"/>
                <a:ea typeface="+mn-ea"/>
              </a:rPr>
              <a:t>，温度</a:t>
            </a:r>
            <a:r>
              <a:rPr lang="en-US" altLang="zh-CN" sz="2600" b="0" dirty="0">
                <a:latin typeface="+mn-lt"/>
                <a:ea typeface="+mn-ea"/>
              </a:rPr>
              <a:t>T</a:t>
            </a:r>
            <a:r>
              <a:rPr lang="zh-CN" altLang="en-US" sz="2600" b="0" dirty="0">
                <a:latin typeface="+mn-lt"/>
                <a:ea typeface="+mn-ea"/>
              </a:rPr>
              <a:t>，内能</a:t>
            </a:r>
            <a:r>
              <a:rPr lang="en-US" altLang="zh-CN" sz="2600" b="0" dirty="0">
                <a:latin typeface="+mn-lt"/>
                <a:ea typeface="+mn-ea"/>
              </a:rPr>
              <a:t>E</a:t>
            </a:r>
            <a:r>
              <a:rPr lang="zh-CN" altLang="en-US" sz="2600" b="0" dirty="0">
                <a:latin typeface="+mn-lt"/>
                <a:ea typeface="+mn-ea"/>
              </a:rPr>
              <a:t>等）</a:t>
            </a:r>
          </a:p>
        </p:txBody>
      </p:sp>
      <p:sp>
        <p:nvSpPr>
          <p:cNvPr id="11" name="Text Box 25">
            <a:extLst>
              <a:ext uri="{FF2B5EF4-FFF2-40B4-BE49-F238E27FC236}">
                <a16:creationId xmlns:a16="http://schemas.microsoft.com/office/drawing/2014/main" id="{46F650B7-02E9-62DA-996C-C639F3BD9DA1}"/>
              </a:ext>
            </a:extLst>
          </p:cNvPr>
          <p:cNvSpPr txBox="1">
            <a:spLocks noChangeArrowheads="1"/>
          </p:cNvSpPr>
          <p:nvPr/>
        </p:nvSpPr>
        <p:spPr bwMode="auto">
          <a:xfrm>
            <a:off x="1612458" y="1773597"/>
            <a:ext cx="432322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600" b="0" dirty="0">
                <a:latin typeface="+mn-lt"/>
                <a:ea typeface="+mn-ea"/>
              </a:rPr>
              <a:t>（分子速度 、动能等）</a:t>
            </a:r>
          </a:p>
        </p:txBody>
      </p:sp>
      <p:sp>
        <p:nvSpPr>
          <p:cNvPr id="10" name="箭头: 左右 9">
            <a:extLst>
              <a:ext uri="{FF2B5EF4-FFF2-40B4-BE49-F238E27FC236}">
                <a16:creationId xmlns:a16="http://schemas.microsoft.com/office/drawing/2014/main" id="{AE4A5DDB-68D9-4DE7-A2FF-5F32E1898C22}"/>
              </a:ext>
            </a:extLst>
          </p:cNvPr>
          <p:cNvSpPr/>
          <p:nvPr/>
        </p:nvSpPr>
        <p:spPr>
          <a:xfrm>
            <a:off x="4291009" y="1407861"/>
            <a:ext cx="2468880" cy="254970"/>
          </a:xfrm>
          <a:prstGeom prst="lef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698E9D4D-8950-4B02-A3B3-93574115104F}"/>
              </a:ext>
            </a:extLst>
          </p:cNvPr>
          <p:cNvSpPr txBox="1"/>
          <p:nvPr/>
        </p:nvSpPr>
        <p:spPr>
          <a:xfrm>
            <a:off x="1290020" y="2567121"/>
            <a:ext cx="4071690" cy="1292662"/>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热力学第一定律：热力学系统宏观态变化所遵循的规律</a:t>
            </a:r>
            <a:endParaRPr lang="en-US" altLang="zh-CN" sz="2600" dirty="0">
              <a:latin typeface="华文楷体" panose="02010600040101010101" pitchFamily="2" charset="-122"/>
              <a:ea typeface="华文楷体" panose="02010600040101010101" pitchFamily="2" charset="-122"/>
            </a:endParaRPr>
          </a:p>
        </p:txBody>
      </p:sp>
      <p:graphicFrame>
        <p:nvGraphicFramePr>
          <p:cNvPr id="14" name="图示 13">
            <a:extLst>
              <a:ext uri="{FF2B5EF4-FFF2-40B4-BE49-F238E27FC236}">
                <a16:creationId xmlns:a16="http://schemas.microsoft.com/office/drawing/2014/main" id="{A207E726-575A-47B4-A223-0A4BCC6876D1}"/>
              </a:ext>
            </a:extLst>
          </p:cNvPr>
          <p:cNvGraphicFramePr/>
          <p:nvPr>
            <p:extLst>
              <p:ext uri="{D42A27DB-BD31-4B8C-83A1-F6EECF244321}">
                <p14:modId xmlns:p14="http://schemas.microsoft.com/office/powerpoint/2010/main" val="3279336993"/>
              </p:ext>
            </p:extLst>
          </p:nvPr>
        </p:nvGraphicFramePr>
        <p:xfrm>
          <a:off x="1655429" y="3522286"/>
          <a:ext cx="2896255" cy="25094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文本框 14">
            <a:extLst>
              <a:ext uri="{FF2B5EF4-FFF2-40B4-BE49-F238E27FC236}">
                <a16:creationId xmlns:a16="http://schemas.microsoft.com/office/drawing/2014/main" id="{827725B0-4570-48CF-9BA9-B3EBBE5DCC0B}"/>
              </a:ext>
            </a:extLst>
          </p:cNvPr>
          <p:cNvSpPr txBox="1"/>
          <p:nvPr/>
        </p:nvSpPr>
        <p:spPr>
          <a:xfrm>
            <a:off x="3723760" y="4373753"/>
            <a:ext cx="1655847" cy="492443"/>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能量守恒</a:t>
            </a:r>
            <a:endParaRPr lang="en-US" altLang="zh-CN" sz="2600" dirty="0">
              <a:latin typeface="华文楷体" panose="02010600040101010101" pitchFamily="2" charset="-122"/>
              <a:ea typeface="华文楷体" panose="02010600040101010101" pitchFamily="2" charset="-122"/>
            </a:endParaRPr>
          </a:p>
        </p:txBody>
      </p:sp>
      <p:sp>
        <p:nvSpPr>
          <p:cNvPr id="16" name="文本框 15">
            <a:extLst>
              <a:ext uri="{FF2B5EF4-FFF2-40B4-BE49-F238E27FC236}">
                <a16:creationId xmlns:a16="http://schemas.microsoft.com/office/drawing/2014/main" id="{A0F7F8E2-C8B3-4F75-A30A-B21EC4CF134A}"/>
              </a:ext>
            </a:extLst>
          </p:cNvPr>
          <p:cNvSpPr txBox="1"/>
          <p:nvPr/>
        </p:nvSpPr>
        <p:spPr>
          <a:xfrm>
            <a:off x="1589431" y="6001661"/>
            <a:ext cx="3790176" cy="492443"/>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热力学过程，热机效率</a:t>
            </a:r>
            <a:endParaRPr lang="en-US" altLang="zh-CN" sz="2600" dirty="0">
              <a:latin typeface="华文楷体" panose="02010600040101010101" pitchFamily="2" charset="-122"/>
              <a:ea typeface="华文楷体" panose="02010600040101010101" pitchFamily="2" charset="-122"/>
            </a:endParaRPr>
          </a:p>
        </p:txBody>
      </p:sp>
      <p:sp>
        <p:nvSpPr>
          <p:cNvPr id="17" name="文本框 16">
            <a:extLst>
              <a:ext uri="{FF2B5EF4-FFF2-40B4-BE49-F238E27FC236}">
                <a16:creationId xmlns:a16="http://schemas.microsoft.com/office/drawing/2014/main" id="{E6073BA0-E1ED-456B-B283-C5A3F6734778}"/>
              </a:ext>
            </a:extLst>
          </p:cNvPr>
          <p:cNvSpPr txBox="1"/>
          <p:nvPr/>
        </p:nvSpPr>
        <p:spPr>
          <a:xfrm>
            <a:off x="6952072" y="2567121"/>
            <a:ext cx="4071690" cy="892552"/>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热力学第二定律：热力学系统宏观态的演化方向</a:t>
            </a:r>
            <a:endParaRPr lang="en-US" altLang="zh-CN" sz="2600" dirty="0">
              <a:latin typeface="华文楷体" panose="02010600040101010101" pitchFamily="2" charset="-122"/>
              <a:ea typeface="华文楷体" panose="02010600040101010101" pitchFamily="2" charset="-122"/>
            </a:endParaRPr>
          </a:p>
        </p:txBody>
      </p:sp>
      <p:pic>
        <p:nvPicPr>
          <p:cNvPr id="19" name="Picture 4" descr="https://upload.wikimedia.org/wikipedia/commons/thumb/1/16/Melting_icecubes.gif/98px-Melting_icecubes.gif">
            <a:extLst>
              <a:ext uri="{FF2B5EF4-FFF2-40B4-BE49-F238E27FC236}">
                <a16:creationId xmlns:a16="http://schemas.microsoft.com/office/drawing/2014/main" id="{A21B086B-28F7-4CF9-9A2C-0DD71F26C227}"/>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7289284" y="3605932"/>
            <a:ext cx="1667476" cy="2688381"/>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442279A8-DF9D-4A9D-A122-06FBE4A4BBE1}"/>
              </a:ext>
            </a:extLst>
          </p:cNvPr>
          <p:cNvSpPr txBox="1"/>
          <p:nvPr/>
        </p:nvSpPr>
        <p:spPr>
          <a:xfrm>
            <a:off x="9066017" y="4080802"/>
            <a:ext cx="3790176" cy="1292662"/>
          </a:xfrm>
          <a:prstGeom prst="rect">
            <a:avLst/>
          </a:prstGeom>
          <a:noFill/>
        </p:spPr>
        <p:txBody>
          <a:bodyPr wrap="square" rtlCol="0">
            <a:spAutoFit/>
          </a:bodyPr>
          <a:lstStyle/>
          <a:p>
            <a:r>
              <a:rPr lang="zh-CN" altLang="en-US" sz="2600" dirty="0">
                <a:latin typeface="华文楷体" panose="02010600040101010101" pitchFamily="2" charset="-122"/>
                <a:ea typeface="华文楷体" panose="02010600040101010101" pitchFamily="2" charset="-122"/>
              </a:rPr>
              <a:t>熵增原理</a:t>
            </a:r>
            <a:endParaRPr lang="en-US" altLang="zh-CN" sz="2600" dirty="0">
              <a:latin typeface="华文楷体" panose="02010600040101010101" pitchFamily="2" charset="-122"/>
              <a:ea typeface="华文楷体" panose="02010600040101010101" pitchFamily="2" charset="-122"/>
            </a:endParaRPr>
          </a:p>
          <a:p>
            <a:endParaRPr lang="en-US" altLang="zh-CN" sz="2600" dirty="0">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能量退降</a:t>
            </a:r>
            <a:endParaRPr lang="en-US" altLang="zh-CN" sz="26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5760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4" grpId="0" autoUpdateAnimBg="0"/>
      <p:bldP spid="11" grpId="0"/>
      <p:bldP spid="10" grpId="0" animBg="1"/>
      <p:bldP spid="13" grpId="0"/>
      <p:bldGraphic spid="14" grpId="0">
        <p:bldAsOne/>
      </p:bldGraphic>
      <p:bldP spid="15" grpId="0"/>
      <p:bldP spid="16" grpId="0"/>
      <p:bldP spid="17"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3">
            <a:hlinkClick r:id="" action="ppaction://noaction"/>
            <a:extLst>
              <a:ext uri="{FF2B5EF4-FFF2-40B4-BE49-F238E27FC236}">
                <a16:creationId xmlns:a16="http://schemas.microsoft.com/office/drawing/2014/main" id="{A554824C-DB0C-425E-85CE-A09A9B4EC823}"/>
              </a:ext>
            </a:extLst>
          </p:cNvPr>
          <p:cNvSpPr txBox="1">
            <a:spLocks noChangeArrowheads="1"/>
          </p:cNvSpPr>
          <p:nvPr/>
        </p:nvSpPr>
        <p:spPr bwMode="auto">
          <a:xfrm>
            <a:off x="462450" y="408525"/>
            <a:ext cx="64003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zh-CN" altLang="en-US" sz="3200" dirty="0">
                <a:solidFill>
                  <a:srgbClr val="0066FF"/>
                </a:solidFill>
                <a:latin typeface="+mn-lt"/>
                <a:ea typeface="+mn-ea"/>
                <a:cs typeface="Times New Roman" panose="02020603050405020304" pitchFamily="18" charset="0"/>
              </a:rPr>
              <a:t>理想气体回顾</a:t>
            </a:r>
          </a:p>
        </p:txBody>
      </p:sp>
      <p:sp>
        <p:nvSpPr>
          <p:cNvPr id="6" name="Rectangle 41">
            <a:extLst>
              <a:ext uri="{FF2B5EF4-FFF2-40B4-BE49-F238E27FC236}">
                <a16:creationId xmlns:a16="http://schemas.microsoft.com/office/drawing/2014/main" id="{74866DE9-13BA-489F-A14E-4A10ECDF5035}"/>
              </a:ext>
            </a:extLst>
          </p:cNvPr>
          <p:cNvSpPr>
            <a:spLocks noChangeArrowheads="1"/>
          </p:cNvSpPr>
          <p:nvPr/>
        </p:nvSpPr>
        <p:spPr bwMode="auto">
          <a:xfrm>
            <a:off x="1014511" y="1100314"/>
            <a:ext cx="992091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000" b="0" dirty="0">
                <a:latin typeface="+mn-lt"/>
                <a:ea typeface="+mn-ea"/>
              </a:rPr>
              <a:t>- </a:t>
            </a:r>
            <a:r>
              <a:rPr lang="zh-CN" altLang="en-US" sz="3000" b="0" dirty="0">
                <a:latin typeface="+mn-lt"/>
                <a:ea typeface="+mn-ea"/>
              </a:rPr>
              <a:t>平衡态：在不受外界影响的条件下，系统的宏观性质不随时间改变的状态（动态平衡） </a:t>
            </a:r>
          </a:p>
        </p:txBody>
      </p:sp>
      <p:sp>
        <p:nvSpPr>
          <p:cNvPr id="7" name="矩形 6">
            <a:extLst>
              <a:ext uri="{FF2B5EF4-FFF2-40B4-BE49-F238E27FC236}">
                <a16:creationId xmlns:a16="http://schemas.microsoft.com/office/drawing/2014/main" id="{60AE7009-D1DC-4893-98F4-B13CAA19BCE5}"/>
              </a:ext>
            </a:extLst>
          </p:cNvPr>
          <p:cNvSpPr/>
          <p:nvPr/>
        </p:nvSpPr>
        <p:spPr>
          <a:xfrm>
            <a:off x="1014511" y="2267226"/>
            <a:ext cx="9002982" cy="1015663"/>
          </a:xfrm>
          <a:prstGeom prst="rect">
            <a:avLst/>
          </a:prstGeom>
        </p:spPr>
        <p:txBody>
          <a:bodyPr wrap="square">
            <a:spAutoFit/>
          </a:bodyPr>
          <a:lstStyle/>
          <a:p>
            <a:pPr eaLnBrk="0" hangingPunct="0"/>
            <a:r>
              <a:rPr lang="en-US" altLang="zh-CN" sz="3000" dirty="0">
                <a:latin typeface="+mj-lt"/>
              </a:rPr>
              <a:t> - </a:t>
            </a:r>
            <a:r>
              <a:rPr lang="zh-CN" altLang="en-US" sz="3000" dirty="0">
                <a:latin typeface="+mj-lt"/>
              </a:rPr>
              <a:t>处于平衡态的理想气体</a:t>
            </a:r>
            <a:r>
              <a:rPr lang="en-US" altLang="zh-CN" sz="3000" dirty="0">
                <a:latin typeface="+mj-lt"/>
              </a:rPr>
              <a:t>,  </a:t>
            </a:r>
            <a:r>
              <a:rPr lang="zh-CN" altLang="en-US" sz="3000" dirty="0">
                <a:latin typeface="+mj-lt"/>
              </a:rPr>
              <a:t>其物态可用</a:t>
            </a:r>
            <a:r>
              <a:rPr lang="en-US" altLang="zh-CN" sz="3000" i="1" dirty="0">
                <a:latin typeface="+mj-lt"/>
              </a:rPr>
              <a:t>T</a:t>
            </a:r>
            <a:r>
              <a:rPr lang="zh-CN" altLang="en-US" sz="3000" dirty="0">
                <a:latin typeface="+mj-lt"/>
              </a:rPr>
              <a:t>、</a:t>
            </a:r>
            <a:r>
              <a:rPr lang="en-US" altLang="zh-CN" sz="3000" i="1" dirty="0">
                <a:latin typeface="+mj-lt"/>
              </a:rPr>
              <a:t>P</a:t>
            </a:r>
            <a:r>
              <a:rPr lang="zh-CN" altLang="en-US" sz="3000" dirty="0">
                <a:latin typeface="+mj-lt"/>
              </a:rPr>
              <a:t>、</a:t>
            </a:r>
            <a:r>
              <a:rPr lang="en-US" altLang="zh-CN" sz="3000" i="1" dirty="0">
                <a:latin typeface="+mj-lt"/>
              </a:rPr>
              <a:t>V</a:t>
            </a:r>
            <a:r>
              <a:rPr lang="zh-CN" altLang="en-US" sz="3000" dirty="0">
                <a:latin typeface="+mj-lt"/>
              </a:rPr>
              <a:t>三个物态参量来描述：</a:t>
            </a:r>
            <a:r>
              <a:rPr lang="en-US" altLang="zh-CN" sz="3000" dirty="0">
                <a:latin typeface="+mj-lt"/>
              </a:rPr>
              <a:t>  </a:t>
            </a:r>
            <a:r>
              <a:rPr lang="en-US" altLang="zh-CN" sz="3000" i="1" dirty="0">
                <a:latin typeface="+mj-lt"/>
              </a:rPr>
              <a:t>T</a:t>
            </a:r>
            <a:r>
              <a:rPr lang="en-US" altLang="zh-CN" sz="3000" dirty="0">
                <a:latin typeface="+mj-lt"/>
              </a:rPr>
              <a:t> = </a:t>
            </a:r>
            <a:r>
              <a:rPr lang="en-US" altLang="zh-CN" sz="3000" i="1" dirty="0">
                <a:latin typeface="+mj-lt"/>
              </a:rPr>
              <a:t>f</a:t>
            </a:r>
            <a:r>
              <a:rPr lang="en-US" altLang="zh-CN" sz="3000" dirty="0">
                <a:latin typeface="+mj-lt"/>
              </a:rPr>
              <a:t> (</a:t>
            </a:r>
            <a:r>
              <a:rPr lang="en-US" altLang="zh-CN" sz="3000" i="1" dirty="0">
                <a:latin typeface="+mj-lt"/>
              </a:rPr>
              <a:t>p</a:t>
            </a:r>
            <a:r>
              <a:rPr lang="en-US" altLang="zh-CN" sz="3000" dirty="0">
                <a:latin typeface="+mj-lt"/>
              </a:rPr>
              <a:t>, </a:t>
            </a:r>
            <a:r>
              <a:rPr lang="en-US" altLang="zh-CN" sz="3000" i="1" dirty="0">
                <a:latin typeface="+mj-lt"/>
              </a:rPr>
              <a:t>V</a:t>
            </a:r>
            <a:r>
              <a:rPr lang="en-US" altLang="zh-CN" sz="3000" dirty="0">
                <a:latin typeface="+mj-lt"/>
              </a:rPr>
              <a:t>)</a:t>
            </a:r>
          </a:p>
        </p:txBody>
      </p:sp>
      <p:sp>
        <p:nvSpPr>
          <p:cNvPr id="8" name="Text Box 13">
            <a:hlinkClick r:id="" action="ppaction://noaction"/>
            <a:extLst>
              <a:ext uri="{FF2B5EF4-FFF2-40B4-BE49-F238E27FC236}">
                <a16:creationId xmlns:a16="http://schemas.microsoft.com/office/drawing/2014/main" id="{F2F0A957-2AF7-4107-A997-EBA16A196DF3}"/>
              </a:ext>
            </a:extLst>
          </p:cNvPr>
          <p:cNvSpPr txBox="1">
            <a:spLocks noChangeArrowheads="1"/>
          </p:cNvSpPr>
          <p:nvPr/>
        </p:nvSpPr>
        <p:spPr bwMode="auto">
          <a:xfrm>
            <a:off x="1128776" y="3542479"/>
            <a:ext cx="64003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R="0" lvl="0" algn="l" defTabSz="914400" rtl="0" eaLnBrk="1" fontAlgn="auto" latinLnBrk="0" hangingPunct="1">
              <a:lnSpc>
                <a:spcPct val="100000"/>
              </a:lnSpc>
              <a:spcBef>
                <a:spcPts val="0"/>
              </a:spcBef>
              <a:spcAft>
                <a:spcPts val="0"/>
              </a:spcAft>
              <a:buClrTx/>
              <a:buSzTx/>
              <a:tabLst/>
              <a:defRPr/>
            </a:pPr>
            <a:r>
              <a:rPr kumimoji="1" lang="en-US" altLang="zh-CN" sz="3200" b="0" dirty="0">
                <a:latin typeface="+mn-lt"/>
                <a:ea typeface="+mn-ea"/>
                <a:cs typeface="Times New Roman" panose="02020603050405020304" pitchFamily="18" charset="0"/>
              </a:rPr>
              <a:t>- </a:t>
            </a:r>
            <a:r>
              <a:rPr kumimoji="1" lang="zh-CN" altLang="en-US" sz="3200" b="0" dirty="0">
                <a:latin typeface="+mn-lt"/>
                <a:ea typeface="+mn-ea"/>
                <a:cs typeface="Times New Roman" panose="02020603050405020304" pitchFamily="18" charset="0"/>
              </a:rPr>
              <a:t>理想气体状态方程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726527D-47C2-46CF-9F60-810C54672F24}"/>
                  </a:ext>
                </a:extLst>
              </p:cNvPr>
              <p:cNvSpPr txBox="1"/>
              <p:nvPr/>
            </p:nvSpPr>
            <p:spPr>
              <a:xfrm>
                <a:off x="5828303" y="4112420"/>
                <a:ext cx="6130333" cy="1015663"/>
              </a:xfrm>
              <a:prstGeom prst="rect">
                <a:avLst/>
              </a:prstGeom>
              <a:noFill/>
            </p:spPr>
            <p:txBody>
              <a:bodyPr wrap="none" rtlCol="0">
                <a:spAutoFit/>
              </a:bodyPr>
              <a:lstStyle/>
              <a:p>
                <a:r>
                  <a:rPr lang="en-US" altLang="zh-CN" sz="3000" dirty="0">
                    <a:solidFill>
                      <a:schemeClr val="tx1"/>
                    </a:solidFill>
                  </a:rPr>
                  <a:t>m: </a:t>
                </a:r>
                <a:r>
                  <a:rPr lang="zh-CN" altLang="en-US" sz="3000" dirty="0">
                    <a:solidFill>
                      <a:schemeClr val="tx1"/>
                    </a:solidFill>
                  </a:rPr>
                  <a:t>气体质量； </a:t>
                </a:r>
                <a:r>
                  <a:rPr lang="en-US" altLang="zh-CN" sz="3000" dirty="0">
                    <a:solidFill>
                      <a:schemeClr val="tx1"/>
                    </a:solidFill>
                  </a:rPr>
                  <a:t>M</a:t>
                </a:r>
                <a:r>
                  <a:rPr lang="zh-CN" altLang="en-US" sz="3000" dirty="0">
                    <a:solidFill>
                      <a:schemeClr val="tx1"/>
                    </a:solidFill>
                  </a:rPr>
                  <a:t>：气体摩尔质量</a:t>
                </a:r>
                <a:endParaRPr lang="en-US" altLang="zh-CN" sz="3000" dirty="0">
                  <a:solidFill>
                    <a:schemeClr val="tx1"/>
                  </a:solidFill>
                </a:endParaRPr>
              </a:p>
              <a:p>
                <a14:m>
                  <m:oMath xmlns:m="http://schemas.openxmlformats.org/officeDocument/2006/math">
                    <m:r>
                      <a:rPr lang="en-US" altLang="zh-CN" sz="3000" b="0" i="1">
                        <a:solidFill>
                          <a:schemeClr val="tx1"/>
                        </a:solidFill>
                        <a:latin typeface="Cambria Math" panose="02040503050406030204" pitchFamily="18" charset="0"/>
                      </a:rPr>
                      <m:t>𝑅</m:t>
                    </m:r>
                  </m:oMath>
                </a14:m>
                <a:r>
                  <a:rPr lang="zh-CN" altLang="en-US" sz="3000" dirty="0">
                    <a:solidFill>
                      <a:schemeClr val="tx1"/>
                    </a:solidFill>
                  </a:rPr>
                  <a:t>：普适气体常量</a:t>
                </a:r>
                <a:r>
                  <a:rPr lang="zh-CN" altLang="en-US" sz="3000" dirty="0"/>
                  <a:t>；</a:t>
                </a:r>
                <a:r>
                  <a:rPr lang="el-GR" altLang="zh-CN" sz="3000" dirty="0"/>
                  <a:t> </a:t>
                </a:r>
                <a14:m>
                  <m:oMath xmlns:m="http://schemas.openxmlformats.org/officeDocument/2006/math">
                    <m:r>
                      <a:rPr lang="el-GR" altLang="zh-CN" sz="3000" i="1">
                        <a:latin typeface="Cambria Math" panose="02040503050406030204" pitchFamily="18" charset="0"/>
                      </a:rPr>
                      <m:t>𝜈</m:t>
                    </m:r>
                  </m:oMath>
                </a14:m>
                <a:r>
                  <a:rPr lang="zh-CN" altLang="en-US" sz="3000" dirty="0">
                    <a:solidFill>
                      <a:schemeClr val="tx1"/>
                    </a:solidFill>
                  </a:rPr>
                  <a:t>：气体摩尔数</a:t>
                </a:r>
              </a:p>
            </p:txBody>
          </p:sp>
        </mc:Choice>
        <mc:Fallback xmlns="">
          <p:sp>
            <p:nvSpPr>
              <p:cNvPr id="11" name="文本框 10">
                <a:extLst>
                  <a:ext uri="{FF2B5EF4-FFF2-40B4-BE49-F238E27FC236}">
                    <a16:creationId xmlns:a16="http://schemas.microsoft.com/office/drawing/2014/main" id="{E726527D-47C2-46CF-9F60-810C54672F24}"/>
                  </a:ext>
                </a:extLst>
              </p:cNvPr>
              <p:cNvSpPr txBox="1">
                <a:spLocks noRot="1" noChangeAspect="1" noMove="1" noResize="1" noEditPoints="1" noAdjustHandles="1" noChangeArrowheads="1" noChangeShapeType="1" noTextEdit="1"/>
              </p:cNvSpPr>
              <p:nvPr/>
            </p:nvSpPr>
            <p:spPr>
              <a:xfrm>
                <a:off x="5828303" y="4112420"/>
                <a:ext cx="6130333" cy="1015663"/>
              </a:xfrm>
              <a:prstGeom prst="rect">
                <a:avLst/>
              </a:prstGeom>
              <a:blipFill>
                <a:blip r:embed="rId2"/>
                <a:stretch>
                  <a:fillRect l="-2286" t="-9036" r="-1789" b="-180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26">
                <a:extLst>
                  <a:ext uri="{FF2B5EF4-FFF2-40B4-BE49-F238E27FC236}">
                    <a16:creationId xmlns:a16="http://schemas.microsoft.com/office/drawing/2014/main" id="{130FAC70-F771-411C-AF93-B057688F29B0}"/>
                  </a:ext>
                </a:extLst>
              </p:cNvPr>
              <p:cNvSpPr txBox="1"/>
              <p:nvPr/>
            </p:nvSpPr>
            <p:spPr bwMode="auto">
              <a:xfrm>
                <a:off x="1330847" y="5173980"/>
                <a:ext cx="3533775" cy="10699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zh-CN" altLang="en-US" sz="3000" i="0" smtClean="0">
                          <a:solidFill>
                            <a:schemeClr val="tx1"/>
                          </a:solidFill>
                        </a:rPr>
                        <m:t>  </m:t>
                      </m:r>
                      <m:r>
                        <a:rPr lang="zh-CN" altLang="en-US" sz="3000" b="0" i="1">
                          <a:solidFill>
                            <a:schemeClr val="tx1"/>
                          </a:solidFill>
                          <a:latin typeface="Cambria Math" panose="02040503050406030204" pitchFamily="18" charset="0"/>
                        </a:rPr>
                        <m:t>𝑃</m:t>
                      </m:r>
                      <m:r>
                        <a:rPr lang="zh-CN" altLang="en-US" sz="3000" b="0" i="1">
                          <a:solidFill>
                            <a:schemeClr val="tx1"/>
                          </a:solidFill>
                          <a:latin typeface="Cambria Math" panose="02040503050406030204" pitchFamily="18" charset="0"/>
                        </a:rPr>
                        <m:t>=</m:t>
                      </m:r>
                      <m:f>
                        <m:fPr>
                          <m:ctrlPr>
                            <a:rPr lang="zh-CN" altLang="en-US" sz="3000" i="1">
                              <a:solidFill>
                                <a:schemeClr val="tx1"/>
                              </a:solidFill>
                              <a:latin typeface="Cambria Math" panose="02040503050406030204" pitchFamily="18" charset="0"/>
                            </a:rPr>
                          </m:ctrlPr>
                        </m:fPr>
                        <m:num>
                          <m:r>
                            <a:rPr lang="zh-CN" altLang="en-US" sz="3000" b="0" i="1">
                              <a:solidFill>
                                <a:schemeClr val="tx1"/>
                              </a:solidFill>
                              <a:latin typeface="Cambria Math" panose="02040503050406030204" pitchFamily="18" charset="0"/>
                            </a:rPr>
                            <m:t>𝑁</m:t>
                          </m:r>
                        </m:num>
                        <m:den>
                          <m:r>
                            <a:rPr lang="zh-CN" altLang="en-US" sz="3000" b="0" i="1">
                              <a:solidFill>
                                <a:schemeClr val="tx1"/>
                              </a:solidFill>
                              <a:latin typeface="Cambria Math" panose="02040503050406030204" pitchFamily="18" charset="0"/>
                            </a:rPr>
                            <m:t>𝑉</m:t>
                          </m:r>
                        </m:den>
                      </m:f>
                      <m:r>
                        <a:rPr lang="en-US" altLang="zh-CN" sz="3000" b="0" i="1">
                          <a:solidFill>
                            <a:schemeClr val="tx1"/>
                          </a:solidFill>
                          <a:latin typeface="Cambria Math" panose="02040503050406030204" pitchFamily="18" charset="0"/>
                        </a:rPr>
                        <m:t>𝑘</m:t>
                      </m:r>
                      <m:r>
                        <a:rPr lang="zh-CN" altLang="en-US" sz="3000" b="0" i="1">
                          <a:solidFill>
                            <a:schemeClr val="tx1"/>
                          </a:solidFill>
                          <a:latin typeface="Cambria Math" panose="02040503050406030204" pitchFamily="18" charset="0"/>
                        </a:rPr>
                        <m:t>𝑇</m:t>
                      </m:r>
                      <m:r>
                        <a:rPr lang="zh-CN" altLang="en-US" sz="3000" b="0" i="1">
                          <a:solidFill>
                            <a:schemeClr val="tx1"/>
                          </a:solidFill>
                          <a:latin typeface="Cambria Math" panose="02040503050406030204" pitchFamily="18" charset="0"/>
                        </a:rPr>
                        <m:t>=</m:t>
                      </m:r>
                      <m:r>
                        <a:rPr lang="zh-CN" altLang="en-US" sz="3000" b="0" i="1">
                          <a:solidFill>
                            <a:schemeClr val="tx1"/>
                          </a:solidFill>
                          <a:latin typeface="Cambria Math" panose="02040503050406030204" pitchFamily="18" charset="0"/>
                        </a:rPr>
                        <m:t>𝑛𝑘𝑇</m:t>
                      </m:r>
                    </m:oMath>
                  </m:oMathPara>
                </a14:m>
                <a:endParaRPr lang="zh-CN" altLang="en-US" sz="3000" dirty="0">
                  <a:solidFill>
                    <a:schemeClr val="tx1"/>
                  </a:solidFill>
                </a:endParaRPr>
              </a:p>
            </p:txBody>
          </p:sp>
        </mc:Choice>
        <mc:Fallback xmlns="">
          <p:sp>
            <p:nvSpPr>
              <p:cNvPr id="12" name="Object 26">
                <a:extLst>
                  <a:ext uri="{FF2B5EF4-FFF2-40B4-BE49-F238E27FC236}">
                    <a16:creationId xmlns:a16="http://schemas.microsoft.com/office/drawing/2014/main" id="{130FAC70-F771-411C-AF93-B057688F29B0}"/>
                  </a:ext>
                </a:extLst>
              </p:cNvPr>
              <p:cNvSpPr txBox="1">
                <a:spLocks noRot="1" noChangeAspect="1" noMove="1" noResize="1" noEditPoints="1" noAdjustHandles="1" noChangeArrowheads="1" noChangeShapeType="1" noTextEdit="1"/>
              </p:cNvSpPr>
              <p:nvPr/>
            </p:nvSpPr>
            <p:spPr bwMode="auto">
              <a:xfrm>
                <a:off x="1330847" y="5173980"/>
                <a:ext cx="3533775" cy="1069975"/>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24">
                <a:extLst>
                  <a:ext uri="{FF2B5EF4-FFF2-40B4-BE49-F238E27FC236}">
                    <a16:creationId xmlns:a16="http://schemas.microsoft.com/office/drawing/2014/main" id="{A5673EEE-9098-45E1-BB82-0CC330E1FA61}"/>
                  </a:ext>
                </a:extLst>
              </p:cNvPr>
              <p:cNvSpPr txBox="1">
                <a:spLocks noChangeArrowheads="1"/>
              </p:cNvSpPr>
              <p:nvPr/>
            </p:nvSpPr>
            <p:spPr bwMode="auto">
              <a:xfrm>
                <a:off x="5762261" y="5294166"/>
                <a:ext cx="3533775" cy="10156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000" b="0" dirty="0">
                    <a:solidFill>
                      <a:schemeClr val="tx1"/>
                    </a:solidFill>
                    <a:latin typeface="+mn-lt"/>
                    <a:ea typeface="+mn-ea"/>
                  </a:rPr>
                  <a:t>n</a:t>
                </a:r>
                <a:r>
                  <a:rPr lang="zh-CN" altLang="en-US" sz="3000" b="0" dirty="0">
                    <a:solidFill>
                      <a:schemeClr val="tx1"/>
                    </a:solidFill>
                    <a:latin typeface="+mn-lt"/>
                    <a:ea typeface="+mn-ea"/>
                  </a:rPr>
                  <a:t>：气体分子数密度；</a:t>
                </a:r>
                <a14:m>
                  <m:oMath xmlns:m="http://schemas.openxmlformats.org/officeDocument/2006/math">
                    <m:r>
                      <a:rPr lang="zh-CN" altLang="en-US" sz="3000" b="0" i="1">
                        <a:solidFill>
                          <a:schemeClr val="tx1"/>
                        </a:solidFill>
                        <a:latin typeface="Cambria Math" panose="02040503050406030204" pitchFamily="18" charset="0"/>
                      </a:rPr>
                      <m:t>𝑘</m:t>
                    </m:r>
                  </m:oMath>
                </a14:m>
                <a:r>
                  <a:rPr lang="zh-CN" altLang="en-US" sz="3000" b="0" dirty="0">
                    <a:solidFill>
                      <a:schemeClr val="tx1"/>
                    </a:solidFill>
                    <a:latin typeface="+mn-lt"/>
                    <a:ea typeface="+mn-ea"/>
                  </a:rPr>
                  <a:t>：玻尔兹曼</a:t>
                </a:r>
                <a:r>
                  <a:rPr lang="zh-CN" altLang="en-US" sz="3000" b="0" dirty="0">
                    <a:latin typeface="+mn-lt"/>
                    <a:ea typeface="+mn-ea"/>
                  </a:rPr>
                  <a:t>常数</a:t>
                </a:r>
                <a:endParaRPr lang="zh-CN" altLang="en-US" sz="3000" b="0" dirty="0">
                  <a:solidFill>
                    <a:schemeClr val="tx1"/>
                  </a:solidFill>
                  <a:latin typeface="+mn-lt"/>
                  <a:ea typeface="+mn-ea"/>
                </a:endParaRPr>
              </a:p>
            </p:txBody>
          </p:sp>
        </mc:Choice>
        <mc:Fallback xmlns="">
          <p:sp>
            <p:nvSpPr>
              <p:cNvPr id="13" name="Text Box 24">
                <a:extLst>
                  <a:ext uri="{FF2B5EF4-FFF2-40B4-BE49-F238E27FC236}">
                    <a16:creationId xmlns:a16="http://schemas.microsoft.com/office/drawing/2014/main" id="{A5673EEE-9098-45E1-BB82-0CC330E1FA61}"/>
                  </a:ext>
                </a:extLst>
              </p:cNvPr>
              <p:cNvSpPr txBox="1">
                <a:spLocks noRot="1" noChangeAspect="1" noMove="1" noResize="1" noEditPoints="1" noAdjustHandles="1" noChangeArrowheads="1" noChangeShapeType="1" noTextEdit="1"/>
              </p:cNvSpPr>
              <p:nvPr/>
            </p:nvSpPr>
            <p:spPr bwMode="auto">
              <a:xfrm>
                <a:off x="5762261" y="5294166"/>
                <a:ext cx="3533775" cy="1015663"/>
              </a:xfrm>
              <a:prstGeom prst="rect">
                <a:avLst/>
              </a:prstGeom>
              <a:blipFill>
                <a:blip r:embed="rId4"/>
                <a:stretch>
                  <a:fillRect l="-3966" t="-8982" r="-11724" b="-173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59">
                <a:extLst>
                  <a:ext uri="{FF2B5EF4-FFF2-40B4-BE49-F238E27FC236}">
                    <a16:creationId xmlns:a16="http://schemas.microsoft.com/office/drawing/2014/main" id="{DDDCA8B3-C8CF-4393-81C2-4EF27E5F1789}"/>
                  </a:ext>
                </a:extLst>
              </p:cNvPr>
              <p:cNvSpPr txBox="1"/>
              <p:nvPr/>
            </p:nvSpPr>
            <p:spPr bwMode="auto">
              <a:xfrm>
                <a:off x="1362208" y="4406697"/>
                <a:ext cx="2930841" cy="9509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3000" b="0" i="1" smtClean="0">
                          <a:solidFill>
                            <a:schemeClr val="tx1"/>
                          </a:solidFill>
                          <a:latin typeface="Cambria Math" panose="02040503050406030204" pitchFamily="18" charset="0"/>
                        </a:rPr>
                        <m:t>𝑃𝑉</m:t>
                      </m:r>
                    </m:oMath>
                  </m:oMathPara>
                </a14:m>
                <a:endParaRPr lang="zh-CN" altLang="en-US" sz="3000" dirty="0">
                  <a:solidFill>
                    <a:schemeClr val="tx1"/>
                  </a:solidFill>
                </a:endParaRPr>
              </a:p>
            </p:txBody>
          </p:sp>
        </mc:Choice>
        <mc:Fallback xmlns="">
          <p:sp>
            <p:nvSpPr>
              <p:cNvPr id="14" name="Object 59">
                <a:extLst>
                  <a:ext uri="{FF2B5EF4-FFF2-40B4-BE49-F238E27FC236}">
                    <a16:creationId xmlns:a16="http://schemas.microsoft.com/office/drawing/2014/main" id="{DDDCA8B3-C8CF-4393-81C2-4EF27E5F1789}"/>
                  </a:ext>
                </a:extLst>
              </p:cNvPr>
              <p:cNvSpPr txBox="1">
                <a:spLocks noRot="1" noChangeAspect="1" noMove="1" noResize="1" noEditPoints="1" noAdjustHandles="1" noChangeArrowheads="1" noChangeShapeType="1" noTextEdit="1"/>
              </p:cNvSpPr>
              <p:nvPr/>
            </p:nvSpPr>
            <p:spPr bwMode="auto">
              <a:xfrm>
                <a:off x="1362208" y="4406697"/>
                <a:ext cx="2930841" cy="95091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B35325F-9AFE-4581-8165-4090D5C0D833}"/>
                  </a:ext>
                </a:extLst>
              </p:cNvPr>
              <p:cNvSpPr txBox="1"/>
              <p:nvPr/>
            </p:nvSpPr>
            <p:spPr>
              <a:xfrm>
                <a:off x="1128776" y="4390126"/>
                <a:ext cx="2801937"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000" b="0" i="1" smtClean="0">
                          <a:solidFill>
                            <a:schemeClr val="tx1"/>
                          </a:solidFill>
                          <a:latin typeface="Cambria Math" panose="02040503050406030204" pitchFamily="18" charset="0"/>
                        </a:rPr>
                        <m:t>=</m:t>
                      </m:r>
                      <m:r>
                        <a:rPr lang="el-GR" altLang="zh-CN" sz="3000" b="0" i="1">
                          <a:solidFill>
                            <a:schemeClr val="tx1"/>
                          </a:solidFill>
                          <a:latin typeface="Cambria Math" panose="02040503050406030204" pitchFamily="18" charset="0"/>
                        </a:rPr>
                        <m:t>𝜈</m:t>
                      </m:r>
                      <m:r>
                        <a:rPr lang="en-US" altLang="zh-CN" sz="3000" b="0" i="1">
                          <a:solidFill>
                            <a:schemeClr val="tx1"/>
                          </a:solidFill>
                          <a:latin typeface="Cambria Math" panose="02040503050406030204" pitchFamily="18" charset="0"/>
                        </a:rPr>
                        <m:t>𝑅</m:t>
                      </m:r>
                      <m:r>
                        <a:rPr lang="zh-CN" altLang="en-US" sz="3000" b="0" i="1">
                          <a:solidFill>
                            <a:schemeClr val="tx1"/>
                          </a:solidFill>
                          <a:latin typeface="Cambria Math" panose="02040503050406030204" pitchFamily="18" charset="0"/>
                        </a:rPr>
                        <m:t>𝑇</m:t>
                      </m:r>
                    </m:oMath>
                  </m:oMathPara>
                </a14:m>
                <a:endParaRPr lang="zh-CN" altLang="en-US" sz="3000" dirty="0">
                  <a:solidFill>
                    <a:schemeClr val="tx1"/>
                  </a:solidFill>
                </a:endParaRPr>
              </a:p>
            </p:txBody>
          </p:sp>
        </mc:Choice>
        <mc:Fallback xmlns="">
          <p:sp>
            <p:nvSpPr>
              <p:cNvPr id="15" name="文本框 14">
                <a:extLst>
                  <a:ext uri="{FF2B5EF4-FFF2-40B4-BE49-F238E27FC236}">
                    <a16:creationId xmlns:a16="http://schemas.microsoft.com/office/drawing/2014/main" id="{2B35325F-9AFE-4581-8165-4090D5C0D833}"/>
                  </a:ext>
                </a:extLst>
              </p:cNvPr>
              <p:cNvSpPr txBox="1">
                <a:spLocks noRot="1" noChangeAspect="1" noMove="1" noResize="1" noEditPoints="1" noAdjustHandles="1" noChangeArrowheads="1" noChangeShapeType="1" noTextEdit="1"/>
              </p:cNvSpPr>
              <p:nvPr/>
            </p:nvSpPr>
            <p:spPr>
              <a:xfrm>
                <a:off x="1128776" y="4390126"/>
                <a:ext cx="2801937" cy="55399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bject 27">
                <a:extLst>
                  <a:ext uri="{FF2B5EF4-FFF2-40B4-BE49-F238E27FC236}">
                    <a16:creationId xmlns:a16="http://schemas.microsoft.com/office/drawing/2014/main" id="{8B7552C7-CFCE-4089-AC13-B1873F501756}"/>
                  </a:ext>
                </a:extLst>
              </p:cNvPr>
              <p:cNvSpPr txBox="1"/>
              <p:nvPr/>
            </p:nvSpPr>
            <p:spPr bwMode="auto">
              <a:xfrm>
                <a:off x="3080676" y="4246561"/>
                <a:ext cx="2166938" cy="10001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3000" b="0" i="1" smtClean="0">
                          <a:solidFill>
                            <a:schemeClr val="tx1"/>
                          </a:solidFill>
                          <a:latin typeface="Cambria Math" panose="02040503050406030204" pitchFamily="18" charset="0"/>
                        </a:rPr>
                        <m:t>=</m:t>
                      </m:r>
                      <m:f>
                        <m:fPr>
                          <m:ctrlPr>
                            <a:rPr lang="zh-CN" altLang="en-US" sz="3000" i="1">
                              <a:solidFill>
                                <a:schemeClr val="tx1"/>
                              </a:solidFill>
                              <a:latin typeface="Cambria Math" panose="02040503050406030204" pitchFamily="18" charset="0"/>
                            </a:rPr>
                          </m:ctrlPr>
                        </m:fPr>
                        <m:num>
                          <m:r>
                            <a:rPr lang="zh-CN" altLang="en-US" sz="3000" b="0" i="1">
                              <a:solidFill>
                                <a:schemeClr val="tx1"/>
                              </a:solidFill>
                              <a:latin typeface="Cambria Math" panose="02040503050406030204" pitchFamily="18" charset="0"/>
                            </a:rPr>
                            <m:t>𝑚</m:t>
                          </m:r>
                        </m:num>
                        <m:den>
                          <m:r>
                            <a:rPr lang="zh-CN" altLang="en-US" sz="3000" b="0" i="1">
                              <a:solidFill>
                                <a:schemeClr val="tx1"/>
                              </a:solidFill>
                              <a:latin typeface="Cambria Math" panose="02040503050406030204" pitchFamily="18" charset="0"/>
                            </a:rPr>
                            <m:t>𝑀</m:t>
                          </m:r>
                        </m:den>
                      </m:f>
                      <m:r>
                        <a:rPr lang="zh-CN" altLang="en-US" sz="3000" b="0" i="1">
                          <a:solidFill>
                            <a:schemeClr val="tx1"/>
                          </a:solidFill>
                          <a:latin typeface="Cambria Math" panose="02040503050406030204" pitchFamily="18" charset="0"/>
                        </a:rPr>
                        <m:t>𝑅𝑇</m:t>
                      </m:r>
                    </m:oMath>
                  </m:oMathPara>
                </a14:m>
                <a:endParaRPr lang="zh-CN" altLang="en-US" sz="3000" dirty="0">
                  <a:solidFill>
                    <a:schemeClr val="tx1"/>
                  </a:solidFill>
                </a:endParaRPr>
              </a:p>
            </p:txBody>
          </p:sp>
        </mc:Choice>
        <mc:Fallback xmlns="">
          <p:sp>
            <p:nvSpPr>
              <p:cNvPr id="16" name="Object 27">
                <a:extLst>
                  <a:ext uri="{FF2B5EF4-FFF2-40B4-BE49-F238E27FC236}">
                    <a16:creationId xmlns:a16="http://schemas.microsoft.com/office/drawing/2014/main" id="{8B7552C7-CFCE-4089-AC13-B1873F501756}"/>
                  </a:ext>
                </a:extLst>
              </p:cNvPr>
              <p:cNvSpPr txBox="1">
                <a:spLocks noRot="1" noChangeAspect="1" noMove="1" noResize="1" noEditPoints="1" noAdjustHandles="1" noChangeArrowheads="1" noChangeShapeType="1" noTextEdit="1"/>
              </p:cNvSpPr>
              <p:nvPr/>
            </p:nvSpPr>
            <p:spPr bwMode="auto">
              <a:xfrm>
                <a:off x="3080676" y="4246561"/>
                <a:ext cx="2166938" cy="100012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2456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6" grpId="1"/>
      <p:bldP spid="7" grpId="0"/>
      <p:bldP spid="8" grpId="0"/>
      <p:bldP spid="11" grpId="0"/>
      <p:bldP spid="12" grpId="0"/>
      <p:bldP spid="13" grpId="0" build="p" autoUpdateAnimBg="0"/>
      <p:bldP spid="13" grpId="1"/>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 name="Object 19">
                <a:extLst>
                  <a:ext uri="{FF2B5EF4-FFF2-40B4-BE49-F238E27FC236}">
                    <a16:creationId xmlns:a16="http://schemas.microsoft.com/office/drawing/2014/main" id="{3EEE717C-CD65-4B64-B1BA-1E039A8990BD}"/>
                  </a:ext>
                </a:extLst>
              </p:cNvPr>
              <p:cNvSpPr txBox="1"/>
              <p:nvPr/>
            </p:nvSpPr>
            <p:spPr bwMode="auto">
              <a:xfrm>
                <a:off x="2132441" y="4787942"/>
                <a:ext cx="1891687" cy="9334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2</m:t>
                          </m:r>
                        </m:num>
                        <m:den>
                          <m:r>
                            <a:rPr lang="zh-CN" altLang="en-US" sz="2800" b="0" i="1">
                              <a:solidFill>
                                <a:srgbClr val="000000"/>
                              </a:solidFill>
                              <a:latin typeface="Cambria Math" panose="02040503050406030204" pitchFamily="18" charset="0"/>
                            </a:rPr>
                            <m:t>3</m:t>
                          </m:r>
                        </m:den>
                      </m:f>
                      <m:r>
                        <a:rPr lang="zh-CN" altLang="en-US" sz="2800" b="0" i="1">
                          <a:solidFill>
                            <a:srgbClr val="000000"/>
                          </a:solidFill>
                          <a:latin typeface="Cambria Math" panose="02040503050406030204" pitchFamily="18" charset="0"/>
                        </a:rPr>
                        <m:t>𝑛</m:t>
                      </m:r>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𝜀</m:t>
                              </m:r>
                            </m:e>
                          </m:acc>
                        </m:e>
                        <m:sub>
                          <m:r>
                            <a:rPr lang="zh-CN" altLang="en-US" sz="2800" b="0" i="1">
                              <a:solidFill>
                                <a:srgbClr val="000000"/>
                              </a:solidFill>
                              <a:latin typeface="Cambria Math" panose="02040503050406030204" pitchFamily="18" charset="0"/>
                            </a:rPr>
                            <m:t>𝑡</m:t>
                          </m:r>
                        </m:sub>
                      </m:sSub>
                    </m:oMath>
                  </m:oMathPara>
                </a14:m>
                <a:endParaRPr lang="zh-CN" altLang="en-US" sz="2800" dirty="0"/>
              </a:p>
            </p:txBody>
          </p:sp>
        </mc:Choice>
        <mc:Fallback xmlns="">
          <p:sp>
            <p:nvSpPr>
              <p:cNvPr id="18" name="Object 19">
                <a:extLst>
                  <a:ext uri="{FF2B5EF4-FFF2-40B4-BE49-F238E27FC236}">
                    <a16:creationId xmlns:a16="http://schemas.microsoft.com/office/drawing/2014/main" id="{3EEE717C-CD65-4B64-B1BA-1E039A8990BD}"/>
                  </a:ext>
                </a:extLst>
              </p:cNvPr>
              <p:cNvSpPr txBox="1">
                <a:spLocks noRot="1" noChangeAspect="1" noMove="1" noResize="1" noEditPoints="1" noAdjustHandles="1" noChangeArrowheads="1" noChangeShapeType="1" noTextEdit="1"/>
              </p:cNvSpPr>
              <p:nvPr/>
            </p:nvSpPr>
            <p:spPr bwMode="auto">
              <a:xfrm>
                <a:off x="2132441" y="4787942"/>
                <a:ext cx="1891687" cy="93345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Object 9">
                <a:extLst>
                  <a:ext uri="{FF2B5EF4-FFF2-40B4-BE49-F238E27FC236}">
                    <a16:creationId xmlns:a16="http://schemas.microsoft.com/office/drawing/2014/main" id="{4CF1B88E-8847-4D42-A0B6-4D4CA8760944}"/>
                  </a:ext>
                </a:extLst>
              </p:cNvPr>
              <p:cNvSpPr txBox="1"/>
              <p:nvPr/>
            </p:nvSpPr>
            <p:spPr bwMode="auto">
              <a:xfrm>
                <a:off x="1862118" y="5004692"/>
                <a:ext cx="330200" cy="51923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pitchFamily="18" charset="0"/>
                        </a:rPr>
                        <m:t>𝑃</m:t>
                      </m:r>
                    </m:oMath>
                  </m:oMathPara>
                </a14:m>
                <a:endParaRPr lang="zh-CN" altLang="en-US" sz="2800" dirty="0"/>
              </a:p>
            </p:txBody>
          </p:sp>
        </mc:Choice>
        <mc:Fallback xmlns="">
          <p:sp>
            <p:nvSpPr>
              <p:cNvPr id="19" name="Object 9">
                <a:extLst>
                  <a:ext uri="{FF2B5EF4-FFF2-40B4-BE49-F238E27FC236}">
                    <a16:creationId xmlns:a16="http://schemas.microsoft.com/office/drawing/2014/main" id="{4CF1B88E-8847-4D42-A0B6-4D4CA8760944}"/>
                  </a:ext>
                </a:extLst>
              </p:cNvPr>
              <p:cNvSpPr txBox="1">
                <a:spLocks noRot="1" noChangeAspect="1" noMove="1" noResize="1" noEditPoints="1" noAdjustHandles="1" noChangeArrowheads="1" noChangeShapeType="1" noTextEdit="1"/>
              </p:cNvSpPr>
              <p:nvPr/>
            </p:nvSpPr>
            <p:spPr bwMode="auto">
              <a:xfrm>
                <a:off x="1862118" y="5004692"/>
                <a:ext cx="330200" cy="51923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bject 19">
                <a:extLst>
                  <a:ext uri="{FF2B5EF4-FFF2-40B4-BE49-F238E27FC236}">
                    <a16:creationId xmlns:a16="http://schemas.microsoft.com/office/drawing/2014/main" id="{D4CB0C03-C047-4A79-B78B-228E3C74C6EA}"/>
                  </a:ext>
                </a:extLst>
              </p:cNvPr>
              <p:cNvSpPr txBox="1"/>
              <p:nvPr/>
            </p:nvSpPr>
            <p:spPr bwMode="auto">
              <a:xfrm>
                <a:off x="3850388" y="4843689"/>
                <a:ext cx="2183603" cy="933450"/>
              </a:xfrm>
              <a:prstGeom prst="rect">
                <a:avLst/>
              </a:prstGeom>
              <a:noFill/>
            </p:spPr>
            <p:txBody>
              <a:bodyPr>
                <a:noAutofit/>
              </a:bodyPr>
              <a:lstStyle/>
              <a:p>
                <a14:m>
                  <m:oMath xmlns:m="http://schemas.openxmlformats.org/officeDocument/2006/math">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𝜀</m:t>
                            </m:r>
                          </m:e>
                        </m:acc>
                      </m:e>
                      <m:sub>
                        <m:r>
                          <a:rPr lang="zh-CN" altLang="en-US" sz="2800" b="0" i="1">
                            <a:solidFill>
                              <a:srgbClr val="000000"/>
                            </a:solidFill>
                            <a:latin typeface="Cambria Math" panose="02040503050406030204" pitchFamily="18" charset="0"/>
                          </a:rPr>
                          <m:t>𝑡</m:t>
                        </m:r>
                      </m:sub>
                    </m:sSub>
                  </m:oMath>
                </a14:m>
                <a:r>
                  <a:rPr lang="en-US" altLang="zh-CN" sz="2800" dirty="0"/>
                  <a:t>=</a:t>
                </a:r>
                <a:r>
                  <a:rPr lang="zh-CN" altLang="en-US" sz="2800" dirty="0">
                    <a:solidFill>
                      <a:srgbClr val="000000"/>
                    </a:solidFill>
                  </a:rPr>
                  <a:t> </a:t>
                </a:r>
                <a14:m>
                  <m:oMath xmlns:m="http://schemas.openxmlformats.org/officeDocument/2006/math">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r>
                          <a:rPr lang="zh-CN" altLang="en-US" sz="2800" b="0" i="1">
                            <a:solidFill>
                              <a:srgbClr val="000000"/>
                            </a:solidFill>
                            <a:latin typeface="Cambria Math" panose="02040503050406030204" pitchFamily="18" charset="0"/>
                          </a:rPr>
                          <m:t>2</m:t>
                        </m:r>
                      </m:den>
                    </m:f>
                    <m:r>
                      <a:rPr lang="zh-CN" altLang="en-US" sz="2800" b="0" i="1">
                        <a:solidFill>
                          <a:srgbClr val="000000"/>
                        </a:solidFill>
                        <a:latin typeface="Cambria Math" panose="02040503050406030204" pitchFamily="18" charset="0"/>
                      </a:rPr>
                      <m:t>𝑚</m:t>
                    </m:r>
                    <m:bar>
                      <m:barPr>
                        <m:pos m:val="top"/>
                        <m:ctrlPr>
                          <a:rPr lang="zh-CN" altLang="en-US" sz="2800" i="1">
                            <a:solidFill>
                              <a:srgbClr val="000000"/>
                            </a:solidFill>
                            <a:latin typeface="Cambria Math" panose="02040503050406030204" pitchFamily="18" charset="0"/>
                          </a:rPr>
                        </m:ctrlPr>
                      </m:barPr>
                      <m:e>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𝑣</m:t>
                            </m:r>
                          </m:e>
                          <m:sup>
                            <m:r>
                              <a:rPr lang="zh-CN" altLang="en-US" sz="2800" b="0" i="1">
                                <a:solidFill>
                                  <a:srgbClr val="000000"/>
                                </a:solidFill>
                                <a:latin typeface="Cambria Math" panose="02040503050406030204" pitchFamily="18" charset="0"/>
                              </a:rPr>
                              <m:t>2</m:t>
                            </m:r>
                          </m:sup>
                        </m:sSup>
                      </m:e>
                    </m:bar>
                  </m:oMath>
                </a14:m>
                <a:endParaRPr lang="zh-CN" altLang="en-US" sz="2800" dirty="0"/>
              </a:p>
            </p:txBody>
          </p:sp>
        </mc:Choice>
        <mc:Fallback xmlns="">
          <p:sp>
            <p:nvSpPr>
              <p:cNvPr id="20" name="Object 19">
                <a:extLst>
                  <a:ext uri="{FF2B5EF4-FFF2-40B4-BE49-F238E27FC236}">
                    <a16:creationId xmlns:a16="http://schemas.microsoft.com/office/drawing/2014/main" id="{D4CB0C03-C047-4A79-B78B-228E3C74C6EA}"/>
                  </a:ext>
                </a:extLst>
              </p:cNvPr>
              <p:cNvSpPr txBox="1">
                <a:spLocks noRot="1" noChangeAspect="1" noMove="1" noResize="1" noEditPoints="1" noAdjustHandles="1" noChangeArrowheads="1" noChangeShapeType="1" noTextEdit="1"/>
              </p:cNvSpPr>
              <p:nvPr/>
            </p:nvSpPr>
            <p:spPr bwMode="auto">
              <a:xfrm>
                <a:off x="3850388" y="4843689"/>
                <a:ext cx="2183603" cy="933450"/>
              </a:xfrm>
              <a:prstGeom prst="rect">
                <a:avLst/>
              </a:prstGeom>
              <a:blipFill>
                <a:blip r:embed="rId4"/>
                <a:stretch>
                  <a:fillRect/>
                </a:stretch>
              </a:blipFill>
            </p:spPr>
            <p:txBody>
              <a:bodyPr/>
              <a:lstStyle/>
              <a:p>
                <a:r>
                  <a:rPr lang="en-US">
                    <a:noFill/>
                  </a:rPr>
                  <a:t> </a:t>
                </a:r>
              </a:p>
            </p:txBody>
          </p:sp>
        </mc:Fallback>
      </mc:AlternateContent>
      <p:sp>
        <p:nvSpPr>
          <p:cNvPr id="21" name="文本框 20">
            <a:extLst>
              <a:ext uri="{FF2B5EF4-FFF2-40B4-BE49-F238E27FC236}">
                <a16:creationId xmlns:a16="http://schemas.microsoft.com/office/drawing/2014/main" id="{94D2048B-C705-441B-85CC-C8E1E56BBA8B}"/>
              </a:ext>
            </a:extLst>
          </p:cNvPr>
          <p:cNvSpPr txBox="1"/>
          <p:nvPr/>
        </p:nvSpPr>
        <p:spPr>
          <a:xfrm>
            <a:off x="5569375" y="4919026"/>
            <a:ext cx="3416320" cy="523220"/>
          </a:xfrm>
          <a:prstGeom prst="rect">
            <a:avLst/>
          </a:prstGeom>
          <a:noFill/>
        </p:spPr>
        <p:txBody>
          <a:bodyPr wrap="none" rtlCol="0">
            <a:spAutoFit/>
          </a:bodyPr>
          <a:lstStyle/>
          <a:p>
            <a:r>
              <a:rPr lang="zh-CN" altLang="en-US" sz="2800" dirty="0"/>
              <a:t>分子的平均平动动能</a:t>
            </a:r>
          </a:p>
        </p:txBody>
      </p:sp>
      <mc:AlternateContent xmlns:mc="http://schemas.openxmlformats.org/markup-compatibility/2006" xmlns:a14="http://schemas.microsoft.com/office/drawing/2010/main">
        <mc:Choice Requires="a14">
          <p:sp>
            <p:nvSpPr>
              <p:cNvPr id="23" name="Object 17">
                <a:extLst>
                  <a:ext uri="{FF2B5EF4-FFF2-40B4-BE49-F238E27FC236}">
                    <a16:creationId xmlns:a16="http://schemas.microsoft.com/office/drawing/2014/main" id="{3000BF36-FDAF-461B-9FF9-E4EE54D2FC9C}"/>
                  </a:ext>
                </a:extLst>
              </p:cNvPr>
              <p:cNvSpPr txBox="1"/>
              <p:nvPr/>
            </p:nvSpPr>
            <p:spPr bwMode="auto">
              <a:xfrm>
                <a:off x="1779568" y="5921662"/>
                <a:ext cx="5253038" cy="10096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𝜀</m:t>
                              </m:r>
                            </m:e>
                          </m:acc>
                        </m:e>
                        <m:sub>
                          <m:r>
                            <a:rPr lang="zh-CN" altLang="en-US" sz="2800" b="0" i="1">
                              <a:solidFill>
                                <a:srgbClr val="000000"/>
                              </a:solidFill>
                              <a:latin typeface="Cambria Math" panose="02040503050406030204" pitchFamily="18" charset="0"/>
                            </a:rPr>
                            <m:t>𝑡</m:t>
                          </m:r>
                        </m:sub>
                      </m:sSub>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3</m:t>
                          </m:r>
                        </m:num>
                        <m:den>
                          <m:r>
                            <a:rPr lang="zh-CN" altLang="en-US" sz="2800" b="0" i="1">
                              <a:solidFill>
                                <a:srgbClr val="000000"/>
                              </a:solidFill>
                              <a:latin typeface="Cambria Math" panose="02040503050406030204" pitchFamily="18" charset="0"/>
                            </a:rPr>
                            <m:t>2</m:t>
                          </m:r>
                        </m:den>
                      </m:f>
                      <m:r>
                        <a:rPr lang="en-US" altLang="zh-CN" sz="2800" b="0" i="1" smtClean="0">
                          <a:solidFill>
                            <a:srgbClr val="000000"/>
                          </a:solidFill>
                          <a:latin typeface="Cambria Math" panose="02040503050406030204" pitchFamily="18" charset="0"/>
                        </a:rPr>
                        <m:t>𝑘</m:t>
                      </m:r>
                      <m:r>
                        <a:rPr lang="zh-CN" altLang="en-US" sz="2800" b="0" i="1">
                          <a:solidFill>
                            <a:srgbClr val="000000"/>
                          </a:solidFill>
                          <a:latin typeface="Cambria Math" panose="02040503050406030204" pitchFamily="18" charset="0"/>
                        </a:rPr>
                        <m:t>𝑇</m:t>
                      </m:r>
                    </m:oMath>
                  </m:oMathPara>
                </a14:m>
                <a:endParaRPr lang="zh-CN" altLang="en-US" sz="2800" dirty="0"/>
              </a:p>
            </p:txBody>
          </p:sp>
        </mc:Choice>
        <mc:Fallback xmlns="">
          <p:sp>
            <p:nvSpPr>
              <p:cNvPr id="23" name="Object 17">
                <a:extLst>
                  <a:ext uri="{FF2B5EF4-FFF2-40B4-BE49-F238E27FC236}">
                    <a16:creationId xmlns:a16="http://schemas.microsoft.com/office/drawing/2014/main" id="{3000BF36-FDAF-461B-9FF9-E4EE54D2FC9C}"/>
                  </a:ext>
                </a:extLst>
              </p:cNvPr>
              <p:cNvSpPr txBox="1">
                <a:spLocks noRot="1" noChangeAspect="1" noMove="1" noResize="1" noEditPoints="1" noAdjustHandles="1" noChangeArrowheads="1" noChangeShapeType="1" noTextEdit="1"/>
              </p:cNvSpPr>
              <p:nvPr/>
            </p:nvSpPr>
            <p:spPr bwMode="auto">
              <a:xfrm>
                <a:off x="1779568" y="5921662"/>
                <a:ext cx="5253038" cy="1009650"/>
              </a:xfrm>
              <a:prstGeom prst="rect">
                <a:avLst/>
              </a:prstGeom>
              <a:blipFill>
                <a:blip r:embed="rId5"/>
                <a:stretch>
                  <a:fillRect/>
                </a:stretch>
              </a:blipFill>
            </p:spPr>
            <p:txBody>
              <a:bodyPr/>
              <a:lstStyle/>
              <a:p>
                <a:r>
                  <a:rPr lang="en-US">
                    <a:noFill/>
                  </a:rPr>
                  <a:t> </a:t>
                </a:r>
              </a:p>
            </p:txBody>
          </p:sp>
        </mc:Fallback>
      </mc:AlternateContent>
      <p:sp>
        <p:nvSpPr>
          <p:cNvPr id="15" name="Text Box 13">
            <a:hlinkClick r:id="" action="ppaction://noaction"/>
            <a:extLst>
              <a:ext uri="{FF2B5EF4-FFF2-40B4-BE49-F238E27FC236}">
                <a16:creationId xmlns:a16="http://schemas.microsoft.com/office/drawing/2014/main" id="{D5EA694B-EA63-45EF-BF9C-2716471E741F}"/>
              </a:ext>
            </a:extLst>
          </p:cNvPr>
          <p:cNvSpPr txBox="1">
            <a:spLocks noChangeArrowheads="1"/>
          </p:cNvSpPr>
          <p:nvPr/>
        </p:nvSpPr>
        <p:spPr bwMode="auto">
          <a:xfrm>
            <a:off x="462450" y="408525"/>
            <a:ext cx="64003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zh-CN" altLang="en-US" sz="3200" dirty="0">
                <a:solidFill>
                  <a:srgbClr val="0066FF"/>
                </a:solidFill>
                <a:latin typeface="+mn-lt"/>
                <a:ea typeface="+mn-ea"/>
                <a:cs typeface="Times New Roman" panose="02020603050405020304" pitchFamily="18" charset="0"/>
              </a:rPr>
              <a:t>理想气体回顾</a:t>
            </a:r>
          </a:p>
        </p:txBody>
      </p:sp>
      <p:pic>
        <p:nvPicPr>
          <p:cNvPr id="25" name="Picture 42" descr="分子热运动">
            <a:extLst>
              <a:ext uri="{FF2B5EF4-FFF2-40B4-BE49-F238E27FC236}">
                <a16:creationId xmlns:a16="http://schemas.microsoft.com/office/drawing/2014/main" id="{F3E7CEB7-70FF-48A3-9315-566921E57F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7967" y="1088392"/>
            <a:ext cx="2684669" cy="268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20">
            <a:extLst>
              <a:ext uri="{FF2B5EF4-FFF2-40B4-BE49-F238E27FC236}">
                <a16:creationId xmlns:a16="http://schemas.microsoft.com/office/drawing/2014/main" id="{71CF1A04-3826-44B5-B812-4480673516CD}"/>
              </a:ext>
            </a:extLst>
          </p:cNvPr>
          <p:cNvSpPr txBox="1">
            <a:spLocks noChangeArrowheads="1"/>
          </p:cNvSpPr>
          <p:nvPr/>
        </p:nvSpPr>
        <p:spPr bwMode="auto">
          <a:xfrm>
            <a:off x="3972847" y="1139283"/>
            <a:ext cx="9093332" cy="124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381000" indent="-381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marL="0" indent="0" eaLnBrk="1" hangingPunct="1">
              <a:lnSpc>
                <a:spcPct val="140000"/>
              </a:lnSpc>
            </a:pPr>
            <a:r>
              <a:rPr lang="en-US" altLang="zh-CN" b="0" dirty="0">
                <a:latin typeface="+mn-lt"/>
                <a:ea typeface="+mn-ea"/>
              </a:rPr>
              <a:t>- </a:t>
            </a:r>
            <a:r>
              <a:rPr lang="zh-CN" altLang="en-US" b="0" dirty="0">
                <a:latin typeface="+mn-lt"/>
                <a:ea typeface="+mn-ea"/>
              </a:rPr>
              <a:t>分子当作质点，不占体积；</a:t>
            </a:r>
          </a:p>
          <a:p>
            <a:pPr marL="0" indent="0" eaLnBrk="1" hangingPunct="1">
              <a:lnSpc>
                <a:spcPct val="140000"/>
              </a:lnSpc>
            </a:pPr>
            <a:r>
              <a:rPr lang="en-US" altLang="zh-CN" b="0" dirty="0">
                <a:latin typeface="+mn-lt"/>
                <a:ea typeface="+mn-ea"/>
              </a:rPr>
              <a:t>- </a:t>
            </a:r>
            <a:r>
              <a:rPr lang="zh-CN" altLang="en-US" b="0" dirty="0">
                <a:latin typeface="+mn-lt"/>
                <a:ea typeface="+mn-ea"/>
              </a:rPr>
              <a:t>分子之间除碰撞的瞬间外，无相互作用力。</a:t>
            </a:r>
          </a:p>
        </p:txBody>
      </p:sp>
      <p:sp>
        <p:nvSpPr>
          <p:cNvPr id="31" name="Text Box 31">
            <a:extLst>
              <a:ext uri="{FF2B5EF4-FFF2-40B4-BE49-F238E27FC236}">
                <a16:creationId xmlns:a16="http://schemas.microsoft.com/office/drawing/2014/main" id="{BBD13C72-5FEC-495A-9910-5AFC0C2FFC47}"/>
              </a:ext>
            </a:extLst>
          </p:cNvPr>
          <p:cNvSpPr txBox="1">
            <a:spLocks noChangeArrowheads="1"/>
          </p:cNvSpPr>
          <p:nvPr/>
        </p:nvSpPr>
        <p:spPr bwMode="auto">
          <a:xfrm>
            <a:off x="3972847" y="2866844"/>
            <a:ext cx="9435494" cy="592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b="0" dirty="0">
                <a:latin typeface="+mn-lt"/>
                <a:ea typeface="+mn-ea"/>
              </a:rPr>
              <a:t>- </a:t>
            </a:r>
            <a:r>
              <a:rPr lang="zh-CN" altLang="en-US" b="0" dirty="0">
                <a:latin typeface="+mn-lt"/>
                <a:ea typeface="+mn-ea"/>
              </a:rPr>
              <a:t>分子按位置的分布是均匀的（分子数密度均一）</a:t>
            </a:r>
          </a:p>
        </p:txBody>
      </p:sp>
      <p:sp>
        <p:nvSpPr>
          <p:cNvPr id="32" name="文本框 31">
            <a:extLst>
              <a:ext uri="{FF2B5EF4-FFF2-40B4-BE49-F238E27FC236}">
                <a16:creationId xmlns:a16="http://schemas.microsoft.com/office/drawing/2014/main" id="{7491C4A9-7C23-42C6-B1A8-8BF837C858C1}"/>
              </a:ext>
            </a:extLst>
          </p:cNvPr>
          <p:cNvSpPr txBox="1"/>
          <p:nvPr/>
        </p:nvSpPr>
        <p:spPr>
          <a:xfrm>
            <a:off x="3818642" y="808664"/>
            <a:ext cx="2262474" cy="523220"/>
          </a:xfrm>
          <a:prstGeom prst="rect">
            <a:avLst/>
          </a:prstGeom>
          <a:noFill/>
        </p:spPr>
        <p:txBody>
          <a:bodyPr wrap="square" rtlCol="0">
            <a:spAutoFit/>
          </a:bodyPr>
          <a:lstStyle/>
          <a:p>
            <a:r>
              <a:rPr lang="zh-CN" altLang="en-US" sz="2800" dirty="0"/>
              <a:t>微观角度：</a:t>
            </a:r>
          </a:p>
        </p:txBody>
      </p:sp>
      <p:sp>
        <p:nvSpPr>
          <p:cNvPr id="33" name="文本框 32">
            <a:extLst>
              <a:ext uri="{FF2B5EF4-FFF2-40B4-BE49-F238E27FC236}">
                <a16:creationId xmlns:a16="http://schemas.microsoft.com/office/drawing/2014/main" id="{81AF0D7D-779D-4E94-8CC0-D98D95B57EBD}"/>
              </a:ext>
            </a:extLst>
          </p:cNvPr>
          <p:cNvSpPr txBox="1"/>
          <p:nvPr/>
        </p:nvSpPr>
        <p:spPr>
          <a:xfrm>
            <a:off x="3818642" y="2408673"/>
            <a:ext cx="2108269" cy="523220"/>
          </a:xfrm>
          <a:prstGeom prst="rect">
            <a:avLst/>
          </a:prstGeom>
          <a:noFill/>
        </p:spPr>
        <p:txBody>
          <a:bodyPr wrap="square" rtlCol="0">
            <a:spAutoFit/>
          </a:bodyPr>
          <a:lstStyle/>
          <a:p>
            <a:r>
              <a:rPr lang="zh-CN" altLang="en-US" sz="2800" dirty="0"/>
              <a:t>统计角度：</a:t>
            </a:r>
          </a:p>
        </p:txBody>
      </p:sp>
      <p:sp>
        <p:nvSpPr>
          <p:cNvPr id="34" name="Text Box 31">
            <a:extLst>
              <a:ext uri="{FF2B5EF4-FFF2-40B4-BE49-F238E27FC236}">
                <a16:creationId xmlns:a16="http://schemas.microsoft.com/office/drawing/2014/main" id="{5A4AAFAE-E1E9-49DB-99FE-8E60223D5A98}"/>
              </a:ext>
            </a:extLst>
          </p:cNvPr>
          <p:cNvSpPr txBox="1">
            <a:spLocks noChangeArrowheads="1"/>
          </p:cNvSpPr>
          <p:nvPr/>
        </p:nvSpPr>
        <p:spPr bwMode="auto">
          <a:xfrm>
            <a:off x="2657467" y="4203079"/>
            <a:ext cx="6328228" cy="592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b="0" dirty="0">
                <a:latin typeface="+mn-lt"/>
                <a:ea typeface="+mn-ea"/>
              </a:rPr>
              <a:t>单个分子力学分析 </a:t>
            </a:r>
            <a:r>
              <a:rPr lang="en-US" altLang="zh-CN" b="0" dirty="0">
                <a:latin typeface="+mn-lt"/>
                <a:ea typeface="+mn-ea"/>
              </a:rPr>
              <a:t>+ </a:t>
            </a:r>
            <a:r>
              <a:rPr lang="zh-CN" altLang="en-US" b="0" dirty="0">
                <a:latin typeface="+mn-lt"/>
                <a:ea typeface="+mn-ea"/>
              </a:rPr>
              <a:t>统计规律</a:t>
            </a:r>
          </a:p>
        </p:txBody>
      </p:sp>
      <p:sp>
        <p:nvSpPr>
          <p:cNvPr id="35" name="Rectangle 50">
            <a:extLst>
              <a:ext uri="{FF2B5EF4-FFF2-40B4-BE49-F238E27FC236}">
                <a16:creationId xmlns:a16="http://schemas.microsoft.com/office/drawing/2014/main" id="{644E4CA4-8810-45FB-939B-07016A7EC31D}"/>
              </a:ext>
            </a:extLst>
          </p:cNvPr>
          <p:cNvSpPr>
            <a:spLocks noChangeArrowheads="1"/>
          </p:cNvSpPr>
          <p:nvPr/>
        </p:nvSpPr>
        <p:spPr bwMode="auto">
          <a:xfrm>
            <a:off x="4045905" y="3552594"/>
            <a:ext cx="1176963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dirty="0">
                <a:latin typeface="+mn-lt"/>
                <a:ea typeface="+mn-ea"/>
              </a:rPr>
              <a:t>- </a:t>
            </a:r>
            <a:r>
              <a:rPr lang="zh-CN" altLang="en-US" b="0" dirty="0">
                <a:latin typeface="+mn-lt"/>
                <a:ea typeface="+mn-ea"/>
              </a:rPr>
              <a:t>分子的速度按方向的分布是各向均匀的</a:t>
            </a:r>
          </a:p>
        </p:txBody>
      </p:sp>
      <p:sp>
        <p:nvSpPr>
          <p:cNvPr id="36" name="文本框 35">
            <a:extLst>
              <a:ext uri="{FF2B5EF4-FFF2-40B4-BE49-F238E27FC236}">
                <a16:creationId xmlns:a16="http://schemas.microsoft.com/office/drawing/2014/main" id="{A3AB732E-AF7E-4131-A025-9D0896F3F687}"/>
              </a:ext>
            </a:extLst>
          </p:cNvPr>
          <p:cNvSpPr txBox="1"/>
          <p:nvPr/>
        </p:nvSpPr>
        <p:spPr>
          <a:xfrm>
            <a:off x="1055257" y="3834062"/>
            <a:ext cx="2799013" cy="523220"/>
          </a:xfrm>
          <a:prstGeom prst="rect">
            <a:avLst/>
          </a:prstGeom>
          <a:noFill/>
        </p:spPr>
        <p:txBody>
          <a:bodyPr wrap="square" rtlCol="0">
            <a:spAutoFit/>
          </a:bodyPr>
          <a:lstStyle/>
          <a:p>
            <a:r>
              <a:rPr lang="zh-CN" altLang="en-US" sz="2800" dirty="0"/>
              <a:t>理想气体模型</a:t>
            </a:r>
          </a:p>
        </p:txBody>
      </p:sp>
      <p:sp>
        <p:nvSpPr>
          <p:cNvPr id="7" name="矩形 6">
            <a:extLst>
              <a:ext uri="{FF2B5EF4-FFF2-40B4-BE49-F238E27FC236}">
                <a16:creationId xmlns:a16="http://schemas.microsoft.com/office/drawing/2014/main" id="{A14FC4F2-57A4-4D44-95B5-9EA96D3D9C68}"/>
              </a:ext>
            </a:extLst>
          </p:cNvPr>
          <p:cNvSpPr/>
          <p:nvPr/>
        </p:nvSpPr>
        <p:spPr>
          <a:xfrm>
            <a:off x="3216701" y="5493037"/>
            <a:ext cx="8802410" cy="523220"/>
          </a:xfrm>
          <a:prstGeom prst="rect">
            <a:avLst/>
          </a:prstGeom>
        </p:spPr>
        <p:txBody>
          <a:bodyPr wrap="none">
            <a:spAutoFit/>
          </a:bodyPr>
          <a:lstStyle/>
          <a:p>
            <a:r>
              <a:rPr lang="zh-CN" altLang="en-US" sz="2800" dirty="0"/>
              <a:t>大量分子热运动对容器器壁单位面积冲力的统计平均值</a:t>
            </a:r>
          </a:p>
        </p:txBody>
      </p:sp>
      <p:sp>
        <p:nvSpPr>
          <p:cNvPr id="8" name="矩形 7">
            <a:extLst>
              <a:ext uri="{FF2B5EF4-FFF2-40B4-BE49-F238E27FC236}">
                <a16:creationId xmlns:a16="http://schemas.microsoft.com/office/drawing/2014/main" id="{B99ED867-1FE7-4DCD-8AFD-9171407D8DE8}"/>
              </a:ext>
            </a:extLst>
          </p:cNvPr>
          <p:cNvSpPr/>
          <p:nvPr/>
        </p:nvSpPr>
        <p:spPr>
          <a:xfrm>
            <a:off x="3410362" y="6180265"/>
            <a:ext cx="8520281" cy="492443"/>
          </a:xfrm>
          <a:prstGeom prst="rect">
            <a:avLst/>
          </a:prstGeom>
        </p:spPr>
        <p:txBody>
          <a:bodyPr wrap="none">
            <a:spAutoFit/>
          </a:bodyPr>
          <a:lstStyle/>
          <a:p>
            <a:r>
              <a:rPr lang="zh-CN" altLang="en-US" sz="2600" dirty="0"/>
              <a:t>温度是分子平均平动动能的量度，反映热运动的剧烈程度</a:t>
            </a:r>
            <a:endParaRPr lang="en-US" sz="2600" dirty="0"/>
          </a:p>
        </p:txBody>
      </p:sp>
    </p:spTree>
    <p:extLst>
      <p:ext uri="{BB962C8B-B14F-4D97-AF65-F5344CB8AC3E}">
        <p14:creationId xmlns:p14="http://schemas.microsoft.com/office/powerpoint/2010/main" val="183829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9" grpId="0" autoUpdateAnimBg="0"/>
      <p:bldP spid="29" grpId="1"/>
      <p:bldP spid="31" grpId="0" autoUpdateAnimBg="0"/>
      <p:bldP spid="31" grpId="1"/>
      <p:bldP spid="32" grpId="0"/>
      <p:bldP spid="33" grpId="0"/>
      <p:bldP spid="34" grpId="0" autoUpdateAnimBg="0"/>
      <p:bldP spid="34" grpId="1"/>
      <p:bldP spid="35" grpId="0" build="p" autoUpdateAnimBg="0"/>
      <p:bldP spid="35" grpId="1"/>
      <p:bldP spid="3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6FD0875-C123-3A78-E667-EE9A166554E8}"/>
                  </a:ext>
                </a:extLst>
              </p:cNvPr>
              <p:cNvSpPr txBox="1"/>
              <p:nvPr/>
            </p:nvSpPr>
            <p:spPr>
              <a:xfrm>
                <a:off x="2646228" y="3098247"/>
                <a:ext cx="3928290" cy="884538"/>
              </a:xfrm>
              <a:prstGeom prst="rect">
                <a:avLst/>
              </a:prstGeom>
              <a:noFill/>
            </p:spPr>
            <p:txBody>
              <a:bodyPr wrap="square" rtlCol="0">
                <a:spAutoFit/>
              </a:bodyPr>
              <a:lstStyle/>
              <a:p>
                <a:r>
                  <a:rPr lang="en-US" altLang="zh-CN" sz="3600" dirty="0"/>
                  <a:t>E=N</a:t>
                </a:r>
                <a:r>
                  <a:rPr lang="zh-CN" altLang="en-US" sz="3600" dirty="0">
                    <a:solidFill>
                      <a:schemeClr val="tx1"/>
                    </a:solidFill>
                  </a:rPr>
                  <a:t> </a:t>
                </a:r>
                <a14:m>
                  <m:oMath xmlns:m="http://schemas.openxmlformats.org/officeDocument/2006/math">
                    <m:acc>
                      <m:accPr>
                        <m:chr m:val="̄"/>
                        <m:ctrlPr>
                          <a:rPr lang="zh-CN" altLang="en-US" sz="3600" i="1" smtClean="0">
                            <a:solidFill>
                              <a:schemeClr val="tx1"/>
                            </a:solidFill>
                            <a:latin typeface="Cambria Math" panose="02040503050406030204" pitchFamily="18" charset="0"/>
                          </a:rPr>
                        </m:ctrlPr>
                      </m:accPr>
                      <m:e>
                        <m:r>
                          <a:rPr lang="zh-CN" altLang="en-US" sz="3600" b="0" i="1">
                            <a:solidFill>
                              <a:schemeClr val="tx1"/>
                            </a:solidFill>
                            <a:latin typeface="Cambria Math" panose="02040503050406030204" pitchFamily="18" charset="0"/>
                          </a:rPr>
                          <m:t>𝜀</m:t>
                        </m:r>
                      </m:e>
                    </m:acc>
                  </m:oMath>
                </a14:m>
                <a:r>
                  <a:rPr lang="en-US" altLang="zh-CN" sz="3600" dirty="0"/>
                  <a:t>= N</a:t>
                </a:r>
                <a:r>
                  <a:rPr lang="zh-CN" altLang="en-US" sz="3600" dirty="0"/>
                  <a:t> </a:t>
                </a:r>
                <a14:m>
                  <m:oMath xmlns:m="http://schemas.openxmlformats.org/officeDocument/2006/math">
                    <m:f>
                      <m:fPr>
                        <m:ctrlPr>
                          <a:rPr lang="zh-CN" altLang="en-US" sz="3600" i="1">
                            <a:latin typeface="Cambria Math" panose="02040503050406030204" pitchFamily="18" charset="0"/>
                          </a:rPr>
                        </m:ctrlPr>
                      </m:fPr>
                      <m:num>
                        <m:r>
                          <a:rPr lang="zh-CN" altLang="en-US" sz="3600" i="1">
                            <a:latin typeface="Cambria Math" panose="02040503050406030204" pitchFamily="18" charset="0"/>
                          </a:rPr>
                          <m:t>𝑖</m:t>
                        </m:r>
                      </m:num>
                      <m:den>
                        <m:r>
                          <a:rPr lang="zh-CN" altLang="en-US" sz="3600" i="1">
                            <a:latin typeface="Cambria Math" panose="02040503050406030204" pitchFamily="18" charset="0"/>
                          </a:rPr>
                          <m:t>2</m:t>
                        </m:r>
                      </m:den>
                    </m:f>
                    <m:r>
                      <a:rPr lang="zh-CN" altLang="en-US" sz="3600" i="1">
                        <a:latin typeface="Cambria Math" panose="02040503050406030204" pitchFamily="18" charset="0"/>
                      </a:rPr>
                      <m:t>𝑘𝑇</m:t>
                    </m:r>
                  </m:oMath>
                </a14:m>
                <a:endParaRPr lang="zh-CN" altLang="en-US" sz="3600" dirty="0"/>
              </a:p>
            </p:txBody>
          </p:sp>
        </mc:Choice>
        <mc:Fallback xmlns="">
          <p:sp>
            <p:nvSpPr>
              <p:cNvPr id="16" name="文本框 15">
                <a:extLst>
                  <a:ext uri="{FF2B5EF4-FFF2-40B4-BE49-F238E27FC236}">
                    <a16:creationId xmlns:a16="http://schemas.microsoft.com/office/drawing/2014/main" id="{96FD0875-C123-3A78-E667-EE9A166554E8}"/>
                  </a:ext>
                </a:extLst>
              </p:cNvPr>
              <p:cNvSpPr txBox="1">
                <a:spLocks noRot="1" noChangeAspect="1" noMove="1" noResize="1" noEditPoints="1" noAdjustHandles="1" noChangeArrowheads="1" noChangeShapeType="1" noTextEdit="1"/>
              </p:cNvSpPr>
              <p:nvPr/>
            </p:nvSpPr>
            <p:spPr>
              <a:xfrm>
                <a:off x="2646228" y="3098247"/>
                <a:ext cx="3928290" cy="884538"/>
              </a:xfrm>
              <a:prstGeom prst="rect">
                <a:avLst/>
              </a:prstGeom>
              <a:blipFill>
                <a:blip r:embed="rId2"/>
                <a:stretch>
                  <a:fillRect l="-4658" b="-12414"/>
                </a:stretch>
              </a:blipFill>
            </p:spPr>
            <p:txBody>
              <a:bodyPr/>
              <a:lstStyle/>
              <a:p>
                <a:r>
                  <a:rPr lang="en-US">
                    <a:noFill/>
                  </a:rPr>
                  <a:t> </a:t>
                </a:r>
              </a:p>
            </p:txBody>
          </p:sp>
        </mc:Fallback>
      </mc:AlternateContent>
      <p:sp>
        <p:nvSpPr>
          <p:cNvPr id="17" name="文本框 16">
            <a:extLst>
              <a:ext uri="{FF2B5EF4-FFF2-40B4-BE49-F238E27FC236}">
                <a16:creationId xmlns:a16="http://schemas.microsoft.com/office/drawing/2014/main" id="{0615E361-52CD-1AB2-86E6-1335F2E0545D}"/>
              </a:ext>
            </a:extLst>
          </p:cNvPr>
          <p:cNvSpPr txBox="1"/>
          <p:nvPr/>
        </p:nvSpPr>
        <p:spPr>
          <a:xfrm>
            <a:off x="843409" y="2639853"/>
            <a:ext cx="2877711" cy="553998"/>
          </a:xfrm>
          <a:prstGeom prst="rect">
            <a:avLst/>
          </a:prstGeom>
          <a:noFill/>
        </p:spPr>
        <p:txBody>
          <a:bodyPr wrap="none" rtlCol="0">
            <a:spAutoFit/>
          </a:bodyPr>
          <a:lstStyle/>
          <a:p>
            <a:r>
              <a:rPr lang="zh-CN" altLang="en-US" sz="3000" dirty="0"/>
              <a:t>理想气体内能：</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22D49C0-FDDE-8C0E-4019-190C1F59C246}"/>
                  </a:ext>
                </a:extLst>
              </p:cNvPr>
              <p:cNvSpPr txBox="1"/>
              <p:nvPr/>
            </p:nvSpPr>
            <p:spPr>
              <a:xfrm>
                <a:off x="5725950" y="3081403"/>
                <a:ext cx="9158384" cy="884538"/>
              </a:xfrm>
              <a:prstGeom prst="rect">
                <a:avLst/>
              </a:prstGeom>
              <a:noFill/>
            </p:spPr>
            <p:txBody>
              <a:bodyPr wrap="square">
                <a:spAutoFit/>
              </a:bodyPr>
              <a:lstStyle/>
              <a:p>
                <a:r>
                  <a:rPr lang="en-US" altLang="zh-CN" sz="3600" dirty="0"/>
                  <a:t>= </a:t>
                </a:r>
                <a:r>
                  <a:rPr lang="zh-CN" altLang="en-US" sz="3600" dirty="0"/>
                  <a:t> </a:t>
                </a:r>
                <a14:m>
                  <m:oMath xmlns:m="http://schemas.openxmlformats.org/officeDocument/2006/math">
                    <m:f>
                      <m:fPr>
                        <m:ctrlPr>
                          <a:rPr lang="zh-CN" altLang="en-US" sz="3600" i="1">
                            <a:latin typeface="Cambria Math" panose="02040503050406030204" pitchFamily="18" charset="0"/>
                          </a:rPr>
                        </m:ctrlPr>
                      </m:fPr>
                      <m:num>
                        <m:r>
                          <a:rPr lang="zh-CN" altLang="en-US" sz="3600" i="1">
                            <a:latin typeface="Cambria Math" panose="02040503050406030204" pitchFamily="18" charset="0"/>
                          </a:rPr>
                          <m:t>𝑖</m:t>
                        </m:r>
                      </m:num>
                      <m:den>
                        <m:r>
                          <a:rPr lang="zh-CN" altLang="en-US" sz="3600" i="1">
                            <a:latin typeface="Cambria Math" panose="02040503050406030204" pitchFamily="18" charset="0"/>
                          </a:rPr>
                          <m:t>2</m:t>
                        </m:r>
                      </m:den>
                    </m:f>
                    <m:r>
                      <m:rPr>
                        <m:sty m:val="p"/>
                      </m:rPr>
                      <a:rPr lang="el-GR" altLang="zh-CN" sz="3600" i="1">
                        <a:solidFill>
                          <a:srgbClr val="000000"/>
                        </a:solidFill>
                        <a:latin typeface="Cambria Math" panose="02040503050406030204" pitchFamily="18" charset="0"/>
                      </a:rPr>
                      <m:t>ν</m:t>
                    </m:r>
                    <m:r>
                      <m:rPr>
                        <m:sty m:val="p"/>
                      </m:rPr>
                      <a:rPr lang="en-US" altLang="zh-CN" sz="3600" i="1">
                        <a:solidFill>
                          <a:srgbClr val="000000"/>
                        </a:solidFill>
                        <a:latin typeface="Cambria Math" panose="02040503050406030204" pitchFamily="18" charset="0"/>
                      </a:rPr>
                      <m:t>R</m:t>
                    </m:r>
                    <m:r>
                      <a:rPr lang="zh-CN" altLang="en-US" sz="3600" i="1">
                        <a:latin typeface="Cambria Math" panose="02040503050406030204" pitchFamily="18" charset="0"/>
                      </a:rPr>
                      <m:t>𝑇</m:t>
                    </m:r>
                  </m:oMath>
                </a14:m>
                <a:endParaRPr lang="zh-CN" altLang="en-US" sz="3600" dirty="0"/>
              </a:p>
            </p:txBody>
          </p:sp>
        </mc:Choice>
        <mc:Fallback xmlns="">
          <p:sp>
            <p:nvSpPr>
              <p:cNvPr id="19" name="文本框 18">
                <a:extLst>
                  <a:ext uri="{FF2B5EF4-FFF2-40B4-BE49-F238E27FC236}">
                    <a16:creationId xmlns:a16="http://schemas.microsoft.com/office/drawing/2014/main" id="{322D49C0-FDDE-8C0E-4019-190C1F59C246}"/>
                  </a:ext>
                </a:extLst>
              </p:cNvPr>
              <p:cNvSpPr txBox="1">
                <a:spLocks noRot="1" noChangeAspect="1" noMove="1" noResize="1" noEditPoints="1" noAdjustHandles="1" noChangeArrowheads="1" noChangeShapeType="1" noTextEdit="1"/>
              </p:cNvSpPr>
              <p:nvPr/>
            </p:nvSpPr>
            <p:spPr>
              <a:xfrm>
                <a:off x="5725950" y="3081403"/>
                <a:ext cx="9158384" cy="884538"/>
              </a:xfrm>
              <a:prstGeom prst="rect">
                <a:avLst/>
              </a:prstGeom>
              <a:blipFill>
                <a:blip r:embed="rId3"/>
                <a:stretch>
                  <a:fillRect l="-1996" b="-116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1122">
                <a:extLst>
                  <a:ext uri="{FF2B5EF4-FFF2-40B4-BE49-F238E27FC236}">
                    <a16:creationId xmlns:a16="http://schemas.microsoft.com/office/drawing/2014/main" id="{58012B7B-CC1A-46AD-B534-F61A6302A5B4}"/>
                  </a:ext>
                </a:extLst>
              </p:cNvPr>
              <p:cNvSpPr txBox="1"/>
              <p:nvPr/>
            </p:nvSpPr>
            <p:spPr bwMode="auto">
              <a:xfrm>
                <a:off x="694206" y="4387276"/>
                <a:ext cx="3176119" cy="51763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3000" b="0" i="1" smtClean="0">
                          <a:solidFill>
                            <a:schemeClr val="tx1"/>
                          </a:solidFill>
                          <a:latin typeface="Cambria Math" panose="02040503050406030204" pitchFamily="18" charset="0"/>
                        </a:rPr>
                        <m:t>𝑖</m:t>
                      </m:r>
                      <m:r>
                        <a:rPr lang="zh-CN" altLang="en-US" sz="3000" b="0" i="1" smtClean="0">
                          <a:solidFill>
                            <a:schemeClr val="tx1"/>
                          </a:solidFill>
                          <a:latin typeface="Cambria Math" panose="02040503050406030204" pitchFamily="18" charset="0"/>
                        </a:rPr>
                        <m:t>=</m:t>
                      </m:r>
                      <m:r>
                        <a:rPr lang="zh-CN" altLang="en-US" sz="3000" b="0" i="1" smtClean="0">
                          <a:solidFill>
                            <a:schemeClr val="tx1"/>
                          </a:solidFill>
                          <a:latin typeface="Cambria Math" panose="02040503050406030204" pitchFamily="18" charset="0"/>
                        </a:rPr>
                        <m:t>𝑡</m:t>
                      </m:r>
                      <m:r>
                        <a:rPr lang="zh-CN" altLang="en-US" sz="3000" b="0" i="1" smtClean="0">
                          <a:solidFill>
                            <a:schemeClr val="tx1"/>
                          </a:solidFill>
                          <a:latin typeface="Cambria Math" panose="02040503050406030204" pitchFamily="18" charset="0"/>
                        </a:rPr>
                        <m:t>+</m:t>
                      </m:r>
                      <m:r>
                        <a:rPr lang="zh-CN" altLang="en-US" sz="3000" b="0" i="1" smtClean="0">
                          <a:solidFill>
                            <a:schemeClr val="tx1"/>
                          </a:solidFill>
                          <a:latin typeface="Cambria Math" panose="02040503050406030204" pitchFamily="18" charset="0"/>
                        </a:rPr>
                        <m:t>𝑟</m:t>
                      </m:r>
                      <m:r>
                        <a:rPr lang="zh-CN" altLang="en-US" sz="3000" b="0" i="1" smtClean="0">
                          <a:solidFill>
                            <a:schemeClr val="tx1"/>
                          </a:solidFill>
                          <a:latin typeface="Cambria Math" panose="02040503050406030204" pitchFamily="18" charset="0"/>
                        </a:rPr>
                        <m:t>+2</m:t>
                      </m:r>
                      <m:r>
                        <a:rPr lang="zh-CN" altLang="en-US" sz="3000" b="0" i="1" smtClean="0">
                          <a:solidFill>
                            <a:schemeClr val="tx1"/>
                          </a:solidFill>
                          <a:latin typeface="Cambria Math" panose="02040503050406030204" pitchFamily="18" charset="0"/>
                        </a:rPr>
                        <m:t>𝑠</m:t>
                      </m:r>
                    </m:oMath>
                  </m:oMathPara>
                </a14:m>
                <a:endParaRPr lang="zh-CN" altLang="en-US" sz="3000" dirty="0">
                  <a:solidFill>
                    <a:schemeClr val="tx1"/>
                  </a:solidFill>
                </a:endParaRPr>
              </a:p>
            </p:txBody>
          </p:sp>
        </mc:Choice>
        <mc:Fallback xmlns="">
          <p:sp>
            <p:nvSpPr>
              <p:cNvPr id="9" name="Object 1122">
                <a:extLst>
                  <a:ext uri="{FF2B5EF4-FFF2-40B4-BE49-F238E27FC236}">
                    <a16:creationId xmlns:a16="http://schemas.microsoft.com/office/drawing/2014/main" id="{58012B7B-CC1A-46AD-B534-F61A6302A5B4}"/>
                  </a:ext>
                </a:extLst>
              </p:cNvPr>
              <p:cNvSpPr txBox="1">
                <a:spLocks noRot="1" noChangeAspect="1" noMove="1" noResize="1" noEditPoints="1" noAdjustHandles="1" noChangeArrowheads="1" noChangeShapeType="1" noTextEdit="1"/>
              </p:cNvSpPr>
              <p:nvPr/>
            </p:nvSpPr>
            <p:spPr bwMode="auto">
              <a:xfrm>
                <a:off x="694206" y="4387276"/>
                <a:ext cx="3176119" cy="517633"/>
              </a:xfrm>
              <a:prstGeom prst="rect">
                <a:avLst/>
              </a:prstGeom>
              <a:blipFill>
                <a:blip r:embed="rId4"/>
                <a:stretch>
                  <a:fillRect/>
                </a:stretch>
              </a:blipFill>
              <a:ln>
                <a:noFill/>
              </a:ln>
              <a:effectLst/>
            </p:spPr>
            <p:txBody>
              <a:bodyPr/>
              <a:lstStyle/>
              <a:p>
                <a:r>
                  <a:rPr lang="en-US">
                    <a:noFill/>
                  </a:rPr>
                  <a:t> </a:t>
                </a:r>
              </a:p>
            </p:txBody>
          </p:sp>
        </mc:Fallback>
      </mc:AlternateContent>
      <p:sp>
        <p:nvSpPr>
          <p:cNvPr id="11" name="Text Box 10">
            <a:extLst>
              <a:ext uri="{FF2B5EF4-FFF2-40B4-BE49-F238E27FC236}">
                <a16:creationId xmlns:a16="http://schemas.microsoft.com/office/drawing/2014/main" id="{4F58F49A-FC55-4D56-BA8E-E97D157D3BAD}"/>
              </a:ext>
            </a:extLst>
          </p:cNvPr>
          <p:cNvSpPr txBox="1">
            <a:spLocks noChangeArrowheads="1"/>
          </p:cNvSpPr>
          <p:nvPr/>
        </p:nvSpPr>
        <p:spPr bwMode="auto">
          <a:xfrm>
            <a:off x="3811461" y="4377401"/>
            <a:ext cx="241925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000" b="0" i="1" dirty="0">
                <a:latin typeface="+mn-lt"/>
                <a:ea typeface="+mn-ea"/>
              </a:rPr>
              <a:t>t </a:t>
            </a:r>
            <a:r>
              <a:rPr lang="en-US" altLang="zh-CN" sz="3000" b="0" dirty="0">
                <a:latin typeface="+mn-lt"/>
                <a:ea typeface="+mn-ea"/>
              </a:rPr>
              <a:t>:</a:t>
            </a:r>
            <a:r>
              <a:rPr lang="zh-CN" altLang="zh-CN" sz="3000" b="0" dirty="0">
                <a:latin typeface="+mn-lt"/>
                <a:ea typeface="+mn-ea"/>
              </a:rPr>
              <a:t>平动自由度</a:t>
            </a:r>
            <a:endParaRPr lang="zh-CN" altLang="en-US" sz="3000" b="0" i="1" dirty="0">
              <a:latin typeface="+mn-lt"/>
              <a:ea typeface="+mn-ea"/>
            </a:endParaRPr>
          </a:p>
        </p:txBody>
      </p:sp>
      <p:sp>
        <p:nvSpPr>
          <p:cNvPr id="12" name="Text Box 13">
            <a:extLst>
              <a:ext uri="{FF2B5EF4-FFF2-40B4-BE49-F238E27FC236}">
                <a16:creationId xmlns:a16="http://schemas.microsoft.com/office/drawing/2014/main" id="{00EED426-1F8F-437B-9D51-1AE2CCBBD639}"/>
              </a:ext>
            </a:extLst>
          </p:cNvPr>
          <p:cNvSpPr txBox="1">
            <a:spLocks noChangeArrowheads="1"/>
          </p:cNvSpPr>
          <p:nvPr/>
        </p:nvSpPr>
        <p:spPr bwMode="auto">
          <a:xfrm>
            <a:off x="6590101" y="4387276"/>
            <a:ext cx="24897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000" b="0" i="1" dirty="0">
                <a:latin typeface="+mn-lt"/>
                <a:ea typeface="+mn-ea"/>
              </a:rPr>
              <a:t>r </a:t>
            </a:r>
            <a:r>
              <a:rPr lang="en-US" altLang="zh-CN" sz="3000" b="0" dirty="0">
                <a:latin typeface="+mn-lt"/>
                <a:ea typeface="+mn-ea"/>
              </a:rPr>
              <a:t>:</a:t>
            </a:r>
            <a:r>
              <a:rPr lang="zh-CN" altLang="zh-CN" sz="3000" b="0" dirty="0">
                <a:latin typeface="+mn-lt"/>
                <a:ea typeface="+mn-ea"/>
              </a:rPr>
              <a:t>转动自由度</a:t>
            </a:r>
            <a:endParaRPr lang="zh-CN" altLang="en-US" sz="3000" b="0" i="1" dirty="0">
              <a:latin typeface="+mn-lt"/>
              <a:ea typeface="+mn-ea"/>
            </a:endParaRPr>
          </a:p>
        </p:txBody>
      </p:sp>
      <p:sp>
        <p:nvSpPr>
          <p:cNvPr id="13" name="Text Box 16">
            <a:extLst>
              <a:ext uri="{FF2B5EF4-FFF2-40B4-BE49-F238E27FC236}">
                <a16:creationId xmlns:a16="http://schemas.microsoft.com/office/drawing/2014/main" id="{4F93EA95-AB3D-49C1-9183-A781601737A3}"/>
              </a:ext>
            </a:extLst>
          </p:cNvPr>
          <p:cNvSpPr txBox="1">
            <a:spLocks noChangeArrowheads="1"/>
          </p:cNvSpPr>
          <p:nvPr/>
        </p:nvSpPr>
        <p:spPr bwMode="auto">
          <a:xfrm>
            <a:off x="9453109" y="4387276"/>
            <a:ext cx="24897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000" b="0" i="1" dirty="0">
                <a:latin typeface="+mn-lt"/>
                <a:ea typeface="+mn-ea"/>
              </a:rPr>
              <a:t>s </a:t>
            </a:r>
            <a:r>
              <a:rPr lang="en-US" altLang="zh-CN" sz="3000" b="0" dirty="0">
                <a:latin typeface="+mn-lt"/>
                <a:ea typeface="+mn-ea"/>
              </a:rPr>
              <a:t>:</a:t>
            </a:r>
            <a:r>
              <a:rPr lang="zh-CN" altLang="zh-CN" sz="3000" b="0" dirty="0">
                <a:latin typeface="+mn-lt"/>
                <a:ea typeface="+mn-ea"/>
              </a:rPr>
              <a:t>振动自由度</a:t>
            </a:r>
            <a:endParaRPr lang="zh-CN" altLang="en-US" sz="3000" b="0" i="1" dirty="0">
              <a:latin typeface="+mn-lt"/>
              <a:ea typeface="+mn-ea"/>
            </a:endParaRPr>
          </a:p>
        </p:txBody>
      </p:sp>
      <p:sp>
        <p:nvSpPr>
          <p:cNvPr id="15" name="Text Box 2">
            <a:extLst>
              <a:ext uri="{FF2B5EF4-FFF2-40B4-BE49-F238E27FC236}">
                <a16:creationId xmlns:a16="http://schemas.microsoft.com/office/drawing/2014/main" id="{50E66437-6CAB-4BC5-A311-D732C1337618}"/>
              </a:ext>
            </a:extLst>
          </p:cNvPr>
          <p:cNvSpPr txBox="1">
            <a:spLocks noChangeArrowheads="1"/>
          </p:cNvSpPr>
          <p:nvPr/>
        </p:nvSpPr>
        <p:spPr bwMode="auto">
          <a:xfrm>
            <a:off x="1375469" y="5344003"/>
            <a:ext cx="250260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latin typeface="华文楷体" panose="02010600040101010101" pitchFamily="2" charset="-122"/>
                <a:ea typeface="华文楷体" panose="02010600040101010101" pitchFamily="2" charset="-122"/>
              </a:rPr>
              <a:t>单原子分子：</a:t>
            </a:r>
          </a:p>
        </p:txBody>
      </p:sp>
      <p:sp>
        <p:nvSpPr>
          <p:cNvPr id="18" name="Text Box 3">
            <a:extLst>
              <a:ext uri="{FF2B5EF4-FFF2-40B4-BE49-F238E27FC236}">
                <a16:creationId xmlns:a16="http://schemas.microsoft.com/office/drawing/2014/main" id="{D5D7CCA4-B2C9-42B0-AB2A-3649E379D3B1}"/>
              </a:ext>
            </a:extLst>
          </p:cNvPr>
          <p:cNvSpPr txBox="1">
            <a:spLocks noChangeArrowheads="1"/>
          </p:cNvSpPr>
          <p:nvPr/>
        </p:nvSpPr>
        <p:spPr bwMode="auto">
          <a:xfrm>
            <a:off x="5955634" y="5429328"/>
            <a:ext cx="37577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latin typeface="华文楷体" panose="02010600040101010101" pitchFamily="2" charset="-122"/>
                <a:ea typeface="华文楷体" panose="02010600040101010101" pitchFamily="2" charset="-122"/>
              </a:rPr>
              <a:t>双原子分子（刚）： </a:t>
            </a:r>
          </a:p>
        </p:txBody>
      </p:sp>
      <p:sp>
        <p:nvSpPr>
          <p:cNvPr id="20" name="Text Box 4">
            <a:extLst>
              <a:ext uri="{FF2B5EF4-FFF2-40B4-BE49-F238E27FC236}">
                <a16:creationId xmlns:a16="http://schemas.microsoft.com/office/drawing/2014/main" id="{68FD089B-8C04-45A7-A73B-BA383763527B}"/>
              </a:ext>
            </a:extLst>
          </p:cNvPr>
          <p:cNvSpPr txBox="1">
            <a:spLocks noChangeArrowheads="1"/>
          </p:cNvSpPr>
          <p:nvPr/>
        </p:nvSpPr>
        <p:spPr bwMode="auto">
          <a:xfrm>
            <a:off x="1461297" y="6163842"/>
            <a:ext cx="366158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latin typeface="华文楷体" panose="02010600040101010101" pitchFamily="2" charset="-122"/>
                <a:ea typeface="华文楷体" panose="02010600040101010101" pitchFamily="2" charset="-122"/>
              </a:rPr>
              <a:t>多原子分子（刚）：</a:t>
            </a:r>
          </a:p>
        </p:txBody>
      </p:sp>
      <mc:AlternateContent xmlns:mc="http://schemas.openxmlformats.org/markup-compatibility/2006" xmlns:a14="http://schemas.microsoft.com/office/drawing/2010/main">
        <mc:Choice Requires="a14">
          <p:sp>
            <p:nvSpPr>
              <p:cNvPr id="21" name="Object 1121">
                <a:extLst>
                  <a:ext uri="{FF2B5EF4-FFF2-40B4-BE49-F238E27FC236}">
                    <a16:creationId xmlns:a16="http://schemas.microsoft.com/office/drawing/2014/main" id="{2016A1E1-C8F7-4BB8-86B4-25342F440EF5}"/>
                  </a:ext>
                </a:extLst>
              </p:cNvPr>
              <p:cNvSpPr txBox="1"/>
              <p:nvPr/>
            </p:nvSpPr>
            <p:spPr bwMode="auto">
              <a:xfrm>
                <a:off x="3802289" y="5131652"/>
                <a:ext cx="2532531" cy="1149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3000" i="1" smtClean="0">
                              <a:solidFill>
                                <a:schemeClr val="tx1"/>
                              </a:solidFill>
                              <a:latin typeface="Cambria Math" panose="02040503050406030204" pitchFamily="18" charset="0"/>
                            </a:rPr>
                          </m:ctrlPr>
                        </m:accPr>
                        <m:e>
                          <m:r>
                            <a:rPr lang="zh-CN" altLang="en-US" sz="3000" b="0" i="1">
                              <a:solidFill>
                                <a:schemeClr val="tx1"/>
                              </a:solidFill>
                              <a:latin typeface="Cambria Math" panose="02040503050406030204" pitchFamily="18" charset="0"/>
                            </a:rPr>
                            <m:t>𝜀</m:t>
                          </m:r>
                        </m:e>
                      </m:acc>
                      <m:r>
                        <a:rPr lang="zh-CN" altLang="en-US" sz="3000" b="0" i="1">
                          <a:solidFill>
                            <a:schemeClr val="tx1"/>
                          </a:solidFill>
                          <a:latin typeface="Cambria Math" panose="02040503050406030204" pitchFamily="18" charset="0"/>
                        </a:rPr>
                        <m:t>=</m:t>
                      </m:r>
                      <m:f>
                        <m:fPr>
                          <m:ctrlPr>
                            <a:rPr lang="zh-CN" altLang="en-US" sz="3000" i="1">
                              <a:solidFill>
                                <a:schemeClr val="tx1"/>
                              </a:solidFill>
                              <a:latin typeface="Cambria Math" panose="02040503050406030204" pitchFamily="18" charset="0"/>
                            </a:rPr>
                          </m:ctrlPr>
                        </m:fPr>
                        <m:num>
                          <m:r>
                            <a:rPr lang="en-US" altLang="zh-CN" sz="3000" b="0" i="1" smtClean="0">
                              <a:solidFill>
                                <a:schemeClr val="tx1"/>
                              </a:solidFill>
                              <a:latin typeface="Cambria Math" panose="02040503050406030204" pitchFamily="18" charset="0"/>
                            </a:rPr>
                            <m:t>3</m:t>
                          </m:r>
                        </m:num>
                        <m:den>
                          <m:r>
                            <a:rPr lang="zh-CN" altLang="en-US" sz="3000" b="0" i="1">
                              <a:solidFill>
                                <a:schemeClr val="tx1"/>
                              </a:solidFill>
                              <a:latin typeface="Cambria Math" panose="02040503050406030204" pitchFamily="18" charset="0"/>
                            </a:rPr>
                            <m:t>2</m:t>
                          </m:r>
                        </m:den>
                      </m:f>
                      <m:r>
                        <a:rPr lang="zh-CN" altLang="en-US" sz="3000" b="0" i="1">
                          <a:solidFill>
                            <a:schemeClr val="tx1"/>
                          </a:solidFill>
                          <a:latin typeface="Cambria Math" panose="02040503050406030204" pitchFamily="18" charset="0"/>
                        </a:rPr>
                        <m:t>𝑘𝑇</m:t>
                      </m:r>
                    </m:oMath>
                  </m:oMathPara>
                </a14:m>
                <a:endParaRPr lang="zh-CN" altLang="en-US" sz="3000" dirty="0">
                  <a:solidFill>
                    <a:schemeClr val="tx1"/>
                  </a:solidFill>
                </a:endParaRPr>
              </a:p>
            </p:txBody>
          </p:sp>
        </mc:Choice>
        <mc:Fallback xmlns="">
          <p:sp>
            <p:nvSpPr>
              <p:cNvPr id="21" name="Object 1121">
                <a:extLst>
                  <a:ext uri="{FF2B5EF4-FFF2-40B4-BE49-F238E27FC236}">
                    <a16:creationId xmlns:a16="http://schemas.microsoft.com/office/drawing/2014/main" id="{2016A1E1-C8F7-4BB8-86B4-25342F440EF5}"/>
                  </a:ext>
                </a:extLst>
              </p:cNvPr>
              <p:cNvSpPr txBox="1">
                <a:spLocks noRot="1" noChangeAspect="1" noMove="1" noResize="1" noEditPoints="1" noAdjustHandles="1" noChangeArrowheads="1" noChangeShapeType="1" noTextEdit="1"/>
              </p:cNvSpPr>
              <p:nvPr/>
            </p:nvSpPr>
            <p:spPr bwMode="auto">
              <a:xfrm>
                <a:off x="3802289" y="5131652"/>
                <a:ext cx="2532531" cy="114935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1121">
                <a:extLst>
                  <a:ext uri="{FF2B5EF4-FFF2-40B4-BE49-F238E27FC236}">
                    <a16:creationId xmlns:a16="http://schemas.microsoft.com/office/drawing/2014/main" id="{716B284A-D4E7-4882-AE19-4E3BEF67420E}"/>
                  </a:ext>
                </a:extLst>
              </p:cNvPr>
              <p:cNvSpPr txBox="1"/>
              <p:nvPr/>
            </p:nvSpPr>
            <p:spPr bwMode="auto">
              <a:xfrm>
                <a:off x="5021087" y="6143165"/>
                <a:ext cx="2532531" cy="1149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3000" i="1" smtClean="0">
                              <a:solidFill>
                                <a:schemeClr val="tx1"/>
                              </a:solidFill>
                              <a:latin typeface="Cambria Math" panose="02040503050406030204" pitchFamily="18" charset="0"/>
                            </a:rPr>
                          </m:ctrlPr>
                        </m:accPr>
                        <m:e>
                          <m:r>
                            <a:rPr lang="zh-CN" altLang="en-US" sz="3000" b="0" i="1">
                              <a:solidFill>
                                <a:schemeClr val="tx1"/>
                              </a:solidFill>
                              <a:latin typeface="Cambria Math" panose="02040503050406030204" pitchFamily="18" charset="0"/>
                            </a:rPr>
                            <m:t>𝜀</m:t>
                          </m:r>
                        </m:e>
                      </m:acc>
                      <m:r>
                        <a:rPr lang="zh-CN" altLang="en-US" sz="3000" b="0" i="1">
                          <a:solidFill>
                            <a:schemeClr val="tx1"/>
                          </a:solidFill>
                          <a:latin typeface="Cambria Math" panose="02040503050406030204" pitchFamily="18" charset="0"/>
                        </a:rPr>
                        <m:t>=</m:t>
                      </m:r>
                      <m:r>
                        <a:rPr lang="en-US" altLang="zh-CN" sz="3000" i="1" smtClean="0">
                          <a:solidFill>
                            <a:schemeClr val="tx1"/>
                          </a:solidFill>
                          <a:latin typeface="Cambria Math" panose="02040503050406030204" pitchFamily="18" charset="0"/>
                        </a:rPr>
                        <m:t>3</m:t>
                      </m:r>
                      <m:r>
                        <a:rPr lang="zh-CN" altLang="en-US" sz="3000" b="0" i="1">
                          <a:solidFill>
                            <a:schemeClr val="tx1"/>
                          </a:solidFill>
                          <a:latin typeface="Cambria Math" panose="02040503050406030204" pitchFamily="18" charset="0"/>
                        </a:rPr>
                        <m:t>𝑘𝑇</m:t>
                      </m:r>
                    </m:oMath>
                  </m:oMathPara>
                </a14:m>
                <a:endParaRPr lang="zh-CN" altLang="en-US" sz="3000" dirty="0">
                  <a:solidFill>
                    <a:schemeClr val="tx1"/>
                  </a:solidFill>
                </a:endParaRPr>
              </a:p>
            </p:txBody>
          </p:sp>
        </mc:Choice>
        <mc:Fallback xmlns="">
          <p:sp>
            <p:nvSpPr>
              <p:cNvPr id="22" name="Object 1121">
                <a:extLst>
                  <a:ext uri="{FF2B5EF4-FFF2-40B4-BE49-F238E27FC236}">
                    <a16:creationId xmlns:a16="http://schemas.microsoft.com/office/drawing/2014/main" id="{716B284A-D4E7-4882-AE19-4E3BEF67420E}"/>
                  </a:ext>
                </a:extLst>
              </p:cNvPr>
              <p:cNvSpPr txBox="1">
                <a:spLocks noRot="1" noChangeAspect="1" noMove="1" noResize="1" noEditPoints="1" noAdjustHandles="1" noChangeArrowheads="1" noChangeShapeType="1" noTextEdit="1"/>
              </p:cNvSpPr>
              <p:nvPr/>
            </p:nvSpPr>
            <p:spPr bwMode="auto">
              <a:xfrm>
                <a:off x="5021087" y="6143165"/>
                <a:ext cx="2532531" cy="114935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1121">
                <a:extLst>
                  <a:ext uri="{FF2B5EF4-FFF2-40B4-BE49-F238E27FC236}">
                    <a16:creationId xmlns:a16="http://schemas.microsoft.com/office/drawing/2014/main" id="{3D8E264E-B4CD-4FB5-9DF4-8F5E68EC6B08}"/>
                  </a:ext>
                </a:extLst>
              </p:cNvPr>
              <p:cNvSpPr txBox="1"/>
              <p:nvPr/>
            </p:nvSpPr>
            <p:spPr bwMode="auto">
              <a:xfrm>
                <a:off x="9334208" y="5115519"/>
                <a:ext cx="2532531" cy="1149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3000" i="1" smtClean="0">
                              <a:solidFill>
                                <a:schemeClr val="tx1"/>
                              </a:solidFill>
                              <a:latin typeface="Cambria Math" panose="02040503050406030204" pitchFamily="18" charset="0"/>
                            </a:rPr>
                          </m:ctrlPr>
                        </m:accPr>
                        <m:e>
                          <m:r>
                            <a:rPr lang="zh-CN" altLang="en-US" sz="3000" b="0" i="1">
                              <a:solidFill>
                                <a:schemeClr val="tx1"/>
                              </a:solidFill>
                              <a:latin typeface="Cambria Math" panose="02040503050406030204" pitchFamily="18" charset="0"/>
                            </a:rPr>
                            <m:t>𝜀</m:t>
                          </m:r>
                        </m:e>
                      </m:acc>
                      <m:r>
                        <a:rPr lang="zh-CN" altLang="en-US" sz="3000" b="0" i="1">
                          <a:solidFill>
                            <a:schemeClr val="tx1"/>
                          </a:solidFill>
                          <a:latin typeface="Cambria Math" panose="02040503050406030204" pitchFamily="18" charset="0"/>
                        </a:rPr>
                        <m:t>=</m:t>
                      </m:r>
                      <m:f>
                        <m:fPr>
                          <m:ctrlPr>
                            <a:rPr lang="zh-CN" altLang="en-US" sz="3000" i="1">
                              <a:solidFill>
                                <a:schemeClr val="tx1"/>
                              </a:solidFill>
                              <a:latin typeface="Cambria Math" panose="02040503050406030204" pitchFamily="18" charset="0"/>
                            </a:rPr>
                          </m:ctrlPr>
                        </m:fPr>
                        <m:num>
                          <m:r>
                            <a:rPr lang="en-US" altLang="zh-CN" sz="3000" b="0" i="1" smtClean="0">
                              <a:solidFill>
                                <a:schemeClr val="tx1"/>
                              </a:solidFill>
                              <a:latin typeface="Cambria Math" panose="02040503050406030204" pitchFamily="18" charset="0"/>
                            </a:rPr>
                            <m:t>5</m:t>
                          </m:r>
                        </m:num>
                        <m:den>
                          <m:r>
                            <a:rPr lang="zh-CN" altLang="en-US" sz="3000" b="0" i="1">
                              <a:solidFill>
                                <a:schemeClr val="tx1"/>
                              </a:solidFill>
                              <a:latin typeface="Cambria Math" panose="02040503050406030204" pitchFamily="18" charset="0"/>
                            </a:rPr>
                            <m:t>2</m:t>
                          </m:r>
                        </m:den>
                      </m:f>
                      <m:r>
                        <a:rPr lang="zh-CN" altLang="en-US" sz="3000" b="0" i="1">
                          <a:solidFill>
                            <a:schemeClr val="tx1"/>
                          </a:solidFill>
                          <a:latin typeface="Cambria Math" panose="02040503050406030204" pitchFamily="18" charset="0"/>
                        </a:rPr>
                        <m:t>𝑘𝑇</m:t>
                      </m:r>
                    </m:oMath>
                  </m:oMathPara>
                </a14:m>
                <a:endParaRPr lang="zh-CN" altLang="en-US" sz="3000" dirty="0">
                  <a:solidFill>
                    <a:schemeClr val="tx1"/>
                  </a:solidFill>
                </a:endParaRPr>
              </a:p>
            </p:txBody>
          </p:sp>
        </mc:Choice>
        <mc:Fallback xmlns="">
          <p:sp>
            <p:nvSpPr>
              <p:cNvPr id="23" name="Object 1121">
                <a:extLst>
                  <a:ext uri="{FF2B5EF4-FFF2-40B4-BE49-F238E27FC236}">
                    <a16:creationId xmlns:a16="http://schemas.microsoft.com/office/drawing/2014/main" id="{3D8E264E-B4CD-4FB5-9DF4-8F5E68EC6B08}"/>
                  </a:ext>
                </a:extLst>
              </p:cNvPr>
              <p:cNvSpPr txBox="1">
                <a:spLocks noRot="1" noChangeAspect="1" noMove="1" noResize="1" noEditPoints="1" noAdjustHandles="1" noChangeArrowheads="1" noChangeShapeType="1" noTextEdit="1"/>
              </p:cNvSpPr>
              <p:nvPr/>
            </p:nvSpPr>
            <p:spPr bwMode="auto">
              <a:xfrm>
                <a:off x="9334208" y="5115519"/>
                <a:ext cx="2532531" cy="1149350"/>
              </a:xfrm>
              <a:prstGeom prst="rect">
                <a:avLst/>
              </a:prstGeom>
              <a:blipFill>
                <a:blip r:embed="rId7"/>
                <a:stretch>
                  <a:fillRect/>
                </a:stretch>
              </a:blipFill>
              <a:ln>
                <a:noFill/>
              </a:ln>
              <a:effectLst/>
            </p:spPr>
            <p:txBody>
              <a:bodyPr/>
              <a:lstStyle/>
              <a:p>
                <a:r>
                  <a:rPr lang="en-US">
                    <a:noFill/>
                  </a:rPr>
                  <a:t> </a:t>
                </a:r>
              </a:p>
            </p:txBody>
          </p:sp>
        </mc:Fallback>
      </mc:AlternateContent>
      <p:sp>
        <p:nvSpPr>
          <p:cNvPr id="25" name="文本框 24">
            <a:extLst>
              <a:ext uri="{FF2B5EF4-FFF2-40B4-BE49-F238E27FC236}">
                <a16:creationId xmlns:a16="http://schemas.microsoft.com/office/drawing/2014/main" id="{C669A1B8-811A-4EEE-86A1-7C0706A407B4}"/>
              </a:ext>
            </a:extLst>
          </p:cNvPr>
          <p:cNvSpPr txBox="1"/>
          <p:nvPr/>
        </p:nvSpPr>
        <p:spPr>
          <a:xfrm>
            <a:off x="625377" y="1006844"/>
            <a:ext cx="10290273" cy="1015663"/>
          </a:xfrm>
          <a:prstGeom prst="rect">
            <a:avLst/>
          </a:prstGeom>
          <a:noFill/>
        </p:spPr>
        <p:txBody>
          <a:bodyPr wrap="square">
            <a:spAutoFit/>
          </a:bodyPr>
          <a:lstStyle/>
          <a:p>
            <a:r>
              <a:rPr lang="zh-CN" altLang="en-US" sz="3000" dirty="0"/>
              <a:t> 能量均分定理：在温度 </a:t>
            </a:r>
            <a:r>
              <a:rPr lang="en-US" altLang="zh-CN" sz="3000" dirty="0"/>
              <a:t>T </a:t>
            </a:r>
            <a:r>
              <a:rPr lang="zh-CN" altLang="en-US" sz="3000" dirty="0"/>
              <a:t>的平衡态下，物质（气体、液体和固体）分子的每一个自由度的平均动能都相等，而且都等于 </a:t>
            </a:r>
            <a:r>
              <a:rPr lang="en-US" altLang="zh-CN" sz="3000" dirty="0"/>
              <a:t>	</a:t>
            </a:r>
            <a:endParaRPr lang="zh-CN" altLang="en-US" sz="3000" dirty="0"/>
          </a:p>
        </p:txBody>
      </p:sp>
      <p:sp>
        <p:nvSpPr>
          <p:cNvPr id="26" name="Text Box 13">
            <a:hlinkClick r:id="" action="ppaction://noaction"/>
            <a:extLst>
              <a:ext uri="{FF2B5EF4-FFF2-40B4-BE49-F238E27FC236}">
                <a16:creationId xmlns:a16="http://schemas.microsoft.com/office/drawing/2014/main" id="{89EF9929-99EF-4058-842C-A7F20FA86A64}"/>
              </a:ext>
            </a:extLst>
          </p:cNvPr>
          <p:cNvSpPr txBox="1">
            <a:spLocks noChangeArrowheads="1"/>
          </p:cNvSpPr>
          <p:nvPr/>
        </p:nvSpPr>
        <p:spPr bwMode="auto">
          <a:xfrm>
            <a:off x="189729" y="282506"/>
            <a:ext cx="64003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zh-CN" altLang="en-US" sz="3200" dirty="0">
                <a:solidFill>
                  <a:srgbClr val="0066FF"/>
                </a:solidFill>
                <a:latin typeface="+mn-lt"/>
                <a:ea typeface="+mn-ea"/>
                <a:cs typeface="Times New Roman" panose="02020603050405020304" pitchFamily="18" charset="0"/>
              </a:rPr>
              <a:t>理想气体回顾</a:t>
            </a:r>
          </a:p>
        </p:txBody>
      </p:sp>
      <mc:AlternateContent xmlns:mc="http://schemas.openxmlformats.org/markup-compatibility/2006" xmlns:a14="http://schemas.microsoft.com/office/drawing/2010/main">
        <mc:Choice Requires="a14">
          <p:sp>
            <p:nvSpPr>
              <p:cNvPr id="27" name="Object 1113">
                <a:extLst>
                  <a:ext uri="{FF2B5EF4-FFF2-40B4-BE49-F238E27FC236}">
                    <a16:creationId xmlns:a16="http://schemas.microsoft.com/office/drawing/2014/main" id="{3A245A29-7446-4B86-9D25-20D1EA3CBA99}"/>
                  </a:ext>
                </a:extLst>
              </p:cNvPr>
              <p:cNvSpPr txBox="1"/>
              <p:nvPr/>
            </p:nvSpPr>
            <p:spPr bwMode="auto">
              <a:xfrm>
                <a:off x="10643136" y="1184956"/>
                <a:ext cx="1299757" cy="10461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3000" i="1">
                              <a:solidFill>
                                <a:srgbClr val="000000"/>
                              </a:solidFill>
                              <a:latin typeface="Cambria Math" panose="02040503050406030204" pitchFamily="18" charset="0"/>
                            </a:rPr>
                          </m:ctrlPr>
                        </m:fPr>
                        <m:num>
                          <m:r>
                            <a:rPr lang="zh-CN" altLang="en-US" sz="3000" i="1">
                              <a:solidFill>
                                <a:srgbClr val="000000"/>
                              </a:solidFill>
                              <a:latin typeface="Cambria Math" panose="02040503050406030204" pitchFamily="18" charset="0"/>
                            </a:rPr>
                            <m:t>1</m:t>
                          </m:r>
                        </m:num>
                        <m:den>
                          <m:r>
                            <a:rPr lang="zh-CN" altLang="en-US" sz="3000" i="1">
                              <a:solidFill>
                                <a:srgbClr val="000000"/>
                              </a:solidFill>
                              <a:latin typeface="Cambria Math" panose="02040503050406030204" pitchFamily="18" charset="0"/>
                            </a:rPr>
                            <m:t>2</m:t>
                          </m:r>
                        </m:den>
                      </m:f>
                      <m:r>
                        <a:rPr lang="zh-CN" altLang="en-US" sz="3000" i="1">
                          <a:solidFill>
                            <a:srgbClr val="000000"/>
                          </a:solidFill>
                          <a:latin typeface="Cambria Math" panose="02040503050406030204" pitchFamily="18" charset="0"/>
                        </a:rPr>
                        <m:t>𝑘𝑇</m:t>
                      </m:r>
                    </m:oMath>
                  </m:oMathPara>
                </a14:m>
                <a:endParaRPr lang="zh-CN" altLang="en-US" sz="3000" dirty="0"/>
              </a:p>
            </p:txBody>
          </p:sp>
        </mc:Choice>
        <mc:Fallback xmlns="">
          <p:sp>
            <p:nvSpPr>
              <p:cNvPr id="27" name="Object 1113">
                <a:extLst>
                  <a:ext uri="{FF2B5EF4-FFF2-40B4-BE49-F238E27FC236}">
                    <a16:creationId xmlns:a16="http://schemas.microsoft.com/office/drawing/2014/main" id="{3A245A29-7446-4B86-9D25-20D1EA3CBA99}"/>
                  </a:ext>
                </a:extLst>
              </p:cNvPr>
              <p:cNvSpPr txBox="1">
                <a:spLocks noRot="1" noChangeAspect="1" noMove="1" noResize="1" noEditPoints="1" noAdjustHandles="1" noChangeArrowheads="1" noChangeShapeType="1" noTextEdit="1"/>
              </p:cNvSpPr>
              <p:nvPr/>
            </p:nvSpPr>
            <p:spPr bwMode="auto">
              <a:xfrm>
                <a:off x="10643136" y="1184956"/>
                <a:ext cx="1299757" cy="1046163"/>
              </a:xfrm>
              <a:prstGeom prst="rect">
                <a:avLst/>
              </a:prstGeom>
              <a:blipFill>
                <a:blip r:embed="rId8"/>
                <a:stretch>
                  <a:fillRect/>
                </a:stretch>
              </a:blipFill>
              <a:ln>
                <a:noFill/>
              </a:ln>
              <a:effectLst/>
            </p:spPr>
            <p:txBody>
              <a:bodyPr/>
              <a:lstStyle/>
              <a:p>
                <a:r>
                  <a:rPr lang="en-US">
                    <a:noFill/>
                  </a:rPr>
                  <a:t> </a:t>
                </a:r>
              </a:p>
            </p:txBody>
          </p:sp>
        </mc:Fallback>
      </mc:AlternateContent>
      <p:sp>
        <p:nvSpPr>
          <p:cNvPr id="3" name="矩形 2">
            <a:extLst>
              <a:ext uri="{FF2B5EF4-FFF2-40B4-BE49-F238E27FC236}">
                <a16:creationId xmlns:a16="http://schemas.microsoft.com/office/drawing/2014/main" id="{AFD0928D-6B2B-4C15-A01C-6295AA6A5649}"/>
              </a:ext>
            </a:extLst>
          </p:cNvPr>
          <p:cNvSpPr/>
          <p:nvPr/>
        </p:nvSpPr>
        <p:spPr>
          <a:xfrm>
            <a:off x="3292087" y="2708019"/>
            <a:ext cx="5426486" cy="492443"/>
          </a:xfrm>
          <a:prstGeom prst="rect">
            <a:avLst/>
          </a:prstGeom>
        </p:spPr>
        <p:txBody>
          <a:bodyPr wrap="none">
            <a:spAutoFit/>
          </a:bodyPr>
          <a:lstStyle/>
          <a:p>
            <a:r>
              <a:rPr lang="zh-CN" altLang="en-US" sz="2600" dirty="0"/>
              <a:t>（</a:t>
            </a:r>
            <a:r>
              <a:rPr lang="en-US" altLang="zh-CN" sz="2600" dirty="0"/>
              <a:t>N</a:t>
            </a:r>
            <a:r>
              <a:rPr lang="zh-CN" altLang="en-US" sz="2600" dirty="0"/>
              <a:t>表示一定的理想气体分子总数）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9" grpId="0"/>
      <p:bldP spid="11" grpId="0" build="p" autoUpdateAnimBg="0"/>
      <p:bldP spid="11" grpId="1"/>
      <p:bldP spid="12" grpId="0" build="p" autoUpdateAnimBg="0"/>
      <p:bldP spid="12" grpId="1"/>
      <p:bldP spid="13" grpId="0" build="p" autoUpdateAnimBg="0"/>
      <p:bldP spid="13" grpId="1"/>
      <p:bldP spid="15" grpId="0"/>
      <p:bldP spid="18" grpId="0" build="p" autoUpdateAnimBg="0"/>
      <p:bldP spid="18" grpId="1"/>
      <p:bldP spid="20" grpId="0" build="p" autoUpdateAnimBg="0"/>
      <p:bldP spid="20" grpId="1"/>
      <p:bldP spid="21" grpId="0"/>
      <p:bldP spid="22" grpId="0"/>
      <p:bldP spid="23" grpId="0"/>
      <p:bldP spid="25" grpId="0"/>
      <p:bldP spid="27"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928209" y="264124"/>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10</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章　热力学第一定律</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2850993" y="1259371"/>
            <a:ext cx="6705460" cy="501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10.1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功  热量   热力学第一定律</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10.2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准静态过程</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10.3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热容</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10.4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绝热过程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10.5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循环过程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10.6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卡诺循环    </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10.7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制冷循环</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Tree>
    <p:extLst>
      <p:ext uri="{BB962C8B-B14F-4D97-AF65-F5344CB8AC3E}">
        <p14:creationId xmlns:p14="http://schemas.microsoft.com/office/powerpoint/2010/main" val="7790919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28" name="Rectangle 32">
            <a:extLst>
              <a:ext uri="{FF2B5EF4-FFF2-40B4-BE49-F238E27FC236}">
                <a16:creationId xmlns:a16="http://schemas.microsoft.com/office/drawing/2014/main" id="{552C1C86-178F-30E3-ECF4-4681461205FA}"/>
              </a:ext>
            </a:extLst>
          </p:cNvPr>
          <p:cNvSpPr>
            <a:spLocks noChangeArrowheads="1"/>
          </p:cNvSpPr>
          <p:nvPr/>
        </p:nvSpPr>
        <p:spPr bwMode="auto">
          <a:xfrm>
            <a:off x="4727765" y="4296357"/>
            <a:ext cx="630529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mn-ea"/>
                <a:ea typeface="+mn-ea"/>
              </a:rPr>
              <a:t>- </a:t>
            </a:r>
            <a:r>
              <a:rPr lang="zh-CN" altLang="en-US" b="0" dirty="0">
                <a:latin typeface="+mn-ea"/>
                <a:ea typeface="+mn-ea"/>
              </a:rPr>
              <a:t>非平衡态到平衡态的过渡时间，即弛豫时间，约 </a:t>
            </a:r>
            <a:r>
              <a:rPr lang="en-US" altLang="zh-CN" b="0" dirty="0">
                <a:latin typeface="+mn-ea"/>
                <a:ea typeface="+mn-ea"/>
              </a:rPr>
              <a:t>10 </a:t>
            </a:r>
            <a:r>
              <a:rPr lang="en-US" altLang="zh-CN" b="0" baseline="30000" dirty="0">
                <a:latin typeface="+mn-ea"/>
                <a:ea typeface="+mn-ea"/>
              </a:rPr>
              <a:t>-3</a:t>
            </a:r>
            <a:r>
              <a:rPr lang="en-US" altLang="zh-CN" b="0" dirty="0">
                <a:latin typeface="+mn-ea"/>
                <a:ea typeface="+mn-ea"/>
              </a:rPr>
              <a:t> </a:t>
            </a:r>
            <a:r>
              <a:rPr lang="zh-CN" altLang="en-US" b="0" dirty="0">
                <a:latin typeface="+mn-ea"/>
                <a:ea typeface="+mn-ea"/>
              </a:rPr>
              <a:t>秒 。</a:t>
            </a:r>
          </a:p>
        </p:txBody>
      </p:sp>
      <p:grpSp>
        <p:nvGrpSpPr>
          <p:cNvPr id="7" name="Group 42">
            <a:extLst>
              <a:ext uri="{FF2B5EF4-FFF2-40B4-BE49-F238E27FC236}">
                <a16:creationId xmlns:a16="http://schemas.microsoft.com/office/drawing/2014/main" id="{B7C2B034-278D-3C04-4B37-399AA5531F48}"/>
              </a:ext>
            </a:extLst>
          </p:cNvPr>
          <p:cNvGrpSpPr>
            <a:grpSpLocks/>
          </p:cNvGrpSpPr>
          <p:nvPr/>
        </p:nvGrpSpPr>
        <p:grpSpPr bwMode="auto">
          <a:xfrm>
            <a:off x="929672" y="1181621"/>
            <a:ext cx="2965450" cy="1435100"/>
            <a:chOff x="336" y="2496"/>
            <a:chExt cx="1868" cy="904"/>
          </a:xfrm>
        </p:grpSpPr>
        <p:grpSp>
          <p:nvGrpSpPr>
            <p:cNvPr id="3090" name="Group 43">
              <a:extLst>
                <a:ext uri="{FF2B5EF4-FFF2-40B4-BE49-F238E27FC236}">
                  <a16:creationId xmlns:a16="http://schemas.microsoft.com/office/drawing/2014/main" id="{E43F7695-90D6-5F2A-E2D4-96249020D945}"/>
                </a:ext>
              </a:extLst>
            </p:cNvPr>
            <p:cNvGrpSpPr>
              <a:grpSpLocks/>
            </p:cNvGrpSpPr>
            <p:nvPr/>
          </p:nvGrpSpPr>
          <p:grpSpPr bwMode="auto">
            <a:xfrm>
              <a:off x="336" y="2496"/>
              <a:ext cx="1868" cy="904"/>
              <a:chOff x="532" y="2260"/>
              <a:chExt cx="1868" cy="904"/>
            </a:xfrm>
          </p:grpSpPr>
          <p:sp>
            <p:nvSpPr>
              <p:cNvPr id="3093" name="Rectangle 44" descr="浅色横线">
                <a:extLst>
                  <a:ext uri="{FF2B5EF4-FFF2-40B4-BE49-F238E27FC236}">
                    <a16:creationId xmlns:a16="http://schemas.microsoft.com/office/drawing/2014/main" id="{242EE085-0251-BB35-13AA-EC523EAF5A1F}"/>
                  </a:ext>
                </a:extLst>
              </p:cNvPr>
              <p:cNvSpPr>
                <a:spLocks noChangeArrowheads="1"/>
              </p:cNvSpPr>
              <p:nvPr/>
            </p:nvSpPr>
            <p:spPr bwMode="auto">
              <a:xfrm>
                <a:off x="1444" y="2356"/>
                <a:ext cx="280" cy="712"/>
              </a:xfrm>
              <a:prstGeom prst="rect">
                <a:avLst/>
              </a:prstGeom>
              <a:pattFill prst="lt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4" name="Rectangle 45" descr="深色横线">
                <a:extLst>
                  <a:ext uri="{FF2B5EF4-FFF2-40B4-BE49-F238E27FC236}">
                    <a16:creationId xmlns:a16="http://schemas.microsoft.com/office/drawing/2014/main" id="{42CBDA7A-274E-E99A-8615-94845423CE4B}"/>
                  </a:ext>
                </a:extLst>
              </p:cNvPr>
              <p:cNvSpPr>
                <a:spLocks noChangeArrowheads="1"/>
              </p:cNvSpPr>
              <p:nvPr/>
            </p:nvSpPr>
            <p:spPr bwMode="auto">
              <a:xfrm>
                <a:off x="1732" y="2644"/>
                <a:ext cx="664" cy="136"/>
              </a:xfrm>
              <a:prstGeom prst="rect">
                <a:avLst/>
              </a:prstGeom>
              <a:pattFill prst="dk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0942" name="Rectangle 46">
                <a:extLst>
                  <a:ext uri="{FF2B5EF4-FFF2-40B4-BE49-F238E27FC236}">
                    <a16:creationId xmlns:a16="http://schemas.microsoft.com/office/drawing/2014/main" id="{FB88F54F-C9DF-3FF1-5601-1D28FBCDD9CB}"/>
                  </a:ext>
                </a:extLst>
              </p:cNvPr>
              <p:cNvSpPr>
                <a:spLocks noChangeArrowheads="1"/>
              </p:cNvSpPr>
              <p:nvPr/>
            </p:nvSpPr>
            <p:spPr bwMode="auto">
              <a:xfrm>
                <a:off x="628" y="2356"/>
                <a:ext cx="808" cy="712"/>
              </a:xfrm>
              <a:prstGeom prst="rect">
                <a:avLst/>
              </a:prstGeom>
              <a:gradFill rotWithShape="0">
                <a:gsLst>
                  <a:gs pos="0">
                    <a:schemeClr val="tx1"/>
                  </a:gs>
                  <a:gs pos="100000">
                    <a:schemeClr val="tx1">
                      <a:gamma/>
                      <a:shade val="69804"/>
                      <a:invGamma/>
                    </a:schemeClr>
                  </a:gs>
                </a:gsLst>
                <a:lin ang="0" scaled="1"/>
              </a:gradFill>
              <a:ln w="12700">
                <a:solidFill>
                  <a:schemeClr val="tx1"/>
                </a:solidFill>
                <a:miter lim="800000"/>
                <a:headEnd/>
                <a:tailEnd/>
              </a:ln>
              <a:effectLst/>
            </p:spPr>
            <p:txBody>
              <a:bodyPr wrap="none" anchor="ctr"/>
              <a:lstStyle/>
              <a:p>
                <a:pPr>
                  <a:defRPr/>
                </a:pPr>
                <a:endParaRPr lang="zh-CN" altLang="en-US"/>
              </a:p>
            </p:txBody>
          </p:sp>
          <p:sp>
            <p:nvSpPr>
              <p:cNvPr id="3096" name="Rectangle 47" descr="宽下对角线">
                <a:extLst>
                  <a:ext uri="{FF2B5EF4-FFF2-40B4-BE49-F238E27FC236}">
                    <a16:creationId xmlns:a16="http://schemas.microsoft.com/office/drawing/2014/main" id="{A2791191-B8D0-54A2-FEFB-0A0BFF43C718}"/>
                  </a:ext>
                </a:extLst>
              </p:cNvPr>
              <p:cNvSpPr>
                <a:spLocks noChangeArrowheads="1"/>
              </p:cNvSpPr>
              <p:nvPr/>
            </p:nvSpPr>
            <p:spPr bwMode="auto">
              <a:xfrm>
                <a:off x="532" y="2356"/>
                <a:ext cx="88" cy="712"/>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7" name="Rectangle 48" descr="宽下对角线">
                <a:extLst>
                  <a:ext uri="{FF2B5EF4-FFF2-40B4-BE49-F238E27FC236}">
                    <a16:creationId xmlns:a16="http://schemas.microsoft.com/office/drawing/2014/main" id="{E96187C7-921C-77B2-6C18-F031D71B195B}"/>
                  </a:ext>
                </a:extLst>
              </p:cNvPr>
              <p:cNvSpPr>
                <a:spLocks noChangeArrowheads="1"/>
              </p:cNvSpPr>
              <p:nvPr/>
            </p:nvSpPr>
            <p:spPr bwMode="auto">
              <a:xfrm>
                <a:off x="532" y="2260"/>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8" name="Rectangle 49" descr="宽下对角线">
                <a:extLst>
                  <a:ext uri="{FF2B5EF4-FFF2-40B4-BE49-F238E27FC236}">
                    <a16:creationId xmlns:a16="http://schemas.microsoft.com/office/drawing/2014/main" id="{DBE5D245-F877-141A-7A21-2BC27531927E}"/>
                  </a:ext>
                </a:extLst>
              </p:cNvPr>
              <p:cNvSpPr>
                <a:spLocks noChangeArrowheads="1"/>
              </p:cNvSpPr>
              <p:nvPr/>
            </p:nvSpPr>
            <p:spPr bwMode="auto">
              <a:xfrm>
                <a:off x="532" y="3076"/>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9" name="Rectangle 50">
                <a:extLst>
                  <a:ext uri="{FF2B5EF4-FFF2-40B4-BE49-F238E27FC236}">
                    <a16:creationId xmlns:a16="http://schemas.microsoft.com/office/drawing/2014/main" id="{40425F20-B997-676A-B123-BCC4D5B73A48}"/>
                  </a:ext>
                </a:extLst>
              </p:cNvPr>
              <p:cNvSpPr>
                <a:spLocks noChangeArrowheads="1"/>
              </p:cNvSpPr>
              <p:nvPr/>
            </p:nvSpPr>
            <p:spPr bwMode="auto">
              <a:xfrm>
                <a:off x="1814" y="2342"/>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sz="2400" i="1"/>
                  <a:t>u</a:t>
                </a:r>
                <a:endParaRPr lang="en-US" altLang="zh-CN" sz="2400"/>
              </a:p>
            </p:txBody>
          </p:sp>
          <p:sp>
            <p:nvSpPr>
              <p:cNvPr id="3100" name="Line 51">
                <a:extLst>
                  <a:ext uri="{FF2B5EF4-FFF2-40B4-BE49-F238E27FC236}">
                    <a16:creationId xmlns:a16="http://schemas.microsoft.com/office/drawing/2014/main" id="{315B321C-431E-A928-2FCA-5BDF21A75E72}"/>
                  </a:ext>
                </a:extLst>
              </p:cNvPr>
              <p:cNvSpPr>
                <a:spLocks noChangeShapeType="1"/>
              </p:cNvSpPr>
              <p:nvPr/>
            </p:nvSpPr>
            <p:spPr bwMode="auto">
              <a:xfrm>
                <a:off x="2064" y="2496"/>
                <a:ext cx="336" cy="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91" name="Text Box 52">
              <a:extLst>
                <a:ext uri="{FF2B5EF4-FFF2-40B4-BE49-F238E27FC236}">
                  <a16:creationId xmlns:a16="http://schemas.microsoft.com/office/drawing/2014/main" id="{2577DD52-3FB0-9C10-FF71-8DA5DE317B9E}"/>
                </a:ext>
              </a:extLst>
            </p:cNvPr>
            <p:cNvSpPr txBox="1">
              <a:spLocks noChangeArrowheads="1"/>
            </p:cNvSpPr>
            <p:nvPr/>
          </p:nvSpPr>
          <p:spPr bwMode="auto">
            <a:xfrm>
              <a:off x="1526" y="297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S</a:t>
              </a:r>
              <a:endParaRPr lang="en-US" altLang="zh-CN"/>
            </a:p>
          </p:txBody>
        </p:sp>
        <p:sp>
          <p:nvSpPr>
            <p:cNvPr id="3092" name="Text Box 53">
              <a:extLst>
                <a:ext uri="{FF2B5EF4-FFF2-40B4-BE49-F238E27FC236}">
                  <a16:creationId xmlns:a16="http://schemas.microsoft.com/office/drawing/2014/main" id="{0BB590D6-30B4-664A-CC2F-5341E92AD224}"/>
                </a:ext>
              </a:extLst>
            </p:cNvPr>
            <p:cNvSpPr txBox="1">
              <a:spLocks noChangeArrowheads="1"/>
            </p:cNvSpPr>
            <p:nvPr/>
          </p:nvSpPr>
          <p:spPr bwMode="auto">
            <a:xfrm>
              <a:off x="528" y="2832"/>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0000"/>
                  </a:solidFill>
                </a:rPr>
                <a:t>P</a:t>
              </a:r>
              <a:endParaRPr lang="en-US" altLang="zh-CN" i="1"/>
            </a:p>
          </p:txBody>
        </p:sp>
      </p:grpSp>
      <p:grpSp>
        <p:nvGrpSpPr>
          <p:cNvPr id="9" name="Group 54">
            <a:extLst>
              <a:ext uri="{FF2B5EF4-FFF2-40B4-BE49-F238E27FC236}">
                <a16:creationId xmlns:a16="http://schemas.microsoft.com/office/drawing/2014/main" id="{BBE2B7A2-870D-2881-7CBA-0FCE316F77F6}"/>
              </a:ext>
            </a:extLst>
          </p:cNvPr>
          <p:cNvGrpSpPr>
            <a:grpSpLocks/>
          </p:cNvGrpSpPr>
          <p:nvPr/>
        </p:nvGrpSpPr>
        <p:grpSpPr bwMode="auto">
          <a:xfrm>
            <a:off x="1844072" y="1334021"/>
            <a:ext cx="1511300" cy="1130300"/>
            <a:chOff x="2544" y="672"/>
            <a:chExt cx="952" cy="712"/>
          </a:xfrm>
        </p:grpSpPr>
        <p:sp>
          <p:nvSpPr>
            <p:cNvPr id="3088" name="Rectangle 55" descr="浅色横线">
              <a:extLst>
                <a:ext uri="{FF2B5EF4-FFF2-40B4-BE49-F238E27FC236}">
                  <a16:creationId xmlns:a16="http://schemas.microsoft.com/office/drawing/2014/main" id="{51FA5E8C-3811-6841-7E77-26D19932836F}"/>
                </a:ext>
              </a:extLst>
            </p:cNvPr>
            <p:cNvSpPr>
              <a:spLocks noChangeArrowheads="1"/>
            </p:cNvSpPr>
            <p:nvPr/>
          </p:nvSpPr>
          <p:spPr bwMode="auto">
            <a:xfrm>
              <a:off x="2544" y="672"/>
              <a:ext cx="280" cy="712"/>
            </a:xfrm>
            <a:prstGeom prst="rect">
              <a:avLst/>
            </a:prstGeom>
            <a:pattFill prst="lt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89" name="Rectangle 56" descr="深色横线">
              <a:extLst>
                <a:ext uri="{FF2B5EF4-FFF2-40B4-BE49-F238E27FC236}">
                  <a16:creationId xmlns:a16="http://schemas.microsoft.com/office/drawing/2014/main" id="{CB93316E-09C8-3224-94B4-C6C118FD810B}"/>
                </a:ext>
              </a:extLst>
            </p:cNvPr>
            <p:cNvSpPr>
              <a:spLocks noChangeArrowheads="1"/>
            </p:cNvSpPr>
            <p:nvPr/>
          </p:nvSpPr>
          <p:spPr bwMode="auto">
            <a:xfrm>
              <a:off x="2832" y="960"/>
              <a:ext cx="664" cy="136"/>
            </a:xfrm>
            <a:prstGeom prst="rect">
              <a:avLst/>
            </a:prstGeom>
            <a:pattFill prst="dk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7" name="Text Box 13">
            <a:hlinkClick r:id="" action="ppaction://noaction"/>
            <a:extLst>
              <a:ext uri="{FF2B5EF4-FFF2-40B4-BE49-F238E27FC236}">
                <a16:creationId xmlns:a16="http://schemas.microsoft.com/office/drawing/2014/main" id="{3DAAF269-8441-43BB-B865-A1EB0B9BFE95}"/>
              </a:ext>
            </a:extLst>
          </p:cNvPr>
          <p:cNvSpPr txBox="1">
            <a:spLocks noChangeArrowheads="1"/>
          </p:cNvSpPr>
          <p:nvPr/>
        </p:nvSpPr>
        <p:spPr bwMode="auto">
          <a:xfrm>
            <a:off x="507277" y="282002"/>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zh-CN" altLang="en-US" sz="3200" dirty="0">
                <a:solidFill>
                  <a:srgbClr val="0066FF"/>
                </a:solidFill>
                <a:latin typeface="+mn-lt"/>
                <a:ea typeface="+mn-ea"/>
                <a:cs typeface="Times New Roman" panose="02020603050405020304" pitchFamily="18" charset="0"/>
              </a:rPr>
              <a:t>准静态过程</a:t>
            </a:r>
          </a:p>
        </p:txBody>
      </p:sp>
      <p:sp>
        <p:nvSpPr>
          <p:cNvPr id="48" name="Rectangle 3">
            <a:extLst>
              <a:ext uri="{FF2B5EF4-FFF2-40B4-BE49-F238E27FC236}">
                <a16:creationId xmlns:a16="http://schemas.microsoft.com/office/drawing/2014/main" id="{1ED63D63-D758-46DA-B270-6927739E8189}"/>
              </a:ext>
            </a:extLst>
          </p:cNvPr>
          <p:cNvSpPr/>
          <p:nvPr/>
        </p:nvSpPr>
        <p:spPr>
          <a:xfrm>
            <a:off x="4619022" y="2286414"/>
            <a:ext cx="7199276" cy="1610697"/>
          </a:xfrm>
          <a:prstGeom prst="rect">
            <a:avLst/>
          </a:prstGeom>
          <a:noFill/>
          <a:ln w="9525">
            <a:noFill/>
          </a:ln>
        </p:spPr>
        <p:txBody>
          <a:bodyPr wrap="square">
            <a:spAutoFit/>
          </a:bodyPr>
          <a:lstStyle/>
          <a:p>
            <a:pPr eaLnBrk="1" hangingPunct="1">
              <a:lnSpc>
                <a:spcPct val="120000"/>
              </a:lnSpc>
              <a:spcBef>
                <a:spcPct val="50000"/>
              </a:spcBef>
            </a:pPr>
            <a:r>
              <a:rPr lang="en-US" altLang="zh-CN" sz="2800" dirty="0">
                <a:solidFill>
                  <a:srgbClr val="080808"/>
                </a:solidFill>
                <a:latin typeface="Times New Roman" panose="02020603050405020304" pitchFamily="18" charset="0"/>
              </a:rPr>
              <a:t>- </a:t>
            </a:r>
            <a:r>
              <a:rPr lang="zh-CN" altLang="en-US" sz="2800" dirty="0">
                <a:solidFill>
                  <a:srgbClr val="080808"/>
                </a:solidFill>
                <a:latin typeface="Times New Roman" panose="02020603050405020304" pitchFamily="18" charset="0"/>
              </a:rPr>
              <a:t>准静态过程：从一个平衡态到另一平衡态所经过的每一中间状态均可近似当作平衡态的过程 。</a:t>
            </a:r>
            <a:endParaRPr lang="en-US" altLang="zh-CN" sz="2800" dirty="0">
              <a:solidFill>
                <a:srgbClr val="080808"/>
              </a:solidFill>
              <a:latin typeface="Times New Roman" panose="02020603050405020304" pitchFamily="18" charset="0"/>
            </a:endParaRPr>
          </a:p>
        </p:txBody>
      </p:sp>
      <p:grpSp>
        <p:nvGrpSpPr>
          <p:cNvPr id="72" name="Group 90">
            <a:extLst>
              <a:ext uri="{FF2B5EF4-FFF2-40B4-BE49-F238E27FC236}">
                <a16:creationId xmlns:a16="http://schemas.microsoft.com/office/drawing/2014/main" id="{F6DAC8B3-E4FA-4960-99D4-F348DE51A341}"/>
              </a:ext>
            </a:extLst>
          </p:cNvPr>
          <p:cNvGrpSpPr/>
          <p:nvPr/>
        </p:nvGrpSpPr>
        <p:grpSpPr>
          <a:xfrm>
            <a:off x="873315" y="3022399"/>
            <a:ext cx="3675063" cy="3160713"/>
            <a:chOff x="2773" y="1849"/>
            <a:chExt cx="2315" cy="1991"/>
          </a:xfrm>
        </p:grpSpPr>
        <p:sp>
          <p:nvSpPr>
            <p:cNvPr id="73" name="Line 91">
              <a:extLst>
                <a:ext uri="{FF2B5EF4-FFF2-40B4-BE49-F238E27FC236}">
                  <a16:creationId xmlns:a16="http://schemas.microsoft.com/office/drawing/2014/main" id="{F7026C24-E1ED-4652-9470-FA5169021DC8}"/>
                </a:ext>
              </a:extLst>
            </p:cNvPr>
            <p:cNvSpPr/>
            <p:nvPr/>
          </p:nvSpPr>
          <p:spPr>
            <a:xfrm>
              <a:off x="3091" y="3552"/>
              <a:ext cx="1776" cy="0"/>
            </a:xfrm>
            <a:prstGeom prst="line">
              <a:avLst/>
            </a:prstGeom>
            <a:ln w="19050" cap="flat" cmpd="sng">
              <a:solidFill>
                <a:srgbClr val="080808"/>
              </a:solidFill>
              <a:prstDash val="solid"/>
              <a:headEnd type="none" w="med" len="med"/>
              <a:tailEnd type="triangle" w="sm" len="lg"/>
            </a:ln>
          </p:spPr>
        </p:sp>
        <p:sp>
          <p:nvSpPr>
            <p:cNvPr id="74" name="Line 92">
              <a:extLst>
                <a:ext uri="{FF2B5EF4-FFF2-40B4-BE49-F238E27FC236}">
                  <a16:creationId xmlns:a16="http://schemas.microsoft.com/office/drawing/2014/main" id="{4959644A-80D3-40FF-B14C-6CCD6BECEDEF}"/>
                </a:ext>
              </a:extLst>
            </p:cNvPr>
            <p:cNvSpPr/>
            <p:nvPr/>
          </p:nvSpPr>
          <p:spPr>
            <a:xfrm flipV="1">
              <a:off x="3091" y="1920"/>
              <a:ext cx="0" cy="1632"/>
            </a:xfrm>
            <a:prstGeom prst="line">
              <a:avLst/>
            </a:prstGeom>
            <a:ln w="19050" cap="flat" cmpd="sng">
              <a:solidFill>
                <a:srgbClr val="080808"/>
              </a:solidFill>
              <a:prstDash val="solid"/>
              <a:headEnd type="none" w="med" len="med"/>
              <a:tailEnd type="triangle" w="sm" len="lg"/>
            </a:ln>
          </p:spPr>
        </p:sp>
        <p:sp>
          <p:nvSpPr>
            <p:cNvPr id="75" name="Oval 93">
              <a:extLst>
                <a:ext uri="{FF2B5EF4-FFF2-40B4-BE49-F238E27FC236}">
                  <a16:creationId xmlns:a16="http://schemas.microsoft.com/office/drawing/2014/main" id="{B02F4880-EB3A-4F99-8AFD-67EF44F2B6C2}"/>
                </a:ext>
              </a:extLst>
            </p:cNvPr>
            <p:cNvSpPr/>
            <p:nvPr/>
          </p:nvSpPr>
          <p:spPr>
            <a:xfrm>
              <a:off x="3523" y="2352"/>
              <a:ext cx="48" cy="48"/>
            </a:xfrm>
            <a:prstGeom prst="ellipse">
              <a:avLst/>
            </a:prstGeom>
            <a:solidFill>
              <a:srgbClr val="CC0000"/>
            </a:solidFill>
            <a:ln w="9525" cap="flat" cmpd="sng">
              <a:solidFill>
                <a:schemeClr val="tx1"/>
              </a:solidFill>
              <a:prstDash val="solid"/>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p:sp>
          <p:nvSpPr>
            <p:cNvPr id="76" name="Oval 94">
              <a:extLst>
                <a:ext uri="{FF2B5EF4-FFF2-40B4-BE49-F238E27FC236}">
                  <a16:creationId xmlns:a16="http://schemas.microsoft.com/office/drawing/2014/main" id="{4AD55190-52FD-448B-BA58-D73B528A9D0B}"/>
                </a:ext>
              </a:extLst>
            </p:cNvPr>
            <p:cNvSpPr/>
            <p:nvPr/>
          </p:nvSpPr>
          <p:spPr>
            <a:xfrm>
              <a:off x="4147" y="3024"/>
              <a:ext cx="48" cy="48"/>
            </a:xfrm>
            <a:prstGeom prst="ellipse">
              <a:avLst/>
            </a:prstGeom>
            <a:solidFill>
              <a:srgbClr val="CC0000"/>
            </a:solidFill>
            <a:ln w="9525" cap="flat" cmpd="sng">
              <a:solidFill>
                <a:schemeClr val="tx1"/>
              </a:solidFill>
              <a:prstDash val="solid"/>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77" name="Object 95">
                  <a:extLst>
                    <a:ext uri="{FF2B5EF4-FFF2-40B4-BE49-F238E27FC236}">
                      <a16:creationId xmlns:a16="http://schemas.microsoft.com/office/drawing/2014/main" id="{793DEE6C-D12A-4084-8426-DD6B5D038C60}"/>
                    </a:ext>
                  </a:extLst>
                </p:cNvPr>
                <p:cNvSpPr txBox="1"/>
                <p:nvPr/>
              </p:nvSpPr>
              <p:spPr>
                <a:xfrm>
                  <a:off x="4128" y="2675"/>
                  <a:ext cx="960" cy="29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77" name="Object 95">
                  <a:extLst>
                    <a:ext uri="{FF2B5EF4-FFF2-40B4-BE49-F238E27FC236}">
                      <a16:creationId xmlns:a16="http://schemas.microsoft.com/office/drawing/2014/main" id="{793DEE6C-D12A-4084-8426-DD6B5D038C60}"/>
                    </a:ext>
                  </a:extLst>
                </p:cNvPr>
                <p:cNvSpPr txBox="1">
                  <a:spLocks noRot="1" noChangeAspect="1" noMove="1" noResize="1" noEditPoints="1" noAdjustHandles="1" noChangeArrowheads="1" noChangeShapeType="1" noTextEdit="1"/>
                </p:cNvSpPr>
                <p:nvPr/>
              </p:nvSpPr>
              <p:spPr>
                <a:xfrm>
                  <a:off x="4128" y="2675"/>
                  <a:ext cx="960" cy="291"/>
                </a:xfrm>
                <a:prstGeom prst="rect">
                  <a:avLst/>
                </a:prstGeom>
                <a:blipFill>
                  <a:blip r:embed="rId2"/>
                  <a:stretch>
                    <a:fillRect l="-3200" r="-4000" b="-18421"/>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Object 96">
                  <a:extLst>
                    <a:ext uri="{FF2B5EF4-FFF2-40B4-BE49-F238E27FC236}">
                      <a16:creationId xmlns:a16="http://schemas.microsoft.com/office/drawing/2014/main" id="{7A38F7E4-A2AD-4045-B311-9FEA3E08D4F1}"/>
                    </a:ext>
                  </a:extLst>
                </p:cNvPr>
                <p:cNvSpPr txBox="1"/>
                <p:nvPr/>
              </p:nvSpPr>
              <p:spPr>
                <a:xfrm>
                  <a:off x="3571" y="2112"/>
                  <a:ext cx="1055" cy="29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78" name="Object 96">
                  <a:extLst>
                    <a:ext uri="{FF2B5EF4-FFF2-40B4-BE49-F238E27FC236}">
                      <a16:creationId xmlns:a16="http://schemas.microsoft.com/office/drawing/2014/main" id="{7A38F7E4-A2AD-4045-B311-9FEA3E08D4F1}"/>
                    </a:ext>
                  </a:extLst>
                </p:cNvPr>
                <p:cNvSpPr txBox="1">
                  <a:spLocks noRot="1" noChangeAspect="1" noMove="1" noResize="1" noEditPoints="1" noAdjustHandles="1" noChangeArrowheads="1" noChangeShapeType="1" noTextEdit="1"/>
                </p:cNvSpPr>
                <p:nvPr/>
              </p:nvSpPr>
              <p:spPr>
                <a:xfrm>
                  <a:off x="3571" y="2112"/>
                  <a:ext cx="1055" cy="291"/>
                </a:xfrm>
                <a:prstGeom prst="rect">
                  <a:avLst/>
                </a:prstGeom>
                <a:blipFill>
                  <a:blip r:embed="rId3"/>
                  <a:stretch>
                    <a:fillRect b="-18421"/>
                  </a:stretch>
                </a:blipFill>
                <a:ln w="38100">
                  <a:noFill/>
                  <a:miter/>
                </a:ln>
              </p:spPr>
              <p:txBody>
                <a:bodyPr/>
                <a:lstStyle/>
                <a:p>
                  <a:r>
                    <a:rPr lang="en-US">
                      <a:noFill/>
                    </a:rPr>
                    <a:t> </a:t>
                  </a:r>
                </a:p>
              </p:txBody>
            </p:sp>
          </mc:Fallback>
        </mc:AlternateContent>
        <p:sp>
          <p:nvSpPr>
            <p:cNvPr id="79" name="Line 97">
              <a:extLst>
                <a:ext uri="{FF2B5EF4-FFF2-40B4-BE49-F238E27FC236}">
                  <a16:creationId xmlns:a16="http://schemas.microsoft.com/office/drawing/2014/main" id="{2180A729-A030-43D2-98BE-62B936241099}"/>
                </a:ext>
              </a:extLst>
            </p:cNvPr>
            <p:cNvSpPr/>
            <p:nvPr/>
          </p:nvSpPr>
          <p:spPr>
            <a:xfrm>
              <a:off x="3552" y="2352"/>
              <a:ext cx="0" cy="1200"/>
            </a:xfrm>
            <a:prstGeom prst="line">
              <a:avLst/>
            </a:prstGeom>
            <a:ln w="12700" cap="flat" cmpd="sng">
              <a:solidFill>
                <a:srgbClr val="080808"/>
              </a:solidFill>
              <a:prstDash val="dash"/>
              <a:headEnd type="none" w="med" len="med"/>
              <a:tailEnd type="none" w="med" len="med"/>
            </a:ln>
          </p:spPr>
        </p:sp>
        <p:sp>
          <p:nvSpPr>
            <p:cNvPr id="80" name="Line 98">
              <a:extLst>
                <a:ext uri="{FF2B5EF4-FFF2-40B4-BE49-F238E27FC236}">
                  <a16:creationId xmlns:a16="http://schemas.microsoft.com/office/drawing/2014/main" id="{126EC2E0-0581-487A-A0D1-66E992A67002}"/>
                </a:ext>
              </a:extLst>
            </p:cNvPr>
            <p:cNvSpPr/>
            <p:nvPr/>
          </p:nvSpPr>
          <p:spPr>
            <a:xfrm>
              <a:off x="4195" y="3072"/>
              <a:ext cx="0" cy="480"/>
            </a:xfrm>
            <a:prstGeom prst="line">
              <a:avLst/>
            </a:prstGeom>
            <a:ln w="12700" cap="flat" cmpd="sng">
              <a:solidFill>
                <a:srgbClr val="080808"/>
              </a:solidFill>
              <a:prstDash val="dash"/>
              <a:headEnd type="none" w="med" len="med"/>
              <a:tailEnd type="none" w="med" len="med"/>
            </a:ln>
          </p:spPr>
        </p:sp>
        <p:sp>
          <p:nvSpPr>
            <p:cNvPr id="81" name="Line 99">
              <a:extLst>
                <a:ext uri="{FF2B5EF4-FFF2-40B4-BE49-F238E27FC236}">
                  <a16:creationId xmlns:a16="http://schemas.microsoft.com/office/drawing/2014/main" id="{01ABC20A-182A-4D17-8C00-F0A749200BC8}"/>
                </a:ext>
              </a:extLst>
            </p:cNvPr>
            <p:cNvSpPr/>
            <p:nvPr/>
          </p:nvSpPr>
          <p:spPr>
            <a:xfrm flipH="1">
              <a:off x="3091" y="2352"/>
              <a:ext cx="480" cy="0"/>
            </a:xfrm>
            <a:prstGeom prst="line">
              <a:avLst/>
            </a:prstGeom>
            <a:ln w="12700" cap="flat" cmpd="sng">
              <a:solidFill>
                <a:srgbClr val="080808"/>
              </a:solidFill>
              <a:prstDash val="dash"/>
              <a:headEnd type="none" w="med" len="med"/>
              <a:tailEnd type="none" w="med" len="med"/>
            </a:ln>
          </p:spPr>
        </p:sp>
        <p:sp>
          <p:nvSpPr>
            <p:cNvPr id="82" name="Line 100">
              <a:extLst>
                <a:ext uri="{FF2B5EF4-FFF2-40B4-BE49-F238E27FC236}">
                  <a16:creationId xmlns:a16="http://schemas.microsoft.com/office/drawing/2014/main" id="{3D8305CA-6AC7-45CD-8061-1D1C01B856A3}"/>
                </a:ext>
              </a:extLst>
            </p:cNvPr>
            <p:cNvSpPr/>
            <p:nvPr/>
          </p:nvSpPr>
          <p:spPr>
            <a:xfrm flipH="1">
              <a:off x="3091" y="3072"/>
              <a:ext cx="1104" cy="0"/>
            </a:xfrm>
            <a:prstGeom prst="line">
              <a:avLst/>
            </a:prstGeom>
            <a:ln w="12700" cap="flat" cmpd="sng">
              <a:solidFill>
                <a:srgbClr val="080808"/>
              </a:solidFill>
              <a:prstDash val="dash"/>
              <a:headEnd type="none" w="med" len="med"/>
              <a:tailEnd type="none" w="med" len="med"/>
            </a:ln>
          </p:spPr>
        </p:sp>
        <mc:AlternateContent xmlns:mc="http://schemas.openxmlformats.org/markup-compatibility/2006" xmlns:a14="http://schemas.microsoft.com/office/drawing/2010/main">
          <mc:Choice Requires="a14">
            <p:sp>
              <p:nvSpPr>
                <p:cNvPr id="83" name="Object 101">
                  <a:extLst>
                    <a:ext uri="{FF2B5EF4-FFF2-40B4-BE49-F238E27FC236}">
                      <a16:creationId xmlns:a16="http://schemas.microsoft.com/office/drawing/2014/main" id="{704EFFC1-01D6-4E0B-9E6E-064184CAECC5}"/>
                    </a:ext>
                  </a:extLst>
                </p:cNvPr>
                <p:cNvSpPr txBox="1"/>
                <p:nvPr/>
              </p:nvSpPr>
              <p:spPr>
                <a:xfrm>
                  <a:off x="3469" y="3552"/>
                  <a:ext cx="207" cy="2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b="0" i="1" smtClean="0">
                                <a:solidFill>
                                  <a:srgbClr val="000000"/>
                                </a:solidFill>
                                <a:latin typeface="Cambria Math" panose="02040503050406030204" pitchFamily="18" charset="0"/>
                              </a:rPr>
                              <m:t>2</m:t>
                            </m:r>
                          </m:sub>
                        </m:sSub>
                      </m:oMath>
                    </m:oMathPara>
                  </a14:m>
                  <a:endParaRPr lang="en-US" sz="2400" dirty="0"/>
                </a:p>
              </p:txBody>
            </p:sp>
          </mc:Choice>
          <mc:Fallback xmlns="">
            <p:sp>
              <p:nvSpPr>
                <p:cNvPr id="83" name="Object 101">
                  <a:extLst>
                    <a:ext uri="{FF2B5EF4-FFF2-40B4-BE49-F238E27FC236}">
                      <a16:creationId xmlns:a16="http://schemas.microsoft.com/office/drawing/2014/main" id="{704EFFC1-01D6-4E0B-9E6E-064184CAECC5}"/>
                    </a:ext>
                  </a:extLst>
                </p:cNvPr>
                <p:cNvSpPr txBox="1">
                  <a:spLocks noRot="1" noChangeAspect="1" noMove="1" noResize="1" noEditPoints="1" noAdjustHandles="1" noChangeArrowheads="1" noChangeShapeType="1" noTextEdit="1"/>
                </p:cNvSpPr>
                <p:nvPr/>
              </p:nvSpPr>
              <p:spPr>
                <a:xfrm>
                  <a:off x="3469" y="3552"/>
                  <a:ext cx="207" cy="288"/>
                </a:xfrm>
                <a:prstGeom prst="rect">
                  <a:avLst/>
                </a:prstGeom>
                <a:blipFill>
                  <a:blip r:embed="rId4"/>
                  <a:stretch>
                    <a:fillRect l="-5660" r="-35849" b="-4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Object 102">
                  <a:extLst>
                    <a:ext uri="{FF2B5EF4-FFF2-40B4-BE49-F238E27FC236}">
                      <a16:creationId xmlns:a16="http://schemas.microsoft.com/office/drawing/2014/main" id="{F9D62CC8-6EB4-42EB-81B7-A6A9B58C1435}"/>
                    </a:ext>
                  </a:extLst>
                </p:cNvPr>
                <p:cNvSpPr txBox="1"/>
                <p:nvPr/>
              </p:nvSpPr>
              <p:spPr>
                <a:xfrm>
                  <a:off x="4082" y="3552"/>
                  <a:ext cx="230" cy="2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b="0" i="1" smtClean="0">
                                <a:solidFill>
                                  <a:srgbClr val="000000"/>
                                </a:solidFill>
                                <a:latin typeface="Cambria Math" panose="02040503050406030204" pitchFamily="18" charset="0"/>
                              </a:rPr>
                              <m:t>1</m:t>
                            </m:r>
                          </m:sub>
                        </m:sSub>
                      </m:oMath>
                    </m:oMathPara>
                  </a14:m>
                  <a:endParaRPr lang="en-US" sz="2400" dirty="0"/>
                </a:p>
              </p:txBody>
            </p:sp>
          </mc:Choice>
          <mc:Fallback xmlns="">
            <p:sp>
              <p:nvSpPr>
                <p:cNvPr id="84" name="Object 102">
                  <a:extLst>
                    <a:ext uri="{FF2B5EF4-FFF2-40B4-BE49-F238E27FC236}">
                      <a16:creationId xmlns:a16="http://schemas.microsoft.com/office/drawing/2014/main" id="{F9D62CC8-6EB4-42EB-81B7-A6A9B58C1435}"/>
                    </a:ext>
                  </a:extLst>
                </p:cNvPr>
                <p:cNvSpPr txBox="1">
                  <a:spLocks noRot="1" noChangeAspect="1" noMove="1" noResize="1" noEditPoints="1" noAdjustHandles="1" noChangeArrowheads="1" noChangeShapeType="1" noTextEdit="1"/>
                </p:cNvSpPr>
                <p:nvPr/>
              </p:nvSpPr>
              <p:spPr>
                <a:xfrm>
                  <a:off x="4082" y="3552"/>
                  <a:ext cx="230" cy="288"/>
                </a:xfrm>
                <a:prstGeom prst="rect">
                  <a:avLst/>
                </a:prstGeom>
                <a:blipFill>
                  <a:blip r:embed="rId5"/>
                  <a:stretch>
                    <a:fillRect l="-3333" r="-18333" b="-4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Object 103">
                  <a:extLst>
                    <a:ext uri="{FF2B5EF4-FFF2-40B4-BE49-F238E27FC236}">
                      <a16:creationId xmlns:a16="http://schemas.microsoft.com/office/drawing/2014/main" id="{030038F1-6DFF-4AD7-8A8F-09E76942451E}"/>
                    </a:ext>
                  </a:extLst>
                </p:cNvPr>
                <p:cNvSpPr txBox="1"/>
                <p:nvPr/>
              </p:nvSpPr>
              <p:spPr>
                <a:xfrm>
                  <a:off x="2773" y="2160"/>
                  <a:ext cx="347" cy="33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2</m:t>
                            </m:r>
                          </m:sub>
                        </m:sSub>
                      </m:oMath>
                    </m:oMathPara>
                  </a14:m>
                  <a:endParaRPr lang="en-US" sz="2400" dirty="0"/>
                </a:p>
              </p:txBody>
            </p:sp>
          </mc:Choice>
          <mc:Fallback xmlns="">
            <p:sp>
              <p:nvSpPr>
                <p:cNvPr id="85" name="Object 103">
                  <a:extLst>
                    <a:ext uri="{FF2B5EF4-FFF2-40B4-BE49-F238E27FC236}">
                      <a16:creationId xmlns:a16="http://schemas.microsoft.com/office/drawing/2014/main" id="{030038F1-6DFF-4AD7-8A8F-09E76942451E}"/>
                    </a:ext>
                  </a:extLst>
                </p:cNvPr>
                <p:cNvSpPr txBox="1">
                  <a:spLocks noRot="1" noChangeAspect="1" noMove="1" noResize="1" noEditPoints="1" noAdjustHandles="1" noChangeArrowheads="1" noChangeShapeType="1" noTextEdit="1"/>
                </p:cNvSpPr>
                <p:nvPr/>
              </p:nvSpPr>
              <p:spPr>
                <a:xfrm>
                  <a:off x="2773" y="2160"/>
                  <a:ext cx="347" cy="336"/>
                </a:xfrm>
                <a:prstGeom prst="rect">
                  <a:avLst/>
                </a:prstGeom>
                <a:blipFill>
                  <a:blip r:embed="rId6"/>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Object 104">
                  <a:extLst>
                    <a:ext uri="{FF2B5EF4-FFF2-40B4-BE49-F238E27FC236}">
                      <a16:creationId xmlns:a16="http://schemas.microsoft.com/office/drawing/2014/main" id="{FE52EB60-A838-45B3-86AF-9882E9374473}"/>
                    </a:ext>
                  </a:extLst>
                </p:cNvPr>
                <p:cNvSpPr txBox="1"/>
                <p:nvPr/>
              </p:nvSpPr>
              <p:spPr>
                <a:xfrm>
                  <a:off x="2784" y="2880"/>
                  <a:ext cx="308" cy="33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Sub>
                      </m:oMath>
                    </m:oMathPara>
                  </a14:m>
                  <a:endParaRPr lang="en-US" sz="2400" dirty="0"/>
                </a:p>
              </p:txBody>
            </p:sp>
          </mc:Choice>
          <mc:Fallback xmlns="">
            <p:sp>
              <p:nvSpPr>
                <p:cNvPr id="86" name="Object 104">
                  <a:extLst>
                    <a:ext uri="{FF2B5EF4-FFF2-40B4-BE49-F238E27FC236}">
                      <a16:creationId xmlns:a16="http://schemas.microsoft.com/office/drawing/2014/main" id="{FE52EB60-A838-45B3-86AF-9882E9374473}"/>
                    </a:ext>
                  </a:extLst>
                </p:cNvPr>
                <p:cNvSpPr txBox="1">
                  <a:spLocks noRot="1" noChangeAspect="1" noMove="1" noResize="1" noEditPoints="1" noAdjustHandles="1" noChangeArrowheads="1" noChangeShapeType="1" noTextEdit="1"/>
                </p:cNvSpPr>
                <p:nvPr/>
              </p:nvSpPr>
              <p:spPr>
                <a:xfrm>
                  <a:off x="2784" y="2880"/>
                  <a:ext cx="308" cy="336"/>
                </a:xfrm>
                <a:prstGeom prst="rect">
                  <a:avLst/>
                </a:prstGeom>
                <a:blipFill>
                  <a:blip r:embed="rId7"/>
                  <a:stretch>
                    <a:fillRect l="-2500"/>
                  </a:stretch>
                </a:blipFill>
                <a:ln w="38100">
                  <a:noFill/>
                  <a:miter/>
                </a:ln>
              </p:spPr>
              <p:txBody>
                <a:bodyPr/>
                <a:lstStyle/>
                <a:p>
                  <a:r>
                    <a:rPr lang="en-US">
                      <a:noFill/>
                    </a:rPr>
                    <a:t> </a:t>
                  </a:r>
                </a:p>
              </p:txBody>
            </p:sp>
          </mc:Fallback>
        </mc:AlternateContent>
        <p:sp>
          <p:nvSpPr>
            <p:cNvPr id="87" name="Freeform 105">
              <a:extLst>
                <a:ext uri="{FF2B5EF4-FFF2-40B4-BE49-F238E27FC236}">
                  <a16:creationId xmlns:a16="http://schemas.microsoft.com/office/drawing/2014/main" id="{2F7126A3-5801-45A0-B1DF-DE9291C53F9C}"/>
                </a:ext>
              </a:extLst>
            </p:cNvPr>
            <p:cNvSpPr/>
            <p:nvPr/>
          </p:nvSpPr>
          <p:spPr>
            <a:xfrm>
              <a:off x="3552" y="2352"/>
              <a:ext cx="624" cy="720"/>
            </a:xfrm>
            <a:custGeom>
              <a:avLst/>
              <a:gdLst>
                <a:gd name="txL" fmla="*/ 0 w 624"/>
                <a:gd name="txT" fmla="*/ 0 h 720"/>
                <a:gd name="txR" fmla="*/ 624 w 624"/>
                <a:gd name="txB" fmla="*/ 720 h 720"/>
              </a:gdLst>
              <a:ahLst/>
              <a:cxnLst>
                <a:cxn ang="0">
                  <a:pos x="0" y="0"/>
                </a:cxn>
                <a:cxn ang="0">
                  <a:pos x="144" y="336"/>
                </a:cxn>
                <a:cxn ang="0">
                  <a:pos x="336" y="576"/>
                </a:cxn>
                <a:cxn ang="0">
                  <a:pos x="624" y="720"/>
                </a:cxn>
              </a:cxnLst>
              <a:rect l="txL" t="txT" r="txR" b="txB"/>
              <a:pathLst>
                <a:path w="624" h="720">
                  <a:moveTo>
                    <a:pt x="0" y="0"/>
                  </a:moveTo>
                  <a:cubicBezTo>
                    <a:pt x="44" y="120"/>
                    <a:pt x="88" y="240"/>
                    <a:pt x="144" y="336"/>
                  </a:cubicBezTo>
                  <a:cubicBezTo>
                    <a:pt x="200" y="432"/>
                    <a:pt x="256" y="512"/>
                    <a:pt x="336" y="576"/>
                  </a:cubicBezTo>
                  <a:cubicBezTo>
                    <a:pt x="416" y="640"/>
                    <a:pt x="576" y="696"/>
                    <a:pt x="624" y="720"/>
                  </a:cubicBezTo>
                </a:path>
              </a:pathLst>
            </a:custGeom>
            <a:noFill/>
            <a:ln w="28575" cap="flat" cmpd="sng">
              <a:solidFill>
                <a:srgbClr val="FF0000">
                  <a:alpha val="100000"/>
                </a:srgbClr>
              </a:solidFill>
              <a:prstDash val="solid"/>
              <a:round/>
              <a:headEnd type="none" w="med" len="med"/>
              <a:tailEnd type="none" w="med" len="med"/>
            </a:ln>
          </p:spPr>
          <p:txBody>
            <a:bodyPr/>
            <a:lstStyle/>
            <a:p>
              <a:endParaRPr lang="zh-CN" altLang="en-US" sz="2400"/>
            </a:p>
          </p:txBody>
        </p:sp>
        <p:sp>
          <p:nvSpPr>
            <p:cNvPr id="88" name="Line 106">
              <a:extLst>
                <a:ext uri="{FF2B5EF4-FFF2-40B4-BE49-F238E27FC236}">
                  <a16:creationId xmlns:a16="http://schemas.microsoft.com/office/drawing/2014/main" id="{EAEFE021-3E52-40AB-8348-EBE42207BCAE}"/>
                </a:ext>
              </a:extLst>
            </p:cNvPr>
            <p:cNvSpPr/>
            <p:nvPr/>
          </p:nvSpPr>
          <p:spPr>
            <a:xfrm flipH="1" flipV="1">
              <a:off x="3715" y="2730"/>
              <a:ext cx="125" cy="148"/>
            </a:xfrm>
            <a:prstGeom prst="line">
              <a:avLst/>
            </a:prstGeom>
            <a:ln w="38100" cap="flat" cmpd="sng">
              <a:solidFill>
                <a:srgbClr val="FF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89" name="Object 107">
                  <a:extLst>
                    <a:ext uri="{FF2B5EF4-FFF2-40B4-BE49-F238E27FC236}">
                      <a16:creationId xmlns:a16="http://schemas.microsoft.com/office/drawing/2014/main" id="{1C6AF7F6-857C-4ABB-B8DE-12B82D773D91}"/>
                    </a:ext>
                  </a:extLst>
                </p:cNvPr>
                <p:cNvSpPr txBox="1"/>
                <p:nvPr/>
              </p:nvSpPr>
              <p:spPr>
                <a:xfrm>
                  <a:off x="3131" y="1849"/>
                  <a:ext cx="209" cy="24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𝑝</m:t>
                        </m:r>
                      </m:oMath>
                    </m:oMathPara>
                  </a14:m>
                  <a:endParaRPr lang="en-US" sz="2400" dirty="0"/>
                </a:p>
              </p:txBody>
            </p:sp>
          </mc:Choice>
          <mc:Fallback xmlns="">
            <p:sp>
              <p:nvSpPr>
                <p:cNvPr id="89" name="Object 107">
                  <a:extLst>
                    <a:ext uri="{FF2B5EF4-FFF2-40B4-BE49-F238E27FC236}">
                      <a16:creationId xmlns:a16="http://schemas.microsoft.com/office/drawing/2014/main" id="{1C6AF7F6-857C-4ABB-B8DE-12B82D773D91}"/>
                    </a:ext>
                  </a:extLst>
                </p:cNvPr>
                <p:cNvSpPr txBox="1">
                  <a:spLocks noRot="1" noChangeAspect="1" noMove="1" noResize="1" noEditPoints="1" noAdjustHandles="1" noChangeArrowheads="1" noChangeShapeType="1" noTextEdit="1"/>
                </p:cNvSpPr>
                <p:nvPr/>
              </p:nvSpPr>
              <p:spPr>
                <a:xfrm>
                  <a:off x="3131" y="1849"/>
                  <a:ext cx="209" cy="248"/>
                </a:xfrm>
                <a:prstGeom prst="rect">
                  <a:avLst/>
                </a:prstGeom>
                <a:blipFill>
                  <a:blip r:embed="rId8"/>
                  <a:stretch>
                    <a:fillRect l="-5455" r="-10909" b="-3125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bject 108">
                  <a:extLst>
                    <a:ext uri="{FF2B5EF4-FFF2-40B4-BE49-F238E27FC236}">
                      <a16:creationId xmlns:a16="http://schemas.microsoft.com/office/drawing/2014/main" id="{95638DD2-9DE1-4E12-A0DF-B571E7D118F5}"/>
                    </a:ext>
                  </a:extLst>
                </p:cNvPr>
                <p:cNvSpPr txBox="1"/>
                <p:nvPr/>
              </p:nvSpPr>
              <p:spPr>
                <a:xfrm>
                  <a:off x="4652" y="3552"/>
                  <a:ext cx="215" cy="24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𝑉</m:t>
                        </m:r>
                      </m:oMath>
                    </m:oMathPara>
                  </a14:m>
                  <a:endParaRPr lang="en-US" sz="2400" dirty="0"/>
                </a:p>
              </p:txBody>
            </p:sp>
          </mc:Choice>
          <mc:Fallback xmlns="">
            <p:sp>
              <p:nvSpPr>
                <p:cNvPr id="90" name="Object 108">
                  <a:extLst>
                    <a:ext uri="{FF2B5EF4-FFF2-40B4-BE49-F238E27FC236}">
                      <a16:creationId xmlns:a16="http://schemas.microsoft.com/office/drawing/2014/main" id="{95638DD2-9DE1-4E12-A0DF-B571E7D118F5}"/>
                    </a:ext>
                  </a:extLst>
                </p:cNvPr>
                <p:cNvSpPr txBox="1">
                  <a:spLocks noRot="1" noChangeAspect="1" noMove="1" noResize="1" noEditPoints="1" noAdjustHandles="1" noChangeArrowheads="1" noChangeShapeType="1" noTextEdit="1"/>
                </p:cNvSpPr>
                <p:nvPr/>
              </p:nvSpPr>
              <p:spPr>
                <a:xfrm>
                  <a:off x="4652" y="3552"/>
                  <a:ext cx="215" cy="240"/>
                </a:xfrm>
                <a:prstGeom prst="rect">
                  <a:avLst/>
                </a:prstGeom>
                <a:blipFill>
                  <a:blip r:embed="rId9"/>
                  <a:stretch>
                    <a:fillRect l="-5357" r="-12500" b="-15873"/>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Object 109">
                  <a:extLst>
                    <a:ext uri="{FF2B5EF4-FFF2-40B4-BE49-F238E27FC236}">
                      <a16:creationId xmlns:a16="http://schemas.microsoft.com/office/drawing/2014/main" id="{AC24595D-FF8C-49CD-9A67-BA6660C4BC3C}"/>
                    </a:ext>
                  </a:extLst>
                </p:cNvPr>
                <p:cNvSpPr txBox="1"/>
                <p:nvPr/>
              </p:nvSpPr>
              <p:spPr>
                <a:xfrm>
                  <a:off x="2947" y="3552"/>
                  <a:ext cx="208" cy="24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𝑜</m:t>
                        </m:r>
                      </m:oMath>
                    </m:oMathPara>
                  </a14:m>
                  <a:endParaRPr lang="en-US" sz="2400"/>
                </a:p>
              </p:txBody>
            </p:sp>
          </mc:Choice>
          <mc:Fallback xmlns="">
            <p:sp>
              <p:nvSpPr>
                <p:cNvPr id="91" name="Object 109">
                  <a:extLst>
                    <a:ext uri="{FF2B5EF4-FFF2-40B4-BE49-F238E27FC236}">
                      <a16:creationId xmlns:a16="http://schemas.microsoft.com/office/drawing/2014/main" id="{AC24595D-FF8C-49CD-9A67-BA6660C4BC3C}"/>
                    </a:ext>
                  </a:extLst>
                </p:cNvPr>
                <p:cNvSpPr txBox="1">
                  <a:spLocks noRot="1" noChangeAspect="1" noMove="1" noResize="1" noEditPoints="1" noAdjustHandles="1" noChangeArrowheads="1" noChangeShapeType="1" noTextEdit="1"/>
                </p:cNvSpPr>
                <p:nvPr/>
              </p:nvSpPr>
              <p:spPr>
                <a:xfrm>
                  <a:off x="2947" y="3552"/>
                  <a:ext cx="208" cy="240"/>
                </a:xfrm>
                <a:prstGeom prst="rect">
                  <a:avLst/>
                </a:prstGeom>
                <a:blipFill>
                  <a:blip r:embed="rId10"/>
                  <a:stretch>
                    <a:fillRect r="-1852" b="-9677"/>
                  </a:stretch>
                </a:blipFill>
                <a:ln w="38100">
                  <a:noFill/>
                  <a:miter/>
                </a:ln>
              </p:spPr>
              <p:txBody>
                <a:bodyPr/>
                <a:lstStyle/>
                <a:p>
                  <a:r>
                    <a:rPr lang="zh-CN" altLang="en-US">
                      <a:noFill/>
                    </a:rPr>
                    <a:t> </a:t>
                  </a:r>
                </a:p>
              </p:txBody>
            </p:sp>
          </mc:Fallback>
        </mc:AlternateContent>
        <p:sp>
          <p:nvSpPr>
            <p:cNvPr id="92" name="Text Box 110">
              <a:extLst>
                <a:ext uri="{FF2B5EF4-FFF2-40B4-BE49-F238E27FC236}">
                  <a16:creationId xmlns:a16="http://schemas.microsoft.com/office/drawing/2014/main" id="{7989CAD9-52F5-4812-8F1C-60EDE6AD1325}"/>
                </a:ext>
              </a:extLst>
            </p:cNvPr>
            <p:cNvSpPr txBox="1"/>
            <p:nvPr/>
          </p:nvSpPr>
          <p:spPr>
            <a:xfrm>
              <a:off x="4012" y="2723"/>
              <a:ext cx="288" cy="291"/>
            </a:xfrm>
            <a:prstGeom prst="rect">
              <a:avLst/>
            </a:prstGeom>
            <a:noFill/>
            <a:ln w="9525">
              <a:noFill/>
            </a:ln>
          </p:spPr>
          <p:txBody>
            <a:bodyPr>
              <a:spAutoFit/>
            </a:bodyPr>
            <a:lstStyle/>
            <a:p>
              <a:pPr eaLnBrk="1" hangingPunct="1">
                <a:spcBef>
                  <a:spcPct val="50000"/>
                </a:spcBef>
              </a:pPr>
              <a:r>
                <a:rPr lang="en-US" altLang="zh-CN" sz="2400" b="1" dirty="0">
                  <a:solidFill>
                    <a:srgbClr val="1C1C1C"/>
                  </a:solidFill>
                  <a:latin typeface="Times New Roman" panose="02020603050405020304" pitchFamily="18" charset="0"/>
                </a:rPr>
                <a:t>1</a:t>
              </a:r>
            </a:p>
          </p:txBody>
        </p:sp>
        <p:sp>
          <p:nvSpPr>
            <p:cNvPr id="93" name="Text Box 111">
              <a:extLst>
                <a:ext uri="{FF2B5EF4-FFF2-40B4-BE49-F238E27FC236}">
                  <a16:creationId xmlns:a16="http://schemas.microsoft.com/office/drawing/2014/main" id="{B29776C8-5118-4F4D-AD9F-ECB15675AD9C}"/>
                </a:ext>
              </a:extLst>
            </p:cNvPr>
            <p:cNvSpPr txBox="1"/>
            <p:nvPr/>
          </p:nvSpPr>
          <p:spPr>
            <a:xfrm>
              <a:off x="3442" y="2020"/>
              <a:ext cx="336" cy="291"/>
            </a:xfrm>
            <a:prstGeom prst="rect">
              <a:avLst/>
            </a:prstGeom>
            <a:noFill/>
            <a:ln w="9525">
              <a:noFill/>
            </a:ln>
          </p:spPr>
          <p:txBody>
            <a:bodyPr>
              <a:spAutoFit/>
            </a:bodyPr>
            <a:lstStyle/>
            <a:p>
              <a:pPr eaLnBrk="1" hangingPunct="1">
                <a:spcBef>
                  <a:spcPct val="50000"/>
                </a:spcBef>
              </a:pPr>
              <a:r>
                <a:rPr lang="en-US" altLang="zh-CN" sz="2400" b="1" dirty="0">
                  <a:solidFill>
                    <a:srgbClr val="1C1C1C"/>
                  </a:solidFill>
                  <a:latin typeface="Times New Roman" panose="02020603050405020304" pitchFamily="18" charset="0"/>
                </a:rPr>
                <a:t>2</a:t>
              </a:r>
            </a:p>
          </p:txBody>
        </p:sp>
      </p:grpSp>
      <p:sp>
        <p:nvSpPr>
          <p:cNvPr id="43" name="矩形 42">
            <a:extLst>
              <a:ext uri="{FF2B5EF4-FFF2-40B4-BE49-F238E27FC236}">
                <a16:creationId xmlns:a16="http://schemas.microsoft.com/office/drawing/2014/main" id="{DBBFA369-B456-4289-87F0-FE15F1E7D2A8}"/>
              </a:ext>
            </a:extLst>
          </p:cNvPr>
          <p:cNvSpPr/>
          <p:nvPr/>
        </p:nvSpPr>
        <p:spPr>
          <a:xfrm>
            <a:off x="4561046" y="1148679"/>
            <a:ext cx="4498308" cy="523220"/>
          </a:xfrm>
          <a:prstGeom prst="rect">
            <a:avLst/>
          </a:prstGeom>
        </p:spPr>
        <p:txBody>
          <a:bodyPr wrap="square">
            <a:spAutoFit/>
          </a:bodyPr>
          <a:lstStyle/>
          <a:p>
            <a:pPr eaLnBrk="0" hangingPunct="0"/>
            <a:r>
              <a:rPr lang="en-US" altLang="zh-CN" sz="2800" dirty="0">
                <a:latin typeface="+mj-lt"/>
              </a:rPr>
              <a:t> - </a:t>
            </a:r>
            <a:r>
              <a:rPr lang="zh-CN" altLang="en-US" sz="2800" dirty="0">
                <a:latin typeface="+mj-lt"/>
              </a:rPr>
              <a:t>平衡态：</a:t>
            </a:r>
            <a:r>
              <a:rPr lang="en-US" altLang="zh-CN" sz="2800" i="1" dirty="0">
                <a:latin typeface="+mj-lt"/>
              </a:rPr>
              <a:t>T</a:t>
            </a:r>
            <a:r>
              <a:rPr lang="en-US" altLang="zh-CN" sz="2800" dirty="0">
                <a:latin typeface="+mj-lt"/>
              </a:rPr>
              <a:t> = </a:t>
            </a:r>
            <a:r>
              <a:rPr lang="en-US" altLang="zh-CN" sz="2800" i="1" dirty="0">
                <a:latin typeface="+mj-lt"/>
              </a:rPr>
              <a:t>f</a:t>
            </a:r>
            <a:r>
              <a:rPr lang="en-US" altLang="zh-CN" sz="2800" dirty="0">
                <a:latin typeface="+mj-lt"/>
              </a:rPr>
              <a:t> (</a:t>
            </a:r>
            <a:r>
              <a:rPr lang="en-US" altLang="zh-CN" sz="2800" i="1" dirty="0">
                <a:latin typeface="+mj-lt"/>
              </a:rPr>
              <a:t>p</a:t>
            </a:r>
            <a:r>
              <a:rPr lang="en-US" altLang="zh-CN" sz="2800" dirty="0">
                <a:latin typeface="+mj-lt"/>
              </a:rPr>
              <a:t>, </a:t>
            </a:r>
            <a:r>
              <a:rPr lang="en-US" altLang="zh-CN" sz="2800" i="1" dirty="0">
                <a:latin typeface="+mj-lt"/>
              </a:rPr>
              <a:t>V</a:t>
            </a:r>
            <a:r>
              <a:rPr lang="en-US" altLang="zh-CN" sz="2800" dirty="0">
                <a:latin typeface="+mj-lt"/>
              </a:rPr>
              <a:t>)</a:t>
            </a:r>
          </a:p>
        </p:txBody>
      </p:sp>
    </p:spTree>
    <p:extLst>
      <p:ext uri="{BB962C8B-B14F-4D97-AF65-F5344CB8AC3E}">
        <p14:creationId xmlns:p14="http://schemas.microsoft.com/office/powerpoint/2010/main" val="2283513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809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28" grpId="0" autoUpdateAnimBg="0"/>
      <p:bldP spid="80928" grpId="1"/>
      <p:bldP spid="48" grpId="0"/>
      <p:bldP spid="4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0930" name="Object 34">
                <a:extLst>
                  <a:ext uri="{FF2B5EF4-FFF2-40B4-BE49-F238E27FC236}">
                    <a16:creationId xmlns:a16="http://schemas.microsoft.com/office/drawing/2014/main" id="{B0D0CCAC-B952-0F03-8ADA-B2868E4BBE88}"/>
                  </a:ext>
                </a:extLst>
              </p:cNvPr>
              <p:cNvSpPr txBox="1"/>
              <p:nvPr/>
            </p:nvSpPr>
            <p:spPr bwMode="auto">
              <a:xfrm>
                <a:off x="5205467" y="1235319"/>
                <a:ext cx="5498696" cy="4762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3600" i="1">
                          <a:solidFill>
                            <a:srgbClr val="000000"/>
                          </a:solidFill>
                          <a:latin typeface="Cambria Math" panose="02040503050406030204" pitchFamily="18" charset="0"/>
                        </a:rPr>
                        <m:t>𝑑𝐴</m:t>
                      </m:r>
                      <m:r>
                        <a:rPr lang="zh-CN" altLang="en-US" sz="3600" i="1">
                          <a:solidFill>
                            <a:srgbClr val="000000"/>
                          </a:solidFill>
                          <a:latin typeface="Cambria Math" panose="02040503050406030204" pitchFamily="18" charset="0"/>
                        </a:rPr>
                        <m:t>=</m:t>
                      </m:r>
                      <m:r>
                        <a:rPr lang="zh-CN" altLang="en-US" sz="3600" i="1">
                          <a:solidFill>
                            <a:srgbClr val="000000"/>
                          </a:solidFill>
                          <a:latin typeface="Cambria Math" panose="02040503050406030204" pitchFamily="18" charset="0"/>
                        </a:rPr>
                        <m:t>𝐹𝑑𝑙</m:t>
                      </m:r>
                      <m:r>
                        <a:rPr lang="zh-CN" altLang="en-US" sz="3600" i="1">
                          <a:solidFill>
                            <a:srgbClr val="000000"/>
                          </a:solidFill>
                          <a:latin typeface="Cambria Math" panose="02040503050406030204" pitchFamily="18" charset="0"/>
                        </a:rPr>
                        <m:t>=</m:t>
                      </m:r>
                      <m:r>
                        <a:rPr lang="zh-CN" altLang="en-US" sz="3600" i="1">
                          <a:solidFill>
                            <a:srgbClr val="000000"/>
                          </a:solidFill>
                          <a:latin typeface="Cambria Math" panose="02040503050406030204" pitchFamily="18" charset="0"/>
                        </a:rPr>
                        <m:t>𝑃𝑆𝑑𝑙</m:t>
                      </m:r>
                      <m:r>
                        <a:rPr lang="zh-CN" altLang="en-US" sz="3600" i="1">
                          <a:solidFill>
                            <a:srgbClr val="000000"/>
                          </a:solidFill>
                          <a:latin typeface="Cambria Math" panose="02040503050406030204" pitchFamily="18" charset="0"/>
                        </a:rPr>
                        <m:t>=</m:t>
                      </m:r>
                      <m:r>
                        <a:rPr lang="zh-CN" altLang="en-US" sz="3600" i="1">
                          <a:solidFill>
                            <a:srgbClr val="000000"/>
                          </a:solidFill>
                          <a:latin typeface="Cambria Math" panose="02040503050406030204" pitchFamily="18" charset="0"/>
                        </a:rPr>
                        <m:t>𝑃𝑑𝑉</m:t>
                      </m:r>
                    </m:oMath>
                  </m:oMathPara>
                </a14:m>
                <a:endParaRPr lang="zh-CN" altLang="en-US" sz="3600" dirty="0"/>
              </a:p>
            </p:txBody>
          </p:sp>
        </mc:Choice>
        <mc:Fallback xmlns="">
          <p:sp>
            <p:nvSpPr>
              <p:cNvPr id="80930" name="Object 34">
                <a:extLst>
                  <a:ext uri="{FF2B5EF4-FFF2-40B4-BE49-F238E27FC236}">
                    <a16:creationId xmlns:a16="http://schemas.microsoft.com/office/drawing/2014/main" id="{B0D0CCAC-B952-0F03-8ADA-B2868E4BBE88}"/>
                  </a:ext>
                </a:extLst>
              </p:cNvPr>
              <p:cNvSpPr txBox="1">
                <a:spLocks noRot="1" noChangeAspect="1" noMove="1" noResize="1" noEditPoints="1" noAdjustHandles="1" noChangeArrowheads="1" noChangeShapeType="1" noTextEdit="1"/>
              </p:cNvSpPr>
              <p:nvPr/>
            </p:nvSpPr>
            <p:spPr bwMode="auto">
              <a:xfrm>
                <a:off x="5205467" y="1235319"/>
                <a:ext cx="5498696" cy="476250"/>
              </a:xfrm>
              <a:prstGeom prst="rect">
                <a:avLst/>
              </a:prstGeom>
              <a:blipFill>
                <a:blip r:embed="rId4"/>
                <a:stretch>
                  <a:fillRect b="-25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931" name="Object 35">
                <a:extLst>
                  <a:ext uri="{FF2B5EF4-FFF2-40B4-BE49-F238E27FC236}">
                    <a16:creationId xmlns:a16="http://schemas.microsoft.com/office/drawing/2014/main" id="{FFCE1F51-B452-2158-50D8-B56D1EBAF20A}"/>
                  </a:ext>
                </a:extLst>
              </p:cNvPr>
              <p:cNvSpPr txBox="1"/>
              <p:nvPr/>
            </p:nvSpPr>
            <p:spPr bwMode="auto">
              <a:xfrm>
                <a:off x="5790609" y="3507797"/>
                <a:ext cx="2901950" cy="10064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3000" i="1">
                          <a:solidFill>
                            <a:srgbClr val="000000"/>
                          </a:solidFill>
                          <a:latin typeface="Cambria Math" panose="02040503050406030204" pitchFamily="18" charset="0"/>
                        </a:rPr>
                        <m:t>𝐴</m:t>
                      </m:r>
                      <m:r>
                        <a:rPr lang="zh-CN" altLang="en-US" sz="3000" i="1">
                          <a:solidFill>
                            <a:srgbClr val="000000"/>
                          </a:solidFill>
                          <a:latin typeface="Cambria Math" panose="02040503050406030204" pitchFamily="18" charset="0"/>
                        </a:rPr>
                        <m:t>=</m:t>
                      </m:r>
                      <m:nary>
                        <m:naryPr>
                          <m:ctrlPr>
                            <a:rPr lang="zh-CN" altLang="en-US" sz="3000" i="1">
                              <a:solidFill>
                                <a:srgbClr val="000000"/>
                              </a:solidFill>
                              <a:latin typeface="Cambria Math" panose="02040503050406030204" pitchFamily="18" charset="0"/>
                            </a:rPr>
                          </m:ctrlPr>
                        </m:naryPr>
                        <m:sub>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𝑉</m:t>
                              </m:r>
                            </m:e>
                            <m:sub>
                              <m:r>
                                <a:rPr lang="zh-CN" altLang="en-US" sz="3000" i="1">
                                  <a:solidFill>
                                    <a:srgbClr val="000000"/>
                                  </a:solidFill>
                                  <a:latin typeface="Cambria Math" panose="02040503050406030204" pitchFamily="18" charset="0"/>
                                </a:rPr>
                                <m:t>1</m:t>
                              </m:r>
                            </m:sub>
                          </m:sSub>
                        </m:sub>
                        <m:sup>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𝑉</m:t>
                              </m:r>
                            </m:e>
                            <m:sub>
                              <m:r>
                                <a:rPr lang="zh-CN" altLang="en-US" sz="3000" i="1">
                                  <a:solidFill>
                                    <a:srgbClr val="000000"/>
                                  </a:solidFill>
                                  <a:latin typeface="Cambria Math" panose="02040503050406030204" pitchFamily="18" charset="0"/>
                                </a:rPr>
                                <m:t>2</m:t>
                              </m:r>
                            </m:sub>
                          </m:sSub>
                        </m:sup>
                        <m:e>
                          <m:r>
                            <a:rPr lang="zh-CN" altLang="en-US" sz="3000" i="1">
                              <a:solidFill>
                                <a:srgbClr val="000000"/>
                              </a:solidFill>
                              <a:latin typeface="Cambria Math" panose="02040503050406030204" pitchFamily="18" charset="0"/>
                            </a:rPr>
                            <m:t>𝑃𝑑𝑉</m:t>
                          </m:r>
                        </m:e>
                      </m:nary>
                    </m:oMath>
                  </m:oMathPara>
                </a14:m>
                <a:endParaRPr lang="zh-CN" altLang="en-US" sz="3000" dirty="0"/>
              </a:p>
            </p:txBody>
          </p:sp>
        </mc:Choice>
        <mc:Fallback xmlns="">
          <p:sp>
            <p:nvSpPr>
              <p:cNvPr id="80931" name="Object 35">
                <a:extLst>
                  <a:ext uri="{FF2B5EF4-FFF2-40B4-BE49-F238E27FC236}">
                    <a16:creationId xmlns:a16="http://schemas.microsoft.com/office/drawing/2014/main" id="{FFCE1F51-B452-2158-50D8-B56D1EBAF20A}"/>
                  </a:ext>
                </a:extLst>
              </p:cNvPr>
              <p:cNvSpPr txBox="1">
                <a:spLocks noRot="1" noChangeAspect="1" noMove="1" noResize="1" noEditPoints="1" noAdjustHandles="1" noChangeArrowheads="1" noChangeShapeType="1" noTextEdit="1"/>
              </p:cNvSpPr>
              <p:nvPr/>
            </p:nvSpPr>
            <p:spPr bwMode="auto">
              <a:xfrm>
                <a:off x="5790609" y="3507797"/>
                <a:ext cx="2901950" cy="1006475"/>
              </a:xfrm>
              <a:prstGeom prst="rect">
                <a:avLst/>
              </a:prstGeom>
              <a:blipFill>
                <a:blip r:embed="rId5"/>
                <a:stretch>
                  <a:fillRect b="-1144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932" name="Object 36">
                <a:extLst>
                  <a:ext uri="{FF2B5EF4-FFF2-40B4-BE49-F238E27FC236}">
                    <a16:creationId xmlns:a16="http://schemas.microsoft.com/office/drawing/2014/main" id="{E48DE6C3-2205-3DFD-CD97-10AFD34E721B}"/>
                  </a:ext>
                </a:extLst>
              </p:cNvPr>
              <p:cNvSpPr txBox="1"/>
              <p:nvPr/>
            </p:nvSpPr>
            <p:spPr bwMode="auto">
              <a:xfrm>
                <a:off x="5974517" y="2403167"/>
                <a:ext cx="2999001" cy="58578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600" i="1">
                              <a:solidFill>
                                <a:srgbClr val="000000"/>
                              </a:solidFill>
                              <a:latin typeface="Cambria Math" panose="02040503050406030204" pitchFamily="18" charset="0"/>
                            </a:rPr>
                          </m:ctrlPr>
                        </m:sSubPr>
                        <m:e>
                          <m:r>
                            <a:rPr lang="zh-CN" altLang="en-US" sz="3600" i="1">
                              <a:solidFill>
                                <a:srgbClr val="000000"/>
                              </a:solidFill>
                              <a:latin typeface="Cambria Math" panose="02040503050406030204" pitchFamily="18" charset="0"/>
                            </a:rPr>
                            <m:t>𝑉</m:t>
                          </m:r>
                        </m:e>
                        <m:sub>
                          <m:r>
                            <a:rPr lang="zh-CN" altLang="en-US" sz="3600" i="1">
                              <a:solidFill>
                                <a:srgbClr val="000000"/>
                              </a:solidFill>
                              <a:latin typeface="Cambria Math" panose="02040503050406030204" pitchFamily="18" charset="0"/>
                            </a:rPr>
                            <m:t>1</m:t>
                          </m:r>
                        </m:sub>
                      </m:sSub>
                      <m:r>
                        <a:rPr lang="zh-CN" altLang="en-US" sz="3600" i="1">
                          <a:solidFill>
                            <a:srgbClr val="000000"/>
                          </a:solidFill>
                          <a:latin typeface="Cambria Math" panose="02040503050406030204" pitchFamily="18" charset="0"/>
                        </a:rPr>
                        <m:t>→</m:t>
                      </m:r>
                      <m:sSub>
                        <m:sSubPr>
                          <m:ctrlPr>
                            <a:rPr lang="zh-CN" altLang="en-US" sz="3600" i="1">
                              <a:solidFill>
                                <a:srgbClr val="000000"/>
                              </a:solidFill>
                              <a:latin typeface="Cambria Math" panose="02040503050406030204" pitchFamily="18" charset="0"/>
                            </a:rPr>
                          </m:ctrlPr>
                        </m:sSubPr>
                        <m:e>
                          <m:r>
                            <a:rPr lang="zh-CN" altLang="en-US" sz="3600" i="1">
                              <a:solidFill>
                                <a:srgbClr val="000000"/>
                              </a:solidFill>
                              <a:latin typeface="Cambria Math" panose="02040503050406030204" pitchFamily="18" charset="0"/>
                            </a:rPr>
                            <m:t>𝑉</m:t>
                          </m:r>
                        </m:e>
                        <m:sub>
                          <m:r>
                            <a:rPr lang="zh-CN" altLang="en-US" sz="3600" i="1">
                              <a:solidFill>
                                <a:srgbClr val="000000"/>
                              </a:solidFill>
                              <a:latin typeface="Cambria Math" panose="02040503050406030204" pitchFamily="18" charset="0"/>
                            </a:rPr>
                            <m:t>2</m:t>
                          </m:r>
                        </m:sub>
                      </m:sSub>
                    </m:oMath>
                  </m:oMathPara>
                </a14:m>
                <a:endParaRPr lang="zh-CN" altLang="en-US" sz="3600" dirty="0"/>
              </a:p>
            </p:txBody>
          </p:sp>
        </mc:Choice>
        <mc:Fallback xmlns="">
          <p:sp>
            <p:nvSpPr>
              <p:cNvPr id="80932" name="Object 36">
                <a:extLst>
                  <a:ext uri="{FF2B5EF4-FFF2-40B4-BE49-F238E27FC236}">
                    <a16:creationId xmlns:a16="http://schemas.microsoft.com/office/drawing/2014/main" id="{E48DE6C3-2205-3DFD-CD97-10AFD34E721B}"/>
                  </a:ext>
                </a:extLst>
              </p:cNvPr>
              <p:cNvSpPr txBox="1">
                <a:spLocks noRot="1" noChangeAspect="1" noMove="1" noResize="1" noEditPoints="1" noAdjustHandles="1" noChangeArrowheads="1" noChangeShapeType="1" noTextEdit="1"/>
              </p:cNvSpPr>
              <p:nvPr/>
            </p:nvSpPr>
            <p:spPr bwMode="auto">
              <a:xfrm>
                <a:off x="5974517" y="2403167"/>
                <a:ext cx="2999001" cy="585787"/>
              </a:xfrm>
              <a:prstGeom prst="rect">
                <a:avLst/>
              </a:prstGeom>
              <a:blipFill>
                <a:blip r:embed="rId6"/>
                <a:stretch>
                  <a:fillRect/>
                </a:stretch>
              </a:blipFill>
            </p:spPr>
            <p:txBody>
              <a:bodyPr/>
              <a:lstStyle/>
              <a:p>
                <a:r>
                  <a:rPr lang="en-US">
                    <a:noFill/>
                  </a:rPr>
                  <a:t> </a:t>
                </a:r>
              </a:p>
            </p:txBody>
          </p:sp>
        </mc:Fallback>
      </mc:AlternateContent>
      <p:grpSp>
        <p:nvGrpSpPr>
          <p:cNvPr id="6" name="Group 37">
            <a:extLst>
              <a:ext uri="{FF2B5EF4-FFF2-40B4-BE49-F238E27FC236}">
                <a16:creationId xmlns:a16="http://schemas.microsoft.com/office/drawing/2014/main" id="{66F996A6-8A04-D932-8A96-4AA0C6F6AB88}"/>
              </a:ext>
            </a:extLst>
          </p:cNvPr>
          <p:cNvGrpSpPr>
            <a:grpSpLocks/>
          </p:cNvGrpSpPr>
          <p:nvPr/>
        </p:nvGrpSpPr>
        <p:grpSpPr bwMode="auto">
          <a:xfrm>
            <a:off x="1885626" y="2556361"/>
            <a:ext cx="609600" cy="823912"/>
            <a:chOff x="912" y="1248"/>
            <a:chExt cx="384" cy="519"/>
          </a:xfrm>
        </p:grpSpPr>
        <p:sp>
          <p:nvSpPr>
            <p:cNvPr id="3101" name="Line 38">
              <a:extLst>
                <a:ext uri="{FF2B5EF4-FFF2-40B4-BE49-F238E27FC236}">
                  <a16:creationId xmlns:a16="http://schemas.microsoft.com/office/drawing/2014/main" id="{81BD2BE6-9D27-9E08-4231-FAA2A08753E2}"/>
                </a:ext>
              </a:extLst>
            </p:cNvPr>
            <p:cNvSpPr>
              <a:spLocks noChangeShapeType="1"/>
            </p:cNvSpPr>
            <p:nvPr/>
          </p:nvSpPr>
          <p:spPr bwMode="auto">
            <a:xfrm>
              <a:off x="912" y="1248"/>
              <a:ext cx="0" cy="3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2" name="Line 39">
              <a:extLst>
                <a:ext uri="{FF2B5EF4-FFF2-40B4-BE49-F238E27FC236}">
                  <a16:creationId xmlns:a16="http://schemas.microsoft.com/office/drawing/2014/main" id="{9817D77F-77E5-C608-A0BC-C9BA7710C1D6}"/>
                </a:ext>
              </a:extLst>
            </p:cNvPr>
            <p:cNvSpPr>
              <a:spLocks noChangeShapeType="1"/>
            </p:cNvSpPr>
            <p:nvPr/>
          </p:nvSpPr>
          <p:spPr bwMode="auto">
            <a:xfrm>
              <a:off x="1248" y="1248"/>
              <a:ext cx="0"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3" name="Line 40">
              <a:extLst>
                <a:ext uri="{FF2B5EF4-FFF2-40B4-BE49-F238E27FC236}">
                  <a16:creationId xmlns:a16="http://schemas.microsoft.com/office/drawing/2014/main" id="{91C248D0-886C-75E8-B745-978CD7BF63CC}"/>
                </a:ext>
              </a:extLst>
            </p:cNvPr>
            <p:cNvSpPr>
              <a:spLocks noChangeShapeType="1"/>
            </p:cNvSpPr>
            <p:nvPr/>
          </p:nvSpPr>
          <p:spPr bwMode="auto">
            <a:xfrm>
              <a:off x="912" y="1488"/>
              <a:ext cx="336" cy="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4" name="Rectangle 41">
              <a:extLst>
                <a:ext uri="{FF2B5EF4-FFF2-40B4-BE49-F238E27FC236}">
                  <a16:creationId xmlns:a16="http://schemas.microsoft.com/office/drawing/2014/main" id="{FD86859B-01DC-88AA-76BB-F61B0638925F}"/>
                </a:ext>
              </a:extLst>
            </p:cNvPr>
            <p:cNvSpPr>
              <a:spLocks noChangeArrowheads="1"/>
            </p:cNvSpPr>
            <p:nvPr/>
          </p:nvSpPr>
          <p:spPr bwMode="auto">
            <a:xfrm>
              <a:off x="912" y="1440"/>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dl</a:t>
              </a:r>
              <a:endParaRPr lang="en-US" altLang="zh-CN" sz="1800"/>
            </a:p>
          </p:txBody>
        </p:sp>
      </p:grpSp>
      <p:grpSp>
        <p:nvGrpSpPr>
          <p:cNvPr id="7" name="Group 42">
            <a:extLst>
              <a:ext uri="{FF2B5EF4-FFF2-40B4-BE49-F238E27FC236}">
                <a16:creationId xmlns:a16="http://schemas.microsoft.com/office/drawing/2014/main" id="{B7C2B034-278D-3C04-4B37-399AA5531F48}"/>
              </a:ext>
            </a:extLst>
          </p:cNvPr>
          <p:cNvGrpSpPr>
            <a:grpSpLocks/>
          </p:cNvGrpSpPr>
          <p:nvPr/>
        </p:nvGrpSpPr>
        <p:grpSpPr bwMode="auto">
          <a:xfrm>
            <a:off x="971226" y="1260961"/>
            <a:ext cx="2965450" cy="1435100"/>
            <a:chOff x="336" y="2496"/>
            <a:chExt cx="1868" cy="904"/>
          </a:xfrm>
        </p:grpSpPr>
        <p:grpSp>
          <p:nvGrpSpPr>
            <p:cNvPr id="3090" name="Group 43">
              <a:extLst>
                <a:ext uri="{FF2B5EF4-FFF2-40B4-BE49-F238E27FC236}">
                  <a16:creationId xmlns:a16="http://schemas.microsoft.com/office/drawing/2014/main" id="{E43F7695-90D6-5F2A-E2D4-96249020D945}"/>
                </a:ext>
              </a:extLst>
            </p:cNvPr>
            <p:cNvGrpSpPr>
              <a:grpSpLocks/>
            </p:cNvGrpSpPr>
            <p:nvPr/>
          </p:nvGrpSpPr>
          <p:grpSpPr bwMode="auto">
            <a:xfrm>
              <a:off x="336" y="2496"/>
              <a:ext cx="1868" cy="904"/>
              <a:chOff x="532" y="2260"/>
              <a:chExt cx="1868" cy="904"/>
            </a:xfrm>
          </p:grpSpPr>
          <p:sp>
            <p:nvSpPr>
              <p:cNvPr id="3093" name="Rectangle 44" descr="浅色横线">
                <a:extLst>
                  <a:ext uri="{FF2B5EF4-FFF2-40B4-BE49-F238E27FC236}">
                    <a16:creationId xmlns:a16="http://schemas.microsoft.com/office/drawing/2014/main" id="{242EE085-0251-BB35-13AA-EC523EAF5A1F}"/>
                  </a:ext>
                </a:extLst>
              </p:cNvPr>
              <p:cNvSpPr>
                <a:spLocks noChangeArrowheads="1"/>
              </p:cNvSpPr>
              <p:nvPr/>
            </p:nvSpPr>
            <p:spPr bwMode="auto">
              <a:xfrm>
                <a:off x="1444" y="2356"/>
                <a:ext cx="280" cy="712"/>
              </a:xfrm>
              <a:prstGeom prst="rect">
                <a:avLst/>
              </a:prstGeom>
              <a:pattFill prst="lt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4" name="Rectangle 45" descr="深色横线">
                <a:extLst>
                  <a:ext uri="{FF2B5EF4-FFF2-40B4-BE49-F238E27FC236}">
                    <a16:creationId xmlns:a16="http://schemas.microsoft.com/office/drawing/2014/main" id="{42CBDA7A-274E-E99A-8615-94845423CE4B}"/>
                  </a:ext>
                </a:extLst>
              </p:cNvPr>
              <p:cNvSpPr>
                <a:spLocks noChangeArrowheads="1"/>
              </p:cNvSpPr>
              <p:nvPr/>
            </p:nvSpPr>
            <p:spPr bwMode="auto">
              <a:xfrm>
                <a:off x="1732" y="2644"/>
                <a:ext cx="664" cy="136"/>
              </a:xfrm>
              <a:prstGeom prst="rect">
                <a:avLst/>
              </a:prstGeom>
              <a:pattFill prst="dk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0942" name="Rectangle 46">
                <a:extLst>
                  <a:ext uri="{FF2B5EF4-FFF2-40B4-BE49-F238E27FC236}">
                    <a16:creationId xmlns:a16="http://schemas.microsoft.com/office/drawing/2014/main" id="{FB88F54F-C9DF-3FF1-5601-1D28FBCDD9CB}"/>
                  </a:ext>
                </a:extLst>
              </p:cNvPr>
              <p:cNvSpPr>
                <a:spLocks noChangeArrowheads="1"/>
              </p:cNvSpPr>
              <p:nvPr/>
            </p:nvSpPr>
            <p:spPr bwMode="auto">
              <a:xfrm>
                <a:off x="628" y="2356"/>
                <a:ext cx="808" cy="712"/>
              </a:xfrm>
              <a:prstGeom prst="rect">
                <a:avLst/>
              </a:prstGeom>
              <a:gradFill rotWithShape="0">
                <a:gsLst>
                  <a:gs pos="0">
                    <a:schemeClr val="tx1"/>
                  </a:gs>
                  <a:gs pos="100000">
                    <a:schemeClr val="tx1">
                      <a:gamma/>
                      <a:shade val="69804"/>
                      <a:invGamma/>
                    </a:schemeClr>
                  </a:gs>
                </a:gsLst>
                <a:lin ang="0" scaled="1"/>
              </a:gradFill>
              <a:ln w="12700">
                <a:solidFill>
                  <a:schemeClr val="tx1"/>
                </a:solidFill>
                <a:miter lim="800000"/>
                <a:headEnd/>
                <a:tailEnd/>
              </a:ln>
              <a:effectLst/>
            </p:spPr>
            <p:txBody>
              <a:bodyPr wrap="none" anchor="ctr"/>
              <a:lstStyle/>
              <a:p>
                <a:pPr>
                  <a:defRPr/>
                </a:pPr>
                <a:endParaRPr lang="zh-CN" altLang="en-US"/>
              </a:p>
            </p:txBody>
          </p:sp>
          <p:sp>
            <p:nvSpPr>
              <p:cNvPr id="3096" name="Rectangle 47" descr="宽下对角线">
                <a:extLst>
                  <a:ext uri="{FF2B5EF4-FFF2-40B4-BE49-F238E27FC236}">
                    <a16:creationId xmlns:a16="http://schemas.microsoft.com/office/drawing/2014/main" id="{A2791191-B8D0-54A2-FEFB-0A0BFF43C718}"/>
                  </a:ext>
                </a:extLst>
              </p:cNvPr>
              <p:cNvSpPr>
                <a:spLocks noChangeArrowheads="1"/>
              </p:cNvSpPr>
              <p:nvPr/>
            </p:nvSpPr>
            <p:spPr bwMode="auto">
              <a:xfrm>
                <a:off x="532" y="2356"/>
                <a:ext cx="88" cy="712"/>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7" name="Rectangle 48" descr="宽下对角线">
                <a:extLst>
                  <a:ext uri="{FF2B5EF4-FFF2-40B4-BE49-F238E27FC236}">
                    <a16:creationId xmlns:a16="http://schemas.microsoft.com/office/drawing/2014/main" id="{E96187C7-921C-77B2-6C18-F031D71B195B}"/>
                  </a:ext>
                </a:extLst>
              </p:cNvPr>
              <p:cNvSpPr>
                <a:spLocks noChangeArrowheads="1"/>
              </p:cNvSpPr>
              <p:nvPr/>
            </p:nvSpPr>
            <p:spPr bwMode="auto">
              <a:xfrm>
                <a:off x="532" y="2260"/>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8" name="Rectangle 49" descr="宽下对角线">
                <a:extLst>
                  <a:ext uri="{FF2B5EF4-FFF2-40B4-BE49-F238E27FC236}">
                    <a16:creationId xmlns:a16="http://schemas.microsoft.com/office/drawing/2014/main" id="{DBE5D245-F877-141A-7A21-2BC27531927E}"/>
                  </a:ext>
                </a:extLst>
              </p:cNvPr>
              <p:cNvSpPr>
                <a:spLocks noChangeArrowheads="1"/>
              </p:cNvSpPr>
              <p:nvPr/>
            </p:nvSpPr>
            <p:spPr bwMode="auto">
              <a:xfrm>
                <a:off x="532" y="3076"/>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99" name="Rectangle 50">
                <a:extLst>
                  <a:ext uri="{FF2B5EF4-FFF2-40B4-BE49-F238E27FC236}">
                    <a16:creationId xmlns:a16="http://schemas.microsoft.com/office/drawing/2014/main" id="{40425F20-B997-676A-B123-BCC4D5B73A48}"/>
                  </a:ext>
                </a:extLst>
              </p:cNvPr>
              <p:cNvSpPr>
                <a:spLocks noChangeArrowheads="1"/>
              </p:cNvSpPr>
              <p:nvPr/>
            </p:nvSpPr>
            <p:spPr bwMode="auto">
              <a:xfrm>
                <a:off x="1814" y="2342"/>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sz="2400" i="1"/>
                  <a:t>u</a:t>
                </a:r>
                <a:endParaRPr lang="en-US" altLang="zh-CN" sz="2400"/>
              </a:p>
            </p:txBody>
          </p:sp>
          <p:sp>
            <p:nvSpPr>
              <p:cNvPr id="3100" name="Line 51">
                <a:extLst>
                  <a:ext uri="{FF2B5EF4-FFF2-40B4-BE49-F238E27FC236}">
                    <a16:creationId xmlns:a16="http://schemas.microsoft.com/office/drawing/2014/main" id="{315B321C-431E-A928-2FCA-5BDF21A75E72}"/>
                  </a:ext>
                </a:extLst>
              </p:cNvPr>
              <p:cNvSpPr>
                <a:spLocks noChangeShapeType="1"/>
              </p:cNvSpPr>
              <p:nvPr/>
            </p:nvSpPr>
            <p:spPr bwMode="auto">
              <a:xfrm>
                <a:off x="2064" y="2496"/>
                <a:ext cx="336" cy="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91" name="Text Box 52">
              <a:extLst>
                <a:ext uri="{FF2B5EF4-FFF2-40B4-BE49-F238E27FC236}">
                  <a16:creationId xmlns:a16="http://schemas.microsoft.com/office/drawing/2014/main" id="{2577DD52-3FB0-9C10-FF71-8DA5DE317B9E}"/>
                </a:ext>
              </a:extLst>
            </p:cNvPr>
            <p:cNvSpPr txBox="1">
              <a:spLocks noChangeArrowheads="1"/>
            </p:cNvSpPr>
            <p:nvPr/>
          </p:nvSpPr>
          <p:spPr bwMode="auto">
            <a:xfrm>
              <a:off x="1526" y="297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t>S</a:t>
              </a:r>
              <a:endParaRPr lang="en-US" altLang="zh-CN" dirty="0"/>
            </a:p>
          </p:txBody>
        </p:sp>
        <p:sp>
          <p:nvSpPr>
            <p:cNvPr id="3092" name="Text Box 53">
              <a:extLst>
                <a:ext uri="{FF2B5EF4-FFF2-40B4-BE49-F238E27FC236}">
                  <a16:creationId xmlns:a16="http://schemas.microsoft.com/office/drawing/2014/main" id="{0BB590D6-30B4-664A-CC2F-5341E92AD224}"/>
                </a:ext>
              </a:extLst>
            </p:cNvPr>
            <p:cNvSpPr txBox="1">
              <a:spLocks noChangeArrowheads="1"/>
            </p:cNvSpPr>
            <p:nvPr/>
          </p:nvSpPr>
          <p:spPr bwMode="auto">
            <a:xfrm>
              <a:off x="528" y="2832"/>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0000"/>
                  </a:solidFill>
                </a:rPr>
                <a:t>P</a:t>
              </a:r>
              <a:endParaRPr lang="en-US" altLang="zh-CN" i="1"/>
            </a:p>
          </p:txBody>
        </p:sp>
      </p:grpSp>
      <p:grpSp>
        <p:nvGrpSpPr>
          <p:cNvPr id="9" name="Group 54">
            <a:extLst>
              <a:ext uri="{FF2B5EF4-FFF2-40B4-BE49-F238E27FC236}">
                <a16:creationId xmlns:a16="http://schemas.microsoft.com/office/drawing/2014/main" id="{BBE2B7A2-870D-2881-7CBA-0FCE316F77F6}"/>
              </a:ext>
            </a:extLst>
          </p:cNvPr>
          <p:cNvGrpSpPr>
            <a:grpSpLocks/>
          </p:cNvGrpSpPr>
          <p:nvPr/>
        </p:nvGrpSpPr>
        <p:grpSpPr bwMode="auto">
          <a:xfrm>
            <a:off x="1885626" y="1413361"/>
            <a:ext cx="1511300" cy="1130300"/>
            <a:chOff x="2544" y="672"/>
            <a:chExt cx="952" cy="712"/>
          </a:xfrm>
        </p:grpSpPr>
        <p:sp>
          <p:nvSpPr>
            <p:cNvPr id="3088" name="Rectangle 55" descr="浅色横线">
              <a:extLst>
                <a:ext uri="{FF2B5EF4-FFF2-40B4-BE49-F238E27FC236}">
                  <a16:creationId xmlns:a16="http://schemas.microsoft.com/office/drawing/2014/main" id="{51FA5E8C-3811-6841-7E77-26D19932836F}"/>
                </a:ext>
              </a:extLst>
            </p:cNvPr>
            <p:cNvSpPr>
              <a:spLocks noChangeArrowheads="1"/>
            </p:cNvSpPr>
            <p:nvPr/>
          </p:nvSpPr>
          <p:spPr bwMode="auto">
            <a:xfrm>
              <a:off x="2544" y="672"/>
              <a:ext cx="280" cy="712"/>
            </a:xfrm>
            <a:prstGeom prst="rect">
              <a:avLst/>
            </a:prstGeom>
            <a:pattFill prst="lt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89" name="Rectangle 56" descr="深色横线">
              <a:extLst>
                <a:ext uri="{FF2B5EF4-FFF2-40B4-BE49-F238E27FC236}">
                  <a16:creationId xmlns:a16="http://schemas.microsoft.com/office/drawing/2014/main" id="{CB93316E-09C8-3224-94B4-C6C118FD810B}"/>
                </a:ext>
              </a:extLst>
            </p:cNvPr>
            <p:cNvSpPr>
              <a:spLocks noChangeArrowheads="1"/>
            </p:cNvSpPr>
            <p:nvPr/>
          </p:nvSpPr>
          <p:spPr bwMode="auto">
            <a:xfrm>
              <a:off x="2832" y="960"/>
              <a:ext cx="664" cy="136"/>
            </a:xfrm>
            <a:prstGeom prst="rect">
              <a:avLst/>
            </a:prstGeom>
            <a:pattFill prst="dk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7" name="Text Box 13">
            <a:hlinkClick r:id="" action="ppaction://noaction"/>
            <a:extLst>
              <a:ext uri="{FF2B5EF4-FFF2-40B4-BE49-F238E27FC236}">
                <a16:creationId xmlns:a16="http://schemas.microsoft.com/office/drawing/2014/main" id="{3DAAF269-8441-43BB-B865-A1EB0B9BFE95}"/>
              </a:ext>
            </a:extLst>
          </p:cNvPr>
          <p:cNvSpPr txBox="1">
            <a:spLocks noChangeArrowheads="1"/>
          </p:cNvSpPr>
          <p:nvPr/>
        </p:nvSpPr>
        <p:spPr bwMode="auto">
          <a:xfrm>
            <a:off x="507277" y="282002"/>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zh-CN" altLang="en-US" sz="3200" dirty="0">
                <a:solidFill>
                  <a:srgbClr val="0066FF"/>
                </a:solidFill>
                <a:latin typeface="+mn-lt"/>
                <a:ea typeface="+mn-ea"/>
                <a:cs typeface="Times New Roman" panose="02020603050405020304" pitchFamily="18" charset="0"/>
              </a:rPr>
              <a:t>功</a:t>
            </a:r>
          </a:p>
        </p:txBody>
      </p:sp>
      <p:sp>
        <p:nvSpPr>
          <p:cNvPr id="116" name="Text Box 3">
            <a:extLst>
              <a:ext uri="{FF2B5EF4-FFF2-40B4-BE49-F238E27FC236}">
                <a16:creationId xmlns:a16="http://schemas.microsoft.com/office/drawing/2014/main" id="{7F9A4F70-EE87-4489-999A-96AAE0F7EDC7}"/>
              </a:ext>
            </a:extLst>
          </p:cNvPr>
          <p:cNvSpPr txBox="1"/>
          <p:nvPr/>
        </p:nvSpPr>
        <p:spPr>
          <a:xfrm>
            <a:off x="4700262" y="4758486"/>
            <a:ext cx="5880016" cy="1093633"/>
          </a:xfrm>
          <a:prstGeom prst="rect">
            <a:avLst/>
          </a:prstGeom>
          <a:noFill/>
          <a:ln w="9525">
            <a:noFill/>
          </a:ln>
        </p:spPr>
        <p:txBody>
          <a:bodyPr wrap="square">
            <a:spAutoFit/>
          </a:bodyPr>
          <a:lstStyle/>
          <a:p>
            <a:pPr eaLnBrk="1" hangingPunct="1">
              <a:lnSpc>
                <a:spcPct val="120000"/>
              </a:lnSpc>
              <a:spcBef>
                <a:spcPct val="50000"/>
              </a:spcBef>
            </a:pPr>
            <a:r>
              <a:rPr lang="en-US" altLang="zh-CN" sz="2800" dirty="0">
                <a:solidFill>
                  <a:srgbClr val="080808"/>
                </a:solidFill>
                <a:latin typeface="+mn-ea"/>
              </a:rPr>
              <a:t>- </a:t>
            </a:r>
            <a:r>
              <a:rPr lang="zh-CN" altLang="en-US" sz="2800" dirty="0">
                <a:solidFill>
                  <a:srgbClr val="080808"/>
                </a:solidFill>
                <a:latin typeface="+mn-ea"/>
              </a:rPr>
              <a:t>功是能量传递和转换的量度，它引起系统热运动状态的变化。</a:t>
            </a:r>
            <a:endParaRPr lang="en-US" altLang="zh-CN" sz="2800" dirty="0">
              <a:solidFill>
                <a:srgbClr val="080808"/>
              </a:solidFill>
              <a:latin typeface="+mn-ea"/>
            </a:endParaRPr>
          </a:p>
        </p:txBody>
      </p:sp>
      <p:sp>
        <p:nvSpPr>
          <p:cNvPr id="2" name="矩形 1">
            <a:extLst>
              <a:ext uri="{FF2B5EF4-FFF2-40B4-BE49-F238E27FC236}">
                <a16:creationId xmlns:a16="http://schemas.microsoft.com/office/drawing/2014/main" id="{C4902DBE-DA6F-450A-AD86-C3ED82A3DD57}"/>
              </a:ext>
            </a:extLst>
          </p:cNvPr>
          <p:cNvSpPr/>
          <p:nvPr/>
        </p:nvSpPr>
        <p:spPr>
          <a:xfrm>
            <a:off x="4700262" y="5849168"/>
            <a:ext cx="7510807" cy="954107"/>
          </a:xfrm>
          <a:prstGeom prst="rect">
            <a:avLst/>
          </a:prstGeom>
        </p:spPr>
        <p:txBody>
          <a:bodyPr wrap="square">
            <a:spAutoFit/>
          </a:bodyPr>
          <a:lstStyle/>
          <a:p>
            <a:r>
              <a:rPr lang="en-US" altLang="zh-CN" sz="2800" dirty="0">
                <a:solidFill>
                  <a:srgbClr val="080808"/>
                </a:solidFill>
                <a:latin typeface="+mn-ea"/>
              </a:rPr>
              <a:t>- </a:t>
            </a:r>
            <a:r>
              <a:rPr lang="zh-CN" altLang="en-US" sz="2800" dirty="0">
                <a:solidFill>
                  <a:srgbClr val="080808"/>
                </a:solidFill>
                <a:latin typeface="+mn-ea"/>
              </a:rPr>
              <a:t>作功与过程有关</a:t>
            </a:r>
            <a:br>
              <a:rPr lang="en-US" altLang="zh-CN" sz="2800" dirty="0">
                <a:solidFill>
                  <a:srgbClr val="080808"/>
                </a:solidFill>
                <a:latin typeface="+mn-ea"/>
              </a:rPr>
            </a:br>
            <a:r>
              <a:rPr lang="zh-CN" altLang="en-US" sz="2800" dirty="0">
                <a:solidFill>
                  <a:srgbClr val="080808"/>
                </a:solidFill>
                <a:latin typeface="+mn-ea"/>
              </a:rPr>
              <a:t>气体膨胀，外界对气体做负功 </a:t>
            </a:r>
            <a:endParaRPr lang="en-US" sz="2800" dirty="0">
              <a:latin typeface="+mn-ea"/>
            </a:endParaRPr>
          </a:p>
        </p:txBody>
      </p:sp>
      <p:grpSp>
        <p:nvGrpSpPr>
          <p:cNvPr id="50" name="Group 90">
            <a:extLst>
              <a:ext uri="{FF2B5EF4-FFF2-40B4-BE49-F238E27FC236}">
                <a16:creationId xmlns:a16="http://schemas.microsoft.com/office/drawing/2014/main" id="{D614A56D-2B3B-49AE-A5CE-64ADF0AD7AD2}"/>
              </a:ext>
            </a:extLst>
          </p:cNvPr>
          <p:cNvGrpSpPr/>
          <p:nvPr/>
        </p:nvGrpSpPr>
        <p:grpSpPr>
          <a:xfrm>
            <a:off x="873315" y="3022399"/>
            <a:ext cx="3675063" cy="3160713"/>
            <a:chOff x="2773" y="1849"/>
            <a:chExt cx="2315" cy="1991"/>
          </a:xfrm>
        </p:grpSpPr>
        <p:sp>
          <p:nvSpPr>
            <p:cNvPr id="51" name="Line 91">
              <a:extLst>
                <a:ext uri="{FF2B5EF4-FFF2-40B4-BE49-F238E27FC236}">
                  <a16:creationId xmlns:a16="http://schemas.microsoft.com/office/drawing/2014/main" id="{E5078491-88E0-40B7-8250-4F852A3DB52D}"/>
                </a:ext>
              </a:extLst>
            </p:cNvPr>
            <p:cNvSpPr/>
            <p:nvPr/>
          </p:nvSpPr>
          <p:spPr>
            <a:xfrm>
              <a:off x="3091" y="3552"/>
              <a:ext cx="1776" cy="0"/>
            </a:xfrm>
            <a:prstGeom prst="line">
              <a:avLst/>
            </a:prstGeom>
            <a:ln w="19050" cap="flat" cmpd="sng">
              <a:solidFill>
                <a:srgbClr val="080808"/>
              </a:solidFill>
              <a:prstDash val="solid"/>
              <a:headEnd type="none" w="med" len="med"/>
              <a:tailEnd type="triangle" w="sm" len="lg"/>
            </a:ln>
          </p:spPr>
        </p:sp>
        <p:sp>
          <p:nvSpPr>
            <p:cNvPr id="52" name="Line 92">
              <a:extLst>
                <a:ext uri="{FF2B5EF4-FFF2-40B4-BE49-F238E27FC236}">
                  <a16:creationId xmlns:a16="http://schemas.microsoft.com/office/drawing/2014/main" id="{996AE363-B83D-4A66-B9D1-BB963AB0BF68}"/>
                </a:ext>
              </a:extLst>
            </p:cNvPr>
            <p:cNvSpPr/>
            <p:nvPr/>
          </p:nvSpPr>
          <p:spPr>
            <a:xfrm flipV="1">
              <a:off x="3091" y="1920"/>
              <a:ext cx="0" cy="1632"/>
            </a:xfrm>
            <a:prstGeom prst="line">
              <a:avLst/>
            </a:prstGeom>
            <a:ln w="19050" cap="flat" cmpd="sng">
              <a:solidFill>
                <a:srgbClr val="080808"/>
              </a:solidFill>
              <a:prstDash val="solid"/>
              <a:headEnd type="none" w="med" len="med"/>
              <a:tailEnd type="triangle" w="sm" len="lg"/>
            </a:ln>
          </p:spPr>
        </p:sp>
        <p:sp>
          <p:nvSpPr>
            <p:cNvPr id="53" name="Oval 93">
              <a:extLst>
                <a:ext uri="{FF2B5EF4-FFF2-40B4-BE49-F238E27FC236}">
                  <a16:creationId xmlns:a16="http://schemas.microsoft.com/office/drawing/2014/main" id="{365D7972-55B5-47A3-9D16-446E5AE2CD8F}"/>
                </a:ext>
              </a:extLst>
            </p:cNvPr>
            <p:cNvSpPr/>
            <p:nvPr/>
          </p:nvSpPr>
          <p:spPr>
            <a:xfrm>
              <a:off x="3523" y="2352"/>
              <a:ext cx="48" cy="48"/>
            </a:xfrm>
            <a:prstGeom prst="ellipse">
              <a:avLst/>
            </a:prstGeom>
            <a:solidFill>
              <a:srgbClr val="CC0000"/>
            </a:solidFill>
            <a:ln w="9525" cap="flat" cmpd="sng">
              <a:solidFill>
                <a:schemeClr val="tx1"/>
              </a:solidFill>
              <a:prstDash val="solid"/>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p:sp>
          <p:nvSpPr>
            <p:cNvPr id="54" name="Oval 94">
              <a:extLst>
                <a:ext uri="{FF2B5EF4-FFF2-40B4-BE49-F238E27FC236}">
                  <a16:creationId xmlns:a16="http://schemas.microsoft.com/office/drawing/2014/main" id="{8C201BE8-1260-4B9E-9CEB-FB3E8D2BC491}"/>
                </a:ext>
              </a:extLst>
            </p:cNvPr>
            <p:cNvSpPr/>
            <p:nvPr/>
          </p:nvSpPr>
          <p:spPr>
            <a:xfrm>
              <a:off x="4147" y="3024"/>
              <a:ext cx="48" cy="48"/>
            </a:xfrm>
            <a:prstGeom prst="ellipse">
              <a:avLst/>
            </a:prstGeom>
            <a:solidFill>
              <a:srgbClr val="CC0000"/>
            </a:solidFill>
            <a:ln w="9525" cap="flat" cmpd="sng">
              <a:solidFill>
                <a:schemeClr val="tx1"/>
              </a:solidFill>
              <a:prstDash val="solid"/>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55" name="Object 95">
                  <a:extLst>
                    <a:ext uri="{FF2B5EF4-FFF2-40B4-BE49-F238E27FC236}">
                      <a16:creationId xmlns:a16="http://schemas.microsoft.com/office/drawing/2014/main" id="{AC37294F-7EE0-43CE-9DD9-7B03CFDB68A7}"/>
                    </a:ext>
                  </a:extLst>
                </p:cNvPr>
                <p:cNvSpPr txBox="1"/>
                <p:nvPr/>
              </p:nvSpPr>
              <p:spPr>
                <a:xfrm>
                  <a:off x="4128" y="2675"/>
                  <a:ext cx="960" cy="29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55" name="Object 95">
                  <a:extLst>
                    <a:ext uri="{FF2B5EF4-FFF2-40B4-BE49-F238E27FC236}">
                      <a16:creationId xmlns:a16="http://schemas.microsoft.com/office/drawing/2014/main" id="{AC37294F-7EE0-43CE-9DD9-7B03CFDB68A7}"/>
                    </a:ext>
                  </a:extLst>
                </p:cNvPr>
                <p:cNvSpPr txBox="1">
                  <a:spLocks noRot="1" noChangeAspect="1" noMove="1" noResize="1" noEditPoints="1" noAdjustHandles="1" noChangeArrowheads="1" noChangeShapeType="1" noTextEdit="1"/>
                </p:cNvSpPr>
                <p:nvPr/>
              </p:nvSpPr>
              <p:spPr>
                <a:xfrm>
                  <a:off x="4128" y="2675"/>
                  <a:ext cx="960" cy="291"/>
                </a:xfrm>
                <a:prstGeom prst="rect">
                  <a:avLst/>
                </a:prstGeom>
                <a:blipFill>
                  <a:blip r:embed="rId7"/>
                  <a:stretch>
                    <a:fillRect l="-3200" r="-4000" b="-18421"/>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bject 96">
                  <a:extLst>
                    <a:ext uri="{FF2B5EF4-FFF2-40B4-BE49-F238E27FC236}">
                      <a16:creationId xmlns:a16="http://schemas.microsoft.com/office/drawing/2014/main" id="{996AF598-1522-456B-A355-46F6B93AF805}"/>
                    </a:ext>
                  </a:extLst>
                </p:cNvPr>
                <p:cNvSpPr txBox="1"/>
                <p:nvPr/>
              </p:nvSpPr>
              <p:spPr>
                <a:xfrm>
                  <a:off x="3571" y="2112"/>
                  <a:ext cx="1055" cy="29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56" name="Object 96">
                  <a:extLst>
                    <a:ext uri="{FF2B5EF4-FFF2-40B4-BE49-F238E27FC236}">
                      <a16:creationId xmlns:a16="http://schemas.microsoft.com/office/drawing/2014/main" id="{996AF598-1522-456B-A355-46F6B93AF805}"/>
                    </a:ext>
                  </a:extLst>
                </p:cNvPr>
                <p:cNvSpPr txBox="1">
                  <a:spLocks noRot="1" noChangeAspect="1" noMove="1" noResize="1" noEditPoints="1" noAdjustHandles="1" noChangeArrowheads="1" noChangeShapeType="1" noTextEdit="1"/>
                </p:cNvSpPr>
                <p:nvPr/>
              </p:nvSpPr>
              <p:spPr>
                <a:xfrm>
                  <a:off x="3571" y="2112"/>
                  <a:ext cx="1055" cy="291"/>
                </a:xfrm>
                <a:prstGeom prst="rect">
                  <a:avLst/>
                </a:prstGeom>
                <a:blipFill>
                  <a:blip r:embed="rId8"/>
                  <a:stretch>
                    <a:fillRect b="-18421"/>
                  </a:stretch>
                </a:blipFill>
                <a:ln w="38100">
                  <a:noFill/>
                  <a:miter/>
                </a:ln>
              </p:spPr>
              <p:txBody>
                <a:bodyPr/>
                <a:lstStyle/>
                <a:p>
                  <a:r>
                    <a:rPr lang="en-US">
                      <a:noFill/>
                    </a:rPr>
                    <a:t> </a:t>
                  </a:r>
                </a:p>
              </p:txBody>
            </p:sp>
          </mc:Fallback>
        </mc:AlternateContent>
        <p:sp>
          <p:nvSpPr>
            <p:cNvPr id="57" name="Line 97">
              <a:extLst>
                <a:ext uri="{FF2B5EF4-FFF2-40B4-BE49-F238E27FC236}">
                  <a16:creationId xmlns:a16="http://schemas.microsoft.com/office/drawing/2014/main" id="{358BBD67-AABB-4968-BB64-41DD2539BB55}"/>
                </a:ext>
              </a:extLst>
            </p:cNvPr>
            <p:cNvSpPr/>
            <p:nvPr/>
          </p:nvSpPr>
          <p:spPr>
            <a:xfrm>
              <a:off x="3552" y="2352"/>
              <a:ext cx="0" cy="1200"/>
            </a:xfrm>
            <a:prstGeom prst="line">
              <a:avLst/>
            </a:prstGeom>
            <a:ln w="12700" cap="flat" cmpd="sng">
              <a:solidFill>
                <a:srgbClr val="080808"/>
              </a:solidFill>
              <a:prstDash val="dash"/>
              <a:headEnd type="none" w="med" len="med"/>
              <a:tailEnd type="none" w="med" len="med"/>
            </a:ln>
          </p:spPr>
        </p:sp>
        <p:sp>
          <p:nvSpPr>
            <p:cNvPr id="58" name="Line 98">
              <a:extLst>
                <a:ext uri="{FF2B5EF4-FFF2-40B4-BE49-F238E27FC236}">
                  <a16:creationId xmlns:a16="http://schemas.microsoft.com/office/drawing/2014/main" id="{8050FB20-B6BF-46D3-B557-AE57F813CFDF}"/>
                </a:ext>
              </a:extLst>
            </p:cNvPr>
            <p:cNvSpPr/>
            <p:nvPr/>
          </p:nvSpPr>
          <p:spPr>
            <a:xfrm>
              <a:off x="4195" y="3072"/>
              <a:ext cx="0" cy="480"/>
            </a:xfrm>
            <a:prstGeom prst="line">
              <a:avLst/>
            </a:prstGeom>
            <a:ln w="12700" cap="flat" cmpd="sng">
              <a:solidFill>
                <a:srgbClr val="080808"/>
              </a:solidFill>
              <a:prstDash val="dash"/>
              <a:headEnd type="none" w="med" len="med"/>
              <a:tailEnd type="none" w="med" len="med"/>
            </a:ln>
          </p:spPr>
        </p:sp>
        <p:sp>
          <p:nvSpPr>
            <p:cNvPr id="59" name="Line 99">
              <a:extLst>
                <a:ext uri="{FF2B5EF4-FFF2-40B4-BE49-F238E27FC236}">
                  <a16:creationId xmlns:a16="http://schemas.microsoft.com/office/drawing/2014/main" id="{B0FB01D1-60AC-433A-A3E4-AB0EC3F5AD39}"/>
                </a:ext>
              </a:extLst>
            </p:cNvPr>
            <p:cNvSpPr/>
            <p:nvPr/>
          </p:nvSpPr>
          <p:spPr>
            <a:xfrm flipH="1">
              <a:off x="3091" y="2352"/>
              <a:ext cx="480" cy="0"/>
            </a:xfrm>
            <a:prstGeom prst="line">
              <a:avLst/>
            </a:prstGeom>
            <a:ln w="12700" cap="flat" cmpd="sng">
              <a:solidFill>
                <a:srgbClr val="080808"/>
              </a:solidFill>
              <a:prstDash val="dash"/>
              <a:headEnd type="none" w="med" len="med"/>
              <a:tailEnd type="none" w="med" len="med"/>
            </a:ln>
          </p:spPr>
        </p:sp>
        <p:sp>
          <p:nvSpPr>
            <p:cNvPr id="60" name="Line 100">
              <a:extLst>
                <a:ext uri="{FF2B5EF4-FFF2-40B4-BE49-F238E27FC236}">
                  <a16:creationId xmlns:a16="http://schemas.microsoft.com/office/drawing/2014/main" id="{33BA19D2-1FFD-44B8-93F3-004BCC8CB704}"/>
                </a:ext>
              </a:extLst>
            </p:cNvPr>
            <p:cNvSpPr/>
            <p:nvPr/>
          </p:nvSpPr>
          <p:spPr>
            <a:xfrm flipH="1">
              <a:off x="3091" y="3072"/>
              <a:ext cx="1104" cy="0"/>
            </a:xfrm>
            <a:prstGeom prst="line">
              <a:avLst/>
            </a:prstGeom>
            <a:ln w="12700" cap="flat" cmpd="sng">
              <a:solidFill>
                <a:srgbClr val="080808"/>
              </a:solidFill>
              <a:prstDash val="dash"/>
              <a:headEnd type="none" w="med" len="med"/>
              <a:tailEnd type="none" w="med" len="med"/>
            </a:ln>
          </p:spPr>
        </p:sp>
        <mc:AlternateContent xmlns:mc="http://schemas.openxmlformats.org/markup-compatibility/2006" xmlns:a14="http://schemas.microsoft.com/office/drawing/2010/main">
          <mc:Choice Requires="a14">
            <p:sp>
              <p:nvSpPr>
                <p:cNvPr id="61" name="Object 101">
                  <a:extLst>
                    <a:ext uri="{FF2B5EF4-FFF2-40B4-BE49-F238E27FC236}">
                      <a16:creationId xmlns:a16="http://schemas.microsoft.com/office/drawing/2014/main" id="{4087C34C-3BBE-4692-99E0-353AE448212F}"/>
                    </a:ext>
                  </a:extLst>
                </p:cNvPr>
                <p:cNvSpPr txBox="1"/>
                <p:nvPr/>
              </p:nvSpPr>
              <p:spPr>
                <a:xfrm>
                  <a:off x="3469" y="3552"/>
                  <a:ext cx="207" cy="2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b="0" i="1" smtClean="0">
                                <a:solidFill>
                                  <a:srgbClr val="000000"/>
                                </a:solidFill>
                                <a:latin typeface="Cambria Math" panose="02040503050406030204" pitchFamily="18" charset="0"/>
                              </a:rPr>
                              <m:t>2</m:t>
                            </m:r>
                          </m:sub>
                        </m:sSub>
                      </m:oMath>
                    </m:oMathPara>
                  </a14:m>
                  <a:endParaRPr lang="en-US" sz="2400" dirty="0"/>
                </a:p>
              </p:txBody>
            </p:sp>
          </mc:Choice>
          <mc:Fallback xmlns="">
            <p:sp>
              <p:nvSpPr>
                <p:cNvPr id="61" name="Object 101">
                  <a:extLst>
                    <a:ext uri="{FF2B5EF4-FFF2-40B4-BE49-F238E27FC236}">
                      <a16:creationId xmlns:a16="http://schemas.microsoft.com/office/drawing/2014/main" id="{4087C34C-3BBE-4692-99E0-353AE448212F}"/>
                    </a:ext>
                  </a:extLst>
                </p:cNvPr>
                <p:cNvSpPr txBox="1">
                  <a:spLocks noRot="1" noChangeAspect="1" noMove="1" noResize="1" noEditPoints="1" noAdjustHandles="1" noChangeArrowheads="1" noChangeShapeType="1" noTextEdit="1"/>
                </p:cNvSpPr>
                <p:nvPr/>
              </p:nvSpPr>
              <p:spPr>
                <a:xfrm>
                  <a:off x="3469" y="3552"/>
                  <a:ext cx="207" cy="288"/>
                </a:xfrm>
                <a:prstGeom prst="rect">
                  <a:avLst/>
                </a:prstGeom>
                <a:blipFill>
                  <a:blip r:embed="rId9"/>
                  <a:stretch>
                    <a:fillRect l="-5660" r="-35849" b="-4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Object 102">
                  <a:extLst>
                    <a:ext uri="{FF2B5EF4-FFF2-40B4-BE49-F238E27FC236}">
                      <a16:creationId xmlns:a16="http://schemas.microsoft.com/office/drawing/2014/main" id="{19846EBD-1631-402F-ABCA-A5E9C8E03E08}"/>
                    </a:ext>
                  </a:extLst>
                </p:cNvPr>
                <p:cNvSpPr txBox="1"/>
                <p:nvPr/>
              </p:nvSpPr>
              <p:spPr>
                <a:xfrm>
                  <a:off x="4082" y="3552"/>
                  <a:ext cx="230" cy="2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b="0" i="1" smtClean="0">
                                <a:solidFill>
                                  <a:srgbClr val="000000"/>
                                </a:solidFill>
                                <a:latin typeface="Cambria Math" panose="02040503050406030204" pitchFamily="18" charset="0"/>
                              </a:rPr>
                              <m:t>1</m:t>
                            </m:r>
                          </m:sub>
                        </m:sSub>
                      </m:oMath>
                    </m:oMathPara>
                  </a14:m>
                  <a:endParaRPr lang="en-US" sz="2400" dirty="0"/>
                </a:p>
              </p:txBody>
            </p:sp>
          </mc:Choice>
          <mc:Fallback xmlns="">
            <p:sp>
              <p:nvSpPr>
                <p:cNvPr id="62" name="Object 102">
                  <a:extLst>
                    <a:ext uri="{FF2B5EF4-FFF2-40B4-BE49-F238E27FC236}">
                      <a16:creationId xmlns:a16="http://schemas.microsoft.com/office/drawing/2014/main" id="{19846EBD-1631-402F-ABCA-A5E9C8E03E08}"/>
                    </a:ext>
                  </a:extLst>
                </p:cNvPr>
                <p:cNvSpPr txBox="1">
                  <a:spLocks noRot="1" noChangeAspect="1" noMove="1" noResize="1" noEditPoints="1" noAdjustHandles="1" noChangeArrowheads="1" noChangeShapeType="1" noTextEdit="1"/>
                </p:cNvSpPr>
                <p:nvPr/>
              </p:nvSpPr>
              <p:spPr>
                <a:xfrm>
                  <a:off x="4082" y="3552"/>
                  <a:ext cx="230" cy="288"/>
                </a:xfrm>
                <a:prstGeom prst="rect">
                  <a:avLst/>
                </a:prstGeom>
                <a:blipFill>
                  <a:blip r:embed="rId10"/>
                  <a:stretch>
                    <a:fillRect l="-3333" r="-18333" b="-4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Object 103">
                  <a:extLst>
                    <a:ext uri="{FF2B5EF4-FFF2-40B4-BE49-F238E27FC236}">
                      <a16:creationId xmlns:a16="http://schemas.microsoft.com/office/drawing/2014/main" id="{FDCE71FE-76AB-41AD-BE8A-7225E4CD3441}"/>
                    </a:ext>
                  </a:extLst>
                </p:cNvPr>
                <p:cNvSpPr txBox="1"/>
                <p:nvPr/>
              </p:nvSpPr>
              <p:spPr>
                <a:xfrm>
                  <a:off x="2773" y="2160"/>
                  <a:ext cx="347" cy="33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2</m:t>
                            </m:r>
                          </m:sub>
                        </m:sSub>
                      </m:oMath>
                    </m:oMathPara>
                  </a14:m>
                  <a:endParaRPr lang="en-US" sz="2400" dirty="0"/>
                </a:p>
              </p:txBody>
            </p:sp>
          </mc:Choice>
          <mc:Fallback xmlns="">
            <p:sp>
              <p:nvSpPr>
                <p:cNvPr id="63" name="Object 103">
                  <a:extLst>
                    <a:ext uri="{FF2B5EF4-FFF2-40B4-BE49-F238E27FC236}">
                      <a16:creationId xmlns:a16="http://schemas.microsoft.com/office/drawing/2014/main" id="{FDCE71FE-76AB-41AD-BE8A-7225E4CD3441}"/>
                    </a:ext>
                  </a:extLst>
                </p:cNvPr>
                <p:cNvSpPr txBox="1">
                  <a:spLocks noRot="1" noChangeAspect="1" noMove="1" noResize="1" noEditPoints="1" noAdjustHandles="1" noChangeArrowheads="1" noChangeShapeType="1" noTextEdit="1"/>
                </p:cNvSpPr>
                <p:nvPr/>
              </p:nvSpPr>
              <p:spPr>
                <a:xfrm>
                  <a:off x="2773" y="2160"/>
                  <a:ext cx="347" cy="336"/>
                </a:xfrm>
                <a:prstGeom prst="rect">
                  <a:avLst/>
                </a:prstGeom>
                <a:blipFill>
                  <a:blip r:embed="rId11"/>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Object 104">
                  <a:extLst>
                    <a:ext uri="{FF2B5EF4-FFF2-40B4-BE49-F238E27FC236}">
                      <a16:creationId xmlns:a16="http://schemas.microsoft.com/office/drawing/2014/main" id="{93BF4039-E8FF-40C3-B62C-7B52E2E32D36}"/>
                    </a:ext>
                  </a:extLst>
                </p:cNvPr>
                <p:cNvSpPr txBox="1"/>
                <p:nvPr/>
              </p:nvSpPr>
              <p:spPr>
                <a:xfrm>
                  <a:off x="2784" y="2880"/>
                  <a:ext cx="308" cy="33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Sub>
                      </m:oMath>
                    </m:oMathPara>
                  </a14:m>
                  <a:endParaRPr lang="en-US" sz="2400" dirty="0"/>
                </a:p>
              </p:txBody>
            </p:sp>
          </mc:Choice>
          <mc:Fallback xmlns="">
            <p:sp>
              <p:nvSpPr>
                <p:cNvPr id="64" name="Object 104">
                  <a:extLst>
                    <a:ext uri="{FF2B5EF4-FFF2-40B4-BE49-F238E27FC236}">
                      <a16:creationId xmlns:a16="http://schemas.microsoft.com/office/drawing/2014/main" id="{93BF4039-E8FF-40C3-B62C-7B52E2E32D36}"/>
                    </a:ext>
                  </a:extLst>
                </p:cNvPr>
                <p:cNvSpPr txBox="1">
                  <a:spLocks noRot="1" noChangeAspect="1" noMove="1" noResize="1" noEditPoints="1" noAdjustHandles="1" noChangeArrowheads="1" noChangeShapeType="1" noTextEdit="1"/>
                </p:cNvSpPr>
                <p:nvPr/>
              </p:nvSpPr>
              <p:spPr>
                <a:xfrm>
                  <a:off x="2784" y="2880"/>
                  <a:ext cx="308" cy="336"/>
                </a:xfrm>
                <a:prstGeom prst="rect">
                  <a:avLst/>
                </a:prstGeom>
                <a:blipFill>
                  <a:blip r:embed="rId12"/>
                  <a:stretch>
                    <a:fillRect l="-2500"/>
                  </a:stretch>
                </a:blipFill>
                <a:ln w="38100">
                  <a:noFill/>
                  <a:miter/>
                </a:ln>
              </p:spPr>
              <p:txBody>
                <a:bodyPr/>
                <a:lstStyle/>
                <a:p>
                  <a:r>
                    <a:rPr lang="en-US">
                      <a:noFill/>
                    </a:rPr>
                    <a:t> </a:t>
                  </a:r>
                </a:p>
              </p:txBody>
            </p:sp>
          </mc:Fallback>
        </mc:AlternateContent>
        <p:sp>
          <p:nvSpPr>
            <p:cNvPr id="65" name="Freeform 105">
              <a:extLst>
                <a:ext uri="{FF2B5EF4-FFF2-40B4-BE49-F238E27FC236}">
                  <a16:creationId xmlns:a16="http://schemas.microsoft.com/office/drawing/2014/main" id="{0C7DC261-122D-497C-82B4-E717C61B2526}"/>
                </a:ext>
              </a:extLst>
            </p:cNvPr>
            <p:cNvSpPr/>
            <p:nvPr/>
          </p:nvSpPr>
          <p:spPr>
            <a:xfrm>
              <a:off x="3552" y="2352"/>
              <a:ext cx="624" cy="720"/>
            </a:xfrm>
            <a:custGeom>
              <a:avLst/>
              <a:gdLst>
                <a:gd name="txL" fmla="*/ 0 w 624"/>
                <a:gd name="txT" fmla="*/ 0 h 720"/>
                <a:gd name="txR" fmla="*/ 624 w 624"/>
                <a:gd name="txB" fmla="*/ 720 h 720"/>
              </a:gdLst>
              <a:ahLst/>
              <a:cxnLst>
                <a:cxn ang="0">
                  <a:pos x="0" y="0"/>
                </a:cxn>
                <a:cxn ang="0">
                  <a:pos x="144" y="336"/>
                </a:cxn>
                <a:cxn ang="0">
                  <a:pos x="336" y="576"/>
                </a:cxn>
                <a:cxn ang="0">
                  <a:pos x="624" y="720"/>
                </a:cxn>
              </a:cxnLst>
              <a:rect l="txL" t="txT" r="txR" b="txB"/>
              <a:pathLst>
                <a:path w="624" h="720">
                  <a:moveTo>
                    <a:pt x="0" y="0"/>
                  </a:moveTo>
                  <a:cubicBezTo>
                    <a:pt x="44" y="120"/>
                    <a:pt x="88" y="240"/>
                    <a:pt x="144" y="336"/>
                  </a:cubicBezTo>
                  <a:cubicBezTo>
                    <a:pt x="200" y="432"/>
                    <a:pt x="256" y="512"/>
                    <a:pt x="336" y="576"/>
                  </a:cubicBezTo>
                  <a:cubicBezTo>
                    <a:pt x="416" y="640"/>
                    <a:pt x="576" y="696"/>
                    <a:pt x="624" y="720"/>
                  </a:cubicBezTo>
                </a:path>
              </a:pathLst>
            </a:custGeom>
            <a:noFill/>
            <a:ln w="28575" cap="flat" cmpd="sng">
              <a:solidFill>
                <a:srgbClr val="FF0000">
                  <a:alpha val="100000"/>
                </a:srgbClr>
              </a:solidFill>
              <a:prstDash val="solid"/>
              <a:round/>
              <a:headEnd type="none" w="med" len="med"/>
              <a:tailEnd type="none" w="med" len="med"/>
            </a:ln>
          </p:spPr>
          <p:txBody>
            <a:bodyPr/>
            <a:lstStyle/>
            <a:p>
              <a:endParaRPr lang="zh-CN" altLang="en-US" sz="2400"/>
            </a:p>
          </p:txBody>
        </p:sp>
        <p:sp>
          <p:nvSpPr>
            <p:cNvPr id="66" name="Line 106">
              <a:extLst>
                <a:ext uri="{FF2B5EF4-FFF2-40B4-BE49-F238E27FC236}">
                  <a16:creationId xmlns:a16="http://schemas.microsoft.com/office/drawing/2014/main" id="{BDE9920F-CD27-4282-9973-6CACDDCCC450}"/>
                </a:ext>
              </a:extLst>
            </p:cNvPr>
            <p:cNvSpPr/>
            <p:nvPr/>
          </p:nvSpPr>
          <p:spPr>
            <a:xfrm flipH="1" flipV="1">
              <a:off x="3715" y="2730"/>
              <a:ext cx="125" cy="148"/>
            </a:xfrm>
            <a:prstGeom prst="line">
              <a:avLst/>
            </a:prstGeom>
            <a:ln w="38100" cap="flat" cmpd="sng">
              <a:solidFill>
                <a:srgbClr val="FF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7" name="Object 107">
                  <a:extLst>
                    <a:ext uri="{FF2B5EF4-FFF2-40B4-BE49-F238E27FC236}">
                      <a16:creationId xmlns:a16="http://schemas.microsoft.com/office/drawing/2014/main" id="{2D047B86-4788-459D-9047-533D9C1B818D}"/>
                    </a:ext>
                  </a:extLst>
                </p:cNvPr>
                <p:cNvSpPr txBox="1"/>
                <p:nvPr/>
              </p:nvSpPr>
              <p:spPr>
                <a:xfrm>
                  <a:off x="3131" y="1849"/>
                  <a:ext cx="209" cy="24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𝑝</m:t>
                        </m:r>
                      </m:oMath>
                    </m:oMathPara>
                  </a14:m>
                  <a:endParaRPr lang="en-US" sz="2400" dirty="0"/>
                </a:p>
              </p:txBody>
            </p:sp>
          </mc:Choice>
          <mc:Fallback xmlns="">
            <p:sp>
              <p:nvSpPr>
                <p:cNvPr id="67" name="Object 107">
                  <a:extLst>
                    <a:ext uri="{FF2B5EF4-FFF2-40B4-BE49-F238E27FC236}">
                      <a16:creationId xmlns:a16="http://schemas.microsoft.com/office/drawing/2014/main" id="{2D047B86-4788-459D-9047-533D9C1B818D}"/>
                    </a:ext>
                  </a:extLst>
                </p:cNvPr>
                <p:cNvSpPr txBox="1">
                  <a:spLocks noRot="1" noChangeAspect="1" noMove="1" noResize="1" noEditPoints="1" noAdjustHandles="1" noChangeArrowheads="1" noChangeShapeType="1" noTextEdit="1"/>
                </p:cNvSpPr>
                <p:nvPr/>
              </p:nvSpPr>
              <p:spPr>
                <a:xfrm>
                  <a:off x="3131" y="1849"/>
                  <a:ext cx="209" cy="248"/>
                </a:xfrm>
                <a:prstGeom prst="rect">
                  <a:avLst/>
                </a:prstGeom>
                <a:blipFill>
                  <a:blip r:embed="rId13"/>
                  <a:stretch>
                    <a:fillRect l="-5455" r="-10909" b="-3125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Object 108">
                  <a:extLst>
                    <a:ext uri="{FF2B5EF4-FFF2-40B4-BE49-F238E27FC236}">
                      <a16:creationId xmlns:a16="http://schemas.microsoft.com/office/drawing/2014/main" id="{0DD5D938-D074-40FA-8DFE-C4CFEED08057}"/>
                    </a:ext>
                  </a:extLst>
                </p:cNvPr>
                <p:cNvSpPr txBox="1"/>
                <p:nvPr/>
              </p:nvSpPr>
              <p:spPr>
                <a:xfrm>
                  <a:off x="4652" y="3552"/>
                  <a:ext cx="215" cy="24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𝑉</m:t>
                        </m:r>
                      </m:oMath>
                    </m:oMathPara>
                  </a14:m>
                  <a:endParaRPr lang="en-US" sz="2400" dirty="0"/>
                </a:p>
              </p:txBody>
            </p:sp>
          </mc:Choice>
          <mc:Fallback xmlns="">
            <p:sp>
              <p:nvSpPr>
                <p:cNvPr id="68" name="Object 108">
                  <a:extLst>
                    <a:ext uri="{FF2B5EF4-FFF2-40B4-BE49-F238E27FC236}">
                      <a16:creationId xmlns:a16="http://schemas.microsoft.com/office/drawing/2014/main" id="{0DD5D938-D074-40FA-8DFE-C4CFEED08057}"/>
                    </a:ext>
                  </a:extLst>
                </p:cNvPr>
                <p:cNvSpPr txBox="1">
                  <a:spLocks noRot="1" noChangeAspect="1" noMove="1" noResize="1" noEditPoints="1" noAdjustHandles="1" noChangeArrowheads="1" noChangeShapeType="1" noTextEdit="1"/>
                </p:cNvSpPr>
                <p:nvPr/>
              </p:nvSpPr>
              <p:spPr>
                <a:xfrm>
                  <a:off x="4652" y="3552"/>
                  <a:ext cx="215" cy="240"/>
                </a:xfrm>
                <a:prstGeom prst="rect">
                  <a:avLst/>
                </a:prstGeom>
                <a:blipFill>
                  <a:blip r:embed="rId14"/>
                  <a:stretch>
                    <a:fillRect l="-5357" r="-12500" b="-15873"/>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Object 109">
                  <a:extLst>
                    <a:ext uri="{FF2B5EF4-FFF2-40B4-BE49-F238E27FC236}">
                      <a16:creationId xmlns:a16="http://schemas.microsoft.com/office/drawing/2014/main" id="{476CF736-EBC1-4DB4-813F-093308B4410A}"/>
                    </a:ext>
                  </a:extLst>
                </p:cNvPr>
                <p:cNvSpPr txBox="1"/>
                <p:nvPr/>
              </p:nvSpPr>
              <p:spPr>
                <a:xfrm>
                  <a:off x="2947" y="3552"/>
                  <a:ext cx="208" cy="24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𝑜</m:t>
                        </m:r>
                      </m:oMath>
                    </m:oMathPara>
                  </a14:m>
                  <a:endParaRPr lang="en-US" sz="2400"/>
                </a:p>
              </p:txBody>
            </p:sp>
          </mc:Choice>
          <mc:Fallback xmlns="">
            <p:sp>
              <p:nvSpPr>
                <p:cNvPr id="91" name="Object 109">
                  <a:extLst>
                    <a:ext uri="{FF2B5EF4-FFF2-40B4-BE49-F238E27FC236}">
                      <a16:creationId xmlns:a16="http://schemas.microsoft.com/office/drawing/2014/main" id="{AC24595D-FF8C-49CD-9A67-BA6660C4BC3C}"/>
                    </a:ext>
                  </a:extLst>
                </p:cNvPr>
                <p:cNvSpPr txBox="1">
                  <a:spLocks noRot="1" noChangeAspect="1" noMove="1" noResize="1" noEditPoints="1" noAdjustHandles="1" noChangeArrowheads="1" noChangeShapeType="1" noTextEdit="1"/>
                </p:cNvSpPr>
                <p:nvPr/>
              </p:nvSpPr>
              <p:spPr>
                <a:xfrm>
                  <a:off x="2947" y="3552"/>
                  <a:ext cx="208" cy="240"/>
                </a:xfrm>
                <a:prstGeom prst="rect">
                  <a:avLst/>
                </a:prstGeom>
                <a:blipFill>
                  <a:blip r:embed="rId15"/>
                  <a:stretch>
                    <a:fillRect r="-1852" b="-9677"/>
                  </a:stretch>
                </a:blipFill>
                <a:ln w="38100">
                  <a:noFill/>
                  <a:miter/>
                </a:ln>
              </p:spPr>
              <p:txBody>
                <a:bodyPr/>
                <a:lstStyle/>
                <a:p>
                  <a:r>
                    <a:rPr lang="zh-CN" altLang="en-US">
                      <a:noFill/>
                    </a:rPr>
                    <a:t> </a:t>
                  </a:r>
                </a:p>
              </p:txBody>
            </p:sp>
          </mc:Fallback>
        </mc:AlternateContent>
        <p:sp>
          <p:nvSpPr>
            <p:cNvPr id="70" name="Text Box 110">
              <a:extLst>
                <a:ext uri="{FF2B5EF4-FFF2-40B4-BE49-F238E27FC236}">
                  <a16:creationId xmlns:a16="http://schemas.microsoft.com/office/drawing/2014/main" id="{B1A8576B-4BE6-44D2-AE08-883BB6259028}"/>
                </a:ext>
              </a:extLst>
            </p:cNvPr>
            <p:cNvSpPr txBox="1"/>
            <p:nvPr/>
          </p:nvSpPr>
          <p:spPr>
            <a:xfrm>
              <a:off x="4012" y="2723"/>
              <a:ext cx="288" cy="291"/>
            </a:xfrm>
            <a:prstGeom prst="rect">
              <a:avLst/>
            </a:prstGeom>
            <a:noFill/>
            <a:ln w="9525">
              <a:noFill/>
            </a:ln>
          </p:spPr>
          <p:txBody>
            <a:bodyPr>
              <a:spAutoFit/>
            </a:bodyPr>
            <a:lstStyle/>
            <a:p>
              <a:pPr eaLnBrk="1" hangingPunct="1">
                <a:spcBef>
                  <a:spcPct val="50000"/>
                </a:spcBef>
              </a:pPr>
              <a:r>
                <a:rPr lang="en-US" altLang="zh-CN" sz="2400" b="1" dirty="0">
                  <a:solidFill>
                    <a:srgbClr val="1C1C1C"/>
                  </a:solidFill>
                  <a:latin typeface="Times New Roman" panose="02020603050405020304" pitchFamily="18" charset="0"/>
                </a:rPr>
                <a:t>1</a:t>
              </a:r>
            </a:p>
          </p:txBody>
        </p:sp>
        <p:sp>
          <p:nvSpPr>
            <p:cNvPr id="71" name="Text Box 111">
              <a:extLst>
                <a:ext uri="{FF2B5EF4-FFF2-40B4-BE49-F238E27FC236}">
                  <a16:creationId xmlns:a16="http://schemas.microsoft.com/office/drawing/2014/main" id="{E02394CB-CED1-4C9F-8261-5FD303D79627}"/>
                </a:ext>
              </a:extLst>
            </p:cNvPr>
            <p:cNvSpPr txBox="1"/>
            <p:nvPr/>
          </p:nvSpPr>
          <p:spPr>
            <a:xfrm>
              <a:off x="3442" y="2020"/>
              <a:ext cx="336" cy="291"/>
            </a:xfrm>
            <a:prstGeom prst="rect">
              <a:avLst/>
            </a:prstGeom>
            <a:noFill/>
            <a:ln w="9525">
              <a:noFill/>
            </a:ln>
          </p:spPr>
          <p:txBody>
            <a:bodyPr>
              <a:spAutoFit/>
            </a:bodyPr>
            <a:lstStyle/>
            <a:p>
              <a:pPr eaLnBrk="1" hangingPunct="1">
                <a:spcBef>
                  <a:spcPct val="50000"/>
                </a:spcBef>
              </a:pPr>
              <a:r>
                <a:rPr lang="en-US" altLang="zh-CN" sz="2400" b="1" dirty="0">
                  <a:solidFill>
                    <a:srgbClr val="1C1C1C"/>
                  </a:solidFill>
                  <a:latin typeface="Times New Roman" panose="02020603050405020304" pitchFamily="18" charset="0"/>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9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9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9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30" grpId="0"/>
      <p:bldP spid="80931" grpId="0"/>
      <p:bldP spid="80932" grpId="0"/>
      <p:bldP spid="116"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2359" name="Object 23">
                <a:extLst>
                  <a:ext uri="{FF2B5EF4-FFF2-40B4-BE49-F238E27FC236}">
                    <a16:creationId xmlns:a16="http://schemas.microsoft.com/office/drawing/2014/main" id="{8ADF90F1-8A95-E90D-7CAE-8A3014DA770A}"/>
                  </a:ext>
                </a:extLst>
              </p:cNvPr>
              <p:cNvSpPr txBox="1"/>
              <p:nvPr/>
            </p:nvSpPr>
            <p:spPr bwMode="auto">
              <a:xfrm>
                <a:off x="493305" y="3387414"/>
                <a:ext cx="4724400" cy="127317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3000" i="1" smtClean="0">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𝑣</m:t>
                          </m:r>
                        </m:e>
                        <m:sub>
                          <m:r>
                            <a:rPr lang="zh-CN" altLang="en-US" sz="3000" i="1">
                              <a:solidFill>
                                <a:srgbClr val="000000"/>
                              </a:solidFill>
                              <a:latin typeface="Cambria Math" panose="02040503050406030204" pitchFamily="18" charset="0"/>
                            </a:rPr>
                            <m:t>1</m:t>
                          </m:r>
                        </m:sub>
                      </m:sSub>
                      <m:r>
                        <a:rPr lang="zh-CN" altLang="en-US" sz="3000" i="1">
                          <a:solidFill>
                            <a:srgbClr val="000000"/>
                          </a:solidFill>
                          <a:latin typeface="Cambria Math" panose="02040503050406030204" pitchFamily="18" charset="0"/>
                        </a:rPr>
                        <m:t>=</m:t>
                      </m:r>
                      <m:f>
                        <m:fPr>
                          <m:ctrlPr>
                            <a:rPr lang="zh-CN" altLang="en-US" sz="3000" i="1">
                              <a:solidFill>
                                <a:srgbClr val="000000"/>
                              </a:solidFill>
                              <a:latin typeface="Cambria Math" panose="02040503050406030204" pitchFamily="18" charset="0"/>
                            </a:rPr>
                          </m:ctrlPr>
                        </m:fPr>
                        <m:num>
                          <m:d>
                            <m:dPr>
                              <m:ctrlPr>
                                <a:rPr lang="zh-CN" altLang="en-US" sz="3000" i="1">
                                  <a:solidFill>
                                    <a:srgbClr val="000000"/>
                                  </a:solidFill>
                                  <a:latin typeface="Cambria Math" panose="02040503050406030204" pitchFamily="18" charset="0"/>
                                </a:rPr>
                              </m:ctrlPr>
                            </m:dPr>
                            <m:e>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𝑚</m:t>
                                  </m:r>
                                </m:e>
                                <m:sub>
                                  <m:r>
                                    <a:rPr lang="zh-CN" altLang="en-US" sz="3000" i="1">
                                      <a:solidFill>
                                        <a:srgbClr val="000000"/>
                                      </a:solidFill>
                                      <a:latin typeface="Cambria Math" panose="02040503050406030204" pitchFamily="18" charset="0"/>
                                    </a:rPr>
                                    <m:t>1</m:t>
                                  </m:r>
                                </m:sub>
                              </m:sSub>
                              <m:r>
                                <a:rPr lang="zh-CN" altLang="en-US" sz="3000" i="1">
                                  <a:solidFill>
                                    <a:srgbClr val="000000"/>
                                  </a:solidFill>
                                  <a:latin typeface="Cambria Math" panose="02040503050406030204" pitchFamily="18" charset="0"/>
                                </a:rPr>
                                <m:t>−</m:t>
                              </m:r>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𝑚</m:t>
                                  </m:r>
                                </m:e>
                                <m:sub>
                                  <m:r>
                                    <a:rPr lang="zh-CN" altLang="en-US" sz="3000" i="1">
                                      <a:solidFill>
                                        <a:srgbClr val="000000"/>
                                      </a:solidFill>
                                      <a:latin typeface="Cambria Math" panose="02040503050406030204" pitchFamily="18" charset="0"/>
                                    </a:rPr>
                                    <m:t>2</m:t>
                                  </m:r>
                                </m:sub>
                              </m:sSub>
                            </m:e>
                          </m:d>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𝑣</m:t>
                              </m:r>
                            </m:e>
                            <m:sub>
                              <m:r>
                                <a:rPr lang="zh-CN" altLang="en-US" sz="3000" i="1">
                                  <a:solidFill>
                                    <a:srgbClr val="000000"/>
                                  </a:solidFill>
                                  <a:latin typeface="Cambria Math" panose="02040503050406030204" pitchFamily="18" charset="0"/>
                                </a:rPr>
                                <m:t>10</m:t>
                              </m:r>
                            </m:sub>
                          </m:sSub>
                          <m:r>
                            <a:rPr lang="en-US" altLang="zh-CN" sz="3000" b="0" i="1" smtClean="0">
                              <a:solidFill>
                                <a:srgbClr val="000000"/>
                              </a:solidFill>
                              <a:latin typeface="Cambria Math" panose="02040503050406030204" pitchFamily="18" charset="0"/>
                            </a:rPr>
                            <m:t>−</m:t>
                          </m:r>
                          <m:r>
                            <a:rPr lang="zh-CN" altLang="en-US" sz="3000" i="1">
                              <a:solidFill>
                                <a:srgbClr val="000000"/>
                              </a:solidFill>
                              <a:latin typeface="Cambria Math" panose="02040503050406030204" pitchFamily="18" charset="0"/>
                            </a:rPr>
                            <m:t>2</m:t>
                          </m:r>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𝑚</m:t>
                              </m:r>
                            </m:e>
                            <m:sub>
                              <m:r>
                                <a:rPr lang="zh-CN" altLang="en-US" sz="3000" i="1">
                                  <a:solidFill>
                                    <a:srgbClr val="000000"/>
                                  </a:solidFill>
                                  <a:latin typeface="Cambria Math" panose="02040503050406030204" pitchFamily="18" charset="0"/>
                                </a:rPr>
                                <m:t>2</m:t>
                              </m:r>
                            </m:sub>
                          </m:sSub>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𝑣</m:t>
                              </m:r>
                            </m:e>
                            <m:sub>
                              <m:r>
                                <a:rPr lang="zh-CN" altLang="en-US" sz="3000" i="1">
                                  <a:solidFill>
                                    <a:srgbClr val="000000"/>
                                  </a:solidFill>
                                  <a:latin typeface="Cambria Math" panose="02040503050406030204" pitchFamily="18" charset="0"/>
                                </a:rPr>
                                <m:t>20</m:t>
                              </m:r>
                            </m:sub>
                          </m:sSub>
                        </m:num>
                        <m:den>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𝑚</m:t>
                              </m:r>
                            </m:e>
                            <m:sub>
                              <m:r>
                                <a:rPr lang="zh-CN" altLang="en-US" sz="3000" i="1">
                                  <a:solidFill>
                                    <a:srgbClr val="000000"/>
                                  </a:solidFill>
                                  <a:latin typeface="Cambria Math" panose="02040503050406030204" pitchFamily="18" charset="0"/>
                                </a:rPr>
                                <m:t>1</m:t>
                              </m:r>
                            </m:sub>
                          </m:sSub>
                          <m:r>
                            <a:rPr lang="zh-CN" altLang="en-US" sz="3000" i="1">
                              <a:solidFill>
                                <a:srgbClr val="000000"/>
                              </a:solidFill>
                              <a:latin typeface="Cambria Math" panose="02040503050406030204" pitchFamily="18" charset="0"/>
                            </a:rPr>
                            <m:t>+</m:t>
                          </m:r>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𝑚</m:t>
                              </m:r>
                            </m:e>
                            <m:sub>
                              <m:r>
                                <a:rPr lang="zh-CN" altLang="en-US" sz="3000" i="1">
                                  <a:solidFill>
                                    <a:srgbClr val="000000"/>
                                  </a:solidFill>
                                  <a:latin typeface="Cambria Math" panose="02040503050406030204" pitchFamily="18" charset="0"/>
                                </a:rPr>
                                <m:t>2</m:t>
                              </m:r>
                            </m:sub>
                          </m:sSub>
                        </m:den>
                      </m:f>
                    </m:oMath>
                  </m:oMathPara>
                </a14:m>
                <a:endParaRPr lang="zh-CN" altLang="en-US" sz="3000" dirty="0"/>
              </a:p>
            </p:txBody>
          </p:sp>
        </mc:Choice>
        <mc:Fallback xmlns="">
          <p:sp>
            <p:nvSpPr>
              <p:cNvPr id="142359" name="Object 23">
                <a:extLst>
                  <a:ext uri="{FF2B5EF4-FFF2-40B4-BE49-F238E27FC236}">
                    <a16:creationId xmlns:a16="http://schemas.microsoft.com/office/drawing/2014/main" id="{8ADF90F1-8A95-E90D-7CAE-8A3014DA770A}"/>
                  </a:ext>
                </a:extLst>
              </p:cNvPr>
              <p:cNvSpPr txBox="1">
                <a:spLocks noRot="1" noChangeAspect="1" noMove="1" noResize="1" noEditPoints="1" noAdjustHandles="1" noChangeArrowheads="1" noChangeShapeType="1" noTextEdit="1"/>
              </p:cNvSpPr>
              <p:nvPr/>
            </p:nvSpPr>
            <p:spPr bwMode="auto">
              <a:xfrm>
                <a:off x="493305" y="3387414"/>
                <a:ext cx="4724400" cy="1273175"/>
              </a:xfrm>
              <a:prstGeom prst="rect">
                <a:avLst/>
              </a:prstGeom>
              <a:blipFill>
                <a:blip r:embed="rId2"/>
                <a:stretch>
                  <a:fillRect/>
                </a:stretch>
              </a:blipFill>
              <a:ln>
                <a:noFill/>
              </a:ln>
              <a:effectLst/>
            </p:spPr>
            <p:txBody>
              <a:bodyPr/>
              <a:lstStyle/>
              <a:p>
                <a:r>
                  <a:rPr lang="en-US">
                    <a:noFill/>
                  </a:rPr>
                  <a:t> </a:t>
                </a:r>
              </a:p>
            </p:txBody>
          </p:sp>
        </mc:Fallback>
      </mc:AlternateContent>
      <p:sp>
        <p:nvSpPr>
          <p:cNvPr id="12" name="Text Box 13">
            <a:hlinkClick r:id="" action="ppaction://noaction"/>
            <a:extLst>
              <a:ext uri="{FF2B5EF4-FFF2-40B4-BE49-F238E27FC236}">
                <a16:creationId xmlns:a16="http://schemas.microsoft.com/office/drawing/2014/main" id="{22116FEC-7F71-1009-EB1E-C3490E47F554}"/>
              </a:ext>
            </a:extLst>
          </p:cNvPr>
          <p:cNvSpPr txBox="1">
            <a:spLocks noChangeArrowheads="1"/>
          </p:cNvSpPr>
          <p:nvPr/>
        </p:nvSpPr>
        <p:spPr bwMode="auto">
          <a:xfrm>
            <a:off x="692144" y="611263"/>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ea"/>
                <a:ea typeface="+mn-ea"/>
                <a:cs typeface="Times New Roman" panose="02020603050405020304" pitchFamily="18" charset="0"/>
              </a:rPr>
              <a:t>功 </a:t>
            </a:r>
            <a:r>
              <a:rPr kumimoji="1" lang="en-US" altLang="zh-CN" sz="3200" dirty="0">
                <a:solidFill>
                  <a:srgbClr val="0066FF"/>
                </a:solidFill>
                <a:latin typeface="+mn-ea"/>
                <a:ea typeface="+mn-ea"/>
                <a:cs typeface="Times New Roman" panose="02020603050405020304" pitchFamily="18" charset="0"/>
              </a:rPr>
              <a:t>-- </a:t>
            </a:r>
            <a:r>
              <a:rPr kumimoji="1" lang="zh-CN" altLang="en-US" sz="3200" noProof="0" dirty="0">
                <a:solidFill>
                  <a:srgbClr val="0066FF"/>
                </a:solidFill>
                <a:latin typeface="+mn-ea"/>
                <a:ea typeface="+mn-ea"/>
                <a:cs typeface="Times New Roman" panose="02020603050405020304" pitchFamily="18" charset="0"/>
              </a:rPr>
              <a:t>微观</a:t>
            </a:r>
            <a:r>
              <a:rPr kumimoji="1" lang="zh-CN" altLang="en-US" sz="3200" dirty="0">
                <a:solidFill>
                  <a:srgbClr val="0066FF"/>
                </a:solidFill>
                <a:latin typeface="+mn-ea"/>
                <a:ea typeface="+mn-ea"/>
                <a:cs typeface="Times New Roman" panose="02020603050405020304" pitchFamily="18" charset="0"/>
              </a:rPr>
              <a:t>过程</a:t>
            </a:r>
            <a:endParaRPr kumimoji="1" lang="en-US" altLang="zh-CN" sz="3200" b="1" i="0" u="none" strike="noStrike" kern="1200" cap="none" spc="0" normalizeH="0" baseline="0" noProof="0" dirty="0">
              <a:ln>
                <a:noFill/>
              </a:ln>
              <a:solidFill>
                <a:srgbClr val="0066FF"/>
              </a:solidFill>
              <a:effectLst/>
              <a:uLnTx/>
              <a:uFillTx/>
              <a:latin typeface="+mn-ea"/>
              <a:ea typeface="+mn-ea"/>
              <a:cs typeface="Times New Roman" panose="02020603050405020304" pitchFamily="18" charset="0"/>
            </a:endParaRPr>
          </a:p>
        </p:txBody>
      </p:sp>
      <p:sp>
        <p:nvSpPr>
          <p:cNvPr id="5" name="Text Box 2">
            <a:extLst>
              <a:ext uri="{FF2B5EF4-FFF2-40B4-BE49-F238E27FC236}">
                <a16:creationId xmlns:a16="http://schemas.microsoft.com/office/drawing/2014/main" id="{4A8C4E2F-D59B-01BF-DB2D-7E4243C1A118}"/>
              </a:ext>
            </a:extLst>
          </p:cNvPr>
          <p:cNvSpPr txBox="1">
            <a:spLocks noChangeArrowheads="1"/>
          </p:cNvSpPr>
          <p:nvPr/>
        </p:nvSpPr>
        <p:spPr bwMode="auto">
          <a:xfrm>
            <a:off x="435362" y="4663764"/>
            <a:ext cx="2113079"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600" b="1" u="sng">
                <a:solidFill>
                  <a:schemeClr val="tx1"/>
                </a:solidFill>
                <a:latin typeface="Times New Roman" panose="02020603050405020304" pitchFamily="18" charset="0"/>
                <a:ea typeface="宋体" panose="02010600030101010101" pitchFamily="2" charset="-122"/>
              </a:defRPr>
            </a:lvl1pPr>
            <a:lvl2pPr marL="742950" indent="-285750">
              <a:defRPr kumimoji="1" sz="2600" b="1" u="sng">
                <a:solidFill>
                  <a:schemeClr val="tx1"/>
                </a:solidFill>
                <a:latin typeface="Times New Roman" panose="02020603050405020304" pitchFamily="18" charset="0"/>
                <a:ea typeface="宋体" panose="02010600030101010101" pitchFamily="2" charset="-122"/>
              </a:defRPr>
            </a:lvl2pPr>
            <a:lvl3pPr marL="1143000" indent="-228600">
              <a:defRPr kumimoji="1" sz="2600" b="1" u="sng">
                <a:solidFill>
                  <a:schemeClr val="tx1"/>
                </a:solidFill>
                <a:latin typeface="Times New Roman" panose="02020603050405020304" pitchFamily="18" charset="0"/>
                <a:ea typeface="宋体" panose="02010600030101010101" pitchFamily="2" charset="-122"/>
              </a:defRPr>
            </a:lvl3pPr>
            <a:lvl4pPr marL="1600200" indent="-228600">
              <a:defRPr kumimoji="1" sz="2600" b="1" u="sng">
                <a:solidFill>
                  <a:schemeClr val="tx1"/>
                </a:solidFill>
                <a:latin typeface="Times New Roman" panose="02020603050405020304" pitchFamily="18" charset="0"/>
                <a:ea typeface="宋体" panose="02010600030101010101" pitchFamily="2" charset="-122"/>
              </a:defRPr>
            </a:lvl4pPr>
            <a:lvl5pPr marL="2057400" indent="-228600">
              <a:defRPr kumimoji="1" sz="2600" b="1"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9pPr>
          </a:lstStyle>
          <a:p>
            <a:r>
              <a:rPr lang="zh-CN" altLang="en-US" sz="3000" b="0" u="none" dirty="0">
                <a:latin typeface="华文楷体" panose="02010600040101010101" pitchFamily="2" charset="-122"/>
                <a:ea typeface="华文楷体" panose="02010600040101010101" pitchFamily="2" charset="-122"/>
              </a:rPr>
              <a:t>若</a:t>
            </a:r>
            <a:r>
              <a:rPr lang="en-US" altLang="zh-CN" sz="3000" b="0" i="1" u="none" dirty="0"/>
              <a:t>m</a:t>
            </a:r>
            <a:r>
              <a:rPr lang="en-US" altLang="zh-CN" sz="3000" b="0" u="none" baseline="-25000" dirty="0"/>
              <a:t>1</a:t>
            </a:r>
            <a:r>
              <a:rPr lang="en-US" altLang="zh-CN" sz="3000" b="0" u="none" dirty="0"/>
              <a:t> &lt;&lt; </a:t>
            </a:r>
            <a:r>
              <a:rPr lang="en-US" altLang="zh-CN" sz="3000" b="0" i="1" u="none" dirty="0"/>
              <a:t>m</a:t>
            </a:r>
            <a:r>
              <a:rPr lang="en-US" altLang="zh-CN" sz="3000" b="0" u="none" baseline="-25000" dirty="0"/>
              <a:t>2</a:t>
            </a:r>
            <a:r>
              <a:rPr lang="en-US" altLang="zh-CN" sz="3000" b="0" u="none" dirty="0"/>
              <a:t>:</a:t>
            </a:r>
          </a:p>
        </p:txBody>
      </p:sp>
      <mc:AlternateContent xmlns:mc="http://schemas.openxmlformats.org/markup-compatibility/2006" xmlns:a14="http://schemas.microsoft.com/office/drawing/2010/main">
        <mc:Choice Requires="a14">
          <p:sp>
            <p:nvSpPr>
              <p:cNvPr id="6" name="Object 3">
                <a:extLst>
                  <a:ext uri="{FF2B5EF4-FFF2-40B4-BE49-F238E27FC236}">
                    <a16:creationId xmlns:a16="http://schemas.microsoft.com/office/drawing/2014/main" id="{BE953AC2-7F7F-235E-88F6-1DE356A304FD}"/>
                  </a:ext>
                </a:extLst>
              </p:cNvPr>
              <p:cNvSpPr txBox="1"/>
              <p:nvPr/>
            </p:nvSpPr>
            <p:spPr bwMode="auto">
              <a:xfrm>
                <a:off x="2534374" y="4608665"/>
                <a:ext cx="3992783" cy="6842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000" i="1" smtClean="0">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则</m:t>
                          </m:r>
                          <m:r>
                            <a:rPr lang="en-US" altLang="zh-CN" sz="3000" b="0" i="1" smtClean="0">
                              <a:solidFill>
                                <a:srgbClr val="000000"/>
                              </a:solidFill>
                              <a:latin typeface="Cambria Math" panose="02040503050406030204" pitchFamily="18" charset="0"/>
                            </a:rPr>
                            <m:t> </m:t>
                          </m:r>
                          <m:r>
                            <a:rPr lang="zh-CN" altLang="en-US" sz="3000" i="1">
                              <a:solidFill>
                                <a:srgbClr val="000000"/>
                              </a:solidFill>
                              <a:latin typeface="Cambria Math" panose="02040503050406030204" pitchFamily="18" charset="0"/>
                            </a:rPr>
                            <m:t>𝑣</m:t>
                          </m:r>
                        </m:e>
                        <m:sub>
                          <m:r>
                            <a:rPr lang="zh-CN" altLang="en-US" sz="3000" i="1">
                              <a:solidFill>
                                <a:srgbClr val="000000"/>
                              </a:solidFill>
                              <a:latin typeface="Cambria Math" panose="02040503050406030204" pitchFamily="18" charset="0"/>
                            </a:rPr>
                            <m:t>1</m:t>
                          </m:r>
                        </m:sub>
                      </m:sSub>
                      <m:r>
                        <a:rPr lang="zh-CN" altLang="en-US" sz="3000" i="1">
                          <a:solidFill>
                            <a:srgbClr val="000000"/>
                          </a:solidFill>
                          <a:latin typeface="Cambria Math" panose="02040503050406030204" pitchFamily="18" charset="0"/>
                        </a:rPr>
                        <m:t>=</m:t>
                      </m:r>
                      <m:sSub>
                        <m:sSubPr>
                          <m:ctrlPr>
                            <a:rPr lang="zh-CN" altLang="en-US" sz="3000" i="1">
                              <a:solidFill>
                                <a:srgbClr val="000000"/>
                              </a:solidFill>
                              <a:latin typeface="Cambria Math" panose="02040503050406030204" pitchFamily="18" charset="0"/>
                            </a:rPr>
                          </m:ctrlPr>
                        </m:sSubPr>
                        <m:e>
                          <m:r>
                            <a:rPr lang="en-US" altLang="zh-CN" sz="3000" b="0" i="1" smtClean="0">
                              <a:solidFill>
                                <a:srgbClr val="000000"/>
                              </a:solidFill>
                              <a:latin typeface="Cambria Math" panose="02040503050406030204" pitchFamily="18" charset="0"/>
                            </a:rPr>
                            <m:t>−</m:t>
                          </m:r>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𝑣</m:t>
                              </m:r>
                            </m:e>
                            <m:sub>
                              <m:r>
                                <a:rPr lang="zh-CN" altLang="en-US" sz="3000" i="1">
                                  <a:solidFill>
                                    <a:srgbClr val="000000"/>
                                  </a:solidFill>
                                  <a:latin typeface="Cambria Math" panose="02040503050406030204" pitchFamily="18" charset="0"/>
                                </a:rPr>
                                <m:t>10</m:t>
                              </m:r>
                            </m:sub>
                          </m:sSub>
                          <m:r>
                            <a:rPr lang="en-US" altLang="zh-CN" sz="3000" b="0" i="1" smtClean="0">
                              <a:solidFill>
                                <a:srgbClr val="000000"/>
                              </a:solidFill>
                              <a:latin typeface="Cambria Math" panose="02040503050406030204" pitchFamily="18" charset="0"/>
                            </a:rPr>
                            <m:t>−2</m:t>
                          </m:r>
                          <m:r>
                            <a:rPr lang="zh-CN" altLang="en-US" sz="3000" i="1">
                              <a:solidFill>
                                <a:srgbClr val="000000"/>
                              </a:solidFill>
                              <a:latin typeface="Cambria Math" panose="02040503050406030204" pitchFamily="18" charset="0"/>
                            </a:rPr>
                            <m:t>𝑣</m:t>
                          </m:r>
                        </m:e>
                        <m:sub>
                          <m:r>
                            <a:rPr lang="zh-CN" altLang="en-US" sz="3000" i="1">
                              <a:solidFill>
                                <a:srgbClr val="000000"/>
                              </a:solidFill>
                              <a:latin typeface="Cambria Math" panose="02040503050406030204" pitchFamily="18" charset="0"/>
                            </a:rPr>
                            <m:t>20</m:t>
                          </m:r>
                        </m:sub>
                      </m:sSub>
                      <m:r>
                        <a:rPr lang="zh-CN" altLang="en-US" sz="3000" i="1">
                          <a:solidFill>
                            <a:srgbClr val="000000"/>
                          </a:solidFill>
                          <a:latin typeface="Cambria Math" panose="02040503050406030204" pitchFamily="18" charset="0"/>
                        </a:rPr>
                        <m:t> </m:t>
                      </m:r>
                    </m:oMath>
                  </m:oMathPara>
                </a14:m>
                <a:endParaRPr lang="zh-CN" altLang="en-US" sz="3000" dirty="0"/>
              </a:p>
            </p:txBody>
          </p:sp>
        </mc:Choice>
        <mc:Fallback xmlns="">
          <p:sp>
            <p:nvSpPr>
              <p:cNvPr id="6" name="Object 3">
                <a:extLst>
                  <a:ext uri="{FF2B5EF4-FFF2-40B4-BE49-F238E27FC236}">
                    <a16:creationId xmlns:a16="http://schemas.microsoft.com/office/drawing/2014/main" id="{BE953AC2-7F7F-235E-88F6-1DE356A304FD}"/>
                  </a:ext>
                </a:extLst>
              </p:cNvPr>
              <p:cNvSpPr txBox="1">
                <a:spLocks noRot="1" noChangeAspect="1" noMove="1" noResize="1" noEditPoints="1" noAdjustHandles="1" noChangeArrowheads="1" noChangeShapeType="1" noTextEdit="1"/>
              </p:cNvSpPr>
              <p:nvPr/>
            </p:nvSpPr>
            <p:spPr bwMode="auto">
              <a:xfrm>
                <a:off x="2534374" y="4608665"/>
                <a:ext cx="3992783" cy="684213"/>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9" name="Group 3">
            <a:extLst>
              <a:ext uri="{FF2B5EF4-FFF2-40B4-BE49-F238E27FC236}">
                <a16:creationId xmlns:a16="http://schemas.microsoft.com/office/drawing/2014/main" id="{61CF3FC9-B5F7-8ECF-85C2-07B399F0F80F}"/>
              </a:ext>
            </a:extLst>
          </p:cNvPr>
          <p:cNvGrpSpPr>
            <a:grpSpLocks/>
          </p:cNvGrpSpPr>
          <p:nvPr/>
        </p:nvGrpSpPr>
        <p:grpSpPr bwMode="auto">
          <a:xfrm>
            <a:off x="1980336" y="1920249"/>
            <a:ext cx="1468438" cy="1219200"/>
            <a:chOff x="1296" y="192"/>
            <a:chExt cx="925" cy="768"/>
          </a:xfrm>
        </p:grpSpPr>
        <p:sp>
          <p:nvSpPr>
            <p:cNvPr id="17" name="Oval 10">
              <a:extLst>
                <a:ext uri="{FF2B5EF4-FFF2-40B4-BE49-F238E27FC236}">
                  <a16:creationId xmlns:a16="http://schemas.microsoft.com/office/drawing/2014/main" id="{BB26B5B0-32EE-CA50-A432-4EF56D7A2DB9}"/>
                </a:ext>
              </a:extLst>
            </p:cNvPr>
            <p:cNvSpPr>
              <a:spLocks noChangeArrowheads="1"/>
            </p:cNvSpPr>
            <p:nvPr/>
          </p:nvSpPr>
          <p:spPr bwMode="auto">
            <a:xfrm>
              <a:off x="1344" y="672"/>
              <a:ext cx="288" cy="288"/>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a:p>
          </p:txBody>
        </p:sp>
        <p:sp>
          <p:nvSpPr>
            <p:cNvPr id="18" name="Oval 11">
              <a:extLst>
                <a:ext uri="{FF2B5EF4-FFF2-40B4-BE49-F238E27FC236}">
                  <a16:creationId xmlns:a16="http://schemas.microsoft.com/office/drawing/2014/main" id="{19DF4CC9-8FB1-320F-1E08-04B078FF0400}"/>
                </a:ext>
              </a:extLst>
            </p:cNvPr>
            <p:cNvSpPr>
              <a:spLocks noChangeArrowheads="1"/>
            </p:cNvSpPr>
            <p:nvPr/>
          </p:nvSpPr>
          <p:spPr bwMode="auto">
            <a:xfrm>
              <a:off x="1920" y="672"/>
              <a:ext cx="288" cy="288"/>
            </a:xfrm>
            <a:prstGeom prst="ellipse">
              <a:avLst/>
            </a:prstGeom>
            <a:gradFill rotWithShape="0">
              <a:gsLst>
                <a:gs pos="0">
                  <a:srgbClr val="993300"/>
                </a:gs>
                <a:gs pos="100000">
                  <a:srgbClr val="190800"/>
                </a:gs>
              </a:gsLst>
              <a:path path="shape">
                <a:fillToRect l="50000" t="50000" r="50000" b="50000"/>
              </a:path>
            </a:gradFill>
            <a:ln w="9525">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600" b="1" u="sng">
                  <a:solidFill>
                    <a:schemeClr val="tx1"/>
                  </a:solidFill>
                  <a:latin typeface="Times New Roman" panose="02020603050405020304" pitchFamily="18" charset="0"/>
                  <a:ea typeface="宋体" panose="02010600030101010101" pitchFamily="2" charset="-122"/>
                </a:defRPr>
              </a:lvl1pPr>
              <a:lvl2pPr marL="742950" indent="-285750">
                <a:defRPr kumimoji="1" sz="2600" b="1" u="sng">
                  <a:solidFill>
                    <a:schemeClr val="tx1"/>
                  </a:solidFill>
                  <a:latin typeface="Times New Roman" panose="02020603050405020304" pitchFamily="18" charset="0"/>
                  <a:ea typeface="宋体" panose="02010600030101010101" pitchFamily="2" charset="-122"/>
                </a:defRPr>
              </a:lvl2pPr>
              <a:lvl3pPr marL="1143000" indent="-228600">
                <a:defRPr kumimoji="1" sz="2600" b="1" u="sng">
                  <a:solidFill>
                    <a:schemeClr val="tx1"/>
                  </a:solidFill>
                  <a:latin typeface="Times New Roman" panose="02020603050405020304" pitchFamily="18" charset="0"/>
                  <a:ea typeface="宋体" panose="02010600030101010101" pitchFamily="2" charset="-122"/>
                </a:defRPr>
              </a:lvl3pPr>
              <a:lvl4pPr marL="1600200" indent="-228600">
                <a:defRPr kumimoji="1" sz="2600" b="1" u="sng">
                  <a:solidFill>
                    <a:schemeClr val="tx1"/>
                  </a:solidFill>
                  <a:latin typeface="Times New Roman" panose="02020603050405020304" pitchFamily="18" charset="0"/>
                  <a:ea typeface="宋体" panose="02010600030101010101" pitchFamily="2" charset="-122"/>
                </a:defRPr>
              </a:lvl4pPr>
              <a:lvl5pPr marL="2057400" indent="-228600">
                <a:defRPr kumimoji="1" sz="2600" b="1"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9pPr>
            </a:lstStyle>
            <a:p>
              <a:pPr eaLnBrk="1" hangingPunct="1"/>
              <a:endParaRPr lang="en-US" altLang="zh-CN"/>
            </a:p>
          </p:txBody>
        </p:sp>
        <p:sp>
          <p:nvSpPr>
            <p:cNvPr id="19" name="Line 12">
              <a:extLst>
                <a:ext uri="{FF2B5EF4-FFF2-40B4-BE49-F238E27FC236}">
                  <a16:creationId xmlns:a16="http://schemas.microsoft.com/office/drawing/2014/main" id="{5FF48D7C-3D0C-3D20-16AB-B1684470A6F1}"/>
                </a:ext>
              </a:extLst>
            </p:cNvPr>
            <p:cNvSpPr>
              <a:spLocks noChangeShapeType="1"/>
            </p:cNvSpPr>
            <p:nvPr/>
          </p:nvSpPr>
          <p:spPr bwMode="auto">
            <a:xfrm>
              <a:off x="1344" y="5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3">
              <a:extLst>
                <a:ext uri="{FF2B5EF4-FFF2-40B4-BE49-F238E27FC236}">
                  <a16:creationId xmlns:a16="http://schemas.microsoft.com/office/drawing/2014/main" id="{BD39CEED-4648-03B0-6A68-59F86DFBF363}"/>
                </a:ext>
              </a:extLst>
            </p:cNvPr>
            <p:cNvSpPr>
              <a:spLocks noChangeShapeType="1"/>
            </p:cNvSpPr>
            <p:nvPr/>
          </p:nvSpPr>
          <p:spPr bwMode="auto">
            <a:xfrm flipH="1">
              <a:off x="1895" y="576"/>
              <a:ext cx="27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Rectangle 14">
              <a:extLst>
                <a:ext uri="{FF2B5EF4-FFF2-40B4-BE49-F238E27FC236}">
                  <a16:creationId xmlns:a16="http://schemas.microsoft.com/office/drawing/2014/main" id="{738ABDA4-6DD8-7E3C-7517-E23AC3F90D22}"/>
                </a:ext>
              </a:extLst>
            </p:cNvPr>
            <p:cNvSpPr>
              <a:spLocks noChangeArrowheads="1"/>
            </p:cNvSpPr>
            <p:nvPr/>
          </p:nvSpPr>
          <p:spPr bwMode="auto">
            <a:xfrm>
              <a:off x="1872" y="192"/>
              <a:ext cx="34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600" b="1" u="sng">
                  <a:solidFill>
                    <a:schemeClr val="tx1"/>
                  </a:solidFill>
                  <a:latin typeface="Times New Roman" panose="02020603050405020304" pitchFamily="18" charset="0"/>
                  <a:ea typeface="宋体" panose="02010600030101010101" pitchFamily="2" charset="-122"/>
                </a:defRPr>
              </a:lvl1pPr>
              <a:lvl2pPr marL="742950" indent="-285750">
                <a:defRPr kumimoji="1" sz="2600" b="1" u="sng">
                  <a:solidFill>
                    <a:schemeClr val="tx1"/>
                  </a:solidFill>
                  <a:latin typeface="Times New Roman" panose="02020603050405020304" pitchFamily="18" charset="0"/>
                  <a:ea typeface="宋体" panose="02010600030101010101" pitchFamily="2" charset="-122"/>
                </a:defRPr>
              </a:lvl2pPr>
              <a:lvl3pPr marL="1143000" indent="-228600">
                <a:defRPr kumimoji="1" sz="2600" b="1" u="sng">
                  <a:solidFill>
                    <a:schemeClr val="tx1"/>
                  </a:solidFill>
                  <a:latin typeface="Times New Roman" panose="02020603050405020304" pitchFamily="18" charset="0"/>
                  <a:ea typeface="宋体" panose="02010600030101010101" pitchFamily="2" charset="-122"/>
                </a:defRPr>
              </a:lvl3pPr>
              <a:lvl4pPr marL="1600200" indent="-228600">
                <a:defRPr kumimoji="1" sz="2600" b="1" u="sng">
                  <a:solidFill>
                    <a:schemeClr val="tx1"/>
                  </a:solidFill>
                  <a:latin typeface="Times New Roman" panose="02020603050405020304" pitchFamily="18" charset="0"/>
                  <a:ea typeface="宋体" panose="02010600030101010101" pitchFamily="2" charset="-122"/>
                </a:defRPr>
              </a:lvl4pPr>
              <a:lvl5pPr marL="2057400" indent="-228600">
                <a:defRPr kumimoji="1" sz="2600" b="1"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9pPr>
            </a:lstStyle>
            <a:p>
              <a:r>
                <a:rPr lang="en-US" altLang="zh-CN" i="1" u="none" dirty="0"/>
                <a:t>v</a:t>
              </a:r>
              <a:r>
                <a:rPr lang="en-US" altLang="zh-CN" u="none" baseline="-25000" dirty="0"/>
                <a:t>20</a:t>
              </a:r>
            </a:p>
          </p:txBody>
        </p:sp>
        <p:sp>
          <p:nvSpPr>
            <p:cNvPr id="22" name="Rectangle 15">
              <a:extLst>
                <a:ext uri="{FF2B5EF4-FFF2-40B4-BE49-F238E27FC236}">
                  <a16:creationId xmlns:a16="http://schemas.microsoft.com/office/drawing/2014/main" id="{44DD9D13-C3A9-586A-B803-2C325D58DCEF}"/>
                </a:ext>
              </a:extLst>
            </p:cNvPr>
            <p:cNvSpPr>
              <a:spLocks noChangeArrowheads="1"/>
            </p:cNvSpPr>
            <p:nvPr/>
          </p:nvSpPr>
          <p:spPr bwMode="auto">
            <a:xfrm>
              <a:off x="1296" y="192"/>
              <a:ext cx="34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600" b="1" u="sng">
                  <a:solidFill>
                    <a:schemeClr val="tx1"/>
                  </a:solidFill>
                  <a:latin typeface="Times New Roman" panose="02020603050405020304" pitchFamily="18" charset="0"/>
                  <a:ea typeface="宋体" panose="02010600030101010101" pitchFamily="2" charset="-122"/>
                </a:defRPr>
              </a:lvl1pPr>
              <a:lvl2pPr marL="742950" indent="-285750">
                <a:defRPr kumimoji="1" sz="2600" b="1" u="sng">
                  <a:solidFill>
                    <a:schemeClr val="tx1"/>
                  </a:solidFill>
                  <a:latin typeface="Times New Roman" panose="02020603050405020304" pitchFamily="18" charset="0"/>
                  <a:ea typeface="宋体" panose="02010600030101010101" pitchFamily="2" charset="-122"/>
                </a:defRPr>
              </a:lvl2pPr>
              <a:lvl3pPr marL="1143000" indent="-228600">
                <a:defRPr kumimoji="1" sz="2600" b="1" u="sng">
                  <a:solidFill>
                    <a:schemeClr val="tx1"/>
                  </a:solidFill>
                  <a:latin typeface="Times New Roman" panose="02020603050405020304" pitchFamily="18" charset="0"/>
                  <a:ea typeface="宋体" panose="02010600030101010101" pitchFamily="2" charset="-122"/>
                </a:defRPr>
              </a:lvl3pPr>
              <a:lvl4pPr marL="1600200" indent="-228600">
                <a:defRPr kumimoji="1" sz="2600" b="1" u="sng">
                  <a:solidFill>
                    <a:schemeClr val="tx1"/>
                  </a:solidFill>
                  <a:latin typeface="Times New Roman" panose="02020603050405020304" pitchFamily="18" charset="0"/>
                  <a:ea typeface="宋体" panose="02010600030101010101" pitchFamily="2" charset="-122"/>
                </a:defRPr>
              </a:lvl4pPr>
              <a:lvl5pPr marL="2057400" indent="-228600">
                <a:defRPr kumimoji="1" sz="2600" b="1"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600" b="1" u="sng">
                  <a:solidFill>
                    <a:schemeClr val="tx1"/>
                  </a:solidFill>
                  <a:latin typeface="Times New Roman" panose="02020603050405020304" pitchFamily="18" charset="0"/>
                  <a:ea typeface="宋体" panose="02010600030101010101" pitchFamily="2" charset="-122"/>
                </a:defRPr>
              </a:lvl9pPr>
            </a:lstStyle>
            <a:p>
              <a:r>
                <a:rPr lang="en-US" altLang="zh-CN" i="1" u="none" dirty="0"/>
                <a:t>v</a:t>
              </a:r>
              <a:r>
                <a:rPr lang="en-US" altLang="zh-CN" u="none" baseline="-25000" dirty="0"/>
                <a:t>10</a:t>
              </a:r>
            </a:p>
          </p:txBody>
        </p:sp>
      </p:grpSp>
      <p:sp>
        <p:nvSpPr>
          <p:cNvPr id="14" name="Text Box 13">
            <a:hlinkClick r:id="" action="ppaction://noaction"/>
            <a:extLst>
              <a:ext uri="{FF2B5EF4-FFF2-40B4-BE49-F238E27FC236}">
                <a16:creationId xmlns:a16="http://schemas.microsoft.com/office/drawing/2014/main" id="{93C335A8-2280-491E-AA1C-C4F84AD741EC}"/>
              </a:ext>
            </a:extLst>
          </p:cNvPr>
          <p:cNvSpPr txBox="1">
            <a:spLocks noChangeArrowheads="1"/>
          </p:cNvSpPr>
          <p:nvPr/>
        </p:nvSpPr>
        <p:spPr bwMode="auto">
          <a:xfrm>
            <a:off x="6155186" y="611263"/>
            <a:ext cx="56296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ea"/>
                <a:ea typeface="+mn-ea"/>
                <a:cs typeface="Times New Roman" panose="02020603050405020304" pitchFamily="18" charset="0"/>
              </a:rPr>
              <a:t>质心参考系中的功能关系</a:t>
            </a:r>
            <a:endParaRPr kumimoji="1" lang="en-US" altLang="zh-CN" sz="3200" b="1" i="0" u="none" strike="noStrike" kern="1200" cap="none" spc="0" normalizeH="0" baseline="0" noProof="0" dirty="0">
              <a:ln>
                <a:noFill/>
              </a:ln>
              <a:solidFill>
                <a:srgbClr val="0066FF"/>
              </a:solidFill>
              <a:effectLst/>
              <a:uLnTx/>
              <a:uFillTx/>
              <a:latin typeface="+mn-ea"/>
              <a:ea typeface="+mn-ea"/>
              <a:cs typeface="Times New Roman" panose="02020603050405020304" pitchFamily="18" charset="0"/>
            </a:endParaRPr>
          </a:p>
        </p:txBody>
      </p:sp>
      <p:sp>
        <p:nvSpPr>
          <p:cNvPr id="16" name="Text Box 7">
            <a:extLst>
              <a:ext uri="{FF2B5EF4-FFF2-40B4-BE49-F238E27FC236}">
                <a16:creationId xmlns:a16="http://schemas.microsoft.com/office/drawing/2014/main" id="{6A2E2773-C588-4497-BCA1-B1C678FA4037}"/>
              </a:ext>
            </a:extLst>
          </p:cNvPr>
          <p:cNvSpPr txBox="1">
            <a:spLocks noChangeArrowheads="1"/>
          </p:cNvSpPr>
          <p:nvPr/>
        </p:nvSpPr>
        <p:spPr bwMode="auto">
          <a:xfrm>
            <a:off x="6096000" y="1416536"/>
            <a:ext cx="5688870" cy="17864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just" eaLnBrk="1" hangingPunct="1">
              <a:lnSpc>
                <a:spcPct val="125000"/>
              </a:lnSpc>
              <a:spcBef>
                <a:spcPct val="50000"/>
              </a:spcBef>
            </a:pPr>
            <a:r>
              <a:rPr lang="en-US" altLang="zh-CN" sz="3000" dirty="0">
                <a:latin typeface="+mn-ea"/>
              </a:rPr>
              <a:t>    </a:t>
            </a:r>
            <a:r>
              <a:rPr lang="zh-CN" altLang="en-US" sz="3000" dirty="0">
                <a:latin typeface="+mn-ea"/>
              </a:rPr>
              <a:t>相对于质心参考系，外力做功和非保守内力做功的和，等于质点系内能的增量</a:t>
            </a:r>
          </a:p>
        </p:txBody>
      </p:sp>
      <mc:AlternateContent xmlns:mc="http://schemas.openxmlformats.org/markup-compatibility/2006" xmlns:a14="http://schemas.microsoft.com/office/drawing/2010/main">
        <mc:Choice Requires="a14">
          <p:sp>
            <p:nvSpPr>
              <p:cNvPr id="23" name="Object 11">
                <a:extLst>
                  <a:ext uri="{FF2B5EF4-FFF2-40B4-BE49-F238E27FC236}">
                    <a16:creationId xmlns:a16="http://schemas.microsoft.com/office/drawing/2014/main" id="{F1AFEA8F-40AA-4908-A584-BBF546F0F9C7}"/>
                  </a:ext>
                </a:extLst>
              </p:cNvPr>
              <p:cNvSpPr txBox="1"/>
              <p:nvPr/>
            </p:nvSpPr>
            <p:spPr bwMode="auto">
              <a:xfrm>
                <a:off x="6478960" y="3423485"/>
                <a:ext cx="7225242" cy="6699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3000" i="1" smtClean="0">
                              <a:solidFill>
                                <a:schemeClr val="tx1"/>
                              </a:solidFill>
                              <a:latin typeface="Cambria Math" panose="02040503050406030204" pitchFamily="18" charset="0"/>
                            </a:rPr>
                          </m:ctrlPr>
                        </m:sSubSupPr>
                        <m:e>
                          <m:r>
                            <a:rPr lang="en-US" altLang="zh-CN" sz="3000" b="0" i="1" smtClean="0">
                              <a:solidFill>
                                <a:schemeClr val="tx1"/>
                              </a:solidFill>
                              <a:latin typeface="Cambria Math" panose="02040503050406030204" pitchFamily="18" charset="0"/>
                            </a:rPr>
                            <m:t>𝐴</m:t>
                          </m:r>
                        </m:e>
                        <m:sub>
                          <m:r>
                            <a:rPr lang="zh-CN" altLang="en-US" sz="3000" i="1">
                              <a:solidFill>
                                <a:schemeClr val="tx1"/>
                              </a:solidFill>
                              <a:latin typeface="Cambria Math" panose="02040503050406030204" pitchFamily="18" charset="0"/>
                            </a:rPr>
                            <m:t>𝑒𝑥𝑡</m:t>
                          </m:r>
                        </m:sub>
                        <m:sup>
                          <m:r>
                            <a:rPr lang="zh-CN" altLang="en-US" sz="3000" i="1">
                              <a:solidFill>
                                <a:schemeClr val="tx1"/>
                              </a:solidFill>
                              <a:latin typeface="Cambria Math" panose="02040503050406030204" pitchFamily="18" charset="0"/>
                            </a:rPr>
                            <m:t>′</m:t>
                          </m:r>
                        </m:sup>
                      </m:sSubSup>
                      <m:r>
                        <a:rPr lang="zh-CN" altLang="en-US" sz="3000" i="1">
                          <a:solidFill>
                            <a:schemeClr val="tx1"/>
                          </a:solidFill>
                          <a:latin typeface="Cambria Math" panose="02040503050406030204" pitchFamily="18" charset="0"/>
                        </a:rPr>
                        <m:t>+</m:t>
                      </m:r>
                      <m:sSubSup>
                        <m:sSubSupPr>
                          <m:ctrlPr>
                            <a:rPr lang="zh-CN" altLang="en-US" sz="3000" i="1">
                              <a:solidFill>
                                <a:schemeClr val="tx1"/>
                              </a:solidFill>
                              <a:latin typeface="Cambria Math" panose="02040503050406030204" pitchFamily="18" charset="0"/>
                            </a:rPr>
                          </m:ctrlPr>
                        </m:sSubSupPr>
                        <m:e>
                          <m:r>
                            <a:rPr lang="en-US" altLang="zh-CN" sz="3000" b="0" i="1" smtClean="0">
                              <a:solidFill>
                                <a:schemeClr val="tx1"/>
                              </a:solidFill>
                              <a:latin typeface="Cambria Math" panose="02040503050406030204" pitchFamily="18" charset="0"/>
                            </a:rPr>
                            <m:t>𝐴</m:t>
                          </m:r>
                        </m:e>
                        <m:sub>
                          <m:r>
                            <a:rPr lang="zh-CN" altLang="en-US" sz="3000" i="1">
                              <a:solidFill>
                                <a:schemeClr val="tx1"/>
                              </a:solidFill>
                              <a:latin typeface="Cambria Math" panose="02040503050406030204" pitchFamily="18" charset="0"/>
                            </a:rPr>
                            <m:t>𝑖𝑛</m:t>
                          </m:r>
                          <m:r>
                            <a:rPr lang="zh-CN" altLang="en-US" sz="3000" i="1">
                              <a:solidFill>
                                <a:schemeClr val="tx1"/>
                              </a:solidFill>
                              <a:latin typeface="Cambria Math" panose="02040503050406030204" pitchFamily="18" charset="0"/>
                            </a:rPr>
                            <m:t>,</m:t>
                          </m:r>
                          <m:r>
                            <a:rPr lang="zh-CN" altLang="en-US" sz="3000" i="1">
                              <a:solidFill>
                                <a:schemeClr val="tx1"/>
                              </a:solidFill>
                              <a:latin typeface="Cambria Math" panose="02040503050406030204" pitchFamily="18" charset="0"/>
                            </a:rPr>
                            <m:t>𝑛</m:t>
                          </m:r>
                          <m:r>
                            <a:rPr lang="zh-CN" altLang="en-US" sz="3000" i="1">
                              <a:solidFill>
                                <a:schemeClr val="tx1"/>
                              </a:solidFill>
                              <a:latin typeface="Cambria Math" panose="02040503050406030204" pitchFamily="18" charset="0"/>
                            </a:rPr>
                            <m:t>−</m:t>
                          </m:r>
                          <m:r>
                            <a:rPr lang="zh-CN" altLang="en-US" sz="3000" i="1">
                              <a:solidFill>
                                <a:schemeClr val="tx1"/>
                              </a:solidFill>
                              <a:latin typeface="Cambria Math" panose="02040503050406030204" pitchFamily="18" charset="0"/>
                            </a:rPr>
                            <m:t>𝑐𝑜𝑛𝑠</m:t>
                          </m:r>
                        </m:sub>
                        <m:sup>
                          <m:r>
                            <a:rPr lang="zh-CN" altLang="en-US" sz="3000" i="1">
                              <a:solidFill>
                                <a:schemeClr val="tx1"/>
                              </a:solidFill>
                              <a:latin typeface="Cambria Math" panose="02040503050406030204" pitchFamily="18" charset="0"/>
                            </a:rPr>
                            <m:t>′</m:t>
                          </m:r>
                        </m:sup>
                      </m:sSubSup>
                      <m:r>
                        <a:rPr lang="zh-CN" altLang="en-US" sz="3000" i="1">
                          <a:solidFill>
                            <a:schemeClr val="tx1"/>
                          </a:solidFill>
                          <a:latin typeface="Cambria Math" panose="02040503050406030204" pitchFamily="18" charset="0"/>
                        </a:rPr>
                        <m:t>=</m:t>
                      </m:r>
                      <m:sSub>
                        <m:sSubPr>
                          <m:ctrlPr>
                            <a:rPr lang="zh-CN" altLang="en-US" sz="3000" i="1">
                              <a:solidFill>
                                <a:schemeClr val="tx1"/>
                              </a:solidFill>
                              <a:latin typeface="Cambria Math" panose="02040503050406030204" pitchFamily="18" charset="0"/>
                            </a:rPr>
                          </m:ctrlPr>
                        </m:sSubPr>
                        <m:e>
                          <m:r>
                            <a:rPr lang="zh-CN" altLang="en-US" sz="3000" i="1">
                              <a:solidFill>
                                <a:schemeClr val="tx1"/>
                              </a:solidFill>
                              <a:latin typeface="Cambria Math" panose="02040503050406030204" pitchFamily="18" charset="0"/>
                            </a:rPr>
                            <m:t>𝐸</m:t>
                          </m:r>
                        </m:e>
                        <m:sub>
                          <m:r>
                            <a:rPr lang="zh-CN" altLang="en-US" sz="3000" i="1">
                              <a:solidFill>
                                <a:schemeClr val="tx1"/>
                              </a:solidFill>
                              <a:latin typeface="Cambria Math" panose="02040503050406030204" pitchFamily="18" charset="0"/>
                            </a:rPr>
                            <m:t>𝑖𝑛</m:t>
                          </m:r>
                          <m:r>
                            <a:rPr lang="zh-CN" altLang="en-US" sz="3000" i="1">
                              <a:solidFill>
                                <a:schemeClr val="tx1"/>
                              </a:solidFill>
                              <a:latin typeface="Cambria Math" panose="02040503050406030204" pitchFamily="18" charset="0"/>
                            </a:rPr>
                            <m:t>,</m:t>
                          </m:r>
                          <m:r>
                            <a:rPr lang="zh-CN" altLang="en-US" sz="3000" i="1">
                              <a:solidFill>
                                <a:schemeClr val="tx1"/>
                              </a:solidFill>
                              <a:latin typeface="Cambria Math" panose="02040503050406030204" pitchFamily="18" charset="0"/>
                            </a:rPr>
                            <m:t>𝐵</m:t>
                          </m:r>
                        </m:sub>
                      </m:sSub>
                      <m:r>
                        <a:rPr lang="zh-CN" altLang="en-US" sz="3000" i="1">
                          <a:solidFill>
                            <a:schemeClr val="tx1"/>
                          </a:solidFill>
                          <a:latin typeface="Cambria Math" panose="02040503050406030204" pitchFamily="18" charset="0"/>
                        </a:rPr>
                        <m:t>−</m:t>
                      </m:r>
                      <m:sSub>
                        <m:sSubPr>
                          <m:ctrlPr>
                            <a:rPr lang="zh-CN" altLang="en-US" sz="3000" i="1">
                              <a:solidFill>
                                <a:schemeClr val="tx1"/>
                              </a:solidFill>
                              <a:latin typeface="Cambria Math" panose="02040503050406030204" pitchFamily="18" charset="0"/>
                            </a:rPr>
                          </m:ctrlPr>
                        </m:sSubPr>
                        <m:e>
                          <m:r>
                            <a:rPr lang="zh-CN" altLang="en-US" sz="3000" i="1">
                              <a:solidFill>
                                <a:schemeClr val="tx1"/>
                              </a:solidFill>
                              <a:latin typeface="Cambria Math" panose="02040503050406030204" pitchFamily="18" charset="0"/>
                            </a:rPr>
                            <m:t>𝐸</m:t>
                          </m:r>
                        </m:e>
                        <m:sub>
                          <m:r>
                            <a:rPr lang="zh-CN" altLang="en-US" sz="3000" i="1">
                              <a:solidFill>
                                <a:schemeClr val="tx1"/>
                              </a:solidFill>
                              <a:latin typeface="Cambria Math" panose="02040503050406030204" pitchFamily="18" charset="0"/>
                            </a:rPr>
                            <m:t>𝑖𝑛</m:t>
                          </m:r>
                          <m:r>
                            <a:rPr lang="zh-CN" altLang="en-US" sz="3000" i="1">
                              <a:solidFill>
                                <a:schemeClr val="tx1"/>
                              </a:solidFill>
                              <a:latin typeface="Cambria Math" panose="02040503050406030204" pitchFamily="18" charset="0"/>
                            </a:rPr>
                            <m:t>,</m:t>
                          </m:r>
                          <m:r>
                            <a:rPr lang="zh-CN" altLang="en-US" sz="3000" i="1">
                              <a:solidFill>
                                <a:schemeClr val="tx1"/>
                              </a:solidFill>
                              <a:latin typeface="Cambria Math" panose="02040503050406030204" pitchFamily="18" charset="0"/>
                            </a:rPr>
                            <m:t>𝐴</m:t>
                          </m:r>
                        </m:sub>
                      </m:sSub>
                    </m:oMath>
                  </m:oMathPara>
                </a14:m>
                <a:endParaRPr lang="zh-CN" altLang="en-US" sz="3000" dirty="0">
                  <a:solidFill>
                    <a:schemeClr val="tx1"/>
                  </a:solidFill>
                  <a:latin typeface="+mn-ea"/>
                </a:endParaRPr>
              </a:p>
            </p:txBody>
          </p:sp>
        </mc:Choice>
        <mc:Fallback xmlns="">
          <p:sp>
            <p:nvSpPr>
              <p:cNvPr id="23" name="Object 11">
                <a:extLst>
                  <a:ext uri="{FF2B5EF4-FFF2-40B4-BE49-F238E27FC236}">
                    <a16:creationId xmlns:a16="http://schemas.microsoft.com/office/drawing/2014/main" id="{F1AFEA8F-40AA-4908-A584-BBF546F0F9C7}"/>
                  </a:ext>
                </a:extLst>
              </p:cNvPr>
              <p:cNvSpPr txBox="1">
                <a:spLocks noRot="1" noChangeAspect="1" noMove="1" noResize="1" noEditPoints="1" noAdjustHandles="1" noChangeArrowheads="1" noChangeShapeType="1" noTextEdit="1"/>
              </p:cNvSpPr>
              <p:nvPr/>
            </p:nvSpPr>
            <p:spPr bwMode="auto">
              <a:xfrm>
                <a:off x="6478960" y="3423485"/>
                <a:ext cx="7225242" cy="669925"/>
              </a:xfrm>
              <a:prstGeom prst="rect">
                <a:avLst/>
              </a:prstGeom>
              <a:blipFill>
                <a:blip r:embed="rId4"/>
                <a:stretch>
                  <a:fillRect/>
                </a:stretch>
              </a:blipFill>
              <a:ln>
                <a:noFill/>
              </a:ln>
              <a:effectLst/>
            </p:spPr>
            <p:txBody>
              <a:bodyPr/>
              <a:lstStyle/>
              <a:p>
                <a:r>
                  <a:rPr lang="en-US">
                    <a:noFill/>
                  </a:rPr>
                  <a:t> </a:t>
                </a:r>
              </a:p>
            </p:txBody>
          </p:sp>
        </mc:Fallback>
      </mc:AlternateContent>
      <p:sp>
        <p:nvSpPr>
          <p:cNvPr id="2" name="文本框 1">
            <a:extLst>
              <a:ext uri="{FF2B5EF4-FFF2-40B4-BE49-F238E27FC236}">
                <a16:creationId xmlns:a16="http://schemas.microsoft.com/office/drawing/2014/main" id="{3CDD2497-06AD-4B06-9B91-617FDCD02508}"/>
              </a:ext>
            </a:extLst>
          </p:cNvPr>
          <p:cNvSpPr txBox="1"/>
          <p:nvPr/>
        </p:nvSpPr>
        <p:spPr>
          <a:xfrm>
            <a:off x="793894" y="1386238"/>
            <a:ext cx="4493538" cy="523220"/>
          </a:xfrm>
          <a:prstGeom prst="rect">
            <a:avLst/>
          </a:prstGeom>
          <a:noFill/>
        </p:spPr>
        <p:txBody>
          <a:bodyPr wrap="none" rtlCol="0">
            <a:spAutoFit/>
          </a:bodyPr>
          <a:lstStyle/>
          <a:p>
            <a:r>
              <a:rPr lang="zh-CN" altLang="en-US" sz="2800" dirty="0"/>
              <a:t>气体分子与活塞的弹性碰撞</a:t>
            </a:r>
            <a:endParaRPr lang="en-US" sz="2800" dirty="0"/>
          </a:p>
        </p:txBody>
      </p:sp>
      <p:sp>
        <p:nvSpPr>
          <p:cNvPr id="3" name="矩形 2">
            <a:extLst>
              <a:ext uri="{FF2B5EF4-FFF2-40B4-BE49-F238E27FC236}">
                <a16:creationId xmlns:a16="http://schemas.microsoft.com/office/drawing/2014/main" id="{263AE6EF-6982-4883-A702-C810F91D74D7}"/>
              </a:ext>
            </a:extLst>
          </p:cNvPr>
          <p:cNvSpPr/>
          <p:nvPr/>
        </p:nvSpPr>
        <p:spPr>
          <a:xfrm>
            <a:off x="4826000" y="4660589"/>
            <a:ext cx="1270000" cy="6842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3">
            <a:extLst>
              <a:ext uri="{FF2B5EF4-FFF2-40B4-BE49-F238E27FC236}">
                <a16:creationId xmlns:a16="http://schemas.microsoft.com/office/drawing/2014/main" id="{B794A2AE-2346-47B8-A402-926D7D99927B}"/>
              </a:ext>
            </a:extLst>
          </p:cNvPr>
          <p:cNvSpPr/>
          <p:nvPr/>
        </p:nvSpPr>
        <p:spPr>
          <a:xfrm>
            <a:off x="3333533" y="5471762"/>
            <a:ext cx="3185487" cy="492443"/>
          </a:xfrm>
          <a:prstGeom prst="rect">
            <a:avLst/>
          </a:prstGeom>
        </p:spPr>
        <p:txBody>
          <a:bodyPr wrap="none">
            <a:spAutoFit/>
          </a:bodyPr>
          <a:lstStyle/>
          <a:p>
            <a:r>
              <a:rPr lang="zh-CN" altLang="en-US" sz="2600" dirty="0"/>
              <a:t>活塞运动做功的本质</a:t>
            </a:r>
            <a:endParaRPr lang="en-US" sz="2600" dirty="0"/>
          </a:p>
        </p:txBody>
      </p:sp>
      <p:sp>
        <p:nvSpPr>
          <p:cNvPr id="24" name="Text Box 7">
            <a:extLst>
              <a:ext uri="{FF2B5EF4-FFF2-40B4-BE49-F238E27FC236}">
                <a16:creationId xmlns:a16="http://schemas.microsoft.com/office/drawing/2014/main" id="{A2FC1F04-5774-44C7-B949-C1CF52E7906C}"/>
              </a:ext>
            </a:extLst>
          </p:cNvPr>
          <p:cNvSpPr txBox="1">
            <a:spLocks noChangeArrowheads="1"/>
          </p:cNvSpPr>
          <p:nvPr/>
        </p:nvSpPr>
        <p:spPr bwMode="auto">
          <a:xfrm>
            <a:off x="6652446" y="4242144"/>
            <a:ext cx="5688870" cy="632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just" eaLnBrk="1" hangingPunct="1">
              <a:lnSpc>
                <a:spcPct val="125000"/>
              </a:lnSpc>
              <a:spcBef>
                <a:spcPct val="50000"/>
              </a:spcBef>
            </a:pPr>
            <a:r>
              <a:rPr lang="en-US" altLang="zh-CN" sz="3000" dirty="0">
                <a:latin typeface="+mn-ea"/>
              </a:rPr>
              <a:t>-</a:t>
            </a:r>
            <a:r>
              <a:rPr lang="zh-CN" altLang="en-US" sz="3000" dirty="0">
                <a:latin typeface="+mn-ea"/>
              </a:rPr>
              <a:t>不考虑热力学系统宏观的移动</a:t>
            </a:r>
          </a:p>
        </p:txBody>
      </p:sp>
      <p:sp>
        <p:nvSpPr>
          <p:cNvPr id="25" name="Text Box 7">
            <a:extLst>
              <a:ext uri="{FF2B5EF4-FFF2-40B4-BE49-F238E27FC236}">
                <a16:creationId xmlns:a16="http://schemas.microsoft.com/office/drawing/2014/main" id="{42C35C82-9575-42E7-9C51-4131FC3F44A8}"/>
              </a:ext>
            </a:extLst>
          </p:cNvPr>
          <p:cNvSpPr txBox="1">
            <a:spLocks noChangeArrowheads="1"/>
          </p:cNvSpPr>
          <p:nvPr/>
        </p:nvSpPr>
        <p:spPr bwMode="auto">
          <a:xfrm>
            <a:off x="6652446" y="4836779"/>
            <a:ext cx="5488754" cy="1209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just" eaLnBrk="1" hangingPunct="1">
              <a:lnSpc>
                <a:spcPct val="125000"/>
              </a:lnSpc>
              <a:spcBef>
                <a:spcPct val="50000"/>
              </a:spcBef>
            </a:pPr>
            <a:r>
              <a:rPr lang="en-US" altLang="zh-CN" sz="3000" dirty="0">
                <a:latin typeface="+mn-ea"/>
              </a:rPr>
              <a:t>-</a:t>
            </a:r>
            <a:r>
              <a:rPr lang="zh-CN" altLang="en-US" sz="3000" dirty="0">
                <a:latin typeface="+mn-ea"/>
              </a:rPr>
              <a:t>分子间的作用力是保守力：</a:t>
            </a:r>
            <a:br>
              <a:rPr lang="en-US" altLang="zh-CN" sz="3000" dirty="0">
                <a:latin typeface="+mn-ea"/>
              </a:rPr>
            </a:br>
            <a:r>
              <a:rPr lang="zh-CN" altLang="en-US" sz="3000" dirty="0">
                <a:latin typeface="+mn-ea"/>
              </a:rPr>
              <a:t>热力学系统是保守系统</a:t>
            </a:r>
          </a:p>
        </p:txBody>
      </p:sp>
      <p:sp>
        <p:nvSpPr>
          <p:cNvPr id="26" name="Text Box 7">
            <a:extLst>
              <a:ext uri="{FF2B5EF4-FFF2-40B4-BE49-F238E27FC236}">
                <a16:creationId xmlns:a16="http://schemas.microsoft.com/office/drawing/2014/main" id="{73BFB78A-0DD4-4001-923A-972D2732C099}"/>
              </a:ext>
            </a:extLst>
          </p:cNvPr>
          <p:cNvSpPr txBox="1">
            <a:spLocks noChangeArrowheads="1"/>
          </p:cNvSpPr>
          <p:nvPr/>
        </p:nvSpPr>
        <p:spPr bwMode="auto">
          <a:xfrm>
            <a:off x="893726" y="6107543"/>
            <a:ext cx="10650574" cy="632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just" eaLnBrk="1" hangingPunct="1">
              <a:lnSpc>
                <a:spcPct val="125000"/>
              </a:lnSpc>
              <a:spcBef>
                <a:spcPct val="50000"/>
              </a:spcBef>
            </a:pPr>
            <a:r>
              <a:rPr lang="en-US" altLang="zh-CN" sz="3000" dirty="0">
                <a:latin typeface="+mn-ea"/>
              </a:rPr>
              <a:t>-</a:t>
            </a:r>
            <a:r>
              <a:rPr lang="zh-CN" altLang="en-US" sz="3000" dirty="0">
                <a:latin typeface="+mn-ea"/>
              </a:rPr>
              <a:t>做功增加热力学系统的内能（不考虑热传导的情况下）</a:t>
            </a:r>
          </a:p>
        </p:txBody>
      </p:sp>
    </p:spTree>
    <p:extLst>
      <p:ext uri="{BB962C8B-B14F-4D97-AF65-F5344CB8AC3E}">
        <p14:creationId xmlns:p14="http://schemas.microsoft.com/office/powerpoint/2010/main" val="102166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9" grpId="0"/>
      <p:bldP spid="5" grpId="0"/>
      <p:bldP spid="6" grpId="0"/>
      <p:bldP spid="14" grpId="0"/>
      <p:bldP spid="16" grpId="0"/>
      <p:bldP spid="23" grpId="0"/>
      <p:bldP spid="2" grpId="0"/>
      <p:bldP spid="3" grpId="0" animBg="1"/>
      <p:bldP spid="4" grpId="0"/>
      <p:bldP spid="24" grpId="0"/>
      <p:bldP spid="25"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EAA7DC9B-0002-4E1B-9C39-6EBEF930F3B0}"/>
              </a:ext>
            </a:extLst>
          </p:cNvPr>
          <p:cNvGrpSpPr/>
          <p:nvPr/>
        </p:nvGrpSpPr>
        <p:grpSpPr>
          <a:xfrm>
            <a:off x="1075842" y="1028054"/>
            <a:ext cx="3072538" cy="3192651"/>
            <a:chOff x="528" y="1536"/>
            <a:chExt cx="2496" cy="2352"/>
          </a:xfrm>
        </p:grpSpPr>
        <p:sp>
          <p:nvSpPr>
            <p:cNvPr id="3" name="Rectangle 4" descr="小纸屑">
              <a:extLst>
                <a:ext uri="{FF2B5EF4-FFF2-40B4-BE49-F238E27FC236}">
                  <a16:creationId xmlns:a16="http://schemas.microsoft.com/office/drawing/2014/main" id="{12896E56-F936-4CE4-AB92-A2BE0AECFD34}"/>
                </a:ext>
              </a:extLst>
            </p:cNvPr>
            <p:cNvSpPr/>
            <p:nvPr/>
          </p:nvSpPr>
          <p:spPr>
            <a:xfrm>
              <a:off x="1308" y="3036"/>
              <a:ext cx="858" cy="609"/>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4" name="Rectangle 5" descr="深色下对角线">
              <a:extLst>
                <a:ext uri="{FF2B5EF4-FFF2-40B4-BE49-F238E27FC236}">
                  <a16:creationId xmlns:a16="http://schemas.microsoft.com/office/drawing/2014/main" id="{BD7722FF-9409-4207-A4AC-F7E44689D97F}"/>
                </a:ext>
              </a:extLst>
            </p:cNvPr>
            <p:cNvSpPr/>
            <p:nvPr/>
          </p:nvSpPr>
          <p:spPr>
            <a:xfrm>
              <a:off x="1035" y="2388"/>
              <a:ext cx="1521" cy="1500"/>
            </a:xfrm>
            <a:prstGeom prst="rect">
              <a:avLst/>
            </a:prstGeom>
            <a:pattFill prst="dkDnDiag">
              <a:fgClr>
                <a:schemeClr val="tx1"/>
              </a:fgClr>
              <a:bgClr>
                <a:srgbClr val="FF9966"/>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5" name="Rectangle 6" descr="小纸屑">
              <a:extLst>
                <a:ext uri="{FF2B5EF4-FFF2-40B4-BE49-F238E27FC236}">
                  <a16:creationId xmlns:a16="http://schemas.microsoft.com/office/drawing/2014/main" id="{995E14C1-A4D6-4A8C-A77F-BE595A8E32B4}"/>
                </a:ext>
              </a:extLst>
            </p:cNvPr>
            <p:cNvSpPr/>
            <p:nvPr/>
          </p:nvSpPr>
          <p:spPr>
            <a:xfrm>
              <a:off x="1971" y="3199"/>
              <a:ext cx="507" cy="608"/>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6" name="Rectangle 7" descr="小纸屑">
              <a:extLst>
                <a:ext uri="{FF2B5EF4-FFF2-40B4-BE49-F238E27FC236}">
                  <a16:creationId xmlns:a16="http://schemas.microsoft.com/office/drawing/2014/main" id="{98D946AA-DD7B-4BD1-AB42-C53D672456AA}"/>
                </a:ext>
              </a:extLst>
            </p:cNvPr>
            <p:cNvSpPr/>
            <p:nvPr/>
          </p:nvSpPr>
          <p:spPr>
            <a:xfrm>
              <a:off x="1113" y="3199"/>
              <a:ext cx="858" cy="608"/>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7" name="Rectangle 8" descr="小纸屑">
              <a:extLst>
                <a:ext uri="{FF2B5EF4-FFF2-40B4-BE49-F238E27FC236}">
                  <a16:creationId xmlns:a16="http://schemas.microsoft.com/office/drawing/2014/main" id="{EFDE4C03-C48C-409E-A628-294AD0B81F14}"/>
                </a:ext>
              </a:extLst>
            </p:cNvPr>
            <p:cNvSpPr/>
            <p:nvPr/>
          </p:nvSpPr>
          <p:spPr>
            <a:xfrm>
              <a:off x="1971" y="2509"/>
              <a:ext cx="507" cy="609"/>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8" name="Rectangle 9" descr="小纸屑">
              <a:extLst>
                <a:ext uri="{FF2B5EF4-FFF2-40B4-BE49-F238E27FC236}">
                  <a16:creationId xmlns:a16="http://schemas.microsoft.com/office/drawing/2014/main" id="{9FCF048B-3929-4B41-97D0-C77F74C4EC77}"/>
                </a:ext>
              </a:extLst>
            </p:cNvPr>
            <p:cNvSpPr/>
            <p:nvPr/>
          </p:nvSpPr>
          <p:spPr>
            <a:xfrm>
              <a:off x="1113" y="2509"/>
              <a:ext cx="858" cy="609"/>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9" name="Rectangle 10">
              <a:extLst>
                <a:ext uri="{FF2B5EF4-FFF2-40B4-BE49-F238E27FC236}">
                  <a16:creationId xmlns:a16="http://schemas.microsoft.com/office/drawing/2014/main" id="{98C022FE-1CA4-465D-B729-36F3D12DD81B}"/>
                </a:ext>
              </a:extLst>
            </p:cNvPr>
            <p:cNvSpPr>
              <a:spLocks noChangeArrowheads="1"/>
            </p:cNvSpPr>
            <p:nvPr/>
          </p:nvSpPr>
          <p:spPr bwMode="auto">
            <a:xfrm>
              <a:off x="1547" y="2793"/>
              <a:ext cx="497" cy="41"/>
            </a:xfrm>
            <a:prstGeom prst="rect">
              <a:avLst/>
            </a:prstGeom>
            <a:gradFill rotWithShape="0">
              <a:gsLst>
                <a:gs pos="0">
                  <a:schemeClr val="accent1">
                    <a:gamma/>
                    <a:shade val="66275"/>
                    <a:invGamma/>
                  </a:schemeClr>
                </a:gs>
                <a:gs pos="50000">
                  <a:schemeClr val="accent1"/>
                </a:gs>
                <a:gs pos="100000">
                  <a:schemeClr val="accent1">
                    <a:gamma/>
                    <a:shade val="66275"/>
                    <a:invGamma/>
                  </a:schemeClr>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chemeClr val="bg2"/>
                </a:solidFill>
                <a:effectLst/>
                <a:uLnTx/>
                <a:uFillTx/>
                <a:latin typeface="Bookman Old Style" panose="02050604050505020204" pitchFamily="18" charset="0"/>
                <a:ea typeface="宋体" panose="02010600030101010101" pitchFamily="2" charset="-122"/>
                <a:cs typeface="+mn-cs"/>
              </a:endParaRPr>
            </a:p>
          </p:txBody>
        </p:sp>
        <p:sp>
          <p:nvSpPr>
            <p:cNvPr id="10" name="Rectangle 11">
              <a:extLst>
                <a:ext uri="{FF2B5EF4-FFF2-40B4-BE49-F238E27FC236}">
                  <a16:creationId xmlns:a16="http://schemas.microsoft.com/office/drawing/2014/main" id="{E649AD4C-766D-441F-8419-0765EF6C422C}"/>
                </a:ext>
              </a:extLst>
            </p:cNvPr>
            <p:cNvSpPr/>
            <p:nvPr/>
          </p:nvSpPr>
          <p:spPr>
            <a:xfrm>
              <a:off x="2044" y="259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1" name="Rectangle 12">
              <a:extLst>
                <a:ext uri="{FF2B5EF4-FFF2-40B4-BE49-F238E27FC236}">
                  <a16:creationId xmlns:a16="http://schemas.microsoft.com/office/drawing/2014/main" id="{69C44538-3029-4C58-853D-698723A3E4F2}"/>
                </a:ext>
              </a:extLst>
            </p:cNvPr>
            <p:cNvSpPr/>
            <p:nvPr/>
          </p:nvSpPr>
          <p:spPr>
            <a:xfrm>
              <a:off x="1191" y="259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2" name="Rectangle 13">
              <a:extLst>
                <a:ext uri="{FF2B5EF4-FFF2-40B4-BE49-F238E27FC236}">
                  <a16:creationId xmlns:a16="http://schemas.microsoft.com/office/drawing/2014/main" id="{2AC08ECD-C036-4C1C-8342-DF24F22E7E03}"/>
                </a:ext>
              </a:extLst>
            </p:cNvPr>
            <p:cNvSpPr>
              <a:spLocks noChangeArrowheads="1"/>
            </p:cNvSpPr>
            <p:nvPr/>
          </p:nvSpPr>
          <p:spPr bwMode="auto">
            <a:xfrm>
              <a:off x="1547" y="3482"/>
              <a:ext cx="497" cy="41"/>
            </a:xfrm>
            <a:prstGeom prst="rect">
              <a:avLst/>
            </a:prstGeom>
            <a:gradFill rotWithShape="0">
              <a:gsLst>
                <a:gs pos="0">
                  <a:schemeClr val="accent1">
                    <a:gamma/>
                    <a:shade val="66275"/>
                    <a:invGamma/>
                  </a:schemeClr>
                </a:gs>
                <a:gs pos="50000">
                  <a:schemeClr val="accent1"/>
                </a:gs>
                <a:gs pos="100000">
                  <a:schemeClr val="accent1">
                    <a:gamma/>
                    <a:shade val="66275"/>
                    <a:invGamma/>
                  </a:schemeClr>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chemeClr val="bg2"/>
                </a:solidFill>
                <a:effectLst/>
                <a:uLnTx/>
                <a:uFillTx/>
                <a:latin typeface="Bookman Old Style" panose="02050604050505020204" pitchFamily="18" charset="0"/>
                <a:ea typeface="宋体" panose="02010600030101010101" pitchFamily="2" charset="-122"/>
                <a:cs typeface="+mn-cs"/>
              </a:endParaRPr>
            </a:p>
          </p:txBody>
        </p:sp>
        <p:sp>
          <p:nvSpPr>
            <p:cNvPr id="13" name="Rectangle 14">
              <a:extLst>
                <a:ext uri="{FF2B5EF4-FFF2-40B4-BE49-F238E27FC236}">
                  <a16:creationId xmlns:a16="http://schemas.microsoft.com/office/drawing/2014/main" id="{6EB2DE21-4901-4750-B2BB-FC67FA2DD052}"/>
                </a:ext>
              </a:extLst>
            </p:cNvPr>
            <p:cNvSpPr/>
            <p:nvPr/>
          </p:nvSpPr>
          <p:spPr>
            <a:xfrm>
              <a:off x="2044" y="328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4" name="Rectangle 15">
              <a:extLst>
                <a:ext uri="{FF2B5EF4-FFF2-40B4-BE49-F238E27FC236}">
                  <a16:creationId xmlns:a16="http://schemas.microsoft.com/office/drawing/2014/main" id="{B7919842-DA7D-4A51-8406-1486BFAB4B11}"/>
                </a:ext>
              </a:extLst>
            </p:cNvPr>
            <p:cNvSpPr/>
            <p:nvPr/>
          </p:nvSpPr>
          <p:spPr>
            <a:xfrm>
              <a:off x="1191" y="328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5" name="Oval 16">
              <a:extLst>
                <a:ext uri="{FF2B5EF4-FFF2-40B4-BE49-F238E27FC236}">
                  <a16:creationId xmlns:a16="http://schemas.microsoft.com/office/drawing/2014/main" id="{A69840BD-7FC2-4D08-AC6B-07EA9FF1646E}"/>
                </a:ext>
              </a:extLst>
            </p:cNvPr>
            <p:cNvSpPr/>
            <p:nvPr/>
          </p:nvSpPr>
          <p:spPr>
            <a:xfrm>
              <a:off x="645" y="1860"/>
              <a:ext cx="195" cy="203"/>
            </a:xfrm>
            <a:prstGeom prst="ellipse">
              <a:avLst/>
            </a:prstGeom>
            <a:solidFill>
              <a:srgbClr val="FFD96D"/>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6" name="Line 17">
              <a:extLst>
                <a:ext uri="{FF2B5EF4-FFF2-40B4-BE49-F238E27FC236}">
                  <a16:creationId xmlns:a16="http://schemas.microsoft.com/office/drawing/2014/main" id="{ACA0E320-F360-4E2D-B05A-9DEE8AC7FFF5}"/>
                </a:ext>
              </a:extLst>
            </p:cNvPr>
            <p:cNvSpPr/>
            <p:nvPr/>
          </p:nvSpPr>
          <p:spPr>
            <a:xfrm flipH="1">
              <a:off x="723" y="1860"/>
              <a:ext cx="897" cy="0"/>
            </a:xfrm>
            <a:prstGeom prst="line">
              <a:avLst/>
            </a:prstGeom>
            <a:ln w="19050" cap="flat" cmpd="sng">
              <a:solidFill>
                <a:srgbClr val="0000FF"/>
              </a:solidFill>
              <a:prstDash val="solid"/>
              <a:headEnd type="none" w="med" len="med"/>
              <a:tailEnd type="none" w="med" len="med"/>
            </a:ln>
          </p:spPr>
        </p:sp>
        <p:sp>
          <p:nvSpPr>
            <p:cNvPr id="17" name="Line 18">
              <a:extLst>
                <a:ext uri="{FF2B5EF4-FFF2-40B4-BE49-F238E27FC236}">
                  <a16:creationId xmlns:a16="http://schemas.microsoft.com/office/drawing/2014/main" id="{B0E01E51-BBA3-4EFD-9555-B6A18A8763CB}"/>
                </a:ext>
              </a:extLst>
            </p:cNvPr>
            <p:cNvSpPr/>
            <p:nvPr/>
          </p:nvSpPr>
          <p:spPr>
            <a:xfrm>
              <a:off x="645" y="1942"/>
              <a:ext cx="0" cy="729"/>
            </a:xfrm>
            <a:prstGeom prst="line">
              <a:avLst/>
            </a:prstGeom>
            <a:ln w="19050" cap="flat" cmpd="sng">
              <a:solidFill>
                <a:srgbClr val="0000FF"/>
              </a:solidFill>
              <a:prstDash val="solid"/>
              <a:headEnd type="none" w="med" len="med"/>
              <a:tailEnd type="none" w="med" len="med"/>
            </a:ln>
          </p:spPr>
        </p:sp>
        <p:sp>
          <p:nvSpPr>
            <p:cNvPr id="18" name="Rectangle 19" descr="绿色大理石">
              <a:extLst>
                <a:ext uri="{FF2B5EF4-FFF2-40B4-BE49-F238E27FC236}">
                  <a16:creationId xmlns:a16="http://schemas.microsoft.com/office/drawing/2014/main" id="{5962664B-A735-48A9-AC07-74CD4FF74C19}"/>
                </a:ext>
              </a:extLst>
            </p:cNvPr>
            <p:cNvSpPr/>
            <p:nvPr/>
          </p:nvSpPr>
          <p:spPr>
            <a:xfrm>
              <a:off x="528" y="2671"/>
              <a:ext cx="273" cy="365"/>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9" name="Oval 20">
              <a:extLst>
                <a:ext uri="{FF2B5EF4-FFF2-40B4-BE49-F238E27FC236}">
                  <a16:creationId xmlns:a16="http://schemas.microsoft.com/office/drawing/2014/main" id="{67B6568B-DD25-418B-8117-FF4B5DDB2AF5}"/>
                </a:ext>
              </a:extLst>
            </p:cNvPr>
            <p:cNvSpPr/>
            <p:nvPr/>
          </p:nvSpPr>
          <p:spPr>
            <a:xfrm>
              <a:off x="2712" y="2087"/>
              <a:ext cx="195" cy="203"/>
            </a:xfrm>
            <a:prstGeom prst="ellipse">
              <a:avLst/>
            </a:prstGeom>
            <a:solidFill>
              <a:srgbClr val="FFD96D"/>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0" name="Line 21">
              <a:extLst>
                <a:ext uri="{FF2B5EF4-FFF2-40B4-BE49-F238E27FC236}">
                  <a16:creationId xmlns:a16="http://schemas.microsoft.com/office/drawing/2014/main" id="{2716C3FA-9B37-4461-9031-00545918BCA3}"/>
                </a:ext>
              </a:extLst>
            </p:cNvPr>
            <p:cNvSpPr/>
            <p:nvPr/>
          </p:nvSpPr>
          <p:spPr>
            <a:xfrm>
              <a:off x="2907" y="2144"/>
              <a:ext cx="0" cy="730"/>
            </a:xfrm>
            <a:prstGeom prst="line">
              <a:avLst/>
            </a:prstGeom>
            <a:ln w="19050" cap="flat" cmpd="sng">
              <a:solidFill>
                <a:srgbClr val="0000FF"/>
              </a:solidFill>
              <a:prstDash val="solid"/>
              <a:headEnd type="none" w="med" len="med"/>
              <a:tailEnd type="none" w="med" len="med"/>
            </a:ln>
          </p:spPr>
        </p:sp>
        <p:sp>
          <p:nvSpPr>
            <p:cNvPr id="21" name="Rectangle 22" descr="绿色大理石">
              <a:extLst>
                <a:ext uri="{FF2B5EF4-FFF2-40B4-BE49-F238E27FC236}">
                  <a16:creationId xmlns:a16="http://schemas.microsoft.com/office/drawing/2014/main" id="{BEA16EC3-9CC6-446D-9F27-94DED2D30A73}"/>
                </a:ext>
              </a:extLst>
            </p:cNvPr>
            <p:cNvSpPr/>
            <p:nvPr/>
          </p:nvSpPr>
          <p:spPr>
            <a:xfrm>
              <a:off x="2751" y="2736"/>
              <a:ext cx="273" cy="365"/>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2" name="Line 23">
              <a:extLst>
                <a:ext uri="{FF2B5EF4-FFF2-40B4-BE49-F238E27FC236}">
                  <a16:creationId xmlns:a16="http://schemas.microsoft.com/office/drawing/2014/main" id="{C7B4C1E0-93E8-459A-B443-F25BEFCC8E12}"/>
                </a:ext>
              </a:extLst>
            </p:cNvPr>
            <p:cNvSpPr/>
            <p:nvPr/>
          </p:nvSpPr>
          <p:spPr>
            <a:xfrm flipH="1">
              <a:off x="1893" y="2087"/>
              <a:ext cx="897" cy="0"/>
            </a:xfrm>
            <a:prstGeom prst="line">
              <a:avLst/>
            </a:prstGeom>
            <a:ln w="19050" cap="flat" cmpd="sng">
              <a:solidFill>
                <a:srgbClr val="0000FF"/>
              </a:solidFill>
              <a:prstDash val="solid"/>
              <a:headEnd type="none" w="med" len="med"/>
              <a:tailEnd type="none" w="med" len="med"/>
            </a:ln>
          </p:spPr>
        </p:sp>
        <p:sp>
          <p:nvSpPr>
            <p:cNvPr id="23" name="Rectangle 24" descr="深色下对角线">
              <a:extLst>
                <a:ext uri="{FF2B5EF4-FFF2-40B4-BE49-F238E27FC236}">
                  <a16:creationId xmlns:a16="http://schemas.microsoft.com/office/drawing/2014/main" id="{321DBC55-1D76-4CF0-B027-998569A985B2}"/>
                </a:ext>
              </a:extLst>
            </p:cNvPr>
            <p:cNvSpPr/>
            <p:nvPr/>
          </p:nvSpPr>
          <p:spPr>
            <a:xfrm>
              <a:off x="1620" y="3604"/>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4" name="Rectangle 25" descr="深色下对角线">
              <a:extLst>
                <a:ext uri="{FF2B5EF4-FFF2-40B4-BE49-F238E27FC236}">
                  <a16:creationId xmlns:a16="http://schemas.microsoft.com/office/drawing/2014/main" id="{7EC361EB-AA4D-4E50-9A3D-38517E40D980}"/>
                </a:ext>
              </a:extLst>
            </p:cNvPr>
            <p:cNvSpPr/>
            <p:nvPr/>
          </p:nvSpPr>
          <p:spPr>
            <a:xfrm>
              <a:off x="1854" y="3604"/>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5" name="Rectangle 26" descr="深色下对角线">
              <a:extLst>
                <a:ext uri="{FF2B5EF4-FFF2-40B4-BE49-F238E27FC236}">
                  <a16:creationId xmlns:a16="http://schemas.microsoft.com/office/drawing/2014/main" id="{A1672849-5A93-407C-8529-59F2EC96E288}"/>
                </a:ext>
              </a:extLst>
            </p:cNvPr>
            <p:cNvSpPr/>
            <p:nvPr/>
          </p:nvSpPr>
          <p:spPr>
            <a:xfrm>
              <a:off x="1620" y="2509"/>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6" name="Rectangle 27" descr="深色下对角线">
              <a:extLst>
                <a:ext uri="{FF2B5EF4-FFF2-40B4-BE49-F238E27FC236}">
                  <a16:creationId xmlns:a16="http://schemas.microsoft.com/office/drawing/2014/main" id="{E4013E79-9B49-44D1-9612-DF9B52981584}"/>
                </a:ext>
              </a:extLst>
            </p:cNvPr>
            <p:cNvSpPr/>
            <p:nvPr/>
          </p:nvSpPr>
          <p:spPr>
            <a:xfrm>
              <a:off x="1854" y="2509"/>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7" name="Rectangle 28" descr="小纸屑">
              <a:extLst>
                <a:ext uri="{FF2B5EF4-FFF2-40B4-BE49-F238E27FC236}">
                  <a16:creationId xmlns:a16="http://schemas.microsoft.com/office/drawing/2014/main" id="{B98701C6-31A8-481C-89E6-9C10D5C8615A}"/>
                </a:ext>
              </a:extLst>
            </p:cNvPr>
            <p:cNvSpPr/>
            <p:nvPr/>
          </p:nvSpPr>
          <p:spPr>
            <a:xfrm>
              <a:off x="1620" y="3077"/>
              <a:ext cx="273" cy="162"/>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28" name="Rectangle 29">
              <a:extLst>
                <a:ext uri="{FF2B5EF4-FFF2-40B4-BE49-F238E27FC236}">
                  <a16:creationId xmlns:a16="http://schemas.microsoft.com/office/drawing/2014/main" id="{2A72FB1E-C2C8-49E7-9FBF-4B5A9F6F833A}"/>
                </a:ext>
              </a:extLst>
            </p:cNvPr>
            <p:cNvSpPr>
              <a:spLocks noChangeArrowheads="1"/>
            </p:cNvSpPr>
            <p:nvPr/>
          </p:nvSpPr>
          <p:spPr bwMode="auto">
            <a:xfrm>
              <a:off x="1737" y="1658"/>
              <a:ext cx="78" cy="2149"/>
            </a:xfrm>
            <a:prstGeom prst="rect">
              <a:avLst/>
            </a:prstGeom>
            <a:gradFill rotWithShape="0">
              <a:gsLst>
                <a:gs pos="0">
                  <a:schemeClr val="accent1">
                    <a:gamma/>
                    <a:shade val="56078"/>
                    <a:invGamma/>
                  </a:schemeClr>
                </a:gs>
                <a:gs pos="50000">
                  <a:schemeClr val="accent1"/>
                </a:gs>
                <a:gs pos="100000">
                  <a:schemeClr val="accent1">
                    <a:gamma/>
                    <a:shade val="56078"/>
                    <a:invGamma/>
                  </a:schemeClr>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chemeClr val="bg2"/>
                </a:solidFill>
                <a:effectLst/>
                <a:uLnTx/>
                <a:uFillTx/>
                <a:latin typeface="Bookman Old Style" panose="02050604050505020204" pitchFamily="18" charset="0"/>
                <a:ea typeface="宋体" panose="02010600030101010101" pitchFamily="2" charset="-122"/>
                <a:cs typeface="+mn-cs"/>
              </a:endParaRPr>
            </a:p>
          </p:txBody>
        </p:sp>
        <p:sp>
          <p:nvSpPr>
            <p:cNvPr id="29" name="Rectangle 30" descr="深色下对角线">
              <a:extLst>
                <a:ext uri="{FF2B5EF4-FFF2-40B4-BE49-F238E27FC236}">
                  <a16:creationId xmlns:a16="http://schemas.microsoft.com/office/drawing/2014/main" id="{C11A8342-1C01-46DC-AD54-5952C25E8CDD}"/>
                </a:ext>
              </a:extLst>
            </p:cNvPr>
            <p:cNvSpPr/>
            <p:nvPr/>
          </p:nvSpPr>
          <p:spPr>
            <a:xfrm>
              <a:off x="1854" y="2996"/>
              <a:ext cx="78" cy="324"/>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0" name="Rectangle 31" descr="深色下对角线">
              <a:extLst>
                <a:ext uri="{FF2B5EF4-FFF2-40B4-BE49-F238E27FC236}">
                  <a16:creationId xmlns:a16="http://schemas.microsoft.com/office/drawing/2014/main" id="{A1071BC7-4E6B-42D7-83C6-C80031EE8EC1}"/>
                </a:ext>
              </a:extLst>
            </p:cNvPr>
            <p:cNvSpPr/>
            <p:nvPr/>
          </p:nvSpPr>
          <p:spPr>
            <a:xfrm>
              <a:off x="1620" y="2996"/>
              <a:ext cx="78" cy="324"/>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1" name="Rectangle 32">
              <a:extLst>
                <a:ext uri="{FF2B5EF4-FFF2-40B4-BE49-F238E27FC236}">
                  <a16:creationId xmlns:a16="http://schemas.microsoft.com/office/drawing/2014/main" id="{561DB08A-6F4F-4E51-9888-2F8BCA3AE25B}"/>
                </a:ext>
              </a:extLst>
            </p:cNvPr>
            <p:cNvSpPr/>
            <p:nvPr/>
          </p:nvSpPr>
          <p:spPr>
            <a:xfrm>
              <a:off x="1620" y="1820"/>
              <a:ext cx="312" cy="405"/>
            </a:xfrm>
            <a:prstGeom prst="rect">
              <a:avLst/>
            </a:prstGeom>
            <a:gradFill rotWithShape="0">
              <a:gsLst>
                <a:gs pos="0">
                  <a:srgbClr val="8F8F39"/>
                </a:gs>
                <a:gs pos="50000">
                  <a:srgbClr val="FFFF66"/>
                </a:gs>
                <a:gs pos="100000">
                  <a:srgbClr val="8F8F39"/>
                </a:gs>
              </a:gsLst>
              <a:lin ang="0" scaled="1"/>
              <a:tileRect/>
            </a:grad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2" name="Line 33">
              <a:extLst>
                <a:ext uri="{FF2B5EF4-FFF2-40B4-BE49-F238E27FC236}">
                  <a16:creationId xmlns:a16="http://schemas.microsoft.com/office/drawing/2014/main" id="{BC45D077-1674-46B9-BC0E-5CDC8FBE3590}"/>
                </a:ext>
              </a:extLst>
            </p:cNvPr>
            <p:cNvSpPr/>
            <p:nvPr/>
          </p:nvSpPr>
          <p:spPr>
            <a:xfrm flipV="1">
              <a:off x="1620" y="1861"/>
              <a:ext cx="312" cy="40"/>
            </a:xfrm>
            <a:prstGeom prst="line">
              <a:avLst/>
            </a:prstGeom>
            <a:ln w="19050" cap="flat" cmpd="sng">
              <a:solidFill>
                <a:srgbClr val="0000FF"/>
              </a:solidFill>
              <a:prstDash val="solid"/>
              <a:headEnd type="none" w="med" len="med"/>
              <a:tailEnd type="none" w="med" len="med"/>
            </a:ln>
          </p:spPr>
        </p:sp>
        <p:sp>
          <p:nvSpPr>
            <p:cNvPr id="33" name="Line 34">
              <a:extLst>
                <a:ext uri="{FF2B5EF4-FFF2-40B4-BE49-F238E27FC236}">
                  <a16:creationId xmlns:a16="http://schemas.microsoft.com/office/drawing/2014/main" id="{FFF2D163-94A8-4E54-8437-09D3D21E89A1}"/>
                </a:ext>
              </a:extLst>
            </p:cNvPr>
            <p:cNvSpPr/>
            <p:nvPr/>
          </p:nvSpPr>
          <p:spPr>
            <a:xfrm flipV="1">
              <a:off x="1620" y="1901"/>
              <a:ext cx="312" cy="41"/>
            </a:xfrm>
            <a:prstGeom prst="line">
              <a:avLst/>
            </a:prstGeom>
            <a:ln w="19050" cap="flat" cmpd="sng">
              <a:solidFill>
                <a:srgbClr val="0000FF"/>
              </a:solidFill>
              <a:prstDash val="solid"/>
              <a:headEnd type="none" w="med" len="med"/>
              <a:tailEnd type="none" w="med" len="med"/>
            </a:ln>
          </p:spPr>
        </p:sp>
        <p:sp>
          <p:nvSpPr>
            <p:cNvPr id="34" name="Line 35">
              <a:extLst>
                <a:ext uri="{FF2B5EF4-FFF2-40B4-BE49-F238E27FC236}">
                  <a16:creationId xmlns:a16="http://schemas.microsoft.com/office/drawing/2014/main" id="{623F93EA-302B-4FA9-B6D6-DEAA3D702163}"/>
                </a:ext>
              </a:extLst>
            </p:cNvPr>
            <p:cNvSpPr/>
            <p:nvPr/>
          </p:nvSpPr>
          <p:spPr>
            <a:xfrm flipV="1">
              <a:off x="1620" y="1942"/>
              <a:ext cx="312" cy="40"/>
            </a:xfrm>
            <a:prstGeom prst="line">
              <a:avLst/>
            </a:prstGeom>
            <a:ln w="19050" cap="flat" cmpd="sng">
              <a:solidFill>
                <a:srgbClr val="0000FF"/>
              </a:solidFill>
              <a:prstDash val="solid"/>
              <a:headEnd type="none" w="med" len="med"/>
              <a:tailEnd type="none" w="med" len="med"/>
            </a:ln>
          </p:spPr>
        </p:sp>
        <p:sp>
          <p:nvSpPr>
            <p:cNvPr id="35" name="Line 36">
              <a:extLst>
                <a:ext uri="{FF2B5EF4-FFF2-40B4-BE49-F238E27FC236}">
                  <a16:creationId xmlns:a16="http://schemas.microsoft.com/office/drawing/2014/main" id="{CD69C4D6-5D98-4D51-8663-B23102431187}"/>
                </a:ext>
              </a:extLst>
            </p:cNvPr>
            <p:cNvSpPr/>
            <p:nvPr/>
          </p:nvSpPr>
          <p:spPr>
            <a:xfrm flipV="1">
              <a:off x="1620" y="2144"/>
              <a:ext cx="312" cy="41"/>
            </a:xfrm>
            <a:prstGeom prst="line">
              <a:avLst/>
            </a:prstGeom>
            <a:ln w="19050" cap="flat" cmpd="sng">
              <a:solidFill>
                <a:srgbClr val="0000FF"/>
              </a:solidFill>
              <a:prstDash val="solid"/>
              <a:headEnd type="none" w="med" len="med"/>
              <a:tailEnd type="none" w="med" len="med"/>
            </a:ln>
          </p:spPr>
        </p:sp>
        <p:sp>
          <p:nvSpPr>
            <p:cNvPr id="36" name="Line 37">
              <a:extLst>
                <a:ext uri="{FF2B5EF4-FFF2-40B4-BE49-F238E27FC236}">
                  <a16:creationId xmlns:a16="http://schemas.microsoft.com/office/drawing/2014/main" id="{160FF344-2D04-4F8A-BDDA-25E2EDD0CA9C}"/>
                </a:ext>
              </a:extLst>
            </p:cNvPr>
            <p:cNvSpPr/>
            <p:nvPr/>
          </p:nvSpPr>
          <p:spPr>
            <a:xfrm flipV="1">
              <a:off x="1620" y="2104"/>
              <a:ext cx="312" cy="40"/>
            </a:xfrm>
            <a:prstGeom prst="line">
              <a:avLst/>
            </a:prstGeom>
            <a:ln w="19050" cap="flat" cmpd="sng">
              <a:solidFill>
                <a:srgbClr val="0000FF"/>
              </a:solidFill>
              <a:prstDash val="solid"/>
              <a:headEnd type="none" w="med" len="med"/>
              <a:tailEnd type="none" w="med" len="med"/>
            </a:ln>
          </p:spPr>
        </p:sp>
        <p:sp>
          <p:nvSpPr>
            <p:cNvPr id="37" name="Line 38">
              <a:extLst>
                <a:ext uri="{FF2B5EF4-FFF2-40B4-BE49-F238E27FC236}">
                  <a16:creationId xmlns:a16="http://schemas.microsoft.com/office/drawing/2014/main" id="{C792DFED-0194-4BC6-B1CA-F98B474B104F}"/>
                </a:ext>
              </a:extLst>
            </p:cNvPr>
            <p:cNvSpPr/>
            <p:nvPr/>
          </p:nvSpPr>
          <p:spPr>
            <a:xfrm flipV="1">
              <a:off x="1620" y="2063"/>
              <a:ext cx="312" cy="41"/>
            </a:xfrm>
            <a:prstGeom prst="line">
              <a:avLst/>
            </a:prstGeom>
            <a:ln w="19050" cap="flat" cmpd="sng">
              <a:solidFill>
                <a:srgbClr val="0000FF"/>
              </a:solidFill>
              <a:prstDash val="solid"/>
              <a:headEnd type="none" w="med" len="med"/>
              <a:tailEnd type="none" w="med" len="med"/>
            </a:ln>
          </p:spPr>
        </p:sp>
        <p:sp>
          <p:nvSpPr>
            <p:cNvPr id="38" name="Rectangle 39">
              <a:extLst>
                <a:ext uri="{FF2B5EF4-FFF2-40B4-BE49-F238E27FC236}">
                  <a16:creationId xmlns:a16="http://schemas.microsoft.com/office/drawing/2014/main" id="{6D60F60C-A030-4614-85C4-AA6D28948D08}"/>
                </a:ext>
              </a:extLst>
            </p:cNvPr>
            <p:cNvSpPr/>
            <p:nvPr/>
          </p:nvSpPr>
          <p:spPr>
            <a:xfrm>
              <a:off x="1620" y="1536"/>
              <a:ext cx="312" cy="122"/>
            </a:xfrm>
            <a:prstGeom prst="rect">
              <a:avLst/>
            </a:prstGeom>
            <a:gradFill rotWithShape="0">
              <a:gsLst>
                <a:gs pos="0">
                  <a:srgbClr val="766432"/>
                </a:gs>
                <a:gs pos="50000">
                  <a:srgbClr val="FFD96D"/>
                </a:gs>
                <a:gs pos="100000">
                  <a:srgbClr val="766432"/>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40" name="Text Box 13">
            <a:hlinkClick r:id="" action="ppaction://noaction"/>
            <a:extLst>
              <a:ext uri="{FF2B5EF4-FFF2-40B4-BE49-F238E27FC236}">
                <a16:creationId xmlns:a16="http://schemas.microsoft.com/office/drawing/2014/main" id="{FE2FAC88-3316-4316-9C7C-972EA5EC5618}"/>
              </a:ext>
            </a:extLst>
          </p:cNvPr>
          <p:cNvSpPr txBox="1">
            <a:spLocks noChangeArrowheads="1"/>
          </p:cNvSpPr>
          <p:nvPr/>
        </p:nvSpPr>
        <p:spPr bwMode="auto">
          <a:xfrm>
            <a:off x="507277" y="282002"/>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zh-CN" altLang="en-US" sz="3200" dirty="0">
                <a:solidFill>
                  <a:srgbClr val="0066FF"/>
                </a:solidFill>
                <a:latin typeface="+mn-lt"/>
                <a:ea typeface="+mn-ea"/>
                <a:cs typeface="Times New Roman" panose="02020603050405020304" pitchFamily="18" charset="0"/>
              </a:rPr>
              <a:t>焦耳实验</a:t>
            </a:r>
          </a:p>
        </p:txBody>
      </p:sp>
      <p:sp>
        <p:nvSpPr>
          <p:cNvPr id="44" name="文本框 43">
            <a:extLst>
              <a:ext uri="{FF2B5EF4-FFF2-40B4-BE49-F238E27FC236}">
                <a16:creationId xmlns:a16="http://schemas.microsoft.com/office/drawing/2014/main" id="{5589FCE0-B372-4EE0-8CF6-0AC75AAC20A8}"/>
              </a:ext>
            </a:extLst>
          </p:cNvPr>
          <p:cNvSpPr txBox="1"/>
          <p:nvPr/>
        </p:nvSpPr>
        <p:spPr>
          <a:xfrm>
            <a:off x="4529414" y="1366673"/>
            <a:ext cx="4344459" cy="523220"/>
          </a:xfrm>
          <a:prstGeom prst="rect">
            <a:avLst/>
          </a:prstGeom>
          <a:noFill/>
        </p:spPr>
        <p:txBody>
          <a:bodyPr wrap="none" rtlCol="0">
            <a:spAutoFit/>
          </a:bodyPr>
          <a:lstStyle/>
          <a:p>
            <a:r>
              <a:rPr lang="en-US" sz="2800" dirty="0"/>
              <a:t>- </a:t>
            </a:r>
            <a:r>
              <a:rPr lang="zh-CN" altLang="en-US" sz="2800" dirty="0"/>
              <a:t>砝码下落做功，水温上升</a:t>
            </a:r>
            <a:endParaRPr lang="en-US" sz="2800" dirty="0"/>
          </a:p>
        </p:txBody>
      </p:sp>
      <p:sp>
        <p:nvSpPr>
          <p:cNvPr id="45" name="矩形 44">
            <a:extLst>
              <a:ext uri="{FF2B5EF4-FFF2-40B4-BE49-F238E27FC236}">
                <a16:creationId xmlns:a16="http://schemas.microsoft.com/office/drawing/2014/main" id="{63FD163F-07B8-41D7-AA7C-99076435DDAD}"/>
              </a:ext>
            </a:extLst>
          </p:cNvPr>
          <p:cNvSpPr/>
          <p:nvPr/>
        </p:nvSpPr>
        <p:spPr>
          <a:xfrm>
            <a:off x="4591407" y="2118193"/>
            <a:ext cx="2199641" cy="523220"/>
          </a:xfrm>
          <a:prstGeom prst="rect">
            <a:avLst/>
          </a:prstGeom>
        </p:spPr>
        <p:txBody>
          <a:bodyPr wrap="none">
            <a:spAutoFit/>
          </a:bodyPr>
          <a:lstStyle/>
          <a:p>
            <a:r>
              <a:rPr lang="en-US" altLang="zh-CN" sz="2800" dirty="0">
                <a:solidFill>
                  <a:srgbClr val="000000"/>
                </a:solidFill>
                <a:latin typeface="arial" panose="020B0604020202020204" pitchFamily="34" charset="0"/>
              </a:rPr>
              <a:t>- </a:t>
            </a:r>
            <a:r>
              <a:rPr lang="zh-CN" altLang="en-US" sz="2800" dirty="0">
                <a:solidFill>
                  <a:srgbClr val="000000"/>
                </a:solidFill>
                <a:latin typeface="arial" panose="020B0604020202020204" pitchFamily="34" charset="0"/>
              </a:rPr>
              <a:t>热功当量：</a:t>
            </a:r>
            <a:endParaRPr lang="en-US" sz="2800" dirty="0"/>
          </a:p>
        </p:txBody>
      </p:sp>
      <p:sp>
        <p:nvSpPr>
          <p:cNvPr id="46" name="矩形 45">
            <a:extLst>
              <a:ext uri="{FF2B5EF4-FFF2-40B4-BE49-F238E27FC236}">
                <a16:creationId xmlns:a16="http://schemas.microsoft.com/office/drawing/2014/main" id="{8DB26FA2-23BD-4ED6-99E5-4A5D70C59221}"/>
              </a:ext>
            </a:extLst>
          </p:cNvPr>
          <p:cNvSpPr/>
          <p:nvPr/>
        </p:nvSpPr>
        <p:spPr>
          <a:xfrm>
            <a:off x="1871385" y="5352892"/>
            <a:ext cx="6252605" cy="954107"/>
          </a:xfrm>
          <a:prstGeom prst="rect">
            <a:avLst/>
          </a:prstGeom>
        </p:spPr>
        <p:txBody>
          <a:bodyPr wrap="square">
            <a:spAutoFit/>
          </a:bodyPr>
          <a:lstStyle/>
          <a:p>
            <a:r>
              <a:rPr lang="en-US" altLang="zh-CN" sz="2800" dirty="0">
                <a:latin typeface="Arial" panose="020B0604020202020204" pitchFamily="34" charset="0"/>
              </a:rPr>
              <a:t>- </a:t>
            </a:r>
            <a:r>
              <a:rPr lang="zh-CN" altLang="en-US" sz="2800" dirty="0">
                <a:latin typeface="Arial" panose="020B0604020202020204" pitchFamily="34" charset="0"/>
              </a:rPr>
              <a:t>用传递热量的方法也可以改变物质系统的能量</a:t>
            </a:r>
            <a:endParaRPr lang="en-US" sz="2800" dirty="0"/>
          </a:p>
        </p:txBody>
      </p:sp>
      <p:sp>
        <p:nvSpPr>
          <p:cNvPr id="47" name="Rectangle 4">
            <a:extLst>
              <a:ext uri="{FF2B5EF4-FFF2-40B4-BE49-F238E27FC236}">
                <a16:creationId xmlns:a16="http://schemas.microsoft.com/office/drawing/2014/main" id="{9B5EBD31-42E9-4D27-B136-208257B9D99B}"/>
              </a:ext>
            </a:extLst>
          </p:cNvPr>
          <p:cNvSpPr/>
          <p:nvPr/>
        </p:nvSpPr>
        <p:spPr>
          <a:xfrm>
            <a:off x="3559848" y="4613234"/>
            <a:ext cx="4842992" cy="523220"/>
          </a:xfrm>
          <a:prstGeom prst="rect">
            <a:avLst/>
          </a:prstGeom>
          <a:noFill/>
          <a:ln w="9525">
            <a:noFill/>
          </a:ln>
        </p:spPr>
        <p:txBody>
          <a:bodyPr wrap="none">
            <a:spAutoFit/>
          </a:bodyPr>
          <a:lstStyle/>
          <a:p>
            <a:pPr eaLnBrk="1" hangingPunct="1">
              <a:spcBef>
                <a:spcPct val="50000"/>
              </a:spcBef>
            </a:pPr>
            <a:r>
              <a:rPr lang="en-US" altLang="zh-CN" sz="2800" dirty="0">
                <a:solidFill>
                  <a:srgbClr val="080808"/>
                </a:solidFill>
                <a:latin typeface="Times New Roman" panose="02020603050405020304" pitchFamily="18" charset="0"/>
              </a:rPr>
              <a:t>1 cal =  4.18 J  </a:t>
            </a:r>
            <a:r>
              <a:rPr lang="zh-CN" altLang="en-US" sz="2800" dirty="0">
                <a:solidFill>
                  <a:srgbClr val="080808"/>
                </a:solidFill>
                <a:latin typeface="Times New Roman" panose="02020603050405020304" pitchFamily="18" charset="0"/>
              </a:rPr>
              <a:t>，  </a:t>
            </a:r>
            <a:r>
              <a:rPr lang="en-US" altLang="zh-CN" sz="2800" dirty="0">
                <a:solidFill>
                  <a:srgbClr val="080808"/>
                </a:solidFill>
                <a:latin typeface="Times New Roman" panose="02020603050405020304" pitchFamily="18" charset="0"/>
              </a:rPr>
              <a:t>1 J = 0.24</a:t>
            </a:r>
            <a:r>
              <a:rPr lang="en-US" altLang="zh-CN" sz="2800" b="1" dirty="0">
                <a:solidFill>
                  <a:srgbClr val="080808"/>
                </a:solidFill>
                <a:latin typeface="Times New Roman" panose="02020603050405020304" pitchFamily="18" charset="0"/>
              </a:rPr>
              <a:t> </a:t>
            </a:r>
            <a:r>
              <a:rPr lang="en-US" altLang="zh-CN" sz="2800" dirty="0">
                <a:solidFill>
                  <a:srgbClr val="080808"/>
                </a:solidFill>
                <a:latin typeface="Times New Roman" panose="02020603050405020304" pitchFamily="18" charset="0"/>
              </a:rPr>
              <a:t>cal</a:t>
            </a:r>
          </a:p>
        </p:txBody>
      </p:sp>
      <p:grpSp>
        <p:nvGrpSpPr>
          <p:cNvPr id="48" name="Group 41">
            <a:extLst>
              <a:ext uri="{FF2B5EF4-FFF2-40B4-BE49-F238E27FC236}">
                <a16:creationId xmlns:a16="http://schemas.microsoft.com/office/drawing/2014/main" id="{56CDBCD6-52F2-4F3E-8996-0CC0492870E3}"/>
              </a:ext>
            </a:extLst>
          </p:cNvPr>
          <p:cNvGrpSpPr/>
          <p:nvPr/>
        </p:nvGrpSpPr>
        <p:grpSpPr>
          <a:xfrm>
            <a:off x="8936790" y="2652206"/>
            <a:ext cx="2438400" cy="3657600"/>
            <a:chOff x="3648" y="1536"/>
            <a:chExt cx="1536" cy="2304"/>
          </a:xfrm>
        </p:grpSpPr>
        <p:sp>
          <p:nvSpPr>
            <p:cNvPr id="49" name="Line 42">
              <a:extLst>
                <a:ext uri="{FF2B5EF4-FFF2-40B4-BE49-F238E27FC236}">
                  <a16:creationId xmlns:a16="http://schemas.microsoft.com/office/drawing/2014/main" id="{C2F0FFE8-C34B-4901-954A-A587EFB4071D}"/>
                </a:ext>
              </a:extLst>
            </p:cNvPr>
            <p:cNvSpPr/>
            <p:nvPr/>
          </p:nvSpPr>
          <p:spPr>
            <a:xfrm flipV="1">
              <a:off x="3905" y="1536"/>
              <a:ext cx="186" cy="177"/>
            </a:xfrm>
            <a:prstGeom prst="line">
              <a:avLst/>
            </a:prstGeom>
            <a:ln w="19050" cap="flat" cmpd="sng">
              <a:solidFill>
                <a:schemeClr val="tx1"/>
              </a:solidFill>
              <a:prstDash val="solid"/>
              <a:headEnd type="none" w="med" len="med"/>
              <a:tailEnd type="none" w="med" len="med"/>
            </a:ln>
          </p:spPr>
        </p:sp>
        <p:sp>
          <p:nvSpPr>
            <p:cNvPr id="50" name="AutoShape 43">
              <a:extLst>
                <a:ext uri="{FF2B5EF4-FFF2-40B4-BE49-F238E27FC236}">
                  <a16:creationId xmlns:a16="http://schemas.microsoft.com/office/drawing/2014/main" id="{0564D132-7790-416D-A914-AA2E2D96619C}"/>
                </a:ext>
              </a:extLst>
            </p:cNvPr>
            <p:cNvSpPr/>
            <p:nvPr/>
          </p:nvSpPr>
          <p:spPr>
            <a:xfrm>
              <a:off x="3648" y="2821"/>
              <a:ext cx="1443" cy="1019"/>
            </a:xfrm>
            <a:prstGeom prst="bevel">
              <a:avLst>
                <a:gd name="adj" fmla="val 8241"/>
              </a:avLst>
            </a:prstGeom>
            <a:noFill/>
            <a:ln w="9525">
              <a:noFill/>
            </a:ln>
          </p:spPr>
          <p:txBody>
            <a:bodyPr wrap="none" anchor="ctr" anchorCtr="0"/>
            <a:lstStyle/>
            <a:p>
              <a:endParaRPr lang="zh-CN" altLang="en-US" dirty="0">
                <a:latin typeface="Bookman Old Style" panose="02050604050505020204" pitchFamily="18" charset="0"/>
              </a:endParaRPr>
            </a:p>
          </p:txBody>
        </p:sp>
        <p:sp>
          <p:nvSpPr>
            <p:cNvPr id="51" name="Rectangle 44">
              <a:extLst>
                <a:ext uri="{FF2B5EF4-FFF2-40B4-BE49-F238E27FC236}">
                  <a16:creationId xmlns:a16="http://schemas.microsoft.com/office/drawing/2014/main" id="{21E2D541-8E68-4872-B71A-BEA4BD2F0AB1}"/>
                </a:ext>
              </a:extLst>
            </p:cNvPr>
            <p:cNvSpPr/>
            <p:nvPr/>
          </p:nvSpPr>
          <p:spPr>
            <a:xfrm>
              <a:off x="3741" y="2910"/>
              <a:ext cx="1257" cy="841"/>
            </a:xfrm>
            <a:prstGeom prst="rect">
              <a:avLst/>
            </a:prstGeom>
            <a:gradFill rotWithShape="0">
              <a:gsLst>
                <a:gs pos="0">
                  <a:srgbClr val="FFEBFA"/>
                </a:gs>
                <a:gs pos="100000">
                  <a:srgbClr val="5E9EFF"/>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52" name="Line 45">
              <a:extLst>
                <a:ext uri="{FF2B5EF4-FFF2-40B4-BE49-F238E27FC236}">
                  <a16:creationId xmlns:a16="http://schemas.microsoft.com/office/drawing/2014/main" id="{12CD7D4E-6A4C-4820-AF17-7A0F2773B0C4}"/>
                </a:ext>
              </a:extLst>
            </p:cNvPr>
            <p:cNvSpPr/>
            <p:nvPr/>
          </p:nvSpPr>
          <p:spPr>
            <a:xfrm>
              <a:off x="3741" y="3264"/>
              <a:ext cx="1257" cy="0"/>
            </a:xfrm>
            <a:prstGeom prst="line">
              <a:avLst/>
            </a:prstGeom>
            <a:ln w="9525" cap="flat" cmpd="sng">
              <a:solidFill>
                <a:srgbClr val="0000FF"/>
              </a:solidFill>
              <a:prstDash val="lgDashDotDot"/>
              <a:headEnd type="none" w="med" len="med"/>
              <a:tailEnd type="none" w="med" len="med"/>
            </a:ln>
          </p:spPr>
        </p:sp>
        <p:sp>
          <p:nvSpPr>
            <p:cNvPr id="53" name="Line 46">
              <a:extLst>
                <a:ext uri="{FF2B5EF4-FFF2-40B4-BE49-F238E27FC236}">
                  <a16:creationId xmlns:a16="http://schemas.microsoft.com/office/drawing/2014/main" id="{270F8475-63E4-4650-AE64-9136217F74C8}"/>
                </a:ext>
              </a:extLst>
            </p:cNvPr>
            <p:cNvSpPr/>
            <p:nvPr/>
          </p:nvSpPr>
          <p:spPr>
            <a:xfrm>
              <a:off x="3834" y="3353"/>
              <a:ext cx="140" cy="0"/>
            </a:xfrm>
            <a:prstGeom prst="line">
              <a:avLst/>
            </a:prstGeom>
            <a:ln w="9525" cap="flat" cmpd="sng">
              <a:solidFill>
                <a:srgbClr val="0000FF"/>
              </a:solidFill>
              <a:prstDash val="lgDashDotDot"/>
              <a:headEnd type="none" w="med" len="med"/>
              <a:tailEnd type="none" w="med" len="med"/>
            </a:ln>
          </p:spPr>
        </p:sp>
        <p:sp>
          <p:nvSpPr>
            <p:cNvPr id="54" name="Line 47">
              <a:extLst>
                <a:ext uri="{FF2B5EF4-FFF2-40B4-BE49-F238E27FC236}">
                  <a16:creationId xmlns:a16="http://schemas.microsoft.com/office/drawing/2014/main" id="{47F1619A-1FDE-4F9E-9A22-9D4DC0D39477}"/>
                </a:ext>
              </a:extLst>
            </p:cNvPr>
            <p:cNvSpPr/>
            <p:nvPr/>
          </p:nvSpPr>
          <p:spPr>
            <a:xfrm>
              <a:off x="4020" y="3353"/>
              <a:ext cx="140" cy="0"/>
            </a:xfrm>
            <a:prstGeom prst="line">
              <a:avLst/>
            </a:prstGeom>
            <a:ln w="9525" cap="flat" cmpd="sng">
              <a:solidFill>
                <a:srgbClr val="0000FF"/>
              </a:solidFill>
              <a:prstDash val="lgDashDotDot"/>
              <a:headEnd type="none" w="med" len="med"/>
              <a:tailEnd type="none" w="med" len="med"/>
            </a:ln>
          </p:spPr>
        </p:sp>
        <p:sp>
          <p:nvSpPr>
            <p:cNvPr id="55" name="Line 48">
              <a:extLst>
                <a:ext uri="{FF2B5EF4-FFF2-40B4-BE49-F238E27FC236}">
                  <a16:creationId xmlns:a16="http://schemas.microsoft.com/office/drawing/2014/main" id="{AF887A22-A0EE-4D45-A176-E5FEB02373B3}"/>
                </a:ext>
              </a:extLst>
            </p:cNvPr>
            <p:cNvSpPr/>
            <p:nvPr/>
          </p:nvSpPr>
          <p:spPr>
            <a:xfrm>
              <a:off x="4579" y="3353"/>
              <a:ext cx="140" cy="0"/>
            </a:xfrm>
            <a:prstGeom prst="line">
              <a:avLst/>
            </a:prstGeom>
            <a:ln w="9525" cap="flat" cmpd="sng">
              <a:solidFill>
                <a:srgbClr val="0000FF"/>
              </a:solidFill>
              <a:prstDash val="lgDashDotDot"/>
              <a:headEnd type="none" w="med" len="med"/>
              <a:tailEnd type="none" w="med" len="med"/>
            </a:ln>
          </p:spPr>
        </p:sp>
        <p:sp>
          <p:nvSpPr>
            <p:cNvPr id="56" name="Line 49">
              <a:extLst>
                <a:ext uri="{FF2B5EF4-FFF2-40B4-BE49-F238E27FC236}">
                  <a16:creationId xmlns:a16="http://schemas.microsoft.com/office/drawing/2014/main" id="{E0F9AE56-854C-4179-88B7-EDE0583CD131}"/>
                </a:ext>
              </a:extLst>
            </p:cNvPr>
            <p:cNvSpPr/>
            <p:nvPr/>
          </p:nvSpPr>
          <p:spPr>
            <a:xfrm>
              <a:off x="4300" y="3353"/>
              <a:ext cx="139" cy="0"/>
            </a:xfrm>
            <a:prstGeom prst="line">
              <a:avLst/>
            </a:prstGeom>
            <a:ln w="9525" cap="flat" cmpd="sng">
              <a:solidFill>
                <a:srgbClr val="0000FF"/>
              </a:solidFill>
              <a:prstDash val="lgDashDotDot"/>
              <a:headEnd type="none" w="med" len="med"/>
              <a:tailEnd type="none" w="med" len="med"/>
            </a:ln>
          </p:spPr>
        </p:sp>
        <p:sp>
          <p:nvSpPr>
            <p:cNvPr id="57" name="Line 50">
              <a:extLst>
                <a:ext uri="{FF2B5EF4-FFF2-40B4-BE49-F238E27FC236}">
                  <a16:creationId xmlns:a16="http://schemas.microsoft.com/office/drawing/2014/main" id="{94C707C4-F674-4BDA-8088-2616077A59CF}"/>
                </a:ext>
              </a:extLst>
            </p:cNvPr>
            <p:cNvSpPr/>
            <p:nvPr/>
          </p:nvSpPr>
          <p:spPr>
            <a:xfrm>
              <a:off x="3881" y="3441"/>
              <a:ext cx="139" cy="0"/>
            </a:xfrm>
            <a:prstGeom prst="line">
              <a:avLst/>
            </a:prstGeom>
            <a:ln w="9525" cap="flat" cmpd="sng">
              <a:solidFill>
                <a:srgbClr val="0000FF"/>
              </a:solidFill>
              <a:prstDash val="lgDashDotDot"/>
              <a:headEnd type="none" w="med" len="med"/>
              <a:tailEnd type="none" w="med" len="med"/>
            </a:ln>
          </p:spPr>
        </p:sp>
        <p:sp>
          <p:nvSpPr>
            <p:cNvPr id="58" name="Line 51">
              <a:extLst>
                <a:ext uri="{FF2B5EF4-FFF2-40B4-BE49-F238E27FC236}">
                  <a16:creationId xmlns:a16="http://schemas.microsoft.com/office/drawing/2014/main" id="{60CFE85F-B9A8-4C38-A91C-ED6E9B8F634C}"/>
                </a:ext>
              </a:extLst>
            </p:cNvPr>
            <p:cNvSpPr/>
            <p:nvPr/>
          </p:nvSpPr>
          <p:spPr>
            <a:xfrm>
              <a:off x="4812" y="3353"/>
              <a:ext cx="139" cy="0"/>
            </a:xfrm>
            <a:prstGeom prst="line">
              <a:avLst/>
            </a:prstGeom>
            <a:ln w="9525" cap="flat" cmpd="sng">
              <a:solidFill>
                <a:srgbClr val="0000FF"/>
              </a:solidFill>
              <a:prstDash val="lgDashDotDot"/>
              <a:headEnd type="none" w="med" len="med"/>
              <a:tailEnd type="none" w="med" len="med"/>
            </a:ln>
          </p:spPr>
        </p:sp>
        <p:sp>
          <p:nvSpPr>
            <p:cNvPr id="59" name="Line 52">
              <a:extLst>
                <a:ext uri="{FF2B5EF4-FFF2-40B4-BE49-F238E27FC236}">
                  <a16:creationId xmlns:a16="http://schemas.microsoft.com/office/drawing/2014/main" id="{9380602E-C169-43CD-9EA1-9BB304D3C976}"/>
                </a:ext>
              </a:extLst>
            </p:cNvPr>
            <p:cNvSpPr/>
            <p:nvPr/>
          </p:nvSpPr>
          <p:spPr>
            <a:xfrm>
              <a:off x="4346" y="3397"/>
              <a:ext cx="140" cy="0"/>
            </a:xfrm>
            <a:prstGeom prst="line">
              <a:avLst/>
            </a:prstGeom>
            <a:ln w="9525" cap="flat" cmpd="sng">
              <a:solidFill>
                <a:srgbClr val="0000FF"/>
              </a:solidFill>
              <a:prstDash val="lgDashDotDot"/>
              <a:headEnd type="none" w="med" len="med"/>
              <a:tailEnd type="none" w="med" len="med"/>
            </a:ln>
          </p:spPr>
        </p:sp>
        <p:sp>
          <p:nvSpPr>
            <p:cNvPr id="60" name="Line 53">
              <a:extLst>
                <a:ext uri="{FF2B5EF4-FFF2-40B4-BE49-F238E27FC236}">
                  <a16:creationId xmlns:a16="http://schemas.microsoft.com/office/drawing/2014/main" id="{D1D81F89-26AE-48DC-BC54-FA733822C310}"/>
                </a:ext>
              </a:extLst>
            </p:cNvPr>
            <p:cNvSpPr/>
            <p:nvPr/>
          </p:nvSpPr>
          <p:spPr>
            <a:xfrm>
              <a:off x="4719" y="3397"/>
              <a:ext cx="139" cy="0"/>
            </a:xfrm>
            <a:prstGeom prst="line">
              <a:avLst/>
            </a:prstGeom>
            <a:ln w="9525" cap="flat" cmpd="sng">
              <a:solidFill>
                <a:srgbClr val="0000FF"/>
              </a:solidFill>
              <a:prstDash val="lgDashDotDot"/>
              <a:headEnd type="none" w="med" len="med"/>
              <a:tailEnd type="none" w="med" len="med"/>
            </a:ln>
          </p:spPr>
        </p:sp>
        <p:sp>
          <p:nvSpPr>
            <p:cNvPr id="61" name="Line 54">
              <a:extLst>
                <a:ext uri="{FF2B5EF4-FFF2-40B4-BE49-F238E27FC236}">
                  <a16:creationId xmlns:a16="http://schemas.microsoft.com/office/drawing/2014/main" id="{1836CE69-D022-4966-9A43-7ED12E6BE6CE}"/>
                </a:ext>
              </a:extLst>
            </p:cNvPr>
            <p:cNvSpPr/>
            <p:nvPr/>
          </p:nvSpPr>
          <p:spPr>
            <a:xfrm>
              <a:off x="4113" y="3397"/>
              <a:ext cx="140" cy="0"/>
            </a:xfrm>
            <a:prstGeom prst="line">
              <a:avLst/>
            </a:prstGeom>
            <a:ln w="9525" cap="flat" cmpd="sng">
              <a:solidFill>
                <a:srgbClr val="0000FF"/>
              </a:solidFill>
              <a:prstDash val="lgDashDotDot"/>
              <a:headEnd type="none" w="med" len="med"/>
              <a:tailEnd type="none" w="med" len="med"/>
            </a:ln>
          </p:spPr>
        </p:sp>
        <p:sp>
          <p:nvSpPr>
            <p:cNvPr id="62" name="Rectangle 55">
              <a:extLst>
                <a:ext uri="{FF2B5EF4-FFF2-40B4-BE49-F238E27FC236}">
                  <a16:creationId xmlns:a16="http://schemas.microsoft.com/office/drawing/2014/main" id="{6A505226-06AE-4414-9EC8-C072FC803B69}"/>
                </a:ext>
              </a:extLst>
            </p:cNvPr>
            <p:cNvSpPr/>
            <p:nvPr/>
          </p:nvSpPr>
          <p:spPr>
            <a:xfrm>
              <a:off x="4113" y="3486"/>
              <a:ext cx="512" cy="88"/>
            </a:xfrm>
            <a:prstGeom prst="rect">
              <a:avLst/>
            </a:prstGeom>
            <a:gradFill rotWithShape="0">
              <a:gsLst>
                <a:gs pos="0">
                  <a:srgbClr val="A24628"/>
                </a:gs>
                <a:gs pos="50000">
                  <a:srgbClr val="F5693D"/>
                </a:gs>
                <a:gs pos="100000">
                  <a:srgbClr val="A24628"/>
                </a:gs>
              </a:gsLst>
              <a:lin ang="5400000" scaled="1"/>
              <a:tileRect/>
            </a:grad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63" name="Line 56">
              <a:extLst>
                <a:ext uri="{FF2B5EF4-FFF2-40B4-BE49-F238E27FC236}">
                  <a16:creationId xmlns:a16="http://schemas.microsoft.com/office/drawing/2014/main" id="{D52E8EAA-A18C-4269-A6AB-8E6424639D96}"/>
                </a:ext>
              </a:extLst>
            </p:cNvPr>
            <p:cNvSpPr/>
            <p:nvPr/>
          </p:nvSpPr>
          <p:spPr>
            <a:xfrm>
              <a:off x="4393" y="1536"/>
              <a:ext cx="0" cy="354"/>
            </a:xfrm>
            <a:prstGeom prst="line">
              <a:avLst/>
            </a:prstGeom>
            <a:ln w="28575" cap="flat" cmpd="sng">
              <a:solidFill>
                <a:schemeClr val="tx1"/>
              </a:solidFill>
              <a:prstDash val="solid"/>
              <a:headEnd type="none" w="med" len="med"/>
              <a:tailEnd type="none" w="med" len="med"/>
            </a:ln>
          </p:spPr>
        </p:sp>
        <p:sp>
          <p:nvSpPr>
            <p:cNvPr id="64" name="Line 57">
              <a:extLst>
                <a:ext uri="{FF2B5EF4-FFF2-40B4-BE49-F238E27FC236}">
                  <a16:creationId xmlns:a16="http://schemas.microsoft.com/office/drawing/2014/main" id="{1F9CD2A3-59AD-4B41-8B74-BFF32A081DEF}"/>
                </a:ext>
              </a:extLst>
            </p:cNvPr>
            <p:cNvSpPr/>
            <p:nvPr/>
          </p:nvSpPr>
          <p:spPr>
            <a:xfrm>
              <a:off x="4300" y="1625"/>
              <a:ext cx="0" cy="177"/>
            </a:xfrm>
            <a:prstGeom prst="line">
              <a:avLst/>
            </a:prstGeom>
            <a:ln w="28575" cap="flat" cmpd="sng">
              <a:solidFill>
                <a:schemeClr val="tx1"/>
              </a:solidFill>
              <a:prstDash val="solid"/>
              <a:headEnd type="none" w="med" len="med"/>
              <a:tailEnd type="none" w="med" len="med"/>
            </a:ln>
          </p:spPr>
        </p:sp>
        <p:sp>
          <p:nvSpPr>
            <p:cNvPr id="65" name="Line 58">
              <a:extLst>
                <a:ext uri="{FF2B5EF4-FFF2-40B4-BE49-F238E27FC236}">
                  <a16:creationId xmlns:a16="http://schemas.microsoft.com/office/drawing/2014/main" id="{A54A0BCD-D9E9-4DFB-A1FB-9F9CA5BD1653}"/>
                </a:ext>
              </a:extLst>
            </p:cNvPr>
            <p:cNvSpPr/>
            <p:nvPr/>
          </p:nvSpPr>
          <p:spPr>
            <a:xfrm>
              <a:off x="4393" y="1713"/>
              <a:ext cx="651" cy="0"/>
            </a:xfrm>
            <a:prstGeom prst="line">
              <a:avLst/>
            </a:prstGeom>
            <a:ln w="28575" cap="flat" cmpd="sng">
              <a:solidFill>
                <a:schemeClr val="tx1"/>
              </a:solidFill>
              <a:prstDash val="solid"/>
              <a:headEnd type="none" w="med" len="med"/>
              <a:tailEnd type="none" w="med" len="med"/>
            </a:ln>
          </p:spPr>
        </p:sp>
        <p:sp>
          <p:nvSpPr>
            <p:cNvPr id="66" name="Line 59">
              <a:extLst>
                <a:ext uri="{FF2B5EF4-FFF2-40B4-BE49-F238E27FC236}">
                  <a16:creationId xmlns:a16="http://schemas.microsoft.com/office/drawing/2014/main" id="{ADC1DC4E-D49F-468C-9E09-A4A8C5C9B49F}"/>
                </a:ext>
              </a:extLst>
            </p:cNvPr>
            <p:cNvSpPr/>
            <p:nvPr/>
          </p:nvSpPr>
          <p:spPr>
            <a:xfrm>
              <a:off x="3648" y="2422"/>
              <a:ext cx="1396" cy="0"/>
            </a:xfrm>
            <a:prstGeom prst="line">
              <a:avLst/>
            </a:prstGeom>
            <a:ln w="28575" cap="flat" cmpd="sng">
              <a:solidFill>
                <a:schemeClr val="tx1"/>
              </a:solidFill>
              <a:prstDash val="solid"/>
              <a:headEnd type="none" w="med" len="med"/>
              <a:tailEnd type="none" w="med" len="med"/>
            </a:ln>
          </p:spPr>
        </p:sp>
        <p:sp>
          <p:nvSpPr>
            <p:cNvPr id="67" name="Line 60">
              <a:extLst>
                <a:ext uri="{FF2B5EF4-FFF2-40B4-BE49-F238E27FC236}">
                  <a16:creationId xmlns:a16="http://schemas.microsoft.com/office/drawing/2014/main" id="{B004A407-A92E-4417-8110-2F5328C992E3}"/>
                </a:ext>
              </a:extLst>
            </p:cNvPr>
            <p:cNvSpPr/>
            <p:nvPr/>
          </p:nvSpPr>
          <p:spPr>
            <a:xfrm>
              <a:off x="3648" y="1713"/>
              <a:ext cx="279" cy="0"/>
            </a:xfrm>
            <a:prstGeom prst="line">
              <a:avLst/>
            </a:prstGeom>
            <a:ln w="28575" cap="flat" cmpd="sng">
              <a:solidFill>
                <a:schemeClr val="tx1"/>
              </a:solidFill>
              <a:prstDash val="solid"/>
              <a:headEnd type="none" w="med" len="med"/>
              <a:tailEnd type="none" w="med" len="med"/>
            </a:ln>
          </p:spPr>
        </p:sp>
        <p:sp>
          <p:nvSpPr>
            <p:cNvPr id="68" name="Line 61">
              <a:extLst>
                <a:ext uri="{FF2B5EF4-FFF2-40B4-BE49-F238E27FC236}">
                  <a16:creationId xmlns:a16="http://schemas.microsoft.com/office/drawing/2014/main" id="{2D5E31FD-1A99-4897-8495-7C7FABFC4B1E}"/>
                </a:ext>
              </a:extLst>
            </p:cNvPr>
            <p:cNvSpPr/>
            <p:nvPr/>
          </p:nvSpPr>
          <p:spPr>
            <a:xfrm flipV="1">
              <a:off x="5044" y="1713"/>
              <a:ext cx="0" cy="709"/>
            </a:xfrm>
            <a:prstGeom prst="line">
              <a:avLst/>
            </a:prstGeom>
            <a:ln w="28575" cap="flat" cmpd="sng">
              <a:solidFill>
                <a:schemeClr val="tx1"/>
              </a:solidFill>
              <a:prstDash val="solid"/>
              <a:headEnd type="none" w="med" len="med"/>
              <a:tailEnd type="none" w="med" len="med"/>
            </a:ln>
          </p:spPr>
        </p:sp>
        <p:sp>
          <p:nvSpPr>
            <p:cNvPr id="69" name="Line 62">
              <a:extLst>
                <a:ext uri="{FF2B5EF4-FFF2-40B4-BE49-F238E27FC236}">
                  <a16:creationId xmlns:a16="http://schemas.microsoft.com/office/drawing/2014/main" id="{05B5DA99-6DE4-4282-8336-3E8E6EFE2030}"/>
                </a:ext>
              </a:extLst>
            </p:cNvPr>
            <p:cNvSpPr/>
            <p:nvPr/>
          </p:nvSpPr>
          <p:spPr>
            <a:xfrm flipV="1">
              <a:off x="3648" y="1713"/>
              <a:ext cx="0" cy="709"/>
            </a:xfrm>
            <a:prstGeom prst="line">
              <a:avLst/>
            </a:prstGeom>
            <a:ln w="28575" cap="flat" cmpd="sng">
              <a:solidFill>
                <a:schemeClr val="tx1"/>
              </a:solidFill>
              <a:prstDash val="solid"/>
              <a:headEnd type="none" w="med" len="med"/>
              <a:tailEnd type="none" w="med" len="med"/>
            </a:ln>
          </p:spPr>
        </p:sp>
        <p:grpSp>
          <p:nvGrpSpPr>
            <p:cNvPr id="70" name="Group 63">
              <a:extLst>
                <a:ext uri="{FF2B5EF4-FFF2-40B4-BE49-F238E27FC236}">
                  <a16:creationId xmlns:a16="http://schemas.microsoft.com/office/drawing/2014/main" id="{DAB39591-37BD-4279-A419-6BC622D747E9}"/>
                </a:ext>
              </a:extLst>
            </p:cNvPr>
            <p:cNvGrpSpPr/>
            <p:nvPr/>
          </p:nvGrpSpPr>
          <p:grpSpPr>
            <a:xfrm>
              <a:off x="4905" y="1935"/>
              <a:ext cx="279" cy="288"/>
              <a:chOff x="4992" y="1488"/>
              <a:chExt cx="288" cy="312"/>
            </a:xfrm>
          </p:grpSpPr>
          <p:sp>
            <p:nvSpPr>
              <p:cNvPr id="81" name="Oval 64">
                <a:extLst>
                  <a:ext uri="{FF2B5EF4-FFF2-40B4-BE49-F238E27FC236}">
                    <a16:creationId xmlns:a16="http://schemas.microsoft.com/office/drawing/2014/main" id="{D6A1B2FB-E33D-4E58-BF81-F8EF0603F7B1}"/>
                  </a:ext>
                </a:extLst>
              </p:cNvPr>
              <p:cNvSpPr/>
              <p:nvPr/>
            </p:nvSpPr>
            <p:spPr>
              <a:xfrm>
                <a:off x="4992" y="1488"/>
                <a:ext cx="288" cy="288"/>
              </a:xfrm>
              <a:prstGeom prst="ellipse">
                <a:avLst/>
              </a:prstGeom>
              <a:solidFill>
                <a:srgbClr val="FFCC99"/>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82" name="Text Box 65">
                <a:extLst>
                  <a:ext uri="{FF2B5EF4-FFF2-40B4-BE49-F238E27FC236}">
                    <a16:creationId xmlns:a16="http://schemas.microsoft.com/office/drawing/2014/main" id="{3D41C814-E214-4F49-BF12-DB975D794233}"/>
                  </a:ext>
                </a:extLst>
              </p:cNvPr>
              <p:cNvSpPr txBox="1"/>
              <p:nvPr/>
            </p:nvSpPr>
            <p:spPr>
              <a:xfrm>
                <a:off x="4992" y="1488"/>
                <a:ext cx="263" cy="312"/>
              </a:xfrm>
              <a:prstGeom prst="rect">
                <a:avLst/>
              </a:prstGeom>
              <a:noFill/>
              <a:ln w="9525">
                <a:noFill/>
              </a:ln>
            </p:spPr>
            <p:txBody>
              <a:bodyPr wrap="none">
                <a:spAutoFit/>
              </a:bodyPr>
              <a:lstStyle/>
              <a:p>
                <a:pPr eaLnBrk="1" hangingPunct="1">
                  <a:spcBef>
                    <a:spcPct val="50000"/>
                  </a:spcBef>
                </a:pPr>
                <a:r>
                  <a:rPr lang="en-US" altLang="zh-CN" sz="2400" b="1" dirty="0">
                    <a:solidFill>
                      <a:schemeClr val="tx1"/>
                    </a:solidFill>
                    <a:latin typeface="Times New Roman" panose="02020603050405020304" pitchFamily="18" charset="0"/>
                  </a:rPr>
                  <a:t>A</a:t>
                </a:r>
              </a:p>
            </p:txBody>
          </p:sp>
        </p:grpSp>
        <p:grpSp>
          <p:nvGrpSpPr>
            <p:cNvPr id="71" name="Group 66">
              <a:extLst>
                <a:ext uri="{FF2B5EF4-FFF2-40B4-BE49-F238E27FC236}">
                  <a16:creationId xmlns:a16="http://schemas.microsoft.com/office/drawing/2014/main" id="{EBDE3F2B-83BC-476C-8BC3-7961CEBFF1D6}"/>
                </a:ext>
              </a:extLst>
            </p:cNvPr>
            <p:cNvGrpSpPr/>
            <p:nvPr/>
          </p:nvGrpSpPr>
          <p:grpSpPr>
            <a:xfrm>
              <a:off x="4207" y="2289"/>
              <a:ext cx="279" cy="288"/>
              <a:chOff x="4992" y="1488"/>
              <a:chExt cx="288" cy="312"/>
            </a:xfrm>
          </p:grpSpPr>
          <p:sp>
            <p:nvSpPr>
              <p:cNvPr id="79" name="Oval 67">
                <a:extLst>
                  <a:ext uri="{FF2B5EF4-FFF2-40B4-BE49-F238E27FC236}">
                    <a16:creationId xmlns:a16="http://schemas.microsoft.com/office/drawing/2014/main" id="{37402FF4-6360-4E7C-A143-9551F0544294}"/>
                  </a:ext>
                </a:extLst>
              </p:cNvPr>
              <p:cNvSpPr/>
              <p:nvPr/>
            </p:nvSpPr>
            <p:spPr>
              <a:xfrm>
                <a:off x="4992" y="1488"/>
                <a:ext cx="288" cy="288"/>
              </a:xfrm>
              <a:prstGeom prst="ellipse">
                <a:avLst/>
              </a:prstGeom>
              <a:solidFill>
                <a:srgbClr val="FFCC99"/>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80" name="Text Box 68">
                <a:extLst>
                  <a:ext uri="{FF2B5EF4-FFF2-40B4-BE49-F238E27FC236}">
                    <a16:creationId xmlns:a16="http://schemas.microsoft.com/office/drawing/2014/main" id="{5FFE708F-17BD-4FA3-8F95-ADABD4ACD31D}"/>
                  </a:ext>
                </a:extLst>
              </p:cNvPr>
              <p:cNvSpPr txBox="1"/>
              <p:nvPr/>
            </p:nvSpPr>
            <p:spPr>
              <a:xfrm>
                <a:off x="4992" y="1488"/>
                <a:ext cx="263" cy="312"/>
              </a:xfrm>
              <a:prstGeom prst="rect">
                <a:avLst/>
              </a:prstGeom>
              <a:noFill/>
              <a:ln w="9525">
                <a:noFill/>
              </a:ln>
            </p:spPr>
            <p:txBody>
              <a:bodyPr wrap="none">
                <a:spAutoFit/>
              </a:bodyPr>
              <a:lstStyle/>
              <a:p>
                <a:pPr eaLnBrk="1" hangingPunct="1">
                  <a:spcBef>
                    <a:spcPct val="50000"/>
                  </a:spcBef>
                </a:pPr>
                <a:r>
                  <a:rPr lang="en-US" altLang="zh-CN" sz="2400" b="1" dirty="0">
                    <a:solidFill>
                      <a:schemeClr val="tx1"/>
                    </a:solidFill>
                    <a:latin typeface="Times New Roman" panose="02020603050405020304" pitchFamily="18" charset="0"/>
                  </a:rPr>
                  <a:t>V</a:t>
                </a:r>
              </a:p>
            </p:txBody>
          </p:sp>
        </p:grpSp>
        <p:sp>
          <p:nvSpPr>
            <p:cNvPr id="72" name="Line 69">
              <a:extLst>
                <a:ext uri="{FF2B5EF4-FFF2-40B4-BE49-F238E27FC236}">
                  <a16:creationId xmlns:a16="http://schemas.microsoft.com/office/drawing/2014/main" id="{DF5E747D-351D-4BD2-AAF9-98F05AFF76E7}"/>
                </a:ext>
              </a:extLst>
            </p:cNvPr>
            <p:cNvSpPr/>
            <p:nvPr/>
          </p:nvSpPr>
          <p:spPr>
            <a:xfrm flipV="1">
              <a:off x="3881" y="2422"/>
              <a:ext cx="0" cy="1108"/>
            </a:xfrm>
            <a:prstGeom prst="line">
              <a:avLst/>
            </a:prstGeom>
            <a:ln w="28575" cap="flat" cmpd="sng">
              <a:solidFill>
                <a:schemeClr val="tx1"/>
              </a:solidFill>
              <a:prstDash val="solid"/>
              <a:headEnd type="none" w="med" len="med"/>
              <a:tailEnd type="none" w="med" len="med"/>
            </a:ln>
          </p:spPr>
        </p:sp>
        <p:sp>
          <p:nvSpPr>
            <p:cNvPr id="73" name="Line 70">
              <a:extLst>
                <a:ext uri="{FF2B5EF4-FFF2-40B4-BE49-F238E27FC236}">
                  <a16:creationId xmlns:a16="http://schemas.microsoft.com/office/drawing/2014/main" id="{485FDB37-45C9-4442-AF1C-187400D477F4}"/>
                </a:ext>
              </a:extLst>
            </p:cNvPr>
            <p:cNvSpPr/>
            <p:nvPr/>
          </p:nvSpPr>
          <p:spPr>
            <a:xfrm flipV="1">
              <a:off x="4812" y="2422"/>
              <a:ext cx="0" cy="1108"/>
            </a:xfrm>
            <a:prstGeom prst="line">
              <a:avLst/>
            </a:prstGeom>
            <a:ln w="28575" cap="flat" cmpd="sng">
              <a:solidFill>
                <a:schemeClr val="tx1"/>
              </a:solidFill>
              <a:prstDash val="solid"/>
              <a:headEnd type="none" w="med" len="med"/>
              <a:tailEnd type="none" w="med" len="med"/>
            </a:ln>
          </p:spPr>
        </p:sp>
        <p:sp>
          <p:nvSpPr>
            <p:cNvPr id="74" name="Line 71">
              <a:extLst>
                <a:ext uri="{FF2B5EF4-FFF2-40B4-BE49-F238E27FC236}">
                  <a16:creationId xmlns:a16="http://schemas.microsoft.com/office/drawing/2014/main" id="{9C269DEA-8FE2-4647-8347-B3EBC37473BD}"/>
                </a:ext>
              </a:extLst>
            </p:cNvPr>
            <p:cNvSpPr/>
            <p:nvPr/>
          </p:nvSpPr>
          <p:spPr>
            <a:xfrm flipH="1" flipV="1">
              <a:off x="3881" y="3530"/>
              <a:ext cx="232" cy="0"/>
            </a:xfrm>
            <a:prstGeom prst="line">
              <a:avLst/>
            </a:prstGeom>
            <a:ln w="28575" cap="flat" cmpd="sng">
              <a:solidFill>
                <a:schemeClr val="tx1"/>
              </a:solidFill>
              <a:prstDash val="solid"/>
              <a:headEnd type="none" w="med" len="med"/>
              <a:tailEnd type="none" w="med" len="med"/>
            </a:ln>
          </p:spPr>
        </p:sp>
        <p:sp>
          <p:nvSpPr>
            <p:cNvPr id="75" name="Line 72">
              <a:extLst>
                <a:ext uri="{FF2B5EF4-FFF2-40B4-BE49-F238E27FC236}">
                  <a16:creationId xmlns:a16="http://schemas.microsoft.com/office/drawing/2014/main" id="{F9428F93-6BE0-4EF0-B3FA-6ED4C88339D3}"/>
                </a:ext>
              </a:extLst>
            </p:cNvPr>
            <p:cNvSpPr/>
            <p:nvPr/>
          </p:nvSpPr>
          <p:spPr>
            <a:xfrm flipH="1" flipV="1">
              <a:off x="4625" y="3530"/>
              <a:ext cx="187" cy="0"/>
            </a:xfrm>
            <a:prstGeom prst="line">
              <a:avLst/>
            </a:prstGeom>
            <a:ln w="28575" cap="flat" cmpd="sng">
              <a:solidFill>
                <a:schemeClr val="tx1"/>
              </a:solidFill>
              <a:prstDash val="solid"/>
              <a:headEnd type="none" w="med" len="med"/>
              <a:tailEnd type="none" w="med" len="med"/>
            </a:ln>
          </p:spPr>
        </p:sp>
        <p:sp>
          <p:nvSpPr>
            <p:cNvPr id="76" name="Line 73">
              <a:extLst>
                <a:ext uri="{FF2B5EF4-FFF2-40B4-BE49-F238E27FC236}">
                  <a16:creationId xmlns:a16="http://schemas.microsoft.com/office/drawing/2014/main" id="{B3B4BAD4-23AE-4BB0-9D84-992C596FB3EC}"/>
                </a:ext>
              </a:extLst>
            </p:cNvPr>
            <p:cNvSpPr/>
            <p:nvPr/>
          </p:nvSpPr>
          <p:spPr>
            <a:xfrm>
              <a:off x="4067" y="1713"/>
              <a:ext cx="233" cy="0"/>
            </a:xfrm>
            <a:prstGeom prst="line">
              <a:avLst/>
            </a:prstGeom>
            <a:ln w="28575" cap="flat" cmpd="sng">
              <a:solidFill>
                <a:schemeClr val="tx1"/>
              </a:solidFill>
              <a:prstDash val="solid"/>
              <a:headEnd type="none" w="med" len="med"/>
              <a:tailEnd type="none" w="med" len="med"/>
            </a:ln>
          </p:spPr>
        </p:sp>
        <p:sp>
          <p:nvSpPr>
            <p:cNvPr id="77" name="Oval 74">
              <a:extLst>
                <a:ext uri="{FF2B5EF4-FFF2-40B4-BE49-F238E27FC236}">
                  <a16:creationId xmlns:a16="http://schemas.microsoft.com/office/drawing/2014/main" id="{86377F4C-2DE5-4B92-B46C-3412F61F70E2}"/>
                </a:ext>
              </a:extLst>
            </p:cNvPr>
            <p:cNvSpPr/>
            <p:nvPr/>
          </p:nvSpPr>
          <p:spPr>
            <a:xfrm>
              <a:off x="3881" y="1693"/>
              <a:ext cx="46" cy="44"/>
            </a:xfrm>
            <a:prstGeom prst="ellipse">
              <a:avLst/>
            </a:prstGeom>
            <a:solidFill>
              <a:srgbClr val="0066FF"/>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78" name="Oval 75">
              <a:extLst>
                <a:ext uri="{FF2B5EF4-FFF2-40B4-BE49-F238E27FC236}">
                  <a16:creationId xmlns:a16="http://schemas.microsoft.com/office/drawing/2014/main" id="{E41BB906-33EF-4BAB-9231-A52ADC1F8F19}"/>
                </a:ext>
              </a:extLst>
            </p:cNvPr>
            <p:cNvSpPr/>
            <p:nvPr/>
          </p:nvSpPr>
          <p:spPr>
            <a:xfrm>
              <a:off x="4020" y="1693"/>
              <a:ext cx="47" cy="44"/>
            </a:xfrm>
            <a:prstGeom prst="ellipse">
              <a:avLst/>
            </a:prstGeom>
            <a:solidFill>
              <a:srgbClr val="0066FF"/>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41" name="矩形 40">
            <a:extLst>
              <a:ext uri="{FF2B5EF4-FFF2-40B4-BE49-F238E27FC236}">
                <a16:creationId xmlns:a16="http://schemas.microsoft.com/office/drawing/2014/main" id="{A731F50B-DE7D-4738-97B5-673DAD19849B}"/>
              </a:ext>
            </a:extLst>
          </p:cNvPr>
          <p:cNvSpPr/>
          <p:nvPr/>
        </p:nvSpPr>
        <p:spPr>
          <a:xfrm>
            <a:off x="4356254" y="3069009"/>
            <a:ext cx="4061827" cy="1384995"/>
          </a:xfrm>
          <a:prstGeom prst="rect">
            <a:avLst/>
          </a:prstGeom>
        </p:spPr>
        <p:txBody>
          <a:bodyPr wrap="square">
            <a:spAutoFit/>
          </a:bodyPr>
          <a:lstStyle/>
          <a:p>
            <a:r>
              <a:rPr lang="zh-CN" altLang="en-US" sz="2800" dirty="0"/>
              <a:t>指热力学单位卡与作为功的单位焦耳之间存在的一种当量关系</a:t>
            </a:r>
            <a:endParaRPr lang="en-US" sz="2800" dirty="0"/>
          </a:p>
        </p:txBody>
      </p:sp>
    </p:spTree>
    <p:extLst>
      <p:ext uri="{BB962C8B-B14F-4D97-AF65-F5344CB8AC3E}">
        <p14:creationId xmlns:p14="http://schemas.microsoft.com/office/powerpoint/2010/main" val="238349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7"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4724" name="Text Box 4"/>
              <p:cNvSpPr txBox="1"/>
              <p:nvPr/>
            </p:nvSpPr>
            <p:spPr>
              <a:xfrm>
                <a:off x="6390213" y="1879906"/>
                <a:ext cx="5487683" cy="1610697"/>
              </a:xfrm>
              <a:prstGeom prst="rect">
                <a:avLst/>
              </a:prstGeom>
              <a:noFill/>
              <a:ln w="9525">
                <a:noFill/>
              </a:ln>
            </p:spPr>
            <p:txBody>
              <a:bodyPr wrap="square">
                <a:spAutoFit/>
              </a:bodyPr>
              <a:lstStyle/>
              <a:p>
                <a:pPr>
                  <a:lnSpc>
                    <a:spcPct val="120000"/>
                  </a:lnSpc>
                  <a:spcBef>
                    <a:spcPct val="50000"/>
                  </a:spcBef>
                </a:pPr>
                <a:r>
                  <a:rPr lang="zh-CN" altLang="en-US" sz="2800" dirty="0">
                    <a:solidFill>
                      <a:srgbClr val="080808"/>
                    </a:solidFill>
                    <a:latin typeface="Times New Roman" panose="02020603050405020304" pitchFamily="18" charset="0"/>
                  </a:rPr>
                  <a:t>系统</a:t>
                </a:r>
                <a:r>
                  <a:rPr lang="zh-CN" altLang="en-US" sz="2800" dirty="0">
                    <a:latin typeface="Times New Roman" panose="02020603050405020304" pitchFamily="18" charset="0"/>
                  </a:rPr>
                  <a:t>从外界吸收的热量（</a:t>
                </a:r>
                <a:r>
                  <a:rPr lang="en-US" sz="2800" dirty="0">
                    <a:solidFill>
                      <a:srgbClr val="0066FF"/>
                    </a:solidFill>
                  </a:rPr>
                  <a:t> </a:t>
                </a:r>
                <a14:m>
                  <m:oMath xmlns:m="http://schemas.openxmlformats.org/officeDocument/2006/math">
                    <m:r>
                      <a:rPr lang="en-US" sz="2800" i="1" smtClean="0">
                        <a:solidFill>
                          <a:srgbClr val="FF0000"/>
                        </a:solidFill>
                        <a:latin typeface="Cambria Math" panose="02040503050406030204" pitchFamily="18" charset="0"/>
                      </a:rPr>
                      <m:t>𝑄</m:t>
                    </m:r>
                    <m:r>
                      <a:rPr lang="en-US" sz="2800" i="1" smtClean="0">
                        <a:solidFill>
                          <a:srgbClr val="FF0000"/>
                        </a:solidFill>
                        <a:latin typeface="Cambria Math" panose="02040503050406030204" pitchFamily="18" charset="0"/>
                      </a:rPr>
                      <m:t> </m:t>
                    </m:r>
                  </m:oMath>
                </a14:m>
                <a:r>
                  <a:rPr lang="zh-CN" altLang="en-US" sz="2800" dirty="0">
                    <a:latin typeface="Times New Roman" panose="02020603050405020304" pitchFamily="18" charset="0"/>
                  </a:rPr>
                  <a:t>），一部分使系统的内能增加（</a:t>
                </a:r>
                <a:r>
                  <a:rPr lang="en-US" sz="2800" dirty="0">
                    <a:solidFill>
                      <a:srgbClr val="0066FF"/>
                    </a:solidFill>
                  </a:rPr>
                  <a:t> </a:t>
                </a:r>
                <a14:m>
                  <m:oMath xmlns:m="http://schemas.openxmlformats.org/officeDocument/2006/math">
                    <m:r>
                      <a:rPr lang="en-US" sz="2800" i="1" smtClean="0">
                        <a:solidFill>
                          <a:srgbClr val="FF0000"/>
                        </a:solidFill>
                        <a:latin typeface="Cambria Math" panose="02040503050406030204" pitchFamily="18" charset="0"/>
                      </a:rPr>
                      <m:t>𝛥</m:t>
                    </m:r>
                    <m:r>
                      <a:rPr lang="en-US" sz="2800" i="1" smtClean="0">
                        <a:solidFill>
                          <a:srgbClr val="FF0000"/>
                        </a:solidFill>
                        <a:latin typeface="Cambria Math" panose="02040503050406030204" pitchFamily="18" charset="0"/>
                      </a:rPr>
                      <m:t>𝐸</m:t>
                    </m:r>
                    <m:r>
                      <a:rPr lang="en-US" sz="2800" i="1" smtClean="0">
                        <a:solidFill>
                          <a:srgbClr val="FF0000"/>
                        </a:solidFill>
                        <a:latin typeface="Cambria Math" panose="02040503050406030204" pitchFamily="18" charset="0"/>
                      </a:rPr>
                      <m:t> </m:t>
                    </m:r>
                  </m:oMath>
                </a14:m>
                <a:r>
                  <a:rPr lang="zh-CN" altLang="en-US" sz="2800" dirty="0">
                    <a:latin typeface="Times New Roman" panose="02020603050405020304" pitchFamily="18" charset="0"/>
                  </a:rPr>
                  <a:t>），另一部分使系统对外界做功（</a:t>
                </a:r>
                <a:r>
                  <a:rPr lang="en-US" sz="2800" dirty="0">
                    <a:solidFill>
                      <a:srgbClr val="0066FF"/>
                    </a:solidFill>
                  </a:rPr>
                  <a:t> </a:t>
                </a:r>
                <a14:m>
                  <m:oMath xmlns:m="http://schemas.openxmlformats.org/officeDocument/2006/math">
                    <m:r>
                      <a:rPr lang="en-US" sz="2800" i="1" smtClean="0">
                        <a:solidFill>
                          <a:srgbClr val="FF0000"/>
                        </a:solidFill>
                        <a:latin typeface="Cambria Math" panose="02040503050406030204" pitchFamily="18" charset="0"/>
                      </a:rPr>
                      <m:t>𝐴</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a:t>
                </a:r>
                <a:endParaRPr lang="en-US" altLang="zh-CN" sz="2800" dirty="0">
                  <a:solidFill>
                    <a:srgbClr val="CC0000"/>
                  </a:solidFill>
                  <a:latin typeface="Times New Roman" panose="02020603050405020304" pitchFamily="18" charset="0"/>
                </a:endParaRPr>
              </a:p>
            </p:txBody>
          </p:sp>
        </mc:Choice>
        <mc:Fallback xmlns="">
          <p:sp>
            <p:nvSpPr>
              <p:cNvPr id="414724" name="Text Box 4"/>
              <p:cNvSpPr txBox="1">
                <a:spLocks noRot="1" noChangeAspect="1" noMove="1" noResize="1" noEditPoints="1" noAdjustHandles="1" noChangeArrowheads="1" noChangeShapeType="1" noTextEdit="1"/>
              </p:cNvSpPr>
              <p:nvPr/>
            </p:nvSpPr>
            <p:spPr>
              <a:xfrm>
                <a:off x="6390213" y="1879906"/>
                <a:ext cx="5487683" cy="1610697"/>
              </a:xfrm>
              <a:prstGeom prst="rect">
                <a:avLst/>
              </a:prstGeom>
              <a:blipFill>
                <a:blip r:embed="rId2"/>
                <a:stretch>
                  <a:fillRect l="-2222" t="-377" r="-8889" b="-9434"/>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47" name="Object 24"/>
              <p:cNvSpPr txBox="1"/>
              <p:nvPr/>
            </p:nvSpPr>
            <p:spPr>
              <a:xfrm>
                <a:off x="5254180" y="980406"/>
                <a:ext cx="6874936" cy="7791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3600" b="0" i="1" smtClean="0">
                          <a:solidFill>
                            <a:srgbClr val="FF0000"/>
                          </a:solidFill>
                          <a:latin typeface="Cambria Math" panose="02040503050406030204" pitchFamily="18" charset="0"/>
                        </a:rPr>
                        <m:t>𝑄</m:t>
                      </m:r>
                      <m:r>
                        <a:rPr lang="en-US" sz="3600" b="0" i="1" smtClean="0">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b="0" i="1">
                              <a:solidFill>
                                <a:srgbClr val="FF0000"/>
                              </a:solidFill>
                              <a:latin typeface="Cambria Math" panose="02040503050406030204" pitchFamily="18" charset="0"/>
                            </a:rPr>
                            <m:t>𝐸</m:t>
                          </m:r>
                        </m:e>
                        <m:sub>
                          <m:r>
                            <a:rPr lang="en-US" sz="3600" b="0" i="1">
                              <a:solidFill>
                                <a:srgbClr val="FF0000"/>
                              </a:solidFill>
                              <a:latin typeface="Cambria Math" panose="02040503050406030204" pitchFamily="18" charset="0"/>
                            </a:rPr>
                            <m:t>2</m:t>
                          </m:r>
                        </m:sub>
                      </m:sSub>
                      <m:r>
                        <a:rPr lang="en-US" sz="3600" b="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b="0" i="1">
                              <a:solidFill>
                                <a:srgbClr val="FF0000"/>
                              </a:solidFill>
                              <a:latin typeface="Cambria Math" panose="02040503050406030204" pitchFamily="18" charset="0"/>
                            </a:rPr>
                            <m:t>𝐸</m:t>
                          </m:r>
                        </m:e>
                        <m:sub>
                          <m:r>
                            <a:rPr lang="en-US" sz="3600" b="0" i="1">
                              <a:solidFill>
                                <a:srgbClr val="FF0000"/>
                              </a:solidFill>
                              <a:latin typeface="Cambria Math" panose="02040503050406030204" pitchFamily="18" charset="0"/>
                            </a:rPr>
                            <m:t>1</m:t>
                          </m:r>
                        </m:sub>
                      </m:sSub>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𝐴</m:t>
                      </m:r>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𝛥</m:t>
                      </m:r>
                      <m:r>
                        <a:rPr lang="en-US" sz="3600" b="0" i="1">
                          <a:solidFill>
                            <a:srgbClr val="FF0000"/>
                          </a:solidFill>
                          <a:latin typeface="Cambria Math" panose="02040503050406030204" pitchFamily="18" charset="0"/>
                        </a:rPr>
                        <m:t>𝐸</m:t>
                      </m:r>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𝐴</m:t>
                      </m:r>
                    </m:oMath>
                  </m:oMathPara>
                </a14:m>
                <a:endParaRPr lang="en-US" sz="3600" dirty="0">
                  <a:solidFill>
                    <a:srgbClr val="FF0000"/>
                  </a:solidFill>
                </a:endParaRPr>
              </a:p>
            </p:txBody>
          </p:sp>
        </mc:Choice>
        <mc:Fallback xmlns="">
          <p:sp>
            <p:nvSpPr>
              <p:cNvPr id="6147" name="Object 24"/>
              <p:cNvSpPr txBox="1">
                <a:spLocks noRot="1" noChangeAspect="1" noMove="1" noResize="1" noEditPoints="1" noAdjustHandles="1" noChangeArrowheads="1" noChangeShapeType="1" noTextEdit="1"/>
              </p:cNvSpPr>
              <p:nvPr/>
            </p:nvSpPr>
            <p:spPr>
              <a:xfrm>
                <a:off x="5254180" y="980406"/>
                <a:ext cx="6874936" cy="779145"/>
              </a:xfrm>
              <a:prstGeom prst="rect">
                <a:avLst/>
              </a:prstGeom>
              <a:blipFill>
                <a:blip r:embed="rId3"/>
                <a:stretch>
                  <a:fillRect/>
                </a:stretch>
              </a:blipFill>
              <a:ln w="38100">
                <a:noFill/>
                <a:miter/>
              </a:ln>
            </p:spPr>
            <p:txBody>
              <a:bodyPr/>
              <a:lstStyle/>
              <a:p>
                <a:r>
                  <a:rPr lang="en-US">
                    <a:noFill/>
                  </a:rPr>
                  <a:t> </a:t>
                </a:r>
              </a:p>
            </p:txBody>
          </p:sp>
        </mc:Fallback>
      </mc:AlternateContent>
      <p:sp>
        <p:nvSpPr>
          <p:cNvPr id="25" name="Text Box 13">
            <a:hlinkClick r:id="" action="ppaction://noaction"/>
            <a:extLst>
              <a:ext uri="{FF2B5EF4-FFF2-40B4-BE49-F238E27FC236}">
                <a16:creationId xmlns:a16="http://schemas.microsoft.com/office/drawing/2014/main" id="{E75F4899-BDE1-4184-B65A-0F563CD20E74}"/>
              </a:ext>
            </a:extLst>
          </p:cNvPr>
          <p:cNvSpPr txBox="1">
            <a:spLocks noChangeArrowheads="1"/>
          </p:cNvSpPr>
          <p:nvPr/>
        </p:nvSpPr>
        <p:spPr bwMode="auto">
          <a:xfrm>
            <a:off x="617888" y="288470"/>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热力学第一定律</a:t>
            </a:r>
          </a:p>
        </p:txBody>
      </p:sp>
      <p:graphicFrame>
        <p:nvGraphicFramePr>
          <p:cNvPr id="27" name="图示 26">
            <a:extLst>
              <a:ext uri="{FF2B5EF4-FFF2-40B4-BE49-F238E27FC236}">
                <a16:creationId xmlns:a16="http://schemas.microsoft.com/office/drawing/2014/main" id="{5351E658-5A7F-484C-8A0E-773F973B1BB0}"/>
              </a:ext>
            </a:extLst>
          </p:cNvPr>
          <p:cNvGraphicFramePr/>
          <p:nvPr>
            <p:extLst>
              <p:ext uri="{D42A27DB-BD31-4B8C-83A1-F6EECF244321}">
                <p14:modId xmlns:p14="http://schemas.microsoft.com/office/powerpoint/2010/main" val="4117935233"/>
              </p:ext>
            </p:extLst>
          </p:nvPr>
        </p:nvGraphicFramePr>
        <p:xfrm>
          <a:off x="3242739" y="1081333"/>
          <a:ext cx="2896255" cy="2509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28" name="Group 90">
            <a:extLst>
              <a:ext uri="{FF2B5EF4-FFF2-40B4-BE49-F238E27FC236}">
                <a16:creationId xmlns:a16="http://schemas.microsoft.com/office/drawing/2014/main" id="{7D0AD1E2-B664-4544-BDE8-62907194074B}"/>
              </a:ext>
            </a:extLst>
          </p:cNvPr>
          <p:cNvGrpSpPr/>
          <p:nvPr/>
        </p:nvGrpSpPr>
        <p:grpSpPr>
          <a:xfrm>
            <a:off x="182435" y="1037725"/>
            <a:ext cx="2977325" cy="2630036"/>
            <a:chOff x="2773" y="1849"/>
            <a:chExt cx="2315" cy="1991"/>
          </a:xfrm>
        </p:grpSpPr>
        <p:sp>
          <p:nvSpPr>
            <p:cNvPr id="29" name="Line 91">
              <a:extLst>
                <a:ext uri="{FF2B5EF4-FFF2-40B4-BE49-F238E27FC236}">
                  <a16:creationId xmlns:a16="http://schemas.microsoft.com/office/drawing/2014/main" id="{3EC76FC7-46AA-4AC9-B53F-2757F8A993B3}"/>
                </a:ext>
              </a:extLst>
            </p:cNvPr>
            <p:cNvSpPr/>
            <p:nvPr/>
          </p:nvSpPr>
          <p:spPr>
            <a:xfrm>
              <a:off x="3091" y="3552"/>
              <a:ext cx="1776" cy="0"/>
            </a:xfrm>
            <a:prstGeom prst="line">
              <a:avLst/>
            </a:prstGeom>
            <a:ln w="19050" cap="flat" cmpd="sng">
              <a:solidFill>
                <a:srgbClr val="080808"/>
              </a:solidFill>
              <a:prstDash val="solid"/>
              <a:headEnd type="none" w="med" len="med"/>
              <a:tailEnd type="triangle" w="sm" len="lg"/>
            </a:ln>
          </p:spPr>
        </p:sp>
        <p:sp>
          <p:nvSpPr>
            <p:cNvPr id="30" name="Line 92">
              <a:extLst>
                <a:ext uri="{FF2B5EF4-FFF2-40B4-BE49-F238E27FC236}">
                  <a16:creationId xmlns:a16="http://schemas.microsoft.com/office/drawing/2014/main" id="{2DAD5024-B67A-441B-9474-35D275EB8EE7}"/>
                </a:ext>
              </a:extLst>
            </p:cNvPr>
            <p:cNvSpPr/>
            <p:nvPr/>
          </p:nvSpPr>
          <p:spPr>
            <a:xfrm flipV="1">
              <a:off x="3091" y="1920"/>
              <a:ext cx="0" cy="1632"/>
            </a:xfrm>
            <a:prstGeom prst="line">
              <a:avLst/>
            </a:prstGeom>
            <a:ln w="19050" cap="flat" cmpd="sng">
              <a:solidFill>
                <a:srgbClr val="080808"/>
              </a:solidFill>
              <a:prstDash val="solid"/>
              <a:headEnd type="none" w="med" len="med"/>
              <a:tailEnd type="triangle" w="sm" len="lg"/>
            </a:ln>
          </p:spPr>
        </p:sp>
        <p:sp>
          <p:nvSpPr>
            <p:cNvPr id="31" name="Oval 93">
              <a:extLst>
                <a:ext uri="{FF2B5EF4-FFF2-40B4-BE49-F238E27FC236}">
                  <a16:creationId xmlns:a16="http://schemas.microsoft.com/office/drawing/2014/main" id="{3680AE3F-4CD0-4A1F-9F3F-8E2D11E61EC4}"/>
                </a:ext>
              </a:extLst>
            </p:cNvPr>
            <p:cNvSpPr/>
            <p:nvPr/>
          </p:nvSpPr>
          <p:spPr>
            <a:xfrm>
              <a:off x="3523" y="2352"/>
              <a:ext cx="48" cy="48"/>
            </a:xfrm>
            <a:prstGeom prst="ellipse">
              <a:avLst/>
            </a:prstGeom>
            <a:solidFill>
              <a:srgbClr val="CC0000"/>
            </a:solidFill>
            <a:ln w="9525" cap="flat" cmpd="sng">
              <a:solidFill>
                <a:schemeClr val="tx1"/>
              </a:solidFill>
              <a:prstDash val="solid"/>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p:sp>
          <p:nvSpPr>
            <p:cNvPr id="32" name="Oval 94">
              <a:extLst>
                <a:ext uri="{FF2B5EF4-FFF2-40B4-BE49-F238E27FC236}">
                  <a16:creationId xmlns:a16="http://schemas.microsoft.com/office/drawing/2014/main" id="{8EEC5910-D497-467B-AD1B-3DA6C7A1361C}"/>
                </a:ext>
              </a:extLst>
            </p:cNvPr>
            <p:cNvSpPr/>
            <p:nvPr/>
          </p:nvSpPr>
          <p:spPr>
            <a:xfrm>
              <a:off x="4147" y="3024"/>
              <a:ext cx="48" cy="48"/>
            </a:xfrm>
            <a:prstGeom prst="ellipse">
              <a:avLst/>
            </a:prstGeom>
            <a:solidFill>
              <a:srgbClr val="CC0000"/>
            </a:solidFill>
            <a:ln w="9525" cap="flat" cmpd="sng">
              <a:solidFill>
                <a:schemeClr val="tx1"/>
              </a:solidFill>
              <a:prstDash val="solid"/>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3" name="Object 95">
                  <a:extLst>
                    <a:ext uri="{FF2B5EF4-FFF2-40B4-BE49-F238E27FC236}">
                      <a16:creationId xmlns:a16="http://schemas.microsoft.com/office/drawing/2014/main" id="{42A81A1E-9B94-4773-B12C-3D4D44BF49B9}"/>
                    </a:ext>
                  </a:extLst>
                </p:cNvPr>
                <p:cNvSpPr txBox="1"/>
                <p:nvPr/>
              </p:nvSpPr>
              <p:spPr>
                <a:xfrm>
                  <a:off x="4128" y="2675"/>
                  <a:ext cx="960" cy="291"/>
                </a:xfrm>
                <a:prstGeom prst="rect">
                  <a:avLst/>
                </a:prstGeom>
                <a:noFill/>
                <a:ln w="38100">
                  <a:noFill/>
                  <a:miter/>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3" name="Object 95">
                  <a:extLst>
                    <a:ext uri="{FF2B5EF4-FFF2-40B4-BE49-F238E27FC236}">
                      <a16:creationId xmlns:a16="http://schemas.microsoft.com/office/drawing/2014/main" id="{42A81A1E-9B94-4773-B12C-3D4D44BF49B9}"/>
                    </a:ext>
                  </a:extLst>
                </p:cNvPr>
                <p:cNvSpPr txBox="1">
                  <a:spLocks noRot="1" noChangeAspect="1" noMove="1" noResize="1" noEditPoints="1" noAdjustHandles="1" noChangeArrowheads="1" noChangeShapeType="1" noTextEdit="1"/>
                </p:cNvSpPr>
                <p:nvPr/>
              </p:nvSpPr>
              <p:spPr>
                <a:xfrm>
                  <a:off x="4128" y="2675"/>
                  <a:ext cx="960" cy="291"/>
                </a:xfrm>
                <a:prstGeom prst="rect">
                  <a:avLst/>
                </a:prstGeom>
                <a:blipFill>
                  <a:blip r:embed="rId9"/>
                  <a:stretch>
                    <a:fillRect l="-1980" r="-3465" b="-1746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bject 96">
                  <a:extLst>
                    <a:ext uri="{FF2B5EF4-FFF2-40B4-BE49-F238E27FC236}">
                      <a16:creationId xmlns:a16="http://schemas.microsoft.com/office/drawing/2014/main" id="{F89880CE-1974-4818-8059-423BDECBD5CE}"/>
                    </a:ext>
                  </a:extLst>
                </p:cNvPr>
                <p:cNvSpPr txBox="1"/>
                <p:nvPr/>
              </p:nvSpPr>
              <p:spPr>
                <a:xfrm>
                  <a:off x="3571" y="2112"/>
                  <a:ext cx="1055" cy="291"/>
                </a:xfrm>
                <a:prstGeom prst="rect">
                  <a:avLst/>
                </a:prstGeom>
                <a:noFill/>
                <a:ln w="38100">
                  <a:noFill/>
                  <a:miter/>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4" name="Object 96">
                  <a:extLst>
                    <a:ext uri="{FF2B5EF4-FFF2-40B4-BE49-F238E27FC236}">
                      <a16:creationId xmlns:a16="http://schemas.microsoft.com/office/drawing/2014/main" id="{F89880CE-1974-4818-8059-423BDECBD5CE}"/>
                    </a:ext>
                  </a:extLst>
                </p:cNvPr>
                <p:cNvSpPr txBox="1">
                  <a:spLocks noRot="1" noChangeAspect="1" noMove="1" noResize="1" noEditPoints="1" noAdjustHandles="1" noChangeArrowheads="1" noChangeShapeType="1" noTextEdit="1"/>
                </p:cNvSpPr>
                <p:nvPr/>
              </p:nvSpPr>
              <p:spPr>
                <a:xfrm>
                  <a:off x="3571" y="2112"/>
                  <a:ext cx="1055" cy="291"/>
                </a:xfrm>
                <a:prstGeom prst="rect">
                  <a:avLst/>
                </a:prstGeom>
                <a:blipFill>
                  <a:blip r:embed="rId10"/>
                  <a:stretch>
                    <a:fillRect b="-17460"/>
                  </a:stretch>
                </a:blipFill>
                <a:ln w="38100">
                  <a:noFill/>
                  <a:miter/>
                </a:ln>
              </p:spPr>
              <p:txBody>
                <a:bodyPr/>
                <a:lstStyle/>
                <a:p>
                  <a:r>
                    <a:rPr lang="en-US">
                      <a:noFill/>
                    </a:rPr>
                    <a:t> </a:t>
                  </a:r>
                </a:p>
              </p:txBody>
            </p:sp>
          </mc:Fallback>
        </mc:AlternateContent>
        <p:sp>
          <p:nvSpPr>
            <p:cNvPr id="35" name="Line 97">
              <a:extLst>
                <a:ext uri="{FF2B5EF4-FFF2-40B4-BE49-F238E27FC236}">
                  <a16:creationId xmlns:a16="http://schemas.microsoft.com/office/drawing/2014/main" id="{7CCBBFF7-A3F4-4628-98E7-9AFF6EB26433}"/>
                </a:ext>
              </a:extLst>
            </p:cNvPr>
            <p:cNvSpPr/>
            <p:nvPr/>
          </p:nvSpPr>
          <p:spPr>
            <a:xfrm>
              <a:off x="3552" y="2352"/>
              <a:ext cx="0" cy="1200"/>
            </a:xfrm>
            <a:prstGeom prst="line">
              <a:avLst/>
            </a:prstGeom>
            <a:ln w="12700" cap="flat" cmpd="sng">
              <a:solidFill>
                <a:srgbClr val="080808"/>
              </a:solidFill>
              <a:prstDash val="dash"/>
              <a:headEnd type="none" w="med" len="med"/>
              <a:tailEnd type="none" w="med" len="med"/>
            </a:ln>
          </p:spPr>
        </p:sp>
        <p:sp>
          <p:nvSpPr>
            <p:cNvPr id="36" name="Line 98">
              <a:extLst>
                <a:ext uri="{FF2B5EF4-FFF2-40B4-BE49-F238E27FC236}">
                  <a16:creationId xmlns:a16="http://schemas.microsoft.com/office/drawing/2014/main" id="{B77B7263-4842-40DE-9E37-3A5233AEA175}"/>
                </a:ext>
              </a:extLst>
            </p:cNvPr>
            <p:cNvSpPr/>
            <p:nvPr/>
          </p:nvSpPr>
          <p:spPr>
            <a:xfrm>
              <a:off x="4195" y="3072"/>
              <a:ext cx="0" cy="480"/>
            </a:xfrm>
            <a:prstGeom prst="line">
              <a:avLst/>
            </a:prstGeom>
            <a:ln w="12700" cap="flat" cmpd="sng">
              <a:solidFill>
                <a:srgbClr val="080808"/>
              </a:solidFill>
              <a:prstDash val="dash"/>
              <a:headEnd type="none" w="med" len="med"/>
              <a:tailEnd type="none" w="med" len="med"/>
            </a:ln>
          </p:spPr>
        </p:sp>
        <p:sp>
          <p:nvSpPr>
            <p:cNvPr id="37" name="Line 99">
              <a:extLst>
                <a:ext uri="{FF2B5EF4-FFF2-40B4-BE49-F238E27FC236}">
                  <a16:creationId xmlns:a16="http://schemas.microsoft.com/office/drawing/2014/main" id="{82E29830-8CFE-43D9-A412-5A0368FB7FF9}"/>
                </a:ext>
              </a:extLst>
            </p:cNvPr>
            <p:cNvSpPr/>
            <p:nvPr/>
          </p:nvSpPr>
          <p:spPr>
            <a:xfrm flipH="1">
              <a:off x="3091" y="2352"/>
              <a:ext cx="480" cy="0"/>
            </a:xfrm>
            <a:prstGeom prst="line">
              <a:avLst/>
            </a:prstGeom>
            <a:ln w="12700" cap="flat" cmpd="sng">
              <a:solidFill>
                <a:srgbClr val="080808"/>
              </a:solidFill>
              <a:prstDash val="dash"/>
              <a:headEnd type="none" w="med" len="med"/>
              <a:tailEnd type="none" w="med" len="med"/>
            </a:ln>
          </p:spPr>
        </p:sp>
        <p:sp>
          <p:nvSpPr>
            <p:cNvPr id="38" name="Line 100">
              <a:extLst>
                <a:ext uri="{FF2B5EF4-FFF2-40B4-BE49-F238E27FC236}">
                  <a16:creationId xmlns:a16="http://schemas.microsoft.com/office/drawing/2014/main" id="{AA8DDF15-ED35-4AF2-B6B4-9DBBE18E4B0A}"/>
                </a:ext>
              </a:extLst>
            </p:cNvPr>
            <p:cNvSpPr/>
            <p:nvPr/>
          </p:nvSpPr>
          <p:spPr>
            <a:xfrm flipH="1">
              <a:off x="3091" y="3072"/>
              <a:ext cx="1104" cy="0"/>
            </a:xfrm>
            <a:prstGeom prst="line">
              <a:avLst/>
            </a:prstGeom>
            <a:ln w="12700" cap="flat" cmpd="sng">
              <a:solidFill>
                <a:srgbClr val="080808"/>
              </a:solidFill>
              <a:prstDash val="dash"/>
              <a:headEnd type="none" w="med" len="med"/>
              <a:tailEnd type="none" w="med" len="med"/>
            </a:ln>
          </p:spPr>
        </p:sp>
        <mc:AlternateContent xmlns:mc="http://schemas.openxmlformats.org/markup-compatibility/2006" xmlns:a14="http://schemas.microsoft.com/office/drawing/2010/main">
          <mc:Choice Requires="a14">
            <p:sp>
              <p:nvSpPr>
                <p:cNvPr id="39" name="Object 101">
                  <a:extLst>
                    <a:ext uri="{FF2B5EF4-FFF2-40B4-BE49-F238E27FC236}">
                      <a16:creationId xmlns:a16="http://schemas.microsoft.com/office/drawing/2014/main" id="{67713DB1-2523-41B5-9AB5-BCD35DF82A73}"/>
                    </a:ext>
                  </a:extLst>
                </p:cNvPr>
                <p:cNvSpPr txBox="1"/>
                <p:nvPr/>
              </p:nvSpPr>
              <p:spPr>
                <a:xfrm>
                  <a:off x="3469" y="3552"/>
                  <a:ext cx="207" cy="2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b="0" i="1" smtClean="0">
                                <a:solidFill>
                                  <a:srgbClr val="000000"/>
                                </a:solidFill>
                                <a:latin typeface="Cambria Math" panose="02040503050406030204" pitchFamily="18" charset="0"/>
                              </a:rPr>
                              <m:t>2</m:t>
                            </m:r>
                          </m:sub>
                        </m:sSub>
                      </m:oMath>
                    </m:oMathPara>
                  </a14:m>
                  <a:endParaRPr lang="en-US" sz="2400" dirty="0"/>
                </a:p>
              </p:txBody>
            </p:sp>
          </mc:Choice>
          <mc:Fallback xmlns="">
            <p:sp>
              <p:nvSpPr>
                <p:cNvPr id="39" name="Object 101">
                  <a:extLst>
                    <a:ext uri="{FF2B5EF4-FFF2-40B4-BE49-F238E27FC236}">
                      <a16:creationId xmlns:a16="http://schemas.microsoft.com/office/drawing/2014/main" id="{67713DB1-2523-41B5-9AB5-BCD35DF82A73}"/>
                    </a:ext>
                  </a:extLst>
                </p:cNvPr>
                <p:cNvSpPr txBox="1">
                  <a:spLocks noRot="1" noChangeAspect="1" noMove="1" noResize="1" noEditPoints="1" noAdjustHandles="1" noChangeArrowheads="1" noChangeShapeType="1" noTextEdit="1"/>
                </p:cNvSpPr>
                <p:nvPr/>
              </p:nvSpPr>
              <p:spPr>
                <a:xfrm>
                  <a:off x="3469" y="3552"/>
                  <a:ext cx="207" cy="288"/>
                </a:xfrm>
                <a:prstGeom prst="rect">
                  <a:avLst/>
                </a:prstGeom>
                <a:blipFill>
                  <a:blip r:embed="rId11"/>
                  <a:stretch>
                    <a:fillRect l="-6977" r="-67442" b="-2381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bject 102">
                  <a:extLst>
                    <a:ext uri="{FF2B5EF4-FFF2-40B4-BE49-F238E27FC236}">
                      <a16:creationId xmlns:a16="http://schemas.microsoft.com/office/drawing/2014/main" id="{4FE1CE6C-0DD8-4910-A67B-5EF1D4CB926C}"/>
                    </a:ext>
                  </a:extLst>
                </p:cNvPr>
                <p:cNvSpPr txBox="1"/>
                <p:nvPr/>
              </p:nvSpPr>
              <p:spPr>
                <a:xfrm>
                  <a:off x="4082" y="3552"/>
                  <a:ext cx="230" cy="2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b="0" i="1" smtClean="0">
                                <a:solidFill>
                                  <a:srgbClr val="000000"/>
                                </a:solidFill>
                                <a:latin typeface="Cambria Math" panose="02040503050406030204" pitchFamily="18" charset="0"/>
                              </a:rPr>
                              <m:t>1</m:t>
                            </m:r>
                          </m:sub>
                        </m:sSub>
                      </m:oMath>
                    </m:oMathPara>
                  </a14:m>
                  <a:endParaRPr lang="en-US" sz="2400" dirty="0"/>
                </a:p>
              </p:txBody>
            </p:sp>
          </mc:Choice>
          <mc:Fallback xmlns="">
            <p:sp>
              <p:nvSpPr>
                <p:cNvPr id="40" name="Object 102">
                  <a:extLst>
                    <a:ext uri="{FF2B5EF4-FFF2-40B4-BE49-F238E27FC236}">
                      <a16:creationId xmlns:a16="http://schemas.microsoft.com/office/drawing/2014/main" id="{4FE1CE6C-0DD8-4910-A67B-5EF1D4CB926C}"/>
                    </a:ext>
                  </a:extLst>
                </p:cNvPr>
                <p:cNvSpPr txBox="1">
                  <a:spLocks noRot="1" noChangeAspect="1" noMove="1" noResize="1" noEditPoints="1" noAdjustHandles="1" noChangeArrowheads="1" noChangeShapeType="1" noTextEdit="1"/>
                </p:cNvSpPr>
                <p:nvPr/>
              </p:nvSpPr>
              <p:spPr>
                <a:xfrm>
                  <a:off x="4082" y="3552"/>
                  <a:ext cx="230" cy="288"/>
                </a:xfrm>
                <a:prstGeom prst="rect">
                  <a:avLst/>
                </a:prstGeom>
                <a:blipFill>
                  <a:blip r:embed="rId12"/>
                  <a:stretch>
                    <a:fillRect l="-4082" r="-44898" b="-2381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Object 103">
                  <a:extLst>
                    <a:ext uri="{FF2B5EF4-FFF2-40B4-BE49-F238E27FC236}">
                      <a16:creationId xmlns:a16="http://schemas.microsoft.com/office/drawing/2014/main" id="{B0F8D6CA-E564-4E46-853D-7F40742B1E43}"/>
                    </a:ext>
                  </a:extLst>
                </p:cNvPr>
                <p:cNvSpPr txBox="1"/>
                <p:nvPr/>
              </p:nvSpPr>
              <p:spPr>
                <a:xfrm>
                  <a:off x="2773" y="2160"/>
                  <a:ext cx="347" cy="336"/>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2</m:t>
                            </m:r>
                          </m:sub>
                        </m:sSub>
                      </m:oMath>
                    </m:oMathPara>
                  </a14:m>
                  <a:endParaRPr lang="en-US" sz="2400" dirty="0"/>
                </a:p>
              </p:txBody>
            </p:sp>
          </mc:Choice>
          <mc:Fallback xmlns="">
            <p:sp>
              <p:nvSpPr>
                <p:cNvPr id="43" name="Object 103">
                  <a:extLst>
                    <a:ext uri="{FF2B5EF4-FFF2-40B4-BE49-F238E27FC236}">
                      <a16:creationId xmlns:a16="http://schemas.microsoft.com/office/drawing/2014/main" id="{B0F8D6CA-E564-4E46-853D-7F40742B1E43}"/>
                    </a:ext>
                  </a:extLst>
                </p:cNvPr>
                <p:cNvSpPr txBox="1">
                  <a:spLocks noRot="1" noChangeAspect="1" noMove="1" noResize="1" noEditPoints="1" noAdjustHandles="1" noChangeArrowheads="1" noChangeShapeType="1" noTextEdit="1"/>
                </p:cNvSpPr>
                <p:nvPr/>
              </p:nvSpPr>
              <p:spPr>
                <a:xfrm>
                  <a:off x="2773" y="2160"/>
                  <a:ext cx="347" cy="336"/>
                </a:xfrm>
                <a:prstGeom prst="rect">
                  <a:avLst/>
                </a:prstGeom>
                <a:blipFill>
                  <a:blip r:embed="rId13"/>
                  <a:stretch>
                    <a:fillRect l="-2740" b="-8333"/>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Object 104">
                  <a:extLst>
                    <a:ext uri="{FF2B5EF4-FFF2-40B4-BE49-F238E27FC236}">
                      <a16:creationId xmlns:a16="http://schemas.microsoft.com/office/drawing/2014/main" id="{945AB89D-1ADE-4C74-9C06-77D023D21BC4}"/>
                    </a:ext>
                  </a:extLst>
                </p:cNvPr>
                <p:cNvSpPr txBox="1"/>
                <p:nvPr/>
              </p:nvSpPr>
              <p:spPr>
                <a:xfrm>
                  <a:off x="2784" y="2880"/>
                  <a:ext cx="308" cy="336"/>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1</m:t>
                            </m:r>
                          </m:sub>
                        </m:sSub>
                      </m:oMath>
                    </m:oMathPara>
                  </a14:m>
                  <a:endParaRPr lang="en-US" sz="2400" dirty="0"/>
                </a:p>
              </p:txBody>
            </p:sp>
          </mc:Choice>
          <mc:Fallback xmlns="">
            <p:sp>
              <p:nvSpPr>
                <p:cNvPr id="44" name="Object 104">
                  <a:extLst>
                    <a:ext uri="{FF2B5EF4-FFF2-40B4-BE49-F238E27FC236}">
                      <a16:creationId xmlns:a16="http://schemas.microsoft.com/office/drawing/2014/main" id="{945AB89D-1ADE-4C74-9C06-77D023D21BC4}"/>
                    </a:ext>
                  </a:extLst>
                </p:cNvPr>
                <p:cNvSpPr txBox="1">
                  <a:spLocks noRot="1" noChangeAspect="1" noMove="1" noResize="1" noEditPoints="1" noAdjustHandles="1" noChangeArrowheads="1" noChangeShapeType="1" noTextEdit="1"/>
                </p:cNvSpPr>
                <p:nvPr/>
              </p:nvSpPr>
              <p:spPr>
                <a:xfrm>
                  <a:off x="2784" y="2880"/>
                  <a:ext cx="308" cy="336"/>
                </a:xfrm>
                <a:prstGeom prst="rect">
                  <a:avLst/>
                </a:prstGeom>
                <a:blipFill>
                  <a:blip r:embed="rId14"/>
                  <a:stretch>
                    <a:fillRect l="-1538" r="-6154" b="-8333"/>
                  </a:stretch>
                </a:blipFill>
                <a:ln w="38100">
                  <a:noFill/>
                  <a:miter/>
                </a:ln>
              </p:spPr>
              <p:txBody>
                <a:bodyPr/>
                <a:lstStyle/>
                <a:p>
                  <a:r>
                    <a:rPr lang="en-US">
                      <a:noFill/>
                    </a:rPr>
                    <a:t> </a:t>
                  </a:r>
                </a:p>
              </p:txBody>
            </p:sp>
          </mc:Fallback>
        </mc:AlternateContent>
        <p:sp>
          <p:nvSpPr>
            <p:cNvPr id="45" name="Freeform 105">
              <a:extLst>
                <a:ext uri="{FF2B5EF4-FFF2-40B4-BE49-F238E27FC236}">
                  <a16:creationId xmlns:a16="http://schemas.microsoft.com/office/drawing/2014/main" id="{D003DBB8-E777-4976-81A8-A59B36165AA3}"/>
                </a:ext>
              </a:extLst>
            </p:cNvPr>
            <p:cNvSpPr/>
            <p:nvPr/>
          </p:nvSpPr>
          <p:spPr>
            <a:xfrm>
              <a:off x="3552" y="2352"/>
              <a:ext cx="624" cy="720"/>
            </a:xfrm>
            <a:custGeom>
              <a:avLst/>
              <a:gdLst>
                <a:gd name="txL" fmla="*/ 0 w 624"/>
                <a:gd name="txT" fmla="*/ 0 h 720"/>
                <a:gd name="txR" fmla="*/ 624 w 624"/>
                <a:gd name="txB" fmla="*/ 720 h 720"/>
              </a:gdLst>
              <a:ahLst/>
              <a:cxnLst>
                <a:cxn ang="0">
                  <a:pos x="0" y="0"/>
                </a:cxn>
                <a:cxn ang="0">
                  <a:pos x="144" y="336"/>
                </a:cxn>
                <a:cxn ang="0">
                  <a:pos x="336" y="576"/>
                </a:cxn>
                <a:cxn ang="0">
                  <a:pos x="624" y="720"/>
                </a:cxn>
              </a:cxnLst>
              <a:rect l="txL" t="txT" r="txR" b="txB"/>
              <a:pathLst>
                <a:path w="624" h="720">
                  <a:moveTo>
                    <a:pt x="0" y="0"/>
                  </a:moveTo>
                  <a:cubicBezTo>
                    <a:pt x="44" y="120"/>
                    <a:pt x="88" y="240"/>
                    <a:pt x="144" y="336"/>
                  </a:cubicBezTo>
                  <a:cubicBezTo>
                    <a:pt x="200" y="432"/>
                    <a:pt x="256" y="512"/>
                    <a:pt x="336" y="576"/>
                  </a:cubicBezTo>
                  <a:cubicBezTo>
                    <a:pt x="416" y="640"/>
                    <a:pt x="576" y="696"/>
                    <a:pt x="624" y="720"/>
                  </a:cubicBezTo>
                </a:path>
              </a:pathLst>
            </a:custGeom>
            <a:noFill/>
            <a:ln w="28575" cap="flat" cmpd="sng">
              <a:solidFill>
                <a:srgbClr val="FF0000">
                  <a:alpha val="100000"/>
                </a:srgbClr>
              </a:solidFill>
              <a:prstDash val="solid"/>
              <a:round/>
              <a:headEnd type="none" w="med" len="med"/>
              <a:tailEnd type="none" w="med" len="med"/>
            </a:ln>
          </p:spPr>
          <p:txBody>
            <a:bodyPr/>
            <a:lstStyle/>
            <a:p>
              <a:endParaRPr lang="zh-CN" altLang="en-US" sz="2400"/>
            </a:p>
          </p:txBody>
        </p:sp>
        <p:sp>
          <p:nvSpPr>
            <p:cNvPr id="46" name="Line 106">
              <a:extLst>
                <a:ext uri="{FF2B5EF4-FFF2-40B4-BE49-F238E27FC236}">
                  <a16:creationId xmlns:a16="http://schemas.microsoft.com/office/drawing/2014/main" id="{45ACA218-9983-4B6A-BCB1-316EA046BB83}"/>
                </a:ext>
              </a:extLst>
            </p:cNvPr>
            <p:cNvSpPr/>
            <p:nvPr/>
          </p:nvSpPr>
          <p:spPr>
            <a:xfrm flipH="1" flipV="1">
              <a:off x="3715" y="2730"/>
              <a:ext cx="125" cy="148"/>
            </a:xfrm>
            <a:prstGeom prst="line">
              <a:avLst/>
            </a:prstGeom>
            <a:ln w="38100" cap="flat" cmpd="sng">
              <a:solidFill>
                <a:srgbClr val="FF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47" name="Object 107">
                  <a:extLst>
                    <a:ext uri="{FF2B5EF4-FFF2-40B4-BE49-F238E27FC236}">
                      <a16:creationId xmlns:a16="http://schemas.microsoft.com/office/drawing/2014/main" id="{C1DF19A3-8561-48BF-A6D5-BC4802FF2175}"/>
                    </a:ext>
                  </a:extLst>
                </p:cNvPr>
                <p:cNvSpPr txBox="1"/>
                <p:nvPr/>
              </p:nvSpPr>
              <p:spPr>
                <a:xfrm>
                  <a:off x="3131" y="1849"/>
                  <a:ext cx="209" cy="24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𝑝</m:t>
                        </m:r>
                      </m:oMath>
                    </m:oMathPara>
                  </a14:m>
                  <a:endParaRPr lang="en-US" sz="2400" dirty="0"/>
                </a:p>
              </p:txBody>
            </p:sp>
          </mc:Choice>
          <mc:Fallback xmlns="">
            <p:sp>
              <p:nvSpPr>
                <p:cNvPr id="47" name="Object 107">
                  <a:extLst>
                    <a:ext uri="{FF2B5EF4-FFF2-40B4-BE49-F238E27FC236}">
                      <a16:creationId xmlns:a16="http://schemas.microsoft.com/office/drawing/2014/main" id="{C1DF19A3-8561-48BF-A6D5-BC4802FF2175}"/>
                    </a:ext>
                  </a:extLst>
                </p:cNvPr>
                <p:cNvSpPr txBox="1">
                  <a:spLocks noRot="1" noChangeAspect="1" noMove="1" noResize="1" noEditPoints="1" noAdjustHandles="1" noChangeArrowheads="1" noChangeShapeType="1" noTextEdit="1"/>
                </p:cNvSpPr>
                <p:nvPr/>
              </p:nvSpPr>
              <p:spPr>
                <a:xfrm>
                  <a:off x="3131" y="1849"/>
                  <a:ext cx="209" cy="248"/>
                </a:xfrm>
                <a:prstGeom prst="rect">
                  <a:avLst/>
                </a:prstGeom>
                <a:blipFill>
                  <a:blip r:embed="rId15"/>
                  <a:stretch>
                    <a:fillRect l="-6667" r="-35556" b="-57407"/>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Object 108">
                  <a:extLst>
                    <a:ext uri="{FF2B5EF4-FFF2-40B4-BE49-F238E27FC236}">
                      <a16:creationId xmlns:a16="http://schemas.microsoft.com/office/drawing/2014/main" id="{802C979A-2E7D-43FF-B0C1-F47753C15063}"/>
                    </a:ext>
                  </a:extLst>
                </p:cNvPr>
                <p:cNvSpPr txBox="1"/>
                <p:nvPr/>
              </p:nvSpPr>
              <p:spPr>
                <a:xfrm>
                  <a:off x="4652" y="3552"/>
                  <a:ext cx="215" cy="24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𝑉</m:t>
                        </m:r>
                      </m:oMath>
                    </m:oMathPara>
                  </a14:m>
                  <a:endParaRPr lang="en-US" sz="2400" dirty="0"/>
                </a:p>
              </p:txBody>
            </p:sp>
          </mc:Choice>
          <mc:Fallback xmlns="">
            <p:sp>
              <p:nvSpPr>
                <p:cNvPr id="48" name="Object 108">
                  <a:extLst>
                    <a:ext uri="{FF2B5EF4-FFF2-40B4-BE49-F238E27FC236}">
                      <a16:creationId xmlns:a16="http://schemas.microsoft.com/office/drawing/2014/main" id="{802C979A-2E7D-43FF-B0C1-F47753C15063}"/>
                    </a:ext>
                  </a:extLst>
                </p:cNvPr>
                <p:cNvSpPr txBox="1">
                  <a:spLocks noRot="1" noChangeAspect="1" noMove="1" noResize="1" noEditPoints="1" noAdjustHandles="1" noChangeArrowheads="1" noChangeShapeType="1" noTextEdit="1"/>
                </p:cNvSpPr>
                <p:nvPr/>
              </p:nvSpPr>
              <p:spPr>
                <a:xfrm>
                  <a:off x="4652" y="3552"/>
                  <a:ext cx="215" cy="240"/>
                </a:xfrm>
                <a:prstGeom prst="rect">
                  <a:avLst/>
                </a:prstGeom>
                <a:blipFill>
                  <a:blip r:embed="rId16"/>
                  <a:stretch>
                    <a:fillRect l="-4348" r="-39130" b="-40385"/>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Object 109">
                  <a:extLst>
                    <a:ext uri="{FF2B5EF4-FFF2-40B4-BE49-F238E27FC236}">
                      <a16:creationId xmlns:a16="http://schemas.microsoft.com/office/drawing/2014/main" id="{91B8106D-2850-4511-B024-03B7C080C2D8}"/>
                    </a:ext>
                  </a:extLst>
                </p:cNvPr>
                <p:cNvSpPr txBox="1"/>
                <p:nvPr/>
              </p:nvSpPr>
              <p:spPr>
                <a:xfrm>
                  <a:off x="2947" y="3552"/>
                  <a:ext cx="208" cy="24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𝑜</m:t>
                        </m:r>
                      </m:oMath>
                    </m:oMathPara>
                  </a14:m>
                  <a:endParaRPr lang="en-US" sz="2400"/>
                </a:p>
              </p:txBody>
            </p:sp>
          </mc:Choice>
          <mc:Fallback xmlns="">
            <p:sp>
              <p:nvSpPr>
                <p:cNvPr id="91" name="Object 109">
                  <a:extLst>
                    <a:ext uri="{FF2B5EF4-FFF2-40B4-BE49-F238E27FC236}">
                      <a16:creationId xmlns:a16="http://schemas.microsoft.com/office/drawing/2014/main" id="{AC24595D-FF8C-49CD-9A67-BA6660C4BC3C}"/>
                    </a:ext>
                  </a:extLst>
                </p:cNvPr>
                <p:cNvSpPr txBox="1">
                  <a:spLocks noRot="1" noChangeAspect="1" noMove="1" noResize="1" noEditPoints="1" noAdjustHandles="1" noChangeArrowheads="1" noChangeShapeType="1" noTextEdit="1"/>
                </p:cNvSpPr>
                <p:nvPr/>
              </p:nvSpPr>
              <p:spPr>
                <a:xfrm>
                  <a:off x="2947" y="3552"/>
                  <a:ext cx="208" cy="240"/>
                </a:xfrm>
                <a:prstGeom prst="rect">
                  <a:avLst/>
                </a:prstGeom>
                <a:blipFill>
                  <a:blip r:embed="rId17"/>
                  <a:stretch>
                    <a:fillRect r="-1852" b="-9677"/>
                  </a:stretch>
                </a:blipFill>
                <a:ln w="38100">
                  <a:noFill/>
                  <a:miter/>
                </a:ln>
              </p:spPr>
              <p:txBody>
                <a:bodyPr/>
                <a:lstStyle/>
                <a:p>
                  <a:r>
                    <a:rPr lang="zh-CN" altLang="en-US">
                      <a:noFill/>
                    </a:rPr>
                    <a:t> </a:t>
                  </a:r>
                </a:p>
              </p:txBody>
            </p:sp>
          </mc:Fallback>
        </mc:AlternateContent>
        <p:sp>
          <p:nvSpPr>
            <p:cNvPr id="50" name="Text Box 110">
              <a:extLst>
                <a:ext uri="{FF2B5EF4-FFF2-40B4-BE49-F238E27FC236}">
                  <a16:creationId xmlns:a16="http://schemas.microsoft.com/office/drawing/2014/main" id="{F647866B-65DB-4E5A-A8AE-4ACE10C96C16}"/>
                </a:ext>
              </a:extLst>
            </p:cNvPr>
            <p:cNvSpPr txBox="1"/>
            <p:nvPr/>
          </p:nvSpPr>
          <p:spPr>
            <a:xfrm>
              <a:off x="4012" y="2723"/>
              <a:ext cx="288" cy="291"/>
            </a:xfrm>
            <a:prstGeom prst="rect">
              <a:avLst/>
            </a:prstGeom>
            <a:noFill/>
            <a:ln w="9525">
              <a:noFill/>
            </a:ln>
          </p:spPr>
          <p:txBody>
            <a:bodyPr>
              <a:spAutoFit/>
            </a:bodyPr>
            <a:lstStyle/>
            <a:p>
              <a:pPr eaLnBrk="1" hangingPunct="1">
                <a:spcBef>
                  <a:spcPct val="50000"/>
                </a:spcBef>
              </a:pPr>
              <a:r>
                <a:rPr lang="en-US" altLang="zh-CN" sz="2400" b="1" dirty="0">
                  <a:solidFill>
                    <a:srgbClr val="1C1C1C"/>
                  </a:solidFill>
                  <a:latin typeface="Times New Roman" panose="02020603050405020304" pitchFamily="18" charset="0"/>
                </a:rPr>
                <a:t>1</a:t>
              </a:r>
            </a:p>
          </p:txBody>
        </p:sp>
        <p:sp>
          <p:nvSpPr>
            <p:cNvPr id="51" name="Text Box 111">
              <a:extLst>
                <a:ext uri="{FF2B5EF4-FFF2-40B4-BE49-F238E27FC236}">
                  <a16:creationId xmlns:a16="http://schemas.microsoft.com/office/drawing/2014/main" id="{D5C25447-6606-466F-A282-C617D1814E06}"/>
                </a:ext>
              </a:extLst>
            </p:cNvPr>
            <p:cNvSpPr txBox="1"/>
            <p:nvPr/>
          </p:nvSpPr>
          <p:spPr>
            <a:xfrm>
              <a:off x="3442" y="2020"/>
              <a:ext cx="336" cy="291"/>
            </a:xfrm>
            <a:prstGeom prst="rect">
              <a:avLst/>
            </a:prstGeom>
            <a:noFill/>
            <a:ln w="9525">
              <a:noFill/>
            </a:ln>
          </p:spPr>
          <p:txBody>
            <a:bodyPr>
              <a:spAutoFit/>
            </a:bodyPr>
            <a:lstStyle/>
            <a:p>
              <a:pPr eaLnBrk="1" hangingPunct="1">
                <a:spcBef>
                  <a:spcPct val="50000"/>
                </a:spcBef>
              </a:pPr>
              <a:r>
                <a:rPr lang="en-US" altLang="zh-CN" sz="2400" b="1" dirty="0">
                  <a:solidFill>
                    <a:srgbClr val="1C1C1C"/>
                  </a:solidFill>
                  <a:latin typeface="Times New Roman" panose="02020603050405020304" pitchFamily="18" charset="0"/>
                </a:rPr>
                <a:t>2</a:t>
              </a:r>
            </a:p>
          </p:txBody>
        </p:sp>
      </p:grpSp>
      <p:grpSp>
        <p:nvGrpSpPr>
          <p:cNvPr id="52" name="Group 3">
            <a:extLst>
              <a:ext uri="{FF2B5EF4-FFF2-40B4-BE49-F238E27FC236}">
                <a16:creationId xmlns:a16="http://schemas.microsoft.com/office/drawing/2014/main" id="{DACE04AC-9813-46F1-ADD2-E8F377C7C353}"/>
              </a:ext>
            </a:extLst>
          </p:cNvPr>
          <p:cNvGrpSpPr/>
          <p:nvPr/>
        </p:nvGrpSpPr>
        <p:grpSpPr>
          <a:xfrm>
            <a:off x="1393943" y="3838635"/>
            <a:ext cx="8675687" cy="2825750"/>
            <a:chOff x="5" y="1601"/>
            <a:chExt cx="5465" cy="1780"/>
          </a:xfrm>
          <a:noFill/>
        </p:grpSpPr>
        <p:sp>
          <p:nvSpPr>
            <p:cNvPr id="53" name="Rectangle 4">
              <a:extLst>
                <a:ext uri="{FF2B5EF4-FFF2-40B4-BE49-F238E27FC236}">
                  <a16:creationId xmlns:a16="http://schemas.microsoft.com/office/drawing/2014/main" id="{ABC0ED64-C169-4B6D-A75C-03784BD418B7}"/>
                </a:ext>
              </a:extLst>
            </p:cNvPr>
            <p:cNvSpPr>
              <a:spLocks noChangeArrowheads="1"/>
            </p:cNvSpPr>
            <p:nvPr/>
          </p:nvSpPr>
          <p:spPr bwMode="auto">
            <a:xfrm>
              <a:off x="521" y="1965"/>
              <a:ext cx="4760" cy="1416"/>
            </a:xfrm>
            <a:prstGeom prst="rect">
              <a:avLst/>
            </a:prstGeom>
            <a:grpFill/>
            <a:ln w="19050">
              <a:solidFill>
                <a:schemeClr val="tx1"/>
              </a:solidFill>
              <a:miter lim="800000"/>
            </a:ln>
            <a:effectLst/>
          </p:spPr>
          <p:txBody>
            <a:bodyPr wrap="none" anchor="ctr"/>
            <a:lstStyle/>
            <a:p>
              <a:pPr eaLnBrk="0" fontAlgn="base" hangingPunct="0">
                <a:spcBef>
                  <a:spcPct val="0"/>
                </a:spcBef>
                <a:spcAft>
                  <a:spcPct val="0"/>
                </a:spcAft>
                <a:defRPr/>
              </a:pPr>
              <a:endParaRPr kumimoji="1" lang="zh-CN" altLang="en-US" sz="2600">
                <a:solidFill>
                  <a:schemeClr val="bg2"/>
                </a:solidFill>
                <a:latin typeface="Bookman Old Style" panose="02050604050505020204" pitchFamily="18" charset="0"/>
                <a:ea typeface="宋体" panose="02010600030101010101" pitchFamily="2" charset="-122"/>
              </a:endParaRPr>
            </a:p>
          </p:txBody>
        </p:sp>
        <p:sp>
          <p:nvSpPr>
            <p:cNvPr id="54" name="Line 5">
              <a:extLst>
                <a:ext uri="{FF2B5EF4-FFF2-40B4-BE49-F238E27FC236}">
                  <a16:creationId xmlns:a16="http://schemas.microsoft.com/office/drawing/2014/main" id="{59EE7019-FC00-4443-A9D3-D8D54453C9DF}"/>
                </a:ext>
              </a:extLst>
            </p:cNvPr>
            <p:cNvSpPr/>
            <p:nvPr/>
          </p:nvSpPr>
          <p:spPr>
            <a:xfrm>
              <a:off x="521" y="2437"/>
              <a:ext cx="4760" cy="0"/>
            </a:xfrm>
            <a:prstGeom prst="line">
              <a:avLst/>
            </a:prstGeom>
            <a:grpFill/>
            <a:ln w="19050" cap="flat" cmpd="sng">
              <a:solidFill>
                <a:schemeClr val="tx1"/>
              </a:solidFill>
              <a:prstDash val="solid"/>
              <a:headEnd type="none" w="med" len="med"/>
              <a:tailEnd type="none" w="med" len="med"/>
            </a:ln>
          </p:spPr>
        </p:sp>
        <p:sp>
          <p:nvSpPr>
            <p:cNvPr id="55" name="Line 6">
              <a:extLst>
                <a:ext uri="{FF2B5EF4-FFF2-40B4-BE49-F238E27FC236}">
                  <a16:creationId xmlns:a16="http://schemas.microsoft.com/office/drawing/2014/main" id="{D4F64861-2F25-4C51-9CDC-F4BF1040E3B3}"/>
                </a:ext>
              </a:extLst>
            </p:cNvPr>
            <p:cNvSpPr/>
            <p:nvPr/>
          </p:nvSpPr>
          <p:spPr>
            <a:xfrm>
              <a:off x="521" y="2968"/>
              <a:ext cx="4760" cy="0"/>
            </a:xfrm>
            <a:prstGeom prst="line">
              <a:avLst/>
            </a:prstGeom>
            <a:grpFill/>
            <a:ln w="19050" cap="flat" cmpd="sng">
              <a:solidFill>
                <a:schemeClr val="tx1"/>
              </a:solidFill>
              <a:prstDash val="solid"/>
              <a:headEnd type="none" w="med" len="med"/>
              <a:tailEnd type="none" w="med" len="med"/>
            </a:ln>
          </p:spPr>
        </p:sp>
        <p:sp>
          <p:nvSpPr>
            <p:cNvPr id="56" name="Line 7">
              <a:extLst>
                <a:ext uri="{FF2B5EF4-FFF2-40B4-BE49-F238E27FC236}">
                  <a16:creationId xmlns:a16="http://schemas.microsoft.com/office/drawing/2014/main" id="{2BD9234C-9BF6-43DF-AC83-4BA5E0F1957F}"/>
                </a:ext>
              </a:extLst>
            </p:cNvPr>
            <p:cNvSpPr/>
            <p:nvPr/>
          </p:nvSpPr>
          <p:spPr>
            <a:xfrm>
              <a:off x="3490" y="1965"/>
              <a:ext cx="0" cy="1416"/>
            </a:xfrm>
            <a:prstGeom prst="line">
              <a:avLst/>
            </a:prstGeom>
            <a:grpFill/>
            <a:ln w="19050" cap="flat" cmpd="sng">
              <a:solidFill>
                <a:schemeClr val="tx1"/>
              </a:solidFill>
              <a:prstDash val="solid"/>
              <a:headEnd type="none" w="med" len="med"/>
              <a:tailEnd type="none" w="med" len="med"/>
            </a:ln>
          </p:spPr>
        </p:sp>
        <p:sp>
          <p:nvSpPr>
            <p:cNvPr id="57" name="Text Box 8">
              <a:extLst>
                <a:ext uri="{FF2B5EF4-FFF2-40B4-BE49-F238E27FC236}">
                  <a16:creationId xmlns:a16="http://schemas.microsoft.com/office/drawing/2014/main" id="{FDADAAA9-650C-4D11-95AB-579CF6618287}"/>
                </a:ext>
              </a:extLst>
            </p:cNvPr>
            <p:cNvSpPr txBox="1"/>
            <p:nvPr/>
          </p:nvSpPr>
          <p:spPr>
            <a:xfrm>
              <a:off x="674" y="2437"/>
              <a:ext cx="282" cy="407"/>
            </a:xfrm>
            <a:prstGeom prst="rect">
              <a:avLst/>
            </a:prstGeom>
            <a:grpFill/>
            <a:ln w="9525">
              <a:noFill/>
            </a:ln>
          </p:spPr>
          <p:txBody>
            <a:bodyPr wrap="none">
              <a:spAutoFit/>
            </a:bodyPr>
            <a:lstStyle/>
            <a:p>
              <a:pPr eaLnBrk="1" hangingPunct="1">
                <a:spcBef>
                  <a:spcPct val="50000"/>
                </a:spcBef>
              </a:pPr>
              <a:r>
                <a:rPr lang="en-US" altLang="zh-CN" sz="3600" b="1" dirty="0">
                  <a:solidFill>
                    <a:srgbClr val="CC0000"/>
                  </a:solidFill>
                  <a:latin typeface="Times New Roman" panose="02020603050405020304" pitchFamily="18" charset="0"/>
                </a:rPr>
                <a:t>+</a:t>
              </a:r>
            </a:p>
          </p:txBody>
        </p:sp>
        <p:sp>
          <p:nvSpPr>
            <p:cNvPr id="58" name="Line 9">
              <a:extLst>
                <a:ext uri="{FF2B5EF4-FFF2-40B4-BE49-F238E27FC236}">
                  <a16:creationId xmlns:a16="http://schemas.microsoft.com/office/drawing/2014/main" id="{8AAEB01A-24B8-4041-8FF7-DB4EEADF2D5E}"/>
                </a:ext>
              </a:extLst>
            </p:cNvPr>
            <p:cNvSpPr/>
            <p:nvPr/>
          </p:nvSpPr>
          <p:spPr>
            <a:xfrm>
              <a:off x="726" y="3145"/>
              <a:ext cx="131" cy="0"/>
            </a:xfrm>
            <a:prstGeom prst="line">
              <a:avLst/>
            </a:prstGeom>
            <a:grpFill/>
            <a:ln w="57150" cap="flat" cmpd="sng">
              <a:solidFill>
                <a:srgbClr val="0066FF"/>
              </a:solidFill>
              <a:prstDash val="solid"/>
              <a:headEnd type="none" w="med" len="med"/>
              <a:tailEnd type="none" w="med" len="med"/>
            </a:ln>
          </p:spPr>
        </p:sp>
        <mc:AlternateContent xmlns:mc="http://schemas.openxmlformats.org/markup-compatibility/2006" xmlns:a14="http://schemas.microsoft.com/office/drawing/2010/main">
          <mc:Choice Requires="a14">
            <p:sp>
              <p:nvSpPr>
                <p:cNvPr id="59" name="Object 10">
                  <a:extLst>
                    <a:ext uri="{FF2B5EF4-FFF2-40B4-BE49-F238E27FC236}">
                      <a16:creationId xmlns:a16="http://schemas.microsoft.com/office/drawing/2014/main" id="{B57CDEEE-2D03-45C3-9982-06DEF434F492}"/>
                    </a:ext>
                  </a:extLst>
                </p:cNvPr>
                <p:cNvSpPr txBox="1"/>
                <p:nvPr/>
              </p:nvSpPr>
              <p:spPr>
                <a:xfrm>
                  <a:off x="2700" y="2092"/>
                  <a:ext cx="348" cy="284"/>
                </a:xfrm>
                <a:prstGeom prst="rect">
                  <a:avLst/>
                </a:prstGeom>
                <a:grp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𝛥</m:t>
                        </m:r>
                        <m:r>
                          <a:rPr lang="en-US" sz="2600" b="0" i="1">
                            <a:solidFill>
                              <a:srgbClr val="000000"/>
                            </a:solidFill>
                            <a:latin typeface="Cambria Math" panose="02040503050406030204" pitchFamily="18" charset="0"/>
                          </a:rPr>
                          <m:t>𝐸</m:t>
                        </m:r>
                      </m:oMath>
                    </m:oMathPara>
                  </a14:m>
                  <a:endParaRPr lang="en-US" sz="2600"/>
                </a:p>
              </p:txBody>
            </p:sp>
          </mc:Choice>
          <mc:Fallback xmlns="">
            <p:sp>
              <p:nvSpPr>
                <p:cNvPr id="8195" name="Object 10"/>
                <p:cNvSpPr txBox="1">
                  <a:spLocks noRot="1" noChangeAspect="1" noMove="1" noResize="1" noEditPoints="1" noAdjustHandles="1" noChangeArrowheads="1" noChangeShapeType="1" noTextEdit="1"/>
                </p:cNvSpPr>
                <p:nvPr/>
              </p:nvSpPr>
              <p:spPr>
                <a:xfrm>
                  <a:off x="2700" y="2092"/>
                  <a:ext cx="348" cy="284"/>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60" name="Text Box 11">
              <a:extLst>
                <a:ext uri="{FF2B5EF4-FFF2-40B4-BE49-F238E27FC236}">
                  <a16:creationId xmlns:a16="http://schemas.microsoft.com/office/drawing/2014/main" id="{6734EE93-70E6-4103-8ED8-AC5399DE9BD8}"/>
                </a:ext>
              </a:extLst>
            </p:cNvPr>
            <p:cNvSpPr txBox="1"/>
            <p:nvPr/>
          </p:nvSpPr>
          <p:spPr>
            <a:xfrm>
              <a:off x="1181" y="2555"/>
              <a:ext cx="1404" cy="310"/>
            </a:xfrm>
            <a:prstGeom prst="rect">
              <a:avLst/>
            </a:prstGeom>
            <a:grpFill/>
            <a:ln w="9525">
              <a:noFill/>
            </a:ln>
          </p:spPr>
          <p:txBody>
            <a:bodyPr>
              <a:spAutoFit/>
            </a:bodyPr>
            <a:lstStyle/>
            <a:p>
              <a:pPr eaLnBrk="1" hangingPunct="1">
                <a:spcBef>
                  <a:spcPct val="50000"/>
                </a:spcBef>
              </a:pPr>
              <a:r>
                <a:rPr lang="zh-CN" altLang="en-US" sz="2600" dirty="0">
                  <a:latin typeface="Times New Roman" panose="02020603050405020304" pitchFamily="18" charset="0"/>
                </a:rPr>
                <a:t>系统吸热</a:t>
              </a:r>
            </a:p>
          </p:txBody>
        </p:sp>
        <p:sp>
          <p:nvSpPr>
            <p:cNvPr id="61" name="Text Box 12">
              <a:extLst>
                <a:ext uri="{FF2B5EF4-FFF2-40B4-BE49-F238E27FC236}">
                  <a16:creationId xmlns:a16="http://schemas.microsoft.com/office/drawing/2014/main" id="{1DCF0920-083C-48A0-A0D9-4C75BEEC14A6}"/>
                </a:ext>
              </a:extLst>
            </p:cNvPr>
            <p:cNvSpPr txBox="1"/>
            <p:nvPr/>
          </p:nvSpPr>
          <p:spPr>
            <a:xfrm>
              <a:off x="1181" y="2968"/>
              <a:ext cx="1498" cy="310"/>
            </a:xfrm>
            <a:prstGeom prst="rect">
              <a:avLst/>
            </a:prstGeom>
            <a:grpFill/>
            <a:ln w="9525">
              <a:noFill/>
            </a:ln>
          </p:spPr>
          <p:txBody>
            <a:bodyPr>
              <a:spAutoFit/>
            </a:bodyPr>
            <a:lstStyle/>
            <a:p>
              <a:pPr eaLnBrk="1" hangingPunct="1">
                <a:spcBef>
                  <a:spcPct val="50000"/>
                </a:spcBef>
              </a:pPr>
              <a:r>
                <a:rPr lang="zh-CN" altLang="en-US" sz="2600" dirty="0">
                  <a:latin typeface="Times New Roman" panose="02020603050405020304" pitchFamily="18" charset="0"/>
                </a:rPr>
                <a:t>系统放热</a:t>
              </a:r>
            </a:p>
          </p:txBody>
        </p:sp>
        <p:sp>
          <p:nvSpPr>
            <p:cNvPr id="62" name="Text Box 13">
              <a:extLst>
                <a:ext uri="{FF2B5EF4-FFF2-40B4-BE49-F238E27FC236}">
                  <a16:creationId xmlns:a16="http://schemas.microsoft.com/office/drawing/2014/main" id="{D85E93A3-8ADD-4FCD-8570-902795A3274E}"/>
                </a:ext>
              </a:extLst>
            </p:cNvPr>
            <p:cNvSpPr txBox="1"/>
            <p:nvPr/>
          </p:nvSpPr>
          <p:spPr>
            <a:xfrm>
              <a:off x="2359" y="2555"/>
              <a:ext cx="1260" cy="310"/>
            </a:xfrm>
            <a:prstGeom prst="rect">
              <a:avLst/>
            </a:prstGeom>
            <a:grpFill/>
            <a:ln w="9525">
              <a:noFill/>
            </a:ln>
          </p:spPr>
          <p:txBody>
            <a:bodyPr>
              <a:spAutoFit/>
            </a:bodyPr>
            <a:lstStyle/>
            <a:p>
              <a:pPr eaLnBrk="1" hangingPunct="1">
                <a:spcBef>
                  <a:spcPct val="50000"/>
                </a:spcBef>
              </a:pPr>
              <a:r>
                <a:rPr lang="zh-CN" altLang="en-US" sz="2600" dirty="0">
                  <a:latin typeface="Times New Roman" panose="02020603050405020304" pitchFamily="18" charset="0"/>
                </a:rPr>
                <a:t>内能增加</a:t>
              </a:r>
            </a:p>
          </p:txBody>
        </p:sp>
        <p:sp>
          <p:nvSpPr>
            <p:cNvPr id="63" name="Text Box 14">
              <a:extLst>
                <a:ext uri="{FF2B5EF4-FFF2-40B4-BE49-F238E27FC236}">
                  <a16:creationId xmlns:a16="http://schemas.microsoft.com/office/drawing/2014/main" id="{581B6579-3108-411F-AB96-DCCB6B2BA21B}"/>
                </a:ext>
              </a:extLst>
            </p:cNvPr>
            <p:cNvSpPr txBox="1"/>
            <p:nvPr/>
          </p:nvSpPr>
          <p:spPr>
            <a:xfrm>
              <a:off x="2372" y="2968"/>
              <a:ext cx="1307" cy="310"/>
            </a:xfrm>
            <a:prstGeom prst="rect">
              <a:avLst/>
            </a:prstGeom>
            <a:grpFill/>
            <a:ln w="9525">
              <a:noFill/>
            </a:ln>
          </p:spPr>
          <p:txBody>
            <a:bodyPr>
              <a:spAutoFit/>
            </a:bodyPr>
            <a:lstStyle/>
            <a:p>
              <a:pPr eaLnBrk="1" hangingPunct="1">
                <a:spcBef>
                  <a:spcPct val="50000"/>
                </a:spcBef>
              </a:pPr>
              <a:r>
                <a:rPr lang="zh-CN" altLang="en-US" sz="2600" dirty="0">
                  <a:latin typeface="Times New Roman" panose="02020603050405020304" pitchFamily="18" charset="0"/>
                </a:rPr>
                <a:t>内能减少</a:t>
              </a:r>
            </a:p>
          </p:txBody>
        </p:sp>
        <p:sp>
          <p:nvSpPr>
            <p:cNvPr id="64" name="Text Box 15">
              <a:extLst>
                <a:ext uri="{FF2B5EF4-FFF2-40B4-BE49-F238E27FC236}">
                  <a16:creationId xmlns:a16="http://schemas.microsoft.com/office/drawing/2014/main" id="{11E6A3FD-24DC-4526-A701-87609A45E603}"/>
                </a:ext>
              </a:extLst>
            </p:cNvPr>
            <p:cNvSpPr txBox="1"/>
            <p:nvPr/>
          </p:nvSpPr>
          <p:spPr>
            <a:xfrm>
              <a:off x="3538" y="2555"/>
              <a:ext cx="1932" cy="310"/>
            </a:xfrm>
            <a:prstGeom prst="rect">
              <a:avLst/>
            </a:prstGeom>
            <a:grpFill/>
            <a:ln w="9525">
              <a:noFill/>
            </a:ln>
          </p:spPr>
          <p:txBody>
            <a:bodyPr>
              <a:spAutoFit/>
            </a:bodyPr>
            <a:lstStyle/>
            <a:p>
              <a:pPr eaLnBrk="1" hangingPunct="1">
                <a:spcBef>
                  <a:spcPct val="50000"/>
                </a:spcBef>
              </a:pPr>
              <a:r>
                <a:rPr lang="zh-CN" altLang="en-US" sz="2600" dirty="0">
                  <a:latin typeface="Times New Roman" panose="02020603050405020304" pitchFamily="18" charset="0"/>
                </a:rPr>
                <a:t>系统对外界做功</a:t>
              </a:r>
            </a:p>
          </p:txBody>
        </p:sp>
        <p:sp>
          <p:nvSpPr>
            <p:cNvPr id="65" name="Rectangle 16">
              <a:extLst>
                <a:ext uri="{FF2B5EF4-FFF2-40B4-BE49-F238E27FC236}">
                  <a16:creationId xmlns:a16="http://schemas.microsoft.com/office/drawing/2014/main" id="{281D75CD-F0FF-447F-9542-77EBB8221F35}"/>
                </a:ext>
              </a:extLst>
            </p:cNvPr>
            <p:cNvSpPr/>
            <p:nvPr/>
          </p:nvSpPr>
          <p:spPr>
            <a:xfrm>
              <a:off x="3538" y="2968"/>
              <a:ext cx="1885" cy="310"/>
            </a:xfrm>
            <a:prstGeom prst="rect">
              <a:avLst/>
            </a:prstGeom>
            <a:grpFill/>
            <a:ln w="9525">
              <a:noFill/>
            </a:ln>
          </p:spPr>
          <p:txBody>
            <a:bodyPr>
              <a:spAutoFit/>
            </a:bodyPr>
            <a:lstStyle/>
            <a:p>
              <a:pPr eaLnBrk="1" hangingPunct="1">
                <a:spcBef>
                  <a:spcPct val="50000"/>
                </a:spcBef>
              </a:pPr>
              <a:r>
                <a:rPr lang="zh-CN" altLang="en-US" sz="2600" dirty="0">
                  <a:latin typeface="Times New Roman" panose="02020603050405020304" pitchFamily="18" charset="0"/>
                </a:rPr>
                <a:t>外界对系统做功</a:t>
              </a:r>
            </a:p>
          </p:txBody>
        </p:sp>
        <p:sp>
          <p:nvSpPr>
            <p:cNvPr id="66" name="Line 17">
              <a:extLst>
                <a:ext uri="{FF2B5EF4-FFF2-40B4-BE49-F238E27FC236}">
                  <a16:creationId xmlns:a16="http://schemas.microsoft.com/office/drawing/2014/main" id="{60E16852-CF7F-4B3C-B96B-5EC03FB702AC}"/>
                </a:ext>
              </a:extLst>
            </p:cNvPr>
            <p:cNvSpPr/>
            <p:nvPr/>
          </p:nvSpPr>
          <p:spPr>
            <a:xfrm>
              <a:off x="2261" y="1965"/>
              <a:ext cx="0" cy="1416"/>
            </a:xfrm>
            <a:prstGeom prst="line">
              <a:avLst/>
            </a:prstGeom>
            <a:grpFill/>
            <a:ln w="19050" cap="flat" cmpd="sng">
              <a:solidFill>
                <a:schemeClr val="tx1"/>
              </a:solidFill>
              <a:prstDash val="solid"/>
              <a:headEnd type="none" w="med" len="med"/>
              <a:tailEnd type="none" w="med" len="med"/>
            </a:ln>
          </p:spPr>
        </p:sp>
        <p:sp>
          <p:nvSpPr>
            <p:cNvPr id="67" name="Line 18">
              <a:extLst>
                <a:ext uri="{FF2B5EF4-FFF2-40B4-BE49-F238E27FC236}">
                  <a16:creationId xmlns:a16="http://schemas.microsoft.com/office/drawing/2014/main" id="{5B130632-DF7A-4739-B3C0-9B8A37FA6EF9}"/>
                </a:ext>
              </a:extLst>
            </p:cNvPr>
            <p:cNvSpPr/>
            <p:nvPr/>
          </p:nvSpPr>
          <p:spPr>
            <a:xfrm>
              <a:off x="1136" y="1965"/>
              <a:ext cx="0" cy="1416"/>
            </a:xfrm>
            <a:prstGeom prst="line">
              <a:avLst/>
            </a:prstGeom>
            <a:grpFill/>
            <a:ln w="19050" cap="flat" cmpd="sng">
              <a:solidFill>
                <a:schemeClr val="tx1"/>
              </a:solidFill>
              <a:prstDash val="solid"/>
              <a:headEnd type="none" w="med" len="med"/>
              <a:tailEnd type="none" w="med" len="med"/>
            </a:ln>
          </p:spPr>
        </p:sp>
        <p:sp>
          <p:nvSpPr>
            <p:cNvPr id="68" name="Rectangle 19">
              <a:extLst>
                <a:ext uri="{FF2B5EF4-FFF2-40B4-BE49-F238E27FC236}">
                  <a16:creationId xmlns:a16="http://schemas.microsoft.com/office/drawing/2014/main" id="{E36EDBD8-210C-4F76-8877-AC5DB14A1A3B}"/>
                </a:ext>
              </a:extLst>
            </p:cNvPr>
            <p:cNvSpPr/>
            <p:nvPr/>
          </p:nvSpPr>
          <p:spPr>
            <a:xfrm>
              <a:off x="5" y="1601"/>
              <a:ext cx="2639" cy="310"/>
            </a:xfrm>
            <a:prstGeom prst="rect">
              <a:avLst/>
            </a:prstGeom>
            <a:grpFill/>
            <a:ln w="9525" cap="flat" cmpd="sng">
              <a:noFill/>
              <a:prstDash val="solid"/>
              <a:miter/>
              <a:headEnd type="none" w="med" len="med"/>
              <a:tailEnd type="none" w="med" len="med"/>
            </a:ln>
          </p:spPr>
          <p:txBody>
            <a:bodyPr>
              <a:spAutoFit/>
            </a:bodyPr>
            <a:lstStyle/>
            <a:p>
              <a:pPr algn="ctr" eaLnBrk="1" hangingPunct="1"/>
              <a:r>
                <a:rPr lang="zh-CN" altLang="en-US" sz="2600" dirty="0">
                  <a:latin typeface="Times New Roman" panose="02020603050405020304" pitchFamily="18" charset="0"/>
                </a:rPr>
                <a:t>第一定律的符号规定</a:t>
              </a:r>
            </a:p>
          </p:txBody>
        </p:sp>
        <mc:AlternateContent xmlns:mc="http://schemas.openxmlformats.org/markup-compatibility/2006" xmlns:a14="http://schemas.microsoft.com/office/drawing/2010/main">
          <mc:Choice Requires="a14">
            <p:sp>
              <p:nvSpPr>
                <p:cNvPr id="69" name="Object 20">
                  <a:extLst>
                    <a:ext uri="{FF2B5EF4-FFF2-40B4-BE49-F238E27FC236}">
                      <a16:creationId xmlns:a16="http://schemas.microsoft.com/office/drawing/2014/main" id="{9C359EAD-B74D-44D9-A748-881B4EFF0098}"/>
                    </a:ext>
                  </a:extLst>
                </p:cNvPr>
                <p:cNvSpPr txBox="1"/>
                <p:nvPr/>
              </p:nvSpPr>
              <p:spPr>
                <a:xfrm>
                  <a:off x="1648" y="2087"/>
                  <a:ext cx="172" cy="287"/>
                </a:xfrm>
                <a:prstGeom prst="rect">
                  <a:avLst/>
                </a:prstGeom>
                <a:grp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𝑄</m:t>
                        </m:r>
                      </m:oMath>
                    </m:oMathPara>
                  </a14:m>
                  <a:endParaRPr lang="en-US" sz="2600"/>
                </a:p>
              </p:txBody>
            </p:sp>
          </mc:Choice>
          <mc:Fallback xmlns="">
            <p:sp>
              <p:nvSpPr>
                <p:cNvPr id="8196" name="Object 20"/>
                <p:cNvSpPr txBox="1">
                  <a:spLocks noRot="1" noChangeAspect="1" noMove="1" noResize="1" noEditPoints="1" noAdjustHandles="1" noChangeArrowheads="1" noChangeShapeType="1" noTextEdit="1"/>
                </p:cNvSpPr>
                <p:nvPr/>
              </p:nvSpPr>
              <p:spPr>
                <a:xfrm>
                  <a:off x="1648" y="2087"/>
                  <a:ext cx="172" cy="287"/>
                </a:xfrm>
                <a:prstGeom prst="rect">
                  <a:avLst/>
                </a:prstGeom>
                <a:blipFill>
                  <a:blip r:embed="rId19"/>
                  <a:stretch>
                    <a:fillRect r="-66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Object 21">
                  <a:extLst>
                    <a:ext uri="{FF2B5EF4-FFF2-40B4-BE49-F238E27FC236}">
                      <a16:creationId xmlns:a16="http://schemas.microsoft.com/office/drawing/2014/main" id="{6E56E15B-60C5-4B45-9E53-7A51BFB0C96B}"/>
                    </a:ext>
                  </a:extLst>
                </p:cNvPr>
                <p:cNvSpPr txBox="1"/>
                <p:nvPr/>
              </p:nvSpPr>
              <p:spPr>
                <a:xfrm>
                  <a:off x="4173" y="2082"/>
                  <a:ext cx="189" cy="256"/>
                </a:xfrm>
                <a:prstGeom prst="rect">
                  <a:avLst/>
                </a:prstGeom>
                <a:grp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𝐴</m:t>
                        </m:r>
                      </m:oMath>
                    </m:oMathPara>
                  </a14:m>
                  <a:endParaRPr lang="en-US" sz="2600"/>
                </a:p>
              </p:txBody>
            </p:sp>
          </mc:Choice>
          <mc:Fallback xmlns="">
            <p:sp>
              <p:nvSpPr>
                <p:cNvPr id="8197" name="Object 21"/>
                <p:cNvSpPr txBox="1">
                  <a:spLocks noRot="1" noChangeAspect="1" noMove="1" noResize="1" noEditPoints="1" noAdjustHandles="1" noChangeArrowheads="1" noChangeShapeType="1" noTextEdit="1"/>
                </p:cNvSpPr>
                <p:nvPr/>
              </p:nvSpPr>
              <p:spPr>
                <a:xfrm>
                  <a:off x="4173" y="2082"/>
                  <a:ext cx="189" cy="256"/>
                </a:xfrm>
                <a:prstGeom prst="rect">
                  <a:avLst/>
                </a:prstGeom>
                <a:blipFill>
                  <a:blip r:embed="rId20"/>
                  <a:stretch>
                    <a:fillRect/>
                  </a:stretch>
                </a:blipFill>
                <a:ln w="38100">
                  <a:noFill/>
                  <a:miter/>
                </a:ln>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4" grpId="0"/>
      <p:bldP spid="61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Box 13">
            <a:hlinkClick r:id="" action="ppaction://noaction"/>
            <a:extLst>
              <a:ext uri="{FF2B5EF4-FFF2-40B4-BE49-F238E27FC236}">
                <a16:creationId xmlns:a16="http://schemas.microsoft.com/office/drawing/2014/main" id="{2FDC6781-FA08-4A6D-9F4F-3ED0E198DE35}"/>
              </a:ext>
            </a:extLst>
          </p:cNvPr>
          <p:cNvSpPr txBox="1">
            <a:spLocks noChangeArrowheads="1"/>
          </p:cNvSpPr>
          <p:nvPr/>
        </p:nvSpPr>
        <p:spPr bwMode="auto">
          <a:xfrm>
            <a:off x="617888" y="288470"/>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热力学第一定律</a:t>
            </a:r>
          </a:p>
        </p:txBody>
      </p:sp>
      <p:sp>
        <p:nvSpPr>
          <p:cNvPr id="31" name="Text Box 2">
            <a:extLst>
              <a:ext uri="{FF2B5EF4-FFF2-40B4-BE49-F238E27FC236}">
                <a16:creationId xmlns:a16="http://schemas.microsoft.com/office/drawing/2014/main" id="{0059229A-69F3-480A-852C-8BCB24242C72}"/>
              </a:ext>
            </a:extLst>
          </p:cNvPr>
          <p:cNvSpPr txBox="1"/>
          <p:nvPr/>
        </p:nvSpPr>
        <p:spPr>
          <a:xfrm>
            <a:off x="1153561" y="4925118"/>
            <a:ext cx="10385392" cy="1309076"/>
          </a:xfrm>
          <a:prstGeom prst="rect">
            <a:avLst/>
          </a:prstGeom>
          <a:noFill/>
          <a:ln w="9525">
            <a:noFill/>
          </a:ln>
        </p:spPr>
        <p:txBody>
          <a:bodyPr wrap="square">
            <a:spAutoFit/>
          </a:bodyPr>
          <a:lstStyle/>
          <a:p>
            <a:pPr eaLnBrk="1" hangingPunct="1">
              <a:lnSpc>
                <a:spcPct val="12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能量转换和守恒定律。</a:t>
            </a:r>
            <a:r>
              <a:rPr lang="en-US" altLang="zh-CN" sz="2800" dirty="0">
                <a:latin typeface="Times New Roman" panose="02020603050405020304" pitchFamily="18" charset="0"/>
              </a:rPr>
              <a:t>  </a:t>
            </a:r>
            <a:r>
              <a:rPr lang="zh-CN" altLang="en-US" sz="2800" dirty="0">
                <a:latin typeface="Times New Roman" panose="02020603050405020304" pitchFamily="18" charset="0"/>
              </a:rPr>
              <a:t>第一类永动机是不可能制成的。</a:t>
            </a:r>
            <a:endParaRPr lang="en-US" altLang="zh-CN" sz="2800" dirty="0">
              <a:latin typeface="Times New Roman" panose="02020603050405020304" pitchFamily="18" charset="0"/>
            </a:endParaRPr>
          </a:p>
          <a:p>
            <a:pPr eaLnBrk="1" hangingPunct="1">
              <a:lnSpc>
                <a:spcPct val="12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实验经验总结，自然界的普遍规律。</a:t>
            </a:r>
            <a:endParaRPr lang="en-US" altLang="zh-CN" sz="28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Object 24">
                <a:extLst>
                  <a:ext uri="{FF2B5EF4-FFF2-40B4-BE49-F238E27FC236}">
                    <a16:creationId xmlns:a16="http://schemas.microsoft.com/office/drawing/2014/main" id="{547525C0-A7FB-40B7-848F-9F38A79A61D5}"/>
                  </a:ext>
                </a:extLst>
              </p:cNvPr>
              <p:cNvSpPr txBox="1"/>
              <p:nvPr/>
            </p:nvSpPr>
            <p:spPr>
              <a:xfrm>
                <a:off x="2050007" y="1146555"/>
                <a:ext cx="6874936" cy="7791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3600" b="0" i="1" smtClean="0">
                          <a:solidFill>
                            <a:srgbClr val="FF0000"/>
                          </a:solidFill>
                          <a:latin typeface="Cambria Math" panose="02040503050406030204" pitchFamily="18" charset="0"/>
                        </a:rPr>
                        <m:t>𝑄</m:t>
                      </m:r>
                      <m:r>
                        <a:rPr lang="en-US" sz="3600" b="0" i="1" smtClean="0">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b="0" i="1">
                              <a:solidFill>
                                <a:srgbClr val="FF0000"/>
                              </a:solidFill>
                              <a:latin typeface="Cambria Math" panose="02040503050406030204" pitchFamily="18" charset="0"/>
                            </a:rPr>
                            <m:t>𝐸</m:t>
                          </m:r>
                        </m:e>
                        <m:sub>
                          <m:r>
                            <a:rPr lang="en-US" sz="3600" b="0" i="1">
                              <a:solidFill>
                                <a:srgbClr val="FF0000"/>
                              </a:solidFill>
                              <a:latin typeface="Cambria Math" panose="02040503050406030204" pitchFamily="18" charset="0"/>
                            </a:rPr>
                            <m:t>2</m:t>
                          </m:r>
                        </m:sub>
                      </m:sSub>
                      <m:r>
                        <a:rPr lang="en-US" sz="3600" b="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b="0" i="1">
                              <a:solidFill>
                                <a:srgbClr val="FF0000"/>
                              </a:solidFill>
                              <a:latin typeface="Cambria Math" panose="02040503050406030204" pitchFamily="18" charset="0"/>
                            </a:rPr>
                            <m:t>𝐸</m:t>
                          </m:r>
                        </m:e>
                        <m:sub>
                          <m:r>
                            <a:rPr lang="en-US" sz="3600" b="0" i="1">
                              <a:solidFill>
                                <a:srgbClr val="FF0000"/>
                              </a:solidFill>
                              <a:latin typeface="Cambria Math" panose="02040503050406030204" pitchFamily="18" charset="0"/>
                            </a:rPr>
                            <m:t>1</m:t>
                          </m:r>
                        </m:sub>
                      </m:sSub>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𝐴</m:t>
                      </m:r>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𝛥</m:t>
                      </m:r>
                      <m:r>
                        <a:rPr lang="en-US" sz="3600" b="0" i="1">
                          <a:solidFill>
                            <a:srgbClr val="FF0000"/>
                          </a:solidFill>
                          <a:latin typeface="Cambria Math" panose="02040503050406030204" pitchFamily="18" charset="0"/>
                        </a:rPr>
                        <m:t>𝐸</m:t>
                      </m:r>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𝐴</m:t>
                      </m:r>
                    </m:oMath>
                  </m:oMathPara>
                </a14:m>
                <a:endParaRPr lang="en-US" sz="3600" dirty="0">
                  <a:solidFill>
                    <a:srgbClr val="FF0000"/>
                  </a:solidFill>
                </a:endParaRPr>
              </a:p>
            </p:txBody>
          </p:sp>
        </mc:Choice>
        <mc:Fallback xmlns="">
          <p:sp>
            <p:nvSpPr>
              <p:cNvPr id="23" name="Object 24">
                <a:extLst>
                  <a:ext uri="{FF2B5EF4-FFF2-40B4-BE49-F238E27FC236}">
                    <a16:creationId xmlns:a16="http://schemas.microsoft.com/office/drawing/2014/main" id="{547525C0-A7FB-40B7-848F-9F38A79A61D5}"/>
                  </a:ext>
                </a:extLst>
              </p:cNvPr>
              <p:cNvSpPr txBox="1">
                <a:spLocks noRot="1" noChangeAspect="1" noMove="1" noResize="1" noEditPoints="1" noAdjustHandles="1" noChangeArrowheads="1" noChangeShapeType="1" noTextEdit="1"/>
              </p:cNvSpPr>
              <p:nvPr/>
            </p:nvSpPr>
            <p:spPr>
              <a:xfrm>
                <a:off x="2050007" y="1146555"/>
                <a:ext cx="6874936" cy="779145"/>
              </a:xfrm>
              <a:prstGeom prst="rect">
                <a:avLst/>
              </a:prstGeom>
              <a:blipFill>
                <a:blip r:embed="rId2"/>
                <a:stretch>
                  <a:fillRect/>
                </a:stretch>
              </a:blipFill>
              <a:ln w="38100">
                <a:noFill/>
                <a:miter/>
              </a:ln>
            </p:spPr>
            <p:txBody>
              <a:bodyPr/>
              <a:lstStyle/>
              <a:p>
                <a:r>
                  <a:rPr lang="en-US">
                    <a:noFill/>
                  </a:rPr>
                  <a:t> </a:t>
                </a:r>
              </a:p>
            </p:txBody>
          </p:sp>
        </mc:Fallback>
      </mc:AlternateContent>
      <p:sp>
        <p:nvSpPr>
          <p:cNvPr id="24" name="矩形 23">
            <a:extLst>
              <a:ext uri="{FF2B5EF4-FFF2-40B4-BE49-F238E27FC236}">
                <a16:creationId xmlns:a16="http://schemas.microsoft.com/office/drawing/2014/main" id="{E1E1CF16-CACD-474C-B1D7-E1F2319182DD}"/>
              </a:ext>
            </a:extLst>
          </p:cNvPr>
          <p:cNvSpPr/>
          <p:nvPr/>
        </p:nvSpPr>
        <p:spPr>
          <a:xfrm>
            <a:off x="864576" y="2199010"/>
            <a:ext cx="9792194" cy="523220"/>
          </a:xfrm>
          <a:prstGeom prst="rect">
            <a:avLst/>
          </a:prstGeom>
        </p:spPr>
        <p:txBody>
          <a:bodyPr wrap="square">
            <a:spAutoFit/>
          </a:bodyPr>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系统内能的增量只与系统的初态和末态有关，与过程无关</a:t>
            </a:r>
            <a:endParaRPr lang="en-US" sz="2800" dirty="0"/>
          </a:p>
        </p:txBody>
      </p:sp>
      <p:sp>
        <p:nvSpPr>
          <p:cNvPr id="25" name="Rectangle 3">
            <a:extLst>
              <a:ext uri="{FF2B5EF4-FFF2-40B4-BE49-F238E27FC236}">
                <a16:creationId xmlns:a16="http://schemas.microsoft.com/office/drawing/2014/main" id="{7A55BAD5-B430-42C6-BEF5-DB65944AFE17}"/>
              </a:ext>
            </a:extLst>
          </p:cNvPr>
          <p:cNvSpPr/>
          <p:nvPr/>
        </p:nvSpPr>
        <p:spPr>
          <a:xfrm>
            <a:off x="864576" y="2904014"/>
            <a:ext cx="9291105" cy="523220"/>
          </a:xfrm>
          <a:prstGeom prst="rect">
            <a:avLst/>
          </a:prstGeom>
          <a:noFill/>
          <a:ln w="9525">
            <a:noFill/>
          </a:ln>
        </p:spPr>
        <p:txBody>
          <a:bodyPr wrap="square">
            <a:spAutoFit/>
          </a:bodyPr>
          <a:lstStyle/>
          <a:p>
            <a:pPr eaLnBrk="1" hangingPunct="1">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功与热量都是过程量，但物理本质不同。</a:t>
            </a:r>
            <a:endParaRPr lang="en-US" altLang="zh-CN" sz="2800" dirty="0">
              <a:latin typeface="Times New Roman" panose="02020603050405020304" pitchFamily="18" charset="0"/>
            </a:endParaRPr>
          </a:p>
        </p:txBody>
      </p:sp>
      <p:sp>
        <p:nvSpPr>
          <p:cNvPr id="26" name="Text Box 10">
            <a:extLst>
              <a:ext uri="{FF2B5EF4-FFF2-40B4-BE49-F238E27FC236}">
                <a16:creationId xmlns:a16="http://schemas.microsoft.com/office/drawing/2014/main" id="{050A8060-50F3-4E56-8B08-FC2F4D19809F}"/>
              </a:ext>
            </a:extLst>
          </p:cNvPr>
          <p:cNvSpPr txBox="1"/>
          <p:nvPr/>
        </p:nvSpPr>
        <p:spPr>
          <a:xfrm>
            <a:off x="1617051" y="3529086"/>
            <a:ext cx="8981946" cy="954107"/>
          </a:xfrm>
          <a:prstGeom prst="rect">
            <a:avLst/>
          </a:prstGeom>
          <a:noFill/>
          <a:ln w="9525">
            <a:noFill/>
          </a:ln>
        </p:spPr>
        <p:txBody>
          <a:bodyPr wrap="none">
            <a:spAutoFit/>
          </a:bodyPr>
          <a:lstStyle/>
          <a:p>
            <a:r>
              <a:rPr lang="zh-CN" altLang="en-US" sz="2800" dirty="0">
                <a:latin typeface="宋体" panose="02010600030101010101" pitchFamily="2" charset="-122"/>
                <a:cs typeface="宋体" panose="02010600030101010101" pitchFamily="2" charset="-122"/>
              </a:rPr>
              <a:t>功：</a:t>
            </a:r>
            <a:r>
              <a:rPr lang="en-US" altLang="zh-CN" sz="2800" dirty="0">
                <a:latin typeface="宋体" panose="02010600030101010101" pitchFamily="2" charset="-122"/>
                <a:cs typeface="宋体" panose="02010600030101010101" pitchFamily="2" charset="-122"/>
              </a:rPr>
              <a:t>   </a:t>
            </a:r>
            <a:r>
              <a:rPr lang="zh-CN" altLang="en-US" sz="2800" dirty="0">
                <a:latin typeface="宋体" panose="02010600030101010101" pitchFamily="2" charset="-122"/>
                <a:cs typeface="宋体" panose="02010600030101010101" pitchFamily="2" charset="-122"/>
              </a:rPr>
              <a:t>通过宏观有规则的运动传递能量</a:t>
            </a:r>
          </a:p>
          <a:p>
            <a:r>
              <a:rPr lang="zh-CN" altLang="en-US" sz="2800" dirty="0">
                <a:latin typeface="宋体" panose="02010600030101010101" pitchFamily="2" charset="-122"/>
                <a:cs typeface="宋体" panose="02010600030101010101" pitchFamily="2" charset="-122"/>
              </a:rPr>
              <a:t>热量： 分子无规则运动能量从高温物体向低温物体转移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blinds(horizontal)">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4" grpId="0"/>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0" name="Object 2"/>
              <p:cNvSpPr txBox="1"/>
              <p:nvPr/>
            </p:nvSpPr>
            <p:spPr>
              <a:xfrm>
                <a:off x="4206240" y="2646842"/>
                <a:ext cx="3960813" cy="101282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r>
                        <m:rPr>
                          <m:sty m:val="p"/>
                        </m:rPr>
                        <a:rPr lang="en-US" sz="3200" i="1">
                          <a:solidFill>
                            <a:srgbClr val="000000"/>
                          </a:solidFill>
                          <a:latin typeface="Cambria Math" panose="02040503050406030204" pitchFamily="18" charset="0"/>
                        </a:rPr>
                        <m:t>Δ</m:t>
                      </m:r>
                      <m:r>
                        <a:rPr lang="en-US" sz="3200" i="1">
                          <a:solidFill>
                            <a:srgbClr val="000000"/>
                          </a:solidFill>
                          <a:latin typeface="Cambria Math" panose="02040503050406030204" pitchFamily="18" charset="0"/>
                        </a:rPr>
                        <m:t>𝐸</m:t>
                      </m:r>
                      <m:r>
                        <a:rPr lang="en-US" sz="3200" i="1">
                          <a:solidFill>
                            <a:srgbClr val="000000"/>
                          </a:solidFill>
                          <a:latin typeface="Cambria Math" panose="02040503050406030204" pitchFamily="18" charset="0"/>
                        </a:rPr>
                        <m:t>+</m:t>
                      </m:r>
                      <m:nary>
                        <m:naryPr>
                          <m:ctrlPr>
                            <a:rPr lang="en-US" sz="3200" i="1">
                              <a:solidFill>
                                <a:srgbClr val="000000"/>
                              </a:solidFill>
                              <a:latin typeface="Cambria Math" panose="02040503050406030204" pitchFamily="18" charset="0"/>
                            </a:rPr>
                          </m:ctrlPr>
                        </m:naryPr>
                        <m: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𝑉</m:t>
                              </m:r>
                            </m:e>
                            <m:sub>
                              <m:r>
                                <a:rPr lang="en-US" sz="3200" i="1">
                                  <a:solidFill>
                                    <a:srgbClr val="000000"/>
                                  </a:solidFill>
                                  <a:latin typeface="Cambria Math" panose="02040503050406030204" pitchFamily="18" charset="0"/>
                                </a:rPr>
                                <m:t>1</m:t>
                              </m:r>
                            </m:sub>
                          </m:sSub>
                        </m:sub>
                        <m:sup>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𝑉</m:t>
                              </m:r>
                            </m:e>
                            <m:sub>
                              <m:r>
                                <a:rPr lang="en-US" sz="3200" i="1">
                                  <a:solidFill>
                                    <a:srgbClr val="000000"/>
                                  </a:solidFill>
                                  <a:latin typeface="Cambria Math" panose="02040503050406030204" pitchFamily="18" charset="0"/>
                                </a:rPr>
                                <m:t>2</m:t>
                              </m:r>
                            </m:sub>
                          </m:sSub>
                        </m:sup>
                        <m:e>
                          <m:r>
                            <a:rPr lang="en-US" sz="3200" i="1">
                              <a:solidFill>
                                <a:srgbClr val="000000"/>
                              </a:solidFill>
                              <a:latin typeface="Cambria Math" panose="02040503050406030204" pitchFamily="18" charset="0"/>
                            </a:rPr>
                            <m:t>𝑝</m:t>
                          </m:r>
                          <m:r>
                            <m:rPr>
                              <m:sty m:val="p"/>
                            </m:rPr>
                            <a:rPr lang="en-US" sz="3200" i="0">
                              <a:solidFill>
                                <a:srgbClr val="000000"/>
                              </a:solidFill>
                              <a:latin typeface="Cambria Math" panose="02040503050406030204" pitchFamily="18" charset="0"/>
                            </a:rPr>
                            <m:t>d</m:t>
                          </m:r>
                          <m:r>
                            <a:rPr lang="en-US" sz="3200" i="1">
                              <a:solidFill>
                                <a:srgbClr val="000000"/>
                              </a:solidFill>
                              <a:latin typeface="Cambria Math" panose="02040503050406030204" pitchFamily="18" charset="0"/>
                            </a:rPr>
                            <m:t>𝑉</m:t>
                          </m:r>
                        </m:e>
                      </m:nary>
                    </m:oMath>
                  </m:oMathPara>
                </a14:m>
                <a:endParaRPr lang="en-US" sz="3200" dirty="0"/>
              </a:p>
            </p:txBody>
          </p:sp>
        </mc:Choice>
        <mc:Fallback xmlns="">
          <p:sp>
            <p:nvSpPr>
              <p:cNvPr id="7170" name="Object 2"/>
              <p:cNvSpPr txBox="1">
                <a:spLocks noRot="1" noChangeAspect="1" noMove="1" noResize="1" noEditPoints="1" noAdjustHandles="1" noChangeArrowheads="1" noChangeShapeType="1" noTextEdit="1"/>
              </p:cNvSpPr>
              <p:nvPr/>
            </p:nvSpPr>
            <p:spPr>
              <a:xfrm>
                <a:off x="4206240" y="2646842"/>
                <a:ext cx="3960813" cy="1012825"/>
              </a:xfrm>
              <a:prstGeom prst="rect">
                <a:avLst/>
              </a:prstGeom>
              <a:blipFill>
                <a:blip r:embed="rId2"/>
                <a:stretch>
                  <a:fillRect b="-18675"/>
                </a:stretch>
              </a:blipFill>
              <a:ln w="38100">
                <a:noFill/>
                <a:miter/>
              </a:ln>
            </p:spPr>
            <p:txBody>
              <a:bodyPr/>
              <a:lstStyle/>
              <a:p>
                <a:r>
                  <a:rPr lang="en-US">
                    <a:noFill/>
                  </a:rPr>
                  <a:t> </a:t>
                </a:r>
              </a:p>
            </p:txBody>
          </p:sp>
        </mc:Fallback>
      </mc:AlternateContent>
      <p:sp>
        <p:nvSpPr>
          <p:cNvPr id="415747" name="Text Box 3"/>
          <p:cNvSpPr txBox="1">
            <a:spLocks noChangeArrowheads="1"/>
          </p:cNvSpPr>
          <p:nvPr/>
        </p:nvSpPr>
        <p:spPr bwMode="auto">
          <a:xfrm>
            <a:off x="1476275" y="2711473"/>
            <a:ext cx="2614462" cy="584775"/>
          </a:xfrm>
          <a:prstGeom prst="rect">
            <a:avLst/>
          </a:prstGeom>
          <a:noFill/>
          <a:ln w="9525">
            <a:noFill/>
            <a:miter lim="800000"/>
          </a:ln>
          <a:effectLst/>
        </p:spPr>
        <p:txBody>
          <a:bodyPr wrap="square">
            <a:spAutoFit/>
          </a:bodyPr>
          <a:lstStyle/>
          <a:p>
            <a:pPr algn="ctr">
              <a:spcBef>
                <a:spcPct val="50000"/>
              </a:spcBef>
              <a:defRPr/>
            </a:pPr>
            <a:r>
              <a:rPr kumimoji="1" lang="en-US" altLang="zh-CN" sz="3200" dirty="0">
                <a:solidFill>
                  <a:srgbClr val="080808"/>
                </a:solidFill>
                <a:latin typeface="华文楷体" panose="02010600040101010101" pitchFamily="2" charset="-122"/>
                <a:ea typeface="华文楷体" panose="02010600040101010101" pitchFamily="2" charset="-122"/>
              </a:rPr>
              <a:t>- </a:t>
            </a:r>
            <a:r>
              <a:rPr kumimoji="1" lang="zh-CN" altLang="en-US" sz="3200" dirty="0">
                <a:solidFill>
                  <a:srgbClr val="080808"/>
                </a:solidFill>
                <a:latin typeface="华文楷体" panose="02010600040101010101" pitchFamily="2" charset="-122"/>
                <a:ea typeface="华文楷体" panose="02010600040101010101" pitchFamily="2" charset="-122"/>
              </a:rPr>
              <a:t>准静态过程</a:t>
            </a:r>
          </a:p>
        </p:txBody>
      </p:sp>
      <mc:AlternateContent xmlns:mc="http://schemas.openxmlformats.org/markup-compatibility/2006" xmlns:a14="http://schemas.microsoft.com/office/drawing/2010/main">
        <mc:Choice Requires="a14">
          <p:sp>
            <p:nvSpPr>
              <p:cNvPr id="415748" name="Object 4"/>
              <p:cNvSpPr txBox="1"/>
              <p:nvPr/>
            </p:nvSpPr>
            <p:spPr>
              <a:xfrm>
                <a:off x="3458240" y="4551900"/>
                <a:ext cx="6201952" cy="60642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3200" i="0">
                          <a:solidFill>
                            <a:srgbClr val="000000"/>
                          </a:solidFill>
                          <a:latin typeface="Cambria Math" panose="02040503050406030204" pitchFamily="18" charset="0"/>
                        </a:rPr>
                        <m:t>d</m:t>
                      </m:r>
                      <m:r>
                        <a:rPr lang="en-US" sz="3200" i="1">
                          <a:solidFill>
                            <a:srgbClr val="000000"/>
                          </a:solidFill>
                          <a:latin typeface="Cambria Math" panose="02040503050406030204" pitchFamily="18" charset="0"/>
                        </a:rPr>
                        <m:t>𝑄</m:t>
                      </m:r>
                      <m:r>
                        <a:rPr lang="en-US" sz="3200" i="1">
                          <a:solidFill>
                            <a:srgbClr val="000000"/>
                          </a:solidFill>
                          <a:latin typeface="Cambria Math" panose="02040503050406030204" pitchFamily="18" charset="0"/>
                        </a:rPr>
                        <m:t>=</m:t>
                      </m:r>
                      <m:r>
                        <m:rPr>
                          <m:sty m:val="p"/>
                        </m:rPr>
                        <a:rPr lang="en-US" sz="3200" i="0">
                          <a:solidFill>
                            <a:srgbClr val="000000"/>
                          </a:solidFill>
                          <a:latin typeface="Cambria Math" panose="02040503050406030204" pitchFamily="18" charset="0"/>
                        </a:rPr>
                        <m:t>d</m:t>
                      </m:r>
                      <m:r>
                        <a:rPr lang="en-US" sz="3200" i="1">
                          <a:solidFill>
                            <a:srgbClr val="000000"/>
                          </a:solidFill>
                          <a:latin typeface="Cambria Math" panose="02040503050406030204" pitchFamily="18" charset="0"/>
                        </a:rPr>
                        <m:t>𝐸</m:t>
                      </m:r>
                      <m:r>
                        <a:rPr lang="en-US" sz="3200" i="1">
                          <a:solidFill>
                            <a:srgbClr val="000000"/>
                          </a:solidFill>
                          <a:latin typeface="Cambria Math" panose="02040503050406030204" pitchFamily="18" charset="0"/>
                        </a:rPr>
                        <m:t>+</m:t>
                      </m:r>
                      <m:r>
                        <m:rPr>
                          <m:sty m:val="p"/>
                        </m:rPr>
                        <a:rPr lang="en-US" sz="3200" i="0">
                          <a:solidFill>
                            <a:srgbClr val="000000"/>
                          </a:solidFill>
                          <a:latin typeface="Cambria Math" panose="02040503050406030204" pitchFamily="18" charset="0"/>
                        </a:rPr>
                        <m:t>d</m:t>
                      </m:r>
                      <m:r>
                        <a:rPr lang="en-US" sz="3200" i="1">
                          <a:solidFill>
                            <a:srgbClr val="000000"/>
                          </a:solidFill>
                          <a:latin typeface="Cambria Math" panose="02040503050406030204" pitchFamily="18" charset="0"/>
                        </a:rPr>
                        <m:t>𝐴</m:t>
                      </m:r>
                      <m:r>
                        <a:rPr lang="en-US" sz="3200" i="1">
                          <a:solidFill>
                            <a:srgbClr val="000000"/>
                          </a:solidFill>
                          <a:latin typeface="Cambria Math" panose="02040503050406030204" pitchFamily="18" charset="0"/>
                        </a:rPr>
                        <m:t>=</m:t>
                      </m:r>
                      <m:r>
                        <m:rPr>
                          <m:sty m:val="p"/>
                        </m:rPr>
                        <a:rPr lang="en-US" sz="3200" i="0">
                          <a:solidFill>
                            <a:srgbClr val="000000"/>
                          </a:solidFill>
                          <a:latin typeface="Cambria Math" panose="02040503050406030204" pitchFamily="18" charset="0"/>
                        </a:rPr>
                        <m:t>d</m:t>
                      </m:r>
                      <m:r>
                        <a:rPr lang="en-US" sz="3200" i="1">
                          <a:solidFill>
                            <a:srgbClr val="000000"/>
                          </a:solidFill>
                          <a:latin typeface="Cambria Math" panose="02040503050406030204" pitchFamily="18" charset="0"/>
                        </a:rPr>
                        <m:t>𝐸</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𝑝</m:t>
                      </m:r>
                      <m:r>
                        <m:rPr>
                          <m:sty m:val="p"/>
                        </m:rPr>
                        <a:rPr lang="en-US" sz="3200" i="0">
                          <a:solidFill>
                            <a:srgbClr val="000000"/>
                          </a:solidFill>
                          <a:latin typeface="Cambria Math" panose="02040503050406030204" pitchFamily="18" charset="0"/>
                        </a:rPr>
                        <m:t>d</m:t>
                      </m:r>
                      <m:r>
                        <a:rPr lang="en-US" sz="3200" i="1">
                          <a:solidFill>
                            <a:srgbClr val="000000"/>
                          </a:solidFill>
                          <a:latin typeface="Cambria Math" panose="02040503050406030204" pitchFamily="18" charset="0"/>
                        </a:rPr>
                        <m:t>𝑉</m:t>
                      </m:r>
                    </m:oMath>
                  </m:oMathPara>
                </a14:m>
                <a:endParaRPr lang="en-US" sz="3200" dirty="0"/>
              </a:p>
            </p:txBody>
          </p:sp>
        </mc:Choice>
        <mc:Fallback xmlns="">
          <p:sp>
            <p:nvSpPr>
              <p:cNvPr id="415748" name="Object 4"/>
              <p:cNvSpPr txBox="1">
                <a:spLocks noRot="1" noChangeAspect="1" noMove="1" noResize="1" noEditPoints="1" noAdjustHandles="1" noChangeArrowheads="1" noChangeShapeType="1" noTextEdit="1"/>
              </p:cNvSpPr>
              <p:nvPr/>
            </p:nvSpPr>
            <p:spPr>
              <a:xfrm>
                <a:off x="3458240" y="4551900"/>
                <a:ext cx="6201952" cy="606425"/>
              </a:xfrm>
              <a:prstGeom prst="rect">
                <a:avLst/>
              </a:prstGeom>
              <a:blipFill>
                <a:blip r:embed="rId3"/>
                <a:stretch>
                  <a:fillRect/>
                </a:stretch>
              </a:blipFill>
              <a:ln w="38100">
                <a:noFill/>
                <a:miter/>
              </a:ln>
            </p:spPr>
            <p:txBody>
              <a:bodyPr/>
              <a:lstStyle/>
              <a:p>
                <a:r>
                  <a:rPr lang="en-US">
                    <a:noFill/>
                  </a:rPr>
                  <a:t> </a:t>
                </a:r>
              </a:p>
            </p:txBody>
          </p:sp>
        </mc:Fallback>
      </mc:AlternateContent>
      <p:sp>
        <p:nvSpPr>
          <p:cNvPr id="415749" name="Text Box 5"/>
          <p:cNvSpPr txBox="1">
            <a:spLocks noChangeArrowheads="1"/>
          </p:cNvSpPr>
          <p:nvPr/>
        </p:nvSpPr>
        <p:spPr bwMode="auto">
          <a:xfrm>
            <a:off x="1476275" y="4483065"/>
            <a:ext cx="2057400" cy="588963"/>
          </a:xfrm>
          <a:prstGeom prst="rect">
            <a:avLst/>
          </a:prstGeom>
          <a:noFill/>
          <a:ln w="9525">
            <a:noFill/>
            <a:miter lim="800000"/>
          </a:ln>
          <a:effectLst/>
        </p:spPr>
        <p:txBody>
          <a:bodyPr>
            <a:spAutoFit/>
          </a:bodyPr>
          <a:lstStyle/>
          <a:p>
            <a:pPr algn="ctr">
              <a:spcBef>
                <a:spcPct val="50000"/>
              </a:spcBef>
              <a:defRPr/>
            </a:pPr>
            <a:r>
              <a:rPr kumimoji="1" lang="en-US" altLang="zh-CN" sz="3200" dirty="0">
                <a:solidFill>
                  <a:srgbClr val="080808"/>
                </a:solidFill>
                <a:latin typeface="华文楷体" panose="02010600040101010101" pitchFamily="2" charset="-122"/>
                <a:ea typeface="华文楷体" panose="02010600040101010101" pitchFamily="2" charset="-122"/>
              </a:rPr>
              <a:t>- </a:t>
            </a:r>
            <a:r>
              <a:rPr kumimoji="1" lang="zh-CN" altLang="en-US" sz="3200" dirty="0">
                <a:solidFill>
                  <a:srgbClr val="080808"/>
                </a:solidFill>
                <a:latin typeface="华文楷体" panose="02010600040101010101" pitchFamily="2" charset="-122"/>
                <a:ea typeface="华文楷体" panose="02010600040101010101" pitchFamily="2" charset="-122"/>
              </a:rPr>
              <a:t>微变过程</a:t>
            </a:r>
          </a:p>
        </p:txBody>
      </p:sp>
      <p:sp>
        <p:nvSpPr>
          <p:cNvPr id="6" name="Text Box 13">
            <a:hlinkClick r:id="" action="ppaction://noaction"/>
            <a:extLst>
              <a:ext uri="{FF2B5EF4-FFF2-40B4-BE49-F238E27FC236}">
                <a16:creationId xmlns:a16="http://schemas.microsoft.com/office/drawing/2014/main" id="{9BC4BB47-615D-44BC-943D-86F0F1950B01}"/>
              </a:ext>
            </a:extLst>
          </p:cNvPr>
          <p:cNvSpPr txBox="1">
            <a:spLocks noChangeArrowheads="1"/>
          </p:cNvSpPr>
          <p:nvPr/>
        </p:nvSpPr>
        <p:spPr bwMode="auto">
          <a:xfrm>
            <a:off x="617888" y="288470"/>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热力学第一定律</a:t>
            </a:r>
          </a:p>
        </p:txBody>
      </p:sp>
      <mc:AlternateContent xmlns:mc="http://schemas.openxmlformats.org/markup-compatibility/2006" xmlns:a14="http://schemas.microsoft.com/office/drawing/2010/main">
        <mc:Choice Requires="a14">
          <p:sp>
            <p:nvSpPr>
              <p:cNvPr id="11" name="Object 24">
                <a:extLst>
                  <a:ext uri="{FF2B5EF4-FFF2-40B4-BE49-F238E27FC236}">
                    <a16:creationId xmlns:a16="http://schemas.microsoft.com/office/drawing/2014/main" id="{5360F645-778B-42EC-B864-372E1620795C}"/>
                  </a:ext>
                </a:extLst>
              </p:cNvPr>
              <p:cNvSpPr txBox="1"/>
              <p:nvPr/>
            </p:nvSpPr>
            <p:spPr>
              <a:xfrm>
                <a:off x="1806608" y="1191397"/>
                <a:ext cx="6874936" cy="7791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3600" b="0" i="1" smtClean="0">
                          <a:solidFill>
                            <a:srgbClr val="FF0000"/>
                          </a:solidFill>
                          <a:latin typeface="Cambria Math" panose="02040503050406030204" pitchFamily="18" charset="0"/>
                        </a:rPr>
                        <m:t>𝑄</m:t>
                      </m:r>
                      <m:r>
                        <a:rPr lang="en-US" sz="3600" b="0" i="1" smtClean="0">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b="0" i="1">
                              <a:solidFill>
                                <a:srgbClr val="FF0000"/>
                              </a:solidFill>
                              <a:latin typeface="Cambria Math" panose="02040503050406030204" pitchFamily="18" charset="0"/>
                            </a:rPr>
                            <m:t>𝐸</m:t>
                          </m:r>
                        </m:e>
                        <m:sub>
                          <m:r>
                            <a:rPr lang="en-US" sz="3600" b="0" i="1">
                              <a:solidFill>
                                <a:srgbClr val="FF0000"/>
                              </a:solidFill>
                              <a:latin typeface="Cambria Math" panose="02040503050406030204" pitchFamily="18" charset="0"/>
                            </a:rPr>
                            <m:t>2</m:t>
                          </m:r>
                        </m:sub>
                      </m:sSub>
                      <m:r>
                        <a:rPr lang="en-US" sz="3600" b="0" i="1">
                          <a:solidFill>
                            <a:srgbClr val="FF0000"/>
                          </a:solidFill>
                          <a:latin typeface="Cambria Math" panose="02040503050406030204" pitchFamily="18" charset="0"/>
                        </a:rPr>
                        <m:t>−</m:t>
                      </m:r>
                      <m:sSub>
                        <m:sSubPr>
                          <m:ctrlPr>
                            <a:rPr lang="en-US" sz="3600" i="1">
                              <a:solidFill>
                                <a:srgbClr val="FF0000"/>
                              </a:solidFill>
                              <a:latin typeface="Cambria Math" panose="02040503050406030204" pitchFamily="18" charset="0"/>
                            </a:rPr>
                          </m:ctrlPr>
                        </m:sSubPr>
                        <m:e>
                          <m:r>
                            <a:rPr lang="en-US" sz="3600" b="0" i="1">
                              <a:solidFill>
                                <a:srgbClr val="FF0000"/>
                              </a:solidFill>
                              <a:latin typeface="Cambria Math" panose="02040503050406030204" pitchFamily="18" charset="0"/>
                            </a:rPr>
                            <m:t>𝐸</m:t>
                          </m:r>
                        </m:e>
                        <m:sub>
                          <m:r>
                            <a:rPr lang="en-US" sz="3600" b="0" i="1">
                              <a:solidFill>
                                <a:srgbClr val="FF0000"/>
                              </a:solidFill>
                              <a:latin typeface="Cambria Math" panose="02040503050406030204" pitchFamily="18" charset="0"/>
                            </a:rPr>
                            <m:t>1</m:t>
                          </m:r>
                        </m:sub>
                      </m:sSub>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𝐴</m:t>
                      </m:r>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𝛥</m:t>
                      </m:r>
                      <m:r>
                        <a:rPr lang="en-US" sz="3600" b="0" i="1">
                          <a:solidFill>
                            <a:srgbClr val="FF0000"/>
                          </a:solidFill>
                          <a:latin typeface="Cambria Math" panose="02040503050406030204" pitchFamily="18" charset="0"/>
                        </a:rPr>
                        <m:t>𝐸</m:t>
                      </m:r>
                      <m:r>
                        <a:rPr lang="en-US" sz="3600" b="0" i="1">
                          <a:solidFill>
                            <a:srgbClr val="FF0000"/>
                          </a:solidFill>
                          <a:latin typeface="Cambria Math" panose="02040503050406030204" pitchFamily="18" charset="0"/>
                        </a:rPr>
                        <m:t>+</m:t>
                      </m:r>
                      <m:r>
                        <a:rPr lang="en-US" sz="3600" b="0" i="1">
                          <a:solidFill>
                            <a:srgbClr val="FF0000"/>
                          </a:solidFill>
                          <a:latin typeface="Cambria Math" panose="02040503050406030204" pitchFamily="18" charset="0"/>
                        </a:rPr>
                        <m:t>𝐴</m:t>
                      </m:r>
                    </m:oMath>
                  </m:oMathPara>
                </a14:m>
                <a:endParaRPr lang="en-US" sz="3600" dirty="0">
                  <a:solidFill>
                    <a:srgbClr val="FF0000"/>
                  </a:solidFill>
                </a:endParaRPr>
              </a:p>
            </p:txBody>
          </p:sp>
        </mc:Choice>
        <mc:Fallback xmlns="">
          <p:sp>
            <p:nvSpPr>
              <p:cNvPr id="11" name="Object 24">
                <a:extLst>
                  <a:ext uri="{FF2B5EF4-FFF2-40B4-BE49-F238E27FC236}">
                    <a16:creationId xmlns:a16="http://schemas.microsoft.com/office/drawing/2014/main" id="{5360F645-778B-42EC-B864-372E1620795C}"/>
                  </a:ext>
                </a:extLst>
              </p:cNvPr>
              <p:cNvSpPr txBox="1">
                <a:spLocks noRot="1" noChangeAspect="1" noMove="1" noResize="1" noEditPoints="1" noAdjustHandles="1" noChangeArrowheads="1" noChangeShapeType="1" noTextEdit="1"/>
              </p:cNvSpPr>
              <p:nvPr/>
            </p:nvSpPr>
            <p:spPr>
              <a:xfrm>
                <a:off x="1806608" y="1191397"/>
                <a:ext cx="6874936" cy="779145"/>
              </a:xfrm>
              <a:prstGeom prst="rect">
                <a:avLst/>
              </a:prstGeom>
              <a:blipFill>
                <a:blip r:embed="rId4"/>
                <a:stretch>
                  <a:fillRect/>
                </a:stretch>
              </a:blipFill>
              <a:ln w="38100">
                <a:noFill/>
                <a:miter/>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57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5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415747" grpId="0"/>
      <p:bldP spid="415748" grpId="0"/>
      <p:bldP spid="4157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5CAD0FF-2A33-4832-A5F4-1C47A959F0C0}"/>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latin typeface="Times New Roman" panose="02020603050405020304" pitchFamily="18" charset="0"/>
              </a:rPr>
              <a:t>如图</a:t>
            </a:r>
            <a:r>
              <a:rPr lang="en-US" altLang="zh-CN" sz="2800" dirty="0">
                <a:latin typeface="Times New Roman" panose="02020603050405020304" pitchFamily="18" charset="0"/>
              </a:rPr>
              <a:t>,  </a:t>
            </a:r>
            <a:r>
              <a:rPr lang="zh-CN" altLang="en-US" sz="2800" dirty="0">
                <a:latin typeface="Times New Roman" panose="02020603050405020304" pitchFamily="18" charset="0"/>
              </a:rPr>
              <a:t>在</a:t>
            </a:r>
            <a:r>
              <a:rPr lang="en-US" altLang="zh-CN" sz="2800" i="1" dirty="0">
                <a:latin typeface="Times New Roman" panose="02020603050405020304" pitchFamily="18" charset="0"/>
              </a:rPr>
              <a:t>p-V</a:t>
            </a:r>
            <a:r>
              <a:rPr lang="zh-CN" altLang="en-US" sz="2800" dirty="0">
                <a:latin typeface="Times New Roman" panose="02020603050405020304" pitchFamily="18" charset="0"/>
              </a:rPr>
              <a:t>图中</a:t>
            </a:r>
            <a:r>
              <a:rPr lang="en-US" altLang="zh-CN" sz="2800" dirty="0">
                <a:latin typeface="Times New Roman" panose="02020603050405020304" pitchFamily="18" charset="0"/>
              </a:rPr>
              <a:t>1</a:t>
            </a:r>
            <a:r>
              <a:rPr lang="en-US" altLang="zh-CN" sz="2800" i="1" dirty="0">
                <a:latin typeface="Times New Roman" panose="02020603050405020304" pitchFamily="18" charset="0"/>
              </a:rPr>
              <a:t>mol</a:t>
            </a:r>
            <a:r>
              <a:rPr lang="zh-CN" altLang="en-US" sz="2800" dirty="0">
                <a:latin typeface="Times New Roman" panose="02020603050405020304" pitchFamily="18" charset="0"/>
              </a:rPr>
              <a:t>理想气体从状态</a:t>
            </a:r>
            <a:r>
              <a:rPr lang="en-US" altLang="zh-CN" sz="2800" dirty="0">
                <a:latin typeface="Times New Roman" panose="02020603050405020304" pitchFamily="18" charset="0"/>
              </a:rPr>
              <a:t>A</a:t>
            </a:r>
            <a:r>
              <a:rPr lang="zh-CN" altLang="en-US" sz="2800" dirty="0">
                <a:latin typeface="Times New Roman" panose="02020603050405020304" pitchFamily="18" charset="0"/>
              </a:rPr>
              <a:t>沿直线过程变化到状态</a:t>
            </a:r>
            <a:r>
              <a:rPr lang="en-US" altLang="zh-CN" sz="2800" dirty="0">
                <a:latin typeface="Times New Roman" panose="02020603050405020304" pitchFamily="18" charset="0"/>
              </a:rPr>
              <a:t>B, </a:t>
            </a:r>
            <a:r>
              <a:rPr lang="zh-CN" altLang="en-US" sz="2800" dirty="0">
                <a:latin typeface="Times New Roman" panose="02020603050405020304" pitchFamily="18" charset="0"/>
              </a:rPr>
              <a:t>在此过程中系统的功</a:t>
            </a:r>
            <a:r>
              <a:rPr lang="en-US" altLang="zh-CN" sz="2800" i="1" dirty="0">
                <a:latin typeface="Times New Roman" panose="02020603050405020304" pitchFamily="18" charset="0"/>
              </a:rPr>
              <a:t>A</a:t>
            </a:r>
            <a:r>
              <a:rPr lang="zh-CN" altLang="en-US" sz="2800" dirty="0">
                <a:latin typeface="Times New Roman" panose="02020603050405020304" pitchFamily="18" charset="0"/>
              </a:rPr>
              <a:t>和内能</a:t>
            </a:r>
            <a:r>
              <a:rPr lang="en-US" altLang="zh-CN" sz="2800" i="1" dirty="0">
                <a:latin typeface="Times New Roman" panose="02020603050405020304" pitchFamily="18" charset="0"/>
                <a:sym typeface="+mn-ea"/>
              </a:rPr>
              <a:t>E</a:t>
            </a:r>
            <a:r>
              <a:rPr lang="zh-CN" altLang="en-US" sz="2800" dirty="0">
                <a:latin typeface="Times New Roman" panose="02020603050405020304" pitchFamily="18" charset="0"/>
              </a:rPr>
              <a:t>的变化是</a:t>
            </a:r>
            <a:r>
              <a:rPr lang="en-US" altLang="zh-CN" sz="2800" dirty="0">
                <a:latin typeface="Times New Roman" panose="02020603050405020304" pitchFamily="18" charset="0"/>
              </a:rPr>
              <a:t>:</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3071951F-9DF2-4747-90CC-01962E7895CA}"/>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800" i="1" dirty="0">
                <a:latin typeface="Times New Roman" panose="02020603050405020304" pitchFamily="18" charset="0"/>
              </a:rPr>
              <a:t>A</a:t>
            </a:r>
            <a:r>
              <a:rPr lang="en-US" altLang="zh-CN" sz="2800" dirty="0">
                <a:latin typeface="Times New Roman" panose="02020603050405020304" pitchFamily="18" charset="0"/>
              </a:rPr>
              <a:t>&gt;0, △E&gt;0        </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651F194D-4714-4128-AABB-35969362D4A6}"/>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pPr marL="457200" indent="-457200">
              <a:lnSpc>
                <a:spcPct val="120000"/>
              </a:lnSpc>
              <a:spcBef>
                <a:spcPct val="50000"/>
              </a:spcBef>
              <a:buAutoNum type="alphaUcParenR"/>
            </a:pPr>
            <a:r>
              <a:rPr lang="en-US" altLang="zh-CN" sz="2800" i="1" dirty="0">
                <a:latin typeface="Times New Roman" panose="02020603050405020304" pitchFamily="18" charset="0"/>
              </a:rPr>
              <a:t>A</a:t>
            </a:r>
            <a:r>
              <a:rPr lang="en-US" altLang="zh-CN" sz="2800" dirty="0">
                <a:latin typeface="Times New Roman" panose="02020603050405020304" pitchFamily="18" charset="0"/>
              </a:rPr>
              <a:t>&lt;0,  △E&lt;0</a:t>
            </a:r>
          </a:p>
        </p:txBody>
      </p:sp>
      <p:sp>
        <p:nvSpPr>
          <p:cNvPr id="7" name="文本框 6">
            <a:extLst>
              <a:ext uri="{FF2B5EF4-FFF2-40B4-BE49-F238E27FC236}">
                <a16:creationId xmlns:a16="http://schemas.microsoft.com/office/drawing/2014/main" id="{A491E0B4-4C37-4117-9427-95ED35FB0D15}"/>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800" i="1" dirty="0">
                <a:latin typeface="Times New Roman" panose="02020603050405020304" pitchFamily="18" charset="0"/>
              </a:rPr>
              <a:t>A</a:t>
            </a:r>
            <a:r>
              <a:rPr lang="en-US" altLang="zh-CN" sz="2800" dirty="0">
                <a:latin typeface="Times New Roman" panose="02020603050405020304" pitchFamily="18" charset="0"/>
              </a:rPr>
              <a:t>&gt;0, △E=0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7F77E938-DBC9-436D-8339-054BC2BFD909}"/>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800" i="1" dirty="0">
                <a:latin typeface="Times New Roman" panose="02020603050405020304" pitchFamily="18" charset="0"/>
              </a:rPr>
              <a:t>A</a:t>
            </a:r>
            <a:r>
              <a:rPr lang="en-US" altLang="zh-CN" sz="2800" dirty="0">
                <a:latin typeface="Times New Roman" panose="02020603050405020304" pitchFamily="18" charset="0"/>
              </a:rPr>
              <a:t>&lt;0, △E&gt;0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A36E1DEF-A980-4F0E-886B-86A79E240554}"/>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BD5064AB-F66C-4B6F-835B-53DEB45D8548}"/>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660FC985-5773-4097-A2CF-85F64BC18ED0}"/>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7AF29F89-A407-49EE-B74A-924EE39367D6}"/>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EF3AEE7B-29E7-4A66-9069-200FAEB5DE2B}"/>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0" name="Group 31">
            <a:extLst>
              <a:ext uri="{FF2B5EF4-FFF2-40B4-BE49-F238E27FC236}">
                <a16:creationId xmlns:a16="http://schemas.microsoft.com/office/drawing/2014/main" id="{94A5D44F-5124-437D-8B8E-30FBF615EC73}"/>
              </a:ext>
            </a:extLst>
          </p:cNvPr>
          <p:cNvGrpSpPr/>
          <p:nvPr/>
        </p:nvGrpSpPr>
        <p:grpSpPr>
          <a:xfrm>
            <a:off x="6573837" y="2330451"/>
            <a:ext cx="4068763" cy="3498849"/>
            <a:chOff x="60" y="1943"/>
            <a:chExt cx="2563" cy="2204"/>
          </a:xfrm>
        </p:grpSpPr>
        <p:grpSp>
          <p:nvGrpSpPr>
            <p:cNvPr id="21" name="Group 29">
              <a:extLst>
                <a:ext uri="{FF2B5EF4-FFF2-40B4-BE49-F238E27FC236}">
                  <a16:creationId xmlns:a16="http://schemas.microsoft.com/office/drawing/2014/main" id="{15F94BDD-3449-4953-9E55-CA45D00BB80C}"/>
                </a:ext>
              </a:extLst>
            </p:cNvPr>
            <p:cNvGrpSpPr/>
            <p:nvPr/>
          </p:nvGrpSpPr>
          <p:grpSpPr>
            <a:xfrm>
              <a:off x="60" y="1943"/>
              <a:ext cx="2563" cy="2204"/>
              <a:chOff x="60" y="1943"/>
              <a:chExt cx="2563" cy="2204"/>
            </a:xfrm>
          </p:grpSpPr>
          <p:grpSp>
            <p:nvGrpSpPr>
              <p:cNvPr id="23" name="Group 19">
                <a:extLst>
                  <a:ext uri="{FF2B5EF4-FFF2-40B4-BE49-F238E27FC236}">
                    <a16:creationId xmlns:a16="http://schemas.microsoft.com/office/drawing/2014/main" id="{014428B0-DF6A-4B62-897A-F0FAD05E6522}"/>
                  </a:ext>
                </a:extLst>
              </p:cNvPr>
              <p:cNvGrpSpPr/>
              <p:nvPr/>
            </p:nvGrpSpPr>
            <p:grpSpPr>
              <a:xfrm>
                <a:off x="492" y="2100"/>
                <a:ext cx="2052" cy="1716"/>
                <a:chOff x="492" y="2100"/>
                <a:chExt cx="2052" cy="1716"/>
              </a:xfrm>
            </p:grpSpPr>
            <p:sp>
              <p:nvSpPr>
                <p:cNvPr id="32" name="Line 11">
                  <a:extLst>
                    <a:ext uri="{FF2B5EF4-FFF2-40B4-BE49-F238E27FC236}">
                      <a16:creationId xmlns:a16="http://schemas.microsoft.com/office/drawing/2014/main" id="{4A243A0A-F1BA-4C1C-BE88-2EEFBBC01B2E}"/>
                    </a:ext>
                  </a:extLst>
                </p:cNvPr>
                <p:cNvSpPr/>
                <p:nvPr/>
              </p:nvSpPr>
              <p:spPr>
                <a:xfrm>
                  <a:off x="492" y="3804"/>
                  <a:ext cx="2052" cy="0"/>
                </a:xfrm>
                <a:prstGeom prst="line">
                  <a:avLst/>
                </a:prstGeom>
                <a:ln w="25400" cap="flat" cmpd="sng">
                  <a:solidFill>
                    <a:schemeClr val="tx1"/>
                  </a:solidFill>
                  <a:prstDash val="solid"/>
                  <a:headEnd type="none" w="med" len="med"/>
                  <a:tailEnd type="triangle" w="med" len="med"/>
                </a:ln>
              </p:spPr>
            </p:sp>
            <p:sp>
              <p:nvSpPr>
                <p:cNvPr id="33" name="Line 12">
                  <a:extLst>
                    <a:ext uri="{FF2B5EF4-FFF2-40B4-BE49-F238E27FC236}">
                      <a16:creationId xmlns:a16="http://schemas.microsoft.com/office/drawing/2014/main" id="{0E5F6830-D59B-45F0-B79B-00F824A21C0A}"/>
                    </a:ext>
                  </a:extLst>
                </p:cNvPr>
                <p:cNvSpPr/>
                <p:nvPr/>
              </p:nvSpPr>
              <p:spPr>
                <a:xfrm flipV="1">
                  <a:off x="492" y="2100"/>
                  <a:ext cx="0" cy="1716"/>
                </a:xfrm>
                <a:prstGeom prst="line">
                  <a:avLst/>
                </a:prstGeom>
                <a:ln w="25400" cap="flat" cmpd="sng">
                  <a:solidFill>
                    <a:schemeClr val="tx1"/>
                  </a:solidFill>
                  <a:prstDash val="solid"/>
                  <a:headEnd type="none" w="med" len="med"/>
                  <a:tailEnd type="triangle" w="med" len="med"/>
                </a:ln>
              </p:spPr>
            </p:sp>
            <p:sp>
              <p:nvSpPr>
                <p:cNvPr id="34" name="Line 13">
                  <a:extLst>
                    <a:ext uri="{FF2B5EF4-FFF2-40B4-BE49-F238E27FC236}">
                      <a16:creationId xmlns:a16="http://schemas.microsoft.com/office/drawing/2014/main" id="{A241DA3D-9B2B-401D-A675-DAC34FBBA057}"/>
                    </a:ext>
                  </a:extLst>
                </p:cNvPr>
                <p:cNvSpPr/>
                <p:nvPr/>
              </p:nvSpPr>
              <p:spPr>
                <a:xfrm>
                  <a:off x="1116" y="2712"/>
                  <a:ext cx="0" cy="1080"/>
                </a:xfrm>
                <a:prstGeom prst="line">
                  <a:avLst/>
                </a:prstGeom>
                <a:ln w="9525" cap="flat" cmpd="sng">
                  <a:solidFill>
                    <a:schemeClr val="tx1"/>
                  </a:solidFill>
                  <a:prstDash val="dash"/>
                  <a:headEnd type="none" w="med" len="med"/>
                  <a:tailEnd type="none" w="med" len="med"/>
                </a:ln>
              </p:spPr>
            </p:sp>
            <p:sp>
              <p:nvSpPr>
                <p:cNvPr id="35" name="Line 14">
                  <a:extLst>
                    <a:ext uri="{FF2B5EF4-FFF2-40B4-BE49-F238E27FC236}">
                      <a16:creationId xmlns:a16="http://schemas.microsoft.com/office/drawing/2014/main" id="{9EA4AAAB-E0EE-4A8E-B538-F12A77E7BE2B}"/>
                    </a:ext>
                  </a:extLst>
                </p:cNvPr>
                <p:cNvSpPr/>
                <p:nvPr/>
              </p:nvSpPr>
              <p:spPr>
                <a:xfrm>
                  <a:off x="1804" y="3256"/>
                  <a:ext cx="0" cy="552"/>
                </a:xfrm>
                <a:prstGeom prst="line">
                  <a:avLst/>
                </a:prstGeom>
                <a:ln w="9525" cap="flat" cmpd="sng">
                  <a:solidFill>
                    <a:schemeClr val="tx1"/>
                  </a:solidFill>
                  <a:prstDash val="dash"/>
                  <a:headEnd type="none" w="med" len="med"/>
                  <a:tailEnd type="none" w="med" len="med"/>
                </a:ln>
              </p:spPr>
            </p:sp>
            <p:sp>
              <p:nvSpPr>
                <p:cNvPr id="36" name="Line 15">
                  <a:extLst>
                    <a:ext uri="{FF2B5EF4-FFF2-40B4-BE49-F238E27FC236}">
                      <a16:creationId xmlns:a16="http://schemas.microsoft.com/office/drawing/2014/main" id="{92425601-1809-438D-90AF-AFA039F1BE73}"/>
                    </a:ext>
                  </a:extLst>
                </p:cNvPr>
                <p:cNvSpPr/>
                <p:nvPr/>
              </p:nvSpPr>
              <p:spPr>
                <a:xfrm>
                  <a:off x="492" y="3240"/>
                  <a:ext cx="1308" cy="0"/>
                </a:xfrm>
                <a:prstGeom prst="line">
                  <a:avLst/>
                </a:prstGeom>
                <a:ln w="9525" cap="flat" cmpd="sng">
                  <a:solidFill>
                    <a:schemeClr val="tx1"/>
                  </a:solidFill>
                  <a:prstDash val="dash"/>
                  <a:headEnd type="none" w="med" len="med"/>
                  <a:tailEnd type="none" w="med" len="med"/>
                </a:ln>
              </p:spPr>
            </p:sp>
            <p:sp>
              <p:nvSpPr>
                <p:cNvPr id="37" name="Line 16">
                  <a:extLst>
                    <a:ext uri="{FF2B5EF4-FFF2-40B4-BE49-F238E27FC236}">
                      <a16:creationId xmlns:a16="http://schemas.microsoft.com/office/drawing/2014/main" id="{AA626FF2-880D-4463-BE37-F78C2E3B91C0}"/>
                    </a:ext>
                  </a:extLst>
                </p:cNvPr>
                <p:cNvSpPr/>
                <p:nvPr/>
              </p:nvSpPr>
              <p:spPr>
                <a:xfrm>
                  <a:off x="508" y="2692"/>
                  <a:ext cx="600" cy="0"/>
                </a:xfrm>
                <a:prstGeom prst="line">
                  <a:avLst/>
                </a:prstGeom>
                <a:ln w="9525" cap="flat" cmpd="sng">
                  <a:solidFill>
                    <a:schemeClr val="tx1"/>
                  </a:solidFill>
                  <a:prstDash val="dash"/>
                  <a:headEnd type="none" w="med" len="med"/>
                  <a:tailEnd type="none" w="med" len="med"/>
                </a:ln>
              </p:spPr>
            </p:sp>
            <p:sp>
              <p:nvSpPr>
                <p:cNvPr id="38" name="Line 18">
                  <a:extLst>
                    <a:ext uri="{FF2B5EF4-FFF2-40B4-BE49-F238E27FC236}">
                      <a16:creationId xmlns:a16="http://schemas.microsoft.com/office/drawing/2014/main" id="{0BCA8FED-973A-47FE-BDE5-7D0380EE7027}"/>
                    </a:ext>
                  </a:extLst>
                </p:cNvPr>
                <p:cNvSpPr/>
                <p:nvPr/>
              </p:nvSpPr>
              <p:spPr>
                <a:xfrm>
                  <a:off x="1116" y="2688"/>
                  <a:ext cx="684" cy="540"/>
                </a:xfrm>
                <a:prstGeom prst="line">
                  <a:avLst/>
                </a:prstGeom>
                <a:ln w="63500" cap="flat" cmpd="sng">
                  <a:solidFill>
                    <a:schemeClr val="tx1"/>
                  </a:solidFill>
                  <a:prstDash val="solid"/>
                  <a:headEnd type="none" w="med" len="med"/>
                  <a:tailEnd type="none" w="med" len="med"/>
                </a:ln>
              </p:spPr>
            </p:sp>
          </p:grpSp>
          <p:sp>
            <p:nvSpPr>
              <p:cNvPr id="24" name="Text Box 21">
                <a:extLst>
                  <a:ext uri="{FF2B5EF4-FFF2-40B4-BE49-F238E27FC236}">
                    <a16:creationId xmlns:a16="http://schemas.microsoft.com/office/drawing/2014/main" id="{71A92076-7630-4E01-814B-407988DD983A}"/>
                  </a:ext>
                </a:extLst>
              </p:cNvPr>
              <p:cNvSpPr txBox="1"/>
              <p:nvPr/>
            </p:nvSpPr>
            <p:spPr>
              <a:xfrm>
                <a:off x="206" y="1943"/>
                <a:ext cx="189" cy="233"/>
              </a:xfrm>
              <a:prstGeom prst="rect">
                <a:avLst/>
              </a:prstGeom>
              <a:noFill/>
              <a:ln w="9525">
                <a:noFill/>
              </a:ln>
            </p:spPr>
            <p:txBody>
              <a:bodyPr wrap="none">
                <a:spAutoFit/>
              </a:bodyPr>
              <a:lstStyle/>
              <a:p>
                <a:r>
                  <a:rPr lang="en-US" altLang="zh-CN" i="1" dirty="0">
                    <a:latin typeface="Times New Roman" panose="02020603050405020304" pitchFamily="18" charset="0"/>
                  </a:rPr>
                  <a:t>p</a:t>
                </a:r>
              </a:p>
            </p:txBody>
          </p:sp>
          <p:sp>
            <p:nvSpPr>
              <p:cNvPr id="25" name="Text Box 22">
                <a:extLst>
                  <a:ext uri="{FF2B5EF4-FFF2-40B4-BE49-F238E27FC236}">
                    <a16:creationId xmlns:a16="http://schemas.microsoft.com/office/drawing/2014/main" id="{2D5262AA-AADF-4914-9696-E14C9A4FE4FA}"/>
                  </a:ext>
                </a:extLst>
              </p:cNvPr>
              <p:cNvSpPr txBox="1"/>
              <p:nvPr/>
            </p:nvSpPr>
            <p:spPr>
              <a:xfrm>
                <a:off x="2410" y="3738"/>
                <a:ext cx="213" cy="233"/>
              </a:xfrm>
              <a:prstGeom prst="rect">
                <a:avLst/>
              </a:prstGeom>
              <a:noFill/>
              <a:ln w="9525">
                <a:noFill/>
              </a:ln>
            </p:spPr>
            <p:txBody>
              <a:bodyPr wrap="none">
                <a:spAutoFit/>
              </a:bodyPr>
              <a:lstStyle/>
              <a:p>
                <a:r>
                  <a:rPr lang="en-US" altLang="zh-CN" i="1" dirty="0">
                    <a:latin typeface="Times New Roman" panose="02020603050405020304" pitchFamily="18" charset="0"/>
                  </a:rPr>
                  <a:t>V</a:t>
                </a:r>
              </a:p>
            </p:txBody>
          </p:sp>
          <p:sp>
            <p:nvSpPr>
              <p:cNvPr id="26" name="Text Box 23">
                <a:extLst>
                  <a:ext uri="{FF2B5EF4-FFF2-40B4-BE49-F238E27FC236}">
                    <a16:creationId xmlns:a16="http://schemas.microsoft.com/office/drawing/2014/main" id="{13639658-0311-4909-813E-088B106DD134}"/>
                  </a:ext>
                </a:extLst>
              </p:cNvPr>
              <p:cNvSpPr txBox="1"/>
              <p:nvPr/>
            </p:nvSpPr>
            <p:spPr>
              <a:xfrm>
                <a:off x="60" y="2477"/>
                <a:ext cx="475" cy="368"/>
              </a:xfrm>
              <a:prstGeom prst="rect">
                <a:avLst/>
              </a:prstGeom>
              <a:noFill/>
              <a:ln w="9525">
                <a:noFill/>
              </a:ln>
            </p:spPr>
            <p:txBody>
              <a:bodyPr wrap="none">
                <a:spAutoFit/>
              </a:bodyPr>
              <a:lstStyle/>
              <a:p>
                <a:r>
                  <a:rPr lang="en-US" altLang="zh-CN" sz="3200" dirty="0">
                    <a:latin typeface="Times New Roman" panose="02020603050405020304" pitchFamily="18" charset="0"/>
                  </a:rPr>
                  <a:t>2p</a:t>
                </a:r>
                <a:r>
                  <a:rPr lang="en-US" altLang="zh-CN" sz="3200" baseline="-25000" dirty="0">
                    <a:latin typeface="Times New Roman" panose="02020603050405020304" pitchFamily="18" charset="0"/>
                  </a:rPr>
                  <a:t>1</a:t>
                </a:r>
                <a:endParaRPr lang="en-US" altLang="zh-CN" sz="3200" dirty="0">
                  <a:latin typeface="Times New Roman" panose="02020603050405020304" pitchFamily="18" charset="0"/>
                </a:endParaRPr>
              </a:p>
            </p:txBody>
          </p:sp>
          <p:sp>
            <p:nvSpPr>
              <p:cNvPr id="27" name="Text Box 24">
                <a:extLst>
                  <a:ext uri="{FF2B5EF4-FFF2-40B4-BE49-F238E27FC236}">
                    <a16:creationId xmlns:a16="http://schemas.microsoft.com/office/drawing/2014/main" id="{D277D8FC-FB49-4440-9B41-2974C192C2D5}"/>
                  </a:ext>
                </a:extLst>
              </p:cNvPr>
              <p:cNvSpPr txBox="1"/>
              <p:nvPr/>
            </p:nvSpPr>
            <p:spPr>
              <a:xfrm>
                <a:off x="149" y="2987"/>
                <a:ext cx="331" cy="368"/>
              </a:xfrm>
              <a:prstGeom prst="rect">
                <a:avLst/>
              </a:prstGeom>
              <a:noFill/>
              <a:ln w="9525">
                <a:noFill/>
              </a:ln>
            </p:spPr>
            <p:txBody>
              <a:bodyPr wrap="none">
                <a:spAutoFit/>
              </a:bodyPr>
              <a:lstStyle/>
              <a:p>
                <a:r>
                  <a:rPr lang="en-US" altLang="zh-CN" sz="3200" dirty="0">
                    <a:latin typeface="Times New Roman" panose="02020603050405020304" pitchFamily="18" charset="0"/>
                  </a:rPr>
                  <a:t>p</a:t>
                </a:r>
                <a:r>
                  <a:rPr lang="en-US" altLang="zh-CN" sz="3200" baseline="-25000" dirty="0">
                    <a:latin typeface="Times New Roman" panose="02020603050405020304" pitchFamily="18" charset="0"/>
                  </a:rPr>
                  <a:t>1</a:t>
                </a:r>
                <a:endParaRPr lang="en-US" altLang="zh-CN" sz="3200" dirty="0">
                  <a:latin typeface="Times New Roman" panose="02020603050405020304" pitchFamily="18" charset="0"/>
                </a:endParaRPr>
              </a:p>
            </p:txBody>
          </p:sp>
          <p:sp>
            <p:nvSpPr>
              <p:cNvPr id="28" name="Text Box 25">
                <a:extLst>
                  <a:ext uri="{FF2B5EF4-FFF2-40B4-BE49-F238E27FC236}">
                    <a16:creationId xmlns:a16="http://schemas.microsoft.com/office/drawing/2014/main" id="{41E2B20C-FBBF-4405-A6F4-1788B7F34DA2}"/>
                  </a:ext>
                </a:extLst>
              </p:cNvPr>
              <p:cNvSpPr txBox="1"/>
              <p:nvPr/>
            </p:nvSpPr>
            <p:spPr>
              <a:xfrm>
                <a:off x="896" y="3769"/>
                <a:ext cx="389" cy="368"/>
              </a:xfrm>
              <a:prstGeom prst="rect">
                <a:avLst/>
              </a:prstGeom>
              <a:noFill/>
              <a:ln w="9525">
                <a:noFill/>
              </a:ln>
            </p:spPr>
            <p:txBody>
              <a:bodyPr wrap="none">
                <a:spAutoFit/>
              </a:bodyPr>
              <a:lstStyle/>
              <a:p>
                <a:r>
                  <a:rPr lang="en-US" altLang="zh-CN" sz="3200" dirty="0">
                    <a:latin typeface="Times New Roman" panose="02020603050405020304" pitchFamily="18" charset="0"/>
                  </a:rPr>
                  <a:t>V</a:t>
                </a:r>
                <a:r>
                  <a:rPr lang="en-US" altLang="zh-CN" sz="3200" baseline="-25000" dirty="0">
                    <a:latin typeface="Times New Roman" panose="02020603050405020304" pitchFamily="18" charset="0"/>
                  </a:rPr>
                  <a:t>1</a:t>
                </a:r>
                <a:endParaRPr lang="en-US" altLang="zh-CN" sz="3200" dirty="0">
                  <a:latin typeface="Times New Roman" panose="02020603050405020304" pitchFamily="18" charset="0"/>
                </a:endParaRPr>
              </a:p>
            </p:txBody>
          </p:sp>
          <p:sp>
            <p:nvSpPr>
              <p:cNvPr id="29" name="Text Box 26">
                <a:extLst>
                  <a:ext uri="{FF2B5EF4-FFF2-40B4-BE49-F238E27FC236}">
                    <a16:creationId xmlns:a16="http://schemas.microsoft.com/office/drawing/2014/main" id="{BEFB029D-8DFE-48FB-B8A4-28F5A7BF7C78}"/>
                  </a:ext>
                </a:extLst>
              </p:cNvPr>
              <p:cNvSpPr txBox="1"/>
              <p:nvPr/>
            </p:nvSpPr>
            <p:spPr>
              <a:xfrm>
                <a:off x="1608" y="3779"/>
                <a:ext cx="518" cy="368"/>
              </a:xfrm>
              <a:prstGeom prst="rect">
                <a:avLst/>
              </a:prstGeom>
              <a:noFill/>
              <a:ln w="9525">
                <a:noFill/>
              </a:ln>
            </p:spPr>
            <p:txBody>
              <a:bodyPr wrap="none">
                <a:spAutoFit/>
              </a:bodyPr>
              <a:lstStyle/>
              <a:p>
                <a:r>
                  <a:rPr lang="en-US" altLang="zh-CN" sz="3200" dirty="0">
                    <a:latin typeface="Times New Roman" panose="02020603050405020304" pitchFamily="18" charset="0"/>
                  </a:rPr>
                  <a:t>2V</a:t>
                </a:r>
                <a:r>
                  <a:rPr lang="en-US" altLang="zh-CN" sz="3200" baseline="-25000" dirty="0">
                    <a:latin typeface="Times New Roman" panose="02020603050405020304" pitchFamily="18" charset="0"/>
                  </a:rPr>
                  <a:t>1</a:t>
                </a:r>
                <a:endParaRPr lang="en-US" altLang="zh-CN" sz="3200" dirty="0">
                  <a:latin typeface="Times New Roman" panose="02020603050405020304" pitchFamily="18" charset="0"/>
                </a:endParaRPr>
              </a:p>
            </p:txBody>
          </p:sp>
          <p:sp>
            <p:nvSpPr>
              <p:cNvPr id="30" name="Text Box 27">
                <a:extLst>
                  <a:ext uri="{FF2B5EF4-FFF2-40B4-BE49-F238E27FC236}">
                    <a16:creationId xmlns:a16="http://schemas.microsoft.com/office/drawing/2014/main" id="{BD308413-3E20-4F78-94D1-09AFEDA7B0A0}"/>
                  </a:ext>
                </a:extLst>
              </p:cNvPr>
              <p:cNvSpPr txBox="1"/>
              <p:nvPr/>
            </p:nvSpPr>
            <p:spPr>
              <a:xfrm>
                <a:off x="1005" y="2309"/>
                <a:ext cx="260" cy="233"/>
              </a:xfrm>
              <a:prstGeom prst="rect">
                <a:avLst/>
              </a:prstGeom>
              <a:noFill/>
              <a:ln w="9525">
                <a:noFill/>
              </a:ln>
            </p:spPr>
            <p:txBody>
              <a:bodyPr>
                <a:spAutoFit/>
              </a:bodyPr>
              <a:lstStyle/>
              <a:p>
                <a:r>
                  <a:rPr lang="en-US" altLang="zh-CN" i="1" dirty="0">
                    <a:latin typeface="Times New Roman" panose="02020603050405020304" pitchFamily="18" charset="0"/>
                  </a:rPr>
                  <a:t>A</a:t>
                </a:r>
              </a:p>
            </p:txBody>
          </p:sp>
          <p:sp>
            <p:nvSpPr>
              <p:cNvPr id="31" name="Text Box 28">
                <a:extLst>
                  <a:ext uri="{FF2B5EF4-FFF2-40B4-BE49-F238E27FC236}">
                    <a16:creationId xmlns:a16="http://schemas.microsoft.com/office/drawing/2014/main" id="{A856FE05-4EE0-46D9-8F2E-37DDF317EF46}"/>
                  </a:ext>
                </a:extLst>
              </p:cNvPr>
              <p:cNvSpPr txBox="1"/>
              <p:nvPr/>
            </p:nvSpPr>
            <p:spPr>
              <a:xfrm>
                <a:off x="1814" y="2956"/>
                <a:ext cx="260" cy="233"/>
              </a:xfrm>
              <a:prstGeom prst="rect">
                <a:avLst/>
              </a:prstGeom>
              <a:noFill/>
              <a:ln w="9525">
                <a:noFill/>
              </a:ln>
            </p:spPr>
            <p:txBody>
              <a:bodyPr>
                <a:spAutoFit/>
              </a:bodyPr>
              <a:lstStyle/>
              <a:p>
                <a:r>
                  <a:rPr lang="en-US" altLang="zh-CN" i="1" dirty="0">
                    <a:latin typeface="Times New Roman" panose="02020603050405020304" pitchFamily="18" charset="0"/>
                  </a:rPr>
                  <a:t>B</a:t>
                </a:r>
              </a:p>
            </p:txBody>
          </p:sp>
        </p:grpSp>
        <p:sp>
          <p:nvSpPr>
            <p:cNvPr id="22" name="Line 30">
              <a:extLst>
                <a:ext uri="{FF2B5EF4-FFF2-40B4-BE49-F238E27FC236}">
                  <a16:creationId xmlns:a16="http://schemas.microsoft.com/office/drawing/2014/main" id="{16C9ABF1-877F-4DCC-97EA-5DF02AEA2F2F}"/>
                </a:ext>
              </a:extLst>
            </p:cNvPr>
            <p:cNvSpPr/>
            <p:nvPr/>
          </p:nvSpPr>
          <p:spPr>
            <a:xfrm>
              <a:off x="1283" y="2810"/>
              <a:ext cx="270" cy="218"/>
            </a:xfrm>
            <a:prstGeom prst="line">
              <a:avLst/>
            </a:prstGeom>
            <a:ln w="9525" cap="flat" cmpd="sng">
              <a:solidFill>
                <a:schemeClr val="tx1"/>
              </a:solidFill>
              <a:prstDash val="solid"/>
              <a:headEnd type="none" w="med" len="med"/>
              <a:tailEnd type="triangle" w="lg" len="lg"/>
            </a:ln>
          </p:spPr>
        </p:sp>
      </p:grpSp>
      <p:grpSp>
        <p:nvGrpSpPr>
          <p:cNvPr id="18" name="组合 17">
            <a:extLst>
              <a:ext uri="{FF2B5EF4-FFF2-40B4-BE49-F238E27FC236}">
                <a16:creationId xmlns:a16="http://schemas.microsoft.com/office/drawing/2014/main" id="{9F791A37-3FA5-47D4-997D-3769752786A1}"/>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EDA5D35D-DFEA-4B74-8DBA-FCAE366B4BE1}"/>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265F6BDA-58AF-4204-AF7E-56568B2F2729}"/>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FD656193-37F5-425E-B1BA-18D35F36903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17F9ED95-9217-43BC-83B1-1B66AB11BA2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06D0ACCD-4784-4ACF-8A6C-3CAA135EDC3D}"/>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82769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a:hlinkClick r:id="" action="ppaction://noaction"/>
            <a:extLst>
              <a:ext uri="{FF2B5EF4-FFF2-40B4-BE49-F238E27FC236}">
                <a16:creationId xmlns:a16="http://schemas.microsoft.com/office/drawing/2014/main" id="{7297DDCB-B85D-4772-AFE7-46EC4D81368E}"/>
              </a:ext>
            </a:extLst>
          </p:cNvPr>
          <p:cNvSpPr txBox="1">
            <a:spLocks noChangeArrowheads="1"/>
          </p:cNvSpPr>
          <p:nvPr/>
        </p:nvSpPr>
        <p:spPr bwMode="auto">
          <a:xfrm>
            <a:off x="617888" y="288470"/>
            <a:ext cx="48695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热力学第一定律应用</a:t>
            </a:r>
          </a:p>
        </p:txBody>
      </p:sp>
      <p:sp>
        <p:nvSpPr>
          <p:cNvPr id="4" name="矩形 3">
            <a:extLst>
              <a:ext uri="{FF2B5EF4-FFF2-40B4-BE49-F238E27FC236}">
                <a16:creationId xmlns:a16="http://schemas.microsoft.com/office/drawing/2014/main" id="{50D4E577-05DD-449A-809E-0D1CEC627FEF}"/>
              </a:ext>
            </a:extLst>
          </p:cNvPr>
          <p:cNvSpPr/>
          <p:nvPr/>
        </p:nvSpPr>
        <p:spPr>
          <a:xfrm>
            <a:off x="1707700" y="963359"/>
            <a:ext cx="7725192" cy="523220"/>
          </a:xfrm>
          <a:prstGeom prst="rect">
            <a:avLst/>
          </a:prstGeom>
        </p:spPr>
        <p:txBody>
          <a:bodyPr wrap="none">
            <a:spAutoFit/>
          </a:bodyPr>
          <a:lstStyle/>
          <a:p>
            <a:r>
              <a:rPr lang="zh-CN" altLang="en-US" sz="2800" dirty="0"/>
              <a:t>计算各等值过程的热量、功和内能的理论基础。</a:t>
            </a:r>
            <a:endParaRPr lang="en-US" sz="2800" dirty="0"/>
          </a:p>
        </p:txBody>
      </p:sp>
      <p:grpSp>
        <p:nvGrpSpPr>
          <p:cNvPr id="7" name="Group 3">
            <a:extLst>
              <a:ext uri="{FF2B5EF4-FFF2-40B4-BE49-F238E27FC236}">
                <a16:creationId xmlns:a16="http://schemas.microsoft.com/office/drawing/2014/main" id="{7DD1983C-0DB5-4455-ACB8-A9BAF9292023}"/>
              </a:ext>
            </a:extLst>
          </p:cNvPr>
          <p:cNvGrpSpPr/>
          <p:nvPr/>
        </p:nvGrpSpPr>
        <p:grpSpPr>
          <a:xfrm>
            <a:off x="1398167" y="2861824"/>
            <a:ext cx="5545138" cy="663575"/>
            <a:chOff x="539" y="1425"/>
            <a:chExt cx="3493" cy="418"/>
          </a:xfrm>
        </p:grpSpPr>
        <mc:AlternateContent xmlns:mc="http://schemas.openxmlformats.org/markup-compatibility/2006" xmlns:a14="http://schemas.microsoft.com/office/drawing/2010/main">
          <mc:Choice Requires="a14">
            <p:sp>
              <p:nvSpPr>
                <p:cNvPr id="8" name="Object 4">
                  <a:extLst>
                    <a:ext uri="{FF2B5EF4-FFF2-40B4-BE49-F238E27FC236}">
                      <a16:creationId xmlns:a16="http://schemas.microsoft.com/office/drawing/2014/main" id="{3894D405-45EF-4B78-80D0-DB0B0A8C3F0A}"/>
                    </a:ext>
                  </a:extLst>
                </p:cNvPr>
                <p:cNvSpPr txBox="1"/>
                <p:nvPr/>
              </p:nvSpPr>
              <p:spPr>
                <a:xfrm>
                  <a:off x="2657" y="1425"/>
                  <a:ext cx="1375" cy="41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𝑝𝑉</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𝜈</m:t>
                        </m:r>
                        <m:r>
                          <a:rPr lang="en-US" sz="2800" b="0" i="1">
                            <a:solidFill>
                              <a:srgbClr val="000000"/>
                            </a:solidFill>
                            <a:latin typeface="Cambria Math" panose="02040503050406030204" pitchFamily="18" charset="0"/>
                          </a:rPr>
                          <m:t>𝑅𝑇</m:t>
                        </m:r>
                      </m:oMath>
                    </m:oMathPara>
                  </a14:m>
                  <a:endParaRPr lang="en-US" sz="2800" dirty="0"/>
                </a:p>
              </p:txBody>
            </p:sp>
          </mc:Choice>
          <mc:Fallback xmlns="">
            <p:sp>
              <p:nvSpPr>
                <p:cNvPr id="8" name="Object 4">
                  <a:extLst>
                    <a:ext uri="{FF2B5EF4-FFF2-40B4-BE49-F238E27FC236}">
                      <a16:creationId xmlns:a16="http://schemas.microsoft.com/office/drawing/2014/main" id="{3894D405-45EF-4B78-80D0-DB0B0A8C3F0A}"/>
                    </a:ext>
                  </a:extLst>
                </p:cNvPr>
                <p:cNvSpPr txBox="1">
                  <a:spLocks noRot="1" noChangeAspect="1" noMove="1" noResize="1" noEditPoints="1" noAdjustHandles="1" noChangeArrowheads="1" noChangeShapeType="1" noTextEdit="1"/>
                </p:cNvSpPr>
                <p:nvPr/>
              </p:nvSpPr>
              <p:spPr>
                <a:xfrm>
                  <a:off x="2657" y="1425"/>
                  <a:ext cx="1375" cy="418"/>
                </a:xfrm>
                <a:prstGeom prst="rect">
                  <a:avLst/>
                </a:prstGeom>
                <a:blipFill>
                  <a:blip r:embed="rId2"/>
                  <a:stretch>
                    <a:fillRect/>
                  </a:stretch>
                </a:blipFill>
                <a:ln w="38100">
                  <a:noFill/>
                  <a:miter/>
                </a:ln>
              </p:spPr>
              <p:txBody>
                <a:bodyPr/>
                <a:lstStyle/>
                <a:p>
                  <a:r>
                    <a:rPr lang="zh-CN" altLang="en-US">
                      <a:noFill/>
                    </a:rPr>
                    <a:t> </a:t>
                  </a:r>
                </a:p>
              </p:txBody>
            </p:sp>
          </mc:Fallback>
        </mc:AlternateContent>
        <p:sp>
          <p:nvSpPr>
            <p:cNvPr id="10" name="Text Box 6">
              <a:extLst>
                <a:ext uri="{FF2B5EF4-FFF2-40B4-BE49-F238E27FC236}">
                  <a16:creationId xmlns:a16="http://schemas.microsoft.com/office/drawing/2014/main" id="{127398F4-EDD7-4727-9FF0-382D5EBAE020}"/>
                </a:ext>
              </a:extLst>
            </p:cNvPr>
            <p:cNvSpPr txBox="1"/>
            <p:nvPr/>
          </p:nvSpPr>
          <p:spPr>
            <a:xfrm>
              <a:off x="539" y="1445"/>
              <a:ext cx="2592" cy="330"/>
            </a:xfrm>
            <a:prstGeom prst="rect">
              <a:avLst/>
            </a:prstGeom>
            <a:noFill/>
            <a:ln w="9525">
              <a:noFill/>
            </a:ln>
          </p:spPr>
          <p:txBody>
            <a:bodyPr>
              <a:spAutoFit/>
            </a:bodyPr>
            <a:lstStyle/>
            <a:p>
              <a:pPr eaLnBrk="1" hangingPunct="1">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理想气体状态方程</a:t>
              </a:r>
            </a:p>
          </p:txBody>
        </p:sp>
      </p:grpSp>
      <mc:AlternateContent xmlns:mc="http://schemas.openxmlformats.org/markup-compatibility/2006" xmlns:a14="http://schemas.microsoft.com/office/drawing/2010/main">
        <mc:Choice Requires="a14">
          <p:sp>
            <p:nvSpPr>
              <p:cNvPr id="11" name="Object 8">
                <a:extLst>
                  <a:ext uri="{FF2B5EF4-FFF2-40B4-BE49-F238E27FC236}">
                    <a16:creationId xmlns:a16="http://schemas.microsoft.com/office/drawing/2014/main" id="{40725922-C131-4494-B2CB-7B27946A2C7E}"/>
                  </a:ext>
                </a:extLst>
              </p:cNvPr>
              <p:cNvSpPr txBox="1"/>
              <p:nvPr/>
            </p:nvSpPr>
            <p:spPr>
              <a:xfrm>
                <a:off x="5295900" y="1619540"/>
                <a:ext cx="3505200" cy="9509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𝑄</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𝛥</m:t>
                      </m:r>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𝑉</m:t>
                              </m:r>
                            </m:e>
                            <m:sub>
                              <m:r>
                                <a:rPr lang="en-US" sz="2800" b="0" i="1">
                                  <a:solidFill>
                                    <a:srgbClr val="000000"/>
                                  </a:solidFill>
                                  <a:latin typeface="Cambria Math" panose="02040503050406030204" pitchFamily="18" charset="0"/>
                                </a:rPr>
                                <m:t>1</m:t>
                              </m:r>
                            </m:sub>
                          </m:sSub>
                        </m:sub>
                        <m:sup>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𝑉</m:t>
                              </m:r>
                            </m:e>
                            <m:sub>
                              <m:r>
                                <a:rPr lang="en-US" sz="2800" b="0" i="1">
                                  <a:solidFill>
                                    <a:srgbClr val="000000"/>
                                  </a:solidFill>
                                  <a:latin typeface="Cambria Math" panose="02040503050406030204" pitchFamily="18" charset="0"/>
                                </a:rPr>
                                <m:t>2</m:t>
                              </m:r>
                            </m:sub>
                          </m:sSub>
                        </m:sup>
                        <m:e>
                          <m:r>
                            <a:rPr lang="en-US" sz="2800" b="0" i="1">
                              <a:solidFill>
                                <a:srgbClr val="000000"/>
                              </a:solidFill>
                              <a:latin typeface="Cambria Math" panose="02040503050406030204" pitchFamily="18" charset="0"/>
                            </a:rPr>
                            <m:t>𝑝</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𝑉</m:t>
                          </m:r>
                        </m:e>
                      </m:nary>
                    </m:oMath>
                  </m:oMathPara>
                </a14:m>
                <a:endParaRPr lang="en-US" sz="2800" dirty="0"/>
              </a:p>
            </p:txBody>
          </p:sp>
        </mc:Choice>
        <mc:Fallback xmlns="">
          <p:sp>
            <p:nvSpPr>
              <p:cNvPr id="11" name="Object 8">
                <a:extLst>
                  <a:ext uri="{FF2B5EF4-FFF2-40B4-BE49-F238E27FC236}">
                    <a16:creationId xmlns:a16="http://schemas.microsoft.com/office/drawing/2014/main" id="{40725922-C131-4494-B2CB-7B27946A2C7E}"/>
                  </a:ext>
                </a:extLst>
              </p:cNvPr>
              <p:cNvSpPr txBox="1">
                <a:spLocks noRot="1" noChangeAspect="1" noMove="1" noResize="1" noEditPoints="1" noAdjustHandles="1" noChangeArrowheads="1" noChangeShapeType="1" noTextEdit="1"/>
              </p:cNvSpPr>
              <p:nvPr/>
            </p:nvSpPr>
            <p:spPr>
              <a:xfrm>
                <a:off x="5295900" y="1619540"/>
                <a:ext cx="3505200" cy="950913"/>
              </a:xfrm>
              <a:prstGeom prst="rect">
                <a:avLst/>
              </a:prstGeom>
              <a:blipFill>
                <a:blip r:embed="rId3"/>
                <a:stretch>
                  <a:fillRect b="-1153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10">
                <a:extLst>
                  <a:ext uri="{FF2B5EF4-FFF2-40B4-BE49-F238E27FC236}">
                    <a16:creationId xmlns:a16="http://schemas.microsoft.com/office/drawing/2014/main" id="{5D09E8B4-95DC-47B0-BBCA-ED181BB5A1EE}"/>
                  </a:ext>
                </a:extLst>
              </p:cNvPr>
              <p:cNvSpPr txBox="1"/>
              <p:nvPr/>
            </p:nvSpPr>
            <p:spPr>
              <a:xfrm>
                <a:off x="2309534" y="1857842"/>
                <a:ext cx="2971800" cy="557213"/>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𝑄</m:t>
                      </m:r>
                      <m:r>
                        <a:rPr lang="en-US" sz="2800" b="0" i="1">
                          <a:solidFill>
                            <a:srgbClr val="000000"/>
                          </a:solidFill>
                          <a:latin typeface="Cambria Math" panose="02040503050406030204" pitchFamily="18" charset="0"/>
                        </a:rPr>
                        <m:t>=</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𝑝</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𝑉</m:t>
                      </m:r>
                    </m:oMath>
                  </m:oMathPara>
                </a14:m>
                <a:endParaRPr lang="en-US" sz="2800" dirty="0"/>
              </a:p>
            </p:txBody>
          </p:sp>
        </mc:Choice>
        <mc:Fallback xmlns="">
          <p:sp>
            <p:nvSpPr>
              <p:cNvPr id="12" name="Object 10">
                <a:extLst>
                  <a:ext uri="{FF2B5EF4-FFF2-40B4-BE49-F238E27FC236}">
                    <a16:creationId xmlns:a16="http://schemas.microsoft.com/office/drawing/2014/main" id="{5D09E8B4-95DC-47B0-BBCA-ED181BB5A1EE}"/>
                  </a:ext>
                </a:extLst>
              </p:cNvPr>
              <p:cNvSpPr txBox="1">
                <a:spLocks noRot="1" noChangeAspect="1" noMove="1" noResize="1" noEditPoints="1" noAdjustHandles="1" noChangeArrowheads="1" noChangeShapeType="1" noTextEdit="1"/>
              </p:cNvSpPr>
              <p:nvPr/>
            </p:nvSpPr>
            <p:spPr>
              <a:xfrm>
                <a:off x="2309534" y="1857842"/>
                <a:ext cx="2971800" cy="557213"/>
              </a:xfrm>
              <a:prstGeom prst="rect">
                <a:avLst/>
              </a:prstGeom>
              <a:blipFill>
                <a:blip r:embed="rId4"/>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3">
                <a:extLst>
                  <a:ext uri="{FF2B5EF4-FFF2-40B4-BE49-F238E27FC236}">
                    <a16:creationId xmlns:a16="http://schemas.microsoft.com/office/drawing/2014/main" id="{A6F50841-9BFB-493E-AA1F-EFD83064A64D}"/>
                  </a:ext>
                </a:extLst>
              </p:cNvPr>
              <p:cNvSpPr txBox="1"/>
              <p:nvPr/>
            </p:nvSpPr>
            <p:spPr>
              <a:xfrm>
                <a:off x="5143500" y="3871425"/>
                <a:ext cx="1905000" cy="61912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𝑇</m:t>
                      </m:r>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14" name="Object 3">
                <a:extLst>
                  <a:ext uri="{FF2B5EF4-FFF2-40B4-BE49-F238E27FC236}">
                    <a16:creationId xmlns:a16="http://schemas.microsoft.com/office/drawing/2014/main" id="{A6F50841-9BFB-493E-AA1F-EFD83064A64D}"/>
                  </a:ext>
                </a:extLst>
              </p:cNvPr>
              <p:cNvSpPr txBox="1">
                <a:spLocks noRot="1" noChangeAspect="1" noMove="1" noResize="1" noEditPoints="1" noAdjustHandles="1" noChangeArrowheads="1" noChangeShapeType="1" noTextEdit="1"/>
              </p:cNvSpPr>
              <p:nvPr/>
            </p:nvSpPr>
            <p:spPr>
              <a:xfrm>
                <a:off x="5143500" y="3871425"/>
                <a:ext cx="1905000" cy="619125"/>
              </a:xfrm>
              <a:prstGeom prst="rect">
                <a:avLst/>
              </a:prstGeom>
              <a:blipFill>
                <a:blip r:embed="rId5"/>
                <a:stretch>
                  <a:fillRect/>
                </a:stretch>
              </a:blipFill>
              <a:ln w="38100">
                <a:noFill/>
                <a:miter/>
              </a:ln>
            </p:spPr>
            <p:txBody>
              <a:bodyPr/>
              <a:lstStyle/>
              <a:p>
                <a:r>
                  <a:rPr lang="en-US">
                    <a:noFill/>
                  </a:rPr>
                  <a:t> </a:t>
                </a:r>
              </a:p>
            </p:txBody>
          </p:sp>
        </mc:Fallback>
      </mc:AlternateContent>
      <p:sp>
        <p:nvSpPr>
          <p:cNvPr id="15" name="Text Box 5">
            <a:extLst>
              <a:ext uri="{FF2B5EF4-FFF2-40B4-BE49-F238E27FC236}">
                <a16:creationId xmlns:a16="http://schemas.microsoft.com/office/drawing/2014/main" id="{6B42A7A8-5D8E-4B25-8A33-2805FBD6652C}"/>
              </a:ext>
            </a:extLst>
          </p:cNvPr>
          <p:cNvSpPr txBox="1"/>
          <p:nvPr/>
        </p:nvSpPr>
        <p:spPr>
          <a:xfrm>
            <a:off x="1398347" y="3895962"/>
            <a:ext cx="2908168" cy="523220"/>
          </a:xfrm>
          <a:prstGeom prst="rect">
            <a:avLst/>
          </a:prstGeom>
          <a:noFill/>
          <a:ln w="9525">
            <a:noFill/>
          </a:ln>
        </p:spPr>
        <p:txBody>
          <a:bodyPr wrap="none">
            <a:spAutoFit/>
          </a:bodyPr>
          <a:lstStyle/>
          <a:p>
            <a:pPr eaLnBrk="1" hangingPunct="1">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理想气体的内能</a:t>
            </a:r>
          </a:p>
        </p:txBody>
      </p:sp>
      <p:sp>
        <p:nvSpPr>
          <p:cNvPr id="17" name="Text Box 7">
            <a:extLst>
              <a:ext uri="{FF2B5EF4-FFF2-40B4-BE49-F238E27FC236}">
                <a16:creationId xmlns:a16="http://schemas.microsoft.com/office/drawing/2014/main" id="{A8A4463D-6B18-4C43-98C7-E8F13FC27692}"/>
              </a:ext>
            </a:extLst>
          </p:cNvPr>
          <p:cNvSpPr txBox="1"/>
          <p:nvPr/>
        </p:nvSpPr>
        <p:spPr>
          <a:xfrm>
            <a:off x="2384392" y="5238460"/>
            <a:ext cx="6711950" cy="523220"/>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rPr>
              <a:t>等体过程   </a:t>
            </a:r>
            <a:r>
              <a:rPr lang="zh-CN" altLang="en-US" sz="2800" dirty="0">
                <a:latin typeface="Bookman Old Style" panose="02050604050505020204" pitchFamily="18" charset="0"/>
              </a:rPr>
              <a:t>等压过程  </a:t>
            </a:r>
            <a:r>
              <a:rPr lang="zh-CN" altLang="en-US" sz="2800" dirty="0">
                <a:latin typeface="Times New Roman" panose="02020603050405020304" pitchFamily="18" charset="0"/>
              </a:rPr>
              <a:t>等温过程   绝热过程 </a:t>
            </a:r>
            <a:r>
              <a:rPr lang="en-US" altLang="zh-CN" sz="2800" dirty="0">
                <a:latin typeface="Times New Roman" panose="02020603050405020304" pitchFamily="18" charset="0"/>
              </a:rPr>
              <a:t> </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79C984C-CA89-4716-89AE-56DBD110A70A}"/>
                  </a:ext>
                </a:extLst>
              </p:cNvPr>
              <p:cNvSpPr txBox="1"/>
              <p:nvPr/>
            </p:nvSpPr>
            <p:spPr>
              <a:xfrm>
                <a:off x="6777261" y="3732553"/>
                <a:ext cx="2987370" cy="895373"/>
              </a:xfrm>
              <a:prstGeom prst="rect">
                <a:avLst/>
              </a:prstGeom>
              <a:noFill/>
            </p:spPr>
            <p:txBody>
              <a:bodyPr wrap="square">
                <a:spAutoFit/>
              </a:bodyPr>
              <a:lstStyle/>
              <a:p>
                <a:r>
                  <a:rPr lang="en-US" altLang="zh-CN" sz="3600" dirty="0"/>
                  <a:t>= </a:t>
                </a:r>
                <a:r>
                  <a:rPr lang="zh-CN" altLang="en-US" sz="3600" dirty="0"/>
                  <a:t> </a:t>
                </a:r>
                <a14:m>
                  <m:oMath xmlns:m="http://schemas.openxmlformats.org/officeDocument/2006/math">
                    <m:f>
                      <m:fPr>
                        <m:ctrlPr>
                          <a:rPr lang="zh-CN" altLang="en-US" sz="3600" i="1">
                            <a:latin typeface="Cambria Math" panose="02040503050406030204" pitchFamily="18" charset="0"/>
                          </a:rPr>
                        </m:ctrlPr>
                      </m:fPr>
                      <m:num>
                        <m:r>
                          <a:rPr lang="zh-CN" altLang="en-US" sz="3600" i="1">
                            <a:latin typeface="Cambria Math" panose="02040503050406030204" pitchFamily="18" charset="0"/>
                          </a:rPr>
                          <m:t>𝑖</m:t>
                        </m:r>
                      </m:num>
                      <m:den>
                        <m:r>
                          <a:rPr lang="zh-CN" altLang="en-US" sz="3600" i="1">
                            <a:latin typeface="Cambria Math" panose="02040503050406030204" pitchFamily="18" charset="0"/>
                          </a:rPr>
                          <m:t>2</m:t>
                        </m:r>
                      </m:den>
                    </m:f>
                    <m:r>
                      <m:rPr>
                        <m:sty m:val="p"/>
                      </m:rPr>
                      <a:rPr lang="el-GR" altLang="zh-CN" sz="3600" i="1">
                        <a:solidFill>
                          <a:srgbClr val="000000"/>
                        </a:solidFill>
                        <a:latin typeface="Cambria Math" panose="02040503050406030204" pitchFamily="18" charset="0"/>
                      </a:rPr>
                      <m:t>ν</m:t>
                    </m:r>
                    <m:r>
                      <m:rPr>
                        <m:sty m:val="p"/>
                      </m:rPr>
                      <a:rPr lang="en-US" altLang="zh-CN" sz="3600" i="1">
                        <a:solidFill>
                          <a:srgbClr val="000000"/>
                        </a:solidFill>
                        <a:latin typeface="Cambria Math" panose="02040503050406030204" pitchFamily="18" charset="0"/>
                      </a:rPr>
                      <m:t>R</m:t>
                    </m:r>
                    <m:r>
                      <a:rPr lang="zh-CN" altLang="en-US" sz="3600" i="1">
                        <a:latin typeface="Cambria Math" panose="02040503050406030204" pitchFamily="18" charset="0"/>
                      </a:rPr>
                      <m:t>𝑇</m:t>
                    </m:r>
                  </m:oMath>
                </a14:m>
                <a:endParaRPr lang="zh-CN" altLang="en-US" sz="3600" dirty="0"/>
              </a:p>
            </p:txBody>
          </p:sp>
        </mc:Choice>
        <mc:Fallback xmlns="">
          <p:sp>
            <p:nvSpPr>
              <p:cNvPr id="18" name="文本框 17">
                <a:extLst>
                  <a:ext uri="{FF2B5EF4-FFF2-40B4-BE49-F238E27FC236}">
                    <a16:creationId xmlns:a16="http://schemas.microsoft.com/office/drawing/2014/main" id="{D79C984C-CA89-4716-89AE-56DBD110A70A}"/>
                  </a:ext>
                </a:extLst>
              </p:cNvPr>
              <p:cNvSpPr txBox="1">
                <a:spLocks noRot="1" noChangeAspect="1" noMove="1" noResize="1" noEditPoints="1" noAdjustHandles="1" noChangeArrowheads="1" noChangeShapeType="1" noTextEdit="1"/>
              </p:cNvSpPr>
              <p:nvPr/>
            </p:nvSpPr>
            <p:spPr>
              <a:xfrm>
                <a:off x="6777261" y="3732553"/>
                <a:ext cx="2987370" cy="895373"/>
              </a:xfrm>
              <a:prstGeom prst="rect">
                <a:avLst/>
              </a:prstGeom>
              <a:blipFill>
                <a:blip r:embed="rId6"/>
                <a:stretch>
                  <a:fillRect l="-6327" b="-1088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0867" name="Object 3"/>
              <p:cNvSpPr txBox="1"/>
              <p:nvPr/>
            </p:nvSpPr>
            <p:spPr>
              <a:xfrm>
                <a:off x="6274520" y="3121128"/>
                <a:ext cx="3053080" cy="62039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𝑉</m:t>
                      </m:r>
                      <m:r>
                        <a:rPr lang="en-US" sz="2800" b="0" i="1">
                          <a:solidFill>
                            <a:srgbClr val="000000"/>
                          </a:solidFill>
                          <a:latin typeface="Cambria Math" panose="02040503050406030204" pitchFamily="18" charset="0"/>
                        </a:rPr>
                        <m:t>=0</m:t>
                      </m:r>
                      <m:m>
                        <m:mPr>
                          <m:plcHide m:val="on"/>
                          <m:mcs>
                            <m:mc>
                              <m:mcPr>
                                <m:count m:val="2"/>
                                <m:mcJc m:val="center"/>
                              </m:mcPr>
                            </m:mc>
                          </m:mcs>
                          <m:ctrlPr>
                            <a:rPr lang="en-US" sz="2800" i="1">
                              <a:solidFill>
                                <a:srgbClr val="000000"/>
                              </a:solidFill>
                              <a:latin typeface="Cambria Math" panose="02040503050406030204" pitchFamily="18" charset="0"/>
                            </a:rPr>
                          </m:ctrlPr>
                        </m:mPr>
                        <m:mr>
                          <m:e/>
                          <m:e/>
                        </m:mr>
                      </m:m>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𝐴</m:t>
                      </m:r>
                      <m:r>
                        <a:rPr lang="en-US" sz="2800" b="0" i="1">
                          <a:solidFill>
                            <a:srgbClr val="000000"/>
                          </a:solidFill>
                          <a:latin typeface="Cambria Math" panose="02040503050406030204" pitchFamily="18" charset="0"/>
                        </a:rPr>
                        <m:t>=0</m:t>
                      </m:r>
                    </m:oMath>
                  </m:oMathPara>
                </a14:m>
                <a:endParaRPr lang="en-US" sz="2800" dirty="0"/>
              </a:p>
            </p:txBody>
          </p:sp>
        </mc:Choice>
        <mc:Fallback xmlns="">
          <p:sp>
            <p:nvSpPr>
              <p:cNvPr id="420867" name="Object 3"/>
              <p:cNvSpPr txBox="1">
                <a:spLocks noRot="1" noChangeAspect="1" noMove="1" noResize="1" noEditPoints="1" noAdjustHandles="1" noChangeArrowheads="1" noChangeShapeType="1" noTextEdit="1"/>
              </p:cNvSpPr>
              <p:nvPr/>
            </p:nvSpPr>
            <p:spPr>
              <a:xfrm>
                <a:off x="6274520" y="3121128"/>
                <a:ext cx="3053080" cy="620395"/>
              </a:xfrm>
              <a:prstGeom prst="rect">
                <a:avLst/>
              </a:prstGeom>
              <a:blipFill>
                <a:blip r:embed="rId3"/>
                <a:stretch>
                  <a:fillRect/>
                </a:stretch>
              </a:blipFill>
              <a:ln w="38100">
                <a:noFill/>
                <a:miter/>
              </a:ln>
            </p:spPr>
            <p:txBody>
              <a:bodyPr/>
              <a:lstStyle/>
              <a:p>
                <a:r>
                  <a:rPr lang="en-US">
                    <a:noFill/>
                  </a:rPr>
                  <a:t> </a:t>
                </a:r>
              </a:p>
            </p:txBody>
          </p:sp>
        </mc:Fallback>
      </mc:AlternateContent>
      <p:grpSp>
        <p:nvGrpSpPr>
          <p:cNvPr id="2" name="Group 4"/>
          <p:cNvGrpSpPr/>
          <p:nvPr/>
        </p:nvGrpSpPr>
        <p:grpSpPr>
          <a:xfrm>
            <a:off x="6096000" y="3951292"/>
            <a:ext cx="4419600" cy="1393825"/>
            <a:chOff x="550" y="2360"/>
            <a:chExt cx="2784" cy="878"/>
          </a:xfrm>
        </p:grpSpPr>
        <p:sp>
          <p:nvSpPr>
            <p:cNvPr id="11292" name="Text Box 5"/>
            <p:cNvSpPr txBox="1"/>
            <p:nvPr/>
          </p:nvSpPr>
          <p:spPr>
            <a:xfrm>
              <a:off x="550" y="2360"/>
              <a:ext cx="2784" cy="330"/>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由热力学第一定律</a:t>
              </a:r>
            </a:p>
          </p:txBody>
        </p:sp>
        <mc:AlternateContent xmlns:mc="http://schemas.openxmlformats.org/markup-compatibility/2006" xmlns:a14="http://schemas.microsoft.com/office/drawing/2010/main">
          <mc:Choice Requires="a14">
            <p:sp>
              <p:nvSpPr>
                <p:cNvPr id="11277" name="Object 6"/>
                <p:cNvSpPr txBox="1"/>
                <p:nvPr/>
              </p:nvSpPr>
              <p:spPr>
                <a:xfrm>
                  <a:off x="1041" y="2848"/>
                  <a:ext cx="1200" cy="39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𝑄</m:t>
                            </m:r>
                          </m:e>
                          <m:sub>
                            <m:r>
                              <a:rPr lang="en-US" sz="2800" b="0" i="1">
                                <a:solidFill>
                                  <a:srgbClr val="000000"/>
                                </a:solidFill>
                                <a:latin typeface="Cambria Math" panose="02040503050406030204" pitchFamily="18" charset="0"/>
                              </a:rPr>
                              <m:t>𝑉</m:t>
                            </m:r>
                          </m:sub>
                        </m:sSub>
                        <m:r>
                          <a:rPr lang="en-US" sz="2800" b="0" i="1">
                            <a:solidFill>
                              <a:srgbClr val="000000"/>
                            </a:solidFill>
                            <a:latin typeface="Cambria Math" panose="02040503050406030204" pitchFamily="18" charset="0"/>
                          </a:rPr>
                          <m:t>=</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𝐸</m:t>
                        </m:r>
                      </m:oMath>
                    </m:oMathPara>
                  </a14:m>
                  <a:endParaRPr lang="en-US" sz="2800" dirty="0"/>
                </a:p>
              </p:txBody>
            </p:sp>
          </mc:Choice>
          <mc:Fallback xmlns="">
            <p:sp>
              <p:nvSpPr>
                <p:cNvPr id="11277" name="Object 6"/>
                <p:cNvSpPr txBox="1">
                  <a:spLocks noRot="1" noChangeAspect="1" noMove="1" noResize="1" noEditPoints="1" noAdjustHandles="1" noChangeArrowheads="1" noChangeShapeType="1" noTextEdit="1"/>
                </p:cNvSpPr>
                <p:nvPr/>
              </p:nvSpPr>
              <p:spPr>
                <a:xfrm>
                  <a:off x="1041" y="2848"/>
                  <a:ext cx="1200" cy="390"/>
                </a:xfrm>
                <a:prstGeom prst="rect">
                  <a:avLst/>
                </a:prstGeom>
                <a:blipFill>
                  <a:blip r:embed="rId4"/>
                  <a:stretch>
                    <a:fillRect/>
                  </a:stretch>
                </a:blipFill>
                <a:ln w="38100">
                  <a:noFill/>
                  <a:miter/>
                </a:ln>
              </p:spPr>
              <p:txBody>
                <a:bodyPr/>
                <a:lstStyle/>
                <a:p>
                  <a:r>
                    <a:rPr lang="en-US">
                      <a:noFill/>
                    </a:rPr>
                    <a:t> </a:t>
                  </a:r>
                </a:p>
              </p:txBody>
            </p:sp>
          </mc:Fallback>
        </mc:AlternateContent>
      </p:grpSp>
      <p:grpSp>
        <p:nvGrpSpPr>
          <p:cNvPr id="3" name="Group 7"/>
          <p:cNvGrpSpPr/>
          <p:nvPr/>
        </p:nvGrpSpPr>
        <p:grpSpPr>
          <a:xfrm>
            <a:off x="5652841" y="1312866"/>
            <a:ext cx="4019550" cy="523875"/>
            <a:chOff x="720" y="720"/>
            <a:chExt cx="2160" cy="330"/>
          </a:xfrm>
        </p:grpSpPr>
        <p:sp>
          <p:nvSpPr>
            <p:cNvPr id="11291" name="Text Box 8"/>
            <p:cNvSpPr txBox="1"/>
            <p:nvPr/>
          </p:nvSpPr>
          <p:spPr>
            <a:xfrm>
              <a:off x="720" y="720"/>
              <a:ext cx="2160" cy="330"/>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特性                常量</a:t>
              </a:r>
            </a:p>
          </p:txBody>
        </p:sp>
        <mc:AlternateContent xmlns:mc="http://schemas.openxmlformats.org/markup-compatibility/2006" xmlns:a14="http://schemas.microsoft.com/office/drawing/2010/main">
          <mc:Choice Requires="a14">
            <p:sp>
              <p:nvSpPr>
                <p:cNvPr id="11276" name="Object 9"/>
                <p:cNvSpPr txBox="1"/>
                <p:nvPr/>
              </p:nvSpPr>
              <p:spPr>
                <a:xfrm>
                  <a:off x="1461" y="743"/>
                  <a:ext cx="480" cy="30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𝑉</m:t>
                        </m:r>
                        <m:r>
                          <a:rPr lang="en-US" sz="2600" b="0" i="1">
                            <a:solidFill>
                              <a:srgbClr val="000000"/>
                            </a:solidFill>
                            <a:latin typeface="Cambria Math" panose="02040503050406030204" pitchFamily="18" charset="0"/>
                          </a:rPr>
                          <m:t>=</m:t>
                        </m:r>
                      </m:oMath>
                    </m:oMathPara>
                  </a14:m>
                  <a:endParaRPr lang="en-US" sz="2600" dirty="0"/>
                </a:p>
              </p:txBody>
            </p:sp>
          </mc:Choice>
          <mc:Fallback xmlns="">
            <p:sp>
              <p:nvSpPr>
                <p:cNvPr id="11276" name="Object 9"/>
                <p:cNvSpPr txBox="1">
                  <a:spLocks noRot="1" noChangeAspect="1" noMove="1" noResize="1" noEditPoints="1" noAdjustHandles="1" noChangeArrowheads="1" noChangeShapeType="1" noTextEdit="1"/>
                </p:cNvSpPr>
                <p:nvPr/>
              </p:nvSpPr>
              <p:spPr>
                <a:xfrm>
                  <a:off x="1461" y="743"/>
                  <a:ext cx="480" cy="307"/>
                </a:xfrm>
                <a:prstGeom prst="rect">
                  <a:avLst/>
                </a:prstGeom>
                <a:blipFill>
                  <a:blip r:embed="rId5"/>
                  <a:stretch>
                    <a:fillRect/>
                  </a:stretch>
                </a:blipFill>
                <a:ln w="38100">
                  <a:noFill/>
                  <a:miter/>
                </a:ln>
              </p:spPr>
              <p:txBody>
                <a:bodyPr/>
                <a:lstStyle/>
                <a:p>
                  <a:r>
                    <a:rPr lang="zh-CN" altLang="en-US">
                      <a:noFill/>
                    </a:rPr>
                    <a:t> </a:t>
                  </a:r>
                </a:p>
              </p:txBody>
            </p:sp>
          </mc:Fallback>
        </mc:AlternateContent>
      </p:grpSp>
      <p:sp>
        <p:nvSpPr>
          <p:cNvPr id="11281" name="Rectangle 10"/>
          <p:cNvSpPr/>
          <p:nvPr/>
        </p:nvSpPr>
        <p:spPr>
          <a:xfrm>
            <a:off x="1260153" y="1563691"/>
            <a:ext cx="3429000" cy="2819400"/>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1282" name="Line 11"/>
          <p:cNvSpPr/>
          <p:nvPr/>
        </p:nvSpPr>
        <p:spPr>
          <a:xfrm>
            <a:off x="1869753" y="3925891"/>
            <a:ext cx="2667000" cy="0"/>
          </a:xfrm>
          <a:prstGeom prst="line">
            <a:avLst/>
          </a:prstGeom>
          <a:ln w="19050" cap="flat" cmpd="sng">
            <a:solidFill>
              <a:schemeClr val="tx1"/>
            </a:solidFill>
            <a:prstDash val="solid"/>
            <a:headEnd type="none" w="med" len="med"/>
            <a:tailEnd type="triangle" w="sm" len="lg"/>
          </a:ln>
        </p:spPr>
      </p:sp>
      <p:sp>
        <p:nvSpPr>
          <p:cNvPr id="11283" name="Line 12"/>
          <p:cNvSpPr/>
          <p:nvPr/>
        </p:nvSpPr>
        <p:spPr>
          <a:xfrm flipV="1">
            <a:off x="1869753" y="1716091"/>
            <a:ext cx="0" cy="2209800"/>
          </a:xfrm>
          <a:prstGeom prst="line">
            <a:avLst/>
          </a:prstGeom>
          <a:ln w="19050" cap="flat" cmpd="sng">
            <a:solidFill>
              <a:schemeClr val="tx1"/>
            </a:solidFill>
            <a:prstDash val="solid"/>
            <a:headEnd type="none" w="med" len="med"/>
            <a:tailEnd type="triangle" w="sm" len="lg"/>
          </a:ln>
        </p:spPr>
      </p:sp>
      <p:graphicFrame>
        <p:nvGraphicFramePr>
          <p:cNvPr id="11267" name="Object 13"/>
          <p:cNvGraphicFramePr/>
          <p:nvPr>
            <p:extLst>
              <p:ext uri="{D42A27DB-BD31-4B8C-83A1-F6EECF244321}">
                <p14:modId xmlns:p14="http://schemas.microsoft.com/office/powerpoint/2010/main" val="1097381346"/>
              </p:ext>
            </p:extLst>
          </p:nvPr>
        </p:nvGraphicFramePr>
        <p:xfrm>
          <a:off x="2970960" y="3230566"/>
          <a:ext cx="1381643" cy="398462"/>
        </p:xfrm>
        <a:graphic>
          <a:graphicData uri="http://schemas.openxmlformats.org/presentationml/2006/ole">
            <mc:AlternateContent xmlns:mc="http://schemas.openxmlformats.org/markup-compatibility/2006">
              <mc:Choice xmlns:v="urn:schemas-microsoft-com:vml" Requires="v">
                <p:oleObj spid="_x0000_s1068" r:id="rId6" imgW="608965" imgH="215900" progId="Equation.3">
                  <p:embed/>
                </p:oleObj>
              </mc:Choice>
              <mc:Fallback>
                <p:oleObj r:id="rId6" imgW="608965" imgH="215900" progId="Equation.3">
                  <p:embed/>
                  <p:pic>
                    <p:nvPicPr>
                      <p:cNvPr id="11267" name="Object 13"/>
                      <p:cNvPicPr/>
                      <p:nvPr/>
                    </p:nvPicPr>
                    <p:blipFill>
                      <a:blip r:embed="rId7"/>
                      <a:stretch>
                        <a:fillRect/>
                      </a:stretch>
                    </p:blipFill>
                    <p:spPr>
                      <a:xfrm>
                        <a:off x="2970960" y="3230566"/>
                        <a:ext cx="1381643" cy="398462"/>
                      </a:xfrm>
                      <a:prstGeom prst="rect">
                        <a:avLst/>
                      </a:prstGeom>
                      <a:noFill/>
                      <a:ln w="38100">
                        <a:noFill/>
                        <a:miter/>
                      </a:ln>
                    </p:spPr>
                  </p:pic>
                </p:oleObj>
              </mc:Fallback>
            </mc:AlternateContent>
          </a:graphicData>
        </a:graphic>
      </p:graphicFrame>
      <p:graphicFrame>
        <p:nvGraphicFramePr>
          <p:cNvPr id="11268" name="Object 14"/>
          <p:cNvGraphicFramePr/>
          <p:nvPr>
            <p:extLst>
              <p:ext uri="{D42A27DB-BD31-4B8C-83A1-F6EECF244321}">
                <p14:modId xmlns:p14="http://schemas.microsoft.com/office/powerpoint/2010/main" val="2756743332"/>
              </p:ext>
            </p:extLst>
          </p:nvPr>
        </p:nvGraphicFramePr>
        <p:xfrm>
          <a:off x="2985842" y="2006603"/>
          <a:ext cx="1293737" cy="400050"/>
        </p:xfrm>
        <a:graphic>
          <a:graphicData uri="http://schemas.openxmlformats.org/presentationml/2006/ole">
            <mc:AlternateContent xmlns:mc="http://schemas.openxmlformats.org/markup-compatibility/2006">
              <mc:Choice xmlns:v="urn:schemas-microsoft-com:vml" Requires="v">
                <p:oleObj spid="_x0000_s1069" r:id="rId8" imgW="647065" imgH="215900" progId="Equation.3">
                  <p:embed/>
                </p:oleObj>
              </mc:Choice>
              <mc:Fallback>
                <p:oleObj r:id="rId8" imgW="647065" imgH="215900" progId="Equation.3">
                  <p:embed/>
                  <p:pic>
                    <p:nvPicPr>
                      <p:cNvPr id="11268" name="Object 14"/>
                      <p:cNvPicPr/>
                      <p:nvPr/>
                    </p:nvPicPr>
                    <p:blipFill>
                      <a:blip r:embed="rId9"/>
                      <a:stretch>
                        <a:fillRect/>
                      </a:stretch>
                    </p:blipFill>
                    <p:spPr>
                      <a:xfrm>
                        <a:off x="2985842" y="2006603"/>
                        <a:ext cx="1293737" cy="400050"/>
                      </a:xfrm>
                      <a:prstGeom prst="rect">
                        <a:avLst/>
                      </a:prstGeom>
                      <a:noFill/>
                      <a:ln w="38100">
                        <a:noFill/>
                        <a:miter/>
                      </a:ln>
                    </p:spPr>
                  </p:pic>
                </p:oleObj>
              </mc:Fallback>
            </mc:AlternateContent>
          </a:graphicData>
        </a:graphic>
      </p:graphicFrame>
      <p:sp>
        <p:nvSpPr>
          <p:cNvPr id="11284" name="Line 15"/>
          <p:cNvSpPr/>
          <p:nvPr/>
        </p:nvSpPr>
        <p:spPr>
          <a:xfrm>
            <a:off x="2936553" y="2325691"/>
            <a:ext cx="0" cy="1600200"/>
          </a:xfrm>
          <a:prstGeom prst="line">
            <a:avLst/>
          </a:prstGeom>
          <a:ln w="9525" cap="flat" cmpd="sng">
            <a:solidFill>
              <a:schemeClr val="tx1"/>
            </a:solidFill>
            <a:prstDash val="dash"/>
            <a:headEnd type="none" w="med" len="med"/>
            <a:tailEnd type="none" w="med" len="med"/>
          </a:ln>
        </p:spPr>
      </p:sp>
      <p:sp>
        <p:nvSpPr>
          <p:cNvPr id="11285" name="Line 16"/>
          <p:cNvSpPr/>
          <p:nvPr/>
        </p:nvSpPr>
        <p:spPr>
          <a:xfrm flipH="1">
            <a:off x="1869753" y="2249491"/>
            <a:ext cx="1066800" cy="0"/>
          </a:xfrm>
          <a:prstGeom prst="line">
            <a:avLst/>
          </a:prstGeom>
          <a:ln w="9525"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11269" name="Object 17"/>
              <p:cNvSpPr txBox="1"/>
              <p:nvPr/>
            </p:nvSpPr>
            <p:spPr>
              <a:xfrm>
                <a:off x="1375223" y="2020891"/>
                <a:ext cx="464370" cy="41751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2</m:t>
                          </m:r>
                        </m:sub>
                      </m:sSub>
                    </m:oMath>
                  </m:oMathPara>
                </a14:m>
                <a:endParaRPr lang="en-US" sz="2800"/>
              </a:p>
            </p:txBody>
          </p:sp>
        </mc:Choice>
        <mc:Fallback xmlns="">
          <p:sp>
            <p:nvSpPr>
              <p:cNvPr id="11269" name="Object 17"/>
              <p:cNvSpPr txBox="1">
                <a:spLocks noRot="1" noChangeAspect="1" noMove="1" noResize="1" noEditPoints="1" noAdjustHandles="1" noChangeArrowheads="1" noChangeShapeType="1" noTextEdit="1"/>
              </p:cNvSpPr>
              <p:nvPr/>
            </p:nvSpPr>
            <p:spPr>
              <a:xfrm>
                <a:off x="1375223" y="2020891"/>
                <a:ext cx="464370" cy="417512"/>
              </a:xfrm>
              <a:prstGeom prst="rect">
                <a:avLst/>
              </a:prstGeom>
              <a:blipFill>
                <a:blip r:embed="rId10"/>
                <a:stretch>
                  <a:fillRect b="-11765"/>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0" name="Object 18"/>
              <p:cNvSpPr txBox="1"/>
              <p:nvPr/>
            </p:nvSpPr>
            <p:spPr>
              <a:xfrm>
                <a:off x="1336354" y="3163892"/>
                <a:ext cx="506412" cy="42703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1</m:t>
                          </m:r>
                        </m:sub>
                      </m:sSub>
                    </m:oMath>
                  </m:oMathPara>
                </a14:m>
                <a:endParaRPr lang="en-US" sz="2800"/>
              </a:p>
            </p:txBody>
          </p:sp>
        </mc:Choice>
        <mc:Fallback xmlns="">
          <p:sp>
            <p:nvSpPr>
              <p:cNvPr id="11270" name="Object 18"/>
              <p:cNvSpPr txBox="1">
                <a:spLocks noRot="1" noChangeAspect="1" noMove="1" noResize="1" noEditPoints="1" noAdjustHandles="1" noChangeArrowheads="1" noChangeShapeType="1" noTextEdit="1"/>
              </p:cNvSpPr>
              <p:nvPr/>
            </p:nvSpPr>
            <p:spPr>
              <a:xfrm>
                <a:off x="1336354" y="3163892"/>
                <a:ext cx="506412" cy="427037"/>
              </a:xfrm>
              <a:prstGeom prst="rect">
                <a:avLst/>
              </a:prstGeom>
              <a:blipFill>
                <a:blip r:embed="rId11"/>
                <a:stretch>
                  <a:fillRect b="-8571"/>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1" name="Object 19"/>
              <p:cNvSpPr txBox="1"/>
              <p:nvPr/>
            </p:nvSpPr>
            <p:spPr>
              <a:xfrm>
                <a:off x="2784153" y="3925892"/>
                <a:ext cx="330200" cy="3841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𝑉</m:t>
                      </m:r>
                    </m:oMath>
                  </m:oMathPara>
                </a14:m>
                <a:endParaRPr lang="en-US" sz="2800"/>
              </a:p>
            </p:txBody>
          </p:sp>
        </mc:Choice>
        <mc:Fallback xmlns="">
          <p:sp>
            <p:nvSpPr>
              <p:cNvPr id="11271" name="Object 19"/>
              <p:cNvSpPr txBox="1">
                <a:spLocks noRot="1" noChangeAspect="1" noMove="1" noResize="1" noEditPoints="1" noAdjustHandles="1" noChangeArrowheads="1" noChangeShapeType="1" noTextEdit="1"/>
              </p:cNvSpPr>
              <p:nvPr/>
            </p:nvSpPr>
            <p:spPr>
              <a:xfrm>
                <a:off x="2784153" y="3925892"/>
                <a:ext cx="330200" cy="384175"/>
              </a:xfrm>
              <a:prstGeom prst="rect">
                <a:avLst/>
              </a:prstGeom>
              <a:blipFill>
                <a:blip r:embed="rId12"/>
                <a:stretch>
                  <a:fillRect b="-1587"/>
                </a:stretch>
              </a:blipFill>
              <a:ln w="38100">
                <a:noFill/>
                <a:miter/>
              </a:ln>
            </p:spPr>
            <p:txBody>
              <a:bodyPr/>
              <a:lstStyle/>
              <a:p>
                <a:r>
                  <a:rPr lang="en-US">
                    <a:noFill/>
                  </a:rPr>
                  <a:t> </a:t>
                </a:r>
              </a:p>
            </p:txBody>
          </p:sp>
        </mc:Fallback>
      </mc:AlternateContent>
      <p:sp>
        <p:nvSpPr>
          <p:cNvPr id="11286" name="Line 20"/>
          <p:cNvSpPr/>
          <p:nvPr/>
        </p:nvSpPr>
        <p:spPr>
          <a:xfrm>
            <a:off x="1869753" y="3468691"/>
            <a:ext cx="1066800" cy="0"/>
          </a:xfrm>
          <a:prstGeom prst="line">
            <a:avLst/>
          </a:prstGeom>
          <a:ln w="9525" cap="flat" cmpd="sng">
            <a:solidFill>
              <a:schemeClr val="tx1"/>
            </a:solidFill>
            <a:prstDash val="dash"/>
            <a:headEnd type="none" w="med" len="med"/>
            <a:tailEnd type="none" w="med" len="med"/>
          </a:ln>
        </p:spPr>
      </p:sp>
      <p:sp>
        <p:nvSpPr>
          <p:cNvPr id="11287" name="Line 21"/>
          <p:cNvSpPr/>
          <p:nvPr/>
        </p:nvSpPr>
        <p:spPr>
          <a:xfrm>
            <a:off x="2936553" y="2249491"/>
            <a:ext cx="0" cy="1219200"/>
          </a:xfrm>
          <a:prstGeom prst="line">
            <a:avLst/>
          </a:prstGeom>
          <a:ln w="25400" cap="flat" cmpd="sng">
            <a:solidFill>
              <a:srgbClr val="0000FF"/>
            </a:solidFill>
            <a:prstDash val="solid"/>
            <a:headEnd type="none" w="med" len="med"/>
            <a:tailEnd type="none" w="med" len="med"/>
          </a:ln>
        </p:spPr>
      </p:sp>
      <p:sp>
        <p:nvSpPr>
          <p:cNvPr id="11288" name="Line 22"/>
          <p:cNvSpPr/>
          <p:nvPr/>
        </p:nvSpPr>
        <p:spPr>
          <a:xfrm flipV="1">
            <a:off x="2936553" y="2573341"/>
            <a:ext cx="0" cy="152400"/>
          </a:xfrm>
          <a:prstGeom prst="line">
            <a:avLst/>
          </a:prstGeom>
          <a:ln w="38100"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1272" name="Object 23"/>
              <p:cNvSpPr txBox="1"/>
              <p:nvPr/>
            </p:nvSpPr>
            <p:spPr>
              <a:xfrm>
                <a:off x="1512567" y="1574804"/>
                <a:ext cx="301625" cy="3587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m:t>
                      </m:r>
                    </m:oMath>
                  </m:oMathPara>
                </a14:m>
                <a:endParaRPr lang="en-US" sz="2800"/>
              </a:p>
            </p:txBody>
          </p:sp>
        </mc:Choice>
        <mc:Fallback xmlns="">
          <p:sp>
            <p:nvSpPr>
              <p:cNvPr id="11272" name="Object 23"/>
              <p:cNvSpPr txBox="1">
                <a:spLocks noRot="1" noChangeAspect="1" noMove="1" noResize="1" noEditPoints="1" noAdjustHandles="1" noChangeArrowheads="1" noChangeShapeType="1" noTextEdit="1"/>
              </p:cNvSpPr>
              <p:nvPr/>
            </p:nvSpPr>
            <p:spPr>
              <a:xfrm>
                <a:off x="1512567" y="1574804"/>
                <a:ext cx="301625" cy="358775"/>
              </a:xfrm>
              <a:prstGeom prst="rect">
                <a:avLst/>
              </a:prstGeom>
              <a:blipFill>
                <a:blip r:embed="rId13"/>
                <a:stretch>
                  <a:fillRect b="-30508"/>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3" name="Object 24"/>
              <p:cNvSpPr txBox="1"/>
              <p:nvPr/>
            </p:nvSpPr>
            <p:spPr>
              <a:xfrm>
                <a:off x="4284342" y="3997329"/>
                <a:ext cx="274637" cy="3079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𝑉</m:t>
                      </m:r>
                    </m:oMath>
                  </m:oMathPara>
                </a14:m>
                <a:endParaRPr lang="en-US" sz="2800"/>
              </a:p>
            </p:txBody>
          </p:sp>
        </mc:Choice>
        <mc:Fallback xmlns="">
          <p:sp>
            <p:nvSpPr>
              <p:cNvPr id="11273" name="Object 24"/>
              <p:cNvSpPr txBox="1">
                <a:spLocks noRot="1" noChangeAspect="1" noMove="1" noResize="1" noEditPoints="1" noAdjustHandles="1" noChangeArrowheads="1" noChangeShapeType="1" noTextEdit="1"/>
              </p:cNvSpPr>
              <p:nvPr/>
            </p:nvSpPr>
            <p:spPr>
              <a:xfrm>
                <a:off x="4284342" y="3997329"/>
                <a:ext cx="274637" cy="307975"/>
              </a:xfrm>
              <a:prstGeom prst="rect">
                <a:avLst/>
              </a:prstGeom>
              <a:blipFill>
                <a:blip r:embed="rId14"/>
                <a:stretch>
                  <a:fillRect r="-13333" b="-28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4" name="Object 25"/>
              <p:cNvSpPr txBox="1"/>
              <p:nvPr/>
            </p:nvSpPr>
            <p:spPr>
              <a:xfrm>
                <a:off x="1763391" y="3951292"/>
                <a:ext cx="271462" cy="31273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𝑜</m:t>
                      </m:r>
                    </m:oMath>
                  </m:oMathPara>
                </a14:m>
                <a:endParaRPr lang="en-US" sz="2800"/>
              </a:p>
            </p:txBody>
          </p:sp>
        </mc:Choice>
        <mc:Fallback xmlns="">
          <p:sp>
            <p:nvSpPr>
              <p:cNvPr id="11274" name="Object 25"/>
              <p:cNvSpPr txBox="1">
                <a:spLocks noRot="1" noChangeAspect="1" noMove="1" noResize="1" noEditPoints="1" noAdjustHandles="1" noChangeArrowheads="1" noChangeShapeType="1" noTextEdit="1"/>
              </p:cNvSpPr>
              <p:nvPr/>
            </p:nvSpPr>
            <p:spPr>
              <a:xfrm>
                <a:off x="1763391" y="3951292"/>
                <a:ext cx="271462" cy="312737"/>
              </a:xfrm>
              <a:prstGeom prst="rect">
                <a:avLst/>
              </a:prstGeom>
              <a:blipFill>
                <a:blip r:embed="rId15"/>
                <a:stretch>
                  <a:fillRect b="-27451"/>
                </a:stretch>
              </a:blipFill>
              <a:ln w="38100">
                <a:noFill/>
                <a:miter/>
              </a:ln>
            </p:spPr>
            <p:txBody>
              <a:bodyPr/>
              <a:lstStyle/>
              <a:p>
                <a:r>
                  <a:rPr lang="en-US">
                    <a:noFill/>
                  </a:rPr>
                  <a:t> </a:t>
                </a:r>
              </a:p>
            </p:txBody>
          </p:sp>
        </mc:Fallback>
      </mc:AlternateContent>
      <p:grpSp>
        <p:nvGrpSpPr>
          <p:cNvPr id="4" name="Group 26"/>
          <p:cNvGrpSpPr/>
          <p:nvPr/>
        </p:nvGrpSpPr>
        <p:grpSpPr>
          <a:xfrm>
            <a:off x="5515854" y="2343156"/>
            <a:ext cx="4570412" cy="592138"/>
            <a:chOff x="-349" y="1383"/>
            <a:chExt cx="2879" cy="373"/>
          </a:xfrm>
        </p:grpSpPr>
        <p:sp>
          <p:nvSpPr>
            <p:cNvPr id="11290" name="Text Box 27"/>
            <p:cNvSpPr txBox="1"/>
            <p:nvPr/>
          </p:nvSpPr>
          <p:spPr>
            <a:xfrm>
              <a:off x="-349" y="1384"/>
              <a:ext cx="2879" cy="330"/>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过程方程                   常量</a:t>
              </a:r>
            </a:p>
          </p:txBody>
        </p:sp>
        <mc:AlternateContent xmlns:mc="http://schemas.openxmlformats.org/markup-compatibility/2006" xmlns:a14="http://schemas.microsoft.com/office/drawing/2010/main">
          <mc:Choice Requires="a14">
            <p:sp>
              <p:nvSpPr>
                <p:cNvPr id="11275" name="Object 28"/>
                <p:cNvSpPr txBox="1"/>
                <p:nvPr/>
              </p:nvSpPr>
              <p:spPr>
                <a:xfrm>
                  <a:off x="812" y="1383"/>
                  <a:ext cx="944" cy="373"/>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𝑃</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𝑇</m:t>
                            </m:r>
                          </m:e>
                          <m:sup>
                            <m:r>
                              <a:rPr lang="en-US" sz="2800" b="0" i="1">
                                <a:solidFill>
                                  <a:srgbClr val="000000"/>
                                </a:solidFill>
                                <a:latin typeface="Cambria Math" panose="02040503050406030204" pitchFamily="18" charset="0"/>
                              </a:rPr>
                              <m:t>−1</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11275" name="Object 28"/>
                <p:cNvSpPr txBox="1">
                  <a:spLocks noRot="1" noChangeAspect="1" noMove="1" noResize="1" noEditPoints="1" noAdjustHandles="1" noChangeArrowheads="1" noChangeShapeType="1" noTextEdit="1"/>
                </p:cNvSpPr>
                <p:nvPr/>
              </p:nvSpPr>
              <p:spPr>
                <a:xfrm>
                  <a:off x="812" y="1383"/>
                  <a:ext cx="944" cy="373"/>
                </a:xfrm>
                <a:prstGeom prst="rect">
                  <a:avLst/>
                </a:prstGeom>
                <a:blipFill>
                  <a:blip r:embed="rId16"/>
                  <a:stretch>
                    <a:fillRect/>
                  </a:stretch>
                </a:blipFill>
                <a:ln w="38100">
                  <a:noFill/>
                  <a:miter/>
                </a:ln>
              </p:spPr>
              <p:txBody>
                <a:bodyPr/>
                <a:lstStyle/>
                <a:p>
                  <a:r>
                    <a:rPr lang="en-US">
                      <a:noFill/>
                    </a:rPr>
                    <a:t> </a:t>
                  </a:r>
                </a:p>
              </p:txBody>
            </p:sp>
          </mc:Fallback>
        </mc:AlternateContent>
      </p:grpSp>
      <p:sp>
        <p:nvSpPr>
          <p:cNvPr id="49" name="Text Box 13">
            <a:hlinkClick r:id="" action="ppaction://noaction"/>
            <a:extLst>
              <a:ext uri="{FF2B5EF4-FFF2-40B4-BE49-F238E27FC236}">
                <a16:creationId xmlns:a16="http://schemas.microsoft.com/office/drawing/2014/main" id="{BF39F800-DA8F-4999-AC3C-2E69BE2B68FC}"/>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等体过程</a:t>
            </a:r>
          </a:p>
        </p:txBody>
      </p:sp>
      <mc:AlternateContent xmlns:mc="http://schemas.openxmlformats.org/markup-compatibility/2006" xmlns:a14="http://schemas.microsoft.com/office/drawing/2010/main">
        <mc:Choice Requires="a14">
          <p:sp>
            <p:nvSpPr>
              <p:cNvPr id="50" name="Object 22">
                <a:extLst>
                  <a:ext uri="{FF2B5EF4-FFF2-40B4-BE49-F238E27FC236}">
                    <a16:creationId xmlns:a16="http://schemas.microsoft.com/office/drawing/2014/main" id="{21D802BF-8DC5-473F-A5F5-867FBB238D04}"/>
                  </a:ext>
                </a:extLst>
              </p:cNvPr>
              <p:cNvSpPr txBox="1"/>
              <p:nvPr/>
            </p:nvSpPr>
            <p:spPr bwMode="auto">
              <a:xfrm>
                <a:off x="787402" y="5680873"/>
                <a:ext cx="7543153"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𝑉</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50" name="Object 22">
                <a:extLst>
                  <a:ext uri="{FF2B5EF4-FFF2-40B4-BE49-F238E27FC236}">
                    <a16:creationId xmlns:a16="http://schemas.microsoft.com/office/drawing/2014/main" id="{21D802BF-8DC5-473F-A5F5-867FBB238D04}"/>
                  </a:ext>
                </a:extLst>
              </p:cNvPr>
              <p:cNvSpPr txBox="1">
                <a:spLocks noRot="1" noChangeAspect="1" noMove="1" noResize="1" noEditPoints="1" noAdjustHandles="1" noChangeArrowheads="1" noChangeShapeType="1" noTextEdit="1"/>
              </p:cNvSpPr>
              <p:nvPr/>
            </p:nvSpPr>
            <p:spPr bwMode="auto">
              <a:xfrm>
                <a:off x="787402" y="5680873"/>
                <a:ext cx="7543153" cy="96520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Object 23">
                <a:extLst>
                  <a:ext uri="{FF2B5EF4-FFF2-40B4-BE49-F238E27FC236}">
                    <a16:creationId xmlns:a16="http://schemas.microsoft.com/office/drawing/2014/main" id="{766DE249-8748-4BA1-A52D-B4186CFED48D}"/>
                  </a:ext>
                </a:extLst>
              </p:cNvPr>
              <p:cNvSpPr txBox="1"/>
              <p:nvPr/>
            </p:nvSpPr>
            <p:spPr bwMode="auto">
              <a:xfrm>
                <a:off x="5515854" y="5680873"/>
                <a:ext cx="5160854" cy="1068388"/>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𝑃</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𝑃</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𝑉</m:t>
                      </m:r>
                    </m:oMath>
                  </m:oMathPara>
                </a14:m>
                <a:endParaRPr lang="en-US" sz="2800" dirty="0"/>
              </a:p>
            </p:txBody>
          </p:sp>
        </mc:Choice>
        <mc:Fallback xmlns="">
          <p:sp>
            <p:nvSpPr>
              <p:cNvPr id="51" name="Object 23">
                <a:extLst>
                  <a:ext uri="{FF2B5EF4-FFF2-40B4-BE49-F238E27FC236}">
                    <a16:creationId xmlns:a16="http://schemas.microsoft.com/office/drawing/2014/main" id="{766DE249-8748-4BA1-A52D-B4186CFED48D}"/>
                  </a:ext>
                </a:extLst>
              </p:cNvPr>
              <p:cNvSpPr txBox="1">
                <a:spLocks noRot="1" noChangeAspect="1" noMove="1" noResize="1" noEditPoints="1" noAdjustHandles="1" noChangeArrowheads="1" noChangeShapeType="1" noTextEdit="1"/>
              </p:cNvSpPr>
              <p:nvPr/>
            </p:nvSpPr>
            <p:spPr bwMode="auto">
              <a:xfrm>
                <a:off x="5515854" y="5680873"/>
                <a:ext cx="5160854" cy="1068388"/>
              </a:xfrm>
              <a:prstGeom prst="rect">
                <a:avLst/>
              </a:prstGeom>
              <a:blipFill>
                <a:blip r:embed="rId18"/>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08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7" grpId="0"/>
      <p:bldP spid="50" grpId="0"/>
      <p:bldP spid="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Text Box 6"/>
          <p:cNvSpPr txBox="1"/>
          <p:nvPr/>
        </p:nvSpPr>
        <p:spPr>
          <a:xfrm>
            <a:off x="2711451" y="981076"/>
            <a:ext cx="2016125" cy="366713"/>
          </a:xfrm>
          <a:prstGeom prst="rect">
            <a:avLst/>
          </a:prstGeom>
          <a:noFill/>
          <a:ln w="9525">
            <a:noFill/>
          </a:ln>
        </p:spPr>
        <p:txBody>
          <a:bodyPr>
            <a:spAutoFit/>
          </a:bodyPr>
          <a:lstStyle/>
          <a:p>
            <a:pPr eaLnBrk="1" hangingPunct="1">
              <a:spcBef>
                <a:spcPct val="50000"/>
              </a:spcBef>
            </a:pPr>
            <a:endParaRPr lang="zh-CN" altLang="zh-CN" dirty="0">
              <a:latin typeface="Arial" panose="020B0604020202020204" pitchFamily="34" charset="0"/>
            </a:endParaRPr>
          </a:p>
        </p:txBody>
      </p:sp>
      <p:sp>
        <p:nvSpPr>
          <p:cNvPr id="12" name="Text Box 13">
            <a:hlinkClick r:id="" action="ppaction://noaction"/>
            <a:extLst>
              <a:ext uri="{FF2B5EF4-FFF2-40B4-BE49-F238E27FC236}">
                <a16:creationId xmlns:a16="http://schemas.microsoft.com/office/drawing/2014/main" id="{4CF6E5D6-C8ED-47CF-897D-1555ADD82B39}"/>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等体过程</a:t>
            </a:r>
          </a:p>
        </p:txBody>
      </p:sp>
      <p:grpSp>
        <p:nvGrpSpPr>
          <p:cNvPr id="13" name="Group 2">
            <a:extLst>
              <a:ext uri="{FF2B5EF4-FFF2-40B4-BE49-F238E27FC236}">
                <a16:creationId xmlns:a16="http://schemas.microsoft.com/office/drawing/2014/main" id="{AA70FD1A-C5D8-49B1-8B59-DD4C864DC6B8}"/>
              </a:ext>
            </a:extLst>
          </p:cNvPr>
          <p:cNvGrpSpPr/>
          <p:nvPr/>
        </p:nvGrpSpPr>
        <p:grpSpPr>
          <a:xfrm>
            <a:off x="3158007" y="4743179"/>
            <a:ext cx="762000" cy="762000"/>
            <a:chOff x="1296" y="3600"/>
            <a:chExt cx="480" cy="480"/>
          </a:xfrm>
        </p:grpSpPr>
        <p:sp>
          <p:nvSpPr>
            <p:cNvPr id="14" name="Oval 3">
              <a:extLst>
                <a:ext uri="{FF2B5EF4-FFF2-40B4-BE49-F238E27FC236}">
                  <a16:creationId xmlns:a16="http://schemas.microsoft.com/office/drawing/2014/main" id="{273D90C7-B3A3-46CE-AFC9-348AE6EFC994}"/>
                </a:ext>
              </a:extLst>
            </p:cNvPr>
            <p:cNvSpPr/>
            <p:nvPr/>
          </p:nvSpPr>
          <p:spPr>
            <a:xfrm>
              <a:off x="1296" y="3600"/>
              <a:ext cx="480" cy="480"/>
            </a:xfrm>
            <a:prstGeom prst="ellipse">
              <a:avLst/>
            </a:prstGeom>
            <a:solidFill>
              <a:schemeClr val="accent1"/>
            </a:solidFill>
            <a:ln w="9525" cap="flat" cmpd="sng">
              <a:solidFill>
                <a:schemeClr val="tx2"/>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5" name="Object 4">
                  <a:extLst>
                    <a:ext uri="{FF2B5EF4-FFF2-40B4-BE49-F238E27FC236}">
                      <a16:creationId xmlns:a16="http://schemas.microsoft.com/office/drawing/2014/main" id="{6DE57B3D-BFA3-4BBF-8F78-7AE1A2C202F2}"/>
                    </a:ext>
                  </a:extLst>
                </p:cNvPr>
                <p:cNvSpPr txBox="1"/>
                <p:nvPr/>
              </p:nvSpPr>
              <p:spPr>
                <a:xfrm>
                  <a:off x="1392" y="3648"/>
                  <a:ext cx="333" cy="40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𝐸</m:t>
                            </m:r>
                          </m:e>
                          <m:sub>
                            <m:r>
                              <a:rPr lang="en-US" sz="2600" i="1">
                                <a:solidFill>
                                  <a:srgbClr val="000000"/>
                                </a:solidFill>
                                <a:latin typeface="Cambria Math" panose="02040503050406030204" pitchFamily="18" charset="0"/>
                              </a:rPr>
                              <m:t>1</m:t>
                            </m:r>
                          </m:sub>
                        </m:sSub>
                      </m:oMath>
                    </m:oMathPara>
                  </a14:m>
                  <a:endParaRPr lang="en-US" sz="2600"/>
                </a:p>
              </p:txBody>
            </p:sp>
          </mc:Choice>
          <mc:Fallback xmlns="">
            <p:sp>
              <p:nvSpPr>
                <p:cNvPr id="15" name="Object 4">
                  <a:extLst>
                    <a:ext uri="{FF2B5EF4-FFF2-40B4-BE49-F238E27FC236}">
                      <a16:creationId xmlns:a16="http://schemas.microsoft.com/office/drawing/2014/main" id="{6DE57B3D-BFA3-4BBF-8F78-7AE1A2C202F2}"/>
                    </a:ext>
                  </a:extLst>
                </p:cNvPr>
                <p:cNvSpPr txBox="1">
                  <a:spLocks noRot="1" noChangeAspect="1" noMove="1" noResize="1" noEditPoints="1" noAdjustHandles="1" noChangeArrowheads="1" noChangeShapeType="1" noTextEdit="1"/>
                </p:cNvSpPr>
                <p:nvPr/>
              </p:nvSpPr>
              <p:spPr>
                <a:xfrm>
                  <a:off x="1392" y="3648"/>
                  <a:ext cx="333" cy="404"/>
                </a:xfrm>
                <a:prstGeom prst="rect">
                  <a:avLst/>
                </a:prstGeom>
                <a:blipFill>
                  <a:blip r:embed="rId2"/>
                  <a:stretch>
                    <a:fillRect/>
                  </a:stretch>
                </a:blipFill>
                <a:ln w="38100">
                  <a:noFill/>
                  <a:miter/>
                </a:ln>
              </p:spPr>
              <p:txBody>
                <a:bodyPr/>
                <a:lstStyle/>
                <a:p>
                  <a:r>
                    <a:rPr lang="en-US">
                      <a:noFill/>
                    </a:rPr>
                    <a:t> </a:t>
                  </a:r>
                </a:p>
              </p:txBody>
            </p:sp>
          </mc:Fallback>
        </mc:AlternateContent>
      </p:grpSp>
      <p:grpSp>
        <p:nvGrpSpPr>
          <p:cNvPr id="16" name="Group 5">
            <a:extLst>
              <a:ext uri="{FF2B5EF4-FFF2-40B4-BE49-F238E27FC236}">
                <a16:creationId xmlns:a16="http://schemas.microsoft.com/office/drawing/2014/main" id="{00C30772-C38F-4455-90C5-AABE5580078D}"/>
              </a:ext>
            </a:extLst>
          </p:cNvPr>
          <p:cNvGrpSpPr/>
          <p:nvPr/>
        </p:nvGrpSpPr>
        <p:grpSpPr>
          <a:xfrm>
            <a:off x="3767607" y="4438379"/>
            <a:ext cx="1600200" cy="762000"/>
            <a:chOff x="1680" y="3408"/>
            <a:chExt cx="1008" cy="480"/>
          </a:xfrm>
        </p:grpSpPr>
        <p:grpSp>
          <p:nvGrpSpPr>
            <p:cNvPr id="17" name="Group 6">
              <a:extLst>
                <a:ext uri="{FF2B5EF4-FFF2-40B4-BE49-F238E27FC236}">
                  <a16:creationId xmlns:a16="http://schemas.microsoft.com/office/drawing/2014/main" id="{8C821BF4-90D3-4AF0-BDF5-7763D6B1B665}"/>
                </a:ext>
              </a:extLst>
            </p:cNvPr>
            <p:cNvGrpSpPr/>
            <p:nvPr/>
          </p:nvGrpSpPr>
          <p:grpSpPr>
            <a:xfrm>
              <a:off x="2208" y="3408"/>
              <a:ext cx="480" cy="480"/>
              <a:chOff x="2208" y="3408"/>
              <a:chExt cx="480" cy="480"/>
            </a:xfrm>
          </p:grpSpPr>
          <p:sp>
            <p:nvSpPr>
              <p:cNvPr id="19" name="Oval 7">
                <a:extLst>
                  <a:ext uri="{FF2B5EF4-FFF2-40B4-BE49-F238E27FC236}">
                    <a16:creationId xmlns:a16="http://schemas.microsoft.com/office/drawing/2014/main" id="{AAE538BD-8D22-4944-B6C3-C2C2CE9EA6D1}"/>
                  </a:ext>
                </a:extLst>
              </p:cNvPr>
              <p:cNvSpPr/>
              <p:nvPr/>
            </p:nvSpPr>
            <p:spPr>
              <a:xfrm>
                <a:off x="2208" y="3408"/>
                <a:ext cx="480" cy="480"/>
              </a:xfrm>
              <a:prstGeom prst="ellipse">
                <a:avLst/>
              </a:prstGeom>
              <a:solidFill>
                <a:schemeClr val="accent1"/>
              </a:solidFill>
              <a:ln w="12700" cap="flat" cmpd="sng">
                <a:solidFill>
                  <a:srgbClr val="996600"/>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20" name="Object 8">
                    <a:extLst>
                      <a:ext uri="{FF2B5EF4-FFF2-40B4-BE49-F238E27FC236}">
                        <a16:creationId xmlns:a16="http://schemas.microsoft.com/office/drawing/2014/main" id="{40A56866-0911-43AA-9DBA-11D5BB36D395}"/>
                      </a:ext>
                    </a:extLst>
                  </p:cNvPr>
                  <p:cNvSpPr txBox="1"/>
                  <p:nvPr/>
                </p:nvSpPr>
                <p:spPr>
                  <a:xfrm>
                    <a:off x="2304" y="3456"/>
                    <a:ext cx="317" cy="356"/>
                  </a:xfrm>
                  <a:prstGeom prst="rect">
                    <a:avLst/>
                  </a:prstGeom>
                  <a:solidFill>
                    <a:schemeClr val="accent1"/>
                  </a:solid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𝐸</m:t>
                              </m:r>
                            </m:e>
                            <m:sub>
                              <m:r>
                                <a:rPr lang="en-US" sz="2600" i="1">
                                  <a:solidFill>
                                    <a:srgbClr val="000000"/>
                                  </a:solidFill>
                                  <a:latin typeface="Cambria Math" panose="02040503050406030204" pitchFamily="18" charset="0"/>
                                </a:rPr>
                                <m:t>2</m:t>
                              </m:r>
                            </m:sub>
                          </m:sSub>
                        </m:oMath>
                      </m:oMathPara>
                    </a14:m>
                    <a:endParaRPr lang="en-US" sz="2600"/>
                  </a:p>
                </p:txBody>
              </p:sp>
            </mc:Choice>
            <mc:Fallback xmlns="">
              <p:sp>
                <p:nvSpPr>
                  <p:cNvPr id="20" name="Object 8">
                    <a:extLst>
                      <a:ext uri="{FF2B5EF4-FFF2-40B4-BE49-F238E27FC236}">
                        <a16:creationId xmlns:a16="http://schemas.microsoft.com/office/drawing/2014/main" id="{40A56866-0911-43AA-9DBA-11D5BB36D395}"/>
                      </a:ext>
                    </a:extLst>
                  </p:cNvPr>
                  <p:cNvSpPr txBox="1">
                    <a:spLocks noRot="1" noChangeAspect="1" noMove="1" noResize="1" noEditPoints="1" noAdjustHandles="1" noChangeArrowheads="1" noChangeShapeType="1" noTextEdit="1"/>
                  </p:cNvSpPr>
                  <p:nvPr/>
                </p:nvSpPr>
                <p:spPr>
                  <a:xfrm>
                    <a:off x="2304" y="3456"/>
                    <a:ext cx="317" cy="356"/>
                  </a:xfrm>
                  <a:prstGeom prst="rect">
                    <a:avLst/>
                  </a:prstGeom>
                  <a:blipFill>
                    <a:blip r:embed="rId3"/>
                    <a:stretch>
                      <a:fillRect/>
                    </a:stretch>
                  </a:blipFill>
                  <a:ln w="38100">
                    <a:noFill/>
                    <a:miter/>
                  </a:ln>
                </p:spPr>
                <p:txBody>
                  <a:bodyPr/>
                  <a:lstStyle/>
                  <a:p>
                    <a:r>
                      <a:rPr lang="en-US">
                        <a:noFill/>
                      </a:rPr>
                      <a:t> </a:t>
                    </a:r>
                  </a:p>
                </p:txBody>
              </p:sp>
            </mc:Fallback>
          </mc:AlternateContent>
        </p:grpSp>
        <p:sp>
          <p:nvSpPr>
            <p:cNvPr id="18" name="AutoShape 9">
              <a:extLst>
                <a:ext uri="{FF2B5EF4-FFF2-40B4-BE49-F238E27FC236}">
                  <a16:creationId xmlns:a16="http://schemas.microsoft.com/office/drawing/2014/main" id="{08B08FBA-BC40-4EE6-9F79-7AE5D1ECB37A}"/>
                </a:ext>
              </a:extLst>
            </p:cNvPr>
            <p:cNvSpPr/>
            <p:nvPr/>
          </p:nvSpPr>
          <p:spPr>
            <a:xfrm rot="-1310175">
              <a:off x="1680" y="3696"/>
              <a:ext cx="672" cy="119"/>
            </a:xfrm>
            <a:prstGeom prst="rightArrow">
              <a:avLst>
                <a:gd name="adj1" fmla="val 50000"/>
                <a:gd name="adj2" fmla="val 141176"/>
              </a:avLst>
            </a:prstGeom>
            <a:solidFill>
              <a:schemeClr val="accent1"/>
            </a:solidFill>
            <a:ln w="28575" cap="flat" cmpd="sng">
              <a:solidFill>
                <a:srgbClr val="CC0099"/>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grpSp>
        <p:nvGrpSpPr>
          <p:cNvPr id="21" name="Group 10">
            <a:extLst>
              <a:ext uri="{FF2B5EF4-FFF2-40B4-BE49-F238E27FC236}">
                <a16:creationId xmlns:a16="http://schemas.microsoft.com/office/drawing/2014/main" id="{340A2780-2809-4C1D-BDE9-1ACD7224092D}"/>
              </a:ext>
            </a:extLst>
          </p:cNvPr>
          <p:cNvGrpSpPr/>
          <p:nvPr/>
        </p:nvGrpSpPr>
        <p:grpSpPr>
          <a:xfrm>
            <a:off x="2167407" y="4514579"/>
            <a:ext cx="1143000" cy="838200"/>
            <a:chOff x="672" y="3456"/>
            <a:chExt cx="720" cy="528"/>
          </a:xfrm>
        </p:grpSpPr>
        <p:sp>
          <p:nvSpPr>
            <p:cNvPr id="22" name="AutoShape 11">
              <a:extLst>
                <a:ext uri="{FF2B5EF4-FFF2-40B4-BE49-F238E27FC236}">
                  <a16:creationId xmlns:a16="http://schemas.microsoft.com/office/drawing/2014/main" id="{EECBA073-D6F9-494F-A1EA-C8DD1AE925A3}"/>
                </a:ext>
              </a:extLst>
            </p:cNvPr>
            <p:cNvSpPr/>
            <p:nvPr/>
          </p:nvSpPr>
          <p:spPr>
            <a:xfrm>
              <a:off x="768" y="3840"/>
              <a:ext cx="624" cy="144"/>
            </a:xfrm>
            <a:prstGeom prst="rightArrow">
              <a:avLst>
                <a:gd name="adj1" fmla="val 50000"/>
                <a:gd name="adj2" fmla="val 150703"/>
              </a:avLst>
            </a:prstGeom>
            <a:solidFill>
              <a:srgbClr val="FFCCFF"/>
            </a:solidFill>
            <a:ln w="28575" cap="flat" cmpd="sng">
              <a:solidFill>
                <a:srgbClr val="FF0000"/>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23" name="Object 12">
                  <a:extLst>
                    <a:ext uri="{FF2B5EF4-FFF2-40B4-BE49-F238E27FC236}">
                      <a16:creationId xmlns:a16="http://schemas.microsoft.com/office/drawing/2014/main" id="{5686D1B0-63E3-4FCF-956B-9DC1A2D4516F}"/>
                    </a:ext>
                  </a:extLst>
                </p:cNvPr>
                <p:cNvSpPr txBox="1"/>
                <p:nvPr/>
              </p:nvSpPr>
              <p:spPr>
                <a:xfrm>
                  <a:off x="672" y="3456"/>
                  <a:ext cx="406" cy="43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𝑄</m:t>
                            </m:r>
                          </m:e>
                          <m:sub>
                            <m:r>
                              <a:rPr lang="en-US" sz="2600" i="1">
                                <a:solidFill>
                                  <a:srgbClr val="000000"/>
                                </a:solidFill>
                                <a:latin typeface="Cambria Math" panose="02040503050406030204" pitchFamily="18" charset="0"/>
                              </a:rPr>
                              <m:t>𝑉</m:t>
                            </m:r>
                          </m:sub>
                        </m:sSub>
                      </m:oMath>
                    </m:oMathPara>
                  </a14:m>
                  <a:endParaRPr lang="en-US" sz="2600"/>
                </a:p>
              </p:txBody>
            </p:sp>
          </mc:Choice>
          <mc:Fallback xmlns="">
            <p:sp>
              <p:nvSpPr>
                <p:cNvPr id="23" name="Object 12">
                  <a:extLst>
                    <a:ext uri="{FF2B5EF4-FFF2-40B4-BE49-F238E27FC236}">
                      <a16:creationId xmlns:a16="http://schemas.microsoft.com/office/drawing/2014/main" id="{5686D1B0-63E3-4FCF-956B-9DC1A2D4516F}"/>
                    </a:ext>
                  </a:extLst>
                </p:cNvPr>
                <p:cNvSpPr txBox="1">
                  <a:spLocks noRot="1" noChangeAspect="1" noMove="1" noResize="1" noEditPoints="1" noAdjustHandles="1" noChangeArrowheads="1" noChangeShapeType="1" noTextEdit="1"/>
                </p:cNvSpPr>
                <p:nvPr/>
              </p:nvSpPr>
              <p:spPr>
                <a:xfrm>
                  <a:off x="672" y="3456"/>
                  <a:ext cx="406" cy="432"/>
                </a:xfrm>
                <a:prstGeom prst="rect">
                  <a:avLst/>
                </a:prstGeom>
                <a:blipFill>
                  <a:blip r:embed="rId4"/>
                  <a:stretch>
                    <a:fillRect/>
                  </a:stretch>
                </a:blipFill>
                <a:ln w="38100">
                  <a:noFill/>
                  <a:miter/>
                </a:ln>
              </p:spPr>
              <p:txBody>
                <a:bodyPr/>
                <a:lstStyle/>
                <a:p>
                  <a:r>
                    <a:rPr lang="en-US">
                      <a:noFill/>
                    </a:rPr>
                    <a:t> </a:t>
                  </a:r>
                </a:p>
              </p:txBody>
            </p:sp>
          </mc:Fallback>
        </mc:AlternateContent>
      </p:grpSp>
      <p:grpSp>
        <p:nvGrpSpPr>
          <p:cNvPr id="24" name="Group 13">
            <a:extLst>
              <a:ext uri="{FF2B5EF4-FFF2-40B4-BE49-F238E27FC236}">
                <a16:creationId xmlns:a16="http://schemas.microsoft.com/office/drawing/2014/main" id="{D3DF2398-F7A9-4314-B8D7-4D4120C38C20}"/>
              </a:ext>
            </a:extLst>
          </p:cNvPr>
          <p:cNvGrpSpPr/>
          <p:nvPr/>
        </p:nvGrpSpPr>
        <p:grpSpPr>
          <a:xfrm>
            <a:off x="7425207" y="4433616"/>
            <a:ext cx="762000" cy="762000"/>
            <a:chOff x="3984" y="3408"/>
            <a:chExt cx="480" cy="480"/>
          </a:xfrm>
        </p:grpSpPr>
        <p:sp>
          <p:nvSpPr>
            <p:cNvPr id="25" name="Oval 14">
              <a:extLst>
                <a:ext uri="{FF2B5EF4-FFF2-40B4-BE49-F238E27FC236}">
                  <a16:creationId xmlns:a16="http://schemas.microsoft.com/office/drawing/2014/main" id="{48E6B3BE-18B9-4010-A0B8-F0F7A7139364}"/>
                </a:ext>
              </a:extLst>
            </p:cNvPr>
            <p:cNvSpPr/>
            <p:nvPr/>
          </p:nvSpPr>
          <p:spPr>
            <a:xfrm>
              <a:off x="3984" y="3408"/>
              <a:ext cx="480" cy="480"/>
            </a:xfrm>
            <a:prstGeom prst="ellipse">
              <a:avLst/>
            </a:prstGeom>
            <a:solidFill>
              <a:schemeClr val="accent1"/>
            </a:solidFill>
            <a:ln w="9525" cap="flat" cmpd="sng">
              <a:solidFill>
                <a:srgbClr val="996600"/>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26" name="Object 15">
                  <a:extLst>
                    <a:ext uri="{FF2B5EF4-FFF2-40B4-BE49-F238E27FC236}">
                      <a16:creationId xmlns:a16="http://schemas.microsoft.com/office/drawing/2014/main" id="{08549976-09B0-45CF-8773-7377F82869BC}"/>
                    </a:ext>
                  </a:extLst>
                </p:cNvPr>
                <p:cNvSpPr txBox="1"/>
                <p:nvPr/>
              </p:nvSpPr>
              <p:spPr>
                <a:xfrm>
                  <a:off x="4080" y="3456"/>
                  <a:ext cx="293" cy="356"/>
                </a:xfrm>
                <a:prstGeom prst="rect">
                  <a:avLst/>
                </a:prstGeom>
                <a:solidFill>
                  <a:schemeClr val="accent1"/>
                </a:solid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𝐸</m:t>
                            </m:r>
                          </m:e>
                          <m:sub>
                            <m:r>
                              <a:rPr lang="en-US" sz="2600" i="1">
                                <a:solidFill>
                                  <a:srgbClr val="000000"/>
                                </a:solidFill>
                                <a:latin typeface="Cambria Math" panose="02040503050406030204" pitchFamily="18" charset="0"/>
                              </a:rPr>
                              <m:t>1</m:t>
                            </m:r>
                          </m:sub>
                        </m:sSub>
                      </m:oMath>
                    </m:oMathPara>
                  </a14:m>
                  <a:endParaRPr lang="en-US" sz="2600"/>
                </a:p>
              </p:txBody>
            </p:sp>
          </mc:Choice>
          <mc:Fallback xmlns="">
            <p:sp>
              <p:nvSpPr>
                <p:cNvPr id="26" name="Object 15">
                  <a:extLst>
                    <a:ext uri="{FF2B5EF4-FFF2-40B4-BE49-F238E27FC236}">
                      <a16:creationId xmlns:a16="http://schemas.microsoft.com/office/drawing/2014/main" id="{08549976-09B0-45CF-8773-7377F82869BC}"/>
                    </a:ext>
                  </a:extLst>
                </p:cNvPr>
                <p:cNvSpPr txBox="1">
                  <a:spLocks noRot="1" noChangeAspect="1" noMove="1" noResize="1" noEditPoints="1" noAdjustHandles="1" noChangeArrowheads="1" noChangeShapeType="1" noTextEdit="1"/>
                </p:cNvSpPr>
                <p:nvPr/>
              </p:nvSpPr>
              <p:spPr>
                <a:xfrm>
                  <a:off x="4080" y="3456"/>
                  <a:ext cx="293" cy="356"/>
                </a:xfrm>
                <a:prstGeom prst="rect">
                  <a:avLst/>
                </a:prstGeom>
                <a:blipFill>
                  <a:blip r:embed="rId5"/>
                  <a:stretch>
                    <a:fillRect/>
                  </a:stretch>
                </a:blipFill>
                <a:ln w="38100">
                  <a:noFill/>
                  <a:miter/>
                </a:ln>
              </p:spPr>
              <p:txBody>
                <a:bodyPr/>
                <a:lstStyle/>
                <a:p>
                  <a:r>
                    <a:rPr lang="en-US">
                      <a:noFill/>
                    </a:rPr>
                    <a:t> </a:t>
                  </a:r>
                </a:p>
              </p:txBody>
            </p:sp>
          </mc:Fallback>
        </mc:AlternateContent>
      </p:grpSp>
      <p:grpSp>
        <p:nvGrpSpPr>
          <p:cNvPr id="27" name="Group 16">
            <a:extLst>
              <a:ext uri="{FF2B5EF4-FFF2-40B4-BE49-F238E27FC236}">
                <a16:creationId xmlns:a16="http://schemas.microsoft.com/office/drawing/2014/main" id="{60A73C9F-A631-45A4-9C8C-788D0BAEB46B}"/>
              </a:ext>
            </a:extLst>
          </p:cNvPr>
          <p:cNvGrpSpPr/>
          <p:nvPr/>
        </p:nvGrpSpPr>
        <p:grpSpPr>
          <a:xfrm>
            <a:off x="6510807" y="4738416"/>
            <a:ext cx="1066800" cy="838200"/>
            <a:chOff x="3408" y="3600"/>
            <a:chExt cx="672" cy="528"/>
          </a:xfrm>
        </p:grpSpPr>
        <mc:AlternateContent xmlns:mc="http://schemas.openxmlformats.org/markup-compatibility/2006" xmlns:a14="http://schemas.microsoft.com/office/drawing/2010/main">
          <mc:Choice Requires="a14">
            <p:sp>
              <p:nvSpPr>
                <p:cNvPr id="28" name="Object 17">
                  <a:extLst>
                    <a:ext uri="{FF2B5EF4-FFF2-40B4-BE49-F238E27FC236}">
                      <a16:creationId xmlns:a16="http://schemas.microsoft.com/office/drawing/2014/main" id="{A5381E33-1882-4E4A-BE03-C3F12AF06DCB}"/>
                    </a:ext>
                  </a:extLst>
                </p:cNvPr>
                <p:cNvSpPr txBox="1"/>
                <p:nvPr/>
              </p:nvSpPr>
              <p:spPr>
                <a:xfrm>
                  <a:off x="3408" y="3696"/>
                  <a:ext cx="406" cy="43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𝑄</m:t>
                            </m:r>
                          </m:e>
                          <m:sub>
                            <m:r>
                              <a:rPr lang="en-US" sz="2600" i="1">
                                <a:solidFill>
                                  <a:srgbClr val="000000"/>
                                </a:solidFill>
                                <a:latin typeface="Cambria Math" panose="02040503050406030204" pitchFamily="18" charset="0"/>
                              </a:rPr>
                              <m:t>𝑉</m:t>
                            </m:r>
                          </m:sub>
                        </m:sSub>
                      </m:oMath>
                    </m:oMathPara>
                  </a14:m>
                  <a:endParaRPr lang="en-US" sz="2600"/>
                </a:p>
              </p:txBody>
            </p:sp>
          </mc:Choice>
          <mc:Fallback xmlns="">
            <p:sp>
              <p:nvSpPr>
                <p:cNvPr id="28" name="Object 17">
                  <a:extLst>
                    <a:ext uri="{FF2B5EF4-FFF2-40B4-BE49-F238E27FC236}">
                      <a16:creationId xmlns:a16="http://schemas.microsoft.com/office/drawing/2014/main" id="{A5381E33-1882-4E4A-BE03-C3F12AF06DCB}"/>
                    </a:ext>
                  </a:extLst>
                </p:cNvPr>
                <p:cNvSpPr txBox="1">
                  <a:spLocks noRot="1" noChangeAspect="1" noMove="1" noResize="1" noEditPoints="1" noAdjustHandles="1" noChangeArrowheads="1" noChangeShapeType="1" noTextEdit="1"/>
                </p:cNvSpPr>
                <p:nvPr/>
              </p:nvSpPr>
              <p:spPr>
                <a:xfrm>
                  <a:off x="3408" y="3696"/>
                  <a:ext cx="406" cy="432"/>
                </a:xfrm>
                <a:prstGeom prst="rect">
                  <a:avLst/>
                </a:prstGeom>
                <a:blipFill>
                  <a:blip r:embed="rId6"/>
                  <a:stretch>
                    <a:fillRect/>
                  </a:stretch>
                </a:blipFill>
                <a:ln w="38100">
                  <a:noFill/>
                  <a:miter/>
                </a:ln>
              </p:spPr>
              <p:txBody>
                <a:bodyPr/>
                <a:lstStyle/>
                <a:p>
                  <a:r>
                    <a:rPr lang="en-US">
                      <a:noFill/>
                    </a:rPr>
                    <a:t> </a:t>
                  </a:r>
                </a:p>
              </p:txBody>
            </p:sp>
          </mc:Fallback>
        </mc:AlternateContent>
        <p:sp>
          <p:nvSpPr>
            <p:cNvPr id="29" name="AutoShape 18">
              <a:extLst>
                <a:ext uri="{FF2B5EF4-FFF2-40B4-BE49-F238E27FC236}">
                  <a16:creationId xmlns:a16="http://schemas.microsoft.com/office/drawing/2014/main" id="{9CA640AD-F580-45BF-B7F6-B41ACD129088}"/>
                </a:ext>
              </a:extLst>
            </p:cNvPr>
            <p:cNvSpPr/>
            <p:nvPr/>
          </p:nvSpPr>
          <p:spPr>
            <a:xfrm>
              <a:off x="3456" y="3600"/>
              <a:ext cx="624" cy="144"/>
            </a:xfrm>
            <a:prstGeom prst="leftArrow">
              <a:avLst>
                <a:gd name="adj1" fmla="val 50000"/>
                <a:gd name="adj2" fmla="val 130902"/>
              </a:avLst>
            </a:prstGeom>
            <a:solidFill>
              <a:srgbClr val="CCFFFF"/>
            </a:solidFill>
            <a:ln w="28575" cap="flat" cmpd="sng">
              <a:solidFill>
                <a:srgbClr val="0066FF"/>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grpSp>
        <p:nvGrpSpPr>
          <p:cNvPr id="30" name="Group 19">
            <a:extLst>
              <a:ext uri="{FF2B5EF4-FFF2-40B4-BE49-F238E27FC236}">
                <a16:creationId xmlns:a16="http://schemas.microsoft.com/office/drawing/2014/main" id="{DCA78D54-D1C1-4744-898B-7FCA79262EB9}"/>
              </a:ext>
            </a:extLst>
          </p:cNvPr>
          <p:cNvGrpSpPr/>
          <p:nvPr/>
        </p:nvGrpSpPr>
        <p:grpSpPr>
          <a:xfrm>
            <a:off x="8034807" y="4814616"/>
            <a:ext cx="1524000" cy="685800"/>
            <a:chOff x="4320" y="3648"/>
            <a:chExt cx="960" cy="432"/>
          </a:xfrm>
        </p:grpSpPr>
        <p:grpSp>
          <p:nvGrpSpPr>
            <p:cNvPr id="31" name="Group 20">
              <a:extLst>
                <a:ext uri="{FF2B5EF4-FFF2-40B4-BE49-F238E27FC236}">
                  <a16:creationId xmlns:a16="http://schemas.microsoft.com/office/drawing/2014/main" id="{89F23042-F260-4AE9-B2B9-4478A8C1AC5D}"/>
                </a:ext>
              </a:extLst>
            </p:cNvPr>
            <p:cNvGrpSpPr/>
            <p:nvPr/>
          </p:nvGrpSpPr>
          <p:grpSpPr>
            <a:xfrm>
              <a:off x="4848" y="3648"/>
              <a:ext cx="432" cy="432"/>
              <a:chOff x="4848" y="3696"/>
              <a:chExt cx="432" cy="432"/>
            </a:xfrm>
          </p:grpSpPr>
          <p:sp>
            <p:nvSpPr>
              <p:cNvPr id="33" name="Oval 21">
                <a:extLst>
                  <a:ext uri="{FF2B5EF4-FFF2-40B4-BE49-F238E27FC236}">
                    <a16:creationId xmlns:a16="http://schemas.microsoft.com/office/drawing/2014/main" id="{C41D1FD6-AD2C-45DB-92CB-55FCCDD8725F}"/>
                  </a:ext>
                </a:extLst>
              </p:cNvPr>
              <p:cNvSpPr/>
              <p:nvPr/>
            </p:nvSpPr>
            <p:spPr>
              <a:xfrm>
                <a:off x="4848" y="3696"/>
                <a:ext cx="432" cy="432"/>
              </a:xfrm>
              <a:prstGeom prst="ellipse">
                <a:avLst/>
              </a:prstGeom>
              <a:solidFill>
                <a:schemeClr val="accent1"/>
              </a:solidFill>
              <a:ln w="9525" cap="flat" cmpd="sng">
                <a:solidFill>
                  <a:schemeClr val="tx2"/>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4" name="Object 22">
                    <a:extLst>
                      <a:ext uri="{FF2B5EF4-FFF2-40B4-BE49-F238E27FC236}">
                        <a16:creationId xmlns:a16="http://schemas.microsoft.com/office/drawing/2014/main" id="{AA168441-5A7D-470F-82D1-88151FCBBF96}"/>
                      </a:ext>
                    </a:extLst>
                  </p:cNvPr>
                  <p:cNvSpPr txBox="1"/>
                  <p:nvPr/>
                </p:nvSpPr>
                <p:spPr>
                  <a:xfrm>
                    <a:off x="4915" y="3724"/>
                    <a:ext cx="317" cy="3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𝐸</m:t>
                              </m:r>
                            </m:e>
                            <m:sub>
                              <m:r>
                                <a:rPr lang="en-US" sz="2600" i="1">
                                  <a:solidFill>
                                    <a:srgbClr val="000000"/>
                                  </a:solidFill>
                                  <a:latin typeface="Cambria Math" panose="02040503050406030204" pitchFamily="18" charset="0"/>
                                </a:rPr>
                                <m:t>2</m:t>
                              </m:r>
                            </m:sub>
                          </m:sSub>
                        </m:oMath>
                      </m:oMathPara>
                    </a14:m>
                    <a:endParaRPr lang="en-US" sz="2600"/>
                  </a:p>
                </p:txBody>
              </p:sp>
            </mc:Choice>
            <mc:Fallback xmlns="">
              <p:sp>
                <p:nvSpPr>
                  <p:cNvPr id="34" name="Object 22">
                    <a:extLst>
                      <a:ext uri="{FF2B5EF4-FFF2-40B4-BE49-F238E27FC236}">
                        <a16:creationId xmlns:a16="http://schemas.microsoft.com/office/drawing/2014/main" id="{AA168441-5A7D-470F-82D1-88151FCBBF96}"/>
                      </a:ext>
                    </a:extLst>
                  </p:cNvPr>
                  <p:cNvSpPr txBox="1">
                    <a:spLocks noRot="1" noChangeAspect="1" noMove="1" noResize="1" noEditPoints="1" noAdjustHandles="1" noChangeArrowheads="1" noChangeShapeType="1" noTextEdit="1"/>
                  </p:cNvSpPr>
                  <p:nvPr/>
                </p:nvSpPr>
                <p:spPr>
                  <a:xfrm>
                    <a:off x="4915" y="3724"/>
                    <a:ext cx="317" cy="356"/>
                  </a:xfrm>
                  <a:prstGeom prst="rect">
                    <a:avLst/>
                  </a:prstGeom>
                  <a:blipFill>
                    <a:blip r:embed="rId7"/>
                    <a:stretch>
                      <a:fillRect/>
                    </a:stretch>
                  </a:blipFill>
                  <a:ln w="38100">
                    <a:noFill/>
                    <a:miter/>
                  </a:ln>
                </p:spPr>
                <p:txBody>
                  <a:bodyPr/>
                  <a:lstStyle/>
                  <a:p>
                    <a:r>
                      <a:rPr lang="en-US">
                        <a:noFill/>
                      </a:rPr>
                      <a:t> </a:t>
                    </a:r>
                  </a:p>
                </p:txBody>
              </p:sp>
            </mc:Fallback>
          </mc:AlternateContent>
        </p:grpSp>
        <p:sp>
          <p:nvSpPr>
            <p:cNvPr id="32" name="AutoShape 23">
              <a:extLst>
                <a:ext uri="{FF2B5EF4-FFF2-40B4-BE49-F238E27FC236}">
                  <a16:creationId xmlns:a16="http://schemas.microsoft.com/office/drawing/2014/main" id="{094A32ED-FBED-40FD-9899-B25ED395E423}"/>
                </a:ext>
              </a:extLst>
            </p:cNvPr>
            <p:cNvSpPr/>
            <p:nvPr/>
          </p:nvSpPr>
          <p:spPr>
            <a:xfrm rot="1204178">
              <a:off x="4320" y="3696"/>
              <a:ext cx="624" cy="144"/>
            </a:xfrm>
            <a:prstGeom prst="rightArrow">
              <a:avLst>
                <a:gd name="adj1" fmla="val 42425"/>
                <a:gd name="adj2" fmla="val 175580"/>
              </a:avLst>
            </a:prstGeom>
            <a:solidFill>
              <a:srgbClr val="99FFCC"/>
            </a:solidFill>
            <a:ln w="28575" cap="flat" cmpd="sng">
              <a:solidFill>
                <a:schemeClr val="tx2"/>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grpSp>
        <p:nvGrpSpPr>
          <p:cNvPr id="35" name="Group 24">
            <a:extLst>
              <a:ext uri="{FF2B5EF4-FFF2-40B4-BE49-F238E27FC236}">
                <a16:creationId xmlns:a16="http://schemas.microsoft.com/office/drawing/2014/main" id="{51D2E732-E8DA-4F2C-A5BC-9E2F26EE2A88}"/>
              </a:ext>
            </a:extLst>
          </p:cNvPr>
          <p:cNvGrpSpPr/>
          <p:nvPr/>
        </p:nvGrpSpPr>
        <p:grpSpPr>
          <a:xfrm>
            <a:off x="2643758" y="1676836"/>
            <a:ext cx="3124200" cy="2438400"/>
            <a:chOff x="863" y="845"/>
            <a:chExt cx="1968" cy="1536"/>
          </a:xfrm>
        </p:grpSpPr>
        <p:sp>
          <p:nvSpPr>
            <p:cNvPr id="36" name="Rectangle 25">
              <a:extLst>
                <a:ext uri="{FF2B5EF4-FFF2-40B4-BE49-F238E27FC236}">
                  <a16:creationId xmlns:a16="http://schemas.microsoft.com/office/drawing/2014/main" id="{330A2EE3-0DB9-4DCC-85F1-43F9A61B7798}"/>
                </a:ext>
              </a:extLst>
            </p:cNvPr>
            <p:cNvSpPr/>
            <p:nvPr/>
          </p:nvSpPr>
          <p:spPr>
            <a:xfrm>
              <a:off x="863" y="845"/>
              <a:ext cx="1968" cy="1536"/>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37" name="Line 26">
              <a:extLst>
                <a:ext uri="{FF2B5EF4-FFF2-40B4-BE49-F238E27FC236}">
                  <a16:creationId xmlns:a16="http://schemas.microsoft.com/office/drawing/2014/main" id="{0EB009E1-FB03-4D3A-94C9-D6BA248ED341}"/>
                </a:ext>
              </a:extLst>
            </p:cNvPr>
            <p:cNvSpPr/>
            <p:nvPr/>
          </p:nvSpPr>
          <p:spPr>
            <a:xfrm>
              <a:off x="1213" y="2132"/>
              <a:ext cx="1531" cy="0"/>
            </a:xfrm>
            <a:prstGeom prst="line">
              <a:avLst/>
            </a:prstGeom>
            <a:ln w="19050" cap="flat" cmpd="sng">
              <a:solidFill>
                <a:schemeClr val="tx1"/>
              </a:solidFill>
              <a:prstDash val="solid"/>
              <a:headEnd type="none" w="med" len="med"/>
              <a:tailEnd type="triangle" w="sm" len="lg"/>
            </a:ln>
          </p:spPr>
        </p:sp>
        <p:sp>
          <p:nvSpPr>
            <p:cNvPr id="38" name="Line 27">
              <a:extLst>
                <a:ext uri="{FF2B5EF4-FFF2-40B4-BE49-F238E27FC236}">
                  <a16:creationId xmlns:a16="http://schemas.microsoft.com/office/drawing/2014/main" id="{ADB757F5-84E6-452C-B915-2CEA2E6F2013}"/>
                </a:ext>
              </a:extLst>
            </p:cNvPr>
            <p:cNvSpPr/>
            <p:nvPr/>
          </p:nvSpPr>
          <p:spPr>
            <a:xfrm flipV="1">
              <a:off x="1213" y="928"/>
              <a:ext cx="0" cy="1204"/>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39" name="Object 28">
                  <a:extLst>
                    <a:ext uri="{FF2B5EF4-FFF2-40B4-BE49-F238E27FC236}">
                      <a16:creationId xmlns:a16="http://schemas.microsoft.com/office/drawing/2014/main" id="{81D4211D-F64E-4AC1-A696-D20DB0DB14B8}"/>
                    </a:ext>
                  </a:extLst>
                </p:cNvPr>
                <p:cNvSpPr txBox="1"/>
                <p:nvPr/>
              </p:nvSpPr>
              <p:spPr>
                <a:xfrm>
                  <a:off x="1869" y="1758"/>
                  <a:ext cx="787" cy="23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𝑉</m:t>
                        </m:r>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𝑇</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oMath>
                    </m:oMathPara>
                  </a14:m>
                  <a:endParaRPr lang="en-US" sz="2600"/>
                </a:p>
              </p:txBody>
            </p:sp>
          </mc:Choice>
          <mc:Fallback xmlns="">
            <p:sp>
              <p:nvSpPr>
                <p:cNvPr id="39" name="Object 28">
                  <a:extLst>
                    <a:ext uri="{FF2B5EF4-FFF2-40B4-BE49-F238E27FC236}">
                      <a16:creationId xmlns:a16="http://schemas.microsoft.com/office/drawing/2014/main" id="{81D4211D-F64E-4AC1-A696-D20DB0DB14B8}"/>
                    </a:ext>
                  </a:extLst>
                </p:cNvPr>
                <p:cNvSpPr txBox="1">
                  <a:spLocks noRot="1" noChangeAspect="1" noMove="1" noResize="1" noEditPoints="1" noAdjustHandles="1" noChangeArrowheads="1" noChangeShapeType="1" noTextEdit="1"/>
                </p:cNvSpPr>
                <p:nvPr/>
              </p:nvSpPr>
              <p:spPr>
                <a:xfrm>
                  <a:off x="1869" y="1758"/>
                  <a:ext cx="787" cy="232"/>
                </a:xfrm>
                <a:prstGeom prst="rect">
                  <a:avLst/>
                </a:prstGeom>
                <a:blipFill>
                  <a:blip r:embed="rId8"/>
                  <a:stretch>
                    <a:fillRect r="-14146" b="-20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bject 29">
                  <a:extLst>
                    <a:ext uri="{FF2B5EF4-FFF2-40B4-BE49-F238E27FC236}">
                      <a16:creationId xmlns:a16="http://schemas.microsoft.com/office/drawing/2014/main" id="{7F3020D5-CE92-411C-8493-0ED5C76F2996}"/>
                    </a:ext>
                  </a:extLst>
                </p:cNvPr>
                <p:cNvSpPr txBox="1"/>
                <p:nvPr/>
              </p:nvSpPr>
              <p:spPr>
                <a:xfrm>
                  <a:off x="1869" y="1094"/>
                  <a:ext cx="787" cy="24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2</m:t>
                            </m:r>
                          </m:sub>
                        </m:sSub>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𝑉</m:t>
                        </m:r>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𝑇</m:t>
                            </m:r>
                          </m:e>
                          <m:sub>
                            <m:r>
                              <a:rPr lang="en-US" sz="2600" i="1">
                                <a:solidFill>
                                  <a:srgbClr val="000000"/>
                                </a:solidFill>
                                <a:latin typeface="Cambria Math" panose="02040503050406030204" pitchFamily="18" charset="0"/>
                              </a:rPr>
                              <m:t>2</m:t>
                            </m:r>
                          </m:sub>
                        </m:sSub>
                        <m:r>
                          <a:rPr lang="en-US" sz="2600" i="1">
                            <a:solidFill>
                              <a:srgbClr val="000000"/>
                            </a:solidFill>
                            <a:latin typeface="Cambria Math" panose="02040503050406030204" pitchFamily="18" charset="0"/>
                          </a:rPr>
                          <m:t>)</m:t>
                        </m:r>
                      </m:oMath>
                    </m:oMathPara>
                  </a14:m>
                  <a:endParaRPr lang="en-US" sz="2600"/>
                </a:p>
              </p:txBody>
            </p:sp>
          </mc:Choice>
          <mc:Fallback xmlns="">
            <p:sp>
              <p:nvSpPr>
                <p:cNvPr id="40" name="Object 29">
                  <a:extLst>
                    <a:ext uri="{FF2B5EF4-FFF2-40B4-BE49-F238E27FC236}">
                      <a16:creationId xmlns:a16="http://schemas.microsoft.com/office/drawing/2014/main" id="{7F3020D5-CE92-411C-8493-0ED5C76F2996}"/>
                    </a:ext>
                  </a:extLst>
                </p:cNvPr>
                <p:cNvSpPr txBox="1">
                  <a:spLocks noRot="1" noChangeAspect="1" noMove="1" noResize="1" noEditPoints="1" noAdjustHandles="1" noChangeArrowheads="1" noChangeShapeType="1" noTextEdit="1"/>
                </p:cNvSpPr>
                <p:nvPr/>
              </p:nvSpPr>
              <p:spPr>
                <a:xfrm>
                  <a:off x="1869" y="1094"/>
                  <a:ext cx="787" cy="248"/>
                </a:xfrm>
                <a:prstGeom prst="rect">
                  <a:avLst/>
                </a:prstGeom>
                <a:blipFill>
                  <a:blip r:embed="rId9"/>
                  <a:stretch>
                    <a:fillRect r="-15610" b="-12500"/>
                  </a:stretch>
                </a:blipFill>
                <a:ln w="38100">
                  <a:noFill/>
                  <a:miter/>
                </a:ln>
              </p:spPr>
              <p:txBody>
                <a:bodyPr/>
                <a:lstStyle/>
                <a:p>
                  <a:r>
                    <a:rPr lang="en-US">
                      <a:noFill/>
                    </a:rPr>
                    <a:t> </a:t>
                  </a:r>
                </a:p>
              </p:txBody>
            </p:sp>
          </mc:Fallback>
        </mc:AlternateContent>
        <p:sp>
          <p:nvSpPr>
            <p:cNvPr id="41" name="Line 30">
              <a:extLst>
                <a:ext uri="{FF2B5EF4-FFF2-40B4-BE49-F238E27FC236}">
                  <a16:creationId xmlns:a16="http://schemas.microsoft.com/office/drawing/2014/main" id="{DAD6564A-C732-496F-A6CC-F91335256460}"/>
                </a:ext>
              </a:extLst>
            </p:cNvPr>
            <p:cNvSpPr/>
            <p:nvPr/>
          </p:nvSpPr>
          <p:spPr>
            <a:xfrm>
              <a:off x="1825" y="1260"/>
              <a:ext cx="0" cy="872"/>
            </a:xfrm>
            <a:prstGeom prst="line">
              <a:avLst/>
            </a:prstGeom>
            <a:ln w="9525" cap="flat" cmpd="sng">
              <a:solidFill>
                <a:schemeClr val="tx1"/>
              </a:solidFill>
              <a:prstDash val="dash"/>
              <a:headEnd type="none" w="med" len="med"/>
              <a:tailEnd type="none" w="med" len="med"/>
            </a:ln>
          </p:spPr>
        </p:sp>
        <p:sp>
          <p:nvSpPr>
            <p:cNvPr id="42" name="Line 31">
              <a:extLst>
                <a:ext uri="{FF2B5EF4-FFF2-40B4-BE49-F238E27FC236}">
                  <a16:creationId xmlns:a16="http://schemas.microsoft.com/office/drawing/2014/main" id="{DC3E9D82-7C54-48B7-A5A4-4DD402C0C8D7}"/>
                </a:ext>
              </a:extLst>
            </p:cNvPr>
            <p:cNvSpPr/>
            <p:nvPr/>
          </p:nvSpPr>
          <p:spPr>
            <a:xfrm flipH="1">
              <a:off x="1213" y="1219"/>
              <a:ext cx="612" cy="0"/>
            </a:xfrm>
            <a:prstGeom prst="line">
              <a:avLst/>
            </a:prstGeom>
            <a:ln w="9525"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43" name="Object 32">
                  <a:extLst>
                    <a:ext uri="{FF2B5EF4-FFF2-40B4-BE49-F238E27FC236}">
                      <a16:creationId xmlns:a16="http://schemas.microsoft.com/office/drawing/2014/main" id="{5BF91C0C-3854-4263-A879-C413A9503B80}"/>
                    </a:ext>
                  </a:extLst>
                </p:cNvPr>
                <p:cNvSpPr txBox="1"/>
                <p:nvPr/>
              </p:nvSpPr>
              <p:spPr>
                <a:xfrm>
                  <a:off x="954" y="1094"/>
                  <a:ext cx="242" cy="2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2</m:t>
                            </m:r>
                          </m:sub>
                        </m:sSub>
                      </m:oMath>
                    </m:oMathPara>
                  </a14:m>
                  <a:endParaRPr lang="en-US" sz="2600"/>
                </a:p>
              </p:txBody>
            </p:sp>
          </mc:Choice>
          <mc:Fallback xmlns="">
            <p:sp>
              <p:nvSpPr>
                <p:cNvPr id="43" name="Object 32">
                  <a:extLst>
                    <a:ext uri="{FF2B5EF4-FFF2-40B4-BE49-F238E27FC236}">
                      <a16:creationId xmlns:a16="http://schemas.microsoft.com/office/drawing/2014/main" id="{5BF91C0C-3854-4263-A879-C413A9503B80}"/>
                    </a:ext>
                  </a:extLst>
                </p:cNvPr>
                <p:cNvSpPr txBox="1">
                  <a:spLocks noRot="1" noChangeAspect="1" noMove="1" noResize="1" noEditPoints="1" noAdjustHandles="1" noChangeArrowheads="1" noChangeShapeType="1" noTextEdit="1"/>
                </p:cNvSpPr>
                <p:nvPr/>
              </p:nvSpPr>
              <p:spPr>
                <a:xfrm>
                  <a:off x="954" y="1094"/>
                  <a:ext cx="242" cy="250"/>
                </a:xfrm>
                <a:prstGeom prst="rect">
                  <a:avLst/>
                </a:prstGeom>
                <a:blipFill>
                  <a:blip r:embed="rId10"/>
                  <a:stretch>
                    <a:fillRect b="-9231"/>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Object 33">
                  <a:extLst>
                    <a:ext uri="{FF2B5EF4-FFF2-40B4-BE49-F238E27FC236}">
                      <a16:creationId xmlns:a16="http://schemas.microsoft.com/office/drawing/2014/main" id="{8E3B8009-666A-4C71-AD2D-D1118FBED075}"/>
                    </a:ext>
                  </a:extLst>
                </p:cNvPr>
                <p:cNvSpPr txBox="1"/>
                <p:nvPr/>
              </p:nvSpPr>
              <p:spPr>
                <a:xfrm>
                  <a:off x="930" y="1717"/>
                  <a:ext cx="267" cy="25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1</m:t>
                            </m:r>
                          </m:sub>
                        </m:sSub>
                      </m:oMath>
                    </m:oMathPara>
                  </a14:m>
                  <a:endParaRPr lang="en-US" sz="2600"/>
                </a:p>
              </p:txBody>
            </p:sp>
          </mc:Choice>
          <mc:Fallback xmlns="">
            <p:sp>
              <p:nvSpPr>
                <p:cNvPr id="44" name="Object 33">
                  <a:extLst>
                    <a:ext uri="{FF2B5EF4-FFF2-40B4-BE49-F238E27FC236}">
                      <a16:creationId xmlns:a16="http://schemas.microsoft.com/office/drawing/2014/main" id="{8E3B8009-666A-4C71-AD2D-D1118FBED075}"/>
                    </a:ext>
                  </a:extLst>
                </p:cNvPr>
                <p:cNvSpPr txBox="1">
                  <a:spLocks noRot="1" noChangeAspect="1" noMove="1" noResize="1" noEditPoints="1" noAdjustHandles="1" noChangeArrowheads="1" noChangeShapeType="1" noTextEdit="1"/>
                </p:cNvSpPr>
                <p:nvPr/>
              </p:nvSpPr>
              <p:spPr>
                <a:xfrm>
                  <a:off x="930" y="1717"/>
                  <a:ext cx="267" cy="258"/>
                </a:xfrm>
                <a:prstGeom prst="rect">
                  <a:avLst/>
                </a:prstGeom>
                <a:blipFill>
                  <a:blip r:embed="rId11"/>
                  <a:stretch>
                    <a:fillRect b="-597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Object 34">
                  <a:extLst>
                    <a:ext uri="{FF2B5EF4-FFF2-40B4-BE49-F238E27FC236}">
                      <a16:creationId xmlns:a16="http://schemas.microsoft.com/office/drawing/2014/main" id="{2BBBB720-ED7D-4D8C-B01E-F718EE37B651}"/>
                    </a:ext>
                  </a:extLst>
                </p:cNvPr>
                <p:cNvSpPr txBox="1"/>
                <p:nvPr/>
              </p:nvSpPr>
              <p:spPr>
                <a:xfrm>
                  <a:off x="1780" y="2132"/>
                  <a:ext cx="189" cy="20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𝑉</m:t>
                        </m:r>
                      </m:oMath>
                    </m:oMathPara>
                  </a14:m>
                  <a:endParaRPr lang="en-US" sz="2600"/>
                </a:p>
              </p:txBody>
            </p:sp>
          </mc:Choice>
          <mc:Fallback xmlns="">
            <p:sp>
              <p:nvSpPr>
                <p:cNvPr id="45" name="Object 34">
                  <a:extLst>
                    <a:ext uri="{FF2B5EF4-FFF2-40B4-BE49-F238E27FC236}">
                      <a16:creationId xmlns:a16="http://schemas.microsoft.com/office/drawing/2014/main" id="{2BBBB720-ED7D-4D8C-B01E-F718EE37B651}"/>
                    </a:ext>
                  </a:extLst>
                </p:cNvPr>
                <p:cNvSpPr txBox="1">
                  <a:spLocks noRot="1" noChangeAspect="1" noMove="1" noResize="1" noEditPoints="1" noAdjustHandles="1" noChangeArrowheads="1" noChangeShapeType="1" noTextEdit="1"/>
                </p:cNvSpPr>
                <p:nvPr/>
              </p:nvSpPr>
              <p:spPr>
                <a:xfrm>
                  <a:off x="1780" y="2132"/>
                  <a:ext cx="189" cy="209"/>
                </a:xfrm>
                <a:prstGeom prst="rect">
                  <a:avLst/>
                </a:prstGeom>
                <a:blipFill>
                  <a:blip r:embed="rId12"/>
                  <a:stretch>
                    <a:fillRect b="-10909"/>
                  </a:stretch>
                </a:blipFill>
                <a:ln w="38100">
                  <a:noFill/>
                  <a:miter/>
                </a:ln>
              </p:spPr>
              <p:txBody>
                <a:bodyPr/>
                <a:lstStyle/>
                <a:p>
                  <a:r>
                    <a:rPr lang="en-US">
                      <a:noFill/>
                    </a:rPr>
                    <a:t> </a:t>
                  </a:r>
                </a:p>
              </p:txBody>
            </p:sp>
          </mc:Fallback>
        </mc:AlternateContent>
        <p:sp>
          <p:nvSpPr>
            <p:cNvPr id="46" name="Line 35">
              <a:extLst>
                <a:ext uri="{FF2B5EF4-FFF2-40B4-BE49-F238E27FC236}">
                  <a16:creationId xmlns:a16="http://schemas.microsoft.com/office/drawing/2014/main" id="{54EDDB1C-0E4E-4489-9305-631DC51EF0A7}"/>
                </a:ext>
              </a:extLst>
            </p:cNvPr>
            <p:cNvSpPr/>
            <p:nvPr/>
          </p:nvSpPr>
          <p:spPr>
            <a:xfrm>
              <a:off x="1213" y="1883"/>
              <a:ext cx="612" cy="0"/>
            </a:xfrm>
            <a:prstGeom prst="line">
              <a:avLst/>
            </a:prstGeom>
            <a:ln w="9525" cap="flat" cmpd="sng">
              <a:solidFill>
                <a:schemeClr val="tx1"/>
              </a:solidFill>
              <a:prstDash val="dash"/>
              <a:headEnd type="none" w="med" len="med"/>
              <a:tailEnd type="none" w="med" len="med"/>
            </a:ln>
          </p:spPr>
        </p:sp>
        <p:sp>
          <p:nvSpPr>
            <p:cNvPr id="47" name="Line 36">
              <a:extLst>
                <a:ext uri="{FF2B5EF4-FFF2-40B4-BE49-F238E27FC236}">
                  <a16:creationId xmlns:a16="http://schemas.microsoft.com/office/drawing/2014/main" id="{2EF2EFB0-1801-4FB4-84D0-64C3DB6FA728}"/>
                </a:ext>
              </a:extLst>
            </p:cNvPr>
            <p:cNvSpPr/>
            <p:nvPr/>
          </p:nvSpPr>
          <p:spPr>
            <a:xfrm>
              <a:off x="1825" y="1219"/>
              <a:ext cx="0" cy="664"/>
            </a:xfrm>
            <a:prstGeom prst="line">
              <a:avLst/>
            </a:prstGeom>
            <a:ln w="25400" cap="flat" cmpd="sng">
              <a:solidFill>
                <a:srgbClr val="0000FF"/>
              </a:solidFill>
              <a:prstDash val="solid"/>
              <a:headEnd type="none" w="med" len="med"/>
              <a:tailEnd type="none" w="med" len="med"/>
            </a:ln>
          </p:spPr>
        </p:sp>
        <p:sp>
          <p:nvSpPr>
            <p:cNvPr id="48" name="Line 37">
              <a:extLst>
                <a:ext uri="{FF2B5EF4-FFF2-40B4-BE49-F238E27FC236}">
                  <a16:creationId xmlns:a16="http://schemas.microsoft.com/office/drawing/2014/main" id="{8FB65252-0E64-4E6B-8773-B80DD17E6245}"/>
                </a:ext>
              </a:extLst>
            </p:cNvPr>
            <p:cNvSpPr/>
            <p:nvPr/>
          </p:nvSpPr>
          <p:spPr>
            <a:xfrm flipV="1">
              <a:off x="1825" y="1426"/>
              <a:ext cx="0" cy="83"/>
            </a:xfrm>
            <a:prstGeom prst="line">
              <a:avLst/>
            </a:prstGeom>
            <a:ln w="38100"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49" name="Object 38">
                  <a:extLst>
                    <a:ext uri="{FF2B5EF4-FFF2-40B4-BE49-F238E27FC236}">
                      <a16:creationId xmlns:a16="http://schemas.microsoft.com/office/drawing/2014/main" id="{34F41466-777D-4297-9852-46F732452DC5}"/>
                    </a:ext>
                  </a:extLst>
                </p:cNvPr>
                <p:cNvSpPr txBox="1"/>
                <p:nvPr/>
              </p:nvSpPr>
              <p:spPr>
                <a:xfrm>
                  <a:off x="1013" y="888"/>
                  <a:ext cx="194" cy="21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𝑝</m:t>
                        </m:r>
                      </m:oMath>
                    </m:oMathPara>
                  </a14:m>
                  <a:endParaRPr lang="en-US" sz="2600"/>
                </a:p>
              </p:txBody>
            </p:sp>
          </mc:Choice>
          <mc:Fallback xmlns="">
            <p:sp>
              <p:nvSpPr>
                <p:cNvPr id="49" name="Object 38">
                  <a:extLst>
                    <a:ext uri="{FF2B5EF4-FFF2-40B4-BE49-F238E27FC236}">
                      <a16:creationId xmlns:a16="http://schemas.microsoft.com/office/drawing/2014/main" id="{34F41466-777D-4297-9852-46F732452DC5}"/>
                    </a:ext>
                  </a:extLst>
                </p:cNvPr>
                <p:cNvSpPr txBox="1">
                  <a:spLocks noRot="1" noChangeAspect="1" noMove="1" noResize="1" noEditPoints="1" noAdjustHandles="1" noChangeArrowheads="1" noChangeShapeType="1" noTextEdit="1"/>
                </p:cNvSpPr>
                <p:nvPr/>
              </p:nvSpPr>
              <p:spPr>
                <a:xfrm>
                  <a:off x="1013" y="888"/>
                  <a:ext cx="194" cy="219"/>
                </a:xfrm>
                <a:prstGeom prst="rect">
                  <a:avLst/>
                </a:prstGeom>
                <a:blipFill>
                  <a:blip r:embed="rId13"/>
                  <a:stretch>
                    <a:fillRect b="-26316"/>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Object 39">
                  <a:extLst>
                    <a:ext uri="{FF2B5EF4-FFF2-40B4-BE49-F238E27FC236}">
                      <a16:creationId xmlns:a16="http://schemas.microsoft.com/office/drawing/2014/main" id="{23F263C4-AFA5-4C75-BC08-6B55FC92D61F}"/>
                    </a:ext>
                  </a:extLst>
                </p:cNvPr>
                <p:cNvSpPr txBox="1"/>
                <p:nvPr/>
              </p:nvSpPr>
              <p:spPr>
                <a:xfrm>
                  <a:off x="2562" y="2160"/>
                  <a:ext cx="171" cy="18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𝑉</m:t>
                        </m:r>
                      </m:oMath>
                    </m:oMathPara>
                  </a14:m>
                  <a:endParaRPr lang="en-US" sz="2600"/>
                </a:p>
              </p:txBody>
            </p:sp>
          </mc:Choice>
          <mc:Fallback xmlns="">
            <p:sp>
              <p:nvSpPr>
                <p:cNvPr id="50" name="Object 39">
                  <a:extLst>
                    <a:ext uri="{FF2B5EF4-FFF2-40B4-BE49-F238E27FC236}">
                      <a16:creationId xmlns:a16="http://schemas.microsoft.com/office/drawing/2014/main" id="{23F263C4-AFA5-4C75-BC08-6B55FC92D61F}"/>
                    </a:ext>
                  </a:extLst>
                </p:cNvPr>
                <p:cNvSpPr txBox="1">
                  <a:spLocks noRot="1" noChangeAspect="1" noMove="1" noResize="1" noEditPoints="1" noAdjustHandles="1" noChangeArrowheads="1" noChangeShapeType="1" noTextEdit="1"/>
                </p:cNvSpPr>
                <p:nvPr/>
              </p:nvSpPr>
              <p:spPr>
                <a:xfrm>
                  <a:off x="2562" y="2160"/>
                  <a:ext cx="171" cy="181"/>
                </a:xfrm>
                <a:prstGeom prst="rect">
                  <a:avLst/>
                </a:prstGeom>
                <a:blipFill>
                  <a:blip r:embed="rId14"/>
                  <a:stretch>
                    <a:fillRect r="-8889" b="-2766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Object 40">
                  <a:extLst>
                    <a:ext uri="{FF2B5EF4-FFF2-40B4-BE49-F238E27FC236}">
                      <a16:creationId xmlns:a16="http://schemas.microsoft.com/office/drawing/2014/main" id="{FADE0A4E-F438-4FD3-AAD5-00036CDFC084}"/>
                    </a:ext>
                  </a:extLst>
                </p:cNvPr>
                <p:cNvSpPr txBox="1"/>
                <p:nvPr/>
              </p:nvSpPr>
              <p:spPr>
                <a:xfrm>
                  <a:off x="1125" y="2156"/>
                  <a:ext cx="151" cy="16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𝑜</m:t>
                        </m:r>
                      </m:oMath>
                    </m:oMathPara>
                  </a14:m>
                  <a:endParaRPr lang="en-US" sz="2600"/>
                </a:p>
              </p:txBody>
            </p:sp>
          </mc:Choice>
          <mc:Fallback xmlns="">
            <p:sp>
              <p:nvSpPr>
                <p:cNvPr id="51" name="Object 40">
                  <a:extLst>
                    <a:ext uri="{FF2B5EF4-FFF2-40B4-BE49-F238E27FC236}">
                      <a16:creationId xmlns:a16="http://schemas.microsoft.com/office/drawing/2014/main" id="{FADE0A4E-F438-4FD3-AAD5-00036CDFC084}"/>
                    </a:ext>
                  </a:extLst>
                </p:cNvPr>
                <p:cNvSpPr txBox="1">
                  <a:spLocks noRot="1" noChangeAspect="1" noMove="1" noResize="1" noEditPoints="1" noAdjustHandles="1" noChangeArrowheads="1" noChangeShapeType="1" noTextEdit="1"/>
                </p:cNvSpPr>
                <p:nvPr/>
              </p:nvSpPr>
              <p:spPr>
                <a:xfrm>
                  <a:off x="1125" y="2156"/>
                  <a:ext cx="151" cy="164"/>
                </a:xfrm>
                <a:prstGeom prst="rect">
                  <a:avLst/>
                </a:prstGeom>
                <a:blipFill>
                  <a:blip r:embed="rId15"/>
                  <a:stretch>
                    <a:fillRect r="-5128" b="-41860"/>
                  </a:stretch>
                </a:blipFill>
                <a:ln w="38100">
                  <a:noFill/>
                  <a:miter/>
                </a:ln>
              </p:spPr>
              <p:txBody>
                <a:bodyPr/>
                <a:lstStyle/>
                <a:p>
                  <a:r>
                    <a:rPr lang="en-US">
                      <a:noFill/>
                    </a:rPr>
                    <a:t> </a:t>
                  </a:r>
                </a:p>
              </p:txBody>
            </p:sp>
          </mc:Fallback>
        </mc:AlternateContent>
      </p:grpSp>
      <p:sp>
        <p:nvSpPr>
          <p:cNvPr id="52" name="Text Box 41">
            <a:extLst>
              <a:ext uri="{FF2B5EF4-FFF2-40B4-BE49-F238E27FC236}">
                <a16:creationId xmlns:a16="http://schemas.microsoft.com/office/drawing/2014/main" id="{916F422E-693B-4417-8FE2-CBA58DB83F41}"/>
              </a:ext>
            </a:extLst>
          </p:cNvPr>
          <p:cNvSpPr txBox="1"/>
          <p:nvPr/>
        </p:nvSpPr>
        <p:spPr>
          <a:xfrm>
            <a:off x="2054220" y="1676836"/>
            <a:ext cx="584775" cy="2438400"/>
          </a:xfrm>
          <a:prstGeom prst="rect">
            <a:avLst/>
          </a:prstGeom>
          <a:solidFill>
            <a:schemeClr val="accent1"/>
          </a:solidFill>
          <a:ln w="9525" cap="flat" cmpd="sng">
            <a:solidFill>
              <a:schemeClr val="tx2"/>
            </a:solidFill>
            <a:prstDash val="solid"/>
            <a:miter/>
            <a:headEnd type="none" w="med" len="med"/>
            <a:tailEnd type="none" w="med" len="med"/>
          </a:ln>
        </p:spPr>
        <p:txBody>
          <a:bodyPr vert="eaVert">
            <a:spAutoFit/>
          </a:bodyPr>
          <a:lstStyle/>
          <a:p>
            <a:pPr algn="ctr" eaLnBrk="1" hangingPunct="1">
              <a:spcBef>
                <a:spcPct val="50000"/>
              </a:spcBef>
            </a:pPr>
            <a:r>
              <a:rPr lang="en-US" altLang="zh-CN" sz="2600" b="1" dirty="0">
                <a:solidFill>
                  <a:srgbClr val="CC0000"/>
                </a:solidFill>
                <a:latin typeface="Times New Roman" panose="02020603050405020304" pitchFamily="18" charset="0"/>
              </a:rPr>
              <a:t> </a:t>
            </a:r>
            <a:r>
              <a:rPr lang="zh-CN" altLang="en-US" sz="2600" b="1" dirty="0">
                <a:latin typeface="Times New Roman" panose="02020603050405020304" pitchFamily="18" charset="0"/>
              </a:rPr>
              <a:t>等体</a:t>
            </a:r>
            <a:r>
              <a:rPr lang="zh-CN" altLang="en-US" sz="2600" b="1" dirty="0">
                <a:solidFill>
                  <a:srgbClr val="CC0000"/>
                </a:solidFill>
                <a:latin typeface="Times New Roman" panose="02020603050405020304" pitchFamily="18" charset="0"/>
              </a:rPr>
              <a:t>升</a:t>
            </a:r>
            <a:r>
              <a:rPr lang="zh-CN" altLang="en-US" sz="2600" b="1" dirty="0">
                <a:latin typeface="Times New Roman" panose="02020603050405020304" pitchFamily="18" charset="0"/>
              </a:rPr>
              <a:t>压</a:t>
            </a:r>
            <a:r>
              <a:rPr lang="zh-CN" altLang="en-US" sz="2600" b="1" dirty="0">
                <a:solidFill>
                  <a:srgbClr val="CC0000"/>
                </a:solidFill>
                <a:latin typeface="Times New Roman" panose="02020603050405020304" pitchFamily="18" charset="0"/>
              </a:rPr>
              <a:t> </a:t>
            </a:r>
          </a:p>
        </p:txBody>
      </p:sp>
      <p:sp>
        <p:nvSpPr>
          <p:cNvPr id="53" name="Text Box 42">
            <a:extLst>
              <a:ext uri="{FF2B5EF4-FFF2-40B4-BE49-F238E27FC236}">
                <a16:creationId xmlns:a16="http://schemas.microsoft.com/office/drawing/2014/main" id="{43B9C5EC-DD3B-48EA-AAC5-6F31F13159A2}"/>
              </a:ext>
            </a:extLst>
          </p:cNvPr>
          <p:cNvSpPr txBox="1"/>
          <p:nvPr/>
        </p:nvSpPr>
        <p:spPr>
          <a:xfrm>
            <a:off x="3939158" y="3200836"/>
            <a:ext cx="381000" cy="492443"/>
          </a:xfrm>
          <a:prstGeom prst="rect">
            <a:avLst/>
          </a:prstGeom>
          <a:noFill/>
          <a:ln w="9525">
            <a:noFill/>
          </a:ln>
        </p:spPr>
        <p:txBody>
          <a:bodyPr>
            <a:spAutoFit/>
          </a:bodyPr>
          <a:lstStyle/>
          <a:p>
            <a:pPr eaLnBrk="1" hangingPunct="1">
              <a:spcBef>
                <a:spcPct val="50000"/>
              </a:spcBef>
            </a:pPr>
            <a:r>
              <a:rPr lang="en-US" altLang="zh-CN" sz="2600" b="1" dirty="0">
                <a:solidFill>
                  <a:srgbClr val="CC0000"/>
                </a:solidFill>
                <a:latin typeface="Times New Roman" panose="02020603050405020304" pitchFamily="18" charset="0"/>
              </a:rPr>
              <a:t>1</a:t>
            </a:r>
          </a:p>
        </p:txBody>
      </p:sp>
      <p:sp>
        <p:nvSpPr>
          <p:cNvPr id="54" name="Text Box 43">
            <a:extLst>
              <a:ext uri="{FF2B5EF4-FFF2-40B4-BE49-F238E27FC236}">
                <a16:creationId xmlns:a16="http://schemas.microsoft.com/office/drawing/2014/main" id="{E39B3B81-2CD5-4C1A-A48E-0EAD091BE725}"/>
              </a:ext>
            </a:extLst>
          </p:cNvPr>
          <p:cNvSpPr txBox="1"/>
          <p:nvPr/>
        </p:nvSpPr>
        <p:spPr>
          <a:xfrm>
            <a:off x="3939158" y="1829236"/>
            <a:ext cx="457200" cy="492443"/>
          </a:xfrm>
          <a:prstGeom prst="rect">
            <a:avLst/>
          </a:prstGeom>
          <a:noFill/>
          <a:ln w="9525">
            <a:noFill/>
          </a:ln>
        </p:spPr>
        <p:txBody>
          <a:bodyPr>
            <a:spAutoFit/>
          </a:bodyPr>
          <a:lstStyle/>
          <a:p>
            <a:pPr eaLnBrk="1" hangingPunct="1">
              <a:spcBef>
                <a:spcPct val="50000"/>
              </a:spcBef>
            </a:pPr>
            <a:r>
              <a:rPr lang="en-US" altLang="zh-CN" sz="2600" b="1" dirty="0">
                <a:solidFill>
                  <a:srgbClr val="CC0000"/>
                </a:solidFill>
                <a:latin typeface="Times New Roman" panose="02020603050405020304" pitchFamily="18" charset="0"/>
              </a:rPr>
              <a:t>2</a:t>
            </a:r>
          </a:p>
        </p:txBody>
      </p:sp>
      <p:grpSp>
        <p:nvGrpSpPr>
          <p:cNvPr id="55" name="Group 44">
            <a:extLst>
              <a:ext uri="{FF2B5EF4-FFF2-40B4-BE49-F238E27FC236}">
                <a16:creationId xmlns:a16="http://schemas.microsoft.com/office/drawing/2014/main" id="{1D81DB9A-37CF-45CC-A117-00D32AE85156}"/>
              </a:ext>
            </a:extLst>
          </p:cNvPr>
          <p:cNvGrpSpPr/>
          <p:nvPr/>
        </p:nvGrpSpPr>
        <p:grpSpPr>
          <a:xfrm>
            <a:off x="6236272" y="1676836"/>
            <a:ext cx="3713163" cy="2438400"/>
            <a:chOff x="3126" y="845"/>
            <a:chExt cx="2339" cy="1536"/>
          </a:xfrm>
        </p:grpSpPr>
        <p:sp>
          <p:nvSpPr>
            <p:cNvPr id="56" name="Rectangle 45">
              <a:extLst>
                <a:ext uri="{FF2B5EF4-FFF2-40B4-BE49-F238E27FC236}">
                  <a16:creationId xmlns:a16="http://schemas.microsoft.com/office/drawing/2014/main" id="{3E8DD374-41B3-4AAF-B901-93CB5EB81219}"/>
                </a:ext>
              </a:extLst>
            </p:cNvPr>
            <p:cNvSpPr/>
            <p:nvPr/>
          </p:nvSpPr>
          <p:spPr>
            <a:xfrm>
              <a:off x="3497" y="845"/>
              <a:ext cx="1968" cy="1536"/>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57" name="Line 46">
              <a:extLst>
                <a:ext uri="{FF2B5EF4-FFF2-40B4-BE49-F238E27FC236}">
                  <a16:creationId xmlns:a16="http://schemas.microsoft.com/office/drawing/2014/main" id="{DB0BA478-D120-4131-934E-435EAE332B20}"/>
                </a:ext>
              </a:extLst>
            </p:cNvPr>
            <p:cNvSpPr/>
            <p:nvPr/>
          </p:nvSpPr>
          <p:spPr>
            <a:xfrm>
              <a:off x="3847" y="2132"/>
              <a:ext cx="1531" cy="0"/>
            </a:xfrm>
            <a:prstGeom prst="line">
              <a:avLst/>
            </a:prstGeom>
            <a:ln w="19050" cap="flat" cmpd="sng">
              <a:solidFill>
                <a:schemeClr val="tx1"/>
              </a:solidFill>
              <a:prstDash val="solid"/>
              <a:headEnd type="none" w="med" len="med"/>
              <a:tailEnd type="triangle" w="sm" len="lg"/>
            </a:ln>
          </p:spPr>
        </p:sp>
        <p:sp>
          <p:nvSpPr>
            <p:cNvPr id="58" name="Line 47">
              <a:extLst>
                <a:ext uri="{FF2B5EF4-FFF2-40B4-BE49-F238E27FC236}">
                  <a16:creationId xmlns:a16="http://schemas.microsoft.com/office/drawing/2014/main" id="{20C3533A-5724-49CE-80F2-5615D0D0AFBF}"/>
                </a:ext>
              </a:extLst>
            </p:cNvPr>
            <p:cNvSpPr/>
            <p:nvPr/>
          </p:nvSpPr>
          <p:spPr>
            <a:xfrm flipV="1">
              <a:off x="3847" y="928"/>
              <a:ext cx="0" cy="1204"/>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59" name="Object 48">
                  <a:extLst>
                    <a:ext uri="{FF2B5EF4-FFF2-40B4-BE49-F238E27FC236}">
                      <a16:creationId xmlns:a16="http://schemas.microsoft.com/office/drawing/2014/main" id="{51DDBE15-1F91-4F85-8ED8-1AAE29CA13D1}"/>
                    </a:ext>
                  </a:extLst>
                </p:cNvPr>
                <p:cNvSpPr txBox="1"/>
                <p:nvPr/>
              </p:nvSpPr>
              <p:spPr>
                <a:xfrm>
                  <a:off x="4486" y="1085"/>
                  <a:ext cx="787" cy="23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𝑉</m:t>
                        </m:r>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𝑇</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oMath>
                    </m:oMathPara>
                  </a14:m>
                  <a:endParaRPr lang="en-US" sz="2600"/>
                </a:p>
              </p:txBody>
            </p:sp>
          </mc:Choice>
          <mc:Fallback xmlns="">
            <p:sp>
              <p:nvSpPr>
                <p:cNvPr id="59" name="Object 48">
                  <a:extLst>
                    <a:ext uri="{FF2B5EF4-FFF2-40B4-BE49-F238E27FC236}">
                      <a16:creationId xmlns:a16="http://schemas.microsoft.com/office/drawing/2014/main" id="{51DDBE15-1F91-4F85-8ED8-1AAE29CA13D1}"/>
                    </a:ext>
                  </a:extLst>
                </p:cNvPr>
                <p:cNvSpPr txBox="1">
                  <a:spLocks noRot="1" noChangeAspect="1" noMove="1" noResize="1" noEditPoints="1" noAdjustHandles="1" noChangeArrowheads="1" noChangeShapeType="1" noTextEdit="1"/>
                </p:cNvSpPr>
                <p:nvPr/>
              </p:nvSpPr>
              <p:spPr>
                <a:xfrm>
                  <a:off x="4486" y="1085"/>
                  <a:ext cx="787" cy="232"/>
                </a:xfrm>
                <a:prstGeom prst="rect">
                  <a:avLst/>
                </a:prstGeom>
                <a:blipFill>
                  <a:blip r:embed="rId16"/>
                  <a:stretch>
                    <a:fillRect r="-14146" b="-18333"/>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Object 49">
                  <a:extLst>
                    <a:ext uri="{FF2B5EF4-FFF2-40B4-BE49-F238E27FC236}">
                      <a16:creationId xmlns:a16="http://schemas.microsoft.com/office/drawing/2014/main" id="{2DAA8F54-14CD-416C-8782-ADC8D283AA3F}"/>
                    </a:ext>
                  </a:extLst>
                </p:cNvPr>
                <p:cNvSpPr txBox="1"/>
                <p:nvPr/>
              </p:nvSpPr>
              <p:spPr>
                <a:xfrm>
                  <a:off x="4486" y="1757"/>
                  <a:ext cx="787" cy="24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2</m:t>
                            </m:r>
                          </m:sub>
                        </m:sSub>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𝑉</m:t>
                        </m:r>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𝑇</m:t>
                            </m:r>
                          </m:e>
                          <m:sub>
                            <m:r>
                              <a:rPr lang="en-US" sz="2600" i="1">
                                <a:solidFill>
                                  <a:srgbClr val="000000"/>
                                </a:solidFill>
                                <a:latin typeface="Cambria Math" panose="02040503050406030204" pitchFamily="18" charset="0"/>
                              </a:rPr>
                              <m:t>2</m:t>
                            </m:r>
                          </m:sub>
                        </m:sSub>
                        <m:r>
                          <a:rPr lang="en-US" sz="2600" i="1">
                            <a:solidFill>
                              <a:srgbClr val="000000"/>
                            </a:solidFill>
                            <a:latin typeface="Cambria Math" panose="02040503050406030204" pitchFamily="18" charset="0"/>
                          </a:rPr>
                          <m:t>)</m:t>
                        </m:r>
                      </m:oMath>
                    </m:oMathPara>
                  </a14:m>
                  <a:endParaRPr lang="en-US" sz="2600"/>
                </a:p>
              </p:txBody>
            </p:sp>
          </mc:Choice>
          <mc:Fallback xmlns="">
            <p:sp>
              <p:nvSpPr>
                <p:cNvPr id="60" name="Object 49">
                  <a:extLst>
                    <a:ext uri="{FF2B5EF4-FFF2-40B4-BE49-F238E27FC236}">
                      <a16:creationId xmlns:a16="http://schemas.microsoft.com/office/drawing/2014/main" id="{2DAA8F54-14CD-416C-8782-ADC8D283AA3F}"/>
                    </a:ext>
                  </a:extLst>
                </p:cNvPr>
                <p:cNvSpPr txBox="1">
                  <a:spLocks noRot="1" noChangeAspect="1" noMove="1" noResize="1" noEditPoints="1" noAdjustHandles="1" noChangeArrowheads="1" noChangeShapeType="1" noTextEdit="1"/>
                </p:cNvSpPr>
                <p:nvPr/>
              </p:nvSpPr>
              <p:spPr>
                <a:xfrm>
                  <a:off x="4486" y="1757"/>
                  <a:ext cx="787" cy="248"/>
                </a:xfrm>
                <a:prstGeom prst="rect">
                  <a:avLst/>
                </a:prstGeom>
                <a:blipFill>
                  <a:blip r:embed="rId17"/>
                  <a:stretch>
                    <a:fillRect r="-15610" b="-10938"/>
                  </a:stretch>
                </a:blipFill>
                <a:ln w="38100">
                  <a:noFill/>
                  <a:miter/>
                </a:ln>
              </p:spPr>
              <p:txBody>
                <a:bodyPr/>
                <a:lstStyle/>
                <a:p>
                  <a:r>
                    <a:rPr lang="en-US">
                      <a:noFill/>
                    </a:rPr>
                    <a:t> </a:t>
                  </a:r>
                </a:p>
              </p:txBody>
            </p:sp>
          </mc:Fallback>
        </mc:AlternateContent>
        <p:sp>
          <p:nvSpPr>
            <p:cNvPr id="61" name="Line 50">
              <a:extLst>
                <a:ext uri="{FF2B5EF4-FFF2-40B4-BE49-F238E27FC236}">
                  <a16:creationId xmlns:a16="http://schemas.microsoft.com/office/drawing/2014/main" id="{FDAE021A-D564-4CB1-BB5D-4D75D3D33380}"/>
                </a:ext>
              </a:extLst>
            </p:cNvPr>
            <p:cNvSpPr/>
            <p:nvPr/>
          </p:nvSpPr>
          <p:spPr>
            <a:xfrm>
              <a:off x="4459" y="1260"/>
              <a:ext cx="0" cy="872"/>
            </a:xfrm>
            <a:prstGeom prst="line">
              <a:avLst/>
            </a:prstGeom>
            <a:ln w="9525" cap="flat" cmpd="sng">
              <a:solidFill>
                <a:schemeClr val="tx1"/>
              </a:solidFill>
              <a:prstDash val="dash"/>
              <a:headEnd type="none" w="med" len="med"/>
              <a:tailEnd type="none" w="med" len="med"/>
            </a:ln>
          </p:spPr>
        </p:sp>
        <p:sp>
          <p:nvSpPr>
            <p:cNvPr id="62" name="Line 51">
              <a:extLst>
                <a:ext uri="{FF2B5EF4-FFF2-40B4-BE49-F238E27FC236}">
                  <a16:creationId xmlns:a16="http://schemas.microsoft.com/office/drawing/2014/main" id="{85034255-1947-4797-B2BC-EF046C2E4CF4}"/>
                </a:ext>
              </a:extLst>
            </p:cNvPr>
            <p:cNvSpPr/>
            <p:nvPr/>
          </p:nvSpPr>
          <p:spPr>
            <a:xfrm flipH="1">
              <a:off x="3847" y="1219"/>
              <a:ext cx="612" cy="0"/>
            </a:xfrm>
            <a:prstGeom prst="line">
              <a:avLst/>
            </a:prstGeom>
            <a:ln w="9525"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63" name="Object 52">
                  <a:extLst>
                    <a:ext uri="{FF2B5EF4-FFF2-40B4-BE49-F238E27FC236}">
                      <a16:creationId xmlns:a16="http://schemas.microsoft.com/office/drawing/2014/main" id="{430CECF3-65FD-4CBD-8F4F-8BFFD72241D1}"/>
                    </a:ext>
                  </a:extLst>
                </p:cNvPr>
                <p:cNvSpPr txBox="1"/>
                <p:nvPr/>
              </p:nvSpPr>
              <p:spPr>
                <a:xfrm>
                  <a:off x="3572" y="1709"/>
                  <a:ext cx="262" cy="27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2</m:t>
                            </m:r>
                          </m:sub>
                        </m:sSub>
                      </m:oMath>
                    </m:oMathPara>
                  </a14:m>
                  <a:endParaRPr lang="en-US" sz="2600"/>
                </a:p>
              </p:txBody>
            </p:sp>
          </mc:Choice>
          <mc:Fallback xmlns="">
            <p:sp>
              <p:nvSpPr>
                <p:cNvPr id="63" name="Object 52">
                  <a:extLst>
                    <a:ext uri="{FF2B5EF4-FFF2-40B4-BE49-F238E27FC236}">
                      <a16:creationId xmlns:a16="http://schemas.microsoft.com/office/drawing/2014/main" id="{430CECF3-65FD-4CBD-8F4F-8BFFD72241D1}"/>
                    </a:ext>
                  </a:extLst>
                </p:cNvPr>
                <p:cNvSpPr txBox="1">
                  <a:spLocks noRot="1" noChangeAspect="1" noMove="1" noResize="1" noEditPoints="1" noAdjustHandles="1" noChangeArrowheads="1" noChangeShapeType="1" noTextEdit="1"/>
                </p:cNvSpPr>
                <p:nvPr/>
              </p:nvSpPr>
              <p:spPr>
                <a:xfrm>
                  <a:off x="3572" y="1709"/>
                  <a:ext cx="262" cy="270"/>
                </a:xfrm>
                <a:prstGeom prst="rect">
                  <a:avLst/>
                </a:prstGeom>
                <a:blipFill>
                  <a:blip r:embed="rId18"/>
                  <a:stretch>
                    <a:fillRect b="-1429"/>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Object 53">
                  <a:extLst>
                    <a:ext uri="{FF2B5EF4-FFF2-40B4-BE49-F238E27FC236}">
                      <a16:creationId xmlns:a16="http://schemas.microsoft.com/office/drawing/2014/main" id="{23C96856-3CE9-4D66-B741-9FD20A523E8F}"/>
                    </a:ext>
                  </a:extLst>
                </p:cNvPr>
                <p:cNvSpPr txBox="1"/>
                <p:nvPr/>
              </p:nvSpPr>
              <p:spPr>
                <a:xfrm>
                  <a:off x="3560" y="1085"/>
                  <a:ext cx="275" cy="26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1</m:t>
                            </m:r>
                          </m:sub>
                        </m:sSub>
                      </m:oMath>
                    </m:oMathPara>
                  </a14:m>
                  <a:endParaRPr lang="en-US" sz="2600"/>
                </a:p>
              </p:txBody>
            </p:sp>
          </mc:Choice>
          <mc:Fallback xmlns="">
            <p:sp>
              <p:nvSpPr>
                <p:cNvPr id="64" name="Object 53">
                  <a:extLst>
                    <a:ext uri="{FF2B5EF4-FFF2-40B4-BE49-F238E27FC236}">
                      <a16:creationId xmlns:a16="http://schemas.microsoft.com/office/drawing/2014/main" id="{23C96856-3CE9-4D66-B741-9FD20A523E8F}"/>
                    </a:ext>
                  </a:extLst>
                </p:cNvPr>
                <p:cNvSpPr txBox="1">
                  <a:spLocks noRot="1" noChangeAspect="1" noMove="1" noResize="1" noEditPoints="1" noAdjustHandles="1" noChangeArrowheads="1" noChangeShapeType="1" noTextEdit="1"/>
                </p:cNvSpPr>
                <p:nvPr/>
              </p:nvSpPr>
              <p:spPr>
                <a:xfrm>
                  <a:off x="3560" y="1085"/>
                  <a:ext cx="275" cy="265"/>
                </a:xfrm>
                <a:prstGeom prst="rect">
                  <a:avLst/>
                </a:prstGeom>
                <a:blipFill>
                  <a:blip r:embed="rId19"/>
                  <a:stretch>
                    <a:fillRect b="-2899"/>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Object 54">
                  <a:extLst>
                    <a:ext uri="{FF2B5EF4-FFF2-40B4-BE49-F238E27FC236}">
                      <a16:creationId xmlns:a16="http://schemas.microsoft.com/office/drawing/2014/main" id="{12DD7988-9C35-4FC7-A916-54A3498BF703}"/>
                    </a:ext>
                  </a:extLst>
                </p:cNvPr>
                <p:cNvSpPr txBox="1"/>
                <p:nvPr/>
              </p:nvSpPr>
              <p:spPr>
                <a:xfrm>
                  <a:off x="4372" y="2132"/>
                  <a:ext cx="189" cy="20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𝑉</m:t>
                        </m:r>
                      </m:oMath>
                    </m:oMathPara>
                  </a14:m>
                  <a:endParaRPr lang="en-US" sz="2600"/>
                </a:p>
              </p:txBody>
            </p:sp>
          </mc:Choice>
          <mc:Fallback xmlns="">
            <p:sp>
              <p:nvSpPr>
                <p:cNvPr id="65" name="Object 54">
                  <a:extLst>
                    <a:ext uri="{FF2B5EF4-FFF2-40B4-BE49-F238E27FC236}">
                      <a16:creationId xmlns:a16="http://schemas.microsoft.com/office/drawing/2014/main" id="{12DD7988-9C35-4FC7-A916-54A3498BF703}"/>
                    </a:ext>
                  </a:extLst>
                </p:cNvPr>
                <p:cNvSpPr txBox="1">
                  <a:spLocks noRot="1" noChangeAspect="1" noMove="1" noResize="1" noEditPoints="1" noAdjustHandles="1" noChangeArrowheads="1" noChangeShapeType="1" noTextEdit="1"/>
                </p:cNvSpPr>
                <p:nvPr/>
              </p:nvSpPr>
              <p:spPr>
                <a:xfrm>
                  <a:off x="4372" y="2132"/>
                  <a:ext cx="189" cy="209"/>
                </a:xfrm>
                <a:prstGeom prst="rect">
                  <a:avLst/>
                </a:prstGeom>
                <a:blipFill>
                  <a:blip r:embed="rId12"/>
                  <a:stretch>
                    <a:fillRect b="-10909"/>
                  </a:stretch>
                </a:blipFill>
                <a:ln w="38100">
                  <a:noFill/>
                  <a:miter/>
                </a:ln>
              </p:spPr>
              <p:txBody>
                <a:bodyPr/>
                <a:lstStyle/>
                <a:p>
                  <a:r>
                    <a:rPr lang="en-US">
                      <a:noFill/>
                    </a:rPr>
                    <a:t> </a:t>
                  </a:r>
                </a:p>
              </p:txBody>
            </p:sp>
          </mc:Fallback>
        </mc:AlternateContent>
        <p:sp>
          <p:nvSpPr>
            <p:cNvPr id="66" name="Line 55">
              <a:extLst>
                <a:ext uri="{FF2B5EF4-FFF2-40B4-BE49-F238E27FC236}">
                  <a16:creationId xmlns:a16="http://schemas.microsoft.com/office/drawing/2014/main" id="{176D6A16-34A7-4049-B999-3EBE3CE14460}"/>
                </a:ext>
              </a:extLst>
            </p:cNvPr>
            <p:cNvSpPr/>
            <p:nvPr/>
          </p:nvSpPr>
          <p:spPr>
            <a:xfrm>
              <a:off x="3847" y="1883"/>
              <a:ext cx="612" cy="0"/>
            </a:xfrm>
            <a:prstGeom prst="line">
              <a:avLst/>
            </a:prstGeom>
            <a:ln w="9525" cap="flat" cmpd="sng">
              <a:solidFill>
                <a:schemeClr val="tx1"/>
              </a:solidFill>
              <a:prstDash val="dash"/>
              <a:headEnd type="none" w="med" len="med"/>
              <a:tailEnd type="none" w="med" len="med"/>
            </a:ln>
          </p:spPr>
        </p:sp>
        <p:sp>
          <p:nvSpPr>
            <p:cNvPr id="67" name="Line 56">
              <a:extLst>
                <a:ext uri="{FF2B5EF4-FFF2-40B4-BE49-F238E27FC236}">
                  <a16:creationId xmlns:a16="http://schemas.microsoft.com/office/drawing/2014/main" id="{B1408741-26B2-4991-B5E6-4F4EFC36C148}"/>
                </a:ext>
              </a:extLst>
            </p:cNvPr>
            <p:cNvSpPr/>
            <p:nvPr/>
          </p:nvSpPr>
          <p:spPr>
            <a:xfrm>
              <a:off x="4459" y="1219"/>
              <a:ext cx="0" cy="664"/>
            </a:xfrm>
            <a:prstGeom prst="line">
              <a:avLst/>
            </a:prstGeom>
            <a:ln w="25400" cap="flat" cmpd="sng">
              <a:solidFill>
                <a:srgbClr val="0000FF"/>
              </a:solidFill>
              <a:prstDash val="solid"/>
              <a:headEnd type="none" w="med" len="med"/>
              <a:tailEnd type="none" w="med" len="med"/>
            </a:ln>
          </p:spPr>
        </p:sp>
        <p:sp>
          <p:nvSpPr>
            <p:cNvPr id="68" name="Line 57">
              <a:extLst>
                <a:ext uri="{FF2B5EF4-FFF2-40B4-BE49-F238E27FC236}">
                  <a16:creationId xmlns:a16="http://schemas.microsoft.com/office/drawing/2014/main" id="{FDE9F459-CB74-4369-A39D-D36513BBFD0D}"/>
                </a:ext>
              </a:extLst>
            </p:cNvPr>
            <p:cNvSpPr/>
            <p:nvPr/>
          </p:nvSpPr>
          <p:spPr>
            <a:xfrm flipV="1">
              <a:off x="4459" y="1578"/>
              <a:ext cx="0" cy="83"/>
            </a:xfrm>
            <a:prstGeom prst="line">
              <a:avLst/>
            </a:prstGeom>
            <a:ln w="38100" cap="flat" cmpd="sng">
              <a:solidFill>
                <a:srgbClr val="0000FF"/>
              </a:solidFill>
              <a:prstDash val="solid"/>
              <a:headEnd type="triangle" w="sm" len="lg"/>
              <a:tailEnd type="none" w="med" len="lg"/>
            </a:ln>
          </p:spPr>
        </p:sp>
        <mc:AlternateContent xmlns:mc="http://schemas.openxmlformats.org/markup-compatibility/2006" xmlns:a14="http://schemas.microsoft.com/office/drawing/2010/main">
          <mc:Choice Requires="a14">
            <p:sp>
              <p:nvSpPr>
                <p:cNvPr id="69" name="Object 58">
                  <a:extLst>
                    <a:ext uri="{FF2B5EF4-FFF2-40B4-BE49-F238E27FC236}">
                      <a16:creationId xmlns:a16="http://schemas.microsoft.com/office/drawing/2014/main" id="{836E110F-D915-4DDD-AC2D-77FBB172A8AB}"/>
                    </a:ext>
                  </a:extLst>
                </p:cNvPr>
                <p:cNvSpPr txBox="1"/>
                <p:nvPr/>
              </p:nvSpPr>
              <p:spPr>
                <a:xfrm>
                  <a:off x="3639" y="904"/>
                  <a:ext cx="194" cy="21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𝑝</m:t>
                        </m:r>
                      </m:oMath>
                    </m:oMathPara>
                  </a14:m>
                  <a:endParaRPr lang="en-US" sz="2600"/>
                </a:p>
              </p:txBody>
            </p:sp>
          </mc:Choice>
          <mc:Fallback xmlns="">
            <p:sp>
              <p:nvSpPr>
                <p:cNvPr id="69" name="Object 58">
                  <a:extLst>
                    <a:ext uri="{FF2B5EF4-FFF2-40B4-BE49-F238E27FC236}">
                      <a16:creationId xmlns:a16="http://schemas.microsoft.com/office/drawing/2014/main" id="{836E110F-D915-4DDD-AC2D-77FBB172A8AB}"/>
                    </a:ext>
                  </a:extLst>
                </p:cNvPr>
                <p:cNvSpPr txBox="1">
                  <a:spLocks noRot="1" noChangeAspect="1" noMove="1" noResize="1" noEditPoints="1" noAdjustHandles="1" noChangeArrowheads="1" noChangeShapeType="1" noTextEdit="1"/>
                </p:cNvSpPr>
                <p:nvPr/>
              </p:nvSpPr>
              <p:spPr>
                <a:xfrm>
                  <a:off x="3639" y="904"/>
                  <a:ext cx="194" cy="219"/>
                </a:xfrm>
                <a:prstGeom prst="rect">
                  <a:avLst/>
                </a:prstGeom>
                <a:blipFill>
                  <a:blip r:embed="rId20"/>
                  <a:stretch>
                    <a:fillRect b="-26316"/>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Object 59">
                  <a:extLst>
                    <a:ext uri="{FF2B5EF4-FFF2-40B4-BE49-F238E27FC236}">
                      <a16:creationId xmlns:a16="http://schemas.microsoft.com/office/drawing/2014/main" id="{D24DCED8-34D3-49D9-A087-A028649FCD9A}"/>
                    </a:ext>
                  </a:extLst>
                </p:cNvPr>
                <p:cNvSpPr txBox="1"/>
                <p:nvPr/>
              </p:nvSpPr>
              <p:spPr>
                <a:xfrm>
                  <a:off x="5203" y="2173"/>
                  <a:ext cx="158" cy="16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𝑉</m:t>
                        </m:r>
                      </m:oMath>
                    </m:oMathPara>
                  </a14:m>
                  <a:endParaRPr lang="en-US" sz="2600"/>
                </a:p>
              </p:txBody>
            </p:sp>
          </mc:Choice>
          <mc:Fallback xmlns="">
            <p:sp>
              <p:nvSpPr>
                <p:cNvPr id="70" name="Object 59">
                  <a:extLst>
                    <a:ext uri="{FF2B5EF4-FFF2-40B4-BE49-F238E27FC236}">
                      <a16:creationId xmlns:a16="http://schemas.microsoft.com/office/drawing/2014/main" id="{D24DCED8-34D3-49D9-A087-A028649FCD9A}"/>
                    </a:ext>
                  </a:extLst>
                </p:cNvPr>
                <p:cNvSpPr txBox="1">
                  <a:spLocks noRot="1" noChangeAspect="1" noMove="1" noResize="1" noEditPoints="1" noAdjustHandles="1" noChangeArrowheads="1" noChangeShapeType="1" noTextEdit="1"/>
                </p:cNvSpPr>
                <p:nvPr/>
              </p:nvSpPr>
              <p:spPr>
                <a:xfrm>
                  <a:off x="5203" y="2173"/>
                  <a:ext cx="158" cy="168"/>
                </a:xfrm>
                <a:prstGeom prst="rect">
                  <a:avLst/>
                </a:prstGeom>
                <a:blipFill>
                  <a:blip r:embed="rId21"/>
                  <a:stretch>
                    <a:fillRect r="-19512" b="-36364"/>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Object 60">
                  <a:extLst>
                    <a:ext uri="{FF2B5EF4-FFF2-40B4-BE49-F238E27FC236}">
                      <a16:creationId xmlns:a16="http://schemas.microsoft.com/office/drawing/2014/main" id="{30283E74-FC80-40C6-9528-FA5765538385}"/>
                    </a:ext>
                  </a:extLst>
                </p:cNvPr>
                <p:cNvSpPr txBox="1"/>
                <p:nvPr/>
              </p:nvSpPr>
              <p:spPr>
                <a:xfrm>
                  <a:off x="3759" y="2164"/>
                  <a:ext cx="151" cy="16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𝑜</m:t>
                        </m:r>
                      </m:oMath>
                    </m:oMathPara>
                  </a14:m>
                  <a:endParaRPr lang="en-US" sz="2600"/>
                </a:p>
              </p:txBody>
            </p:sp>
          </mc:Choice>
          <mc:Fallback xmlns="">
            <p:sp>
              <p:nvSpPr>
                <p:cNvPr id="71" name="Object 60">
                  <a:extLst>
                    <a:ext uri="{FF2B5EF4-FFF2-40B4-BE49-F238E27FC236}">
                      <a16:creationId xmlns:a16="http://schemas.microsoft.com/office/drawing/2014/main" id="{30283E74-FC80-40C6-9528-FA5765538385}"/>
                    </a:ext>
                  </a:extLst>
                </p:cNvPr>
                <p:cNvSpPr txBox="1">
                  <a:spLocks noRot="1" noChangeAspect="1" noMove="1" noResize="1" noEditPoints="1" noAdjustHandles="1" noChangeArrowheads="1" noChangeShapeType="1" noTextEdit="1"/>
                </p:cNvSpPr>
                <p:nvPr/>
              </p:nvSpPr>
              <p:spPr>
                <a:xfrm>
                  <a:off x="3759" y="2164"/>
                  <a:ext cx="151" cy="164"/>
                </a:xfrm>
                <a:prstGeom prst="rect">
                  <a:avLst/>
                </a:prstGeom>
                <a:blipFill>
                  <a:blip r:embed="rId22"/>
                  <a:stretch>
                    <a:fillRect r="-5128" b="-42857"/>
                  </a:stretch>
                </a:blipFill>
                <a:ln w="38100">
                  <a:noFill/>
                  <a:miter/>
                </a:ln>
              </p:spPr>
              <p:txBody>
                <a:bodyPr/>
                <a:lstStyle/>
                <a:p>
                  <a:r>
                    <a:rPr lang="en-US">
                      <a:noFill/>
                    </a:rPr>
                    <a:t> </a:t>
                  </a:r>
                </a:p>
              </p:txBody>
            </p:sp>
          </mc:Fallback>
        </mc:AlternateContent>
        <p:sp>
          <p:nvSpPr>
            <p:cNvPr id="72" name="Text Box 61">
              <a:extLst>
                <a:ext uri="{FF2B5EF4-FFF2-40B4-BE49-F238E27FC236}">
                  <a16:creationId xmlns:a16="http://schemas.microsoft.com/office/drawing/2014/main" id="{4B6A38B9-9FDA-4B99-B1C4-E16AEDA332BE}"/>
                </a:ext>
              </a:extLst>
            </p:cNvPr>
            <p:cNvSpPr txBox="1"/>
            <p:nvPr/>
          </p:nvSpPr>
          <p:spPr>
            <a:xfrm>
              <a:off x="3126" y="845"/>
              <a:ext cx="368" cy="1536"/>
            </a:xfrm>
            <a:prstGeom prst="rect">
              <a:avLst/>
            </a:prstGeom>
            <a:solidFill>
              <a:schemeClr val="accent1"/>
            </a:solidFill>
            <a:ln w="9525" cap="flat" cmpd="sng">
              <a:solidFill>
                <a:schemeClr val="tx2"/>
              </a:solidFill>
              <a:prstDash val="solid"/>
              <a:miter/>
              <a:headEnd type="none" w="med" len="med"/>
              <a:tailEnd type="none" w="med" len="med"/>
            </a:ln>
          </p:spPr>
          <p:txBody>
            <a:bodyPr vert="eaVert">
              <a:spAutoFit/>
            </a:bodyPr>
            <a:lstStyle/>
            <a:p>
              <a:pPr algn="ctr" eaLnBrk="1" hangingPunct="1">
                <a:spcBef>
                  <a:spcPct val="50000"/>
                </a:spcBef>
              </a:pPr>
              <a:r>
                <a:rPr lang="en-US" altLang="zh-CN" sz="2600" b="1" dirty="0">
                  <a:solidFill>
                    <a:srgbClr val="CC0000"/>
                  </a:solidFill>
                  <a:latin typeface="Times New Roman" panose="02020603050405020304" pitchFamily="18" charset="0"/>
                </a:rPr>
                <a:t> </a:t>
              </a:r>
              <a:r>
                <a:rPr lang="zh-CN" altLang="en-US" sz="2600" b="1" dirty="0">
                  <a:latin typeface="Times New Roman" panose="02020603050405020304" pitchFamily="18" charset="0"/>
                </a:rPr>
                <a:t>等体</a:t>
              </a:r>
              <a:r>
                <a:rPr lang="zh-CN" altLang="en-US" sz="2600" b="1" dirty="0">
                  <a:solidFill>
                    <a:srgbClr val="0000FF"/>
                  </a:solidFill>
                  <a:latin typeface="Times New Roman" panose="02020603050405020304" pitchFamily="18" charset="0"/>
                </a:rPr>
                <a:t>降</a:t>
              </a:r>
              <a:r>
                <a:rPr lang="zh-CN" altLang="en-US" sz="2600" b="1" dirty="0">
                  <a:latin typeface="Times New Roman" panose="02020603050405020304" pitchFamily="18" charset="0"/>
                </a:rPr>
                <a:t>压</a:t>
              </a:r>
              <a:r>
                <a:rPr lang="zh-CN" altLang="en-US" sz="2600" b="1" dirty="0">
                  <a:solidFill>
                    <a:srgbClr val="CC0000"/>
                  </a:solidFill>
                  <a:latin typeface="Times New Roman" panose="02020603050405020304" pitchFamily="18" charset="0"/>
                </a:rPr>
                <a:t> </a:t>
              </a:r>
            </a:p>
          </p:txBody>
        </p:sp>
        <p:sp>
          <p:nvSpPr>
            <p:cNvPr id="73" name="Rectangle 62">
              <a:extLst>
                <a:ext uri="{FF2B5EF4-FFF2-40B4-BE49-F238E27FC236}">
                  <a16:creationId xmlns:a16="http://schemas.microsoft.com/office/drawing/2014/main" id="{12331F8C-2948-4F94-BD49-85576A4B5F2E}"/>
                </a:ext>
              </a:extLst>
            </p:cNvPr>
            <p:cNvSpPr/>
            <p:nvPr/>
          </p:nvSpPr>
          <p:spPr>
            <a:xfrm>
              <a:off x="4313" y="950"/>
              <a:ext cx="221" cy="310"/>
            </a:xfrm>
            <a:prstGeom prst="rect">
              <a:avLst/>
            </a:prstGeom>
            <a:noFill/>
            <a:ln w="9525">
              <a:noFill/>
            </a:ln>
          </p:spPr>
          <p:txBody>
            <a:bodyPr wrap="none">
              <a:spAutoFit/>
            </a:bodyPr>
            <a:lstStyle/>
            <a:p>
              <a:pPr eaLnBrk="1" hangingPunct="1"/>
              <a:r>
                <a:rPr lang="en-US" altLang="zh-CN" sz="2600" b="1" dirty="0">
                  <a:solidFill>
                    <a:srgbClr val="CC0000"/>
                  </a:solidFill>
                  <a:latin typeface="Times New Roman" panose="02020603050405020304" pitchFamily="18" charset="0"/>
                </a:rPr>
                <a:t>1</a:t>
              </a:r>
            </a:p>
          </p:txBody>
        </p:sp>
        <p:sp>
          <p:nvSpPr>
            <p:cNvPr id="74" name="Rectangle 63">
              <a:extLst>
                <a:ext uri="{FF2B5EF4-FFF2-40B4-BE49-F238E27FC236}">
                  <a16:creationId xmlns:a16="http://schemas.microsoft.com/office/drawing/2014/main" id="{569F3A1C-7ED9-46FC-9AEE-781447AB7230}"/>
                </a:ext>
              </a:extLst>
            </p:cNvPr>
            <p:cNvSpPr/>
            <p:nvPr/>
          </p:nvSpPr>
          <p:spPr>
            <a:xfrm>
              <a:off x="4313" y="1814"/>
              <a:ext cx="221" cy="310"/>
            </a:xfrm>
            <a:prstGeom prst="rect">
              <a:avLst/>
            </a:prstGeom>
            <a:noFill/>
            <a:ln w="9525">
              <a:noFill/>
            </a:ln>
          </p:spPr>
          <p:txBody>
            <a:bodyPr wrap="none">
              <a:spAutoFit/>
            </a:bodyPr>
            <a:lstStyle/>
            <a:p>
              <a:pPr eaLnBrk="1" hangingPunct="1"/>
              <a:r>
                <a:rPr lang="en-US" altLang="zh-CN" sz="2600" b="1" dirty="0">
                  <a:solidFill>
                    <a:srgbClr val="CC0000"/>
                  </a:solidFill>
                  <a:latin typeface="Times New Roman" panose="02020603050405020304" pitchFamily="18" charset="0"/>
                </a:rPr>
                <a:t>2</a:t>
              </a:r>
            </a:p>
          </p:txBody>
        </p:sp>
      </p:grpSp>
    </p:spTree>
    <p:extLst>
      <p:ext uri="{BB962C8B-B14F-4D97-AF65-F5344CB8AC3E}">
        <p14:creationId xmlns:p14="http://schemas.microsoft.com/office/powerpoint/2010/main" val="356021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98" name="Group 2"/>
          <p:cNvGrpSpPr/>
          <p:nvPr/>
        </p:nvGrpSpPr>
        <p:grpSpPr>
          <a:xfrm>
            <a:off x="840583" y="1696309"/>
            <a:ext cx="3352800" cy="3124200"/>
            <a:chOff x="3216" y="1553"/>
            <a:chExt cx="2112" cy="1968"/>
          </a:xfrm>
        </p:grpSpPr>
        <p:sp>
          <p:nvSpPr>
            <p:cNvPr id="16413" name="Rectangle 3"/>
            <p:cNvSpPr/>
            <p:nvPr/>
          </p:nvSpPr>
          <p:spPr>
            <a:xfrm>
              <a:off x="3216" y="1553"/>
              <a:ext cx="2112" cy="1968"/>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6390" name="Object 4"/>
                <p:cNvSpPr txBox="1"/>
                <p:nvPr/>
              </p:nvSpPr>
              <p:spPr>
                <a:xfrm>
                  <a:off x="4550" y="3144"/>
                  <a:ext cx="219" cy="28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2</m:t>
                            </m:r>
                          </m:sub>
                        </m:sSub>
                      </m:oMath>
                    </m:oMathPara>
                  </a14:m>
                  <a:endParaRPr lang="en-US" sz="2800"/>
                </a:p>
              </p:txBody>
            </p:sp>
          </mc:Choice>
          <mc:Fallback xmlns="">
            <p:sp>
              <p:nvSpPr>
                <p:cNvPr id="16390" name="Object 4"/>
                <p:cNvSpPr txBox="1">
                  <a:spLocks noRot="1" noChangeAspect="1" noMove="1" noResize="1" noEditPoints="1" noAdjustHandles="1" noChangeArrowheads="1" noChangeShapeType="1" noTextEdit="1"/>
                </p:cNvSpPr>
                <p:nvPr/>
              </p:nvSpPr>
              <p:spPr>
                <a:xfrm>
                  <a:off x="4550" y="3144"/>
                  <a:ext cx="219" cy="286"/>
                </a:xfrm>
                <a:prstGeom prst="rect">
                  <a:avLst/>
                </a:prstGeom>
                <a:blipFill>
                  <a:blip r:embed="rId3"/>
                  <a:stretch>
                    <a:fillRect r="-12281" b="-2703"/>
                  </a:stretch>
                </a:blipFill>
                <a:ln w="38100">
                  <a:noFill/>
                  <a:miter/>
                </a:ln>
              </p:spPr>
              <p:txBody>
                <a:bodyPr/>
                <a:lstStyle/>
                <a:p>
                  <a:r>
                    <a:rPr lang="en-US">
                      <a:noFill/>
                    </a:rPr>
                    <a:t> </a:t>
                  </a:r>
                </a:p>
              </p:txBody>
            </p:sp>
          </mc:Fallback>
        </mc:AlternateContent>
        <p:sp>
          <p:nvSpPr>
            <p:cNvPr id="16414" name="Line 5"/>
            <p:cNvSpPr/>
            <p:nvPr/>
          </p:nvSpPr>
          <p:spPr>
            <a:xfrm>
              <a:off x="3504" y="3137"/>
              <a:ext cx="1680" cy="0"/>
            </a:xfrm>
            <a:prstGeom prst="line">
              <a:avLst/>
            </a:prstGeom>
            <a:ln w="19050" cap="flat" cmpd="sng">
              <a:solidFill>
                <a:schemeClr val="tx1"/>
              </a:solidFill>
              <a:prstDash val="solid"/>
              <a:headEnd type="none" w="med" len="med"/>
              <a:tailEnd type="triangle" w="sm" len="lg"/>
            </a:ln>
          </p:spPr>
        </p:sp>
        <p:sp>
          <p:nvSpPr>
            <p:cNvPr id="16415" name="Line 6"/>
            <p:cNvSpPr/>
            <p:nvPr/>
          </p:nvSpPr>
          <p:spPr>
            <a:xfrm flipV="1">
              <a:off x="3494" y="1704"/>
              <a:ext cx="0" cy="1440"/>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6391" name="Object 7"/>
                <p:cNvSpPr txBox="1"/>
                <p:nvPr/>
              </p:nvSpPr>
              <p:spPr>
                <a:xfrm>
                  <a:off x="3504" y="1835"/>
                  <a:ext cx="777" cy="27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𝑝</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6391" name="Object 7"/>
                <p:cNvSpPr txBox="1">
                  <a:spLocks noRot="1" noChangeAspect="1" noMove="1" noResize="1" noEditPoints="1" noAdjustHandles="1" noChangeArrowheads="1" noChangeShapeType="1" noTextEdit="1"/>
                </p:cNvSpPr>
                <p:nvPr/>
              </p:nvSpPr>
              <p:spPr>
                <a:xfrm>
                  <a:off x="3504" y="1835"/>
                  <a:ext cx="777" cy="276"/>
                </a:xfrm>
                <a:prstGeom prst="rect">
                  <a:avLst/>
                </a:prstGeom>
                <a:blipFill>
                  <a:blip r:embed="rId4"/>
                  <a:stretch>
                    <a:fillRect r="-20792" b="-6944"/>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2" name="Object 8"/>
                <p:cNvSpPr txBox="1"/>
                <p:nvPr/>
              </p:nvSpPr>
              <p:spPr>
                <a:xfrm>
                  <a:off x="4464" y="1841"/>
                  <a:ext cx="729" cy="26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𝑝</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6392" name="Object 8"/>
                <p:cNvSpPr txBox="1">
                  <a:spLocks noRot="1" noChangeAspect="1" noMove="1" noResize="1" noEditPoints="1" noAdjustHandles="1" noChangeArrowheads="1" noChangeShapeType="1" noTextEdit="1"/>
                </p:cNvSpPr>
                <p:nvPr/>
              </p:nvSpPr>
              <p:spPr>
                <a:xfrm>
                  <a:off x="4464" y="1841"/>
                  <a:ext cx="729" cy="262"/>
                </a:xfrm>
                <a:prstGeom prst="rect">
                  <a:avLst/>
                </a:prstGeom>
                <a:blipFill>
                  <a:blip r:embed="rId5"/>
                  <a:stretch>
                    <a:fillRect r="-29474" b="-13235"/>
                  </a:stretch>
                </a:blipFill>
                <a:ln w="38100">
                  <a:noFill/>
                  <a:miter/>
                </a:ln>
              </p:spPr>
              <p:txBody>
                <a:bodyPr/>
                <a:lstStyle/>
                <a:p>
                  <a:r>
                    <a:rPr lang="en-US">
                      <a:noFill/>
                    </a:rPr>
                    <a:t> </a:t>
                  </a:r>
                </a:p>
              </p:txBody>
            </p:sp>
          </mc:Fallback>
        </mc:AlternateContent>
        <p:sp>
          <p:nvSpPr>
            <p:cNvPr id="16416" name="Line 9"/>
            <p:cNvSpPr/>
            <p:nvPr/>
          </p:nvSpPr>
          <p:spPr>
            <a:xfrm>
              <a:off x="3974" y="2184"/>
              <a:ext cx="0" cy="963"/>
            </a:xfrm>
            <a:prstGeom prst="line">
              <a:avLst/>
            </a:prstGeom>
            <a:ln w="12700" cap="flat" cmpd="sng">
              <a:solidFill>
                <a:schemeClr val="tx1"/>
              </a:solidFill>
              <a:prstDash val="dash"/>
              <a:headEnd type="none" w="med" len="med"/>
              <a:tailEnd type="none" w="med" len="med"/>
            </a:ln>
          </p:spPr>
        </p:sp>
        <p:sp>
          <p:nvSpPr>
            <p:cNvPr id="16417" name="Line 10"/>
            <p:cNvSpPr/>
            <p:nvPr/>
          </p:nvSpPr>
          <p:spPr>
            <a:xfrm flipH="1">
              <a:off x="3494" y="2184"/>
              <a:ext cx="480" cy="0"/>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16393" name="Object 11"/>
                <p:cNvSpPr txBox="1"/>
                <p:nvPr/>
              </p:nvSpPr>
              <p:spPr>
                <a:xfrm>
                  <a:off x="3220" y="2040"/>
                  <a:ext cx="217" cy="25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p>
              </p:txBody>
            </p:sp>
          </mc:Choice>
          <mc:Fallback xmlns="">
            <p:sp>
              <p:nvSpPr>
                <p:cNvPr id="16393" name="Object 11"/>
                <p:cNvSpPr txBox="1">
                  <a:spLocks noRot="1" noChangeAspect="1" noMove="1" noResize="1" noEditPoints="1" noAdjustHandles="1" noChangeArrowheads="1" noChangeShapeType="1" noTextEdit="1"/>
                </p:cNvSpPr>
                <p:nvPr/>
              </p:nvSpPr>
              <p:spPr>
                <a:xfrm>
                  <a:off x="3220" y="2040"/>
                  <a:ext cx="217" cy="256"/>
                </a:xfrm>
                <a:prstGeom prst="rect">
                  <a:avLst/>
                </a:prstGeom>
                <a:blipFill>
                  <a:blip r:embed="rId6"/>
                  <a:stretch>
                    <a:fillRect b="-13433"/>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4" name="Object 12"/>
                <p:cNvSpPr txBox="1"/>
                <p:nvPr/>
              </p:nvSpPr>
              <p:spPr>
                <a:xfrm>
                  <a:off x="3870" y="3144"/>
                  <a:ext cx="202" cy="28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oMath>
                    </m:oMathPara>
                  </a14:m>
                  <a:endParaRPr lang="en-US" sz="2800"/>
                </a:p>
              </p:txBody>
            </p:sp>
          </mc:Choice>
          <mc:Fallback xmlns="">
            <p:sp>
              <p:nvSpPr>
                <p:cNvPr id="16394" name="Object 12"/>
                <p:cNvSpPr txBox="1">
                  <a:spLocks noRot="1" noChangeAspect="1" noMove="1" noResize="1" noEditPoints="1" noAdjustHandles="1" noChangeArrowheads="1" noChangeShapeType="1" noTextEdit="1"/>
                </p:cNvSpPr>
                <p:nvPr/>
              </p:nvSpPr>
              <p:spPr>
                <a:xfrm>
                  <a:off x="3870" y="3144"/>
                  <a:ext cx="202" cy="286"/>
                </a:xfrm>
                <a:prstGeom prst="rect">
                  <a:avLst/>
                </a:prstGeom>
                <a:blipFill>
                  <a:blip r:embed="rId7"/>
                  <a:stretch>
                    <a:fillRect r="-20755" b="-2703"/>
                  </a:stretch>
                </a:blipFill>
                <a:ln w="38100">
                  <a:noFill/>
                  <a:miter/>
                </a:ln>
              </p:spPr>
              <p:txBody>
                <a:bodyPr/>
                <a:lstStyle/>
                <a:p>
                  <a:r>
                    <a:rPr lang="en-US">
                      <a:noFill/>
                    </a:rPr>
                    <a:t> </a:t>
                  </a:r>
                </a:p>
              </p:txBody>
            </p:sp>
          </mc:Fallback>
        </mc:AlternateContent>
        <p:sp>
          <p:nvSpPr>
            <p:cNvPr id="16418" name="Line 13"/>
            <p:cNvSpPr/>
            <p:nvPr/>
          </p:nvSpPr>
          <p:spPr>
            <a:xfrm>
              <a:off x="3974" y="2184"/>
              <a:ext cx="672" cy="0"/>
            </a:xfrm>
            <a:prstGeom prst="line">
              <a:avLst/>
            </a:prstGeom>
            <a:ln w="38100" cap="flat" cmpd="sng">
              <a:solidFill>
                <a:srgbClr val="0000FF"/>
              </a:solidFill>
              <a:prstDash val="solid"/>
              <a:headEnd type="none" w="med" len="med"/>
              <a:tailEnd type="none" w="med" len="med"/>
            </a:ln>
          </p:spPr>
        </p:sp>
        <p:sp>
          <p:nvSpPr>
            <p:cNvPr id="16419" name="Line 14"/>
            <p:cNvSpPr/>
            <p:nvPr/>
          </p:nvSpPr>
          <p:spPr>
            <a:xfrm>
              <a:off x="4646" y="2184"/>
              <a:ext cx="0" cy="960"/>
            </a:xfrm>
            <a:prstGeom prst="line">
              <a:avLst/>
            </a:prstGeom>
            <a:ln w="12700" cap="flat" cmpd="sng">
              <a:solidFill>
                <a:schemeClr val="tx1"/>
              </a:solidFill>
              <a:prstDash val="dash"/>
              <a:headEnd type="none" w="med" len="med"/>
              <a:tailEnd type="none" w="med" len="med"/>
            </a:ln>
          </p:spPr>
        </p:sp>
        <p:sp>
          <p:nvSpPr>
            <p:cNvPr id="16420" name="Line 15"/>
            <p:cNvSpPr/>
            <p:nvPr/>
          </p:nvSpPr>
          <p:spPr>
            <a:xfrm>
              <a:off x="4272" y="2177"/>
              <a:ext cx="96" cy="0"/>
            </a:xfrm>
            <a:prstGeom prst="line">
              <a:avLst/>
            </a:prstGeom>
            <a:ln w="38100" cap="flat" cmpd="sng">
              <a:solidFill>
                <a:srgbClr val="0000FF"/>
              </a:solidFill>
              <a:prstDash val="solid"/>
              <a:headEnd type="none" w="med" len="med"/>
              <a:tailEnd type="triangle" w="med" len="lg"/>
            </a:ln>
          </p:spPr>
        </p:sp>
        <mc:AlternateContent xmlns:mc="http://schemas.openxmlformats.org/markup-compatibility/2006" xmlns:a14="http://schemas.microsoft.com/office/drawing/2010/main">
          <mc:Choice Requires="a14">
            <p:sp>
              <p:nvSpPr>
                <p:cNvPr id="16395" name="Object 16"/>
                <p:cNvSpPr txBox="1"/>
                <p:nvPr/>
              </p:nvSpPr>
              <p:spPr>
                <a:xfrm>
                  <a:off x="3222" y="1641"/>
                  <a:ext cx="214" cy="25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p>
              </p:txBody>
            </p:sp>
          </mc:Choice>
          <mc:Fallback xmlns="">
            <p:sp>
              <p:nvSpPr>
                <p:cNvPr id="16395" name="Object 16"/>
                <p:cNvSpPr txBox="1">
                  <a:spLocks noRot="1" noChangeAspect="1" noMove="1" noResize="1" noEditPoints="1" noAdjustHandles="1" noChangeArrowheads="1" noChangeShapeType="1" noTextEdit="1"/>
                </p:cNvSpPr>
                <p:nvPr/>
              </p:nvSpPr>
              <p:spPr>
                <a:xfrm>
                  <a:off x="3222" y="1641"/>
                  <a:ext cx="214" cy="254"/>
                </a:xfrm>
                <a:prstGeom prst="rect">
                  <a:avLst/>
                </a:prstGeom>
                <a:blipFill>
                  <a:blip r:embed="rId8"/>
                  <a:stretch>
                    <a:fillRect b="-15152"/>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6" name="Object 17"/>
                <p:cNvSpPr txBox="1"/>
                <p:nvPr/>
              </p:nvSpPr>
              <p:spPr>
                <a:xfrm>
                  <a:off x="5032" y="3192"/>
                  <a:ext cx="173" cy="19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p>
              </p:txBody>
            </p:sp>
          </mc:Choice>
          <mc:Fallback xmlns="">
            <p:sp>
              <p:nvSpPr>
                <p:cNvPr id="16396" name="Object 17"/>
                <p:cNvSpPr txBox="1">
                  <a:spLocks noRot="1" noChangeAspect="1" noMove="1" noResize="1" noEditPoints="1" noAdjustHandles="1" noChangeArrowheads="1" noChangeShapeType="1" noTextEdit="1"/>
                </p:cNvSpPr>
                <p:nvPr/>
              </p:nvSpPr>
              <p:spPr>
                <a:xfrm>
                  <a:off x="5032" y="3192"/>
                  <a:ext cx="173" cy="193"/>
                </a:xfrm>
                <a:prstGeom prst="rect">
                  <a:avLst/>
                </a:prstGeom>
                <a:blipFill>
                  <a:blip r:embed="rId9"/>
                  <a:stretch>
                    <a:fillRect r="-13333" b="-30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7" name="Object 18"/>
                <p:cNvSpPr txBox="1"/>
                <p:nvPr/>
              </p:nvSpPr>
              <p:spPr>
                <a:xfrm>
                  <a:off x="3408" y="3176"/>
                  <a:ext cx="169" cy="19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dirty="0"/>
                </a:p>
              </p:txBody>
            </p:sp>
          </mc:Choice>
          <mc:Fallback xmlns="">
            <p:sp>
              <p:nvSpPr>
                <p:cNvPr id="16397" name="Object 18"/>
                <p:cNvSpPr txBox="1">
                  <a:spLocks noRot="1" noChangeAspect="1" noMove="1" noResize="1" noEditPoints="1" noAdjustHandles="1" noChangeArrowheads="1" noChangeShapeType="1" noTextEdit="1"/>
                </p:cNvSpPr>
                <p:nvPr/>
              </p:nvSpPr>
              <p:spPr>
                <a:xfrm>
                  <a:off x="3408" y="3176"/>
                  <a:ext cx="169" cy="195"/>
                </a:xfrm>
                <a:prstGeom prst="rect">
                  <a:avLst/>
                </a:prstGeom>
                <a:blipFill>
                  <a:blip r:embed="rId10"/>
                  <a:stretch>
                    <a:fillRect b="-25490"/>
                  </a:stretch>
                </a:blipFill>
                <a:ln w="38100">
                  <a:noFill/>
                  <a:miter/>
                </a:ln>
              </p:spPr>
              <p:txBody>
                <a:bodyPr/>
                <a:lstStyle/>
                <a:p>
                  <a:r>
                    <a:rPr lang="en-US">
                      <a:noFill/>
                    </a:rPr>
                    <a:t> </a:t>
                  </a:r>
                </a:p>
              </p:txBody>
            </p:sp>
          </mc:Fallback>
        </mc:AlternateContent>
        <p:sp>
          <p:nvSpPr>
            <p:cNvPr id="16421" name="Text Box 19"/>
            <p:cNvSpPr txBox="1"/>
            <p:nvPr/>
          </p:nvSpPr>
          <p:spPr>
            <a:xfrm>
              <a:off x="3787" y="2115"/>
              <a:ext cx="240" cy="330"/>
            </a:xfrm>
            <a:prstGeom prst="rect">
              <a:avLst/>
            </a:prstGeom>
            <a:noFill/>
            <a:ln w="9525">
              <a:noFill/>
            </a:ln>
          </p:spPr>
          <p:txBody>
            <a:bodyPr>
              <a:spAutoFit/>
            </a:bodyPr>
            <a:lstStyle/>
            <a:p>
              <a:pPr eaLnBrk="1" hangingPunct="1">
                <a:spcBef>
                  <a:spcPct val="50000"/>
                </a:spcBef>
              </a:pPr>
              <a:r>
                <a:rPr lang="en-US" altLang="zh-CN" sz="2800" b="1" dirty="0">
                  <a:solidFill>
                    <a:srgbClr val="CC0000"/>
                  </a:solidFill>
                  <a:latin typeface="Times New Roman" panose="02020603050405020304" pitchFamily="18" charset="0"/>
                </a:rPr>
                <a:t>1</a:t>
              </a:r>
            </a:p>
          </p:txBody>
        </p:sp>
        <p:sp>
          <p:nvSpPr>
            <p:cNvPr id="16422" name="Text Box 20"/>
            <p:cNvSpPr txBox="1"/>
            <p:nvPr/>
          </p:nvSpPr>
          <p:spPr>
            <a:xfrm>
              <a:off x="4640" y="2113"/>
              <a:ext cx="220" cy="330"/>
            </a:xfrm>
            <a:prstGeom prst="rect">
              <a:avLst/>
            </a:prstGeom>
            <a:noFill/>
            <a:ln w="9525">
              <a:noFill/>
            </a:ln>
          </p:spPr>
          <p:txBody>
            <a:bodyPr>
              <a:spAutoFit/>
            </a:bodyPr>
            <a:lstStyle/>
            <a:p>
              <a:pPr eaLnBrk="1" hangingPunct="1">
                <a:spcBef>
                  <a:spcPct val="50000"/>
                </a:spcBef>
              </a:pPr>
              <a:r>
                <a:rPr lang="en-US" altLang="zh-CN" sz="2800" b="1" dirty="0">
                  <a:solidFill>
                    <a:srgbClr val="CC0000"/>
                  </a:solidFill>
                  <a:latin typeface="Times New Roman" panose="02020603050405020304" pitchFamily="18" charset="0"/>
                </a:rPr>
                <a:t>2</a:t>
              </a:r>
            </a:p>
          </p:txBody>
        </p:sp>
      </p:grpSp>
      <p:grpSp>
        <p:nvGrpSpPr>
          <p:cNvPr id="3" name="Group 22"/>
          <p:cNvGrpSpPr/>
          <p:nvPr/>
        </p:nvGrpSpPr>
        <p:grpSpPr>
          <a:xfrm>
            <a:off x="5744370" y="1872519"/>
            <a:ext cx="4906962" cy="523875"/>
            <a:chOff x="300" y="1513"/>
            <a:chExt cx="3091" cy="330"/>
          </a:xfrm>
        </p:grpSpPr>
        <p:sp>
          <p:nvSpPr>
            <p:cNvPr id="16412" name="Text Box 23"/>
            <p:cNvSpPr txBox="1"/>
            <p:nvPr/>
          </p:nvSpPr>
          <p:spPr>
            <a:xfrm>
              <a:off x="300" y="1513"/>
              <a:ext cx="3091" cy="330"/>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过程方程                 常量</a:t>
              </a:r>
            </a:p>
          </p:txBody>
        </p:sp>
        <mc:AlternateContent xmlns:mc="http://schemas.openxmlformats.org/markup-compatibility/2006" xmlns:a14="http://schemas.microsoft.com/office/drawing/2010/main">
          <mc:Choice Requires="a14">
            <p:sp>
              <p:nvSpPr>
                <p:cNvPr id="16389" name="Object 24"/>
                <p:cNvSpPr txBox="1"/>
                <p:nvPr/>
              </p:nvSpPr>
              <p:spPr>
                <a:xfrm>
                  <a:off x="1182" y="1513"/>
                  <a:ext cx="1213" cy="31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𝑉</m:t>
                        </m:r>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𝑇</m:t>
                            </m:r>
                          </m:e>
                          <m:sup>
                            <m:r>
                              <a:rPr lang="en-US" sz="2800" b="0" i="1" smtClean="0">
                                <a:solidFill>
                                  <a:srgbClr val="000000"/>
                                </a:solidFill>
                                <a:latin typeface="Cambria Math" panose="02040503050406030204" pitchFamily="18" charset="0"/>
                              </a:rPr>
                              <m:t>−1</m:t>
                            </m:r>
                          </m:sup>
                        </m:sSup>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16389" name="Object 24"/>
                <p:cNvSpPr txBox="1">
                  <a:spLocks noRot="1" noChangeAspect="1" noMove="1" noResize="1" noEditPoints="1" noAdjustHandles="1" noChangeArrowheads="1" noChangeShapeType="1" noTextEdit="1"/>
                </p:cNvSpPr>
                <p:nvPr/>
              </p:nvSpPr>
              <p:spPr>
                <a:xfrm>
                  <a:off x="1182" y="1513"/>
                  <a:ext cx="1213" cy="317"/>
                </a:xfrm>
                <a:prstGeom prst="rect">
                  <a:avLst/>
                </a:prstGeom>
                <a:blipFill>
                  <a:blip r:embed="rId11"/>
                  <a:stretch>
                    <a:fillRect/>
                  </a:stretch>
                </a:blipFill>
                <a:ln w="38100">
                  <a:noFill/>
                  <a:miter/>
                </a:ln>
              </p:spPr>
              <p:txBody>
                <a:bodyPr/>
                <a:lstStyle/>
                <a:p>
                  <a:r>
                    <a:rPr lang="zh-CN" altLang="en-US">
                      <a:noFill/>
                    </a:rPr>
                    <a:t> </a:t>
                  </a:r>
                </a:p>
              </p:txBody>
            </p:sp>
          </mc:Fallback>
        </mc:AlternateContent>
      </p:grpSp>
      <p:sp>
        <p:nvSpPr>
          <p:cNvPr id="424985" name="Text Box 25"/>
          <p:cNvSpPr txBox="1">
            <a:spLocks noChangeArrowheads="1"/>
          </p:cNvSpPr>
          <p:nvPr/>
        </p:nvSpPr>
        <p:spPr bwMode="auto">
          <a:xfrm>
            <a:off x="5798345" y="3517827"/>
            <a:ext cx="3457575" cy="523220"/>
          </a:xfrm>
          <a:prstGeom prst="rect">
            <a:avLst/>
          </a:prstGeom>
          <a:noFill/>
          <a:ln w="9525">
            <a:noFill/>
            <a:miter lim="800000"/>
          </a:ln>
          <a:effectLst/>
        </p:spPr>
        <p:txBody>
          <a:bodyPr>
            <a:spAutoFit/>
          </a:bodyPr>
          <a:lstStyle/>
          <a:p>
            <a:pPr>
              <a:spcBef>
                <a:spcPct val="50000"/>
              </a:spcBef>
              <a:defRPr/>
            </a:pPr>
            <a:r>
              <a:rPr kumimoji="1" lang="zh-CN" altLang="en-US" sz="2800" dirty="0">
                <a:solidFill>
                  <a:srgbClr val="000000"/>
                </a:solidFill>
                <a:latin typeface="华文楷体" panose="02010600040101010101" pitchFamily="2" charset="-122"/>
                <a:ea typeface="华文楷体" panose="02010600040101010101" pitchFamily="2" charset="-122"/>
              </a:rPr>
              <a:t>由热力学第一定律</a:t>
            </a:r>
          </a:p>
        </p:txBody>
      </p:sp>
      <mc:AlternateContent xmlns:mc="http://schemas.openxmlformats.org/markup-compatibility/2006" xmlns:a14="http://schemas.microsoft.com/office/drawing/2010/main">
        <mc:Choice Requires="a14">
          <p:sp>
            <p:nvSpPr>
              <p:cNvPr id="424986" name="Object 26"/>
              <p:cNvSpPr txBox="1"/>
              <p:nvPr/>
            </p:nvSpPr>
            <p:spPr>
              <a:xfrm>
                <a:off x="6201797" y="4303845"/>
                <a:ext cx="3019425" cy="74168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0000"/>
                          </a:solidFill>
                          <a:latin typeface="Cambria Math" panose="02040503050406030204" pitchFamily="18" charset="0"/>
                        </a:rPr>
                        <m:t>d</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𝑄</m:t>
                          </m:r>
                        </m:e>
                        <m:sub>
                          <m:r>
                            <a:rPr lang="en-US" sz="2800" b="0" i="1" smtClean="0">
                              <a:solidFill>
                                <a:srgbClr val="000000"/>
                              </a:solidFill>
                              <a:latin typeface="Cambria Math" panose="02040503050406030204" pitchFamily="18" charset="0"/>
                            </a:rPr>
                            <m:t>𝑝</m:t>
                          </m:r>
                        </m:sub>
                      </m:sSub>
                      <m:r>
                        <a:rPr lang="en-US" sz="2800" b="0" i="1" smtClean="0">
                          <a:solidFill>
                            <a:srgbClr val="000000"/>
                          </a:solidFill>
                          <a:latin typeface="Cambria Math" panose="02040503050406030204" pitchFamily="18" charset="0"/>
                        </a:rPr>
                        <m:t>=</m:t>
                      </m:r>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𝐸</m:t>
                      </m:r>
                      <m:r>
                        <a:rPr lang="en-US" sz="2800" b="0" i="1" smtClean="0">
                          <a:solidFill>
                            <a:srgbClr val="000000"/>
                          </a:solidFill>
                          <a:latin typeface="Cambria Math" panose="02040503050406030204" pitchFamily="18" charset="0"/>
                        </a:rPr>
                        <m:t>+</m:t>
                      </m:r>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𝐴</m:t>
                      </m:r>
                    </m:oMath>
                  </m:oMathPara>
                </a14:m>
                <a:endParaRPr lang="en-US" sz="2800" dirty="0"/>
              </a:p>
            </p:txBody>
          </p:sp>
        </mc:Choice>
        <mc:Fallback xmlns="">
          <p:sp>
            <p:nvSpPr>
              <p:cNvPr id="424986" name="Object 26"/>
              <p:cNvSpPr txBox="1">
                <a:spLocks noRot="1" noChangeAspect="1" noMove="1" noResize="1" noEditPoints="1" noAdjustHandles="1" noChangeArrowheads="1" noChangeShapeType="1" noTextEdit="1"/>
              </p:cNvSpPr>
              <p:nvPr/>
            </p:nvSpPr>
            <p:spPr>
              <a:xfrm>
                <a:off x="6201797" y="4303845"/>
                <a:ext cx="3019425" cy="741680"/>
              </a:xfrm>
              <a:prstGeom prst="rect">
                <a:avLst/>
              </a:prstGeom>
              <a:blipFill>
                <a:blip r:embed="rId12"/>
                <a:stretch>
                  <a:fillRect/>
                </a:stretch>
              </a:blipFill>
              <a:ln w="38100">
                <a:noFill/>
                <a:miter/>
              </a:ln>
            </p:spPr>
            <p:txBody>
              <a:bodyPr/>
              <a:lstStyle/>
              <a:p>
                <a:r>
                  <a:rPr lang="zh-CN" altLang="en-US">
                    <a:noFill/>
                  </a:rPr>
                  <a:t> </a:t>
                </a:r>
              </a:p>
            </p:txBody>
          </p:sp>
        </mc:Fallback>
      </mc:AlternateContent>
      <p:grpSp>
        <p:nvGrpSpPr>
          <p:cNvPr id="4" name="Group 27"/>
          <p:cNvGrpSpPr/>
          <p:nvPr/>
        </p:nvGrpSpPr>
        <p:grpSpPr>
          <a:xfrm>
            <a:off x="5798345" y="1115287"/>
            <a:ext cx="4616918" cy="525463"/>
            <a:chOff x="816" y="847"/>
            <a:chExt cx="2160" cy="331"/>
          </a:xfrm>
        </p:grpSpPr>
        <p:sp>
          <p:nvSpPr>
            <p:cNvPr id="16411" name="Text Box 28"/>
            <p:cNvSpPr txBox="1"/>
            <p:nvPr/>
          </p:nvSpPr>
          <p:spPr>
            <a:xfrm>
              <a:off x="816" y="848"/>
              <a:ext cx="2160" cy="330"/>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特性            常量</a:t>
              </a:r>
            </a:p>
          </p:txBody>
        </p:sp>
        <mc:AlternateContent xmlns:mc="http://schemas.openxmlformats.org/markup-compatibility/2006" xmlns:a14="http://schemas.microsoft.com/office/drawing/2010/main">
          <mc:Choice Requires="a14">
            <p:sp>
              <p:nvSpPr>
                <p:cNvPr id="16388" name="Object 29"/>
                <p:cNvSpPr txBox="1"/>
                <p:nvPr/>
              </p:nvSpPr>
              <p:spPr>
                <a:xfrm>
                  <a:off x="1242" y="847"/>
                  <a:ext cx="512" cy="29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16388" name="Object 29"/>
                <p:cNvSpPr txBox="1">
                  <a:spLocks noRot="1" noChangeAspect="1" noMove="1" noResize="1" noEditPoints="1" noAdjustHandles="1" noChangeArrowheads="1" noChangeShapeType="1" noTextEdit="1"/>
                </p:cNvSpPr>
                <p:nvPr/>
              </p:nvSpPr>
              <p:spPr>
                <a:xfrm>
                  <a:off x="1242" y="847"/>
                  <a:ext cx="512" cy="291"/>
                </a:xfrm>
                <a:prstGeom prst="rect">
                  <a:avLst/>
                </a:prstGeom>
                <a:blipFill>
                  <a:blip r:embed="rId13"/>
                  <a:stretch>
                    <a:fillRect/>
                  </a:stretch>
                </a:blipFill>
                <a:ln w="38100">
                  <a:noFill/>
                  <a:miter/>
                </a:ln>
              </p:spPr>
              <p:txBody>
                <a:bodyPr/>
                <a:lstStyle/>
                <a:p>
                  <a:r>
                    <a:rPr lang="zh-CN" altLang="en-US">
                      <a:noFill/>
                    </a:rPr>
                    <a:t> </a:t>
                  </a:r>
                </a:p>
              </p:txBody>
            </p:sp>
          </mc:Fallback>
        </mc:AlternateContent>
      </p:grpSp>
      <p:grpSp>
        <p:nvGrpSpPr>
          <p:cNvPr id="5" name="Group 30"/>
          <p:cNvGrpSpPr/>
          <p:nvPr/>
        </p:nvGrpSpPr>
        <p:grpSpPr>
          <a:xfrm>
            <a:off x="6099946" y="2724540"/>
            <a:ext cx="5683501" cy="552450"/>
            <a:chOff x="633" y="1997"/>
            <a:chExt cx="1453" cy="348"/>
          </a:xfrm>
        </p:grpSpPr>
        <mc:AlternateContent xmlns:mc="http://schemas.openxmlformats.org/markup-compatibility/2006" xmlns:a14="http://schemas.microsoft.com/office/drawing/2010/main">
          <mc:Choice Requires="a14">
            <p:sp>
              <p:nvSpPr>
                <p:cNvPr id="16387" name="Object 31"/>
                <p:cNvSpPr txBox="1"/>
                <p:nvPr/>
              </p:nvSpPr>
              <p:spPr>
                <a:xfrm>
                  <a:off x="779" y="1997"/>
                  <a:ext cx="1307" cy="30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𝐴</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𝑝</m:t>
                        </m:r>
                        <m:d>
                          <m:dPr>
                            <m:ctrlPr>
                              <a:rPr lang="en-US" sz="2800" b="0" i="1" smtClean="0">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2</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1</m:t>
                                </m:r>
                              </m:sub>
                            </m:sSub>
                          </m:e>
                        </m:d>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6387" name="Object 31"/>
                <p:cNvSpPr txBox="1">
                  <a:spLocks noRot="1" noChangeAspect="1" noMove="1" noResize="1" noEditPoints="1" noAdjustHandles="1" noChangeArrowheads="1" noChangeShapeType="1" noTextEdit="1"/>
                </p:cNvSpPr>
                <p:nvPr/>
              </p:nvSpPr>
              <p:spPr>
                <a:xfrm>
                  <a:off x="779" y="1997"/>
                  <a:ext cx="1307" cy="308"/>
                </a:xfrm>
                <a:prstGeom prst="rect">
                  <a:avLst/>
                </a:prstGeom>
                <a:blipFill>
                  <a:blip r:embed="rId14"/>
                  <a:stretch>
                    <a:fillRect/>
                  </a:stretch>
                </a:blipFill>
                <a:ln w="38100">
                  <a:noFill/>
                  <a:miter/>
                </a:ln>
              </p:spPr>
              <p:txBody>
                <a:bodyPr/>
                <a:lstStyle/>
                <a:p>
                  <a:r>
                    <a:rPr lang="en-US">
                      <a:noFill/>
                    </a:rPr>
                    <a:t> </a:t>
                  </a:r>
                </a:p>
              </p:txBody>
            </p:sp>
          </mc:Fallback>
        </mc:AlternateContent>
        <p:sp>
          <p:nvSpPr>
            <p:cNvPr id="16410" name="Text Box 32"/>
            <p:cNvSpPr txBox="1"/>
            <p:nvPr/>
          </p:nvSpPr>
          <p:spPr>
            <a:xfrm>
              <a:off x="633" y="2015"/>
              <a:ext cx="412" cy="330"/>
            </a:xfrm>
            <a:prstGeom prst="rect">
              <a:avLst/>
            </a:prstGeom>
            <a:noFill/>
            <a:ln w="9525">
              <a:noFill/>
            </a:ln>
          </p:spPr>
          <p:txBody>
            <a:bodyPr wrap="square">
              <a:spAutoFit/>
            </a:bodyPr>
            <a:lstStyle/>
            <a:p>
              <a:pPr eaLnBrk="1" hangingPunct="1">
                <a:spcBef>
                  <a:spcPct val="50000"/>
                </a:spcBef>
              </a:pPr>
              <a:r>
                <a:rPr lang="en-US" altLang="zh-CN" sz="2800" dirty="0">
                  <a:solidFill>
                    <a:srgbClr val="1C1C1C"/>
                  </a:solidFill>
                  <a:latin typeface="Times New Roman" panose="02020603050405020304" pitchFamily="18" charset="0"/>
                </a:rPr>
                <a:t> </a:t>
              </a:r>
              <a:r>
                <a:rPr lang="zh-CN" altLang="en-US" sz="2800" dirty="0">
                  <a:solidFill>
                    <a:srgbClr val="1C1C1C"/>
                  </a:solidFill>
                  <a:latin typeface="Times New Roman" panose="02020603050405020304" pitchFamily="18" charset="0"/>
                </a:rPr>
                <a:t>功</a:t>
              </a:r>
            </a:p>
          </p:txBody>
        </p:sp>
      </p:grpSp>
      <p:grpSp>
        <p:nvGrpSpPr>
          <p:cNvPr id="6" name="Group 33"/>
          <p:cNvGrpSpPr/>
          <p:nvPr/>
        </p:nvGrpSpPr>
        <p:grpSpPr>
          <a:xfrm>
            <a:off x="2035971" y="2686909"/>
            <a:ext cx="1090612" cy="1524000"/>
            <a:chOff x="3984" y="1296"/>
            <a:chExt cx="672" cy="960"/>
          </a:xfrm>
        </p:grpSpPr>
        <p:grpSp>
          <p:nvGrpSpPr>
            <p:cNvPr id="16405" name="Group 34"/>
            <p:cNvGrpSpPr/>
            <p:nvPr/>
          </p:nvGrpSpPr>
          <p:grpSpPr>
            <a:xfrm>
              <a:off x="3984" y="1296"/>
              <a:ext cx="672" cy="960"/>
              <a:chOff x="3984" y="1200"/>
              <a:chExt cx="672" cy="960"/>
            </a:xfrm>
          </p:grpSpPr>
          <p:sp>
            <p:nvSpPr>
              <p:cNvPr id="16408" name="Rectangle 35" descr="浅色下对角线"/>
              <p:cNvSpPr/>
              <p:nvPr/>
            </p:nvSpPr>
            <p:spPr>
              <a:xfrm>
                <a:off x="3984" y="1200"/>
                <a:ext cx="672" cy="960"/>
              </a:xfrm>
              <a:prstGeom prst="rect">
                <a:avLst/>
              </a:prstGeom>
              <a:pattFill prst="ltDnDiag">
                <a:fgClr>
                  <a:srgbClr val="CC00CC"/>
                </a:fgClr>
                <a:bgClr>
                  <a:schemeClr val="bg1"/>
                </a:bgClr>
              </a:pattFill>
              <a:ln w="12700" cap="flat" cmpd="sng">
                <a:solidFill>
                  <a:schemeClr val="tx1"/>
                </a:solidFill>
                <a:prstDash val="dash"/>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6409" name="Text Box 36"/>
              <p:cNvSpPr txBox="1"/>
              <p:nvPr/>
            </p:nvSpPr>
            <p:spPr>
              <a:xfrm>
                <a:off x="4128" y="1536"/>
                <a:ext cx="384" cy="330"/>
              </a:xfrm>
              <a:prstGeom prst="rect">
                <a:avLst/>
              </a:prstGeom>
              <a:noFill/>
              <a:ln w="12700">
                <a:noFill/>
              </a:ln>
            </p:spPr>
            <p:txBody>
              <a:bodyPr>
                <a:spAutoFit/>
              </a:bodyPr>
              <a:lstStyle/>
              <a:p>
                <a:pPr eaLnBrk="1" hangingPunct="1">
                  <a:spcBef>
                    <a:spcPct val="50000"/>
                  </a:spcBef>
                </a:pPr>
                <a:r>
                  <a:rPr lang="en-US" altLang="zh-CN" sz="2800" b="1" i="1" dirty="0">
                    <a:solidFill>
                      <a:srgbClr val="CC0000"/>
                    </a:solidFill>
                    <a:latin typeface="Times New Roman" panose="02020603050405020304" pitchFamily="18" charset="0"/>
                  </a:rPr>
                  <a:t>A</a:t>
                </a:r>
              </a:p>
            </p:txBody>
          </p:sp>
        </p:grpSp>
        <p:sp>
          <p:nvSpPr>
            <p:cNvPr id="16406" name="Line 37"/>
            <p:cNvSpPr/>
            <p:nvPr/>
          </p:nvSpPr>
          <p:spPr>
            <a:xfrm>
              <a:off x="3984" y="1303"/>
              <a:ext cx="672" cy="0"/>
            </a:xfrm>
            <a:prstGeom prst="line">
              <a:avLst/>
            </a:prstGeom>
            <a:ln w="25400" cap="flat" cmpd="sng">
              <a:solidFill>
                <a:srgbClr val="0000FF"/>
              </a:solidFill>
              <a:prstDash val="solid"/>
              <a:headEnd type="none" w="med" len="med"/>
              <a:tailEnd type="none" w="med" len="med"/>
            </a:ln>
          </p:spPr>
        </p:sp>
        <p:sp>
          <p:nvSpPr>
            <p:cNvPr id="16407" name="Line 38"/>
            <p:cNvSpPr/>
            <p:nvPr/>
          </p:nvSpPr>
          <p:spPr>
            <a:xfrm>
              <a:off x="4282" y="1296"/>
              <a:ext cx="96" cy="0"/>
            </a:xfrm>
            <a:prstGeom prst="line">
              <a:avLst/>
            </a:prstGeom>
            <a:ln w="38100" cap="flat" cmpd="sng">
              <a:solidFill>
                <a:srgbClr val="0000FF"/>
              </a:solidFill>
              <a:prstDash val="solid"/>
              <a:headEnd type="none" w="med" len="med"/>
              <a:tailEnd type="triangle" w="sm" len="lg"/>
            </a:ln>
          </p:spPr>
        </p:sp>
      </p:grpSp>
      <p:sp>
        <p:nvSpPr>
          <p:cNvPr id="63" name="Text Box 13">
            <a:hlinkClick r:id="" action="ppaction://noaction"/>
            <a:extLst>
              <a:ext uri="{FF2B5EF4-FFF2-40B4-BE49-F238E27FC236}">
                <a16:creationId xmlns:a16="http://schemas.microsoft.com/office/drawing/2014/main" id="{A31F6C12-011E-48E3-8C5C-2DC82412DDD3}"/>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等压过程</a:t>
            </a:r>
          </a:p>
        </p:txBody>
      </p:sp>
      <p:grpSp>
        <p:nvGrpSpPr>
          <p:cNvPr id="87" name="Group 109">
            <a:extLst>
              <a:ext uri="{FF2B5EF4-FFF2-40B4-BE49-F238E27FC236}">
                <a16:creationId xmlns:a16="http://schemas.microsoft.com/office/drawing/2014/main" id="{623549DE-7CB9-418A-86F0-3AC8636C93E7}"/>
              </a:ext>
            </a:extLst>
          </p:cNvPr>
          <p:cNvGrpSpPr>
            <a:grpSpLocks/>
          </p:cNvGrpSpPr>
          <p:nvPr/>
        </p:nvGrpSpPr>
        <p:grpSpPr bwMode="auto">
          <a:xfrm>
            <a:off x="727077" y="5088797"/>
            <a:ext cx="8691562" cy="965200"/>
            <a:chOff x="2335" y="833"/>
            <a:chExt cx="5475" cy="608"/>
          </a:xfrm>
        </p:grpSpPr>
        <mc:AlternateContent xmlns:mc="http://schemas.openxmlformats.org/markup-compatibility/2006" xmlns:a14="http://schemas.microsoft.com/office/drawing/2010/main">
          <mc:Choice Requires="a14">
            <p:sp>
              <p:nvSpPr>
                <p:cNvPr id="88" name="Object 85">
                  <a:extLst>
                    <a:ext uri="{FF2B5EF4-FFF2-40B4-BE49-F238E27FC236}">
                      <a16:creationId xmlns:a16="http://schemas.microsoft.com/office/drawing/2014/main" id="{E5E2EB8C-725B-4763-8803-9752811F3AAA}"/>
                    </a:ext>
                  </a:extLst>
                </p:cNvPr>
                <p:cNvSpPr txBox="1"/>
                <p:nvPr/>
              </p:nvSpPr>
              <p:spPr bwMode="auto">
                <a:xfrm>
                  <a:off x="2335" y="833"/>
                  <a:ext cx="4347" cy="608"/>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𝑝</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𝐴</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88" name="Object 85">
                  <a:extLst>
                    <a:ext uri="{FF2B5EF4-FFF2-40B4-BE49-F238E27FC236}">
                      <a16:creationId xmlns:a16="http://schemas.microsoft.com/office/drawing/2014/main" id="{E5E2EB8C-725B-4763-8803-9752811F3AAA}"/>
                    </a:ext>
                  </a:extLst>
                </p:cNvPr>
                <p:cNvSpPr txBox="1">
                  <a:spLocks noRot="1" noChangeAspect="1" noMove="1" noResize="1" noEditPoints="1" noAdjustHandles="1" noChangeArrowheads="1" noChangeShapeType="1" noTextEdit="1"/>
                </p:cNvSpPr>
                <p:nvPr/>
              </p:nvSpPr>
              <p:spPr bwMode="auto">
                <a:xfrm>
                  <a:off x="2335" y="833"/>
                  <a:ext cx="4347" cy="608"/>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Object 86">
                  <a:extLst>
                    <a:ext uri="{FF2B5EF4-FFF2-40B4-BE49-F238E27FC236}">
                      <a16:creationId xmlns:a16="http://schemas.microsoft.com/office/drawing/2014/main" id="{0A2C6293-7846-4181-8C6E-57B612455E02}"/>
                    </a:ext>
                  </a:extLst>
                </p:cNvPr>
                <p:cNvSpPr txBox="1"/>
                <p:nvPr/>
              </p:nvSpPr>
              <p:spPr bwMode="auto">
                <a:xfrm>
                  <a:off x="5926" y="971"/>
                  <a:ext cx="1884" cy="40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89" name="Object 86">
                  <a:extLst>
                    <a:ext uri="{FF2B5EF4-FFF2-40B4-BE49-F238E27FC236}">
                      <a16:creationId xmlns:a16="http://schemas.microsoft.com/office/drawing/2014/main" id="{0A2C6293-7846-4181-8C6E-57B612455E02}"/>
                    </a:ext>
                  </a:extLst>
                </p:cNvPr>
                <p:cNvSpPr txBox="1">
                  <a:spLocks noRot="1" noChangeAspect="1" noMove="1" noResize="1" noEditPoints="1" noAdjustHandles="1" noChangeArrowheads="1" noChangeShapeType="1" noTextEdit="1"/>
                </p:cNvSpPr>
                <p:nvPr/>
              </p:nvSpPr>
              <p:spPr bwMode="auto">
                <a:xfrm>
                  <a:off x="5926" y="971"/>
                  <a:ext cx="1884" cy="404"/>
                </a:xfrm>
                <a:prstGeom prst="rect">
                  <a:avLst/>
                </a:prstGeom>
                <a:blipFill>
                  <a:blip r:embed="rId16"/>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0" name="Object 87">
                <a:extLst>
                  <a:ext uri="{FF2B5EF4-FFF2-40B4-BE49-F238E27FC236}">
                    <a16:creationId xmlns:a16="http://schemas.microsoft.com/office/drawing/2014/main" id="{3D2F141E-0984-4A98-9612-10DECE0DB51A}"/>
                  </a:ext>
                </a:extLst>
              </p:cNvPr>
              <p:cNvSpPr txBox="1"/>
              <p:nvPr/>
            </p:nvSpPr>
            <p:spPr bwMode="auto">
              <a:xfrm>
                <a:off x="4068144" y="6009547"/>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2</m:t>
                          </m:r>
                        </m:den>
                      </m:f>
                      <m:r>
                        <a:rPr lang="en-US" altLang="zh-CN"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90" name="Object 87">
                <a:extLst>
                  <a:ext uri="{FF2B5EF4-FFF2-40B4-BE49-F238E27FC236}">
                    <a16:creationId xmlns:a16="http://schemas.microsoft.com/office/drawing/2014/main" id="{3D2F141E-0984-4A98-9612-10DECE0DB51A}"/>
                  </a:ext>
                </a:extLst>
              </p:cNvPr>
              <p:cNvSpPr txBox="1">
                <a:spLocks noRot="1" noChangeAspect="1" noMove="1" noResize="1" noEditPoints="1" noAdjustHandles="1" noChangeArrowheads="1" noChangeShapeType="1" noTextEdit="1"/>
              </p:cNvSpPr>
              <p:nvPr/>
            </p:nvSpPr>
            <p:spPr bwMode="auto">
              <a:xfrm>
                <a:off x="4068144" y="6009547"/>
                <a:ext cx="4717731" cy="1092200"/>
              </a:xfrm>
              <a:prstGeom prst="rect">
                <a:avLst/>
              </a:prstGeom>
              <a:blipFill>
                <a:blip r:embed="rId1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498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498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85" grpId="0"/>
      <p:bldP spid="424986" grpId="0"/>
      <p:bldP spid="9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04" name="Group 80"/>
          <p:cNvGrpSpPr/>
          <p:nvPr/>
        </p:nvGrpSpPr>
        <p:grpSpPr>
          <a:xfrm>
            <a:off x="2289176" y="1125538"/>
            <a:ext cx="3652838" cy="2743200"/>
            <a:chOff x="482" y="709"/>
            <a:chExt cx="2301" cy="1728"/>
          </a:xfrm>
        </p:grpSpPr>
        <p:sp>
          <p:nvSpPr>
            <p:cNvPr id="20544" name="Rectangle 2"/>
            <p:cNvSpPr/>
            <p:nvPr/>
          </p:nvSpPr>
          <p:spPr>
            <a:xfrm>
              <a:off x="863" y="709"/>
              <a:ext cx="1920" cy="1728"/>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0496" name="Object 3"/>
                <p:cNvSpPr txBox="1"/>
                <p:nvPr/>
              </p:nvSpPr>
              <p:spPr>
                <a:xfrm>
                  <a:off x="2076" y="2106"/>
                  <a:ext cx="222" cy="28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2</m:t>
                            </m:r>
                          </m:sub>
                        </m:sSub>
                      </m:oMath>
                    </m:oMathPara>
                  </a14:m>
                  <a:endParaRPr lang="en-US" sz="2800">
                    <a:latin typeface="+mn-ea"/>
                  </a:endParaRPr>
                </a:p>
              </p:txBody>
            </p:sp>
          </mc:Choice>
          <mc:Fallback xmlns="">
            <p:sp>
              <p:nvSpPr>
                <p:cNvPr id="20496" name="Object 3"/>
                <p:cNvSpPr txBox="1">
                  <a:spLocks noRot="1" noChangeAspect="1" noMove="1" noResize="1" noEditPoints="1" noAdjustHandles="1" noChangeArrowheads="1" noChangeShapeType="1" noTextEdit="1"/>
                </p:cNvSpPr>
                <p:nvPr/>
              </p:nvSpPr>
              <p:spPr>
                <a:xfrm>
                  <a:off x="2076" y="2106"/>
                  <a:ext cx="222" cy="281"/>
                </a:xfrm>
                <a:prstGeom prst="rect">
                  <a:avLst/>
                </a:prstGeom>
                <a:blipFill>
                  <a:blip r:embed="rId3"/>
                  <a:stretch>
                    <a:fillRect r="-10526"/>
                  </a:stretch>
                </a:blipFill>
                <a:ln w="38100">
                  <a:noFill/>
                  <a:miter/>
                </a:ln>
              </p:spPr>
              <p:txBody>
                <a:bodyPr/>
                <a:lstStyle/>
                <a:p>
                  <a:r>
                    <a:rPr lang="en-US">
                      <a:noFill/>
                    </a:rPr>
                    <a:t> </a:t>
                  </a:r>
                </a:p>
              </p:txBody>
            </p:sp>
          </mc:Fallback>
        </mc:AlternateContent>
        <p:sp>
          <p:nvSpPr>
            <p:cNvPr id="20545" name="Line 4"/>
            <p:cNvSpPr/>
            <p:nvPr/>
          </p:nvSpPr>
          <p:spPr>
            <a:xfrm flipV="1">
              <a:off x="1116" y="842"/>
              <a:ext cx="0" cy="1264"/>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graphicFrame>
              <p:nvGraphicFramePr>
                <p:cNvPr id="20497" name="Object 5"/>
                <p:cNvGraphicFramePr/>
                <p:nvPr/>
              </p:nvGraphicFramePr>
              <p:xfrm>
                <a:off x="1111" y="927"/>
                <a:ext cx="680" cy="256"/>
              </p:xfrm>
              <a:graphic>
                <a:graphicData uri="http://schemas.openxmlformats.org/presentationml/2006/ole">
                  <mc:AlternateContent>
                    <mc:Choice xmlns:v="urn:schemas-microsoft-com:vml" Requires="v">
                      <p:oleObj spid="_x0000_s2134" r:id="rId4" imgW="596265" imgH="215900" progId="Equation.3">
                        <p:embed/>
                      </p:oleObj>
                    </mc:Choice>
                    <mc:Fallback>
                      <p:oleObj r:id="rId4" imgW="596265" imgH="215900" progId="Equation.3">
                        <p:embed/>
                        <p:pic>
                          <p:nvPicPr>
                            <p:cNvPr id="20497" name="Object 5"/>
                            <p:cNvPicPr/>
                            <p:nvPr/>
                          </p:nvPicPr>
                          <p:blipFill>
                            <a:blip r:embed="rId5"/>
                            <a:stretch>
                              <a:fillRect/>
                            </a:stretch>
                          </p:blipFill>
                          <p:spPr>
                            <a:xfrm>
                              <a:off x="1111" y="927"/>
                              <a:ext cx="680" cy="256"/>
                            </a:xfrm>
                            <a:prstGeom prst="rect">
                              <a:avLst/>
                            </a:prstGeom>
                            <a:noFill/>
                            <a:ln w="38100">
                              <a:noFill/>
                              <a:miter/>
                            </a:ln>
                          </p:spPr>
                        </p:pic>
                      </p:oleObj>
                    </mc:Fallback>
                  </mc:AlternateContent>
                </a:graphicData>
              </a:graphic>
            </p:graphicFrame>
          </mc:Choice>
          <mc:Fallback xmlns="">
            <p:graphicFrame>
              <p:nvGraphicFramePr>
                <p:cNvPr id="20497" name="Object 5"/>
                <p:cNvGraphicFramePr/>
                <p:nvPr/>
              </p:nvGraphicFramePr>
              <p:xfrm>
                <a:off x="1111" y="927"/>
                <a:ext cx="680" cy="256"/>
              </p:xfrm>
              <a:graphic>
                <a:graphicData uri="http://schemas.openxmlformats.org/presentationml/2006/ole">
                  <mc:AlternateContent>
                    <mc:Choice xmlns:v="urn:schemas-microsoft-com:vml" Requires="v">
                      <p:oleObj spid="_x0000_s19604" r:id="rId6" imgW="596265" imgH="215900" progId="Equation.3">
                        <p:embed/>
                      </p:oleObj>
                    </mc:Choice>
                    <mc:Fallback>
                      <p:oleObj r:id="rId6" imgW="596265" imgH="215900" progId="Equation.3">
                        <p:embed/>
                        <p:pic>
                          <p:nvPicPr>
                            <p:cNvPr id="20497" name="Object 5"/>
                            <p:cNvPicPr/>
                            <p:nvPr/>
                          </p:nvPicPr>
                          <p:blipFill>
                            <a:blip r:embed="rId7"/>
                            <a:stretch>
                              <a:fillRect/>
                            </a:stretch>
                          </p:blipFill>
                          <p:spPr>
                            <a:xfrm>
                              <a:off x="1111" y="927"/>
                              <a:ext cx="680" cy="256"/>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0498" name="Object 6"/>
                <p:cNvGraphicFramePr/>
                <p:nvPr/>
              </p:nvGraphicFramePr>
              <p:xfrm>
                <a:off x="1882" y="935"/>
                <a:ext cx="680" cy="267"/>
              </p:xfrm>
              <a:graphic>
                <a:graphicData uri="http://schemas.openxmlformats.org/presentationml/2006/ole">
                  <mc:AlternateContent>
                    <mc:Choice xmlns:v="urn:schemas-microsoft-com:vml" Requires="v">
                      <p:oleObj spid="_x0000_s2135" r:id="rId8" imgW="621665" imgH="215900" progId="Equation.3">
                        <p:embed/>
                      </p:oleObj>
                    </mc:Choice>
                    <mc:Fallback>
                      <p:oleObj r:id="rId8" imgW="621665" imgH="215900" progId="Equation.3">
                        <p:embed/>
                        <p:pic>
                          <p:nvPicPr>
                            <p:cNvPr id="20498" name="Object 6"/>
                            <p:cNvPicPr/>
                            <p:nvPr/>
                          </p:nvPicPr>
                          <p:blipFill>
                            <a:blip r:embed="rId9"/>
                            <a:stretch>
                              <a:fillRect/>
                            </a:stretch>
                          </p:blipFill>
                          <p:spPr>
                            <a:xfrm>
                              <a:off x="1882" y="935"/>
                              <a:ext cx="680" cy="267"/>
                            </a:xfrm>
                            <a:prstGeom prst="rect">
                              <a:avLst/>
                            </a:prstGeom>
                            <a:noFill/>
                            <a:ln w="38100">
                              <a:noFill/>
                              <a:miter/>
                            </a:ln>
                          </p:spPr>
                        </p:pic>
                      </p:oleObj>
                    </mc:Fallback>
                  </mc:AlternateContent>
                </a:graphicData>
              </a:graphic>
            </p:graphicFrame>
          </mc:Choice>
          <mc:Fallback xmlns="">
            <p:graphicFrame>
              <p:nvGraphicFramePr>
                <p:cNvPr id="20498" name="Object 6"/>
                <p:cNvGraphicFramePr/>
                <p:nvPr/>
              </p:nvGraphicFramePr>
              <p:xfrm>
                <a:off x="1882" y="935"/>
                <a:ext cx="680" cy="267"/>
              </p:xfrm>
              <a:graphic>
                <a:graphicData uri="http://schemas.openxmlformats.org/presentationml/2006/ole">
                  <mc:AlternateContent>
                    <mc:Choice xmlns:v="urn:schemas-microsoft-com:vml" Requires="v">
                      <p:oleObj spid="_x0000_s19605" r:id="rId10" imgW="621665" imgH="215900" progId="Equation.3">
                        <p:embed/>
                      </p:oleObj>
                    </mc:Choice>
                    <mc:Fallback>
                      <p:oleObj r:id="rId10" imgW="621665" imgH="215900" progId="Equation.3">
                        <p:embed/>
                        <p:pic>
                          <p:nvPicPr>
                            <p:cNvPr id="20498" name="Object 6"/>
                            <p:cNvPicPr/>
                            <p:nvPr/>
                          </p:nvPicPr>
                          <p:blipFill>
                            <a:blip r:embed="rId11"/>
                            <a:stretch>
                              <a:fillRect/>
                            </a:stretch>
                          </p:blipFill>
                          <p:spPr>
                            <a:xfrm>
                              <a:off x="1882" y="935"/>
                              <a:ext cx="680" cy="267"/>
                            </a:xfrm>
                            <a:prstGeom prst="rect">
                              <a:avLst/>
                            </a:prstGeom>
                            <a:noFill/>
                            <a:ln w="38100">
                              <a:noFill/>
                              <a:miter/>
                            </a:ln>
                          </p:spPr>
                        </p:pic>
                      </p:oleObj>
                    </mc:Fallback>
                  </mc:AlternateContent>
                </a:graphicData>
              </a:graphic>
            </p:graphicFrame>
          </mc:Fallback>
        </mc:AlternateContent>
        <p:sp>
          <p:nvSpPr>
            <p:cNvPr id="20546" name="Line 7"/>
            <p:cNvSpPr/>
            <p:nvPr/>
          </p:nvSpPr>
          <p:spPr>
            <a:xfrm>
              <a:off x="1552" y="1263"/>
              <a:ext cx="0" cy="839"/>
            </a:xfrm>
            <a:prstGeom prst="line">
              <a:avLst/>
            </a:prstGeom>
            <a:ln w="12700" cap="flat" cmpd="sng">
              <a:solidFill>
                <a:schemeClr val="tx1"/>
              </a:solidFill>
              <a:prstDash val="dash"/>
              <a:headEnd type="none" w="med" len="med"/>
              <a:tailEnd type="none" w="med" len="med"/>
            </a:ln>
          </p:spPr>
        </p:sp>
        <p:sp>
          <p:nvSpPr>
            <p:cNvPr id="20547" name="Line 8"/>
            <p:cNvSpPr/>
            <p:nvPr/>
          </p:nvSpPr>
          <p:spPr>
            <a:xfrm flipH="1">
              <a:off x="1116" y="1263"/>
              <a:ext cx="436" cy="0"/>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20499" name="Object 9"/>
                <p:cNvSpPr txBox="1"/>
                <p:nvPr/>
              </p:nvSpPr>
              <p:spPr>
                <a:xfrm>
                  <a:off x="886" y="1137"/>
                  <a:ext cx="182" cy="20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latin typeface="+mn-ea"/>
                  </a:endParaRPr>
                </a:p>
              </p:txBody>
            </p:sp>
          </mc:Choice>
          <mc:Fallback xmlns="">
            <p:sp>
              <p:nvSpPr>
                <p:cNvPr id="20499" name="Object 9"/>
                <p:cNvSpPr txBox="1">
                  <a:spLocks noRot="1" noChangeAspect="1" noMove="1" noResize="1" noEditPoints="1" noAdjustHandles="1" noChangeArrowheads="1" noChangeShapeType="1" noTextEdit="1"/>
                </p:cNvSpPr>
                <p:nvPr/>
              </p:nvSpPr>
              <p:spPr>
                <a:xfrm>
                  <a:off x="886" y="1137"/>
                  <a:ext cx="182" cy="207"/>
                </a:xfrm>
                <a:prstGeom prst="rect">
                  <a:avLst/>
                </a:prstGeom>
                <a:blipFill>
                  <a:blip r:embed="rId12"/>
                  <a:stretch>
                    <a:fillRect b="-37037"/>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0" name="Object 10"/>
                <p:cNvSpPr txBox="1"/>
                <p:nvPr/>
              </p:nvSpPr>
              <p:spPr>
                <a:xfrm>
                  <a:off x="1421" y="2106"/>
                  <a:ext cx="206" cy="28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oMath>
                    </m:oMathPara>
                  </a14:m>
                  <a:endParaRPr lang="en-US" sz="2800">
                    <a:latin typeface="+mn-ea"/>
                  </a:endParaRPr>
                </a:p>
              </p:txBody>
            </p:sp>
          </mc:Choice>
          <mc:Fallback xmlns="">
            <p:sp>
              <p:nvSpPr>
                <p:cNvPr id="20500" name="Object 10"/>
                <p:cNvSpPr txBox="1">
                  <a:spLocks noRot="1" noChangeAspect="1" noMove="1" noResize="1" noEditPoints="1" noAdjustHandles="1" noChangeArrowheads="1" noChangeShapeType="1" noTextEdit="1"/>
                </p:cNvSpPr>
                <p:nvPr/>
              </p:nvSpPr>
              <p:spPr>
                <a:xfrm>
                  <a:off x="1421" y="2106"/>
                  <a:ext cx="206" cy="281"/>
                </a:xfrm>
                <a:prstGeom prst="rect">
                  <a:avLst/>
                </a:prstGeom>
                <a:blipFill>
                  <a:blip r:embed="rId13"/>
                  <a:stretch>
                    <a:fillRect r="-18519"/>
                  </a:stretch>
                </a:blipFill>
                <a:ln w="38100">
                  <a:noFill/>
                  <a:miter/>
                </a:ln>
              </p:spPr>
              <p:txBody>
                <a:bodyPr/>
                <a:lstStyle/>
                <a:p>
                  <a:r>
                    <a:rPr lang="en-US">
                      <a:noFill/>
                    </a:rPr>
                    <a:t> </a:t>
                  </a:r>
                </a:p>
              </p:txBody>
            </p:sp>
          </mc:Fallback>
        </mc:AlternateContent>
        <p:sp>
          <p:nvSpPr>
            <p:cNvPr id="20548" name="Line 11"/>
            <p:cNvSpPr/>
            <p:nvPr/>
          </p:nvSpPr>
          <p:spPr>
            <a:xfrm>
              <a:off x="1552" y="1263"/>
              <a:ext cx="611" cy="0"/>
            </a:xfrm>
            <a:prstGeom prst="line">
              <a:avLst/>
            </a:prstGeom>
            <a:ln w="38100" cap="flat" cmpd="sng">
              <a:solidFill>
                <a:srgbClr val="0000FF"/>
              </a:solidFill>
              <a:prstDash val="solid"/>
              <a:headEnd type="none" w="med" len="med"/>
              <a:tailEnd type="none" w="med" len="med"/>
            </a:ln>
          </p:spPr>
        </p:sp>
        <p:sp>
          <p:nvSpPr>
            <p:cNvPr id="20549" name="Line 12"/>
            <p:cNvSpPr/>
            <p:nvPr/>
          </p:nvSpPr>
          <p:spPr>
            <a:xfrm>
              <a:off x="2163" y="1263"/>
              <a:ext cx="0" cy="843"/>
            </a:xfrm>
            <a:prstGeom prst="line">
              <a:avLst/>
            </a:prstGeom>
            <a:ln w="12700" cap="flat" cmpd="sng">
              <a:solidFill>
                <a:schemeClr val="tx1"/>
              </a:solidFill>
              <a:prstDash val="dash"/>
              <a:headEnd type="none" w="med" len="med"/>
              <a:tailEnd type="none" w="med" len="med"/>
            </a:ln>
          </p:spPr>
        </p:sp>
        <p:sp>
          <p:nvSpPr>
            <p:cNvPr id="20550" name="Line 13"/>
            <p:cNvSpPr/>
            <p:nvPr/>
          </p:nvSpPr>
          <p:spPr>
            <a:xfrm>
              <a:off x="1823" y="1257"/>
              <a:ext cx="87" cy="0"/>
            </a:xfrm>
            <a:prstGeom prst="line">
              <a:avLst/>
            </a:prstGeom>
            <a:ln w="38100" cap="flat" cmpd="sng">
              <a:solidFill>
                <a:srgbClr val="0000FF"/>
              </a:solidFill>
              <a:prstDash val="solid"/>
              <a:headEnd type="none" w="med" len="med"/>
              <a:tailEnd type="triangle" w="med" len="lg"/>
            </a:ln>
          </p:spPr>
        </p:sp>
        <mc:AlternateContent xmlns:mc="http://schemas.openxmlformats.org/markup-compatibility/2006" xmlns:a14="http://schemas.microsoft.com/office/drawing/2010/main">
          <mc:Choice Requires="a14">
            <p:sp>
              <p:nvSpPr>
                <p:cNvPr id="20501" name="Object 14"/>
                <p:cNvSpPr txBox="1"/>
                <p:nvPr/>
              </p:nvSpPr>
              <p:spPr>
                <a:xfrm>
                  <a:off x="868" y="835"/>
                  <a:ext cx="195" cy="22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latin typeface="+mn-ea"/>
                  </a:endParaRPr>
                </a:p>
              </p:txBody>
            </p:sp>
          </mc:Choice>
          <mc:Fallback xmlns="">
            <p:sp>
              <p:nvSpPr>
                <p:cNvPr id="20501" name="Object 14"/>
                <p:cNvSpPr txBox="1">
                  <a:spLocks noRot="1" noChangeAspect="1" noMove="1" noResize="1" noEditPoints="1" noAdjustHandles="1" noChangeArrowheads="1" noChangeShapeType="1" noTextEdit="1"/>
                </p:cNvSpPr>
                <p:nvPr/>
              </p:nvSpPr>
              <p:spPr>
                <a:xfrm>
                  <a:off x="868" y="835"/>
                  <a:ext cx="195" cy="223"/>
                </a:xfrm>
                <a:prstGeom prst="rect">
                  <a:avLst/>
                </a:prstGeom>
                <a:blipFill>
                  <a:blip r:embed="rId14"/>
                  <a:stretch>
                    <a:fillRect b="-27119"/>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2" name="Object 15"/>
                <p:cNvSpPr txBox="1"/>
                <p:nvPr/>
              </p:nvSpPr>
              <p:spPr>
                <a:xfrm>
                  <a:off x="2490" y="2148"/>
                  <a:ext cx="178" cy="19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latin typeface="+mn-ea"/>
                  </a:endParaRPr>
                </a:p>
              </p:txBody>
            </p:sp>
          </mc:Choice>
          <mc:Fallback xmlns="">
            <p:sp>
              <p:nvSpPr>
                <p:cNvPr id="20502" name="Object 15"/>
                <p:cNvSpPr txBox="1">
                  <a:spLocks noRot="1" noChangeAspect="1" noMove="1" noResize="1" noEditPoints="1" noAdjustHandles="1" noChangeArrowheads="1" noChangeShapeType="1" noTextEdit="1"/>
                </p:cNvSpPr>
                <p:nvPr/>
              </p:nvSpPr>
              <p:spPr>
                <a:xfrm>
                  <a:off x="2490" y="2148"/>
                  <a:ext cx="178" cy="193"/>
                </a:xfrm>
                <a:prstGeom prst="rect">
                  <a:avLst/>
                </a:prstGeom>
                <a:blipFill>
                  <a:blip r:embed="rId15"/>
                  <a:stretch>
                    <a:fillRect r="-10638" b="-23529"/>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3" name="Object 16"/>
                <p:cNvSpPr txBox="1"/>
                <p:nvPr/>
              </p:nvSpPr>
              <p:spPr>
                <a:xfrm>
                  <a:off x="1038" y="2130"/>
                  <a:ext cx="170" cy="19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a:latin typeface="+mn-ea"/>
                  </a:endParaRPr>
                </a:p>
              </p:txBody>
            </p:sp>
          </mc:Choice>
          <mc:Fallback xmlns="">
            <p:sp>
              <p:nvSpPr>
                <p:cNvPr id="20503" name="Object 16"/>
                <p:cNvSpPr txBox="1">
                  <a:spLocks noRot="1" noChangeAspect="1" noMove="1" noResize="1" noEditPoints="1" noAdjustHandles="1" noChangeArrowheads="1" noChangeShapeType="1" noTextEdit="1"/>
                </p:cNvSpPr>
                <p:nvPr/>
              </p:nvSpPr>
              <p:spPr>
                <a:xfrm>
                  <a:off x="1038" y="2130"/>
                  <a:ext cx="170" cy="190"/>
                </a:xfrm>
                <a:prstGeom prst="rect">
                  <a:avLst/>
                </a:prstGeom>
                <a:blipFill>
                  <a:blip r:embed="rId16"/>
                  <a:stretch>
                    <a:fillRect b="-26531"/>
                  </a:stretch>
                </a:blipFill>
                <a:ln w="38100">
                  <a:noFill/>
                  <a:miter/>
                </a:ln>
              </p:spPr>
              <p:txBody>
                <a:bodyPr/>
                <a:lstStyle/>
                <a:p>
                  <a:r>
                    <a:rPr lang="en-US">
                      <a:noFill/>
                    </a:rPr>
                    <a:t> </a:t>
                  </a:r>
                </a:p>
              </p:txBody>
            </p:sp>
          </mc:Fallback>
        </mc:AlternateContent>
        <p:sp>
          <p:nvSpPr>
            <p:cNvPr id="20551" name="Text Box 17"/>
            <p:cNvSpPr txBox="1"/>
            <p:nvPr/>
          </p:nvSpPr>
          <p:spPr>
            <a:xfrm>
              <a:off x="1343" y="1198"/>
              <a:ext cx="219" cy="327"/>
            </a:xfrm>
            <a:prstGeom prst="rect">
              <a:avLst/>
            </a:prstGeom>
            <a:noFill/>
            <a:ln w="9525">
              <a:noFill/>
            </a:ln>
          </p:spPr>
          <p:txBody>
            <a:bodyPr>
              <a:spAutoFit/>
            </a:bodyPr>
            <a:lstStyle/>
            <a:p>
              <a:pPr eaLnBrk="1" hangingPunct="1">
                <a:spcBef>
                  <a:spcPct val="50000"/>
                </a:spcBef>
              </a:pPr>
              <a:r>
                <a:rPr lang="en-US" altLang="zh-CN" sz="2800" b="1" dirty="0">
                  <a:solidFill>
                    <a:srgbClr val="CC0000"/>
                  </a:solidFill>
                  <a:latin typeface="+mn-ea"/>
                </a:rPr>
                <a:t>1</a:t>
              </a:r>
            </a:p>
          </p:txBody>
        </p:sp>
        <p:sp>
          <p:nvSpPr>
            <p:cNvPr id="20552" name="Text Box 18"/>
            <p:cNvSpPr txBox="1"/>
            <p:nvPr/>
          </p:nvSpPr>
          <p:spPr>
            <a:xfrm>
              <a:off x="2208" y="1198"/>
              <a:ext cx="218" cy="327"/>
            </a:xfrm>
            <a:prstGeom prst="rect">
              <a:avLst/>
            </a:prstGeom>
            <a:noFill/>
            <a:ln w="9525">
              <a:noFill/>
            </a:ln>
          </p:spPr>
          <p:txBody>
            <a:bodyPr>
              <a:spAutoFit/>
            </a:bodyPr>
            <a:lstStyle/>
            <a:p>
              <a:pPr eaLnBrk="1" hangingPunct="1">
                <a:spcBef>
                  <a:spcPct val="50000"/>
                </a:spcBef>
              </a:pPr>
              <a:r>
                <a:rPr lang="en-US" altLang="zh-CN" sz="2800" b="1" dirty="0">
                  <a:solidFill>
                    <a:srgbClr val="CC0000"/>
                  </a:solidFill>
                  <a:latin typeface="+mn-ea"/>
                </a:rPr>
                <a:t>2</a:t>
              </a:r>
            </a:p>
          </p:txBody>
        </p:sp>
        <p:grpSp>
          <p:nvGrpSpPr>
            <p:cNvPr id="20553" name="Group 19"/>
            <p:cNvGrpSpPr/>
            <p:nvPr/>
          </p:nvGrpSpPr>
          <p:grpSpPr>
            <a:xfrm>
              <a:off x="1551" y="1258"/>
              <a:ext cx="611" cy="843"/>
              <a:chOff x="3984" y="1296"/>
              <a:chExt cx="672" cy="960"/>
            </a:xfrm>
          </p:grpSpPr>
          <p:grpSp>
            <p:nvGrpSpPr>
              <p:cNvPr id="20556" name="Group 20"/>
              <p:cNvGrpSpPr/>
              <p:nvPr/>
            </p:nvGrpSpPr>
            <p:grpSpPr>
              <a:xfrm>
                <a:off x="3984" y="1296"/>
                <a:ext cx="672" cy="960"/>
                <a:chOff x="3984" y="1200"/>
                <a:chExt cx="672" cy="960"/>
              </a:xfrm>
            </p:grpSpPr>
            <p:sp>
              <p:nvSpPr>
                <p:cNvPr id="20559" name="Rectangle 21" descr="浅色下对角线"/>
                <p:cNvSpPr/>
                <p:nvPr/>
              </p:nvSpPr>
              <p:spPr>
                <a:xfrm>
                  <a:off x="3984" y="1200"/>
                  <a:ext cx="672" cy="960"/>
                </a:xfrm>
                <a:prstGeom prst="rect">
                  <a:avLst/>
                </a:prstGeom>
                <a:pattFill prst="ltDnDiag">
                  <a:fgClr>
                    <a:srgbClr val="CC00CC"/>
                  </a:fgClr>
                  <a:bgClr>
                    <a:schemeClr val="bg1"/>
                  </a:bgClr>
                </a:pattFill>
                <a:ln w="12700" cap="flat" cmpd="sng">
                  <a:solidFill>
                    <a:schemeClr val="tx1"/>
                  </a:solidFill>
                  <a:prstDash val="dash"/>
                  <a:miter/>
                  <a:headEnd type="none" w="med" len="med"/>
                  <a:tailEnd type="none" w="med" len="med"/>
                </a:ln>
              </p:spPr>
              <p:txBody>
                <a:bodyPr wrap="none" anchor="ctr" anchorCtr="0"/>
                <a:lstStyle/>
                <a:p>
                  <a:endParaRPr lang="zh-CN" altLang="en-US" sz="2800" dirty="0">
                    <a:latin typeface="+mn-ea"/>
                  </a:endParaRPr>
                </a:p>
              </p:txBody>
            </p:sp>
            <p:sp>
              <p:nvSpPr>
                <p:cNvPr id="20560" name="Text Box 22"/>
                <p:cNvSpPr txBox="1"/>
                <p:nvPr/>
              </p:nvSpPr>
              <p:spPr>
                <a:xfrm>
                  <a:off x="4128" y="1536"/>
                  <a:ext cx="384" cy="375"/>
                </a:xfrm>
                <a:prstGeom prst="rect">
                  <a:avLst/>
                </a:prstGeom>
                <a:noFill/>
                <a:ln w="12700">
                  <a:noFill/>
                </a:ln>
              </p:spPr>
              <p:txBody>
                <a:bodyPr>
                  <a:spAutoFit/>
                </a:bodyPr>
                <a:lstStyle/>
                <a:p>
                  <a:pPr eaLnBrk="1" hangingPunct="1">
                    <a:spcBef>
                      <a:spcPct val="50000"/>
                    </a:spcBef>
                  </a:pPr>
                  <a:r>
                    <a:rPr lang="en-US" altLang="zh-CN" sz="2800" b="1" i="1" dirty="0">
                      <a:solidFill>
                        <a:srgbClr val="CC0000"/>
                      </a:solidFill>
                      <a:latin typeface="+mn-ea"/>
                    </a:rPr>
                    <a:t>A</a:t>
                  </a:r>
                </a:p>
              </p:txBody>
            </p:sp>
          </p:grpSp>
          <p:sp>
            <p:nvSpPr>
              <p:cNvPr id="20557" name="Line 23"/>
              <p:cNvSpPr/>
              <p:nvPr/>
            </p:nvSpPr>
            <p:spPr>
              <a:xfrm>
                <a:off x="3984" y="1303"/>
                <a:ext cx="672" cy="0"/>
              </a:xfrm>
              <a:prstGeom prst="line">
                <a:avLst/>
              </a:prstGeom>
              <a:ln w="25400" cap="flat" cmpd="sng">
                <a:solidFill>
                  <a:srgbClr val="0000FF"/>
                </a:solidFill>
                <a:prstDash val="solid"/>
                <a:headEnd type="none" w="med" len="med"/>
                <a:tailEnd type="none" w="med" len="med"/>
              </a:ln>
            </p:spPr>
          </p:sp>
          <p:sp>
            <p:nvSpPr>
              <p:cNvPr id="20558" name="Line 24"/>
              <p:cNvSpPr/>
              <p:nvPr/>
            </p:nvSpPr>
            <p:spPr>
              <a:xfrm>
                <a:off x="4282" y="1296"/>
                <a:ext cx="96" cy="0"/>
              </a:xfrm>
              <a:prstGeom prst="line">
                <a:avLst/>
              </a:prstGeom>
              <a:ln w="38100" cap="flat" cmpd="sng">
                <a:solidFill>
                  <a:srgbClr val="0000FF"/>
                </a:solidFill>
                <a:prstDash val="solid"/>
                <a:headEnd type="none" w="med" len="med"/>
                <a:tailEnd type="triangle" w="sm" len="lg"/>
              </a:ln>
            </p:spPr>
          </p:sp>
        </p:grpSp>
        <p:sp>
          <p:nvSpPr>
            <p:cNvPr id="20554" name="Line 25"/>
            <p:cNvSpPr/>
            <p:nvPr/>
          </p:nvSpPr>
          <p:spPr>
            <a:xfrm>
              <a:off x="1112" y="2101"/>
              <a:ext cx="1527" cy="0"/>
            </a:xfrm>
            <a:prstGeom prst="line">
              <a:avLst/>
            </a:prstGeom>
            <a:ln w="19050" cap="flat" cmpd="sng">
              <a:solidFill>
                <a:schemeClr val="tx1"/>
              </a:solidFill>
              <a:prstDash val="solid"/>
              <a:headEnd type="none" w="med" len="med"/>
              <a:tailEnd type="triangle" w="sm" len="lg"/>
            </a:ln>
          </p:spPr>
        </p:sp>
        <p:sp>
          <p:nvSpPr>
            <p:cNvPr id="429082" name="Text Box 26"/>
            <p:cNvSpPr txBox="1">
              <a:spLocks noChangeArrowheads="1"/>
            </p:cNvSpPr>
            <p:nvPr/>
          </p:nvSpPr>
          <p:spPr bwMode="auto">
            <a:xfrm>
              <a:off x="482" y="709"/>
              <a:ext cx="388" cy="1728"/>
            </a:xfrm>
            <a:prstGeom prst="rect">
              <a:avLst/>
            </a:prstGeom>
            <a:gradFill rotWithShape="0">
              <a:gsLst>
                <a:gs pos="0">
                  <a:schemeClr val="accent1"/>
                </a:gs>
                <a:gs pos="50000">
                  <a:srgbClr val="FFFFFF"/>
                </a:gs>
                <a:gs pos="100000">
                  <a:schemeClr val="accent1"/>
                </a:gs>
              </a:gsLst>
              <a:lin ang="0" scaled="1"/>
            </a:gradFill>
            <a:ln w="9525">
              <a:solidFill>
                <a:schemeClr val="tx2"/>
              </a:solidFill>
              <a:miter lim="800000"/>
            </a:ln>
            <a:effectLst/>
          </p:spPr>
          <p:txBody>
            <a:bodyPr vert="eaVert">
              <a:spAutoFit/>
            </a:bodyPr>
            <a:lstStyle/>
            <a:p>
              <a:pPr algn="ctr">
                <a:spcBef>
                  <a:spcPct val="50000"/>
                </a:spcBef>
                <a:defRPr/>
              </a:pPr>
              <a:r>
                <a:rPr kumimoji="1" lang="zh-CN" altLang="en-US" sz="2800" b="1">
                  <a:latin typeface="+mn-ea"/>
                </a:rPr>
                <a:t>等 压 </a:t>
              </a:r>
              <a:r>
                <a:rPr kumimoji="1" lang="zh-CN" altLang="en-US" sz="2800" b="1">
                  <a:solidFill>
                    <a:srgbClr val="CC0000"/>
                  </a:solidFill>
                  <a:latin typeface="+mn-ea"/>
                </a:rPr>
                <a:t>膨 胀</a:t>
              </a:r>
            </a:p>
          </p:txBody>
        </p:sp>
      </p:grpSp>
      <p:grpSp>
        <p:nvGrpSpPr>
          <p:cNvPr id="5" name="Group 27"/>
          <p:cNvGrpSpPr/>
          <p:nvPr/>
        </p:nvGrpSpPr>
        <p:grpSpPr>
          <a:xfrm>
            <a:off x="3351213" y="4767263"/>
            <a:ext cx="762000" cy="762000"/>
            <a:chOff x="1296" y="3600"/>
            <a:chExt cx="480" cy="480"/>
          </a:xfrm>
        </p:grpSpPr>
        <p:sp>
          <p:nvSpPr>
            <p:cNvPr id="20543" name="Oval 28"/>
            <p:cNvSpPr/>
            <p:nvPr/>
          </p:nvSpPr>
          <p:spPr>
            <a:xfrm>
              <a:off x="1296" y="3600"/>
              <a:ext cx="480" cy="480"/>
            </a:xfrm>
            <a:prstGeom prst="ellipse">
              <a:avLst/>
            </a:prstGeom>
            <a:solidFill>
              <a:schemeClr val="accent1"/>
            </a:solidFill>
            <a:ln w="9525" cap="flat" cmpd="sng">
              <a:solidFill>
                <a:schemeClr val="tx2"/>
              </a:solidFill>
              <a:prstDash val="solid"/>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0495" name="Object 29"/>
                <p:cNvSpPr txBox="1"/>
                <p:nvPr/>
              </p:nvSpPr>
              <p:spPr>
                <a:xfrm>
                  <a:off x="1392" y="3648"/>
                  <a:ext cx="333" cy="40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oMath>
                    </m:oMathPara>
                  </a14:m>
                  <a:endParaRPr lang="en-US" sz="2800">
                    <a:latin typeface="+mn-ea"/>
                  </a:endParaRPr>
                </a:p>
              </p:txBody>
            </p:sp>
          </mc:Choice>
          <mc:Fallback xmlns="">
            <p:sp>
              <p:nvSpPr>
                <p:cNvPr id="20495" name="Object 29"/>
                <p:cNvSpPr txBox="1">
                  <a:spLocks noRot="1" noChangeAspect="1" noMove="1" noResize="1" noEditPoints="1" noAdjustHandles="1" noChangeArrowheads="1" noChangeShapeType="1" noTextEdit="1"/>
                </p:cNvSpPr>
                <p:nvPr/>
              </p:nvSpPr>
              <p:spPr>
                <a:xfrm>
                  <a:off x="1392" y="3648"/>
                  <a:ext cx="333" cy="404"/>
                </a:xfrm>
                <a:prstGeom prst="rect">
                  <a:avLst/>
                </a:prstGeom>
                <a:blipFill>
                  <a:blip r:embed="rId17"/>
                  <a:stretch>
                    <a:fillRect/>
                  </a:stretch>
                </a:blipFill>
                <a:ln w="38100">
                  <a:noFill/>
                  <a:miter/>
                </a:ln>
              </p:spPr>
              <p:txBody>
                <a:bodyPr/>
                <a:lstStyle/>
                <a:p>
                  <a:r>
                    <a:rPr lang="en-US">
                      <a:noFill/>
                    </a:rPr>
                    <a:t> </a:t>
                  </a:r>
                </a:p>
              </p:txBody>
            </p:sp>
          </mc:Fallback>
        </mc:AlternateContent>
      </p:grpSp>
      <p:grpSp>
        <p:nvGrpSpPr>
          <p:cNvPr id="6" name="Group 30"/>
          <p:cNvGrpSpPr/>
          <p:nvPr/>
        </p:nvGrpSpPr>
        <p:grpSpPr>
          <a:xfrm>
            <a:off x="3960813" y="4233863"/>
            <a:ext cx="1600200" cy="762000"/>
            <a:chOff x="1680" y="3408"/>
            <a:chExt cx="1008" cy="480"/>
          </a:xfrm>
        </p:grpSpPr>
        <p:grpSp>
          <p:nvGrpSpPr>
            <p:cNvPr id="20540" name="Group 31"/>
            <p:cNvGrpSpPr/>
            <p:nvPr/>
          </p:nvGrpSpPr>
          <p:grpSpPr>
            <a:xfrm>
              <a:off x="2208" y="3408"/>
              <a:ext cx="480" cy="480"/>
              <a:chOff x="2208" y="3408"/>
              <a:chExt cx="480" cy="480"/>
            </a:xfrm>
          </p:grpSpPr>
          <p:sp>
            <p:nvSpPr>
              <p:cNvPr id="20542" name="Oval 32"/>
              <p:cNvSpPr/>
              <p:nvPr/>
            </p:nvSpPr>
            <p:spPr>
              <a:xfrm>
                <a:off x="2208" y="3408"/>
                <a:ext cx="480" cy="480"/>
              </a:xfrm>
              <a:prstGeom prst="ellipse">
                <a:avLst/>
              </a:prstGeom>
              <a:solidFill>
                <a:schemeClr val="accent1"/>
              </a:solidFill>
              <a:ln w="12700" cap="flat" cmpd="sng">
                <a:solidFill>
                  <a:srgbClr val="996600"/>
                </a:solidFill>
                <a:prstDash val="solid"/>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0494" name="Object 33"/>
                  <p:cNvSpPr txBox="1"/>
                  <p:nvPr/>
                </p:nvSpPr>
                <p:spPr>
                  <a:xfrm>
                    <a:off x="2304" y="3456"/>
                    <a:ext cx="317" cy="356"/>
                  </a:xfrm>
                  <a:prstGeom prst="rect">
                    <a:avLst/>
                  </a:prstGeom>
                  <a:solidFill>
                    <a:schemeClr val="accent1"/>
                  </a:solid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oMath>
                      </m:oMathPara>
                    </a14:m>
                    <a:endParaRPr lang="en-US" sz="2800">
                      <a:latin typeface="+mn-ea"/>
                    </a:endParaRPr>
                  </a:p>
                </p:txBody>
              </p:sp>
            </mc:Choice>
            <mc:Fallback xmlns="">
              <p:sp>
                <p:nvSpPr>
                  <p:cNvPr id="20494" name="Object 33"/>
                  <p:cNvSpPr txBox="1">
                    <a:spLocks noRot="1" noChangeAspect="1" noMove="1" noResize="1" noEditPoints="1" noAdjustHandles="1" noChangeArrowheads="1" noChangeShapeType="1" noTextEdit="1"/>
                  </p:cNvSpPr>
                  <p:nvPr/>
                </p:nvSpPr>
                <p:spPr>
                  <a:xfrm>
                    <a:off x="2304" y="3456"/>
                    <a:ext cx="317" cy="356"/>
                  </a:xfrm>
                  <a:prstGeom prst="rect">
                    <a:avLst/>
                  </a:prstGeom>
                  <a:blipFill>
                    <a:blip r:embed="rId18"/>
                    <a:stretch>
                      <a:fillRect/>
                    </a:stretch>
                  </a:blipFill>
                  <a:ln w="38100">
                    <a:noFill/>
                    <a:miter/>
                  </a:ln>
                </p:spPr>
                <p:txBody>
                  <a:bodyPr/>
                  <a:lstStyle/>
                  <a:p>
                    <a:r>
                      <a:rPr lang="en-US">
                        <a:noFill/>
                      </a:rPr>
                      <a:t> </a:t>
                    </a:r>
                  </a:p>
                </p:txBody>
              </p:sp>
            </mc:Fallback>
          </mc:AlternateContent>
        </p:grpSp>
        <p:sp>
          <p:nvSpPr>
            <p:cNvPr id="20541" name="AutoShape 34"/>
            <p:cNvSpPr/>
            <p:nvPr/>
          </p:nvSpPr>
          <p:spPr>
            <a:xfrm rot="-1310175">
              <a:off x="1680" y="3696"/>
              <a:ext cx="672" cy="119"/>
            </a:xfrm>
            <a:prstGeom prst="rightArrow">
              <a:avLst>
                <a:gd name="adj1" fmla="val 50000"/>
                <a:gd name="adj2" fmla="val 141176"/>
              </a:avLst>
            </a:prstGeom>
            <a:solidFill>
              <a:schemeClr val="accent1"/>
            </a:solidFill>
            <a:ln w="28575" cap="flat" cmpd="sng">
              <a:solidFill>
                <a:srgbClr val="CC0099"/>
              </a:solidFill>
              <a:prstDash val="solid"/>
              <a:miter/>
              <a:headEnd type="none" w="med" len="med"/>
              <a:tailEnd type="none" w="med" len="med"/>
            </a:ln>
          </p:spPr>
          <p:txBody>
            <a:bodyPr wrap="none" anchor="ctr" anchorCtr="0"/>
            <a:lstStyle/>
            <a:p>
              <a:endParaRPr lang="zh-CN" altLang="en-US" sz="2800" dirty="0">
                <a:latin typeface="+mn-ea"/>
              </a:endParaRPr>
            </a:p>
          </p:txBody>
        </p:sp>
      </p:grpSp>
      <p:grpSp>
        <p:nvGrpSpPr>
          <p:cNvPr id="8" name="Group 35"/>
          <p:cNvGrpSpPr/>
          <p:nvPr/>
        </p:nvGrpSpPr>
        <p:grpSpPr>
          <a:xfrm>
            <a:off x="2284413" y="4386263"/>
            <a:ext cx="1219200" cy="838200"/>
            <a:chOff x="432" y="2352"/>
            <a:chExt cx="768" cy="528"/>
          </a:xfrm>
        </p:grpSpPr>
        <p:sp>
          <p:nvSpPr>
            <p:cNvPr id="20539" name="AutoShape 36"/>
            <p:cNvSpPr/>
            <p:nvPr/>
          </p:nvSpPr>
          <p:spPr>
            <a:xfrm>
              <a:off x="576" y="2736"/>
              <a:ext cx="624" cy="144"/>
            </a:xfrm>
            <a:prstGeom prst="rightArrow">
              <a:avLst>
                <a:gd name="adj1" fmla="val 50000"/>
                <a:gd name="adj2" fmla="val 150703"/>
              </a:avLst>
            </a:prstGeom>
            <a:solidFill>
              <a:srgbClr val="FFCCFF"/>
            </a:solidFill>
            <a:ln w="28575" cap="flat" cmpd="sng">
              <a:solidFill>
                <a:srgbClr val="FF0000"/>
              </a:solidFill>
              <a:prstDash val="solid"/>
              <a:miter/>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0493" name="Object 37"/>
                <p:cNvSpPr txBox="1"/>
                <p:nvPr/>
              </p:nvSpPr>
              <p:spPr>
                <a:xfrm>
                  <a:off x="432" y="2352"/>
                  <a:ext cx="367" cy="42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𝑝</m:t>
                            </m:r>
                          </m:sub>
                        </m:sSub>
                      </m:oMath>
                    </m:oMathPara>
                  </a14:m>
                  <a:endParaRPr lang="en-US" sz="2800">
                    <a:latin typeface="+mn-ea"/>
                  </a:endParaRPr>
                </a:p>
              </p:txBody>
            </p:sp>
          </mc:Choice>
          <mc:Fallback xmlns="">
            <p:sp>
              <p:nvSpPr>
                <p:cNvPr id="20493" name="Object 37"/>
                <p:cNvSpPr txBox="1">
                  <a:spLocks noRot="1" noChangeAspect="1" noMove="1" noResize="1" noEditPoints="1" noAdjustHandles="1" noChangeArrowheads="1" noChangeShapeType="1" noTextEdit="1"/>
                </p:cNvSpPr>
                <p:nvPr/>
              </p:nvSpPr>
              <p:spPr>
                <a:xfrm>
                  <a:off x="432" y="2352"/>
                  <a:ext cx="367" cy="420"/>
                </a:xfrm>
                <a:prstGeom prst="rect">
                  <a:avLst/>
                </a:prstGeom>
                <a:blipFill>
                  <a:blip r:embed="rId19"/>
                  <a:stretch>
                    <a:fillRect/>
                  </a:stretch>
                </a:blipFill>
                <a:ln w="38100">
                  <a:noFill/>
                  <a:miter/>
                </a:ln>
              </p:spPr>
              <p:txBody>
                <a:bodyPr/>
                <a:lstStyle/>
                <a:p>
                  <a:r>
                    <a:rPr lang="en-US">
                      <a:noFill/>
                    </a:rPr>
                    <a:t> </a:t>
                  </a:r>
                </a:p>
              </p:txBody>
            </p:sp>
          </mc:Fallback>
        </mc:AlternateContent>
      </p:grpSp>
      <p:grpSp>
        <p:nvGrpSpPr>
          <p:cNvPr id="9" name="Group 38"/>
          <p:cNvGrpSpPr/>
          <p:nvPr/>
        </p:nvGrpSpPr>
        <p:grpSpPr>
          <a:xfrm>
            <a:off x="7618413" y="4518025"/>
            <a:ext cx="762000" cy="762000"/>
            <a:chOff x="3984" y="3408"/>
            <a:chExt cx="480" cy="480"/>
          </a:xfrm>
        </p:grpSpPr>
        <p:sp>
          <p:nvSpPr>
            <p:cNvPr id="20538" name="Oval 39"/>
            <p:cNvSpPr/>
            <p:nvPr/>
          </p:nvSpPr>
          <p:spPr>
            <a:xfrm>
              <a:off x="3984" y="3408"/>
              <a:ext cx="480" cy="480"/>
            </a:xfrm>
            <a:prstGeom prst="ellipse">
              <a:avLst/>
            </a:prstGeom>
            <a:solidFill>
              <a:schemeClr val="accent1"/>
            </a:solidFill>
            <a:ln w="9525" cap="flat" cmpd="sng">
              <a:solidFill>
                <a:srgbClr val="996600"/>
              </a:solidFill>
              <a:prstDash val="solid"/>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0492" name="Object 40"/>
                <p:cNvSpPr txBox="1"/>
                <p:nvPr/>
              </p:nvSpPr>
              <p:spPr>
                <a:xfrm>
                  <a:off x="4080" y="3456"/>
                  <a:ext cx="293" cy="356"/>
                </a:xfrm>
                <a:prstGeom prst="rect">
                  <a:avLst/>
                </a:prstGeom>
                <a:solidFill>
                  <a:schemeClr val="accent1"/>
                </a:solid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oMath>
                    </m:oMathPara>
                  </a14:m>
                  <a:endParaRPr lang="en-US" sz="2800">
                    <a:latin typeface="+mn-ea"/>
                  </a:endParaRPr>
                </a:p>
              </p:txBody>
            </p:sp>
          </mc:Choice>
          <mc:Fallback xmlns="">
            <p:sp>
              <p:nvSpPr>
                <p:cNvPr id="20492" name="Object 40"/>
                <p:cNvSpPr txBox="1">
                  <a:spLocks noRot="1" noChangeAspect="1" noMove="1" noResize="1" noEditPoints="1" noAdjustHandles="1" noChangeArrowheads="1" noChangeShapeType="1" noTextEdit="1"/>
                </p:cNvSpPr>
                <p:nvPr/>
              </p:nvSpPr>
              <p:spPr>
                <a:xfrm>
                  <a:off x="4080" y="3456"/>
                  <a:ext cx="293" cy="356"/>
                </a:xfrm>
                <a:prstGeom prst="rect">
                  <a:avLst/>
                </a:prstGeom>
                <a:blipFill>
                  <a:blip r:embed="rId20"/>
                  <a:stretch>
                    <a:fillRect/>
                  </a:stretch>
                </a:blipFill>
                <a:ln w="38100">
                  <a:noFill/>
                  <a:miter/>
                </a:ln>
              </p:spPr>
              <p:txBody>
                <a:bodyPr/>
                <a:lstStyle/>
                <a:p>
                  <a:r>
                    <a:rPr lang="en-US">
                      <a:noFill/>
                    </a:rPr>
                    <a:t> </a:t>
                  </a:r>
                </a:p>
              </p:txBody>
            </p:sp>
          </mc:Fallback>
        </mc:AlternateContent>
      </p:grpSp>
      <p:grpSp>
        <p:nvGrpSpPr>
          <p:cNvPr id="10" name="Group 41"/>
          <p:cNvGrpSpPr/>
          <p:nvPr/>
        </p:nvGrpSpPr>
        <p:grpSpPr>
          <a:xfrm>
            <a:off x="6780213" y="4746625"/>
            <a:ext cx="990600" cy="838200"/>
            <a:chOff x="3264" y="2640"/>
            <a:chExt cx="624" cy="528"/>
          </a:xfrm>
        </p:grpSpPr>
        <mc:AlternateContent xmlns:mc="http://schemas.openxmlformats.org/markup-compatibility/2006" xmlns:a14="http://schemas.microsoft.com/office/drawing/2010/main">
          <mc:Choice Requires="a14">
            <p:sp>
              <p:nvSpPr>
                <p:cNvPr id="20491" name="Object 42"/>
                <p:cNvSpPr txBox="1"/>
                <p:nvPr/>
              </p:nvSpPr>
              <p:spPr>
                <a:xfrm>
                  <a:off x="3264" y="2736"/>
                  <a:ext cx="354" cy="43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𝑝</m:t>
                            </m:r>
                          </m:sub>
                        </m:sSub>
                      </m:oMath>
                    </m:oMathPara>
                  </a14:m>
                  <a:endParaRPr lang="en-US" sz="2800">
                    <a:latin typeface="+mn-ea"/>
                  </a:endParaRPr>
                </a:p>
              </p:txBody>
            </p:sp>
          </mc:Choice>
          <mc:Fallback xmlns="">
            <p:sp>
              <p:nvSpPr>
                <p:cNvPr id="20491" name="Object 42"/>
                <p:cNvSpPr txBox="1">
                  <a:spLocks noRot="1" noChangeAspect="1" noMove="1" noResize="1" noEditPoints="1" noAdjustHandles="1" noChangeArrowheads="1" noChangeShapeType="1" noTextEdit="1"/>
                </p:cNvSpPr>
                <p:nvPr/>
              </p:nvSpPr>
              <p:spPr>
                <a:xfrm>
                  <a:off x="3264" y="2736"/>
                  <a:ext cx="354" cy="432"/>
                </a:xfrm>
                <a:prstGeom prst="rect">
                  <a:avLst/>
                </a:prstGeom>
                <a:blipFill>
                  <a:blip r:embed="rId21"/>
                  <a:stretch>
                    <a:fillRect/>
                  </a:stretch>
                </a:blipFill>
                <a:ln w="38100">
                  <a:noFill/>
                  <a:miter/>
                </a:ln>
              </p:spPr>
              <p:txBody>
                <a:bodyPr/>
                <a:lstStyle/>
                <a:p>
                  <a:r>
                    <a:rPr lang="en-US">
                      <a:noFill/>
                    </a:rPr>
                    <a:t> </a:t>
                  </a:r>
                </a:p>
              </p:txBody>
            </p:sp>
          </mc:Fallback>
        </mc:AlternateContent>
        <p:sp>
          <p:nvSpPr>
            <p:cNvPr id="20537" name="AutoShape 43"/>
            <p:cNvSpPr/>
            <p:nvPr/>
          </p:nvSpPr>
          <p:spPr>
            <a:xfrm>
              <a:off x="3264" y="2640"/>
              <a:ext cx="624" cy="144"/>
            </a:xfrm>
            <a:prstGeom prst="leftArrow">
              <a:avLst>
                <a:gd name="adj1" fmla="val 50000"/>
                <a:gd name="adj2" fmla="val 130902"/>
              </a:avLst>
            </a:prstGeom>
            <a:solidFill>
              <a:srgbClr val="CCFFFF"/>
            </a:solidFill>
            <a:ln w="28575" cap="flat" cmpd="sng">
              <a:solidFill>
                <a:srgbClr val="0066FF"/>
              </a:solidFill>
              <a:prstDash val="solid"/>
              <a:miter/>
              <a:headEnd type="none" w="med" len="med"/>
              <a:tailEnd type="none" w="med" len="med"/>
            </a:ln>
          </p:spPr>
          <p:txBody>
            <a:bodyPr wrap="none" anchor="ctr" anchorCtr="0"/>
            <a:lstStyle/>
            <a:p>
              <a:endParaRPr lang="zh-CN" altLang="en-US" sz="2800" dirty="0">
                <a:latin typeface="+mn-ea"/>
              </a:endParaRPr>
            </a:p>
          </p:txBody>
        </p:sp>
      </p:grpSp>
      <p:grpSp>
        <p:nvGrpSpPr>
          <p:cNvPr id="11" name="Group 44"/>
          <p:cNvGrpSpPr/>
          <p:nvPr/>
        </p:nvGrpSpPr>
        <p:grpSpPr>
          <a:xfrm>
            <a:off x="8228013" y="5051425"/>
            <a:ext cx="1600200" cy="685800"/>
            <a:chOff x="4320" y="3648"/>
            <a:chExt cx="960" cy="432"/>
          </a:xfrm>
        </p:grpSpPr>
        <p:grpSp>
          <p:nvGrpSpPr>
            <p:cNvPr id="20534" name="Group 45"/>
            <p:cNvGrpSpPr/>
            <p:nvPr/>
          </p:nvGrpSpPr>
          <p:grpSpPr>
            <a:xfrm>
              <a:off x="4848" y="3648"/>
              <a:ext cx="432" cy="432"/>
              <a:chOff x="4848" y="3696"/>
              <a:chExt cx="432" cy="432"/>
            </a:xfrm>
          </p:grpSpPr>
          <p:sp>
            <p:nvSpPr>
              <p:cNvPr id="20536" name="Oval 46"/>
              <p:cNvSpPr/>
              <p:nvPr/>
            </p:nvSpPr>
            <p:spPr>
              <a:xfrm>
                <a:off x="4848" y="3696"/>
                <a:ext cx="432" cy="432"/>
              </a:xfrm>
              <a:prstGeom prst="ellipse">
                <a:avLst/>
              </a:prstGeom>
              <a:solidFill>
                <a:schemeClr val="accent1"/>
              </a:solidFill>
              <a:ln w="9525" cap="flat" cmpd="sng">
                <a:solidFill>
                  <a:schemeClr val="tx2"/>
                </a:solidFill>
                <a:prstDash val="solid"/>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0490" name="Object 47"/>
                  <p:cNvSpPr txBox="1"/>
                  <p:nvPr/>
                </p:nvSpPr>
                <p:spPr>
                  <a:xfrm>
                    <a:off x="4915" y="3724"/>
                    <a:ext cx="317" cy="3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oMath>
                      </m:oMathPara>
                    </a14:m>
                    <a:endParaRPr lang="en-US" sz="2800">
                      <a:latin typeface="+mn-ea"/>
                    </a:endParaRPr>
                  </a:p>
                </p:txBody>
              </p:sp>
            </mc:Choice>
            <mc:Fallback xmlns="">
              <p:sp>
                <p:nvSpPr>
                  <p:cNvPr id="20490" name="Object 47"/>
                  <p:cNvSpPr txBox="1">
                    <a:spLocks noRot="1" noChangeAspect="1" noMove="1" noResize="1" noEditPoints="1" noAdjustHandles="1" noChangeArrowheads="1" noChangeShapeType="1" noTextEdit="1"/>
                  </p:cNvSpPr>
                  <p:nvPr/>
                </p:nvSpPr>
                <p:spPr>
                  <a:xfrm>
                    <a:off x="4915" y="3724"/>
                    <a:ext cx="317" cy="356"/>
                  </a:xfrm>
                  <a:prstGeom prst="rect">
                    <a:avLst/>
                  </a:prstGeom>
                  <a:blipFill>
                    <a:blip r:embed="rId22"/>
                    <a:stretch>
                      <a:fillRect/>
                    </a:stretch>
                  </a:blipFill>
                  <a:ln w="38100">
                    <a:noFill/>
                    <a:miter/>
                  </a:ln>
                </p:spPr>
                <p:txBody>
                  <a:bodyPr/>
                  <a:lstStyle/>
                  <a:p>
                    <a:r>
                      <a:rPr lang="en-US">
                        <a:noFill/>
                      </a:rPr>
                      <a:t> </a:t>
                    </a:r>
                  </a:p>
                </p:txBody>
              </p:sp>
            </mc:Fallback>
          </mc:AlternateContent>
        </p:grpSp>
        <p:sp>
          <p:nvSpPr>
            <p:cNvPr id="20535" name="AutoShape 48"/>
            <p:cNvSpPr/>
            <p:nvPr/>
          </p:nvSpPr>
          <p:spPr>
            <a:xfrm rot="1204178">
              <a:off x="4320" y="3696"/>
              <a:ext cx="624" cy="144"/>
            </a:xfrm>
            <a:prstGeom prst="rightArrow">
              <a:avLst>
                <a:gd name="adj1" fmla="val 42425"/>
                <a:gd name="adj2" fmla="val 175580"/>
              </a:avLst>
            </a:prstGeom>
            <a:solidFill>
              <a:srgbClr val="99FFCC"/>
            </a:solidFill>
            <a:ln w="28575" cap="flat" cmpd="sng">
              <a:solidFill>
                <a:schemeClr val="tx2"/>
              </a:solidFill>
              <a:prstDash val="solid"/>
              <a:miter/>
              <a:headEnd type="none" w="med" len="med"/>
              <a:tailEnd type="none" w="med" len="med"/>
            </a:ln>
          </p:spPr>
          <p:txBody>
            <a:bodyPr wrap="none" anchor="ctr" anchorCtr="0"/>
            <a:lstStyle/>
            <a:p>
              <a:endParaRPr lang="zh-CN" altLang="en-US" sz="2800" dirty="0">
                <a:latin typeface="+mn-ea"/>
              </a:endParaRPr>
            </a:p>
          </p:txBody>
        </p:sp>
      </p:grpSp>
      <p:grpSp>
        <p:nvGrpSpPr>
          <p:cNvPr id="13" name="Group 49"/>
          <p:cNvGrpSpPr/>
          <p:nvPr/>
        </p:nvGrpSpPr>
        <p:grpSpPr>
          <a:xfrm>
            <a:off x="4037013" y="5072063"/>
            <a:ext cx="1828800" cy="523875"/>
            <a:chOff x="1632" y="2784"/>
            <a:chExt cx="1152" cy="330"/>
          </a:xfrm>
        </p:grpSpPr>
        <p:sp>
          <p:nvSpPr>
            <p:cNvPr id="20532" name="Text Box 50"/>
            <p:cNvSpPr txBox="1"/>
            <p:nvPr/>
          </p:nvSpPr>
          <p:spPr>
            <a:xfrm>
              <a:off x="2304" y="2784"/>
              <a:ext cx="480" cy="330"/>
            </a:xfrm>
            <a:prstGeom prst="rect">
              <a:avLst/>
            </a:prstGeom>
            <a:solidFill>
              <a:srgbClr val="FFFFCC"/>
            </a:solidFill>
            <a:ln w="9525" cap="flat" cmpd="sng">
              <a:solidFill>
                <a:srgbClr val="996600"/>
              </a:solidFill>
              <a:prstDash val="solid"/>
              <a:miter/>
              <a:headEnd type="none" w="med" len="med"/>
              <a:tailEnd type="none" w="med" len="med"/>
            </a:ln>
          </p:spPr>
          <p:txBody>
            <a:bodyPr>
              <a:spAutoFit/>
            </a:bodyPr>
            <a:lstStyle/>
            <a:p>
              <a:pPr eaLnBrk="1" hangingPunct="1">
                <a:spcBef>
                  <a:spcPct val="50000"/>
                </a:spcBef>
              </a:pPr>
              <a:r>
                <a:rPr lang="en-US" altLang="zh-CN" sz="2800" b="1" i="1" dirty="0">
                  <a:solidFill>
                    <a:srgbClr val="1C1C1C"/>
                  </a:solidFill>
                  <a:latin typeface="+mn-ea"/>
                </a:rPr>
                <a:t> </a:t>
              </a:r>
              <a:r>
                <a:rPr lang="en-US" altLang="zh-CN" sz="2800" b="1" i="1" dirty="0">
                  <a:solidFill>
                    <a:srgbClr val="CC0000"/>
                  </a:solidFill>
                  <a:latin typeface="+mn-ea"/>
                </a:rPr>
                <a:t>A</a:t>
              </a:r>
            </a:p>
          </p:txBody>
        </p:sp>
        <p:sp>
          <p:nvSpPr>
            <p:cNvPr id="20533" name="AutoShape 51"/>
            <p:cNvSpPr/>
            <p:nvPr/>
          </p:nvSpPr>
          <p:spPr>
            <a:xfrm rot="-26979">
              <a:off x="1632" y="2832"/>
              <a:ext cx="720" cy="144"/>
            </a:xfrm>
            <a:prstGeom prst="rightArrow">
              <a:avLst>
                <a:gd name="adj1" fmla="val 50000"/>
                <a:gd name="adj2" fmla="val 125000"/>
              </a:avLst>
            </a:prstGeom>
            <a:solidFill>
              <a:srgbClr val="FFFFCC"/>
            </a:solidFill>
            <a:ln w="28575" cap="flat" cmpd="sng">
              <a:solidFill>
                <a:srgbClr val="996600"/>
              </a:solidFill>
              <a:prstDash val="solid"/>
              <a:miter/>
              <a:headEnd type="none" w="med" len="med"/>
              <a:tailEnd type="none" w="med" len="med"/>
            </a:ln>
          </p:spPr>
          <p:txBody>
            <a:bodyPr wrap="none" anchor="ctr" anchorCtr="0"/>
            <a:lstStyle/>
            <a:p>
              <a:endParaRPr lang="zh-CN" altLang="en-US" sz="2800" dirty="0">
                <a:latin typeface="+mn-ea"/>
              </a:endParaRPr>
            </a:p>
          </p:txBody>
        </p:sp>
      </p:grpSp>
      <p:grpSp>
        <p:nvGrpSpPr>
          <p:cNvPr id="14" name="Group 52"/>
          <p:cNvGrpSpPr/>
          <p:nvPr/>
        </p:nvGrpSpPr>
        <p:grpSpPr>
          <a:xfrm>
            <a:off x="8228013" y="4365625"/>
            <a:ext cx="1676400" cy="522288"/>
            <a:chOff x="4272" y="2400"/>
            <a:chExt cx="1056" cy="329"/>
          </a:xfrm>
        </p:grpSpPr>
        <p:sp>
          <p:nvSpPr>
            <p:cNvPr id="20530" name="Text Box 53"/>
            <p:cNvSpPr txBox="1"/>
            <p:nvPr/>
          </p:nvSpPr>
          <p:spPr>
            <a:xfrm>
              <a:off x="4896" y="2400"/>
              <a:ext cx="432" cy="329"/>
            </a:xfrm>
            <a:prstGeom prst="rect">
              <a:avLst/>
            </a:prstGeom>
            <a:solidFill>
              <a:srgbClr val="E1F4FB"/>
            </a:solidFill>
            <a:ln w="9525" cap="flat" cmpd="sng">
              <a:solidFill>
                <a:srgbClr val="0000FF"/>
              </a:solidFill>
              <a:prstDash val="solid"/>
              <a:miter/>
              <a:headEnd type="none" w="med" len="med"/>
              <a:tailEnd type="none" w="med" len="med"/>
            </a:ln>
          </p:spPr>
          <p:txBody>
            <a:bodyPr>
              <a:spAutoFit/>
            </a:bodyPr>
            <a:lstStyle/>
            <a:p>
              <a:pPr eaLnBrk="1" hangingPunct="1">
                <a:spcBef>
                  <a:spcPct val="50000"/>
                </a:spcBef>
              </a:pPr>
              <a:r>
                <a:rPr lang="en-US" altLang="zh-CN" sz="2800" b="1" dirty="0">
                  <a:solidFill>
                    <a:srgbClr val="1C1C1C"/>
                  </a:solidFill>
                  <a:latin typeface="+mn-ea"/>
                </a:rPr>
                <a:t> </a:t>
              </a:r>
              <a:r>
                <a:rPr lang="en-US" altLang="zh-CN" sz="2800" b="1" i="1" dirty="0">
                  <a:solidFill>
                    <a:srgbClr val="1C1C1C"/>
                  </a:solidFill>
                  <a:latin typeface="+mn-ea"/>
                </a:rPr>
                <a:t>A</a:t>
              </a:r>
            </a:p>
          </p:txBody>
        </p:sp>
        <p:sp>
          <p:nvSpPr>
            <p:cNvPr id="20531" name="AutoShape 54"/>
            <p:cNvSpPr/>
            <p:nvPr/>
          </p:nvSpPr>
          <p:spPr>
            <a:xfrm>
              <a:off x="4272" y="2544"/>
              <a:ext cx="672" cy="144"/>
            </a:xfrm>
            <a:prstGeom prst="leftArrow">
              <a:avLst>
                <a:gd name="adj1" fmla="val 50000"/>
                <a:gd name="adj2" fmla="val 116666"/>
              </a:avLst>
            </a:prstGeom>
            <a:solidFill>
              <a:srgbClr val="CCECFF"/>
            </a:solidFill>
            <a:ln w="28575" cap="flat" cmpd="sng">
              <a:solidFill>
                <a:srgbClr val="0000FF"/>
              </a:solidFill>
              <a:prstDash val="solid"/>
              <a:miter/>
              <a:headEnd type="none" w="med" len="med"/>
              <a:tailEnd type="none" w="med" len="med"/>
            </a:ln>
          </p:spPr>
          <p:txBody>
            <a:bodyPr wrap="none" anchor="ctr" anchorCtr="0"/>
            <a:lstStyle/>
            <a:p>
              <a:endParaRPr lang="zh-CN" altLang="en-US" sz="2800" dirty="0">
                <a:latin typeface="+mn-ea"/>
              </a:endParaRPr>
            </a:p>
          </p:txBody>
        </p:sp>
      </p:grpSp>
      <p:grpSp>
        <p:nvGrpSpPr>
          <p:cNvPr id="15" name="Group 55"/>
          <p:cNvGrpSpPr/>
          <p:nvPr/>
        </p:nvGrpSpPr>
        <p:grpSpPr>
          <a:xfrm>
            <a:off x="6306581" y="1196976"/>
            <a:ext cx="3556556" cy="2663825"/>
            <a:chOff x="3062" y="709"/>
            <a:chExt cx="2313" cy="1728"/>
          </a:xfrm>
        </p:grpSpPr>
        <p:grpSp>
          <p:nvGrpSpPr>
            <p:cNvPr id="20514" name="Group 56"/>
            <p:cNvGrpSpPr/>
            <p:nvPr/>
          </p:nvGrpSpPr>
          <p:grpSpPr>
            <a:xfrm>
              <a:off x="3062" y="709"/>
              <a:ext cx="2313" cy="1728"/>
              <a:chOff x="3062" y="709"/>
              <a:chExt cx="2313" cy="1728"/>
            </a:xfrm>
          </p:grpSpPr>
          <p:grpSp>
            <p:nvGrpSpPr>
              <p:cNvPr id="20515" name="Group 57"/>
              <p:cNvGrpSpPr/>
              <p:nvPr/>
            </p:nvGrpSpPr>
            <p:grpSpPr>
              <a:xfrm>
                <a:off x="3455" y="709"/>
                <a:ext cx="1920" cy="1728"/>
                <a:chOff x="3455" y="709"/>
                <a:chExt cx="1920" cy="1728"/>
              </a:xfrm>
            </p:grpSpPr>
            <p:sp>
              <p:nvSpPr>
                <p:cNvPr id="20517" name="Rectangle 58"/>
                <p:cNvSpPr/>
                <p:nvPr/>
              </p:nvSpPr>
              <p:spPr>
                <a:xfrm>
                  <a:off x="3455" y="709"/>
                  <a:ext cx="1920" cy="1728"/>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0484" name="Object 59"/>
                    <p:cNvSpPr txBox="1"/>
                    <p:nvPr/>
                  </p:nvSpPr>
                  <p:spPr>
                    <a:xfrm>
                      <a:off x="4031" y="2101"/>
                      <a:ext cx="226" cy="28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2</m:t>
                                </m:r>
                              </m:sub>
                            </m:sSub>
                          </m:oMath>
                        </m:oMathPara>
                      </a14:m>
                      <a:endParaRPr lang="en-US" sz="2800">
                        <a:latin typeface="+mn-ea"/>
                      </a:endParaRPr>
                    </a:p>
                  </p:txBody>
                </p:sp>
              </mc:Choice>
              <mc:Fallback xmlns="">
                <p:sp>
                  <p:nvSpPr>
                    <p:cNvPr id="20484" name="Object 59"/>
                    <p:cNvSpPr txBox="1">
                      <a:spLocks noRot="1" noChangeAspect="1" noMove="1" noResize="1" noEditPoints="1" noAdjustHandles="1" noChangeArrowheads="1" noChangeShapeType="1" noTextEdit="1"/>
                    </p:cNvSpPr>
                    <p:nvPr/>
                  </p:nvSpPr>
                  <p:spPr>
                    <a:xfrm>
                      <a:off x="4031" y="2101"/>
                      <a:ext cx="226" cy="286"/>
                    </a:xfrm>
                    <a:prstGeom prst="rect">
                      <a:avLst/>
                    </a:prstGeom>
                    <a:blipFill>
                      <a:blip r:embed="rId23"/>
                      <a:stretch>
                        <a:fillRect r="-10526" b="-1370"/>
                      </a:stretch>
                    </a:blipFill>
                    <a:ln w="38100">
                      <a:noFill/>
                      <a:miter/>
                    </a:ln>
                  </p:spPr>
                  <p:txBody>
                    <a:bodyPr/>
                    <a:lstStyle/>
                    <a:p>
                      <a:r>
                        <a:rPr lang="en-US">
                          <a:noFill/>
                        </a:rPr>
                        <a:t> </a:t>
                      </a:r>
                    </a:p>
                  </p:txBody>
                </p:sp>
              </mc:Fallback>
            </mc:AlternateContent>
            <p:sp>
              <p:nvSpPr>
                <p:cNvPr id="20518" name="Line 60"/>
                <p:cNvSpPr/>
                <p:nvPr/>
              </p:nvSpPr>
              <p:spPr>
                <a:xfrm flipV="1">
                  <a:off x="3708" y="842"/>
                  <a:ext cx="0" cy="1264"/>
                </a:xfrm>
                <a:prstGeom prst="line">
                  <a:avLst/>
                </a:prstGeom>
                <a:ln w="19050" cap="flat" cmpd="sng">
                  <a:solidFill>
                    <a:schemeClr val="tx1"/>
                  </a:solidFill>
                  <a:prstDash val="solid"/>
                  <a:headEnd type="none" w="med" len="med"/>
                  <a:tailEnd type="triangle" w="sm" len="lg"/>
                </a:ln>
              </p:spPr>
            </p:sp>
            <p:sp>
              <p:nvSpPr>
                <p:cNvPr id="20519" name="Line 61"/>
                <p:cNvSpPr/>
                <p:nvPr/>
              </p:nvSpPr>
              <p:spPr>
                <a:xfrm>
                  <a:off x="4144" y="1263"/>
                  <a:ext cx="0" cy="839"/>
                </a:xfrm>
                <a:prstGeom prst="line">
                  <a:avLst/>
                </a:prstGeom>
                <a:ln w="12700" cap="flat" cmpd="sng">
                  <a:solidFill>
                    <a:schemeClr val="tx1"/>
                  </a:solidFill>
                  <a:prstDash val="dash"/>
                  <a:headEnd type="none" w="med" len="med"/>
                  <a:tailEnd type="none" w="med" len="med"/>
                </a:ln>
              </p:spPr>
            </p:sp>
            <p:sp>
              <p:nvSpPr>
                <p:cNvPr id="20520" name="Line 62"/>
                <p:cNvSpPr/>
                <p:nvPr/>
              </p:nvSpPr>
              <p:spPr>
                <a:xfrm flipH="1">
                  <a:off x="3708" y="1263"/>
                  <a:ext cx="436" cy="0"/>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20485" name="Object 63"/>
                    <p:cNvSpPr txBox="1"/>
                    <p:nvPr/>
                  </p:nvSpPr>
                  <p:spPr>
                    <a:xfrm>
                      <a:off x="3462" y="1145"/>
                      <a:ext cx="182" cy="20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latin typeface="+mn-ea"/>
                      </a:endParaRPr>
                    </a:p>
                  </p:txBody>
                </p:sp>
              </mc:Choice>
              <mc:Fallback xmlns="">
                <p:sp>
                  <p:nvSpPr>
                    <p:cNvPr id="20485" name="Object 63"/>
                    <p:cNvSpPr txBox="1">
                      <a:spLocks noRot="1" noChangeAspect="1" noMove="1" noResize="1" noEditPoints="1" noAdjustHandles="1" noChangeArrowheads="1" noChangeShapeType="1" noTextEdit="1"/>
                    </p:cNvSpPr>
                    <p:nvPr/>
                  </p:nvSpPr>
                  <p:spPr>
                    <a:xfrm>
                      <a:off x="3462" y="1145"/>
                      <a:ext cx="182" cy="207"/>
                    </a:xfrm>
                    <a:prstGeom prst="rect">
                      <a:avLst/>
                    </a:prstGeom>
                    <a:blipFill>
                      <a:blip r:embed="rId24"/>
                      <a:stretch>
                        <a:fillRect b="-42308"/>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6" name="Object 64"/>
                    <p:cNvSpPr txBox="1"/>
                    <p:nvPr/>
                  </p:nvSpPr>
                  <p:spPr>
                    <a:xfrm>
                      <a:off x="4655" y="2101"/>
                      <a:ext cx="210" cy="28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oMath>
                        </m:oMathPara>
                      </a14:m>
                      <a:endParaRPr lang="en-US" sz="2800">
                        <a:latin typeface="+mn-ea"/>
                      </a:endParaRPr>
                    </a:p>
                  </p:txBody>
                </p:sp>
              </mc:Choice>
              <mc:Fallback xmlns="">
                <p:sp>
                  <p:nvSpPr>
                    <p:cNvPr id="20486" name="Object 64"/>
                    <p:cNvSpPr txBox="1">
                      <a:spLocks noRot="1" noChangeAspect="1" noMove="1" noResize="1" noEditPoints="1" noAdjustHandles="1" noChangeArrowheads="1" noChangeShapeType="1" noTextEdit="1"/>
                    </p:cNvSpPr>
                    <p:nvPr/>
                  </p:nvSpPr>
                  <p:spPr>
                    <a:xfrm>
                      <a:off x="4655" y="2101"/>
                      <a:ext cx="210" cy="286"/>
                    </a:xfrm>
                    <a:prstGeom prst="rect">
                      <a:avLst/>
                    </a:prstGeom>
                    <a:blipFill>
                      <a:blip r:embed="rId25"/>
                      <a:stretch>
                        <a:fillRect r="-20755" b="-1370"/>
                      </a:stretch>
                    </a:blipFill>
                    <a:ln w="38100">
                      <a:noFill/>
                      <a:miter/>
                    </a:ln>
                  </p:spPr>
                  <p:txBody>
                    <a:bodyPr/>
                    <a:lstStyle/>
                    <a:p>
                      <a:r>
                        <a:rPr lang="en-US">
                          <a:noFill/>
                        </a:rPr>
                        <a:t> </a:t>
                      </a:r>
                    </a:p>
                  </p:txBody>
                </p:sp>
              </mc:Fallback>
            </mc:AlternateContent>
            <p:sp>
              <p:nvSpPr>
                <p:cNvPr id="20521" name="Line 65"/>
                <p:cNvSpPr/>
                <p:nvPr/>
              </p:nvSpPr>
              <p:spPr>
                <a:xfrm>
                  <a:off x="4144" y="1263"/>
                  <a:ext cx="611" cy="0"/>
                </a:xfrm>
                <a:prstGeom prst="line">
                  <a:avLst/>
                </a:prstGeom>
                <a:ln w="38100" cap="flat" cmpd="sng">
                  <a:solidFill>
                    <a:srgbClr val="0000FF"/>
                  </a:solidFill>
                  <a:prstDash val="solid"/>
                  <a:headEnd type="none" w="med" len="med"/>
                  <a:tailEnd type="none" w="med" len="med"/>
                </a:ln>
              </p:spPr>
            </p:sp>
            <p:sp>
              <p:nvSpPr>
                <p:cNvPr id="20522" name="Line 66"/>
                <p:cNvSpPr/>
                <p:nvPr/>
              </p:nvSpPr>
              <p:spPr>
                <a:xfrm>
                  <a:off x="4755" y="1263"/>
                  <a:ext cx="0" cy="843"/>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20487" name="Object 67"/>
                    <p:cNvSpPr txBox="1"/>
                    <p:nvPr/>
                  </p:nvSpPr>
                  <p:spPr>
                    <a:xfrm>
                      <a:off x="3460" y="835"/>
                      <a:ext cx="195" cy="22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latin typeface="+mn-ea"/>
                      </a:endParaRPr>
                    </a:p>
                  </p:txBody>
                </p:sp>
              </mc:Choice>
              <mc:Fallback xmlns="">
                <p:sp>
                  <p:nvSpPr>
                    <p:cNvPr id="20487" name="Object 67"/>
                    <p:cNvSpPr txBox="1">
                      <a:spLocks noRot="1" noChangeAspect="1" noMove="1" noResize="1" noEditPoints="1" noAdjustHandles="1" noChangeArrowheads="1" noChangeShapeType="1" noTextEdit="1"/>
                    </p:cNvSpPr>
                    <p:nvPr/>
                  </p:nvSpPr>
                  <p:spPr>
                    <a:xfrm>
                      <a:off x="3460" y="835"/>
                      <a:ext cx="195" cy="223"/>
                    </a:xfrm>
                    <a:prstGeom prst="rect">
                      <a:avLst/>
                    </a:prstGeom>
                    <a:blipFill>
                      <a:blip r:embed="rId26"/>
                      <a:stretch>
                        <a:fillRect b="-29825"/>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8" name="Object 68"/>
                    <p:cNvSpPr txBox="1"/>
                    <p:nvPr/>
                  </p:nvSpPr>
                  <p:spPr>
                    <a:xfrm>
                      <a:off x="5058" y="2148"/>
                      <a:ext cx="178" cy="19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latin typeface="+mn-ea"/>
                      </a:endParaRPr>
                    </a:p>
                  </p:txBody>
                </p:sp>
              </mc:Choice>
              <mc:Fallback xmlns="">
                <p:sp>
                  <p:nvSpPr>
                    <p:cNvPr id="20488" name="Object 68"/>
                    <p:cNvSpPr txBox="1">
                      <a:spLocks noRot="1" noChangeAspect="1" noMove="1" noResize="1" noEditPoints="1" noAdjustHandles="1" noChangeArrowheads="1" noChangeShapeType="1" noTextEdit="1"/>
                    </p:cNvSpPr>
                    <p:nvPr/>
                  </p:nvSpPr>
                  <p:spPr>
                    <a:xfrm>
                      <a:off x="5058" y="2148"/>
                      <a:ext cx="178" cy="193"/>
                    </a:xfrm>
                    <a:prstGeom prst="rect">
                      <a:avLst/>
                    </a:prstGeom>
                    <a:blipFill>
                      <a:blip r:embed="rId27"/>
                      <a:stretch>
                        <a:fillRect r="-13333" b="-28571"/>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9" name="Object 69"/>
                    <p:cNvSpPr txBox="1"/>
                    <p:nvPr/>
                  </p:nvSpPr>
                  <p:spPr>
                    <a:xfrm>
                      <a:off x="3630" y="2138"/>
                      <a:ext cx="170" cy="19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a:latin typeface="+mn-ea"/>
                      </a:endParaRPr>
                    </a:p>
                  </p:txBody>
                </p:sp>
              </mc:Choice>
              <mc:Fallback xmlns="">
                <p:sp>
                  <p:nvSpPr>
                    <p:cNvPr id="20489" name="Object 69"/>
                    <p:cNvSpPr txBox="1">
                      <a:spLocks noRot="1" noChangeAspect="1" noMove="1" noResize="1" noEditPoints="1" noAdjustHandles="1" noChangeArrowheads="1" noChangeShapeType="1" noTextEdit="1"/>
                    </p:cNvSpPr>
                    <p:nvPr/>
                  </p:nvSpPr>
                  <p:spPr>
                    <a:xfrm>
                      <a:off x="3630" y="2138"/>
                      <a:ext cx="170" cy="190"/>
                    </a:xfrm>
                    <a:prstGeom prst="rect">
                      <a:avLst/>
                    </a:prstGeom>
                    <a:blipFill>
                      <a:blip r:embed="rId28"/>
                      <a:stretch>
                        <a:fillRect b="-29167"/>
                      </a:stretch>
                    </a:blipFill>
                    <a:ln w="38100">
                      <a:noFill/>
                      <a:miter/>
                    </a:ln>
                  </p:spPr>
                  <p:txBody>
                    <a:bodyPr/>
                    <a:lstStyle/>
                    <a:p>
                      <a:r>
                        <a:rPr lang="en-US">
                          <a:noFill/>
                        </a:rPr>
                        <a:t> </a:t>
                      </a:r>
                    </a:p>
                  </p:txBody>
                </p:sp>
              </mc:Fallback>
            </mc:AlternateContent>
            <p:sp>
              <p:nvSpPr>
                <p:cNvPr id="20523" name="Text Box 70"/>
                <p:cNvSpPr txBox="1"/>
                <p:nvPr/>
              </p:nvSpPr>
              <p:spPr>
                <a:xfrm>
                  <a:off x="4752" y="1181"/>
                  <a:ext cx="218" cy="339"/>
                </a:xfrm>
                <a:prstGeom prst="rect">
                  <a:avLst/>
                </a:prstGeom>
                <a:noFill/>
                <a:ln w="9525">
                  <a:noFill/>
                </a:ln>
              </p:spPr>
              <p:txBody>
                <a:bodyPr>
                  <a:spAutoFit/>
                </a:bodyPr>
                <a:lstStyle/>
                <a:p>
                  <a:pPr eaLnBrk="1" hangingPunct="1">
                    <a:spcBef>
                      <a:spcPct val="50000"/>
                    </a:spcBef>
                  </a:pPr>
                  <a:r>
                    <a:rPr lang="en-US" altLang="zh-CN" sz="2800" b="1" dirty="0">
                      <a:solidFill>
                        <a:srgbClr val="CC0000"/>
                      </a:solidFill>
                      <a:latin typeface="+mn-ea"/>
                    </a:rPr>
                    <a:t>1</a:t>
                  </a:r>
                </a:p>
              </p:txBody>
            </p:sp>
            <p:sp>
              <p:nvSpPr>
                <p:cNvPr id="20524" name="Text Box 71"/>
                <p:cNvSpPr txBox="1"/>
                <p:nvPr/>
              </p:nvSpPr>
              <p:spPr>
                <a:xfrm>
                  <a:off x="3888" y="1211"/>
                  <a:ext cx="217" cy="339"/>
                </a:xfrm>
                <a:prstGeom prst="rect">
                  <a:avLst/>
                </a:prstGeom>
                <a:noFill/>
                <a:ln w="9525">
                  <a:noFill/>
                </a:ln>
              </p:spPr>
              <p:txBody>
                <a:bodyPr>
                  <a:spAutoFit/>
                </a:bodyPr>
                <a:lstStyle/>
                <a:p>
                  <a:pPr eaLnBrk="1" hangingPunct="1">
                    <a:spcBef>
                      <a:spcPct val="50000"/>
                    </a:spcBef>
                  </a:pPr>
                  <a:r>
                    <a:rPr lang="en-US" altLang="zh-CN" sz="2800" b="1" dirty="0">
                      <a:solidFill>
                        <a:srgbClr val="CC0000"/>
                      </a:solidFill>
                      <a:latin typeface="+mn-ea"/>
                    </a:rPr>
                    <a:t>2</a:t>
                  </a:r>
                </a:p>
              </p:txBody>
            </p:sp>
            <p:sp>
              <p:nvSpPr>
                <p:cNvPr id="20525" name="Rectangle 72" descr="浅色下对角线"/>
                <p:cNvSpPr/>
                <p:nvPr/>
              </p:nvSpPr>
              <p:spPr>
                <a:xfrm>
                  <a:off x="4150" y="1258"/>
                  <a:ext cx="611" cy="843"/>
                </a:xfrm>
                <a:prstGeom prst="rect">
                  <a:avLst/>
                </a:prstGeom>
                <a:pattFill prst="ltDnDiag">
                  <a:fgClr>
                    <a:srgbClr val="0066FF"/>
                  </a:fgClr>
                  <a:bgClr>
                    <a:schemeClr val="bg1"/>
                  </a:bgClr>
                </a:pattFill>
                <a:ln w="12700" cap="flat" cmpd="sng">
                  <a:solidFill>
                    <a:schemeClr val="tx1"/>
                  </a:solidFill>
                  <a:prstDash val="dash"/>
                  <a:miter/>
                  <a:headEnd type="none" w="med" len="med"/>
                  <a:tailEnd type="none" w="med" len="med"/>
                </a:ln>
              </p:spPr>
              <p:txBody>
                <a:bodyPr wrap="none" anchor="ctr" anchorCtr="0"/>
                <a:lstStyle/>
                <a:p>
                  <a:endParaRPr lang="zh-CN" altLang="en-US" sz="2800" dirty="0">
                    <a:latin typeface="+mn-ea"/>
                  </a:endParaRPr>
                </a:p>
              </p:txBody>
            </p:sp>
            <p:sp>
              <p:nvSpPr>
                <p:cNvPr id="20526" name="Text Box 73"/>
                <p:cNvSpPr txBox="1"/>
                <p:nvPr/>
              </p:nvSpPr>
              <p:spPr>
                <a:xfrm>
                  <a:off x="4272" y="1553"/>
                  <a:ext cx="348" cy="339"/>
                </a:xfrm>
                <a:prstGeom prst="rect">
                  <a:avLst/>
                </a:prstGeom>
                <a:noFill/>
                <a:ln w="12700">
                  <a:noFill/>
                </a:ln>
              </p:spPr>
              <p:txBody>
                <a:bodyPr>
                  <a:spAutoFit/>
                </a:bodyPr>
                <a:lstStyle/>
                <a:p>
                  <a:pPr eaLnBrk="1" hangingPunct="1">
                    <a:spcBef>
                      <a:spcPct val="50000"/>
                    </a:spcBef>
                  </a:pPr>
                  <a:r>
                    <a:rPr lang="en-US" altLang="zh-CN" sz="2800" b="1" i="1" dirty="0">
                      <a:latin typeface="+mn-ea"/>
                    </a:rPr>
                    <a:t>A</a:t>
                  </a:r>
                </a:p>
              </p:txBody>
            </p:sp>
            <p:sp>
              <p:nvSpPr>
                <p:cNvPr id="20527" name="Line 74"/>
                <p:cNvSpPr/>
                <p:nvPr/>
              </p:nvSpPr>
              <p:spPr>
                <a:xfrm>
                  <a:off x="4140" y="1264"/>
                  <a:ext cx="611" cy="0"/>
                </a:xfrm>
                <a:prstGeom prst="line">
                  <a:avLst/>
                </a:prstGeom>
                <a:ln w="25400" cap="flat" cmpd="sng">
                  <a:solidFill>
                    <a:srgbClr val="0000FF"/>
                  </a:solidFill>
                  <a:prstDash val="solid"/>
                  <a:headEnd type="none" w="med" len="med"/>
                  <a:tailEnd type="none" w="med" len="med"/>
                </a:ln>
              </p:spPr>
            </p:sp>
            <p:sp>
              <p:nvSpPr>
                <p:cNvPr id="20528" name="Line 75"/>
                <p:cNvSpPr/>
                <p:nvPr/>
              </p:nvSpPr>
              <p:spPr>
                <a:xfrm>
                  <a:off x="4319" y="1258"/>
                  <a:ext cx="87" cy="0"/>
                </a:xfrm>
                <a:prstGeom prst="line">
                  <a:avLst/>
                </a:prstGeom>
                <a:ln w="38100" cap="flat" cmpd="sng">
                  <a:solidFill>
                    <a:srgbClr val="0000FF"/>
                  </a:solidFill>
                  <a:prstDash val="solid"/>
                  <a:headEnd type="triangle" w="sm" len="lg"/>
                  <a:tailEnd type="none" w="med" len="lg"/>
                </a:ln>
              </p:spPr>
            </p:sp>
            <p:sp>
              <p:nvSpPr>
                <p:cNvPr id="20529" name="Line 76"/>
                <p:cNvSpPr/>
                <p:nvPr/>
              </p:nvSpPr>
              <p:spPr>
                <a:xfrm>
                  <a:off x="3695" y="2101"/>
                  <a:ext cx="1527" cy="0"/>
                </a:xfrm>
                <a:prstGeom prst="line">
                  <a:avLst/>
                </a:prstGeom>
                <a:ln w="19050" cap="flat" cmpd="sng">
                  <a:solidFill>
                    <a:schemeClr val="tx1"/>
                  </a:solidFill>
                  <a:prstDash val="solid"/>
                  <a:headEnd type="none" w="med" len="med"/>
                  <a:tailEnd type="triangle" w="sm" len="lg"/>
                </a:ln>
              </p:spPr>
            </p:sp>
          </p:grpSp>
          <p:sp>
            <p:nvSpPr>
              <p:cNvPr id="429133" name="Text Box 77"/>
              <p:cNvSpPr txBox="1">
                <a:spLocks noChangeArrowheads="1"/>
              </p:cNvSpPr>
              <p:nvPr/>
            </p:nvSpPr>
            <p:spPr bwMode="auto">
              <a:xfrm>
                <a:off x="3062" y="709"/>
                <a:ext cx="400" cy="1728"/>
              </a:xfrm>
              <a:prstGeom prst="rect">
                <a:avLst/>
              </a:prstGeom>
              <a:gradFill rotWithShape="0">
                <a:gsLst>
                  <a:gs pos="0">
                    <a:schemeClr val="accent1"/>
                  </a:gs>
                  <a:gs pos="50000">
                    <a:srgbClr val="FFFFFF"/>
                  </a:gs>
                  <a:gs pos="100000">
                    <a:schemeClr val="accent1"/>
                  </a:gs>
                </a:gsLst>
                <a:lin ang="0" scaled="1"/>
              </a:gradFill>
              <a:ln w="9525">
                <a:solidFill>
                  <a:schemeClr val="tx2"/>
                </a:solidFill>
                <a:miter lim="800000"/>
              </a:ln>
              <a:effectLst/>
            </p:spPr>
            <p:txBody>
              <a:bodyPr vert="eaVert">
                <a:spAutoFit/>
              </a:bodyPr>
              <a:lstStyle/>
              <a:p>
                <a:pPr algn="ctr">
                  <a:spcBef>
                    <a:spcPct val="50000"/>
                  </a:spcBef>
                  <a:defRPr/>
                </a:pPr>
                <a:r>
                  <a:rPr kumimoji="1" lang="zh-CN" altLang="en-US" sz="2800" b="1">
                    <a:latin typeface="+mn-ea"/>
                  </a:rPr>
                  <a:t>等 压 </a:t>
                </a:r>
                <a:r>
                  <a:rPr kumimoji="1" lang="zh-CN" altLang="en-US" sz="2800" b="1">
                    <a:solidFill>
                      <a:srgbClr val="0000FF"/>
                    </a:solidFill>
                    <a:latin typeface="+mn-ea"/>
                  </a:rPr>
                  <a:t>压 缩</a:t>
                </a:r>
              </a:p>
            </p:txBody>
          </p:sp>
        </p:grpSp>
        <mc:AlternateContent xmlns:mc="http://schemas.openxmlformats.org/markup-compatibility/2006" xmlns:a14="http://schemas.microsoft.com/office/drawing/2010/main">
          <mc:Choice Requires="a14">
            <p:graphicFrame>
              <p:nvGraphicFramePr>
                <p:cNvPr id="20482" name="Object 78"/>
                <p:cNvGraphicFramePr/>
                <p:nvPr/>
              </p:nvGraphicFramePr>
              <p:xfrm>
                <a:off x="4649" y="935"/>
                <a:ext cx="680" cy="256"/>
              </p:xfrm>
              <a:graphic>
                <a:graphicData uri="http://schemas.openxmlformats.org/presentationml/2006/ole">
                  <mc:AlternateContent>
                    <mc:Choice xmlns:v="urn:schemas-microsoft-com:vml" Requires="v">
                      <p:oleObj spid="_x0000_s2136" r:id="rId29" imgW="596265" imgH="215900" progId="Equation.3">
                        <p:embed/>
                      </p:oleObj>
                    </mc:Choice>
                    <mc:Fallback>
                      <p:oleObj r:id="rId29" imgW="596265" imgH="215900" progId="Equation.3">
                        <p:embed/>
                        <p:pic>
                          <p:nvPicPr>
                            <p:cNvPr id="20482" name="Object 78"/>
                            <p:cNvPicPr/>
                            <p:nvPr/>
                          </p:nvPicPr>
                          <p:blipFill>
                            <a:blip r:embed="rId5"/>
                            <a:stretch>
                              <a:fillRect/>
                            </a:stretch>
                          </p:blipFill>
                          <p:spPr>
                            <a:xfrm>
                              <a:off x="4649" y="935"/>
                              <a:ext cx="680" cy="256"/>
                            </a:xfrm>
                            <a:prstGeom prst="rect">
                              <a:avLst/>
                            </a:prstGeom>
                            <a:noFill/>
                            <a:ln w="38100">
                              <a:noFill/>
                              <a:miter/>
                            </a:ln>
                          </p:spPr>
                        </p:pic>
                      </p:oleObj>
                    </mc:Fallback>
                  </mc:AlternateContent>
                </a:graphicData>
              </a:graphic>
            </p:graphicFrame>
          </mc:Choice>
          <mc:Fallback xmlns="">
            <p:graphicFrame>
              <p:nvGraphicFramePr>
                <p:cNvPr id="20482" name="Object 78"/>
                <p:cNvGraphicFramePr/>
                <p:nvPr/>
              </p:nvGraphicFramePr>
              <p:xfrm>
                <a:off x="4649" y="935"/>
                <a:ext cx="680" cy="256"/>
              </p:xfrm>
              <a:graphic>
                <a:graphicData uri="http://schemas.openxmlformats.org/presentationml/2006/ole">
                  <mc:AlternateContent>
                    <mc:Choice xmlns:v="urn:schemas-microsoft-com:vml" Requires="v">
                      <p:oleObj spid="_x0000_s19606" r:id="rId30" imgW="596265" imgH="215900" progId="Equation.3">
                        <p:embed/>
                      </p:oleObj>
                    </mc:Choice>
                    <mc:Fallback>
                      <p:oleObj r:id="rId30" imgW="596265" imgH="215900" progId="Equation.3">
                        <p:embed/>
                        <p:pic>
                          <p:nvPicPr>
                            <p:cNvPr id="20482" name="Object 78"/>
                            <p:cNvPicPr/>
                            <p:nvPr/>
                          </p:nvPicPr>
                          <p:blipFill>
                            <a:blip r:embed="rId7"/>
                            <a:stretch>
                              <a:fillRect/>
                            </a:stretch>
                          </p:blipFill>
                          <p:spPr>
                            <a:xfrm>
                              <a:off x="4649" y="935"/>
                              <a:ext cx="680" cy="256"/>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0483" name="Object 79"/>
                <p:cNvGraphicFramePr/>
                <p:nvPr/>
              </p:nvGraphicFramePr>
              <p:xfrm>
                <a:off x="3788" y="943"/>
                <a:ext cx="680" cy="267"/>
              </p:xfrm>
              <a:graphic>
                <a:graphicData uri="http://schemas.openxmlformats.org/presentationml/2006/ole">
                  <mc:AlternateContent>
                    <mc:Choice xmlns:v="urn:schemas-microsoft-com:vml" Requires="v">
                      <p:oleObj spid="_x0000_s2137" r:id="rId31" imgW="621665" imgH="215900" progId="Equation.3">
                        <p:embed/>
                      </p:oleObj>
                    </mc:Choice>
                    <mc:Fallback>
                      <p:oleObj r:id="rId31" imgW="621665" imgH="215900" progId="Equation.3">
                        <p:embed/>
                        <p:pic>
                          <p:nvPicPr>
                            <p:cNvPr id="20483" name="Object 79"/>
                            <p:cNvPicPr/>
                            <p:nvPr/>
                          </p:nvPicPr>
                          <p:blipFill>
                            <a:blip r:embed="rId9"/>
                            <a:stretch>
                              <a:fillRect/>
                            </a:stretch>
                          </p:blipFill>
                          <p:spPr>
                            <a:xfrm>
                              <a:off x="3788" y="943"/>
                              <a:ext cx="680" cy="267"/>
                            </a:xfrm>
                            <a:prstGeom prst="rect">
                              <a:avLst/>
                            </a:prstGeom>
                            <a:noFill/>
                            <a:ln w="38100">
                              <a:noFill/>
                              <a:miter/>
                            </a:ln>
                          </p:spPr>
                        </p:pic>
                      </p:oleObj>
                    </mc:Fallback>
                  </mc:AlternateContent>
                </a:graphicData>
              </a:graphic>
            </p:graphicFrame>
          </mc:Choice>
          <mc:Fallback xmlns="">
            <p:graphicFrame>
              <p:nvGraphicFramePr>
                <p:cNvPr id="20483" name="Object 79"/>
                <p:cNvGraphicFramePr/>
                <p:nvPr/>
              </p:nvGraphicFramePr>
              <p:xfrm>
                <a:off x="3788" y="943"/>
                <a:ext cx="680" cy="267"/>
              </p:xfrm>
              <a:graphic>
                <a:graphicData uri="http://schemas.openxmlformats.org/presentationml/2006/ole">
                  <mc:AlternateContent>
                    <mc:Choice xmlns:v="urn:schemas-microsoft-com:vml" Requires="v">
                      <p:oleObj spid="_x0000_s19607" r:id="rId32" imgW="621665" imgH="215900" progId="Equation.3">
                        <p:embed/>
                      </p:oleObj>
                    </mc:Choice>
                    <mc:Fallback>
                      <p:oleObj r:id="rId32" imgW="621665" imgH="215900" progId="Equation.3">
                        <p:embed/>
                        <p:pic>
                          <p:nvPicPr>
                            <p:cNvPr id="20483" name="Object 79"/>
                            <p:cNvPicPr/>
                            <p:nvPr/>
                          </p:nvPicPr>
                          <p:blipFill>
                            <a:blip r:embed="rId11"/>
                            <a:stretch>
                              <a:fillRect/>
                            </a:stretch>
                          </p:blipFill>
                          <p:spPr>
                            <a:xfrm>
                              <a:off x="3788" y="943"/>
                              <a:ext cx="680" cy="267"/>
                            </a:xfrm>
                            <a:prstGeom prst="rect">
                              <a:avLst/>
                            </a:prstGeom>
                            <a:noFill/>
                            <a:ln w="38100">
                              <a:noFill/>
                              <a:miter/>
                            </a:ln>
                          </p:spPr>
                        </p:pic>
                      </p:oleObj>
                    </mc:Fallback>
                  </mc:AlternateContent>
                </a:graphicData>
              </a:graphic>
            </p:graphicFrame>
          </mc:Fallback>
        </mc:AlternateContent>
      </p:grpSp>
      <p:sp>
        <p:nvSpPr>
          <p:cNvPr id="117" name="Text Box 13">
            <a:hlinkClick r:id="" action="ppaction://noaction"/>
            <a:extLst>
              <a:ext uri="{FF2B5EF4-FFF2-40B4-BE49-F238E27FC236}">
                <a16:creationId xmlns:a16="http://schemas.microsoft.com/office/drawing/2014/main" id="{485676D7-DBA5-473F-AAEA-1DDE3EF42B3C}"/>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等压过程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7" name="Text Box 3"/>
          <p:cNvSpPr txBox="1">
            <a:spLocks noChangeArrowheads="1"/>
          </p:cNvSpPr>
          <p:nvPr/>
        </p:nvSpPr>
        <p:spPr bwMode="auto">
          <a:xfrm>
            <a:off x="5553868" y="3457575"/>
            <a:ext cx="3886200" cy="523220"/>
          </a:xfrm>
          <a:prstGeom prst="rect">
            <a:avLst/>
          </a:prstGeom>
          <a:noFill/>
          <a:ln w="9525">
            <a:noFill/>
            <a:miter lim="800000"/>
          </a:ln>
          <a:effectLst/>
        </p:spPr>
        <p:txBody>
          <a:bodyPr>
            <a:spAutoFit/>
          </a:bodyPr>
          <a:lstStyle/>
          <a:p>
            <a:pPr>
              <a:spcBef>
                <a:spcPct val="50000"/>
              </a:spcBef>
              <a:defRPr/>
            </a:pPr>
            <a:r>
              <a:rPr kumimoji="1" lang="zh-CN" altLang="en-US" sz="2800" dirty="0">
                <a:solidFill>
                  <a:srgbClr val="000000"/>
                </a:solidFill>
                <a:latin typeface="+mn-ea"/>
              </a:rPr>
              <a:t>由热力学第一定律</a:t>
            </a:r>
          </a:p>
        </p:txBody>
      </p:sp>
      <mc:AlternateContent xmlns:mc="http://schemas.openxmlformats.org/markup-compatibility/2006" xmlns:a14="http://schemas.microsoft.com/office/drawing/2010/main">
        <mc:Choice Requires="a14">
          <p:sp>
            <p:nvSpPr>
              <p:cNvPr id="431108" name="Object 4"/>
              <p:cNvSpPr txBox="1"/>
              <p:nvPr/>
            </p:nvSpPr>
            <p:spPr>
              <a:xfrm>
                <a:off x="6315868" y="2760662"/>
                <a:ext cx="1524000" cy="4937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=0</m:t>
                      </m:r>
                    </m:oMath>
                  </m:oMathPara>
                </a14:m>
                <a:endParaRPr lang="en-US" sz="2800" dirty="0">
                  <a:latin typeface="+mn-ea"/>
                </a:endParaRPr>
              </a:p>
            </p:txBody>
          </p:sp>
        </mc:Choice>
        <mc:Fallback xmlns="">
          <p:sp>
            <p:nvSpPr>
              <p:cNvPr id="431108" name="Object 4"/>
              <p:cNvSpPr txBox="1">
                <a:spLocks noRot="1" noChangeAspect="1" noMove="1" noResize="1" noEditPoints="1" noAdjustHandles="1" noChangeArrowheads="1" noChangeShapeType="1" noTextEdit="1"/>
              </p:cNvSpPr>
              <p:nvPr/>
            </p:nvSpPr>
            <p:spPr>
              <a:xfrm>
                <a:off x="6315868" y="2760662"/>
                <a:ext cx="1524000" cy="493713"/>
              </a:xfrm>
              <a:prstGeom prst="rect">
                <a:avLst/>
              </a:prstGeom>
              <a:blipFill>
                <a:blip r:embed="rId3"/>
                <a:stretch>
                  <a:fillRect/>
                </a:stretch>
              </a:blipFill>
              <a:ln w="38100">
                <a:noFill/>
                <a:miter/>
              </a:ln>
            </p:spPr>
            <p:txBody>
              <a:bodyPr/>
              <a:lstStyle/>
              <a:p>
                <a:r>
                  <a:rPr lang="zh-CN" altLang="en-US">
                    <a:noFill/>
                  </a:rPr>
                  <a:t> </a:t>
                </a:r>
              </a:p>
            </p:txBody>
          </p:sp>
        </mc:Fallback>
      </mc:AlternateContent>
      <p:sp>
        <p:nvSpPr>
          <p:cNvPr id="22546" name="Rectangle 5" descr="深色上对角线"/>
          <p:cNvSpPr/>
          <p:nvPr/>
        </p:nvSpPr>
        <p:spPr>
          <a:xfrm>
            <a:off x="9017793" y="4814887"/>
            <a:ext cx="1981200" cy="1295400"/>
          </a:xfrm>
          <a:prstGeom prst="rect">
            <a:avLst/>
          </a:prstGeom>
          <a:pattFill prst="dkUpDiag">
            <a:fgClr>
              <a:srgbClr val="996600"/>
            </a:fgClr>
            <a:bgClr>
              <a:srgbClr val="DAB48E"/>
            </a:bgClr>
          </a:patt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47" name="Rectangle 6"/>
          <p:cNvSpPr/>
          <p:nvPr/>
        </p:nvSpPr>
        <p:spPr>
          <a:xfrm>
            <a:off x="9627393" y="4967287"/>
            <a:ext cx="228600" cy="990600"/>
          </a:xfrm>
          <a:prstGeom prst="rect">
            <a:avLst/>
          </a:prstGeom>
          <a:gradFill rotWithShape="0">
            <a:gsLst>
              <a:gs pos="0">
                <a:srgbClr val="765D44"/>
              </a:gs>
              <a:gs pos="50000">
                <a:srgbClr val="D3A679"/>
              </a:gs>
              <a:gs pos="100000">
                <a:srgbClr val="765D44"/>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48" name="Rectangle 7"/>
          <p:cNvSpPr/>
          <p:nvPr/>
        </p:nvSpPr>
        <p:spPr>
          <a:xfrm>
            <a:off x="9855993" y="5348287"/>
            <a:ext cx="1371600" cy="228600"/>
          </a:xfrm>
          <a:prstGeom prst="rect">
            <a:avLst/>
          </a:prstGeom>
          <a:gradFill rotWithShape="0">
            <a:gsLst>
              <a:gs pos="0">
                <a:srgbClr val="765D44"/>
              </a:gs>
              <a:gs pos="50000">
                <a:srgbClr val="D3A679"/>
              </a:gs>
              <a:gs pos="100000">
                <a:srgbClr val="765D44"/>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49" name="Rectangle 8" descr="20%"/>
          <p:cNvSpPr/>
          <p:nvPr/>
        </p:nvSpPr>
        <p:spPr>
          <a:xfrm>
            <a:off x="9170193" y="4967287"/>
            <a:ext cx="457200" cy="990600"/>
          </a:xfrm>
          <a:prstGeom prst="rect">
            <a:avLst/>
          </a:prstGeom>
          <a:pattFill prst="pct20">
            <a:fgClr>
              <a:schemeClr val="tx1"/>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grpSp>
        <p:nvGrpSpPr>
          <p:cNvPr id="22550" name="Group 9"/>
          <p:cNvGrpSpPr/>
          <p:nvPr/>
        </p:nvGrpSpPr>
        <p:grpSpPr>
          <a:xfrm>
            <a:off x="8449468" y="4238625"/>
            <a:ext cx="630238" cy="2384425"/>
            <a:chOff x="2963" y="2544"/>
            <a:chExt cx="397" cy="1343"/>
          </a:xfrm>
        </p:grpSpPr>
        <p:sp>
          <p:nvSpPr>
            <p:cNvPr id="22583" name="Rectangle 10"/>
            <p:cNvSpPr/>
            <p:nvPr/>
          </p:nvSpPr>
          <p:spPr>
            <a:xfrm>
              <a:off x="2963" y="2544"/>
              <a:ext cx="397" cy="1343"/>
            </a:xfrm>
            <a:prstGeom prst="rect">
              <a:avLst/>
            </a:prstGeom>
            <a:solidFill>
              <a:srgbClr val="FFCCCC"/>
            </a:solidFill>
            <a:ln w="9525" cap="flat" cmpd="sng">
              <a:solidFill>
                <a:srgbClr val="CC0000"/>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84" name="Text Box 11"/>
            <p:cNvSpPr txBox="1"/>
            <p:nvPr/>
          </p:nvSpPr>
          <p:spPr>
            <a:xfrm>
              <a:off x="2972" y="2598"/>
              <a:ext cx="388" cy="1080"/>
            </a:xfrm>
            <a:prstGeom prst="rect">
              <a:avLst/>
            </a:prstGeom>
            <a:noFill/>
            <a:ln w="9525">
              <a:noFill/>
            </a:ln>
          </p:spPr>
          <p:txBody>
            <a:bodyPr vert="eaVert">
              <a:spAutoFit/>
            </a:bodyPr>
            <a:lstStyle/>
            <a:p>
              <a:pPr>
                <a:spcBef>
                  <a:spcPct val="50000"/>
                </a:spcBef>
              </a:pPr>
              <a:r>
                <a:rPr lang="zh-CN" altLang="en-US" sz="2800" b="1" dirty="0">
                  <a:solidFill>
                    <a:srgbClr val="000000"/>
                  </a:solidFill>
                  <a:latin typeface="Times New Roman" panose="02020603050405020304" pitchFamily="18" charset="0"/>
                </a:rPr>
                <a:t>恒温热源</a:t>
              </a:r>
              <a:endParaRPr lang="zh-CN" altLang="en-US" sz="2800" dirty="0">
                <a:solidFill>
                  <a:srgbClr val="000000"/>
                </a:solidFill>
                <a:latin typeface="Times New Roman" panose="02020603050405020304" pitchFamily="18" charset="0"/>
              </a:endParaRPr>
            </a:p>
          </p:txBody>
        </p:sp>
        <p:sp>
          <p:nvSpPr>
            <p:cNvPr id="22585" name="Text Box 12"/>
            <p:cNvSpPr txBox="1"/>
            <p:nvPr/>
          </p:nvSpPr>
          <p:spPr>
            <a:xfrm>
              <a:off x="3024" y="3552"/>
              <a:ext cx="264" cy="295"/>
            </a:xfrm>
            <a:prstGeom prst="rect">
              <a:avLst/>
            </a:prstGeom>
            <a:noFill/>
            <a:ln w="9525">
              <a:noFill/>
            </a:ln>
          </p:spPr>
          <p:txBody>
            <a:bodyPr>
              <a:spAutoFit/>
            </a:bodyPr>
            <a:lstStyle/>
            <a:p>
              <a:pPr>
                <a:spcBef>
                  <a:spcPct val="50000"/>
                </a:spcBef>
              </a:pPr>
              <a:r>
                <a:rPr lang="en-US" altLang="zh-CN" sz="2800" b="1" i="1" dirty="0">
                  <a:solidFill>
                    <a:srgbClr val="000000"/>
                  </a:solidFill>
                  <a:latin typeface="Times New Roman" panose="02020603050405020304" pitchFamily="18" charset="0"/>
                  <a:ea typeface="楷体_GB2312" panose="02010609030101010101" pitchFamily="49" charset="-122"/>
                </a:rPr>
                <a:t>T</a:t>
              </a:r>
              <a:endParaRPr lang="en-US" altLang="zh-CN" sz="2800" i="1" dirty="0">
                <a:solidFill>
                  <a:srgbClr val="000000"/>
                </a:solidFill>
                <a:latin typeface="Times New Roman" panose="02020603050405020304" pitchFamily="18" charset="0"/>
                <a:ea typeface="楷体_GB2312" panose="02010609030101010101" pitchFamily="49" charset="-122"/>
              </a:endParaRPr>
            </a:p>
          </p:txBody>
        </p:sp>
      </p:grpSp>
      <p:sp>
        <p:nvSpPr>
          <p:cNvPr id="22551" name="Rectangle 13"/>
          <p:cNvSpPr/>
          <p:nvPr/>
        </p:nvSpPr>
        <p:spPr>
          <a:xfrm>
            <a:off x="9855993" y="4967287"/>
            <a:ext cx="1143000" cy="3810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52" name="Rectangle 14"/>
          <p:cNvSpPr/>
          <p:nvPr/>
        </p:nvSpPr>
        <p:spPr>
          <a:xfrm>
            <a:off x="9855993" y="5576887"/>
            <a:ext cx="1143000" cy="3810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grpSp>
        <p:nvGrpSpPr>
          <p:cNvPr id="3" name="Group 15"/>
          <p:cNvGrpSpPr/>
          <p:nvPr/>
        </p:nvGrpSpPr>
        <p:grpSpPr>
          <a:xfrm>
            <a:off x="9170193" y="4965699"/>
            <a:ext cx="2819400" cy="990600"/>
            <a:chOff x="5088" y="3216"/>
            <a:chExt cx="1776" cy="624"/>
          </a:xfrm>
        </p:grpSpPr>
        <p:sp>
          <p:nvSpPr>
            <p:cNvPr id="22577" name="Rectangle 16" descr="5%"/>
            <p:cNvSpPr/>
            <p:nvPr/>
          </p:nvSpPr>
          <p:spPr>
            <a:xfrm>
              <a:off x="5088" y="3216"/>
              <a:ext cx="768" cy="624"/>
            </a:xfrm>
            <a:prstGeom prst="rect">
              <a:avLst/>
            </a:prstGeom>
            <a:pattFill prst="pct5">
              <a:fgClr>
                <a:schemeClr val="tx1"/>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grpSp>
          <p:nvGrpSpPr>
            <p:cNvPr id="22578" name="Group 17"/>
            <p:cNvGrpSpPr/>
            <p:nvPr/>
          </p:nvGrpSpPr>
          <p:grpSpPr>
            <a:xfrm>
              <a:off x="5376" y="3216"/>
              <a:ext cx="1008" cy="624"/>
              <a:chOff x="3456" y="2928"/>
              <a:chExt cx="1008" cy="624"/>
            </a:xfrm>
          </p:grpSpPr>
          <p:sp>
            <p:nvSpPr>
              <p:cNvPr id="22581" name="Rectangle 18"/>
              <p:cNvSpPr/>
              <p:nvPr/>
            </p:nvSpPr>
            <p:spPr>
              <a:xfrm>
                <a:off x="3456" y="2928"/>
                <a:ext cx="144" cy="624"/>
              </a:xfrm>
              <a:prstGeom prst="rect">
                <a:avLst/>
              </a:prstGeom>
              <a:noFill/>
              <a:ln w="28575" cap="flat" cmpd="sng">
                <a:solidFill>
                  <a:schemeClr val="tx1"/>
                </a:solidFill>
                <a:prstDash val="dash"/>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82" name="Rectangle 19"/>
              <p:cNvSpPr/>
              <p:nvPr/>
            </p:nvSpPr>
            <p:spPr>
              <a:xfrm>
                <a:off x="3600" y="3168"/>
                <a:ext cx="864" cy="144"/>
              </a:xfrm>
              <a:prstGeom prst="rect">
                <a:avLst/>
              </a:prstGeom>
              <a:noFill/>
              <a:ln w="28575" cap="flat" cmpd="sng">
                <a:solidFill>
                  <a:schemeClr val="tx1"/>
                </a:solidFill>
                <a:prstDash val="dash"/>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grpSp>
        <p:sp>
          <p:nvSpPr>
            <p:cNvPr id="22579" name="Rectangle 20"/>
            <p:cNvSpPr/>
            <p:nvPr/>
          </p:nvSpPr>
          <p:spPr>
            <a:xfrm>
              <a:off x="5856" y="3216"/>
              <a:ext cx="144" cy="624"/>
            </a:xfrm>
            <a:prstGeom prst="rect">
              <a:avLst/>
            </a:prstGeom>
            <a:gradFill rotWithShape="0">
              <a:gsLst>
                <a:gs pos="0">
                  <a:srgbClr val="765D44"/>
                </a:gs>
                <a:gs pos="50000">
                  <a:srgbClr val="D3A679"/>
                </a:gs>
                <a:gs pos="100000">
                  <a:srgbClr val="765D44"/>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80" name="Rectangle 21"/>
            <p:cNvSpPr/>
            <p:nvPr/>
          </p:nvSpPr>
          <p:spPr>
            <a:xfrm>
              <a:off x="6000" y="3456"/>
              <a:ext cx="864" cy="144"/>
            </a:xfrm>
            <a:prstGeom prst="rect">
              <a:avLst/>
            </a:prstGeom>
            <a:gradFill rotWithShape="0">
              <a:gsLst>
                <a:gs pos="0">
                  <a:srgbClr val="765D44"/>
                </a:gs>
                <a:gs pos="50000">
                  <a:srgbClr val="D3A679"/>
                </a:gs>
                <a:gs pos="100000">
                  <a:srgbClr val="765D44"/>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grpSp>
      <mc:AlternateContent xmlns:mc="http://schemas.openxmlformats.org/markup-compatibility/2006" xmlns:a14="http://schemas.microsoft.com/office/drawing/2010/main">
        <mc:Choice Requires="a14">
          <p:sp>
            <p:nvSpPr>
              <p:cNvPr id="431126" name="Object 22"/>
              <p:cNvSpPr txBox="1"/>
              <p:nvPr/>
            </p:nvSpPr>
            <p:spPr>
              <a:xfrm>
                <a:off x="8428036" y="3415010"/>
                <a:ext cx="3478214" cy="56578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𝑄</m:t>
                          </m:r>
                        </m:e>
                        <m:sub>
                          <m:r>
                            <a:rPr lang="en-US" sz="2800" b="0" i="1">
                              <a:solidFill>
                                <a:srgbClr val="000000"/>
                              </a:solidFill>
                              <a:latin typeface="Cambria Math" panose="02040503050406030204" pitchFamily="18" charset="0"/>
                            </a:rPr>
                            <m:t>𝑇</m:t>
                          </m:r>
                        </m:sub>
                      </m:sSub>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𝑑𝐴</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𝑝</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𝑉</m:t>
                      </m:r>
                    </m:oMath>
                  </m:oMathPara>
                </a14:m>
                <a:endParaRPr lang="en-US" sz="2800" dirty="0">
                  <a:latin typeface="+mn-ea"/>
                </a:endParaRPr>
              </a:p>
            </p:txBody>
          </p:sp>
        </mc:Choice>
        <mc:Fallback xmlns="">
          <p:sp>
            <p:nvSpPr>
              <p:cNvPr id="431126" name="Object 22"/>
              <p:cNvSpPr txBox="1">
                <a:spLocks noRot="1" noChangeAspect="1" noMove="1" noResize="1" noEditPoints="1" noAdjustHandles="1" noChangeArrowheads="1" noChangeShapeType="1" noTextEdit="1"/>
              </p:cNvSpPr>
              <p:nvPr/>
            </p:nvSpPr>
            <p:spPr>
              <a:xfrm>
                <a:off x="8428036" y="3415010"/>
                <a:ext cx="3478214" cy="565785"/>
              </a:xfrm>
              <a:prstGeom prst="rect">
                <a:avLst/>
              </a:prstGeom>
              <a:blipFill>
                <a:blip r:embed="rId4"/>
                <a:stretch>
                  <a:fillRect/>
                </a:stretch>
              </a:blipFill>
              <a:ln w="38100">
                <a:noFill/>
                <a:miter/>
              </a:ln>
            </p:spPr>
            <p:txBody>
              <a:bodyPr/>
              <a:lstStyle/>
              <a:p>
                <a:r>
                  <a:rPr lang="zh-CN" altLang="en-US">
                    <a:noFill/>
                  </a:rPr>
                  <a:t> </a:t>
                </a:r>
              </a:p>
            </p:txBody>
          </p:sp>
        </mc:Fallback>
      </mc:AlternateContent>
      <p:grpSp>
        <p:nvGrpSpPr>
          <p:cNvPr id="5" name="Group 23"/>
          <p:cNvGrpSpPr/>
          <p:nvPr/>
        </p:nvGrpSpPr>
        <p:grpSpPr>
          <a:xfrm>
            <a:off x="455613" y="1416050"/>
            <a:ext cx="3810000" cy="2971800"/>
            <a:chOff x="3024" y="528"/>
            <a:chExt cx="2400" cy="1872"/>
          </a:xfrm>
        </p:grpSpPr>
        <p:grpSp>
          <p:nvGrpSpPr>
            <p:cNvPr id="22560" name="Group 24"/>
            <p:cNvGrpSpPr/>
            <p:nvPr/>
          </p:nvGrpSpPr>
          <p:grpSpPr>
            <a:xfrm>
              <a:off x="3024" y="528"/>
              <a:ext cx="2400" cy="1872"/>
              <a:chOff x="3024" y="528"/>
              <a:chExt cx="2400" cy="1872"/>
            </a:xfrm>
          </p:grpSpPr>
          <p:sp>
            <p:nvSpPr>
              <p:cNvPr id="22565" name="Rectangle 25"/>
              <p:cNvSpPr/>
              <p:nvPr/>
            </p:nvSpPr>
            <p:spPr>
              <a:xfrm>
                <a:off x="3024" y="528"/>
                <a:ext cx="2400" cy="1872"/>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22566" name="Arc 26"/>
              <p:cNvSpPr/>
              <p:nvPr/>
            </p:nvSpPr>
            <p:spPr>
              <a:xfrm flipH="1" flipV="1">
                <a:off x="3792" y="864"/>
                <a:ext cx="1286" cy="828"/>
              </a:xfrm>
              <a:custGeom>
                <a:avLst/>
                <a:gdLst>
                  <a:gd name="txL" fmla="*/ 0 w 21378"/>
                  <a:gd name="txT" fmla="*/ 0 h 21281"/>
                  <a:gd name="txR" fmla="*/ 21378 w 21378"/>
                  <a:gd name="txB" fmla="*/ 21281 h 21281"/>
                </a:gdLst>
                <a:ahLst/>
                <a:cxnLst>
                  <a:cxn ang="0">
                    <a:pos x="13" y="0"/>
                  </a:cxn>
                  <a:cxn ang="0">
                    <a:pos x="77" y="28"/>
                  </a:cxn>
                  <a:cxn ang="0">
                    <a:pos x="0" y="32"/>
                  </a:cxn>
                </a:cxnLst>
                <a:rect l="txL" t="txT" r="txR" b="txB"/>
                <a:pathLst>
                  <a:path w="21378" h="21281" fill="none">
                    <a:moveTo>
                      <a:pt x="3698" y="0"/>
                    </a:moveTo>
                    <a:cubicBezTo>
                      <a:pt x="12906" y="1600"/>
                      <a:pt x="20040" y="8941"/>
                      <a:pt x="21377" y="18191"/>
                    </a:cubicBezTo>
                  </a:path>
                  <a:path w="21378" h="21281" stroke="0">
                    <a:moveTo>
                      <a:pt x="3698" y="0"/>
                    </a:moveTo>
                    <a:cubicBezTo>
                      <a:pt x="12906" y="1600"/>
                      <a:pt x="20040" y="8941"/>
                      <a:pt x="21377" y="18191"/>
                    </a:cubicBezTo>
                    <a:lnTo>
                      <a:pt x="0" y="21281"/>
                    </a:lnTo>
                    <a:close/>
                  </a:path>
                </a:pathLst>
              </a:custGeom>
              <a:noFill/>
              <a:ln w="25400"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22567" name="Line 27"/>
              <p:cNvSpPr/>
              <p:nvPr/>
            </p:nvSpPr>
            <p:spPr>
              <a:xfrm>
                <a:off x="4190" y="2112"/>
                <a:ext cx="0" cy="0"/>
              </a:xfrm>
              <a:prstGeom prst="line">
                <a:avLst/>
              </a:prstGeom>
              <a:ln w="9525" cap="flat" cmpd="sng">
                <a:solidFill>
                  <a:schemeClr val="tx1"/>
                </a:solidFill>
                <a:prstDash val="solid"/>
                <a:headEnd type="none" w="med" len="med"/>
                <a:tailEnd type="none" w="med" len="med"/>
              </a:ln>
            </p:spPr>
          </p:sp>
          <p:sp>
            <p:nvSpPr>
              <p:cNvPr id="22568" name="Line 28"/>
              <p:cNvSpPr/>
              <p:nvPr/>
            </p:nvSpPr>
            <p:spPr>
              <a:xfrm>
                <a:off x="4848" y="1680"/>
                <a:ext cx="0" cy="384"/>
              </a:xfrm>
              <a:prstGeom prst="line">
                <a:avLst/>
              </a:prstGeom>
              <a:ln w="12700" cap="flat" cmpd="sng">
                <a:solidFill>
                  <a:schemeClr val="tx1"/>
                </a:solidFill>
                <a:prstDash val="dash"/>
                <a:headEnd type="none" w="med" len="med"/>
                <a:tailEnd type="none" w="med" len="med"/>
              </a:ln>
            </p:spPr>
          </p:sp>
          <p:sp>
            <p:nvSpPr>
              <p:cNvPr id="22569" name="Line 29"/>
              <p:cNvSpPr/>
              <p:nvPr/>
            </p:nvSpPr>
            <p:spPr>
              <a:xfrm flipH="1">
                <a:off x="3431" y="998"/>
                <a:ext cx="384" cy="0"/>
              </a:xfrm>
              <a:prstGeom prst="line">
                <a:avLst/>
              </a:prstGeom>
              <a:ln w="12700" cap="flat" cmpd="sng">
                <a:solidFill>
                  <a:schemeClr val="tx1"/>
                </a:solidFill>
                <a:prstDash val="dash"/>
                <a:headEnd type="none" w="med" len="med"/>
                <a:tailEnd type="none" w="med" len="med"/>
              </a:ln>
            </p:spPr>
          </p:sp>
          <p:sp>
            <p:nvSpPr>
              <p:cNvPr id="22570" name="Line 30"/>
              <p:cNvSpPr/>
              <p:nvPr/>
            </p:nvSpPr>
            <p:spPr>
              <a:xfrm>
                <a:off x="4023" y="1353"/>
                <a:ext cx="96" cy="96"/>
              </a:xfrm>
              <a:prstGeom prst="line">
                <a:avLst/>
              </a:prstGeom>
              <a:ln w="38100" cap="flat" cmpd="sng">
                <a:solidFill>
                  <a:srgbClr val="0000FF"/>
                </a:solidFill>
                <a:prstDash val="solid"/>
                <a:headEnd type="none" w="med" len="med"/>
                <a:tailEnd type="triangle" w="sm" len="lg"/>
              </a:ln>
            </p:spPr>
          </p:sp>
          <p:sp>
            <p:nvSpPr>
              <p:cNvPr id="22571" name="Line 31"/>
              <p:cNvSpPr/>
              <p:nvPr/>
            </p:nvSpPr>
            <p:spPr>
              <a:xfrm>
                <a:off x="3408" y="2064"/>
                <a:ext cx="1920" cy="0"/>
              </a:xfrm>
              <a:prstGeom prst="line">
                <a:avLst/>
              </a:prstGeom>
              <a:ln w="19050" cap="flat" cmpd="sng">
                <a:solidFill>
                  <a:schemeClr val="tx1"/>
                </a:solidFill>
                <a:prstDash val="solid"/>
                <a:headEnd type="none" w="med" len="med"/>
                <a:tailEnd type="triangle" w="sm" len="lg"/>
              </a:ln>
            </p:spPr>
          </p:sp>
          <p:sp>
            <p:nvSpPr>
              <p:cNvPr id="22572" name="Line 32"/>
              <p:cNvSpPr/>
              <p:nvPr/>
            </p:nvSpPr>
            <p:spPr>
              <a:xfrm flipV="1">
                <a:off x="3434" y="671"/>
                <a:ext cx="0" cy="1402"/>
              </a:xfrm>
              <a:prstGeom prst="line">
                <a:avLst/>
              </a:prstGeom>
              <a:ln w="19050" cap="flat" cmpd="sng">
                <a:solidFill>
                  <a:schemeClr val="tx1"/>
                </a:solidFill>
                <a:prstDash val="solid"/>
                <a:headEnd type="none" w="med" len="med"/>
                <a:tailEnd type="triangle" w="sm" len="lg"/>
              </a:ln>
            </p:spPr>
          </p:sp>
          <p:sp>
            <p:nvSpPr>
              <p:cNvPr id="22573" name="Line 33"/>
              <p:cNvSpPr/>
              <p:nvPr/>
            </p:nvSpPr>
            <p:spPr>
              <a:xfrm>
                <a:off x="3792" y="1008"/>
                <a:ext cx="0" cy="1075"/>
              </a:xfrm>
              <a:prstGeom prst="line">
                <a:avLst/>
              </a:prstGeom>
              <a:ln w="12700" cap="flat" cmpd="sng">
                <a:solidFill>
                  <a:schemeClr val="tx1"/>
                </a:solidFill>
                <a:prstDash val="dash"/>
                <a:headEnd type="none" w="med" len="med"/>
                <a:tailEnd type="none" w="med" len="med"/>
              </a:ln>
            </p:spPr>
          </p:sp>
          <p:sp>
            <p:nvSpPr>
              <p:cNvPr id="22574" name="Line 34"/>
              <p:cNvSpPr/>
              <p:nvPr/>
            </p:nvSpPr>
            <p:spPr>
              <a:xfrm flipH="1">
                <a:off x="3431" y="1699"/>
                <a:ext cx="1440" cy="0"/>
              </a:xfrm>
              <a:prstGeom prst="line">
                <a:avLst/>
              </a:prstGeom>
              <a:ln w="12700" cap="flat" cmpd="sng">
                <a:solidFill>
                  <a:schemeClr val="tx1"/>
                </a:solidFill>
                <a:prstDash val="dash"/>
                <a:headEnd type="none" w="med" len="med"/>
                <a:tailEnd type="none" w="med" len="med"/>
              </a:ln>
            </p:spPr>
          </p:sp>
          <p:sp>
            <p:nvSpPr>
              <p:cNvPr id="22575" name="Text Box 35"/>
              <p:cNvSpPr txBox="1"/>
              <p:nvPr/>
            </p:nvSpPr>
            <p:spPr>
              <a:xfrm>
                <a:off x="3648" y="720"/>
                <a:ext cx="336" cy="330"/>
              </a:xfrm>
              <a:prstGeom prst="rect">
                <a:avLst/>
              </a:prstGeom>
              <a:noFill/>
              <a:ln w="9525">
                <a:noFill/>
              </a:ln>
            </p:spPr>
            <p:txBody>
              <a:bodyPr>
                <a:spAutoFit/>
              </a:bodyPr>
              <a:lstStyle/>
              <a:p>
                <a:pPr>
                  <a:spcBef>
                    <a:spcPct val="50000"/>
                  </a:spcBef>
                </a:pPr>
                <a:r>
                  <a:rPr lang="en-US" altLang="zh-CN" sz="2800" b="1" dirty="0">
                    <a:solidFill>
                      <a:srgbClr val="CC0000"/>
                    </a:solidFill>
                    <a:latin typeface="Times New Roman" panose="02020603050405020304" pitchFamily="18" charset="0"/>
                  </a:rPr>
                  <a:t>1</a:t>
                </a:r>
                <a:endParaRPr lang="en-US" altLang="zh-CN" sz="2800" b="1" dirty="0">
                  <a:solidFill>
                    <a:srgbClr val="A50021"/>
                  </a:solidFill>
                  <a:latin typeface="Times New Roman" panose="02020603050405020304" pitchFamily="18" charset="0"/>
                </a:endParaRPr>
              </a:p>
            </p:txBody>
          </p:sp>
          <p:sp>
            <p:nvSpPr>
              <p:cNvPr id="22576" name="Text Box 36"/>
              <p:cNvSpPr txBox="1"/>
              <p:nvPr/>
            </p:nvSpPr>
            <p:spPr>
              <a:xfrm>
                <a:off x="4848" y="1536"/>
                <a:ext cx="240" cy="330"/>
              </a:xfrm>
              <a:prstGeom prst="rect">
                <a:avLst/>
              </a:prstGeom>
              <a:noFill/>
              <a:ln w="9525">
                <a:noFill/>
              </a:ln>
            </p:spPr>
            <p:txBody>
              <a:bodyPr>
                <a:spAutoFit/>
              </a:bodyPr>
              <a:lstStyle/>
              <a:p>
                <a:pPr>
                  <a:spcBef>
                    <a:spcPct val="50000"/>
                  </a:spcBef>
                </a:pPr>
                <a:r>
                  <a:rPr lang="en-US" altLang="zh-CN" sz="2800" b="1" dirty="0">
                    <a:solidFill>
                      <a:srgbClr val="CC0000"/>
                    </a:solidFill>
                    <a:latin typeface="Times New Roman" panose="02020603050405020304" pitchFamily="18" charset="0"/>
                  </a:rPr>
                  <a:t>2</a:t>
                </a:r>
                <a:endParaRPr lang="en-US" altLang="zh-CN" sz="2800" dirty="0">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2535" name="Object 37"/>
                  <p:cNvGraphicFramePr/>
                  <p:nvPr/>
                </p:nvGraphicFramePr>
                <p:xfrm>
                  <a:off x="3878" y="751"/>
                  <a:ext cx="802" cy="274"/>
                </p:xfrm>
                <a:graphic>
                  <a:graphicData uri="http://schemas.openxmlformats.org/presentationml/2006/ole">
                    <mc:AlternateContent>
                      <mc:Choice xmlns:v="urn:schemas-microsoft-com:vml" Requires="v">
                        <p:oleObj spid="_x0000_s3116" r:id="rId5" imgW="608965" imgH="215900" progId="Equation.3">
                          <p:embed/>
                        </p:oleObj>
                      </mc:Choice>
                      <mc:Fallback>
                        <p:oleObj r:id="rId5" imgW="608965" imgH="215900" progId="Equation.3">
                          <p:embed/>
                          <p:pic>
                            <p:nvPicPr>
                              <p:cNvPr id="22535" name="Object 37"/>
                              <p:cNvPicPr/>
                              <p:nvPr/>
                            </p:nvPicPr>
                            <p:blipFill>
                              <a:blip r:embed="rId6"/>
                              <a:stretch>
                                <a:fillRect/>
                              </a:stretch>
                            </p:blipFill>
                            <p:spPr>
                              <a:xfrm>
                                <a:off x="3878" y="751"/>
                                <a:ext cx="802" cy="274"/>
                              </a:xfrm>
                              <a:prstGeom prst="rect">
                                <a:avLst/>
                              </a:prstGeom>
                              <a:noFill/>
                              <a:ln w="38100">
                                <a:noFill/>
                                <a:miter/>
                              </a:ln>
                            </p:spPr>
                          </p:pic>
                        </p:oleObj>
                      </mc:Fallback>
                    </mc:AlternateContent>
                  </a:graphicData>
                </a:graphic>
              </p:graphicFrame>
            </mc:Choice>
            <mc:Fallback xmlns="">
              <p:graphicFrame>
                <p:nvGraphicFramePr>
                  <p:cNvPr id="22535" name="Object 37"/>
                  <p:cNvGraphicFramePr/>
                  <p:nvPr/>
                </p:nvGraphicFramePr>
                <p:xfrm>
                  <a:off x="3878" y="751"/>
                  <a:ext cx="802" cy="274"/>
                </p:xfrm>
                <a:graphic>
                  <a:graphicData uri="http://schemas.openxmlformats.org/presentationml/2006/ole">
                    <mc:AlternateContent>
                      <mc:Choice xmlns:v="urn:schemas-microsoft-com:vml" Requires="v">
                        <p:oleObj spid="_x0000_s21592" r:id="rId7" imgW="608965" imgH="215900" progId="Equation.3">
                          <p:embed/>
                        </p:oleObj>
                      </mc:Choice>
                      <mc:Fallback>
                        <p:oleObj r:id="rId7" imgW="608965" imgH="215900" progId="Equation.3">
                          <p:embed/>
                          <p:pic>
                            <p:nvPicPr>
                              <p:cNvPr id="22535" name="Object 37"/>
                              <p:cNvPicPr/>
                              <p:nvPr/>
                            </p:nvPicPr>
                            <p:blipFill>
                              <a:blip r:embed="rId8"/>
                              <a:stretch>
                                <a:fillRect/>
                              </a:stretch>
                            </p:blipFill>
                            <p:spPr>
                              <a:xfrm>
                                <a:off x="3878" y="751"/>
                                <a:ext cx="802" cy="274"/>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2536" name="Object 38"/>
                  <p:cNvGraphicFramePr/>
                  <p:nvPr/>
                </p:nvGraphicFramePr>
                <p:xfrm>
                  <a:off x="4558" y="1298"/>
                  <a:ext cx="703" cy="275"/>
                </p:xfrm>
                <a:graphic>
                  <a:graphicData uri="http://schemas.openxmlformats.org/presentationml/2006/ole">
                    <mc:AlternateContent>
                      <mc:Choice xmlns:v="urn:schemas-microsoft-com:vml" Requires="v">
                        <p:oleObj spid="_x0000_s3117" r:id="rId9" imgW="647065" imgH="215900" progId="Equation.3">
                          <p:embed/>
                        </p:oleObj>
                      </mc:Choice>
                      <mc:Fallback>
                        <p:oleObj r:id="rId9" imgW="647065" imgH="215900" progId="Equation.3">
                          <p:embed/>
                          <p:pic>
                            <p:nvPicPr>
                              <p:cNvPr id="22536" name="Object 38"/>
                              <p:cNvPicPr/>
                              <p:nvPr/>
                            </p:nvPicPr>
                            <p:blipFill>
                              <a:blip r:embed="rId10"/>
                              <a:stretch>
                                <a:fillRect/>
                              </a:stretch>
                            </p:blipFill>
                            <p:spPr>
                              <a:xfrm>
                                <a:off x="4558" y="1298"/>
                                <a:ext cx="703" cy="275"/>
                              </a:xfrm>
                              <a:prstGeom prst="rect">
                                <a:avLst/>
                              </a:prstGeom>
                              <a:noFill/>
                              <a:ln w="38100">
                                <a:noFill/>
                                <a:miter/>
                              </a:ln>
                            </p:spPr>
                          </p:pic>
                        </p:oleObj>
                      </mc:Fallback>
                    </mc:AlternateContent>
                  </a:graphicData>
                </a:graphic>
              </p:graphicFrame>
            </mc:Choice>
            <mc:Fallback xmlns="">
              <p:graphicFrame>
                <p:nvGraphicFramePr>
                  <p:cNvPr id="22536" name="Object 38"/>
                  <p:cNvGraphicFramePr/>
                  <p:nvPr/>
                </p:nvGraphicFramePr>
                <p:xfrm>
                  <a:off x="4558" y="1298"/>
                  <a:ext cx="703" cy="275"/>
                </p:xfrm>
                <a:graphic>
                  <a:graphicData uri="http://schemas.openxmlformats.org/presentationml/2006/ole">
                    <mc:AlternateContent>
                      <mc:Choice xmlns:v="urn:schemas-microsoft-com:vml" Requires="v">
                        <p:oleObj r:id="rId11" imgW="647065" imgH="215900" progId="Equation.3">
                          <p:embed/>
                        </p:oleObj>
                      </mc:Choice>
                      <mc:Fallback>
                        <p:oleObj r:id="rId11" imgW="647065" imgH="215900" progId="Equation.3">
                          <p:embed/>
                          <p:pic>
                            <p:nvPicPr>
                              <p:cNvPr id="22536" name="Object 38"/>
                              <p:cNvPicPr/>
                              <p:nvPr/>
                            </p:nvPicPr>
                            <p:blipFill>
                              <a:blip r:embed="rId12"/>
                              <a:stretch>
                                <a:fillRect/>
                              </a:stretch>
                            </p:blipFill>
                            <p:spPr>
                              <a:xfrm>
                                <a:off x="4558" y="1298"/>
                                <a:ext cx="703" cy="275"/>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22537" name="Object 39"/>
                  <p:cNvSpPr txBox="1"/>
                  <p:nvPr/>
                </p:nvSpPr>
                <p:spPr>
                  <a:xfrm>
                    <a:off x="3076" y="864"/>
                    <a:ext cx="332" cy="33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1</m:t>
                              </m:r>
                            </m:sub>
                          </m:sSub>
                        </m:oMath>
                      </m:oMathPara>
                    </a14:m>
                    <a:endParaRPr lang="en-US" sz="2800"/>
                  </a:p>
                </p:txBody>
              </p:sp>
            </mc:Choice>
            <mc:Fallback xmlns="">
              <p:sp>
                <p:nvSpPr>
                  <p:cNvPr id="22537" name="Object 39"/>
                  <p:cNvSpPr txBox="1">
                    <a:spLocks noRot="1" noChangeAspect="1" noMove="1" noResize="1" noEditPoints="1" noAdjustHandles="1" noChangeArrowheads="1" noChangeShapeType="1" noTextEdit="1"/>
                  </p:cNvSpPr>
                  <p:nvPr/>
                </p:nvSpPr>
                <p:spPr>
                  <a:xfrm>
                    <a:off x="3076" y="864"/>
                    <a:ext cx="332" cy="331"/>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38" name="Object 40"/>
                  <p:cNvSpPr txBox="1"/>
                  <p:nvPr/>
                </p:nvSpPr>
                <p:spPr>
                  <a:xfrm>
                    <a:off x="3120" y="1488"/>
                    <a:ext cx="310" cy="32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2</m:t>
                              </m:r>
                            </m:sub>
                          </m:sSub>
                        </m:oMath>
                      </m:oMathPara>
                    </a14:m>
                    <a:endParaRPr lang="en-US" sz="2800"/>
                  </a:p>
                </p:txBody>
              </p:sp>
            </mc:Choice>
            <mc:Fallback xmlns="">
              <p:sp>
                <p:nvSpPr>
                  <p:cNvPr id="22538" name="Object 40"/>
                  <p:cNvSpPr txBox="1">
                    <a:spLocks noRot="1" noChangeAspect="1" noMove="1" noResize="1" noEditPoints="1" noAdjustHandles="1" noChangeArrowheads="1" noChangeShapeType="1" noTextEdit="1"/>
                  </p:cNvSpPr>
                  <p:nvPr/>
                </p:nvSpPr>
                <p:spPr>
                  <a:xfrm>
                    <a:off x="3120" y="1488"/>
                    <a:ext cx="310" cy="326"/>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39" name="Object 41"/>
                  <p:cNvSpPr txBox="1"/>
                  <p:nvPr/>
                </p:nvSpPr>
                <p:spPr>
                  <a:xfrm>
                    <a:off x="3719" y="2016"/>
                    <a:ext cx="269" cy="34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oMath>
                      </m:oMathPara>
                    </a14:m>
                    <a:endParaRPr lang="en-US" sz="2800"/>
                  </a:p>
                </p:txBody>
              </p:sp>
            </mc:Choice>
            <mc:Fallback xmlns="">
              <p:sp>
                <p:nvSpPr>
                  <p:cNvPr id="22539" name="Object 41"/>
                  <p:cNvSpPr txBox="1">
                    <a:spLocks noRot="1" noChangeAspect="1" noMove="1" noResize="1" noEditPoints="1" noAdjustHandles="1" noChangeArrowheads="1" noChangeShapeType="1" noTextEdit="1"/>
                  </p:cNvSpPr>
                  <p:nvPr/>
                </p:nvSpPr>
                <p:spPr>
                  <a:xfrm>
                    <a:off x="3719" y="2016"/>
                    <a:ext cx="269" cy="341"/>
                  </a:xfrm>
                  <a:prstGeom prst="rect">
                    <a:avLst/>
                  </a:prstGeom>
                  <a:blipFill>
                    <a:blip r:embed="rId1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0" name="Object 42"/>
                  <p:cNvSpPr txBox="1"/>
                  <p:nvPr/>
                </p:nvSpPr>
                <p:spPr>
                  <a:xfrm>
                    <a:off x="4715" y="2016"/>
                    <a:ext cx="299" cy="34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2</m:t>
                              </m:r>
                            </m:sub>
                          </m:sSub>
                        </m:oMath>
                      </m:oMathPara>
                    </a14:m>
                    <a:endParaRPr lang="en-US" sz="2800"/>
                  </a:p>
                </p:txBody>
              </p:sp>
            </mc:Choice>
            <mc:Fallback xmlns="">
              <p:sp>
                <p:nvSpPr>
                  <p:cNvPr id="22540" name="Object 42"/>
                  <p:cNvSpPr txBox="1">
                    <a:spLocks noRot="1" noChangeAspect="1" noMove="1" noResize="1" noEditPoints="1" noAdjustHandles="1" noChangeArrowheads="1" noChangeShapeType="1" noTextEdit="1"/>
                  </p:cNvSpPr>
                  <p:nvPr/>
                </p:nvSpPr>
                <p:spPr>
                  <a:xfrm>
                    <a:off x="4715" y="2016"/>
                    <a:ext cx="299" cy="341"/>
                  </a:xfrm>
                  <a:prstGeom prst="rect">
                    <a:avLst/>
                  </a:prstGeom>
                  <a:blipFill>
                    <a:blip r:embed="rId1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1" name="Object 43"/>
                  <p:cNvSpPr txBox="1"/>
                  <p:nvPr/>
                </p:nvSpPr>
                <p:spPr>
                  <a:xfrm>
                    <a:off x="3137" y="624"/>
                    <a:ext cx="207" cy="2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p>
                </p:txBody>
              </p:sp>
            </mc:Choice>
            <mc:Fallback xmlns="">
              <p:sp>
                <p:nvSpPr>
                  <p:cNvPr id="22541" name="Object 43"/>
                  <p:cNvSpPr txBox="1">
                    <a:spLocks noRot="1" noChangeAspect="1" noMove="1" noResize="1" noEditPoints="1" noAdjustHandles="1" noChangeArrowheads="1" noChangeShapeType="1" noTextEdit="1"/>
                  </p:cNvSpPr>
                  <p:nvPr/>
                </p:nvSpPr>
                <p:spPr>
                  <a:xfrm>
                    <a:off x="3137" y="624"/>
                    <a:ext cx="207" cy="245"/>
                  </a:xfrm>
                  <a:prstGeom prst="rect">
                    <a:avLst/>
                  </a:prstGeom>
                  <a:blipFill>
                    <a:blip r:embed="rId17"/>
                    <a:stretch>
                      <a:fillRect b="-1875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2" name="Object 44"/>
                  <p:cNvSpPr txBox="1"/>
                  <p:nvPr/>
                </p:nvSpPr>
                <p:spPr>
                  <a:xfrm>
                    <a:off x="5136" y="2112"/>
                    <a:ext cx="197"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p>
                </p:txBody>
              </p:sp>
            </mc:Choice>
            <mc:Fallback xmlns="">
              <p:sp>
                <p:nvSpPr>
                  <p:cNvPr id="22542" name="Object 44"/>
                  <p:cNvSpPr txBox="1">
                    <a:spLocks noRot="1" noChangeAspect="1" noMove="1" noResize="1" noEditPoints="1" noAdjustHandles="1" noChangeArrowheads="1" noChangeShapeType="1" noTextEdit="1"/>
                  </p:cNvSpPr>
                  <p:nvPr/>
                </p:nvSpPr>
                <p:spPr>
                  <a:xfrm>
                    <a:off x="5136" y="2112"/>
                    <a:ext cx="197" cy="220"/>
                  </a:xfrm>
                  <a:prstGeom prst="rect">
                    <a:avLst/>
                  </a:prstGeom>
                  <a:blipFill>
                    <a:blip r:embed="rId18"/>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3" name="Object 45"/>
                  <p:cNvSpPr txBox="1"/>
                  <p:nvPr/>
                </p:nvSpPr>
                <p:spPr>
                  <a:xfrm>
                    <a:off x="3360" y="2064"/>
                    <a:ext cx="177" cy="20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a:p>
                </p:txBody>
              </p:sp>
            </mc:Choice>
            <mc:Fallback xmlns="">
              <p:sp>
                <p:nvSpPr>
                  <p:cNvPr id="22543" name="Object 45"/>
                  <p:cNvSpPr txBox="1">
                    <a:spLocks noRot="1" noChangeAspect="1" noMove="1" noResize="1" noEditPoints="1" noAdjustHandles="1" noChangeArrowheads="1" noChangeShapeType="1" noTextEdit="1"/>
                  </p:cNvSpPr>
                  <p:nvPr/>
                </p:nvSpPr>
                <p:spPr>
                  <a:xfrm>
                    <a:off x="3360" y="2064"/>
                    <a:ext cx="177" cy="204"/>
                  </a:xfrm>
                  <a:prstGeom prst="rect">
                    <a:avLst/>
                  </a:prstGeom>
                  <a:blipFill>
                    <a:blip r:embed="rId19"/>
                    <a:stretch>
                      <a:fillRect b="-22642"/>
                    </a:stretch>
                  </a:blipFill>
                  <a:ln w="38100">
                    <a:noFill/>
                    <a:miter/>
                  </a:ln>
                </p:spPr>
                <p:txBody>
                  <a:bodyPr/>
                  <a:lstStyle/>
                  <a:p>
                    <a:r>
                      <a:rPr lang="zh-CN" altLang="en-US">
                        <a:noFill/>
                      </a:rPr>
                      <a:t> </a:t>
                    </a:r>
                  </a:p>
                </p:txBody>
              </p:sp>
            </mc:Fallback>
          </mc:AlternateContent>
        </p:grpSp>
        <p:grpSp>
          <p:nvGrpSpPr>
            <p:cNvPr id="22561" name="Group 46"/>
            <p:cNvGrpSpPr/>
            <p:nvPr/>
          </p:nvGrpSpPr>
          <p:grpSpPr>
            <a:xfrm>
              <a:off x="3936" y="1488"/>
              <a:ext cx="672" cy="818"/>
              <a:chOff x="3936" y="1488"/>
              <a:chExt cx="672" cy="818"/>
            </a:xfrm>
          </p:grpSpPr>
          <mc:AlternateContent xmlns:mc="http://schemas.openxmlformats.org/markup-compatibility/2006" xmlns:a14="http://schemas.microsoft.com/office/drawing/2010/main">
            <mc:Choice Requires="a14">
              <p:sp>
                <p:nvSpPr>
                  <p:cNvPr id="22534" name="Object 47"/>
                  <p:cNvSpPr txBox="1"/>
                  <p:nvPr/>
                </p:nvSpPr>
                <p:spPr>
                  <a:xfrm>
                    <a:off x="4128" y="2064"/>
                    <a:ext cx="288" cy="24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𝑉</m:t>
                          </m:r>
                        </m:oMath>
                      </m:oMathPara>
                    </a14:m>
                    <a:endParaRPr lang="en-US" sz="2800"/>
                  </a:p>
                </p:txBody>
              </p:sp>
            </mc:Choice>
            <mc:Fallback xmlns="">
              <p:sp>
                <p:nvSpPr>
                  <p:cNvPr id="22534" name="Object 47"/>
                  <p:cNvSpPr txBox="1">
                    <a:spLocks noRot="1" noChangeAspect="1" noMove="1" noResize="1" noEditPoints="1" noAdjustHandles="1" noChangeArrowheads="1" noChangeShapeType="1" noTextEdit="1"/>
                  </p:cNvSpPr>
                  <p:nvPr/>
                </p:nvSpPr>
                <p:spPr>
                  <a:xfrm>
                    <a:off x="4128" y="2064"/>
                    <a:ext cx="288" cy="242"/>
                  </a:xfrm>
                  <a:prstGeom prst="rect">
                    <a:avLst/>
                  </a:prstGeom>
                  <a:blipFill>
                    <a:blip r:embed="rId20"/>
                    <a:stretch>
                      <a:fillRect r="-12000" b="-3175"/>
                    </a:stretch>
                  </a:blipFill>
                  <a:ln w="38100">
                    <a:noFill/>
                    <a:miter/>
                  </a:ln>
                </p:spPr>
                <p:txBody>
                  <a:bodyPr/>
                  <a:lstStyle/>
                  <a:p>
                    <a:r>
                      <a:rPr lang="zh-CN" altLang="en-US">
                        <a:noFill/>
                      </a:rPr>
                      <a:t> </a:t>
                    </a:r>
                  </a:p>
                </p:txBody>
              </p:sp>
            </mc:Fallback>
          </mc:AlternateContent>
          <p:sp>
            <p:nvSpPr>
              <p:cNvPr id="22562" name="Freeform 48" descr="浅色下对角线"/>
              <p:cNvSpPr/>
              <p:nvPr/>
            </p:nvSpPr>
            <p:spPr>
              <a:xfrm>
                <a:off x="4176" y="1488"/>
                <a:ext cx="192" cy="576"/>
              </a:xfrm>
              <a:custGeom>
                <a:avLst/>
                <a:gdLst>
                  <a:gd name="txL" fmla="*/ 0 w 192"/>
                  <a:gd name="txT" fmla="*/ 0 h 624"/>
                  <a:gd name="txR" fmla="*/ 192 w 192"/>
                  <a:gd name="txB" fmla="*/ 624 h 624"/>
                </a:gdLst>
                <a:ahLst/>
                <a:cxnLst>
                  <a:cxn ang="0">
                    <a:pos x="0" y="576"/>
                  </a:cxn>
                  <a:cxn ang="0">
                    <a:pos x="0" y="0"/>
                  </a:cxn>
                  <a:cxn ang="0">
                    <a:pos x="192" y="89"/>
                  </a:cxn>
                  <a:cxn ang="0">
                    <a:pos x="192" y="576"/>
                  </a:cxn>
                  <a:cxn ang="0">
                    <a:pos x="0" y="576"/>
                  </a:cxn>
                </a:cxnLst>
                <a:rect l="txL" t="txT" r="txR" b="txB"/>
                <a:pathLst>
                  <a:path w="192" h="624">
                    <a:moveTo>
                      <a:pt x="0" y="624"/>
                    </a:moveTo>
                    <a:lnTo>
                      <a:pt x="0" y="0"/>
                    </a:lnTo>
                    <a:lnTo>
                      <a:pt x="192" y="96"/>
                    </a:lnTo>
                    <a:lnTo>
                      <a:pt x="192" y="624"/>
                    </a:lnTo>
                    <a:lnTo>
                      <a:pt x="0" y="624"/>
                    </a:lnTo>
                    <a:close/>
                  </a:path>
                </a:pathLst>
              </a:custGeom>
              <a:pattFill prst="ltDnDiag">
                <a:fgClr>
                  <a:srgbClr val="CC0099">
                    <a:alpha val="100000"/>
                  </a:srgbClr>
                </a:fgClr>
                <a:bgClr>
                  <a:srgbClr val="EFFFFF">
                    <a:alpha val="100000"/>
                  </a:srgbClr>
                </a:bgClr>
              </a:pattFill>
              <a:ln w="9525" cap="flat" cmpd="sng">
                <a:solidFill>
                  <a:schemeClr val="tx1">
                    <a:alpha val="100000"/>
                  </a:schemeClr>
                </a:solidFill>
                <a:prstDash val="solid"/>
                <a:round/>
                <a:headEnd type="none" w="med" len="med"/>
                <a:tailEnd type="none" w="med" len="med"/>
              </a:ln>
            </p:spPr>
            <p:txBody>
              <a:bodyPr/>
              <a:lstStyle/>
              <a:p>
                <a:endParaRPr lang="zh-CN" altLang="en-US" sz="2800"/>
              </a:p>
            </p:txBody>
          </p:sp>
          <p:sp>
            <p:nvSpPr>
              <p:cNvPr id="22563" name="Line 49"/>
              <p:cNvSpPr/>
              <p:nvPr/>
            </p:nvSpPr>
            <p:spPr>
              <a:xfrm>
                <a:off x="3936" y="2016"/>
                <a:ext cx="240" cy="0"/>
              </a:xfrm>
              <a:prstGeom prst="line">
                <a:avLst/>
              </a:prstGeom>
              <a:ln w="19050" cap="flat" cmpd="sng">
                <a:solidFill>
                  <a:srgbClr val="FF0066"/>
                </a:solidFill>
                <a:prstDash val="solid"/>
                <a:headEnd type="none" w="med" len="med"/>
                <a:tailEnd type="triangle" w="sm" len="lg"/>
              </a:ln>
            </p:spPr>
          </p:sp>
          <p:sp>
            <p:nvSpPr>
              <p:cNvPr id="22564" name="Line 50"/>
              <p:cNvSpPr/>
              <p:nvPr/>
            </p:nvSpPr>
            <p:spPr>
              <a:xfrm>
                <a:off x="4368" y="2016"/>
                <a:ext cx="240" cy="0"/>
              </a:xfrm>
              <a:prstGeom prst="line">
                <a:avLst/>
              </a:prstGeom>
              <a:ln w="19050" cap="flat" cmpd="sng">
                <a:solidFill>
                  <a:srgbClr val="FF0066"/>
                </a:solidFill>
                <a:prstDash val="solid"/>
                <a:headEnd type="triangle" w="sm" len="lg"/>
                <a:tailEnd type="none" w="sm" len="lg"/>
              </a:ln>
            </p:spPr>
          </p:sp>
        </p:grpSp>
      </p:grpSp>
      <p:grpSp>
        <p:nvGrpSpPr>
          <p:cNvPr id="22555" name="Group 51"/>
          <p:cNvGrpSpPr/>
          <p:nvPr/>
        </p:nvGrpSpPr>
        <p:grpSpPr>
          <a:xfrm>
            <a:off x="6006307" y="1235076"/>
            <a:ext cx="3794125" cy="523875"/>
            <a:chOff x="717" y="864"/>
            <a:chExt cx="2390" cy="330"/>
          </a:xfrm>
        </p:grpSpPr>
        <p:sp>
          <p:nvSpPr>
            <p:cNvPr id="22559" name="Text Box 52"/>
            <p:cNvSpPr txBox="1"/>
            <p:nvPr/>
          </p:nvSpPr>
          <p:spPr>
            <a:xfrm>
              <a:off x="717" y="864"/>
              <a:ext cx="2390" cy="330"/>
            </a:xfrm>
            <a:prstGeom prst="rect">
              <a:avLst/>
            </a:prstGeom>
            <a:noFill/>
            <a:ln w="9525">
              <a:noFill/>
            </a:ln>
          </p:spPr>
          <p:txBody>
            <a:bodyPr>
              <a:spAutoFit/>
            </a:bodyPr>
            <a:lstStyle/>
            <a:p>
              <a:pPr>
                <a:spcBef>
                  <a:spcPct val="50000"/>
                </a:spcBef>
              </a:pPr>
              <a:r>
                <a:rPr lang="zh-CN" altLang="en-US" sz="2800" dirty="0">
                  <a:solidFill>
                    <a:srgbClr val="000000"/>
                  </a:solidFill>
                  <a:latin typeface="+mn-ea"/>
                </a:rPr>
                <a:t>特征          常量</a:t>
              </a:r>
              <a:endParaRPr lang="zh-CN" altLang="zh-CN" sz="2800" i="1" dirty="0">
                <a:solidFill>
                  <a:srgbClr val="000000"/>
                </a:solidFill>
                <a:latin typeface="+mn-ea"/>
              </a:endParaRPr>
            </a:p>
          </p:txBody>
        </p:sp>
        <mc:AlternateContent xmlns:mc="http://schemas.openxmlformats.org/markup-compatibility/2006" xmlns:a14="http://schemas.microsoft.com/office/drawing/2010/main">
          <mc:Choice Requires="a14">
            <p:sp>
              <p:nvSpPr>
                <p:cNvPr id="22533" name="Object 53"/>
                <p:cNvSpPr txBox="1"/>
                <p:nvPr/>
              </p:nvSpPr>
              <p:spPr>
                <a:xfrm>
                  <a:off x="1268" y="874"/>
                  <a:ext cx="511" cy="27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𝑇</m:t>
                        </m:r>
                        <m:r>
                          <a:rPr lang="en-US" sz="2800" b="0" i="1">
                            <a:solidFill>
                              <a:srgbClr val="000000"/>
                            </a:solidFill>
                            <a:latin typeface="Cambria Math" panose="02040503050406030204" pitchFamily="18" charset="0"/>
                          </a:rPr>
                          <m:t>=</m:t>
                        </m:r>
                      </m:oMath>
                    </m:oMathPara>
                  </a14:m>
                  <a:endParaRPr lang="en-US" sz="2800" dirty="0">
                    <a:latin typeface="+mn-ea"/>
                  </a:endParaRPr>
                </a:p>
              </p:txBody>
            </p:sp>
          </mc:Choice>
          <mc:Fallback xmlns="">
            <p:sp>
              <p:nvSpPr>
                <p:cNvPr id="22533" name="Object 53"/>
                <p:cNvSpPr txBox="1">
                  <a:spLocks noRot="1" noChangeAspect="1" noMove="1" noResize="1" noEditPoints="1" noAdjustHandles="1" noChangeArrowheads="1" noChangeShapeType="1" noTextEdit="1"/>
                </p:cNvSpPr>
                <p:nvPr/>
              </p:nvSpPr>
              <p:spPr>
                <a:xfrm>
                  <a:off x="1268" y="874"/>
                  <a:ext cx="511" cy="273"/>
                </a:xfrm>
                <a:prstGeom prst="rect">
                  <a:avLst/>
                </a:prstGeom>
                <a:blipFill>
                  <a:blip r:embed="rId21"/>
                  <a:stretch>
                    <a:fillRect/>
                  </a:stretch>
                </a:blipFill>
                <a:ln w="38100">
                  <a:noFill/>
                  <a:miter/>
                </a:ln>
              </p:spPr>
              <p:txBody>
                <a:bodyPr/>
                <a:lstStyle/>
                <a:p>
                  <a:r>
                    <a:rPr lang="zh-CN" altLang="en-US">
                      <a:noFill/>
                    </a:rPr>
                    <a:t> </a:t>
                  </a:r>
                </a:p>
              </p:txBody>
            </p:sp>
          </mc:Fallback>
        </mc:AlternateContent>
      </p:grpSp>
      <p:grpSp>
        <p:nvGrpSpPr>
          <p:cNvPr id="9" name="Group 54"/>
          <p:cNvGrpSpPr/>
          <p:nvPr/>
        </p:nvGrpSpPr>
        <p:grpSpPr>
          <a:xfrm>
            <a:off x="5553868" y="1952625"/>
            <a:ext cx="3886200" cy="582613"/>
            <a:chOff x="432" y="1217"/>
            <a:chExt cx="2448" cy="367"/>
          </a:xfrm>
        </p:grpSpPr>
        <p:sp>
          <p:nvSpPr>
            <p:cNvPr id="22557" name="Rectangle 55"/>
            <p:cNvSpPr/>
            <p:nvPr/>
          </p:nvSpPr>
          <p:spPr>
            <a:xfrm>
              <a:off x="432" y="1218"/>
              <a:ext cx="1584" cy="330"/>
            </a:xfrm>
            <a:prstGeom prst="rect">
              <a:avLst/>
            </a:prstGeom>
            <a:noFill/>
            <a:ln w="9525">
              <a:noFill/>
            </a:ln>
          </p:spPr>
          <p:txBody>
            <a:bodyPr>
              <a:spAutoFit/>
            </a:bodyPr>
            <a:lstStyle/>
            <a:p>
              <a:r>
                <a:rPr lang="zh-CN" altLang="en-US" sz="2800" dirty="0">
                  <a:solidFill>
                    <a:srgbClr val="000000"/>
                  </a:solidFill>
                  <a:latin typeface="+mn-ea"/>
                </a:rPr>
                <a:t>过程方程</a:t>
              </a:r>
            </a:p>
          </p:txBody>
        </p:sp>
        <mc:AlternateContent xmlns:mc="http://schemas.openxmlformats.org/markup-compatibility/2006" xmlns:a14="http://schemas.microsoft.com/office/drawing/2010/main">
          <mc:Choice Requires="a14">
            <p:sp>
              <p:nvSpPr>
                <p:cNvPr id="22532" name="Object 56"/>
                <p:cNvSpPr txBox="1"/>
                <p:nvPr/>
              </p:nvSpPr>
              <p:spPr>
                <a:xfrm>
                  <a:off x="1584" y="1231"/>
                  <a:ext cx="672" cy="353"/>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𝑝𝑉</m:t>
                        </m:r>
                        <m:r>
                          <a:rPr lang="en-US" sz="2800" b="0" i="1">
                            <a:solidFill>
                              <a:srgbClr val="000000"/>
                            </a:solidFill>
                            <a:latin typeface="Cambria Math" panose="02040503050406030204" pitchFamily="18" charset="0"/>
                          </a:rPr>
                          <m:t>=</m:t>
                        </m:r>
                      </m:oMath>
                    </m:oMathPara>
                  </a14:m>
                  <a:endParaRPr lang="en-US" sz="2800" dirty="0">
                    <a:latin typeface="+mn-ea"/>
                  </a:endParaRPr>
                </a:p>
              </p:txBody>
            </p:sp>
          </mc:Choice>
          <mc:Fallback xmlns="">
            <p:sp>
              <p:nvSpPr>
                <p:cNvPr id="22532" name="Object 56"/>
                <p:cNvSpPr txBox="1">
                  <a:spLocks noRot="1" noChangeAspect="1" noMove="1" noResize="1" noEditPoints="1" noAdjustHandles="1" noChangeArrowheads="1" noChangeShapeType="1" noTextEdit="1"/>
                </p:cNvSpPr>
                <p:nvPr/>
              </p:nvSpPr>
              <p:spPr>
                <a:xfrm>
                  <a:off x="1584" y="1231"/>
                  <a:ext cx="672" cy="353"/>
                </a:xfrm>
                <a:prstGeom prst="rect">
                  <a:avLst/>
                </a:prstGeom>
                <a:blipFill>
                  <a:blip r:embed="rId22"/>
                  <a:stretch>
                    <a:fillRect/>
                  </a:stretch>
                </a:blipFill>
                <a:ln w="38100">
                  <a:noFill/>
                  <a:miter/>
                </a:ln>
              </p:spPr>
              <p:txBody>
                <a:bodyPr/>
                <a:lstStyle/>
                <a:p>
                  <a:r>
                    <a:rPr lang="zh-CN" altLang="en-US">
                      <a:noFill/>
                    </a:rPr>
                    <a:t> </a:t>
                  </a:r>
                </a:p>
              </p:txBody>
            </p:sp>
          </mc:Fallback>
        </mc:AlternateContent>
        <p:sp>
          <p:nvSpPr>
            <p:cNvPr id="22558" name="Rectangle 57"/>
            <p:cNvSpPr/>
            <p:nvPr/>
          </p:nvSpPr>
          <p:spPr>
            <a:xfrm>
              <a:off x="2160" y="1217"/>
              <a:ext cx="720" cy="330"/>
            </a:xfrm>
            <a:prstGeom prst="rect">
              <a:avLst/>
            </a:prstGeom>
            <a:noFill/>
            <a:ln w="9525">
              <a:noFill/>
            </a:ln>
          </p:spPr>
          <p:txBody>
            <a:bodyPr>
              <a:spAutoFit/>
            </a:bodyPr>
            <a:lstStyle/>
            <a:p>
              <a:pPr eaLnBrk="1" hangingPunct="1"/>
              <a:r>
                <a:rPr lang="zh-CN" altLang="en-US" sz="2800" dirty="0">
                  <a:solidFill>
                    <a:srgbClr val="000000"/>
                  </a:solidFill>
                  <a:latin typeface="+mn-ea"/>
                </a:rPr>
                <a:t>常量</a:t>
              </a:r>
            </a:p>
          </p:txBody>
        </p:sp>
      </p:grpSp>
      <p:sp>
        <p:nvSpPr>
          <p:cNvPr id="2" name="Text Box 13">
            <a:hlinkClick r:id="" action="ppaction://noaction"/>
            <a:extLst>
              <a:ext uri="{FF2B5EF4-FFF2-40B4-BE49-F238E27FC236}">
                <a16:creationId xmlns:a16="http://schemas.microsoft.com/office/drawing/2014/main" id="{EDB23F3E-DA17-FE7F-9D36-7A3F679CC2CE}"/>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等温过程</a:t>
            </a:r>
          </a:p>
        </p:txBody>
      </p:sp>
      <mc:AlternateContent xmlns:mc="http://schemas.openxmlformats.org/markup-compatibility/2006" xmlns:a14="http://schemas.microsoft.com/office/drawing/2010/main">
        <mc:Choice Requires="a14">
          <p:sp>
            <p:nvSpPr>
              <p:cNvPr id="6" name="Object 11">
                <a:extLst>
                  <a:ext uri="{FF2B5EF4-FFF2-40B4-BE49-F238E27FC236}">
                    <a16:creationId xmlns:a16="http://schemas.microsoft.com/office/drawing/2014/main" id="{7FD0833F-BD56-F875-8430-54B6E5948F43}"/>
                  </a:ext>
                </a:extLst>
              </p:cNvPr>
              <p:cNvSpPr txBox="1"/>
              <p:nvPr/>
            </p:nvSpPr>
            <p:spPr bwMode="auto">
              <a:xfrm>
                <a:off x="1559730" y="4510748"/>
                <a:ext cx="6758452" cy="93069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𝑄</m:t>
                          </m:r>
                        </m:e>
                        <m:sub>
                          <m:r>
                            <a:rPr lang="en-US" altLang="zh-CN" sz="2800" i="1">
                              <a:solidFill>
                                <a:srgbClr val="000000"/>
                              </a:solidFill>
                              <a:latin typeface="Cambria Math" panose="02040503050406030204" pitchFamily="18" charset="0"/>
                            </a:rPr>
                            <m:t>𝑇</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sub>
                        <m:sup>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sup>
                        <m:e>
                          <m:r>
                            <a:rPr lang="zh-CN" altLang="en-US" sz="2800" i="1">
                              <a:solidFill>
                                <a:srgbClr val="000000"/>
                              </a:solidFill>
                              <a:latin typeface="Cambria Math" panose="02040503050406030204" pitchFamily="18" charset="0"/>
                            </a:rPr>
                            <m:t>𝜈</m:t>
                          </m:r>
                        </m:e>
                      </m:nary>
                      <m:r>
                        <a:rPr lang="zh-CN" altLang="en-US" sz="2800" i="1">
                          <a:solidFill>
                            <a:srgbClr val="000000"/>
                          </a:solidFill>
                          <a:latin typeface="Cambria Math" panose="02040503050406030204" pitchFamily="18" charset="0"/>
                        </a:rPr>
                        <m:t>𝑅𝑇</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𝑑𝑉</m:t>
                          </m:r>
                        </m:num>
                        <m:den>
                          <m:r>
                            <a:rPr lang="zh-CN" altLang="en-US" sz="2800" i="1">
                              <a:solidFill>
                                <a:srgbClr val="000000"/>
                              </a:solidFill>
                              <a:latin typeface="Cambria Math" panose="02040503050406030204" pitchFamily="18" charset="0"/>
                            </a:rPr>
                            <m:t>𝑉</m:t>
                          </m:r>
                        </m:den>
                      </m:f>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𝜈</m:t>
                      </m:r>
                      <m:r>
                        <a:rPr lang="zh-CN" altLang="en-US" sz="2800" i="1">
                          <a:solidFill>
                            <a:srgbClr val="000000"/>
                          </a:solidFill>
                          <a:latin typeface="Cambria Math" panose="02040503050406030204" pitchFamily="18" charset="0"/>
                        </a:rPr>
                        <m:t>𝑅𝑇</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den>
                          </m:f>
                        </m:e>
                      </m:func>
                    </m:oMath>
                  </m:oMathPara>
                </a14:m>
                <a:endParaRPr lang="zh-CN" altLang="en-US" sz="2800" dirty="0"/>
              </a:p>
            </p:txBody>
          </p:sp>
        </mc:Choice>
        <mc:Fallback xmlns="">
          <p:sp>
            <p:nvSpPr>
              <p:cNvPr id="6" name="Object 11">
                <a:extLst>
                  <a:ext uri="{FF2B5EF4-FFF2-40B4-BE49-F238E27FC236}">
                    <a16:creationId xmlns:a16="http://schemas.microsoft.com/office/drawing/2014/main" id="{7FD0833F-BD56-F875-8430-54B6E5948F43}"/>
                  </a:ext>
                </a:extLst>
              </p:cNvPr>
              <p:cNvSpPr txBox="1">
                <a:spLocks noRot="1" noChangeAspect="1" noMove="1" noResize="1" noEditPoints="1" noAdjustHandles="1" noChangeArrowheads="1" noChangeShapeType="1" noTextEdit="1"/>
              </p:cNvSpPr>
              <p:nvPr/>
            </p:nvSpPr>
            <p:spPr bwMode="auto">
              <a:xfrm>
                <a:off x="1559730" y="4510748"/>
                <a:ext cx="6758452" cy="930693"/>
              </a:xfrm>
              <a:prstGeom prst="rect">
                <a:avLst/>
              </a:prstGeom>
              <a:blipFill>
                <a:blip r:embed="rId23"/>
                <a:stretch>
                  <a:fillRect b="-137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2">
                <a:extLst>
                  <a:ext uri="{FF2B5EF4-FFF2-40B4-BE49-F238E27FC236}">
                    <a16:creationId xmlns:a16="http://schemas.microsoft.com/office/drawing/2014/main" id="{CB0A44CD-D452-E2A1-DB4A-F974BA08F529}"/>
                  </a:ext>
                </a:extLst>
              </p:cNvPr>
              <p:cNvSpPr txBox="1"/>
              <p:nvPr/>
            </p:nvSpPr>
            <p:spPr bwMode="auto">
              <a:xfrm>
                <a:off x="2069895" y="5669129"/>
                <a:ext cx="2050501" cy="1093564"/>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𝜈</m:t>
                      </m:r>
                      <m:r>
                        <a:rPr lang="zh-CN" altLang="en-US" sz="2800" i="1">
                          <a:solidFill>
                            <a:srgbClr val="000000"/>
                          </a:solidFill>
                          <a:latin typeface="Cambria Math" panose="02040503050406030204" pitchFamily="18" charset="0"/>
                        </a:rPr>
                        <m:t>𝑅𝑇</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2</m:t>
                                  </m:r>
                                </m:sub>
                              </m:sSub>
                            </m:den>
                          </m:f>
                        </m:e>
                      </m:func>
                    </m:oMath>
                  </m:oMathPara>
                </a14:m>
                <a:endParaRPr lang="zh-CN" altLang="en-US" sz="2800" dirty="0"/>
              </a:p>
            </p:txBody>
          </p:sp>
        </mc:Choice>
        <mc:Fallback xmlns="">
          <p:sp>
            <p:nvSpPr>
              <p:cNvPr id="8" name="Object 12">
                <a:extLst>
                  <a:ext uri="{FF2B5EF4-FFF2-40B4-BE49-F238E27FC236}">
                    <a16:creationId xmlns:a16="http://schemas.microsoft.com/office/drawing/2014/main" id="{CB0A44CD-D452-E2A1-DB4A-F974BA08F529}"/>
                  </a:ext>
                </a:extLst>
              </p:cNvPr>
              <p:cNvSpPr txBox="1">
                <a:spLocks noRot="1" noChangeAspect="1" noMove="1" noResize="1" noEditPoints="1" noAdjustHandles="1" noChangeArrowheads="1" noChangeShapeType="1" noTextEdit="1"/>
              </p:cNvSpPr>
              <p:nvPr/>
            </p:nvSpPr>
            <p:spPr bwMode="auto">
              <a:xfrm>
                <a:off x="2069895" y="5669129"/>
                <a:ext cx="2050501" cy="1093564"/>
              </a:xfrm>
              <a:prstGeom prst="rect">
                <a:avLst/>
              </a:prstGeom>
              <a:blipFill>
                <a:blip r:embed="rId2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0099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11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11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54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5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5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54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5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5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55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p:bldP spid="431108" grpId="0"/>
      <p:bldP spid="22546" grpId="0" animBg="1"/>
      <p:bldP spid="22547" grpId="0" animBg="1"/>
      <p:bldP spid="22548" grpId="0" animBg="1"/>
      <p:bldP spid="22549" grpId="0" animBg="1"/>
      <p:bldP spid="22551" grpId="0" animBg="1"/>
      <p:bldP spid="22552" grpId="0" animBg="1"/>
      <p:bldP spid="431126" grpId="0"/>
      <p:bldP spid="6"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97788" y="4903788"/>
            <a:ext cx="685800" cy="685800"/>
            <a:chOff x="3888" y="3600"/>
            <a:chExt cx="432" cy="432"/>
          </a:xfrm>
        </p:grpSpPr>
        <p:sp>
          <p:nvSpPr>
            <p:cNvPr id="24645" name="Oval 3"/>
            <p:cNvSpPr/>
            <p:nvPr/>
          </p:nvSpPr>
          <p:spPr>
            <a:xfrm>
              <a:off x="3888" y="3600"/>
              <a:ext cx="432" cy="432"/>
            </a:xfrm>
            <a:prstGeom prst="ellipse">
              <a:avLst/>
            </a:prstGeom>
            <a:solidFill>
              <a:srgbClr val="FFCCFF"/>
            </a:solidFill>
            <a:ln w="12700" cap="flat" cmpd="sng">
              <a:solidFill>
                <a:srgbClr val="D60093"/>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24599" name="Object 4"/>
                <p:cNvSpPr txBox="1"/>
                <p:nvPr/>
              </p:nvSpPr>
              <p:spPr>
                <a:xfrm>
                  <a:off x="3984" y="3648"/>
                  <a:ext cx="272" cy="2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𝐸</m:t>
                        </m:r>
                      </m:oMath>
                    </m:oMathPara>
                  </a14:m>
                  <a:endParaRPr lang="en-US"/>
                </a:p>
              </p:txBody>
            </p:sp>
          </mc:Choice>
          <mc:Fallback xmlns="">
            <p:sp>
              <p:nvSpPr>
                <p:cNvPr id="24599" name="Object 4"/>
                <p:cNvSpPr txBox="1">
                  <a:spLocks noRot="1" noChangeAspect="1" noMove="1" noResize="1" noEditPoints="1" noAdjustHandles="1" noChangeArrowheads="1" noChangeShapeType="1" noTextEdit="1"/>
                </p:cNvSpPr>
                <p:nvPr/>
              </p:nvSpPr>
              <p:spPr>
                <a:xfrm>
                  <a:off x="3984" y="3648"/>
                  <a:ext cx="272" cy="288"/>
                </a:xfrm>
                <a:prstGeom prst="rect">
                  <a:avLst/>
                </a:prstGeom>
                <a:blipFill>
                  <a:blip r:embed="rId3"/>
                  <a:stretch>
                    <a:fillRect/>
                  </a:stretch>
                </a:blipFill>
                <a:ln w="38100">
                  <a:noFill/>
                  <a:miter/>
                </a:ln>
              </p:spPr>
              <p:txBody>
                <a:bodyPr/>
                <a:lstStyle/>
                <a:p>
                  <a:r>
                    <a:rPr lang="en-US">
                      <a:noFill/>
                    </a:rPr>
                    <a:t> </a:t>
                  </a:r>
                </a:p>
              </p:txBody>
            </p:sp>
          </mc:Fallback>
        </mc:AlternateContent>
      </p:grpSp>
      <p:grpSp>
        <p:nvGrpSpPr>
          <p:cNvPr id="3" name="Group 5"/>
          <p:cNvGrpSpPr/>
          <p:nvPr/>
        </p:nvGrpSpPr>
        <p:grpSpPr>
          <a:xfrm>
            <a:off x="3513138" y="4848225"/>
            <a:ext cx="685800" cy="685800"/>
            <a:chOff x="1200" y="3648"/>
            <a:chExt cx="432" cy="384"/>
          </a:xfrm>
        </p:grpSpPr>
        <p:sp>
          <p:nvSpPr>
            <p:cNvPr id="24644" name="Oval 6"/>
            <p:cNvSpPr/>
            <p:nvPr/>
          </p:nvSpPr>
          <p:spPr>
            <a:xfrm>
              <a:off x="1200" y="3648"/>
              <a:ext cx="432"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24598" name="Object 7"/>
                <p:cNvSpPr txBox="1"/>
                <p:nvPr/>
              </p:nvSpPr>
              <p:spPr>
                <a:xfrm>
                  <a:off x="1296" y="3696"/>
                  <a:ext cx="272" cy="2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𝐸</m:t>
                        </m:r>
                      </m:oMath>
                    </m:oMathPara>
                  </a14:m>
                  <a:endParaRPr lang="en-US"/>
                </a:p>
              </p:txBody>
            </p:sp>
          </mc:Choice>
          <mc:Fallback xmlns="">
            <p:sp>
              <p:nvSpPr>
                <p:cNvPr id="24598" name="Object 7"/>
                <p:cNvSpPr txBox="1">
                  <a:spLocks noRot="1" noChangeAspect="1" noMove="1" noResize="1" noEditPoints="1" noAdjustHandles="1" noChangeArrowheads="1" noChangeShapeType="1" noTextEdit="1"/>
                </p:cNvSpPr>
                <p:nvPr/>
              </p:nvSpPr>
              <p:spPr>
                <a:xfrm>
                  <a:off x="1296" y="3696"/>
                  <a:ext cx="272" cy="288"/>
                </a:xfrm>
                <a:prstGeom prst="rect">
                  <a:avLst/>
                </a:prstGeom>
                <a:blipFill>
                  <a:blip r:embed="rId4"/>
                  <a:stretch>
                    <a:fillRect/>
                  </a:stretch>
                </a:blipFill>
                <a:ln w="38100">
                  <a:noFill/>
                  <a:miter/>
                </a:ln>
              </p:spPr>
              <p:txBody>
                <a:bodyPr/>
                <a:lstStyle/>
                <a:p>
                  <a:r>
                    <a:rPr lang="en-US">
                      <a:noFill/>
                    </a:rPr>
                    <a:t> </a:t>
                  </a:r>
                </a:p>
              </p:txBody>
            </p:sp>
          </mc:Fallback>
        </mc:AlternateContent>
      </p:grpSp>
      <p:grpSp>
        <p:nvGrpSpPr>
          <p:cNvPr id="24602" name="Group 8"/>
          <p:cNvGrpSpPr/>
          <p:nvPr/>
        </p:nvGrpSpPr>
        <p:grpSpPr>
          <a:xfrm>
            <a:off x="2209800" y="1196975"/>
            <a:ext cx="3657600" cy="3276600"/>
            <a:chOff x="432" y="754"/>
            <a:chExt cx="2304" cy="2064"/>
          </a:xfrm>
        </p:grpSpPr>
        <p:sp>
          <p:nvSpPr>
            <p:cNvPr id="24629" name="Rectangle 9"/>
            <p:cNvSpPr/>
            <p:nvPr/>
          </p:nvSpPr>
          <p:spPr>
            <a:xfrm>
              <a:off x="432" y="754"/>
              <a:ext cx="2304" cy="206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p:sp>
          <p:nvSpPr>
            <p:cNvPr id="24630" name="Arc 10"/>
            <p:cNvSpPr/>
            <p:nvPr/>
          </p:nvSpPr>
          <p:spPr>
            <a:xfrm flipH="1" flipV="1">
              <a:off x="1169" y="1400"/>
              <a:ext cx="1235" cy="764"/>
            </a:xfrm>
            <a:custGeom>
              <a:avLst/>
              <a:gdLst>
                <a:gd name="txL" fmla="*/ 0 w 21378"/>
                <a:gd name="txT" fmla="*/ 0 h 21281"/>
                <a:gd name="txR" fmla="*/ 21378 w 21378"/>
                <a:gd name="txB" fmla="*/ 21281 h 21281"/>
              </a:gdLst>
              <a:ahLst/>
              <a:cxnLst>
                <a:cxn ang="0">
                  <a:pos x="12" y="0"/>
                </a:cxn>
                <a:cxn ang="0">
                  <a:pos x="71" y="23"/>
                </a:cxn>
                <a:cxn ang="0">
                  <a:pos x="0" y="27"/>
                </a:cxn>
              </a:cxnLst>
              <a:rect l="txL" t="txT" r="txR" b="txB"/>
              <a:pathLst>
                <a:path w="21378" h="21281" fill="none">
                  <a:moveTo>
                    <a:pt x="3698" y="0"/>
                  </a:moveTo>
                  <a:cubicBezTo>
                    <a:pt x="12906" y="1600"/>
                    <a:pt x="20040" y="8941"/>
                    <a:pt x="21377" y="18191"/>
                  </a:cubicBezTo>
                </a:path>
                <a:path w="21378" h="21281" stroke="0">
                  <a:moveTo>
                    <a:pt x="3698" y="0"/>
                  </a:moveTo>
                  <a:cubicBezTo>
                    <a:pt x="12906" y="1600"/>
                    <a:pt x="20040" y="8941"/>
                    <a:pt x="21377" y="18191"/>
                  </a:cubicBezTo>
                  <a:lnTo>
                    <a:pt x="0" y="21281"/>
                  </a:lnTo>
                  <a:close/>
                </a:path>
              </a:pathLst>
            </a:custGeom>
            <a:noFill/>
            <a:ln w="25400" cap="flat" cmpd="sng">
              <a:solidFill>
                <a:srgbClr val="0000FF">
                  <a:alpha val="100000"/>
                </a:srgbClr>
              </a:solidFill>
              <a:prstDash val="solid"/>
              <a:round/>
              <a:headEnd type="none" w="med" len="med"/>
              <a:tailEnd type="none" w="med" len="med"/>
            </a:ln>
          </p:spPr>
          <p:txBody>
            <a:bodyPr/>
            <a:lstStyle/>
            <a:p>
              <a:endParaRPr lang="zh-CN" altLang="en-US" sz="2400"/>
            </a:p>
          </p:txBody>
        </p:sp>
        <p:sp>
          <p:nvSpPr>
            <p:cNvPr id="24631" name="Line 11"/>
            <p:cNvSpPr/>
            <p:nvPr/>
          </p:nvSpPr>
          <p:spPr>
            <a:xfrm>
              <a:off x="1551" y="2552"/>
              <a:ext cx="0" cy="0"/>
            </a:xfrm>
            <a:prstGeom prst="line">
              <a:avLst/>
            </a:prstGeom>
            <a:ln w="9525" cap="flat" cmpd="sng">
              <a:solidFill>
                <a:schemeClr val="tx1"/>
              </a:solidFill>
              <a:prstDash val="solid"/>
              <a:headEnd type="none" w="med" len="med"/>
              <a:tailEnd type="none" w="med" len="med"/>
            </a:ln>
          </p:spPr>
        </p:sp>
        <p:sp>
          <p:nvSpPr>
            <p:cNvPr id="24632" name="Line 12"/>
            <p:cNvSpPr/>
            <p:nvPr/>
          </p:nvSpPr>
          <p:spPr>
            <a:xfrm>
              <a:off x="2183" y="2153"/>
              <a:ext cx="0" cy="355"/>
            </a:xfrm>
            <a:prstGeom prst="line">
              <a:avLst/>
            </a:prstGeom>
            <a:ln w="12700" cap="flat" cmpd="sng">
              <a:solidFill>
                <a:schemeClr val="tx1"/>
              </a:solidFill>
              <a:prstDash val="dash"/>
              <a:headEnd type="none" w="med" len="med"/>
              <a:tailEnd type="none" w="med" len="med"/>
            </a:ln>
          </p:spPr>
        </p:sp>
        <p:sp>
          <p:nvSpPr>
            <p:cNvPr id="24633" name="Line 13"/>
            <p:cNvSpPr/>
            <p:nvPr/>
          </p:nvSpPr>
          <p:spPr>
            <a:xfrm flipH="1">
              <a:off x="823" y="1524"/>
              <a:ext cx="368" cy="0"/>
            </a:xfrm>
            <a:prstGeom prst="line">
              <a:avLst/>
            </a:prstGeom>
            <a:ln w="12700" cap="flat" cmpd="sng">
              <a:solidFill>
                <a:schemeClr val="tx1"/>
              </a:solidFill>
              <a:prstDash val="dash"/>
              <a:headEnd type="none" w="med" len="med"/>
              <a:tailEnd type="none" w="med" len="med"/>
            </a:ln>
          </p:spPr>
        </p:sp>
        <p:sp>
          <p:nvSpPr>
            <p:cNvPr id="24634" name="Line 14"/>
            <p:cNvSpPr/>
            <p:nvPr/>
          </p:nvSpPr>
          <p:spPr>
            <a:xfrm>
              <a:off x="801" y="2508"/>
              <a:ext cx="1843" cy="0"/>
            </a:xfrm>
            <a:prstGeom prst="line">
              <a:avLst/>
            </a:prstGeom>
            <a:ln w="19050" cap="flat" cmpd="sng">
              <a:solidFill>
                <a:schemeClr val="tx1"/>
              </a:solidFill>
              <a:prstDash val="solid"/>
              <a:headEnd type="none" w="med" len="med"/>
              <a:tailEnd type="triangle" w="sm" len="lg"/>
            </a:ln>
          </p:spPr>
        </p:sp>
        <p:sp>
          <p:nvSpPr>
            <p:cNvPr id="24635" name="Line 15"/>
            <p:cNvSpPr/>
            <p:nvPr/>
          </p:nvSpPr>
          <p:spPr>
            <a:xfrm flipV="1">
              <a:off x="826" y="1222"/>
              <a:ext cx="0" cy="1294"/>
            </a:xfrm>
            <a:prstGeom prst="line">
              <a:avLst/>
            </a:prstGeom>
            <a:ln w="19050" cap="flat" cmpd="sng">
              <a:solidFill>
                <a:schemeClr val="tx1"/>
              </a:solidFill>
              <a:prstDash val="solid"/>
              <a:headEnd type="none" w="med" len="med"/>
              <a:tailEnd type="triangle" w="sm" len="lg"/>
            </a:ln>
          </p:spPr>
        </p:sp>
        <p:sp>
          <p:nvSpPr>
            <p:cNvPr id="24636" name="Line 16"/>
            <p:cNvSpPr/>
            <p:nvPr/>
          </p:nvSpPr>
          <p:spPr>
            <a:xfrm>
              <a:off x="1169" y="1533"/>
              <a:ext cx="0" cy="992"/>
            </a:xfrm>
            <a:prstGeom prst="line">
              <a:avLst/>
            </a:prstGeom>
            <a:ln w="12700" cap="flat" cmpd="sng">
              <a:solidFill>
                <a:schemeClr val="tx1"/>
              </a:solidFill>
              <a:prstDash val="dash"/>
              <a:headEnd type="none" w="med" len="med"/>
              <a:tailEnd type="none" w="med" len="med"/>
            </a:ln>
          </p:spPr>
        </p:sp>
        <p:sp>
          <p:nvSpPr>
            <p:cNvPr id="24637" name="Text Box 17"/>
            <p:cNvSpPr txBox="1"/>
            <p:nvPr/>
          </p:nvSpPr>
          <p:spPr>
            <a:xfrm>
              <a:off x="1031" y="1267"/>
              <a:ext cx="323" cy="288"/>
            </a:xfrm>
            <a:prstGeom prst="rect">
              <a:avLst/>
            </a:prstGeom>
            <a:noFill/>
            <a:ln w="9525">
              <a:noFill/>
            </a:ln>
          </p:spPr>
          <p:txBody>
            <a:bodyPr>
              <a:spAutoFit/>
            </a:bodyPr>
            <a:lstStyle/>
            <a:p>
              <a:pPr>
                <a:spcBef>
                  <a:spcPct val="50000"/>
                </a:spcBef>
              </a:pPr>
              <a:r>
                <a:rPr lang="en-US" altLang="zh-CN" sz="2400" b="1" dirty="0">
                  <a:solidFill>
                    <a:srgbClr val="CC0000"/>
                  </a:solidFill>
                  <a:latin typeface="Times New Roman" panose="02020603050405020304" pitchFamily="18" charset="0"/>
                </a:rPr>
                <a:t>1</a:t>
              </a:r>
              <a:endParaRPr lang="en-US" altLang="zh-CN" sz="2400" b="1" dirty="0">
                <a:solidFill>
                  <a:srgbClr val="A50021"/>
                </a:solidFill>
                <a:latin typeface="Times New Roman" panose="02020603050405020304" pitchFamily="18" charset="0"/>
              </a:endParaRPr>
            </a:p>
          </p:txBody>
        </p:sp>
        <p:sp>
          <p:nvSpPr>
            <p:cNvPr id="24638" name="Text Box 18"/>
            <p:cNvSpPr txBox="1"/>
            <p:nvPr/>
          </p:nvSpPr>
          <p:spPr>
            <a:xfrm>
              <a:off x="2183" y="2020"/>
              <a:ext cx="230" cy="288"/>
            </a:xfrm>
            <a:prstGeom prst="rect">
              <a:avLst/>
            </a:prstGeom>
            <a:noFill/>
            <a:ln w="9525">
              <a:noFill/>
            </a:ln>
          </p:spPr>
          <p:txBody>
            <a:bodyPr>
              <a:spAutoFit/>
            </a:bodyPr>
            <a:lstStyle/>
            <a:p>
              <a:pPr>
                <a:spcBef>
                  <a:spcPct val="50000"/>
                </a:spcBef>
              </a:pPr>
              <a:r>
                <a:rPr lang="en-US" altLang="zh-CN" sz="2400" b="1" dirty="0">
                  <a:solidFill>
                    <a:srgbClr val="CC0000"/>
                  </a:solidFill>
                  <a:latin typeface="Times New Roman" panose="02020603050405020304" pitchFamily="18" charset="0"/>
                </a:rPr>
                <a:t>2</a:t>
              </a:r>
              <a:endParaRPr lang="en-US" altLang="zh-CN" sz="2400" dirty="0">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4589" name="Object 19"/>
                <p:cNvGraphicFramePr/>
                <p:nvPr/>
              </p:nvGraphicFramePr>
              <p:xfrm>
                <a:off x="1247" y="1253"/>
                <a:ext cx="849" cy="279"/>
              </p:xfrm>
              <a:graphic>
                <a:graphicData uri="http://schemas.openxmlformats.org/presentationml/2006/ole">
                  <mc:AlternateContent>
                    <mc:Choice xmlns:v="urn:schemas-microsoft-com:vml" Requires="v">
                      <p:oleObj spid="_x0000_s4182" r:id="rId5" imgW="608965" imgH="215900" progId="Equation.3">
                        <p:embed/>
                      </p:oleObj>
                    </mc:Choice>
                    <mc:Fallback>
                      <p:oleObj r:id="rId5" imgW="608965" imgH="215900" progId="Equation.3">
                        <p:embed/>
                        <p:pic>
                          <p:nvPicPr>
                            <p:cNvPr id="24589" name="Object 19"/>
                            <p:cNvPicPr/>
                            <p:nvPr/>
                          </p:nvPicPr>
                          <p:blipFill>
                            <a:blip r:embed="rId6"/>
                            <a:stretch>
                              <a:fillRect/>
                            </a:stretch>
                          </p:blipFill>
                          <p:spPr>
                            <a:xfrm>
                              <a:off x="1247" y="1253"/>
                              <a:ext cx="849" cy="279"/>
                            </a:xfrm>
                            <a:prstGeom prst="rect">
                              <a:avLst/>
                            </a:prstGeom>
                            <a:noFill/>
                            <a:ln w="38100">
                              <a:noFill/>
                              <a:miter/>
                            </a:ln>
                          </p:spPr>
                        </p:pic>
                      </p:oleObj>
                    </mc:Fallback>
                  </mc:AlternateContent>
                </a:graphicData>
              </a:graphic>
            </p:graphicFrame>
          </mc:Choice>
          <mc:Fallback xmlns="">
            <p:graphicFrame>
              <p:nvGraphicFramePr>
                <p:cNvPr id="24589" name="Object 19"/>
                <p:cNvGraphicFramePr/>
                <p:nvPr/>
              </p:nvGraphicFramePr>
              <p:xfrm>
                <a:off x="1247" y="1253"/>
                <a:ext cx="849" cy="279"/>
              </p:xfrm>
              <a:graphic>
                <a:graphicData uri="http://schemas.openxmlformats.org/presentationml/2006/ole">
                  <mc:AlternateContent>
                    <mc:Choice xmlns:v="urn:schemas-microsoft-com:vml" Requires="v">
                      <p:oleObj spid="_x0000_s23696" r:id="rId7" imgW="608965" imgH="215900" progId="Equation.3">
                        <p:embed/>
                      </p:oleObj>
                    </mc:Choice>
                    <mc:Fallback>
                      <p:oleObj r:id="rId7" imgW="608965" imgH="215900" progId="Equation.3">
                        <p:embed/>
                        <p:pic>
                          <p:nvPicPr>
                            <p:cNvPr id="24589" name="Object 19"/>
                            <p:cNvPicPr/>
                            <p:nvPr/>
                          </p:nvPicPr>
                          <p:blipFill>
                            <a:blip r:embed="rId8"/>
                            <a:stretch>
                              <a:fillRect/>
                            </a:stretch>
                          </p:blipFill>
                          <p:spPr>
                            <a:xfrm>
                              <a:off x="1247" y="1253"/>
                              <a:ext cx="849" cy="279"/>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4590" name="Object 20"/>
                <p:cNvGraphicFramePr/>
                <p:nvPr/>
              </p:nvGraphicFramePr>
              <p:xfrm>
                <a:off x="1882" y="1752"/>
                <a:ext cx="775" cy="291"/>
              </p:xfrm>
              <a:graphic>
                <a:graphicData uri="http://schemas.openxmlformats.org/presentationml/2006/ole">
                  <mc:AlternateContent>
                    <mc:Choice xmlns:v="urn:schemas-microsoft-com:vml" Requires="v">
                      <p:oleObj spid="_x0000_s4183" r:id="rId9" imgW="647065" imgH="215900" progId="Equation.3">
                        <p:embed/>
                      </p:oleObj>
                    </mc:Choice>
                    <mc:Fallback>
                      <p:oleObj r:id="rId9" imgW="647065" imgH="215900" progId="Equation.3">
                        <p:embed/>
                        <p:pic>
                          <p:nvPicPr>
                            <p:cNvPr id="24590" name="Object 20"/>
                            <p:cNvPicPr/>
                            <p:nvPr/>
                          </p:nvPicPr>
                          <p:blipFill>
                            <a:blip r:embed="rId10"/>
                            <a:stretch>
                              <a:fillRect/>
                            </a:stretch>
                          </p:blipFill>
                          <p:spPr>
                            <a:xfrm>
                              <a:off x="1882" y="1752"/>
                              <a:ext cx="775" cy="291"/>
                            </a:xfrm>
                            <a:prstGeom prst="rect">
                              <a:avLst/>
                            </a:prstGeom>
                            <a:noFill/>
                            <a:ln w="38100">
                              <a:noFill/>
                              <a:miter/>
                            </a:ln>
                          </p:spPr>
                        </p:pic>
                      </p:oleObj>
                    </mc:Fallback>
                  </mc:AlternateContent>
                </a:graphicData>
              </a:graphic>
            </p:graphicFrame>
          </mc:Choice>
          <mc:Fallback xmlns="">
            <p:graphicFrame>
              <p:nvGraphicFramePr>
                <p:cNvPr id="24590" name="Object 20"/>
                <p:cNvGraphicFramePr/>
                <p:nvPr/>
              </p:nvGraphicFramePr>
              <p:xfrm>
                <a:off x="1882" y="1752"/>
                <a:ext cx="775" cy="291"/>
              </p:xfrm>
              <a:graphic>
                <a:graphicData uri="http://schemas.openxmlformats.org/presentationml/2006/ole">
                  <mc:AlternateContent>
                    <mc:Choice xmlns:v="urn:schemas-microsoft-com:vml" Requires="v">
                      <p:oleObj spid="_x0000_s23697" r:id="rId11" imgW="647065" imgH="215900" progId="Equation.3">
                        <p:embed/>
                      </p:oleObj>
                    </mc:Choice>
                    <mc:Fallback>
                      <p:oleObj r:id="rId11" imgW="647065" imgH="215900" progId="Equation.3">
                        <p:embed/>
                        <p:pic>
                          <p:nvPicPr>
                            <p:cNvPr id="24590" name="Object 20"/>
                            <p:cNvPicPr/>
                            <p:nvPr/>
                          </p:nvPicPr>
                          <p:blipFill>
                            <a:blip r:embed="rId12"/>
                            <a:stretch>
                              <a:fillRect/>
                            </a:stretch>
                          </p:blipFill>
                          <p:spPr>
                            <a:xfrm>
                              <a:off x="1882" y="1752"/>
                              <a:ext cx="775" cy="291"/>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24591" name="Object 21"/>
                <p:cNvSpPr txBox="1"/>
                <p:nvPr/>
              </p:nvSpPr>
              <p:spPr>
                <a:xfrm>
                  <a:off x="482" y="1400"/>
                  <a:ext cx="319" cy="30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oMath>
                    </m:oMathPara>
                  </a14:m>
                  <a:endParaRPr lang="en-US" sz="2400"/>
                </a:p>
              </p:txBody>
            </p:sp>
          </mc:Choice>
          <mc:Fallback xmlns="">
            <p:sp>
              <p:nvSpPr>
                <p:cNvPr id="24591" name="Object 21"/>
                <p:cNvSpPr txBox="1">
                  <a:spLocks noRot="1" noChangeAspect="1" noMove="1" noResize="1" noEditPoints="1" noAdjustHandles="1" noChangeArrowheads="1" noChangeShapeType="1" noTextEdit="1"/>
                </p:cNvSpPr>
                <p:nvPr/>
              </p:nvSpPr>
              <p:spPr>
                <a:xfrm>
                  <a:off x="482" y="1400"/>
                  <a:ext cx="319" cy="306"/>
                </a:xfrm>
                <a:prstGeom prst="rect">
                  <a:avLst/>
                </a:prstGeom>
                <a:blipFill>
                  <a:blip r:embed="rId13"/>
                  <a:stretch>
                    <a:fillRect l="-1205" b="-632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2" name="Object 22"/>
                <p:cNvSpPr txBox="1"/>
                <p:nvPr/>
              </p:nvSpPr>
              <p:spPr>
                <a:xfrm>
                  <a:off x="524" y="1976"/>
                  <a:ext cx="298" cy="30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2</m:t>
                            </m:r>
                          </m:sub>
                        </m:sSub>
                      </m:oMath>
                    </m:oMathPara>
                  </a14:m>
                  <a:endParaRPr lang="en-US" sz="2400"/>
                </a:p>
              </p:txBody>
            </p:sp>
          </mc:Choice>
          <mc:Fallback xmlns="">
            <p:sp>
              <p:nvSpPr>
                <p:cNvPr id="24592" name="Object 22"/>
                <p:cNvSpPr txBox="1">
                  <a:spLocks noRot="1" noChangeAspect="1" noMove="1" noResize="1" noEditPoints="1" noAdjustHandles="1" noChangeArrowheads="1" noChangeShapeType="1" noTextEdit="1"/>
                </p:cNvSpPr>
                <p:nvPr/>
              </p:nvSpPr>
              <p:spPr>
                <a:xfrm>
                  <a:off x="524" y="1976"/>
                  <a:ext cx="298" cy="301"/>
                </a:xfrm>
                <a:prstGeom prst="rect">
                  <a:avLst/>
                </a:prstGeom>
                <a:blipFill>
                  <a:blip r:embed="rId14"/>
                  <a:stretch>
                    <a:fillRect l="-3846" b="-769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3" name="Object 23"/>
                <p:cNvSpPr txBox="1"/>
                <p:nvPr/>
              </p:nvSpPr>
              <p:spPr>
                <a:xfrm>
                  <a:off x="1099" y="2464"/>
                  <a:ext cx="258" cy="31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1</m:t>
                            </m:r>
                          </m:sub>
                        </m:sSub>
                      </m:oMath>
                    </m:oMathPara>
                  </a14:m>
                  <a:endParaRPr lang="en-US" sz="2400"/>
                </a:p>
              </p:txBody>
            </p:sp>
          </mc:Choice>
          <mc:Fallback xmlns="">
            <p:sp>
              <p:nvSpPr>
                <p:cNvPr id="24593" name="Object 23"/>
                <p:cNvSpPr txBox="1">
                  <a:spLocks noRot="1" noChangeAspect="1" noMove="1" noResize="1" noEditPoints="1" noAdjustHandles="1" noChangeArrowheads="1" noChangeShapeType="1" noTextEdit="1"/>
                </p:cNvSpPr>
                <p:nvPr/>
              </p:nvSpPr>
              <p:spPr>
                <a:xfrm>
                  <a:off x="1099" y="2464"/>
                  <a:ext cx="258" cy="314"/>
                </a:xfrm>
                <a:prstGeom prst="rect">
                  <a:avLst/>
                </a:prstGeom>
                <a:blipFill>
                  <a:blip r:embed="rId15"/>
                  <a:stretch>
                    <a:fillRect l="-2985" r="-597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4" name="Object 24"/>
                <p:cNvSpPr txBox="1"/>
                <p:nvPr/>
              </p:nvSpPr>
              <p:spPr>
                <a:xfrm>
                  <a:off x="2055" y="2464"/>
                  <a:ext cx="287" cy="31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4594" name="Object 24"/>
                <p:cNvSpPr txBox="1">
                  <a:spLocks noRot="1" noChangeAspect="1" noMove="1" noResize="1" noEditPoints="1" noAdjustHandles="1" noChangeArrowheads="1" noChangeShapeType="1" noTextEdit="1"/>
                </p:cNvSpPr>
                <p:nvPr/>
              </p:nvSpPr>
              <p:spPr>
                <a:xfrm>
                  <a:off x="2055" y="2464"/>
                  <a:ext cx="287" cy="314"/>
                </a:xfrm>
                <a:prstGeom prst="rect">
                  <a:avLst/>
                </a:prstGeom>
                <a:blipFill>
                  <a:blip r:embed="rId16"/>
                  <a:stretch>
                    <a:fillRect l="-26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5" name="Object 25"/>
                <p:cNvSpPr txBox="1"/>
                <p:nvPr/>
              </p:nvSpPr>
              <p:spPr>
                <a:xfrm>
                  <a:off x="540" y="1179"/>
                  <a:ext cx="199" cy="22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𝑝</m:t>
                        </m:r>
                      </m:oMath>
                    </m:oMathPara>
                  </a14:m>
                  <a:endParaRPr lang="en-US" sz="2400"/>
                </a:p>
              </p:txBody>
            </p:sp>
          </mc:Choice>
          <mc:Fallback xmlns="">
            <p:sp>
              <p:nvSpPr>
                <p:cNvPr id="24595" name="Object 25"/>
                <p:cNvSpPr txBox="1">
                  <a:spLocks noRot="1" noChangeAspect="1" noMove="1" noResize="1" noEditPoints="1" noAdjustHandles="1" noChangeArrowheads="1" noChangeShapeType="1" noTextEdit="1"/>
                </p:cNvSpPr>
                <p:nvPr/>
              </p:nvSpPr>
              <p:spPr>
                <a:xfrm>
                  <a:off x="540" y="1179"/>
                  <a:ext cx="199" cy="226"/>
                </a:xfrm>
                <a:prstGeom prst="rect">
                  <a:avLst/>
                </a:prstGeom>
                <a:blipFill>
                  <a:blip r:embed="rId17"/>
                  <a:stretch>
                    <a:fillRect l="-5882" r="-19608" b="-4406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6" name="Object 26"/>
                <p:cNvSpPr txBox="1"/>
                <p:nvPr/>
              </p:nvSpPr>
              <p:spPr>
                <a:xfrm>
                  <a:off x="2460" y="2552"/>
                  <a:ext cx="189" cy="20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𝑉</m:t>
                        </m:r>
                      </m:oMath>
                    </m:oMathPara>
                  </a14:m>
                  <a:endParaRPr lang="en-US" sz="2400"/>
                </a:p>
              </p:txBody>
            </p:sp>
          </mc:Choice>
          <mc:Fallback xmlns="">
            <p:sp>
              <p:nvSpPr>
                <p:cNvPr id="24596" name="Object 26"/>
                <p:cNvSpPr txBox="1">
                  <a:spLocks noRot="1" noChangeAspect="1" noMove="1" noResize="1" noEditPoints="1" noAdjustHandles="1" noChangeArrowheads="1" noChangeShapeType="1" noTextEdit="1"/>
                </p:cNvSpPr>
                <p:nvPr/>
              </p:nvSpPr>
              <p:spPr>
                <a:xfrm>
                  <a:off x="2460" y="2552"/>
                  <a:ext cx="189" cy="203"/>
                </a:xfrm>
                <a:prstGeom prst="rect">
                  <a:avLst/>
                </a:prstGeom>
                <a:blipFill>
                  <a:blip r:embed="rId18"/>
                  <a:stretch>
                    <a:fillRect l="-6122" r="-28571" b="-403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7" name="Object 27"/>
                <p:cNvSpPr txBox="1"/>
                <p:nvPr/>
              </p:nvSpPr>
              <p:spPr>
                <a:xfrm>
                  <a:off x="755" y="2508"/>
                  <a:ext cx="169" cy="1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𝑜</m:t>
                        </m:r>
                      </m:oMath>
                    </m:oMathPara>
                  </a14:m>
                  <a:endParaRPr lang="en-US" sz="2400"/>
                </a:p>
              </p:txBody>
            </p:sp>
          </mc:Choice>
          <mc:Fallback xmlns="">
            <p:sp>
              <p:nvSpPr>
                <p:cNvPr id="24597" name="Object 27"/>
                <p:cNvSpPr txBox="1">
                  <a:spLocks noRot="1" noChangeAspect="1" noMove="1" noResize="1" noEditPoints="1" noAdjustHandles="1" noChangeArrowheads="1" noChangeShapeType="1" noTextEdit="1"/>
                </p:cNvSpPr>
                <p:nvPr/>
              </p:nvSpPr>
              <p:spPr>
                <a:xfrm>
                  <a:off x="755" y="2508"/>
                  <a:ext cx="169" cy="188"/>
                </a:xfrm>
                <a:prstGeom prst="rect">
                  <a:avLst/>
                </a:prstGeom>
                <a:blipFill>
                  <a:blip r:embed="rId19"/>
                  <a:stretch>
                    <a:fillRect r="-22727" b="-38776"/>
                  </a:stretch>
                </a:blipFill>
                <a:ln w="38100">
                  <a:noFill/>
                  <a:miter/>
                </a:ln>
              </p:spPr>
              <p:txBody>
                <a:bodyPr/>
                <a:lstStyle/>
                <a:p>
                  <a:r>
                    <a:rPr lang="zh-CN" altLang="en-US">
                      <a:noFill/>
                    </a:rPr>
                    <a:t> </a:t>
                  </a:r>
                </a:p>
              </p:txBody>
            </p:sp>
          </mc:Fallback>
        </mc:AlternateContent>
        <p:sp>
          <p:nvSpPr>
            <p:cNvPr id="24639" name="Text Box 28"/>
            <p:cNvSpPr txBox="1"/>
            <p:nvPr/>
          </p:nvSpPr>
          <p:spPr>
            <a:xfrm>
              <a:off x="1104" y="802"/>
              <a:ext cx="1044" cy="291"/>
            </a:xfrm>
            <a:prstGeom prst="rect">
              <a:avLst/>
            </a:prstGeom>
            <a:noFill/>
            <a:ln w="9525">
              <a:noFill/>
            </a:ln>
          </p:spPr>
          <p:txBody>
            <a:bodyPr>
              <a:spAutoFit/>
            </a:bodyPr>
            <a:lstStyle/>
            <a:p>
              <a:pPr>
                <a:spcBef>
                  <a:spcPct val="50000"/>
                </a:spcBef>
              </a:pPr>
              <a:r>
                <a:rPr lang="zh-CN" altLang="en-US" sz="2400" b="1" dirty="0">
                  <a:latin typeface="Times New Roman" panose="02020603050405020304" pitchFamily="18" charset="0"/>
                </a:rPr>
                <a:t>等温</a:t>
              </a:r>
              <a:r>
                <a:rPr lang="zh-CN" altLang="en-US" sz="2400" b="1" dirty="0">
                  <a:solidFill>
                    <a:srgbClr val="CC0000"/>
                  </a:solidFill>
                  <a:latin typeface="Times New Roman" panose="02020603050405020304" pitchFamily="18" charset="0"/>
                </a:rPr>
                <a:t>膨胀</a:t>
              </a:r>
            </a:p>
          </p:txBody>
        </p:sp>
        <p:sp>
          <p:nvSpPr>
            <p:cNvPr id="24640" name="Freeform 29" descr="浅色下对角线"/>
            <p:cNvSpPr/>
            <p:nvPr/>
          </p:nvSpPr>
          <p:spPr>
            <a:xfrm>
              <a:off x="1173" y="1570"/>
              <a:ext cx="1008" cy="933"/>
            </a:xfrm>
            <a:custGeom>
              <a:avLst/>
              <a:gdLst>
                <a:gd name="txL" fmla="*/ 0 w 1008"/>
                <a:gd name="txT" fmla="*/ 0 h 933"/>
                <a:gd name="txR" fmla="*/ 1008 w 1008"/>
                <a:gd name="txB" fmla="*/ 933 h 933"/>
              </a:gdLst>
              <a:ahLst/>
              <a:cxnLst>
                <a:cxn ang="0">
                  <a:pos x="13" y="933"/>
                </a:cxn>
                <a:cxn ang="0">
                  <a:pos x="0" y="0"/>
                </a:cxn>
                <a:cxn ang="0">
                  <a:pos x="82" y="165"/>
                </a:cxn>
                <a:cxn ang="0">
                  <a:pos x="205" y="302"/>
                </a:cxn>
                <a:cxn ang="0">
                  <a:pos x="370" y="411"/>
                </a:cxn>
                <a:cxn ang="0">
                  <a:pos x="541" y="501"/>
                </a:cxn>
                <a:cxn ang="0">
                  <a:pos x="802" y="583"/>
                </a:cxn>
                <a:cxn ang="0">
                  <a:pos x="994" y="610"/>
                </a:cxn>
                <a:cxn ang="0">
                  <a:pos x="1008" y="919"/>
                </a:cxn>
                <a:cxn ang="0">
                  <a:pos x="994" y="933"/>
                </a:cxn>
                <a:cxn ang="0">
                  <a:pos x="13" y="933"/>
                </a:cxn>
              </a:cxnLst>
              <a:rect l="txL" t="txT" r="txR" b="txB"/>
              <a:pathLst>
                <a:path w="1008" h="933">
                  <a:moveTo>
                    <a:pt x="13" y="933"/>
                  </a:moveTo>
                  <a:lnTo>
                    <a:pt x="0" y="0"/>
                  </a:lnTo>
                  <a:lnTo>
                    <a:pt x="82" y="165"/>
                  </a:lnTo>
                  <a:lnTo>
                    <a:pt x="205" y="302"/>
                  </a:lnTo>
                  <a:lnTo>
                    <a:pt x="370" y="411"/>
                  </a:lnTo>
                  <a:lnTo>
                    <a:pt x="541" y="501"/>
                  </a:lnTo>
                  <a:lnTo>
                    <a:pt x="802" y="583"/>
                  </a:lnTo>
                  <a:lnTo>
                    <a:pt x="994" y="610"/>
                  </a:lnTo>
                  <a:lnTo>
                    <a:pt x="1008" y="919"/>
                  </a:lnTo>
                  <a:lnTo>
                    <a:pt x="994" y="933"/>
                  </a:lnTo>
                  <a:lnTo>
                    <a:pt x="13" y="933"/>
                  </a:lnTo>
                  <a:close/>
                </a:path>
              </a:pathLst>
            </a:custGeom>
            <a:pattFill prst="ltDnDiag">
              <a:fgClr>
                <a:srgbClr val="CC0099">
                  <a:alpha val="100000"/>
                </a:srgbClr>
              </a:fgClr>
              <a:bgClr>
                <a:schemeClr val="bg1">
                  <a:alpha val="100000"/>
                </a:schemeClr>
              </a:bgClr>
            </a:pattFill>
            <a:ln w="9525">
              <a:noFill/>
            </a:ln>
          </p:spPr>
          <p:txBody>
            <a:bodyPr/>
            <a:lstStyle/>
            <a:p>
              <a:endParaRPr lang="zh-CN" altLang="en-US" sz="2400" dirty="0"/>
            </a:p>
          </p:txBody>
        </p:sp>
        <p:sp>
          <p:nvSpPr>
            <p:cNvPr id="24641" name="Text Box 30"/>
            <p:cNvSpPr txBox="1"/>
            <p:nvPr/>
          </p:nvSpPr>
          <p:spPr>
            <a:xfrm>
              <a:off x="1440" y="2098"/>
              <a:ext cx="432" cy="291"/>
            </a:xfrm>
            <a:prstGeom prst="rect">
              <a:avLst/>
            </a:prstGeom>
            <a:noFill/>
            <a:ln w="9525">
              <a:noFill/>
            </a:ln>
          </p:spPr>
          <p:txBody>
            <a:bodyPr>
              <a:spAutoFit/>
            </a:bodyPr>
            <a:lstStyle/>
            <a:p>
              <a:pPr eaLnBrk="1" hangingPunct="1">
                <a:spcBef>
                  <a:spcPct val="50000"/>
                </a:spcBef>
              </a:pPr>
              <a:r>
                <a:rPr lang="en-US" altLang="zh-CN" sz="2400" b="1" i="1" dirty="0">
                  <a:solidFill>
                    <a:srgbClr val="CC0000"/>
                  </a:solidFill>
                  <a:latin typeface="Times New Roman" panose="02020603050405020304" pitchFamily="18" charset="0"/>
                </a:rPr>
                <a:t>A</a:t>
              </a:r>
            </a:p>
          </p:txBody>
        </p:sp>
        <p:sp>
          <p:nvSpPr>
            <p:cNvPr id="24642" name="Line 31"/>
            <p:cNvSpPr/>
            <p:nvPr/>
          </p:nvSpPr>
          <p:spPr>
            <a:xfrm>
              <a:off x="1400" y="1852"/>
              <a:ext cx="92" cy="89"/>
            </a:xfrm>
            <a:prstGeom prst="line">
              <a:avLst/>
            </a:prstGeom>
            <a:ln w="38100" cap="flat" cmpd="sng">
              <a:solidFill>
                <a:srgbClr val="0000FF"/>
              </a:solidFill>
              <a:prstDash val="solid"/>
              <a:headEnd type="none" w="med" len="med"/>
              <a:tailEnd type="triangle" w="sm" len="lg"/>
            </a:ln>
          </p:spPr>
        </p:sp>
        <p:sp>
          <p:nvSpPr>
            <p:cNvPr id="24643" name="Line 32"/>
            <p:cNvSpPr/>
            <p:nvPr/>
          </p:nvSpPr>
          <p:spPr>
            <a:xfrm flipH="1">
              <a:off x="823" y="2171"/>
              <a:ext cx="1382" cy="0"/>
            </a:xfrm>
            <a:prstGeom prst="line">
              <a:avLst/>
            </a:prstGeom>
            <a:ln w="12700" cap="flat" cmpd="sng">
              <a:solidFill>
                <a:schemeClr val="tx1"/>
              </a:solidFill>
              <a:prstDash val="dash"/>
              <a:headEnd type="none" w="med" len="med"/>
              <a:tailEnd type="none" w="med" len="med"/>
            </a:ln>
          </p:spPr>
        </p:sp>
      </p:grpSp>
      <p:grpSp>
        <p:nvGrpSpPr>
          <p:cNvPr id="5" name="Group 33"/>
          <p:cNvGrpSpPr/>
          <p:nvPr/>
        </p:nvGrpSpPr>
        <p:grpSpPr>
          <a:xfrm>
            <a:off x="6400800" y="1196975"/>
            <a:ext cx="3657600" cy="3276600"/>
            <a:chOff x="3072" y="754"/>
            <a:chExt cx="2304" cy="2064"/>
          </a:xfrm>
        </p:grpSpPr>
        <p:sp>
          <p:nvSpPr>
            <p:cNvPr id="24614" name="Rectangle 34"/>
            <p:cNvSpPr/>
            <p:nvPr/>
          </p:nvSpPr>
          <p:spPr>
            <a:xfrm>
              <a:off x="3072" y="754"/>
              <a:ext cx="2304" cy="206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p:sp>
          <p:nvSpPr>
            <p:cNvPr id="24615" name="Arc 35"/>
            <p:cNvSpPr/>
            <p:nvPr/>
          </p:nvSpPr>
          <p:spPr>
            <a:xfrm flipH="1" flipV="1">
              <a:off x="3809" y="1400"/>
              <a:ext cx="1235" cy="764"/>
            </a:xfrm>
            <a:custGeom>
              <a:avLst/>
              <a:gdLst>
                <a:gd name="txL" fmla="*/ 0 w 21378"/>
                <a:gd name="txT" fmla="*/ 0 h 21281"/>
                <a:gd name="txR" fmla="*/ 21378 w 21378"/>
                <a:gd name="txB" fmla="*/ 21281 h 21281"/>
              </a:gdLst>
              <a:ahLst/>
              <a:cxnLst>
                <a:cxn ang="0">
                  <a:pos x="12" y="0"/>
                </a:cxn>
                <a:cxn ang="0">
                  <a:pos x="71" y="23"/>
                </a:cxn>
                <a:cxn ang="0">
                  <a:pos x="0" y="27"/>
                </a:cxn>
              </a:cxnLst>
              <a:rect l="txL" t="txT" r="txR" b="txB"/>
              <a:pathLst>
                <a:path w="21378" h="21281" fill="none">
                  <a:moveTo>
                    <a:pt x="3698" y="0"/>
                  </a:moveTo>
                  <a:cubicBezTo>
                    <a:pt x="12906" y="1600"/>
                    <a:pt x="20040" y="8941"/>
                    <a:pt x="21377" y="18191"/>
                  </a:cubicBezTo>
                </a:path>
                <a:path w="21378" h="21281" stroke="0">
                  <a:moveTo>
                    <a:pt x="3698" y="0"/>
                  </a:moveTo>
                  <a:cubicBezTo>
                    <a:pt x="12906" y="1600"/>
                    <a:pt x="20040" y="8941"/>
                    <a:pt x="21377" y="18191"/>
                  </a:cubicBezTo>
                  <a:lnTo>
                    <a:pt x="0" y="21281"/>
                  </a:lnTo>
                  <a:close/>
                </a:path>
              </a:pathLst>
            </a:custGeom>
            <a:noFill/>
            <a:ln w="25400" cap="flat" cmpd="sng">
              <a:solidFill>
                <a:srgbClr val="0000FF">
                  <a:alpha val="100000"/>
                </a:srgbClr>
              </a:solidFill>
              <a:prstDash val="solid"/>
              <a:round/>
              <a:headEnd type="none" w="med" len="med"/>
              <a:tailEnd type="none" w="med" len="med"/>
            </a:ln>
          </p:spPr>
          <p:txBody>
            <a:bodyPr/>
            <a:lstStyle/>
            <a:p>
              <a:endParaRPr lang="zh-CN" altLang="en-US" sz="2400"/>
            </a:p>
          </p:txBody>
        </p:sp>
        <p:sp>
          <p:nvSpPr>
            <p:cNvPr id="24616" name="Line 36"/>
            <p:cNvSpPr/>
            <p:nvPr/>
          </p:nvSpPr>
          <p:spPr>
            <a:xfrm>
              <a:off x="4191" y="2552"/>
              <a:ext cx="0" cy="0"/>
            </a:xfrm>
            <a:prstGeom prst="line">
              <a:avLst/>
            </a:prstGeom>
            <a:ln w="9525" cap="flat" cmpd="sng">
              <a:solidFill>
                <a:schemeClr val="tx1"/>
              </a:solidFill>
              <a:prstDash val="solid"/>
              <a:headEnd type="none" w="med" len="med"/>
              <a:tailEnd type="none" w="med" len="med"/>
            </a:ln>
          </p:spPr>
        </p:sp>
        <p:sp>
          <p:nvSpPr>
            <p:cNvPr id="24617" name="Line 37"/>
            <p:cNvSpPr/>
            <p:nvPr/>
          </p:nvSpPr>
          <p:spPr>
            <a:xfrm>
              <a:off x="4823" y="2153"/>
              <a:ext cx="0" cy="355"/>
            </a:xfrm>
            <a:prstGeom prst="line">
              <a:avLst/>
            </a:prstGeom>
            <a:ln w="12700" cap="flat" cmpd="sng">
              <a:solidFill>
                <a:schemeClr val="tx1"/>
              </a:solidFill>
              <a:prstDash val="dash"/>
              <a:headEnd type="none" w="med" len="med"/>
              <a:tailEnd type="none" w="med" len="med"/>
            </a:ln>
          </p:spPr>
        </p:sp>
        <p:sp>
          <p:nvSpPr>
            <p:cNvPr id="24618" name="Line 38"/>
            <p:cNvSpPr/>
            <p:nvPr/>
          </p:nvSpPr>
          <p:spPr>
            <a:xfrm flipH="1">
              <a:off x="3463" y="1524"/>
              <a:ext cx="368" cy="0"/>
            </a:xfrm>
            <a:prstGeom prst="line">
              <a:avLst/>
            </a:prstGeom>
            <a:ln w="12700" cap="flat" cmpd="sng">
              <a:solidFill>
                <a:schemeClr val="tx1"/>
              </a:solidFill>
              <a:prstDash val="dash"/>
              <a:headEnd type="none" w="med" len="med"/>
              <a:tailEnd type="none" w="med" len="med"/>
            </a:ln>
          </p:spPr>
        </p:sp>
        <p:sp>
          <p:nvSpPr>
            <p:cNvPr id="24619" name="Line 39"/>
            <p:cNvSpPr/>
            <p:nvPr/>
          </p:nvSpPr>
          <p:spPr>
            <a:xfrm>
              <a:off x="3441" y="2508"/>
              <a:ext cx="1843" cy="0"/>
            </a:xfrm>
            <a:prstGeom prst="line">
              <a:avLst/>
            </a:prstGeom>
            <a:ln w="19050" cap="flat" cmpd="sng">
              <a:solidFill>
                <a:schemeClr val="tx1"/>
              </a:solidFill>
              <a:prstDash val="solid"/>
              <a:headEnd type="none" w="med" len="med"/>
              <a:tailEnd type="triangle" w="sm" len="lg"/>
            </a:ln>
          </p:spPr>
        </p:sp>
        <p:sp>
          <p:nvSpPr>
            <p:cNvPr id="24620" name="Line 40"/>
            <p:cNvSpPr/>
            <p:nvPr/>
          </p:nvSpPr>
          <p:spPr>
            <a:xfrm flipV="1">
              <a:off x="3466" y="1222"/>
              <a:ext cx="0" cy="1294"/>
            </a:xfrm>
            <a:prstGeom prst="line">
              <a:avLst/>
            </a:prstGeom>
            <a:ln w="19050" cap="flat" cmpd="sng">
              <a:solidFill>
                <a:schemeClr val="tx1"/>
              </a:solidFill>
              <a:prstDash val="solid"/>
              <a:headEnd type="none" w="med" len="med"/>
              <a:tailEnd type="triangle" w="sm" len="lg"/>
            </a:ln>
          </p:spPr>
        </p:sp>
        <p:sp>
          <p:nvSpPr>
            <p:cNvPr id="24621" name="Line 41"/>
            <p:cNvSpPr/>
            <p:nvPr/>
          </p:nvSpPr>
          <p:spPr>
            <a:xfrm>
              <a:off x="3809" y="1533"/>
              <a:ext cx="0" cy="992"/>
            </a:xfrm>
            <a:prstGeom prst="line">
              <a:avLst/>
            </a:prstGeom>
            <a:ln w="12700" cap="flat" cmpd="sng">
              <a:solidFill>
                <a:schemeClr val="tx1"/>
              </a:solidFill>
              <a:prstDash val="dash"/>
              <a:headEnd type="none" w="med" len="med"/>
              <a:tailEnd type="none" w="med" len="med"/>
            </a:ln>
          </p:spPr>
        </p:sp>
        <p:sp>
          <p:nvSpPr>
            <p:cNvPr id="24622" name="Line 42"/>
            <p:cNvSpPr/>
            <p:nvPr/>
          </p:nvSpPr>
          <p:spPr>
            <a:xfrm flipH="1">
              <a:off x="3463" y="2171"/>
              <a:ext cx="1382" cy="0"/>
            </a:xfrm>
            <a:prstGeom prst="line">
              <a:avLst/>
            </a:prstGeom>
            <a:ln w="12700" cap="flat" cmpd="sng">
              <a:solidFill>
                <a:schemeClr val="tx1"/>
              </a:solidFill>
              <a:prstDash val="dash"/>
              <a:headEnd type="none" w="med" len="med"/>
              <a:tailEnd type="none" w="med" len="med"/>
            </a:ln>
          </p:spPr>
        </p:sp>
        <p:sp>
          <p:nvSpPr>
            <p:cNvPr id="24623" name="Text Box 43"/>
            <p:cNvSpPr txBox="1"/>
            <p:nvPr/>
          </p:nvSpPr>
          <p:spPr>
            <a:xfrm>
              <a:off x="3671" y="1267"/>
              <a:ext cx="323" cy="288"/>
            </a:xfrm>
            <a:prstGeom prst="rect">
              <a:avLst/>
            </a:prstGeom>
            <a:noFill/>
            <a:ln w="9525">
              <a:noFill/>
            </a:ln>
          </p:spPr>
          <p:txBody>
            <a:bodyPr>
              <a:spAutoFit/>
            </a:bodyPr>
            <a:lstStyle/>
            <a:p>
              <a:pPr>
                <a:spcBef>
                  <a:spcPct val="50000"/>
                </a:spcBef>
              </a:pPr>
              <a:r>
                <a:rPr lang="en-US" altLang="zh-CN" sz="2400" b="1" dirty="0">
                  <a:solidFill>
                    <a:srgbClr val="CC0000"/>
                  </a:solidFill>
                  <a:latin typeface="Times New Roman" panose="02020603050405020304" pitchFamily="18" charset="0"/>
                </a:rPr>
                <a:t>1</a:t>
              </a:r>
              <a:endParaRPr lang="en-US" altLang="zh-CN" sz="2400" b="1" dirty="0">
                <a:solidFill>
                  <a:srgbClr val="A50021"/>
                </a:solidFill>
                <a:latin typeface="Times New Roman" panose="02020603050405020304" pitchFamily="18" charset="0"/>
              </a:endParaRPr>
            </a:p>
          </p:txBody>
        </p:sp>
        <p:sp>
          <p:nvSpPr>
            <p:cNvPr id="24624" name="Text Box 44"/>
            <p:cNvSpPr txBox="1"/>
            <p:nvPr/>
          </p:nvSpPr>
          <p:spPr>
            <a:xfrm>
              <a:off x="4823" y="2020"/>
              <a:ext cx="230" cy="288"/>
            </a:xfrm>
            <a:prstGeom prst="rect">
              <a:avLst/>
            </a:prstGeom>
            <a:noFill/>
            <a:ln w="9525">
              <a:noFill/>
            </a:ln>
          </p:spPr>
          <p:txBody>
            <a:bodyPr>
              <a:spAutoFit/>
            </a:bodyPr>
            <a:lstStyle/>
            <a:p>
              <a:pPr>
                <a:spcBef>
                  <a:spcPct val="50000"/>
                </a:spcBef>
              </a:pPr>
              <a:r>
                <a:rPr lang="en-US" altLang="zh-CN" sz="2400" b="1" dirty="0">
                  <a:solidFill>
                    <a:srgbClr val="CC0000"/>
                  </a:solidFill>
                  <a:latin typeface="Times New Roman" panose="02020603050405020304" pitchFamily="18" charset="0"/>
                </a:rPr>
                <a:t>2</a:t>
              </a:r>
              <a:endParaRPr lang="en-US" altLang="zh-CN" sz="2400" dirty="0">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4580" name="Object 45"/>
                <p:cNvGraphicFramePr/>
                <p:nvPr/>
              </p:nvGraphicFramePr>
              <p:xfrm>
                <a:off x="3923" y="1296"/>
                <a:ext cx="885" cy="291"/>
              </p:xfrm>
              <a:graphic>
                <a:graphicData uri="http://schemas.openxmlformats.org/presentationml/2006/ole">
                  <mc:AlternateContent>
                    <mc:Choice xmlns:v="urn:schemas-microsoft-com:vml" Requires="v">
                      <p:oleObj spid="_x0000_s4184" r:id="rId20" imgW="608965" imgH="215900" progId="Equation.3">
                        <p:embed/>
                      </p:oleObj>
                    </mc:Choice>
                    <mc:Fallback>
                      <p:oleObj r:id="rId20" imgW="608965" imgH="215900" progId="Equation.3">
                        <p:embed/>
                        <p:pic>
                          <p:nvPicPr>
                            <p:cNvPr id="24580" name="Object 45"/>
                            <p:cNvPicPr/>
                            <p:nvPr/>
                          </p:nvPicPr>
                          <p:blipFill>
                            <a:blip r:embed="rId21"/>
                            <a:stretch>
                              <a:fillRect/>
                            </a:stretch>
                          </p:blipFill>
                          <p:spPr>
                            <a:xfrm>
                              <a:off x="3923" y="1296"/>
                              <a:ext cx="885" cy="291"/>
                            </a:xfrm>
                            <a:prstGeom prst="rect">
                              <a:avLst/>
                            </a:prstGeom>
                            <a:noFill/>
                            <a:ln w="38100">
                              <a:noFill/>
                              <a:miter/>
                            </a:ln>
                          </p:spPr>
                        </p:pic>
                      </p:oleObj>
                    </mc:Fallback>
                  </mc:AlternateContent>
                </a:graphicData>
              </a:graphic>
            </p:graphicFrame>
          </mc:Choice>
          <mc:Fallback xmlns="">
            <p:graphicFrame>
              <p:nvGraphicFramePr>
                <p:cNvPr id="24580" name="Object 45"/>
                <p:cNvGraphicFramePr/>
                <p:nvPr/>
              </p:nvGraphicFramePr>
              <p:xfrm>
                <a:off x="3923" y="1296"/>
                <a:ext cx="885" cy="291"/>
              </p:xfrm>
              <a:graphic>
                <a:graphicData uri="http://schemas.openxmlformats.org/presentationml/2006/ole">
                  <mc:AlternateContent>
                    <mc:Choice xmlns:v="urn:schemas-microsoft-com:vml" Requires="v">
                      <p:oleObj spid="_x0000_s23698" r:id="rId22" imgW="608965" imgH="215900" progId="Equation.3">
                        <p:embed/>
                      </p:oleObj>
                    </mc:Choice>
                    <mc:Fallback>
                      <p:oleObj r:id="rId22" imgW="608965" imgH="215900" progId="Equation.3">
                        <p:embed/>
                        <p:pic>
                          <p:nvPicPr>
                            <p:cNvPr id="24580" name="Object 45"/>
                            <p:cNvPicPr/>
                            <p:nvPr/>
                          </p:nvPicPr>
                          <p:blipFill>
                            <a:blip r:embed="rId23"/>
                            <a:stretch>
                              <a:fillRect/>
                            </a:stretch>
                          </p:blipFill>
                          <p:spPr>
                            <a:xfrm>
                              <a:off x="3923" y="1296"/>
                              <a:ext cx="885" cy="291"/>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4581" name="Object 46"/>
                <p:cNvGraphicFramePr/>
                <p:nvPr/>
              </p:nvGraphicFramePr>
              <p:xfrm>
                <a:off x="4513" y="1797"/>
                <a:ext cx="766" cy="288"/>
              </p:xfrm>
              <a:graphic>
                <a:graphicData uri="http://schemas.openxmlformats.org/presentationml/2006/ole">
                  <mc:AlternateContent>
                    <mc:Choice xmlns:v="urn:schemas-microsoft-com:vml" Requires="v">
                      <p:oleObj spid="_x0000_s4185" r:id="rId24" imgW="647065" imgH="215900" progId="Equation.3">
                        <p:embed/>
                      </p:oleObj>
                    </mc:Choice>
                    <mc:Fallback>
                      <p:oleObj r:id="rId24" imgW="647065" imgH="215900" progId="Equation.3">
                        <p:embed/>
                        <p:pic>
                          <p:nvPicPr>
                            <p:cNvPr id="24581" name="Object 46"/>
                            <p:cNvPicPr/>
                            <p:nvPr/>
                          </p:nvPicPr>
                          <p:blipFill>
                            <a:blip r:embed="rId6"/>
                            <a:stretch>
                              <a:fillRect/>
                            </a:stretch>
                          </p:blipFill>
                          <p:spPr>
                            <a:xfrm>
                              <a:off x="4513" y="1797"/>
                              <a:ext cx="766" cy="288"/>
                            </a:xfrm>
                            <a:prstGeom prst="rect">
                              <a:avLst/>
                            </a:prstGeom>
                            <a:noFill/>
                            <a:ln w="38100">
                              <a:noFill/>
                              <a:miter/>
                            </a:ln>
                          </p:spPr>
                        </p:pic>
                      </p:oleObj>
                    </mc:Fallback>
                  </mc:AlternateContent>
                </a:graphicData>
              </a:graphic>
            </p:graphicFrame>
          </mc:Choice>
          <mc:Fallback xmlns="">
            <p:graphicFrame>
              <p:nvGraphicFramePr>
                <p:cNvPr id="24581" name="Object 46"/>
                <p:cNvGraphicFramePr/>
                <p:nvPr/>
              </p:nvGraphicFramePr>
              <p:xfrm>
                <a:off x="4513" y="1797"/>
                <a:ext cx="766" cy="288"/>
              </p:xfrm>
              <a:graphic>
                <a:graphicData uri="http://schemas.openxmlformats.org/presentationml/2006/ole">
                  <mc:AlternateContent>
                    <mc:Choice xmlns:v="urn:schemas-microsoft-com:vml" Requires="v">
                      <p:oleObj spid="_x0000_s23699" r:id="rId26" imgW="647065" imgH="215900" progId="Equation.3">
                        <p:embed/>
                      </p:oleObj>
                    </mc:Choice>
                    <mc:Fallback>
                      <p:oleObj r:id="rId26" imgW="647065" imgH="215900" progId="Equation.3">
                        <p:embed/>
                        <p:pic>
                          <p:nvPicPr>
                            <p:cNvPr id="24581" name="Object 46"/>
                            <p:cNvPicPr/>
                            <p:nvPr/>
                          </p:nvPicPr>
                          <p:blipFill>
                            <a:blip r:embed="rId27"/>
                            <a:stretch>
                              <a:fillRect/>
                            </a:stretch>
                          </p:blipFill>
                          <p:spPr>
                            <a:xfrm>
                              <a:off x="4513" y="1797"/>
                              <a:ext cx="766" cy="288"/>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24582" name="Object 47"/>
                <p:cNvSpPr txBox="1"/>
                <p:nvPr/>
              </p:nvSpPr>
              <p:spPr>
                <a:xfrm>
                  <a:off x="3122" y="1400"/>
                  <a:ext cx="319" cy="30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1</m:t>
                            </m:r>
                          </m:sub>
                        </m:sSub>
                      </m:oMath>
                    </m:oMathPara>
                  </a14:m>
                  <a:endParaRPr lang="en-US" sz="2400"/>
                </a:p>
              </p:txBody>
            </p:sp>
          </mc:Choice>
          <mc:Fallback xmlns="">
            <p:sp>
              <p:nvSpPr>
                <p:cNvPr id="24582" name="Object 47"/>
                <p:cNvSpPr txBox="1">
                  <a:spLocks noRot="1" noChangeAspect="1" noMove="1" noResize="1" noEditPoints="1" noAdjustHandles="1" noChangeArrowheads="1" noChangeShapeType="1" noTextEdit="1"/>
                </p:cNvSpPr>
                <p:nvPr/>
              </p:nvSpPr>
              <p:spPr>
                <a:xfrm>
                  <a:off x="3122" y="1400"/>
                  <a:ext cx="319" cy="306"/>
                </a:xfrm>
                <a:prstGeom prst="rect">
                  <a:avLst/>
                </a:prstGeom>
                <a:blipFill>
                  <a:blip r:embed="rId28"/>
                  <a:stretch>
                    <a:fillRect l="-1205" b="-632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83" name="Object 48"/>
                <p:cNvSpPr txBox="1"/>
                <p:nvPr/>
              </p:nvSpPr>
              <p:spPr>
                <a:xfrm>
                  <a:off x="3164" y="1976"/>
                  <a:ext cx="298" cy="30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2</m:t>
                            </m:r>
                          </m:sub>
                        </m:sSub>
                      </m:oMath>
                    </m:oMathPara>
                  </a14:m>
                  <a:endParaRPr lang="en-US" sz="2400"/>
                </a:p>
              </p:txBody>
            </p:sp>
          </mc:Choice>
          <mc:Fallback xmlns="">
            <p:sp>
              <p:nvSpPr>
                <p:cNvPr id="24583" name="Object 48"/>
                <p:cNvSpPr txBox="1">
                  <a:spLocks noRot="1" noChangeAspect="1" noMove="1" noResize="1" noEditPoints="1" noAdjustHandles="1" noChangeArrowheads="1" noChangeShapeType="1" noTextEdit="1"/>
                </p:cNvSpPr>
                <p:nvPr/>
              </p:nvSpPr>
              <p:spPr>
                <a:xfrm>
                  <a:off x="3164" y="1976"/>
                  <a:ext cx="298" cy="301"/>
                </a:xfrm>
                <a:prstGeom prst="rect">
                  <a:avLst/>
                </a:prstGeom>
                <a:blipFill>
                  <a:blip r:embed="rId29"/>
                  <a:stretch>
                    <a:fillRect l="-3846" b="-769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84" name="Object 49"/>
                <p:cNvSpPr txBox="1"/>
                <p:nvPr/>
              </p:nvSpPr>
              <p:spPr>
                <a:xfrm>
                  <a:off x="3739" y="2464"/>
                  <a:ext cx="258" cy="31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1</m:t>
                            </m:r>
                          </m:sub>
                        </m:sSub>
                      </m:oMath>
                    </m:oMathPara>
                  </a14:m>
                  <a:endParaRPr lang="en-US" sz="2400"/>
                </a:p>
              </p:txBody>
            </p:sp>
          </mc:Choice>
          <mc:Fallback xmlns="">
            <p:sp>
              <p:nvSpPr>
                <p:cNvPr id="24584" name="Object 49"/>
                <p:cNvSpPr txBox="1">
                  <a:spLocks noRot="1" noChangeAspect="1" noMove="1" noResize="1" noEditPoints="1" noAdjustHandles="1" noChangeArrowheads="1" noChangeShapeType="1" noTextEdit="1"/>
                </p:cNvSpPr>
                <p:nvPr/>
              </p:nvSpPr>
              <p:spPr>
                <a:xfrm>
                  <a:off x="3739" y="2464"/>
                  <a:ext cx="258" cy="314"/>
                </a:xfrm>
                <a:prstGeom prst="rect">
                  <a:avLst/>
                </a:prstGeom>
                <a:blipFill>
                  <a:blip r:embed="rId30"/>
                  <a:stretch>
                    <a:fillRect l="-4478" r="-597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85" name="Object 50"/>
                <p:cNvSpPr txBox="1"/>
                <p:nvPr/>
              </p:nvSpPr>
              <p:spPr>
                <a:xfrm>
                  <a:off x="4695" y="2464"/>
                  <a:ext cx="287" cy="31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𝑉</m:t>
                            </m:r>
                          </m:e>
                          <m:sub>
                            <m:r>
                              <a:rPr lang="en-US" sz="2400" i="1">
                                <a:solidFill>
                                  <a:srgbClr val="000000"/>
                                </a:solidFill>
                                <a:latin typeface="Cambria Math" panose="02040503050406030204" pitchFamily="18" charset="0"/>
                              </a:rPr>
                              <m:t>2</m:t>
                            </m:r>
                          </m:sub>
                        </m:sSub>
                      </m:oMath>
                    </m:oMathPara>
                  </a14:m>
                  <a:endParaRPr lang="en-US" sz="2400"/>
                </a:p>
              </p:txBody>
            </p:sp>
          </mc:Choice>
          <mc:Fallback xmlns="">
            <p:sp>
              <p:nvSpPr>
                <p:cNvPr id="24585" name="Object 50"/>
                <p:cNvSpPr txBox="1">
                  <a:spLocks noRot="1" noChangeAspect="1" noMove="1" noResize="1" noEditPoints="1" noAdjustHandles="1" noChangeArrowheads="1" noChangeShapeType="1" noTextEdit="1"/>
                </p:cNvSpPr>
                <p:nvPr/>
              </p:nvSpPr>
              <p:spPr>
                <a:xfrm>
                  <a:off x="4695" y="2464"/>
                  <a:ext cx="287" cy="314"/>
                </a:xfrm>
                <a:prstGeom prst="rect">
                  <a:avLst/>
                </a:prstGeom>
                <a:blipFill>
                  <a:blip r:embed="rId31"/>
                  <a:stretch>
                    <a:fillRect l="-40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86" name="Object 51"/>
                <p:cNvSpPr txBox="1"/>
                <p:nvPr/>
              </p:nvSpPr>
              <p:spPr>
                <a:xfrm>
                  <a:off x="3180" y="1179"/>
                  <a:ext cx="199" cy="22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𝑝</m:t>
                        </m:r>
                      </m:oMath>
                    </m:oMathPara>
                  </a14:m>
                  <a:endParaRPr lang="en-US" sz="2400"/>
                </a:p>
              </p:txBody>
            </p:sp>
          </mc:Choice>
          <mc:Fallback xmlns="">
            <p:sp>
              <p:nvSpPr>
                <p:cNvPr id="24586" name="Object 51"/>
                <p:cNvSpPr txBox="1">
                  <a:spLocks noRot="1" noChangeAspect="1" noMove="1" noResize="1" noEditPoints="1" noAdjustHandles="1" noChangeArrowheads="1" noChangeShapeType="1" noTextEdit="1"/>
                </p:cNvSpPr>
                <p:nvPr/>
              </p:nvSpPr>
              <p:spPr>
                <a:xfrm>
                  <a:off x="3180" y="1179"/>
                  <a:ext cx="199" cy="226"/>
                </a:xfrm>
                <a:prstGeom prst="rect">
                  <a:avLst/>
                </a:prstGeom>
                <a:blipFill>
                  <a:blip r:embed="rId32"/>
                  <a:stretch>
                    <a:fillRect l="-5769" r="-17308" b="-4406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87" name="Object 52"/>
                <p:cNvSpPr txBox="1"/>
                <p:nvPr/>
              </p:nvSpPr>
              <p:spPr>
                <a:xfrm>
                  <a:off x="5100" y="2552"/>
                  <a:ext cx="189" cy="20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𝑉</m:t>
                        </m:r>
                      </m:oMath>
                    </m:oMathPara>
                  </a14:m>
                  <a:endParaRPr lang="en-US" sz="2400"/>
                </a:p>
              </p:txBody>
            </p:sp>
          </mc:Choice>
          <mc:Fallback xmlns="">
            <p:sp>
              <p:nvSpPr>
                <p:cNvPr id="24587" name="Object 52"/>
                <p:cNvSpPr txBox="1">
                  <a:spLocks noRot="1" noChangeAspect="1" noMove="1" noResize="1" noEditPoints="1" noAdjustHandles="1" noChangeArrowheads="1" noChangeShapeType="1" noTextEdit="1"/>
                </p:cNvSpPr>
                <p:nvPr/>
              </p:nvSpPr>
              <p:spPr>
                <a:xfrm>
                  <a:off x="5100" y="2552"/>
                  <a:ext cx="189" cy="203"/>
                </a:xfrm>
                <a:prstGeom prst="rect">
                  <a:avLst/>
                </a:prstGeom>
                <a:blipFill>
                  <a:blip r:embed="rId33"/>
                  <a:stretch>
                    <a:fillRect l="-4082" r="-30612" b="-403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88" name="Object 53"/>
                <p:cNvSpPr txBox="1"/>
                <p:nvPr/>
              </p:nvSpPr>
              <p:spPr>
                <a:xfrm>
                  <a:off x="3395" y="2508"/>
                  <a:ext cx="169" cy="1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𝑜</m:t>
                        </m:r>
                      </m:oMath>
                    </m:oMathPara>
                  </a14:m>
                  <a:endParaRPr lang="en-US" sz="2400"/>
                </a:p>
              </p:txBody>
            </p:sp>
          </mc:Choice>
          <mc:Fallback xmlns="">
            <p:sp>
              <p:nvSpPr>
                <p:cNvPr id="24588" name="Object 53"/>
                <p:cNvSpPr txBox="1">
                  <a:spLocks noRot="1" noChangeAspect="1" noMove="1" noResize="1" noEditPoints="1" noAdjustHandles="1" noChangeArrowheads="1" noChangeShapeType="1" noTextEdit="1"/>
                </p:cNvSpPr>
                <p:nvPr/>
              </p:nvSpPr>
              <p:spPr>
                <a:xfrm>
                  <a:off x="3395" y="2508"/>
                  <a:ext cx="169" cy="188"/>
                </a:xfrm>
                <a:prstGeom prst="rect">
                  <a:avLst/>
                </a:prstGeom>
                <a:blipFill>
                  <a:blip r:embed="rId34"/>
                  <a:stretch>
                    <a:fillRect r="-25000" b="-38776"/>
                  </a:stretch>
                </a:blipFill>
                <a:ln w="38100">
                  <a:noFill/>
                  <a:miter/>
                </a:ln>
              </p:spPr>
              <p:txBody>
                <a:bodyPr/>
                <a:lstStyle/>
                <a:p>
                  <a:r>
                    <a:rPr lang="zh-CN" altLang="en-US">
                      <a:noFill/>
                    </a:rPr>
                    <a:t> </a:t>
                  </a:r>
                </a:p>
              </p:txBody>
            </p:sp>
          </mc:Fallback>
        </mc:AlternateContent>
        <p:sp>
          <p:nvSpPr>
            <p:cNvPr id="24625" name="Freeform 54" descr="浅色下对角线"/>
            <p:cNvSpPr/>
            <p:nvPr/>
          </p:nvSpPr>
          <p:spPr>
            <a:xfrm>
              <a:off x="3819" y="1577"/>
              <a:ext cx="1015" cy="926"/>
            </a:xfrm>
            <a:custGeom>
              <a:avLst/>
              <a:gdLst>
                <a:gd name="txL" fmla="*/ 0 w 1015"/>
                <a:gd name="txT" fmla="*/ 0 h 926"/>
                <a:gd name="txR" fmla="*/ 1015 w 1015"/>
                <a:gd name="txB" fmla="*/ 926 h 926"/>
              </a:gdLst>
              <a:ahLst/>
              <a:cxnLst>
                <a:cxn ang="0">
                  <a:pos x="7" y="926"/>
                </a:cxn>
                <a:cxn ang="0">
                  <a:pos x="0" y="0"/>
                </a:cxn>
                <a:cxn ang="0">
                  <a:pos x="76" y="171"/>
                </a:cxn>
                <a:cxn ang="0">
                  <a:pos x="220" y="302"/>
                </a:cxn>
                <a:cxn ang="0">
                  <a:pos x="384" y="411"/>
                </a:cxn>
                <a:cxn ang="0">
                  <a:pos x="563" y="494"/>
                </a:cxn>
                <a:cxn ang="0">
                  <a:pos x="823" y="569"/>
                </a:cxn>
                <a:cxn ang="0">
                  <a:pos x="1002" y="603"/>
                </a:cxn>
                <a:cxn ang="0">
                  <a:pos x="995" y="905"/>
                </a:cxn>
                <a:cxn ang="0">
                  <a:pos x="1015" y="926"/>
                </a:cxn>
                <a:cxn ang="0">
                  <a:pos x="7" y="926"/>
                </a:cxn>
              </a:cxnLst>
              <a:rect l="txL" t="txT" r="txR" b="txB"/>
              <a:pathLst>
                <a:path w="1015" h="926">
                  <a:moveTo>
                    <a:pt x="7" y="926"/>
                  </a:moveTo>
                  <a:lnTo>
                    <a:pt x="0" y="0"/>
                  </a:lnTo>
                  <a:lnTo>
                    <a:pt x="76" y="171"/>
                  </a:lnTo>
                  <a:lnTo>
                    <a:pt x="220" y="302"/>
                  </a:lnTo>
                  <a:lnTo>
                    <a:pt x="384" y="411"/>
                  </a:lnTo>
                  <a:lnTo>
                    <a:pt x="563" y="494"/>
                  </a:lnTo>
                  <a:lnTo>
                    <a:pt x="823" y="569"/>
                  </a:lnTo>
                  <a:lnTo>
                    <a:pt x="1002" y="603"/>
                  </a:lnTo>
                  <a:lnTo>
                    <a:pt x="995" y="905"/>
                  </a:lnTo>
                  <a:lnTo>
                    <a:pt x="1015" y="926"/>
                  </a:lnTo>
                  <a:lnTo>
                    <a:pt x="7" y="926"/>
                  </a:lnTo>
                  <a:close/>
                </a:path>
              </a:pathLst>
            </a:custGeom>
            <a:pattFill prst="ltDnDiag">
              <a:fgClr>
                <a:srgbClr val="0066FF">
                  <a:alpha val="100000"/>
                </a:srgbClr>
              </a:fgClr>
              <a:bgClr>
                <a:schemeClr val="bg1">
                  <a:alpha val="100000"/>
                </a:schemeClr>
              </a:bgClr>
            </a:pattFill>
            <a:ln w="9525">
              <a:noFill/>
            </a:ln>
          </p:spPr>
          <p:txBody>
            <a:bodyPr/>
            <a:lstStyle/>
            <a:p>
              <a:endParaRPr lang="zh-CN" altLang="en-US" sz="2400"/>
            </a:p>
          </p:txBody>
        </p:sp>
        <p:sp>
          <p:nvSpPr>
            <p:cNvPr id="24626" name="Rectangle 55"/>
            <p:cNvSpPr/>
            <p:nvPr/>
          </p:nvSpPr>
          <p:spPr>
            <a:xfrm>
              <a:off x="4128" y="2098"/>
              <a:ext cx="246" cy="291"/>
            </a:xfrm>
            <a:prstGeom prst="rect">
              <a:avLst/>
            </a:prstGeom>
            <a:noFill/>
            <a:ln w="9525">
              <a:noFill/>
            </a:ln>
          </p:spPr>
          <p:txBody>
            <a:bodyPr wrap="none">
              <a:spAutoFit/>
            </a:bodyPr>
            <a:lstStyle/>
            <a:p>
              <a:pPr eaLnBrk="1" hangingPunct="1">
                <a:spcBef>
                  <a:spcPct val="50000"/>
                </a:spcBef>
              </a:pPr>
              <a:r>
                <a:rPr lang="en-US" altLang="zh-CN" sz="2400" b="1" i="1" dirty="0">
                  <a:latin typeface="Times New Roman" panose="02020603050405020304" pitchFamily="18" charset="0"/>
                </a:rPr>
                <a:t>A</a:t>
              </a:r>
            </a:p>
          </p:txBody>
        </p:sp>
        <p:sp>
          <p:nvSpPr>
            <p:cNvPr id="24627" name="Rectangle 56"/>
            <p:cNvSpPr/>
            <p:nvPr/>
          </p:nvSpPr>
          <p:spPr>
            <a:xfrm>
              <a:off x="3696" y="816"/>
              <a:ext cx="940" cy="291"/>
            </a:xfrm>
            <a:prstGeom prst="rect">
              <a:avLst/>
            </a:prstGeom>
            <a:noFill/>
            <a:ln w="9525">
              <a:noFill/>
            </a:ln>
          </p:spPr>
          <p:txBody>
            <a:bodyPr wrap="none">
              <a:spAutoFit/>
            </a:bodyPr>
            <a:lstStyle/>
            <a:p>
              <a:pPr eaLnBrk="1" hangingPunct="1"/>
              <a:r>
                <a:rPr lang="zh-CN" altLang="en-US" sz="2400" b="1" dirty="0">
                  <a:latin typeface="Times New Roman" panose="02020603050405020304" pitchFamily="18" charset="0"/>
                </a:rPr>
                <a:t>等温</a:t>
              </a:r>
              <a:r>
                <a:rPr lang="zh-CN" altLang="en-US" sz="2400" b="1" dirty="0">
                  <a:solidFill>
                    <a:srgbClr val="FF0000"/>
                  </a:solidFill>
                  <a:latin typeface="Times New Roman" panose="02020603050405020304" pitchFamily="18" charset="0"/>
                </a:rPr>
                <a:t>压缩 </a:t>
              </a:r>
            </a:p>
          </p:txBody>
        </p:sp>
        <p:sp>
          <p:nvSpPr>
            <p:cNvPr id="24628" name="Line 57"/>
            <p:cNvSpPr/>
            <p:nvPr/>
          </p:nvSpPr>
          <p:spPr>
            <a:xfrm>
              <a:off x="4032" y="1867"/>
              <a:ext cx="144" cy="89"/>
            </a:xfrm>
            <a:prstGeom prst="line">
              <a:avLst/>
            </a:prstGeom>
            <a:ln w="38100" cap="flat" cmpd="sng">
              <a:solidFill>
                <a:srgbClr val="0000FF"/>
              </a:solidFill>
              <a:prstDash val="solid"/>
              <a:headEnd type="triangle" w="sm" len="lg"/>
              <a:tailEnd type="none" w="med" len="med"/>
            </a:ln>
          </p:spPr>
        </p:sp>
      </p:grpSp>
      <p:grpSp>
        <p:nvGrpSpPr>
          <p:cNvPr id="6" name="Group 58"/>
          <p:cNvGrpSpPr/>
          <p:nvPr/>
        </p:nvGrpSpPr>
        <p:grpSpPr>
          <a:xfrm>
            <a:off x="2141538" y="4924426"/>
            <a:ext cx="1524000" cy="531813"/>
            <a:chOff x="288" y="3648"/>
            <a:chExt cx="960" cy="335"/>
          </a:xfrm>
        </p:grpSpPr>
        <p:sp>
          <p:nvSpPr>
            <p:cNvPr id="24613" name="AutoShape 59"/>
            <p:cNvSpPr/>
            <p:nvPr/>
          </p:nvSpPr>
          <p:spPr>
            <a:xfrm>
              <a:off x="624" y="3744"/>
              <a:ext cx="624" cy="144"/>
            </a:xfrm>
            <a:prstGeom prst="rightArrow">
              <a:avLst>
                <a:gd name="adj1" fmla="val 50000"/>
                <a:gd name="adj2" fmla="val 150703"/>
              </a:avLst>
            </a:prstGeom>
            <a:solidFill>
              <a:srgbClr val="FFCCFF"/>
            </a:solidFill>
            <a:ln w="28575" cap="flat" cmpd="sng">
              <a:solidFill>
                <a:srgbClr val="FF0000"/>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24579" name="Object 60"/>
                <p:cNvSpPr txBox="1"/>
                <p:nvPr/>
              </p:nvSpPr>
              <p:spPr>
                <a:xfrm>
                  <a:off x="288" y="3648"/>
                  <a:ext cx="347" cy="33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𝑇</m:t>
                            </m:r>
                          </m:sub>
                        </m:sSub>
                      </m:oMath>
                    </m:oMathPara>
                  </a14:m>
                  <a:endParaRPr lang="en-US"/>
                </a:p>
              </p:txBody>
            </p:sp>
          </mc:Choice>
          <mc:Fallback xmlns="">
            <p:sp>
              <p:nvSpPr>
                <p:cNvPr id="24579" name="Object 60"/>
                <p:cNvSpPr txBox="1">
                  <a:spLocks noRot="1" noChangeAspect="1" noMove="1" noResize="1" noEditPoints="1" noAdjustHandles="1" noChangeArrowheads="1" noChangeShapeType="1" noTextEdit="1"/>
                </p:cNvSpPr>
                <p:nvPr/>
              </p:nvSpPr>
              <p:spPr>
                <a:xfrm>
                  <a:off x="288" y="3648"/>
                  <a:ext cx="347" cy="335"/>
                </a:xfrm>
                <a:prstGeom prst="rect">
                  <a:avLst/>
                </a:prstGeom>
                <a:blipFill>
                  <a:blip r:embed="rId35"/>
                  <a:stretch>
                    <a:fillRect/>
                  </a:stretch>
                </a:blipFill>
                <a:ln w="38100">
                  <a:noFill/>
                  <a:miter/>
                </a:ln>
              </p:spPr>
              <p:txBody>
                <a:bodyPr/>
                <a:lstStyle/>
                <a:p>
                  <a:r>
                    <a:rPr lang="en-US">
                      <a:noFill/>
                    </a:rPr>
                    <a:t> </a:t>
                  </a:r>
                </a:p>
              </p:txBody>
            </p:sp>
          </mc:Fallback>
        </mc:AlternateContent>
      </p:grpSp>
      <p:grpSp>
        <p:nvGrpSpPr>
          <p:cNvPr id="7" name="Group 61"/>
          <p:cNvGrpSpPr/>
          <p:nvPr/>
        </p:nvGrpSpPr>
        <p:grpSpPr>
          <a:xfrm>
            <a:off x="6402388" y="4827588"/>
            <a:ext cx="1371600" cy="588962"/>
            <a:chOff x="3072" y="3600"/>
            <a:chExt cx="864" cy="371"/>
          </a:xfrm>
        </p:grpSpPr>
        <mc:AlternateContent xmlns:mc="http://schemas.openxmlformats.org/markup-compatibility/2006" xmlns:a14="http://schemas.microsoft.com/office/drawing/2010/main">
          <mc:Choice Requires="a14">
            <p:sp>
              <p:nvSpPr>
                <p:cNvPr id="24578" name="Object 62"/>
                <p:cNvSpPr txBox="1"/>
                <p:nvPr/>
              </p:nvSpPr>
              <p:spPr>
                <a:xfrm>
                  <a:off x="3072" y="3600"/>
                  <a:ext cx="384" cy="37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𝑇</m:t>
                            </m:r>
                          </m:sub>
                        </m:sSub>
                      </m:oMath>
                    </m:oMathPara>
                  </a14:m>
                  <a:endParaRPr lang="en-US"/>
                </a:p>
              </p:txBody>
            </p:sp>
          </mc:Choice>
          <mc:Fallback xmlns="">
            <p:sp>
              <p:nvSpPr>
                <p:cNvPr id="24578" name="Object 62"/>
                <p:cNvSpPr txBox="1">
                  <a:spLocks noRot="1" noChangeAspect="1" noMove="1" noResize="1" noEditPoints="1" noAdjustHandles="1" noChangeArrowheads="1" noChangeShapeType="1" noTextEdit="1"/>
                </p:cNvSpPr>
                <p:nvPr/>
              </p:nvSpPr>
              <p:spPr>
                <a:xfrm>
                  <a:off x="3072" y="3600"/>
                  <a:ext cx="384" cy="371"/>
                </a:xfrm>
                <a:prstGeom prst="rect">
                  <a:avLst/>
                </a:prstGeom>
                <a:blipFill>
                  <a:blip r:embed="rId36"/>
                  <a:stretch>
                    <a:fillRect/>
                  </a:stretch>
                </a:blipFill>
                <a:ln w="38100">
                  <a:noFill/>
                  <a:miter/>
                </a:ln>
              </p:spPr>
              <p:txBody>
                <a:bodyPr/>
                <a:lstStyle/>
                <a:p>
                  <a:r>
                    <a:rPr lang="en-US">
                      <a:noFill/>
                    </a:rPr>
                    <a:t> </a:t>
                  </a:r>
                </a:p>
              </p:txBody>
            </p:sp>
          </mc:Fallback>
        </mc:AlternateContent>
        <p:sp>
          <p:nvSpPr>
            <p:cNvPr id="24612" name="AutoShape 63"/>
            <p:cNvSpPr/>
            <p:nvPr/>
          </p:nvSpPr>
          <p:spPr>
            <a:xfrm>
              <a:off x="3408" y="3792"/>
              <a:ext cx="528" cy="144"/>
            </a:xfrm>
            <a:prstGeom prst="leftArrow">
              <a:avLst>
                <a:gd name="adj1" fmla="val 50000"/>
                <a:gd name="adj2" fmla="val 110763"/>
              </a:avLst>
            </a:prstGeom>
            <a:solidFill>
              <a:srgbClr val="CCFFFF"/>
            </a:solidFill>
            <a:ln w="28575" cap="flat" cmpd="sng">
              <a:solidFill>
                <a:srgbClr val="0066FF"/>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8" name="Group 64"/>
          <p:cNvGrpSpPr/>
          <p:nvPr/>
        </p:nvGrpSpPr>
        <p:grpSpPr>
          <a:xfrm>
            <a:off x="4122738" y="5000625"/>
            <a:ext cx="1828800" cy="584200"/>
            <a:chOff x="1632" y="2784"/>
            <a:chExt cx="1152" cy="368"/>
          </a:xfrm>
        </p:grpSpPr>
        <p:sp>
          <p:nvSpPr>
            <p:cNvPr id="24610" name="Text Box 65"/>
            <p:cNvSpPr txBox="1"/>
            <p:nvPr/>
          </p:nvSpPr>
          <p:spPr>
            <a:xfrm>
              <a:off x="2304" y="2784"/>
              <a:ext cx="480" cy="368"/>
            </a:xfrm>
            <a:prstGeom prst="rect">
              <a:avLst/>
            </a:prstGeom>
            <a:solidFill>
              <a:srgbClr val="FFFFCC"/>
            </a:solidFill>
            <a:ln w="9525" cap="flat" cmpd="sng">
              <a:solidFill>
                <a:srgbClr val="996600"/>
              </a:solidFill>
              <a:prstDash val="solid"/>
              <a:miter/>
              <a:headEnd type="none" w="med" len="med"/>
              <a:tailEnd type="none" w="med" len="med"/>
            </a:ln>
          </p:spPr>
          <p:txBody>
            <a:bodyPr>
              <a:spAutoFit/>
            </a:bodyPr>
            <a:lstStyle/>
            <a:p>
              <a:r>
                <a:rPr lang="en-US" altLang="zh-CN" sz="3200" b="1" i="1" dirty="0">
                  <a:solidFill>
                    <a:srgbClr val="1C1C1C"/>
                  </a:solidFill>
                  <a:latin typeface="Times New Roman" panose="02020603050405020304" pitchFamily="18" charset="0"/>
                </a:rPr>
                <a:t> </a:t>
              </a:r>
              <a:r>
                <a:rPr lang="en-US" altLang="zh-CN" sz="3200" b="1" i="1" dirty="0">
                  <a:solidFill>
                    <a:srgbClr val="CC0000"/>
                  </a:solidFill>
                  <a:latin typeface="Times New Roman" panose="02020603050405020304" pitchFamily="18" charset="0"/>
                </a:rPr>
                <a:t>A</a:t>
              </a:r>
            </a:p>
          </p:txBody>
        </p:sp>
        <p:sp>
          <p:nvSpPr>
            <p:cNvPr id="24611" name="AutoShape 66"/>
            <p:cNvSpPr/>
            <p:nvPr/>
          </p:nvSpPr>
          <p:spPr>
            <a:xfrm rot="-26979">
              <a:off x="1632" y="2832"/>
              <a:ext cx="720" cy="144"/>
            </a:xfrm>
            <a:prstGeom prst="rightArrow">
              <a:avLst>
                <a:gd name="adj1" fmla="val 50000"/>
                <a:gd name="adj2" fmla="val 125000"/>
              </a:avLst>
            </a:prstGeom>
            <a:solidFill>
              <a:srgbClr val="FFFFCC"/>
            </a:solidFill>
            <a:ln w="28575" cap="flat" cmpd="sng">
              <a:solidFill>
                <a:srgbClr val="996600"/>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9" name="Group 67"/>
          <p:cNvGrpSpPr/>
          <p:nvPr/>
        </p:nvGrpSpPr>
        <p:grpSpPr>
          <a:xfrm>
            <a:off x="8307388" y="4908550"/>
            <a:ext cx="1676400" cy="522288"/>
            <a:chOff x="4272" y="2400"/>
            <a:chExt cx="1056" cy="329"/>
          </a:xfrm>
        </p:grpSpPr>
        <p:sp>
          <p:nvSpPr>
            <p:cNvPr id="24608" name="Text Box 68"/>
            <p:cNvSpPr txBox="1"/>
            <p:nvPr/>
          </p:nvSpPr>
          <p:spPr>
            <a:xfrm>
              <a:off x="4896" y="2400"/>
              <a:ext cx="432" cy="329"/>
            </a:xfrm>
            <a:prstGeom prst="rect">
              <a:avLst/>
            </a:prstGeom>
            <a:solidFill>
              <a:srgbClr val="E1F4FB"/>
            </a:solidFill>
            <a:ln w="9525" cap="flat" cmpd="sng">
              <a:solidFill>
                <a:srgbClr val="0000FF"/>
              </a:solidFill>
              <a:prstDash val="solid"/>
              <a:miter/>
              <a:headEnd type="none" w="med" len="med"/>
              <a:tailEnd type="none" w="med" len="med"/>
            </a:ln>
          </p:spPr>
          <p:txBody>
            <a:bodyPr>
              <a:spAutoFit/>
            </a:bodyPr>
            <a:lstStyle/>
            <a:p>
              <a:r>
                <a:rPr lang="en-US" altLang="zh-CN" sz="2800" b="1" dirty="0">
                  <a:solidFill>
                    <a:srgbClr val="1C1C1C"/>
                  </a:solidFill>
                  <a:latin typeface="Times New Roman" panose="02020603050405020304" pitchFamily="18" charset="0"/>
                </a:rPr>
                <a:t> </a:t>
              </a:r>
              <a:r>
                <a:rPr lang="en-US" altLang="zh-CN" sz="2800" b="1" i="1" dirty="0">
                  <a:solidFill>
                    <a:srgbClr val="1C1C1C"/>
                  </a:solidFill>
                  <a:latin typeface="Times New Roman" panose="02020603050405020304" pitchFamily="18" charset="0"/>
                </a:rPr>
                <a:t>A</a:t>
              </a:r>
            </a:p>
          </p:txBody>
        </p:sp>
        <p:sp>
          <p:nvSpPr>
            <p:cNvPr id="24609" name="AutoShape 69"/>
            <p:cNvSpPr/>
            <p:nvPr/>
          </p:nvSpPr>
          <p:spPr>
            <a:xfrm>
              <a:off x="4272" y="2544"/>
              <a:ext cx="672" cy="144"/>
            </a:xfrm>
            <a:prstGeom prst="leftArrow">
              <a:avLst>
                <a:gd name="adj1" fmla="val 50000"/>
                <a:gd name="adj2" fmla="val 116666"/>
              </a:avLst>
            </a:prstGeom>
            <a:solidFill>
              <a:srgbClr val="CCECFF"/>
            </a:solidFill>
            <a:ln w="28575" cap="flat" cmpd="sng">
              <a:solidFill>
                <a:srgbClr val="0000FF"/>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4" name="Text Box 13">
            <a:hlinkClick r:id="" action="ppaction://noaction"/>
            <a:extLst>
              <a:ext uri="{FF2B5EF4-FFF2-40B4-BE49-F238E27FC236}">
                <a16:creationId xmlns:a16="http://schemas.microsoft.com/office/drawing/2014/main" id="{D1FEED96-AADC-744E-30F5-47296D7051E3}"/>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等温过程</a:t>
            </a:r>
          </a:p>
        </p:txBody>
      </p:sp>
    </p:spTree>
    <p:extLst>
      <p:ext uri="{BB962C8B-B14F-4D97-AF65-F5344CB8AC3E}">
        <p14:creationId xmlns:p14="http://schemas.microsoft.com/office/powerpoint/2010/main" val="204412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F22B2E0A-E1FB-5558-CE60-940E1266DB25}"/>
              </a:ext>
            </a:extLst>
          </p:cNvPr>
          <p:cNvSpPr txBox="1">
            <a:spLocks noChangeArrowheads="1"/>
          </p:cNvSpPr>
          <p:nvPr/>
        </p:nvSpPr>
        <p:spPr bwMode="auto">
          <a:xfrm>
            <a:off x="1553996" y="1223865"/>
            <a:ext cx="19556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zh-CN" altLang="en-US" sz="3200" b="0" dirty="0">
                <a:latin typeface="+mn-lt"/>
                <a:ea typeface="+mn-ea"/>
                <a:cs typeface="Times New Roman" panose="02020603050405020304" pitchFamily="18" charset="0"/>
              </a:rPr>
              <a:t>等体过程</a:t>
            </a:r>
          </a:p>
        </p:txBody>
      </p:sp>
      <mc:AlternateContent xmlns:mc="http://schemas.openxmlformats.org/markup-compatibility/2006" xmlns:a14="http://schemas.microsoft.com/office/drawing/2010/main">
        <mc:Choice Requires="a14">
          <p:sp>
            <p:nvSpPr>
              <p:cNvPr id="3" name="Object 22">
                <a:extLst>
                  <a:ext uri="{FF2B5EF4-FFF2-40B4-BE49-F238E27FC236}">
                    <a16:creationId xmlns:a16="http://schemas.microsoft.com/office/drawing/2014/main" id="{9CD2A404-011F-AAE3-F5B0-7BD64D6CFEE4}"/>
                  </a:ext>
                </a:extLst>
              </p:cNvPr>
              <p:cNvSpPr txBox="1"/>
              <p:nvPr/>
            </p:nvSpPr>
            <p:spPr bwMode="auto">
              <a:xfrm>
                <a:off x="2324423" y="931478"/>
                <a:ext cx="7543153"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𝑉</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 name="Object 22">
                <a:extLst>
                  <a:ext uri="{FF2B5EF4-FFF2-40B4-BE49-F238E27FC236}">
                    <a16:creationId xmlns:a16="http://schemas.microsoft.com/office/drawing/2014/main" id="{9CD2A404-011F-AAE3-F5B0-7BD64D6CFEE4}"/>
                  </a:ext>
                </a:extLst>
              </p:cNvPr>
              <p:cNvSpPr txBox="1">
                <a:spLocks noRot="1" noChangeAspect="1" noMove="1" noResize="1" noEditPoints="1" noAdjustHandles="1" noChangeArrowheads="1" noChangeShapeType="1" noTextEdit="1"/>
              </p:cNvSpPr>
              <p:nvPr/>
            </p:nvSpPr>
            <p:spPr bwMode="auto">
              <a:xfrm>
                <a:off x="2324423" y="931478"/>
                <a:ext cx="7543153" cy="965200"/>
              </a:xfrm>
              <a:prstGeom prst="rect">
                <a:avLst/>
              </a:prstGeom>
              <a:blipFill>
                <a:blip r:embed="rId2"/>
                <a:stretch>
                  <a:fillRect/>
                </a:stretch>
              </a:blipFill>
            </p:spPr>
            <p:txBody>
              <a:bodyPr/>
              <a:lstStyle/>
              <a:p>
                <a:r>
                  <a:rPr lang="zh-CN" altLang="en-US">
                    <a:noFill/>
                  </a:rPr>
                  <a:t> </a:t>
                </a:r>
              </a:p>
            </p:txBody>
          </p:sp>
        </mc:Fallback>
      </mc:AlternateContent>
      <p:sp>
        <p:nvSpPr>
          <p:cNvPr id="4" name="Text Box 13">
            <a:hlinkClick r:id="" action="ppaction://noaction"/>
            <a:extLst>
              <a:ext uri="{FF2B5EF4-FFF2-40B4-BE49-F238E27FC236}">
                <a16:creationId xmlns:a16="http://schemas.microsoft.com/office/drawing/2014/main" id="{0F7B6A84-23A1-7D7F-4690-864DD226401A}"/>
              </a:ext>
            </a:extLst>
          </p:cNvPr>
          <p:cNvSpPr txBox="1">
            <a:spLocks noChangeArrowheads="1"/>
          </p:cNvSpPr>
          <p:nvPr/>
        </p:nvSpPr>
        <p:spPr bwMode="auto">
          <a:xfrm>
            <a:off x="1577130" y="2536078"/>
            <a:ext cx="24201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zh-CN" altLang="en-US" sz="3200" b="0" dirty="0">
                <a:latin typeface="+mn-lt"/>
                <a:ea typeface="+mn-ea"/>
                <a:cs typeface="Times New Roman" panose="02020603050405020304" pitchFamily="18" charset="0"/>
              </a:rPr>
              <a:t>等压过程</a:t>
            </a:r>
          </a:p>
        </p:txBody>
      </p:sp>
      <mc:AlternateContent xmlns:mc="http://schemas.openxmlformats.org/markup-compatibility/2006" xmlns:a14="http://schemas.microsoft.com/office/drawing/2010/main">
        <mc:Choice Requires="a14">
          <p:sp>
            <p:nvSpPr>
              <p:cNvPr id="6" name="Object 85">
                <a:extLst>
                  <a:ext uri="{FF2B5EF4-FFF2-40B4-BE49-F238E27FC236}">
                    <a16:creationId xmlns:a16="http://schemas.microsoft.com/office/drawing/2014/main" id="{479534DD-A0CD-0CC0-3FC2-7FA48A502AA0}"/>
                  </a:ext>
                </a:extLst>
              </p:cNvPr>
              <p:cNvSpPr txBox="1"/>
              <p:nvPr/>
            </p:nvSpPr>
            <p:spPr bwMode="auto">
              <a:xfrm>
                <a:off x="1817119" y="2520566"/>
                <a:ext cx="6900862"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𝑝</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𝐴</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6" name="Object 85">
                <a:extLst>
                  <a:ext uri="{FF2B5EF4-FFF2-40B4-BE49-F238E27FC236}">
                    <a16:creationId xmlns:a16="http://schemas.microsoft.com/office/drawing/2014/main" id="{479534DD-A0CD-0CC0-3FC2-7FA48A502AA0}"/>
                  </a:ext>
                </a:extLst>
              </p:cNvPr>
              <p:cNvSpPr txBox="1">
                <a:spLocks noRot="1" noChangeAspect="1" noMove="1" noResize="1" noEditPoints="1" noAdjustHandles="1" noChangeArrowheads="1" noChangeShapeType="1" noTextEdit="1"/>
              </p:cNvSpPr>
              <p:nvPr/>
            </p:nvSpPr>
            <p:spPr bwMode="auto">
              <a:xfrm>
                <a:off x="1817119" y="2520566"/>
                <a:ext cx="6900862" cy="9652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87">
                <a:extLst>
                  <a:ext uri="{FF2B5EF4-FFF2-40B4-BE49-F238E27FC236}">
                    <a16:creationId xmlns:a16="http://schemas.microsoft.com/office/drawing/2014/main" id="{1E37AD7A-6847-CCA0-EF0B-717566BFA55A}"/>
                  </a:ext>
                </a:extLst>
              </p:cNvPr>
              <p:cNvSpPr txBox="1"/>
              <p:nvPr/>
            </p:nvSpPr>
            <p:spPr bwMode="auto">
              <a:xfrm>
                <a:off x="5947744" y="2265829"/>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𝜈</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8" name="Object 87">
                <a:extLst>
                  <a:ext uri="{FF2B5EF4-FFF2-40B4-BE49-F238E27FC236}">
                    <a16:creationId xmlns:a16="http://schemas.microsoft.com/office/drawing/2014/main" id="{1E37AD7A-6847-CCA0-EF0B-717566BFA55A}"/>
                  </a:ext>
                </a:extLst>
              </p:cNvPr>
              <p:cNvSpPr txBox="1">
                <a:spLocks noRot="1" noChangeAspect="1" noMove="1" noResize="1" noEditPoints="1" noAdjustHandles="1" noChangeArrowheads="1" noChangeShapeType="1" noTextEdit="1"/>
              </p:cNvSpPr>
              <p:nvPr/>
            </p:nvSpPr>
            <p:spPr bwMode="auto">
              <a:xfrm>
                <a:off x="5947744" y="2265829"/>
                <a:ext cx="4717731" cy="1092200"/>
              </a:xfrm>
              <a:prstGeom prst="rect">
                <a:avLst/>
              </a:prstGeom>
              <a:blipFill>
                <a:blip r:embed="rId4"/>
                <a:stretch>
                  <a:fillRect/>
                </a:stretch>
              </a:blipFill>
            </p:spPr>
            <p:txBody>
              <a:bodyPr/>
              <a:lstStyle/>
              <a:p>
                <a:r>
                  <a:rPr lang="zh-CN" altLang="en-US">
                    <a:noFill/>
                  </a:rPr>
                  <a:t> </a:t>
                </a:r>
              </a:p>
            </p:txBody>
          </p:sp>
        </mc:Fallback>
      </mc:AlternateContent>
      <p:grpSp>
        <p:nvGrpSpPr>
          <p:cNvPr id="14" name="Group 3">
            <a:extLst>
              <a:ext uri="{FF2B5EF4-FFF2-40B4-BE49-F238E27FC236}">
                <a16:creationId xmlns:a16="http://schemas.microsoft.com/office/drawing/2014/main" id="{9770BF54-F1C5-B178-7945-93429AB1BD82}"/>
              </a:ext>
            </a:extLst>
          </p:cNvPr>
          <p:cNvGrpSpPr/>
          <p:nvPr/>
        </p:nvGrpSpPr>
        <p:grpSpPr>
          <a:xfrm>
            <a:off x="3135634" y="3377783"/>
            <a:ext cx="3936712" cy="863600"/>
            <a:chOff x="528" y="3398"/>
            <a:chExt cx="2094" cy="681"/>
          </a:xfrm>
          <a:noFill/>
        </p:grpSpPr>
        <mc:AlternateContent xmlns:mc="http://schemas.openxmlformats.org/markup-compatibility/2006" xmlns:a14="http://schemas.microsoft.com/office/drawing/2010/main">
          <mc:Choice Requires="a14">
            <p:sp>
              <p:nvSpPr>
                <p:cNvPr id="15" name="Object 4">
                  <a:extLst>
                    <a:ext uri="{FF2B5EF4-FFF2-40B4-BE49-F238E27FC236}">
                      <a16:creationId xmlns:a16="http://schemas.microsoft.com/office/drawing/2014/main" id="{78171D56-3870-8EB8-80D4-2C682B463258}"/>
                    </a:ext>
                  </a:extLst>
                </p:cNvPr>
                <p:cNvSpPr txBox="1"/>
                <p:nvPr/>
              </p:nvSpPr>
              <p:spPr>
                <a:xfrm>
                  <a:off x="1662" y="3398"/>
                  <a:ext cx="960" cy="68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𝐶</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m:rPr>
                                <m:sty m:val="p"/>
                              </m:rPr>
                              <a:rPr lang="zh-CN" altLang="en-US" sz="3200" i="0">
                                <a:solidFill>
                                  <a:srgbClr val="000000"/>
                                </a:solidFill>
                                <a:latin typeface="Cambria Math" panose="02040503050406030204" pitchFamily="18" charset="0"/>
                              </a:rPr>
                              <m:t>d</m:t>
                            </m:r>
                            <m:r>
                              <a:rPr lang="zh-CN" altLang="en-US" sz="3200" i="1">
                                <a:solidFill>
                                  <a:srgbClr val="000000"/>
                                </a:solidFill>
                                <a:latin typeface="Cambria Math" panose="02040503050406030204" pitchFamily="18" charset="0"/>
                              </a:rPr>
                              <m:t>𝑄</m:t>
                            </m:r>
                          </m:num>
                          <m:den>
                            <m:r>
                              <m:rPr>
                                <m:sty m:val="p"/>
                              </m:rPr>
                              <a:rPr lang="zh-CN" altLang="en-US" sz="3200" i="0">
                                <a:solidFill>
                                  <a:srgbClr val="000000"/>
                                </a:solidFill>
                                <a:latin typeface="Cambria Math" panose="02040503050406030204" pitchFamily="18" charset="0"/>
                              </a:rPr>
                              <m:t>d</m:t>
                            </m:r>
                            <m:r>
                              <a:rPr lang="zh-CN" altLang="en-US" sz="3200" i="1">
                                <a:solidFill>
                                  <a:srgbClr val="000000"/>
                                </a:solidFill>
                                <a:latin typeface="Cambria Math" panose="02040503050406030204" pitchFamily="18" charset="0"/>
                              </a:rPr>
                              <m:t>𝑇</m:t>
                            </m:r>
                          </m:den>
                        </m:f>
                      </m:oMath>
                    </m:oMathPara>
                  </a14:m>
                  <a:endParaRPr lang="zh-CN" altLang="en-US" sz="3200" dirty="0"/>
                </a:p>
              </p:txBody>
            </p:sp>
          </mc:Choice>
          <mc:Fallback xmlns="">
            <p:sp>
              <p:nvSpPr>
                <p:cNvPr id="15" name="Object 4">
                  <a:extLst>
                    <a:ext uri="{FF2B5EF4-FFF2-40B4-BE49-F238E27FC236}">
                      <a16:creationId xmlns:a16="http://schemas.microsoft.com/office/drawing/2014/main" id="{78171D56-3870-8EB8-80D4-2C682B463258}"/>
                    </a:ext>
                  </a:extLst>
                </p:cNvPr>
                <p:cNvSpPr txBox="1">
                  <a:spLocks noRot="1" noChangeAspect="1" noMove="1" noResize="1" noEditPoints="1" noAdjustHandles="1" noChangeArrowheads="1" noChangeShapeType="1" noTextEdit="1"/>
                </p:cNvSpPr>
                <p:nvPr/>
              </p:nvSpPr>
              <p:spPr>
                <a:xfrm>
                  <a:off x="1662" y="3398"/>
                  <a:ext cx="960" cy="681"/>
                </a:xfrm>
                <a:prstGeom prst="rect">
                  <a:avLst/>
                </a:prstGeom>
                <a:blipFill>
                  <a:blip r:embed="rId5"/>
                  <a:stretch>
                    <a:fillRect b="-13380"/>
                  </a:stretch>
                </a:blipFill>
                <a:ln w="38100">
                  <a:noFill/>
                  <a:miter/>
                </a:ln>
              </p:spPr>
              <p:txBody>
                <a:bodyPr/>
                <a:lstStyle/>
                <a:p>
                  <a:r>
                    <a:rPr lang="zh-CN" altLang="en-US">
                      <a:noFill/>
                    </a:rPr>
                    <a:t> </a:t>
                  </a:r>
                </a:p>
              </p:txBody>
            </p:sp>
          </mc:Fallback>
        </mc:AlternateContent>
        <p:sp>
          <p:nvSpPr>
            <p:cNvPr id="16" name="Text Box 5">
              <a:extLst>
                <a:ext uri="{FF2B5EF4-FFF2-40B4-BE49-F238E27FC236}">
                  <a16:creationId xmlns:a16="http://schemas.microsoft.com/office/drawing/2014/main" id="{60471AC4-FF48-A4B4-D776-0B0DF5275DB8}"/>
                </a:ext>
              </a:extLst>
            </p:cNvPr>
            <p:cNvSpPr txBox="1">
              <a:spLocks noChangeArrowheads="1"/>
            </p:cNvSpPr>
            <p:nvPr/>
          </p:nvSpPr>
          <p:spPr bwMode="auto">
            <a:xfrm>
              <a:off x="528" y="3600"/>
              <a:ext cx="768" cy="461"/>
            </a:xfrm>
            <a:prstGeom prst="rect">
              <a:avLst/>
            </a:prstGeom>
            <a:grpFill/>
            <a:ln w="9525">
              <a:noFill/>
              <a:miter lim="800000"/>
            </a:ln>
            <a:effectLst/>
          </p:spPr>
          <p:txBody>
            <a:bodyPr>
              <a:spAutoFit/>
            </a:bodyPr>
            <a:lstStyle/>
            <a:p>
              <a:pPr marR="0" algn="ctr" defTabSz="914400" eaLnBrk="1" hangingPunct="1">
                <a:spcBef>
                  <a:spcPct val="50000"/>
                </a:spcBef>
                <a:buClrTx/>
                <a:buSzTx/>
                <a:buFontTx/>
                <a:buNone/>
                <a:defRPr/>
              </a:pPr>
              <a:r>
                <a:rPr kumimoji="1" lang="zh-CN" altLang="en-US" sz="3200" b="1" kern="1200" cap="none" spc="0" normalizeH="0" baseline="0" noProof="0" dirty="0">
                  <a:solidFill>
                    <a:schemeClr val="tx1"/>
                  </a:solidFill>
                  <a:latin typeface="+mn-ea"/>
                  <a:cs typeface="+mn-cs"/>
                </a:rPr>
                <a:t>热容</a:t>
              </a:r>
            </a:p>
          </p:txBody>
        </p:sp>
      </p:grpSp>
      <p:sp>
        <p:nvSpPr>
          <p:cNvPr id="17" name="Text Box 6">
            <a:extLst>
              <a:ext uri="{FF2B5EF4-FFF2-40B4-BE49-F238E27FC236}">
                <a16:creationId xmlns:a16="http://schemas.microsoft.com/office/drawing/2014/main" id="{8499AF9E-FBB8-460F-F10B-C08F58E6ACE6}"/>
              </a:ext>
            </a:extLst>
          </p:cNvPr>
          <p:cNvSpPr txBox="1">
            <a:spLocks noChangeArrowheads="1"/>
          </p:cNvSpPr>
          <p:nvPr/>
        </p:nvSpPr>
        <p:spPr bwMode="auto">
          <a:xfrm>
            <a:off x="2772098" y="5832585"/>
            <a:ext cx="1695450" cy="584775"/>
          </a:xfrm>
          <a:prstGeom prst="rect">
            <a:avLst/>
          </a:prstGeom>
          <a:noFill/>
          <a:ln w="9525">
            <a:noFill/>
            <a:miter lim="800000"/>
          </a:ln>
          <a:effectLst/>
        </p:spPr>
        <p:txBody>
          <a:bodyPr>
            <a:spAutoFit/>
          </a:bodyPr>
          <a:lstStyle/>
          <a:p>
            <a:pPr marR="0" algn="ctr" defTabSz="914400" eaLnBrk="1" hangingPunct="1">
              <a:spcBef>
                <a:spcPct val="50000"/>
              </a:spcBef>
              <a:buClrTx/>
              <a:buSzTx/>
              <a:buFontTx/>
              <a:buNone/>
              <a:defRPr/>
            </a:pPr>
            <a:r>
              <a:rPr kumimoji="1" lang="zh-CN" altLang="en-US" sz="3200" b="1" kern="1200" cap="none" spc="0" normalizeH="0" baseline="0" noProof="0" dirty="0">
                <a:solidFill>
                  <a:schemeClr val="tx1"/>
                </a:solidFill>
                <a:latin typeface="+mn-ea"/>
                <a:cs typeface="+mn-cs"/>
              </a:rPr>
              <a:t>比热容</a:t>
            </a:r>
          </a:p>
        </p:txBody>
      </p:sp>
      <mc:AlternateContent xmlns:mc="http://schemas.openxmlformats.org/markup-compatibility/2006" xmlns:a14="http://schemas.microsoft.com/office/drawing/2010/main">
        <mc:Choice Requires="a14">
          <p:sp>
            <p:nvSpPr>
              <p:cNvPr id="18" name="Object 7">
                <a:extLst>
                  <a:ext uri="{FF2B5EF4-FFF2-40B4-BE49-F238E27FC236}">
                    <a16:creationId xmlns:a16="http://schemas.microsoft.com/office/drawing/2014/main" id="{6BAEFBAE-B52C-32ED-16B6-2CD6AEAA694D}"/>
                  </a:ext>
                </a:extLst>
              </p:cNvPr>
              <p:cNvSpPr txBox="1"/>
              <p:nvPr/>
            </p:nvSpPr>
            <p:spPr>
              <a:xfrm>
                <a:off x="4934346" y="5639565"/>
                <a:ext cx="2999731" cy="104140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𝑐</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𝑚</m:t>
                              </m:r>
                            </m:e>
                            <m:sup>
                              <m:r>
                                <a:rPr lang="zh-CN" altLang="en-US" sz="2800" i="1">
                                  <a:solidFill>
                                    <a:srgbClr val="000000"/>
                                  </a:solidFill>
                                  <a:latin typeface="Cambria Math" panose="02040503050406030204" pitchFamily="18" charset="0"/>
                                </a:rPr>
                                <m:t>′</m:t>
                              </m:r>
                            </m:sup>
                          </m:sSup>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𝑇</m:t>
                          </m:r>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𝐶</m:t>
                          </m:r>
                        </m:num>
                        <m:den>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𝑚</m:t>
                              </m:r>
                            </m:e>
                            <m:sup>
                              <m:r>
                                <a:rPr lang="zh-CN" altLang="en-US" sz="2800" i="1">
                                  <a:solidFill>
                                    <a:srgbClr val="000000"/>
                                  </a:solidFill>
                                  <a:latin typeface="Cambria Math" panose="02040503050406030204" pitchFamily="18" charset="0"/>
                                </a:rPr>
                                <m:t>′</m:t>
                              </m:r>
                            </m:sup>
                          </m:sSup>
                        </m:den>
                      </m:f>
                    </m:oMath>
                  </m:oMathPara>
                </a14:m>
                <a:endParaRPr lang="zh-CN" altLang="en-US" sz="2800" dirty="0"/>
              </a:p>
            </p:txBody>
          </p:sp>
        </mc:Choice>
        <mc:Fallback xmlns="">
          <p:sp>
            <p:nvSpPr>
              <p:cNvPr id="18" name="Object 7">
                <a:extLst>
                  <a:ext uri="{FF2B5EF4-FFF2-40B4-BE49-F238E27FC236}">
                    <a16:creationId xmlns:a16="http://schemas.microsoft.com/office/drawing/2014/main" id="{6BAEFBAE-B52C-32ED-16B6-2CD6AEAA694D}"/>
                  </a:ext>
                </a:extLst>
              </p:cNvPr>
              <p:cNvSpPr txBox="1">
                <a:spLocks noRot="1" noChangeAspect="1" noMove="1" noResize="1" noEditPoints="1" noAdjustHandles="1" noChangeArrowheads="1" noChangeShapeType="1" noTextEdit="1"/>
              </p:cNvSpPr>
              <p:nvPr/>
            </p:nvSpPr>
            <p:spPr>
              <a:xfrm>
                <a:off x="4934346" y="5639565"/>
                <a:ext cx="2999731" cy="1041400"/>
              </a:xfrm>
              <a:prstGeom prst="rect">
                <a:avLst/>
              </a:prstGeom>
              <a:blipFill>
                <a:blip r:embed="rId6"/>
                <a:stretch>
                  <a:fillRect/>
                </a:stretch>
              </a:blipFill>
              <a:ln w="38100">
                <a:noFill/>
                <a:miter/>
              </a:ln>
            </p:spPr>
            <p:txBody>
              <a:bodyPr/>
              <a:lstStyle/>
              <a:p>
                <a:r>
                  <a:rPr lang="zh-CN" altLang="en-US">
                    <a:noFill/>
                  </a:rPr>
                  <a:t> </a:t>
                </a:r>
              </a:p>
            </p:txBody>
          </p:sp>
        </mc:Fallback>
      </mc:AlternateContent>
      <p:sp>
        <p:nvSpPr>
          <p:cNvPr id="19" name="Text Box 9">
            <a:extLst>
              <a:ext uri="{FF2B5EF4-FFF2-40B4-BE49-F238E27FC236}">
                <a16:creationId xmlns:a16="http://schemas.microsoft.com/office/drawing/2014/main" id="{41DBA02B-D6B9-1524-86C5-057AE077CB86}"/>
              </a:ext>
            </a:extLst>
          </p:cNvPr>
          <p:cNvSpPr txBox="1"/>
          <p:nvPr/>
        </p:nvSpPr>
        <p:spPr>
          <a:xfrm>
            <a:off x="7501205" y="4775965"/>
            <a:ext cx="1266693" cy="523220"/>
          </a:xfrm>
          <a:prstGeom prst="rect">
            <a:avLst/>
          </a:prstGeom>
          <a:noFill/>
          <a:ln w="9525">
            <a:noFill/>
          </a:ln>
        </p:spPr>
        <p:txBody>
          <a:bodyPr wrap="none">
            <a:spAutoFit/>
          </a:bodyPr>
          <a:lstStyle/>
          <a:p>
            <a:r>
              <a:rPr lang="zh-CN" altLang="en-US" sz="2800" b="1" dirty="0">
                <a:solidFill>
                  <a:schemeClr val="tx1"/>
                </a:solidFill>
                <a:latin typeface="+mn-ea"/>
              </a:rPr>
              <a:t>每 </a:t>
            </a:r>
            <a:r>
              <a:rPr lang="en-US" altLang="zh-CN" sz="2800" b="1" i="1" dirty="0">
                <a:solidFill>
                  <a:schemeClr val="tx1"/>
                </a:solidFill>
                <a:latin typeface="+mn-ea"/>
              </a:rPr>
              <a:t>mol </a:t>
            </a:r>
          </a:p>
        </p:txBody>
      </p:sp>
      <p:grpSp>
        <p:nvGrpSpPr>
          <p:cNvPr id="20" name="Group 15">
            <a:extLst>
              <a:ext uri="{FF2B5EF4-FFF2-40B4-BE49-F238E27FC236}">
                <a16:creationId xmlns:a16="http://schemas.microsoft.com/office/drawing/2014/main" id="{AF0CB98C-1CB2-7CB3-2007-2037E31782EA}"/>
              </a:ext>
            </a:extLst>
          </p:cNvPr>
          <p:cNvGrpSpPr/>
          <p:nvPr/>
        </p:nvGrpSpPr>
        <p:grpSpPr>
          <a:xfrm>
            <a:off x="2324423" y="4462730"/>
            <a:ext cx="5609655" cy="790575"/>
            <a:chOff x="863" y="2144"/>
            <a:chExt cx="2835" cy="498"/>
          </a:xfrm>
          <a:noFill/>
        </p:grpSpPr>
        <mc:AlternateContent xmlns:mc="http://schemas.openxmlformats.org/markup-compatibility/2006" xmlns:a14="http://schemas.microsoft.com/office/drawing/2010/main">
          <mc:Choice Requires="a14">
            <p:sp>
              <p:nvSpPr>
                <p:cNvPr id="21" name="Object 11">
                  <a:extLst>
                    <a:ext uri="{FF2B5EF4-FFF2-40B4-BE49-F238E27FC236}">
                      <a16:creationId xmlns:a16="http://schemas.microsoft.com/office/drawing/2014/main" id="{02F1B93B-2F12-6722-8D19-3566458E5C96}"/>
                    </a:ext>
                  </a:extLst>
                </p:cNvPr>
                <p:cNvSpPr txBox="1"/>
                <p:nvPr/>
              </p:nvSpPr>
              <p:spPr>
                <a:xfrm>
                  <a:off x="2284" y="2144"/>
                  <a:ext cx="1414" cy="49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𝐶</m:t>
                            </m:r>
                          </m:e>
                          <m:sub>
                            <m:r>
                              <a:rPr lang="zh-CN" altLang="en-US" sz="3200" i="1">
                                <a:solidFill>
                                  <a:srgbClr val="000000"/>
                                </a:solidFill>
                                <a:latin typeface="Cambria Math" panose="02040503050406030204" pitchFamily="18" charset="0"/>
                              </a:rPr>
                              <m:t>𝑚</m:t>
                            </m:r>
                          </m:sub>
                        </m:sSub>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𝑛</m:t>
                            </m:r>
                          </m:den>
                        </m:f>
                        <m:f>
                          <m:fPr>
                            <m:ctrlPr>
                              <a:rPr lang="zh-CN" altLang="en-US" sz="3200" i="1">
                                <a:solidFill>
                                  <a:srgbClr val="000000"/>
                                </a:solidFill>
                                <a:latin typeface="Cambria Math" panose="02040503050406030204" pitchFamily="18" charset="0"/>
                              </a:rPr>
                            </m:ctrlPr>
                          </m:fPr>
                          <m:num>
                            <m:r>
                              <m:rPr>
                                <m:sty m:val="p"/>
                              </m:rPr>
                              <a:rPr lang="zh-CN" altLang="en-US" sz="3200" i="0">
                                <a:solidFill>
                                  <a:srgbClr val="000000"/>
                                </a:solidFill>
                                <a:latin typeface="Cambria Math" panose="02040503050406030204" pitchFamily="18" charset="0"/>
                              </a:rPr>
                              <m:t>d</m:t>
                            </m:r>
                            <m:r>
                              <a:rPr lang="zh-CN" altLang="en-US" sz="3200" i="1">
                                <a:solidFill>
                                  <a:srgbClr val="000000"/>
                                </a:solidFill>
                                <a:latin typeface="Cambria Math" panose="02040503050406030204" pitchFamily="18" charset="0"/>
                              </a:rPr>
                              <m:t>𝑄</m:t>
                            </m:r>
                          </m:num>
                          <m:den>
                            <m:r>
                              <m:rPr>
                                <m:sty m:val="p"/>
                              </m:rPr>
                              <a:rPr lang="zh-CN" altLang="en-US" sz="3200" i="0">
                                <a:solidFill>
                                  <a:srgbClr val="000000"/>
                                </a:solidFill>
                                <a:latin typeface="Cambria Math" panose="02040503050406030204" pitchFamily="18" charset="0"/>
                              </a:rPr>
                              <m:t>d</m:t>
                            </m:r>
                            <m:r>
                              <a:rPr lang="zh-CN" altLang="en-US" sz="3200" i="1">
                                <a:solidFill>
                                  <a:srgbClr val="000000"/>
                                </a:solidFill>
                                <a:latin typeface="Cambria Math" panose="02040503050406030204" pitchFamily="18" charset="0"/>
                              </a:rPr>
                              <m:t>𝑇</m:t>
                            </m:r>
                          </m:den>
                        </m:f>
                      </m:oMath>
                    </m:oMathPara>
                  </a14:m>
                  <a:endParaRPr lang="zh-CN" altLang="en-US" sz="3200"/>
                </a:p>
              </p:txBody>
            </p:sp>
          </mc:Choice>
          <mc:Fallback xmlns="">
            <p:sp>
              <p:nvSpPr>
                <p:cNvPr id="21" name="Object 11">
                  <a:extLst>
                    <a:ext uri="{FF2B5EF4-FFF2-40B4-BE49-F238E27FC236}">
                      <a16:creationId xmlns:a16="http://schemas.microsoft.com/office/drawing/2014/main" id="{02F1B93B-2F12-6722-8D19-3566458E5C96}"/>
                    </a:ext>
                  </a:extLst>
                </p:cNvPr>
                <p:cNvSpPr txBox="1">
                  <a:spLocks noRot="1" noChangeAspect="1" noMove="1" noResize="1" noEditPoints="1" noAdjustHandles="1" noChangeArrowheads="1" noChangeShapeType="1" noTextEdit="1"/>
                </p:cNvSpPr>
                <p:nvPr/>
              </p:nvSpPr>
              <p:spPr>
                <a:xfrm>
                  <a:off x="2284" y="2144"/>
                  <a:ext cx="1414" cy="498"/>
                </a:xfrm>
                <a:prstGeom prst="rect">
                  <a:avLst/>
                </a:prstGeom>
                <a:blipFill>
                  <a:blip r:embed="rId7"/>
                  <a:stretch>
                    <a:fillRect b="-23846"/>
                  </a:stretch>
                </a:blipFill>
                <a:ln w="38100">
                  <a:noFill/>
                  <a:miter/>
                </a:ln>
              </p:spPr>
              <p:txBody>
                <a:bodyPr/>
                <a:lstStyle/>
                <a:p>
                  <a:r>
                    <a:rPr lang="zh-CN" altLang="en-US">
                      <a:noFill/>
                    </a:rPr>
                    <a:t> </a:t>
                  </a:r>
                </a:p>
              </p:txBody>
            </p:sp>
          </mc:Fallback>
        </mc:AlternateContent>
        <p:sp>
          <p:nvSpPr>
            <p:cNvPr id="22" name="Text Box 12">
              <a:extLst>
                <a:ext uri="{FF2B5EF4-FFF2-40B4-BE49-F238E27FC236}">
                  <a16:creationId xmlns:a16="http://schemas.microsoft.com/office/drawing/2014/main" id="{2A0021DF-8412-E92C-15A7-7369BB849CEB}"/>
                </a:ext>
              </a:extLst>
            </p:cNvPr>
            <p:cNvSpPr txBox="1">
              <a:spLocks noChangeArrowheads="1"/>
            </p:cNvSpPr>
            <p:nvPr/>
          </p:nvSpPr>
          <p:spPr bwMode="auto">
            <a:xfrm>
              <a:off x="863" y="2248"/>
              <a:ext cx="1198" cy="368"/>
            </a:xfrm>
            <a:prstGeom prst="rect">
              <a:avLst/>
            </a:prstGeom>
            <a:grpFill/>
            <a:ln w="9525">
              <a:noFill/>
              <a:miter lim="800000"/>
            </a:ln>
            <a:effectLst/>
          </p:spPr>
          <p:txBody>
            <a:bodyPr>
              <a:spAutoFit/>
            </a:bodyPr>
            <a:lstStyle/>
            <a:p>
              <a:pPr marR="0" algn="ctr" defTabSz="914400" eaLnBrk="1" hangingPunct="1">
                <a:spcBef>
                  <a:spcPct val="50000"/>
                </a:spcBef>
                <a:buClrTx/>
                <a:buSzTx/>
                <a:buFontTx/>
                <a:buNone/>
                <a:defRPr/>
              </a:pPr>
              <a:r>
                <a:rPr kumimoji="1" lang="zh-CN" altLang="en-US" sz="3200" b="1" kern="1200" cap="none" spc="0" normalizeH="0" baseline="0" noProof="0" dirty="0">
                  <a:solidFill>
                    <a:schemeClr val="tx1"/>
                  </a:solidFill>
                  <a:latin typeface="+mn-ea"/>
                  <a:cs typeface="+mn-cs"/>
                </a:rPr>
                <a:t>摩尔热容</a:t>
              </a:r>
            </a:p>
          </p:txBody>
        </p:sp>
      </p:grpSp>
      <p:sp>
        <p:nvSpPr>
          <p:cNvPr id="23" name="Text Box 13">
            <a:extLst>
              <a:ext uri="{FF2B5EF4-FFF2-40B4-BE49-F238E27FC236}">
                <a16:creationId xmlns:a16="http://schemas.microsoft.com/office/drawing/2014/main" id="{115159B9-6198-8841-C97B-C8D7C7277996}"/>
              </a:ext>
            </a:extLst>
          </p:cNvPr>
          <p:cNvSpPr txBox="1"/>
          <p:nvPr/>
        </p:nvSpPr>
        <p:spPr>
          <a:xfrm>
            <a:off x="7585899" y="5894140"/>
            <a:ext cx="1441420" cy="523220"/>
          </a:xfrm>
          <a:prstGeom prst="rect">
            <a:avLst/>
          </a:prstGeom>
          <a:noFill/>
          <a:ln w="9525">
            <a:noFill/>
          </a:ln>
        </p:spPr>
        <p:txBody>
          <a:bodyPr wrap="none">
            <a:spAutoFit/>
          </a:bodyPr>
          <a:lstStyle/>
          <a:p>
            <a:r>
              <a:rPr lang="zh-CN" altLang="en-US" sz="2800" b="1" dirty="0">
                <a:solidFill>
                  <a:schemeClr val="tx1"/>
                </a:solidFill>
                <a:latin typeface="+mn-ea"/>
              </a:rPr>
              <a:t>每 千克 </a:t>
            </a:r>
          </a:p>
        </p:txBody>
      </p:sp>
      <p:sp>
        <p:nvSpPr>
          <p:cNvPr id="30" name="Text Box 13">
            <a:hlinkClick r:id="" action="ppaction://noaction"/>
            <a:extLst>
              <a:ext uri="{FF2B5EF4-FFF2-40B4-BE49-F238E27FC236}">
                <a16:creationId xmlns:a16="http://schemas.microsoft.com/office/drawing/2014/main" id="{6E71BA4F-DC7A-0CD5-DEAE-D00EB3075AE1}"/>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比热容</a:t>
            </a:r>
          </a:p>
        </p:txBody>
      </p:sp>
    </p:spTree>
    <p:extLst>
      <p:ext uri="{BB962C8B-B14F-4D97-AF65-F5344CB8AC3E}">
        <p14:creationId xmlns:p14="http://schemas.microsoft.com/office/powerpoint/2010/main" val="419061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8" grpId="0"/>
      <p:bldP spid="17" grpId="0"/>
      <p:bldP spid="18" grpId="0"/>
      <p:bldP spid="19"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5989" y="2461371"/>
            <a:ext cx="3429000" cy="555625"/>
            <a:chOff x="768" y="3840"/>
            <a:chExt cx="2160" cy="350"/>
          </a:xfrm>
          <a:noFill/>
        </p:grpSpPr>
        <p:sp>
          <p:nvSpPr>
            <p:cNvPr id="12298" name="Text Box 3"/>
            <p:cNvSpPr txBox="1"/>
            <p:nvPr/>
          </p:nvSpPr>
          <p:spPr>
            <a:xfrm>
              <a:off x="768" y="3840"/>
              <a:ext cx="2160" cy="330"/>
            </a:xfrm>
            <a:prstGeom prst="rect">
              <a:avLst/>
            </a:prstGeom>
            <a:grpFill/>
            <a:ln w="9525" cap="flat" cmpd="sng">
              <a:noFill/>
              <a:prstDash val="solid"/>
              <a:miter/>
              <a:headEnd type="none" w="med" len="med"/>
              <a:tailEnd type="none" w="med" len="med"/>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单位</a:t>
              </a:r>
            </a:p>
          </p:txBody>
        </p:sp>
        <mc:AlternateContent xmlns:mc="http://schemas.openxmlformats.org/markup-compatibility/2006" xmlns:a14="http://schemas.microsoft.com/office/drawing/2010/main">
          <mc:Choice Requires="a14">
            <p:sp>
              <p:nvSpPr>
                <p:cNvPr id="12295" name="Object 4"/>
                <p:cNvSpPr txBox="1"/>
                <p:nvPr/>
              </p:nvSpPr>
              <p:spPr>
                <a:xfrm>
                  <a:off x="1488" y="3840"/>
                  <a:ext cx="1353" cy="350"/>
                </a:xfrm>
                <a:prstGeom prst="rect">
                  <a:avLst/>
                </a:prstGeom>
                <a:grp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J</m:t>
                        </m:r>
                        <m:r>
                          <a:rPr lang="en-US" sz="2800" b="0" i="1">
                            <a:solidFill>
                              <a:srgbClr val="000000"/>
                            </a:solidFill>
                            <a:latin typeface="Cambria Math" panose="02040503050406030204" pitchFamily="18" charset="0"/>
                          </a:rPr>
                          <m:t>⋅</m:t>
                        </m:r>
                        <m:r>
                          <m:rPr>
                            <m:nor/>
                          </m:rPr>
                          <a:rPr lang="en-US" sz="2800" i="0">
                            <a:solidFill>
                              <a:srgbClr val="000000"/>
                            </a:solidFill>
                            <a:latin typeface="Cambria Math" panose="02040503050406030204" pitchFamily="18" charset="0"/>
                          </a:rPr>
                          <m:t>mo</m:t>
                        </m:r>
                        <m:sSup>
                          <m:sSupPr>
                            <m:ctrlPr>
                              <a:rPr lang="en-US" sz="2800" i="1">
                                <a:solidFill>
                                  <a:srgbClr val="000000"/>
                                </a:solidFill>
                                <a:latin typeface="Cambria Math" panose="02040503050406030204" pitchFamily="18" charset="0"/>
                              </a:rPr>
                            </m:ctrlPr>
                          </m:sSupPr>
                          <m:e>
                            <m:r>
                              <m:rPr>
                                <m:nor/>
                              </m:rPr>
                              <a:rPr lang="en-US" sz="2800" i="0">
                                <a:solidFill>
                                  <a:srgbClr val="000000"/>
                                </a:solidFill>
                                <a:latin typeface="Cambria Math" panose="02040503050406030204" pitchFamily="18" charset="0"/>
                              </a:rPr>
                              <m:t>l</m:t>
                            </m:r>
                          </m:e>
                          <m:sup>
                            <m:r>
                              <a:rPr lang="en-US" sz="2800" b="0" i="1">
                                <a:solidFill>
                                  <a:srgbClr val="000000"/>
                                </a:solidFill>
                                <a:latin typeface="Cambria Math" panose="02040503050406030204" pitchFamily="18" charset="0"/>
                              </a:rPr>
                              <m:t>−</m:t>
                            </m:r>
                            <m:r>
                              <a:rPr lang="en-US" sz="2800" b="0" i="0">
                                <a:solidFill>
                                  <a:srgbClr val="000000"/>
                                </a:solidFill>
                                <a:latin typeface="Cambria Math" panose="02040503050406030204" pitchFamily="18" charset="0"/>
                              </a:rPr>
                              <m:t>1</m:t>
                            </m:r>
                          </m:sup>
                        </m:sSup>
                        <m:r>
                          <a:rPr lang="en-US" sz="2800" b="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b="0" i="0">
                                <a:solidFill>
                                  <a:srgbClr val="000000"/>
                                </a:solidFill>
                                <a:latin typeface="Cambria Math" panose="02040503050406030204" pitchFamily="18" charset="0"/>
                              </a:rPr>
                              <m:t>K</m:t>
                            </m:r>
                          </m:e>
                          <m:sup>
                            <m:r>
                              <a:rPr lang="en-US" sz="2800" b="0" i="1">
                                <a:solidFill>
                                  <a:srgbClr val="000000"/>
                                </a:solidFill>
                                <a:latin typeface="Cambria Math" panose="02040503050406030204" pitchFamily="18" charset="0"/>
                              </a:rPr>
                              <m:t>−</m:t>
                            </m:r>
                            <m:r>
                              <a:rPr lang="en-US" sz="2800" b="0" i="0">
                                <a:solidFill>
                                  <a:srgbClr val="000000"/>
                                </a:solidFill>
                                <a:latin typeface="Cambria Math" panose="02040503050406030204" pitchFamily="18" charset="0"/>
                              </a:rPr>
                              <m:t>1</m:t>
                            </m:r>
                          </m:sup>
                        </m:sSup>
                      </m:oMath>
                    </m:oMathPara>
                  </a14:m>
                  <a:endParaRPr lang="en-US" sz="2800" dirty="0"/>
                </a:p>
              </p:txBody>
            </p:sp>
          </mc:Choice>
          <mc:Fallback xmlns="">
            <p:sp>
              <p:nvSpPr>
                <p:cNvPr id="12295" name="Object 4"/>
                <p:cNvSpPr txBox="1">
                  <a:spLocks noRot="1" noChangeAspect="1" noMove="1" noResize="1" noEditPoints="1" noAdjustHandles="1" noChangeArrowheads="1" noChangeShapeType="1" noTextEdit="1"/>
                </p:cNvSpPr>
                <p:nvPr/>
              </p:nvSpPr>
              <p:spPr>
                <a:xfrm>
                  <a:off x="1488" y="3840"/>
                  <a:ext cx="1353" cy="350"/>
                </a:xfrm>
                <a:prstGeom prst="rect">
                  <a:avLst/>
                </a:prstGeom>
                <a:blipFill>
                  <a:blip r:embed="rId3"/>
                  <a:stretch>
                    <a:fillRect/>
                  </a:stretch>
                </a:blipFill>
                <a:ln w="38100">
                  <a:noFill/>
                  <a:miter/>
                </a:ln>
              </p:spPr>
              <p:txBody>
                <a:bodyPr/>
                <a:lstStyle/>
                <a:p>
                  <a:r>
                    <a:rPr lang="zh-CN" altLang="en-US">
                      <a:noFill/>
                    </a:rPr>
                    <a:t> </a:t>
                  </a:r>
                </a:p>
              </p:txBody>
            </p:sp>
          </mc:Fallback>
        </mc:AlternateContent>
      </p:grpSp>
      <p:sp>
        <p:nvSpPr>
          <p:cNvPr id="12297" name="Text Box 5"/>
          <p:cNvSpPr txBox="1"/>
          <p:nvPr/>
        </p:nvSpPr>
        <p:spPr>
          <a:xfrm>
            <a:off x="1116531" y="1125539"/>
            <a:ext cx="9529010" cy="1093633"/>
          </a:xfrm>
          <a:prstGeom prst="rect">
            <a:avLst/>
          </a:prstGeom>
          <a:noFill/>
          <a:ln w="9525">
            <a:noFill/>
          </a:ln>
        </p:spPr>
        <p:txBody>
          <a:bodyPr wrap="square">
            <a:spAutoFit/>
          </a:bodyPr>
          <a:lstStyle/>
          <a:p>
            <a:pPr eaLnBrk="1" hangingPunct="1">
              <a:lnSpc>
                <a:spcPct val="120000"/>
              </a:lnSpc>
              <a:spcBef>
                <a:spcPct val="50000"/>
              </a:spcBef>
            </a:pPr>
            <a:r>
              <a:rPr lang="zh-CN" altLang="en-US" sz="2800" dirty="0">
                <a:solidFill>
                  <a:srgbClr val="000000"/>
                </a:solidFill>
                <a:latin typeface="Times New Roman" panose="02020603050405020304" pitchFamily="18" charset="0"/>
              </a:rPr>
              <a:t>        理想气体在等体过程中吸收热量        ，使温度升高      ，则其</a:t>
            </a:r>
            <a:r>
              <a:rPr lang="zh-CN" altLang="en-US" sz="2800" dirty="0">
                <a:solidFill>
                  <a:srgbClr val="000000"/>
                </a:solidFill>
                <a:latin typeface="Arial" panose="020B0604020202020204" pitchFamily="34" charset="0"/>
              </a:rPr>
              <a:t>摩尔</a:t>
            </a:r>
            <a:r>
              <a:rPr lang="zh-CN" altLang="en-US" sz="2800" dirty="0">
                <a:solidFill>
                  <a:srgbClr val="000000"/>
                </a:solidFill>
                <a:latin typeface="Times New Roman" panose="02020603050405020304" pitchFamily="18" charset="0"/>
              </a:rPr>
              <a:t>定体热容为</a:t>
            </a:r>
            <a:r>
              <a:rPr lang="en-US" altLang="zh-CN" sz="2800" dirty="0">
                <a:solidFill>
                  <a:srgbClr val="000000"/>
                </a:solidFill>
                <a:latin typeface="Times New Roman" panose="02020603050405020304" pitchFamily="18" charset="0"/>
              </a:rPr>
              <a:t>:</a:t>
            </a:r>
          </a:p>
        </p:txBody>
      </p:sp>
      <mc:AlternateContent xmlns:mc="http://schemas.openxmlformats.org/markup-compatibility/2006" xmlns:a14="http://schemas.microsoft.com/office/drawing/2010/main">
        <mc:Choice Requires="a14">
          <p:sp>
            <p:nvSpPr>
              <p:cNvPr id="12290" name="Object 6"/>
              <p:cNvSpPr txBox="1"/>
              <p:nvPr/>
            </p:nvSpPr>
            <p:spPr>
              <a:xfrm>
                <a:off x="1045360" y="1209017"/>
                <a:ext cx="762000" cy="3714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1</m:t>
                      </m:r>
                      <m:r>
                        <m:rPr>
                          <m:nor/>
                        </m:rPr>
                        <a:rPr lang="en-US" sz="2800" i="0">
                          <a:solidFill>
                            <a:srgbClr val="000000"/>
                          </a:solidFill>
                          <a:latin typeface="Cambria Math" panose="02040503050406030204" pitchFamily="18" charset="0"/>
                        </a:rPr>
                        <m:t>mol</m:t>
                      </m:r>
                    </m:oMath>
                  </m:oMathPara>
                </a14:m>
                <a:endParaRPr lang="en-US" sz="2800" dirty="0"/>
              </a:p>
            </p:txBody>
          </p:sp>
        </mc:Choice>
        <mc:Fallback xmlns="">
          <p:sp>
            <p:nvSpPr>
              <p:cNvPr id="12290" name="Object 6"/>
              <p:cNvSpPr txBox="1">
                <a:spLocks noRot="1" noChangeAspect="1" noMove="1" noResize="1" noEditPoints="1" noAdjustHandles="1" noChangeArrowheads="1" noChangeShapeType="1" noTextEdit="1"/>
              </p:cNvSpPr>
              <p:nvPr/>
            </p:nvSpPr>
            <p:spPr>
              <a:xfrm>
                <a:off x="1045360" y="1209017"/>
                <a:ext cx="762000" cy="371475"/>
              </a:xfrm>
              <a:prstGeom prst="rect">
                <a:avLst/>
              </a:prstGeom>
              <a:blipFill>
                <a:blip r:embed="rId4"/>
                <a:stretch>
                  <a:fillRect r="-12000" b="-6557"/>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91" name="Object 7"/>
              <p:cNvSpPr txBox="1"/>
              <p:nvPr/>
            </p:nvSpPr>
            <p:spPr>
              <a:xfrm>
                <a:off x="6832600" y="1181330"/>
                <a:ext cx="685800" cy="48260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𝑄</m:t>
                          </m:r>
                        </m:e>
                        <m:sub>
                          <m:r>
                            <a:rPr lang="en-US" sz="2800" b="0" i="1">
                              <a:solidFill>
                                <a:srgbClr val="000000"/>
                              </a:solidFill>
                              <a:latin typeface="Cambria Math" panose="02040503050406030204" pitchFamily="18" charset="0"/>
                            </a:rPr>
                            <m:t>𝑉</m:t>
                          </m:r>
                        </m:sub>
                      </m:sSub>
                    </m:oMath>
                  </m:oMathPara>
                </a14:m>
                <a:endParaRPr lang="en-US" sz="2800" dirty="0"/>
              </a:p>
            </p:txBody>
          </p:sp>
        </mc:Choice>
        <mc:Fallback xmlns="">
          <p:sp>
            <p:nvSpPr>
              <p:cNvPr id="12291" name="Object 7"/>
              <p:cNvSpPr txBox="1">
                <a:spLocks noRot="1" noChangeAspect="1" noMove="1" noResize="1" noEditPoints="1" noAdjustHandles="1" noChangeArrowheads="1" noChangeShapeType="1" noTextEdit="1"/>
              </p:cNvSpPr>
              <p:nvPr/>
            </p:nvSpPr>
            <p:spPr>
              <a:xfrm>
                <a:off x="6832600" y="1181330"/>
                <a:ext cx="685800" cy="482600"/>
              </a:xfrm>
              <a:prstGeom prst="rect">
                <a:avLst/>
              </a:prstGeom>
              <a:blipFill>
                <a:blip r:embed="rId5"/>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92" name="Object 8"/>
              <p:cNvSpPr txBox="1"/>
              <p:nvPr/>
            </p:nvSpPr>
            <p:spPr>
              <a:xfrm>
                <a:off x="9694980" y="1181330"/>
                <a:ext cx="552450" cy="4095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𝑇</m:t>
                      </m:r>
                    </m:oMath>
                  </m:oMathPara>
                </a14:m>
                <a:endParaRPr lang="en-US" sz="2800" dirty="0"/>
              </a:p>
            </p:txBody>
          </p:sp>
        </mc:Choice>
        <mc:Fallback xmlns="">
          <p:sp>
            <p:nvSpPr>
              <p:cNvPr id="12292" name="Object 8"/>
              <p:cNvSpPr txBox="1">
                <a:spLocks noRot="1" noChangeAspect="1" noMove="1" noResize="1" noEditPoints="1" noAdjustHandles="1" noChangeArrowheads="1" noChangeShapeType="1" noTextEdit="1"/>
              </p:cNvSpPr>
              <p:nvPr/>
            </p:nvSpPr>
            <p:spPr>
              <a:xfrm>
                <a:off x="9694980" y="1181330"/>
                <a:ext cx="552450" cy="409575"/>
              </a:xfrm>
              <a:prstGeom prst="rect">
                <a:avLst/>
              </a:prstGeom>
              <a:blipFill>
                <a:blip r:embed="rId6"/>
                <a:stretch>
                  <a:fillRect/>
                </a:stretch>
              </a:blipFill>
              <a:ln w="38100">
                <a:noFill/>
                <a:miter/>
              </a:ln>
            </p:spPr>
            <p:txBody>
              <a:bodyPr/>
              <a:lstStyle/>
              <a:p>
                <a:r>
                  <a:rPr lang="en-US">
                    <a:noFill/>
                  </a:rPr>
                  <a:t> </a:t>
                </a:r>
              </a:p>
            </p:txBody>
          </p:sp>
        </mc:Fallback>
      </mc:AlternateContent>
      <p:graphicFrame>
        <p:nvGraphicFramePr>
          <p:cNvPr id="421897" name="Object 9"/>
          <p:cNvGraphicFramePr/>
          <p:nvPr>
            <p:extLst>
              <p:ext uri="{D42A27DB-BD31-4B8C-83A1-F6EECF244321}">
                <p14:modId xmlns:p14="http://schemas.microsoft.com/office/powerpoint/2010/main" val="3172178115"/>
              </p:ext>
            </p:extLst>
          </p:nvPr>
        </p:nvGraphicFramePr>
        <p:xfrm>
          <a:off x="3232149" y="2192837"/>
          <a:ext cx="2160588" cy="987425"/>
        </p:xfrm>
        <a:graphic>
          <a:graphicData uri="http://schemas.openxmlformats.org/presentationml/2006/ole">
            <mc:AlternateContent xmlns:mc="http://schemas.openxmlformats.org/markup-compatibility/2006">
              <mc:Choice xmlns:v="urn:schemas-microsoft-com:vml" Requires="v">
                <p:oleObj spid="_x0000_s5185" r:id="rId7" imgW="761365" imgH="393700" progId="Equation.3">
                  <p:embed/>
                </p:oleObj>
              </mc:Choice>
              <mc:Fallback>
                <p:oleObj r:id="rId7" imgW="761365" imgH="393700" progId="Equation.3">
                  <p:embed/>
                  <p:pic>
                    <p:nvPicPr>
                      <p:cNvPr id="421897" name="Object 9"/>
                      <p:cNvPicPr/>
                      <p:nvPr/>
                    </p:nvPicPr>
                    <p:blipFill>
                      <a:blip r:embed="rId8"/>
                      <a:stretch>
                        <a:fillRect/>
                      </a:stretch>
                    </p:blipFill>
                    <p:spPr>
                      <a:xfrm>
                        <a:off x="3232149" y="2192837"/>
                        <a:ext cx="2160588" cy="987425"/>
                      </a:xfrm>
                      <a:prstGeom prst="rect">
                        <a:avLst/>
                      </a:prstGeom>
                      <a:noFill/>
                      <a:ln w="38100">
                        <a:noFill/>
                        <a:miter/>
                      </a:ln>
                    </p:spPr>
                  </p:pic>
                </p:oleObj>
              </mc:Fallback>
            </mc:AlternateContent>
          </a:graphicData>
        </a:graphic>
      </p:graphicFrame>
      <p:graphicFrame>
        <p:nvGraphicFramePr>
          <p:cNvPr id="421898" name="Object 10"/>
          <p:cNvGraphicFramePr/>
          <p:nvPr>
            <p:extLst>
              <p:ext uri="{D42A27DB-BD31-4B8C-83A1-F6EECF244321}">
                <p14:modId xmlns:p14="http://schemas.microsoft.com/office/powerpoint/2010/main" val="2440072380"/>
              </p:ext>
            </p:extLst>
          </p:nvPr>
        </p:nvGraphicFramePr>
        <p:xfrm>
          <a:off x="3891603" y="3466606"/>
          <a:ext cx="2879725" cy="611188"/>
        </p:xfrm>
        <a:graphic>
          <a:graphicData uri="http://schemas.openxmlformats.org/presentationml/2006/ole">
            <mc:AlternateContent xmlns:mc="http://schemas.openxmlformats.org/markup-compatibility/2006">
              <mc:Choice xmlns:v="urn:schemas-microsoft-com:vml" Requires="v">
                <p:oleObj spid="_x0000_s5186" r:id="rId9" imgW="901065" imgH="228600" progId="Equation.3">
                  <p:embed/>
                </p:oleObj>
              </mc:Choice>
              <mc:Fallback>
                <p:oleObj r:id="rId9" imgW="901065" imgH="228600" progId="Equation.3">
                  <p:embed/>
                  <p:pic>
                    <p:nvPicPr>
                      <p:cNvPr id="421898" name="Object 10"/>
                      <p:cNvPicPr/>
                      <p:nvPr/>
                    </p:nvPicPr>
                    <p:blipFill>
                      <a:blip r:embed="rId10"/>
                      <a:stretch>
                        <a:fillRect/>
                      </a:stretch>
                    </p:blipFill>
                    <p:spPr>
                      <a:xfrm>
                        <a:off x="3891603" y="3466606"/>
                        <a:ext cx="2879725" cy="611188"/>
                      </a:xfrm>
                      <a:prstGeom prst="rect">
                        <a:avLst/>
                      </a:prstGeom>
                      <a:noFill/>
                      <a:ln w="38100">
                        <a:noFill/>
                        <a:miter/>
                      </a:ln>
                    </p:spPr>
                  </p:pic>
                </p:oleObj>
              </mc:Fallback>
            </mc:AlternateContent>
          </a:graphicData>
        </a:graphic>
      </p:graphicFrame>
      <p:sp>
        <p:nvSpPr>
          <p:cNvPr id="20" name="Text Box 13">
            <a:hlinkClick r:id="" action="ppaction://noaction"/>
            <a:extLst>
              <a:ext uri="{FF2B5EF4-FFF2-40B4-BE49-F238E27FC236}">
                <a16:creationId xmlns:a16="http://schemas.microsoft.com/office/drawing/2014/main" id="{7EE9A53E-439E-46F3-8960-CAF44A85EE11}"/>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等体过程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摩尔定体热容</a:t>
            </a:r>
          </a:p>
        </p:txBody>
      </p:sp>
      <p:grpSp>
        <p:nvGrpSpPr>
          <p:cNvPr id="26" name="Group 14">
            <a:extLst>
              <a:ext uri="{FF2B5EF4-FFF2-40B4-BE49-F238E27FC236}">
                <a16:creationId xmlns:a16="http://schemas.microsoft.com/office/drawing/2014/main" id="{0AA14F02-E718-42F3-BB36-E1F146C02FA3}"/>
              </a:ext>
            </a:extLst>
          </p:cNvPr>
          <p:cNvGrpSpPr/>
          <p:nvPr/>
        </p:nvGrpSpPr>
        <p:grpSpPr>
          <a:xfrm>
            <a:off x="3232149" y="5458143"/>
            <a:ext cx="3008313" cy="1052513"/>
            <a:chOff x="3094" y="2324"/>
            <a:chExt cx="1895" cy="663"/>
          </a:xfrm>
        </p:grpSpPr>
        <p:sp>
          <p:nvSpPr>
            <p:cNvPr id="27" name="AutoShape 12">
              <a:extLst>
                <a:ext uri="{FF2B5EF4-FFF2-40B4-BE49-F238E27FC236}">
                  <a16:creationId xmlns:a16="http://schemas.microsoft.com/office/drawing/2014/main" id="{B681CB36-5C91-4575-8994-CCA96BFC1941}"/>
                </a:ext>
              </a:extLst>
            </p:cNvPr>
            <p:cNvSpPr/>
            <p:nvPr/>
          </p:nvSpPr>
          <p:spPr>
            <a:xfrm>
              <a:off x="3094" y="2555"/>
              <a:ext cx="460" cy="202"/>
            </a:xfrm>
            <a:prstGeom prst="rightArrow">
              <a:avLst>
                <a:gd name="adj1" fmla="val 50000"/>
                <a:gd name="adj2" fmla="val 5693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sz="2800" dirty="0">
                <a:latin typeface="+mn-ea"/>
              </a:endParaRPr>
            </a:p>
          </p:txBody>
        </p:sp>
        <mc:AlternateContent xmlns:mc="http://schemas.openxmlformats.org/markup-compatibility/2006" xmlns:a14="http://schemas.microsoft.com/office/drawing/2010/main">
          <mc:Choice Requires="a14">
            <p:sp>
              <p:nvSpPr>
                <p:cNvPr id="28" name="Object 13">
                  <a:extLst>
                    <a:ext uri="{FF2B5EF4-FFF2-40B4-BE49-F238E27FC236}">
                      <a16:creationId xmlns:a16="http://schemas.microsoft.com/office/drawing/2014/main" id="{A9149973-C2A2-40AF-B469-7C04E9759C7C}"/>
                    </a:ext>
                  </a:extLst>
                </p:cNvPr>
                <p:cNvSpPr txBox="1"/>
                <p:nvPr/>
              </p:nvSpPr>
              <p:spPr>
                <a:xfrm>
                  <a:off x="3686" y="2324"/>
                  <a:ext cx="1303" cy="663"/>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𝐶</m:t>
                            </m:r>
                          </m:e>
                          <m:sub>
                            <m:r>
                              <a:rPr lang="en-US" sz="2800" b="0" i="1">
                                <a:solidFill>
                                  <a:schemeClr val="tx1"/>
                                </a:solidFill>
                                <a:latin typeface="Cambria Math" panose="02040503050406030204" pitchFamily="18" charset="0"/>
                              </a:rPr>
                              <m:t>𝑉</m:t>
                            </m:r>
                            <m:r>
                              <a:rPr lang="en-US" sz="2800" b="0" i="1">
                                <a:solidFill>
                                  <a:schemeClr val="tx1"/>
                                </a:solidFill>
                                <a:latin typeface="Cambria Math" panose="02040503050406030204" pitchFamily="18" charset="0"/>
                              </a:rPr>
                              <m:t>,</m:t>
                            </m:r>
                            <m:r>
                              <m:rPr>
                                <m:sty m:val="p"/>
                              </m:rPr>
                              <a:rPr lang="en-US" sz="2800" b="0" i="0">
                                <a:solidFill>
                                  <a:schemeClr val="tx1"/>
                                </a:solidFill>
                                <a:latin typeface="Cambria Math" panose="02040503050406030204" pitchFamily="18" charset="0"/>
                              </a:rPr>
                              <m:t>m</m:t>
                            </m:r>
                          </m:sub>
                        </m:sSub>
                        <m:r>
                          <a:rPr lang="en-US" sz="2800" b="0" i="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m:rPr>
                                <m:sty m:val="p"/>
                              </m:rPr>
                              <a:rPr lang="en-US" sz="2800" b="0" i="0">
                                <a:solidFill>
                                  <a:schemeClr val="tx1"/>
                                </a:solidFill>
                                <a:latin typeface="Cambria Math" panose="02040503050406030204" pitchFamily="18" charset="0"/>
                              </a:rPr>
                              <m:t>i</m:t>
                            </m:r>
                          </m:num>
                          <m:den>
                            <m:r>
                              <a:rPr lang="en-US" sz="2800" b="0" i="0">
                                <a:solidFill>
                                  <a:schemeClr val="tx1"/>
                                </a:solidFill>
                                <a:latin typeface="Cambria Math" panose="02040503050406030204" pitchFamily="18" charset="0"/>
                              </a:rPr>
                              <m:t>2</m:t>
                            </m:r>
                          </m:den>
                        </m:f>
                        <m:r>
                          <a:rPr lang="en-US" sz="2800" b="0" i="1">
                            <a:solidFill>
                              <a:schemeClr val="tx1"/>
                            </a:solidFill>
                            <a:latin typeface="Cambria Math" panose="02040503050406030204" pitchFamily="18" charset="0"/>
                          </a:rPr>
                          <m:t>𝑅</m:t>
                        </m:r>
                      </m:oMath>
                    </m:oMathPara>
                  </a14:m>
                  <a:endParaRPr lang="en-US" sz="2800" dirty="0">
                    <a:solidFill>
                      <a:schemeClr val="tx1"/>
                    </a:solidFill>
                    <a:latin typeface="+mn-ea"/>
                  </a:endParaRPr>
                </a:p>
              </p:txBody>
            </p:sp>
          </mc:Choice>
          <mc:Fallback xmlns="">
            <p:sp>
              <p:nvSpPr>
                <p:cNvPr id="28" name="Object 13">
                  <a:extLst>
                    <a:ext uri="{FF2B5EF4-FFF2-40B4-BE49-F238E27FC236}">
                      <a16:creationId xmlns:a16="http://schemas.microsoft.com/office/drawing/2014/main" id="{A9149973-C2A2-40AF-B469-7C04E9759C7C}"/>
                    </a:ext>
                  </a:extLst>
                </p:cNvPr>
                <p:cNvSpPr txBox="1">
                  <a:spLocks noRot="1" noChangeAspect="1" noMove="1" noResize="1" noEditPoints="1" noAdjustHandles="1" noChangeArrowheads="1" noChangeShapeType="1" noTextEdit="1"/>
                </p:cNvSpPr>
                <p:nvPr/>
              </p:nvSpPr>
              <p:spPr>
                <a:xfrm>
                  <a:off x="3686" y="2324"/>
                  <a:ext cx="1303" cy="663"/>
                </a:xfrm>
                <a:prstGeom prst="rect">
                  <a:avLst/>
                </a:prstGeom>
                <a:blipFill>
                  <a:blip r:embed="rId13"/>
                  <a:stretch>
                    <a:fillRect/>
                  </a:stretch>
                </a:blipFill>
                <a:ln w="38100">
                  <a:noFill/>
                  <a:miter/>
                </a:ln>
              </p:spPr>
              <p:txBody>
                <a:bodyPr/>
                <a:lstStyle/>
                <a:p>
                  <a:r>
                    <a:rPr lang="en-US">
                      <a:noFill/>
                    </a:rPr>
                    <a:t> </a:t>
                  </a:r>
                </a:p>
              </p:txBody>
            </p:sp>
          </mc:Fallback>
        </mc:AlternateContent>
      </p:grpSp>
      <p:graphicFrame>
        <p:nvGraphicFramePr>
          <p:cNvPr id="3" name="Object 2">
            <a:extLst>
              <a:ext uri="{FF2B5EF4-FFF2-40B4-BE49-F238E27FC236}">
                <a16:creationId xmlns:a16="http://schemas.microsoft.com/office/drawing/2014/main" id="{074CEBAB-55A4-392A-00D0-7E83EC5F4D93}"/>
              </a:ext>
            </a:extLst>
          </p:cNvPr>
          <p:cNvGraphicFramePr/>
          <p:nvPr>
            <p:extLst>
              <p:ext uri="{D42A27DB-BD31-4B8C-83A1-F6EECF244321}">
                <p14:modId xmlns:p14="http://schemas.microsoft.com/office/powerpoint/2010/main" val="1651502523"/>
              </p:ext>
            </p:extLst>
          </p:nvPr>
        </p:nvGraphicFramePr>
        <p:xfrm>
          <a:off x="7385050" y="5310188"/>
          <a:ext cx="3781425" cy="573087"/>
        </p:xfrm>
        <a:graphic>
          <a:graphicData uri="http://schemas.openxmlformats.org/presentationml/2006/ole">
            <mc:AlternateContent xmlns:mc="http://schemas.openxmlformats.org/markup-compatibility/2006">
              <mc:Choice xmlns:v="urn:schemas-microsoft-com:vml" Requires="v">
                <p:oleObj spid="_x0000_s5187" r:id="rId14" imgW="1308100" imgH="228600" progId="Equation.3">
                  <p:embed/>
                </p:oleObj>
              </mc:Choice>
              <mc:Fallback>
                <p:oleObj r:id="rId14" imgW="1308100" imgH="228600" progId="Equation.3">
                  <p:embed/>
                  <p:pic>
                    <p:nvPicPr>
                      <p:cNvPr id="30" name="Object 2">
                        <a:extLst>
                          <a:ext uri="{FF2B5EF4-FFF2-40B4-BE49-F238E27FC236}">
                            <a16:creationId xmlns:a16="http://schemas.microsoft.com/office/drawing/2014/main" id="{CC23C287-028F-4701-8621-91DF854AE789}"/>
                          </a:ext>
                        </a:extLst>
                      </p:cNvPr>
                      <p:cNvPicPr/>
                      <p:nvPr/>
                    </p:nvPicPr>
                    <p:blipFill>
                      <a:blip r:embed="rId15"/>
                      <a:stretch>
                        <a:fillRect/>
                      </a:stretch>
                    </p:blipFill>
                    <p:spPr>
                      <a:xfrm>
                        <a:off x="7385050" y="5310188"/>
                        <a:ext cx="3781425" cy="573087"/>
                      </a:xfrm>
                      <a:prstGeom prst="rect">
                        <a:avLst/>
                      </a:prstGeom>
                      <a:noFill/>
                      <a:ln w="38100">
                        <a:noFill/>
                        <a:miter/>
                      </a:ln>
                    </p:spPr>
                  </p:pic>
                </p:oleObj>
              </mc:Fallback>
            </mc:AlternateContent>
          </a:graphicData>
        </a:graphic>
      </p:graphicFrame>
      <p:grpSp>
        <p:nvGrpSpPr>
          <p:cNvPr id="4" name="Group 7">
            <a:extLst>
              <a:ext uri="{FF2B5EF4-FFF2-40B4-BE49-F238E27FC236}">
                <a16:creationId xmlns:a16="http://schemas.microsoft.com/office/drawing/2014/main" id="{E78A839D-98EA-FB71-AF54-045721928E83}"/>
              </a:ext>
            </a:extLst>
          </p:cNvPr>
          <p:cNvGrpSpPr/>
          <p:nvPr/>
        </p:nvGrpSpPr>
        <p:grpSpPr>
          <a:xfrm>
            <a:off x="7820167" y="4638829"/>
            <a:ext cx="3074988" cy="684213"/>
            <a:chOff x="521" y="602"/>
            <a:chExt cx="1937" cy="431"/>
          </a:xfrm>
        </p:grpSpPr>
        <p:sp>
          <p:nvSpPr>
            <p:cNvPr id="5" name="Text Box 8">
              <a:extLst>
                <a:ext uri="{FF2B5EF4-FFF2-40B4-BE49-F238E27FC236}">
                  <a16:creationId xmlns:a16="http://schemas.microsoft.com/office/drawing/2014/main" id="{4AD745CD-C289-B854-3EE7-408BED3900C2}"/>
                </a:ext>
              </a:extLst>
            </p:cNvPr>
            <p:cNvSpPr txBox="1"/>
            <p:nvPr/>
          </p:nvSpPr>
          <p:spPr>
            <a:xfrm>
              <a:off x="1233" y="615"/>
              <a:ext cx="1225" cy="330"/>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理想气体</a:t>
              </a:r>
            </a:p>
          </p:txBody>
        </p:sp>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C730D1F7-7856-E30D-01B8-5557F75D1AA7}"/>
                    </a:ext>
                  </a:extLst>
                </p:cNvPr>
                <p:cNvSpPr txBox="1"/>
                <p:nvPr/>
              </p:nvSpPr>
              <p:spPr>
                <a:xfrm>
                  <a:off x="521" y="602"/>
                  <a:ext cx="726" cy="43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𝜈</m:t>
                            </m:r>
                          </m:e>
                          <m:sub/>
                        </m:sSub>
                        <m:r>
                          <m:rPr>
                            <m:nor/>
                          </m:rPr>
                          <a:rPr lang="en-US" sz="2800" i="0">
                            <a:solidFill>
                              <a:srgbClr val="000000"/>
                            </a:solidFill>
                            <a:latin typeface="Cambria Math" panose="02040503050406030204" pitchFamily="18" charset="0"/>
                          </a:rPr>
                          <m:t>mol</m:t>
                        </m:r>
                      </m:oMath>
                    </m:oMathPara>
                  </a14:m>
                  <a:endParaRPr lang="en-US" sz="2800"/>
                </a:p>
              </p:txBody>
            </p:sp>
          </mc:Choice>
          <mc:Fallback xmlns="">
            <p:sp>
              <p:nvSpPr>
                <p:cNvPr id="33" name="Object 9">
                  <a:extLst>
                    <a:ext uri="{FF2B5EF4-FFF2-40B4-BE49-F238E27FC236}">
                      <a16:creationId xmlns:a16="http://schemas.microsoft.com/office/drawing/2014/main" id="{2C45EEE8-B019-4C58-B8FC-D604D38378B6}"/>
                    </a:ext>
                  </a:extLst>
                </p:cNvPr>
                <p:cNvSpPr txBox="1">
                  <a:spLocks noRot="1" noChangeAspect="1" noMove="1" noResize="1" noEditPoints="1" noAdjustHandles="1" noChangeArrowheads="1" noChangeShapeType="1" noTextEdit="1"/>
                </p:cNvSpPr>
                <p:nvPr/>
              </p:nvSpPr>
              <p:spPr>
                <a:xfrm>
                  <a:off x="521" y="602"/>
                  <a:ext cx="726" cy="431"/>
                </a:xfrm>
                <a:prstGeom prst="rect">
                  <a:avLst/>
                </a:prstGeom>
                <a:blipFill>
                  <a:blip r:embed="rId16"/>
                  <a:stretch>
                    <a:fillRect/>
                  </a:stretch>
                </a:blipFill>
                <a:ln w="38100">
                  <a:noFill/>
                  <a:miter/>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Object 22">
                <a:extLst>
                  <a:ext uri="{FF2B5EF4-FFF2-40B4-BE49-F238E27FC236}">
                    <a16:creationId xmlns:a16="http://schemas.microsoft.com/office/drawing/2014/main" id="{DAC6ECFA-B172-A6AB-DB0C-6ED254428323}"/>
                  </a:ext>
                </a:extLst>
              </p:cNvPr>
              <p:cNvSpPr txBox="1"/>
              <p:nvPr/>
            </p:nvSpPr>
            <p:spPr bwMode="auto">
              <a:xfrm>
                <a:off x="2061534" y="4202258"/>
                <a:ext cx="4771066"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𝑉</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8" name="Object 22">
                <a:extLst>
                  <a:ext uri="{FF2B5EF4-FFF2-40B4-BE49-F238E27FC236}">
                    <a16:creationId xmlns:a16="http://schemas.microsoft.com/office/drawing/2014/main" id="{DAC6ECFA-B172-A6AB-DB0C-6ED254428323}"/>
                  </a:ext>
                </a:extLst>
              </p:cNvPr>
              <p:cNvSpPr txBox="1">
                <a:spLocks noRot="1" noChangeAspect="1" noMove="1" noResize="1" noEditPoints="1" noAdjustHandles="1" noChangeArrowheads="1" noChangeShapeType="1" noTextEdit="1"/>
              </p:cNvSpPr>
              <p:nvPr/>
            </p:nvSpPr>
            <p:spPr bwMode="auto">
              <a:xfrm>
                <a:off x="2061534" y="4202258"/>
                <a:ext cx="4771066" cy="965200"/>
              </a:xfrm>
              <a:prstGeom prst="rect">
                <a:avLst/>
              </a:prstGeom>
              <a:blipFill>
                <a:blip r:embed="rId1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189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18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5" name="Text Box 2"/>
          <p:cNvSpPr txBox="1"/>
          <p:nvPr/>
        </p:nvSpPr>
        <p:spPr>
          <a:xfrm>
            <a:off x="1010652" y="1272558"/>
            <a:ext cx="9019675" cy="1236749"/>
          </a:xfrm>
          <a:prstGeom prst="rect">
            <a:avLst/>
          </a:prstGeom>
          <a:noFill/>
          <a:ln w="9525">
            <a:noFill/>
          </a:ln>
        </p:spPr>
        <p:txBody>
          <a:bodyPr wrap="square">
            <a:spAutoFit/>
          </a:bodyPr>
          <a:lstStyle/>
          <a:p>
            <a:pPr eaLnBrk="1" hangingPunct="1">
              <a:lnSpc>
                <a:spcPct val="120000"/>
              </a:lnSpc>
              <a:spcBef>
                <a:spcPct val="50000"/>
              </a:spcBef>
            </a:pPr>
            <a:r>
              <a:rPr lang="zh-CN" altLang="en-US" sz="3200" dirty="0">
                <a:solidFill>
                  <a:srgbClr val="000000"/>
                </a:solidFill>
                <a:latin typeface="Times New Roman" panose="02020603050405020304" pitchFamily="18" charset="0"/>
              </a:rPr>
              <a:t>          理想气体在等压过程中吸收热量         ，温度升高      ，其摩尔</a:t>
            </a:r>
            <a:r>
              <a:rPr lang="zh-CN" altLang="en-US" sz="3200" dirty="0">
                <a:solidFill>
                  <a:srgbClr val="000000"/>
                </a:solidFill>
                <a:latin typeface="Arial" panose="020B0604020202020204" pitchFamily="34" charset="0"/>
              </a:rPr>
              <a:t>定压</a:t>
            </a:r>
            <a:r>
              <a:rPr lang="zh-CN" altLang="en-US" sz="3200" dirty="0">
                <a:solidFill>
                  <a:srgbClr val="000000"/>
                </a:solidFill>
                <a:latin typeface="Times New Roman" panose="02020603050405020304" pitchFamily="18" charset="0"/>
              </a:rPr>
              <a:t>热容为：</a:t>
            </a:r>
          </a:p>
        </p:txBody>
      </p:sp>
      <mc:AlternateContent xmlns:mc="http://schemas.openxmlformats.org/markup-compatibility/2006" xmlns:a14="http://schemas.microsoft.com/office/drawing/2010/main">
        <mc:Choice Requires="a14">
          <p:sp>
            <p:nvSpPr>
              <p:cNvPr id="17410" name="Object 3"/>
              <p:cNvSpPr txBox="1"/>
              <p:nvPr/>
            </p:nvSpPr>
            <p:spPr>
              <a:xfrm>
                <a:off x="1010652" y="1356832"/>
                <a:ext cx="1081182" cy="466725"/>
              </a:xfrm>
              <a:prstGeom prst="rect">
                <a:avLst/>
              </a:prstGeom>
              <a:noFill/>
              <a:ln w="38100">
                <a:noFill/>
                <a:miter/>
              </a:ln>
            </p:spPr>
            <p:txBody>
              <a:bodyPr>
                <a:noAutofit/>
              </a:bodyPr>
              <a:lstStyle/>
              <a:p>
                <a14:m>
                  <m:oMath xmlns:m="http://schemas.openxmlformats.org/officeDocument/2006/math">
                    <m:r>
                      <a:rPr lang="en-US" sz="3200" b="0" i="1">
                        <a:solidFill>
                          <a:srgbClr val="000000"/>
                        </a:solidFill>
                        <a:latin typeface="Cambria Math" panose="02040503050406030204" pitchFamily="18" charset="0"/>
                      </a:rPr>
                      <m:t>1</m:t>
                    </m:r>
                    <m:r>
                      <m:rPr>
                        <m:nor/>
                      </m:rPr>
                      <a:rPr lang="en-US" sz="3200" i="0">
                        <a:solidFill>
                          <a:srgbClr val="000000"/>
                        </a:solidFill>
                        <a:latin typeface="Cambria Math" panose="02040503050406030204" pitchFamily="18" charset="0"/>
                      </a:rPr>
                      <m:t> </m:t>
                    </m:r>
                    <m:r>
                      <m:rPr>
                        <m:nor/>
                      </m:rPr>
                      <a:rPr lang="en-US" sz="3200" i="0">
                        <a:solidFill>
                          <a:srgbClr val="000000"/>
                        </a:solidFill>
                        <a:latin typeface="Cambria Math" panose="02040503050406030204" pitchFamily="18" charset="0"/>
                      </a:rPr>
                      <m:t>mol</m:t>
                    </m:r>
                  </m:oMath>
                </a14:m>
                <a:r>
                  <a:rPr lang="en-US" sz="3200" dirty="0"/>
                  <a:t> </a:t>
                </a:r>
              </a:p>
            </p:txBody>
          </p:sp>
        </mc:Choice>
        <mc:Fallback xmlns="">
          <p:sp>
            <p:nvSpPr>
              <p:cNvPr id="17410" name="Object 3"/>
              <p:cNvSpPr txBox="1">
                <a:spLocks noRot="1" noChangeAspect="1" noMove="1" noResize="1" noEditPoints="1" noAdjustHandles="1" noChangeArrowheads="1" noChangeShapeType="1" noTextEdit="1"/>
              </p:cNvSpPr>
              <p:nvPr/>
            </p:nvSpPr>
            <p:spPr>
              <a:xfrm>
                <a:off x="1010652" y="1356832"/>
                <a:ext cx="1081182" cy="466725"/>
              </a:xfrm>
              <a:prstGeom prst="rect">
                <a:avLst/>
              </a:prstGeom>
              <a:blipFill>
                <a:blip r:embed="rId3"/>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11" name="Object 4"/>
              <p:cNvSpPr txBox="1"/>
              <p:nvPr/>
            </p:nvSpPr>
            <p:spPr>
              <a:xfrm>
                <a:off x="7810961" y="1349596"/>
                <a:ext cx="873050" cy="608012"/>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en-US" sz="3200" b="0" i="0">
                          <a:solidFill>
                            <a:srgbClr val="000000"/>
                          </a:solidFill>
                          <a:latin typeface="Cambria Math" panose="02040503050406030204" pitchFamily="18" charset="0"/>
                        </a:rPr>
                        <m:t>d</m:t>
                      </m:r>
                      <m:sSub>
                        <m:sSubPr>
                          <m:ctrlPr>
                            <a:rPr lang="en-US" sz="3200" i="1">
                              <a:solidFill>
                                <a:srgbClr val="000000"/>
                              </a:solidFill>
                              <a:latin typeface="Cambria Math" panose="02040503050406030204" pitchFamily="18" charset="0"/>
                            </a:rPr>
                          </m:ctrlPr>
                        </m:sSubPr>
                        <m:e>
                          <m:r>
                            <a:rPr lang="en-US" sz="3200" b="0" i="1">
                              <a:solidFill>
                                <a:srgbClr val="000000"/>
                              </a:solidFill>
                              <a:latin typeface="Cambria Math" panose="02040503050406030204" pitchFamily="18" charset="0"/>
                            </a:rPr>
                            <m:t>𝑄</m:t>
                          </m:r>
                        </m:e>
                        <m:sub>
                          <m:r>
                            <a:rPr lang="en-US" sz="3200" b="0" i="1">
                              <a:solidFill>
                                <a:srgbClr val="000000"/>
                              </a:solidFill>
                              <a:latin typeface="Cambria Math" panose="02040503050406030204" pitchFamily="18" charset="0"/>
                            </a:rPr>
                            <m:t>𝑝</m:t>
                          </m:r>
                        </m:sub>
                      </m:sSub>
                    </m:oMath>
                  </m:oMathPara>
                </a14:m>
                <a:endParaRPr lang="en-US" sz="3200" dirty="0"/>
              </a:p>
            </p:txBody>
          </p:sp>
        </mc:Choice>
        <mc:Fallback xmlns="">
          <p:sp>
            <p:nvSpPr>
              <p:cNvPr id="17411" name="Object 4"/>
              <p:cNvSpPr txBox="1">
                <a:spLocks noRot="1" noChangeAspect="1" noMove="1" noResize="1" noEditPoints="1" noAdjustHandles="1" noChangeArrowheads="1" noChangeShapeType="1" noTextEdit="1"/>
              </p:cNvSpPr>
              <p:nvPr/>
            </p:nvSpPr>
            <p:spPr>
              <a:xfrm>
                <a:off x="7810961" y="1349596"/>
                <a:ext cx="873050" cy="608012"/>
              </a:xfrm>
              <a:prstGeom prst="rect">
                <a:avLst/>
              </a:prstGeom>
              <a:blipFill>
                <a:blip r:embed="rId4"/>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12" name="Object 5"/>
              <p:cNvSpPr txBox="1"/>
              <p:nvPr/>
            </p:nvSpPr>
            <p:spPr>
              <a:xfrm>
                <a:off x="2233109" y="1890932"/>
                <a:ext cx="640973" cy="4095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3200" b="0" i="0">
                          <a:solidFill>
                            <a:srgbClr val="000000"/>
                          </a:solidFill>
                          <a:latin typeface="Cambria Math" panose="02040503050406030204" pitchFamily="18" charset="0"/>
                        </a:rPr>
                        <m:t>d</m:t>
                      </m:r>
                      <m:r>
                        <a:rPr lang="en-US" sz="3200" b="0" i="1">
                          <a:solidFill>
                            <a:srgbClr val="000000"/>
                          </a:solidFill>
                          <a:latin typeface="Cambria Math" panose="02040503050406030204" pitchFamily="18" charset="0"/>
                        </a:rPr>
                        <m:t>𝑇</m:t>
                      </m:r>
                    </m:oMath>
                  </m:oMathPara>
                </a14:m>
                <a:endParaRPr lang="en-US" sz="3200" dirty="0"/>
              </a:p>
            </p:txBody>
          </p:sp>
        </mc:Choice>
        <mc:Fallback xmlns="">
          <p:sp>
            <p:nvSpPr>
              <p:cNvPr id="17412" name="Object 5"/>
              <p:cNvSpPr txBox="1">
                <a:spLocks noRot="1" noChangeAspect="1" noMove="1" noResize="1" noEditPoints="1" noAdjustHandles="1" noChangeArrowheads="1" noChangeShapeType="1" noTextEdit="1"/>
              </p:cNvSpPr>
              <p:nvPr/>
            </p:nvSpPr>
            <p:spPr>
              <a:xfrm>
                <a:off x="2233109" y="1890932"/>
                <a:ext cx="640973" cy="409575"/>
              </a:xfrm>
              <a:prstGeom prst="rect">
                <a:avLst/>
              </a:prstGeom>
              <a:blipFill>
                <a:blip r:embed="rId5"/>
                <a:stretch>
                  <a:fillRect b="-8955"/>
                </a:stretch>
              </a:blipFill>
              <a:ln w="38100">
                <a:noFill/>
                <a:miter/>
              </a:ln>
            </p:spPr>
            <p:txBody>
              <a:bodyPr/>
              <a:lstStyle/>
              <a:p>
                <a:r>
                  <a:rPr lang="en-US">
                    <a:noFill/>
                  </a:rPr>
                  <a:t> </a:t>
                </a:r>
              </a:p>
            </p:txBody>
          </p:sp>
        </mc:Fallback>
      </mc:AlternateContent>
      <p:graphicFrame>
        <p:nvGraphicFramePr>
          <p:cNvPr id="17413" name="Object 6"/>
          <p:cNvGraphicFramePr>
            <a:graphicFrameLocks noGrp="1"/>
          </p:cNvGraphicFramePr>
          <p:nvPr>
            <p:ph sz="half" idx="1"/>
            <p:extLst>
              <p:ext uri="{D42A27DB-BD31-4B8C-83A1-F6EECF244321}">
                <p14:modId xmlns:p14="http://schemas.microsoft.com/office/powerpoint/2010/main" val="227881004"/>
              </p:ext>
            </p:extLst>
          </p:nvPr>
        </p:nvGraphicFramePr>
        <p:xfrm>
          <a:off x="6300676" y="2728703"/>
          <a:ext cx="2711244" cy="615950"/>
        </p:xfrm>
        <a:graphic>
          <a:graphicData uri="http://schemas.openxmlformats.org/presentationml/2006/ole">
            <mc:AlternateContent xmlns:mc="http://schemas.openxmlformats.org/markup-compatibility/2006">
              <mc:Choice xmlns:v="urn:schemas-microsoft-com:vml" Requires="v">
                <p:oleObj spid="_x0000_s6209" r:id="rId6" imgW="901065" imgH="241300" progId="Equation.3">
                  <p:embed/>
                </p:oleObj>
              </mc:Choice>
              <mc:Fallback>
                <p:oleObj r:id="rId6" imgW="901065" imgH="241300" progId="Equation.3">
                  <p:embed/>
                  <p:pic>
                    <p:nvPicPr>
                      <p:cNvPr id="17413" name="Object 6"/>
                      <p:cNvPicPr/>
                      <p:nvPr/>
                    </p:nvPicPr>
                    <p:blipFill>
                      <a:blip r:embed="rId7"/>
                      <a:stretch>
                        <a:fillRect/>
                      </a:stretch>
                    </p:blipFill>
                    <p:spPr>
                      <a:xfrm>
                        <a:off x="6300676" y="2728703"/>
                        <a:ext cx="2711244" cy="615950"/>
                      </a:xfrm>
                      <a:prstGeom prst="rect">
                        <a:avLst/>
                      </a:prstGeom>
                      <a:noFill/>
                      <a:ln w="38100">
                        <a:miter/>
                      </a:ln>
                    </p:spPr>
                  </p:pic>
                </p:oleObj>
              </mc:Fallback>
            </mc:AlternateContent>
          </a:graphicData>
        </a:graphic>
      </p:graphicFrame>
      <p:graphicFrame>
        <p:nvGraphicFramePr>
          <p:cNvPr id="17414" name="Object 7"/>
          <p:cNvGraphicFramePr>
            <a:graphicFrameLocks noGrp="1"/>
          </p:cNvGraphicFramePr>
          <p:nvPr>
            <p:ph sz="half" idx="2"/>
            <p:extLst>
              <p:ext uri="{D42A27DB-BD31-4B8C-83A1-F6EECF244321}">
                <p14:modId xmlns:p14="http://schemas.microsoft.com/office/powerpoint/2010/main" val="4219827003"/>
              </p:ext>
            </p:extLst>
          </p:nvPr>
        </p:nvGraphicFramePr>
        <p:xfrm>
          <a:off x="3355975" y="2500313"/>
          <a:ext cx="2276475" cy="1063625"/>
        </p:xfrm>
        <a:graphic>
          <a:graphicData uri="http://schemas.openxmlformats.org/presentationml/2006/ole">
            <mc:AlternateContent xmlns:mc="http://schemas.openxmlformats.org/markup-compatibility/2006">
              <mc:Choice xmlns:v="urn:schemas-microsoft-com:vml" Requires="v">
                <p:oleObj spid="_x0000_s6210" r:id="rId8" imgW="761365" imgH="419100" progId="Equation.3">
                  <p:embed/>
                </p:oleObj>
              </mc:Choice>
              <mc:Fallback>
                <p:oleObj r:id="rId8" imgW="761365" imgH="419100" progId="Equation.3">
                  <p:embed/>
                  <p:pic>
                    <p:nvPicPr>
                      <p:cNvPr id="17414" name="Object 7"/>
                      <p:cNvPicPr/>
                      <p:nvPr/>
                    </p:nvPicPr>
                    <p:blipFill>
                      <a:blip r:embed="rId9"/>
                      <a:stretch>
                        <a:fillRect/>
                      </a:stretch>
                    </p:blipFill>
                    <p:spPr>
                      <a:xfrm>
                        <a:off x="3355975" y="2500313"/>
                        <a:ext cx="2276475" cy="1063625"/>
                      </a:xfrm>
                      <a:prstGeom prst="rect">
                        <a:avLst/>
                      </a:prstGeom>
                      <a:noFill/>
                      <a:ln w="38100">
                        <a:miter/>
                      </a:ln>
                    </p:spPr>
                  </p:pic>
                </p:oleObj>
              </mc:Fallback>
            </mc:AlternateContent>
          </a:graphicData>
        </a:graphic>
      </p:graphicFrame>
      <p:sp>
        <p:nvSpPr>
          <p:cNvPr id="14" name="Text Box 13">
            <a:hlinkClick r:id="" action="ppaction://noaction"/>
            <a:extLst>
              <a:ext uri="{FF2B5EF4-FFF2-40B4-BE49-F238E27FC236}">
                <a16:creationId xmlns:a16="http://schemas.microsoft.com/office/drawing/2014/main" id="{8FEAFB96-9109-488E-88CD-23760558BFC3}"/>
              </a:ext>
            </a:extLst>
          </p:cNvPr>
          <p:cNvSpPr txBox="1">
            <a:spLocks noChangeArrowheads="1"/>
          </p:cNvSpPr>
          <p:nvPr/>
        </p:nvSpPr>
        <p:spPr bwMode="auto">
          <a:xfrm>
            <a:off x="617888" y="376609"/>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等压过程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摩尔定压热容</a:t>
            </a:r>
          </a:p>
        </p:txBody>
      </p:sp>
      <p:graphicFrame>
        <p:nvGraphicFramePr>
          <p:cNvPr id="2" name="Object 4">
            <a:extLst>
              <a:ext uri="{FF2B5EF4-FFF2-40B4-BE49-F238E27FC236}">
                <a16:creationId xmlns:a16="http://schemas.microsoft.com/office/drawing/2014/main" id="{6B1D7AFE-F9B9-BFDA-9BDC-667D5791952E}"/>
              </a:ext>
            </a:extLst>
          </p:cNvPr>
          <p:cNvGraphicFramePr/>
          <p:nvPr>
            <p:extLst>
              <p:ext uri="{D42A27DB-BD31-4B8C-83A1-F6EECF244321}">
                <p14:modId xmlns:p14="http://schemas.microsoft.com/office/powerpoint/2010/main" val="4000920075"/>
              </p:ext>
            </p:extLst>
          </p:nvPr>
        </p:nvGraphicFramePr>
        <p:xfrm>
          <a:off x="3644900" y="5372100"/>
          <a:ext cx="2655888" cy="660400"/>
        </p:xfrm>
        <a:graphic>
          <a:graphicData uri="http://schemas.openxmlformats.org/presentationml/2006/ole">
            <mc:AlternateContent xmlns:mc="http://schemas.openxmlformats.org/markup-compatibility/2006">
              <mc:Choice xmlns:v="urn:schemas-microsoft-com:vml" Requires="v">
                <p:oleObj spid="_x0000_s6211" r:id="rId10" imgW="989965" imgH="241300" progId="Equation.3">
                  <p:embed/>
                </p:oleObj>
              </mc:Choice>
              <mc:Fallback>
                <p:oleObj r:id="rId10" imgW="989965" imgH="241300" progId="Equation.3">
                  <p:embed/>
                  <p:pic>
                    <p:nvPicPr>
                      <p:cNvPr id="427012" name="Object 4"/>
                      <p:cNvPicPr/>
                      <p:nvPr/>
                    </p:nvPicPr>
                    <p:blipFill>
                      <a:blip r:embed="rId11"/>
                      <a:stretch>
                        <a:fillRect/>
                      </a:stretch>
                    </p:blipFill>
                    <p:spPr>
                      <a:xfrm>
                        <a:off x="3644900" y="5372100"/>
                        <a:ext cx="2655888" cy="660400"/>
                      </a:xfrm>
                      <a:prstGeom prst="rect">
                        <a:avLst/>
                      </a:prstGeom>
                      <a:noFill/>
                      <a:ln w="12700" cap="flat" cmpd="sng">
                        <a:noFill/>
                        <a:prstDash val="solid"/>
                        <a:miter/>
                        <a:headEnd type="none" w="med" len="med"/>
                        <a:tailEnd type="none" w="med" len="med"/>
                      </a:ln>
                    </p:spPr>
                  </p:pic>
                </p:oleObj>
              </mc:Fallback>
            </mc:AlternateContent>
          </a:graphicData>
        </a:graphic>
      </p:graphicFrame>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5C2E803-7012-2E3C-940D-B2F57CCE5E97}"/>
                  </a:ext>
                </a:extLst>
              </p:cNvPr>
              <p:cNvSpPr/>
              <p:nvPr/>
            </p:nvSpPr>
            <p:spPr>
              <a:xfrm>
                <a:off x="6300676" y="5113311"/>
                <a:ext cx="2038700" cy="10077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smtClean="0">
                          <a:latin typeface="Cambria Math" panose="02040503050406030204" pitchFamily="18" charset="0"/>
                        </a:rPr>
                        <m:t>=</m:t>
                      </m:r>
                      <m:f>
                        <m:fPr>
                          <m:ctrlPr>
                            <a:rPr lang="en-US" sz="3200" i="1">
                              <a:latin typeface="Cambria Math" panose="02040503050406030204" pitchFamily="18" charset="0"/>
                            </a:rPr>
                          </m:ctrlPr>
                        </m:fPr>
                        <m:num>
                          <m:r>
                            <m:rPr>
                              <m:sty m:val="p"/>
                            </m:rPr>
                            <a:rPr lang="en-US" sz="3200">
                              <a:latin typeface="Cambria Math" panose="02040503050406030204" pitchFamily="18" charset="0"/>
                            </a:rPr>
                            <m:t>i</m:t>
                          </m:r>
                        </m:num>
                        <m:den>
                          <m:r>
                            <a:rPr lang="en-US" sz="3200">
                              <a:latin typeface="Cambria Math" panose="02040503050406030204" pitchFamily="18" charset="0"/>
                            </a:rPr>
                            <m:t>2</m:t>
                          </m:r>
                        </m:den>
                      </m:f>
                      <m:r>
                        <a:rPr lang="en-US" sz="3200" i="1">
                          <a:latin typeface="Cambria Math" panose="02040503050406030204" pitchFamily="18" charset="0"/>
                        </a:rPr>
                        <m:t>𝑅</m:t>
                      </m:r>
                      <m:r>
                        <a:rPr lang="en-US" sz="3200" b="0" i="1" smtClean="0">
                          <a:latin typeface="Cambria Math" panose="02040503050406030204" pitchFamily="18" charset="0"/>
                        </a:rPr>
                        <m:t>+</m:t>
                      </m:r>
                      <m:r>
                        <a:rPr lang="en-US" sz="3200" b="0" i="1" smtClean="0">
                          <a:latin typeface="Cambria Math" panose="02040503050406030204" pitchFamily="18" charset="0"/>
                        </a:rPr>
                        <m:t>𝑅</m:t>
                      </m:r>
                    </m:oMath>
                  </m:oMathPara>
                </a14:m>
                <a:endParaRPr lang="en-US" sz="3200" dirty="0"/>
              </a:p>
            </p:txBody>
          </p:sp>
        </mc:Choice>
        <mc:Fallback xmlns="">
          <p:sp>
            <p:nvSpPr>
              <p:cNvPr id="3" name="矩形 2">
                <a:extLst>
                  <a:ext uri="{FF2B5EF4-FFF2-40B4-BE49-F238E27FC236}">
                    <a16:creationId xmlns:a16="http://schemas.microsoft.com/office/drawing/2014/main" id="{E5C2E803-7012-2E3C-940D-B2F57CCE5E97}"/>
                  </a:ext>
                </a:extLst>
              </p:cNvPr>
              <p:cNvSpPr>
                <a:spLocks noRot="1" noChangeAspect="1" noMove="1" noResize="1" noEditPoints="1" noAdjustHandles="1" noChangeArrowheads="1" noChangeShapeType="1" noTextEdit="1"/>
              </p:cNvSpPr>
              <p:nvPr/>
            </p:nvSpPr>
            <p:spPr>
              <a:xfrm>
                <a:off x="6300676" y="5113311"/>
                <a:ext cx="2038700" cy="100771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85">
                <a:extLst>
                  <a:ext uri="{FF2B5EF4-FFF2-40B4-BE49-F238E27FC236}">
                    <a16:creationId xmlns:a16="http://schemas.microsoft.com/office/drawing/2014/main" id="{65291366-7C24-9C14-13F0-0495BD9A5C7A}"/>
                  </a:ext>
                </a:extLst>
              </p:cNvPr>
              <p:cNvSpPr txBox="1"/>
              <p:nvPr/>
            </p:nvSpPr>
            <p:spPr bwMode="auto">
              <a:xfrm>
                <a:off x="261424" y="4069244"/>
                <a:ext cx="6900862"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𝑝</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𝐴</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4" name="Object 85">
                <a:extLst>
                  <a:ext uri="{FF2B5EF4-FFF2-40B4-BE49-F238E27FC236}">
                    <a16:creationId xmlns:a16="http://schemas.microsoft.com/office/drawing/2014/main" id="{65291366-7C24-9C14-13F0-0495BD9A5C7A}"/>
                  </a:ext>
                </a:extLst>
              </p:cNvPr>
              <p:cNvSpPr txBox="1">
                <a:spLocks noRot="1" noChangeAspect="1" noMove="1" noResize="1" noEditPoints="1" noAdjustHandles="1" noChangeArrowheads="1" noChangeShapeType="1" noTextEdit="1"/>
              </p:cNvSpPr>
              <p:nvPr/>
            </p:nvSpPr>
            <p:spPr bwMode="auto">
              <a:xfrm>
                <a:off x="261424" y="4069244"/>
                <a:ext cx="6900862" cy="96520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87">
                <a:extLst>
                  <a:ext uri="{FF2B5EF4-FFF2-40B4-BE49-F238E27FC236}">
                    <a16:creationId xmlns:a16="http://schemas.microsoft.com/office/drawing/2014/main" id="{5045E712-8425-F4E3-D8BC-BA0CC9180042}"/>
                  </a:ext>
                </a:extLst>
              </p:cNvPr>
              <p:cNvSpPr txBox="1"/>
              <p:nvPr/>
            </p:nvSpPr>
            <p:spPr bwMode="auto">
              <a:xfrm>
                <a:off x="4392049" y="3814507"/>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𝜈</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5" name="Object 87">
                <a:extLst>
                  <a:ext uri="{FF2B5EF4-FFF2-40B4-BE49-F238E27FC236}">
                    <a16:creationId xmlns:a16="http://schemas.microsoft.com/office/drawing/2014/main" id="{5045E712-8425-F4E3-D8BC-BA0CC9180042}"/>
                  </a:ext>
                </a:extLst>
              </p:cNvPr>
              <p:cNvSpPr txBox="1">
                <a:spLocks noRot="1" noChangeAspect="1" noMove="1" noResize="1" noEditPoints="1" noAdjustHandles="1" noChangeArrowheads="1" noChangeShapeType="1" noTextEdit="1"/>
              </p:cNvSpPr>
              <p:nvPr/>
            </p:nvSpPr>
            <p:spPr bwMode="auto">
              <a:xfrm>
                <a:off x="4392049" y="3814507"/>
                <a:ext cx="4717731" cy="1092200"/>
              </a:xfrm>
              <a:prstGeom prst="rect">
                <a:avLst/>
              </a:prstGeom>
              <a:blipFill>
                <a:blip r:embed="rId1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7012" name="Object 4"/>
          <p:cNvGraphicFramePr/>
          <p:nvPr>
            <p:extLst>
              <p:ext uri="{D42A27DB-BD31-4B8C-83A1-F6EECF244321}">
                <p14:modId xmlns:p14="http://schemas.microsoft.com/office/powerpoint/2010/main" val="984911947"/>
              </p:ext>
            </p:extLst>
          </p:nvPr>
        </p:nvGraphicFramePr>
        <p:xfrm>
          <a:off x="2506892" y="1204354"/>
          <a:ext cx="2655002" cy="660399"/>
        </p:xfrm>
        <a:graphic>
          <a:graphicData uri="http://schemas.openxmlformats.org/presentationml/2006/ole">
            <mc:AlternateContent xmlns:mc="http://schemas.openxmlformats.org/markup-compatibility/2006">
              <mc:Choice xmlns:v="urn:schemas-microsoft-com:vml" Requires="v">
                <p:oleObj spid="_x0000_s7212" r:id="rId3" imgW="989965" imgH="241300" progId="Equation.3">
                  <p:embed/>
                </p:oleObj>
              </mc:Choice>
              <mc:Fallback>
                <p:oleObj r:id="rId3" imgW="989965" imgH="241300" progId="Equation.3">
                  <p:embed/>
                  <p:pic>
                    <p:nvPicPr>
                      <p:cNvPr id="427012" name="Object 4"/>
                      <p:cNvPicPr/>
                      <p:nvPr/>
                    </p:nvPicPr>
                    <p:blipFill>
                      <a:blip r:embed="rId4"/>
                      <a:stretch>
                        <a:fillRect/>
                      </a:stretch>
                    </p:blipFill>
                    <p:spPr>
                      <a:xfrm>
                        <a:off x="2506892" y="1204354"/>
                        <a:ext cx="2655002" cy="660399"/>
                      </a:xfrm>
                      <a:prstGeom prst="rect">
                        <a:avLst/>
                      </a:prstGeom>
                      <a:noFill/>
                      <a:ln w="12700" cap="flat" cmpd="sng">
                        <a:noFill/>
                        <a:prstDash val="solid"/>
                        <a:miter/>
                        <a:headEnd type="none" w="med" len="med"/>
                        <a:tailEnd type="none" w="med" len="med"/>
                      </a:ln>
                    </p:spPr>
                  </p:pic>
                </p:oleObj>
              </mc:Fallback>
            </mc:AlternateContent>
          </a:graphicData>
        </a:graphic>
      </p:graphicFrame>
      <p:sp>
        <p:nvSpPr>
          <p:cNvPr id="427015" name="Text Box 7"/>
          <p:cNvSpPr txBox="1"/>
          <p:nvPr/>
        </p:nvSpPr>
        <p:spPr>
          <a:xfrm>
            <a:off x="2116822" y="3502670"/>
            <a:ext cx="3581400" cy="579438"/>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rPr>
              <a:t>- </a:t>
            </a:r>
            <a:r>
              <a:rPr lang="zh-CN" altLang="en-US" sz="3200" dirty="0">
                <a:latin typeface="Times New Roman" panose="02020603050405020304" pitchFamily="18" charset="0"/>
              </a:rPr>
              <a:t>摩尔热容比</a:t>
            </a:r>
            <a:r>
              <a:rPr lang="zh-CN" altLang="en-US" sz="3200" dirty="0">
                <a:solidFill>
                  <a:srgbClr val="CC0000"/>
                </a:solidFill>
                <a:latin typeface="Times New Roman" panose="02020603050405020304" pitchFamily="18" charset="0"/>
              </a:rPr>
              <a:t> </a:t>
            </a:r>
            <a:endParaRPr lang="zh-CN" altLang="en-US" sz="3200" dirty="0">
              <a:solidFill>
                <a:srgbClr val="A50021"/>
              </a:solidFill>
              <a:latin typeface="Times New Roman" panose="02020603050405020304" pitchFamily="18" charset="0"/>
            </a:endParaRPr>
          </a:p>
        </p:txBody>
      </p:sp>
      <p:graphicFrame>
        <p:nvGraphicFramePr>
          <p:cNvPr id="427016" name="Object 8"/>
          <p:cNvGraphicFramePr/>
          <p:nvPr>
            <p:extLst>
              <p:ext uri="{D42A27DB-BD31-4B8C-83A1-F6EECF244321}">
                <p14:modId xmlns:p14="http://schemas.microsoft.com/office/powerpoint/2010/main" val="1813666052"/>
              </p:ext>
            </p:extLst>
          </p:nvPr>
        </p:nvGraphicFramePr>
        <p:xfrm>
          <a:off x="4973626" y="3460244"/>
          <a:ext cx="2034840" cy="734661"/>
        </p:xfrm>
        <a:graphic>
          <a:graphicData uri="http://schemas.openxmlformats.org/presentationml/2006/ole">
            <mc:AlternateContent xmlns:mc="http://schemas.openxmlformats.org/markup-compatibility/2006">
              <mc:Choice xmlns:v="urn:schemas-microsoft-com:vml" Requires="v">
                <p:oleObj spid="_x0000_s7213" r:id="rId5" imgW="913765" imgH="241300" progId="Equation.3">
                  <p:embed/>
                </p:oleObj>
              </mc:Choice>
              <mc:Fallback>
                <p:oleObj r:id="rId5" imgW="913765" imgH="241300" progId="Equation.3">
                  <p:embed/>
                  <p:pic>
                    <p:nvPicPr>
                      <p:cNvPr id="427016" name="Object 8"/>
                      <p:cNvPicPr/>
                      <p:nvPr/>
                    </p:nvPicPr>
                    <p:blipFill>
                      <a:blip r:embed="rId6"/>
                      <a:stretch>
                        <a:fillRect/>
                      </a:stretch>
                    </p:blipFill>
                    <p:spPr>
                      <a:xfrm>
                        <a:off x="4973626" y="3460244"/>
                        <a:ext cx="2034840" cy="734661"/>
                      </a:xfrm>
                      <a:prstGeom prst="rect">
                        <a:avLst/>
                      </a:prstGeom>
                      <a:noFill/>
                      <a:ln w="12700" cap="flat" cmpd="sng">
                        <a:noFill/>
                        <a:prstDash val="solid"/>
                        <a:miter/>
                        <a:headEnd type="none" w="med" len="med"/>
                        <a:tailEnd type="none" w="med" len="med"/>
                      </a:ln>
                    </p:spPr>
                  </p:pic>
                </p:oleObj>
              </mc:Fallback>
            </mc:AlternateContent>
          </a:graphicData>
        </a:graphic>
      </p:graphicFrame>
      <p:sp>
        <p:nvSpPr>
          <p:cNvPr id="11" name="Text Box 13">
            <a:hlinkClick r:id="" action="ppaction://noaction"/>
            <a:extLst>
              <a:ext uri="{FF2B5EF4-FFF2-40B4-BE49-F238E27FC236}">
                <a16:creationId xmlns:a16="http://schemas.microsoft.com/office/drawing/2014/main" id="{DA511BF7-779A-472B-8994-C37E188BC4DE}"/>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热容比 </a:t>
            </a:r>
          </a:p>
        </p:txBody>
      </p:sp>
      <p:sp>
        <p:nvSpPr>
          <p:cNvPr id="6" name="Rectangle 32">
            <a:extLst>
              <a:ext uri="{FF2B5EF4-FFF2-40B4-BE49-F238E27FC236}">
                <a16:creationId xmlns:a16="http://schemas.microsoft.com/office/drawing/2014/main" id="{FE86CB5B-DF9C-A347-99BC-9461EFA32EA4}"/>
              </a:ext>
            </a:extLst>
          </p:cNvPr>
          <p:cNvSpPr>
            <a:spLocks noChangeArrowheads="1"/>
          </p:cNvSpPr>
          <p:nvPr/>
        </p:nvSpPr>
        <p:spPr bwMode="auto">
          <a:xfrm>
            <a:off x="5719034" y="1204354"/>
            <a:ext cx="203300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zh-CN" altLang="en-US" sz="3200" b="0" dirty="0">
                <a:latin typeface="华文楷体" panose="02010600040101010101" pitchFamily="2" charset="-122"/>
                <a:ea typeface="华文楷体" panose="02010600040101010101" pitchFamily="2" charset="-122"/>
              </a:rPr>
              <a:t>迈耶公式</a:t>
            </a:r>
          </a:p>
        </p:txBody>
      </p:sp>
      <mc:AlternateContent xmlns:mc="http://schemas.openxmlformats.org/markup-compatibility/2006" xmlns:a14="http://schemas.microsoft.com/office/drawing/2010/main">
        <mc:Choice Requires="a14">
          <p:sp>
            <p:nvSpPr>
              <p:cNvPr id="10" name="Object 37">
                <a:extLst>
                  <a:ext uri="{FF2B5EF4-FFF2-40B4-BE49-F238E27FC236}">
                    <a16:creationId xmlns:a16="http://schemas.microsoft.com/office/drawing/2014/main" id="{FBFDF953-FB68-3F45-2A4C-CA7075C6E9E7}"/>
                  </a:ext>
                </a:extLst>
              </p:cNvPr>
              <p:cNvSpPr txBox="1"/>
              <p:nvPr/>
            </p:nvSpPr>
            <p:spPr bwMode="auto">
              <a:xfrm>
                <a:off x="2882677" y="2025440"/>
                <a:ext cx="2741294" cy="90487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𝐶</m:t>
                          </m:r>
                        </m:e>
                        <m:sub>
                          <m:r>
                            <a:rPr lang="en-US" sz="3200" i="1">
                              <a:solidFill>
                                <a:srgbClr val="000000"/>
                              </a:solidFill>
                              <a:latin typeface="Cambria Math" panose="02040503050406030204" pitchFamily="18" charset="0"/>
                            </a:rPr>
                            <m:t>𝑉</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𝑚</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𝑖</m:t>
                          </m:r>
                        </m:num>
                        <m:den>
                          <m:r>
                            <a:rPr lang="en-US" sz="3200" i="1">
                              <a:solidFill>
                                <a:srgbClr val="000000"/>
                              </a:solidFill>
                              <a:latin typeface="Cambria Math" panose="02040503050406030204" pitchFamily="18" charset="0"/>
                            </a:rPr>
                            <m:t>2</m:t>
                          </m:r>
                        </m:den>
                      </m:f>
                      <m:r>
                        <a:rPr lang="en-US" sz="3200" i="1">
                          <a:solidFill>
                            <a:srgbClr val="000000"/>
                          </a:solidFill>
                          <a:latin typeface="Cambria Math" panose="02040503050406030204" pitchFamily="18" charset="0"/>
                        </a:rPr>
                        <m:t>𝑅</m:t>
                      </m:r>
                    </m:oMath>
                  </m:oMathPara>
                </a14:m>
                <a:endParaRPr lang="en-US" sz="3200" dirty="0"/>
              </a:p>
            </p:txBody>
          </p:sp>
        </mc:Choice>
        <mc:Fallback xmlns="">
          <p:sp>
            <p:nvSpPr>
              <p:cNvPr id="10" name="Object 37">
                <a:extLst>
                  <a:ext uri="{FF2B5EF4-FFF2-40B4-BE49-F238E27FC236}">
                    <a16:creationId xmlns:a16="http://schemas.microsoft.com/office/drawing/2014/main" id="{FBFDF953-FB68-3F45-2A4C-CA7075C6E9E7}"/>
                  </a:ext>
                </a:extLst>
              </p:cNvPr>
              <p:cNvSpPr txBox="1">
                <a:spLocks noRot="1" noChangeAspect="1" noMove="1" noResize="1" noEditPoints="1" noAdjustHandles="1" noChangeArrowheads="1" noChangeShapeType="1" noTextEdit="1"/>
              </p:cNvSpPr>
              <p:nvPr/>
            </p:nvSpPr>
            <p:spPr bwMode="auto">
              <a:xfrm>
                <a:off x="2882677" y="2025440"/>
                <a:ext cx="2741294" cy="904875"/>
              </a:xfrm>
              <a:prstGeom prst="rect">
                <a:avLst/>
              </a:prstGeom>
              <a:blipFill>
                <a:blip r:embed="rId7"/>
                <a:stretch>
                  <a:fillRect b="-536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38">
                <a:extLst>
                  <a:ext uri="{FF2B5EF4-FFF2-40B4-BE49-F238E27FC236}">
                    <a16:creationId xmlns:a16="http://schemas.microsoft.com/office/drawing/2014/main" id="{D3CCC386-5D0D-6909-0894-D5193D95A0B5}"/>
                  </a:ext>
                </a:extLst>
              </p:cNvPr>
              <p:cNvSpPr txBox="1"/>
              <p:nvPr/>
            </p:nvSpPr>
            <p:spPr bwMode="auto">
              <a:xfrm>
                <a:off x="5522802" y="2068522"/>
                <a:ext cx="3336920" cy="963613"/>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𝐶</m:t>
                          </m:r>
                        </m:e>
                        <m:sub>
                          <m:r>
                            <a:rPr lang="en-US" sz="3200" i="1">
                              <a:solidFill>
                                <a:srgbClr val="000000"/>
                              </a:solidFill>
                              <a:latin typeface="Cambria Math" panose="02040503050406030204" pitchFamily="18" charset="0"/>
                            </a:rPr>
                            <m:t>𝑃</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𝑚</m:t>
                          </m:r>
                        </m:sub>
                      </m:sSub>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2+</m:t>
                          </m:r>
                          <m:r>
                            <a:rPr lang="en-US" sz="3200" i="1">
                              <a:solidFill>
                                <a:srgbClr val="000000"/>
                              </a:solidFill>
                              <a:latin typeface="Cambria Math" panose="02040503050406030204" pitchFamily="18" charset="0"/>
                            </a:rPr>
                            <m:t>𝑖</m:t>
                          </m:r>
                        </m:num>
                        <m:den>
                          <m:r>
                            <a:rPr lang="en-US" sz="3200" i="1">
                              <a:solidFill>
                                <a:srgbClr val="000000"/>
                              </a:solidFill>
                              <a:latin typeface="Cambria Math" panose="02040503050406030204" pitchFamily="18" charset="0"/>
                            </a:rPr>
                            <m:t>2</m:t>
                          </m:r>
                        </m:den>
                      </m:f>
                      <m:r>
                        <a:rPr lang="en-US" sz="3200" i="1">
                          <a:solidFill>
                            <a:srgbClr val="000000"/>
                          </a:solidFill>
                          <a:latin typeface="Cambria Math" panose="02040503050406030204" pitchFamily="18" charset="0"/>
                        </a:rPr>
                        <m:t>𝑅</m:t>
                      </m:r>
                    </m:oMath>
                  </m:oMathPara>
                </a14:m>
                <a:endParaRPr lang="en-US" sz="3200" dirty="0"/>
              </a:p>
            </p:txBody>
          </p:sp>
        </mc:Choice>
        <mc:Fallback xmlns="">
          <p:sp>
            <p:nvSpPr>
              <p:cNvPr id="13" name="Object 38">
                <a:extLst>
                  <a:ext uri="{FF2B5EF4-FFF2-40B4-BE49-F238E27FC236}">
                    <a16:creationId xmlns:a16="http://schemas.microsoft.com/office/drawing/2014/main" id="{D3CCC386-5D0D-6909-0894-D5193D95A0B5}"/>
                  </a:ext>
                </a:extLst>
              </p:cNvPr>
              <p:cNvSpPr txBox="1">
                <a:spLocks noRot="1" noChangeAspect="1" noMove="1" noResize="1" noEditPoints="1" noAdjustHandles="1" noChangeArrowheads="1" noChangeShapeType="1" noTextEdit="1"/>
              </p:cNvSpPr>
              <p:nvPr/>
            </p:nvSpPr>
            <p:spPr bwMode="auto">
              <a:xfrm>
                <a:off x="5522802" y="2068522"/>
                <a:ext cx="3336920" cy="963613"/>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39">
                <a:extLst>
                  <a:ext uri="{FF2B5EF4-FFF2-40B4-BE49-F238E27FC236}">
                    <a16:creationId xmlns:a16="http://schemas.microsoft.com/office/drawing/2014/main" id="{DFEFA6EC-DB28-1302-8521-6AA25B8F9C74}"/>
                  </a:ext>
                </a:extLst>
              </p:cNvPr>
              <p:cNvSpPr txBox="1"/>
              <p:nvPr/>
            </p:nvSpPr>
            <p:spPr bwMode="auto">
              <a:xfrm>
                <a:off x="5991046" y="3292586"/>
                <a:ext cx="3779112" cy="106997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2+</m:t>
                          </m:r>
                          <m:r>
                            <a:rPr lang="en-US" sz="3200" i="1">
                              <a:solidFill>
                                <a:srgbClr val="000000"/>
                              </a:solidFill>
                              <a:latin typeface="Cambria Math" panose="02040503050406030204" pitchFamily="18" charset="0"/>
                            </a:rPr>
                            <m:t>𝑖</m:t>
                          </m:r>
                        </m:num>
                        <m:den>
                          <m:r>
                            <a:rPr lang="en-US" sz="3200" i="1">
                              <a:solidFill>
                                <a:srgbClr val="000000"/>
                              </a:solidFill>
                              <a:latin typeface="Cambria Math" panose="02040503050406030204" pitchFamily="18" charset="0"/>
                            </a:rPr>
                            <m:t>𝑖</m:t>
                          </m:r>
                        </m:den>
                      </m:f>
                    </m:oMath>
                  </m:oMathPara>
                </a14:m>
                <a:endParaRPr lang="en-US" sz="3200" dirty="0"/>
              </a:p>
            </p:txBody>
          </p:sp>
        </mc:Choice>
        <mc:Fallback xmlns="">
          <p:sp>
            <p:nvSpPr>
              <p:cNvPr id="14" name="Object 39">
                <a:extLst>
                  <a:ext uri="{FF2B5EF4-FFF2-40B4-BE49-F238E27FC236}">
                    <a16:creationId xmlns:a16="http://schemas.microsoft.com/office/drawing/2014/main" id="{DFEFA6EC-DB28-1302-8521-6AA25B8F9C74}"/>
                  </a:ext>
                </a:extLst>
              </p:cNvPr>
              <p:cNvSpPr txBox="1">
                <a:spLocks noRot="1" noChangeAspect="1" noMove="1" noResize="1" noEditPoints="1" noAdjustHandles="1" noChangeArrowheads="1" noChangeShapeType="1" noTextEdit="1"/>
              </p:cNvSpPr>
              <p:nvPr/>
            </p:nvSpPr>
            <p:spPr bwMode="auto">
              <a:xfrm>
                <a:off x="5991046" y="3292586"/>
                <a:ext cx="3779112" cy="1069975"/>
              </a:xfrm>
              <a:prstGeom prst="rect">
                <a:avLst/>
              </a:prstGeom>
              <a:blipFill>
                <a:blip r:embed="rId9"/>
                <a:stretch>
                  <a:fillRect/>
                </a:stretch>
              </a:blipFill>
              <a:ln>
                <a:noFill/>
              </a:ln>
              <a:effectLst/>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25715A78-6871-D345-E048-16875EC0858C}"/>
              </a:ext>
            </a:extLst>
          </p:cNvPr>
          <p:cNvSpPr txBox="1"/>
          <p:nvPr/>
        </p:nvSpPr>
        <p:spPr>
          <a:xfrm>
            <a:off x="7931352" y="1225585"/>
            <a:ext cx="2787943" cy="523220"/>
          </a:xfrm>
          <a:prstGeom prst="rect">
            <a:avLst/>
          </a:prstGeom>
          <a:noFill/>
        </p:spPr>
        <p:txBody>
          <a:bodyPr wrap="none" rtlCol="0">
            <a:spAutoFit/>
          </a:bodyPr>
          <a:lstStyle/>
          <a:p>
            <a:r>
              <a:rPr lang="en-US" altLang="zh-CN" sz="2800" dirty="0"/>
              <a:t>1842</a:t>
            </a:r>
            <a:r>
              <a:rPr lang="zh-CN" altLang="en-US" sz="2800" dirty="0"/>
              <a:t>年</a:t>
            </a:r>
            <a:r>
              <a:rPr lang="en-US" altLang="zh-CN" sz="2800" dirty="0"/>
              <a:t> </a:t>
            </a:r>
            <a:r>
              <a:rPr lang="zh-CN" altLang="en-US" sz="2800" dirty="0"/>
              <a:t>热功当量</a:t>
            </a:r>
          </a:p>
        </p:txBody>
      </p:sp>
      <p:grpSp>
        <p:nvGrpSpPr>
          <p:cNvPr id="16" name="Group 14">
            <a:extLst>
              <a:ext uri="{FF2B5EF4-FFF2-40B4-BE49-F238E27FC236}">
                <a16:creationId xmlns:a16="http://schemas.microsoft.com/office/drawing/2014/main" id="{FDDDB017-F4E0-76F0-E012-83AE75D00CB6}"/>
              </a:ext>
            </a:extLst>
          </p:cNvPr>
          <p:cNvGrpSpPr>
            <a:grpSpLocks/>
          </p:cNvGrpSpPr>
          <p:nvPr/>
        </p:nvGrpSpPr>
        <p:grpSpPr bwMode="auto">
          <a:xfrm>
            <a:off x="2677888" y="4510217"/>
            <a:ext cx="6335713" cy="550863"/>
            <a:chOff x="672" y="1104"/>
            <a:chExt cx="3991" cy="347"/>
          </a:xfrm>
        </p:grpSpPr>
        <p:sp>
          <p:nvSpPr>
            <p:cNvPr id="17" name="Text Box 2">
              <a:extLst>
                <a:ext uri="{FF2B5EF4-FFF2-40B4-BE49-F238E27FC236}">
                  <a16:creationId xmlns:a16="http://schemas.microsoft.com/office/drawing/2014/main" id="{3A9CD682-FF69-19AE-04FA-54B7FF7984A3}"/>
                </a:ext>
              </a:extLst>
            </p:cNvPr>
            <p:cNvSpPr txBox="1">
              <a:spLocks noChangeArrowheads="1"/>
            </p:cNvSpPr>
            <p:nvPr/>
          </p:nvSpPr>
          <p:spPr bwMode="auto">
            <a:xfrm>
              <a:off x="672" y="1104"/>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单原子气体：</a:t>
              </a:r>
            </a:p>
          </p:txBody>
        </p:sp>
        <mc:AlternateContent xmlns:mc="http://schemas.openxmlformats.org/markup-compatibility/2006" xmlns:a14="http://schemas.microsoft.com/office/drawing/2010/main">
          <mc:Choice Requires="a14">
            <p:sp>
              <p:nvSpPr>
                <p:cNvPr id="18" name="Object 6">
                  <a:extLst>
                    <a:ext uri="{FF2B5EF4-FFF2-40B4-BE49-F238E27FC236}">
                      <a16:creationId xmlns:a16="http://schemas.microsoft.com/office/drawing/2014/main" id="{7B6EA37E-67E2-5EE8-B398-0FF7525FCE3F}"/>
                    </a:ext>
                  </a:extLst>
                </p:cNvPr>
                <p:cNvSpPr txBox="1"/>
                <p:nvPr/>
              </p:nvSpPr>
              <p:spPr bwMode="auto">
                <a:xfrm>
                  <a:off x="3744" y="1104"/>
                  <a:ext cx="919" cy="347"/>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=1.67</m:t>
                        </m:r>
                      </m:oMath>
                    </m:oMathPara>
                  </a14:m>
                  <a:endParaRPr lang="en-US" sz="2800"/>
                </a:p>
              </p:txBody>
            </p:sp>
          </mc:Choice>
          <mc:Fallback xmlns="">
            <p:sp>
              <p:nvSpPr>
                <p:cNvPr id="18" name="Object 6">
                  <a:extLst>
                    <a:ext uri="{FF2B5EF4-FFF2-40B4-BE49-F238E27FC236}">
                      <a16:creationId xmlns:a16="http://schemas.microsoft.com/office/drawing/2014/main" id="{7B6EA37E-67E2-5EE8-B398-0FF7525FCE3F}"/>
                    </a:ext>
                  </a:extLst>
                </p:cNvPr>
                <p:cNvSpPr txBox="1">
                  <a:spLocks noRot="1" noChangeAspect="1" noMove="1" noResize="1" noEditPoints="1" noAdjustHandles="1" noChangeArrowheads="1" noChangeShapeType="1" noTextEdit="1"/>
                </p:cNvSpPr>
                <p:nvPr/>
              </p:nvSpPr>
              <p:spPr bwMode="auto">
                <a:xfrm>
                  <a:off x="3744" y="1104"/>
                  <a:ext cx="919" cy="347"/>
                </a:xfrm>
                <a:prstGeom prst="rect">
                  <a:avLst/>
                </a:prstGeom>
                <a:blipFill>
                  <a:blip r:embed="rId10"/>
                  <a:stretch>
                    <a:fillRect/>
                  </a:stretch>
                </a:blipFill>
                <a:ln>
                  <a:noFill/>
                </a:ln>
                <a:effectLst/>
              </p:spPr>
              <p:txBody>
                <a:bodyPr/>
                <a:lstStyle/>
                <a:p>
                  <a:r>
                    <a:rPr lang="zh-CN" altLang="en-US">
                      <a:noFill/>
                    </a:rPr>
                    <a:t> </a:t>
                  </a:r>
                </a:p>
              </p:txBody>
            </p:sp>
          </mc:Fallback>
        </mc:AlternateContent>
        <p:sp>
          <p:nvSpPr>
            <p:cNvPr id="19" name="Text Box 9">
              <a:extLst>
                <a:ext uri="{FF2B5EF4-FFF2-40B4-BE49-F238E27FC236}">
                  <a16:creationId xmlns:a16="http://schemas.microsoft.com/office/drawing/2014/main" id="{D45677D1-140C-8067-3124-C78B3773532E}"/>
                </a:ext>
              </a:extLst>
            </p:cNvPr>
            <p:cNvSpPr txBox="1">
              <a:spLocks noChangeArrowheads="1"/>
            </p:cNvSpPr>
            <p:nvPr/>
          </p:nvSpPr>
          <p:spPr bwMode="auto">
            <a:xfrm>
              <a:off x="2640" y="1104"/>
              <a:ext cx="50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latin typeface="+mn-lt"/>
                  <a:ea typeface="+mn-ea"/>
                </a:rPr>
                <a:t> i=3</a:t>
              </a:r>
            </a:p>
          </p:txBody>
        </p:sp>
      </p:grpSp>
      <p:grpSp>
        <p:nvGrpSpPr>
          <p:cNvPr id="20" name="Group 16">
            <a:extLst>
              <a:ext uri="{FF2B5EF4-FFF2-40B4-BE49-F238E27FC236}">
                <a16:creationId xmlns:a16="http://schemas.microsoft.com/office/drawing/2014/main" id="{58F6D872-E9E6-2708-B216-F9C4DCA34069}"/>
              </a:ext>
            </a:extLst>
          </p:cNvPr>
          <p:cNvGrpSpPr>
            <a:grpSpLocks/>
          </p:cNvGrpSpPr>
          <p:nvPr/>
        </p:nvGrpSpPr>
        <p:grpSpPr bwMode="auto">
          <a:xfrm>
            <a:off x="2677888" y="6154737"/>
            <a:ext cx="6381750" cy="627063"/>
            <a:chOff x="624" y="2352"/>
            <a:chExt cx="4020" cy="395"/>
          </a:xfrm>
        </p:grpSpPr>
        <p:sp>
          <p:nvSpPr>
            <p:cNvPr id="21" name="Rectangle 4">
              <a:extLst>
                <a:ext uri="{FF2B5EF4-FFF2-40B4-BE49-F238E27FC236}">
                  <a16:creationId xmlns:a16="http://schemas.microsoft.com/office/drawing/2014/main" id="{9EDF74C8-7216-E7C6-24FB-B5AFC2248B7C}"/>
                </a:ext>
              </a:extLst>
            </p:cNvPr>
            <p:cNvSpPr>
              <a:spLocks noChangeArrowheads="1"/>
            </p:cNvSpPr>
            <p:nvPr/>
          </p:nvSpPr>
          <p:spPr bwMode="auto">
            <a:xfrm>
              <a:off x="624" y="2352"/>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多原子气体：</a:t>
              </a:r>
            </a:p>
          </p:txBody>
        </p:sp>
        <mc:AlternateContent xmlns:mc="http://schemas.openxmlformats.org/markup-compatibility/2006" xmlns:a14="http://schemas.microsoft.com/office/drawing/2010/main">
          <mc:Choice Requires="a14">
            <p:sp>
              <p:nvSpPr>
                <p:cNvPr id="22" name="Object 8">
                  <a:extLst>
                    <a:ext uri="{FF2B5EF4-FFF2-40B4-BE49-F238E27FC236}">
                      <a16:creationId xmlns:a16="http://schemas.microsoft.com/office/drawing/2014/main" id="{9040ABA3-C73E-A2A8-F966-D43AC4F2E62E}"/>
                    </a:ext>
                  </a:extLst>
                </p:cNvPr>
                <p:cNvSpPr txBox="1"/>
                <p:nvPr/>
              </p:nvSpPr>
              <p:spPr bwMode="auto">
                <a:xfrm>
                  <a:off x="3725" y="2400"/>
                  <a:ext cx="919" cy="347"/>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=1.33</m:t>
                        </m:r>
                      </m:oMath>
                    </m:oMathPara>
                  </a14:m>
                  <a:endParaRPr lang="en-US" sz="2800" dirty="0"/>
                </a:p>
              </p:txBody>
            </p:sp>
          </mc:Choice>
          <mc:Fallback xmlns="">
            <p:sp>
              <p:nvSpPr>
                <p:cNvPr id="22" name="Object 8">
                  <a:extLst>
                    <a:ext uri="{FF2B5EF4-FFF2-40B4-BE49-F238E27FC236}">
                      <a16:creationId xmlns:a16="http://schemas.microsoft.com/office/drawing/2014/main" id="{9040ABA3-C73E-A2A8-F966-D43AC4F2E62E}"/>
                    </a:ext>
                  </a:extLst>
                </p:cNvPr>
                <p:cNvSpPr txBox="1">
                  <a:spLocks noRot="1" noChangeAspect="1" noMove="1" noResize="1" noEditPoints="1" noAdjustHandles="1" noChangeArrowheads="1" noChangeShapeType="1" noTextEdit="1"/>
                </p:cNvSpPr>
                <p:nvPr/>
              </p:nvSpPr>
              <p:spPr bwMode="auto">
                <a:xfrm>
                  <a:off x="3725" y="2400"/>
                  <a:ext cx="919" cy="347"/>
                </a:xfrm>
                <a:prstGeom prst="rect">
                  <a:avLst/>
                </a:prstGeom>
                <a:blipFill>
                  <a:blip r:embed="rId11"/>
                  <a:stretch>
                    <a:fillRect/>
                  </a:stretch>
                </a:blipFill>
                <a:ln>
                  <a:noFill/>
                </a:ln>
                <a:effectLst/>
              </p:spPr>
              <p:txBody>
                <a:bodyPr/>
                <a:lstStyle/>
                <a:p>
                  <a:r>
                    <a:rPr lang="zh-CN" altLang="en-US">
                      <a:noFill/>
                    </a:rPr>
                    <a:t> </a:t>
                  </a:r>
                </a:p>
              </p:txBody>
            </p:sp>
          </mc:Fallback>
        </mc:AlternateContent>
        <p:sp>
          <p:nvSpPr>
            <p:cNvPr id="23" name="Rectangle 12">
              <a:extLst>
                <a:ext uri="{FF2B5EF4-FFF2-40B4-BE49-F238E27FC236}">
                  <a16:creationId xmlns:a16="http://schemas.microsoft.com/office/drawing/2014/main" id="{3EC7C469-04D4-63B0-3337-147EB00876BD}"/>
                </a:ext>
              </a:extLst>
            </p:cNvPr>
            <p:cNvSpPr>
              <a:spLocks noChangeArrowheads="1"/>
            </p:cNvSpPr>
            <p:nvPr/>
          </p:nvSpPr>
          <p:spPr bwMode="auto">
            <a:xfrm>
              <a:off x="2736" y="2400"/>
              <a:ext cx="4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latin typeface="+mn-lt"/>
                  <a:ea typeface="+mn-ea"/>
                </a:rPr>
                <a:t>i=6</a:t>
              </a:r>
            </a:p>
          </p:txBody>
        </p:sp>
      </p:grpSp>
      <p:grpSp>
        <p:nvGrpSpPr>
          <p:cNvPr id="24" name="Group 15">
            <a:extLst>
              <a:ext uri="{FF2B5EF4-FFF2-40B4-BE49-F238E27FC236}">
                <a16:creationId xmlns:a16="http://schemas.microsoft.com/office/drawing/2014/main" id="{1B4FFC54-0814-6DE4-6CAB-F329970370CD}"/>
              </a:ext>
            </a:extLst>
          </p:cNvPr>
          <p:cNvGrpSpPr>
            <a:grpSpLocks/>
          </p:cNvGrpSpPr>
          <p:nvPr/>
        </p:nvGrpSpPr>
        <p:grpSpPr bwMode="auto">
          <a:xfrm>
            <a:off x="2677888" y="5302100"/>
            <a:ext cx="6381750" cy="619125"/>
            <a:chOff x="624" y="1728"/>
            <a:chExt cx="4020" cy="390"/>
          </a:xfrm>
        </p:grpSpPr>
        <p:sp>
          <p:nvSpPr>
            <p:cNvPr id="25" name="Rectangle 3">
              <a:extLst>
                <a:ext uri="{FF2B5EF4-FFF2-40B4-BE49-F238E27FC236}">
                  <a16:creationId xmlns:a16="http://schemas.microsoft.com/office/drawing/2014/main" id="{ADE00B9A-939F-B18C-46D2-06CC0621C4D3}"/>
                </a:ext>
              </a:extLst>
            </p:cNvPr>
            <p:cNvSpPr>
              <a:spLocks noChangeArrowheads="1"/>
            </p:cNvSpPr>
            <p:nvPr/>
          </p:nvSpPr>
          <p:spPr bwMode="auto">
            <a:xfrm>
              <a:off x="624" y="1728"/>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双原子气体：</a:t>
              </a:r>
            </a:p>
          </p:txBody>
        </p:sp>
        <mc:AlternateContent xmlns:mc="http://schemas.openxmlformats.org/markup-compatibility/2006" xmlns:a14="http://schemas.microsoft.com/office/drawing/2010/main">
          <mc:Choice Requires="a14">
            <p:sp>
              <p:nvSpPr>
                <p:cNvPr id="26" name="Object 7">
                  <a:extLst>
                    <a:ext uri="{FF2B5EF4-FFF2-40B4-BE49-F238E27FC236}">
                      <a16:creationId xmlns:a16="http://schemas.microsoft.com/office/drawing/2014/main" id="{2E72F569-802C-C393-FD81-EDF5DAEFAE61}"/>
                    </a:ext>
                  </a:extLst>
                </p:cNvPr>
                <p:cNvSpPr txBox="1"/>
                <p:nvPr/>
              </p:nvSpPr>
              <p:spPr bwMode="auto">
                <a:xfrm>
                  <a:off x="3725" y="1771"/>
                  <a:ext cx="919" cy="347"/>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=1.40</m:t>
                        </m:r>
                      </m:oMath>
                    </m:oMathPara>
                  </a14:m>
                  <a:endParaRPr lang="en-US" sz="2800" dirty="0"/>
                </a:p>
              </p:txBody>
            </p:sp>
          </mc:Choice>
          <mc:Fallback xmlns="">
            <p:sp>
              <p:nvSpPr>
                <p:cNvPr id="26" name="Object 7">
                  <a:extLst>
                    <a:ext uri="{FF2B5EF4-FFF2-40B4-BE49-F238E27FC236}">
                      <a16:creationId xmlns:a16="http://schemas.microsoft.com/office/drawing/2014/main" id="{2E72F569-802C-C393-FD81-EDF5DAEFAE61}"/>
                    </a:ext>
                  </a:extLst>
                </p:cNvPr>
                <p:cNvSpPr txBox="1">
                  <a:spLocks noRot="1" noChangeAspect="1" noMove="1" noResize="1" noEditPoints="1" noAdjustHandles="1" noChangeArrowheads="1" noChangeShapeType="1" noTextEdit="1"/>
                </p:cNvSpPr>
                <p:nvPr/>
              </p:nvSpPr>
              <p:spPr bwMode="auto">
                <a:xfrm>
                  <a:off x="3725" y="1771"/>
                  <a:ext cx="919" cy="347"/>
                </a:xfrm>
                <a:prstGeom prst="rect">
                  <a:avLst/>
                </a:prstGeom>
                <a:blipFill>
                  <a:blip r:embed="rId12"/>
                  <a:stretch>
                    <a:fillRect/>
                  </a:stretch>
                </a:blipFill>
                <a:ln>
                  <a:noFill/>
                </a:ln>
                <a:effectLst/>
              </p:spPr>
              <p:txBody>
                <a:bodyPr/>
                <a:lstStyle/>
                <a:p>
                  <a:r>
                    <a:rPr lang="zh-CN" altLang="en-US">
                      <a:noFill/>
                    </a:rPr>
                    <a:t> </a:t>
                  </a:r>
                </a:p>
              </p:txBody>
            </p:sp>
          </mc:Fallback>
        </mc:AlternateContent>
        <p:sp>
          <p:nvSpPr>
            <p:cNvPr id="27" name="Rectangle 13">
              <a:extLst>
                <a:ext uri="{FF2B5EF4-FFF2-40B4-BE49-F238E27FC236}">
                  <a16:creationId xmlns:a16="http://schemas.microsoft.com/office/drawing/2014/main" id="{BFC89B4A-F742-BB6A-35D8-D183A641A262}"/>
                </a:ext>
              </a:extLst>
            </p:cNvPr>
            <p:cNvSpPr>
              <a:spLocks noChangeArrowheads="1"/>
            </p:cNvSpPr>
            <p:nvPr/>
          </p:nvSpPr>
          <p:spPr bwMode="auto">
            <a:xfrm>
              <a:off x="2736" y="1776"/>
              <a:ext cx="4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latin typeface="+mn-lt"/>
                  <a:ea typeface="+mn-ea"/>
                </a:rPr>
                <a:t>i=5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70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70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5" grpId="0"/>
      <p:bldP spid="6" grpId="0"/>
      <p:bldP spid="10" grpId="0"/>
      <p:bldP spid="13" grpId="0"/>
      <p:bldP spid="14"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3">
            <a:hlinkClick r:id="" action="ppaction://noaction"/>
            <a:extLst>
              <a:ext uri="{FF2B5EF4-FFF2-40B4-BE49-F238E27FC236}">
                <a16:creationId xmlns:a16="http://schemas.microsoft.com/office/drawing/2014/main" id="{CCD89909-81F7-A30C-E178-9915A5E46995}"/>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热容比 </a:t>
            </a:r>
          </a:p>
        </p:txBody>
      </p:sp>
      <p:grpSp>
        <p:nvGrpSpPr>
          <p:cNvPr id="6" name="Group 78">
            <a:extLst>
              <a:ext uri="{FF2B5EF4-FFF2-40B4-BE49-F238E27FC236}">
                <a16:creationId xmlns:a16="http://schemas.microsoft.com/office/drawing/2014/main" id="{6BDA3E90-9A12-DC5B-BE1B-DECA937E42F8}"/>
              </a:ext>
            </a:extLst>
          </p:cNvPr>
          <p:cNvGrpSpPr>
            <a:grpSpLocks/>
          </p:cNvGrpSpPr>
          <p:nvPr/>
        </p:nvGrpSpPr>
        <p:grpSpPr bwMode="auto">
          <a:xfrm>
            <a:off x="2696028" y="401639"/>
            <a:ext cx="8001000" cy="3171825"/>
            <a:chOff x="336" y="797"/>
            <a:chExt cx="5040" cy="1998"/>
          </a:xfrm>
        </p:grpSpPr>
        <p:sp>
          <p:nvSpPr>
            <p:cNvPr id="7" name="Line 48">
              <a:extLst>
                <a:ext uri="{FF2B5EF4-FFF2-40B4-BE49-F238E27FC236}">
                  <a16:creationId xmlns:a16="http://schemas.microsoft.com/office/drawing/2014/main" id="{3BB13D6D-AD08-4374-5FF2-00A0BB76F5A6}"/>
                </a:ext>
              </a:extLst>
            </p:cNvPr>
            <p:cNvSpPr>
              <a:spLocks noChangeShapeType="1"/>
            </p:cNvSpPr>
            <p:nvPr/>
          </p:nvSpPr>
          <p:spPr bwMode="auto">
            <a:xfrm>
              <a:off x="336" y="1200"/>
              <a:ext cx="50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mc:AlternateContent xmlns:mc="http://schemas.openxmlformats.org/markup-compatibility/2006" xmlns:a14="http://schemas.microsoft.com/office/drawing/2010/main">
          <mc:Choice Requires="a14">
            <p:sp>
              <p:nvSpPr>
                <p:cNvPr id="8" name="Object 49">
                  <a:extLst>
                    <a:ext uri="{FF2B5EF4-FFF2-40B4-BE49-F238E27FC236}">
                      <a16:creationId xmlns:a16="http://schemas.microsoft.com/office/drawing/2014/main" id="{1D262393-4C94-63E8-FB0D-A98F2898D3D6}"/>
                    </a:ext>
                  </a:extLst>
                </p:cNvPr>
                <p:cNvSpPr txBox="1"/>
                <p:nvPr/>
              </p:nvSpPr>
              <p:spPr bwMode="auto">
                <a:xfrm>
                  <a:off x="1564" y="797"/>
                  <a:ext cx="2577" cy="312"/>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=2</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0</m:t>
                            </m:r>
                          </m:e>
                          <m:sup>
                            <m:r>
                              <a:rPr lang="en-US" sz="2800" i="1">
                                <a:solidFill>
                                  <a:srgbClr val="000000"/>
                                </a:solidFill>
                                <a:latin typeface="Cambria Math" panose="02040503050406030204" pitchFamily="18" charset="0"/>
                              </a:rPr>
                              <m:t>0</m:t>
                            </m:r>
                          </m:sup>
                        </m:sSup>
                        <m:r>
                          <m:rPr>
                            <m:nor/>
                          </m:rPr>
                          <a:rPr lang="en-US" sz="2800" i="0">
                            <a:solidFill>
                              <a:srgbClr val="000000"/>
                            </a:solidFill>
                            <a:latin typeface="Cambria Math" panose="02040503050406030204" pitchFamily="18" charset="0"/>
                          </a:rPr>
                          <m:t>C</m:t>
                        </m:r>
                        <m:r>
                          <m:rPr>
                            <m:nor/>
                          </m:rPr>
                          <a:rPr lang="en-US" sz="2800" i="0">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𝑃</m:t>
                        </m:r>
                        <m:r>
                          <a:rPr lang="en-US" sz="2800" i="1">
                            <a:solidFill>
                              <a:srgbClr val="000000"/>
                            </a:solidFill>
                            <a:latin typeface="Cambria Math" panose="02040503050406030204" pitchFamily="18" charset="0"/>
                          </a:rPr>
                          <m:t>=1.01×1</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0</m:t>
                            </m:r>
                          </m:e>
                          <m:sup>
                            <m:r>
                              <a:rPr lang="en-US" sz="2800" i="1">
                                <a:solidFill>
                                  <a:srgbClr val="000000"/>
                                </a:solidFill>
                                <a:latin typeface="Cambria Math" panose="02040503050406030204" pitchFamily="18" charset="0"/>
                              </a:rPr>
                              <m:t>5</m:t>
                            </m:r>
                          </m:sup>
                        </m:sSup>
                        <m:r>
                          <m:rPr>
                            <m:nor/>
                          </m:rPr>
                          <a:rPr lang="en-US" sz="2800" i="0">
                            <a:solidFill>
                              <a:srgbClr val="000000"/>
                            </a:solidFill>
                            <a:latin typeface="Cambria Math" panose="02040503050406030204" pitchFamily="18" charset="0"/>
                          </a:rPr>
                          <m:t>Pa</m:t>
                        </m:r>
                      </m:oMath>
                    </m:oMathPara>
                  </a14:m>
                  <a:endParaRPr lang="en-US" sz="2800" dirty="0"/>
                </a:p>
              </p:txBody>
            </p:sp>
          </mc:Choice>
          <mc:Fallback xmlns="">
            <p:sp>
              <p:nvSpPr>
                <p:cNvPr id="8" name="Object 49">
                  <a:extLst>
                    <a:ext uri="{FF2B5EF4-FFF2-40B4-BE49-F238E27FC236}">
                      <a16:creationId xmlns:a16="http://schemas.microsoft.com/office/drawing/2014/main" id="{1D262393-4C94-63E8-FB0D-A98F2898D3D6}"/>
                    </a:ext>
                  </a:extLst>
                </p:cNvPr>
                <p:cNvSpPr txBox="1">
                  <a:spLocks noRot="1" noChangeAspect="1" noMove="1" noResize="1" noEditPoints="1" noAdjustHandles="1" noChangeArrowheads="1" noChangeShapeType="1" noTextEdit="1"/>
                </p:cNvSpPr>
                <p:nvPr/>
              </p:nvSpPr>
              <p:spPr bwMode="auto">
                <a:xfrm>
                  <a:off x="1564" y="797"/>
                  <a:ext cx="2577" cy="312"/>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50">
                  <a:extLst>
                    <a:ext uri="{FF2B5EF4-FFF2-40B4-BE49-F238E27FC236}">
                      <a16:creationId xmlns:a16="http://schemas.microsoft.com/office/drawing/2014/main" id="{DA53D9C3-3F10-867E-3CB7-24B6740D26AE}"/>
                    </a:ext>
                  </a:extLst>
                </p:cNvPr>
                <p:cNvSpPr txBox="1"/>
                <p:nvPr/>
              </p:nvSpPr>
              <p:spPr bwMode="auto">
                <a:xfrm>
                  <a:off x="1613" y="1248"/>
                  <a:ext cx="643" cy="657"/>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f>
                          <m:fPr>
                            <m:type m:val="skw"/>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𝑉</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𝑚</m:t>
                                </m:r>
                              </m:sub>
                            </m:sSub>
                          </m:num>
                          <m:den>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𝑅</m:t>
                                </m:r>
                              </m:num>
                              <m:den>
                                <m:r>
                                  <a:rPr lang="en-US" sz="2800" i="1">
                                    <a:solidFill>
                                      <a:srgbClr val="000000"/>
                                    </a:solidFill>
                                    <a:latin typeface="Cambria Math" panose="02040503050406030204" pitchFamily="18" charset="0"/>
                                  </a:rPr>
                                  <m:t>2</m:t>
                                </m:r>
                              </m:den>
                            </m:f>
                          </m:den>
                        </m:f>
                      </m:oMath>
                    </m:oMathPara>
                  </a14:m>
                  <a:endParaRPr lang="en-US" sz="2800" dirty="0"/>
                </a:p>
              </p:txBody>
            </p:sp>
          </mc:Choice>
          <mc:Fallback xmlns="">
            <p:sp>
              <p:nvSpPr>
                <p:cNvPr id="9" name="Object 50">
                  <a:extLst>
                    <a:ext uri="{FF2B5EF4-FFF2-40B4-BE49-F238E27FC236}">
                      <a16:creationId xmlns:a16="http://schemas.microsoft.com/office/drawing/2014/main" id="{DA53D9C3-3F10-867E-3CB7-24B6740D26AE}"/>
                    </a:ext>
                  </a:extLst>
                </p:cNvPr>
                <p:cNvSpPr txBox="1">
                  <a:spLocks noRot="1" noChangeAspect="1" noMove="1" noResize="1" noEditPoints="1" noAdjustHandles="1" noChangeArrowheads="1" noChangeShapeType="1" noTextEdit="1"/>
                </p:cNvSpPr>
                <p:nvPr/>
              </p:nvSpPr>
              <p:spPr bwMode="auto">
                <a:xfrm>
                  <a:off x="1613" y="1248"/>
                  <a:ext cx="643" cy="657"/>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51">
                  <a:extLst>
                    <a:ext uri="{FF2B5EF4-FFF2-40B4-BE49-F238E27FC236}">
                      <a16:creationId xmlns:a16="http://schemas.microsoft.com/office/drawing/2014/main" id="{C37F0265-A460-DAAE-AC71-FB08501076F5}"/>
                    </a:ext>
                  </a:extLst>
                </p:cNvPr>
                <p:cNvSpPr txBox="1"/>
                <p:nvPr/>
              </p:nvSpPr>
              <p:spPr bwMode="auto">
                <a:xfrm>
                  <a:off x="2784" y="1248"/>
                  <a:ext cx="644" cy="656"/>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f>
                          <m:fPr>
                            <m:type m:val="skw"/>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𝑃</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𝑚</m:t>
                                </m:r>
                              </m:sub>
                            </m:sSub>
                          </m:num>
                          <m:den>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𝑅</m:t>
                                </m:r>
                              </m:num>
                              <m:den>
                                <m:r>
                                  <a:rPr lang="en-US" sz="2800" i="1">
                                    <a:solidFill>
                                      <a:srgbClr val="000000"/>
                                    </a:solidFill>
                                    <a:latin typeface="Cambria Math" panose="02040503050406030204" pitchFamily="18" charset="0"/>
                                  </a:rPr>
                                  <m:t>2</m:t>
                                </m:r>
                              </m:den>
                            </m:f>
                          </m:den>
                        </m:f>
                      </m:oMath>
                    </m:oMathPara>
                  </a14:m>
                  <a:endParaRPr lang="en-US" sz="2800"/>
                </a:p>
              </p:txBody>
            </p:sp>
          </mc:Choice>
          <mc:Fallback xmlns="">
            <p:sp>
              <p:nvSpPr>
                <p:cNvPr id="10" name="Object 51">
                  <a:extLst>
                    <a:ext uri="{FF2B5EF4-FFF2-40B4-BE49-F238E27FC236}">
                      <a16:creationId xmlns:a16="http://schemas.microsoft.com/office/drawing/2014/main" id="{C37F0265-A460-DAAE-AC71-FB08501076F5}"/>
                    </a:ext>
                  </a:extLst>
                </p:cNvPr>
                <p:cNvSpPr txBox="1">
                  <a:spLocks noRot="1" noChangeAspect="1" noMove="1" noResize="1" noEditPoints="1" noAdjustHandles="1" noChangeArrowheads="1" noChangeShapeType="1" noTextEdit="1"/>
                </p:cNvSpPr>
                <p:nvPr/>
              </p:nvSpPr>
              <p:spPr bwMode="auto">
                <a:xfrm>
                  <a:off x="2784" y="1248"/>
                  <a:ext cx="644" cy="656"/>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52">
                  <a:extLst>
                    <a:ext uri="{FF2B5EF4-FFF2-40B4-BE49-F238E27FC236}">
                      <a16:creationId xmlns:a16="http://schemas.microsoft.com/office/drawing/2014/main" id="{7F363F19-4B6B-F1EE-B09F-8C8ECC16FC32}"/>
                    </a:ext>
                  </a:extLst>
                </p:cNvPr>
                <p:cNvSpPr txBox="1"/>
                <p:nvPr/>
              </p:nvSpPr>
              <p:spPr bwMode="auto">
                <a:xfrm>
                  <a:off x="4103" y="1440"/>
                  <a:ext cx="217" cy="281"/>
                </a:xfrm>
                <a:prstGeom prst="rect">
                  <a:avLst/>
                </a:prstGeom>
                <a:noFill/>
                <a:ln>
                  <a:noFill/>
                </a:ln>
                <a:effec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𝛾</m:t>
                        </m:r>
                      </m:oMath>
                    </m:oMathPara>
                  </a14:m>
                  <a:endParaRPr lang="en-US" sz="2800"/>
                </a:p>
              </p:txBody>
            </p:sp>
          </mc:Choice>
          <mc:Fallback xmlns="">
            <p:sp>
              <p:nvSpPr>
                <p:cNvPr id="11" name="Object 52">
                  <a:extLst>
                    <a:ext uri="{FF2B5EF4-FFF2-40B4-BE49-F238E27FC236}">
                      <a16:creationId xmlns:a16="http://schemas.microsoft.com/office/drawing/2014/main" id="{7F363F19-4B6B-F1EE-B09F-8C8ECC16FC32}"/>
                    </a:ext>
                  </a:extLst>
                </p:cNvPr>
                <p:cNvSpPr txBox="1">
                  <a:spLocks noRot="1" noChangeAspect="1" noMove="1" noResize="1" noEditPoints="1" noAdjustHandles="1" noChangeArrowheads="1" noChangeShapeType="1" noTextEdit="1"/>
                </p:cNvSpPr>
                <p:nvPr/>
              </p:nvSpPr>
              <p:spPr bwMode="auto">
                <a:xfrm>
                  <a:off x="4103" y="1440"/>
                  <a:ext cx="217" cy="281"/>
                </a:xfrm>
                <a:prstGeom prst="rect">
                  <a:avLst/>
                </a:prstGeom>
                <a:blipFill>
                  <a:blip r:embed="rId6"/>
                  <a:stretch>
                    <a:fillRect b="-4054"/>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54">
                  <a:extLst>
                    <a:ext uri="{FF2B5EF4-FFF2-40B4-BE49-F238E27FC236}">
                      <a16:creationId xmlns:a16="http://schemas.microsoft.com/office/drawing/2014/main" id="{783597E3-52BA-015E-AD09-14844C64C6FD}"/>
                    </a:ext>
                  </a:extLst>
                </p:cNvPr>
                <p:cNvSpPr txBox="1"/>
                <p:nvPr/>
              </p:nvSpPr>
              <p:spPr bwMode="auto">
                <a:xfrm>
                  <a:off x="970" y="2074"/>
                  <a:ext cx="364" cy="267"/>
                </a:xfrm>
                <a:prstGeom prst="rect">
                  <a:avLst/>
                </a:prstGeom>
                <a:noFill/>
                <a:ln>
                  <a:noFill/>
                </a:ln>
                <a:effec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m:rPr>
                            <m:nor/>
                          </m:rPr>
                          <a:rPr lang="en-US" sz="2800" i="0">
                            <a:solidFill>
                              <a:srgbClr val="000000"/>
                            </a:solidFill>
                            <a:latin typeface="Cambria Math" panose="02040503050406030204" pitchFamily="18" charset="0"/>
                          </a:rPr>
                          <m:t>He</m:t>
                        </m:r>
                      </m:oMath>
                    </m:oMathPara>
                  </a14:m>
                  <a:endParaRPr lang="en-US" sz="2800"/>
                </a:p>
              </p:txBody>
            </p:sp>
          </mc:Choice>
          <mc:Fallback xmlns="">
            <p:sp>
              <p:nvSpPr>
                <p:cNvPr id="12" name="Object 54">
                  <a:extLst>
                    <a:ext uri="{FF2B5EF4-FFF2-40B4-BE49-F238E27FC236}">
                      <a16:creationId xmlns:a16="http://schemas.microsoft.com/office/drawing/2014/main" id="{783597E3-52BA-015E-AD09-14844C64C6FD}"/>
                    </a:ext>
                  </a:extLst>
                </p:cNvPr>
                <p:cNvSpPr txBox="1">
                  <a:spLocks noRot="1" noChangeAspect="1" noMove="1" noResize="1" noEditPoints="1" noAdjustHandles="1" noChangeArrowheads="1" noChangeShapeType="1" noTextEdit="1"/>
                </p:cNvSpPr>
                <p:nvPr/>
              </p:nvSpPr>
              <p:spPr bwMode="auto">
                <a:xfrm>
                  <a:off x="970" y="2074"/>
                  <a:ext cx="364" cy="267"/>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55">
                  <a:extLst>
                    <a:ext uri="{FF2B5EF4-FFF2-40B4-BE49-F238E27FC236}">
                      <a16:creationId xmlns:a16="http://schemas.microsoft.com/office/drawing/2014/main" id="{223AC437-5724-3DDC-9328-99FA651123A9}"/>
                    </a:ext>
                  </a:extLst>
                </p:cNvPr>
                <p:cNvSpPr txBox="1"/>
                <p:nvPr/>
              </p:nvSpPr>
              <p:spPr bwMode="auto">
                <a:xfrm>
                  <a:off x="980" y="2434"/>
                  <a:ext cx="344" cy="35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m:rPr>
                                <m:sty m:val="p"/>
                              </m:rPr>
                              <a:rPr lang="en-US" sz="2800" i="0">
                                <a:solidFill>
                                  <a:srgbClr val="000000"/>
                                </a:solidFill>
                                <a:latin typeface="Cambria Math" panose="02040503050406030204" pitchFamily="18" charset="0"/>
                              </a:rPr>
                              <m:t>H</m:t>
                            </m:r>
                          </m:e>
                          <m:sub>
                            <m:r>
                              <a:rPr lang="en-US" sz="2800" i="0">
                                <a:solidFill>
                                  <a:srgbClr val="000000"/>
                                </a:solidFill>
                                <a:latin typeface="Cambria Math" panose="02040503050406030204" pitchFamily="18" charset="0"/>
                              </a:rPr>
                              <m:t>2</m:t>
                            </m:r>
                          </m:sub>
                        </m:sSub>
                      </m:oMath>
                    </m:oMathPara>
                  </a14:m>
                  <a:endParaRPr lang="en-US" sz="2800"/>
                </a:p>
              </p:txBody>
            </p:sp>
          </mc:Choice>
          <mc:Fallback xmlns="">
            <p:sp>
              <p:nvSpPr>
                <p:cNvPr id="13319" name="Object 55">
                  <a:extLst>
                    <a:ext uri="{FF2B5EF4-FFF2-40B4-BE49-F238E27FC236}">
                      <a16:creationId xmlns:a16="http://schemas.microsoft.com/office/drawing/2014/main" id="{F446712F-E99F-4292-A700-22BC39CC6D08}"/>
                    </a:ext>
                  </a:extLst>
                </p:cNvPr>
                <p:cNvSpPr txBox="1">
                  <a:spLocks noRot="1" noChangeAspect="1" noMove="1" noResize="1" noEditPoints="1" noAdjustHandles="1" noChangeArrowheads="1" noChangeShapeType="1" noTextEdit="1"/>
                </p:cNvSpPr>
                <p:nvPr/>
              </p:nvSpPr>
              <p:spPr bwMode="auto">
                <a:xfrm>
                  <a:off x="980" y="2434"/>
                  <a:ext cx="344" cy="350"/>
                </a:xfrm>
                <a:prstGeom prst="rect">
                  <a:avLst/>
                </a:prstGeom>
                <a:blipFill>
                  <a:blip r:embed="rId10"/>
                  <a:stretch>
                    <a:fillRect/>
                  </a:stretch>
                </a:blipFill>
                <a:ln>
                  <a:noFill/>
                </a:ln>
                <a:effectLst/>
              </p:spPr>
              <p:txBody>
                <a:bodyPr/>
                <a:lstStyle/>
                <a:p>
                  <a:r>
                    <a:rPr lang="en-US">
                      <a:noFill/>
                    </a:rPr>
                    <a:t> </a:t>
                  </a:r>
                </a:p>
              </p:txBody>
            </p:sp>
          </mc:Fallback>
        </mc:AlternateContent>
        <p:sp>
          <p:nvSpPr>
            <p:cNvPr id="14" name="Text Box 57">
              <a:extLst>
                <a:ext uri="{FF2B5EF4-FFF2-40B4-BE49-F238E27FC236}">
                  <a16:creationId xmlns:a16="http://schemas.microsoft.com/office/drawing/2014/main" id="{C3284328-58B4-6860-211F-6AFF0AA8AB5A}"/>
                </a:ext>
              </a:extLst>
            </p:cNvPr>
            <p:cNvSpPr txBox="1">
              <a:spLocks noChangeArrowheads="1"/>
            </p:cNvSpPr>
            <p:nvPr/>
          </p:nvSpPr>
          <p:spPr bwMode="auto">
            <a:xfrm>
              <a:off x="1584" y="1968"/>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2.98</a:t>
              </a:r>
            </a:p>
          </p:txBody>
        </p:sp>
        <p:sp>
          <p:nvSpPr>
            <p:cNvPr id="15" name="Text Box 58">
              <a:extLst>
                <a:ext uri="{FF2B5EF4-FFF2-40B4-BE49-F238E27FC236}">
                  <a16:creationId xmlns:a16="http://schemas.microsoft.com/office/drawing/2014/main" id="{88F882C5-43A1-B283-414A-C620E101492B}"/>
                </a:ext>
              </a:extLst>
            </p:cNvPr>
            <p:cNvSpPr txBox="1">
              <a:spLocks noChangeArrowheads="1"/>
            </p:cNvSpPr>
            <p:nvPr/>
          </p:nvSpPr>
          <p:spPr bwMode="auto">
            <a:xfrm>
              <a:off x="2688" y="1968"/>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4.97</a:t>
              </a:r>
            </a:p>
          </p:txBody>
        </p:sp>
        <p:sp>
          <p:nvSpPr>
            <p:cNvPr id="16" name="Text Box 59">
              <a:extLst>
                <a:ext uri="{FF2B5EF4-FFF2-40B4-BE49-F238E27FC236}">
                  <a16:creationId xmlns:a16="http://schemas.microsoft.com/office/drawing/2014/main" id="{7537EF1B-DDF1-10A0-A238-74F7638B48B1}"/>
                </a:ext>
              </a:extLst>
            </p:cNvPr>
            <p:cNvSpPr txBox="1">
              <a:spLocks noChangeArrowheads="1"/>
            </p:cNvSpPr>
            <p:nvPr/>
          </p:nvSpPr>
          <p:spPr bwMode="auto">
            <a:xfrm>
              <a:off x="3936" y="1968"/>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1.67</a:t>
              </a:r>
            </a:p>
          </p:txBody>
        </p:sp>
        <p:sp>
          <p:nvSpPr>
            <p:cNvPr id="17" name="Text Box 60">
              <a:extLst>
                <a:ext uri="{FF2B5EF4-FFF2-40B4-BE49-F238E27FC236}">
                  <a16:creationId xmlns:a16="http://schemas.microsoft.com/office/drawing/2014/main" id="{42700C0D-CB09-717D-F6D5-91D955A94773}"/>
                </a:ext>
              </a:extLst>
            </p:cNvPr>
            <p:cNvSpPr txBox="1">
              <a:spLocks noChangeArrowheads="1"/>
            </p:cNvSpPr>
            <p:nvPr/>
          </p:nvSpPr>
          <p:spPr bwMode="auto">
            <a:xfrm>
              <a:off x="1604" y="2400"/>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4.88</a:t>
              </a:r>
            </a:p>
          </p:txBody>
        </p:sp>
        <p:sp>
          <p:nvSpPr>
            <p:cNvPr id="18" name="Text Box 61">
              <a:extLst>
                <a:ext uri="{FF2B5EF4-FFF2-40B4-BE49-F238E27FC236}">
                  <a16:creationId xmlns:a16="http://schemas.microsoft.com/office/drawing/2014/main" id="{CE016090-82CD-C2DB-5ABF-A8C5CA0E3D6A}"/>
                </a:ext>
              </a:extLst>
            </p:cNvPr>
            <p:cNvSpPr txBox="1">
              <a:spLocks noChangeArrowheads="1"/>
            </p:cNvSpPr>
            <p:nvPr/>
          </p:nvSpPr>
          <p:spPr bwMode="auto">
            <a:xfrm>
              <a:off x="2688" y="2400"/>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6.87</a:t>
              </a:r>
            </a:p>
          </p:txBody>
        </p:sp>
        <p:sp>
          <p:nvSpPr>
            <p:cNvPr id="19" name="Text Box 62">
              <a:extLst>
                <a:ext uri="{FF2B5EF4-FFF2-40B4-BE49-F238E27FC236}">
                  <a16:creationId xmlns:a16="http://schemas.microsoft.com/office/drawing/2014/main" id="{4A8CEF5A-0EDB-D6C9-0069-A2A42882B18C}"/>
                </a:ext>
              </a:extLst>
            </p:cNvPr>
            <p:cNvSpPr txBox="1">
              <a:spLocks noChangeArrowheads="1"/>
            </p:cNvSpPr>
            <p:nvPr/>
          </p:nvSpPr>
          <p:spPr bwMode="auto">
            <a:xfrm>
              <a:off x="3936" y="2409"/>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1.41</a:t>
              </a:r>
            </a:p>
          </p:txBody>
        </p:sp>
        <p:sp>
          <p:nvSpPr>
            <p:cNvPr id="20" name="Line 66">
              <a:extLst>
                <a:ext uri="{FF2B5EF4-FFF2-40B4-BE49-F238E27FC236}">
                  <a16:creationId xmlns:a16="http://schemas.microsoft.com/office/drawing/2014/main" id="{C79DB282-DE00-5900-7E22-3611146AD1C3}"/>
                </a:ext>
              </a:extLst>
            </p:cNvPr>
            <p:cNvSpPr>
              <a:spLocks noChangeShapeType="1"/>
            </p:cNvSpPr>
            <p:nvPr/>
          </p:nvSpPr>
          <p:spPr bwMode="auto">
            <a:xfrm>
              <a:off x="432" y="2016"/>
              <a:ext cx="48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21" name="Line 67">
              <a:extLst>
                <a:ext uri="{FF2B5EF4-FFF2-40B4-BE49-F238E27FC236}">
                  <a16:creationId xmlns:a16="http://schemas.microsoft.com/office/drawing/2014/main" id="{9816EDF5-A0DD-9AB3-9176-348E848C161F}"/>
                </a:ext>
              </a:extLst>
            </p:cNvPr>
            <p:cNvSpPr>
              <a:spLocks noChangeShapeType="1"/>
            </p:cNvSpPr>
            <p:nvPr/>
          </p:nvSpPr>
          <p:spPr bwMode="auto">
            <a:xfrm>
              <a:off x="432" y="2400"/>
              <a:ext cx="48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22" name="Line 69">
              <a:extLst>
                <a:ext uri="{FF2B5EF4-FFF2-40B4-BE49-F238E27FC236}">
                  <a16:creationId xmlns:a16="http://schemas.microsoft.com/office/drawing/2014/main" id="{AE083F11-C7E2-B668-A787-3DCC6B368B26}"/>
                </a:ext>
              </a:extLst>
            </p:cNvPr>
            <p:cNvSpPr>
              <a:spLocks noChangeShapeType="1"/>
            </p:cNvSpPr>
            <p:nvPr/>
          </p:nvSpPr>
          <p:spPr bwMode="auto">
            <a:xfrm>
              <a:off x="336" y="2795"/>
              <a:ext cx="50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23" name="Line 70">
              <a:extLst>
                <a:ext uri="{FF2B5EF4-FFF2-40B4-BE49-F238E27FC236}">
                  <a16:creationId xmlns:a16="http://schemas.microsoft.com/office/drawing/2014/main" id="{AA9F3964-3B3D-093D-D516-805886609FBD}"/>
                </a:ext>
              </a:extLst>
            </p:cNvPr>
            <p:cNvSpPr>
              <a:spLocks noChangeShapeType="1"/>
            </p:cNvSpPr>
            <p:nvPr/>
          </p:nvSpPr>
          <p:spPr bwMode="auto">
            <a:xfrm>
              <a:off x="1440" y="1200"/>
              <a:ext cx="0" cy="15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24" name="Line 72">
              <a:extLst>
                <a:ext uri="{FF2B5EF4-FFF2-40B4-BE49-F238E27FC236}">
                  <a16:creationId xmlns:a16="http://schemas.microsoft.com/office/drawing/2014/main" id="{C824A6B4-0334-28B8-393D-8A4CC7EA6066}"/>
                </a:ext>
              </a:extLst>
            </p:cNvPr>
            <p:cNvSpPr>
              <a:spLocks noChangeShapeType="1"/>
            </p:cNvSpPr>
            <p:nvPr/>
          </p:nvSpPr>
          <p:spPr bwMode="auto">
            <a:xfrm>
              <a:off x="3744" y="1200"/>
              <a:ext cx="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25" name="Line 73">
              <a:extLst>
                <a:ext uri="{FF2B5EF4-FFF2-40B4-BE49-F238E27FC236}">
                  <a16:creationId xmlns:a16="http://schemas.microsoft.com/office/drawing/2014/main" id="{4E9D49BE-86A6-45ED-268F-5FD800605795}"/>
                </a:ext>
              </a:extLst>
            </p:cNvPr>
            <p:cNvSpPr>
              <a:spLocks noChangeShapeType="1"/>
            </p:cNvSpPr>
            <p:nvPr/>
          </p:nvSpPr>
          <p:spPr bwMode="auto">
            <a:xfrm>
              <a:off x="2544" y="1200"/>
              <a:ext cx="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26" name="Line 74">
              <a:extLst>
                <a:ext uri="{FF2B5EF4-FFF2-40B4-BE49-F238E27FC236}">
                  <a16:creationId xmlns:a16="http://schemas.microsoft.com/office/drawing/2014/main" id="{F3EED39C-F4E0-F6C9-D5A4-F8616DDB0438}"/>
                </a:ext>
              </a:extLst>
            </p:cNvPr>
            <p:cNvSpPr>
              <a:spLocks noChangeShapeType="1"/>
            </p:cNvSpPr>
            <p:nvPr/>
          </p:nvSpPr>
          <p:spPr bwMode="auto">
            <a:xfrm>
              <a:off x="864" y="2016"/>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27" name="Text Box 75">
              <a:extLst>
                <a:ext uri="{FF2B5EF4-FFF2-40B4-BE49-F238E27FC236}">
                  <a16:creationId xmlns:a16="http://schemas.microsoft.com/office/drawing/2014/main" id="{16C0B6AF-B6EC-0A82-44F7-FBCA92B2D3A6}"/>
                </a:ext>
              </a:extLst>
            </p:cNvPr>
            <p:cNvSpPr txBox="1">
              <a:spLocks noChangeArrowheads="1"/>
            </p:cNvSpPr>
            <p:nvPr/>
          </p:nvSpPr>
          <p:spPr bwMode="auto">
            <a:xfrm>
              <a:off x="432" y="2064"/>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单</a:t>
              </a:r>
            </a:p>
          </p:txBody>
        </p:sp>
        <p:sp>
          <p:nvSpPr>
            <p:cNvPr id="28" name="Text Box 76">
              <a:extLst>
                <a:ext uri="{FF2B5EF4-FFF2-40B4-BE49-F238E27FC236}">
                  <a16:creationId xmlns:a16="http://schemas.microsoft.com/office/drawing/2014/main" id="{D1ED1DA7-E84E-2476-574E-0FA7A2D50DCF}"/>
                </a:ext>
              </a:extLst>
            </p:cNvPr>
            <p:cNvSpPr txBox="1">
              <a:spLocks noChangeArrowheads="1"/>
            </p:cNvSpPr>
            <p:nvPr/>
          </p:nvSpPr>
          <p:spPr bwMode="auto">
            <a:xfrm>
              <a:off x="432" y="2400"/>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双</a:t>
              </a:r>
            </a:p>
          </p:txBody>
        </p:sp>
      </p:grpSp>
      <p:grpSp>
        <p:nvGrpSpPr>
          <p:cNvPr id="29" name="Group 83">
            <a:extLst>
              <a:ext uri="{FF2B5EF4-FFF2-40B4-BE49-F238E27FC236}">
                <a16:creationId xmlns:a16="http://schemas.microsoft.com/office/drawing/2014/main" id="{07BB8BC5-9579-9C53-9AA4-2A04C7023C4A}"/>
              </a:ext>
            </a:extLst>
          </p:cNvPr>
          <p:cNvGrpSpPr>
            <a:grpSpLocks/>
          </p:cNvGrpSpPr>
          <p:nvPr/>
        </p:nvGrpSpPr>
        <p:grpSpPr bwMode="auto">
          <a:xfrm>
            <a:off x="5667828" y="2260601"/>
            <a:ext cx="4464050" cy="519113"/>
            <a:chOff x="2208" y="1968"/>
            <a:chExt cx="2812" cy="327"/>
          </a:xfrm>
        </p:grpSpPr>
        <p:sp>
          <p:nvSpPr>
            <p:cNvPr id="30" name="Text Box 79">
              <a:extLst>
                <a:ext uri="{FF2B5EF4-FFF2-40B4-BE49-F238E27FC236}">
                  <a16:creationId xmlns:a16="http://schemas.microsoft.com/office/drawing/2014/main" id="{53BA4538-0530-811F-A9D7-6194276B7E27}"/>
                </a:ext>
              </a:extLst>
            </p:cNvPr>
            <p:cNvSpPr txBox="1">
              <a:spLocks noChangeArrowheads="1"/>
            </p:cNvSpPr>
            <p:nvPr/>
          </p:nvSpPr>
          <p:spPr bwMode="auto">
            <a:xfrm>
              <a:off x="2208" y="196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5050"/>
                  </a:solidFill>
                </a:rPr>
                <a:t>3</a:t>
              </a:r>
            </a:p>
          </p:txBody>
        </p:sp>
        <p:sp>
          <p:nvSpPr>
            <p:cNvPr id="31" name="Text Box 80">
              <a:extLst>
                <a:ext uri="{FF2B5EF4-FFF2-40B4-BE49-F238E27FC236}">
                  <a16:creationId xmlns:a16="http://schemas.microsoft.com/office/drawing/2014/main" id="{EC737AAA-0117-15FA-164E-D72708F8CD18}"/>
                </a:ext>
              </a:extLst>
            </p:cNvPr>
            <p:cNvSpPr txBox="1">
              <a:spLocks noChangeArrowheads="1"/>
            </p:cNvSpPr>
            <p:nvPr/>
          </p:nvSpPr>
          <p:spPr bwMode="auto">
            <a:xfrm>
              <a:off x="3312" y="196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5050"/>
                  </a:solidFill>
                </a:rPr>
                <a:t>5</a:t>
              </a:r>
            </a:p>
          </p:txBody>
        </p:sp>
        <p:sp>
          <p:nvSpPr>
            <p:cNvPr id="32" name="Text Box 82">
              <a:extLst>
                <a:ext uri="{FF2B5EF4-FFF2-40B4-BE49-F238E27FC236}">
                  <a16:creationId xmlns:a16="http://schemas.microsoft.com/office/drawing/2014/main" id="{0C35CD2C-0FBF-E064-2E15-61234CC4B51D}"/>
                </a:ext>
              </a:extLst>
            </p:cNvPr>
            <p:cNvSpPr txBox="1">
              <a:spLocks noChangeArrowheads="1"/>
            </p:cNvSpPr>
            <p:nvPr/>
          </p:nvSpPr>
          <p:spPr bwMode="auto">
            <a:xfrm>
              <a:off x="4512" y="1968"/>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5050"/>
                  </a:solidFill>
                </a:rPr>
                <a:t>1.67</a:t>
              </a:r>
              <a:endParaRPr lang="en-US" altLang="zh-CN"/>
            </a:p>
          </p:txBody>
        </p:sp>
      </p:grpSp>
      <p:grpSp>
        <p:nvGrpSpPr>
          <p:cNvPr id="33" name="Group 87">
            <a:extLst>
              <a:ext uri="{FF2B5EF4-FFF2-40B4-BE49-F238E27FC236}">
                <a16:creationId xmlns:a16="http://schemas.microsoft.com/office/drawing/2014/main" id="{2778835A-6559-D35C-0EDE-3912B14DBD7E}"/>
              </a:ext>
            </a:extLst>
          </p:cNvPr>
          <p:cNvGrpSpPr>
            <a:grpSpLocks/>
          </p:cNvGrpSpPr>
          <p:nvPr/>
        </p:nvGrpSpPr>
        <p:grpSpPr bwMode="auto">
          <a:xfrm>
            <a:off x="5667828" y="2870200"/>
            <a:ext cx="4464050" cy="533400"/>
            <a:chOff x="2208" y="2352"/>
            <a:chExt cx="2812" cy="336"/>
          </a:xfrm>
        </p:grpSpPr>
        <p:sp>
          <p:nvSpPr>
            <p:cNvPr id="34" name="Text Box 84">
              <a:extLst>
                <a:ext uri="{FF2B5EF4-FFF2-40B4-BE49-F238E27FC236}">
                  <a16:creationId xmlns:a16="http://schemas.microsoft.com/office/drawing/2014/main" id="{14BD9821-F038-D986-1D67-8FC93445D27C}"/>
                </a:ext>
              </a:extLst>
            </p:cNvPr>
            <p:cNvSpPr txBox="1">
              <a:spLocks noChangeArrowheads="1"/>
            </p:cNvSpPr>
            <p:nvPr/>
          </p:nvSpPr>
          <p:spPr bwMode="auto">
            <a:xfrm>
              <a:off x="2208" y="235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5050"/>
                  </a:solidFill>
                </a:rPr>
                <a:t>5</a:t>
              </a:r>
              <a:endParaRPr lang="en-US" altLang="zh-CN"/>
            </a:p>
          </p:txBody>
        </p:sp>
        <p:sp>
          <p:nvSpPr>
            <p:cNvPr id="35" name="Text Box 85">
              <a:extLst>
                <a:ext uri="{FF2B5EF4-FFF2-40B4-BE49-F238E27FC236}">
                  <a16:creationId xmlns:a16="http://schemas.microsoft.com/office/drawing/2014/main" id="{6176345F-C99A-103C-2188-E65638315ACF}"/>
                </a:ext>
              </a:extLst>
            </p:cNvPr>
            <p:cNvSpPr txBox="1">
              <a:spLocks noChangeArrowheads="1"/>
            </p:cNvSpPr>
            <p:nvPr/>
          </p:nvSpPr>
          <p:spPr bwMode="auto">
            <a:xfrm>
              <a:off x="4512" y="2352"/>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5050"/>
                  </a:solidFill>
                </a:rPr>
                <a:t>1.40</a:t>
              </a:r>
              <a:endParaRPr lang="en-US" altLang="zh-CN"/>
            </a:p>
          </p:txBody>
        </p:sp>
        <p:sp>
          <p:nvSpPr>
            <p:cNvPr id="36" name="Text Box 86">
              <a:extLst>
                <a:ext uri="{FF2B5EF4-FFF2-40B4-BE49-F238E27FC236}">
                  <a16:creationId xmlns:a16="http://schemas.microsoft.com/office/drawing/2014/main" id="{E405680E-C7A9-5206-EA83-00C58CA2420C}"/>
                </a:ext>
              </a:extLst>
            </p:cNvPr>
            <p:cNvSpPr txBox="1">
              <a:spLocks noChangeArrowheads="1"/>
            </p:cNvSpPr>
            <p:nvPr/>
          </p:nvSpPr>
          <p:spPr bwMode="auto">
            <a:xfrm>
              <a:off x="3312" y="236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5050"/>
                  </a:solidFill>
                </a:rPr>
                <a:t>7</a:t>
              </a:r>
              <a:endParaRPr lang="en-US" altLang="zh-CN"/>
            </a:p>
          </p:txBody>
        </p:sp>
      </p:grpSp>
      <p:grpSp>
        <p:nvGrpSpPr>
          <p:cNvPr id="37" name="Group 30">
            <a:extLst>
              <a:ext uri="{FF2B5EF4-FFF2-40B4-BE49-F238E27FC236}">
                <a16:creationId xmlns:a16="http://schemas.microsoft.com/office/drawing/2014/main" id="{7A14582B-A423-AFBE-0606-CAA557BF5D95}"/>
              </a:ext>
            </a:extLst>
          </p:cNvPr>
          <p:cNvGrpSpPr>
            <a:grpSpLocks/>
          </p:cNvGrpSpPr>
          <p:nvPr/>
        </p:nvGrpSpPr>
        <p:grpSpPr bwMode="auto">
          <a:xfrm>
            <a:off x="417852" y="3840536"/>
            <a:ext cx="6828404" cy="2941506"/>
            <a:chOff x="316" y="624"/>
            <a:chExt cx="4970" cy="2489"/>
          </a:xfrm>
        </p:grpSpPr>
        <p:grpSp>
          <p:nvGrpSpPr>
            <p:cNvPr id="38" name="Group 2">
              <a:extLst>
                <a:ext uri="{FF2B5EF4-FFF2-40B4-BE49-F238E27FC236}">
                  <a16:creationId xmlns:a16="http://schemas.microsoft.com/office/drawing/2014/main" id="{79A98B2D-125F-6FE0-0FD5-BC27A828BDD4}"/>
                </a:ext>
              </a:extLst>
            </p:cNvPr>
            <p:cNvGrpSpPr>
              <a:grpSpLocks/>
            </p:cNvGrpSpPr>
            <p:nvPr/>
          </p:nvGrpSpPr>
          <p:grpSpPr bwMode="auto">
            <a:xfrm>
              <a:off x="316" y="662"/>
              <a:ext cx="4970" cy="2451"/>
              <a:chOff x="326" y="662"/>
              <a:chExt cx="4970" cy="2451"/>
            </a:xfrm>
          </p:grpSpPr>
          <p:grpSp>
            <p:nvGrpSpPr>
              <p:cNvPr id="40" name="Group 3">
                <a:extLst>
                  <a:ext uri="{FF2B5EF4-FFF2-40B4-BE49-F238E27FC236}">
                    <a16:creationId xmlns:a16="http://schemas.microsoft.com/office/drawing/2014/main" id="{23C3EBC4-5951-86D1-6B36-E7EE340649D8}"/>
                  </a:ext>
                </a:extLst>
              </p:cNvPr>
              <p:cNvGrpSpPr>
                <a:grpSpLocks/>
              </p:cNvGrpSpPr>
              <p:nvPr/>
            </p:nvGrpSpPr>
            <p:grpSpPr bwMode="auto">
              <a:xfrm>
                <a:off x="326" y="806"/>
                <a:ext cx="4970" cy="2307"/>
                <a:chOff x="326" y="806"/>
                <a:chExt cx="4970" cy="2307"/>
              </a:xfrm>
            </p:grpSpPr>
            <p:sp>
              <p:nvSpPr>
                <p:cNvPr id="42" name="Rectangle 4">
                  <a:extLst>
                    <a:ext uri="{FF2B5EF4-FFF2-40B4-BE49-F238E27FC236}">
                      <a16:creationId xmlns:a16="http://schemas.microsoft.com/office/drawing/2014/main" id="{AC622A20-CABC-DB46-1959-52017F3007C1}"/>
                    </a:ext>
                  </a:extLst>
                </p:cNvPr>
                <p:cNvSpPr>
                  <a:spLocks noChangeArrowheads="1"/>
                </p:cNvSpPr>
                <p:nvPr/>
              </p:nvSpPr>
              <p:spPr bwMode="auto">
                <a:xfrm>
                  <a:off x="326" y="806"/>
                  <a:ext cx="658"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zh-CN" altLang="en-US" b="0" dirty="0">
                      <a:latin typeface="华文楷体" panose="02010600040101010101" pitchFamily="2" charset="-122"/>
                      <a:ea typeface="华文楷体" panose="02010600040101010101" pitchFamily="2" charset="-122"/>
                    </a:rPr>
                    <a:t>氢气</a:t>
                  </a:r>
                </a:p>
              </p:txBody>
            </p:sp>
            <p:grpSp>
              <p:nvGrpSpPr>
                <p:cNvPr id="43" name="Group 5">
                  <a:extLst>
                    <a:ext uri="{FF2B5EF4-FFF2-40B4-BE49-F238E27FC236}">
                      <a16:creationId xmlns:a16="http://schemas.microsoft.com/office/drawing/2014/main" id="{21ED4CF7-F678-E1EA-23E0-7FD7D6C3188E}"/>
                    </a:ext>
                  </a:extLst>
                </p:cNvPr>
                <p:cNvGrpSpPr>
                  <a:grpSpLocks/>
                </p:cNvGrpSpPr>
                <p:nvPr/>
              </p:nvGrpSpPr>
              <p:grpSpPr bwMode="auto">
                <a:xfrm>
                  <a:off x="890" y="854"/>
                  <a:ext cx="4406" cy="2259"/>
                  <a:chOff x="890" y="854"/>
                  <a:chExt cx="4406" cy="2259"/>
                </a:xfrm>
              </p:grpSpPr>
              <p:sp>
                <p:nvSpPr>
                  <p:cNvPr id="44" name="Line 6">
                    <a:extLst>
                      <a:ext uri="{FF2B5EF4-FFF2-40B4-BE49-F238E27FC236}">
                        <a16:creationId xmlns:a16="http://schemas.microsoft.com/office/drawing/2014/main" id="{6785D748-E17B-99A9-8A0E-49CF9B11ED86}"/>
                      </a:ext>
                    </a:extLst>
                  </p:cNvPr>
                  <p:cNvSpPr>
                    <a:spLocks noChangeShapeType="1"/>
                  </p:cNvSpPr>
                  <p:nvPr/>
                </p:nvSpPr>
                <p:spPr bwMode="auto">
                  <a:xfrm>
                    <a:off x="1392" y="864"/>
                    <a:ext cx="0" cy="168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45" name="Line 7">
                    <a:extLst>
                      <a:ext uri="{FF2B5EF4-FFF2-40B4-BE49-F238E27FC236}">
                        <a16:creationId xmlns:a16="http://schemas.microsoft.com/office/drawing/2014/main" id="{E13EE883-02B6-2A62-A6A0-AB4AD44412C1}"/>
                      </a:ext>
                    </a:extLst>
                  </p:cNvPr>
                  <p:cNvSpPr>
                    <a:spLocks noChangeShapeType="1"/>
                  </p:cNvSpPr>
                  <p:nvPr/>
                </p:nvSpPr>
                <p:spPr bwMode="auto">
                  <a:xfrm>
                    <a:off x="1392" y="2544"/>
                    <a:ext cx="336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46" name="Rectangle 8">
                    <a:extLst>
                      <a:ext uri="{FF2B5EF4-FFF2-40B4-BE49-F238E27FC236}">
                        <a16:creationId xmlns:a16="http://schemas.microsoft.com/office/drawing/2014/main" id="{72962B25-CF01-CAC4-BEDE-86C08ECE8DC5}"/>
                      </a:ext>
                    </a:extLst>
                  </p:cNvPr>
                  <p:cNvSpPr>
                    <a:spLocks noChangeArrowheads="1"/>
                  </p:cNvSpPr>
                  <p:nvPr/>
                </p:nvSpPr>
                <p:spPr bwMode="auto">
                  <a:xfrm>
                    <a:off x="1046" y="854"/>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p>
                </p:txBody>
              </p:sp>
              <p:sp>
                <p:nvSpPr>
                  <p:cNvPr id="47" name="Rectangle 9">
                    <a:extLst>
                      <a:ext uri="{FF2B5EF4-FFF2-40B4-BE49-F238E27FC236}">
                        <a16:creationId xmlns:a16="http://schemas.microsoft.com/office/drawing/2014/main" id="{43B56AAB-90B1-F4B5-B0F5-CDA08B35FE54}"/>
                      </a:ext>
                    </a:extLst>
                  </p:cNvPr>
                  <p:cNvSpPr>
                    <a:spLocks noChangeArrowheads="1"/>
                  </p:cNvSpPr>
                  <p:nvPr/>
                </p:nvSpPr>
                <p:spPr bwMode="auto">
                  <a:xfrm>
                    <a:off x="4646" y="2678"/>
                    <a:ext cx="65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latin typeface="Arial" panose="020B0604020202020204" pitchFamily="34" charset="0"/>
                      </a:rPr>
                      <a:t>T</a:t>
                    </a:r>
                    <a:r>
                      <a:rPr lang="en-US" altLang="zh-CN" b="0">
                        <a:latin typeface="Arial" panose="020B0604020202020204" pitchFamily="34" charset="0"/>
                      </a:rPr>
                      <a:t>(K)</a:t>
                    </a:r>
                  </a:p>
                </p:txBody>
              </p:sp>
              <p:sp>
                <p:nvSpPr>
                  <p:cNvPr id="48" name="Arc 10">
                    <a:extLst>
                      <a:ext uri="{FF2B5EF4-FFF2-40B4-BE49-F238E27FC236}">
                        <a16:creationId xmlns:a16="http://schemas.microsoft.com/office/drawing/2014/main" id="{6BF3D4C2-1647-E53E-C38B-FD3E1150F0C6}"/>
                      </a:ext>
                    </a:extLst>
                  </p:cNvPr>
                  <p:cNvSpPr>
                    <a:spLocks/>
                  </p:cNvSpPr>
                  <p:nvPr/>
                </p:nvSpPr>
                <p:spPr bwMode="auto">
                  <a:xfrm>
                    <a:off x="1440" y="1632"/>
                    <a:ext cx="1135" cy="384"/>
                  </a:xfrm>
                  <a:custGeom>
                    <a:avLst/>
                    <a:gdLst>
                      <a:gd name="T0" fmla="*/ 0 w 21288"/>
                      <a:gd name="T1" fmla="*/ 0 h 21600"/>
                      <a:gd name="T2" fmla="*/ 0 w 21288"/>
                      <a:gd name="T3" fmla="*/ 0 h 21600"/>
                      <a:gd name="T4" fmla="*/ 0 w 21288"/>
                      <a:gd name="T5" fmla="*/ 0 h 21600"/>
                      <a:gd name="T6" fmla="*/ 0 60000 65536"/>
                      <a:gd name="T7" fmla="*/ 0 60000 65536"/>
                      <a:gd name="T8" fmla="*/ 0 60000 65536"/>
                      <a:gd name="T9" fmla="*/ 0 w 21288"/>
                      <a:gd name="T10" fmla="*/ 0 h 21600"/>
                      <a:gd name="T11" fmla="*/ 21288 w 21288"/>
                      <a:gd name="T12" fmla="*/ 21600 h 21600"/>
                    </a:gdLst>
                    <a:ahLst/>
                    <a:cxnLst>
                      <a:cxn ang="T6">
                        <a:pos x="T0" y="T1"/>
                      </a:cxn>
                      <a:cxn ang="T7">
                        <a:pos x="T2" y="T3"/>
                      </a:cxn>
                      <a:cxn ang="T8">
                        <a:pos x="T4" y="T5"/>
                      </a:cxn>
                    </a:cxnLst>
                    <a:rect l="T9" t="T10" r="T11" b="T12"/>
                    <a:pathLst>
                      <a:path w="21288" h="21600" fill="none" extrusionOk="0">
                        <a:moveTo>
                          <a:pt x="21287" y="3660"/>
                        </a:moveTo>
                        <a:cubicBezTo>
                          <a:pt x="19505" y="14025"/>
                          <a:pt x="10516" y="21599"/>
                          <a:pt x="0" y="21600"/>
                        </a:cubicBezTo>
                      </a:path>
                      <a:path w="21288" h="21600" stroke="0" extrusionOk="0">
                        <a:moveTo>
                          <a:pt x="21287" y="3660"/>
                        </a:moveTo>
                        <a:cubicBezTo>
                          <a:pt x="19505" y="14025"/>
                          <a:pt x="10516"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49" name="Arc 11">
                    <a:extLst>
                      <a:ext uri="{FF2B5EF4-FFF2-40B4-BE49-F238E27FC236}">
                        <a16:creationId xmlns:a16="http://schemas.microsoft.com/office/drawing/2014/main" id="{93C21BC6-9A59-B8FF-AAC2-57A97947FAD9}"/>
                      </a:ext>
                    </a:extLst>
                  </p:cNvPr>
                  <p:cNvSpPr>
                    <a:spLocks/>
                  </p:cNvSpPr>
                  <p:nvPr/>
                </p:nvSpPr>
                <p:spPr bwMode="auto">
                  <a:xfrm>
                    <a:off x="2501" y="1633"/>
                    <a:ext cx="284" cy="192"/>
                  </a:xfrm>
                  <a:custGeom>
                    <a:avLst/>
                    <a:gdLst>
                      <a:gd name="T0" fmla="*/ 0 w 21336"/>
                      <a:gd name="T1" fmla="*/ 0 h 21600"/>
                      <a:gd name="T2" fmla="*/ 0 w 21336"/>
                      <a:gd name="T3" fmla="*/ 0 h 21600"/>
                      <a:gd name="T4" fmla="*/ 0 w 21336"/>
                      <a:gd name="T5" fmla="*/ 0 h 21600"/>
                      <a:gd name="T6" fmla="*/ 0 60000 65536"/>
                      <a:gd name="T7" fmla="*/ 0 60000 65536"/>
                      <a:gd name="T8" fmla="*/ 0 60000 65536"/>
                      <a:gd name="T9" fmla="*/ 0 w 21336"/>
                      <a:gd name="T10" fmla="*/ 0 h 21600"/>
                      <a:gd name="T11" fmla="*/ 21336 w 21336"/>
                      <a:gd name="T12" fmla="*/ 21600 h 21600"/>
                    </a:gdLst>
                    <a:ahLst/>
                    <a:cxnLst>
                      <a:cxn ang="T6">
                        <a:pos x="T0" y="T1"/>
                      </a:cxn>
                      <a:cxn ang="T7">
                        <a:pos x="T2" y="T3"/>
                      </a:cxn>
                      <a:cxn ang="T8">
                        <a:pos x="T4" y="T5"/>
                      </a:cxn>
                    </a:cxnLst>
                    <a:rect l="T9" t="T10" r="T11" b="T12"/>
                    <a:pathLst>
                      <a:path w="21336" h="21600" fill="none" extrusionOk="0">
                        <a:moveTo>
                          <a:pt x="0" y="18231"/>
                        </a:moveTo>
                        <a:cubicBezTo>
                          <a:pt x="1653" y="7760"/>
                          <a:pt x="10660" y="36"/>
                          <a:pt x="21261" y="0"/>
                        </a:cubicBezTo>
                      </a:path>
                      <a:path w="21336" h="21600" stroke="0" extrusionOk="0">
                        <a:moveTo>
                          <a:pt x="0" y="18231"/>
                        </a:moveTo>
                        <a:cubicBezTo>
                          <a:pt x="1653" y="7760"/>
                          <a:pt x="10660" y="36"/>
                          <a:pt x="21261" y="0"/>
                        </a:cubicBezTo>
                        <a:lnTo>
                          <a:pt x="21336"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50" name="Arc 12">
                    <a:extLst>
                      <a:ext uri="{FF2B5EF4-FFF2-40B4-BE49-F238E27FC236}">
                        <a16:creationId xmlns:a16="http://schemas.microsoft.com/office/drawing/2014/main" id="{E367CA09-052A-EA4A-A47C-FA937BC87E6F}"/>
                      </a:ext>
                    </a:extLst>
                  </p:cNvPr>
                  <p:cNvSpPr>
                    <a:spLocks/>
                  </p:cNvSpPr>
                  <p:nvPr/>
                </p:nvSpPr>
                <p:spPr bwMode="auto">
                  <a:xfrm>
                    <a:off x="2784" y="1344"/>
                    <a:ext cx="768"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51" name="Arc 13">
                    <a:extLst>
                      <a:ext uri="{FF2B5EF4-FFF2-40B4-BE49-F238E27FC236}">
                        <a16:creationId xmlns:a16="http://schemas.microsoft.com/office/drawing/2014/main" id="{83C3FAE8-78B8-15DE-1F6E-46B978D0FDA8}"/>
                      </a:ext>
                    </a:extLst>
                  </p:cNvPr>
                  <p:cNvSpPr>
                    <a:spLocks/>
                  </p:cNvSpPr>
                  <p:nvPr/>
                </p:nvSpPr>
                <p:spPr bwMode="auto">
                  <a:xfrm>
                    <a:off x="3553" y="1249"/>
                    <a:ext cx="288"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9"/>
                          <a:pt x="9625" y="41"/>
                          <a:pt x="21525" y="0"/>
                        </a:cubicBezTo>
                      </a:path>
                      <a:path w="21600" h="21600" stroke="0" extrusionOk="0">
                        <a:moveTo>
                          <a:pt x="0" y="21600"/>
                        </a:moveTo>
                        <a:cubicBezTo>
                          <a:pt x="0" y="9699"/>
                          <a:pt x="9625" y="41"/>
                          <a:pt x="21525" y="0"/>
                        </a:cubicBezTo>
                        <a:lnTo>
                          <a:pt x="2160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52" name="Arc 14">
                    <a:extLst>
                      <a:ext uri="{FF2B5EF4-FFF2-40B4-BE49-F238E27FC236}">
                        <a16:creationId xmlns:a16="http://schemas.microsoft.com/office/drawing/2014/main" id="{67F573FA-A7FB-C5E5-F2E6-19E31F1570EE}"/>
                      </a:ext>
                    </a:extLst>
                  </p:cNvPr>
                  <p:cNvSpPr>
                    <a:spLocks/>
                  </p:cNvSpPr>
                  <p:nvPr/>
                </p:nvSpPr>
                <p:spPr bwMode="auto">
                  <a:xfrm>
                    <a:off x="3840" y="1200"/>
                    <a:ext cx="720"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53" name="Rectangle 15">
                    <a:extLst>
                      <a:ext uri="{FF2B5EF4-FFF2-40B4-BE49-F238E27FC236}">
                        <a16:creationId xmlns:a16="http://schemas.microsoft.com/office/drawing/2014/main" id="{94160076-1F78-5084-5800-CF594C7597FC}"/>
                      </a:ext>
                    </a:extLst>
                  </p:cNvPr>
                  <p:cNvSpPr>
                    <a:spLocks noChangeArrowheads="1"/>
                  </p:cNvSpPr>
                  <p:nvPr/>
                </p:nvSpPr>
                <p:spPr bwMode="auto">
                  <a:xfrm>
                    <a:off x="890" y="1910"/>
                    <a:ext cx="492"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a:latin typeface="Arial" panose="020B0604020202020204" pitchFamily="34" charset="0"/>
                      </a:rPr>
                      <a:t>1.5</a:t>
                    </a:r>
                  </a:p>
                </p:txBody>
              </p:sp>
              <p:sp>
                <p:nvSpPr>
                  <p:cNvPr id="54" name="Line 16">
                    <a:extLst>
                      <a:ext uri="{FF2B5EF4-FFF2-40B4-BE49-F238E27FC236}">
                        <a16:creationId xmlns:a16="http://schemas.microsoft.com/office/drawing/2014/main" id="{16B39302-7034-F323-C0F3-6C282233CDD8}"/>
                      </a:ext>
                    </a:extLst>
                  </p:cNvPr>
                  <p:cNvSpPr>
                    <a:spLocks noChangeShapeType="1"/>
                  </p:cNvSpPr>
                  <p:nvPr/>
                </p:nvSpPr>
                <p:spPr bwMode="auto">
                  <a:xfrm flipH="1">
                    <a:off x="1440" y="1632"/>
                    <a:ext cx="1296"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55" name="Line 17">
                    <a:extLst>
                      <a:ext uri="{FF2B5EF4-FFF2-40B4-BE49-F238E27FC236}">
                        <a16:creationId xmlns:a16="http://schemas.microsoft.com/office/drawing/2014/main" id="{9440DA9A-4860-B8EA-84FE-39580468049C}"/>
                      </a:ext>
                    </a:extLst>
                  </p:cNvPr>
                  <p:cNvSpPr>
                    <a:spLocks noChangeShapeType="1"/>
                  </p:cNvSpPr>
                  <p:nvPr/>
                </p:nvSpPr>
                <p:spPr bwMode="auto">
                  <a:xfrm flipH="1">
                    <a:off x="1392" y="1248"/>
                    <a:ext cx="2304"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56" name="Rectangle 18">
                    <a:extLst>
                      <a:ext uri="{FF2B5EF4-FFF2-40B4-BE49-F238E27FC236}">
                        <a16:creationId xmlns:a16="http://schemas.microsoft.com/office/drawing/2014/main" id="{7D0940A9-68E4-8143-3C9F-CCBCB8D10730}"/>
                      </a:ext>
                    </a:extLst>
                  </p:cNvPr>
                  <p:cNvSpPr>
                    <a:spLocks noChangeArrowheads="1"/>
                  </p:cNvSpPr>
                  <p:nvPr/>
                </p:nvSpPr>
                <p:spPr bwMode="auto">
                  <a:xfrm>
                    <a:off x="890" y="1478"/>
                    <a:ext cx="492"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a:latin typeface="Arial" panose="020B0604020202020204" pitchFamily="34" charset="0"/>
                      </a:rPr>
                      <a:t>2.5</a:t>
                    </a:r>
                  </a:p>
                </p:txBody>
              </p:sp>
              <p:sp>
                <p:nvSpPr>
                  <p:cNvPr id="57" name="Rectangle 19">
                    <a:extLst>
                      <a:ext uri="{FF2B5EF4-FFF2-40B4-BE49-F238E27FC236}">
                        <a16:creationId xmlns:a16="http://schemas.microsoft.com/office/drawing/2014/main" id="{5EB8A32F-D64B-2CC7-62F2-234FF2917F47}"/>
                      </a:ext>
                    </a:extLst>
                  </p:cNvPr>
                  <p:cNvSpPr>
                    <a:spLocks noChangeArrowheads="1"/>
                  </p:cNvSpPr>
                  <p:nvPr/>
                </p:nvSpPr>
                <p:spPr bwMode="auto">
                  <a:xfrm>
                    <a:off x="900" y="1104"/>
                    <a:ext cx="614"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Arial" panose="020B0604020202020204" pitchFamily="34" charset="0"/>
                      </a:rPr>
                      <a:t>3.5</a:t>
                    </a:r>
                  </a:p>
                </p:txBody>
              </p:sp>
              <p:sp>
                <p:nvSpPr>
                  <p:cNvPr id="58" name="Line 20">
                    <a:extLst>
                      <a:ext uri="{FF2B5EF4-FFF2-40B4-BE49-F238E27FC236}">
                        <a16:creationId xmlns:a16="http://schemas.microsoft.com/office/drawing/2014/main" id="{E5D325C4-2BED-AA7C-A737-0F5C7114BFE8}"/>
                      </a:ext>
                    </a:extLst>
                  </p:cNvPr>
                  <p:cNvSpPr>
                    <a:spLocks noChangeShapeType="1"/>
                  </p:cNvSpPr>
                  <p:nvPr/>
                </p:nvSpPr>
                <p:spPr bwMode="auto">
                  <a:xfrm>
                    <a:off x="2736" y="2496"/>
                    <a:ext cx="0"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59" name="Line 21">
                    <a:extLst>
                      <a:ext uri="{FF2B5EF4-FFF2-40B4-BE49-F238E27FC236}">
                        <a16:creationId xmlns:a16="http://schemas.microsoft.com/office/drawing/2014/main" id="{B582F3EF-890F-CA0C-49E6-B6D89A1205D7}"/>
                      </a:ext>
                    </a:extLst>
                  </p:cNvPr>
                  <p:cNvSpPr>
                    <a:spLocks noChangeShapeType="1"/>
                  </p:cNvSpPr>
                  <p:nvPr/>
                </p:nvSpPr>
                <p:spPr bwMode="auto">
                  <a:xfrm>
                    <a:off x="1824" y="2496"/>
                    <a:ext cx="0"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60" name="Line 22">
                    <a:extLst>
                      <a:ext uri="{FF2B5EF4-FFF2-40B4-BE49-F238E27FC236}">
                        <a16:creationId xmlns:a16="http://schemas.microsoft.com/office/drawing/2014/main" id="{AB6D5849-BB2C-6C10-5313-2F898E421C3E}"/>
                      </a:ext>
                    </a:extLst>
                  </p:cNvPr>
                  <p:cNvSpPr>
                    <a:spLocks noChangeShapeType="1"/>
                  </p:cNvSpPr>
                  <p:nvPr/>
                </p:nvSpPr>
                <p:spPr bwMode="auto">
                  <a:xfrm>
                    <a:off x="3744" y="2496"/>
                    <a:ext cx="0" cy="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61" name="Rectangle 23">
                    <a:extLst>
                      <a:ext uri="{FF2B5EF4-FFF2-40B4-BE49-F238E27FC236}">
                        <a16:creationId xmlns:a16="http://schemas.microsoft.com/office/drawing/2014/main" id="{720D6362-B356-A50B-CE4C-5F7BCD350571}"/>
                      </a:ext>
                    </a:extLst>
                  </p:cNvPr>
                  <p:cNvSpPr>
                    <a:spLocks noChangeArrowheads="1"/>
                  </p:cNvSpPr>
                  <p:nvPr/>
                </p:nvSpPr>
                <p:spPr bwMode="auto">
                  <a:xfrm>
                    <a:off x="1622" y="2582"/>
                    <a:ext cx="421"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a:latin typeface="Arial" panose="020B0604020202020204" pitchFamily="34" charset="0"/>
                      </a:rPr>
                      <a:t>50</a:t>
                    </a:r>
                  </a:p>
                </p:txBody>
              </p:sp>
              <p:sp>
                <p:nvSpPr>
                  <p:cNvPr id="62" name="Rectangle 24">
                    <a:extLst>
                      <a:ext uri="{FF2B5EF4-FFF2-40B4-BE49-F238E27FC236}">
                        <a16:creationId xmlns:a16="http://schemas.microsoft.com/office/drawing/2014/main" id="{504E6D08-2C0F-1D6F-0862-44AB41BFF627}"/>
                      </a:ext>
                    </a:extLst>
                  </p:cNvPr>
                  <p:cNvSpPr>
                    <a:spLocks noChangeArrowheads="1"/>
                  </p:cNvSpPr>
                  <p:nvPr/>
                </p:nvSpPr>
                <p:spPr bwMode="auto">
                  <a:xfrm>
                    <a:off x="2582" y="2582"/>
                    <a:ext cx="56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a:latin typeface="Arial" panose="020B0604020202020204" pitchFamily="34" charset="0"/>
                      </a:rPr>
                      <a:t>270</a:t>
                    </a:r>
                  </a:p>
                </p:txBody>
              </p:sp>
              <p:sp>
                <p:nvSpPr>
                  <p:cNvPr id="63" name="Rectangle 25">
                    <a:extLst>
                      <a:ext uri="{FF2B5EF4-FFF2-40B4-BE49-F238E27FC236}">
                        <a16:creationId xmlns:a16="http://schemas.microsoft.com/office/drawing/2014/main" id="{7D406BFF-5741-083F-88EA-90F470A2357C}"/>
                      </a:ext>
                    </a:extLst>
                  </p:cNvPr>
                  <p:cNvSpPr>
                    <a:spLocks noChangeArrowheads="1"/>
                  </p:cNvSpPr>
                  <p:nvPr/>
                </p:nvSpPr>
                <p:spPr bwMode="auto">
                  <a:xfrm>
                    <a:off x="3590" y="2582"/>
                    <a:ext cx="709"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dirty="0">
                        <a:latin typeface="Arial" panose="020B0604020202020204" pitchFamily="34" charset="0"/>
                      </a:rPr>
                      <a:t>2500</a:t>
                    </a:r>
                  </a:p>
                </p:txBody>
              </p:sp>
            </p:grpSp>
          </p:grpSp>
          <p:sp>
            <p:nvSpPr>
              <p:cNvPr id="41" name="Rectangle 26">
                <a:extLst>
                  <a:ext uri="{FF2B5EF4-FFF2-40B4-BE49-F238E27FC236}">
                    <a16:creationId xmlns:a16="http://schemas.microsoft.com/office/drawing/2014/main" id="{9862DC87-4D7A-6C26-5F88-D8AEBAF0E6A8}"/>
                  </a:ext>
                </a:extLst>
              </p:cNvPr>
              <p:cNvSpPr>
                <a:spLocks noChangeArrowheads="1"/>
              </p:cNvSpPr>
              <p:nvPr/>
            </p:nvSpPr>
            <p:spPr bwMode="auto">
              <a:xfrm>
                <a:off x="902" y="662"/>
                <a:ext cx="134"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a:latin typeface="Arial" panose="020B0604020202020204" pitchFamily="34" charset="0"/>
                </a:endParaRPr>
              </a:p>
            </p:txBody>
          </p:sp>
        </p:grpSp>
        <mc:AlternateContent xmlns:mc="http://schemas.openxmlformats.org/markup-compatibility/2006" xmlns:a14="http://schemas.microsoft.com/office/drawing/2010/main">
          <mc:Choice Requires="a14">
            <p:sp>
              <p:nvSpPr>
                <p:cNvPr id="39" name="Object 28">
                  <a:extLst>
                    <a:ext uri="{FF2B5EF4-FFF2-40B4-BE49-F238E27FC236}">
                      <a16:creationId xmlns:a16="http://schemas.microsoft.com/office/drawing/2014/main" id="{952B6CAB-B6B4-7056-0B5B-80A1CC7F7856}"/>
                    </a:ext>
                  </a:extLst>
                </p:cNvPr>
                <p:cNvSpPr txBox="1"/>
                <p:nvPr/>
              </p:nvSpPr>
              <p:spPr bwMode="auto">
                <a:xfrm>
                  <a:off x="1399" y="624"/>
                  <a:ext cx="761" cy="35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𝑉</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𝑚</m:t>
                            </m:r>
                          </m:sub>
                        </m:sSub>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𝑅</m:t>
                        </m:r>
                      </m:oMath>
                    </m:oMathPara>
                  </a14:m>
                  <a:endParaRPr lang="en-US" sz="2800"/>
                </a:p>
              </p:txBody>
            </p:sp>
          </mc:Choice>
          <mc:Fallback xmlns="">
            <p:sp>
              <p:nvSpPr>
                <p:cNvPr id="14338" name="Object 28">
                  <a:extLst>
                    <a:ext uri="{FF2B5EF4-FFF2-40B4-BE49-F238E27FC236}">
                      <a16:creationId xmlns:a16="http://schemas.microsoft.com/office/drawing/2014/main" id="{F0CEB109-397C-4F54-8F67-74FC60852725}"/>
                    </a:ext>
                  </a:extLst>
                </p:cNvPr>
                <p:cNvSpPr txBox="1">
                  <a:spLocks noRot="1" noChangeAspect="1" noMove="1" noResize="1" noEditPoints="1" noAdjustHandles="1" noChangeArrowheads="1" noChangeShapeType="1" noTextEdit="1"/>
                </p:cNvSpPr>
                <p:nvPr/>
              </p:nvSpPr>
              <p:spPr bwMode="auto">
                <a:xfrm>
                  <a:off x="1399" y="624"/>
                  <a:ext cx="761" cy="352"/>
                </a:xfrm>
                <a:prstGeom prst="rect">
                  <a:avLst/>
                </a:prstGeom>
                <a:blipFill>
                  <a:blip r:embed="rId11"/>
                  <a:stretch>
                    <a:fillRect/>
                  </a:stretch>
                </a:blipFill>
                <a:ln>
                  <a:noFill/>
                </a:ln>
                <a:effectLst/>
              </p:spPr>
              <p:txBody>
                <a:bodyPr/>
                <a:lstStyle/>
                <a:p>
                  <a:r>
                    <a:rPr lang="en-US">
                      <a:noFill/>
                    </a:rPr>
                    <a:t> </a:t>
                  </a:r>
                </a:p>
              </p:txBody>
            </p:sp>
          </mc:Fallback>
        </mc:AlternateContent>
      </p:grpSp>
      <p:sp>
        <p:nvSpPr>
          <p:cNvPr id="12288" name="Rectangle 27">
            <a:extLst>
              <a:ext uri="{FF2B5EF4-FFF2-40B4-BE49-F238E27FC236}">
                <a16:creationId xmlns:a16="http://schemas.microsoft.com/office/drawing/2014/main" id="{E770FD43-DB8A-A4FE-E48F-7B105A1A992B}"/>
              </a:ext>
            </a:extLst>
          </p:cNvPr>
          <p:cNvSpPr>
            <a:spLocks noChangeArrowheads="1"/>
          </p:cNvSpPr>
          <p:nvPr/>
        </p:nvSpPr>
        <p:spPr bwMode="auto">
          <a:xfrm>
            <a:off x="6140918" y="4471960"/>
            <a:ext cx="615312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marL="342900" indent="-3429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lvl="2"/>
            <a:r>
              <a:rPr lang="zh-CN" altLang="en-US" b="0" dirty="0">
                <a:latin typeface="+mn-lt"/>
                <a:ea typeface="+mn-ea"/>
              </a:rPr>
              <a:t>量子理论</a:t>
            </a:r>
          </a:p>
          <a:p>
            <a:pPr lvl="2"/>
            <a:r>
              <a:rPr lang="zh-CN" altLang="en-US" b="0" dirty="0">
                <a:latin typeface="+mn-lt"/>
                <a:ea typeface="+mn-ea"/>
              </a:rPr>
              <a:t>低温时，只有平动，</a:t>
            </a:r>
            <a:r>
              <a:rPr lang="en-US" altLang="zh-CN" b="0" i="1" dirty="0" err="1">
                <a:latin typeface="+mn-lt"/>
                <a:ea typeface="+mn-ea"/>
              </a:rPr>
              <a:t>i</a:t>
            </a:r>
            <a:r>
              <a:rPr lang="en-US" altLang="zh-CN" b="0" dirty="0">
                <a:latin typeface="+mn-lt"/>
                <a:ea typeface="+mn-ea"/>
              </a:rPr>
              <a:t>=3</a:t>
            </a:r>
            <a:r>
              <a:rPr lang="zh-CN" altLang="en-US" b="0" dirty="0">
                <a:latin typeface="+mn-lt"/>
                <a:ea typeface="+mn-ea"/>
              </a:rPr>
              <a:t>；</a:t>
            </a:r>
          </a:p>
          <a:p>
            <a:pPr lvl="2"/>
            <a:r>
              <a:rPr lang="zh-CN" altLang="en-US" b="0" dirty="0">
                <a:latin typeface="+mn-lt"/>
                <a:ea typeface="+mn-ea"/>
              </a:rPr>
              <a:t>常温时，转动被激发， </a:t>
            </a:r>
            <a:r>
              <a:rPr lang="en-US" altLang="zh-CN" b="0" i="1" dirty="0" err="1">
                <a:latin typeface="+mn-lt"/>
                <a:ea typeface="+mn-ea"/>
              </a:rPr>
              <a:t>i</a:t>
            </a:r>
            <a:r>
              <a:rPr lang="en-US" altLang="zh-CN" b="0" dirty="0">
                <a:latin typeface="+mn-lt"/>
                <a:ea typeface="+mn-ea"/>
              </a:rPr>
              <a:t>=5</a:t>
            </a:r>
            <a:r>
              <a:rPr lang="zh-CN" altLang="en-US" b="0" dirty="0">
                <a:latin typeface="+mn-lt"/>
                <a:ea typeface="+mn-ea"/>
              </a:rPr>
              <a:t>；</a:t>
            </a:r>
          </a:p>
          <a:p>
            <a:pPr lvl="2"/>
            <a:r>
              <a:rPr lang="zh-CN" altLang="en-US" b="0" dirty="0">
                <a:latin typeface="+mn-lt"/>
                <a:ea typeface="+mn-ea"/>
              </a:rPr>
              <a:t>高温时，振动也被激发， </a:t>
            </a:r>
            <a:r>
              <a:rPr lang="en-US" altLang="zh-CN" b="0" i="1" dirty="0" err="1">
                <a:latin typeface="+mn-lt"/>
                <a:ea typeface="+mn-ea"/>
              </a:rPr>
              <a:t>i</a:t>
            </a:r>
            <a:r>
              <a:rPr lang="en-US" altLang="zh-CN" b="0" dirty="0">
                <a:latin typeface="+mn-lt"/>
                <a:ea typeface="+mn-ea"/>
              </a:rPr>
              <a:t>=7</a:t>
            </a:r>
            <a:r>
              <a:rPr lang="zh-CN" altLang="en-US" b="0" dirty="0">
                <a:latin typeface="+mn-lt"/>
                <a:ea typeface="+mn-ea"/>
              </a:rPr>
              <a:t>。</a:t>
            </a:r>
            <a:endParaRPr lang="zh-CN" altLang="en-US" sz="2400" b="0" dirty="0">
              <a:latin typeface="+mn-lt"/>
              <a:ea typeface="+mn-ea"/>
            </a:endParaRPr>
          </a:p>
        </p:txBody>
      </p:sp>
      <p:sp>
        <p:nvSpPr>
          <p:cNvPr id="12289" name="Rectangle 29">
            <a:extLst>
              <a:ext uri="{FF2B5EF4-FFF2-40B4-BE49-F238E27FC236}">
                <a16:creationId xmlns:a16="http://schemas.microsoft.com/office/drawing/2014/main" id="{B1F48941-32BC-E6BA-73E6-E3D611C27780}"/>
              </a:ext>
            </a:extLst>
          </p:cNvPr>
          <p:cNvSpPr>
            <a:spLocks noChangeArrowheads="1"/>
          </p:cNvSpPr>
          <p:nvPr/>
        </p:nvSpPr>
        <p:spPr bwMode="auto">
          <a:xfrm>
            <a:off x="3718378" y="3829037"/>
            <a:ext cx="85218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ea"/>
                <a:ea typeface="+mn-ea"/>
              </a:rPr>
              <a:t>经典理论基于能量均分定理，粒子能量可以连续变化</a:t>
            </a:r>
            <a:endParaRPr lang="en-US" altLang="zh-CN" b="0" dirty="0">
              <a:latin typeface="+mn-ea"/>
              <a:ea typeface="+mn-ea"/>
            </a:endParaRPr>
          </a:p>
        </p:txBody>
      </p:sp>
    </p:spTree>
    <p:extLst>
      <p:ext uri="{BB962C8B-B14F-4D97-AF65-F5344CB8AC3E}">
        <p14:creationId xmlns:p14="http://schemas.microsoft.com/office/powerpoint/2010/main" val="193719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ox(out)">
                                      <p:cBhvr>
                                        <p:cTn id="7" dur="500"/>
                                        <p:tgtEl>
                                          <p:spTgt spid="2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ox(out)">
                                      <p:cBhvr>
                                        <p:cTn id="12" dur="500"/>
                                        <p:tgtEl>
                                          <p:spTgt spid="3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 grpId="0"/>
      <p:bldP spid="1228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4F4EA0F-3474-E561-2BBB-30182C1BF33C}"/>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b="1" dirty="0">
                <a:latin typeface="Times New Roman" panose="02020603050405020304" pitchFamily="18" charset="0"/>
              </a:rPr>
              <a:t>一定量的理想气体的内能</a:t>
            </a:r>
            <a:r>
              <a:rPr lang="en-US" altLang="zh-CN" sz="2800" b="1" i="1" dirty="0">
                <a:latin typeface="Times New Roman" panose="02020603050405020304" pitchFamily="18" charset="0"/>
              </a:rPr>
              <a:t>E </a:t>
            </a:r>
            <a:r>
              <a:rPr lang="zh-CN" altLang="en-US" sz="2800" b="1" dirty="0">
                <a:latin typeface="Times New Roman" panose="02020603050405020304" pitchFamily="18" charset="0"/>
              </a:rPr>
              <a:t>随体积</a:t>
            </a:r>
            <a:r>
              <a:rPr lang="en-US" altLang="zh-CN" sz="2800" b="1" i="1" dirty="0">
                <a:latin typeface="Times New Roman" panose="02020603050405020304" pitchFamily="18" charset="0"/>
              </a:rPr>
              <a:t>V </a:t>
            </a:r>
            <a:r>
              <a:rPr lang="zh-CN" altLang="en-US" sz="2800" b="1" dirty="0">
                <a:latin typeface="Times New Roman" panose="02020603050405020304" pitchFamily="18" charset="0"/>
              </a:rPr>
              <a:t>的变化关系为一直线</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其延长线过</a:t>
            </a:r>
            <a:r>
              <a:rPr lang="en-US" altLang="zh-CN" sz="2800" b="1" i="1" dirty="0">
                <a:latin typeface="Times New Roman" panose="02020603050405020304" pitchFamily="18" charset="0"/>
              </a:rPr>
              <a:t>E-V </a:t>
            </a:r>
            <a:r>
              <a:rPr lang="zh-CN" altLang="en-US" sz="2800" b="1" dirty="0">
                <a:latin typeface="Times New Roman" panose="02020603050405020304" pitchFamily="18" charset="0"/>
              </a:rPr>
              <a:t>图的原点。则此直线过程是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DEC5D792-37FE-A09A-1BBE-45495A4AE0E1}"/>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b="1" dirty="0">
                <a:latin typeface="Times New Roman" panose="02020603050405020304" pitchFamily="18" charset="0"/>
              </a:rPr>
              <a:t>等温</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49EE5188-FC9B-7604-EFF0-E4FE13E726D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800" b="1" dirty="0">
                <a:latin typeface="Times New Roman" panose="02020603050405020304" pitchFamily="18" charset="0"/>
              </a:rPr>
              <a:t>等压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55F81510-5492-7800-240F-0EE4CFE7B509}"/>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pPr marL="457200" indent="-457200">
              <a:lnSpc>
                <a:spcPct val="120000"/>
              </a:lnSpc>
              <a:spcBef>
                <a:spcPct val="50000"/>
              </a:spcBef>
            </a:pPr>
            <a:r>
              <a:rPr lang="zh-CN" altLang="en-US" sz="2800" b="1" dirty="0">
                <a:latin typeface="Times New Roman" panose="02020603050405020304" pitchFamily="18" charset="0"/>
              </a:rPr>
              <a:t>等容 </a:t>
            </a:r>
          </a:p>
        </p:txBody>
      </p:sp>
      <p:sp>
        <p:nvSpPr>
          <p:cNvPr id="8" name="文本框 7">
            <a:extLst>
              <a:ext uri="{FF2B5EF4-FFF2-40B4-BE49-F238E27FC236}">
                <a16:creationId xmlns:a16="http://schemas.microsoft.com/office/drawing/2014/main" id="{88F236D0-9B74-3A77-36F2-213552A247EB}"/>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pPr marL="457200" indent="-457200">
              <a:lnSpc>
                <a:spcPct val="120000"/>
              </a:lnSpc>
              <a:spcBef>
                <a:spcPct val="50000"/>
              </a:spcBef>
            </a:pPr>
            <a:r>
              <a:rPr lang="zh-CN" altLang="en-US" sz="2800" b="1" dirty="0">
                <a:latin typeface="Times New Roman" panose="02020603050405020304" pitchFamily="18" charset="0"/>
              </a:rPr>
              <a:t>以上说法都不对</a:t>
            </a:r>
          </a:p>
        </p:txBody>
      </p:sp>
      <p:sp>
        <p:nvSpPr>
          <p:cNvPr id="9" name="椭圆 8">
            <a:extLst>
              <a:ext uri="{FF2B5EF4-FFF2-40B4-BE49-F238E27FC236}">
                <a16:creationId xmlns:a16="http://schemas.microsoft.com/office/drawing/2014/main" id="{95DC00E7-10DE-821B-01B7-47F8E4F72BF6}"/>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E9EFF575-660E-9378-EBAC-067C1909DF25}"/>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F4F266A3-0118-9949-FF39-21DFADD0B767}"/>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0D92F8FE-25A9-C64A-3C82-540FC247A47B}"/>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E115EBAE-B570-CF7F-AF80-DF240DCF7BC4}"/>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Group 15">
            <a:extLst>
              <a:ext uri="{FF2B5EF4-FFF2-40B4-BE49-F238E27FC236}">
                <a16:creationId xmlns:a16="http://schemas.microsoft.com/office/drawing/2014/main" id="{34728EA8-7AB0-0B28-5728-EDEA605DF759}"/>
              </a:ext>
            </a:extLst>
          </p:cNvPr>
          <p:cNvGrpSpPr/>
          <p:nvPr/>
        </p:nvGrpSpPr>
        <p:grpSpPr>
          <a:xfrm>
            <a:off x="5641976" y="2752726"/>
            <a:ext cx="4418013" cy="3287713"/>
            <a:chOff x="2342" y="1734"/>
            <a:chExt cx="2783" cy="2071"/>
          </a:xfrm>
        </p:grpSpPr>
        <p:grpSp>
          <p:nvGrpSpPr>
            <p:cNvPr id="21" name="Group 11">
              <a:extLst>
                <a:ext uri="{FF2B5EF4-FFF2-40B4-BE49-F238E27FC236}">
                  <a16:creationId xmlns:a16="http://schemas.microsoft.com/office/drawing/2014/main" id="{AC0B1401-C1E2-B00A-265C-E052F3799759}"/>
                </a:ext>
              </a:extLst>
            </p:cNvPr>
            <p:cNvGrpSpPr/>
            <p:nvPr/>
          </p:nvGrpSpPr>
          <p:grpSpPr>
            <a:xfrm>
              <a:off x="2724" y="1837"/>
              <a:ext cx="2339" cy="1719"/>
              <a:chOff x="2679" y="1711"/>
              <a:chExt cx="2339" cy="1719"/>
            </a:xfrm>
          </p:grpSpPr>
          <p:sp>
            <p:nvSpPr>
              <p:cNvPr id="25" name="Line 7">
                <a:extLst>
                  <a:ext uri="{FF2B5EF4-FFF2-40B4-BE49-F238E27FC236}">
                    <a16:creationId xmlns:a16="http://schemas.microsoft.com/office/drawing/2014/main" id="{3C07A9C7-2347-9DD8-4DDD-A5848268CA73}"/>
                  </a:ext>
                </a:extLst>
              </p:cNvPr>
              <p:cNvSpPr/>
              <p:nvPr/>
            </p:nvSpPr>
            <p:spPr>
              <a:xfrm>
                <a:off x="2679" y="3430"/>
                <a:ext cx="2339" cy="0"/>
              </a:xfrm>
              <a:prstGeom prst="line">
                <a:avLst/>
              </a:prstGeom>
              <a:ln w="25400" cap="flat" cmpd="sng">
                <a:solidFill>
                  <a:schemeClr val="tx1"/>
                </a:solidFill>
                <a:prstDash val="solid"/>
                <a:headEnd type="none" w="med" len="med"/>
                <a:tailEnd type="triangle" w="med" len="med"/>
              </a:ln>
            </p:spPr>
          </p:sp>
          <p:sp>
            <p:nvSpPr>
              <p:cNvPr id="26" name="Line 8">
                <a:extLst>
                  <a:ext uri="{FF2B5EF4-FFF2-40B4-BE49-F238E27FC236}">
                    <a16:creationId xmlns:a16="http://schemas.microsoft.com/office/drawing/2014/main" id="{4324DE2C-7F6E-36EE-294E-B1EA499E0462}"/>
                  </a:ext>
                </a:extLst>
              </p:cNvPr>
              <p:cNvSpPr/>
              <p:nvPr/>
            </p:nvSpPr>
            <p:spPr>
              <a:xfrm flipV="1">
                <a:off x="2679" y="1711"/>
                <a:ext cx="0" cy="1719"/>
              </a:xfrm>
              <a:prstGeom prst="line">
                <a:avLst/>
              </a:prstGeom>
              <a:ln w="25400" cap="flat" cmpd="sng">
                <a:solidFill>
                  <a:schemeClr val="tx1"/>
                </a:solidFill>
                <a:prstDash val="solid"/>
                <a:headEnd type="none" w="med" len="med"/>
                <a:tailEnd type="triangle" w="med" len="med"/>
              </a:ln>
            </p:spPr>
          </p:sp>
          <p:sp>
            <p:nvSpPr>
              <p:cNvPr id="27" name="Line 9">
                <a:extLst>
                  <a:ext uri="{FF2B5EF4-FFF2-40B4-BE49-F238E27FC236}">
                    <a16:creationId xmlns:a16="http://schemas.microsoft.com/office/drawing/2014/main" id="{D71134D1-EBDE-B552-21D2-F1AAE91BAED2}"/>
                  </a:ext>
                </a:extLst>
              </p:cNvPr>
              <p:cNvSpPr/>
              <p:nvPr/>
            </p:nvSpPr>
            <p:spPr>
              <a:xfrm flipV="1">
                <a:off x="2679" y="2749"/>
                <a:ext cx="646" cy="681"/>
              </a:xfrm>
              <a:prstGeom prst="line">
                <a:avLst/>
              </a:prstGeom>
              <a:ln w="9525" cap="flat" cmpd="sng">
                <a:solidFill>
                  <a:schemeClr val="tx1"/>
                </a:solidFill>
                <a:prstDash val="dash"/>
                <a:headEnd type="none" w="med" len="med"/>
                <a:tailEnd type="none" w="med" len="med"/>
              </a:ln>
            </p:spPr>
          </p:sp>
          <p:sp>
            <p:nvSpPr>
              <p:cNvPr id="28" name="Line 10">
                <a:extLst>
                  <a:ext uri="{FF2B5EF4-FFF2-40B4-BE49-F238E27FC236}">
                    <a16:creationId xmlns:a16="http://schemas.microsoft.com/office/drawing/2014/main" id="{90FDDA5E-0032-ED38-F13D-685CCE2D868A}"/>
                  </a:ext>
                </a:extLst>
              </p:cNvPr>
              <p:cNvSpPr/>
              <p:nvPr/>
            </p:nvSpPr>
            <p:spPr>
              <a:xfrm flipV="1">
                <a:off x="3325" y="1877"/>
                <a:ext cx="803" cy="872"/>
              </a:xfrm>
              <a:prstGeom prst="line">
                <a:avLst/>
              </a:prstGeom>
              <a:ln w="63500" cap="flat" cmpd="sng">
                <a:solidFill>
                  <a:schemeClr val="tx1"/>
                </a:solidFill>
                <a:prstDash val="solid"/>
                <a:headEnd type="none" w="med" len="med"/>
                <a:tailEnd type="none" w="med" len="med"/>
              </a:ln>
            </p:spPr>
          </p:sp>
        </p:grpSp>
        <p:sp>
          <p:nvSpPr>
            <p:cNvPr id="22" name="Text Box 12">
              <a:extLst>
                <a:ext uri="{FF2B5EF4-FFF2-40B4-BE49-F238E27FC236}">
                  <a16:creationId xmlns:a16="http://schemas.microsoft.com/office/drawing/2014/main" id="{A67C7482-69AB-72AB-33F7-54BA495C0133}"/>
                </a:ext>
              </a:extLst>
            </p:cNvPr>
            <p:cNvSpPr txBox="1"/>
            <p:nvPr/>
          </p:nvSpPr>
          <p:spPr>
            <a:xfrm>
              <a:off x="2342" y="1734"/>
              <a:ext cx="213" cy="233"/>
            </a:xfrm>
            <a:prstGeom prst="rect">
              <a:avLst/>
            </a:prstGeom>
            <a:noFill/>
            <a:ln w="9525">
              <a:noFill/>
            </a:ln>
          </p:spPr>
          <p:txBody>
            <a:bodyPr wrap="none">
              <a:spAutoFit/>
            </a:bodyPr>
            <a:lstStyle/>
            <a:p>
              <a:r>
                <a:rPr lang="en-US" altLang="zh-CN" b="1" i="1" dirty="0">
                  <a:latin typeface="Times New Roman" panose="02020603050405020304" pitchFamily="18" charset="0"/>
                </a:rPr>
                <a:t>E</a:t>
              </a:r>
            </a:p>
          </p:txBody>
        </p:sp>
        <p:sp>
          <p:nvSpPr>
            <p:cNvPr id="23" name="Text Box 13">
              <a:extLst>
                <a:ext uri="{FF2B5EF4-FFF2-40B4-BE49-F238E27FC236}">
                  <a16:creationId xmlns:a16="http://schemas.microsoft.com/office/drawing/2014/main" id="{3ECA0F59-8C79-1A36-2935-236EB0F025C1}"/>
                </a:ext>
              </a:extLst>
            </p:cNvPr>
            <p:cNvSpPr txBox="1"/>
            <p:nvPr/>
          </p:nvSpPr>
          <p:spPr>
            <a:xfrm>
              <a:off x="4912" y="3572"/>
              <a:ext cx="213" cy="233"/>
            </a:xfrm>
            <a:prstGeom prst="rect">
              <a:avLst/>
            </a:prstGeom>
            <a:noFill/>
            <a:ln w="9525">
              <a:noFill/>
            </a:ln>
          </p:spPr>
          <p:txBody>
            <a:bodyPr wrap="none">
              <a:spAutoFit/>
            </a:bodyPr>
            <a:lstStyle/>
            <a:p>
              <a:r>
                <a:rPr lang="en-US" altLang="zh-CN" b="1" i="1" dirty="0">
                  <a:latin typeface="Times New Roman" panose="02020603050405020304" pitchFamily="18" charset="0"/>
                </a:rPr>
                <a:t>V</a:t>
              </a:r>
            </a:p>
          </p:txBody>
        </p:sp>
        <p:sp>
          <p:nvSpPr>
            <p:cNvPr id="24" name="Text Box 14">
              <a:extLst>
                <a:ext uri="{FF2B5EF4-FFF2-40B4-BE49-F238E27FC236}">
                  <a16:creationId xmlns:a16="http://schemas.microsoft.com/office/drawing/2014/main" id="{34825423-441F-0B6C-5D08-10F01225645A}"/>
                </a:ext>
              </a:extLst>
            </p:cNvPr>
            <p:cNvSpPr txBox="1"/>
            <p:nvPr/>
          </p:nvSpPr>
          <p:spPr>
            <a:xfrm>
              <a:off x="2543" y="3551"/>
              <a:ext cx="221" cy="233"/>
            </a:xfrm>
            <a:prstGeom prst="rect">
              <a:avLst/>
            </a:prstGeom>
            <a:noFill/>
            <a:ln w="9525">
              <a:noFill/>
            </a:ln>
          </p:spPr>
          <p:txBody>
            <a:bodyPr wrap="none">
              <a:spAutoFit/>
            </a:bodyPr>
            <a:lstStyle/>
            <a:p>
              <a:r>
                <a:rPr lang="en-US" altLang="zh-CN" b="1" i="1" dirty="0">
                  <a:latin typeface="Times New Roman" panose="02020603050405020304" pitchFamily="18" charset="0"/>
                </a:rPr>
                <a:t>O</a:t>
              </a:r>
            </a:p>
          </p:txBody>
        </p:sp>
      </p:grpSp>
      <p:grpSp>
        <p:nvGrpSpPr>
          <p:cNvPr id="18" name="组合 17">
            <a:extLst>
              <a:ext uri="{FF2B5EF4-FFF2-40B4-BE49-F238E27FC236}">
                <a16:creationId xmlns:a16="http://schemas.microsoft.com/office/drawing/2014/main" id="{BBB63FA5-5B8C-F704-5BFF-33C77AB6912E}"/>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CA1A669A-CA3C-189D-376B-B289C8EC5E70}"/>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33F7D373-10EF-0786-C5AF-8215DC4ABF17}"/>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2E6A8918-544C-C08B-C2F3-F7522A4140F4}"/>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ACEDA59D-56F8-4D8B-4A55-878EA0291E07}"/>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CEDFE2B2-4DDF-B6FF-6AB8-170FD04BD27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4512000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4F039165-E8D8-FC44-820B-04B02F4F825C}"/>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绝热过程</a:t>
            </a:r>
          </a:p>
        </p:txBody>
      </p:sp>
      <p:sp>
        <p:nvSpPr>
          <p:cNvPr id="3" name="Text Box 24">
            <a:extLst>
              <a:ext uri="{FF2B5EF4-FFF2-40B4-BE49-F238E27FC236}">
                <a16:creationId xmlns:a16="http://schemas.microsoft.com/office/drawing/2014/main" id="{FDED1C6D-64B2-E683-C760-23419B3828B4}"/>
              </a:ext>
            </a:extLst>
          </p:cNvPr>
          <p:cNvSpPr txBox="1"/>
          <p:nvPr/>
        </p:nvSpPr>
        <p:spPr>
          <a:xfrm>
            <a:off x="3141662" y="893375"/>
            <a:ext cx="4892675" cy="579437"/>
          </a:xfrm>
          <a:prstGeom prst="rect">
            <a:avLst/>
          </a:prstGeom>
          <a:noFill/>
          <a:ln w="9525">
            <a:noFill/>
          </a:ln>
        </p:spPr>
        <p:txBody>
          <a:bodyPr>
            <a:spAutoFit/>
          </a:bodyPr>
          <a:lstStyle/>
          <a:p>
            <a:pPr>
              <a:spcBef>
                <a:spcPct val="50000"/>
              </a:spcBef>
            </a:pPr>
            <a:r>
              <a:rPr lang="zh-CN" altLang="en-US" sz="3200" b="1" dirty="0">
                <a:solidFill>
                  <a:srgbClr val="000000"/>
                </a:solidFill>
                <a:latin typeface="Times New Roman" panose="02020603050405020304" pitchFamily="18" charset="0"/>
              </a:rPr>
              <a:t>与外界无热量交换的过程</a:t>
            </a:r>
          </a:p>
        </p:txBody>
      </p:sp>
      <p:grpSp>
        <p:nvGrpSpPr>
          <p:cNvPr id="4" name="Group 2">
            <a:extLst>
              <a:ext uri="{FF2B5EF4-FFF2-40B4-BE49-F238E27FC236}">
                <a16:creationId xmlns:a16="http://schemas.microsoft.com/office/drawing/2014/main" id="{4420E4CF-A3D7-F353-A2CA-FCAC84FCA867}"/>
              </a:ext>
            </a:extLst>
          </p:cNvPr>
          <p:cNvGrpSpPr/>
          <p:nvPr/>
        </p:nvGrpSpPr>
        <p:grpSpPr>
          <a:xfrm>
            <a:off x="1012828" y="3352800"/>
            <a:ext cx="3505200" cy="3505200"/>
            <a:chOff x="3243" y="482"/>
            <a:chExt cx="2208" cy="2208"/>
          </a:xfrm>
        </p:grpSpPr>
        <p:sp>
          <p:nvSpPr>
            <p:cNvPr id="5" name="Rectangle 3">
              <a:extLst>
                <a:ext uri="{FF2B5EF4-FFF2-40B4-BE49-F238E27FC236}">
                  <a16:creationId xmlns:a16="http://schemas.microsoft.com/office/drawing/2014/main" id="{8AEE8F48-2136-3CC5-8D0B-5795EBAEA1F6}"/>
                </a:ext>
              </a:extLst>
            </p:cNvPr>
            <p:cNvSpPr/>
            <p:nvPr/>
          </p:nvSpPr>
          <p:spPr>
            <a:xfrm>
              <a:off x="3243" y="482"/>
              <a:ext cx="2208" cy="2208"/>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en-US" altLang="zh-CN" sz="2800" dirty="0">
                <a:latin typeface="Bookman Old Style" panose="02050604050505020204" pitchFamily="18" charset="0"/>
              </a:endParaRPr>
            </a:p>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graphicFrame>
              <p:nvGraphicFramePr>
                <p:cNvPr id="6" name="Object 4">
                  <a:extLst>
                    <a:ext uri="{FF2B5EF4-FFF2-40B4-BE49-F238E27FC236}">
                      <a16:creationId xmlns:a16="http://schemas.microsoft.com/office/drawing/2014/main" id="{6752E1D4-149A-D4A7-BD88-6FAB987DC031}"/>
                    </a:ext>
                  </a:extLst>
                </p:cNvPr>
                <p:cNvGraphicFramePr/>
                <p:nvPr/>
              </p:nvGraphicFramePr>
              <p:xfrm>
                <a:off x="4050" y="535"/>
                <a:ext cx="917" cy="310"/>
              </p:xfrm>
              <a:graphic>
                <a:graphicData uri="http://schemas.openxmlformats.org/presentationml/2006/ole">
                  <mc:AlternateContent>
                    <mc:Choice xmlns:v="urn:schemas-microsoft-com:vml" Requires="v">
                      <p:oleObj spid="_x0000_s8278" r:id="rId3" imgW="634365" imgH="215900" progId="Equation.3">
                        <p:embed/>
                      </p:oleObj>
                    </mc:Choice>
                    <mc:Fallback>
                      <p:oleObj r:id="rId3" imgW="634365" imgH="215900" progId="Equation.3">
                        <p:embed/>
                        <p:pic>
                          <p:nvPicPr>
                            <p:cNvPr id="28679" name="Object 4"/>
                            <p:cNvPicPr/>
                            <p:nvPr/>
                          </p:nvPicPr>
                          <p:blipFill>
                            <a:blip r:embed="rId4"/>
                            <a:stretch>
                              <a:fillRect/>
                            </a:stretch>
                          </p:blipFill>
                          <p:spPr>
                            <a:xfrm>
                              <a:off x="4050" y="535"/>
                              <a:ext cx="917" cy="310"/>
                            </a:xfrm>
                            <a:prstGeom prst="rect">
                              <a:avLst/>
                            </a:prstGeom>
                            <a:noFill/>
                            <a:ln w="38100">
                              <a:noFill/>
                              <a:miter/>
                            </a:ln>
                          </p:spPr>
                        </p:pic>
                      </p:oleObj>
                    </mc:Fallback>
                  </mc:AlternateContent>
                </a:graphicData>
              </a:graphic>
            </p:graphicFrame>
          </mc:Choice>
          <mc:Fallback xmlns="">
            <p:graphicFrame>
              <p:nvGraphicFramePr>
                <p:cNvPr id="28679" name="Object 4"/>
                <p:cNvGraphicFramePr/>
                <p:nvPr/>
              </p:nvGraphicFramePr>
              <p:xfrm>
                <a:off x="4050" y="535"/>
                <a:ext cx="917" cy="310"/>
              </p:xfrm>
              <a:graphic>
                <a:graphicData uri="http://schemas.openxmlformats.org/presentationml/2006/ole">
                  <mc:AlternateContent>
                    <mc:Choice xmlns:v="urn:schemas-microsoft-com:vml" Requires="v">
                      <p:oleObj spid="_x0000_s27746" r:id="rId5" imgW="634365" imgH="215900" progId="Equation.3">
                        <p:embed/>
                      </p:oleObj>
                    </mc:Choice>
                    <mc:Fallback>
                      <p:oleObj r:id="rId5" imgW="634365" imgH="215900" progId="Equation.3">
                        <p:embed/>
                        <p:pic>
                          <p:nvPicPr>
                            <p:cNvPr id="28679" name="Object 4"/>
                            <p:cNvPicPr/>
                            <p:nvPr/>
                          </p:nvPicPr>
                          <p:blipFill>
                            <a:blip r:embed="rId6"/>
                            <a:stretch>
                              <a:fillRect/>
                            </a:stretch>
                          </p:blipFill>
                          <p:spPr>
                            <a:xfrm>
                              <a:off x="4050" y="535"/>
                              <a:ext cx="917" cy="310"/>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 name="Object 5">
                  <a:extLst>
                    <a:ext uri="{FF2B5EF4-FFF2-40B4-BE49-F238E27FC236}">
                      <a16:creationId xmlns:a16="http://schemas.microsoft.com/office/drawing/2014/main" id="{155E2BE8-8832-BA4E-C216-531216E4A31B}"/>
                    </a:ext>
                  </a:extLst>
                </p:cNvPr>
                <p:cNvGraphicFramePr/>
                <p:nvPr/>
              </p:nvGraphicFramePr>
              <p:xfrm>
                <a:off x="4558" y="1499"/>
                <a:ext cx="801" cy="298"/>
              </p:xfrm>
              <a:graphic>
                <a:graphicData uri="http://schemas.openxmlformats.org/presentationml/2006/ole">
                  <mc:AlternateContent>
                    <mc:Choice xmlns:v="urn:schemas-microsoft-com:vml" Requires="v">
                      <p:oleObj spid="_x0000_s8279" r:id="rId7" imgW="685165" imgH="215900" progId="Equation.3">
                        <p:embed/>
                      </p:oleObj>
                    </mc:Choice>
                    <mc:Fallback>
                      <p:oleObj r:id="rId7" imgW="685165" imgH="215900" progId="Equation.3">
                        <p:embed/>
                        <p:pic>
                          <p:nvPicPr>
                            <p:cNvPr id="28680" name="Object 5"/>
                            <p:cNvPicPr/>
                            <p:nvPr/>
                          </p:nvPicPr>
                          <p:blipFill>
                            <a:blip r:embed="rId8"/>
                            <a:stretch>
                              <a:fillRect/>
                            </a:stretch>
                          </p:blipFill>
                          <p:spPr>
                            <a:xfrm>
                              <a:off x="4558" y="1499"/>
                              <a:ext cx="801" cy="298"/>
                            </a:xfrm>
                            <a:prstGeom prst="rect">
                              <a:avLst/>
                            </a:prstGeom>
                            <a:noFill/>
                            <a:ln w="38100">
                              <a:noFill/>
                              <a:miter/>
                            </a:ln>
                          </p:spPr>
                        </p:pic>
                      </p:oleObj>
                    </mc:Fallback>
                  </mc:AlternateContent>
                </a:graphicData>
              </a:graphic>
            </p:graphicFrame>
          </mc:Choice>
          <mc:Fallback xmlns="">
            <p:graphicFrame>
              <p:nvGraphicFramePr>
                <p:cNvPr id="28680" name="Object 5"/>
                <p:cNvGraphicFramePr/>
                <p:nvPr/>
              </p:nvGraphicFramePr>
              <p:xfrm>
                <a:off x="4558" y="1499"/>
                <a:ext cx="801" cy="298"/>
              </p:xfrm>
              <a:graphic>
                <a:graphicData uri="http://schemas.openxmlformats.org/presentationml/2006/ole">
                  <mc:AlternateContent>
                    <mc:Choice xmlns:v="urn:schemas-microsoft-com:vml" Requires="v">
                      <p:oleObj spid="_x0000_s27747" r:id="rId9" imgW="685165" imgH="215900" progId="Equation.3">
                        <p:embed/>
                      </p:oleObj>
                    </mc:Choice>
                    <mc:Fallback>
                      <p:oleObj r:id="rId9" imgW="685165" imgH="215900" progId="Equation.3">
                        <p:embed/>
                        <p:pic>
                          <p:nvPicPr>
                            <p:cNvPr id="28680" name="Object 5"/>
                            <p:cNvPicPr/>
                            <p:nvPr/>
                          </p:nvPicPr>
                          <p:blipFill>
                            <a:blip r:embed="rId10"/>
                            <a:stretch>
                              <a:fillRect/>
                            </a:stretch>
                          </p:blipFill>
                          <p:spPr>
                            <a:xfrm>
                              <a:off x="4558" y="1499"/>
                              <a:ext cx="801" cy="298"/>
                            </a:xfrm>
                            <a:prstGeom prst="rect">
                              <a:avLst/>
                            </a:prstGeom>
                            <a:noFill/>
                            <a:ln w="38100">
                              <a:noFill/>
                              <a:miter/>
                            </a:ln>
                          </p:spPr>
                        </p:pic>
                      </p:oleObj>
                    </mc:Fallback>
                  </mc:AlternateContent>
                </a:graphicData>
              </a:graphic>
            </p:graphicFrame>
          </mc:Fallback>
        </mc:AlternateContent>
        <p:sp>
          <p:nvSpPr>
            <p:cNvPr id="8" name="Line 6">
              <a:extLst>
                <a:ext uri="{FF2B5EF4-FFF2-40B4-BE49-F238E27FC236}">
                  <a16:creationId xmlns:a16="http://schemas.microsoft.com/office/drawing/2014/main" id="{0C319F51-FE3B-E2D9-E9A0-8BBC28373C54}"/>
                </a:ext>
              </a:extLst>
            </p:cNvPr>
            <p:cNvSpPr/>
            <p:nvPr/>
          </p:nvSpPr>
          <p:spPr>
            <a:xfrm flipV="1">
              <a:off x="3595" y="2306"/>
              <a:ext cx="1664" cy="9"/>
            </a:xfrm>
            <a:prstGeom prst="line">
              <a:avLst/>
            </a:prstGeom>
            <a:ln w="19050" cap="flat" cmpd="sng">
              <a:solidFill>
                <a:schemeClr val="tx1"/>
              </a:solidFill>
              <a:prstDash val="solid"/>
              <a:headEnd type="none" w="med" len="med"/>
              <a:tailEnd type="triangle" w="sm" len="lg"/>
            </a:ln>
          </p:spPr>
        </p:sp>
        <p:sp>
          <p:nvSpPr>
            <p:cNvPr id="9" name="Arc 7">
              <a:extLst>
                <a:ext uri="{FF2B5EF4-FFF2-40B4-BE49-F238E27FC236}">
                  <a16:creationId xmlns:a16="http://schemas.microsoft.com/office/drawing/2014/main" id="{1C5A3DCA-CBC7-BBB9-3DF6-6A3D3D1EA738}"/>
                </a:ext>
              </a:extLst>
            </p:cNvPr>
            <p:cNvSpPr/>
            <p:nvPr/>
          </p:nvSpPr>
          <p:spPr>
            <a:xfrm flipH="1" flipV="1">
              <a:off x="3948" y="578"/>
              <a:ext cx="1163" cy="1339"/>
            </a:xfrm>
            <a:custGeom>
              <a:avLst/>
              <a:gdLst>
                <a:gd name="txL" fmla="*/ 0 w 21059"/>
                <a:gd name="txT" fmla="*/ 0 h 21281"/>
                <a:gd name="txR" fmla="*/ 21059 w 21059"/>
                <a:gd name="txB" fmla="*/ 21281 h 21281"/>
              </a:gdLst>
              <a:ahLst/>
              <a:cxnLst>
                <a:cxn ang="0">
                  <a:pos x="11" y="0"/>
                </a:cxn>
                <a:cxn ang="0">
                  <a:pos x="64" y="65"/>
                </a:cxn>
                <a:cxn ang="0">
                  <a:pos x="0" y="84"/>
                </a:cxn>
              </a:cxnLst>
              <a:rect l="txL" t="txT" r="txR" b="txB"/>
              <a:pathLst>
                <a:path w="21059" h="21281" fill="none">
                  <a:moveTo>
                    <a:pt x="3698" y="0"/>
                  </a:moveTo>
                  <a:cubicBezTo>
                    <a:pt x="12277" y="1491"/>
                    <a:pt x="19121" y="7986"/>
                    <a:pt x="21058" y="16475"/>
                  </a:cubicBezTo>
                </a:path>
                <a:path w="21059" h="21281" stroke="0">
                  <a:moveTo>
                    <a:pt x="3698" y="0"/>
                  </a:moveTo>
                  <a:cubicBezTo>
                    <a:pt x="12277" y="1491"/>
                    <a:pt x="19121" y="7986"/>
                    <a:pt x="21058" y="16475"/>
                  </a:cubicBezTo>
                  <a:lnTo>
                    <a:pt x="0" y="21281"/>
                  </a:lnTo>
                  <a:close/>
                </a:path>
              </a:pathLst>
            </a:custGeom>
            <a:noFill/>
            <a:ln w="25400"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10" name="Line 8">
              <a:extLst>
                <a:ext uri="{FF2B5EF4-FFF2-40B4-BE49-F238E27FC236}">
                  <a16:creationId xmlns:a16="http://schemas.microsoft.com/office/drawing/2014/main" id="{69D133E0-9CFE-F501-CC9D-033ED3DFF334}"/>
                </a:ext>
              </a:extLst>
            </p:cNvPr>
            <p:cNvSpPr/>
            <p:nvPr/>
          </p:nvSpPr>
          <p:spPr>
            <a:xfrm flipH="1">
              <a:off x="3948" y="914"/>
              <a:ext cx="15" cy="1401"/>
            </a:xfrm>
            <a:prstGeom prst="line">
              <a:avLst/>
            </a:prstGeom>
            <a:ln w="12700" cap="flat" cmpd="sng">
              <a:solidFill>
                <a:schemeClr val="tx1"/>
              </a:solidFill>
              <a:prstDash val="dash"/>
              <a:headEnd type="none" w="med" len="med"/>
              <a:tailEnd type="none" w="med" len="med"/>
            </a:ln>
          </p:spPr>
        </p:sp>
        <p:sp>
          <p:nvSpPr>
            <p:cNvPr id="11" name="Line 9">
              <a:extLst>
                <a:ext uri="{FF2B5EF4-FFF2-40B4-BE49-F238E27FC236}">
                  <a16:creationId xmlns:a16="http://schemas.microsoft.com/office/drawing/2014/main" id="{96D5C324-9D38-6A47-2EBB-6BA0A00B4BAD}"/>
                </a:ext>
              </a:extLst>
            </p:cNvPr>
            <p:cNvSpPr/>
            <p:nvPr/>
          </p:nvSpPr>
          <p:spPr>
            <a:xfrm>
              <a:off x="4917" y="1931"/>
              <a:ext cx="0" cy="384"/>
            </a:xfrm>
            <a:prstGeom prst="line">
              <a:avLst/>
            </a:prstGeom>
            <a:ln w="12700" cap="flat" cmpd="sng">
              <a:solidFill>
                <a:schemeClr val="tx1"/>
              </a:solidFill>
              <a:prstDash val="dash"/>
              <a:headEnd type="none" w="med" len="med"/>
              <a:tailEnd type="none" w="med" len="med"/>
            </a:ln>
          </p:spPr>
        </p:sp>
        <p:sp>
          <p:nvSpPr>
            <p:cNvPr id="12" name="Line 10">
              <a:extLst>
                <a:ext uri="{FF2B5EF4-FFF2-40B4-BE49-F238E27FC236}">
                  <a16:creationId xmlns:a16="http://schemas.microsoft.com/office/drawing/2014/main" id="{DD31AF4F-442D-573E-DD59-18FDC5AED256}"/>
                </a:ext>
              </a:extLst>
            </p:cNvPr>
            <p:cNvSpPr/>
            <p:nvPr/>
          </p:nvSpPr>
          <p:spPr>
            <a:xfrm flipH="1">
              <a:off x="3595" y="866"/>
              <a:ext cx="353" cy="0"/>
            </a:xfrm>
            <a:prstGeom prst="line">
              <a:avLst/>
            </a:prstGeom>
            <a:ln w="12700" cap="flat" cmpd="sng">
              <a:solidFill>
                <a:schemeClr val="tx1"/>
              </a:solidFill>
              <a:prstDash val="dash"/>
              <a:headEnd type="none" w="med" len="med"/>
              <a:tailEnd type="none" w="med" len="med"/>
            </a:ln>
          </p:spPr>
        </p:sp>
        <p:sp>
          <p:nvSpPr>
            <p:cNvPr id="13" name="Line 11">
              <a:extLst>
                <a:ext uri="{FF2B5EF4-FFF2-40B4-BE49-F238E27FC236}">
                  <a16:creationId xmlns:a16="http://schemas.microsoft.com/office/drawing/2014/main" id="{6E7D4CD1-4D67-7DAC-8EEB-BF81E48AA8F2}"/>
                </a:ext>
              </a:extLst>
            </p:cNvPr>
            <p:cNvSpPr/>
            <p:nvPr/>
          </p:nvSpPr>
          <p:spPr>
            <a:xfrm flipH="1">
              <a:off x="3595" y="1931"/>
              <a:ext cx="1322" cy="0"/>
            </a:xfrm>
            <a:prstGeom prst="line">
              <a:avLst/>
            </a:prstGeom>
            <a:ln w="12700" cap="flat" cmpd="sng">
              <a:solidFill>
                <a:schemeClr val="tx1"/>
              </a:solidFill>
              <a:prstDash val="dash"/>
              <a:headEnd type="none" w="med" len="med"/>
              <a:tailEnd type="none" w="med" len="med"/>
            </a:ln>
          </p:spPr>
        </p:sp>
        <p:sp>
          <p:nvSpPr>
            <p:cNvPr id="14" name="Text Box 12">
              <a:extLst>
                <a:ext uri="{FF2B5EF4-FFF2-40B4-BE49-F238E27FC236}">
                  <a16:creationId xmlns:a16="http://schemas.microsoft.com/office/drawing/2014/main" id="{FB21B805-CA77-9F72-1B0B-2DC2F2A92278}"/>
                </a:ext>
              </a:extLst>
            </p:cNvPr>
            <p:cNvSpPr txBox="1"/>
            <p:nvPr/>
          </p:nvSpPr>
          <p:spPr>
            <a:xfrm>
              <a:off x="3819" y="626"/>
              <a:ext cx="309" cy="330"/>
            </a:xfrm>
            <a:prstGeom prst="rect">
              <a:avLst/>
            </a:prstGeom>
            <a:noFill/>
            <a:ln w="9525">
              <a:noFill/>
            </a:ln>
          </p:spPr>
          <p:txBody>
            <a:bodyPr>
              <a:spAutoFit/>
            </a:bodyPr>
            <a:lstStyle/>
            <a:p>
              <a:pPr>
                <a:spcBef>
                  <a:spcPct val="50000"/>
                </a:spcBef>
              </a:pPr>
              <a:r>
                <a:rPr lang="en-US" altLang="zh-CN" sz="2800" b="1" dirty="0">
                  <a:solidFill>
                    <a:srgbClr val="A50021"/>
                  </a:solidFill>
                  <a:latin typeface="Times New Roman" panose="02020603050405020304" pitchFamily="18" charset="0"/>
                </a:rPr>
                <a:t>1</a:t>
              </a:r>
            </a:p>
          </p:txBody>
        </p:sp>
        <p:sp>
          <p:nvSpPr>
            <p:cNvPr id="15" name="Text Box 13">
              <a:extLst>
                <a:ext uri="{FF2B5EF4-FFF2-40B4-BE49-F238E27FC236}">
                  <a16:creationId xmlns:a16="http://schemas.microsoft.com/office/drawing/2014/main" id="{076260C5-F5E2-D520-447F-0F4697902F0C}"/>
                </a:ext>
              </a:extLst>
            </p:cNvPr>
            <p:cNvSpPr txBox="1"/>
            <p:nvPr/>
          </p:nvSpPr>
          <p:spPr>
            <a:xfrm>
              <a:off x="4923" y="1778"/>
              <a:ext cx="220" cy="330"/>
            </a:xfrm>
            <a:prstGeom prst="rect">
              <a:avLst/>
            </a:prstGeom>
            <a:noFill/>
            <a:ln w="9525">
              <a:noFill/>
            </a:ln>
          </p:spPr>
          <p:txBody>
            <a:bodyPr>
              <a:spAutoFit/>
            </a:bodyPr>
            <a:lstStyle/>
            <a:p>
              <a:pPr>
                <a:spcBef>
                  <a:spcPct val="50000"/>
                </a:spcBef>
              </a:pPr>
              <a:r>
                <a:rPr lang="en-US" altLang="zh-CN" sz="2800" b="1" dirty="0">
                  <a:solidFill>
                    <a:srgbClr val="A50021"/>
                  </a:solidFill>
                  <a:latin typeface="Times New Roman" panose="02020603050405020304" pitchFamily="18" charset="0"/>
                </a:rPr>
                <a:t>2</a:t>
              </a:r>
              <a:endParaRPr lang="en-US" altLang="zh-CN" sz="2800" dirty="0">
                <a:latin typeface="Times New Roman" panose="02020603050405020304" pitchFamily="18" charset="0"/>
              </a:endParaRPr>
            </a:p>
          </p:txBody>
        </p:sp>
        <p:sp>
          <p:nvSpPr>
            <p:cNvPr id="16" name="Line 14">
              <a:extLst>
                <a:ext uri="{FF2B5EF4-FFF2-40B4-BE49-F238E27FC236}">
                  <a16:creationId xmlns:a16="http://schemas.microsoft.com/office/drawing/2014/main" id="{5CB371C7-49E7-A192-6783-9106D58D8400}"/>
                </a:ext>
              </a:extLst>
            </p:cNvPr>
            <p:cNvSpPr/>
            <p:nvPr/>
          </p:nvSpPr>
          <p:spPr>
            <a:xfrm>
              <a:off x="4107" y="1310"/>
              <a:ext cx="88" cy="144"/>
            </a:xfrm>
            <a:prstGeom prst="line">
              <a:avLst/>
            </a:prstGeom>
            <a:ln w="38100"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7" name="Object 15">
                  <a:extLst>
                    <a:ext uri="{FF2B5EF4-FFF2-40B4-BE49-F238E27FC236}">
                      <a16:creationId xmlns:a16="http://schemas.microsoft.com/office/drawing/2014/main" id="{E6A94982-71B8-5BE0-F0D8-334D7A0CB760}"/>
                    </a:ext>
                  </a:extLst>
                </p:cNvPr>
                <p:cNvSpPr txBox="1"/>
                <p:nvPr/>
              </p:nvSpPr>
              <p:spPr>
                <a:xfrm>
                  <a:off x="3291" y="770"/>
                  <a:ext cx="283" cy="288"/>
                </a:xfrm>
                <a:prstGeom prst="rect">
                  <a:avLst/>
                </a:prstGeom>
                <a:no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1</m:t>
                            </m:r>
                          </m:sub>
                        </m:sSub>
                      </m:oMath>
                    </m:oMathPara>
                  </a14:m>
                  <a:endParaRPr lang="en-US" sz="2800"/>
                </a:p>
              </p:txBody>
            </p:sp>
          </mc:Choice>
          <mc:Fallback xmlns="">
            <p:sp>
              <p:nvSpPr>
                <p:cNvPr id="17" name="Object 15">
                  <a:extLst>
                    <a:ext uri="{FF2B5EF4-FFF2-40B4-BE49-F238E27FC236}">
                      <a16:creationId xmlns:a16="http://schemas.microsoft.com/office/drawing/2014/main" id="{E6A94982-71B8-5BE0-F0D8-334D7A0CB760}"/>
                    </a:ext>
                  </a:extLst>
                </p:cNvPr>
                <p:cNvSpPr txBox="1">
                  <a:spLocks noRot="1" noChangeAspect="1" noMove="1" noResize="1" noEditPoints="1" noAdjustHandles="1" noChangeArrowheads="1" noChangeShapeType="1" noTextEdit="1"/>
                </p:cNvSpPr>
                <p:nvPr/>
              </p:nvSpPr>
              <p:spPr>
                <a:xfrm>
                  <a:off x="3291" y="770"/>
                  <a:ext cx="283" cy="288"/>
                </a:xfrm>
                <a:prstGeom prst="rect">
                  <a:avLst/>
                </a:prstGeom>
                <a:blipFill>
                  <a:blip r:embed="rId11"/>
                  <a:stretch>
                    <a:fillRect l="-4110" b="-120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6">
                  <a:extLst>
                    <a:ext uri="{FF2B5EF4-FFF2-40B4-BE49-F238E27FC236}">
                      <a16:creationId xmlns:a16="http://schemas.microsoft.com/office/drawing/2014/main" id="{A07F722A-2036-DF26-E408-4D291782067D}"/>
                    </a:ext>
                  </a:extLst>
                </p:cNvPr>
                <p:cNvSpPr txBox="1"/>
                <p:nvPr/>
              </p:nvSpPr>
              <p:spPr>
                <a:xfrm>
                  <a:off x="3291" y="1742"/>
                  <a:ext cx="271" cy="276"/>
                </a:xfrm>
                <a:prstGeom prst="rect">
                  <a:avLst/>
                </a:prstGeom>
                <a:noFill/>
                <a:ln w="38100">
                  <a:noFill/>
                  <a:miter/>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2</m:t>
                            </m:r>
                          </m:sub>
                        </m:sSub>
                      </m:oMath>
                    </m:oMathPara>
                  </a14:m>
                  <a:endParaRPr lang="en-US" sz="2800" dirty="0"/>
                </a:p>
              </p:txBody>
            </p:sp>
          </mc:Choice>
          <mc:Fallback xmlns="">
            <p:sp>
              <p:nvSpPr>
                <p:cNvPr id="18" name="Object 16">
                  <a:extLst>
                    <a:ext uri="{FF2B5EF4-FFF2-40B4-BE49-F238E27FC236}">
                      <a16:creationId xmlns:a16="http://schemas.microsoft.com/office/drawing/2014/main" id="{A07F722A-2036-DF26-E408-4D291782067D}"/>
                    </a:ext>
                  </a:extLst>
                </p:cNvPr>
                <p:cNvSpPr txBox="1">
                  <a:spLocks noRot="1" noChangeAspect="1" noMove="1" noResize="1" noEditPoints="1" noAdjustHandles="1" noChangeArrowheads="1" noChangeShapeType="1" noTextEdit="1"/>
                </p:cNvSpPr>
                <p:nvPr/>
              </p:nvSpPr>
              <p:spPr>
                <a:xfrm>
                  <a:off x="3291" y="1742"/>
                  <a:ext cx="271" cy="276"/>
                </a:xfrm>
                <a:prstGeom prst="rect">
                  <a:avLst/>
                </a:prstGeom>
                <a:blipFill>
                  <a:blip r:embed="rId12"/>
                  <a:stretch>
                    <a:fillRect l="-2857" b="-833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4D646E8A-7E1A-46A7-C398-4D5F4C3B42CA}"/>
                    </a:ext>
                  </a:extLst>
                </p:cNvPr>
                <p:cNvSpPr txBox="1"/>
                <p:nvPr/>
              </p:nvSpPr>
              <p:spPr>
                <a:xfrm>
                  <a:off x="3867" y="2270"/>
                  <a:ext cx="272"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oMath>
                    </m:oMathPara>
                  </a14:m>
                  <a:endParaRPr lang="en-US" sz="2800"/>
                </a:p>
              </p:txBody>
            </p:sp>
          </mc:Choice>
          <mc:Fallback xmlns="">
            <p:sp>
              <p:nvSpPr>
                <p:cNvPr id="19" name="Object 17">
                  <a:extLst>
                    <a:ext uri="{FF2B5EF4-FFF2-40B4-BE49-F238E27FC236}">
                      <a16:creationId xmlns:a16="http://schemas.microsoft.com/office/drawing/2014/main" id="{4D646E8A-7E1A-46A7-C398-4D5F4C3B42CA}"/>
                    </a:ext>
                  </a:extLst>
                </p:cNvPr>
                <p:cNvSpPr txBox="1">
                  <a:spLocks noRot="1" noChangeAspect="1" noMove="1" noResize="1" noEditPoints="1" noAdjustHandles="1" noChangeArrowheads="1" noChangeShapeType="1" noTextEdit="1"/>
                </p:cNvSpPr>
                <p:nvPr/>
              </p:nvSpPr>
              <p:spPr>
                <a:xfrm>
                  <a:off x="3867" y="2270"/>
                  <a:ext cx="272" cy="384"/>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Object 18">
                  <a:extLst>
                    <a:ext uri="{FF2B5EF4-FFF2-40B4-BE49-F238E27FC236}">
                      <a16:creationId xmlns:a16="http://schemas.microsoft.com/office/drawing/2014/main" id="{82120EA2-EEBF-689A-4EAD-DC4C0F290B84}"/>
                    </a:ext>
                  </a:extLst>
                </p:cNvPr>
                <p:cNvSpPr txBox="1"/>
                <p:nvPr/>
              </p:nvSpPr>
              <p:spPr>
                <a:xfrm>
                  <a:off x="4762" y="2270"/>
                  <a:ext cx="305" cy="38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2</m:t>
                            </m:r>
                          </m:sub>
                        </m:sSub>
                      </m:oMath>
                    </m:oMathPara>
                  </a14:m>
                  <a:endParaRPr lang="en-US" sz="2800"/>
                </a:p>
              </p:txBody>
            </p:sp>
          </mc:Choice>
          <mc:Fallback xmlns="">
            <p:sp>
              <p:nvSpPr>
                <p:cNvPr id="20" name="Object 18">
                  <a:extLst>
                    <a:ext uri="{FF2B5EF4-FFF2-40B4-BE49-F238E27FC236}">
                      <a16:creationId xmlns:a16="http://schemas.microsoft.com/office/drawing/2014/main" id="{82120EA2-EEBF-689A-4EAD-DC4C0F290B84}"/>
                    </a:ext>
                  </a:extLst>
                </p:cNvPr>
                <p:cNvSpPr txBox="1">
                  <a:spLocks noRot="1" noChangeAspect="1" noMove="1" noResize="1" noEditPoints="1" noAdjustHandles="1" noChangeArrowheads="1" noChangeShapeType="1" noTextEdit="1"/>
                </p:cNvSpPr>
                <p:nvPr/>
              </p:nvSpPr>
              <p:spPr>
                <a:xfrm>
                  <a:off x="4762" y="2270"/>
                  <a:ext cx="305" cy="387"/>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19">
                  <a:extLst>
                    <a:ext uri="{FF2B5EF4-FFF2-40B4-BE49-F238E27FC236}">
                      <a16:creationId xmlns:a16="http://schemas.microsoft.com/office/drawing/2014/main" id="{92FB9BD1-E785-8EAC-F386-73B42165CF9D}"/>
                    </a:ext>
                  </a:extLst>
                </p:cNvPr>
                <p:cNvSpPr txBox="1"/>
                <p:nvPr/>
              </p:nvSpPr>
              <p:spPr>
                <a:xfrm>
                  <a:off x="3339" y="578"/>
                  <a:ext cx="196" cy="25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p>
              </p:txBody>
            </p:sp>
          </mc:Choice>
          <mc:Fallback xmlns="">
            <p:sp>
              <p:nvSpPr>
                <p:cNvPr id="28685" name="Object 19"/>
                <p:cNvSpPr txBox="1">
                  <a:spLocks noRot="1" noChangeAspect="1" noMove="1" noResize="1" noEditPoints="1" noAdjustHandles="1" noChangeArrowheads="1" noChangeShapeType="1" noTextEdit="1"/>
                </p:cNvSpPr>
                <p:nvPr/>
              </p:nvSpPr>
              <p:spPr>
                <a:xfrm>
                  <a:off x="3339" y="578"/>
                  <a:ext cx="196" cy="252"/>
                </a:xfrm>
                <a:prstGeom prst="rect">
                  <a:avLst/>
                </a:prstGeom>
                <a:blipFill>
                  <a:blip r:embed="rId15"/>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20">
                  <a:extLst>
                    <a:ext uri="{FF2B5EF4-FFF2-40B4-BE49-F238E27FC236}">
                      <a16:creationId xmlns:a16="http://schemas.microsoft.com/office/drawing/2014/main" id="{2DC9FAB4-841E-1056-1EA4-237DE8946092}"/>
                    </a:ext>
                  </a:extLst>
                </p:cNvPr>
                <p:cNvSpPr txBox="1"/>
                <p:nvPr/>
              </p:nvSpPr>
              <p:spPr>
                <a:xfrm>
                  <a:off x="5067" y="2362"/>
                  <a:ext cx="180"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p>
              </p:txBody>
            </p:sp>
          </mc:Choice>
          <mc:Fallback xmlns="">
            <p:sp>
              <p:nvSpPr>
                <p:cNvPr id="28686" name="Object 20"/>
                <p:cNvSpPr txBox="1">
                  <a:spLocks noRot="1" noChangeAspect="1" noMove="1" noResize="1" noEditPoints="1" noAdjustHandles="1" noChangeArrowheads="1" noChangeShapeType="1" noTextEdit="1"/>
                </p:cNvSpPr>
                <p:nvPr/>
              </p:nvSpPr>
              <p:spPr>
                <a:xfrm>
                  <a:off x="5067" y="2362"/>
                  <a:ext cx="180" cy="220"/>
                </a:xfrm>
                <a:prstGeom prst="rect">
                  <a:avLst/>
                </a:prstGeom>
                <a:blipFill>
                  <a:blip r:embed="rId16"/>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21">
                  <a:extLst>
                    <a:ext uri="{FF2B5EF4-FFF2-40B4-BE49-F238E27FC236}">
                      <a16:creationId xmlns:a16="http://schemas.microsoft.com/office/drawing/2014/main" id="{60E21F88-0D93-36EF-BF2F-D243EE76AA5A}"/>
                    </a:ext>
                  </a:extLst>
                </p:cNvPr>
                <p:cNvSpPr txBox="1"/>
                <p:nvPr/>
              </p:nvSpPr>
              <p:spPr>
                <a:xfrm>
                  <a:off x="3507" y="2315"/>
                  <a:ext cx="162" cy="20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a:p>
              </p:txBody>
            </p:sp>
          </mc:Choice>
          <mc:Fallback xmlns="">
            <p:sp>
              <p:nvSpPr>
                <p:cNvPr id="28687" name="Object 21"/>
                <p:cNvSpPr txBox="1">
                  <a:spLocks noRot="1" noChangeAspect="1" noMove="1" noResize="1" noEditPoints="1" noAdjustHandles="1" noChangeArrowheads="1" noChangeShapeType="1" noTextEdit="1"/>
                </p:cNvSpPr>
                <p:nvPr/>
              </p:nvSpPr>
              <p:spPr>
                <a:xfrm>
                  <a:off x="3507" y="2315"/>
                  <a:ext cx="162" cy="203"/>
                </a:xfrm>
                <a:prstGeom prst="rect">
                  <a:avLst/>
                </a:prstGeom>
                <a:blipFill>
                  <a:blip r:embed="rId17"/>
                  <a:stretch>
                    <a:fillRect/>
                  </a:stretch>
                </a:blipFill>
                <a:ln w="38100">
                  <a:noFill/>
                  <a:miter/>
                </a:ln>
              </p:spPr>
              <p:txBody>
                <a:bodyPr/>
                <a:lstStyle/>
                <a:p>
                  <a:r>
                    <a:rPr lang="en-US">
                      <a:noFill/>
                    </a:rPr>
                    <a:t> </a:t>
                  </a:r>
                </a:p>
              </p:txBody>
            </p:sp>
          </mc:Fallback>
        </mc:AlternateContent>
        <p:sp>
          <p:nvSpPr>
            <p:cNvPr id="24" name="Line 22">
              <a:extLst>
                <a:ext uri="{FF2B5EF4-FFF2-40B4-BE49-F238E27FC236}">
                  <a16:creationId xmlns:a16="http://schemas.microsoft.com/office/drawing/2014/main" id="{8DC3E441-0FA9-284A-ADCE-CC6886151D54}"/>
                </a:ext>
              </a:extLst>
            </p:cNvPr>
            <p:cNvSpPr/>
            <p:nvPr/>
          </p:nvSpPr>
          <p:spPr>
            <a:xfrm flipV="1">
              <a:off x="3579" y="626"/>
              <a:ext cx="0" cy="1680"/>
            </a:xfrm>
            <a:prstGeom prst="line">
              <a:avLst/>
            </a:prstGeom>
            <a:ln w="19050" cap="flat" cmpd="sng">
              <a:solidFill>
                <a:schemeClr val="tx1"/>
              </a:solidFill>
              <a:prstDash val="solid"/>
              <a:headEnd type="none" w="med" len="med"/>
              <a:tailEnd type="triangle" w="sm" len="lg"/>
            </a:ln>
          </p:spPr>
        </p:sp>
      </p:grpSp>
      <mc:AlternateContent xmlns:mc="http://schemas.openxmlformats.org/markup-compatibility/2006" xmlns:a14="http://schemas.microsoft.com/office/drawing/2010/main">
        <mc:Choice Requires="a14">
          <p:sp>
            <p:nvSpPr>
              <p:cNvPr id="26" name="Object 4">
                <a:extLst>
                  <a:ext uri="{FF2B5EF4-FFF2-40B4-BE49-F238E27FC236}">
                    <a16:creationId xmlns:a16="http://schemas.microsoft.com/office/drawing/2014/main" id="{0A5E37FB-FBDA-A2E5-2DD6-A14551FDD534}"/>
                  </a:ext>
                </a:extLst>
              </p:cNvPr>
              <p:cNvSpPr txBox="1"/>
              <p:nvPr/>
            </p:nvSpPr>
            <p:spPr>
              <a:xfrm>
                <a:off x="4799014" y="1760794"/>
                <a:ext cx="4967285" cy="60642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𝑄</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𝐸</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𝐴</m:t>
                      </m:r>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26" name="Object 4">
                <a:extLst>
                  <a:ext uri="{FF2B5EF4-FFF2-40B4-BE49-F238E27FC236}">
                    <a16:creationId xmlns:a16="http://schemas.microsoft.com/office/drawing/2014/main" id="{0A5E37FB-FBDA-A2E5-2DD6-A14551FDD534}"/>
                  </a:ext>
                </a:extLst>
              </p:cNvPr>
              <p:cNvSpPr txBox="1">
                <a:spLocks noRot="1" noChangeAspect="1" noMove="1" noResize="1" noEditPoints="1" noAdjustHandles="1" noChangeArrowheads="1" noChangeShapeType="1" noTextEdit="1"/>
              </p:cNvSpPr>
              <p:nvPr/>
            </p:nvSpPr>
            <p:spPr>
              <a:xfrm>
                <a:off x="4799014" y="1760794"/>
                <a:ext cx="4967285" cy="606425"/>
              </a:xfrm>
              <a:prstGeom prst="rect">
                <a:avLst/>
              </a:prstGeom>
              <a:blipFill>
                <a:blip r:embed="rId1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35">
                <a:extLst>
                  <a:ext uri="{FF2B5EF4-FFF2-40B4-BE49-F238E27FC236}">
                    <a16:creationId xmlns:a16="http://schemas.microsoft.com/office/drawing/2014/main" id="{6ACBA44A-4BB4-3137-E72C-C9260823972F}"/>
                  </a:ext>
                </a:extLst>
              </p:cNvPr>
              <p:cNvSpPr txBox="1"/>
              <p:nvPr/>
            </p:nvSpPr>
            <p:spPr>
              <a:xfrm>
                <a:off x="5588000" y="2615553"/>
                <a:ext cx="2085973" cy="4810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𝐴</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𝐸</m:t>
                      </m:r>
                    </m:oMath>
                  </m:oMathPara>
                </a14:m>
                <a:endParaRPr lang="en-US" sz="2800" dirty="0"/>
              </a:p>
            </p:txBody>
          </p:sp>
        </mc:Choice>
        <mc:Fallback xmlns="">
          <p:sp>
            <p:nvSpPr>
              <p:cNvPr id="27" name="Object 35">
                <a:extLst>
                  <a:ext uri="{FF2B5EF4-FFF2-40B4-BE49-F238E27FC236}">
                    <a16:creationId xmlns:a16="http://schemas.microsoft.com/office/drawing/2014/main" id="{6ACBA44A-4BB4-3137-E72C-C9260823972F}"/>
                  </a:ext>
                </a:extLst>
              </p:cNvPr>
              <p:cNvSpPr txBox="1">
                <a:spLocks noRot="1" noChangeAspect="1" noMove="1" noResize="1" noEditPoints="1" noAdjustHandles="1" noChangeArrowheads="1" noChangeShapeType="1" noTextEdit="1"/>
              </p:cNvSpPr>
              <p:nvPr/>
            </p:nvSpPr>
            <p:spPr>
              <a:xfrm>
                <a:off x="5588000" y="2615553"/>
                <a:ext cx="2085973" cy="481013"/>
              </a:xfrm>
              <a:prstGeom prst="rect">
                <a:avLst/>
              </a:prstGeom>
              <a:blipFill>
                <a:blip r:embed="rId19"/>
                <a:stretch>
                  <a:fillRect/>
                </a:stretch>
              </a:blipFill>
              <a:ln w="38100">
                <a:noFill/>
                <a:miter/>
              </a:ln>
            </p:spPr>
            <p:txBody>
              <a:bodyPr/>
              <a:lstStyle/>
              <a:p>
                <a:r>
                  <a:rPr lang="zh-CN" altLang="en-US">
                    <a:noFill/>
                  </a:rPr>
                  <a:t> </a:t>
                </a:r>
              </a:p>
            </p:txBody>
          </p:sp>
        </mc:Fallback>
      </mc:AlternateContent>
      <p:grpSp>
        <p:nvGrpSpPr>
          <p:cNvPr id="30" name="Group 38">
            <a:extLst>
              <a:ext uri="{FF2B5EF4-FFF2-40B4-BE49-F238E27FC236}">
                <a16:creationId xmlns:a16="http://schemas.microsoft.com/office/drawing/2014/main" id="{5454F81C-C52F-C6F0-813B-53AAD76E5EB0}"/>
              </a:ext>
            </a:extLst>
          </p:cNvPr>
          <p:cNvGrpSpPr/>
          <p:nvPr/>
        </p:nvGrpSpPr>
        <p:grpSpPr>
          <a:xfrm>
            <a:off x="1452564" y="2095498"/>
            <a:ext cx="2209800" cy="1295400"/>
            <a:chOff x="3456" y="3216"/>
            <a:chExt cx="1392" cy="816"/>
          </a:xfrm>
        </p:grpSpPr>
        <p:sp>
          <p:nvSpPr>
            <p:cNvPr id="31" name="Rectangle 39">
              <a:extLst>
                <a:ext uri="{FF2B5EF4-FFF2-40B4-BE49-F238E27FC236}">
                  <a16:creationId xmlns:a16="http://schemas.microsoft.com/office/drawing/2014/main" id="{2AEDF7E6-2E9C-7380-6278-685B7B75E7F9}"/>
                </a:ext>
              </a:extLst>
            </p:cNvPr>
            <p:cNvSpPr/>
            <p:nvPr/>
          </p:nvSpPr>
          <p:spPr>
            <a:xfrm>
              <a:off x="3456" y="3216"/>
              <a:ext cx="1248" cy="816"/>
            </a:xfrm>
            <a:prstGeom prst="rect">
              <a:avLst/>
            </a:prstGeom>
            <a:solidFill>
              <a:srgbClr val="9966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2" name="Rectangle 40">
              <a:extLst>
                <a:ext uri="{FF2B5EF4-FFF2-40B4-BE49-F238E27FC236}">
                  <a16:creationId xmlns:a16="http://schemas.microsoft.com/office/drawing/2014/main" id="{98C1E770-DED6-6BF0-738A-EB018071413D}"/>
                </a:ext>
              </a:extLst>
            </p:cNvPr>
            <p:cNvSpPr/>
            <p:nvPr/>
          </p:nvSpPr>
          <p:spPr>
            <a:xfrm>
              <a:off x="3552" y="3312"/>
              <a:ext cx="1152" cy="62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3" name="Rectangle 41">
              <a:extLst>
                <a:ext uri="{FF2B5EF4-FFF2-40B4-BE49-F238E27FC236}">
                  <a16:creationId xmlns:a16="http://schemas.microsoft.com/office/drawing/2014/main" id="{82097A48-A5EC-F60E-52DC-435144FEC1B9}"/>
                </a:ext>
              </a:extLst>
            </p:cNvPr>
            <p:cNvSpPr/>
            <p:nvPr/>
          </p:nvSpPr>
          <p:spPr>
            <a:xfrm>
              <a:off x="3840" y="3312"/>
              <a:ext cx="144" cy="624"/>
            </a:xfrm>
            <a:prstGeom prst="rect">
              <a:avLst/>
            </a:prstGeom>
            <a:gradFill rotWithShape="0">
              <a:gsLst>
                <a:gs pos="0">
                  <a:srgbClr val="49442A"/>
                </a:gs>
                <a:gs pos="50000">
                  <a:srgbClr val="9D925B"/>
                </a:gs>
                <a:gs pos="100000">
                  <a:srgbClr val="49442A"/>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4" name="Rectangle 42">
              <a:extLst>
                <a:ext uri="{FF2B5EF4-FFF2-40B4-BE49-F238E27FC236}">
                  <a16:creationId xmlns:a16="http://schemas.microsoft.com/office/drawing/2014/main" id="{2B9FE1A7-BD9F-6543-1FC0-49099D2E2272}"/>
                </a:ext>
              </a:extLst>
            </p:cNvPr>
            <p:cNvSpPr/>
            <p:nvPr/>
          </p:nvSpPr>
          <p:spPr>
            <a:xfrm>
              <a:off x="3984" y="3552"/>
              <a:ext cx="864" cy="144"/>
            </a:xfrm>
            <a:prstGeom prst="rect">
              <a:avLst/>
            </a:prstGeom>
            <a:gradFill rotWithShape="0">
              <a:gsLst>
                <a:gs pos="0">
                  <a:srgbClr val="585233"/>
                </a:gs>
                <a:gs pos="50000">
                  <a:srgbClr val="9D925B"/>
                </a:gs>
                <a:gs pos="100000">
                  <a:srgbClr val="585233"/>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5" name="Rectangle 43" descr="20%">
              <a:extLst>
                <a:ext uri="{FF2B5EF4-FFF2-40B4-BE49-F238E27FC236}">
                  <a16:creationId xmlns:a16="http://schemas.microsoft.com/office/drawing/2014/main" id="{D35B8FFD-DFFB-C308-3CCE-12201DBC88A2}"/>
                </a:ext>
              </a:extLst>
            </p:cNvPr>
            <p:cNvSpPr/>
            <p:nvPr/>
          </p:nvSpPr>
          <p:spPr>
            <a:xfrm>
              <a:off x="3552" y="3312"/>
              <a:ext cx="288" cy="624"/>
            </a:xfrm>
            <a:prstGeom prst="rect">
              <a:avLst/>
            </a:prstGeom>
            <a:pattFill prst="pct20">
              <a:fgClr>
                <a:schemeClr val="tx1"/>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36" name="Group 44">
            <a:extLst>
              <a:ext uri="{FF2B5EF4-FFF2-40B4-BE49-F238E27FC236}">
                <a16:creationId xmlns:a16="http://schemas.microsoft.com/office/drawing/2014/main" id="{0472FAED-7C50-E92C-800C-BE253198DDB2}"/>
              </a:ext>
            </a:extLst>
          </p:cNvPr>
          <p:cNvGrpSpPr/>
          <p:nvPr/>
        </p:nvGrpSpPr>
        <p:grpSpPr>
          <a:xfrm>
            <a:off x="1604964" y="2259011"/>
            <a:ext cx="2819400" cy="990600"/>
            <a:chOff x="5568" y="2592"/>
            <a:chExt cx="1776" cy="624"/>
          </a:xfrm>
        </p:grpSpPr>
        <p:sp>
          <p:nvSpPr>
            <p:cNvPr id="37" name="Rectangle 45" descr="5%">
              <a:extLst>
                <a:ext uri="{FF2B5EF4-FFF2-40B4-BE49-F238E27FC236}">
                  <a16:creationId xmlns:a16="http://schemas.microsoft.com/office/drawing/2014/main" id="{4502DC4C-149D-A762-834B-4B7D0349A178}"/>
                </a:ext>
              </a:extLst>
            </p:cNvPr>
            <p:cNvSpPr/>
            <p:nvPr/>
          </p:nvSpPr>
          <p:spPr>
            <a:xfrm>
              <a:off x="5568" y="2592"/>
              <a:ext cx="768" cy="624"/>
            </a:xfrm>
            <a:prstGeom prst="rect">
              <a:avLst/>
            </a:prstGeom>
            <a:pattFill prst="pct5">
              <a:fgClr>
                <a:schemeClr val="tx1"/>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nvGrpSpPr>
            <p:cNvPr id="38" name="Group 46">
              <a:extLst>
                <a:ext uri="{FF2B5EF4-FFF2-40B4-BE49-F238E27FC236}">
                  <a16:creationId xmlns:a16="http://schemas.microsoft.com/office/drawing/2014/main" id="{2599B5F9-F9E0-DA35-F21A-E910C17D5693}"/>
                </a:ext>
              </a:extLst>
            </p:cNvPr>
            <p:cNvGrpSpPr/>
            <p:nvPr/>
          </p:nvGrpSpPr>
          <p:grpSpPr>
            <a:xfrm>
              <a:off x="5856" y="2592"/>
              <a:ext cx="1008" cy="624"/>
              <a:chOff x="3456" y="2928"/>
              <a:chExt cx="1008" cy="624"/>
            </a:xfrm>
          </p:grpSpPr>
          <p:sp>
            <p:nvSpPr>
              <p:cNvPr id="41" name="Rectangle 47">
                <a:extLst>
                  <a:ext uri="{FF2B5EF4-FFF2-40B4-BE49-F238E27FC236}">
                    <a16:creationId xmlns:a16="http://schemas.microsoft.com/office/drawing/2014/main" id="{E43DD0FE-EE6C-2253-DEFD-A74A93CEEDD2}"/>
                  </a:ext>
                </a:extLst>
              </p:cNvPr>
              <p:cNvSpPr/>
              <p:nvPr/>
            </p:nvSpPr>
            <p:spPr>
              <a:xfrm>
                <a:off x="3456" y="2928"/>
                <a:ext cx="144" cy="624"/>
              </a:xfrm>
              <a:prstGeom prst="rect">
                <a:avLst/>
              </a:prstGeom>
              <a:noFill/>
              <a:ln w="28575" cap="flat" cmpd="sng">
                <a:solidFill>
                  <a:schemeClr val="tx1"/>
                </a:solidFill>
                <a:prstDash val="dash"/>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42" name="Rectangle 48">
                <a:extLst>
                  <a:ext uri="{FF2B5EF4-FFF2-40B4-BE49-F238E27FC236}">
                    <a16:creationId xmlns:a16="http://schemas.microsoft.com/office/drawing/2014/main" id="{4115993B-263C-95E6-74B9-145F11B04036}"/>
                  </a:ext>
                </a:extLst>
              </p:cNvPr>
              <p:cNvSpPr/>
              <p:nvPr/>
            </p:nvSpPr>
            <p:spPr>
              <a:xfrm>
                <a:off x="3600" y="3168"/>
                <a:ext cx="864" cy="144"/>
              </a:xfrm>
              <a:prstGeom prst="rect">
                <a:avLst/>
              </a:prstGeom>
              <a:noFill/>
              <a:ln w="28575" cap="flat" cmpd="sng">
                <a:solidFill>
                  <a:schemeClr val="tx1"/>
                </a:solidFill>
                <a:prstDash val="dash"/>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39" name="Rectangle 49">
              <a:extLst>
                <a:ext uri="{FF2B5EF4-FFF2-40B4-BE49-F238E27FC236}">
                  <a16:creationId xmlns:a16="http://schemas.microsoft.com/office/drawing/2014/main" id="{EAA05442-D0A1-96C5-4B4E-C800197CC4BF}"/>
                </a:ext>
              </a:extLst>
            </p:cNvPr>
            <p:cNvSpPr/>
            <p:nvPr/>
          </p:nvSpPr>
          <p:spPr>
            <a:xfrm>
              <a:off x="6336" y="2592"/>
              <a:ext cx="144" cy="624"/>
            </a:xfrm>
            <a:prstGeom prst="rect">
              <a:avLst/>
            </a:prstGeom>
            <a:gradFill rotWithShape="0">
              <a:gsLst>
                <a:gs pos="0">
                  <a:srgbClr val="49442A"/>
                </a:gs>
                <a:gs pos="50000">
                  <a:srgbClr val="9D925B"/>
                </a:gs>
                <a:gs pos="100000">
                  <a:srgbClr val="49442A"/>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40" name="Rectangle 50">
              <a:extLst>
                <a:ext uri="{FF2B5EF4-FFF2-40B4-BE49-F238E27FC236}">
                  <a16:creationId xmlns:a16="http://schemas.microsoft.com/office/drawing/2014/main" id="{DD7E0A7C-C2AB-5F6B-0E00-AD74A88EB471}"/>
                </a:ext>
              </a:extLst>
            </p:cNvPr>
            <p:cNvSpPr/>
            <p:nvPr/>
          </p:nvSpPr>
          <p:spPr>
            <a:xfrm>
              <a:off x="6480" y="2832"/>
              <a:ext cx="864" cy="144"/>
            </a:xfrm>
            <a:prstGeom prst="rect">
              <a:avLst/>
            </a:prstGeom>
            <a:gradFill rotWithShape="0">
              <a:gsLst>
                <a:gs pos="0">
                  <a:srgbClr val="585233"/>
                </a:gs>
                <a:gs pos="50000">
                  <a:srgbClr val="9D925B"/>
                </a:gs>
                <a:gs pos="100000">
                  <a:srgbClr val="585233"/>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45" name="Text Box 53">
            <a:extLst>
              <a:ext uri="{FF2B5EF4-FFF2-40B4-BE49-F238E27FC236}">
                <a16:creationId xmlns:a16="http://schemas.microsoft.com/office/drawing/2014/main" id="{9BF9E279-15A3-140E-92BE-1C79F3AF04AD}"/>
              </a:ext>
            </a:extLst>
          </p:cNvPr>
          <p:cNvSpPr txBox="1"/>
          <p:nvPr/>
        </p:nvSpPr>
        <p:spPr>
          <a:xfrm>
            <a:off x="1046164" y="1560529"/>
            <a:ext cx="3600450" cy="519077"/>
          </a:xfrm>
          <a:prstGeom prst="rect">
            <a:avLst/>
          </a:prstGeom>
          <a:noFill/>
          <a:ln w="9525">
            <a:noFill/>
          </a:ln>
        </p:spPr>
        <p:txBody>
          <a:bodyPr>
            <a:spAutoFit/>
          </a:bodyPr>
          <a:lstStyle/>
          <a:p>
            <a:pPr eaLnBrk="1" hangingPunct="1">
              <a:spcBef>
                <a:spcPct val="50000"/>
              </a:spcBef>
            </a:pPr>
            <a:r>
              <a:rPr lang="zh-CN" altLang="en-US" sz="2800" dirty="0">
                <a:solidFill>
                  <a:srgbClr val="1C1C1C"/>
                </a:solidFill>
                <a:latin typeface="Times New Roman" panose="02020603050405020304" pitchFamily="18" charset="0"/>
              </a:rPr>
              <a:t>绝热的汽缸壁和活塞</a:t>
            </a:r>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ADF70DEC-E154-D42A-0C6D-545631F07D4F}"/>
                  </a:ext>
                </a:extLst>
              </p:cNvPr>
              <p:cNvSpPr txBox="1"/>
              <p:nvPr/>
            </p:nvSpPr>
            <p:spPr>
              <a:xfrm>
                <a:off x="7062786" y="2601002"/>
                <a:ext cx="2838450" cy="5421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m:t>
                      </m:r>
                      <m:r>
                        <a:rPr lang="en-US" altLang="zh-CN" sz="2800" i="1" smtClean="0">
                          <a:solidFill>
                            <a:srgbClr val="000000"/>
                          </a:solidFill>
                          <a:latin typeface="Cambria Math" panose="02040503050406030204" pitchFamily="18" charset="0"/>
                        </a:rPr>
                        <m:t>𝜈</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𝐶</m:t>
                          </m:r>
                        </m:e>
                        <m:sub>
                          <m:r>
                            <a:rPr lang="en-US" altLang="zh-CN" sz="2800" i="1">
                              <a:solidFill>
                                <a:srgbClr val="000000"/>
                              </a:solidFill>
                              <a:latin typeface="Cambria Math" panose="02040503050406030204" pitchFamily="18" charset="0"/>
                            </a:rPr>
                            <m:t>𝑉</m:t>
                          </m:r>
                          <m:r>
                            <a:rPr lang="en-US" altLang="zh-CN" sz="2800" i="1">
                              <a:solidFill>
                                <a:srgbClr val="000000"/>
                              </a:solidFill>
                              <a:latin typeface="Cambria Math" panose="02040503050406030204" pitchFamily="18" charset="0"/>
                            </a:rPr>
                            <m:t>,</m:t>
                          </m:r>
                          <m:r>
                            <m:rPr>
                              <m:sty m:val="p"/>
                            </m:rPr>
                            <a:rPr lang="en-US" altLang="zh-CN" sz="2800" i="0">
                              <a:solidFill>
                                <a:srgbClr val="000000"/>
                              </a:solidFill>
                              <a:latin typeface="Cambria Math" panose="02040503050406030204" pitchFamily="18" charset="0"/>
                            </a:rPr>
                            <m:t>m</m:t>
                          </m:r>
                        </m:sub>
                      </m:sSub>
                      <m:r>
                        <m:rPr>
                          <m:sty m:val="p"/>
                        </m:rPr>
                        <a:rPr lang="en-US" altLang="zh-CN" sz="2800" i="0">
                          <a:solidFill>
                            <a:srgbClr val="000000"/>
                          </a:solidFill>
                          <a:latin typeface="Cambria Math" panose="02040503050406030204" pitchFamily="18" charset="0"/>
                        </a:rPr>
                        <m:t>d</m:t>
                      </m:r>
                      <m:r>
                        <a:rPr lang="en-US" altLang="zh-CN" sz="2800" i="1">
                          <a:solidFill>
                            <a:srgbClr val="000000"/>
                          </a:solidFill>
                          <a:latin typeface="Cambria Math" panose="02040503050406030204" pitchFamily="18" charset="0"/>
                        </a:rPr>
                        <m:t>𝑇</m:t>
                      </m:r>
                    </m:oMath>
                  </m:oMathPara>
                </a14:m>
                <a:endParaRPr lang="zh-CN" altLang="en-US" sz="2800" dirty="0"/>
              </a:p>
            </p:txBody>
          </p:sp>
        </mc:Choice>
        <mc:Fallback xmlns="">
          <p:sp>
            <p:nvSpPr>
              <p:cNvPr id="49" name="文本框 48">
                <a:extLst>
                  <a:ext uri="{FF2B5EF4-FFF2-40B4-BE49-F238E27FC236}">
                    <a16:creationId xmlns:a16="http://schemas.microsoft.com/office/drawing/2014/main" id="{ADF70DEC-E154-D42A-0C6D-545631F07D4F}"/>
                  </a:ext>
                </a:extLst>
              </p:cNvPr>
              <p:cNvSpPr txBox="1">
                <a:spLocks noRot="1" noChangeAspect="1" noMove="1" noResize="1" noEditPoints="1" noAdjustHandles="1" noChangeArrowheads="1" noChangeShapeType="1" noTextEdit="1"/>
              </p:cNvSpPr>
              <p:nvPr/>
            </p:nvSpPr>
            <p:spPr>
              <a:xfrm>
                <a:off x="7062786" y="2601002"/>
                <a:ext cx="2838450" cy="542136"/>
              </a:xfrm>
              <a:prstGeom prst="rect">
                <a:avLst/>
              </a:prstGeom>
              <a:blipFill>
                <a:blip r:embed="rId20"/>
                <a:stretch>
                  <a:fillRect/>
                </a:stretch>
              </a:blipFill>
            </p:spPr>
            <p:txBody>
              <a:bodyPr/>
              <a:lstStyle/>
              <a:p>
                <a:r>
                  <a:rPr lang="zh-CN" altLang="en-US">
                    <a:noFill/>
                  </a:rPr>
                  <a:t> </a:t>
                </a:r>
              </a:p>
            </p:txBody>
          </p:sp>
        </mc:Fallback>
      </mc:AlternateContent>
      <p:graphicFrame>
        <p:nvGraphicFramePr>
          <p:cNvPr id="50" name="Object 5">
            <a:extLst>
              <a:ext uri="{FF2B5EF4-FFF2-40B4-BE49-F238E27FC236}">
                <a16:creationId xmlns:a16="http://schemas.microsoft.com/office/drawing/2014/main" id="{622F3CD9-71C6-D94D-0E02-6D229648D797}"/>
              </a:ext>
            </a:extLst>
          </p:cNvPr>
          <p:cNvGraphicFramePr/>
          <p:nvPr>
            <p:extLst>
              <p:ext uri="{D42A27DB-BD31-4B8C-83A1-F6EECF244321}">
                <p14:modId xmlns:p14="http://schemas.microsoft.com/office/powerpoint/2010/main" val="3501677786"/>
              </p:ext>
            </p:extLst>
          </p:nvPr>
        </p:nvGraphicFramePr>
        <p:xfrm>
          <a:off x="6336625" y="3521876"/>
          <a:ext cx="3505200" cy="576247"/>
        </p:xfrm>
        <a:graphic>
          <a:graphicData uri="http://schemas.openxmlformats.org/presentationml/2006/ole">
            <mc:AlternateContent xmlns:mc="http://schemas.openxmlformats.org/markup-compatibility/2006">
              <mc:Choice xmlns:v="urn:schemas-microsoft-com:vml" Requires="v">
                <p:oleObj spid="_x0000_s8280" r:id="rId21" imgW="1079500" imgH="228600" progId="Equation.3">
                  <p:embed/>
                </p:oleObj>
              </mc:Choice>
              <mc:Fallback>
                <p:oleObj r:id="rId21" imgW="1079500" imgH="228600" progId="Equation.3">
                  <p:embed/>
                  <p:pic>
                    <p:nvPicPr>
                      <p:cNvPr id="31758" name="Object 5"/>
                      <p:cNvPicPr/>
                      <p:nvPr/>
                    </p:nvPicPr>
                    <p:blipFill>
                      <a:blip r:embed="rId22"/>
                      <a:stretch>
                        <a:fillRect/>
                      </a:stretch>
                    </p:blipFill>
                    <p:spPr>
                      <a:xfrm>
                        <a:off x="6336625" y="3521876"/>
                        <a:ext cx="3505200" cy="576247"/>
                      </a:xfrm>
                      <a:prstGeom prst="rect">
                        <a:avLst/>
                      </a:prstGeom>
                      <a:no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51" name="Object 7">
                <a:extLst>
                  <a:ext uri="{FF2B5EF4-FFF2-40B4-BE49-F238E27FC236}">
                    <a16:creationId xmlns:a16="http://schemas.microsoft.com/office/drawing/2014/main" id="{E817F62C-5642-7269-CBD7-05D3CF58DCE3}"/>
                  </a:ext>
                </a:extLst>
              </p:cNvPr>
              <p:cNvSpPr txBox="1"/>
              <p:nvPr/>
            </p:nvSpPr>
            <p:spPr>
              <a:xfrm>
                <a:off x="5462590" y="4544218"/>
                <a:ext cx="3783010" cy="1062297"/>
              </a:xfrm>
              <a:prstGeom prst="rect">
                <a:avLst/>
              </a:prstGeom>
              <a:noFill/>
              <a:ln w="38100">
                <a:noFill/>
                <a:miter/>
              </a:ln>
            </p:spPr>
            <p:txBody>
              <a:bodyPr>
                <a:normAutofit/>
              </a:bodyPr>
              <a:lstStyle/>
              <a:p>
                <a:r>
                  <a:rPr lang="zh-CN" altLang="en-US" sz="2800" b="0" dirty="0">
                    <a:solidFill>
                      <a:srgbClr val="000000"/>
                    </a:solidFill>
                  </a:rPr>
                  <a:t>代入</a:t>
                </a:r>
                <a14:m>
                  <m:oMath xmlns:m="http://schemas.openxmlformats.org/officeDocument/2006/math">
                    <m:r>
                      <a:rPr lang="en-US" altLang="zh-CN" sz="2800" b="0" i="1" smtClean="0">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𝑝𝑉</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𝑅𝑇</m:t>
                    </m:r>
                    <m:r>
                      <a:rPr lang="zh-CN" altLang="en-US" sz="2800" i="1">
                        <a:solidFill>
                          <a:srgbClr val="000000"/>
                        </a:solidFill>
                        <a:latin typeface="Cambria Math" panose="02040503050406030204" pitchFamily="18" charset="0"/>
                      </a:rPr>
                      <m:t>可得</m:t>
                    </m:r>
                  </m:oMath>
                </a14:m>
                <a:r>
                  <a:rPr lang="zh-CN" altLang="en-US" sz="2800" dirty="0"/>
                  <a:t>：</a:t>
                </a:r>
                <a:endParaRPr lang="en-US" sz="2800" dirty="0"/>
              </a:p>
            </p:txBody>
          </p:sp>
        </mc:Choice>
        <mc:Fallback xmlns="">
          <p:sp>
            <p:nvSpPr>
              <p:cNvPr id="51" name="Object 7">
                <a:extLst>
                  <a:ext uri="{FF2B5EF4-FFF2-40B4-BE49-F238E27FC236}">
                    <a16:creationId xmlns:a16="http://schemas.microsoft.com/office/drawing/2014/main" id="{E817F62C-5642-7269-CBD7-05D3CF58DCE3}"/>
                  </a:ext>
                </a:extLst>
              </p:cNvPr>
              <p:cNvSpPr txBox="1">
                <a:spLocks noRot="1" noChangeAspect="1" noMove="1" noResize="1" noEditPoints="1" noAdjustHandles="1" noChangeArrowheads="1" noChangeShapeType="1" noTextEdit="1"/>
              </p:cNvSpPr>
              <p:nvPr/>
            </p:nvSpPr>
            <p:spPr>
              <a:xfrm>
                <a:off x="5462590" y="4544218"/>
                <a:ext cx="3783010" cy="1062297"/>
              </a:xfrm>
              <a:prstGeom prst="rect">
                <a:avLst/>
              </a:prstGeom>
              <a:blipFill>
                <a:blip r:embed="rId23"/>
                <a:stretch>
                  <a:fillRect l="-3221" t="-5714"/>
                </a:stretch>
              </a:blipFill>
              <a:ln w="38100">
                <a:noFill/>
                <a:miter/>
              </a:ln>
            </p:spPr>
            <p:txBody>
              <a:bodyPr/>
              <a:lstStyle/>
              <a:p>
                <a:r>
                  <a:rPr lang="zh-CN" altLang="en-US">
                    <a:noFill/>
                  </a:rPr>
                  <a:t> </a:t>
                </a:r>
              </a:p>
            </p:txBody>
          </p:sp>
        </mc:Fallback>
      </mc:AlternateContent>
      <p:graphicFrame>
        <p:nvGraphicFramePr>
          <p:cNvPr id="52" name="Object 8">
            <a:extLst>
              <a:ext uri="{FF2B5EF4-FFF2-40B4-BE49-F238E27FC236}">
                <a16:creationId xmlns:a16="http://schemas.microsoft.com/office/drawing/2014/main" id="{1C9C07BA-A50C-9191-9573-A41A79D0B74D}"/>
              </a:ext>
            </a:extLst>
          </p:cNvPr>
          <p:cNvGraphicFramePr/>
          <p:nvPr>
            <p:extLst>
              <p:ext uri="{D42A27DB-BD31-4B8C-83A1-F6EECF244321}">
                <p14:modId xmlns:p14="http://schemas.microsoft.com/office/powerpoint/2010/main" val="2755280096"/>
              </p:ext>
            </p:extLst>
          </p:nvPr>
        </p:nvGraphicFramePr>
        <p:xfrm>
          <a:off x="6096000" y="5482432"/>
          <a:ext cx="4160044" cy="941387"/>
        </p:xfrm>
        <a:graphic>
          <a:graphicData uri="http://schemas.openxmlformats.org/presentationml/2006/ole">
            <mc:AlternateContent xmlns:mc="http://schemas.openxmlformats.org/markup-compatibility/2006">
              <mc:Choice xmlns:v="urn:schemas-microsoft-com:vml" Requires="v">
                <p:oleObj spid="_x0000_s8281" r:id="rId24" imgW="1332865" imgH="393700" progId="Equation.3">
                  <p:embed/>
                </p:oleObj>
              </mc:Choice>
              <mc:Fallback>
                <p:oleObj r:id="rId24" imgW="1332865" imgH="393700" progId="Equation.3">
                  <p:embed/>
                  <p:pic>
                    <p:nvPicPr>
                      <p:cNvPr id="439304" name="Object 8"/>
                      <p:cNvPicPr/>
                      <p:nvPr/>
                    </p:nvPicPr>
                    <p:blipFill>
                      <a:blip r:embed="rId25"/>
                      <a:stretch>
                        <a:fillRect/>
                      </a:stretch>
                    </p:blipFill>
                    <p:spPr>
                      <a:xfrm>
                        <a:off x="6096000" y="5482432"/>
                        <a:ext cx="4160044" cy="941387"/>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46" name="Object 3">
                <a:extLst>
                  <a:ext uri="{FF2B5EF4-FFF2-40B4-BE49-F238E27FC236}">
                    <a16:creationId xmlns:a16="http://schemas.microsoft.com/office/drawing/2014/main" id="{2789D28D-2DFF-4465-801B-9612246730FA}"/>
                  </a:ext>
                </a:extLst>
              </p:cNvPr>
              <p:cNvSpPr txBox="1"/>
              <p:nvPr/>
            </p:nvSpPr>
            <p:spPr>
              <a:xfrm>
                <a:off x="9374432" y="1993679"/>
                <a:ext cx="1905000" cy="61912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𝐸</m:t>
                      </m:r>
                    </m:oMath>
                  </m:oMathPara>
                </a14:m>
                <a:endParaRPr lang="en-US" sz="2800" dirty="0"/>
              </a:p>
            </p:txBody>
          </p:sp>
        </mc:Choice>
        <mc:Fallback>
          <p:sp>
            <p:nvSpPr>
              <p:cNvPr id="46" name="Object 3">
                <a:extLst>
                  <a:ext uri="{FF2B5EF4-FFF2-40B4-BE49-F238E27FC236}">
                    <a16:creationId xmlns:a16="http://schemas.microsoft.com/office/drawing/2014/main" id="{2789D28D-2DFF-4465-801B-9612246730FA}"/>
                  </a:ext>
                </a:extLst>
              </p:cNvPr>
              <p:cNvSpPr txBox="1">
                <a:spLocks noRot="1" noChangeAspect="1" noMove="1" noResize="1" noEditPoints="1" noAdjustHandles="1" noChangeArrowheads="1" noChangeShapeType="1" noTextEdit="1"/>
              </p:cNvSpPr>
              <p:nvPr/>
            </p:nvSpPr>
            <p:spPr>
              <a:xfrm>
                <a:off x="9374432" y="1993679"/>
                <a:ext cx="1905000" cy="619125"/>
              </a:xfrm>
              <a:prstGeom prst="rect">
                <a:avLst/>
              </a:prstGeom>
              <a:blipFill>
                <a:blip r:embed="rId26"/>
                <a:stretch>
                  <a:fillRect/>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文本框 46">
                <a:extLst>
                  <a:ext uri="{FF2B5EF4-FFF2-40B4-BE49-F238E27FC236}">
                    <a16:creationId xmlns:a16="http://schemas.microsoft.com/office/drawing/2014/main" id="{6AE331C8-1A3A-4D91-AF59-BFE8A2E14866}"/>
                  </a:ext>
                </a:extLst>
              </p:cNvPr>
              <p:cNvSpPr txBox="1"/>
              <p:nvPr/>
            </p:nvSpPr>
            <p:spPr>
              <a:xfrm>
                <a:off x="10426850" y="1900611"/>
                <a:ext cx="2987370" cy="716799"/>
              </a:xfrm>
              <a:prstGeom prst="rect">
                <a:avLst/>
              </a:prstGeom>
              <a:noFill/>
            </p:spPr>
            <p:txBody>
              <a:bodyPr wrap="square">
                <a:spAutoFit/>
              </a:bodyPr>
              <a:lstStyle/>
              <a:p>
                <a:r>
                  <a:rPr lang="en-US" altLang="zh-CN" sz="2800" dirty="0"/>
                  <a:t>= </a:t>
                </a:r>
                <a:r>
                  <a:rPr lang="zh-CN" altLang="en-US" sz="2800" dirty="0"/>
                  <a:t> </a:t>
                </a:r>
                <a14:m>
                  <m:oMath xmlns:m="http://schemas.openxmlformats.org/officeDocument/2006/math">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𝑖</m:t>
                        </m:r>
                      </m:num>
                      <m:den>
                        <m:r>
                          <a:rPr lang="zh-CN" altLang="en-US" sz="2800" i="1">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m:rPr>
                        <m:sty m:val="p"/>
                      </m:rPr>
                      <a:rPr lang="en-US" altLang="zh-CN" sz="2800" i="1">
                        <a:solidFill>
                          <a:srgbClr val="000000"/>
                        </a:solidFill>
                        <a:latin typeface="Cambria Math" panose="02040503050406030204" pitchFamily="18" charset="0"/>
                      </a:rPr>
                      <m:t>R</m:t>
                    </m:r>
                    <m:r>
                      <a:rPr lang="zh-CN" altLang="en-US" sz="2800" i="1">
                        <a:latin typeface="Cambria Math" panose="02040503050406030204" pitchFamily="18" charset="0"/>
                      </a:rPr>
                      <m:t>𝑇</m:t>
                    </m:r>
                  </m:oMath>
                </a14:m>
                <a:endParaRPr lang="zh-CN" altLang="en-US" sz="2800" dirty="0"/>
              </a:p>
            </p:txBody>
          </p:sp>
        </mc:Choice>
        <mc:Fallback>
          <p:sp>
            <p:nvSpPr>
              <p:cNvPr id="47" name="文本框 46">
                <a:extLst>
                  <a:ext uri="{FF2B5EF4-FFF2-40B4-BE49-F238E27FC236}">
                    <a16:creationId xmlns:a16="http://schemas.microsoft.com/office/drawing/2014/main" id="{6AE331C8-1A3A-4D91-AF59-BFE8A2E14866}"/>
                  </a:ext>
                </a:extLst>
              </p:cNvPr>
              <p:cNvSpPr txBox="1">
                <a:spLocks noRot="1" noChangeAspect="1" noMove="1" noResize="1" noEditPoints="1" noAdjustHandles="1" noChangeArrowheads="1" noChangeShapeType="1" noTextEdit="1"/>
              </p:cNvSpPr>
              <p:nvPr/>
            </p:nvSpPr>
            <p:spPr>
              <a:xfrm>
                <a:off x="10426850" y="1900611"/>
                <a:ext cx="2987370" cy="716799"/>
              </a:xfrm>
              <a:prstGeom prst="rect">
                <a:avLst/>
              </a:prstGeom>
              <a:blipFill>
                <a:blip r:embed="rId27"/>
                <a:stretch>
                  <a:fillRect l="-4082" b="-1025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Object 3">
                <a:extLst>
                  <a:ext uri="{FF2B5EF4-FFF2-40B4-BE49-F238E27FC236}">
                    <a16:creationId xmlns:a16="http://schemas.microsoft.com/office/drawing/2014/main" id="{60D59914-51F8-4C62-8704-00C7D6D82252}"/>
                  </a:ext>
                </a:extLst>
              </p:cNvPr>
              <p:cNvSpPr txBox="1"/>
              <p:nvPr/>
            </p:nvSpPr>
            <p:spPr>
              <a:xfrm>
                <a:off x="9474350" y="2640011"/>
                <a:ext cx="1905000" cy="61912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𝐶</m:t>
                          </m:r>
                        </m:e>
                        <m:sub>
                          <m:r>
                            <a:rPr lang="en-US" altLang="zh-CN" sz="2800" i="1">
                              <a:solidFill>
                                <a:srgbClr val="000000"/>
                              </a:solidFill>
                              <a:latin typeface="Cambria Math" panose="02040503050406030204" pitchFamily="18" charset="0"/>
                            </a:rPr>
                            <m:t>𝑉</m:t>
                          </m:r>
                          <m:r>
                            <a:rPr lang="en-US" altLang="zh-CN" sz="2800" i="1">
                              <a:solidFill>
                                <a:srgbClr val="000000"/>
                              </a:solidFill>
                              <a:latin typeface="Cambria Math" panose="02040503050406030204" pitchFamily="18" charset="0"/>
                            </a:rPr>
                            <m:t>,</m:t>
                          </m:r>
                          <m:r>
                            <m:rPr>
                              <m:sty m:val="p"/>
                            </m:rPr>
                            <a:rPr lang="en-US" altLang="zh-CN" sz="2800">
                              <a:solidFill>
                                <a:srgbClr val="000000"/>
                              </a:solidFill>
                              <a:latin typeface="Cambria Math" panose="02040503050406030204" pitchFamily="18" charset="0"/>
                            </a:rPr>
                            <m:t>m</m:t>
                          </m:r>
                        </m:sub>
                      </m:sSub>
                    </m:oMath>
                  </m:oMathPara>
                </a14:m>
                <a:endParaRPr lang="en-US" sz="2800" dirty="0"/>
              </a:p>
            </p:txBody>
          </p:sp>
        </mc:Choice>
        <mc:Fallback>
          <p:sp>
            <p:nvSpPr>
              <p:cNvPr id="48" name="Object 3">
                <a:extLst>
                  <a:ext uri="{FF2B5EF4-FFF2-40B4-BE49-F238E27FC236}">
                    <a16:creationId xmlns:a16="http://schemas.microsoft.com/office/drawing/2014/main" id="{60D59914-51F8-4C62-8704-00C7D6D82252}"/>
                  </a:ext>
                </a:extLst>
              </p:cNvPr>
              <p:cNvSpPr txBox="1">
                <a:spLocks noRot="1" noChangeAspect="1" noMove="1" noResize="1" noEditPoints="1" noAdjustHandles="1" noChangeArrowheads="1" noChangeShapeType="1" noTextEdit="1"/>
              </p:cNvSpPr>
              <p:nvPr/>
            </p:nvSpPr>
            <p:spPr>
              <a:xfrm>
                <a:off x="9474350" y="2640011"/>
                <a:ext cx="1905000" cy="619125"/>
              </a:xfrm>
              <a:prstGeom prst="rect">
                <a:avLst/>
              </a:prstGeom>
              <a:blipFill>
                <a:blip r:embed="rId28"/>
                <a:stretch>
                  <a:fillRect/>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文本框 52">
                <a:extLst>
                  <a:ext uri="{FF2B5EF4-FFF2-40B4-BE49-F238E27FC236}">
                    <a16:creationId xmlns:a16="http://schemas.microsoft.com/office/drawing/2014/main" id="{06A4AB3D-A137-4A37-BFC3-0F57FA26B729}"/>
                  </a:ext>
                </a:extLst>
              </p:cNvPr>
              <p:cNvSpPr txBox="1"/>
              <p:nvPr/>
            </p:nvSpPr>
            <p:spPr>
              <a:xfrm>
                <a:off x="10727189" y="2578458"/>
                <a:ext cx="1312712" cy="716799"/>
              </a:xfrm>
              <a:prstGeom prst="rect">
                <a:avLst/>
              </a:prstGeom>
              <a:noFill/>
            </p:spPr>
            <p:txBody>
              <a:bodyPr wrap="square">
                <a:spAutoFit/>
              </a:bodyPr>
              <a:lstStyle/>
              <a:p>
                <a:r>
                  <a:rPr lang="en-US" altLang="zh-CN" sz="2800" dirty="0"/>
                  <a:t>= </a:t>
                </a:r>
                <a:r>
                  <a:rPr lang="zh-CN" altLang="en-US" sz="2800" dirty="0"/>
                  <a:t> </a:t>
                </a:r>
                <a14:m>
                  <m:oMath xmlns:m="http://schemas.openxmlformats.org/officeDocument/2006/math">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𝑖</m:t>
                        </m:r>
                      </m:num>
                      <m:den>
                        <m:r>
                          <a:rPr lang="zh-CN" altLang="en-US" sz="2800" i="1">
                            <a:latin typeface="Cambria Math" panose="02040503050406030204" pitchFamily="18" charset="0"/>
                          </a:rPr>
                          <m:t>2</m:t>
                        </m:r>
                      </m:den>
                    </m:f>
                    <m:r>
                      <m:rPr>
                        <m:sty m:val="p"/>
                      </m:rPr>
                      <a:rPr lang="en-US" altLang="zh-CN" sz="2800" i="1">
                        <a:solidFill>
                          <a:srgbClr val="000000"/>
                        </a:solidFill>
                        <a:latin typeface="Cambria Math" panose="02040503050406030204" pitchFamily="18" charset="0"/>
                      </a:rPr>
                      <m:t>R</m:t>
                    </m:r>
                  </m:oMath>
                </a14:m>
                <a:endParaRPr lang="zh-CN" altLang="en-US" sz="2800" dirty="0"/>
              </a:p>
            </p:txBody>
          </p:sp>
        </mc:Choice>
        <mc:Fallback>
          <p:sp>
            <p:nvSpPr>
              <p:cNvPr id="53" name="文本框 52">
                <a:extLst>
                  <a:ext uri="{FF2B5EF4-FFF2-40B4-BE49-F238E27FC236}">
                    <a16:creationId xmlns:a16="http://schemas.microsoft.com/office/drawing/2014/main" id="{06A4AB3D-A137-4A37-BFC3-0F57FA26B729}"/>
                  </a:ext>
                </a:extLst>
              </p:cNvPr>
              <p:cNvSpPr txBox="1">
                <a:spLocks noRot="1" noChangeAspect="1" noMove="1" noResize="1" noEditPoints="1" noAdjustHandles="1" noChangeArrowheads="1" noChangeShapeType="1" noTextEdit="1"/>
              </p:cNvSpPr>
              <p:nvPr/>
            </p:nvSpPr>
            <p:spPr>
              <a:xfrm>
                <a:off x="10727189" y="2578458"/>
                <a:ext cx="1312712" cy="716799"/>
              </a:xfrm>
              <a:prstGeom prst="rect">
                <a:avLst/>
              </a:prstGeom>
              <a:blipFill>
                <a:blip r:embed="rId29"/>
                <a:stretch>
                  <a:fillRect l="-9767" b="-9322"/>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6" grpId="0"/>
      <p:bldP spid="27" grpId="0"/>
      <p:bldP spid="45" grpId="0"/>
      <p:bldP spid="49" grpId="0"/>
      <p:bldP spid="51" grpId="0"/>
      <p:bldP spid="46" grpId="0"/>
      <p:bldP spid="47" grpId="0"/>
      <p:bldP spid="48" grpId="0"/>
      <p:bldP spid="5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4F039165-E8D8-FC44-820B-04B02F4F825C}"/>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绝热过程</a:t>
            </a:r>
          </a:p>
        </p:txBody>
      </p:sp>
      <p:grpSp>
        <p:nvGrpSpPr>
          <p:cNvPr id="4" name="Group 2">
            <a:extLst>
              <a:ext uri="{FF2B5EF4-FFF2-40B4-BE49-F238E27FC236}">
                <a16:creationId xmlns:a16="http://schemas.microsoft.com/office/drawing/2014/main" id="{4420E4CF-A3D7-F353-A2CA-FCAC84FCA867}"/>
              </a:ext>
            </a:extLst>
          </p:cNvPr>
          <p:cNvGrpSpPr/>
          <p:nvPr/>
        </p:nvGrpSpPr>
        <p:grpSpPr>
          <a:xfrm>
            <a:off x="819151" y="1676400"/>
            <a:ext cx="3505200" cy="3505200"/>
            <a:chOff x="3243" y="482"/>
            <a:chExt cx="2208" cy="2208"/>
          </a:xfrm>
        </p:grpSpPr>
        <p:sp>
          <p:nvSpPr>
            <p:cNvPr id="5" name="Rectangle 3">
              <a:extLst>
                <a:ext uri="{FF2B5EF4-FFF2-40B4-BE49-F238E27FC236}">
                  <a16:creationId xmlns:a16="http://schemas.microsoft.com/office/drawing/2014/main" id="{8AEE8F48-2136-3CC5-8D0B-5795EBAEA1F6}"/>
                </a:ext>
              </a:extLst>
            </p:cNvPr>
            <p:cNvSpPr/>
            <p:nvPr/>
          </p:nvSpPr>
          <p:spPr>
            <a:xfrm>
              <a:off x="3243" y="482"/>
              <a:ext cx="2208" cy="2208"/>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en-US" altLang="zh-CN" sz="2800" dirty="0">
                <a:latin typeface="Bookman Old Style" panose="02050604050505020204" pitchFamily="18" charset="0"/>
              </a:endParaRPr>
            </a:p>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graphicFrame>
              <p:nvGraphicFramePr>
                <p:cNvPr id="6" name="Object 4">
                  <a:extLst>
                    <a:ext uri="{FF2B5EF4-FFF2-40B4-BE49-F238E27FC236}">
                      <a16:creationId xmlns:a16="http://schemas.microsoft.com/office/drawing/2014/main" id="{6752E1D4-149A-D4A7-BD88-6FAB987DC031}"/>
                    </a:ext>
                  </a:extLst>
                </p:cNvPr>
                <p:cNvGraphicFramePr/>
                <p:nvPr/>
              </p:nvGraphicFramePr>
              <p:xfrm>
                <a:off x="4050" y="535"/>
                <a:ext cx="917" cy="310"/>
              </p:xfrm>
              <a:graphic>
                <a:graphicData uri="http://schemas.openxmlformats.org/presentationml/2006/ole">
                  <mc:AlternateContent>
                    <mc:Choice xmlns:v="urn:schemas-microsoft-com:vml" Requires="v">
                      <p:oleObj spid="_x0000_s9344" r:id="rId3" imgW="634365" imgH="215900" progId="Equation.3">
                        <p:embed/>
                      </p:oleObj>
                    </mc:Choice>
                    <mc:Fallback>
                      <p:oleObj r:id="rId3" imgW="634365" imgH="215900" progId="Equation.3">
                        <p:embed/>
                        <p:pic>
                          <p:nvPicPr>
                            <p:cNvPr id="6" name="Object 4">
                              <a:extLst>
                                <a:ext uri="{FF2B5EF4-FFF2-40B4-BE49-F238E27FC236}">
                                  <a16:creationId xmlns:a16="http://schemas.microsoft.com/office/drawing/2014/main" id="{6752E1D4-149A-D4A7-BD88-6FAB987DC031}"/>
                                </a:ext>
                              </a:extLst>
                            </p:cNvPr>
                            <p:cNvPicPr/>
                            <p:nvPr/>
                          </p:nvPicPr>
                          <p:blipFill>
                            <a:blip r:embed="rId4"/>
                            <a:stretch>
                              <a:fillRect/>
                            </a:stretch>
                          </p:blipFill>
                          <p:spPr>
                            <a:xfrm>
                              <a:off x="4050" y="535"/>
                              <a:ext cx="917" cy="310"/>
                            </a:xfrm>
                            <a:prstGeom prst="rect">
                              <a:avLst/>
                            </a:prstGeom>
                            <a:noFill/>
                            <a:ln w="38100">
                              <a:noFill/>
                              <a:miter/>
                            </a:ln>
                          </p:spPr>
                        </p:pic>
                      </p:oleObj>
                    </mc:Fallback>
                  </mc:AlternateContent>
                </a:graphicData>
              </a:graphic>
            </p:graphicFrame>
          </mc:Choice>
          <mc:Fallback xmlns="">
            <p:graphicFrame>
              <p:nvGraphicFramePr>
                <p:cNvPr id="28679" name="Object 4"/>
                <p:cNvGraphicFramePr/>
                <p:nvPr/>
              </p:nvGraphicFramePr>
              <p:xfrm>
                <a:off x="4050" y="535"/>
                <a:ext cx="917" cy="310"/>
              </p:xfrm>
              <a:graphic>
                <a:graphicData uri="http://schemas.openxmlformats.org/presentationml/2006/ole">
                  <mc:AlternateContent>
                    <mc:Choice xmlns:v="urn:schemas-microsoft-com:vml" Requires="v">
                      <p:oleObj spid="_x0000_s27746" r:id="rId5" imgW="634365" imgH="215900" progId="Equation.3">
                        <p:embed/>
                      </p:oleObj>
                    </mc:Choice>
                    <mc:Fallback>
                      <p:oleObj r:id="rId5" imgW="634365" imgH="215900" progId="Equation.3">
                        <p:embed/>
                        <p:pic>
                          <p:nvPicPr>
                            <p:cNvPr id="28679" name="Object 4"/>
                            <p:cNvPicPr/>
                            <p:nvPr/>
                          </p:nvPicPr>
                          <p:blipFill>
                            <a:blip r:embed="rId6"/>
                            <a:stretch>
                              <a:fillRect/>
                            </a:stretch>
                          </p:blipFill>
                          <p:spPr>
                            <a:xfrm>
                              <a:off x="4050" y="535"/>
                              <a:ext cx="917" cy="310"/>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 name="Object 5">
                  <a:extLst>
                    <a:ext uri="{FF2B5EF4-FFF2-40B4-BE49-F238E27FC236}">
                      <a16:creationId xmlns:a16="http://schemas.microsoft.com/office/drawing/2014/main" id="{155E2BE8-8832-BA4E-C216-531216E4A31B}"/>
                    </a:ext>
                  </a:extLst>
                </p:cNvPr>
                <p:cNvGraphicFramePr/>
                <p:nvPr/>
              </p:nvGraphicFramePr>
              <p:xfrm>
                <a:off x="4558" y="1499"/>
                <a:ext cx="801" cy="298"/>
              </p:xfrm>
              <a:graphic>
                <a:graphicData uri="http://schemas.openxmlformats.org/presentationml/2006/ole">
                  <mc:AlternateContent>
                    <mc:Choice xmlns:v="urn:schemas-microsoft-com:vml" Requires="v">
                      <p:oleObj spid="_x0000_s9345" r:id="rId7" imgW="685165" imgH="215900" progId="Equation.3">
                        <p:embed/>
                      </p:oleObj>
                    </mc:Choice>
                    <mc:Fallback>
                      <p:oleObj r:id="rId7" imgW="685165" imgH="215900" progId="Equation.3">
                        <p:embed/>
                        <p:pic>
                          <p:nvPicPr>
                            <p:cNvPr id="7" name="Object 5">
                              <a:extLst>
                                <a:ext uri="{FF2B5EF4-FFF2-40B4-BE49-F238E27FC236}">
                                  <a16:creationId xmlns:a16="http://schemas.microsoft.com/office/drawing/2014/main" id="{155E2BE8-8832-BA4E-C216-531216E4A31B}"/>
                                </a:ext>
                              </a:extLst>
                            </p:cNvPr>
                            <p:cNvPicPr/>
                            <p:nvPr/>
                          </p:nvPicPr>
                          <p:blipFill>
                            <a:blip r:embed="rId8"/>
                            <a:stretch>
                              <a:fillRect/>
                            </a:stretch>
                          </p:blipFill>
                          <p:spPr>
                            <a:xfrm>
                              <a:off x="4558" y="1499"/>
                              <a:ext cx="801" cy="298"/>
                            </a:xfrm>
                            <a:prstGeom prst="rect">
                              <a:avLst/>
                            </a:prstGeom>
                            <a:noFill/>
                            <a:ln w="38100">
                              <a:noFill/>
                              <a:miter/>
                            </a:ln>
                          </p:spPr>
                        </p:pic>
                      </p:oleObj>
                    </mc:Fallback>
                  </mc:AlternateContent>
                </a:graphicData>
              </a:graphic>
            </p:graphicFrame>
          </mc:Choice>
          <mc:Fallback xmlns="">
            <p:graphicFrame>
              <p:nvGraphicFramePr>
                <p:cNvPr id="28680" name="Object 5"/>
                <p:cNvGraphicFramePr/>
                <p:nvPr/>
              </p:nvGraphicFramePr>
              <p:xfrm>
                <a:off x="4558" y="1499"/>
                <a:ext cx="801" cy="298"/>
              </p:xfrm>
              <a:graphic>
                <a:graphicData uri="http://schemas.openxmlformats.org/presentationml/2006/ole">
                  <mc:AlternateContent>
                    <mc:Choice xmlns:v="urn:schemas-microsoft-com:vml" Requires="v">
                      <p:oleObj spid="_x0000_s27747" r:id="rId9" imgW="685165" imgH="215900" progId="Equation.3">
                        <p:embed/>
                      </p:oleObj>
                    </mc:Choice>
                    <mc:Fallback>
                      <p:oleObj r:id="rId9" imgW="685165" imgH="215900" progId="Equation.3">
                        <p:embed/>
                        <p:pic>
                          <p:nvPicPr>
                            <p:cNvPr id="28680" name="Object 5"/>
                            <p:cNvPicPr/>
                            <p:nvPr/>
                          </p:nvPicPr>
                          <p:blipFill>
                            <a:blip r:embed="rId10"/>
                            <a:stretch>
                              <a:fillRect/>
                            </a:stretch>
                          </p:blipFill>
                          <p:spPr>
                            <a:xfrm>
                              <a:off x="4558" y="1499"/>
                              <a:ext cx="801" cy="298"/>
                            </a:xfrm>
                            <a:prstGeom prst="rect">
                              <a:avLst/>
                            </a:prstGeom>
                            <a:noFill/>
                            <a:ln w="38100">
                              <a:noFill/>
                              <a:miter/>
                            </a:ln>
                          </p:spPr>
                        </p:pic>
                      </p:oleObj>
                    </mc:Fallback>
                  </mc:AlternateContent>
                </a:graphicData>
              </a:graphic>
            </p:graphicFrame>
          </mc:Fallback>
        </mc:AlternateContent>
        <p:sp>
          <p:nvSpPr>
            <p:cNvPr id="8" name="Line 6">
              <a:extLst>
                <a:ext uri="{FF2B5EF4-FFF2-40B4-BE49-F238E27FC236}">
                  <a16:creationId xmlns:a16="http://schemas.microsoft.com/office/drawing/2014/main" id="{0C319F51-FE3B-E2D9-E9A0-8BBC28373C54}"/>
                </a:ext>
              </a:extLst>
            </p:cNvPr>
            <p:cNvSpPr/>
            <p:nvPr/>
          </p:nvSpPr>
          <p:spPr>
            <a:xfrm flipV="1">
              <a:off x="3595" y="2306"/>
              <a:ext cx="1664" cy="9"/>
            </a:xfrm>
            <a:prstGeom prst="line">
              <a:avLst/>
            </a:prstGeom>
            <a:ln w="19050" cap="flat" cmpd="sng">
              <a:solidFill>
                <a:schemeClr val="tx1"/>
              </a:solidFill>
              <a:prstDash val="solid"/>
              <a:headEnd type="none" w="med" len="med"/>
              <a:tailEnd type="triangle" w="sm" len="lg"/>
            </a:ln>
          </p:spPr>
        </p:sp>
        <p:sp>
          <p:nvSpPr>
            <p:cNvPr id="9" name="Arc 7">
              <a:extLst>
                <a:ext uri="{FF2B5EF4-FFF2-40B4-BE49-F238E27FC236}">
                  <a16:creationId xmlns:a16="http://schemas.microsoft.com/office/drawing/2014/main" id="{1C5A3DCA-CBC7-BBB9-3DF6-6A3D3D1EA738}"/>
                </a:ext>
              </a:extLst>
            </p:cNvPr>
            <p:cNvSpPr/>
            <p:nvPr/>
          </p:nvSpPr>
          <p:spPr>
            <a:xfrm flipH="1" flipV="1">
              <a:off x="3948" y="578"/>
              <a:ext cx="1163" cy="1339"/>
            </a:xfrm>
            <a:custGeom>
              <a:avLst/>
              <a:gdLst>
                <a:gd name="txL" fmla="*/ 0 w 21059"/>
                <a:gd name="txT" fmla="*/ 0 h 21281"/>
                <a:gd name="txR" fmla="*/ 21059 w 21059"/>
                <a:gd name="txB" fmla="*/ 21281 h 21281"/>
              </a:gdLst>
              <a:ahLst/>
              <a:cxnLst>
                <a:cxn ang="0">
                  <a:pos x="11" y="0"/>
                </a:cxn>
                <a:cxn ang="0">
                  <a:pos x="64" y="65"/>
                </a:cxn>
                <a:cxn ang="0">
                  <a:pos x="0" y="84"/>
                </a:cxn>
              </a:cxnLst>
              <a:rect l="txL" t="txT" r="txR" b="txB"/>
              <a:pathLst>
                <a:path w="21059" h="21281" fill="none">
                  <a:moveTo>
                    <a:pt x="3698" y="0"/>
                  </a:moveTo>
                  <a:cubicBezTo>
                    <a:pt x="12277" y="1491"/>
                    <a:pt x="19121" y="7986"/>
                    <a:pt x="21058" y="16475"/>
                  </a:cubicBezTo>
                </a:path>
                <a:path w="21059" h="21281" stroke="0">
                  <a:moveTo>
                    <a:pt x="3698" y="0"/>
                  </a:moveTo>
                  <a:cubicBezTo>
                    <a:pt x="12277" y="1491"/>
                    <a:pt x="19121" y="7986"/>
                    <a:pt x="21058" y="16475"/>
                  </a:cubicBezTo>
                  <a:lnTo>
                    <a:pt x="0" y="21281"/>
                  </a:lnTo>
                  <a:close/>
                </a:path>
              </a:pathLst>
            </a:custGeom>
            <a:noFill/>
            <a:ln w="25400"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10" name="Line 8">
              <a:extLst>
                <a:ext uri="{FF2B5EF4-FFF2-40B4-BE49-F238E27FC236}">
                  <a16:creationId xmlns:a16="http://schemas.microsoft.com/office/drawing/2014/main" id="{69D133E0-9CFE-F501-CC9D-033ED3DFF334}"/>
                </a:ext>
              </a:extLst>
            </p:cNvPr>
            <p:cNvSpPr/>
            <p:nvPr/>
          </p:nvSpPr>
          <p:spPr>
            <a:xfrm flipH="1">
              <a:off x="3948" y="914"/>
              <a:ext cx="15" cy="1401"/>
            </a:xfrm>
            <a:prstGeom prst="line">
              <a:avLst/>
            </a:prstGeom>
            <a:ln w="12700" cap="flat" cmpd="sng">
              <a:solidFill>
                <a:schemeClr val="tx1"/>
              </a:solidFill>
              <a:prstDash val="dash"/>
              <a:headEnd type="none" w="med" len="med"/>
              <a:tailEnd type="none" w="med" len="med"/>
            </a:ln>
          </p:spPr>
        </p:sp>
        <p:sp>
          <p:nvSpPr>
            <p:cNvPr id="11" name="Line 9">
              <a:extLst>
                <a:ext uri="{FF2B5EF4-FFF2-40B4-BE49-F238E27FC236}">
                  <a16:creationId xmlns:a16="http://schemas.microsoft.com/office/drawing/2014/main" id="{96D5C324-9D38-6A47-2EBB-6BA0A00B4BAD}"/>
                </a:ext>
              </a:extLst>
            </p:cNvPr>
            <p:cNvSpPr/>
            <p:nvPr/>
          </p:nvSpPr>
          <p:spPr>
            <a:xfrm>
              <a:off x="4917" y="1931"/>
              <a:ext cx="0" cy="384"/>
            </a:xfrm>
            <a:prstGeom prst="line">
              <a:avLst/>
            </a:prstGeom>
            <a:ln w="12700" cap="flat" cmpd="sng">
              <a:solidFill>
                <a:schemeClr val="tx1"/>
              </a:solidFill>
              <a:prstDash val="dash"/>
              <a:headEnd type="none" w="med" len="med"/>
              <a:tailEnd type="none" w="med" len="med"/>
            </a:ln>
          </p:spPr>
        </p:sp>
        <p:sp>
          <p:nvSpPr>
            <p:cNvPr id="12" name="Line 10">
              <a:extLst>
                <a:ext uri="{FF2B5EF4-FFF2-40B4-BE49-F238E27FC236}">
                  <a16:creationId xmlns:a16="http://schemas.microsoft.com/office/drawing/2014/main" id="{DD31AF4F-442D-573E-DD59-18FDC5AED256}"/>
                </a:ext>
              </a:extLst>
            </p:cNvPr>
            <p:cNvSpPr/>
            <p:nvPr/>
          </p:nvSpPr>
          <p:spPr>
            <a:xfrm flipH="1">
              <a:off x="3595" y="866"/>
              <a:ext cx="353" cy="0"/>
            </a:xfrm>
            <a:prstGeom prst="line">
              <a:avLst/>
            </a:prstGeom>
            <a:ln w="12700" cap="flat" cmpd="sng">
              <a:solidFill>
                <a:schemeClr val="tx1"/>
              </a:solidFill>
              <a:prstDash val="dash"/>
              <a:headEnd type="none" w="med" len="med"/>
              <a:tailEnd type="none" w="med" len="med"/>
            </a:ln>
          </p:spPr>
        </p:sp>
        <p:sp>
          <p:nvSpPr>
            <p:cNvPr id="13" name="Line 11">
              <a:extLst>
                <a:ext uri="{FF2B5EF4-FFF2-40B4-BE49-F238E27FC236}">
                  <a16:creationId xmlns:a16="http://schemas.microsoft.com/office/drawing/2014/main" id="{6E7D4CD1-4D67-7DAC-8EEB-BF81E48AA8F2}"/>
                </a:ext>
              </a:extLst>
            </p:cNvPr>
            <p:cNvSpPr/>
            <p:nvPr/>
          </p:nvSpPr>
          <p:spPr>
            <a:xfrm flipH="1">
              <a:off x="3595" y="1931"/>
              <a:ext cx="1322" cy="0"/>
            </a:xfrm>
            <a:prstGeom prst="line">
              <a:avLst/>
            </a:prstGeom>
            <a:ln w="12700" cap="flat" cmpd="sng">
              <a:solidFill>
                <a:schemeClr val="tx1"/>
              </a:solidFill>
              <a:prstDash val="dash"/>
              <a:headEnd type="none" w="med" len="med"/>
              <a:tailEnd type="none" w="med" len="med"/>
            </a:ln>
          </p:spPr>
        </p:sp>
        <p:sp>
          <p:nvSpPr>
            <p:cNvPr id="14" name="Text Box 12">
              <a:extLst>
                <a:ext uri="{FF2B5EF4-FFF2-40B4-BE49-F238E27FC236}">
                  <a16:creationId xmlns:a16="http://schemas.microsoft.com/office/drawing/2014/main" id="{FB21B805-CA77-9F72-1B0B-2DC2F2A92278}"/>
                </a:ext>
              </a:extLst>
            </p:cNvPr>
            <p:cNvSpPr txBox="1"/>
            <p:nvPr/>
          </p:nvSpPr>
          <p:spPr>
            <a:xfrm>
              <a:off x="3819" y="626"/>
              <a:ext cx="309" cy="330"/>
            </a:xfrm>
            <a:prstGeom prst="rect">
              <a:avLst/>
            </a:prstGeom>
            <a:noFill/>
            <a:ln w="9525">
              <a:noFill/>
            </a:ln>
          </p:spPr>
          <p:txBody>
            <a:bodyPr>
              <a:spAutoFit/>
            </a:bodyPr>
            <a:lstStyle/>
            <a:p>
              <a:pPr>
                <a:spcBef>
                  <a:spcPct val="50000"/>
                </a:spcBef>
              </a:pPr>
              <a:r>
                <a:rPr lang="en-US" altLang="zh-CN" sz="2800" b="1" dirty="0">
                  <a:solidFill>
                    <a:srgbClr val="A50021"/>
                  </a:solidFill>
                  <a:latin typeface="Times New Roman" panose="02020603050405020304" pitchFamily="18" charset="0"/>
                </a:rPr>
                <a:t>1</a:t>
              </a:r>
            </a:p>
          </p:txBody>
        </p:sp>
        <p:sp>
          <p:nvSpPr>
            <p:cNvPr id="15" name="Text Box 13">
              <a:extLst>
                <a:ext uri="{FF2B5EF4-FFF2-40B4-BE49-F238E27FC236}">
                  <a16:creationId xmlns:a16="http://schemas.microsoft.com/office/drawing/2014/main" id="{076260C5-F5E2-D520-447F-0F4697902F0C}"/>
                </a:ext>
              </a:extLst>
            </p:cNvPr>
            <p:cNvSpPr txBox="1"/>
            <p:nvPr/>
          </p:nvSpPr>
          <p:spPr>
            <a:xfrm>
              <a:off x="4923" y="1778"/>
              <a:ext cx="220" cy="330"/>
            </a:xfrm>
            <a:prstGeom prst="rect">
              <a:avLst/>
            </a:prstGeom>
            <a:noFill/>
            <a:ln w="9525">
              <a:noFill/>
            </a:ln>
          </p:spPr>
          <p:txBody>
            <a:bodyPr>
              <a:spAutoFit/>
            </a:bodyPr>
            <a:lstStyle/>
            <a:p>
              <a:pPr>
                <a:spcBef>
                  <a:spcPct val="50000"/>
                </a:spcBef>
              </a:pPr>
              <a:r>
                <a:rPr lang="en-US" altLang="zh-CN" sz="2800" b="1" dirty="0">
                  <a:solidFill>
                    <a:srgbClr val="A50021"/>
                  </a:solidFill>
                  <a:latin typeface="Times New Roman" panose="02020603050405020304" pitchFamily="18" charset="0"/>
                </a:rPr>
                <a:t>2</a:t>
              </a:r>
              <a:endParaRPr lang="en-US" altLang="zh-CN" sz="2800" dirty="0">
                <a:latin typeface="Times New Roman" panose="02020603050405020304" pitchFamily="18" charset="0"/>
              </a:endParaRPr>
            </a:p>
          </p:txBody>
        </p:sp>
        <p:sp>
          <p:nvSpPr>
            <p:cNvPr id="16" name="Line 14">
              <a:extLst>
                <a:ext uri="{FF2B5EF4-FFF2-40B4-BE49-F238E27FC236}">
                  <a16:creationId xmlns:a16="http://schemas.microsoft.com/office/drawing/2014/main" id="{5CB371C7-49E7-A192-6783-9106D58D8400}"/>
                </a:ext>
              </a:extLst>
            </p:cNvPr>
            <p:cNvSpPr/>
            <p:nvPr/>
          </p:nvSpPr>
          <p:spPr>
            <a:xfrm>
              <a:off x="4107" y="1310"/>
              <a:ext cx="88" cy="144"/>
            </a:xfrm>
            <a:prstGeom prst="line">
              <a:avLst/>
            </a:prstGeom>
            <a:ln w="38100"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7" name="Object 15">
                  <a:extLst>
                    <a:ext uri="{FF2B5EF4-FFF2-40B4-BE49-F238E27FC236}">
                      <a16:creationId xmlns:a16="http://schemas.microsoft.com/office/drawing/2014/main" id="{E6A94982-71B8-5BE0-F0D8-334D7A0CB760}"/>
                    </a:ext>
                  </a:extLst>
                </p:cNvPr>
                <p:cNvSpPr txBox="1"/>
                <p:nvPr/>
              </p:nvSpPr>
              <p:spPr>
                <a:xfrm>
                  <a:off x="3291" y="770"/>
                  <a:ext cx="283" cy="288"/>
                </a:xfrm>
                <a:prstGeom prst="rect">
                  <a:avLst/>
                </a:prstGeom>
                <a:no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1</m:t>
                            </m:r>
                          </m:sub>
                        </m:sSub>
                      </m:oMath>
                    </m:oMathPara>
                  </a14:m>
                  <a:endParaRPr lang="en-US" sz="2800"/>
                </a:p>
              </p:txBody>
            </p:sp>
          </mc:Choice>
          <mc:Fallback xmlns="">
            <p:sp>
              <p:nvSpPr>
                <p:cNvPr id="17" name="Object 15">
                  <a:extLst>
                    <a:ext uri="{FF2B5EF4-FFF2-40B4-BE49-F238E27FC236}">
                      <a16:creationId xmlns:a16="http://schemas.microsoft.com/office/drawing/2014/main" id="{E6A94982-71B8-5BE0-F0D8-334D7A0CB760}"/>
                    </a:ext>
                  </a:extLst>
                </p:cNvPr>
                <p:cNvSpPr txBox="1">
                  <a:spLocks noRot="1" noChangeAspect="1" noMove="1" noResize="1" noEditPoints="1" noAdjustHandles="1" noChangeArrowheads="1" noChangeShapeType="1" noTextEdit="1"/>
                </p:cNvSpPr>
                <p:nvPr/>
              </p:nvSpPr>
              <p:spPr>
                <a:xfrm>
                  <a:off x="3291" y="770"/>
                  <a:ext cx="283" cy="288"/>
                </a:xfrm>
                <a:prstGeom prst="rect">
                  <a:avLst/>
                </a:prstGeom>
                <a:blipFill>
                  <a:blip r:embed="rId11"/>
                  <a:stretch>
                    <a:fillRect l="-4054" b="-120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6">
                  <a:extLst>
                    <a:ext uri="{FF2B5EF4-FFF2-40B4-BE49-F238E27FC236}">
                      <a16:creationId xmlns:a16="http://schemas.microsoft.com/office/drawing/2014/main" id="{A07F722A-2036-DF26-E408-4D291782067D}"/>
                    </a:ext>
                  </a:extLst>
                </p:cNvPr>
                <p:cNvSpPr txBox="1"/>
                <p:nvPr/>
              </p:nvSpPr>
              <p:spPr>
                <a:xfrm>
                  <a:off x="3291" y="1742"/>
                  <a:ext cx="271" cy="276"/>
                </a:xfrm>
                <a:prstGeom prst="rect">
                  <a:avLst/>
                </a:prstGeom>
                <a:noFill/>
                <a:ln w="38100">
                  <a:noFill/>
                  <a:miter/>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2</m:t>
                            </m:r>
                          </m:sub>
                        </m:sSub>
                      </m:oMath>
                    </m:oMathPara>
                  </a14:m>
                  <a:endParaRPr lang="en-US" sz="2800" dirty="0"/>
                </a:p>
              </p:txBody>
            </p:sp>
          </mc:Choice>
          <mc:Fallback xmlns="">
            <p:sp>
              <p:nvSpPr>
                <p:cNvPr id="18" name="Object 16">
                  <a:extLst>
                    <a:ext uri="{FF2B5EF4-FFF2-40B4-BE49-F238E27FC236}">
                      <a16:creationId xmlns:a16="http://schemas.microsoft.com/office/drawing/2014/main" id="{A07F722A-2036-DF26-E408-4D291782067D}"/>
                    </a:ext>
                  </a:extLst>
                </p:cNvPr>
                <p:cNvSpPr txBox="1">
                  <a:spLocks noRot="1" noChangeAspect="1" noMove="1" noResize="1" noEditPoints="1" noAdjustHandles="1" noChangeArrowheads="1" noChangeShapeType="1" noTextEdit="1"/>
                </p:cNvSpPr>
                <p:nvPr/>
              </p:nvSpPr>
              <p:spPr>
                <a:xfrm>
                  <a:off x="3291" y="1742"/>
                  <a:ext cx="271" cy="276"/>
                </a:xfrm>
                <a:prstGeom prst="rect">
                  <a:avLst/>
                </a:prstGeom>
                <a:blipFill>
                  <a:blip r:embed="rId12"/>
                  <a:stretch>
                    <a:fillRect l="-2857" b="-833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4D646E8A-7E1A-46A7-C398-4D5F4C3B42CA}"/>
                    </a:ext>
                  </a:extLst>
                </p:cNvPr>
                <p:cNvSpPr txBox="1"/>
                <p:nvPr/>
              </p:nvSpPr>
              <p:spPr>
                <a:xfrm>
                  <a:off x="3867" y="2270"/>
                  <a:ext cx="272"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oMath>
                    </m:oMathPara>
                  </a14:m>
                  <a:endParaRPr lang="en-US" sz="2800"/>
                </a:p>
              </p:txBody>
            </p:sp>
          </mc:Choice>
          <mc:Fallback xmlns="">
            <p:sp>
              <p:nvSpPr>
                <p:cNvPr id="19" name="Object 17">
                  <a:extLst>
                    <a:ext uri="{FF2B5EF4-FFF2-40B4-BE49-F238E27FC236}">
                      <a16:creationId xmlns:a16="http://schemas.microsoft.com/office/drawing/2014/main" id="{4D646E8A-7E1A-46A7-C398-4D5F4C3B42CA}"/>
                    </a:ext>
                  </a:extLst>
                </p:cNvPr>
                <p:cNvSpPr txBox="1">
                  <a:spLocks noRot="1" noChangeAspect="1" noMove="1" noResize="1" noEditPoints="1" noAdjustHandles="1" noChangeArrowheads="1" noChangeShapeType="1" noTextEdit="1"/>
                </p:cNvSpPr>
                <p:nvPr/>
              </p:nvSpPr>
              <p:spPr>
                <a:xfrm>
                  <a:off x="3867" y="2270"/>
                  <a:ext cx="272" cy="384"/>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Object 18">
                  <a:extLst>
                    <a:ext uri="{FF2B5EF4-FFF2-40B4-BE49-F238E27FC236}">
                      <a16:creationId xmlns:a16="http://schemas.microsoft.com/office/drawing/2014/main" id="{82120EA2-EEBF-689A-4EAD-DC4C0F290B84}"/>
                    </a:ext>
                  </a:extLst>
                </p:cNvPr>
                <p:cNvSpPr txBox="1"/>
                <p:nvPr/>
              </p:nvSpPr>
              <p:spPr>
                <a:xfrm>
                  <a:off x="4762" y="2270"/>
                  <a:ext cx="305" cy="38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2</m:t>
                            </m:r>
                          </m:sub>
                        </m:sSub>
                      </m:oMath>
                    </m:oMathPara>
                  </a14:m>
                  <a:endParaRPr lang="en-US" sz="2800"/>
                </a:p>
              </p:txBody>
            </p:sp>
          </mc:Choice>
          <mc:Fallback xmlns="">
            <p:sp>
              <p:nvSpPr>
                <p:cNvPr id="20" name="Object 18">
                  <a:extLst>
                    <a:ext uri="{FF2B5EF4-FFF2-40B4-BE49-F238E27FC236}">
                      <a16:creationId xmlns:a16="http://schemas.microsoft.com/office/drawing/2014/main" id="{82120EA2-EEBF-689A-4EAD-DC4C0F290B84}"/>
                    </a:ext>
                  </a:extLst>
                </p:cNvPr>
                <p:cNvSpPr txBox="1">
                  <a:spLocks noRot="1" noChangeAspect="1" noMove="1" noResize="1" noEditPoints="1" noAdjustHandles="1" noChangeArrowheads="1" noChangeShapeType="1" noTextEdit="1"/>
                </p:cNvSpPr>
                <p:nvPr/>
              </p:nvSpPr>
              <p:spPr>
                <a:xfrm>
                  <a:off x="4762" y="2270"/>
                  <a:ext cx="305" cy="387"/>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19">
                  <a:extLst>
                    <a:ext uri="{FF2B5EF4-FFF2-40B4-BE49-F238E27FC236}">
                      <a16:creationId xmlns:a16="http://schemas.microsoft.com/office/drawing/2014/main" id="{92FB9BD1-E785-8EAC-F386-73B42165CF9D}"/>
                    </a:ext>
                  </a:extLst>
                </p:cNvPr>
                <p:cNvSpPr txBox="1"/>
                <p:nvPr/>
              </p:nvSpPr>
              <p:spPr>
                <a:xfrm>
                  <a:off x="3339" y="578"/>
                  <a:ext cx="196" cy="25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𝑝</m:t>
                        </m:r>
                      </m:oMath>
                    </m:oMathPara>
                  </a14:m>
                  <a:endParaRPr lang="en-US" sz="2800"/>
                </a:p>
              </p:txBody>
            </p:sp>
          </mc:Choice>
          <mc:Fallback xmlns="">
            <p:sp>
              <p:nvSpPr>
                <p:cNvPr id="28685" name="Object 19"/>
                <p:cNvSpPr txBox="1">
                  <a:spLocks noRot="1" noChangeAspect="1" noMove="1" noResize="1" noEditPoints="1" noAdjustHandles="1" noChangeArrowheads="1" noChangeShapeType="1" noTextEdit="1"/>
                </p:cNvSpPr>
                <p:nvPr/>
              </p:nvSpPr>
              <p:spPr>
                <a:xfrm>
                  <a:off x="3339" y="578"/>
                  <a:ext cx="196" cy="252"/>
                </a:xfrm>
                <a:prstGeom prst="rect">
                  <a:avLst/>
                </a:prstGeom>
                <a:blipFill>
                  <a:blip r:embed="rId15"/>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20">
                  <a:extLst>
                    <a:ext uri="{FF2B5EF4-FFF2-40B4-BE49-F238E27FC236}">
                      <a16:creationId xmlns:a16="http://schemas.microsoft.com/office/drawing/2014/main" id="{2DC9FAB4-841E-1056-1EA4-237DE8946092}"/>
                    </a:ext>
                  </a:extLst>
                </p:cNvPr>
                <p:cNvSpPr txBox="1"/>
                <p:nvPr/>
              </p:nvSpPr>
              <p:spPr>
                <a:xfrm>
                  <a:off x="5067" y="2362"/>
                  <a:ext cx="180"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𝑉</m:t>
                        </m:r>
                      </m:oMath>
                    </m:oMathPara>
                  </a14:m>
                  <a:endParaRPr lang="en-US" sz="2800"/>
                </a:p>
              </p:txBody>
            </p:sp>
          </mc:Choice>
          <mc:Fallback xmlns="">
            <p:sp>
              <p:nvSpPr>
                <p:cNvPr id="28686" name="Object 20"/>
                <p:cNvSpPr txBox="1">
                  <a:spLocks noRot="1" noChangeAspect="1" noMove="1" noResize="1" noEditPoints="1" noAdjustHandles="1" noChangeArrowheads="1" noChangeShapeType="1" noTextEdit="1"/>
                </p:cNvSpPr>
                <p:nvPr/>
              </p:nvSpPr>
              <p:spPr>
                <a:xfrm>
                  <a:off x="5067" y="2362"/>
                  <a:ext cx="180" cy="220"/>
                </a:xfrm>
                <a:prstGeom prst="rect">
                  <a:avLst/>
                </a:prstGeom>
                <a:blipFill>
                  <a:blip r:embed="rId16"/>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21">
                  <a:extLst>
                    <a:ext uri="{FF2B5EF4-FFF2-40B4-BE49-F238E27FC236}">
                      <a16:creationId xmlns:a16="http://schemas.microsoft.com/office/drawing/2014/main" id="{60E21F88-0D93-36EF-BF2F-D243EE76AA5A}"/>
                    </a:ext>
                  </a:extLst>
                </p:cNvPr>
                <p:cNvSpPr txBox="1"/>
                <p:nvPr/>
              </p:nvSpPr>
              <p:spPr>
                <a:xfrm>
                  <a:off x="3507" y="2315"/>
                  <a:ext cx="162" cy="20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𝑜</m:t>
                        </m:r>
                      </m:oMath>
                    </m:oMathPara>
                  </a14:m>
                  <a:endParaRPr lang="en-US" sz="2800"/>
                </a:p>
              </p:txBody>
            </p:sp>
          </mc:Choice>
          <mc:Fallback xmlns="">
            <p:sp>
              <p:nvSpPr>
                <p:cNvPr id="28687" name="Object 21"/>
                <p:cNvSpPr txBox="1">
                  <a:spLocks noRot="1" noChangeAspect="1" noMove="1" noResize="1" noEditPoints="1" noAdjustHandles="1" noChangeArrowheads="1" noChangeShapeType="1" noTextEdit="1"/>
                </p:cNvSpPr>
                <p:nvPr/>
              </p:nvSpPr>
              <p:spPr>
                <a:xfrm>
                  <a:off x="3507" y="2315"/>
                  <a:ext cx="162" cy="203"/>
                </a:xfrm>
                <a:prstGeom prst="rect">
                  <a:avLst/>
                </a:prstGeom>
                <a:blipFill>
                  <a:blip r:embed="rId17"/>
                  <a:stretch>
                    <a:fillRect/>
                  </a:stretch>
                </a:blipFill>
                <a:ln w="38100">
                  <a:noFill/>
                  <a:miter/>
                </a:ln>
              </p:spPr>
              <p:txBody>
                <a:bodyPr/>
                <a:lstStyle/>
                <a:p>
                  <a:r>
                    <a:rPr lang="en-US">
                      <a:noFill/>
                    </a:rPr>
                    <a:t> </a:t>
                  </a:r>
                </a:p>
              </p:txBody>
            </p:sp>
          </mc:Fallback>
        </mc:AlternateContent>
        <p:sp>
          <p:nvSpPr>
            <p:cNvPr id="24" name="Line 22">
              <a:extLst>
                <a:ext uri="{FF2B5EF4-FFF2-40B4-BE49-F238E27FC236}">
                  <a16:creationId xmlns:a16="http://schemas.microsoft.com/office/drawing/2014/main" id="{8DC3E441-0FA9-284A-ADCE-CC6886151D54}"/>
                </a:ext>
              </a:extLst>
            </p:cNvPr>
            <p:cNvSpPr/>
            <p:nvPr/>
          </p:nvSpPr>
          <p:spPr>
            <a:xfrm flipV="1">
              <a:off x="3579" y="626"/>
              <a:ext cx="0" cy="1680"/>
            </a:xfrm>
            <a:prstGeom prst="line">
              <a:avLst/>
            </a:prstGeom>
            <a:ln w="19050" cap="flat" cmpd="sng">
              <a:solidFill>
                <a:schemeClr val="tx1"/>
              </a:solidFill>
              <a:prstDash val="solid"/>
              <a:headEnd type="none" w="med" len="med"/>
              <a:tailEnd type="triangle" w="sm" len="lg"/>
            </a:ln>
          </p:spPr>
        </p:sp>
      </p:grpSp>
      <p:graphicFrame>
        <p:nvGraphicFramePr>
          <p:cNvPr id="52" name="Object 8">
            <a:extLst>
              <a:ext uri="{FF2B5EF4-FFF2-40B4-BE49-F238E27FC236}">
                <a16:creationId xmlns:a16="http://schemas.microsoft.com/office/drawing/2014/main" id="{1C9C07BA-A50C-9191-9573-A41A79D0B74D}"/>
              </a:ext>
            </a:extLst>
          </p:cNvPr>
          <p:cNvGraphicFramePr/>
          <p:nvPr>
            <p:extLst>
              <p:ext uri="{D42A27DB-BD31-4B8C-83A1-F6EECF244321}">
                <p14:modId xmlns:p14="http://schemas.microsoft.com/office/powerpoint/2010/main" val="4050854904"/>
              </p:ext>
            </p:extLst>
          </p:nvPr>
        </p:nvGraphicFramePr>
        <p:xfrm>
          <a:off x="5499100" y="963613"/>
          <a:ext cx="4160044" cy="941387"/>
        </p:xfrm>
        <a:graphic>
          <a:graphicData uri="http://schemas.openxmlformats.org/presentationml/2006/ole">
            <mc:AlternateContent xmlns:mc="http://schemas.openxmlformats.org/markup-compatibility/2006">
              <mc:Choice xmlns:v="urn:schemas-microsoft-com:vml" Requires="v">
                <p:oleObj spid="_x0000_s9346" r:id="rId18" imgW="1332865" imgH="393700" progId="Equation.3">
                  <p:embed/>
                </p:oleObj>
              </mc:Choice>
              <mc:Fallback>
                <p:oleObj r:id="rId18" imgW="1332865" imgH="393700" progId="Equation.3">
                  <p:embed/>
                  <p:pic>
                    <p:nvPicPr>
                      <p:cNvPr id="52" name="Object 8">
                        <a:extLst>
                          <a:ext uri="{FF2B5EF4-FFF2-40B4-BE49-F238E27FC236}">
                            <a16:creationId xmlns:a16="http://schemas.microsoft.com/office/drawing/2014/main" id="{1C9C07BA-A50C-9191-9573-A41A79D0B74D}"/>
                          </a:ext>
                        </a:extLst>
                      </p:cNvPr>
                      <p:cNvPicPr/>
                      <p:nvPr/>
                    </p:nvPicPr>
                    <p:blipFill>
                      <a:blip r:embed="rId19"/>
                      <a:stretch>
                        <a:fillRect/>
                      </a:stretch>
                    </p:blipFill>
                    <p:spPr>
                      <a:xfrm>
                        <a:off x="5499100" y="963613"/>
                        <a:ext cx="4160044" cy="941387"/>
                      </a:xfrm>
                      <a:prstGeom prst="rect">
                        <a:avLst/>
                      </a:prstGeom>
                      <a:no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25" name="Object 2">
                <a:extLst>
                  <a:ext uri="{FF2B5EF4-FFF2-40B4-BE49-F238E27FC236}">
                    <a16:creationId xmlns:a16="http://schemas.microsoft.com/office/drawing/2014/main" id="{0CBB22D7-56EE-BADB-BCC8-9F708C3CFF85}"/>
                  </a:ext>
                </a:extLst>
              </p:cNvPr>
              <p:cNvSpPr txBox="1"/>
              <p:nvPr/>
            </p:nvSpPr>
            <p:spPr>
              <a:xfrm>
                <a:off x="7373500" y="3186613"/>
                <a:ext cx="4458131" cy="99853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nary>
                        <m:naryPr>
                          <m:subHide m:val="on"/>
                          <m:supHide m:val="on"/>
                          <m:ctrlPr>
                            <a:rPr lang="en-US" sz="2800" i="1">
                              <a:solidFill>
                                <a:srgbClr val="000000"/>
                              </a:solidFill>
                              <a:latin typeface="Cambria Math" panose="02040503050406030204" pitchFamily="18" charset="0"/>
                            </a:rPr>
                          </m:ctrlPr>
                        </m:naryPr>
                        <m:sub/>
                        <m:sup/>
                        <m:e>
                          <m:f>
                            <m:fPr>
                              <m:ctrlPr>
                                <a:rPr lang="en-US" sz="2800" i="1">
                                  <a:solidFill>
                                    <a:srgbClr val="000000"/>
                                  </a:solidFill>
                                  <a:latin typeface="Cambria Math" panose="02040503050406030204" pitchFamily="18" charset="0"/>
                                </a:rPr>
                              </m:ctrlPr>
                            </m:fPr>
                            <m:num>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𝑉</m:t>
                              </m:r>
                            </m:num>
                            <m:den>
                              <m:r>
                                <a:rPr lang="en-US" sz="2800" b="0" i="1">
                                  <a:solidFill>
                                    <a:srgbClr val="000000"/>
                                  </a:solidFill>
                                  <a:latin typeface="Cambria Math" panose="02040503050406030204" pitchFamily="18" charset="0"/>
                                </a:rPr>
                                <m:t>𝑉</m:t>
                              </m:r>
                            </m:den>
                          </m:f>
                        </m:e>
                      </m:nary>
                      <m:r>
                        <a:rPr lang="en-US" sz="2800" b="0" i="1">
                          <a:solidFill>
                            <a:srgbClr val="000000"/>
                          </a:solidFill>
                          <a:latin typeface="Cambria Math" panose="02040503050406030204" pitchFamily="18" charset="0"/>
                        </a:rPr>
                        <m:t>=−</m:t>
                      </m:r>
                      <m:nary>
                        <m:naryPr>
                          <m:subHide m:val="on"/>
                          <m:supHide m:val="on"/>
                          <m:ctrlPr>
                            <a:rPr lang="en-US" sz="2800" i="1">
                              <a:solidFill>
                                <a:srgbClr val="000000"/>
                              </a:solidFill>
                              <a:latin typeface="Cambria Math" panose="02040503050406030204" pitchFamily="18" charset="0"/>
                            </a:rPr>
                          </m:ctrlPr>
                        </m:naryPr>
                        <m:sub/>
                        <m:sup/>
                        <m:e>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1</m:t>
                              </m:r>
                            </m:num>
                            <m:den>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den>
                          </m:f>
                        </m:e>
                      </m:nary>
                      <m:f>
                        <m:fPr>
                          <m:ctrlPr>
                            <a:rPr lang="en-US" sz="2800" i="1">
                              <a:solidFill>
                                <a:srgbClr val="000000"/>
                              </a:solidFill>
                              <a:latin typeface="Cambria Math" panose="02040503050406030204" pitchFamily="18" charset="0"/>
                            </a:rPr>
                          </m:ctrlPr>
                        </m:fPr>
                        <m:num>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𝑇</m:t>
                          </m:r>
                        </m:num>
                        <m:den>
                          <m:r>
                            <a:rPr lang="en-US" sz="2800" b="0" i="1">
                              <a:solidFill>
                                <a:srgbClr val="000000"/>
                              </a:solidFill>
                              <a:latin typeface="Cambria Math" panose="02040503050406030204" pitchFamily="18" charset="0"/>
                            </a:rPr>
                            <m:t>𝑇</m:t>
                          </m:r>
                        </m:den>
                      </m:f>
                    </m:oMath>
                  </m:oMathPara>
                </a14:m>
                <a:endParaRPr lang="en-US" sz="2800" dirty="0"/>
              </a:p>
            </p:txBody>
          </p:sp>
        </mc:Choice>
        <mc:Fallback xmlns="">
          <p:sp>
            <p:nvSpPr>
              <p:cNvPr id="25" name="Object 2">
                <a:extLst>
                  <a:ext uri="{FF2B5EF4-FFF2-40B4-BE49-F238E27FC236}">
                    <a16:creationId xmlns:a16="http://schemas.microsoft.com/office/drawing/2014/main" id="{0CBB22D7-56EE-BADB-BCC8-9F708C3CFF85}"/>
                  </a:ext>
                </a:extLst>
              </p:cNvPr>
              <p:cNvSpPr txBox="1">
                <a:spLocks noRot="1" noChangeAspect="1" noMove="1" noResize="1" noEditPoints="1" noAdjustHandles="1" noChangeArrowheads="1" noChangeShapeType="1" noTextEdit="1"/>
              </p:cNvSpPr>
              <p:nvPr/>
            </p:nvSpPr>
            <p:spPr>
              <a:xfrm>
                <a:off x="7373500" y="3186613"/>
                <a:ext cx="4458131" cy="998538"/>
              </a:xfrm>
              <a:prstGeom prst="rect">
                <a:avLst/>
              </a:prstGeom>
              <a:blipFill>
                <a:blip r:embed="rId20"/>
                <a:stretch>
                  <a:fillRect/>
                </a:stretch>
              </a:blipFill>
              <a:ln w="38100">
                <a:noFill/>
                <a:miter/>
              </a:ln>
            </p:spPr>
            <p:txBody>
              <a:bodyPr/>
              <a:lstStyle/>
              <a:p>
                <a:r>
                  <a:rPr lang="zh-CN" altLang="en-US">
                    <a:noFill/>
                  </a:rPr>
                  <a:t> </a:t>
                </a:r>
              </a:p>
            </p:txBody>
          </p:sp>
        </mc:Fallback>
      </mc:AlternateContent>
      <p:grpSp>
        <p:nvGrpSpPr>
          <p:cNvPr id="28" name="Group 3">
            <a:extLst>
              <a:ext uri="{FF2B5EF4-FFF2-40B4-BE49-F238E27FC236}">
                <a16:creationId xmlns:a16="http://schemas.microsoft.com/office/drawing/2014/main" id="{F6D55240-663F-3FB3-042A-7BD959172172}"/>
              </a:ext>
            </a:extLst>
          </p:cNvPr>
          <p:cNvGrpSpPr/>
          <p:nvPr/>
        </p:nvGrpSpPr>
        <p:grpSpPr>
          <a:xfrm>
            <a:off x="4573588" y="2080421"/>
            <a:ext cx="5262563" cy="941388"/>
            <a:chOff x="521" y="754"/>
            <a:chExt cx="3315" cy="593"/>
          </a:xfrm>
        </p:grpSpPr>
        <p:graphicFrame>
          <p:nvGraphicFramePr>
            <p:cNvPr id="29" name="Object 4">
              <a:extLst>
                <a:ext uri="{FF2B5EF4-FFF2-40B4-BE49-F238E27FC236}">
                  <a16:creationId xmlns:a16="http://schemas.microsoft.com/office/drawing/2014/main" id="{5A7F9D24-234E-2E47-9549-5E776A37D865}"/>
                </a:ext>
              </a:extLst>
            </p:cNvPr>
            <p:cNvGraphicFramePr/>
            <p:nvPr>
              <p:extLst>
                <p:ext uri="{D42A27DB-BD31-4B8C-83A1-F6EECF244321}">
                  <p14:modId xmlns:p14="http://schemas.microsoft.com/office/powerpoint/2010/main" val="89654180"/>
                </p:ext>
              </p:extLst>
            </p:nvPr>
          </p:nvGraphicFramePr>
          <p:xfrm>
            <a:off x="2200" y="754"/>
            <a:ext cx="1636" cy="593"/>
          </p:xfrm>
          <a:graphic>
            <a:graphicData uri="http://schemas.openxmlformats.org/presentationml/2006/ole">
              <mc:AlternateContent xmlns:mc="http://schemas.openxmlformats.org/markup-compatibility/2006">
                <mc:Choice xmlns:v="urn:schemas-microsoft-com:vml" Requires="v">
                  <p:oleObj spid="_x0000_s9347" r:id="rId21" imgW="1040765" imgH="405765" progId="Equation.3">
                    <p:embed/>
                  </p:oleObj>
                </mc:Choice>
                <mc:Fallback>
                  <p:oleObj r:id="rId21" imgW="1040765" imgH="405765" progId="Equation.3">
                    <p:embed/>
                    <p:pic>
                      <p:nvPicPr>
                        <p:cNvPr id="32775" name="Object 4"/>
                        <p:cNvPicPr/>
                        <p:nvPr/>
                      </p:nvPicPr>
                      <p:blipFill>
                        <a:blip r:embed="rId22"/>
                        <a:stretch>
                          <a:fillRect/>
                        </a:stretch>
                      </p:blipFill>
                      <p:spPr>
                        <a:xfrm>
                          <a:off x="2200" y="754"/>
                          <a:ext cx="1636" cy="593"/>
                        </a:xfrm>
                        <a:prstGeom prst="rect">
                          <a:avLst/>
                        </a:prstGeom>
                        <a:noFill/>
                        <a:ln w="38100">
                          <a:noFill/>
                          <a:miter/>
                        </a:ln>
                      </p:spPr>
                    </p:pic>
                  </p:oleObj>
                </mc:Fallback>
              </mc:AlternateContent>
            </a:graphicData>
          </a:graphic>
        </p:graphicFrame>
        <p:sp>
          <p:nvSpPr>
            <p:cNvPr id="43" name="Text Box 5">
              <a:extLst>
                <a:ext uri="{FF2B5EF4-FFF2-40B4-BE49-F238E27FC236}">
                  <a16:creationId xmlns:a16="http://schemas.microsoft.com/office/drawing/2014/main" id="{CF0B1B51-DE43-EA9C-42E1-8AAD92E4C1B6}"/>
                </a:ext>
              </a:extLst>
            </p:cNvPr>
            <p:cNvSpPr txBox="1"/>
            <p:nvPr/>
          </p:nvSpPr>
          <p:spPr>
            <a:xfrm>
              <a:off x="521" y="853"/>
              <a:ext cx="2366" cy="330"/>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分离变量得</a:t>
              </a:r>
            </a:p>
          </p:txBody>
        </p:sp>
      </p:grpSp>
      <p:grpSp>
        <p:nvGrpSpPr>
          <p:cNvPr id="44" name="Group 6">
            <a:extLst>
              <a:ext uri="{FF2B5EF4-FFF2-40B4-BE49-F238E27FC236}">
                <a16:creationId xmlns:a16="http://schemas.microsoft.com/office/drawing/2014/main" id="{DCFC433C-CE30-6AB4-9AD1-7F7E4F5F56BC}"/>
              </a:ext>
            </a:extLst>
          </p:cNvPr>
          <p:cNvGrpSpPr/>
          <p:nvPr/>
        </p:nvGrpSpPr>
        <p:grpSpPr>
          <a:xfrm>
            <a:off x="4197783" y="5378162"/>
            <a:ext cx="3816070" cy="1226765"/>
            <a:chOff x="3744" y="3112"/>
            <a:chExt cx="1630" cy="847"/>
          </a:xfrm>
        </p:grpSpPr>
        <mc:AlternateContent xmlns:mc="http://schemas.openxmlformats.org/markup-compatibility/2006" xmlns:a14="http://schemas.microsoft.com/office/drawing/2010/main">
          <mc:Choice Requires="a14">
            <p:sp>
              <p:nvSpPr>
                <p:cNvPr id="53" name="Object 10">
                  <a:extLst>
                    <a:ext uri="{FF2B5EF4-FFF2-40B4-BE49-F238E27FC236}">
                      <a16:creationId xmlns:a16="http://schemas.microsoft.com/office/drawing/2014/main" id="{69A74F00-BED1-894D-1AA9-78A86695ADD5}"/>
                    </a:ext>
                  </a:extLst>
                </p:cNvPr>
                <p:cNvSpPr txBox="1"/>
                <p:nvPr/>
              </p:nvSpPr>
              <p:spPr>
                <a:xfrm>
                  <a:off x="3744" y="3112"/>
                  <a:ext cx="886" cy="44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𝑉</m:t>
                            </m:r>
                          </m:e>
                          <m:sup>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53" name="Object 10">
                  <a:extLst>
                    <a:ext uri="{FF2B5EF4-FFF2-40B4-BE49-F238E27FC236}">
                      <a16:creationId xmlns:a16="http://schemas.microsoft.com/office/drawing/2014/main" id="{69A74F00-BED1-894D-1AA9-78A86695ADD5}"/>
                    </a:ext>
                  </a:extLst>
                </p:cNvPr>
                <p:cNvSpPr txBox="1">
                  <a:spLocks noRot="1" noChangeAspect="1" noMove="1" noResize="1" noEditPoints="1" noAdjustHandles="1" noChangeArrowheads="1" noChangeShapeType="1" noTextEdit="1"/>
                </p:cNvSpPr>
                <p:nvPr/>
              </p:nvSpPr>
              <p:spPr>
                <a:xfrm>
                  <a:off x="3744" y="3112"/>
                  <a:ext cx="886" cy="440"/>
                </a:xfrm>
                <a:prstGeom prst="rect">
                  <a:avLst/>
                </a:prstGeom>
                <a:blipFill>
                  <a:blip r:embed="rId2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Object 11">
                  <a:extLst>
                    <a:ext uri="{FF2B5EF4-FFF2-40B4-BE49-F238E27FC236}">
                      <a16:creationId xmlns:a16="http://schemas.microsoft.com/office/drawing/2014/main" id="{09B4C298-376E-B3F0-BA4B-E4668E7B59A0}"/>
                    </a:ext>
                  </a:extLst>
                </p:cNvPr>
                <p:cNvSpPr txBox="1"/>
                <p:nvPr/>
              </p:nvSpPr>
              <p:spPr>
                <a:xfrm>
                  <a:off x="3744" y="3552"/>
                  <a:ext cx="1104" cy="40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𝑝</m:t>
                            </m:r>
                          </m:e>
                          <m:sup>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sup>
                        </m:sSup>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𝑇</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54" name="Object 11">
                  <a:extLst>
                    <a:ext uri="{FF2B5EF4-FFF2-40B4-BE49-F238E27FC236}">
                      <a16:creationId xmlns:a16="http://schemas.microsoft.com/office/drawing/2014/main" id="{09B4C298-376E-B3F0-BA4B-E4668E7B59A0}"/>
                    </a:ext>
                  </a:extLst>
                </p:cNvPr>
                <p:cNvSpPr txBox="1">
                  <a:spLocks noRot="1" noChangeAspect="1" noMove="1" noResize="1" noEditPoints="1" noAdjustHandles="1" noChangeArrowheads="1" noChangeShapeType="1" noTextEdit="1"/>
                </p:cNvSpPr>
                <p:nvPr/>
              </p:nvSpPr>
              <p:spPr>
                <a:xfrm>
                  <a:off x="3744" y="3552"/>
                  <a:ext cx="1104" cy="407"/>
                </a:xfrm>
                <a:prstGeom prst="rect">
                  <a:avLst/>
                </a:prstGeom>
                <a:blipFill>
                  <a:blip r:embed="rId24"/>
                  <a:stretch>
                    <a:fillRect/>
                  </a:stretch>
                </a:blipFill>
                <a:ln w="38100">
                  <a:noFill/>
                  <a:miter/>
                </a:ln>
              </p:spPr>
              <p:txBody>
                <a:bodyPr/>
                <a:lstStyle/>
                <a:p>
                  <a:r>
                    <a:rPr lang="zh-CN" altLang="en-US">
                      <a:noFill/>
                    </a:rPr>
                    <a:t> </a:t>
                  </a:r>
                </a:p>
              </p:txBody>
            </p:sp>
          </mc:Fallback>
        </mc:AlternateContent>
        <p:sp>
          <p:nvSpPr>
            <p:cNvPr id="56" name="Rectangle 13">
              <a:extLst>
                <a:ext uri="{FF2B5EF4-FFF2-40B4-BE49-F238E27FC236}">
                  <a16:creationId xmlns:a16="http://schemas.microsoft.com/office/drawing/2014/main" id="{EDDCE9C5-AAE9-C67E-B6A8-8C18E70242D1}"/>
                </a:ext>
              </a:extLst>
            </p:cNvPr>
            <p:cNvSpPr/>
            <p:nvPr/>
          </p:nvSpPr>
          <p:spPr>
            <a:xfrm>
              <a:off x="4450" y="3120"/>
              <a:ext cx="721"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sp>
          <p:nvSpPr>
            <p:cNvPr id="57" name="Rectangle 14">
              <a:extLst>
                <a:ext uri="{FF2B5EF4-FFF2-40B4-BE49-F238E27FC236}">
                  <a16:creationId xmlns:a16="http://schemas.microsoft.com/office/drawing/2014/main" id="{3BB83341-2AC1-C918-9344-50494A730640}"/>
                </a:ext>
              </a:extLst>
            </p:cNvPr>
            <p:cNvSpPr/>
            <p:nvPr/>
          </p:nvSpPr>
          <p:spPr>
            <a:xfrm>
              <a:off x="4654" y="3575"/>
              <a:ext cx="720"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grpSp>
      <mc:AlternateContent xmlns:mc="http://schemas.openxmlformats.org/markup-compatibility/2006" xmlns:a14="http://schemas.microsoft.com/office/drawing/2010/main">
        <mc:Choice Requires="a14">
          <p:sp>
            <p:nvSpPr>
              <p:cNvPr id="58" name="Object 15">
                <a:extLst>
                  <a:ext uri="{FF2B5EF4-FFF2-40B4-BE49-F238E27FC236}">
                    <a16:creationId xmlns:a16="http://schemas.microsoft.com/office/drawing/2014/main" id="{1DA82F5B-C997-18D7-792A-7945D14724E9}"/>
                  </a:ext>
                </a:extLst>
              </p:cNvPr>
              <p:cNvSpPr txBox="1">
                <a:spLocks/>
              </p:cNvSpPr>
              <p:nvPr/>
            </p:nvSpPr>
            <p:spPr>
              <a:xfrm>
                <a:off x="4573588" y="4652117"/>
                <a:ext cx="1792288" cy="766762"/>
              </a:xfrm>
              <a:prstGeom prst="rect">
                <a:avLst/>
              </a:prstGeom>
              <a:noFill/>
              <a:ln w="38100">
                <a:miter/>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i="1" smtClean="0">
                              <a:solidFill>
                                <a:srgbClr val="000000"/>
                              </a:solidFill>
                              <a:latin typeface="Cambria Math" panose="02040503050406030204" pitchFamily="18" charset="0"/>
                            </a:rPr>
                          </m:ctrlPr>
                        </m:sSupPr>
                        <m:e>
                          <m:r>
                            <a:rPr lang="en-US" b="0" i="1">
                              <a:solidFill>
                                <a:srgbClr val="000000"/>
                              </a:solidFill>
                              <a:latin typeface="Cambria Math" panose="02040503050406030204" pitchFamily="18" charset="0"/>
                            </a:rPr>
                            <m:t>𝑉</m:t>
                          </m:r>
                        </m:e>
                        <m:sup>
                          <m:r>
                            <a:rPr lang="en-US" b="0" i="1">
                              <a:solidFill>
                                <a:srgbClr val="000000"/>
                              </a:solidFill>
                              <a:latin typeface="Cambria Math" panose="02040503050406030204" pitchFamily="18" charset="0"/>
                            </a:rPr>
                            <m:t>𝛾</m:t>
                          </m:r>
                          <m:r>
                            <a:rPr lang="en-US" b="0" i="1">
                              <a:solidFill>
                                <a:srgbClr val="000000"/>
                              </a:solidFill>
                              <a:latin typeface="Cambria Math" panose="02040503050406030204" pitchFamily="18" charset="0"/>
                            </a:rPr>
                            <m:t>−1</m:t>
                          </m:r>
                        </m:sup>
                      </m:sSup>
                      <m:r>
                        <a:rPr lang="en-US" b="0" i="1">
                          <a:solidFill>
                            <a:srgbClr val="000000"/>
                          </a:solidFill>
                          <a:latin typeface="Cambria Math" panose="02040503050406030204" pitchFamily="18" charset="0"/>
                        </a:rPr>
                        <m:t>𝑇</m:t>
                      </m:r>
                      <m:r>
                        <a:rPr lang="en-US" b="0" i="1">
                          <a:solidFill>
                            <a:srgbClr val="000000"/>
                          </a:solidFill>
                          <a:latin typeface="Cambria Math" panose="02040503050406030204" pitchFamily="18" charset="0"/>
                        </a:rPr>
                        <m:t>=</m:t>
                      </m:r>
                    </m:oMath>
                  </m:oMathPara>
                </a14:m>
                <a:endParaRPr lang="en-US"/>
              </a:p>
            </p:txBody>
          </p:sp>
        </mc:Choice>
        <mc:Fallback xmlns="">
          <p:sp>
            <p:nvSpPr>
              <p:cNvPr id="58" name="Object 15">
                <a:extLst>
                  <a:ext uri="{FF2B5EF4-FFF2-40B4-BE49-F238E27FC236}">
                    <a16:creationId xmlns:a16="http://schemas.microsoft.com/office/drawing/2014/main" id="{1DA82F5B-C997-18D7-792A-7945D14724E9}"/>
                  </a:ext>
                </a:extLst>
              </p:cNvPr>
              <p:cNvSpPr txBox="1">
                <a:spLocks noRot="1" noChangeAspect="1" noMove="1" noResize="1" noEditPoints="1" noAdjustHandles="1" noChangeArrowheads="1" noChangeShapeType="1" noTextEdit="1"/>
              </p:cNvSpPr>
              <p:nvPr/>
            </p:nvSpPr>
            <p:spPr>
              <a:xfrm>
                <a:off x="4573588" y="4652117"/>
                <a:ext cx="1792288" cy="766762"/>
              </a:xfrm>
              <a:prstGeom prst="rect">
                <a:avLst/>
              </a:prstGeom>
              <a:blipFill>
                <a:blip r:embed="rId25"/>
                <a:stretch>
                  <a:fillRect/>
                </a:stretch>
              </a:blipFill>
              <a:ln w="38100">
                <a:miter/>
              </a:ln>
            </p:spPr>
            <p:txBody>
              <a:bodyPr/>
              <a:lstStyle/>
              <a:p>
                <a:r>
                  <a:rPr lang="zh-CN" altLang="en-US">
                    <a:noFill/>
                  </a:rPr>
                  <a:t> </a:t>
                </a:r>
              </a:p>
            </p:txBody>
          </p:sp>
        </mc:Fallback>
      </mc:AlternateContent>
      <p:sp>
        <p:nvSpPr>
          <p:cNvPr id="59" name="Text Box 16">
            <a:extLst>
              <a:ext uri="{FF2B5EF4-FFF2-40B4-BE49-F238E27FC236}">
                <a16:creationId xmlns:a16="http://schemas.microsoft.com/office/drawing/2014/main" id="{63C3593E-B697-9059-2732-F478D9F04073}"/>
              </a:ext>
            </a:extLst>
          </p:cNvPr>
          <p:cNvSpPr txBox="1"/>
          <p:nvPr/>
        </p:nvSpPr>
        <p:spPr>
          <a:xfrm>
            <a:off x="6191693" y="4617663"/>
            <a:ext cx="992579" cy="523220"/>
          </a:xfrm>
          <a:prstGeom prst="rect">
            <a:avLst/>
          </a:prstGeom>
          <a:noFill/>
          <a:ln w="9525">
            <a:noFill/>
          </a:ln>
        </p:spPr>
        <p:txBody>
          <a:bodyPr wrap="none">
            <a:spAutoFit/>
          </a:bodyPr>
          <a:lstStyle/>
          <a:p>
            <a:pPr eaLnBrk="1" hangingPunct="1"/>
            <a:r>
              <a:rPr lang="zh-CN" altLang="en-US" sz="2800" dirty="0">
                <a:solidFill>
                  <a:srgbClr val="000000"/>
                </a:solidFill>
                <a:latin typeface="Times New Roman" panose="02020603050405020304" pitchFamily="18" charset="0"/>
              </a:rPr>
              <a:t>常量 </a:t>
            </a:r>
          </a:p>
        </p:txBody>
      </p:sp>
      <p:graphicFrame>
        <p:nvGraphicFramePr>
          <p:cNvPr id="60" name="Object 4">
            <a:extLst>
              <a:ext uri="{FF2B5EF4-FFF2-40B4-BE49-F238E27FC236}">
                <a16:creationId xmlns:a16="http://schemas.microsoft.com/office/drawing/2014/main" id="{FC3EE371-E2F2-30A8-B759-5DEB2AEE6AFF}"/>
              </a:ext>
            </a:extLst>
          </p:cNvPr>
          <p:cNvGraphicFramePr/>
          <p:nvPr>
            <p:extLst>
              <p:ext uri="{D42A27DB-BD31-4B8C-83A1-F6EECF244321}">
                <p14:modId xmlns:p14="http://schemas.microsoft.com/office/powerpoint/2010/main" val="2303752036"/>
              </p:ext>
            </p:extLst>
          </p:nvPr>
        </p:nvGraphicFramePr>
        <p:xfrm>
          <a:off x="4850421" y="3068756"/>
          <a:ext cx="2291911" cy="634590"/>
        </p:xfrm>
        <a:graphic>
          <a:graphicData uri="http://schemas.openxmlformats.org/presentationml/2006/ole">
            <mc:AlternateContent xmlns:mc="http://schemas.openxmlformats.org/markup-compatibility/2006">
              <mc:Choice xmlns:v="urn:schemas-microsoft-com:vml" Requires="v">
                <p:oleObj spid="_x0000_s9348" r:id="rId26" imgW="989965" imgH="241300" progId="Equation.3">
                  <p:embed/>
                </p:oleObj>
              </mc:Choice>
              <mc:Fallback>
                <p:oleObj r:id="rId26" imgW="989965" imgH="241300" progId="Equation.3">
                  <p:embed/>
                  <p:pic>
                    <p:nvPicPr>
                      <p:cNvPr id="427012" name="Object 4"/>
                      <p:cNvPicPr/>
                      <p:nvPr/>
                    </p:nvPicPr>
                    <p:blipFill>
                      <a:blip r:embed="rId27"/>
                      <a:stretch>
                        <a:fillRect/>
                      </a:stretch>
                    </p:blipFill>
                    <p:spPr>
                      <a:xfrm>
                        <a:off x="4850421" y="3068756"/>
                        <a:ext cx="2291911" cy="634590"/>
                      </a:xfrm>
                      <a:prstGeom prst="rect">
                        <a:avLst/>
                      </a:prstGeom>
                      <a:noFill/>
                      <a:ln w="12700" cap="flat" cmpd="sng">
                        <a:noFill/>
                        <a:prstDash val="solid"/>
                        <a:miter/>
                        <a:headEnd type="none" w="med" len="med"/>
                        <a:tailEnd type="none" w="med" len="med"/>
                      </a:ln>
                    </p:spPr>
                  </p:pic>
                </p:oleObj>
              </mc:Fallback>
            </mc:AlternateContent>
          </a:graphicData>
        </a:graphic>
      </p:graphicFrame>
      <p:sp>
        <p:nvSpPr>
          <p:cNvPr id="61" name="文本框 60">
            <a:extLst>
              <a:ext uri="{FF2B5EF4-FFF2-40B4-BE49-F238E27FC236}">
                <a16:creationId xmlns:a16="http://schemas.microsoft.com/office/drawing/2014/main" id="{11FE2534-47BE-B534-5670-BFE94765C911}"/>
              </a:ext>
            </a:extLst>
          </p:cNvPr>
          <p:cNvSpPr txBox="1"/>
          <p:nvPr/>
        </p:nvSpPr>
        <p:spPr>
          <a:xfrm>
            <a:off x="7670800" y="5348494"/>
            <a:ext cx="1620957" cy="523220"/>
          </a:xfrm>
          <a:prstGeom prst="rect">
            <a:avLst/>
          </a:prstGeom>
          <a:noFill/>
        </p:spPr>
        <p:txBody>
          <a:bodyPr wrap="none" rtlCol="0">
            <a:spAutoFit/>
          </a:bodyPr>
          <a:lstStyle/>
          <a:p>
            <a:r>
              <a:rPr lang="zh-CN" altLang="en-US" sz="2800" dirty="0"/>
              <a:t>泊松公式</a:t>
            </a:r>
          </a:p>
        </p:txBody>
      </p:sp>
      <p:graphicFrame>
        <p:nvGraphicFramePr>
          <p:cNvPr id="62" name="Object 8">
            <a:extLst>
              <a:ext uri="{FF2B5EF4-FFF2-40B4-BE49-F238E27FC236}">
                <a16:creationId xmlns:a16="http://schemas.microsoft.com/office/drawing/2014/main" id="{29C05BDF-14EF-2D57-DA08-4546117F040F}"/>
              </a:ext>
            </a:extLst>
          </p:cNvPr>
          <p:cNvGraphicFramePr/>
          <p:nvPr>
            <p:extLst>
              <p:ext uri="{D42A27DB-BD31-4B8C-83A1-F6EECF244321}">
                <p14:modId xmlns:p14="http://schemas.microsoft.com/office/powerpoint/2010/main" val="1216127899"/>
              </p:ext>
            </p:extLst>
          </p:nvPr>
        </p:nvGraphicFramePr>
        <p:xfrm>
          <a:off x="4991100" y="3735388"/>
          <a:ext cx="1767600" cy="549930"/>
        </p:xfrm>
        <a:graphic>
          <a:graphicData uri="http://schemas.openxmlformats.org/presentationml/2006/ole">
            <mc:AlternateContent xmlns:mc="http://schemas.openxmlformats.org/markup-compatibility/2006">
              <mc:Choice xmlns:v="urn:schemas-microsoft-com:vml" Requires="v">
                <p:oleObj spid="_x0000_s9349" r:id="rId5" imgW="913765" imgH="241300" progId="Equation.3">
                  <p:embed/>
                </p:oleObj>
              </mc:Choice>
              <mc:Fallback>
                <p:oleObj r:id="rId5" imgW="913765" imgH="241300" progId="Equation.3">
                  <p:embed/>
                  <p:pic>
                    <p:nvPicPr>
                      <p:cNvPr id="427016" name="Object 8"/>
                      <p:cNvPicPr/>
                      <p:nvPr/>
                    </p:nvPicPr>
                    <p:blipFill>
                      <a:blip r:embed="rId28"/>
                      <a:stretch>
                        <a:fillRect/>
                      </a:stretch>
                    </p:blipFill>
                    <p:spPr>
                      <a:xfrm>
                        <a:off x="4991100" y="3735388"/>
                        <a:ext cx="1767600" cy="549930"/>
                      </a:xfrm>
                      <a:prstGeom prst="rect">
                        <a:avLst/>
                      </a:prstGeom>
                      <a:noFill/>
                      <a:ln w="12700" cap="flat" cmpd="sng">
                        <a:noFill/>
                        <a:prstDash val="solid"/>
                        <a:miter/>
                        <a:headEnd type="none" w="med" len="med"/>
                        <a:tailEnd type="none" w="med" len="med"/>
                      </a:ln>
                    </p:spPr>
                  </p:pic>
                </p:oleObj>
              </mc:Fallback>
            </mc:AlternateContent>
          </a:graphicData>
        </a:graphic>
      </p:graphicFrame>
    </p:spTree>
    <p:extLst>
      <p:ext uri="{BB962C8B-B14F-4D97-AF65-F5344CB8AC3E}">
        <p14:creationId xmlns:p14="http://schemas.microsoft.com/office/powerpoint/2010/main" val="202281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58" grpId="0" animBg="1"/>
      <p:bldP spid="59" grpId="0"/>
      <p:bldP spid="6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816" name="Group 2"/>
          <p:cNvGrpSpPr/>
          <p:nvPr/>
        </p:nvGrpSpPr>
        <p:grpSpPr>
          <a:xfrm>
            <a:off x="2667000" y="838200"/>
            <a:ext cx="3124200" cy="3733800"/>
            <a:chOff x="720" y="528"/>
            <a:chExt cx="1968" cy="2352"/>
          </a:xfrm>
        </p:grpSpPr>
        <p:sp>
          <p:nvSpPr>
            <p:cNvPr id="33850" name="Rectangle 3"/>
            <p:cNvSpPr/>
            <p:nvPr/>
          </p:nvSpPr>
          <p:spPr>
            <a:xfrm>
              <a:off x="720" y="528"/>
              <a:ext cx="1968" cy="235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graphicFrame>
              <p:nvGraphicFramePr>
                <p:cNvPr id="33807" name="Object 4"/>
                <p:cNvGraphicFramePr/>
                <p:nvPr/>
              </p:nvGraphicFramePr>
              <p:xfrm>
                <a:off x="1429" y="1026"/>
                <a:ext cx="805" cy="272"/>
              </p:xfrm>
              <a:graphic>
                <a:graphicData uri="http://schemas.openxmlformats.org/presentationml/2006/ole">
                  <mc:AlternateContent>
                    <mc:Choice xmlns:v="urn:schemas-microsoft-com:vml" Requires="v">
                      <p:oleObj spid="_x0000_s10326" r:id="rId3" imgW="634365" imgH="215900" progId="Equation.3">
                        <p:embed/>
                      </p:oleObj>
                    </mc:Choice>
                    <mc:Fallback>
                      <p:oleObj r:id="rId3" imgW="634365" imgH="215900" progId="Equation.3">
                        <p:embed/>
                        <p:pic>
                          <p:nvPicPr>
                            <p:cNvPr id="33807" name="Object 4"/>
                            <p:cNvPicPr/>
                            <p:nvPr/>
                          </p:nvPicPr>
                          <p:blipFill>
                            <a:blip r:embed="rId4"/>
                            <a:stretch>
                              <a:fillRect/>
                            </a:stretch>
                          </p:blipFill>
                          <p:spPr>
                            <a:xfrm>
                              <a:off x="1429" y="1026"/>
                              <a:ext cx="805" cy="272"/>
                            </a:xfrm>
                            <a:prstGeom prst="rect">
                              <a:avLst/>
                            </a:prstGeom>
                            <a:noFill/>
                            <a:ln w="38100">
                              <a:noFill/>
                              <a:miter/>
                            </a:ln>
                          </p:spPr>
                        </p:pic>
                      </p:oleObj>
                    </mc:Fallback>
                  </mc:AlternateContent>
                </a:graphicData>
              </a:graphic>
            </p:graphicFrame>
          </mc:Choice>
          <mc:Fallback xmlns="">
            <p:graphicFrame>
              <p:nvGraphicFramePr>
                <p:cNvPr id="33807" name="Object 4"/>
                <p:cNvGraphicFramePr/>
                <p:nvPr/>
              </p:nvGraphicFramePr>
              <p:xfrm>
                <a:off x="1429" y="1026"/>
                <a:ext cx="805" cy="272"/>
              </p:xfrm>
              <a:graphic>
                <a:graphicData uri="http://schemas.openxmlformats.org/presentationml/2006/ole">
                  <mc:AlternateContent>
                    <mc:Choice xmlns:v="urn:schemas-microsoft-com:vml" Requires="v">
                      <p:oleObj spid="_x0000_s31888" r:id="rId5" imgW="634365" imgH="215900" progId="Equation.3">
                        <p:embed/>
                      </p:oleObj>
                    </mc:Choice>
                    <mc:Fallback>
                      <p:oleObj r:id="rId5" imgW="634365" imgH="215900" progId="Equation.3">
                        <p:embed/>
                        <p:pic>
                          <p:nvPicPr>
                            <p:cNvPr id="33807" name="Object 4"/>
                            <p:cNvPicPr/>
                            <p:nvPr/>
                          </p:nvPicPr>
                          <p:blipFill>
                            <a:blip r:embed="rId6"/>
                            <a:stretch>
                              <a:fillRect/>
                            </a:stretch>
                          </p:blipFill>
                          <p:spPr>
                            <a:xfrm>
                              <a:off x="1429" y="1026"/>
                              <a:ext cx="805" cy="272"/>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33808" name="Object 5"/>
                <p:cNvGraphicFramePr/>
                <p:nvPr/>
              </p:nvGraphicFramePr>
              <p:xfrm>
                <a:off x="1882" y="1797"/>
                <a:ext cx="761" cy="284"/>
              </p:xfrm>
              <a:graphic>
                <a:graphicData uri="http://schemas.openxmlformats.org/presentationml/2006/ole">
                  <mc:AlternateContent>
                    <mc:Choice xmlns:v="urn:schemas-microsoft-com:vml" Requires="v">
                      <p:oleObj spid="_x0000_s10327" r:id="rId7" imgW="685165" imgH="215900" progId="Equation.3">
                        <p:embed/>
                      </p:oleObj>
                    </mc:Choice>
                    <mc:Fallback>
                      <p:oleObj r:id="rId7" imgW="685165" imgH="215900" progId="Equation.3">
                        <p:embed/>
                        <p:pic>
                          <p:nvPicPr>
                            <p:cNvPr id="33808" name="Object 5"/>
                            <p:cNvPicPr/>
                            <p:nvPr/>
                          </p:nvPicPr>
                          <p:blipFill>
                            <a:blip r:embed="rId8"/>
                            <a:stretch>
                              <a:fillRect/>
                            </a:stretch>
                          </p:blipFill>
                          <p:spPr>
                            <a:xfrm>
                              <a:off x="1882" y="1797"/>
                              <a:ext cx="761" cy="284"/>
                            </a:xfrm>
                            <a:prstGeom prst="rect">
                              <a:avLst/>
                            </a:prstGeom>
                            <a:noFill/>
                            <a:ln w="38100">
                              <a:noFill/>
                              <a:miter/>
                            </a:ln>
                          </p:spPr>
                        </p:pic>
                      </p:oleObj>
                    </mc:Fallback>
                  </mc:AlternateContent>
                </a:graphicData>
              </a:graphic>
            </p:graphicFrame>
          </mc:Choice>
          <mc:Fallback xmlns="">
            <p:graphicFrame>
              <p:nvGraphicFramePr>
                <p:cNvPr id="33808" name="Object 5"/>
                <p:cNvGraphicFramePr/>
                <p:nvPr/>
              </p:nvGraphicFramePr>
              <p:xfrm>
                <a:off x="1882" y="1797"/>
                <a:ext cx="761" cy="284"/>
              </p:xfrm>
              <a:graphic>
                <a:graphicData uri="http://schemas.openxmlformats.org/presentationml/2006/ole">
                  <mc:AlternateContent>
                    <mc:Choice xmlns:v="urn:schemas-microsoft-com:vml" Requires="v">
                      <p:oleObj spid="_x0000_s31889" r:id="rId9" imgW="685165" imgH="215900" progId="Equation.3">
                        <p:embed/>
                      </p:oleObj>
                    </mc:Choice>
                    <mc:Fallback>
                      <p:oleObj r:id="rId9" imgW="685165" imgH="215900" progId="Equation.3">
                        <p:embed/>
                        <p:pic>
                          <p:nvPicPr>
                            <p:cNvPr id="33808" name="Object 5"/>
                            <p:cNvPicPr/>
                            <p:nvPr/>
                          </p:nvPicPr>
                          <p:blipFill>
                            <a:blip r:embed="rId10"/>
                            <a:stretch>
                              <a:fillRect/>
                            </a:stretch>
                          </p:blipFill>
                          <p:spPr>
                            <a:xfrm>
                              <a:off x="1882" y="1797"/>
                              <a:ext cx="761" cy="284"/>
                            </a:xfrm>
                            <a:prstGeom prst="rect">
                              <a:avLst/>
                            </a:prstGeom>
                            <a:noFill/>
                            <a:ln w="38100">
                              <a:noFill/>
                              <a:miter/>
                            </a:ln>
                          </p:spPr>
                        </p:pic>
                      </p:oleObj>
                    </mc:Fallback>
                  </mc:AlternateContent>
                </a:graphicData>
              </a:graphic>
            </p:graphicFrame>
          </mc:Fallback>
        </mc:AlternateContent>
        <p:sp>
          <p:nvSpPr>
            <p:cNvPr id="33851" name="Line 6"/>
            <p:cNvSpPr/>
            <p:nvPr/>
          </p:nvSpPr>
          <p:spPr>
            <a:xfrm flipV="1">
              <a:off x="1018" y="2538"/>
              <a:ext cx="1483" cy="8"/>
            </a:xfrm>
            <a:prstGeom prst="line">
              <a:avLst/>
            </a:prstGeom>
            <a:ln w="19050" cap="flat" cmpd="sng">
              <a:solidFill>
                <a:schemeClr val="tx1"/>
              </a:solidFill>
              <a:prstDash val="solid"/>
              <a:headEnd type="none" w="med" len="med"/>
              <a:tailEnd type="triangle" w="sm" len="lg"/>
            </a:ln>
          </p:spPr>
        </p:sp>
        <p:sp>
          <p:nvSpPr>
            <p:cNvPr id="33852" name="Arc 7"/>
            <p:cNvSpPr/>
            <p:nvPr/>
          </p:nvSpPr>
          <p:spPr>
            <a:xfrm flipH="1" flipV="1">
              <a:off x="1348" y="998"/>
              <a:ext cx="1037" cy="1193"/>
            </a:xfrm>
            <a:custGeom>
              <a:avLst/>
              <a:gdLst>
                <a:gd name="txL" fmla="*/ 0 w 21059"/>
                <a:gd name="txT" fmla="*/ 0 h 21281"/>
                <a:gd name="txR" fmla="*/ 21059 w 21059"/>
                <a:gd name="txB" fmla="*/ 21281 h 21281"/>
              </a:gdLst>
              <a:ahLst/>
              <a:cxnLst>
                <a:cxn ang="0">
                  <a:pos x="9" y="0"/>
                </a:cxn>
                <a:cxn ang="0">
                  <a:pos x="51" y="52"/>
                </a:cxn>
                <a:cxn ang="0">
                  <a:pos x="0" y="67"/>
                </a:cxn>
              </a:cxnLst>
              <a:rect l="txL" t="txT" r="txR" b="txB"/>
              <a:pathLst>
                <a:path w="21059" h="21281" fill="none">
                  <a:moveTo>
                    <a:pt x="3698" y="0"/>
                  </a:moveTo>
                  <a:cubicBezTo>
                    <a:pt x="12277" y="1491"/>
                    <a:pt x="19121" y="7986"/>
                    <a:pt x="21058" y="16475"/>
                  </a:cubicBezTo>
                </a:path>
                <a:path w="21059" h="21281" stroke="0">
                  <a:moveTo>
                    <a:pt x="3698" y="0"/>
                  </a:moveTo>
                  <a:cubicBezTo>
                    <a:pt x="12277" y="1491"/>
                    <a:pt x="19121" y="7986"/>
                    <a:pt x="21058" y="16475"/>
                  </a:cubicBezTo>
                  <a:lnTo>
                    <a:pt x="0" y="21281"/>
                  </a:lnTo>
                  <a:close/>
                </a:path>
              </a:pathLst>
            </a:custGeom>
            <a:noFill/>
            <a:ln w="25400" cap="flat" cmpd="sng">
              <a:solidFill>
                <a:srgbClr val="0000FF">
                  <a:alpha val="100000"/>
                </a:srgbClr>
              </a:solidFill>
              <a:prstDash val="solid"/>
              <a:round/>
              <a:headEnd type="none" w="med" len="med"/>
              <a:tailEnd type="none" w="med" len="med"/>
            </a:ln>
          </p:spPr>
          <p:txBody>
            <a:bodyPr/>
            <a:lstStyle/>
            <a:p>
              <a:endParaRPr lang="zh-CN" altLang="en-US"/>
            </a:p>
          </p:txBody>
        </p:sp>
        <p:sp>
          <p:nvSpPr>
            <p:cNvPr id="33853" name="Line 8"/>
            <p:cNvSpPr/>
            <p:nvPr/>
          </p:nvSpPr>
          <p:spPr>
            <a:xfrm flipH="1">
              <a:off x="1348" y="1297"/>
              <a:ext cx="14" cy="1249"/>
            </a:xfrm>
            <a:prstGeom prst="line">
              <a:avLst/>
            </a:prstGeom>
            <a:ln w="12700" cap="flat" cmpd="sng">
              <a:solidFill>
                <a:schemeClr val="tx1"/>
              </a:solidFill>
              <a:prstDash val="dash"/>
              <a:headEnd type="none" w="med" len="med"/>
              <a:tailEnd type="none" w="med" len="med"/>
            </a:ln>
          </p:spPr>
        </p:sp>
        <p:sp>
          <p:nvSpPr>
            <p:cNvPr id="33854" name="Line 9"/>
            <p:cNvSpPr/>
            <p:nvPr/>
          </p:nvSpPr>
          <p:spPr>
            <a:xfrm>
              <a:off x="2212" y="2204"/>
              <a:ext cx="0" cy="342"/>
            </a:xfrm>
            <a:prstGeom prst="line">
              <a:avLst/>
            </a:prstGeom>
            <a:ln w="12700" cap="flat" cmpd="sng">
              <a:solidFill>
                <a:schemeClr val="tx1"/>
              </a:solidFill>
              <a:prstDash val="dash"/>
              <a:headEnd type="none" w="med" len="med"/>
              <a:tailEnd type="none" w="med" len="med"/>
            </a:ln>
          </p:spPr>
        </p:sp>
        <p:sp>
          <p:nvSpPr>
            <p:cNvPr id="33855" name="Line 10"/>
            <p:cNvSpPr/>
            <p:nvPr/>
          </p:nvSpPr>
          <p:spPr>
            <a:xfrm flipH="1">
              <a:off x="1034" y="1254"/>
              <a:ext cx="314" cy="0"/>
            </a:xfrm>
            <a:prstGeom prst="line">
              <a:avLst/>
            </a:prstGeom>
            <a:ln w="12700" cap="flat" cmpd="sng">
              <a:solidFill>
                <a:schemeClr val="tx1"/>
              </a:solidFill>
              <a:prstDash val="dash"/>
              <a:headEnd type="none" w="med" len="med"/>
              <a:tailEnd type="none" w="med" len="med"/>
            </a:ln>
          </p:spPr>
        </p:sp>
        <p:sp>
          <p:nvSpPr>
            <p:cNvPr id="33856" name="Text Box 11"/>
            <p:cNvSpPr txBox="1"/>
            <p:nvPr/>
          </p:nvSpPr>
          <p:spPr>
            <a:xfrm>
              <a:off x="1233" y="1008"/>
              <a:ext cx="276" cy="288"/>
            </a:xfrm>
            <a:prstGeom prst="rect">
              <a:avLst/>
            </a:prstGeom>
            <a:noFill/>
            <a:ln w="9525">
              <a:noFill/>
            </a:ln>
          </p:spPr>
          <p:txBody>
            <a:bodyPr>
              <a:spAutoFit/>
            </a:bodyPr>
            <a:lstStyle/>
            <a:p>
              <a:pPr>
                <a:spcBef>
                  <a:spcPct val="50000"/>
                </a:spcBef>
              </a:pPr>
              <a:r>
                <a:rPr lang="en-US" altLang="zh-CN" sz="2400" b="1" dirty="0">
                  <a:solidFill>
                    <a:srgbClr val="A50021"/>
                  </a:solidFill>
                  <a:latin typeface="Times New Roman" panose="02020603050405020304" pitchFamily="18" charset="0"/>
                </a:rPr>
                <a:t>1</a:t>
              </a:r>
            </a:p>
          </p:txBody>
        </p:sp>
        <p:sp>
          <p:nvSpPr>
            <p:cNvPr id="33857" name="Text Box 12"/>
            <p:cNvSpPr txBox="1"/>
            <p:nvPr/>
          </p:nvSpPr>
          <p:spPr>
            <a:xfrm>
              <a:off x="2200" y="2069"/>
              <a:ext cx="196" cy="288"/>
            </a:xfrm>
            <a:prstGeom prst="rect">
              <a:avLst/>
            </a:prstGeom>
            <a:noFill/>
            <a:ln w="9525">
              <a:noFill/>
            </a:ln>
          </p:spPr>
          <p:txBody>
            <a:bodyPr>
              <a:spAutoFit/>
            </a:bodyPr>
            <a:lstStyle/>
            <a:p>
              <a:pPr>
                <a:spcBef>
                  <a:spcPct val="50000"/>
                </a:spcBef>
              </a:pPr>
              <a:r>
                <a:rPr lang="en-US" altLang="zh-CN" sz="2400" b="1" dirty="0">
                  <a:solidFill>
                    <a:srgbClr val="A50021"/>
                  </a:solidFill>
                  <a:latin typeface="Times New Roman" panose="02020603050405020304" pitchFamily="18" charset="0"/>
                </a:rPr>
                <a:t>2</a:t>
              </a:r>
              <a:endParaRPr lang="en-US" altLang="zh-CN" sz="24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3809" name="Object 13"/>
                <p:cNvSpPr txBox="1"/>
                <p:nvPr/>
              </p:nvSpPr>
              <p:spPr>
                <a:xfrm>
                  <a:off x="763" y="1169"/>
                  <a:ext cx="252" cy="2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33809" name="Object 13"/>
                <p:cNvSpPr txBox="1">
                  <a:spLocks noRot="1" noChangeAspect="1" noMove="1" noResize="1" noEditPoints="1" noAdjustHandles="1" noChangeArrowheads="1" noChangeShapeType="1" noTextEdit="1"/>
                </p:cNvSpPr>
                <p:nvPr/>
              </p:nvSpPr>
              <p:spPr>
                <a:xfrm>
                  <a:off x="763" y="1169"/>
                  <a:ext cx="252" cy="256"/>
                </a:xfrm>
                <a:prstGeom prst="rect">
                  <a:avLst/>
                </a:prstGeom>
                <a:blipFill>
                  <a:blip r:embed="rId11"/>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10" name="Object 14"/>
                <p:cNvSpPr txBox="1"/>
                <p:nvPr/>
              </p:nvSpPr>
              <p:spPr>
                <a:xfrm>
                  <a:off x="763" y="2035"/>
                  <a:ext cx="241" cy="24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33810" name="Object 14"/>
                <p:cNvSpPr txBox="1">
                  <a:spLocks noRot="1" noChangeAspect="1" noMove="1" noResize="1" noEditPoints="1" noAdjustHandles="1" noChangeArrowheads="1" noChangeShapeType="1" noTextEdit="1"/>
                </p:cNvSpPr>
                <p:nvPr/>
              </p:nvSpPr>
              <p:spPr>
                <a:xfrm>
                  <a:off x="763" y="2035"/>
                  <a:ext cx="241" cy="246"/>
                </a:xfrm>
                <a:prstGeom prst="rect">
                  <a:avLst/>
                </a:prstGeom>
                <a:blipFill>
                  <a:blip r:embed="rId12"/>
                  <a:stretch>
                    <a:fillRect b="-156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11" name="Object 15"/>
                <p:cNvSpPr txBox="1"/>
                <p:nvPr/>
              </p:nvSpPr>
              <p:spPr>
                <a:xfrm>
                  <a:off x="1276" y="2506"/>
                  <a:ext cx="243" cy="34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33811" name="Object 15"/>
                <p:cNvSpPr txBox="1">
                  <a:spLocks noRot="1" noChangeAspect="1" noMove="1" noResize="1" noEditPoints="1" noAdjustHandles="1" noChangeArrowheads="1" noChangeShapeType="1" noTextEdit="1"/>
                </p:cNvSpPr>
                <p:nvPr/>
              </p:nvSpPr>
              <p:spPr>
                <a:xfrm>
                  <a:off x="1276" y="2506"/>
                  <a:ext cx="243" cy="342"/>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12" name="Object 16"/>
                <p:cNvSpPr txBox="1"/>
                <p:nvPr/>
              </p:nvSpPr>
              <p:spPr>
                <a:xfrm>
                  <a:off x="2074" y="2506"/>
                  <a:ext cx="272" cy="34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33812" name="Object 16"/>
                <p:cNvSpPr txBox="1">
                  <a:spLocks noRot="1" noChangeAspect="1" noMove="1" noResize="1" noEditPoints="1" noAdjustHandles="1" noChangeArrowheads="1" noChangeShapeType="1" noTextEdit="1"/>
                </p:cNvSpPr>
                <p:nvPr/>
              </p:nvSpPr>
              <p:spPr>
                <a:xfrm>
                  <a:off x="2074" y="2506"/>
                  <a:ext cx="272" cy="345"/>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13" name="Object 17"/>
                <p:cNvSpPr txBox="1"/>
                <p:nvPr/>
              </p:nvSpPr>
              <p:spPr>
                <a:xfrm>
                  <a:off x="806" y="998"/>
                  <a:ext cx="174" cy="224"/>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𝑝</m:t>
                        </m:r>
                      </m:oMath>
                    </m:oMathPara>
                  </a14:m>
                  <a:endParaRPr lang="en-US"/>
                </a:p>
              </p:txBody>
            </p:sp>
          </mc:Choice>
          <mc:Fallback xmlns="">
            <p:sp>
              <p:nvSpPr>
                <p:cNvPr id="33813" name="Object 17"/>
                <p:cNvSpPr txBox="1">
                  <a:spLocks noRot="1" noChangeAspect="1" noMove="1" noResize="1" noEditPoints="1" noAdjustHandles="1" noChangeArrowheads="1" noChangeShapeType="1" noTextEdit="1"/>
                </p:cNvSpPr>
                <p:nvPr/>
              </p:nvSpPr>
              <p:spPr>
                <a:xfrm>
                  <a:off x="806" y="998"/>
                  <a:ext cx="174" cy="224"/>
                </a:xfrm>
                <a:prstGeom prst="rect">
                  <a:avLst/>
                </a:prstGeom>
                <a:blipFill>
                  <a:blip r:embed="rId15"/>
                  <a:stretch>
                    <a:fillRect r="-4444" b="-517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14" name="Object 18"/>
                <p:cNvSpPr txBox="1"/>
                <p:nvPr/>
              </p:nvSpPr>
              <p:spPr>
                <a:xfrm>
                  <a:off x="2346" y="2588"/>
                  <a:ext cx="160" cy="196"/>
                </a:xfrm>
                <a:prstGeom prst="rect">
                  <a:avLst/>
                </a:prstGeom>
                <a:noFill/>
                <a:ln w="38100">
                  <a:noFill/>
                  <a:miter/>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𝑉</m:t>
                        </m:r>
                      </m:oMath>
                    </m:oMathPara>
                  </a14:m>
                  <a:endParaRPr lang="en-US"/>
                </a:p>
              </p:txBody>
            </p:sp>
          </mc:Choice>
          <mc:Fallback xmlns="">
            <p:sp>
              <p:nvSpPr>
                <p:cNvPr id="33814" name="Object 18"/>
                <p:cNvSpPr txBox="1">
                  <a:spLocks noRot="1" noChangeAspect="1" noMove="1" noResize="1" noEditPoints="1" noAdjustHandles="1" noChangeArrowheads="1" noChangeShapeType="1" noTextEdit="1"/>
                </p:cNvSpPr>
                <p:nvPr/>
              </p:nvSpPr>
              <p:spPr>
                <a:xfrm>
                  <a:off x="2346" y="2588"/>
                  <a:ext cx="160" cy="196"/>
                </a:xfrm>
                <a:prstGeom prst="rect">
                  <a:avLst/>
                </a:prstGeom>
                <a:blipFill>
                  <a:blip r:embed="rId16"/>
                  <a:stretch>
                    <a:fillRect r="-23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15" name="Object 19"/>
                <p:cNvSpPr txBox="1"/>
                <p:nvPr/>
              </p:nvSpPr>
              <p:spPr>
                <a:xfrm>
                  <a:off x="956" y="2546"/>
                  <a:ext cx="143" cy="181"/>
                </a:xfrm>
                <a:prstGeom prst="rect">
                  <a:avLst/>
                </a:prstGeom>
                <a:noFill/>
                <a:ln w="38100">
                  <a:noFill/>
                  <a:miter/>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𝑜</m:t>
                        </m:r>
                      </m:oMath>
                    </m:oMathPara>
                  </a14:m>
                  <a:endParaRPr lang="en-US"/>
                </a:p>
              </p:txBody>
            </p:sp>
          </mc:Choice>
          <mc:Fallback xmlns="">
            <p:sp>
              <p:nvSpPr>
                <p:cNvPr id="33815" name="Object 19"/>
                <p:cNvSpPr txBox="1">
                  <a:spLocks noRot="1" noChangeAspect="1" noMove="1" noResize="1" noEditPoints="1" noAdjustHandles="1" noChangeArrowheads="1" noChangeShapeType="1" noTextEdit="1"/>
                </p:cNvSpPr>
                <p:nvPr/>
              </p:nvSpPr>
              <p:spPr>
                <a:xfrm>
                  <a:off x="956" y="2546"/>
                  <a:ext cx="143" cy="181"/>
                </a:xfrm>
                <a:prstGeom prst="rect">
                  <a:avLst/>
                </a:prstGeom>
                <a:blipFill>
                  <a:blip r:embed="rId17"/>
                  <a:stretch>
                    <a:fillRect/>
                  </a:stretch>
                </a:blipFill>
                <a:ln w="38100">
                  <a:noFill/>
                  <a:miter/>
                </a:ln>
              </p:spPr>
              <p:txBody>
                <a:bodyPr/>
                <a:lstStyle/>
                <a:p>
                  <a:r>
                    <a:rPr lang="zh-CN" altLang="en-US">
                      <a:noFill/>
                    </a:rPr>
                    <a:t> </a:t>
                  </a:r>
                </a:p>
              </p:txBody>
            </p:sp>
          </mc:Fallback>
        </mc:AlternateContent>
        <p:sp>
          <p:nvSpPr>
            <p:cNvPr id="33858" name="Line 20"/>
            <p:cNvSpPr/>
            <p:nvPr/>
          </p:nvSpPr>
          <p:spPr>
            <a:xfrm flipV="1">
              <a:off x="1019" y="1040"/>
              <a:ext cx="0" cy="1498"/>
            </a:xfrm>
            <a:prstGeom prst="line">
              <a:avLst/>
            </a:prstGeom>
            <a:ln w="19050" cap="flat" cmpd="sng">
              <a:solidFill>
                <a:schemeClr val="tx1"/>
              </a:solidFill>
              <a:prstDash val="solid"/>
              <a:headEnd type="none" w="med" len="med"/>
              <a:tailEnd type="triangle" w="sm" len="lg"/>
            </a:ln>
          </p:spPr>
        </p:sp>
        <p:sp>
          <p:nvSpPr>
            <p:cNvPr id="33859" name="Freeform 21" descr="浅色下对角线"/>
            <p:cNvSpPr/>
            <p:nvPr/>
          </p:nvSpPr>
          <p:spPr>
            <a:xfrm>
              <a:off x="1341" y="1275"/>
              <a:ext cx="869" cy="1248"/>
            </a:xfrm>
            <a:custGeom>
              <a:avLst/>
              <a:gdLst>
                <a:gd name="txL" fmla="*/ 0 w 912"/>
                <a:gd name="txT" fmla="*/ 0 h 1248"/>
                <a:gd name="txR" fmla="*/ 912 w 912"/>
                <a:gd name="txB" fmla="*/ 1248 h 1248"/>
              </a:gdLst>
              <a:ahLst/>
              <a:cxnLst>
                <a:cxn ang="0">
                  <a:pos x="0" y="0"/>
                </a:cxn>
                <a:cxn ang="0">
                  <a:pos x="27" y="94"/>
                </a:cxn>
                <a:cxn ang="0">
                  <a:pos x="20" y="1248"/>
                </a:cxn>
                <a:cxn ang="0">
                  <a:pos x="869" y="1248"/>
                </a:cxn>
                <a:cxn ang="0">
                  <a:pos x="863" y="940"/>
                </a:cxn>
                <a:cxn ang="0">
                  <a:pos x="693" y="885"/>
                </a:cxn>
                <a:cxn ang="0">
                  <a:pos x="549" y="816"/>
                </a:cxn>
                <a:cxn ang="0">
                  <a:pos x="425" y="727"/>
                </a:cxn>
                <a:cxn ang="0">
                  <a:pos x="338" y="644"/>
                </a:cxn>
                <a:cxn ang="0">
                  <a:pos x="210" y="508"/>
                </a:cxn>
                <a:cxn ang="0">
                  <a:pos x="111" y="357"/>
                </a:cxn>
                <a:cxn ang="0">
                  <a:pos x="46" y="186"/>
                </a:cxn>
                <a:cxn ang="0">
                  <a:pos x="0" y="0"/>
                </a:cxn>
              </a:cxnLst>
              <a:rect l="txL" t="txT" r="txR" b="txB"/>
              <a:pathLst>
                <a:path w="912" h="1248">
                  <a:moveTo>
                    <a:pt x="0" y="0"/>
                  </a:moveTo>
                  <a:cubicBezTo>
                    <a:pt x="9" y="76"/>
                    <a:pt x="28" y="9"/>
                    <a:pt x="28" y="94"/>
                  </a:cubicBezTo>
                  <a:lnTo>
                    <a:pt x="21" y="1248"/>
                  </a:lnTo>
                  <a:lnTo>
                    <a:pt x="912" y="1248"/>
                  </a:lnTo>
                  <a:lnTo>
                    <a:pt x="906" y="940"/>
                  </a:lnTo>
                  <a:lnTo>
                    <a:pt x="727" y="885"/>
                  </a:lnTo>
                  <a:lnTo>
                    <a:pt x="576" y="816"/>
                  </a:lnTo>
                  <a:lnTo>
                    <a:pt x="446" y="727"/>
                  </a:lnTo>
                  <a:lnTo>
                    <a:pt x="355" y="644"/>
                  </a:lnTo>
                  <a:lnTo>
                    <a:pt x="220" y="508"/>
                  </a:lnTo>
                  <a:lnTo>
                    <a:pt x="117" y="357"/>
                  </a:lnTo>
                  <a:lnTo>
                    <a:pt x="48" y="186"/>
                  </a:lnTo>
                  <a:lnTo>
                    <a:pt x="0" y="0"/>
                  </a:lnTo>
                  <a:close/>
                </a:path>
              </a:pathLst>
            </a:custGeom>
            <a:pattFill prst="ltDnDiag">
              <a:fgClr>
                <a:srgbClr val="CC0099">
                  <a:alpha val="100000"/>
                </a:srgbClr>
              </a:fgClr>
              <a:bgClr>
                <a:schemeClr val="bg1">
                  <a:alpha val="100000"/>
                </a:schemeClr>
              </a:bgClr>
            </a:pattFill>
            <a:ln w="9525">
              <a:noFill/>
            </a:ln>
          </p:spPr>
          <p:txBody>
            <a:bodyPr/>
            <a:lstStyle/>
            <a:p>
              <a:endParaRPr lang="zh-CN" altLang="en-US"/>
            </a:p>
          </p:txBody>
        </p:sp>
        <p:sp>
          <p:nvSpPr>
            <p:cNvPr id="33860" name="Line 22"/>
            <p:cNvSpPr/>
            <p:nvPr/>
          </p:nvSpPr>
          <p:spPr>
            <a:xfrm flipH="1">
              <a:off x="1034" y="2204"/>
              <a:ext cx="1178" cy="0"/>
            </a:xfrm>
            <a:prstGeom prst="line">
              <a:avLst/>
            </a:prstGeom>
            <a:ln w="12700" cap="flat" cmpd="sng">
              <a:solidFill>
                <a:schemeClr val="tx1"/>
              </a:solidFill>
              <a:prstDash val="dash"/>
              <a:headEnd type="none" w="med" len="med"/>
              <a:tailEnd type="none" w="med" len="med"/>
            </a:ln>
          </p:spPr>
        </p:sp>
        <p:sp>
          <p:nvSpPr>
            <p:cNvPr id="33861" name="Line 23"/>
            <p:cNvSpPr/>
            <p:nvPr/>
          </p:nvSpPr>
          <p:spPr>
            <a:xfrm>
              <a:off x="1490" y="1650"/>
              <a:ext cx="79" cy="128"/>
            </a:xfrm>
            <a:prstGeom prst="line">
              <a:avLst/>
            </a:prstGeom>
            <a:ln w="38100" cap="flat" cmpd="sng">
              <a:solidFill>
                <a:srgbClr val="0000FF"/>
              </a:solidFill>
              <a:prstDash val="solid"/>
              <a:headEnd type="none" w="med" len="med"/>
              <a:tailEnd type="triangle" w="sm" len="lg"/>
            </a:ln>
          </p:spPr>
        </p:sp>
        <p:sp>
          <p:nvSpPr>
            <p:cNvPr id="33862" name="Text Box 24"/>
            <p:cNvSpPr txBox="1"/>
            <p:nvPr/>
          </p:nvSpPr>
          <p:spPr>
            <a:xfrm>
              <a:off x="1590" y="2160"/>
              <a:ext cx="366" cy="329"/>
            </a:xfrm>
            <a:prstGeom prst="rect">
              <a:avLst/>
            </a:prstGeom>
            <a:noFill/>
            <a:ln w="9525">
              <a:noFill/>
            </a:ln>
          </p:spPr>
          <p:txBody>
            <a:bodyPr>
              <a:spAutoFit/>
            </a:bodyPr>
            <a:lstStyle/>
            <a:p>
              <a:pPr eaLnBrk="1" hangingPunct="1">
                <a:spcBef>
                  <a:spcPct val="50000"/>
                </a:spcBef>
              </a:pPr>
              <a:r>
                <a:rPr lang="en-US" altLang="zh-CN" sz="2800" b="1" i="1" dirty="0">
                  <a:solidFill>
                    <a:srgbClr val="CC0000"/>
                  </a:solidFill>
                  <a:latin typeface="Times New Roman" panose="02020603050405020304" pitchFamily="18" charset="0"/>
                </a:rPr>
                <a:t>A</a:t>
              </a:r>
            </a:p>
          </p:txBody>
        </p:sp>
        <p:sp>
          <p:nvSpPr>
            <p:cNvPr id="33863" name="Text Box 25"/>
            <p:cNvSpPr txBox="1"/>
            <p:nvPr/>
          </p:nvSpPr>
          <p:spPr>
            <a:xfrm>
              <a:off x="1132" y="576"/>
              <a:ext cx="1510" cy="365"/>
            </a:xfrm>
            <a:prstGeom prst="rect">
              <a:avLst/>
            </a:prstGeom>
            <a:noFill/>
            <a:ln w="9525">
              <a:noFill/>
            </a:ln>
          </p:spPr>
          <p:txBody>
            <a:bodyPr>
              <a:spAutoFit/>
            </a:bodyPr>
            <a:lstStyle/>
            <a:p>
              <a:pPr>
                <a:spcBef>
                  <a:spcPct val="50000"/>
                </a:spcBef>
              </a:pPr>
              <a:r>
                <a:rPr lang="zh-CN" altLang="en-US" sz="3200" b="1" dirty="0">
                  <a:solidFill>
                    <a:srgbClr val="333333"/>
                  </a:solidFill>
                  <a:latin typeface="Times New Roman" panose="02020603050405020304" pitchFamily="18" charset="0"/>
                </a:rPr>
                <a:t>绝热</a:t>
              </a:r>
              <a:r>
                <a:rPr lang="zh-CN" altLang="en-US" sz="3200" b="1" dirty="0">
                  <a:solidFill>
                    <a:srgbClr val="CC0000"/>
                  </a:solidFill>
                  <a:latin typeface="Times New Roman" panose="02020603050405020304" pitchFamily="18" charset="0"/>
                </a:rPr>
                <a:t>膨胀</a:t>
              </a:r>
            </a:p>
          </p:txBody>
        </p:sp>
      </p:grpSp>
      <p:grpSp>
        <p:nvGrpSpPr>
          <p:cNvPr id="33817" name="Group 26"/>
          <p:cNvGrpSpPr/>
          <p:nvPr/>
        </p:nvGrpSpPr>
        <p:grpSpPr>
          <a:xfrm>
            <a:off x="6600826" y="908050"/>
            <a:ext cx="2951163" cy="3600450"/>
            <a:chOff x="3198" y="572"/>
            <a:chExt cx="1859" cy="2268"/>
          </a:xfrm>
        </p:grpSpPr>
        <p:sp>
          <p:nvSpPr>
            <p:cNvPr id="33836" name="Rectangle 27"/>
            <p:cNvSpPr/>
            <p:nvPr/>
          </p:nvSpPr>
          <p:spPr>
            <a:xfrm>
              <a:off x="3198" y="572"/>
              <a:ext cx="1859" cy="2268"/>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graphicFrame>
              <p:nvGraphicFramePr>
                <p:cNvPr id="33798" name="Object 28"/>
                <p:cNvGraphicFramePr/>
                <p:nvPr/>
              </p:nvGraphicFramePr>
              <p:xfrm>
                <a:off x="4208" y="1784"/>
                <a:ext cx="790" cy="274"/>
              </p:xfrm>
              <a:graphic>
                <a:graphicData uri="http://schemas.openxmlformats.org/presentationml/2006/ole">
                  <mc:AlternateContent>
                    <mc:Choice xmlns:v="urn:schemas-microsoft-com:vml" Requires="v">
                      <p:oleObj spid="_x0000_s10328" r:id="rId18" imgW="634365" imgH="215900" progId="Equation.3">
                        <p:embed/>
                      </p:oleObj>
                    </mc:Choice>
                    <mc:Fallback>
                      <p:oleObj r:id="rId18" imgW="634365" imgH="215900" progId="Equation.3">
                        <p:embed/>
                        <p:pic>
                          <p:nvPicPr>
                            <p:cNvPr id="33798" name="Object 28"/>
                            <p:cNvPicPr/>
                            <p:nvPr/>
                          </p:nvPicPr>
                          <p:blipFill>
                            <a:blip r:embed="rId19"/>
                            <a:stretch>
                              <a:fillRect/>
                            </a:stretch>
                          </p:blipFill>
                          <p:spPr>
                            <a:xfrm>
                              <a:off x="4208" y="1784"/>
                              <a:ext cx="790" cy="274"/>
                            </a:xfrm>
                            <a:prstGeom prst="rect">
                              <a:avLst/>
                            </a:prstGeom>
                            <a:noFill/>
                            <a:ln w="38100">
                              <a:noFill/>
                              <a:miter/>
                            </a:ln>
                          </p:spPr>
                        </p:pic>
                      </p:oleObj>
                    </mc:Fallback>
                  </mc:AlternateContent>
                </a:graphicData>
              </a:graphic>
            </p:graphicFrame>
          </mc:Choice>
          <mc:Fallback xmlns="">
            <p:graphicFrame>
              <p:nvGraphicFramePr>
                <p:cNvPr id="33798" name="Object 28"/>
                <p:cNvGraphicFramePr/>
                <p:nvPr/>
              </p:nvGraphicFramePr>
              <p:xfrm>
                <a:off x="4208" y="1784"/>
                <a:ext cx="790" cy="274"/>
              </p:xfrm>
              <a:graphic>
                <a:graphicData uri="http://schemas.openxmlformats.org/presentationml/2006/ole">
                  <mc:AlternateContent>
                    <mc:Choice xmlns:v="urn:schemas-microsoft-com:vml" Requires="v">
                      <p:oleObj spid="_x0000_s31890" r:id="rId20" imgW="634365" imgH="215900" progId="Equation.3">
                        <p:embed/>
                      </p:oleObj>
                    </mc:Choice>
                    <mc:Fallback>
                      <p:oleObj r:id="rId20" imgW="634365" imgH="215900" progId="Equation.3">
                        <p:embed/>
                        <p:pic>
                          <p:nvPicPr>
                            <p:cNvPr id="33798" name="Object 28"/>
                            <p:cNvPicPr/>
                            <p:nvPr/>
                          </p:nvPicPr>
                          <p:blipFill>
                            <a:blip r:embed="rId21"/>
                            <a:stretch>
                              <a:fillRect/>
                            </a:stretch>
                          </p:blipFill>
                          <p:spPr>
                            <a:xfrm>
                              <a:off x="4208" y="1784"/>
                              <a:ext cx="790" cy="274"/>
                            </a:xfrm>
                            <a:prstGeom prst="rect">
                              <a:avLst/>
                            </a:prstGeom>
                            <a:noFill/>
                            <a:ln w="38100">
                              <a:noFill/>
                              <a:miter/>
                            </a:ln>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33799" name="Object 29"/>
                <p:cNvGraphicFramePr/>
                <p:nvPr/>
              </p:nvGraphicFramePr>
              <p:xfrm>
                <a:off x="3900" y="1108"/>
                <a:ext cx="746" cy="287"/>
              </p:xfrm>
              <a:graphic>
                <a:graphicData uri="http://schemas.openxmlformats.org/presentationml/2006/ole">
                  <mc:AlternateContent>
                    <mc:Choice xmlns:v="urn:schemas-microsoft-com:vml" Requires="v">
                      <p:oleObj spid="_x0000_s10329" r:id="rId22" imgW="685165" imgH="215900" progId="Equation.3">
                        <p:embed/>
                      </p:oleObj>
                    </mc:Choice>
                    <mc:Fallback>
                      <p:oleObj r:id="rId22" imgW="685165" imgH="215900" progId="Equation.3">
                        <p:embed/>
                        <p:pic>
                          <p:nvPicPr>
                            <p:cNvPr id="33799" name="Object 29"/>
                            <p:cNvPicPr/>
                            <p:nvPr/>
                          </p:nvPicPr>
                          <p:blipFill>
                            <a:blip r:embed="rId23"/>
                            <a:stretch>
                              <a:fillRect/>
                            </a:stretch>
                          </p:blipFill>
                          <p:spPr>
                            <a:xfrm>
                              <a:off x="3900" y="1108"/>
                              <a:ext cx="746" cy="287"/>
                            </a:xfrm>
                            <a:prstGeom prst="rect">
                              <a:avLst/>
                            </a:prstGeom>
                            <a:noFill/>
                            <a:ln w="38100">
                              <a:noFill/>
                              <a:miter/>
                            </a:ln>
                          </p:spPr>
                        </p:pic>
                      </p:oleObj>
                    </mc:Fallback>
                  </mc:AlternateContent>
                </a:graphicData>
              </a:graphic>
            </p:graphicFrame>
          </mc:Choice>
          <mc:Fallback xmlns="">
            <p:graphicFrame>
              <p:nvGraphicFramePr>
                <p:cNvPr id="33799" name="Object 29"/>
                <p:cNvGraphicFramePr/>
                <p:nvPr/>
              </p:nvGraphicFramePr>
              <p:xfrm>
                <a:off x="3900" y="1108"/>
                <a:ext cx="746" cy="287"/>
              </p:xfrm>
              <a:graphic>
                <a:graphicData uri="http://schemas.openxmlformats.org/presentationml/2006/ole">
                  <mc:AlternateContent>
                    <mc:Choice xmlns:v="urn:schemas-microsoft-com:vml" Requires="v">
                      <p:oleObj spid="_x0000_s31891" r:id="rId24" imgW="685165" imgH="215900" progId="Equation.3">
                        <p:embed/>
                      </p:oleObj>
                    </mc:Choice>
                    <mc:Fallback>
                      <p:oleObj r:id="rId24" imgW="685165" imgH="215900" progId="Equation.3">
                        <p:embed/>
                        <p:pic>
                          <p:nvPicPr>
                            <p:cNvPr id="33799" name="Object 29"/>
                            <p:cNvPicPr/>
                            <p:nvPr/>
                          </p:nvPicPr>
                          <p:blipFill>
                            <a:blip r:embed="rId25"/>
                            <a:stretch>
                              <a:fillRect/>
                            </a:stretch>
                          </p:blipFill>
                          <p:spPr>
                            <a:xfrm>
                              <a:off x="3900" y="1108"/>
                              <a:ext cx="746" cy="287"/>
                            </a:xfrm>
                            <a:prstGeom prst="rect">
                              <a:avLst/>
                            </a:prstGeom>
                            <a:noFill/>
                            <a:ln w="38100">
                              <a:noFill/>
                              <a:miter/>
                            </a:ln>
                          </p:spPr>
                        </p:pic>
                      </p:oleObj>
                    </mc:Fallback>
                  </mc:AlternateContent>
                </a:graphicData>
              </a:graphic>
            </p:graphicFrame>
          </mc:Fallback>
        </mc:AlternateContent>
        <p:sp>
          <p:nvSpPr>
            <p:cNvPr id="33837" name="Line 30"/>
            <p:cNvSpPr/>
            <p:nvPr/>
          </p:nvSpPr>
          <p:spPr>
            <a:xfrm flipV="1">
              <a:off x="3479" y="2510"/>
              <a:ext cx="1401" cy="8"/>
            </a:xfrm>
            <a:prstGeom prst="line">
              <a:avLst/>
            </a:prstGeom>
            <a:ln w="19050" cap="flat" cmpd="sng">
              <a:solidFill>
                <a:schemeClr val="tx1"/>
              </a:solidFill>
              <a:prstDash val="solid"/>
              <a:headEnd type="none" w="med" len="med"/>
              <a:tailEnd type="triangle" w="sm" len="lg"/>
            </a:ln>
          </p:spPr>
        </p:sp>
        <p:sp>
          <p:nvSpPr>
            <p:cNvPr id="33838" name="Arc 31"/>
            <p:cNvSpPr/>
            <p:nvPr/>
          </p:nvSpPr>
          <p:spPr>
            <a:xfrm flipH="1" flipV="1">
              <a:off x="3792" y="1025"/>
              <a:ext cx="978" cy="1151"/>
            </a:xfrm>
            <a:custGeom>
              <a:avLst/>
              <a:gdLst>
                <a:gd name="txL" fmla="*/ 0 w 21059"/>
                <a:gd name="txT" fmla="*/ 0 h 21281"/>
                <a:gd name="txR" fmla="*/ 21059 w 21059"/>
                <a:gd name="txB" fmla="*/ 21281 h 21281"/>
              </a:gdLst>
              <a:ahLst/>
              <a:cxnLst>
                <a:cxn ang="0">
                  <a:pos x="8" y="0"/>
                </a:cxn>
                <a:cxn ang="0">
                  <a:pos x="45" y="48"/>
                </a:cxn>
                <a:cxn ang="0">
                  <a:pos x="0" y="62"/>
                </a:cxn>
              </a:cxnLst>
              <a:rect l="txL" t="txT" r="txR" b="txB"/>
              <a:pathLst>
                <a:path w="21059" h="21281" fill="none">
                  <a:moveTo>
                    <a:pt x="3698" y="0"/>
                  </a:moveTo>
                  <a:cubicBezTo>
                    <a:pt x="12277" y="1491"/>
                    <a:pt x="19121" y="7986"/>
                    <a:pt x="21058" y="16475"/>
                  </a:cubicBezTo>
                </a:path>
                <a:path w="21059" h="21281" stroke="0">
                  <a:moveTo>
                    <a:pt x="3698" y="0"/>
                  </a:moveTo>
                  <a:cubicBezTo>
                    <a:pt x="12277" y="1491"/>
                    <a:pt x="19121" y="7986"/>
                    <a:pt x="21058" y="16475"/>
                  </a:cubicBezTo>
                  <a:lnTo>
                    <a:pt x="0" y="21281"/>
                  </a:lnTo>
                  <a:close/>
                </a:path>
              </a:pathLst>
            </a:custGeom>
            <a:noFill/>
            <a:ln w="25400" cap="flat" cmpd="sng">
              <a:solidFill>
                <a:srgbClr val="0000FF">
                  <a:alpha val="100000"/>
                </a:srgbClr>
              </a:solidFill>
              <a:prstDash val="solid"/>
              <a:round/>
              <a:headEnd type="none" w="med" len="med"/>
              <a:tailEnd type="none" w="med" len="med"/>
            </a:ln>
          </p:spPr>
          <p:txBody>
            <a:bodyPr/>
            <a:lstStyle/>
            <a:p>
              <a:endParaRPr lang="zh-CN" altLang="en-US"/>
            </a:p>
          </p:txBody>
        </p:sp>
        <p:sp>
          <p:nvSpPr>
            <p:cNvPr id="33839" name="Line 32"/>
            <p:cNvSpPr/>
            <p:nvPr/>
          </p:nvSpPr>
          <p:spPr>
            <a:xfrm flipH="1">
              <a:off x="3792" y="1314"/>
              <a:ext cx="12" cy="1204"/>
            </a:xfrm>
            <a:prstGeom prst="line">
              <a:avLst/>
            </a:prstGeom>
            <a:ln w="12700" cap="flat" cmpd="sng">
              <a:solidFill>
                <a:schemeClr val="tx1"/>
              </a:solidFill>
              <a:prstDash val="dash"/>
              <a:headEnd type="none" w="med" len="med"/>
              <a:tailEnd type="none" w="med" len="med"/>
            </a:ln>
          </p:spPr>
        </p:sp>
        <p:sp>
          <p:nvSpPr>
            <p:cNvPr id="33840" name="Line 33"/>
            <p:cNvSpPr/>
            <p:nvPr/>
          </p:nvSpPr>
          <p:spPr>
            <a:xfrm>
              <a:off x="4608" y="2188"/>
              <a:ext cx="0" cy="330"/>
            </a:xfrm>
            <a:prstGeom prst="line">
              <a:avLst/>
            </a:prstGeom>
            <a:ln w="12700" cap="flat" cmpd="sng">
              <a:solidFill>
                <a:schemeClr val="tx1"/>
              </a:solidFill>
              <a:prstDash val="dash"/>
              <a:headEnd type="none" w="med" len="med"/>
              <a:tailEnd type="none" w="med" len="med"/>
            </a:ln>
          </p:spPr>
        </p:sp>
        <p:sp>
          <p:nvSpPr>
            <p:cNvPr id="33841" name="Line 34"/>
            <p:cNvSpPr/>
            <p:nvPr/>
          </p:nvSpPr>
          <p:spPr>
            <a:xfrm flipH="1">
              <a:off x="3494" y="1272"/>
              <a:ext cx="298" cy="0"/>
            </a:xfrm>
            <a:prstGeom prst="line">
              <a:avLst/>
            </a:prstGeom>
            <a:ln w="12700" cap="flat" cmpd="sng">
              <a:solidFill>
                <a:schemeClr val="tx1"/>
              </a:solidFill>
              <a:prstDash val="dash"/>
              <a:headEnd type="none" w="med" len="med"/>
              <a:tailEnd type="none" w="med" len="med"/>
            </a:ln>
          </p:spPr>
        </p:sp>
        <p:sp>
          <p:nvSpPr>
            <p:cNvPr id="33842" name="Text Box 35"/>
            <p:cNvSpPr txBox="1"/>
            <p:nvPr/>
          </p:nvSpPr>
          <p:spPr>
            <a:xfrm>
              <a:off x="4582" y="2053"/>
              <a:ext cx="260" cy="288"/>
            </a:xfrm>
            <a:prstGeom prst="rect">
              <a:avLst/>
            </a:prstGeom>
            <a:noFill/>
            <a:ln w="9525">
              <a:noFill/>
            </a:ln>
          </p:spPr>
          <p:txBody>
            <a:bodyPr>
              <a:spAutoFit/>
            </a:bodyPr>
            <a:lstStyle/>
            <a:p>
              <a:pPr>
                <a:spcBef>
                  <a:spcPct val="50000"/>
                </a:spcBef>
              </a:pPr>
              <a:r>
                <a:rPr lang="en-US" altLang="zh-CN" sz="2400" b="1" dirty="0">
                  <a:solidFill>
                    <a:srgbClr val="A50021"/>
                  </a:solidFill>
                  <a:latin typeface="Times New Roman" panose="02020603050405020304" pitchFamily="18" charset="0"/>
                </a:rPr>
                <a:t>1</a:t>
              </a:r>
            </a:p>
          </p:txBody>
        </p:sp>
        <p:sp>
          <p:nvSpPr>
            <p:cNvPr id="33843" name="Text Box 36"/>
            <p:cNvSpPr txBox="1"/>
            <p:nvPr/>
          </p:nvSpPr>
          <p:spPr>
            <a:xfrm>
              <a:off x="3704" y="1035"/>
              <a:ext cx="185" cy="288"/>
            </a:xfrm>
            <a:prstGeom prst="rect">
              <a:avLst/>
            </a:prstGeom>
            <a:noFill/>
            <a:ln w="9525">
              <a:noFill/>
            </a:ln>
          </p:spPr>
          <p:txBody>
            <a:bodyPr>
              <a:spAutoFit/>
            </a:bodyPr>
            <a:lstStyle/>
            <a:p>
              <a:pPr>
                <a:spcBef>
                  <a:spcPct val="50000"/>
                </a:spcBef>
              </a:pPr>
              <a:r>
                <a:rPr lang="en-US" altLang="zh-CN" sz="2400" b="1" dirty="0">
                  <a:solidFill>
                    <a:srgbClr val="A50021"/>
                  </a:solidFill>
                  <a:latin typeface="Times New Roman" panose="02020603050405020304" pitchFamily="18" charset="0"/>
                </a:rPr>
                <a:t>2</a:t>
              </a:r>
              <a:endParaRPr lang="en-US" altLang="zh-CN" sz="24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3800" name="Object 37"/>
                <p:cNvSpPr txBox="1"/>
                <p:nvPr/>
              </p:nvSpPr>
              <p:spPr>
                <a:xfrm>
                  <a:off x="3219" y="2053"/>
                  <a:ext cx="238" cy="24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33800" name="Object 37"/>
                <p:cNvSpPr txBox="1">
                  <a:spLocks noRot="1" noChangeAspect="1" noMove="1" noResize="1" noEditPoints="1" noAdjustHandles="1" noChangeArrowheads="1" noChangeShapeType="1" noTextEdit="1"/>
                </p:cNvSpPr>
                <p:nvPr/>
              </p:nvSpPr>
              <p:spPr>
                <a:xfrm>
                  <a:off x="3219" y="2053"/>
                  <a:ext cx="238" cy="247"/>
                </a:xfrm>
                <a:prstGeom prst="rect">
                  <a:avLst/>
                </a:prstGeom>
                <a:blipFill>
                  <a:blip r:embed="rId26"/>
                  <a:stretch>
                    <a:fillRect b="-1563"/>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801" name="Object 38"/>
                <p:cNvSpPr txBox="1"/>
                <p:nvPr/>
              </p:nvSpPr>
              <p:spPr>
                <a:xfrm>
                  <a:off x="3242" y="1220"/>
                  <a:ext cx="227" cy="23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33801" name="Object 38"/>
                <p:cNvSpPr txBox="1">
                  <a:spLocks noRot="1" noChangeAspect="1" noMove="1" noResize="1" noEditPoints="1" noAdjustHandles="1" noChangeArrowheads="1" noChangeShapeType="1" noTextEdit="1"/>
                </p:cNvSpPr>
                <p:nvPr/>
              </p:nvSpPr>
              <p:spPr>
                <a:xfrm>
                  <a:off x="3242" y="1220"/>
                  <a:ext cx="227" cy="237"/>
                </a:xfrm>
                <a:prstGeom prst="rect">
                  <a:avLst/>
                </a:prstGeom>
                <a:blipFill>
                  <a:blip r:embed="rId27"/>
                  <a:stretch>
                    <a:fillRect r="-3390" b="-6557"/>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802" name="Object 39"/>
                <p:cNvSpPr txBox="1"/>
                <p:nvPr/>
              </p:nvSpPr>
              <p:spPr>
                <a:xfrm>
                  <a:off x="4452" y="2470"/>
                  <a:ext cx="229" cy="33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33802" name="Object 39"/>
                <p:cNvSpPr txBox="1">
                  <a:spLocks noRot="1" noChangeAspect="1" noMove="1" noResize="1" noEditPoints="1" noAdjustHandles="1" noChangeArrowheads="1" noChangeShapeType="1" noTextEdit="1"/>
                </p:cNvSpPr>
                <p:nvPr/>
              </p:nvSpPr>
              <p:spPr>
                <a:xfrm>
                  <a:off x="4452" y="2470"/>
                  <a:ext cx="229" cy="330"/>
                </a:xfrm>
                <a:prstGeom prst="rect">
                  <a:avLst/>
                </a:prstGeom>
                <a:blipFill>
                  <a:blip r:embed="rId28"/>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803" name="Object 40"/>
                <p:cNvSpPr txBox="1"/>
                <p:nvPr/>
              </p:nvSpPr>
              <p:spPr>
                <a:xfrm>
                  <a:off x="3676" y="2470"/>
                  <a:ext cx="257" cy="33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33803" name="Object 40"/>
                <p:cNvSpPr txBox="1">
                  <a:spLocks noRot="1" noChangeAspect="1" noMove="1" noResize="1" noEditPoints="1" noAdjustHandles="1" noChangeArrowheads="1" noChangeShapeType="1" noTextEdit="1"/>
                </p:cNvSpPr>
                <p:nvPr/>
              </p:nvSpPr>
              <p:spPr>
                <a:xfrm>
                  <a:off x="3676" y="2470"/>
                  <a:ext cx="257" cy="332"/>
                </a:xfrm>
                <a:prstGeom prst="rect">
                  <a:avLst/>
                </a:prstGeom>
                <a:blipFill>
                  <a:blip r:embed="rId29"/>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804" name="Object 41"/>
                <p:cNvSpPr txBox="1"/>
                <p:nvPr/>
              </p:nvSpPr>
              <p:spPr>
                <a:xfrm>
                  <a:off x="3279" y="1025"/>
                  <a:ext cx="165" cy="216"/>
                </a:xfrm>
                <a:prstGeom prst="rect">
                  <a:avLst/>
                </a:prstGeom>
                <a:no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𝑝</m:t>
                        </m:r>
                      </m:oMath>
                    </m:oMathPara>
                  </a14:m>
                  <a:endParaRPr lang="en-US"/>
                </a:p>
              </p:txBody>
            </p:sp>
          </mc:Choice>
          <mc:Fallback xmlns="">
            <p:sp>
              <p:nvSpPr>
                <p:cNvPr id="33804" name="Object 41"/>
                <p:cNvSpPr txBox="1">
                  <a:spLocks noRot="1" noChangeAspect="1" noMove="1" noResize="1" noEditPoints="1" noAdjustHandles="1" noChangeArrowheads="1" noChangeShapeType="1" noTextEdit="1"/>
                </p:cNvSpPr>
                <p:nvPr/>
              </p:nvSpPr>
              <p:spPr>
                <a:xfrm>
                  <a:off x="3279" y="1025"/>
                  <a:ext cx="165" cy="216"/>
                </a:xfrm>
                <a:prstGeom prst="rect">
                  <a:avLst/>
                </a:prstGeom>
                <a:blipFill>
                  <a:blip r:embed="rId30"/>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805" name="Object 42"/>
                <p:cNvSpPr txBox="1"/>
                <p:nvPr/>
              </p:nvSpPr>
              <p:spPr>
                <a:xfrm>
                  <a:off x="4734" y="2558"/>
                  <a:ext cx="151" cy="189"/>
                </a:xfrm>
                <a:prstGeom prst="rect">
                  <a:avLst/>
                </a:prstGeom>
                <a:noFill/>
                <a:ln w="38100">
                  <a:noFill/>
                  <a:miter/>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𝑉</m:t>
                        </m:r>
                      </m:oMath>
                    </m:oMathPara>
                  </a14:m>
                  <a:endParaRPr lang="en-US"/>
                </a:p>
              </p:txBody>
            </p:sp>
          </mc:Choice>
          <mc:Fallback xmlns="">
            <p:sp>
              <p:nvSpPr>
                <p:cNvPr id="33805" name="Object 42"/>
                <p:cNvSpPr txBox="1">
                  <a:spLocks noRot="1" noChangeAspect="1" noMove="1" noResize="1" noEditPoints="1" noAdjustHandles="1" noChangeArrowheads="1" noChangeShapeType="1" noTextEdit="1"/>
                </p:cNvSpPr>
                <p:nvPr/>
              </p:nvSpPr>
              <p:spPr>
                <a:xfrm>
                  <a:off x="4734" y="2558"/>
                  <a:ext cx="151" cy="189"/>
                </a:xfrm>
                <a:prstGeom prst="rect">
                  <a:avLst/>
                </a:prstGeom>
                <a:blipFill>
                  <a:blip r:embed="rId31"/>
                  <a:stretch>
                    <a:fillRect r="-5128"/>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806" name="Object 43"/>
                <p:cNvSpPr txBox="1"/>
                <p:nvPr/>
              </p:nvSpPr>
              <p:spPr>
                <a:xfrm>
                  <a:off x="3421" y="2518"/>
                  <a:ext cx="135" cy="174"/>
                </a:xfrm>
                <a:prstGeom prst="rect">
                  <a:avLst/>
                </a:prstGeom>
                <a:noFill/>
                <a:ln w="38100">
                  <a:noFill/>
                  <a:miter/>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𝑜</m:t>
                        </m:r>
                      </m:oMath>
                    </m:oMathPara>
                  </a14:m>
                  <a:endParaRPr lang="en-US"/>
                </a:p>
              </p:txBody>
            </p:sp>
          </mc:Choice>
          <mc:Fallback xmlns="">
            <p:sp>
              <p:nvSpPr>
                <p:cNvPr id="33806" name="Object 43"/>
                <p:cNvSpPr txBox="1">
                  <a:spLocks noRot="1" noChangeAspect="1" noMove="1" noResize="1" noEditPoints="1" noAdjustHandles="1" noChangeArrowheads="1" noChangeShapeType="1" noTextEdit="1"/>
                </p:cNvSpPr>
                <p:nvPr/>
              </p:nvSpPr>
              <p:spPr>
                <a:xfrm>
                  <a:off x="3421" y="2518"/>
                  <a:ext cx="135" cy="174"/>
                </a:xfrm>
                <a:prstGeom prst="rect">
                  <a:avLst/>
                </a:prstGeom>
                <a:blipFill>
                  <a:blip r:embed="rId32"/>
                  <a:stretch>
                    <a:fillRect/>
                  </a:stretch>
                </a:blipFill>
                <a:ln w="38100">
                  <a:noFill/>
                  <a:miter/>
                </a:ln>
              </p:spPr>
              <p:txBody>
                <a:bodyPr/>
                <a:lstStyle/>
                <a:p>
                  <a:r>
                    <a:rPr lang="en-US">
                      <a:noFill/>
                    </a:rPr>
                    <a:t> </a:t>
                  </a:r>
                </a:p>
              </p:txBody>
            </p:sp>
          </mc:Fallback>
        </mc:AlternateContent>
        <p:sp>
          <p:nvSpPr>
            <p:cNvPr id="33844" name="Line 44"/>
            <p:cNvSpPr/>
            <p:nvPr/>
          </p:nvSpPr>
          <p:spPr>
            <a:xfrm flipV="1">
              <a:off x="3481" y="1066"/>
              <a:ext cx="0" cy="1444"/>
            </a:xfrm>
            <a:prstGeom prst="line">
              <a:avLst/>
            </a:prstGeom>
            <a:ln w="19050" cap="flat" cmpd="sng">
              <a:solidFill>
                <a:schemeClr val="tx1"/>
              </a:solidFill>
              <a:prstDash val="solid"/>
              <a:headEnd type="none" w="med" len="med"/>
              <a:tailEnd type="triangle" w="sm" len="lg"/>
            </a:ln>
          </p:spPr>
        </p:sp>
        <p:sp>
          <p:nvSpPr>
            <p:cNvPr id="33845" name="Freeform 45" descr="浅色下对角线"/>
            <p:cNvSpPr/>
            <p:nvPr/>
          </p:nvSpPr>
          <p:spPr>
            <a:xfrm>
              <a:off x="3785" y="1292"/>
              <a:ext cx="821" cy="1204"/>
            </a:xfrm>
            <a:custGeom>
              <a:avLst/>
              <a:gdLst>
                <a:gd name="txL" fmla="*/ 0 w 912"/>
                <a:gd name="txT" fmla="*/ 0 h 1248"/>
                <a:gd name="txR" fmla="*/ 912 w 912"/>
                <a:gd name="txB" fmla="*/ 1248 h 1248"/>
              </a:gdLst>
              <a:ahLst/>
              <a:cxnLst>
                <a:cxn ang="0">
                  <a:pos x="0" y="0"/>
                </a:cxn>
                <a:cxn ang="0">
                  <a:pos x="25" y="91"/>
                </a:cxn>
                <a:cxn ang="0">
                  <a:pos x="19" y="1204"/>
                </a:cxn>
                <a:cxn ang="0">
                  <a:pos x="821" y="1204"/>
                </a:cxn>
                <a:cxn ang="0">
                  <a:pos x="816" y="907"/>
                </a:cxn>
                <a:cxn ang="0">
                  <a:pos x="654" y="854"/>
                </a:cxn>
                <a:cxn ang="0">
                  <a:pos x="519" y="787"/>
                </a:cxn>
                <a:cxn ang="0">
                  <a:pos x="401" y="701"/>
                </a:cxn>
                <a:cxn ang="0">
                  <a:pos x="320" y="621"/>
                </a:cxn>
                <a:cxn ang="0">
                  <a:pos x="198" y="490"/>
                </a:cxn>
                <a:cxn ang="0">
                  <a:pos x="105" y="344"/>
                </a:cxn>
                <a:cxn ang="0">
                  <a:pos x="43" y="179"/>
                </a:cxn>
                <a:cxn ang="0">
                  <a:pos x="0" y="0"/>
                </a:cxn>
              </a:cxnLst>
              <a:rect l="txL" t="txT" r="txR" b="txB"/>
              <a:pathLst>
                <a:path w="912" h="1248">
                  <a:moveTo>
                    <a:pt x="0" y="0"/>
                  </a:moveTo>
                  <a:cubicBezTo>
                    <a:pt x="9" y="76"/>
                    <a:pt x="28" y="9"/>
                    <a:pt x="28" y="94"/>
                  </a:cubicBezTo>
                  <a:lnTo>
                    <a:pt x="21" y="1248"/>
                  </a:lnTo>
                  <a:lnTo>
                    <a:pt x="912" y="1248"/>
                  </a:lnTo>
                  <a:lnTo>
                    <a:pt x="906" y="940"/>
                  </a:lnTo>
                  <a:lnTo>
                    <a:pt x="727" y="885"/>
                  </a:lnTo>
                  <a:lnTo>
                    <a:pt x="576" y="816"/>
                  </a:lnTo>
                  <a:lnTo>
                    <a:pt x="446" y="727"/>
                  </a:lnTo>
                  <a:lnTo>
                    <a:pt x="355" y="644"/>
                  </a:lnTo>
                  <a:lnTo>
                    <a:pt x="220" y="508"/>
                  </a:lnTo>
                  <a:lnTo>
                    <a:pt x="117" y="357"/>
                  </a:lnTo>
                  <a:lnTo>
                    <a:pt x="48" y="186"/>
                  </a:lnTo>
                  <a:lnTo>
                    <a:pt x="0" y="0"/>
                  </a:lnTo>
                  <a:close/>
                </a:path>
              </a:pathLst>
            </a:custGeom>
            <a:pattFill prst="ltDnDiag">
              <a:fgClr>
                <a:srgbClr val="0066FF">
                  <a:alpha val="100000"/>
                </a:srgbClr>
              </a:fgClr>
              <a:bgClr>
                <a:schemeClr val="bg1">
                  <a:alpha val="100000"/>
                </a:schemeClr>
              </a:bgClr>
            </a:pattFill>
            <a:ln w="9525">
              <a:noFill/>
            </a:ln>
          </p:spPr>
          <p:txBody>
            <a:bodyPr/>
            <a:lstStyle/>
            <a:p>
              <a:endParaRPr lang="zh-CN" altLang="en-US"/>
            </a:p>
          </p:txBody>
        </p:sp>
        <p:sp>
          <p:nvSpPr>
            <p:cNvPr id="33846" name="Line 46"/>
            <p:cNvSpPr/>
            <p:nvPr/>
          </p:nvSpPr>
          <p:spPr>
            <a:xfrm flipH="1">
              <a:off x="3494" y="2188"/>
              <a:ext cx="1114" cy="0"/>
            </a:xfrm>
            <a:prstGeom prst="line">
              <a:avLst/>
            </a:prstGeom>
            <a:ln w="12700" cap="flat" cmpd="sng">
              <a:solidFill>
                <a:schemeClr val="tx1"/>
              </a:solidFill>
              <a:prstDash val="dash"/>
              <a:headEnd type="none" w="med" len="med"/>
              <a:tailEnd type="none" w="med" len="med"/>
            </a:ln>
          </p:spPr>
        </p:sp>
        <p:sp>
          <p:nvSpPr>
            <p:cNvPr id="33847" name="Line 47"/>
            <p:cNvSpPr/>
            <p:nvPr/>
          </p:nvSpPr>
          <p:spPr>
            <a:xfrm>
              <a:off x="3926" y="1654"/>
              <a:ext cx="74" cy="123"/>
            </a:xfrm>
            <a:prstGeom prst="line">
              <a:avLst/>
            </a:prstGeom>
            <a:ln w="38100" cap="flat" cmpd="sng">
              <a:solidFill>
                <a:srgbClr val="0000FF"/>
              </a:solidFill>
              <a:prstDash val="solid"/>
              <a:headEnd type="triangle" w="sm" len="lg"/>
              <a:tailEnd type="none" w="med" len="lg"/>
            </a:ln>
          </p:spPr>
        </p:sp>
        <p:sp>
          <p:nvSpPr>
            <p:cNvPr id="33848" name="Text Box 48"/>
            <p:cNvSpPr txBox="1"/>
            <p:nvPr/>
          </p:nvSpPr>
          <p:spPr>
            <a:xfrm>
              <a:off x="4019" y="2146"/>
              <a:ext cx="347" cy="329"/>
            </a:xfrm>
            <a:prstGeom prst="rect">
              <a:avLst/>
            </a:prstGeom>
            <a:noFill/>
            <a:ln w="9525">
              <a:noFill/>
            </a:ln>
          </p:spPr>
          <p:txBody>
            <a:bodyPr>
              <a:spAutoFit/>
            </a:bodyPr>
            <a:lstStyle/>
            <a:p>
              <a:pPr eaLnBrk="1" hangingPunct="1">
                <a:spcBef>
                  <a:spcPct val="50000"/>
                </a:spcBef>
              </a:pPr>
              <a:r>
                <a:rPr lang="en-US" altLang="zh-CN" sz="2800" b="1" i="1" dirty="0">
                  <a:latin typeface="Times New Roman" panose="02020603050405020304" pitchFamily="18" charset="0"/>
                </a:rPr>
                <a:t>A</a:t>
              </a:r>
            </a:p>
          </p:txBody>
        </p:sp>
        <p:sp>
          <p:nvSpPr>
            <p:cNvPr id="33849" name="Text Box 49"/>
            <p:cNvSpPr txBox="1"/>
            <p:nvPr/>
          </p:nvSpPr>
          <p:spPr>
            <a:xfrm>
              <a:off x="3587" y="618"/>
              <a:ext cx="1167" cy="365"/>
            </a:xfrm>
            <a:prstGeom prst="rect">
              <a:avLst/>
            </a:prstGeom>
            <a:noFill/>
            <a:ln w="9525">
              <a:noFill/>
            </a:ln>
          </p:spPr>
          <p:txBody>
            <a:bodyPr>
              <a:spAutoFit/>
            </a:bodyPr>
            <a:lstStyle/>
            <a:p>
              <a:pPr>
                <a:spcBef>
                  <a:spcPct val="50000"/>
                </a:spcBef>
              </a:pPr>
              <a:r>
                <a:rPr lang="zh-CN" altLang="en-US" sz="3200" b="1" dirty="0">
                  <a:solidFill>
                    <a:srgbClr val="333333"/>
                  </a:solidFill>
                  <a:latin typeface="Times New Roman" panose="02020603050405020304" pitchFamily="18" charset="0"/>
                </a:rPr>
                <a:t>绝热</a:t>
              </a:r>
              <a:r>
                <a:rPr lang="zh-CN" altLang="en-US" sz="3200" b="1" dirty="0">
                  <a:solidFill>
                    <a:srgbClr val="0000FF"/>
                  </a:solidFill>
                  <a:latin typeface="Times New Roman" panose="02020603050405020304" pitchFamily="18" charset="0"/>
                </a:rPr>
                <a:t>压缩</a:t>
              </a:r>
            </a:p>
          </p:txBody>
        </p:sp>
      </p:grpSp>
      <p:grpSp>
        <p:nvGrpSpPr>
          <p:cNvPr id="4" name="Group 50"/>
          <p:cNvGrpSpPr/>
          <p:nvPr/>
        </p:nvGrpSpPr>
        <p:grpSpPr>
          <a:xfrm>
            <a:off x="6858000" y="5334000"/>
            <a:ext cx="762000" cy="762000"/>
            <a:chOff x="1296" y="3600"/>
            <a:chExt cx="480" cy="480"/>
          </a:xfrm>
        </p:grpSpPr>
        <p:sp>
          <p:nvSpPr>
            <p:cNvPr id="33835" name="Oval 51"/>
            <p:cNvSpPr/>
            <p:nvPr/>
          </p:nvSpPr>
          <p:spPr>
            <a:xfrm>
              <a:off x="1296" y="3600"/>
              <a:ext cx="480" cy="480"/>
            </a:xfrm>
            <a:prstGeom prst="ellipse">
              <a:avLst/>
            </a:prstGeom>
            <a:solidFill>
              <a:schemeClr val="accent1"/>
            </a:solidFill>
            <a:ln w="9525" cap="flat" cmpd="sng">
              <a:solidFill>
                <a:schemeClr val="tx2"/>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3797" name="Object 52"/>
                <p:cNvSpPr txBox="1"/>
                <p:nvPr/>
              </p:nvSpPr>
              <p:spPr>
                <a:xfrm>
                  <a:off x="1392" y="3648"/>
                  <a:ext cx="333" cy="40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𝐸</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33797" name="Object 52"/>
                <p:cNvSpPr txBox="1">
                  <a:spLocks noRot="1" noChangeAspect="1" noMove="1" noResize="1" noEditPoints="1" noAdjustHandles="1" noChangeArrowheads="1" noChangeShapeType="1" noTextEdit="1"/>
                </p:cNvSpPr>
                <p:nvPr/>
              </p:nvSpPr>
              <p:spPr>
                <a:xfrm>
                  <a:off x="1392" y="3648"/>
                  <a:ext cx="333" cy="404"/>
                </a:xfrm>
                <a:prstGeom prst="rect">
                  <a:avLst/>
                </a:prstGeom>
                <a:blipFill>
                  <a:blip r:embed="rId33"/>
                  <a:stretch>
                    <a:fillRect/>
                  </a:stretch>
                </a:blipFill>
                <a:ln w="38100">
                  <a:noFill/>
                  <a:miter/>
                </a:ln>
              </p:spPr>
              <p:txBody>
                <a:bodyPr/>
                <a:lstStyle/>
                <a:p>
                  <a:r>
                    <a:rPr lang="en-US">
                      <a:noFill/>
                    </a:rPr>
                    <a:t> </a:t>
                  </a:r>
                </a:p>
              </p:txBody>
            </p:sp>
          </mc:Fallback>
        </mc:AlternateContent>
      </p:grpSp>
      <p:grpSp>
        <p:nvGrpSpPr>
          <p:cNvPr id="5" name="Group 53"/>
          <p:cNvGrpSpPr/>
          <p:nvPr/>
        </p:nvGrpSpPr>
        <p:grpSpPr>
          <a:xfrm>
            <a:off x="7391400" y="4724400"/>
            <a:ext cx="1600200" cy="762000"/>
            <a:chOff x="1680" y="3408"/>
            <a:chExt cx="1008" cy="480"/>
          </a:xfrm>
        </p:grpSpPr>
        <p:grpSp>
          <p:nvGrpSpPr>
            <p:cNvPr id="33832" name="Group 54"/>
            <p:cNvGrpSpPr/>
            <p:nvPr/>
          </p:nvGrpSpPr>
          <p:grpSpPr>
            <a:xfrm>
              <a:off x="2208" y="3408"/>
              <a:ext cx="480" cy="480"/>
              <a:chOff x="2208" y="3408"/>
              <a:chExt cx="480" cy="480"/>
            </a:xfrm>
          </p:grpSpPr>
          <p:sp>
            <p:nvSpPr>
              <p:cNvPr id="33834" name="Oval 55"/>
              <p:cNvSpPr/>
              <p:nvPr/>
            </p:nvSpPr>
            <p:spPr>
              <a:xfrm>
                <a:off x="2208" y="3408"/>
                <a:ext cx="480" cy="480"/>
              </a:xfrm>
              <a:prstGeom prst="ellipse">
                <a:avLst/>
              </a:prstGeom>
              <a:solidFill>
                <a:schemeClr val="accent1"/>
              </a:solidFill>
              <a:ln w="12700" cap="flat" cmpd="sng">
                <a:solidFill>
                  <a:srgbClr val="996600"/>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3796" name="Object 56"/>
                  <p:cNvSpPr txBox="1"/>
                  <p:nvPr/>
                </p:nvSpPr>
                <p:spPr>
                  <a:xfrm>
                    <a:off x="2304" y="3456"/>
                    <a:ext cx="317" cy="356"/>
                  </a:xfrm>
                  <a:prstGeom prst="rect">
                    <a:avLst/>
                  </a:prstGeom>
                  <a:solidFill>
                    <a:schemeClr val="accent1"/>
                  </a:solid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𝐸</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33796" name="Object 56"/>
                  <p:cNvSpPr txBox="1">
                    <a:spLocks noRot="1" noChangeAspect="1" noMove="1" noResize="1" noEditPoints="1" noAdjustHandles="1" noChangeArrowheads="1" noChangeShapeType="1" noTextEdit="1"/>
                  </p:cNvSpPr>
                  <p:nvPr/>
                </p:nvSpPr>
                <p:spPr>
                  <a:xfrm>
                    <a:off x="2304" y="3456"/>
                    <a:ext cx="317" cy="356"/>
                  </a:xfrm>
                  <a:prstGeom prst="rect">
                    <a:avLst/>
                  </a:prstGeom>
                  <a:blipFill>
                    <a:blip r:embed="rId34"/>
                    <a:stretch>
                      <a:fillRect/>
                    </a:stretch>
                  </a:blipFill>
                  <a:ln w="38100">
                    <a:noFill/>
                    <a:miter/>
                  </a:ln>
                </p:spPr>
                <p:txBody>
                  <a:bodyPr/>
                  <a:lstStyle/>
                  <a:p>
                    <a:r>
                      <a:rPr lang="en-US">
                        <a:noFill/>
                      </a:rPr>
                      <a:t> </a:t>
                    </a:r>
                  </a:p>
                </p:txBody>
              </p:sp>
            </mc:Fallback>
          </mc:AlternateContent>
        </p:grpSp>
        <p:sp>
          <p:nvSpPr>
            <p:cNvPr id="33833" name="AutoShape 57"/>
            <p:cNvSpPr/>
            <p:nvPr/>
          </p:nvSpPr>
          <p:spPr>
            <a:xfrm rot="-1310175">
              <a:off x="1680" y="3696"/>
              <a:ext cx="672" cy="119"/>
            </a:xfrm>
            <a:prstGeom prst="rightArrow">
              <a:avLst>
                <a:gd name="adj1" fmla="val 50000"/>
                <a:gd name="adj2" fmla="val 141176"/>
              </a:avLst>
            </a:prstGeom>
            <a:solidFill>
              <a:schemeClr val="accent1"/>
            </a:solidFill>
            <a:ln w="28575" cap="flat" cmpd="sng">
              <a:solidFill>
                <a:srgbClr val="CC0099"/>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7" name="Group 58"/>
          <p:cNvGrpSpPr/>
          <p:nvPr/>
        </p:nvGrpSpPr>
        <p:grpSpPr>
          <a:xfrm>
            <a:off x="2819400" y="4876800"/>
            <a:ext cx="762000" cy="762000"/>
            <a:chOff x="3984" y="3408"/>
            <a:chExt cx="480" cy="480"/>
          </a:xfrm>
        </p:grpSpPr>
        <p:sp>
          <p:nvSpPr>
            <p:cNvPr id="33831" name="Oval 59"/>
            <p:cNvSpPr/>
            <p:nvPr/>
          </p:nvSpPr>
          <p:spPr>
            <a:xfrm>
              <a:off x="3984" y="3408"/>
              <a:ext cx="480" cy="480"/>
            </a:xfrm>
            <a:prstGeom prst="ellipse">
              <a:avLst/>
            </a:prstGeom>
            <a:solidFill>
              <a:schemeClr val="accent1"/>
            </a:solidFill>
            <a:ln w="9525" cap="flat" cmpd="sng">
              <a:solidFill>
                <a:srgbClr val="996600"/>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3795" name="Object 60"/>
                <p:cNvSpPr txBox="1"/>
                <p:nvPr/>
              </p:nvSpPr>
              <p:spPr>
                <a:xfrm>
                  <a:off x="4080" y="3456"/>
                  <a:ext cx="293" cy="356"/>
                </a:xfrm>
                <a:prstGeom prst="rect">
                  <a:avLst/>
                </a:prstGeom>
                <a:solidFill>
                  <a:schemeClr val="accent1"/>
                </a:solid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𝐸</m:t>
                            </m:r>
                          </m:e>
                          <m:sub>
                            <m:r>
                              <a:rPr lang="en-US" i="1">
                                <a:solidFill>
                                  <a:srgbClr val="000000"/>
                                </a:solidFill>
                                <a:latin typeface="Cambria Math" panose="02040503050406030204" pitchFamily="18" charset="0"/>
                              </a:rPr>
                              <m:t>1</m:t>
                            </m:r>
                          </m:sub>
                        </m:sSub>
                      </m:oMath>
                    </m:oMathPara>
                  </a14:m>
                  <a:endParaRPr lang="en-US"/>
                </a:p>
              </p:txBody>
            </p:sp>
          </mc:Choice>
          <mc:Fallback xmlns="">
            <p:sp>
              <p:nvSpPr>
                <p:cNvPr id="33795" name="Object 60"/>
                <p:cNvSpPr txBox="1">
                  <a:spLocks noRot="1" noChangeAspect="1" noMove="1" noResize="1" noEditPoints="1" noAdjustHandles="1" noChangeArrowheads="1" noChangeShapeType="1" noTextEdit="1"/>
                </p:cNvSpPr>
                <p:nvPr/>
              </p:nvSpPr>
              <p:spPr>
                <a:xfrm>
                  <a:off x="4080" y="3456"/>
                  <a:ext cx="293" cy="356"/>
                </a:xfrm>
                <a:prstGeom prst="rect">
                  <a:avLst/>
                </a:prstGeom>
                <a:blipFill>
                  <a:blip r:embed="rId35"/>
                  <a:stretch>
                    <a:fillRect/>
                  </a:stretch>
                </a:blipFill>
                <a:ln w="38100">
                  <a:noFill/>
                  <a:miter/>
                </a:ln>
              </p:spPr>
              <p:txBody>
                <a:bodyPr/>
                <a:lstStyle/>
                <a:p>
                  <a:r>
                    <a:rPr lang="en-US">
                      <a:noFill/>
                    </a:rPr>
                    <a:t> </a:t>
                  </a:r>
                </a:p>
              </p:txBody>
            </p:sp>
          </mc:Fallback>
        </mc:AlternateContent>
      </p:grpSp>
      <p:grpSp>
        <p:nvGrpSpPr>
          <p:cNvPr id="8" name="Group 61"/>
          <p:cNvGrpSpPr/>
          <p:nvPr/>
        </p:nvGrpSpPr>
        <p:grpSpPr>
          <a:xfrm>
            <a:off x="3429000" y="5486400"/>
            <a:ext cx="1600200" cy="762000"/>
            <a:chOff x="1152" y="3552"/>
            <a:chExt cx="1008" cy="480"/>
          </a:xfrm>
        </p:grpSpPr>
        <p:grpSp>
          <p:nvGrpSpPr>
            <p:cNvPr id="33828" name="Group 62"/>
            <p:cNvGrpSpPr/>
            <p:nvPr/>
          </p:nvGrpSpPr>
          <p:grpSpPr>
            <a:xfrm>
              <a:off x="1706" y="3600"/>
              <a:ext cx="454" cy="432"/>
              <a:chOff x="4848" y="3696"/>
              <a:chExt cx="432" cy="432"/>
            </a:xfrm>
          </p:grpSpPr>
          <p:sp>
            <p:nvSpPr>
              <p:cNvPr id="33830" name="Oval 63"/>
              <p:cNvSpPr/>
              <p:nvPr/>
            </p:nvSpPr>
            <p:spPr>
              <a:xfrm>
                <a:off x="4848" y="3696"/>
                <a:ext cx="432" cy="432"/>
              </a:xfrm>
              <a:prstGeom prst="ellipse">
                <a:avLst/>
              </a:prstGeom>
              <a:solidFill>
                <a:schemeClr val="accent1"/>
              </a:solidFill>
              <a:ln w="9525" cap="flat" cmpd="sng">
                <a:solidFill>
                  <a:schemeClr val="tx2"/>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3794" name="Object 64"/>
                  <p:cNvSpPr txBox="1"/>
                  <p:nvPr/>
                </p:nvSpPr>
                <p:spPr>
                  <a:xfrm>
                    <a:off x="4915" y="3724"/>
                    <a:ext cx="317" cy="3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𝐸</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33794" name="Object 64"/>
                  <p:cNvSpPr txBox="1">
                    <a:spLocks noRot="1" noChangeAspect="1" noMove="1" noResize="1" noEditPoints="1" noAdjustHandles="1" noChangeArrowheads="1" noChangeShapeType="1" noTextEdit="1"/>
                  </p:cNvSpPr>
                  <p:nvPr/>
                </p:nvSpPr>
                <p:spPr>
                  <a:xfrm>
                    <a:off x="4915" y="3724"/>
                    <a:ext cx="317" cy="356"/>
                  </a:xfrm>
                  <a:prstGeom prst="rect">
                    <a:avLst/>
                  </a:prstGeom>
                  <a:blipFill>
                    <a:blip r:embed="rId36"/>
                    <a:stretch>
                      <a:fillRect/>
                    </a:stretch>
                  </a:blipFill>
                  <a:ln w="38100">
                    <a:noFill/>
                    <a:miter/>
                  </a:ln>
                </p:spPr>
                <p:txBody>
                  <a:bodyPr/>
                  <a:lstStyle/>
                  <a:p>
                    <a:r>
                      <a:rPr lang="en-US">
                        <a:noFill/>
                      </a:rPr>
                      <a:t> </a:t>
                    </a:r>
                  </a:p>
                </p:txBody>
              </p:sp>
            </mc:Fallback>
          </mc:AlternateContent>
        </p:grpSp>
        <p:sp>
          <p:nvSpPr>
            <p:cNvPr id="33829" name="AutoShape 65"/>
            <p:cNvSpPr/>
            <p:nvPr/>
          </p:nvSpPr>
          <p:spPr>
            <a:xfrm rot="1204178">
              <a:off x="1152" y="3552"/>
              <a:ext cx="655" cy="144"/>
            </a:xfrm>
            <a:prstGeom prst="rightArrow">
              <a:avLst>
                <a:gd name="adj1" fmla="val 42425"/>
                <a:gd name="adj2" fmla="val 184302"/>
              </a:avLst>
            </a:prstGeom>
            <a:solidFill>
              <a:srgbClr val="99FFCC"/>
            </a:solidFill>
            <a:ln w="28575" cap="flat" cmpd="sng">
              <a:solidFill>
                <a:schemeClr val="tx2"/>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10" name="Group 66"/>
          <p:cNvGrpSpPr/>
          <p:nvPr/>
        </p:nvGrpSpPr>
        <p:grpSpPr>
          <a:xfrm>
            <a:off x="3429000" y="4724400"/>
            <a:ext cx="1828800" cy="584200"/>
            <a:chOff x="1200" y="3024"/>
            <a:chExt cx="1152" cy="368"/>
          </a:xfrm>
        </p:grpSpPr>
        <p:sp>
          <p:nvSpPr>
            <p:cNvPr id="33826" name="Text Box 67"/>
            <p:cNvSpPr txBox="1"/>
            <p:nvPr/>
          </p:nvSpPr>
          <p:spPr>
            <a:xfrm>
              <a:off x="1872" y="3024"/>
              <a:ext cx="480" cy="368"/>
            </a:xfrm>
            <a:prstGeom prst="rect">
              <a:avLst/>
            </a:prstGeom>
            <a:solidFill>
              <a:srgbClr val="FFFFCC"/>
            </a:solidFill>
            <a:ln w="9525" cap="flat" cmpd="sng">
              <a:solidFill>
                <a:srgbClr val="996600"/>
              </a:solidFill>
              <a:prstDash val="solid"/>
              <a:miter/>
              <a:headEnd type="none" w="med" len="med"/>
              <a:tailEnd type="none" w="med" len="med"/>
            </a:ln>
          </p:spPr>
          <p:txBody>
            <a:bodyPr>
              <a:spAutoFit/>
            </a:bodyPr>
            <a:lstStyle/>
            <a:p>
              <a:r>
                <a:rPr lang="en-US" altLang="zh-CN" sz="3200" b="1" i="1" dirty="0">
                  <a:solidFill>
                    <a:srgbClr val="1C1C1C"/>
                  </a:solidFill>
                  <a:latin typeface="Times New Roman" panose="02020603050405020304" pitchFamily="18" charset="0"/>
                </a:rPr>
                <a:t> </a:t>
              </a:r>
              <a:r>
                <a:rPr lang="en-US" altLang="zh-CN" sz="3200" b="1" i="1" dirty="0">
                  <a:solidFill>
                    <a:srgbClr val="CC0000"/>
                  </a:solidFill>
                  <a:latin typeface="Times New Roman" panose="02020603050405020304" pitchFamily="18" charset="0"/>
                </a:rPr>
                <a:t>A</a:t>
              </a:r>
            </a:p>
          </p:txBody>
        </p:sp>
        <p:sp>
          <p:nvSpPr>
            <p:cNvPr id="33827" name="AutoShape 68"/>
            <p:cNvSpPr/>
            <p:nvPr/>
          </p:nvSpPr>
          <p:spPr>
            <a:xfrm rot="-26979">
              <a:off x="1200" y="3168"/>
              <a:ext cx="720" cy="144"/>
            </a:xfrm>
            <a:prstGeom prst="rightArrow">
              <a:avLst>
                <a:gd name="adj1" fmla="val 50000"/>
                <a:gd name="adj2" fmla="val 125000"/>
              </a:avLst>
            </a:prstGeom>
            <a:solidFill>
              <a:srgbClr val="FFFFCC"/>
            </a:solidFill>
            <a:ln w="28575" cap="flat" cmpd="sng">
              <a:solidFill>
                <a:srgbClr val="996600"/>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11" name="Group 69"/>
          <p:cNvGrpSpPr/>
          <p:nvPr/>
        </p:nvGrpSpPr>
        <p:grpSpPr>
          <a:xfrm>
            <a:off x="7467600" y="5719764"/>
            <a:ext cx="1676400" cy="522287"/>
            <a:chOff x="3936" y="3555"/>
            <a:chExt cx="1056" cy="329"/>
          </a:xfrm>
        </p:grpSpPr>
        <p:sp>
          <p:nvSpPr>
            <p:cNvPr id="33824" name="Text Box 70"/>
            <p:cNvSpPr txBox="1"/>
            <p:nvPr/>
          </p:nvSpPr>
          <p:spPr>
            <a:xfrm>
              <a:off x="4560" y="3555"/>
              <a:ext cx="432" cy="329"/>
            </a:xfrm>
            <a:prstGeom prst="rect">
              <a:avLst/>
            </a:prstGeom>
            <a:solidFill>
              <a:srgbClr val="E1F4FB"/>
            </a:solidFill>
            <a:ln w="9525" cap="flat" cmpd="sng">
              <a:solidFill>
                <a:srgbClr val="0000FF"/>
              </a:solidFill>
              <a:prstDash val="solid"/>
              <a:miter/>
              <a:headEnd type="none" w="med" len="med"/>
              <a:tailEnd type="none" w="med" len="med"/>
            </a:ln>
          </p:spPr>
          <p:txBody>
            <a:bodyPr>
              <a:spAutoFit/>
            </a:bodyPr>
            <a:lstStyle/>
            <a:p>
              <a:r>
                <a:rPr lang="en-US" altLang="zh-CN" sz="2800" b="1" dirty="0">
                  <a:solidFill>
                    <a:srgbClr val="1C1C1C"/>
                  </a:solidFill>
                  <a:latin typeface="Times New Roman" panose="02020603050405020304" pitchFamily="18" charset="0"/>
                </a:rPr>
                <a:t> </a:t>
              </a:r>
              <a:r>
                <a:rPr lang="en-US" altLang="zh-CN" sz="2800" b="1" i="1" dirty="0">
                  <a:solidFill>
                    <a:srgbClr val="1C1C1C"/>
                  </a:solidFill>
                  <a:latin typeface="Times New Roman" panose="02020603050405020304" pitchFamily="18" charset="0"/>
                </a:rPr>
                <a:t>A</a:t>
              </a:r>
            </a:p>
          </p:txBody>
        </p:sp>
        <p:sp>
          <p:nvSpPr>
            <p:cNvPr id="33825" name="AutoShape 71"/>
            <p:cNvSpPr/>
            <p:nvPr/>
          </p:nvSpPr>
          <p:spPr>
            <a:xfrm>
              <a:off x="3936" y="3600"/>
              <a:ext cx="672" cy="144"/>
            </a:xfrm>
            <a:prstGeom prst="leftArrow">
              <a:avLst>
                <a:gd name="adj1" fmla="val 50000"/>
                <a:gd name="adj2" fmla="val 116666"/>
              </a:avLst>
            </a:prstGeom>
            <a:solidFill>
              <a:srgbClr val="CCECFF"/>
            </a:solidFill>
            <a:ln w="28575" cap="flat" cmpd="sng">
              <a:solidFill>
                <a:srgbClr val="0000FF"/>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2" name="Text Box 13">
            <a:hlinkClick r:id="" action="ppaction://noaction"/>
            <a:extLst>
              <a:ext uri="{FF2B5EF4-FFF2-40B4-BE49-F238E27FC236}">
                <a16:creationId xmlns:a16="http://schemas.microsoft.com/office/drawing/2014/main" id="{C6D92B38-09A6-A6F9-4EF9-B61B50FCDBCB}"/>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8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Text Box 3"/>
          <p:cNvSpPr txBox="1"/>
          <p:nvPr/>
        </p:nvSpPr>
        <p:spPr>
          <a:xfrm>
            <a:off x="1216025" y="1383312"/>
            <a:ext cx="3968750" cy="523220"/>
          </a:xfrm>
          <a:prstGeom prst="rect">
            <a:avLst/>
          </a:prstGeom>
          <a:noFill/>
          <a:ln w="9525">
            <a:noFill/>
          </a:ln>
        </p:spPr>
        <p:txBody>
          <a:bodyPr>
            <a:spAutoFit/>
          </a:bodyPr>
          <a:lstStyle/>
          <a:p>
            <a:pPr>
              <a:spcBef>
                <a:spcPct val="50000"/>
              </a:spcBef>
            </a:pPr>
            <a:r>
              <a:rPr lang="zh-CN" altLang="en-US" sz="2800" dirty="0">
                <a:solidFill>
                  <a:srgbClr val="CC0000"/>
                </a:solidFill>
                <a:latin typeface="宋体" panose="02010600030101010101" pitchFamily="2" charset="-122"/>
              </a:rPr>
              <a:t>绝热</a:t>
            </a:r>
            <a:r>
              <a:rPr lang="zh-CN" altLang="en-US" sz="2800" dirty="0">
                <a:solidFill>
                  <a:srgbClr val="000000"/>
                </a:solidFill>
                <a:latin typeface="宋体" panose="02010600030101010101" pitchFamily="2" charset="-122"/>
              </a:rPr>
              <a:t>过程曲线的斜率</a:t>
            </a:r>
          </a:p>
        </p:txBody>
      </p:sp>
      <mc:AlternateContent xmlns:mc="http://schemas.openxmlformats.org/markup-compatibility/2006" xmlns:a14="http://schemas.microsoft.com/office/drawing/2010/main">
        <mc:Choice Requires="a14">
          <p:sp>
            <p:nvSpPr>
              <p:cNvPr id="442372" name="Object 4"/>
              <p:cNvSpPr txBox="1"/>
              <p:nvPr/>
            </p:nvSpPr>
            <p:spPr>
              <a:xfrm>
                <a:off x="975521" y="3281962"/>
                <a:ext cx="3863975" cy="6302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𝛾</m:t>
                      </m:r>
                      <m:r>
                        <a:rPr lang="en-US" sz="2800" b="0" i="1" smtClean="0">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𝑉</m:t>
                          </m:r>
                        </m:e>
                        <m:sup>
                          <m:r>
                            <a:rPr lang="en-US" sz="2800" b="0" i="1" smtClean="0">
                              <a:solidFill>
                                <a:srgbClr val="000000"/>
                              </a:solidFill>
                              <a:latin typeface="Cambria Math" panose="02040503050406030204" pitchFamily="18" charset="0"/>
                            </a:rPr>
                            <m:t>𝛾</m:t>
                          </m:r>
                          <m:r>
                            <a:rPr lang="en-US" sz="2800" b="0" i="1" smtClean="0">
                              <a:solidFill>
                                <a:srgbClr val="000000"/>
                              </a:solidFill>
                              <a:latin typeface="Cambria Math" panose="02040503050406030204" pitchFamily="18" charset="0"/>
                            </a:rPr>
                            <m:t>−1</m:t>
                          </m:r>
                        </m:sup>
                      </m:sSup>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𝑉</m:t>
                          </m:r>
                        </m:e>
                        <m:sup>
                          <m:r>
                            <a:rPr lang="en-US" sz="2800" b="0" i="1" smtClean="0">
                              <a:solidFill>
                                <a:srgbClr val="000000"/>
                              </a:solidFill>
                              <a:latin typeface="Cambria Math" panose="02040503050406030204" pitchFamily="18" charset="0"/>
                            </a:rPr>
                            <m:t>𝛾</m:t>
                          </m:r>
                        </m:sup>
                      </m:sSup>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442372" name="Object 4"/>
              <p:cNvSpPr txBox="1">
                <a:spLocks noRot="1" noChangeAspect="1" noMove="1" noResize="1" noEditPoints="1" noAdjustHandles="1" noChangeArrowheads="1" noChangeShapeType="1" noTextEdit="1"/>
              </p:cNvSpPr>
              <p:nvPr/>
            </p:nvSpPr>
            <p:spPr>
              <a:xfrm>
                <a:off x="975521" y="3281962"/>
                <a:ext cx="3863975" cy="630238"/>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2373" name="Object 5"/>
              <p:cNvSpPr txBox="1"/>
              <p:nvPr/>
            </p:nvSpPr>
            <p:spPr>
              <a:xfrm>
                <a:off x="1407321" y="4199537"/>
                <a:ext cx="2906713" cy="10874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num>
                        <m:den>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den>
                      </m:f>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m:t>
                          </m:r>
                        </m:e>
                        <m:sub>
                          <m:r>
                            <a:rPr lang="en-US" sz="2800" b="0" i="1" smtClean="0">
                              <a:solidFill>
                                <a:srgbClr val="000000"/>
                              </a:solidFill>
                              <a:latin typeface="Cambria Math" panose="02040503050406030204" pitchFamily="18" charset="0"/>
                            </a:rPr>
                            <m:t>𝑎</m:t>
                          </m:r>
                        </m:sub>
                      </m:sSub>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𝛾</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num>
                        <m:den>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den>
                      </m:f>
                    </m:oMath>
                  </m:oMathPara>
                </a14:m>
                <a:endParaRPr lang="en-US" sz="2800" dirty="0"/>
              </a:p>
            </p:txBody>
          </p:sp>
        </mc:Choice>
        <mc:Fallback xmlns="">
          <p:sp>
            <p:nvSpPr>
              <p:cNvPr id="442373" name="Object 5"/>
              <p:cNvSpPr txBox="1">
                <a:spLocks noRot="1" noChangeAspect="1" noMove="1" noResize="1" noEditPoints="1" noAdjustHandles="1" noChangeArrowheads="1" noChangeShapeType="1" noTextEdit="1"/>
              </p:cNvSpPr>
              <p:nvPr/>
            </p:nvSpPr>
            <p:spPr>
              <a:xfrm>
                <a:off x="1407321" y="4199537"/>
                <a:ext cx="2906713" cy="1087438"/>
              </a:xfrm>
              <a:prstGeom prst="rect">
                <a:avLst/>
              </a:prstGeom>
              <a:blipFill>
                <a:blip r:embed="rId3"/>
                <a:stretch>
                  <a:fillRect/>
                </a:stretch>
              </a:blipFill>
              <a:ln w="38100">
                <a:noFill/>
                <a:miter/>
              </a:ln>
            </p:spPr>
            <p:txBody>
              <a:bodyPr/>
              <a:lstStyle/>
              <a:p>
                <a:r>
                  <a:rPr lang="zh-CN" altLang="en-US">
                    <a:noFill/>
                  </a:rPr>
                  <a:t> </a:t>
                </a:r>
              </a:p>
            </p:txBody>
          </p:sp>
        </mc:Fallback>
      </mc:AlternateContent>
      <p:grpSp>
        <p:nvGrpSpPr>
          <p:cNvPr id="2" name="Group 6"/>
          <p:cNvGrpSpPr/>
          <p:nvPr/>
        </p:nvGrpSpPr>
        <p:grpSpPr>
          <a:xfrm>
            <a:off x="1623221" y="2281837"/>
            <a:ext cx="2474913" cy="693738"/>
            <a:chOff x="3600" y="768"/>
            <a:chExt cx="1559" cy="437"/>
          </a:xfrm>
        </p:grpSpPr>
        <mc:AlternateContent xmlns:mc="http://schemas.openxmlformats.org/markup-compatibility/2006" xmlns:a14="http://schemas.microsoft.com/office/drawing/2010/main">
          <mc:Choice Requires="a14">
            <p:sp>
              <p:nvSpPr>
                <p:cNvPr id="34820" name="Object 7"/>
                <p:cNvSpPr txBox="1"/>
                <p:nvPr/>
              </p:nvSpPr>
              <p:spPr>
                <a:xfrm>
                  <a:off x="3600" y="768"/>
                  <a:ext cx="807" cy="43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𝑉</m:t>
                            </m:r>
                          </m:e>
                          <m:sup>
                            <m:r>
                              <a:rPr lang="en-US" sz="2800" b="0" i="1" smtClean="0">
                                <a:solidFill>
                                  <a:srgbClr val="000000"/>
                                </a:solidFill>
                                <a:latin typeface="Cambria Math" panose="02040503050406030204" pitchFamily="18" charset="0"/>
                              </a:rPr>
                              <m:t>𝛾</m:t>
                            </m:r>
                          </m:sup>
                        </m:sSup>
                        <m:r>
                          <a:rPr lang="en-US" sz="2800" b="0" i="1" smtClean="0">
                            <a:solidFill>
                              <a:srgbClr val="000000"/>
                            </a:solidFill>
                            <a:latin typeface="Cambria Math" panose="02040503050406030204" pitchFamily="18" charset="0"/>
                          </a:rPr>
                          <m:t>=</m:t>
                        </m:r>
                      </m:oMath>
                    </m:oMathPara>
                  </a14:m>
                  <a:endParaRPr lang="en-US" sz="2800"/>
                </a:p>
              </p:txBody>
            </p:sp>
          </mc:Choice>
          <mc:Fallback xmlns="">
            <p:sp>
              <p:nvSpPr>
                <p:cNvPr id="34820" name="Object 7"/>
                <p:cNvSpPr txBox="1">
                  <a:spLocks noRot="1" noChangeAspect="1" noMove="1" noResize="1" noEditPoints="1" noAdjustHandles="1" noChangeArrowheads="1" noChangeShapeType="1" noTextEdit="1"/>
                </p:cNvSpPr>
                <p:nvPr/>
              </p:nvSpPr>
              <p:spPr>
                <a:xfrm>
                  <a:off x="3600" y="768"/>
                  <a:ext cx="807" cy="437"/>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34824" name="Rectangle 8"/>
            <p:cNvSpPr/>
            <p:nvPr/>
          </p:nvSpPr>
          <p:spPr>
            <a:xfrm>
              <a:off x="4343" y="773"/>
              <a:ext cx="816" cy="330"/>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p:sp>
        <p:nvSpPr>
          <p:cNvPr id="3" name="Text Box 13">
            <a:hlinkClick r:id="" action="ppaction://noaction"/>
            <a:extLst>
              <a:ext uri="{FF2B5EF4-FFF2-40B4-BE49-F238E27FC236}">
                <a16:creationId xmlns:a16="http://schemas.microsoft.com/office/drawing/2014/main" id="{FBCAA857-17AD-E7FA-7799-0B03CB1C9A8F}"/>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绝热线和等温线</a:t>
            </a:r>
          </a:p>
        </p:txBody>
      </p:sp>
      <p:sp>
        <p:nvSpPr>
          <p:cNvPr id="4" name="Text Box 3">
            <a:extLst>
              <a:ext uri="{FF2B5EF4-FFF2-40B4-BE49-F238E27FC236}">
                <a16:creationId xmlns:a16="http://schemas.microsoft.com/office/drawing/2014/main" id="{E89D755F-0615-D295-E2D8-EF999D7A1FE9}"/>
              </a:ext>
            </a:extLst>
          </p:cNvPr>
          <p:cNvSpPr txBox="1"/>
          <p:nvPr/>
        </p:nvSpPr>
        <p:spPr>
          <a:xfrm>
            <a:off x="4895851" y="1401347"/>
            <a:ext cx="4038600" cy="523220"/>
          </a:xfrm>
          <a:prstGeom prst="rect">
            <a:avLst/>
          </a:prstGeom>
          <a:noFill/>
          <a:ln w="9525">
            <a:noFill/>
          </a:ln>
        </p:spPr>
        <p:txBody>
          <a:bodyPr>
            <a:spAutoFit/>
          </a:bodyPr>
          <a:lstStyle/>
          <a:p>
            <a:pPr>
              <a:spcBef>
                <a:spcPct val="50000"/>
              </a:spcBef>
            </a:pPr>
            <a:r>
              <a:rPr lang="zh-CN" altLang="en-US" sz="2800" dirty="0">
                <a:solidFill>
                  <a:srgbClr val="CC0000"/>
                </a:solidFill>
                <a:latin typeface="Times New Roman" panose="02020603050405020304" pitchFamily="18" charset="0"/>
              </a:rPr>
              <a:t>等温</a:t>
            </a:r>
            <a:r>
              <a:rPr lang="zh-CN" altLang="en-US" sz="2800" dirty="0">
                <a:solidFill>
                  <a:srgbClr val="000000"/>
                </a:solidFill>
                <a:latin typeface="Times New Roman" panose="02020603050405020304" pitchFamily="18" charset="0"/>
              </a:rPr>
              <a:t>过程曲线的斜率</a:t>
            </a:r>
            <a:endParaRPr lang="zh-CN" altLang="en-US" sz="2800" dirty="0">
              <a:solidFill>
                <a:srgbClr val="000000"/>
              </a:solidFill>
              <a:latin typeface="Times New Roman" panose="02020603050405020304" pitchFamily="18" charset="0"/>
              <a:ea typeface="楷体_GB2312" panose="02010609030101010101" pitchFamily="49" charset="-122"/>
            </a:endParaRPr>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FB77F128-19E6-4A7B-1030-07DA7769C479}"/>
                  </a:ext>
                </a:extLst>
              </p:cNvPr>
              <p:cNvSpPr txBox="1"/>
              <p:nvPr/>
            </p:nvSpPr>
            <p:spPr>
              <a:xfrm>
                <a:off x="5303842" y="3222988"/>
                <a:ext cx="2784475" cy="49530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𝑉</m:t>
                      </m:r>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5" name="Object 4">
                <a:extLst>
                  <a:ext uri="{FF2B5EF4-FFF2-40B4-BE49-F238E27FC236}">
                    <a16:creationId xmlns:a16="http://schemas.microsoft.com/office/drawing/2014/main" id="{FB77F128-19E6-4A7B-1030-07DA7769C479}"/>
                  </a:ext>
                </a:extLst>
              </p:cNvPr>
              <p:cNvSpPr txBox="1">
                <a:spLocks noRot="1" noChangeAspect="1" noMove="1" noResize="1" noEditPoints="1" noAdjustHandles="1" noChangeArrowheads="1" noChangeShapeType="1" noTextEdit="1"/>
              </p:cNvSpPr>
              <p:nvPr/>
            </p:nvSpPr>
            <p:spPr>
              <a:xfrm>
                <a:off x="5303842" y="3222988"/>
                <a:ext cx="2784475" cy="495300"/>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CDCE8E87-034F-2C31-CCC6-074E55AAD2D6}"/>
                  </a:ext>
                </a:extLst>
              </p:cNvPr>
              <p:cNvSpPr txBox="1"/>
              <p:nvPr/>
            </p:nvSpPr>
            <p:spPr>
              <a:xfrm>
                <a:off x="5276856" y="4167852"/>
                <a:ext cx="2590800" cy="11445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𝑝</m:t>
                          </m:r>
                        </m:num>
                        <m:den>
                          <m:r>
                            <m:rPr>
                              <m:sty m:val="p"/>
                            </m:rPr>
                            <a:rPr lang="en-US" sz="2800" b="0" i="0" smtClean="0">
                              <a:solidFill>
                                <a:srgbClr val="000000"/>
                              </a:solidFill>
                              <a:latin typeface="Cambria Math" panose="02040503050406030204" pitchFamily="18" charset="0"/>
                            </a:rPr>
                            <m:t>d</m:t>
                          </m:r>
                          <m:r>
                            <a:rPr lang="en-US" sz="2800" b="0" i="1" smtClean="0">
                              <a:solidFill>
                                <a:srgbClr val="000000"/>
                              </a:solidFill>
                              <a:latin typeface="Cambria Math" panose="02040503050406030204" pitchFamily="18" charset="0"/>
                            </a:rPr>
                            <m:t>𝑉</m:t>
                          </m:r>
                        </m:den>
                      </m:f>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m:t>
                          </m:r>
                        </m:e>
                        <m:sub>
                          <m:r>
                            <a:rPr lang="en-US" sz="2800" b="0" i="1" smtClean="0">
                              <a:solidFill>
                                <a:srgbClr val="000000"/>
                              </a:solidFill>
                              <a:latin typeface="Cambria Math" panose="02040503050406030204" pitchFamily="18" charset="0"/>
                            </a:rPr>
                            <m:t>𝑇</m:t>
                          </m:r>
                        </m:sub>
                      </m:sSub>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num>
                        <m:den>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den>
                      </m:f>
                    </m:oMath>
                  </m:oMathPara>
                </a14:m>
                <a:endParaRPr lang="en-US" sz="2800" dirty="0"/>
              </a:p>
            </p:txBody>
          </p:sp>
        </mc:Choice>
        <mc:Fallback xmlns="">
          <p:sp>
            <p:nvSpPr>
              <p:cNvPr id="6" name="Object 5">
                <a:extLst>
                  <a:ext uri="{FF2B5EF4-FFF2-40B4-BE49-F238E27FC236}">
                    <a16:creationId xmlns:a16="http://schemas.microsoft.com/office/drawing/2014/main" id="{CDCE8E87-034F-2C31-CCC6-074E55AAD2D6}"/>
                  </a:ext>
                </a:extLst>
              </p:cNvPr>
              <p:cNvSpPr txBox="1">
                <a:spLocks noRot="1" noChangeAspect="1" noMove="1" noResize="1" noEditPoints="1" noAdjustHandles="1" noChangeArrowheads="1" noChangeShapeType="1" noTextEdit="1"/>
              </p:cNvSpPr>
              <p:nvPr/>
            </p:nvSpPr>
            <p:spPr>
              <a:xfrm>
                <a:off x="5276856" y="4167852"/>
                <a:ext cx="2590800" cy="1144588"/>
              </a:xfrm>
              <a:prstGeom prst="rect">
                <a:avLst/>
              </a:prstGeom>
              <a:blipFill>
                <a:blip r:embed="rId6"/>
                <a:stretch>
                  <a:fillRect/>
                </a:stretch>
              </a:blipFill>
              <a:ln w="38100">
                <a:noFill/>
                <a:miter/>
              </a:ln>
            </p:spPr>
            <p:txBody>
              <a:bodyPr/>
              <a:lstStyle/>
              <a:p>
                <a:r>
                  <a:rPr lang="zh-CN" altLang="en-US">
                    <a:noFill/>
                  </a:rPr>
                  <a:t> </a:t>
                </a:r>
              </a:p>
            </p:txBody>
          </p:sp>
        </mc:Fallback>
      </mc:AlternateContent>
      <p:grpSp>
        <p:nvGrpSpPr>
          <p:cNvPr id="7" name="Group 6">
            <a:extLst>
              <a:ext uri="{FF2B5EF4-FFF2-40B4-BE49-F238E27FC236}">
                <a16:creationId xmlns:a16="http://schemas.microsoft.com/office/drawing/2014/main" id="{2745DBAA-8BCD-4D43-3983-AEF5974FD0EA}"/>
              </a:ext>
            </a:extLst>
          </p:cNvPr>
          <p:cNvGrpSpPr/>
          <p:nvPr/>
        </p:nvGrpSpPr>
        <p:grpSpPr>
          <a:xfrm>
            <a:off x="5430046" y="2220974"/>
            <a:ext cx="2222500" cy="523875"/>
            <a:chOff x="3723" y="2682"/>
            <a:chExt cx="1400" cy="330"/>
          </a:xfrm>
        </p:grpSpPr>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FC3E0F9D-C6DF-D88D-1559-C4CE12B67002}"/>
                    </a:ext>
                  </a:extLst>
                </p:cNvPr>
                <p:cNvSpPr txBox="1"/>
                <p:nvPr/>
              </p:nvSpPr>
              <p:spPr>
                <a:xfrm>
                  <a:off x="3723" y="2682"/>
                  <a:ext cx="741" cy="30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𝑝𝑉</m:t>
                        </m:r>
                        <m:r>
                          <a:rPr lang="en-US" sz="2800" b="0" i="1" smtClean="0">
                            <a:solidFill>
                              <a:srgbClr val="000000"/>
                            </a:solidFill>
                            <a:latin typeface="Cambria Math" panose="02040503050406030204" pitchFamily="18" charset="0"/>
                          </a:rPr>
                          <m:t>=</m:t>
                        </m:r>
                      </m:oMath>
                    </m:oMathPara>
                  </a14:m>
                  <a:endParaRPr lang="en-US" sz="2800"/>
                </a:p>
              </p:txBody>
            </p:sp>
          </mc:Choice>
          <mc:Fallback xmlns="">
            <p:sp>
              <p:nvSpPr>
                <p:cNvPr id="8" name="Object 7">
                  <a:extLst>
                    <a:ext uri="{FF2B5EF4-FFF2-40B4-BE49-F238E27FC236}">
                      <a16:creationId xmlns:a16="http://schemas.microsoft.com/office/drawing/2014/main" id="{FC3E0F9D-C6DF-D88D-1559-C4CE12B67002}"/>
                    </a:ext>
                  </a:extLst>
                </p:cNvPr>
                <p:cNvSpPr txBox="1">
                  <a:spLocks noRot="1" noChangeAspect="1" noMove="1" noResize="1" noEditPoints="1" noAdjustHandles="1" noChangeArrowheads="1" noChangeShapeType="1" noTextEdit="1"/>
                </p:cNvSpPr>
                <p:nvPr/>
              </p:nvSpPr>
              <p:spPr>
                <a:xfrm>
                  <a:off x="3723" y="2682"/>
                  <a:ext cx="741" cy="305"/>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9" name="Rectangle 8">
              <a:extLst>
                <a:ext uri="{FF2B5EF4-FFF2-40B4-BE49-F238E27FC236}">
                  <a16:creationId xmlns:a16="http://schemas.microsoft.com/office/drawing/2014/main" id="{0D13CEB1-7AB4-85A0-4861-3DCEA9525CD6}"/>
                </a:ext>
              </a:extLst>
            </p:cNvPr>
            <p:cNvSpPr/>
            <p:nvPr/>
          </p:nvSpPr>
          <p:spPr>
            <a:xfrm>
              <a:off x="4355" y="2682"/>
              <a:ext cx="768" cy="330"/>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p:sp>
        <p:nvSpPr>
          <p:cNvPr id="10" name="Text Box 2">
            <a:extLst>
              <a:ext uri="{FF2B5EF4-FFF2-40B4-BE49-F238E27FC236}">
                <a16:creationId xmlns:a16="http://schemas.microsoft.com/office/drawing/2014/main" id="{459F870A-5F33-321C-13F7-693AAB4932E3}"/>
              </a:ext>
            </a:extLst>
          </p:cNvPr>
          <p:cNvSpPr txBox="1">
            <a:spLocks noChangeArrowheads="1"/>
          </p:cNvSpPr>
          <p:nvPr/>
        </p:nvSpPr>
        <p:spPr bwMode="auto">
          <a:xfrm>
            <a:off x="2525713" y="5759887"/>
            <a:ext cx="6408738" cy="580159"/>
          </a:xfrm>
          <a:prstGeom prst="rect">
            <a:avLst/>
          </a:prstGeom>
          <a:noFill/>
          <a:ln w="9525">
            <a:noFill/>
            <a:miter lim="800000"/>
          </a:ln>
          <a:effectLst/>
        </p:spPr>
        <p:txBody>
          <a:bodyPr>
            <a:spAutoFit/>
          </a:bodyPr>
          <a:lstStyle/>
          <a:p>
            <a:pPr>
              <a:lnSpc>
                <a:spcPct val="120000"/>
              </a:lnSpc>
              <a:spcBef>
                <a:spcPct val="50000"/>
              </a:spcBef>
              <a:defRPr/>
            </a:pPr>
            <a:r>
              <a:rPr kumimoji="1" lang="en-US" altLang="zh-CN" sz="2800" dirty="0">
                <a:solidFill>
                  <a:srgbClr val="CC0000"/>
                </a:solidFill>
                <a:latin typeface="+mn-ea"/>
              </a:rPr>
              <a:t> </a:t>
            </a:r>
            <a:r>
              <a:rPr kumimoji="1" lang="zh-CN" altLang="en-US" sz="2800" dirty="0">
                <a:solidFill>
                  <a:srgbClr val="000000"/>
                </a:solidFill>
                <a:latin typeface="+mn-ea"/>
              </a:rPr>
              <a:t>绝热线的斜率大于等温线的斜率</a:t>
            </a:r>
            <a:endParaRPr kumimoji="1" lang="en-US" altLang="zh-CN" sz="2800" dirty="0">
              <a:solidFill>
                <a:srgbClr val="000000"/>
              </a:solidFill>
              <a:latin typeface="+mn-ea"/>
            </a:endParaRPr>
          </a:p>
        </p:txBody>
      </p:sp>
      <p:grpSp>
        <p:nvGrpSpPr>
          <p:cNvPr id="11" name="Group 9">
            <a:extLst>
              <a:ext uri="{FF2B5EF4-FFF2-40B4-BE49-F238E27FC236}">
                <a16:creationId xmlns:a16="http://schemas.microsoft.com/office/drawing/2014/main" id="{AB340559-0966-4FF9-6DC9-C4D4D28E8DA8}"/>
              </a:ext>
            </a:extLst>
          </p:cNvPr>
          <p:cNvGrpSpPr/>
          <p:nvPr/>
        </p:nvGrpSpPr>
        <p:grpSpPr>
          <a:xfrm>
            <a:off x="8170863" y="1592267"/>
            <a:ext cx="4191000" cy="3581400"/>
            <a:chOff x="360" y="960"/>
            <a:chExt cx="2640" cy="2256"/>
          </a:xfrm>
        </p:grpSpPr>
        <p:sp>
          <p:nvSpPr>
            <p:cNvPr id="12" name="Rectangle 10">
              <a:extLst>
                <a:ext uri="{FF2B5EF4-FFF2-40B4-BE49-F238E27FC236}">
                  <a16:creationId xmlns:a16="http://schemas.microsoft.com/office/drawing/2014/main" id="{E9F90192-12B0-7666-0F4E-F8201EDFE71E}"/>
                </a:ext>
              </a:extLst>
            </p:cNvPr>
            <p:cNvSpPr/>
            <p:nvPr/>
          </p:nvSpPr>
          <p:spPr>
            <a:xfrm>
              <a:off x="360" y="960"/>
              <a:ext cx="2544" cy="2256"/>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3" name="Line 11">
              <a:extLst>
                <a:ext uri="{FF2B5EF4-FFF2-40B4-BE49-F238E27FC236}">
                  <a16:creationId xmlns:a16="http://schemas.microsoft.com/office/drawing/2014/main" id="{B50562A8-735C-D6F1-D0D5-E01875F3D569}"/>
                </a:ext>
              </a:extLst>
            </p:cNvPr>
            <p:cNvSpPr/>
            <p:nvPr/>
          </p:nvSpPr>
          <p:spPr>
            <a:xfrm flipV="1">
              <a:off x="697" y="2832"/>
              <a:ext cx="1895" cy="7"/>
            </a:xfrm>
            <a:prstGeom prst="line">
              <a:avLst/>
            </a:prstGeom>
            <a:ln w="19050" cap="flat" cmpd="sng">
              <a:solidFill>
                <a:schemeClr val="tx1"/>
              </a:solidFill>
              <a:prstDash val="solid"/>
              <a:headEnd type="none" w="med" len="med"/>
              <a:tailEnd type="triangle" w="sm" len="lg"/>
            </a:ln>
          </p:spPr>
        </p:sp>
        <p:sp>
          <p:nvSpPr>
            <p:cNvPr id="14" name="Line 12">
              <a:extLst>
                <a:ext uri="{FF2B5EF4-FFF2-40B4-BE49-F238E27FC236}">
                  <a16:creationId xmlns:a16="http://schemas.microsoft.com/office/drawing/2014/main" id="{788599CD-97DB-65F6-AC40-E78E51D33E87}"/>
                </a:ext>
              </a:extLst>
            </p:cNvPr>
            <p:cNvSpPr/>
            <p:nvPr/>
          </p:nvSpPr>
          <p:spPr>
            <a:xfrm flipV="1">
              <a:off x="720" y="1056"/>
              <a:ext cx="0" cy="1783"/>
            </a:xfrm>
            <a:prstGeom prst="line">
              <a:avLst/>
            </a:prstGeom>
            <a:ln w="19050" cap="flat" cmpd="sng">
              <a:solidFill>
                <a:schemeClr val="tx1"/>
              </a:solidFill>
              <a:prstDash val="solid"/>
              <a:headEnd type="none" w="med" len="med"/>
              <a:tailEnd type="triangle" w="sm" len="lg"/>
            </a:ln>
          </p:spPr>
        </p:sp>
        <p:sp>
          <p:nvSpPr>
            <p:cNvPr id="15" name="Line 13">
              <a:extLst>
                <a:ext uri="{FF2B5EF4-FFF2-40B4-BE49-F238E27FC236}">
                  <a16:creationId xmlns:a16="http://schemas.microsoft.com/office/drawing/2014/main" id="{D08039D1-D40B-0D5C-BE19-C2AFDB2BA83B}"/>
                </a:ext>
              </a:extLst>
            </p:cNvPr>
            <p:cNvSpPr/>
            <p:nvPr/>
          </p:nvSpPr>
          <p:spPr>
            <a:xfrm>
              <a:off x="1440" y="1776"/>
              <a:ext cx="0" cy="1392"/>
            </a:xfrm>
            <a:prstGeom prst="line">
              <a:avLst/>
            </a:prstGeom>
            <a:ln w="12700" cap="flat" cmpd="sng">
              <a:solidFill>
                <a:schemeClr val="tx1"/>
              </a:solidFill>
              <a:prstDash val="dash"/>
              <a:headEnd type="none" w="med" len="med"/>
              <a:tailEnd type="none" w="med" len="med"/>
            </a:ln>
          </p:spPr>
        </p:sp>
        <p:sp>
          <p:nvSpPr>
            <p:cNvPr id="16" name="Line 14">
              <a:extLst>
                <a:ext uri="{FF2B5EF4-FFF2-40B4-BE49-F238E27FC236}">
                  <a16:creationId xmlns:a16="http://schemas.microsoft.com/office/drawing/2014/main" id="{8D63E5BC-9037-991C-4C70-C015A0408C34}"/>
                </a:ext>
              </a:extLst>
            </p:cNvPr>
            <p:cNvSpPr/>
            <p:nvPr/>
          </p:nvSpPr>
          <p:spPr>
            <a:xfrm>
              <a:off x="1824" y="2064"/>
              <a:ext cx="0" cy="1104"/>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17" name="Object 15">
                  <a:extLst>
                    <a:ext uri="{FF2B5EF4-FFF2-40B4-BE49-F238E27FC236}">
                      <a16:creationId xmlns:a16="http://schemas.microsoft.com/office/drawing/2014/main" id="{31A9E6FB-BDD9-4259-1BEC-630A8BF0F70E}"/>
                    </a:ext>
                  </a:extLst>
                </p:cNvPr>
                <p:cNvSpPr txBox="1"/>
                <p:nvPr/>
              </p:nvSpPr>
              <p:spPr>
                <a:xfrm>
                  <a:off x="384" y="1584"/>
                  <a:ext cx="336" cy="31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7" name="Object 15">
                  <a:extLst>
                    <a:ext uri="{FF2B5EF4-FFF2-40B4-BE49-F238E27FC236}">
                      <a16:creationId xmlns:a16="http://schemas.microsoft.com/office/drawing/2014/main" id="{31A9E6FB-BDD9-4259-1BEC-630A8BF0F70E}"/>
                    </a:ext>
                  </a:extLst>
                </p:cNvPr>
                <p:cNvSpPr txBox="1">
                  <a:spLocks noRot="1" noChangeAspect="1" noMove="1" noResize="1" noEditPoints="1" noAdjustHandles="1" noChangeArrowheads="1" noChangeShapeType="1" noTextEdit="1"/>
                </p:cNvSpPr>
                <p:nvPr/>
              </p:nvSpPr>
              <p:spPr>
                <a:xfrm>
                  <a:off x="384" y="1584"/>
                  <a:ext cx="336" cy="319"/>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6">
                  <a:extLst>
                    <a:ext uri="{FF2B5EF4-FFF2-40B4-BE49-F238E27FC236}">
                      <a16:creationId xmlns:a16="http://schemas.microsoft.com/office/drawing/2014/main" id="{646BE849-B9C6-14B9-F630-564AFC0EF780}"/>
                    </a:ext>
                  </a:extLst>
                </p:cNvPr>
                <p:cNvSpPr txBox="1"/>
                <p:nvPr/>
              </p:nvSpPr>
              <p:spPr>
                <a:xfrm>
                  <a:off x="1824" y="2784"/>
                  <a:ext cx="329"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𝐵</m:t>
                            </m:r>
                          </m:sub>
                        </m:sSub>
                      </m:oMath>
                    </m:oMathPara>
                  </a14:m>
                  <a:endParaRPr lang="en-US" sz="2800"/>
                </a:p>
              </p:txBody>
            </p:sp>
          </mc:Choice>
          <mc:Fallback xmlns="">
            <p:sp>
              <p:nvSpPr>
                <p:cNvPr id="18" name="Object 16">
                  <a:extLst>
                    <a:ext uri="{FF2B5EF4-FFF2-40B4-BE49-F238E27FC236}">
                      <a16:creationId xmlns:a16="http://schemas.microsoft.com/office/drawing/2014/main" id="{646BE849-B9C6-14B9-F630-564AFC0EF780}"/>
                    </a:ext>
                  </a:extLst>
                </p:cNvPr>
                <p:cNvSpPr txBox="1">
                  <a:spLocks noRot="1" noChangeAspect="1" noMove="1" noResize="1" noEditPoints="1" noAdjustHandles="1" noChangeArrowheads="1" noChangeShapeType="1" noTextEdit="1"/>
                </p:cNvSpPr>
                <p:nvPr/>
              </p:nvSpPr>
              <p:spPr>
                <a:xfrm>
                  <a:off x="1824" y="2784"/>
                  <a:ext cx="329" cy="384"/>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BBB1940B-B87D-5DBA-CDF9-686AE1B5A7E0}"/>
                    </a:ext>
                  </a:extLst>
                </p:cNvPr>
                <p:cNvSpPr txBox="1"/>
                <p:nvPr/>
              </p:nvSpPr>
              <p:spPr>
                <a:xfrm>
                  <a:off x="1152" y="2784"/>
                  <a:ext cx="327"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9" name="Object 17">
                  <a:extLst>
                    <a:ext uri="{FF2B5EF4-FFF2-40B4-BE49-F238E27FC236}">
                      <a16:creationId xmlns:a16="http://schemas.microsoft.com/office/drawing/2014/main" id="{BBB1940B-B87D-5DBA-CDF9-686AE1B5A7E0}"/>
                    </a:ext>
                  </a:extLst>
                </p:cNvPr>
                <p:cNvSpPr txBox="1">
                  <a:spLocks noRot="1" noChangeAspect="1" noMove="1" noResize="1" noEditPoints="1" noAdjustHandles="1" noChangeArrowheads="1" noChangeShapeType="1" noTextEdit="1"/>
                </p:cNvSpPr>
                <p:nvPr/>
              </p:nvSpPr>
              <p:spPr>
                <a:xfrm>
                  <a:off x="1152" y="2784"/>
                  <a:ext cx="327" cy="384"/>
                </a:xfrm>
                <a:prstGeom prst="rect">
                  <a:avLst/>
                </a:prstGeom>
                <a:blipFill>
                  <a:blip r:embed="rId10"/>
                  <a:stretch>
                    <a:fillRect/>
                  </a:stretch>
                </a:blipFill>
                <a:ln w="38100">
                  <a:noFill/>
                  <a:miter/>
                </a:ln>
              </p:spPr>
              <p:txBody>
                <a:bodyPr/>
                <a:lstStyle/>
                <a:p>
                  <a:r>
                    <a:rPr lang="zh-CN" altLang="en-US">
                      <a:noFill/>
                    </a:rPr>
                    <a:t> </a:t>
                  </a:r>
                </a:p>
              </p:txBody>
            </p:sp>
          </mc:Fallback>
        </mc:AlternateContent>
        <p:sp>
          <p:nvSpPr>
            <p:cNvPr id="20" name="Line 18">
              <a:extLst>
                <a:ext uri="{FF2B5EF4-FFF2-40B4-BE49-F238E27FC236}">
                  <a16:creationId xmlns:a16="http://schemas.microsoft.com/office/drawing/2014/main" id="{4C9B11E3-A381-C0F1-7855-B377C116BBDC}"/>
                </a:ext>
              </a:extLst>
            </p:cNvPr>
            <p:cNvSpPr/>
            <p:nvPr/>
          </p:nvSpPr>
          <p:spPr>
            <a:xfrm flipH="1">
              <a:off x="720" y="1776"/>
              <a:ext cx="720" cy="0"/>
            </a:xfrm>
            <a:prstGeom prst="line">
              <a:avLst/>
            </a:prstGeom>
            <a:ln w="12700" cap="flat" cmpd="sng">
              <a:solidFill>
                <a:schemeClr val="tx1"/>
              </a:solidFill>
              <a:prstDash val="dash"/>
              <a:headEnd type="none" w="med" len="med"/>
              <a:tailEnd type="none" w="med" len="med"/>
            </a:ln>
          </p:spPr>
        </p:sp>
        <p:sp>
          <p:nvSpPr>
            <p:cNvPr id="21" name="Text Box 19">
              <a:extLst>
                <a:ext uri="{FF2B5EF4-FFF2-40B4-BE49-F238E27FC236}">
                  <a16:creationId xmlns:a16="http://schemas.microsoft.com/office/drawing/2014/main" id="{997EAB4B-3F02-D042-088F-195A1E36F736}"/>
                </a:ext>
              </a:extLst>
            </p:cNvPr>
            <p:cNvSpPr txBox="1"/>
            <p:nvPr/>
          </p:nvSpPr>
          <p:spPr>
            <a:xfrm>
              <a:off x="1440" y="1536"/>
              <a:ext cx="336" cy="330"/>
            </a:xfrm>
            <a:prstGeom prst="rect">
              <a:avLst/>
            </a:prstGeom>
            <a:noFill/>
            <a:ln w="9525">
              <a:noFill/>
            </a:ln>
          </p:spPr>
          <p:txBody>
            <a:bodyPr>
              <a:spAutoFit/>
            </a:bodyPr>
            <a:lstStyle/>
            <a:p>
              <a:pPr>
                <a:spcBef>
                  <a:spcPct val="50000"/>
                </a:spcBef>
              </a:pPr>
              <a:r>
                <a:rPr lang="en-US" altLang="zh-CN" sz="2800" i="1" dirty="0">
                  <a:latin typeface="Times New Roman" panose="02020603050405020304" pitchFamily="18" charset="0"/>
                  <a:ea typeface="楷体_GB2312" panose="02010609030101010101" pitchFamily="49" charset="-122"/>
                </a:rPr>
                <a:t>A</a:t>
              </a:r>
            </a:p>
          </p:txBody>
        </p:sp>
        <mc:AlternateContent xmlns:mc="http://schemas.openxmlformats.org/markup-compatibility/2006" xmlns:a14="http://schemas.microsoft.com/office/drawing/2010/main">
          <mc:Choice Requires="a14">
            <p:sp>
              <p:nvSpPr>
                <p:cNvPr id="22" name="Object 20">
                  <a:extLst>
                    <a:ext uri="{FF2B5EF4-FFF2-40B4-BE49-F238E27FC236}">
                      <a16:creationId xmlns:a16="http://schemas.microsoft.com/office/drawing/2014/main" id="{ED0860AD-A387-0A5F-ABCE-A0E9273EE20E}"/>
                    </a:ext>
                  </a:extLst>
                </p:cNvPr>
                <p:cNvSpPr txBox="1"/>
                <p:nvPr/>
              </p:nvSpPr>
              <p:spPr>
                <a:xfrm>
                  <a:off x="432" y="1056"/>
                  <a:ext cx="213" cy="25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oMath>
                    </m:oMathPara>
                  </a14:m>
                  <a:endParaRPr lang="en-US" sz="2800"/>
                </a:p>
              </p:txBody>
            </p:sp>
          </mc:Choice>
          <mc:Fallback xmlns="">
            <p:sp>
              <p:nvSpPr>
                <p:cNvPr id="22" name="Object 20">
                  <a:extLst>
                    <a:ext uri="{FF2B5EF4-FFF2-40B4-BE49-F238E27FC236}">
                      <a16:creationId xmlns:a16="http://schemas.microsoft.com/office/drawing/2014/main" id="{ED0860AD-A387-0A5F-ABCE-A0E9273EE20E}"/>
                    </a:ext>
                  </a:extLst>
                </p:cNvPr>
                <p:cNvSpPr txBox="1">
                  <a:spLocks noRot="1" noChangeAspect="1" noMove="1" noResize="1" noEditPoints="1" noAdjustHandles="1" noChangeArrowheads="1" noChangeShapeType="1" noTextEdit="1"/>
                </p:cNvSpPr>
                <p:nvPr/>
              </p:nvSpPr>
              <p:spPr>
                <a:xfrm>
                  <a:off x="432" y="1056"/>
                  <a:ext cx="213" cy="254"/>
                </a:xfrm>
                <a:prstGeom prst="rect">
                  <a:avLst/>
                </a:prstGeom>
                <a:blipFill>
                  <a:blip r:embed="rId11"/>
                  <a:stretch>
                    <a:fillRect b="-1515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21">
                  <a:extLst>
                    <a:ext uri="{FF2B5EF4-FFF2-40B4-BE49-F238E27FC236}">
                      <a16:creationId xmlns:a16="http://schemas.microsoft.com/office/drawing/2014/main" id="{D6B78BB1-4472-1B4B-5FE2-8143BA51A53A}"/>
                    </a:ext>
                  </a:extLst>
                </p:cNvPr>
                <p:cNvSpPr txBox="1"/>
                <p:nvPr/>
              </p:nvSpPr>
              <p:spPr>
                <a:xfrm>
                  <a:off x="2352" y="2880"/>
                  <a:ext cx="197"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𝑉</m:t>
                        </m:r>
                      </m:oMath>
                    </m:oMathPara>
                  </a14:m>
                  <a:endParaRPr lang="en-US" sz="2800"/>
                </a:p>
              </p:txBody>
            </p:sp>
          </mc:Choice>
          <mc:Fallback xmlns="">
            <p:sp>
              <p:nvSpPr>
                <p:cNvPr id="23" name="Object 21">
                  <a:extLst>
                    <a:ext uri="{FF2B5EF4-FFF2-40B4-BE49-F238E27FC236}">
                      <a16:creationId xmlns:a16="http://schemas.microsoft.com/office/drawing/2014/main" id="{D6B78BB1-4472-1B4B-5FE2-8143BA51A53A}"/>
                    </a:ext>
                  </a:extLst>
                </p:cNvPr>
                <p:cNvSpPr txBox="1">
                  <a:spLocks noRot="1" noChangeAspect="1" noMove="1" noResize="1" noEditPoints="1" noAdjustHandles="1" noChangeArrowheads="1" noChangeShapeType="1" noTextEdit="1"/>
                </p:cNvSpPr>
                <p:nvPr/>
              </p:nvSpPr>
              <p:spPr>
                <a:xfrm>
                  <a:off x="2352" y="2880"/>
                  <a:ext cx="197" cy="220"/>
                </a:xfrm>
                <a:prstGeom prst="rect">
                  <a:avLst/>
                </a:prstGeom>
                <a:blipFill>
                  <a:blip r:embed="rId12"/>
                  <a:stretch>
                    <a:fillRect b="-120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22">
                  <a:extLst>
                    <a:ext uri="{FF2B5EF4-FFF2-40B4-BE49-F238E27FC236}">
                      <a16:creationId xmlns:a16="http://schemas.microsoft.com/office/drawing/2014/main" id="{BEC357FA-88B0-E859-7C5F-C349B3FA2E86}"/>
                    </a:ext>
                  </a:extLst>
                </p:cNvPr>
                <p:cNvSpPr txBox="1"/>
                <p:nvPr/>
              </p:nvSpPr>
              <p:spPr>
                <a:xfrm>
                  <a:off x="601" y="2887"/>
                  <a:ext cx="177" cy="20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𝑜</m:t>
                        </m:r>
                      </m:oMath>
                    </m:oMathPara>
                  </a14:m>
                  <a:endParaRPr lang="en-US" sz="2800"/>
                </a:p>
              </p:txBody>
            </p:sp>
          </mc:Choice>
          <mc:Fallback xmlns="">
            <p:sp>
              <p:nvSpPr>
                <p:cNvPr id="24" name="Object 22">
                  <a:extLst>
                    <a:ext uri="{FF2B5EF4-FFF2-40B4-BE49-F238E27FC236}">
                      <a16:creationId xmlns:a16="http://schemas.microsoft.com/office/drawing/2014/main" id="{BEC357FA-88B0-E859-7C5F-C349B3FA2E86}"/>
                    </a:ext>
                  </a:extLst>
                </p:cNvPr>
                <p:cNvSpPr txBox="1">
                  <a:spLocks noRot="1" noChangeAspect="1" noMove="1" noResize="1" noEditPoints="1" noAdjustHandles="1" noChangeArrowheads="1" noChangeShapeType="1" noTextEdit="1"/>
                </p:cNvSpPr>
                <p:nvPr/>
              </p:nvSpPr>
              <p:spPr>
                <a:xfrm>
                  <a:off x="601" y="2887"/>
                  <a:ext cx="177" cy="204"/>
                </a:xfrm>
                <a:prstGeom prst="rect">
                  <a:avLst/>
                </a:prstGeom>
                <a:blipFill>
                  <a:blip r:embed="rId13"/>
                  <a:stretch>
                    <a:fillRect b="-2264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23">
                  <a:extLst>
                    <a:ext uri="{FF2B5EF4-FFF2-40B4-BE49-F238E27FC236}">
                      <a16:creationId xmlns:a16="http://schemas.microsoft.com/office/drawing/2014/main" id="{4CD877F2-B245-CA50-458E-F759FB3E8B09}"/>
                    </a:ext>
                  </a:extLst>
                </p:cNvPr>
                <p:cNvSpPr txBox="1"/>
                <p:nvPr/>
              </p:nvSpPr>
              <p:spPr>
                <a:xfrm>
                  <a:off x="1878" y="966"/>
                  <a:ext cx="597" cy="22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𝑇</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5" name="Object 23">
                  <a:extLst>
                    <a:ext uri="{FF2B5EF4-FFF2-40B4-BE49-F238E27FC236}">
                      <a16:creationId xmlns:a16="http://schemas.microsoft.com/office/drawing/2014/main" id="{4CD877F2-B245-CA50-458E-F759FB3E8B09}"/>
                    </a:ext>
                  </a:extLst>
                </p:cNvPr>
                <p:cNvSpPr txBox="1">
                  <a:spLocks noRot="1" noChangeAspect="1" noMove="1" noResize="1" noEditPoints="1" noAdjustHandles="1" noChangeArrowheads="1" noChangeShapeType="1" noTextEdit="1"/>
                </p:cNvSpPr>
                <p:nvPr/>
              </p:nvSpPr>
              <p:spPr>
                <a:xfrm>
                  <a:off x="1878" y="966"/>
                  <a:ext cx="597" cy="221"/>
                </a:xfrm>
                <a:prstGeom prst="rect">
                  <a:avLst/>
                </a:prstGeom>
                <a:blipFill>
                  <a:blip r:embed="rId14"/>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24">
                  <a:extLst>
                    <a:ext uri="{FF2B5EF4-FFF2-40B4-BE49-F238E27FC236}">
                      <a16:creationId xmlns:a16="http://schemas.microsoft.com/office/drawing/2014/main" id="{D7536CB3-9D43-39AE-5144-EE6280691C46}"/>
                    </a:ext>
                  </a:extLst>
                </p:cNvPr>
                <p:cNvSpPr txBox="1"/>
                <p:nvPr/>
              </p:nvSpPr>
              <p:spPr>
                <a:xfrm>
                  <a:off x="1848" y="1235"/>
                  <a:ext cx="1152" cy="29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𝑄</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26" name="Object 24">
                  <a:extLst>
                    <a:ext uri="{FF2B5EF4-FFF2-40B4-BE49-F238E27FC236}">
                      <a16:creationId xmlns:a16="http://schemas.microsoft.com/office/drawing/2014/main" id="{D7536CB3-9D43-39AE-5144-EE6280691C46}"/>
                    </a:ext>
                  </a:extLst>
                </p:cNvPr>
                <p:cNvSpPr txBox="1">
                  <a:spLocks noRot="1" noChangeAspect="1" noMove="1" noResize="1" noEditPoints="1" noAdjustHandles="1" noChangeArrowheads="1" noChangeShapeType="1" noTextEdit="1"/>
                </p:cNvSpPr>
                <p:nvPr/>
              </p:nvSpPr>
              <p:spPr>
                <a:xfrm>
                  <a:off x="1848" y="1235"/>
                  <a:ext cx="1152" cy="297"/>
                </a:xfrm>
                <a:prstGeom prst="rect">
                  <a:avLst/>
                </a:prstGeom>
                <a:blipFill>
                  <a:blip r:embed="rId15"/>
                  <a:stretch>
                    <a:fillRect/>
                  </a:stretch>
                </a:blipFill>
                <a:ln w="38100">
                  <a:noFill/>
                  <a:miter/>
                </a:ln>
              </p:spPr>
              <p:txBody>
                <a:bodyPr/>
                <a:lstStyle/>
                <a:p>
                  <a:r>
                    <a:rPr lang="zh-CN" altLang="en-US">
                      <a:noFill/>
                    </a:rPr>
                    <a:t> </a:t>
                  </a:r>
                </a:p>
              </p:txBody>
            </p:sp>
          </mc:Fallback>
        </mc:AlternateContent>
        <p:sp>
          <p:nvSpPr>
            <p:cNvPr id="27" name="Freeform 25">
              <a:extLst>
                <a:ext uri="{FF2B5EF4-FFF2-40B4-BE49-F238E27FC236}">
                  <a16:creationId xmlns:a16="http://schemas.microsoft.com/office/drawing/2014/main" id="{F2451D71-02FB-81FD-5DA6-61A0B44087DE}"/>
                </a:ext>
              </a:extLst>
            </p:cNvPr>
            <p:cNvSpPr/>
            <p:nvPr/>
          </p:nvSpPr>
          <p:spPr>
            <a:xfrm>
              <a:off x="1008" y="1152"/>
              <a:ext cx="1440" cy="1179"/>
            </a:xfrm>
            <a:custGeom>
              <a:avLst/>
              <a:gdLst>
                <a:gd name="txL" fmla="*/ 0 w 1495"/>
                <a:gd name="txT" fmla="*/ 0 h 1179"/>
                <a:gd name="txR" fmla="*/ 1495 w 1495"/>
                <a:gd name="txB" fmla="*/ 1179 h 1179"/>
              </a:gdLst>
              <a:ahLst/>
              <a:cxnLst>
                <a:cxn ang="0">
                  <a:pos x="0" y="0"/>
                </a:cxn>
                <a:cxn ang="0">
                  <a:pos x="192" y="329"/>
                </a:cxn>
                <a:cxn ang="0">
                  <a:pos x="423" y="617"/>
                </a:cxn>
                <a:cxn ang="0">
                  <a:pos x="767" y="891"/>
                </a:cxn>
                <a:cxn ang="0">
                  <a:pos x="1209" y="1097"/>
                </a:cxn>
                <a:cxn ang="0">
                  <a:pos x="1440" y="1179"/>
                </a:cxn>
              </a:cxnLst>
              <a:rect l="txL" t="txT" r="txR" b="txB"/>
              <a:pathLst>
                <a:path w="1495" h="1179">
                  <a:moveTo>
                    <a:pt x="0" y="0"/>
                  </a:moveTo>
                  <a:cubicBezTo>
                    <a:pt x="33" y="55"/>
                    <a:pt x="126" y="226"/>
                    <a:pt x="199" y="329"/>
                  </a:cubicBezTo>
                  <a:cubicBezTo>
                    <a:pt x="272" y="432"/>
                    <a:pt x="339" y="523"/>
                    <a:pt x="439" y="617"/>
                  </a:cubicBezTo>
                  <a:cubicBezTo>
                    <a:pt x="539" y="711"/>
                    <a:pt x="660" y="811"/>
                    <a:pt x="796" y="891"/>
                  </a:cubicBezTo>
                  <a:cubicBezTo>
                    <a:pt x="932" y="971"/>
                    <a:pt x="1139" y="1049"/>
                    <a:pt x="1255" y="1097"/>
                  </a:cubicBezTo>
                  <a:cubicBezTo>
                    <a:pt x="1371" y="1145"/>
                    <a:pt x="1445" y="1162"/>
                    <a:pt x="1495" y="1179"/>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28" name="Freeform 26">
              <a:extLst>
                <a:ext uri="{FF2B5EF4-FFF2-40B4-BE49-F238E27FC236}">
                  <a16:creationId xmlns:a16="http://schemas.microsoft.com/office/drawing/2014/main" id="{4CA226B3-E23E-21CB-C484-05D146DCE3B8}"/>
                </a:ext>
              </a:extLst>
            </p:cNvPr>
            <p:cNvSpPr/>
            <p:nvPr/>
          </p:nvSpPr>
          <p:spPr>
            <a:xfrm>
              <a:off x="1200" y="1152"/>
              <a:ext cx="1248" cy="1406"/>
            </a:xfrm>
            <a:custGeom>
              <a:avLst/>
              <a:gdLst>
                <a:gd name="txL" fmla="*/ 0 w 1248"/>
                <a:gd name="txT" fmla="*/ 0 h 1406"/>
                <a:gd name="txR" fmla="*/ 1248 w 1248"/>
                <a:gd name="txB" fmla="*/ 1406 h 1406"/>
              </a:gdLst>
              <a:ahLst/>
              <a:cxnLst>
                <a:cxn ang="0">
                  <a:pos x="0" y="0"/>
                </a:cxn>
                <a:cxn ang="0">
                  <a:pos x="102" y="329"/>
                </a:cxn>
                <a:cxn ang="0">
                  <a:pos x="233" y="597"/>
                </a:cxn>
                <a:cxn ang="0">
                  <a:pos x="425" y="871"/>
                </a:cxn>
                <a:cxn ang="0">
                  <a:pos x="603" y="1069"/>
                </a:cxn>
                <a:cxn ang="0">
                  <a:pos x="843" y="1234"/>
                </a:cxn>
                <a:cxn ang="0">
                  <a:pos x="1090" y="1351"/>
                </a:cxn>
                <a:cxn ang="0">
                  <a:pos x="1248" y="1406"/>
                </a:cxn>
              </a:cxnLst>
              <a:rect l="txL" t="txT" r="txR" b="txB"/>
              <a:pathLst>
                <a:path w="1248" h="1406">
                  <a:moveTo>
                    <a:pt x="0" y="0"/>
                  </a:moveTo>
                  <a:cubicBezTo>
                    <a:pt x="17" y="55"/>
                    <a:pt x="63" y="229"/>
                    <a:pt x="102" y="329"/>
                  </a:cubicBezTo>
                  <a:cubicBezTo>
                    <a:pt x="141" y="429"/>
                    <a:pt x="179" y="507"/>
                    <a:pt x="233" y="597"/>
                  </a:cubicBezTo>
                  <a:cubicBezTo>
                    <a:pt x="287" y="687"/>
                    <a:pt x="363" y="792"/>
                    <a:pt x="425" y="871"/>
                  </a:cubicBezTo>
                  <a:cubicBezTo>
                    <a:pt x="487" y="950"/>
                    <a:pt x="533" y="1009"/>
                    <a:pt x="603" y="1069"/>
                  </a:cubicBezTo>
                  <a:cubicBezTo>
                    <a:pt x="673" y="1129"/>
                    <a:pt x="762" y="1187"/>
                    <a:pt x="843" y="1234"/>
                  </a:cubicBezTo>
                  <a:cubicBezTo>
                    <a:pt x="924" y="1281"/>
                    <a:pt x="1023" y="1322"/>
                    <a:pt x="1090" y="1351"/>
                  </a:cubicBezTo>
                  <a:cubicBezTo>
                    <a:pt x="1157" y="1380"/>
                    <a:pt x="1215" y="1395"/>
                    <a:pt x="1248" y="1406"/>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800" dirty="0"/>
            </a:p>
          </p:txBody>
        </p:sp>
        <p:sp>
          <p:nvSpPr>
            <p:cNvPr id="29" name="Line 27">
              <a:extLst>
                <a:ext uri="{FF2B5EF4-FFF2-40B4-BE49-F238E27FC236}">
                  <a16:creationId xmlns:a16="http://schemas.microsoft.com/office/drawing/2014/main" id="{EB22C6D9-2550-CCFF-8B05-19ECF879C8F6}"/>
                </a:ext>
              </a:extLst>
            </p:cNvPr>
            <p:cNvSpPr/>
            <p:nvPr/>
          </p:nvSpPr>
          <p:spPr>
            <a:xfrm flipH="1">
              <a:off x="1104" y="2064"/>
              <a:ext cx="720" cy="0"/>
            </a:xfrm>
            <a:prstGeom prst="line">
              <a:avLst/>
            </a:prstGeom>
            <a:ln w="12700" cap="flat" cmpd="sng">
              <a:solidFill>
                <a:schemeClr val="tx1"/>
              </a:solidFill>
              <a:prstDash val="dash"/>
              <a:headEnd type="none" w="med" len="med"/>
              <a:tailEnd type="none" w="med" len="med"/>
            </a:ln>
          </p:spPr>
        </p:sp>
        <p:sp>
          <p:nvSpPr>
            <p:cNvPr id="30" name="Line 28">
              <a:extLst>
                <a:ext uri="{FF2B5EF4-FFF2-40B4-BE49-F238E27FC236}">
                  <a16:creationId xmlns:a16="http://schemas.microsoft.com/office/drawing/2014/main" id="{2FF8A218-06D1-5848-8B1F-33FC8BF872E7}"/>
                </a:ext>
              </a:extLst>
            </p:cNvPr>
            <p:cNvSpPr/>
            <p:nvPr/>
          </p:nvSpPr>
          <p:spPr>
            <a:xfrm flipH="1">
              <a:off x="768" y="2256"/>
              <a:ext cx="1056" cy="0"/>
            </a:xfrm>
            <a:prstGeom prst="line">
              <a:avLst/>
            </a:prstGeom>
            <a:ln w="12700" cap="flat" cmpd="sng">
              <a:solidFill>
                <a:schemeClr val="tx1"/>
              </a:solidFill>
              <a:prstDash val="dash"/>
              <a:headEnd type="none" w="med" len="med"/>
              <a:tailEnd type="none" w="med" len="med"/>
            </a:ln>
          </p:spPr>
        </p:sp>
        <p:sp>
          <p:nvSpPr>
            <p:cNvPr id="31" name="Line 29">
              <a:extLst>
                <a:ext uri="{FF2B5EF4-FFF2-40B4-BE49-F238E27FC236}">
                  <a16:creationId xmlns:a16="http://schemas.microsoft.com/office/drawing/2014/main" id="{CC5629F1-A04B-C3A5-72D5-253B55FCF4AE}"/>
                </a:ext>
              </a:extLst>
            </p:cNvPr>
            <p:cNvSpPr/>
            <p:nvPr/>
          </p:nvSpPr>
          <p:spPr>
            <a:xfrm>
              <a:off x="1440" y="2928"/>
              <a:ext cx="384" cy="0"/>
            </a:xfrm>
            <a:prstGeom prst="line">
              <a:avLst/>
            </a:prstGeom>
            <a:ln w="9525" cap="flat" cmpd="sng">
              <a:solidFill>
                <a:srgbClr val="FF0066"/>
              </a:solidFill>
              <a:prstDash val="solid"/>
              <a:headEnd type="triangle" w="sm" len="lg"/>
              <a:tailEnd type="triangle" w="sm" len="lg"/>
            </a:ln>
          </p:spPr>
        </p:sp>
        <mc:AlternateContent xmlns:mc="http://schemas.openxmlformats.org/markup-compatibility/2006" xmlns:a14="http://schemas.microsoft.com/office/drawing/2010/main">
          <mc:Choice Requires="a14">
            <p:sp>
              <p:nvSpPr>
                <p:cNvPr id="32" name="Object 30">
                  <a:extLst>
                    <a:ext uri="{FF2B5EF4-FFF2-40B4-BE49-F238E27FC236}">
                      <a16:creationId xmlns:a16="http://schemas.microsoft.com/office/drawing/2014/main" id="{D7C741AD-8F0A-AED6-701F-BC9808CFA6E5}"/>
                    </a:ext>
                  </a:extLst>
                </p:cNvPr>
                <p:cNvSpPr txBox="1"/>
                <p:nvPr/>
              </p:nvSpPr>
              <p:spPr>
                <a:xfrm>
                  <a:off x="1488" y="2976"/>
                  <a:ext cx="336" cy="20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r>
                          <a:rPr lang="en-US" sz="2800" b="0" i="1" smtClean="0">
                            <a:solidFill>
                              <a:srgbClr val="000000"/>
                            </a:solidFill>
                            <a:latin typeface="Cambria Math" panose="02040503050406030204" pitchFamily="18" charset="0"/>
                          </a:rPr>
                          <m:t>𝑉</m:t>
                        </m:r>
                      </m:oMath>
                    </m:oMathPara>
                  </a14:m>
                  <a:endParaRPr lang="en-US" sz="2800" dirty="0"/>
                </a:p>
              </p:txBody>
            </p:sp>
          </mc:Choice>
          <mc:Fallback xmlns="">
            <p:sp>
              <p:nvSpPr>
                <p:cNvPr id="32" name="Object 30">
                  <a:extLst>
                    <a:ext uri="{FF2B5EF4-FFF2-40B4-BE49-F238E27FC236}">
                      <a16:creationId xmlns:a16="http://schemas.microsoft.com/office/drawing/2014/main" id="{D7C741AD-8F0A-AED6-701F-BC9808CFA6E5}"/>
                    </a:ext>
                  </a:extLst>
                </p:cNvPr>
                <p:cNvSpPr txBox="1">
                  <a:spLocks noRot="1" noChangeAspect="1" noMove="1" noResize="1" noEditPoints="1" noAdjustHandles="1" noChangeArrowheads="1" noChangeShapeType="1" noTextEdit="1"/>
                </p:cNvSpPr>
                <p:nvPr/>
              </p:nvSpPr>
              <p:spPr>
                <a:xfrm>
                  <a:off x="1488" y="2976"/>
                  <a:ext cx="336" cy="206"/>
                </a:xfrm>
                <a:prstGeom prst="rect">
                  <a:avLst/>
                </a:prstGeom>
                <a:blipFill>
                  <a:blip r:embed="rId16"/>
                  <a:stretch>
                    <a:fillRect b="-20370"/>
                  </a:stretch>
                </a:blipFill>
                <a:ln w="38100">
                  <a:noFill/>
                  <a:miter/>
                </a:ln>
              </p:spPr>
              <p:txBody>
                <a:bodyPr/>
                <a:lstStyle/>
                <a:p>
                  <a:r>
                    <a:rPr lang="zh-CN" altLang="en-US">
                      <a:noFill/>
                    </a:rPr>
                    <a:t> </a:t>
                  </a:r>
                </a:p>
              </p:txBody>
            </p:sp>
          </mc:Fallback>
        </mc:AlternateContent>
        <p:sp>
          <p:nvSpPr>
            <p:cNvPr id="33" name="Line 31">
              <a:extLst>
                <a:ext uri="{FF2B5EF4-FFF2-40B4-BE49-F238E27FC236}">
                  <a16:creationId xmlns:a16="http://schemas.microsoft.com/office/drawing/2014/main" id="{DB97C03A-D638-43F6-8F7A-4D50C14762E0}"/>
                </a:ext>
              </a:extLst>
            </p:cNvPr>
            <p:cNvSpPr/>
            <p:nvPr/>
          </p:nvSpPr>
          <p:spPr>
            <a:xfrm>
              <a:off x="864" y="2256"/>
              <a:ext cx="0" cy="336"/>
            </a:xfrm>
            <a:prstGeom prst="line">
              <a:avLst/>
            </a:prstGeom>
            <a:ln w="9525" cap="flat" cmpd="sng">
              <a:solidFill>
                <a:srgbClr val="FF0066"/>
              </a:solidFill>
              <a:prstDash val="solid"/>
              <a:headEnd type="triangle" w="sm" len="lg"/>
              <a:tailEnd type="none" w="med" len="lg"/>
            </a:ln>
          </p:spPr>
        </p:sp>
        <p:sp>
          <p:nvSpPr>
            <p:cNvPr id="34" name="Line 32">
              <a:extLst>
                <a:ext uri="{FF2B5EF4-FFF2-40B4-BE49-F238E27FC236}">
                  <a16:creationId xmlns:a16="http://schemas.microsoft.com/office/drawing/2014/main" id="{ABAE434E-1CFD-DEA9-183C-A0B9118B08D3}"/>
                </a:ext>
              </a:extLst>
            </p:cNvPr>
            <p:cNvSpPr/>
            <p:nvPr/>
          </p:nvSpPr>
          <p:spPr>
            <a:xfrm>
              <a:off x="1200" y="2064"/>
              <a:ext cx="0" cy="240"/>
            </a:xfrm>
            <a:prstGeom prst="line">
              <a:avLst/>
            </a:prstGeom>
            <a:ln w="9525" cap="flat" cmpd="sng">
              <a:solidFill>
                <a:srgbClr val="FF6600"/>
              </a:solidFill>
              <a:prstDash val="solid"/>
              <a:headEnd type="triangle" w="sm" len="lg"/>
              <a:tailEnd type="none" w="med" len="lg"/>
            </a:ln>
          </p:spPr>
        </p:sp>
        <p:sp>
          <p:nvSpPr>
            <p:cNvPr id="35" name="Line 33">
              <a:extLst>
                <a:ext uri="{FF2B5EF4-FFF2-40B4-BE49-F238E27FC236}">
                  <a16:creationId xmlns:a16="http://schemas.microsoft.com/office/drawing/2014/main" id="{10CE52F9-6671-F740-06DE-0EFA4C1EEBCE}"/>
                </a:ext>
              </a:extLst>
            </p:cNvPr>
            <p:cNvSpPr/>
            <p:nvPr/>
          </p:nvSpPr>
          <p:spPr>
            <a:xfrm>
              <a:off x="864" y="1440"/>
              <a:ext cx="0" cy="336"/>
            </a:xfrm>
            <a:prstGeom prst="line">
              <a:avLst/>
            </a:prstGeom>
            <a:ln w="9525" cap="flat" cmpd="sng">
              <a:solidFill>
                <a:srgbClr val="FF0066"/>
              </a:solidFill>
              <a:prstDash val="solid"/>
              <a:headEnd type="none" w="med" len="lg"/>
              <a:tailEnd type="triangle" w="sm" len="lg"/>
            </a:ln>
          </p:spPr>
        </p:sp>
        <p:sp>
          <p:nvSpPr>
            <p:cNvPr id="36" name="Line 34">
              <a:extLst>
                <a:ext uri="{FF2B5EF4-FFF2-40B4-BE49-F238E27FC236}">
                  <a16:creationId xmlns:a16="http://schemas.microsoft.com/office/drawing/2014/main" id="{628AB130-6688-4B31-7B92-A66353F62FC4}"/>
                </a:ext>
              </a:extLst>
            </p:cNvPr>
            <p:cNvSpPr/>
            <p:nvPr/>
          </p:nvSpPr>
          <p:spPr>
            <a:xfrm>
              <a:off x="1200" y="1536"/>
              <a:ext cx="0" cy="240"/>
            </a:xfrm>
            <a:prstGeom prst="line">
              <a:avLst/>
            </a:prstGeom>
            <a:ln w="9525" cap="flat" cmpd="sng">
              <a:solidFill>
                <a:srgbClr val="FF6600"/>
              </a:solidFill>
              <a:prstDash val="solid"/>
              <a:headEnd type="none" w="med" len="lg"/>
              <a:tailEnd type="triangle" w="sm" len="lg"/>
            </a:ln>
          </p:spPr>
        </p:sp>
        <mc:AlternateContent xmlns:mc="http://schemas.openxmlformats.org/markup-compatibility/2006" xmlns:a14="http://schemas.microsoft.com/office/drawing/2010/main">
          <mc:Choice Requires="a14">
            <p:sp>
              <p:nvSpPr>
                <p:cNvPr id="37" name="Object 35">
                  <a:extLst>
                    <a:ext uri="{FF2B5EF4-FFF2-40B4-BE49-F238E27FC236}">
                      <a16:creationId xmlns:a16="http://schemas.microsoft.com/office/drawing/2014/main" id="{F295FFC2-E7D7-57BE-41BC-E6474975ABF8}"/>
                    </a:ext>
                  </a:extLst>
                </p:cNvPr>
                <p:cNvSpPr txBox="1"/>
                <p:nvPr/>
              </p:nvSpPr>
              <p:spPr>
                <a:xfrm>
                  <a:off x="706" y="1867"/>
                  <a:ext cx="398" cy="31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𝑎</m:t>
                            </m:r>
                          </m:sub>
                        </m:sSub>
                      </m:oMath>
                    </m:oMathPara>
                  </a14:m>
                  <a:endParaRPr lang="en-US" sz="2800"/>
                </a:p>
              </p:txBody>
            </p:sp>
          </mc:Choice>
          <mc:Fallback xmlns="">
            <p:sp>
              <p:nvSpPr>
                <p:cNvPr id="37" name="Object 35">
                  <a:extLst>
                    <a:ext uri="{FF2B5EF4-FFF2-40B4-BE49-F238E27FC236}">
                      <a16:creationId xmlns:a16="http://schemas.microsoft.com/office/drawing/2014/main" id="{F295FFC2-E7D7-57BE-41BC-E6474975ABF8}"/>
                    </a:ext>
                  </a:extLst>
                </p:cNvPr>
                <p:cNvSpPr txBox="1">
                  <a:spLocks noRot="1" noChangeAspect="1" noMove="1" noResize="1" noEditPoints="1" noAdjustHandles="1" noChangeArrowheads="1" noChangeShapeType="1" noTextEdit="1"/>
                </p:cNvSpPr>
                <p:nvPr/>
              </p:nvSpPr>
              <p:spPr>
                <a:xfrm>
                  <a:off x="706" y="1867"/>
                  <a:ext cx="398" cy="315"/>
                </a:xfrm>
                <a:prstGeom prst="rect">
                  <a:avLst/>
                </a:prstGeom>
                <a:blipFill>
                  <a:blip r:embed="rId17"/>
                  <a:stretch>
                    <a:fillRect r="-28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Object 36">
                  <a:extLst>
                    <a:ext uri="{FF2B5EF4-FFF2-40B4-BE49-F238E27FC236}">
                      <a16:creationId xmlns:a16="http://schemas.microsoft.com/office/drawing/2014/main" id="{D83B56F9-0048-DE57-D6A4-38CC0F45EBA3}"/>
                    </a:ext>
                  </a:extLst>
                </p:cNvPr>
                <p:cNvSpPr txBox="1"/>
                <p:nvPr/>
              </p:nvSpPr>
              <p:spPr>
                <a:xfrm>
                  <a:off x="1053" y="1788"/>
                  <a:ext cx="387" cy="27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𝑇</m:t>
                            </m:r>
                          </m:sub>
                        </m:sSub>
                      </m:oMath>
                    </m:oMathPara>
                  </a14:m>
                  <a:endParaRPr lang="en-US" sz="2800"/>
                </a:p>
              </p:txBody>
            </p:sp>
          </mc:Choice>
          <mc:Fallback xmlns="">
            <p:sp>
              <p:nvSpPr>
                <p:cNvPr id="38" name="Object 36">
                  <a:extLst>
                    <a:ext uri="{FF2B5EF4-FFF2-40B4-BE49-F238E27FC236}">
                      <a16:creationId xmlns:a16="http://schemas.microsoft.com/office/drawing/2014/main" id="{D83B56F9-0048-DE57-D6A4-38CC0F45EBA3}"/>
                    </a:ext>
                  </a:extLst>
                </p:cNvPr>
                <p:cNvSpPr txBox="1">
                  <a:spLocks noRot="1" noChangeAspect="1" noMove="1" noResize="1" noEditPoints="1" noAdjustHandles="1" noChangeArrowheads="1" noChangeShapeType="1" noTextEdit="1"/>
                </p:cNvSpPr>
                <p:nvPr/>
              </p:nvSpPr>
              <p:spPr>
                <a:xfrm>
                  <a:off x="1053" y="1788"/>
                  <a:ext cx="387" cy="276"/>
                </a:xfrm>
                <a:prstGeom prst="rect">
                  <a:avLst/>
                </a:prstGeom>
                <a:blipFill>
                  <a:blip r:embed="rId18"/>
                  <a:stretch>
                    <a:fillRect r="-7921" b="-5556"/>
                  </a:stretch>
                </a:blipFill>
                <a:ln w="38100">
                  <a:noFill/>
                  <a:miter/>
                </a:ln>
              </p:spPr>
              <p:txBody>
                <a:bodyPr/>
                <a:lstStyle/>
                <a:p>
                  <a:r>
                    <a:rPr lang="zh-CN" altLang="en-US">
                      <a:noFill/>
                    </a:rPr>
                    <a:t> </a:t>
                  </a:r>
                </a:p>
              </p:txBody>
            </p:sp>
          </mc:Fallback>
        </mc:AlternateContent>
        <p:sp>
          <p:nvSpPr>
            <p:cNvPr id="39" name="Text Box 37">
              <a:extLst>
                <a:ext uri="{FF2B5EF4-FFF2-40B4-BE49-F238E27FC236}">
                  <a16:creationId xmlns:a16="http://schemas.microsoft.com/office/drawing/2014/main" id="{3123C69D-CB23-EFF0-FF1F-E7D338A2BC25}"/>
                </a:ext>
              </a:extLst>
            </p:cNvPr>
            <p:cNvSpPr txBox="1"/>
            <p:nvPr/>
          </p:nvSpPr>
          <p:spPr>
            <a:xfrm>
              <a:off x="1632" y="2208"/>
              <a:ext cx="336"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B</a:t>
              </a:r>
            </a:p>
          </p:txBody>
        </p:sp>
        <p:sp>
          <p:nvSpPr>
            <p:cNvPr id="40" name="Text Box 38">
              <a:extLst>
                <a:ext uri="{FF2B5EF4-FFF2-40B4-BE49-F238E27FC236}">
                  <a16:creationId xmlns:a16="http://schemas.microsoft.com/office/drawing/2014/main" id="{D6715021-45CC-6283-DFBD-4211C9A36EA8}"/>
                </a:ext>
              </a:extLst>
            </p:cNvPr>
            <p:cNvSpPr txBox="1"/>
            <p:nvPr/>
          </p:nvSpPr>
          <p:spPr>
            <a:xfrm>
              <a:off x="1728" y="1824"/>
              <a:ext cx="288"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C</a:t>
              </a:r>
            </a:p>
          </p:txBody>
        </p:sp>
        <p:sp>
          <p:nvSpPr>
            <p:cNvPr id="41" name="Line 39">
              <a:extLst>
                <a:ext uri="{FF2B5EF4-FFF2-40B4-BE49-F238E27FC236}">
                  <a16:creationId xmlns:a16="http://schemas.microsoft.com/office/drawing/2014/main" id="{9E2707FC-8344-9A04-1690-A5C81759F6ED}"/>
                </a:ext>
              </a:extLst>
            </p:cNvPr>
            <p:cNvSpPr/>
            <p:nvPr/>
          </p:nvSpPr>
          <p:spPr>
            <a:xfrm>
              <a:off x="1776" y="1104"/>
              <a:ext cx="192" cy="0"/>
            </a:xfrm>
            <a:prstGeom prst="line">
              <a:avLst/>
            </a:prstGeom>
            <a:ln w="28575" cap="flat" cmpd="sng">
              <a:solidFill>
                <a:srgbClr val="0000FF"/>
              </a:solidFill>
              <a:prstDash val="solid"/>
              <a:headEnd type="none" w="med" len="med"/>
              <a:tailEnd type="none" w="med" len="med"/>
            </a:ln>
          </p:spPr>
        </p:sp>
        <p:sp>
          <p:nvSpPr>
            <p:cNvPr id="42" name="Line 40">
              <a:extLst>
                <a:ext uri="{FF2B5EF4-FFF2-40B4-BE49-F238E27FC236}">
                  <a16:creationId xmlns:a16="http://schemas.microsoft.com/office/drawing/2014/main" id="{74572777-EF9A-B428-AC19-5E816828E4B2}"/>
                </a:ext>
              </a:extLst>
            </p:cNvPr>
            <p:cNvSpPr/>
            <p:nvPr/>
          </p:nvSpPr>
          <p:spPr>
            <a:xfrm>
              <a:off x="1776" y="1392"/>
              <a:ext cx="192" cy="0"/>
            </a:xfrm>
            <a:prstGeom prst="line">
              <a:avLst/>
            </a:prstGeom>
            <a:ln w="28575" cap="flat" cmpd="sng">
              <a:solidFill>
                <a:srgbClr val="CC0099"/>
              </a:solidFill>
              <a:prstDash val="solid"/>
              <a:headEnd type="none" w="med" len="med"/>
              <a:tailEnd type="none" w="med" len="med"/>
            </a:ln>
          </p:spPr>
        </p:sp>
        <p:sp>
          <p:nvSpPr>
            <p:cNvPr id="43" name="Rectangle 41">
              <a:extLst>
                <a:ext uri="{FF2B5EF4-FFF2-40B4-BE49-F238E27FC236}">
                  <a16:creationId xmlns:a16="http://schemas.microsoft.com/office/drawing/2014/main" id="{97058176-170C-EE18-44E9-FF59AA0B07DB}"/>
                </a:ext>
              </a:extLst>
            </p:cNvPr>
            <p:cNvSpPr/>
            <p:nvPr/>
          </p:nvSpPr>
          <p:spPr>
            <a:xfrm>
              <a:off x="2304" y="960"/>
              <a:ext cx="672" cy="327"/>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p:spTree>
    <p:extLst>
      <p:ext uri="{BB962C8B-B14F-4D97-AF65-F5344CB8AC3E}">
        <p14:creationId xmlns:p14="http://schemas.microsoft.com/office/powerpoint/2010/main" val="72360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23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23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p:bldP spid="442372" grpId="0"/>
      <p:bldP spid="442373" grpId="0"/>
      <p:bldP spid="4" grpId="0"/>
      <p:bldP spid="5" grpId="0"/>
      <p:bldP spid="6"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a:hlinkClick r:id="" action="ppaction://noaction"/>
            <a:extLst>
              <a:ext uri="{FF2B5EF4-FFF2-40B4-BE49-F238E27FC236}">
                <a16:creationId xmlns:a16="http://schemas.microsoft.com/office/drawing/2014/main" id="{FBCAA857-17AD-E7FA-7799-0B03CB1C9A8F}"/>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绝热线和等温线</a:t>
            </a:r>
          </a:p>
        </p:txBody>
      </p:sp>
      <p:sp>
        <p:nvSpPr>
          <p:cNvPr id="10" name="Text Box 2">
            <a:extLst>
              <a:ext uri="{FF2B5EF4-FFF2-40B4-BE49-F238E27FC236}">
                <a16:creationId xmlns:a16="http://schemas.microsoft.com/office/drawing/2014/main" id="{459F870A-5F33-321C-13F7-693AAB4932E3}"/>
              </a:ext>
            </a:extLst>
          </p:cNvPr>
          <p:cNvSpPr txBox="1">
            <a:spLocks noChangeArrowheads="1"/>
          </p:cNvSpPr>
          <p:nvPr/>
        </p:nvSpPr>
        <p:spPr bwMode="auto">
          <a:xfrm>
            <a:off x="918367" y="5362236"/>
            <a:ext cx="6408738" cy="580159"/>
          </a:xfrm>
          <a:prstGeom prst="rect">
            <a:avLst/>
          </a:prstGeom>
          <a:noFill/>
          <a:ln w="9525">
            <a:noFill/>
            <a:miter lim="800000"/>
          </a:ln>
          <a:effectLst/>
        </p:spPr>
        <p:txBody>
          <a:bodyPr>
            <a:spAutoFit/>
          </a:bodyPr>
          <a:lstStyle/>
          <a:p>
            <a:pPr>
              <a:lnSpc>
                <a:spcPct val="120000"/>
              </a:lnSpc>
              <a:spcBef>
                <a:spcPct val="50000"/>
              </a:spcBef>
              <a:defRPr/>
            </a:pPr>
            <a:r>
              <a:rPr kumimoji="1" lang="en-US" altLang="zh-CN" sz="2800" dirty="0">
                <a:solidFill>
                  <a:srgbClr val="CC0000"/>
                </a:solidFill>
                <a:latin typeface="+mn-ea"/>
              </a:rPr>
              <a:t> </a:t>
            </a:r>
            <a:r>
              <a:rPr kumimoji="1" lang="zh-CN" altLang="en-US" sz="2800" dirty="0">
                <a:solidFill>
                  <a:srgbClr val="000000"/>
                </a:solidFill>
                <a:latin typeface="+mn-ea"/>
              </a:rPr>
              <a:t>绝热线的斜率大于等温线的斜率</a:t>
            </a:r>
            <a:endParaRPr kumimoji="1" lang="en-US" altLang="zh-CN" sz="2800" dirty="0">
              <a:solidFill>
                <a:srgbClr val="000000"/>
              </a:solidFill>
              <a:latin typeface="+mn-ea"/>
            </a:endParaRPr>
          </a:p>
        </p:txBody>
      </p:sp>
      <p:grpSp>
        <p:nvGrpSpPr>
          <p:cNvPr id="11" name="Group 9">
            <a:extLst>
              <a:ext uri="{FF2B5EF4-FFF2-40B4-BE49-F238E27FC236}">
                <a16:creationId xmlns:a16="http://schemas.microsoft.com/office/drawing/2014/main" id="{AB340559-0966-4FF9-6DC9-C4D4D28E8DA8}"/>
              </a:ext>
            </a:extLst>
          </p:cNvPr>
          <p:cNvGrpSpPr/>
          <p:nvPr/>
        </p:nvGrpSpPr>
        <p:grpSpPr>
          <a:xfrm>
            <a:off x="1370015" y="1350624"/>
            <a:ext cx="4191000" cy="3581400"/>
            <a:chOff x="360" y="960"/>
            <a:chExt cx="2640" cy="2256"/>
          </a:xfrm>
        </p:grpSpPr>
        <p:sp>
          <p:nvSpPr>
            <p:cNvPr id="12" name="Rectangle 10">
              <a:extLst>
                <a:ext uri="{FF2B5EF4-FFF2-40B4-BE49-F238E27FC236}">
                  <a16:creationId xmlns:a16="http://schemas.microsoft.com/office/drawing/2014/main" id="{E9F90192-12B0-7666-0F4E-F8201EDFE71E}"/>
                </a:ext>
              </a:extLst>
            </p:cNvPr>
            <p:cNvSpPr/>
            <p:nvPr/>
          </p:nvSpPr>
          <p:spPr>
            <a:xfrm>
              <a:off x="360" y="960"/>
              <a:ext cx="2544" cy="2256"/>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3" name="Line 11">
              <a:extLst>
                <a:ext uri="{FF2B5EF4-FFF2-40B4-BE49-F238E27FC236}">
                  <a16:creationId xmlns:a16="http://schemas.microsoft.com/office/drawing/2014/main" id="{B50562A8-735C-D6F1-D0D5-E01875F3D569}"/>
                </a:ext>
              </a:extLst>
            </p:cNvPr>
            <p:cNvSpPr/>
            <p:nvPr/>
          </p:nvSpPr>
          <p:spPr>
            <a:xfrm flipV="1">
              <a:off x="697" y="2832"/>
              <a:ext cx="1895" cy="7"/>
            </a:xfrm>
            <a:prstGeom prst="line">
              <a:avLst/>
            </a:prstGeom>
            <a:ln w="19050" cap="flat" cmpd="sng">
              <a:solidFill>
                <a:schemeClr val="tx1"/>
              </a:solidFill>
              <a:prstDash val="solid"/>
              <a:headEnd type="none" w="med" len="med"/>
              <a:tailEnd type="triangle" w="sm" len="lg"/>
            </a:ln>
          </p:spPr>
        </p:sp>
        <p:sp>
          <p:nvSpPr>
            <p:cNvPr id="14" name="Line 12">
              <a:extLst>
                <a:ext uri="{FF2B5EF4-FFF2-40B4-BE49-F238E27FC236}">
                  <a16:creationId xmlns:a16="http://schemas.microsoft.com/office/drawing/2014/main" id="{788599CD-97DB-65F6-AC40-E78E51D33E87}"/>
                </a:ext>
              </a:extLst>
            </p:cNvPr>
            <p:cNvSpPr/>
            <p:nvPr/>
          </p:nvSpPr>
          <p:spPr>
            <a:xfrm flipV="1">
              <a:off x="720" y="1056"/>
              <a:ext cx="0" cy="1783"/>
            </a:xfrm>
            <a:prstGeom prst="line">
              <a:avLst/>
            </a:prstGeom>
            <a:ln w="19050" cap="flat" cmpd="sng">
              <a:solidFill>
                <a:schemeClr val="tx1"/>
              </a:solidFill>
              <a:prstDash val="solid"/>
              <a:headEnd type="none" w="med" len="med"/>
              <a:tailEnd type="triangle" w="sm" len="lg"/>
            </a:ln>
          </p:spPr>
        </p:sp>
        <p:sp>
          <p:nvSpPr>
            <p:cNvPr id="15" name="Line 13">
              <a:extLst>
                <a:ext uri="{FF2B5EF4-FFF2-40B4-BE49-F238E27FC236}">
                  <a16:creationId xmlns:a16="http://schemas.microsoft.com/office/drawing/2014/main" id="{D08039D1-D40B-0D5C-BE19-C2AFDB2BA83B}"/>
                </a:ext>
              </a:extLst>
            </p:cNvPr>
            <p:cNvSpPr/>
            <p:nvPr/>
          </p:nvSpPr>
          <p:spPr>
            <a:xfrm>
              <a:off x="1440" y="1776"/>
              <a:ext cx="0" cy="1392"/>
            </a:xfrm>
            <a:prstGeom prst="line">
              <a:avLst/>
            </a:prstGeom>
            <a:ln w="12700" cap="flat" cmpd="sng">
              <a:solidFill>
                <a:schemeClr val="tx1"/>
              </a:solidFill>
              <a:prstDash val="dash"/>
              <a:headEnd type="none" w="med" len="med"/>
              <a:tailEnd type="none" w="med" len="med"/>
            </a:ln>
          </p:spPr>
        </p:sp>
        <p:sp>
          <p:nvSpPr>
            <p:cNvPr id="16" name="Line 14">
              <a:extLst>
                <a:ext uri="{FF2B5EF4-FFF2-40B4-BE49-F238E27FC236}">
                  <a16:creationId xmlns:a16="http://schemas.microsoft.com/office/drawing/2014/main" id="{8D63E5BC-9037-991C-4C70-C015A0408C34}"/>
                </a:ext>
              </a:extLst>
            </p:cNvPr>
            <p:cNvSpPr/>
            <p:nvPr/>
          </p:nvSpPr>
          <p:spPr>
            <a:xfrm>
              <a:off x="1824" y="2064"/>
              <a:ext cx="0" cy="1104"/>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17" name="Object 15">
                  <a:extLst>
                    <a:ext uri="{FF2B5EF4-FFF2-40B4-BE49-F238E27FC236}">
                      <a16:creationId xmlns:a16="http://schemas.microsoft.com/office/drawing/2014/main" id="{31A9E6FB-BDD9-4259-1BEC-630A8BF0F70E}"/>
                    </a:ext>
                  </a:extLst>
                </p:cNvPr>
                <p:cNvSpPr txBox="1"/>
                <p:nvPr/>
              </p:nvSpPr>
              <p:spPr>
                <a:xfrm>
                  <a:off x="384" y="1584"/>
                  <a:ext cx="336" cy="319"/>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7" name="Object 15">
                  <a:extLst>
                    <a:ext uri="{FF2B5EF4-FFF2-40B4-BE49-F238E27FC236}">
                      <a16:creationId xmlns:a16="http://schemas.microsoft.com/office/drawing/2014/main" id="{31A9E6FB-BDD9-4259-1BEC-630A8BF0F70E}"/>
                    </a:ext>
                  </a:extLst>
                </p:cNvPr>
                <p:cNvSpPr txBox="1">
                  <a:spLocks noRot="1" noChangeAspect="1" noMove="1" noResize="1" noEditPoints="1" noAdjustHandles="1" noChangeArrowheads="1" noChangeShapeType="1" noTextEdit="1"/>
                </p:cNvSpPr>
                <p:nvPr/>
              </p:nvSpPr>
              <p:spPr>
                <a:xfrm>
                  <a:off x="384" y="1584"/>
                  <a:ext cx="336" cy="319"/>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16">
                  <a:extLst>
                    <a:ext uri="{FF2B5EF4-FFF2-40B4-BE49-F238E27FC236}">
                      <a16:creationId xmlns:a16="http://schemas.microsoft.com/office/drawing/2014/main" id="{646BE849-B9C6-14B9-F630-564AFC0EF780}"/>
                    </a:ext>
                  </a:extLst>
                </p:cNvPr>
                <p:cNvSpPr txBox="1"/>
                <p:nvPr/>
              </p:nvSpPr>
              <p:spPr>
                <a:xfrm>
                  <a:off x="1824" y="2784"/>
                  <a:ext cx="329"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𝐵</m:t>
                            </m:r>
                          </m:sub>
                        </m:sSub>
                      </m:oMath>
                    </m:oMathPara>
                  </a14:m>
                  <a:endParaRPr lang="en-US" sz="2800" dirty="0"/>
                </a:p>
              </p:txBody>
            </p:sp>
          </mc:Choice>
          <mc:Fallback xmlns="">
            <p:sp>
              <p:nvSpPr>
                <p:cNvPr id="18" name="Object 16">
                  <a:extLst>
                    <a:ext uri="{FF2B5EF4-FFF2-40B4-BE49-F238E27FC236}">
                      <a16:creationId xmlns:a16="http://schemas.microsoft.com/office/drawing/2014/main" id="{646BE849-B9C6-14B9-F630-564AFC0EF780}"/>
                    </a:ext>
                  </a:extLst>
                </p:cNvPr>
                <p:cNvSpPr txBox="1">
                  <a:spLocks noRot="1" noChangeAspect="1" noMove="1" noResize="1" noEditPoints="1" noAdjustHandles="1" noChangeArrowheads="1" noChangeShapeType="1" noTextEdit="1"/>
                </p:cNvSpPr>
                <p:nvPr/>
              </p:nvSpPr>
              <p:spPr>
                <a:xfrm>
                  <a:off x="1824" y="2784"/>
                  <a:ext cx="329" cy="384"/>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17">
                  <a:extLst>
                    <a:ext uri="{FF2B5EF4-FFF2-40B4-BE49-F238E27FC236}">
                      <a16:creationId xmlns:a16="http://schemas.microsoft.com/office/drawing/2014/main" id="{BBB1940B-B87D-5DBA-CDF9-686AE1B5A7E0}"/>
                    </a:ext>
                  </a:extLst>
                </p:cNvPr>
                <p:cNvSpPr txBox="1"/>
                <p:nvPr/>
              </p:nvSpPr>
              <p:spPr>
                <a:xfrm>
                  <a:off x="1152" y="2784"/>
                  <a:ext cx="327" cy="38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19" name="Object 17">
                  <a:extLst>
                    <a:ext uri="{FF2B5EF4-FFF2-40B4-BE49-F238E27FC236}">
                      <a16:creationId xmlns:a16="http://schemas.microsoft.com/office/drawing/2014/main" id="{BBB1940B-B87D-5DBA-CDF9-686AE1B5A7E0}"/>
                    </a:ext>
                  </a:extLst>
                </p:cNvPr>
                <p:cNvSpPr txBox="1">
                  <a:spLocks noRot="1" noChangeAspect="1" noMove="1" noResize="1" noEditPoints="1" noAdjustHandles="1" noChangeArrowheads="1" noChangeShapeType="1" noTextEdit="1"/>
                </p:cNvSpPr>
                <p:nvPr/>
              </p:nvSpPr>
              <p:spPr>
                <a:xfrm>
                  <a:off x="1152" y="2784"/>
                  <a:ext cx="327" cy="384"/>
                </a:xfrm>
                <a:prstGeom prst="rect">
                  <a:avLst/>
                </a:prstGeom>
                <a:blipFill>
                  <a:blip r:embed="rId10"/>
                  <a:stretch>
                    <a:fillRect/>
                  </a:stretch>
                </a:blipFill>
                <a:ln w="38100">
                  <a:noFill/>
                  <a:miter/>
                </a:ln>
              </p:spPr>
              <p:txBody>
                <a:bodyPr/>
                <a:lstStyle/>
                <a:p>
                  <a:r>
                    <a:rPr lang="zh-CN" altLang="en-US">
                      <a:noFill/>
                    </a:rPr>
                    <a:t> </a:t>
                  </a:r>
                </a:p>
              </p:txBody>
            </p:sp>
          </mc:Fallback>
        </mc:AlternateContent>
        <p:sp>
          <p:nvSpPr>
            <p:cNvPr id="20" name="Line 18">
              <a:extLst>
                <a:ext uri="{FF2B5EF4-FFF2-40B4-BE49-F238E27FC236}">
                  <a16:creationId xmlns:a16="http://schemas.microsoft.com/office/drawing/2014/main" id="{4C9B11E3-A381-C0F1-7855-B377C116BBDC}"/>
                </a:ext>
              </a:extLst>
            </p:cNvPr>
            <p:cNvSpPr/>
            <p:nvPr/>
          </p:nvSpPr>
          <p:spPr>
            <a:xfrm flipH="1">
              <a:off x="720" y="1776"/>
              <a:ext cx="720" cy="0"/>
            </a:xfrm>
            <a:prstGeom prst="line">
              <a:avLst/>
            </a:prstGeom>
            <a:ln w="12700" cap="flat" cmpd="sng">
              <a:solidFill>
                <a:schemeClr val="tx1"/>
              </a:solidFill>
              <a:prstDash val="dash"/>
              <a:headEnd type="none" w="med" len="med"/>
              <a:tailEnd type="none" w="med" len="med"/>
            </a:ln>
          </p:spPr>
        </p:sp>
        <p:sp>
          <p:nvSpPr>
            <p:cNvPr id="21" name="Text Box 19">
              <a:extLst>
                <a:ext uri="{FF2B5EF4-FFF2-40B4-BE49-F238E27FC236}">
                  <a16:creationId xmlns:a16="http://schemas.microsoft.com/office/drawing/2014/main" id="{997EAB4B-3F02-D042-088F-195A1E36F736}"/>
                </a:ext>
              </a:extLst>
            </p:cNvPr>
            <p:cNvSpPr txBox="1"/>
            <p:nvPr/>
          </p:nvSpPr>
          <p:spPr>
            <a:xfrm>
              <a:off x="1440" y="1536"/>
              <a:ext cx="336" cy="330"/>
            </a:xfrm>
            <a:prstGeom prst="rect">
              <a:avLst/>
            </a:prstGeom>
            <a:noFill/>
            <a:ln w="9525">
              <a:noFill/>
            </a:ln>
          </p:spPr>
          <p:txBody>
            <a:bodyPr>
              <a:spAutoFit/>
            </a:bodyPr>
            <a:lstStyle/>
            <a:p>
              <a:pPr>
                <a:spcBef>
                  <a:spcPct val="50000"/>
                </a:spcBef>
              </a:pPr>
              <a:r>
                <a:rPr lang="en-US" altLang="zh-CN" sz="2800" i="1" dirty="0">
                  <a:latin typeface="Times New Roman" panose="02020603050405020304" pitchFamily="18" charset="0"/>
                  <a:ea typeface="楷体_GB2312" panose="02010609030101010101" pitchFamily="49" charset="-122"/>
                </a:rPr>
                <a:t>A</a:t>
              </a:r>
            </a:p>
          </p:txBody>
        </p:sp>
        <mc:AlternateContent xmlns:mc="http://schemas.openxmlformats.org/markup-compatibility/2006" xmlns:a14="http://schemas.microsoft.com/office/drawing/2010/main">
          <mc:Choice Requires="a14">
            <p:sp>
              <p:nvSpPr>
                <p:cNvPr id="22" name="Object 20">
                  <a:extLst>
                    <a:ext uri="{FF2B5EF4-FFF2-40B4-BE49-F238E27FC236}">
                      <a16:creationId xmlns:a16="http://schemas.microsoft.com/office/drawing/2014/main" id="{ED0860AD-A387-0A5F-ABCE-A0E9273EE20E}"/>
                    </a:ext>
                  </a:extLst>
                </p:cNvPr>
                <p:cNvSpPr txBox="1"/>
                <p:nvPr/>
              </p:nvSpPr>
              <p:spPr>
                <a:xfrm>
                  <a:off x="432" y="1056"/>
                  <a:ext cx="213" cy="25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𝑝</m:t>
                        </m:r>
                      </m:oMath>
                    </m:oMathPara>
                  </a14:m>
                  <a:endParaRPr lang="en-US" sz="2800"/>
                </a:p>
              </p:txBody>
            </p:sp>
          </mc:Choice>
          <mc:Fallback xmlns="">
            <p:sp>
              <p:nvSpPr>
                <p:cNvPr id="22" name="Object 20">
                  <a:extLst>
                    <a:ext uri="{FF2B5EF4-FFF2-40B4-BE49-F238E27FC236}">
                      <a16:creationId xmlns:a16="http://schemas.microsoft.com/office/drawing/2014/main" id="{ED0860AD-A387-0A5F-ABCE-A0E9273EE20E}"/>
                    </a:ext>
                  </a:extLst>
                </p:cNvPr>
                <p:cNvSpPr txBox="1">
                  <a:spLocks noRot="1" noChangeAspect="1" noMove="1" noResize="1" noEditPoints="1" noAdjustHandles="1" noChangeArrowheads="1" noChangeShapeType="1" noTextEdit="1"/>
                </p:cNvSpPr>
                <p:nvPr/>
              </p:nvSpPr>
              <p:spPr>
                <a:xfrm>
                  <a:off x="432" y="1056"/>
                  <a:ext cx="213" cy="254"/>
                </a:xfrm>
                <a:prstGeom prst="rect">
                  <a:avLst/>
                </a:prstGeom>
                <a:blipFill>
                  <a:blip r:embed="rId11"/>
                  <a:stretch>
                    <a:fillRect b="-1515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21">
                  <a:extLst>
                    <a:ext uri="{FF2B5EF4-FFF2-40B4-BE49-F238E27FC236}">
                      <a16:creationId xmlns:a16="http://schemas.microsoft.com/office/drawing/2014/main" id="{D6B78BB1-4472-1B4B-5FE2-8143BA51A53A}"/>
                    </a:ext>
                  </a:extLst>
                </p:cNvPr>
                <p:cNvSpPr txBox="1"/>
                <p:nvPr/>
              </p:nvSpPr>
              <p:spPr>
                <a:xfrm>
                  <a:off x="2352" y="2880"/>
                  <a:ext cx="197" cy="2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𝑉</m:t>
                        </m:r>
                      </m:oMath>
                    </m:oMathPara>
                  </a14:m>
                  <a:endParaRPr lang="en-US" sz="2800"/>
                </a:p>
              </p:txBody>
            </p:sp>
          </mc:Choice>
          <mc:Fallback xmlns="">
            <p:sp>
              <p:nvSpPr>
                <p:cNvPr id="23" name="Object 21">
                  <a:extLst>
                    <a:ext uri="{FF2B5EF4-FFF2-40B4-BE49-F238E27FC236}">
                      <a16:creationId xmlns:a16="http://schemas.microsoft.com/office/drawing/2014/main" id="{D6B78BB1-4472-1B4B-5FE2-8143BA51A53A}"/>
                    </a:ext>
                  </a:extLst>
                </p:cNvPr>
                <p:cNvSpPr txBox="1">
                  <a:spLocks noRot="1" noChangeAspect="1" noMove="1" noResize="1" noEditPoints="1" noAdjustHandles="1" noChangeArrowheads="1" noChangeShapeType="1" noTextEdit="1"/>
                </p:cNvSpPr>
                <p:nvPr/>
              </p:nvSpPr>
              <p:spPr>
                <a:xfrm>
                  <a:off x="2352" y="2880"/>
                  <a:ext cx="197" cy="220"/>
                </a:xfrm>
                <a:prstGeom prst="rect">
                  <a:avLst/>
                </a:prstGeom>
                <a:blipFill>
                  <a:blip r:embed="rId12"/>
                  <a:stretch>
                    <a:fillRect b="-120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22">
                  <a:extLst>
                    <a:ext uri="{FF2B5EF4-FFF2-40B4-BE49-F238E27FC236}">
                      <a16:creationId xmlns:a16="http://schemas.microsoft.com/office/drawing/2014/main" id="{BEC357FA-88B0-E859-7C5F-C349B3FA2E86}"/>
                    </a:ext>
                  </a:extLst>
                </p:cNvPr>
                <p:cNvSpPr txBox="1"/>
                <p:nvPr/>
              </p:nvSpPr>
              <p:spPr>
                <a:xfrm>
                  <a:off x="601" y="2887"/>
                  <a:ext cx="177" cy="20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𝑜</m:t>
                        </m:r>
                      </m:oMath>
                    </m:oMathPara>
                  </a14:m>
                  <a:endParaRPr lang="en-US" sz="2800"/>
                </a:p>
              </p:txBody>
            </p:sp>
          </mc:Choice>
          <mc:Fallback xmlns="">
            <p:sp>
              <p:nvSpPr>
                <p:cNvPr id="24" name="Object 22">
                  <a:extLst>
                    <a:ext uri="{FF2B5EF4-FFF2-40B4-BE49-F238E27FC236}">
                      <a16:creationId xmlns:a16="http://schemas.microsoft.com/office/drawing/2014/main" id="{BEC357FA-88B0-E859-7C5F-C349B3FA2E86}"/>
                    </a:ext>
                  </a:extLst>
                </p:cNvPr>
                <p:cNvSpPr txBox="1">
                  <a:spLocks noRot="1" noChangeAspect="1" noMove="1" noResize="1" noEditPoints="1" noAdjustHandles="1" noChangeArrowheads="1" noChangeShapeType="1" noTextEdit="1"/>
                </p:cNvSpPr>
                <p:nvPr/>
              </p:nvSpPr>
              <p:spPr>
                <a:xfrm>
                  <a:off x="601" y="2887"/>
                  <a:ext cx="177" cy="204"/>
                </a:xfrm>
                <a:prstGeom prst="rect">
                  <a:avLst/>
                </a:prstGeom>
                <a:blipFill>
                  <a:blip r:embed="rId13"/>
                  <a:stretch>
                    <a:fillRect b="-2264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23">
                  <a:extLst>
                    <a:ext uri="{FF2B5EF4-FFF2-40B4-BE49-F238E27FC236}">
                      <a16:creationId xmlns:a16="http://schemas.microsoft.com/office/drawing/2014/main" id="{4CD877F2-B245-CA50-458E-F759FB3E8B09}"/>
                    </a:ext>
                  </a:extLst>
                </p:cNvPr>
                <p:cNvSpPr txBox="1"/>
                <p:nvPr/>
              </p:nvSpPr>
              <p:spPr>
                <a:xfrm>
                  <a:off x="1878" y="966"/>
                  <a:ext cx="597" cy="22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𝑇</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5" name="Object 23">
                  <a:extLst>
                    <a:ext uri="{FF2B5EF4-FFF2-40B4-BE49-F238E27FC236}">
                      <a16:creationId xmlns:a16="http://schemas.microsoft.com/office/drawing/2014/main" id="{4CD877F2-B245-CA50-458E-F759FB3E8B09}"/>
                    </a:ext>
                  </a:extLst>
                </p:cNvPr>
                <p:cNvSpPr txBox="1">
                  <a:spLocks noRot="1" noChangeAspect="1" noMove="1" noResize="1" noEditPoints="1" noAdjustHandles="1" noChangeArrowheads="1" noChangeShapeType="1" noTextEdit="1"/>
                </p:cNvSpPr>
                <p:nvPr/>
              </p:nvSpPr>
              <p:spPr>
                <a:xfrm>
                  <a:off x="1878" y="966"/>
                  <a:ext cx="597" cy="221"/>
                </a:xfrm>
                <a:prstGeom prst="rect">
                  <a:avLst/>
                </a:prstGeom>
                <a:blipFill>
                  <a:blip r:embed="rId14"/>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24">
                  <a:extLst>
                    <a:ext uri="{FF2B5EF4-FFF2-40B4-BE49-F238E27FC236}">
                      <a16:creationId xmlns:a16="http://schemas.microsoft.com/office/drawing/2014/main" id="{D7536CB3-9D43-39AE-5144-EE6280691C46}"/>
                    </a:ext>
                  </a:extLst>
                </p:cNvPr>
                <p:cNvSpPr txBox="1"/>
                <p:nvPr/>
              </p:nvSpPr>
              <p:spPr>
                <a:xfrm>
                  <a:off x="1848" y="1235"/>
                  <a:ext cx="1152" cy="29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𝑄</m:t>
                        </m:r>
                        <m:r>
                          <a:rPr lang="en-US" sz="2800" b="0" i="1" smtClean="0">
                            <a:solidFill>
                              <a:srgbClr val="000000"/>
                            </a:solidFill>
                            <a:latin typeface="Cambria Math" panose="02040503050406030204" pitchFamily="18" charset="0"/>
                          </a:rPr>
                          <m:t>=0</m:t>
                        </m:r>
                      </m:oMath>
                    </m:oMathPara>
                  </a14:m>
                  <a:endParaRPr lang="en-US" sz="2800" dirty="0"/>
                </a:p>
              </p:txBody>
            </p:sp>
          </mc:Choice>
          <mc:Fallback xmlns="">
            <p:sp>
              <p:nvSpPr>
                <p:cNvPr id="26" name="Object 24">
                  <a:extLst>
                    <a:ext uri="{FF2B5EF4-FFF2-40B4-BE49-F238E27FC236}">
                      <a16:creationId xmlns:a16="http://schemas.microsoft.com/office/drawing/2014/main" id="{D7536CB3-9D43-39AE-5144-EE6280691C46}"/>
                    </a:ext>
                  </a:extLst>
                </p:cNvPr>
                <p:cNvSpPr txBox="1">
                  <a:spLocks noRot="1" noChangeAspect="1" noMove="1" noResize="1" noEditPoints="1" noAdjustHandles="1" noChangeArrowheads="1" noChangeShapeType="1" noTextEdit="1"/>
                </p:cNvSpPr>
                <p:nvPr/>
              </p:nvSpPr>
              <p:spPr>
                <a:xfrm>
                  <a:off x="1848" y="1235"/>
                  <a:ext cx="1152" cy="297"/>
                </a:xfrm>
                <a:prstGeom prst="rect">
                  <a:avLst/>
                </a:prstGeom>
                <a:blipFill>
                  <a:blip r:embed="rId15"/>
                  <a:stretch>
                    <a:fillRect/>
                  </a:stretch>
                </a:blipFill>
                <a:ln w="38100">
                  <a:noFill/>
                  <a:miter/>
                </a:ln>
              </p:spPr>
              <p:txBody>
                <a:bodyPr/>
                <a:lstStyle/>
                <a:p>
                  <a:r>
                    <a:rPr lang="zh-CN" altLang="en-US">
                      <a:noFill/>
                    </a:rPr>
                    <a:t> </a:t>
                  </a:r>
                </a:p>
              </p:txBody>
            </p:sp>
          </mc:Fallback>
        </mc:AlternateContent>
        <p:sp>
          <p:nvSpPr>
            <p:cNvPr id="27" name="Freeform 25">
              <a:extLst>
                <a:ext uri="{FF2B5EF4-FFF2-40B4-BE49-F238E27FC236}">
                  <a16:creationId xmlns:a16="http://schemas.microsoft.com/office/drawing/2014/main" id="{F2451D71-02FB-81FD-5DA6-61A0B44087DE}"/>
                </a:ext>
              </a:extLst>
            </p:cNvPr>
            <p:cNvSpPr/>
            <p:nvPr/>
          </p:nvSpPr>
          <p:spPr>
            <a:xfrm>
              <a:off x="1008" y="1152"/>
              <a:ext cx="1440" cy="1179"/>
            </a:xfrm>
            <a:custGeom>
              <a:avLst/>
              <a:gdLst>
                <a:gd name="txL" fmla="*/ 0 w 1495"/>
                <a:gd name="txT" fmla="*/ 0 h 1179"/>
                <a:gd name="txR" fmla="*/ 1495 w 1495"/>
                <a:gd name="txB" fmla="*/ 1179 h 1179"/>
              </a:gdLst>
              <a:ahLst/>
              <a:cxnLst>
                <a:cxn ang="0">
                  <a:pos x="0" y="0"/>
                </a:cxn>
                <a:cxn ang="0">
                  <a:pos x="192" y="329"/>
                </a:cxn>
                <a:cxn ang="0">
                  <a:pos x="423" y="617"/>
                </a:cxn>
                <a:cxn ang="0">
                  <a:pos x="767" y="891"/>
                </a:cxn>
                <a:cxn ang="0">
                  <a:pos x="1209" y="1097"/>
                </a:cxn>
                <a:cxn ang="0">
                  <a:pos x="1440" y="1179"/>
                </a:cxn>
              </a:cxnLst>
              <a:rect l="txL" t="txT" r="txR" b="txB"/>
              <a:pathLst>
                <a:path w="1495" h="1179">
                  <a:moveTo>
                    <a:pt x="0" y="0"/>
                  </a:moveTo>
                  <a:cubicBezTo>
                    <a:pt x="33" y="55"/>
                    <a:pt x="126" y="226"/>
                    <a:pt x="199" y="329"/>
                  </a:cubicBezTo>
                  <a:cubicBezTo>
                    <a:pt x="272" y="432"/>
                    <a:pt x="339" y="523"/>
                    <a:pt x="439" y="617"/>
                  </a:cubicBezTo>
                  <a:cubicBezTo>
                    <a:pt x="539" y="711"/>
                    <a:pt x="660" y="811"/>
                    <a:pt x="796" y="891"/>
                  </a:cubicBezTo>
                  <a:cubicBezTo>
                    <a:pt x="932" y="971"/>
                    <a:pt x="1139" y="1049"/>
                    <a:pt x="1255" y="1097"/>
                  </a:cubicBezTo>
                  <a:cubicBezTo>
                    <a:pt x="1371" y="1145"/>
                    <a:pt x="1445" y="1162"/>
                    <a:pt x="1495" y="1179"/>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28" name="Freeform 26">
              <a:extLst>
                <a:ext uri="{FF2B5EF4-FFF2-40B4-BE49-F238E27FC236}">
                  <a16:creationId xmlns:a16="http://schemas.microsoft.com/office/drawing/2014/main" id="{4CA226B3-E23E-21CB-C484-05D146DCE3B8}"/>
                </a:ext>
              </a:extLst>
            </p:cNvPr>
            <p:cNvSpPr/>
            <p:nvPr/>
          </p:nvSpPr>
          <p:spPr>
            <a:xfrm>
              <a:off x="1200" y="1152"/>
              <a:ext cx="1248" cy="1406"/>
            </a:xfrm>
            <a:custGeom>
              <a:avLst/>
              <a:gdLst>
                <a:gd name="txL" fmla="*/ 0 w 1248"/>
                <a:gd name="txT" fmla="*/ 0 h 1406"/>
                <a:gd name="txR" fmla="*/ 1248 w 1248"/>
                <a:gd name="txB" fmla="*/ 1406 h 1406"/>
              </a:gdLst>
              <a:ahLst/>
              <a:cxnLst>
                <a:cxn ang="0">
                  <a:pos x="0" y="0"/>
                </a:cxn>
                <a:cxn ang="0">
                  <a:pos x="102" y="329"/>
                </a:cxn>
                <a:cxn ang="0">
                  <a:pos x="233" y="597"/>
                </a:cxn>
                <a:cxn ang="0">
                  <a:pos x="425" y="871"/>
                </a:cxn>
                <a:cxn ang="0">
                  <a:pos x="603" y="1069"/>
                </a:cxn>
                <a:cxn ang="0">
                  <a:pos x="843" y="1234"/>
                </a:cxn>
                <a:cxn ang="0">
                  <a:pos x="1090" y="1351"/>
                </a:cxn>
                <a:cxn ang="0">
                  <a:pos x="1248" y="1406"/>
                </a:cxn>
              </a:cxnLst>
              <a:rect l="txL" t="txT" r="txR" b="txB"/>
              <a:pathLst>
                <a:path w="1248" h="1406">
                  <a:moveTo>
                    <a:pt x="0" y="0"/>
                  </a:moveTo>
                  <a:cubicBezTo>
                    <a:pt x="17" y="55"/>
                    <a:pt x="63" y="229"/>
                    <a:pt x="102" y="329"/>
                  </a:cubicBezTo>
                  <a:cubicBezTo>
                    <a:pt x="141" y="429"/>
                    <a:pt x="179" y="507"/>
                    <a:pt x="233" y="597"/>
                  </a:cubicBezTo>
                  <a:cubicBezTo>
                    <a:pt x="287" y="687"/>
                    <a:pt x="363" y="792"/>
                    <a:pt x="425" y="871"/>
                  </a:cubicBezTo>
                  <a:cubicBezTo>
                    <a:pt x="487" y="950"/>
                    <a:pt x="533" y="1009"/>
                    <a:pt x="603" y="1069"/>
                  </a:cubicBezTo>
                  <a:cubicBezTo>
                    <a:pt x="673" y="1129"/>
                    <a:pt x="762" y="1187"/>
                    <a:pt x="843" y="1234"/>
                  </a:cubicBezTo>
                  <a:cubicBezTo>
                    <a:pt x="924" y="1281"/>
                    <a:pt x="1023" y="1322"/>
                    <a:pt x="1090" y="1351"/>
                  </a:cubicBezTo>
                  <a:cubicBezTo>
                    <a:pt x="1157" y="1380"/>
                    <a:pt x="1215" y="1395"/>
                    <a:pt x="1248" y="1406"/>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800" dirty="0"/>
            </a:p>
          </p:txBody>
        </p:sp>
        <p:sp>
          <p:nvSpPr>
            <p:cNvPr id="29" name="Line 27">
              <a:extLst>
                <a:ext uri="{FF2B5EF4-FFF2-40B4-BE49-F238E27FC236}">
                  <a16:creationId xmlns:a16="http://schemas.microsoft.com/office/drawing/2014/main" id="{EB22C6D9-2550-CCFF-8B05-19ECF879C8F6}"/>
                </a:ext>
              </a:extLst>
            </p:cNvPr>
            <p:cNvSpPr/>
            <p:nvPr/>
          </p:nvSpPr>
          <p:spPr>
            <a:xfrm flipH="1">
              <a:off x="1104" y="2064"/>
              <a:ext cx="720" cy="0"/>
            </a:xfrm>
            <a:prstGeom prst="line">
              <a:avLst/>
            </a:prstGeom>
            <a:ln w="12700" cap="flat" cmpd="sng">
              <a:solidFill>
                <a:schemeClr val="tx1"/>
              </a:solidFill>
              <a:prstDash val="dash"/>
              <a:headEnd type="none" w="med" len="med"/>
              <a:tailEnd type="none" w="med" len="med"/>
            </a:ln>
          </p:spPr>
        </p:sp>
        <p:sp>
          <p:nvSpPr>
            <p:cNvPr id="30" name="Line 28">
              <a:extLst>
                <a:ext uri="{FF2B5EF4-FFF2-40B4-BE49-F238E27FC236}">
                  <a16:creationId xmlns:a16="http://schemas.microsoft.com/office/drawing/2014/main" id="{2FF8A218-06D1-5848-8B1F-33FC8BF872E7}"/>
                </a:ext>
              </a:extLst>
            </p:cNvPr>
            <p:cNvSpPr/>
            <p:nvPr/>
          </p:nvSpPr>
          <p:spPr>
            <a:xfrm flipH="1">
              <a:off x="768" y="2256"/>
              <a:ext cx="1056" cy="0"/>
            </a:xfrm>
            <a:prstGeom prst="line">
              <a:avLst/>
            </a:prstGeom>
            <a:ln w="12700" cap="flat" cmpd="sng">
              <a:solidFill>
                <a:schemeClr val="tx1"/>
              </a:solidFill>
              <a:prstDash val="dash"/>
              <a:headEnd type="none" w="med" len="med"/>
              <a:tailEnd type="none" w="med" len="med"/>
            </a:ln>
          </p:spPr>
        </p:sp>
        <p:sp>
          <p:nvSpPr>
            <p:cNvPr id="31" name="Line 29">
              <a:extLst>
                <a:ext uri="{FF2B5EF4-FFF2-40B4-BE49-F238E27FC236}">
                  <a16:creationId xmlns:a16="http://schemas.microsoft.com/office/drawing/2014/main" id="{CC5629F1-A04B-C3A5-72D5-253B55FCF4AE}"/>
                </a:ext>
              </a:extLst>
            </p:cNvPr>
            <p:cNvSpPr/>
            <p:nvPr/>
          </p:nvSpPr>
          <p:spPr>
            <a:xfrm>
              <a:off x="1440" y="2928"/>
              <a:ext cx="384" cy="0"/>
            </a:xfrm>
            <a:prstGeom prst="line">
              <a:avLst/>
            </a:prstGeom>
            <a:ln w="9525" cap="flat" cmpd="sng">
              <a:solidFill>
                <a:srgbClr val="FF0066"/>
              </a:solidFill>
              <a:prstDash val="solid"/>
              <a:headEnd type="triangle" w="sm" len="lg"/>
              <a:tailEnd type="triangle" w="sm" len="lg"/>
            </a:ln>
          </p:spPr>
        </p:sp>
        <mc:AlternateContent xmlns:mc="http://schemas.openxmlformats.org/markup-compatibility/2006" xmlns:a14="http://schemas.microsoft.com/office/drawing/2010/main">
          <mc:Choice Requires="a14">
            <p:sp>
              <p:nvSpPr>
                <p:cNvPr id="32" name="Object 30">
                  <a:extLst>
                    <a:ext uri="{FF2B5EF4-FFF2-40B4-BE49-F238E27FC236}">
                      <a16:creationId xmlns:a16="http://schemas.microsoft.com/office/drawing/2014/main" id="{D7C741AD-8F0A-AED6-701F-BC9808CFA6E5}"/>
                    </a:ext>
                  </a:extLst>
                </p:cNvPr>
                <p:cNvSpPr txBox="1"/>
                <p:nvPr/>
              </p:nvSpPr>
              <p:spPr>
                <a:xfrm>
                  <a:off x="1488" y="2976"/>
                  <a:ext cx="336" cy="20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r>
                          <a:rPr lang="en-US" sz="2800" b="0" i="1" smtClean="0">
                            <a:solidFill>
                              <a:srgbClr val="000000"/>
                            </a:solidFill>
                            <a:latin typeface="Cambria Math" panose="02040503050406030204" pitchFamily="18" charset="0"/>
                          </a:rPr>
                          <m:t>𝑉</m:t>
                        </m:r>
                      </m:oMath>
                    </m:oMathPara>
                  </a14:m>
                  <a:endParaRPr lang="en-US" sz="2800" dirty="0"/>
                </a:p>
              </p:txBody>
            </p:sp>
          </mc:Choice>
          <mc:Fallback xmlns="">
            <p:sp>
              <p:nvSpPr>
                <p:cNvPr id="32" name="Object 30">
                  <a:extLst>
                    <a:ext uri="{FF2B5EF4-FFF2-40B4-BE49-F238E27FC236}">
                      <a16:creationId xmlns:a16="http://schemas.microsoft.com/office/drawing/2014/main" id="{D7C741AD-8F0A-AED6-701F-BC9808CFA6E5}"/>
                    </a:ext>
                  </a:extLst>
                </p:cNvPr>
                <p:cNvSpPr txBox="1">
                  <a:spLocks noRot="1" noChangeAspect="1" noMove="1" noResize="1" noEditPoints="1" noAdjustHandles="1" noChangeArrowheads="1" noChangeShapeType="1" noTextEdit="1"/>
                </p:cNvSpPr>
                <p:nvPr/>
              </p:nvSpPr>
              <p:spPr>
                <a:xfrm>
                  <a:off x="1488" y="2976"/>
                  <a:ext cx="336" cy="206"/>
                </a:xfrm>
                <a:prstGeom prst="rect">
                  <a:avLst/>
                </a:prstGeom>
                <a:blipFill>
                  <a:blip r:embed="rId16"/>
                  <a:stretch>
                    <a:fillRect b="-20370"/>
                  </a:stretch>
                </a:blipFill>
                <a:ln w="38100">
                  <a:noFill/>
                  <a:miter/>
                </a:ln>
              </p:spPr>
              <p:txBody>
                <a:bodyPr/>
                <a:lstStyle/>
                <a:p>
                  <a:r>
                    <a:rPr lang="zh-CN" altLang="en-US">
                      <a:noFill/>
                    </a:rPr>
                    <a:t> </a:t>
                  </a:r>
                </a:p>
              </p:txBody>
            </p:sp>
          </mc:Fallback>
        </mc:AlternateContent>
        <p:sp>
          <p:nvSpPr>
            <p:cNvPr id="33" name="Line 31">
              <a:extLst>
                <a:ext uri="{FF2B5EF4-FFF2-40B4-BE49-F238E27FC236}">
                  <a16:creationId xmlns:a16="http://schemas.microsoft.com/office/drawing/2014/main" id="{DB97C03A-D638-43F6-8F7A-4D50C14762E0}"/>
                </a:ext>
              </a:extLst>
            </p:cNvPr>
            <p:cNvSpPr/>
            <p:nvPr/>
          </p:nvSpPr>
          <p:spPr>
            <a:xfrm>
              <a:off x="864" y="2256"/>
              <a:ext cx="0" cy="336"/>
            </a:xfrm>
            <a:prstGeom prst="line">
              <a:avLst/>
            </a:prstGeom>
            <a:ln w="9525" cap="flat" cmpd="sng">
              <a:solidFill>
                <a:srgbClr val="FF0066"/>
              </a:solidFill>
              <a:prstDash val="solid"/>
              <a:headEnd type="triangle" w="sm" len="lg"/>
              <a:tailEnd type="none" w="med" len="lg"/>
            </a:ln>
          </p:spPr>
        </p:sp>
        <p:sp>
          <p:nvSpPr>
            <p:cNvPr id="34" name="Line 32">
              <a:extLst>
                <a:ext uri="{FF2B5EF4-FFF2-40B4-BE49-F238E27FC236}">
                  <a16:creationId xmlns:a16="http://schemas.microsoft.com/office/drawing/2014/main" id="{ABAE434E-1CFD-DEA9-183C-A0B9118B08D3}"/>
                </a:ext>
              </a:extLst>
            </p:cNvPr>
            <p:cNvSpPr/>
            <p:nvPr/>
          </p:nvSpPr>
          <p:spPr>
            <a:xfrm>
              <a:off x="1200" y="2064"/>
              <a:ext cx="0" cy="240"/>
            </a:xfrm>
            <a:prstGeom prst="line">
              <a:avLst/>
            </a:prstGeom>
            <a:ln w="9525" cap="flat" cmpd="sng">
              <a:solidFill>
                <a:srgbClr val="FF6600"/>
              </a:solidFill>
              <a:prstDash val="solid"/>
              <a:headEnd type="triangle" w="sm" len="lg"/>
              <a:tailEnd type="none" w="med" len="lg"/>
            </a:ln>
          </p:spPr>
        </p:sp>
        <p:sp>
          <p:nvSpPr>
            <p:cNvPr id="35" name="Line 33">
              <a:extLst>
                <a:ext uri="{FF2B5EF4-FFF2-40B4-BE49-F238E27FC236}">
                  <a16:creationId xmlns:a16="http://schemas.microsoft.com/office/drawing/2014/main" id="{10CE52F9-6671-F740-06DE-0EFA4C1EEBCE}"/>
                </a:ext>
              </a:extLst>
            </p:cNvPr>
            <p:cNvSpPr/>
            <p:nvPr/>
          </p:nvSpPr>
          <p:spPr>
            <a:xfrm>
              <a:off x="864" y="1440"/>
              <a:ext cx="0" cy="336"/>
            </a:xfrm>
            <a:prstGeom prst="line">
              <a:avLst/>
            </a:prstGeom>
            <a:ln w="9525" cap="flat" cmpd="sng">
              <a:solidFill>
                <a:srgbClr val="FF0066"/>
              </a:solidFill>
              <a:prstDash val="solid"/>
              <a:headEnd type="none" w="med" len="lg"/>
              <a:tailEnd type="triangle" w="sm" len="lg"/>
            </a:ln>
          </p:spPr>
        </p:sp>
        <p:sp>
          <p:nvSpPr>
            <p:cNvPr id="36" name="Line 34">
              <a:extLst>
                <a:ext uri="{FF2B5EF4-FFF2-40B4-BE49-F238E27FC236}">
                  <a16:creationId xmlns:a16="http://schemas.microsoft.com/office/drawing/2014/main" id="{628AB130-6688-4B31-7B92-A66353F62FC4}"/>
                </a:ext>
              </a:extLst>
            </p:cNvPr>
            <p:cNvSpPr/>
            <p:nvPr/>
          </p:nvSpPr>
          <p:spPr>
            <a:xfrm>
              <a:off x="1200" y="1536"/>
              <a:ext cx="0" cy="240"/>
            </a:xfrm>
            <a:prstGeom prst="line">
              <a:avLst/>
            </a:prstGeom>
            <a:ln w="9525" cap="flat" cmpd="sng">
              <a:solidFill>
                <a:srgbClr val="FF6600"/>
              </a:solidFill>
              <a:prstDash val="solid"/>
              <a:headEnd type="none" w="med" len="lg"/>
              <a:tailEnd type="triangle" w="sm" len="lg"/>
            </a:ln>
          </p:spPr>
        </p:sp>
        <mc:AlternateContent xmlns:mc="http://schemas.openxmlformats.org/markup-compatibility/2006" xmlns:a14="http://schemas.microsoft.com/office/drawing/2010/main">
          <mc:Choice Requires="a14">
            <p:sp>
              <p:nvSpPr>
                <p:cNvPr id="37" name="Object 35">
                  <a:extLst>
                    <a:ext uri="{FF2B5EF4-FFF2-40B4-BE49-F238E27FC236}">
                      <a16:creationId xmlns:a16="http://schemas.microsoft.com/office/drawing/2014/main" id="{F295FFC2-E7D7-57BE-41BC-E6474975ABF8}"/>
                    </a:ext>
                  </a:extLst>
                </p:cNvPr>
                <p:cNvSpPr txBox="1"/>
                <p:nvPr/>
              </p:nvSpPr>
              <p:spPr>
                <a:xfrm>
                  <a:off x="706" y="1867"/>
                  <a:ext cx="398" cy="31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𝑎</m:t>
                            </m:r>
                          </m:sub>
                        </m:sSub>
                      </m:oMath>
                    </m:oMathPara>
                  </a14:m>
                  <a:endParaRPr lang="en-US" sz="2800"/>
                </a:p>
              </p:txBody>
            </p:sp>
          </mc:Choice>
          <mc:Fallback xmlns="">
            <p:sp>
              <p:nvSpPr>
                <p:cNvPr id="37" name="Object 35">
                  <a:extLst>
                    <a:ext uri="{FF2B5EF4-FFF2-40B4-BE49-F238E27FC236}">
                      <a16:creationId xmlns:a16="http://schemas.microsoft.com/office/drawing/2014/main" id="{F295FFC2-E7D7-57BE-41BC-E6474975ABF8}"/>
                    </a:ext>
                  </a:extLst>
                </p:cNvPr>
                <p:cNvSpPr txBox="1">
                  <a:spLocks noRot="1" noChangeAspect="1" noMove="1" noResize="1" noEditPoints="1" noAdjustHandles="1" noChangeArrowheads="1" noChangeShapeType="1" noTextEdit="1"/>
                </p:cNvSpPr>
                <p:nvPr/>
              </p:nvSpPr>
              <p:spPr>
                <a:xfrm>
                  <a:off x="706" y="1867"/>
                  <a:ext cx="398" cy="315"/>
                </a:xfrm>
                <a:prstGeom prst="rect">
                  <a:avLst/>
                </a:prstGeom>
                <a:blipFill>
                  <a:blip r:embed="rId17"/>
                  <a:stretch>
                    <a:fillRect r="-28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Object 36">
                  <a:extLst>
                    <a:ext uri="{FF2B5EF4-FFF2-40B4-BE49-F238E27FC236}">
                      <a16:creationId xmlns:a16="http://schemas.microsoft.com/office/drawing/2014/main" id="{D83B56F9-0048-DE57-D6A4-38CC0F45EBA3}"/>
                    </a:ext>
                  </a:extLst>
                </p:cNvPr>
                <p:cNvSpPr txBox="1"/>
                <p:nvPr/>
              </p:nvSpPr>
              <p:spPr>
                <a:xfrm>
                  <a:off x="1053" y="1788"/>
                  <a:ext cx="387" cy="27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𝛥</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𝑇</m:t>
                            </m:r>
                          </m:sub>
                        </m:sSub>
                      </m:oMath>
                    </m:oMathPara>
                  </a14:m>
                  <a:endParaRPr lang="en-US" sz="2800"/>
                </a:p>
              </p:txBody>
            </p:sp>
          </mc:Choice>
          <mc:Fallback xmlns="">
            <p:sp>
              <p:nvSpPr>
                <p:cNvPr id="38" name="Object 36">
                  <a:extLst>
                    <a:ext uri="{FF2B5EF4-FFF2-40B4-BE49-F238E27FC236}">
                      <a16:creationId xmlns:a16="http://schemas.microsoft.com/office/drawing/2014/main" id="{D83B56F9-0048-DE57-D6A4-38CC0F45EBA3}"/>
                    </a:ext>
                  </a:extLst>
                </p:cNvPr>
                <p:cNvSpPr txBox="1">
                  <a:spLocks noRot="1" noChangeAspect="1" noMove="1" noResize="1" noEditPoints="1" noAdjustHandles="1" noChangeArrowheads="1" noChangeShapeType="1" noTextEdit="1"/>
                </p:cNvSpPr>
                <p:nvPr/>
              </p:nvSpPr>
              <p:spPr>
                <a:xfrm>
                  <a:off x="1053" y="1788"/>
                  <a:ext cx="387" cy="276"/>
                </a:xfrm>
                <a:prstGeom prst="rect">
                  <a:avLst/>
                </a:prstGeom>
                <a:blipFill>
                  <a:blip r:embed="rId18"/>
                  <a:stretch>
                    <a:fillRect r="-7921" b="-5556"/>
                  </a:stretch>
                </a:blipFill>
                <a:ln w="38100">
                  <a:noFill/>
                  <a:miter/>
                </a:ln>
              </p:spPr>
              <p:txBody>
                <a:bodyPr/>
                <a:lstStyle/>
                <a:p>
                  <a:r>
                    <a:rPr lang="zh-CN" altLang="en-US">
                      <a:noFill/>
                    </a:rPr>
                    <a:t> </a:t>
                  </a:r>
                </a:p>
              </p:txBody>
            </p:sp>
          </mc:Fallback>
        </mc:AlternateContent>
        <p:sp>
          <p:nvSpPr>
            <p:cNvPr id="39" name="Text Box 37">
              <a:extLst>
                <a:ext uri="{FF2B5EF4-FFF2-40B4-BE49-F238E27FC236}">
                  <a16:creationId xmlns:a16="http://schemas.microsoft.com/office/drawing/2014/main" id="{3123C69D-CB23-EFF0-FF1F-E7D338A2BC25}"/>
                </a:ext>
              </a:extLst>
            </p:cNvPr>
            <p:cNvSpPr txBox="1"/>
            <p:nvPr/>
          </p:nvSpPr>
          <p:spPr>
            <a:xfrm>
              <a:off x="1632" y="2208"/>
              <a:ext cx="336"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B</a:t>
              </a:r>
            </a:p>
          </p:txBody>
        </p:sp>
        <p:sp>
          <p:nvSpPr>
            <p:cNvPr id="40" name="Text Box 38">
              <a:extLst>
                <a:ext uri="{FF2B5EF4-FFF2-40B4-BE49-F238E27FC236}">
                  <a16:creationId xmlns:a16="http://schemas.microsoft.com/office/drawing/2014/main" id="{D6715021-45CC-6283-DFBD-4211C9A36EA8}"/>
                </a:ext>
              </a:extLst>
            </p:cNvPr>
            <p:cNvSpPr txBox="1"/>
            <p:nvPr/>
          </p:nvSpPr>
          <p:spPr>
            <a:xfrm>
              <a:off x="1728" y="1824"/>
              <a:ext cx="288"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Times New Roman" panose="02020603050405020304" pitchFamily="18" charset="0"/>
                </a:rPr>
                <a:t>C</a:t>
              </a:r>
            </a:p>
          </p:txBody>
        </p:sp>
        <p:sp>
          <p:nvSpPr>
            <p:cNvPr id="41" name="Line 39">
              <a:extLst>
                <a:ext uri="{FF2B5EF4-FFF2-40B4-BE49-F238E27FC236}">
                  <a16:creationId xmlns:a16="http://schemas.microsoft.com/office/drawing/2014/main" id="{9E2707FC-8344-9A04-1690-A5C81759F6ED}"/>
                </a:ext>
              </a:extLst>
            </p:cNvPr>
            <p:cNvSpPr/>
            <p:nvPr/>
          </p:nvSpPr>
          <p:spPr>
            <a:xfrm>
              <a:off x="1776" y="1104"/>
              <a:ext cx="192" cy="0"/>
            </a:xfrm>
            <a:prstGeom prst="line">
              <a:avLst/>
            </a:prstGeom>
            <a:ln w="28575" cap="flat" cmpd="sng">
              <a:solidFill>
                <a:srgbClr val="0000FF"/>
              </a:solidFill>
              <a:prstDash val="solid"/>
              <a:headEnd type="none" w="med" len="med"/>
              <a:tailEnd type="none" w="med" len="med"/>
            </a:ln>
          </p:spPr>
        </p:sp>
        <p:sp>
          <p:nvSpPr>
            <p:cNvPr id="42" name="Line 40">
              <a:extLst>
                <a:ext uri="{FF2B5EF4-FFF2-40B4-BE49-F238E27FC236}">
                  <a16:creationId xmlns:a16="http://schemas.microsoft.com/office/drawing/2014/main" id="{74572777-EF9A-B428-AC19-5E816828E4B2}"/>
                </a:ext>
              </a:extLst>
            </p:cNvPr>
            <p:cNvSpPr/>
            <p:nvPr/>
          </p:nvSpPr>
          <p:spPr>
            <a:xfrm>
              <a:off x="1776" y="1392"/>
              <a:ext cx="192" cy="0"/>
            </a:xfrm>
            <a:prstGeom prst="line">
              <a:avLst/>
            </a:prstGeom>
            <a:ln w="28575" cap="flat" cmpd="sng">
              <a:solidFill>
                <a:srgbClr val="CC0099"/>
              </a:solidFill>
              <a:prstDash val="solid"/>
              <a:headEnd type="none" w="med" len="med"/>
              <a:tailEnd type="none" w="med" len="med"/>
            </a:ln>
          </p:spPr>
        </p:sp>
        <p:sp>
          <p:nvSpPr>
            <p:cNvPr id="43" name="Rectangle 41">
              <a:extLst>
                <a:ext uri="{FF2B5EF4-FFF2-40B4-BE49-F238E27FC236}">
                  <a16:creationId xmlns:a16="http://schemas.microsoft.com/office/drawing/2014/main" id="{97058176-170C-EE18-44E9-FF59AA0B07DB}"/>
                </a:ext>
              </a:extLst>
            </p:cNvPr>
            <p:cNvSpPr/>
            <p:nvPr/>
          </p:nvSpPr>
          <p:spPr>
            <a:xfrm>
              <a:off x="2304" y="960"/>
              <a:ext cx="672" cy="327"/>
            </a:xfrm>
            <a:prstGeom prst="rect">
              <a:avLst/>
            </a:prstGeom>
            <a:noFill/>
            <a:ln w="9525">
              <a:noFill/>
            </a:ln>
          </p:spPr>
          <p:txBody>
            <a:bodyPr>
              <a:spAutoFit/>
            </a:bodyPr>
            <a:lstStyle/>
            <a:p>
              <a:pPr eaLnBrk="1" hangingPunct="1"/>
              <a:r>
                <a:rPr lang="zh-CN" altLang="en-US" sz="2800" dirty="0">
                  <a:solidFill>
                    <a:srgbClr val="000000"/>
                  </a:solidFill>
                  <a:latin typeface="Times New Roman" panose="02020603050405020304" pitchFamily="18" charset="0"/>
                </a:rPr>
                <a:t>常量</a:t>
              </a:r>
            </a:p>
          </p:txBody>
        </p:sp>
      </p:grpSp>
      <mc:AlternateContent xmlns:mc="http://schemas.openxmlformats.org/markup-compatibility/2006" xmlns:a14="http://schemas.microsoft.com/office/drawing/2010/main">
        <mc:Choice Requires="a14">
          <p:sp>
            <p:nvSpPr>
              <p:cNvPr id="44" name="Object 26">
                <a:extLst>
                  <a:ext uri="{FF2B5EF4-FFF2-40B4-BE49-F238E27FC236}">
                    <a16:creationId xmlns:a16="http://schemas.microsoft.com/office/drawing/2014/main" id="{CBA00733-DF48-262D-FF33-EFEC451A9C66}"/>
                  </a:ext>
                </a:extLst>
              </p:cNvPr>
              <p:cNvSpPr txBox="1"/>
              <p:nvPr/>
            </p:nvSpPr>
            <p:spPr bwMode="auto">
              <a:xfrm>
                <a:off x="6565902" y="2067530"/>
                <a:ext cx="3533775" cy="10699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zh-CN" altLang="en-US" sz="2600" b="1" i="0" smtClean="0">
                          <a:solidFill>
                            <a:srgbClr val="0066FF"/>
                          </a:solidFill>
                        </a:rPr>
                        <m:t>  </m:t>
                      </m:r>
                      <m:r>
                        <a:rPr lang="zh-CN" altLang="en-US" sz="2600" b="1" i="1">
                          <a:solidFill>
                            <a:srgbClr val="0066FF"/>
                          </a:solidFill>
                          <a:latin typeface="Cambria Math" panose="02040503050406030204" pitchFamily="18" charset="0"/>
                        </a:rPr>
                        <m:t>𝑷</m:t>
                      </m:r>
                      <m:r>
                        <a:rPr lang="zh-CN" altLang="en-US" sz="2600" b="1" i="1" smtClean="0">
                          <a:solidFill>
                            <a:srgbClr val="0066FF"/>
                          </a:solidFill>
                          <a:latin typeface="Cambria Math" panose="02040503050406030204" pitchFamily="18" charset="0"/>
                        </a:rPr>
                        <m:t>=</m:t>
                      </m:r>
                      <m:f>
                        <m:fPr>
                          <m:ctrlPr>
                            <a:rPr lang="zh-CN" altLang="en-US" sz="2600" b="1" i="1" smtClean="0">
                              <a:solidFill>
                                <a:srgbClr val="0066FF"/>
                              </a:solidFill>
                              <a:latin typeface="Cambria Math" panose="02040503050406030204" pitchFamily="18" charset="0"/>
                            </a:rPr>
                          </m:ctrlPr>
                        </m:fPr>
                        <m:num>
                          <m:r>
                            <a:rPr lang="zh-CN" altLang="en-US" sz="2600" b="1" i="1">
                              <a:solidFill>
                                <a:srgbClr val="0066FF"/>
                              </a:solidFill>
                              <a:latin typeface="Cambria Math" panose="02040503050406030204" pitchFamily="18" charset="0"/>
                            </a:rPr>
                            <m:t>𝑵</m:t>
                          </m:r>
                        </m:num>
                        <m:den>
                          <m:r>
                            <a:rPr lang="zh-CN" altLang="en-US" sz="2600" b="1" i="1">
                              <a:solidFill>
                                <a:srgbClr val="0066FF"/>
                              </a:solidFill>
                              <a:latin typeface="Cambria Math" panose="02040503050406030204" pitchFamily="18" charset="0"/>
                            </a:rPr>
                            <m:t>𝑽</m:t>
                          </m:r>
                        </m:den>
                      </m:f>
                      <m:r>
                        <a:rPr lang="en-US" altLang="zh-CN" sz="2600" b="1" i="1">
                          <a:solidFill>
                            <a:srgbClr val="0066FF"/>
                          </a:solidFill>
                          <a:latin typeface="Cambria Math" panose="02040503050406030204" pitchFamily="18" charset="0"/>
                        </a:rPr>
                        <m:t>𝒌</m:t>
                      </m:r>
                      <m:r>
                        <a:rPr lang="zh-CN" altLang="en-US" sz="2600" b="1" i="1">
                          <a:solidFill>
                            <a:srgbClr val="0066FF"/>
                          </a:solidFill>
                          <a:latin typeface="Cambria Math" panose="02040503050406030204" pitchFamily="18" charset="0"/>
                        </a:rPr>
                        <m:t>𝑻</m:t>
                      </m:r>
                      <m:r>
                        <a:rPr lang="zh-CN" altLang="en-US" sz="2600" b="1" i="1">
                          <a:solidFill>
                            <a:srgbClr val="0066FF"/>
                          </a:solidFill>
                          <a:latin typeface="Cambria Math" panose="02040503050406030204" pitchFamily="18" charset="0"/>
                        </a:rPr>
                        <m:t>=</m:t>
                      </m:r>
                      <m:r>
                        <a:rPr lang="zh-CN" altLang="en-US" sz="2600" b="1" i="1">
                          <a:solidFill>
                            <a:srgbClr val="0066FF"/>
                          </a:solidFill>
                          <a:latin typeface="Cambria Math" panose="02040503050406030204" pitchFamily="18" charset="0"/>
                        </a:rPr>
                        <m:t>𝒏𝒌𝑻</m:t>
                      </m:r>
                    </m:oMath>
                  </m:oMathPara>
                </a14:m>
                <a:endParaRPr lang="zh-CN" altLang="en-US" sz="2600" b="1" dirty="0">
                  <a:solidFill>
                    <a:srgbClr val="0066FF"/>
                  </a:solidFill>
                </a:endParaRPr>
              </a:p>
            </p:txBody>
          </p:sp>
        </mc:Choice>
        <mc:Fallback xmlns="">
          <p:sp>
            <p:nvSpPr>
              <p:cNvPr id="44" name="Object 26">
                <a:extLst>
                  <a:ext uri="{FF2B5EF4-FFF2-40B4-BE49-F238E27FC236}">
                    <a16:creationId xmlns:a16="http://schemas.microsoft.com/office/drawing/2014/main" id="{CBA00733-DF48-262D-FF33-EFEC451A9C66}"/>
                  </a:ext>
                </a:extLst>
              </p:cNvPr>
              <p:cNvSpPr txBox="1">
                <a:spLocks noRot="1" noChangeAspect="1" noMove="1" noResize="1" noEditPoints="1" noAdjustHandles="1" noChangeArrowheads="1" noChangeShapeType="1" noTextEdit="1"/>
              </p:cNvSpPr>
              <p:nvPr/>
            </p:nvSpPr>
            <p:spPr bwMode="auto">
              <a:xfrm>
                <a:off x="6565902" y="2067530"/>
                <a:ext cx="3533775" cy="1069975"/>
              </a:xfrm>
              <a:prstGeom prst="rect">
                <a:avLst/>
              </a:prstGeom>
              <a:blipFill>
                <a:blip r:embed="rId1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2371" name="Object 16">
                <a:extLst>
                  <a:ext uri="{FF2B5EF4-FFF2-40B4-BE49-F238E27FC236}">
                    <a16:creationId xmlns:a16="http://schemas.microsoft.com/office/drawing/2014/main" id="{2759BA81-3FE4-35F1-5590-DA31D8D88802}"/>
                  </a:ext>
                </a:extLst>
              </p:cNvPr>
              <p:cNvSpPr txBox="1"/>
              <p:nvPr/>
            </p:nvSpPr>
            <p:spPr>
              <a:xfrm>
                <a:off x="6842129" y="1197886"/>
                <a:ext cx="522288" cy="6096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𝐵</m:t>
                          </m:r>
                        </m:sub>
                      </m:sSub>
                    </m:oMath>
                  </m:oMathPara>
                </a14:m>
                <a:endParaRPr lang="en-US" sz="2800" dirty="0"/>
              </a:p>
            </p:txBody>
          </p:sp>
        </mc:Choice>
        <mc:Fallback xmlns="">
          <p:sp>
            <p:nvSpPr>
              <p:cNvPr id="442371" name="Object 16">
                <a:extLst>
                  <a:ext uri="{FF2B5EF4-FFF2-40B4-BE49-F238E27FC236}">
                    <a16:creationId xmlns:a16="http://schemas.microsoft.com/office/drawing/2014/main" id="{2759BA81-3FE4-35F1-5590-DA31D8D88802}"/>
                  </a:ext>
                </a:extLst>
              </p:cNvPr>
              <p:cNvSpPr txBox="1">
                <a:spLocks noRot="1" noChangeAspect="1" noMove="1" noResize="1" noEditPoints="1" noAdjustHandles="1" noChangeArrowheads="1" noChangeShapeType="1" noTextEdit="1"/>
              </p:cNvSpPr>
              <p:nvPr/>
            </p:nvSpPr>
            <p:spPr>
              <a:xfrm>
                <a:off x="6842129" y="1197886"/>
                <a:ext cx="522288" cy="609600"/>
              </a:xfrm>
              <a:prstGeom prst="rect">
                <a:avLst/>
              </a:prstGeom>
              <a:blipFill>
                <a:blip r:embed="rId20"/>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2374" name="Object 17">
                <a:extLst>
                  <a:ext uri="{FF2B5EF4-FFF2-40B4-BE49-F238E27FC236}">
                    <a16:creationId xmlns:a16="http://schemas.microsoft.com/office/drawing/2014/main" id="{BD8EB7C9-7390-455B-21B9-E95B7D13A447}"/>
                  </a:ext>
                </a:extLst>
              </p:cNvPr>
              <p:cNvSpPr txBox="1"/>
              <p:nvPr/>
            </p:nvSpPr>
            <p:spPr>
              <a:xfrm>
                <a:off x="8073234" y="1220449"/>
                <a:ext cx="519113" cy="6096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𝐴</m:t>
                          </m:r>
                        </m:sub>
                      </m:sSub>
                    </m:oMath>
                  </m:oMathPara>
                </a14:m>
                <a:endParaRPr lang="en-US" sz="2800"/>
              </a:p>
            </p:txBody>
          </p:sp>
        </mc:Choice>
        <mc:Fallback xmlns="">
          <p:sp>
            <p:nvSpPr>
              <p:cNvPr id="442374" name="Object 17">
                <a:extLst>
                  <a:ext uri="{FF2B5EF4-FFF2-40B4-BE49-F238E27FC236}">
                    <a16:creationId xmlns:a16="http://schemas.microsoft.com/office/drawing/2014/main" id="{BD8EB7C9-7390-455B-21B9-E95B7D13A447}"/>
                  </a:ext>
                </a:extLst>
              </p:cNvPr>
              <p:cNvSpPr txBox="1">
                <a:spLocks noRot="1" noChangeAspect="1" noMove="1" noResize="1" noEditPoints="1" noAdjustHandles="1" noChangeArrowheads="1" noChangeShapeType="1" noTextEdit="1"/>
              </p:cNvSpPr>
              <p:nvPr/>
            </p:nvSpPr>
            <p:spPr>
              <a:xfrm>
                <a:off x="8073234" y="1220449"/>
                <a:ext cx="519113" cy="609600"/>
              </a:xfrm>
              <a:prstGeom prst="rect">
                <a:avLst/>
              </a:prstGeom>
              <a:blipFill>
                <a:blip r:embed="rId21"/>
                <a:stretch>
                  <a:fillRect/>
                </a:stretch>
              </a:blipFill>
              <a:ln w="38100">
                <a:noFill/>
                <a:miter/>
              </a:ln>
            </p:spPr>
            <p:txBody>
              <a:bodyPr/>
              <a:lstStyle/>
              <a:p>
                <a:r>
                  <a:rPr lang="en-US">
                    <a:noFill/>
                  </a:rPr>
                  <a:t> </a:t>
                </a:r>
              </a:p>
            </p:txBody>
          </p:sp>
        </mc:Fallback>
      </mc:AlternateContent>
      <p:cxnSp>
        <p:nvCxnSpPr>
          <p:cNvPr id="442376" name="直接箭头连接符 442375">
            <a:extLst>
              <a:ext uri="{FF2B5EF4-FFF2-40B4-BE49-F238E27FC236}">
                <a16:creationId xmlns:a16="http://schemas.microsoft.com/office/drawing/2014/main" id="{A7CAA482-0C44-5631-99B2-40ECE77D3CB0}"/>
              </a:ext>
            </a:extLst>
          </p:cNvPr>
          <p:cNvCxnSpPr/>
          <p:nvPr/>
        </p:nvCxnSpPr>
        <p:spPr>
          <a:xfrm>
            <a:off x="7489035" y="1488737"/>
            <a:ext cx="52546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42377" name="文本框 442376">
            <a:extLst>
              <a:ext uri="{FF2B5EF4-FFF2-40B4-BE49-F238E27FC236}">
                <a16:creationId xmlns:a16="http://schemas.microsoft.com/office/drawing/2014/main" id="{4A74BE99-9F51-7485-D28F-D17E0C3FA115}"/>
              </a:ext>
            </a:extLst>
          </p:cNvPr>
          <p:cNvSpPr txBox="1"/>
          <p:nvPr/>
        </p:nvSpPr>
        <p:spPr>
          <a:xfrm>
            <a:off x="7027866" y="3147931"/>
            <a:ext cx="2821542" cy="954107"/>
          </a:xfrm>
          <a:prstGeom prst="rect">
            <a:avLst/>
          </a:prstGeom>
          <a:noFill/>
        </p:spPr>
        <p:txBody>
          <a:bodyPr wrap="none" rtlCol="0">
            <a:spAutoFit/>
          </a:bodyPr>
          <a:lstStyle/>
          <a:p>
            <a:r>
              <a:rPr lang="zh-CN" altLang="en-US" sz="2800" dirty="0"/>
              <a:t>等温过程：</a:t>
            </a:r>
            <a:endParaRPr lang="en-US" altLang="zh-CN" sz="2800" dirty="0"/>
          </a:p>
          <a:p>
            <a:r>
              <a:rPr lang="zh-CN" altLang="en-US" sz="2800" dirty="0"/>
              <a:t> </a:t>
            </a:r>
            <a:r>
              <a:rPr lang="en-US" altLang="zh-CN" sz="2800" dirty="0"/>
              <a:t>T</a:t>
            </a:r>
            <a:r>
              <a:rPr lang="zh-CN" altLang="en-US" sz="2800" dirty="0"/>
              <a:t>不变，</a:t>
            </a:r>
            <a:r>
              <a:rPr lang="en-US" altLang="zh-CN" sz="2800" dirty="0"/>
              <a:t>n</a:t>
            </a:r>
            <a:r>
              <a:rPr lang="zh-CN" altLang="en-US" sz="2800" dirty="0"/>
              <a:t>变大，</a:t>
            </a:r>
          </a:p>
        </p:txBody>
      </p:sp>
      <p:sp>
        <p:nvSpPr>
          <p:cNvPr id="442378" name="文本框 442377">
            <a:extLst>
              <a:ext uri="{FF2B5EF4-FFF2-40B4-BE49-F238E27FC236}">
                <a16:creationId xmlns:a16="http://schemas.microsoft.com/office/drawing/2014/main" id="{7D83A751-396F-821B-DC9E-42FBBB9A0B5D}"/>
              </a:ext>
            </a:extLst>
          </p:cNvPr>
          <p:cNvSpPr txBox="1"/>
          <p:nvPr/>
        </p:nvSpPr>
        <p:spPr>
          <a:xfrm>
            <a:off x="6565902" y="4474824"/>
            <a:ext cx="4287045" cy="1384995"/>
          </a:xfrm>
          <a:prstGeom prst="rect">
            <a:avLst/>
          </a:prstGeom>
          <a:noFill/>
        </p:spPr>
        <p:txBody>
          <a:bodyPr wrap="square" rtlCol="0">
            <a:spAutoFit/>
          </a:bodyPr>
          <a:lstStyle/>
          <a:p>
            <a:r>
              <a:rPr lang="zh-CN" altLang="en-US" sz="2800" dirty="0"/>
              <a:t>绝热过程：</a:t>
            </a:r>
            <a:endParaRPr lang="en-US" altLang="zh-CN" sz="2800" dirty="0"/>
          </a:p>
          <a:p>
            <a:r>
              <a:rPr lang="zh-CN" altLang="en-US" sz="2800" dirty="0"/>
              <a:t> </a:t>
            </a:r>
            <a:r>
              <a:rPr lang="en-US" altLang="zh-CN" sz="2800" dirty="0"/>
              <a:t>T</a:t>
            </a:r>
            <a:r>
              <a:rPr lang="zh-CN" altLang="en-US" sz="2800" dirty="0"/>
              <a:t>升高，</a:t>
            </a:r>
            <a:r>
              <a:rPr lang="en-US" altLang="zh-CN" sz="2800" dirty="0"/>
              <a:t>n</a:t>
            </a:r>
            <a:r>
              <a:rPr lang="zh-CN" altLang="en-US" sz="2800" dirty="0"/>
              <a:t>变大且数值与等温过程相同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23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23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23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23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23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4" grpId="0"/>
      <p:bldP spid="442371" grpId="0"/>
      <p:bldP spid="442374" grpId="0"/>
      <p:bldP spid="442377" grpId="0"/>
      <p:bldP spid="44237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8EF7815-1C09-679D-B31F-87B3A7D24A2F}"/>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latin typeface="Times New Roman" panose="02020603050405020304" pitchFamily="18" charset="0"/>
              </a:rPr>
              <a:t>一定量的理想气体起始温度为</a:t>
            </a:r>
            <a:r>
              <a:rPr lang="en-US" altLang="zh-CN" sz="2800" dirty="0">
                <a:latin typeface="Times New Roman" panose="02020603050405020304" pitchFamily="18" charset="0"/>
              </a:rPr>
              <a:t>T, </a:t>
            </a:r>
            <a:r>
              <a:rPr lang="zh-CN" altLang="en-US" sz="2800" dirty="0">
                <a:latin typeface="Times New Roman" panose="02020603050405020304" pitchFamily="18" charset="0"/>
              </a:rPr>
              <a:t>体积为</a:t>
            </a:r>
            <a:r>
              <a:rPr lang="en-US" altLang="zh-CN" sz="2800" dirty="0">
                <a:latin typeface="Times New Roman" panose="02020603050405020304" pitchFamily="18" charset="0"/>
              </a:rPr>
              <a:t>V, </a:t>
            </a:r>
            <a:r>
              <a:rPr lang="zh-CN" altLang="en-US" sz="2800" dirty="0">
                <a:latin typeface="Times New Roman" panose="02020603050405020304" pitchFamily="18" charset="0"/>
              </a:rPr>
              <a:t>先经过绝热膨胀到体积</a:t>
            </a:r>
            <a:r>
              <a:rPr lang="en-US" altLang="zh-CN" sz="2800" dirty="0">
                <a:latin typeface="Times New Roman" panose="02020603050405020304" pitchFamily="18" charset="0"/>
              </a:rPr>
              <a:t>2V, </a:t>
            </a:r>
            <a:r>
              <a:rPr lang="zh-CN" altLang="en-US" sz="2800" dirty="0">
                <a:latin typeface="Times New Roman" panose="02020603050405020304" pitchFamily="18" charset="0"/>
              </a:rPr>
              <a:t>再经过等容过程使温度恢复到</a:t>
            </a:r>
            <a:r>
              <a:rPr lang="en-US" altLang="zh-CN" sz="2800" dirty="0">
                <a:latin typeface="Times New Roman" panose="02020603050405020304" pitchFamily="18" charset="0"/>
              </a:rPr>
              <a:t>T, </a:t>
            </a:r>
            <a:r>
              <a:rPr lang="zh-CN" altLang="en-US" sz="2800" dirty="0">
                <a:latin typeface="Times New Roman" panose="02020603050405020304" pitchFamily="18" charset="0"/>
              </a:rPr>
              <a:t>最后在等温压缩过程中体积回到</a:t>
            </a:r>
            <a:r>
              <a:rPr lang="en-US" altLang="zh-CN" sz="2800" dirty="0">
                <a:latin typeface="Times New Roman" panose="02020603050405020304" pitchFamily="18" charset="0"/>
              </a:rPr>
              <a:t>V, </a:t>
            </a:r>
            <a:r>
              <a:rPr lang="zh-CN" altLang="en-US" sz="2800" dirty="0">
                <a:latin typeface="Times New Roman" panose="02020603050405020304" pitchFamily="18" charset="0"/>
              </a:rPr>
              <a:t>则在此过程中</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F1D2C896-71FA-2031-057B-0309A050D7F2}"/>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气体向外界放热</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DB0377B6-3A4A-FF82-604E-97562D9FAB0B}"/>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气体对外界做功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A3D33D7A-8C2A-78E8-827A-A162BC0EA9CA}"/>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气体内能增加</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EC39F4F5-2AC2-B0FF-CCFC-46A330AADF00}"/>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气体内能减小</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CB71AECD-3E9D-513C-0AF2-0E28546E7B64}"/>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11778FF3-C5EE-DC81-1700-94DAB632249C}"/>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3AF0A677-DC86-B336-7C4C-FD3F1CE61804}"/>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6114826-5A3D-A699-943A-1BD0F3914510}"/>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CA39920-AD70-727E-C561-3505E992259A}"/>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1BFE1D35-7057-1F06-92EA-5443E6480EB2}"/>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D8EA2BEB-D24E-EA04-D715-3EEBCD255D4D}"/>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9244D5B0-3EF7-9072-B228-C856F8668144}"/>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A9E1C311-0E89-3F07-2627-CB6F731EF6D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85EFCD3C-1779-7A48-AC3B-17F3D6EC2741}"/>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460B13BF-4CB3-4CDB-B162-110216B297BB}"/>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379571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98AE2C39-077D-160E-3DE3-A259B478E4D4}"/>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绝热自由膨胀</a:t>
            </a:r>
          </a:p>
        </p:txBody>
      </p:sp>
      <p:grpSp>
        <p:nvGrpSpPr>
          <p:cNvPr id="3" name="Group 9">
            <a:extLst>
              <a:ext uri="{FF2B5EF4-FFF2-40B4-BE49-F238E27FC236}">
                <a16:creationId xmlns:a16="http://schemas.microsoft.com/office/drawing/2014/main" id="{F089FC52-BC5A-DDC0-5D29-3112CA7E74FF}"/>
              </a:ext>
            </a:extLst>
          </p:cNvPr>
          <p:cNvGrpSpPr/>
          <p:nvPr/>
        </p:nvGrpSpPr>
        <p:grpSpPr>
          <a:xfrm>
            <a:off x="5020310" y="1413951"/>
            <a:ext cx="3048000" cy="1654175"/>
            <a:chOff x="2592" y="864"/>
            <a:chExt cx="1920" cy="1042"/>
          </a:xfrm>
        </p:grpSpPr>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E169645C-5779-1081-8E6A-9900E91CB2C3}"/>
                    </a:ext>
                  </a:extLst>
                </p:cNvPr>
                <p:cNvSpPr txBox="1"/>
                <p:nvPr/>
              </p:nvSpPr>
              <p:spPr>
                <a:xfrm>
                  <a:off x="3067" y="1576"/>
                  <a:ext cx="1445" cy="330"/>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𝑝</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𝑉</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m:t>
                        </m:r>
                      </m:oMath>
                    </m:oMathPara>
                  </a14:m>
                  <a:endParaRPr lang="en-US" sz="2600" dirty="0"/>
                </a:p>
              </p:txBody>
            </p:sp>
          </mc:Choice>
          <mc:Fallback xmlns="">
            <p:sp>
              <p:nvSpPr>
                <p:cNvPr id="4" name="Object 10">
                  <a:extLst>
                    <a:ext uri="{FF2B5EF4-FFF2-40B4-BE49-F238E27FC236}">
                      <a16:creationId xmlns:a16="http://schemas.microsoft.com/office/drawing/2014/main" id="{E169645C-5779-1081-8E6A-9900E91CB2C3}"/>
                    </a:ext>
                  </a:extLst>
                </p:cNvPr>
                <p:cNvSpPr txBox="1">
                  <a:spLocks noRot="1" noChangeAspect="1" noMove="1" noResize="1" noEditPoints="1" noAdjustHandles="1" noChangeArrowheads="1" noChangeShapeType="1" noTextEdit="1"/>
                </p:cNvSpPr>
                <p:nvPr/>
              </p:nvSpPr>
              <p:spPr>
                <a:xfrm>
                  <a:off x="3067" y="1576"/>
                  <a:ext cx="1445" cy="330"/>
                </a:xfrm>
                <a:prstGeom prst="rect">
                  <a:avLst/>
                </a:prstGeom>
                <a:blipFill>
                  <a:blip r:embed="rId2"/>
                  <a:stretch>
                    <a:fillRect l="-1061" r="-1061" b="-4651"/>
                  </a:stretch>
                </a:blipFill>
                <a:ln w="38100">
                  <a:noFill/>
                  <a:miter/>
                </a:ln>
              </p:spPr>
              <p:txBody>
                <a:bodyPr/>
                <a:lstStyle/>
                <a:p>
                  <a:r>
                    <a:rPr lang="zh-CN" altLang="en-US">
                      <a:noFill/>
                    </a:rPr>
                    <a:t> </a:t>
                  </a:r>
                </a:p>
              </p:txBody>
            </p:sp>
          </mc:Fallback>
        </mc:AlternateContent>
        <p:grpSp>
          <p:nvGrpSpPr>
            <p:cNvPr id="5" name="Group 11">
              <a:extLst>
                <a:ext uri="{FF2B5EF4-FFF2-40B4-BE49-F238E27FC236}">
                  <a16:creationId xmlns:a16="http://schemas.microsoft.com/office/drawing/2014/main" id="{A3587664-5B51-816F-74F8-976B5516AFA5}"/>
                </a:ext>
              </a:extLst>
            </p:cNvPr>
            <p:cNvGrpSpPr/>
            <p:nvPr/>
          </p:nvGrpSpPr>
          <p:grpSpPr>
            <a:xfrm>
              <a:off x="2592" y="864"/>
              <a:ext cx="1920" cy="655"/>
              <a:chOff x="2496" y="864"/>
              <a:chExt cx="2160" cy="720"/>
            </a:xfrm>
          </p:grpSpPr>
          <p:sp>
            <p:nvSpPr>
              <p:cNvPr id="6" name="AutoShape 12">
                <a:extLst>
                  <a:ext uri="{FF2B5EF4-FFF2-40B4-BE49-F238E27FC236}">
                    <a16:creationId xmlns:a16="http://schemas.microsoft.com/office/drawing/2014/main" id="{3F1DE0EC-9E9E-2DF2-B243-284471F37CF2}"/>
                  </a:ext>
                </a:extLst>
              </p:cNvPr>
              <p:cNvSpPr/>
              <p:nvPr/>
            </p:nvSpPr>
            <p:spPr>
              <a:xfrm>
                <a:off x="2496" y="1104"/>
                <a:ext cx="576" cy="144"/>
              </a:xfrm>
              <a:prstGeom prst="rightArrow">
                <a:avLst>
                  <a:gd name="adj1" fmla="val 40277"/>
                  <a:gd name="adj2" fmla="val 131814"/>
                </a:avLst>
              </a:prstGeom>
              <a:gradFill rotWithShape="0">
                <a:gsLst>
                  <a:gs pos="0">
                    <a:srgbClr val="765E76"/>
                  </a:gs>
                  <a:gs pos="50000">
                    <a:srgbClr val="FFCCFF"/>
                  </a:gs>
                  <a:gs pos="100000">
                    <a:srgbClr val="765E76"/>
                  </a:gs>
                </a:gsLst>
                <a:lin ang="5400000" scaled="1"/>
                <a:tileRect/>
              </a:gradFill>
              <a:ln w="28575" cap="flat" cmpd="sng">
                <a:solidFill>
                  <a:srgbClr val="CC00CC"/>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nvGrpSpPr>
              <p:cNvPr id="7" name="Group 13">
                <a:extLst>
                  <a:ext uri="{FF2B5EF4-FFF2-40B4-BE49-F238E27FC236}">
                    <a16:creationId xmlns:a16="http://schemas.microsoft.com/office/drawing/2014/main" id="{D865485C-AF97-0BD3-3177-EA60540ED251}"/>
                  </a:ext>
                </a:extLst>
              </p:cNvPr>
              <p:cNvGrpSpPr/>
              <p:nvPr/>
            </p:nvGrpSpPr>
            <p:grpSpPr>
              <a:xfrm>
                <a:off x="3168" y="864"/>
                <a:ext cx="1488" cy="720"/>
                <a:chOff x="2976" y="816"/>
                <a:chExt cx="1488" cy="720"/>
              </a:xfrm>
            </p:grpSpPr>
            <p:sp>
              <p:nvSpPr>
                <p:cNvPr id="8" name="AutoShape 14">
                  <a:extLst>
                    <a:ext uri="{FF2B5EF4-FFF2-40B4-BE49-F238E27FC236}">
                      <a16:creationId xmlns:a16="http://schemas.microsoft.com/office/drawing/2014/main" id="{9AD58716-7447-9232-E9C4-1441C7BB9AC8}"/>
                    </a:ext>
                  </a:extLst>
                </p:cNvPr>
                <p:cNvSpPr/>
                <p:nvPr/>
              </p:nvSpPr>
              <p:spPr>
                <a:xfrm>
                  <a:off x="2976"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9" name="Rectangle 15" descr="10%">
                  <a:extLst>
                    <a:ext uri="{FF2B5EF4-FFF2-40B4-BE49-F238E27FC236}">
                      <a16:creationId xmlns:a16="http://schemas.microsoft.com/office/drawing/2014/main" id="{F58CF25D-F379-B25D-B4EE-5F9DC019F440}"/>
                    </a:ext>
                  </a:extLst>
                </p:cNvPr>
                <p:cNvSpPr/>
                <p:nvPr/>
              </p:nvSpPr>
              <p:spPr>
                <a:xfrm>
                  <a:off x="3072" y="912"/>
                  <a:ext cx="1296" cy="528"/>
                </a:xfrm>
                <a:prstGeom prst="rect">
                  <a:avLst/>
                </a:prstGeom>
                <a:pattFill prst="pct1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grpSp>
      </p:grpSp>
      <p:grpSp>
        <p:nvGrpSpPr>
          <p:cNvPr id="10" name="Group 16">
            <a:extLst>
              <a:ext uri="{FF2B5EF4-FFF2-40B4-BE49-F238E27FC236}">
                <a16:creationId xmlns:a16="http://schemas.microsoft.com/office/drawing/2014/main" id="{5ACCBED2-7B36-30C1-302B-87DEF4DF525D}"/>
              </a:ext>
            </a:extLst>
          </p:cNvPr>
          <p:cNvGrpSpPr/>
          <p:nvPr/>
        </p:nvGrpSpPr>
        <p:grpSpPr>
          <a:xfrm>
            <a:off x="2734310" y="1261551"/>
            <a:ext cx="2133600" cy="1806575"/>
            <a:chOff x="1152" y="768"/>
            <a:chExt cx="1344" cy="1138"/>
          </a:xfrm>
        </p:grpSpPr>
        <mc:AlternateContent xmlns:mc="http://schemas.openxmlformats.org/markup-compatibility/2006" xmlns:a14="http://schemas.microsoft.com/office/drawing/2010/main">
          <mc:Choice Requires="a14">
            <p:sp>
              <p:nvSpPr>
                <p:cNvPr id="11" name="Object 17">
                  <a:extLst>
                    <a:ext uri="{FF2B5EF4-FFF2-40B4-BE49-F238E27FC236}">
                      <a16:creationId xmlns:a16="http://schemas.microsoft.com/office/drawing/2014/main" id="{5202609E-54D7-A56A-8658-57CF07C112C1}"/>
                    </a:ext>
                  </a:extLst>
                </p:cNvPr>
                <p:cNvSpPr txBox="1"/>
                <p:nvPr/>
              </p:nvSpPr>
              <p:spPr>
                <a:xfrm>
                  <a:off x="1439" y="1566"/>
                  <a:ext cx="866" cy="340"/>
                </a:xfrm>
                <a:prstGeom prst="rect">
                  <a:avLst/>
                </a:prstGeom>
                <a:no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𝑝</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𝑉</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oMath>
                    </m:oMathPara>
                  </a14:m>
                  <a:endParaRPr lang="en-US" sz="2600" dirty="0"/>
                </a:p>
              </p:txBody>
            </p:sp>
          </mc:Choice>
          <mc:Fallback xmlns="">
            <p:sp>
              <p:nvSpPr>
                <p:cNvPr id="11" name="Object 17">
                  <a:extLst>
                    <a:ext uri="{FF2B5EF4-FFF2-40B4-BE49-F238E27FC236}">
                      <a16:creationId xmlns:a16="http://schemas.microsoft.com/office/drawing/2014/main" id="{5202609E-54D7-A56A-8658-57CF07C112C1}"/>
                    </a:ext>
                  </a:extLst>
                </p:cNvPr>
                <p:cNvSpPr txBox="1">
                  <a:spLocks noRot="1" noChangeAspect="1" noMove="1" noResize="1" noEditPoints="1" noAdjustHandles="1" noChangeArrowheads="1" noChangeShapeType="1" noTextEdit="1"/>
                </p:cNvSpPr>
                <p:nvPr/>
              </p:nvSpPr>
              <p:spPr>
                <a:xfrm>
                  <a:off x="1439" y="1566"/>
                  <a:ext cx="866" cy="340"/>
                </a:xfrm>
                <a:prstGeom prst="rect">
                  <a:avLst/>
                </a:prstGeom>
                <a:blipFill>
                  <a:blip r:embed="rId3"/>
                  <a:stretch>
                    <a:fillRect l="-2655" r="-5752"/>
                  </a:stretch>
                </a:blipFill>
                <a:ln w="38100">
                  <a:noFill/>
                  <a:miter/>
                </a:ln>
              </p:spPr>
              <p:txBody>
                <a:bodyPr/>
                <a:lstStyle/>
                <a:p>
                  <a:r>
                    <a:rPr lang="zh-CN" altLang="en-US">
                      <a:noFill/>
                    </a:rPr>
                    <a:t> </a:t>
                  </a:r>
                </a:p>
              </p:txBody>
            </p:sp>
          </mc:Fallback>
        </mc:AlternateContent>
        <p:grpSp>
          <p:nvGrpSpPr>
            <p:cNvPr id="12" name="Group 18">
              <a:extLst>
                <a:ext uri="{FF2B5EF4-FFF2-40B4-BE49-F238E27FC236}">
                  <a16:creationId xmlns:a16="http://schemas.microsoft.com/office/drawing/2014/main" id="{44AE12D2-7FCB-E6F0-911A-B52C6717E279}"/>
                </a:ext>
              </a:extLst>
            </p:cNvPr>
            <p:cNvGrpSpPr/>
            <p:nvPr/>
          </p:nvGrpSpPr>
          <p:grpSpPr>
            <a:xfrm>
              <a:off x="1152" y="856"/>
              <a:ext cx="1344" cy="663"/>
              <a:chOff x="1632" y="816"/>
              <a:chExt cx="1488" cy="720"/>
            </a:xfrm>
          </p:grpSpPr>
          <p:sp>
            <p:nvSpPr>
              <p:cNvPr id="16" name="AutoShape 19">
                <a:extLst>
                  <a:ext uri="{FF2B5EF4-FFF2-40B4-BE49-F238E27FC236}">
                    <a16:creationId xmlns:a16="http://schemas.microsoft.com/office/drawing/2014/main" id="{CE5B1465-BB13-904E-95DD-4F81D69849BB}"/>
                  </a:ext>
                </a:extLst>
              </p:cNvPr>
              <p:cNvSpPr/>
              <p:nvPr/>
            </p:nvSpPr>
            <p:spPr>
              <a:xfrm>
                <a:off x="1632"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7" name="Rectangle 20">
                <a:extLst>
                  <a:ext uri="{FF2B5EF4-FFF2-40B4-BE49-F238E27FC236}">
                    <a16:creationId xmlns:a16="http://schemas.microsoft.com/office/drawing/2014/main" id="{639D3E83-5750-83B8-1640-E0DC219B3A22}"/>
                  </a:ext>
                </a:extLst>
              </p:cNvPr>
              <p:cNvSpPr/>
              <p:nvPr/>
            </p:nvSpPr>
            <p:spPr>
              <a:xfrm>
                <a:off x="1728" y="912"/>
                <a:ext cx="1296" cy="52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sp>
          <p:nvSpPr>
            <p:cNvPr id="13" name="Rectangle 21" descr="20%">
              <a:extLst>
                <a:ext uri="{FF2B5EF4-FFF2-40B4-BE49-F238E27FC236}">
                  <a16:creationId xmlns:a16="http://schemas.microsoft.com/office/drawing/2014/main" id="{E51454C1-9C12-C170-24C4-3D1A8A61D68F}"/>
                </a:ext>
              </a:extLst>
            </p:cNvPr>
            <p:cNvSpPr/>
            <p:nvPr/>
          </p:nvSpPr>
          <p:spPr>
            <a:xfrm>
              <a:off x="1239" y="945"/>
              <a:ext cx="563" cy="486"/>
            </a:xfrm>
            <a:prstGeom prst="rect">
              <a:avLst/>
            </a:prstGeom>
            <a:pattFill prst="pct2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4" name="Line 22">
              <a:extLst>
                <a:ext uri="{FF2B5EF4-FFF2-40B4-BE49-F238E27FC236}">
                  <a16:creationId xmlns:a16="http://schemas.microsoft.com/office/drawing/2014/main" id="{583F1AA6-7779-762D-17FD-8761D41C1116}"/>
                </a:ext>
              </a:extLst>
            </p:cNvPr>
            <p:cNvSpPr/>
            <p:nvPr/>
          </p:nvSpPr>
          <p:spPr>
            <a:xfrm>
              <a:off x="1802" y="768"/>
              <a:ext cx="0" cy="663"/>
            </a:xfrm>
            <a:prstGeom prst="line">
              <a:avLst/>
            </a:prstGeom>
            <a:ln w="57150" cap="flat" cmpd="sng">
              <a:solidFill>
                <a:srgbClr val="996633"/>
              </a:solidFill>
              <a:prstDash val="solid"/>
              <a:headEnd type="none" w="med" len="med"/>
              <a:tailEnd type="none" w="med" len="med"/>
            </a:ln>
          </p:spPr>
        </p:sp>
        <p:sp>
          <p:nvSpPr>
            <p:cNvPr id="15" name="Line 23">
              <a:extLst>
                <a:ext uri="{FF2B5EF4-FFF2-40B4-BE49-F238E27FC236}">
                  <a16:creationId xmlns:a16="http://schemas.microsoft.com/office/drawing/2014/main" id="{BB96BEA9-C74B-3D2F-67B7-2E89C1BA39D7}"/>
                </a:ext>
              </a:extLst>
            </p:cNvPr>
            <p:cNvSpPr/>
            <p:nvPr/>
          </p:nvSpPr>
          <p:spPr>
            <a:xfrm>
              <a:off x="1716" y="768"/>
              <a:ext cx="173" cy="0"/>
            </a:xfrm>
            <a:prstGeom prst="line">
              <a:avLst/>
            </a:prstGeom>
            <a:ln w="57150" cap="flat" cmpd="sng">
              <a:solidFill>
                <a:srgbClr val="996633"/>
              </a:solidFill>
              <a:prstDash val="solid"/>
              <a:headEnd type="none" w="med" len="med"/>
              <a:tailEnd type="none" w="med" len="med"/>
            </a:ln>
          </p:spPr>
        </p:sp>
      </p:grpSp>
      <p:sp>
        <p:nvSpPr>
          <p:cNvPr id="18" name="文本框 17">
            <a:extLst>
              <a:ext uri="{FF2B5EF4-FFF2-40B4-BE49-F238E27FC236}">
                <a16:creationId xmlns:a16="http://schemas.microsoft.com/office/drawing/2014/main" id="{A02A836D-1367-2C2B-444A-68767EA39D26}"/>
              </a:ext>
            </a:extLst>
          </p:cNvPr>
          <p:cNvSpPr txBox="1"/>
          <p:nvPr/>
        </p:nvSpPr>
        <p:spPr>
          <a:xfrm>
            <a:off x="2743200" y="1114865"/>
            <a:ext cx="268022" cy="492443"/>
          </a:xfrm>
          <a:prstGeom prst="rect">
            <a:avLst/>
          </a:prstGeom>
          <a:noFill/>
        </p:spPr>
        <p:txBody>
          <a:bodyPr wrap="none" rtlCol="0">
            <a:spAutoFit/>
          </a:bodyPr>
          <a:lstStyle/>
          <a:p>
            <a:r>
              <a:rPr lang="en-US" altLang="zh-CN" sz="2600"/>
              <a:t> </a:t>
            </a:r>
          </a:p>
        </p:txBody>
      </p:sp>
      <p:sp>
        <p:nvSpPr>
          <p:cNvPr id="20" name="文本框 19">
            <a:extLst>
              <a:ext uri="{FF2B5EF4-FFF2-40B4-BE49-F238E27FC236}">
                <a16:creationId xmlns:a16="http://schemas.microsoft.com/office/drawing/2014/main" id="{59451B9F-74E6-C695-904D-F69A4FA80B56}"/>
              </a:ext>
            </a:extLst>
          </p:cNvPr>
          <p:cNvSpPr txBox="1"/>
          <p:nvPr/>
        </p:nvSpPr>
        <p:spPr>
          <a:xfrm>
            <a:off x="1757045" y="3094097"/>
            <a:ext cx="4163384" cy="1232197"/>
          </a:xfrm>
          <a:prstGeom prst="rect">
            <a:avLst/>
          </a:prstGeom>
          <a:noFill/>
        </p:spPr>
        <p:txBody>
          <a:bodyPr wrap="none" rtlCol="0">
            <a:spAutoFit/>
          </a:bodyPr>
          <a:lstStyle/>
          <a:p>
            <a:pPr>
              <a:lnSpc>
                <a:spcPct val="150000"/>
              </a:lnSpc>
            </a:pPr>
            <a:r>
              <a:rPr lang="zh-CN" altLang="en-US" sz="2600" dirty="0">
                <a:latin typeface="Times New Roman" panose="02020603050405020304" pitchFamily="18" charset="0"/>
                <a:cs typeface="Times New Roman" panose="02020603050405020304" pitchFamily="18" charset="0"/>
              </a:rPr>
              <a:t>向真空膨胀，做功为</a:t>
            </a:r>
            <a:r>
              <a:rPr lang="en-US" altLang="zh-CN" sz="2600" dirty="0">
                <a:latin typeface="Times New Roman" panose="02020603050405020304" pitchFamily="18" charset="0"/>
                <a:cs typeface="Times New Roman" panose="02020603050405020304" pitchFamily="18" charset="0"/>
              </a:rPr>
              <a:t>   A = 0</a:t>
            </a:r>
          </a:p>
          <a:p>
            <a:pPr>
              <a:lnSpc>
                <a:spcPct val="150000"/>
              </a:lnSpc>
            </a:pPr>
            <a:r>
              <a:rPr lang="zh-CN" altLang="en-US" sz="2600" dirty="0">
                <a:latin typeface="Times New Roman" panose="02020603050405020304" pitchFamily="18" charset="0"/>
                <a:cs typeface="Times New Roman" panose="02020603050405020304" pitchFamily="18" charset="0"/>
              </a:rPr>
              <a:t>绝热条件，吸热为</a:t>
            </a:r>
            <a:r>
              <a:rPr lang="en-US" altLang="zh-CN" sz="2600" dirty="0">
                <a:latin typeface="Times New Roman" panose="02020603050405020304" pitchFamily="18" charset="0"/>
                <a:cs typeface="Times New Roman" panose="02020603050405020304" pitchFamily="18" charset="0"/>
              </a:rPr>
              <a:t>     Q  = 0</a:t>
            </a:r>
          </a:p>
        </p:txBody>
      </p:sp>
      <p:sp>
        <p:nvSpPr>
          <p:cNvPr id="21" name="文本框 20">
            <a:extLst>
              <a:ext uri="{FF2B5EF4-FFF2-40B4-BE49-F238E27FC236}">
                <a16:creationId xmlns:a16="http://schemas.microsoft.com/office/drawing/2014/main" id="{77C2D39A-8767-AB33-BDF3-6B34A79F2D4E}"/>
              </a:ext>
            </a:extLst>
          </p:cNvPr>
          <p:cNvSpPr txBox="1"/>
          <p:nvPr/>
        </p:nvSpPr>
        <p:spPr>
          <a:xfrm>
            <a:off x="1757045" y="4478356"/>
            <a:ext cx="2685351" cy="492443"/>
          </a:xfrm>
          <a:prstGeom prst="rect">
            <a:avLst/>
          </a:prstGeom>
          <a:noFill/>
        </p:spPr>
        <p:txBody>
          <a:bodyPr wrap="none" rtlCol="0">
            <a:spAutoFit/>
          </a:bodyPr>
          <a:lstStyle/>
          <a:p>
            <a:r>
              <a:rPr lang="zh-CN" altLang="en-US" sz="2600" dirty="0"/>
              <a:t>则内能变化为：</a:t>
            </a:r>
            <a:r>
              <a:rPr lang="en-US" altLang="zh-CN" sz="2600" dirty="0"/>
              <a:t>  </a:t>
            </a:r>
          </a:p>
        </p:txBody>
      </p:sp>
      <mc:AlternateContent xmlns:mc="http://schemas.openxmlformats.org/markup-compatibility/2006" xmlns:a14="http://schemas.microsoft.com/office/drawing/2010/main">
        <mc:Choice Requires="a14">
          <p:sp>
            <p:nvSpPr>
              <p:cNvPr id="22" name="对象 7">
                <a:extLst>
                  <a:ext uri="{FF2B5EF4-FFF2-40B4-BE49-F238E27FC236}">
                    <a16:creationId xmlns:a16="http://schemas.microsoft.com/office/drawing/2014/main" id="{3DC66BB4-BC6B-4104-7399-558FB39D30D3}"/>
                  </a:ext>
                </a:extLst>
              </p:cNvPr>
              <p:cNvSpPr txBox="1"/>
              <p:nvPr/>
            </p:nvSpPr>
            <p:spPr>
              <a:xfrm>
                <a:off x="4442396" y="4478356"/>
                <a:ext cx="2357755" cy="541020"/>
              </a:xfrm>
              <a:prstGeom prst="rect">
                <a:avLst/>
              </a:prstGeom>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𝛥</m:t>
                      </m:r>
                      <m:r>
                        <a:rPr lang="en-US" sz="2600" b="0" i="1">
                          <a:solidFill>
                            <a:srgbClr val="000000"/>
                          </a:solidFill>
                          <a:latin typeface="Cambria Math" panose="02040503050406030204" pitchFamily="18" charset="0"/>
                        </a:rPr>
                        <m:t>𝐸</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𝑄</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𝐴</m:t>
                      </m:r>
                      <m:r>
                        <a:rPr lang="en-US" sz="2600" b="0" i="1">
                          <a:solidFill>
                            <a:srgbClr val="000000"/>
                          </a:solidFill>
                          <a:latin typeface="Cambria Math" panose="02040503050406030204" pitchFamily="18" charset="0"/>
                        </a:rPr>
                        <m:t>=0</m:t>
                      </m:r>
                    </m:oMath>
                  </m:oMathPara>
                </a14:m>
                <a:endParaRPr lang="en-US" sz="2600"/>
              </a:p>
            </p:txBody>
          </p:sp>
        </mc:Choice>
        <mc:Fallback xmlns="">
          <p:sp>
            <p:nvSpPr>
              <p:cNvPr id="22" name="对象 7">
                <a:extLst>
                  <a:ext uri="{FF2B5EF4-FFF2-40B4-BE49-F238E27FC236}">
                    <a16:creationId xmlns:a16="http://schemas.microsoft.com/office/drawing/2014/main" id="{3DC66BB4-BC6B-4104-7399-558FB39D30D3}"/>
                  </a:ext>
                </a:extLst>
              </p:cNvPr>
              <p:cNvSpPr txBox="1">
                <a:spLocks noRot="1" noChangeAspect="1" noMove="1" noResize="1" noEditPoints="1" noAdjustHandles="1" noChangeArrowheads="1" noChangeShapeType="1" noTextEdit="1"/>
              </p:cNvSpPr>
              <p:nvPr/>
            </p:nvSpPr>
            <p:spPr>
              <a:xfrm>
                <a:off x="4442396" y="4478356"/>
                <a:ext cx="2357755" cy="5410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9">
                <a:extLst>
                  <a:ext uri="{FF2B5EF4-FFF2-40B4-BE49-F238E27FC236}">
                    <a16:creationId xmlns:a16="http://schemas.microsoft.com/office/drawing/2014/main" id="{CCB0C4C6-DF4B-F26B-F55F-4DC9F1C7A1A3}"/>
                  </a:ext>
                </a:extLst>
              </p:cNvPr>
              <p:cNvSpPr txBox="1"/>
              <p:nvPr/>
            </p:nvSpPr>
            <p:spPr>
              <a:xfrm>
                <a:off x="6885733" y="4444383"/>
                <a:ext cx="2313304" cy="60896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1</m:t>
                          </m:r>
                        </m:sub>
                      </m:sSub>
                    </m:oMath>
                  </m:oMathPara>
                </a14:m>
                <a:endParaRPr lang="en-US" sz="2600" dirty="0"/>
              </a:p>
            </p:txBody>
          </p:sp>
        </mc:Choice>
        <mc:Fallback xmlns="">
          <p:sp>
            <p:nvSpPr>
              <p:cNvPr id="23" name="对象 9">
                <a:extLst>
                  <a:ext uri="{FF2B5EF4-FFF2-40B4-BE49-F238E27FC236}">
                    <a16:creationId xmlns:a16="http://schemas.microsoft.com/office/drawing/2014/main" id="{CCB0C4C6-DF4B-F26B-F55F-4DC9F1C7A1A3}"/>
                  </a:ext>
                </a:extLst>
              </p:cNvPr>
              <p:cNvSpPr txBox="1">
                <a:spLocks noRot="1" noChangeAspect="1" noMove="1" noResize="1" noEditPoints="1" noAdjustHandles="1" noChangeArrowheads="1" noChangeShapeType="1" noTextEdit="1"/>
              </p:cNvSpPr>
              <p:nvPr/>
            </p:nvSpPr>
            <p:spPr>
              <a:xfrm>
                <a:off x="6885733" y="4444383"/>
                <a:ext cx="2313304" cy="6089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对象 9">
                <a:extLst>
                  <a:ext uri="{FF2B5EF4-FFF2-40B4-BE49-F238E27FC236}">
                    <a16:creationId xmlns:a16="http://schemas.microsoft.com/office/drawing/2014/main" id="{24F2B031-C7BC-88E8-7C80-85B90DEA98C4}"/>
                  </a:ext>
                </a:extLst>
              </p:cNvPr>
              <p:cNvSpPr txBox="1"/>
              <p:nvPr/>
            </p:nvSpPr>
            <p:spPr>
              <a:xfrm>
                <a:off x="8835183" y="4420094"/>
                <a:ext cx="2313304" cy="60896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1</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𝑉</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2</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𝑉</m:t>
                          </m:r>
                        </m:e>
                        <m:sub>
                          <m:r>
                            <a:rPr lang="en-US" sz="2600" i="1">
                              <a:solidFill>
                                <a:srgbClr val="000000"/>
                              </a:solidFill>
                              <a:latin typeface="Cambria Math" panose="02040503050406030204" pitchFamily="18" charset="0"/>
                            </a:rPr>
                            <m:t>2</m:t>
                          </m:r>
                        </m:sub>
                      </m:sSub>
                    </m:oMath>
                  </m:oMathPara>
                </a14:m>
                <a:endParaRPr lang="en-US" sz="2600" dirty="0"/>
              </a:p>
            </p:txBody>
          </p:sp>
        </mc:Choice>
        <mc:Fallback xmlns="">
          <p:sp>
            <p:nvSpPr>
              <p:cNvPr id="24" name="对象 9">
                <a:extLst>
                  <a:ext uri="{FF2B5EF4-FFF2-40B4-BE49-F238E27FC236}">
                    <a16:creationId xmlns:a16="http://schemas.microsoft.com/office/drawing/2014/main" id="{24F2B031-C7BC-88E8-7C80-85B90DEA98C4}"/>
                  </a:ext>
                </a:extLst>
              </p:cNvPr>
              <p:cNvSpPr txBox="1">
                <a:spLocks noRot="1" noChangeAspect="1" noMove="1" noResize="1" noEditPoints="1" noAdjustHandles="1" noChangeArrowheads="1" noChangeShapeType="1" noTextEdit="1"/>
              </p:cNvSpPr>
              <p:nvPr/>
            </p:nvSpPr>
            <p:spPr>
              <a:xfrm>
                <a:off x="8835183" y="4420094"/>
                <a:ext cx="2313304" cy="608965"/>
              </a:xfrm>
              <a:prstGeom prst="rect">
                <a:avLst/>
              </a:prstGeom>
              <a:blipFill>
                <a:blip r:embed="rId6"/>
                <a:stretch>
                  <a:fillRect/>
                </a:stretch>
              </a:blipFill>
            </p:spPr>
            <p:txBody>
              <a:bodyPr/>
              <a:lstStyle/>
              <a:p>
                <a:r>
                  <a:rPr lang="en-US">
                    <a:noFill/>
                  </a:rPr>
                  <a:t> </a:t>
                </a:r>
              </a:p>
            </p:txBody>
          </p:sp>
        </mc:Fallback>
      </mc:AlternateContent>
      <p:sp>
        <p:nvSpPr>
          <p:cNvPr id="26" name="文本框 25">
            <a:extLst>
              <a:ext uri="{FF2B5EF4-FFF2-40B4-BE49-F238E27FC236}">
                <a16:creationId xmlns:a16="http://schemas.microsoft.com/office/drawing/2014/main" id="{010103BB-C201-1618-6BFC-7BEDF22D2E74}"/>
              </a:ext>
            </a:extLst>
          </p:cNvPr>
          <p:cNvSpPr txBox="1"/>
          <p:nvPr/>
        </p:nvSpPr>
        <p:spPr>
          <a:xfrm>
            <a:off x="825534" y="5122861"/>
            <a:ext cx="11284902" cy="1692771"/>
          </a:xfrm>
          <a:prstGeom prst="rect">
            <a:avLst/>
          </a:prstGeom>
          <a:noFill/>
        </p:spPr>
        <p:txBody>
          <a:bodyPr wrap="square">
            <a:spAutoFit/>
          </a:bodyPr>
          <a:lstStyle/>
          <a:p>
            <a:pPr marL="457200" indent="-457200" algn="l">
              <a:buFontTx/>
              <a:buChar char="-"/>
            </a:pPr>
            <a:r>
              <a:rPr lang="zh-CN" altLang="en-US" sz="2600" b="0" i="0" dirty="0">
                <a:solidFill>
                  <a:srgbClr val="333333"/>
                </a:solidFill>
                <a:effectLst/>
                <a:latin typeface="Helvetica Neue"/>
              </a:rPr>
              <a:t>理想气体绝热自由膨胀过程是非准静态过程，除初，末态外，系统每一时刻都处于非平衡态。</a:t>
            </a:r>
            <a:endParaRPr lang="en-US" altLang="zh-CN" sz="2600" b="0" i="0" dirty="0">
              <a:solidFill>
                <a:srgbClr val="333333"/>
              </a:solidFill>
              <a:effectLst/>
              <a:latin typeface="Helvetica Neue"/>
            </a:endParaRPr>
          </a:p>
          <a:p>
            <a:pPr marL="457200" indent="-457200">
              <a:buFontTx/>
              <a:buChar char="-"/>
            </a:pPr>
            <a:r>
              <a:rPr lang="en-US" altLang="zh-CN" sz="2600" dirty="0">
                <a:solidFill>
                  <a:srgbClr val="333333"/>
                </a:solidFill>
                <a:latin typeface="Helvetica Neue"/>
              </a:rPr>
              <a:t>- </a:t>
            </a:r>
            <a:r>
              <a:rPr lang="zh-CN" altLang="en-US" sz="2600" dirty="0">
                <a:solidFill>
                  <a:srgbClr val="333333"/>
                </a:solidFill>
                <a:latin typeface="Helvetica Neue"/>
              </a:rPr>
              <a:t>虽然理想气体绝热自由膨胀后温度恢复，但整个过程并不是恒温过程。</a:t>
            </a:r>
          </a:p>
          <a:p>
            <a:pPr algn="l"/>
            <a:endParaRPr lang="zh-CN" altLang="en-US" sz="2600" b="0" i="0" dirty="0">
              <a:solidFill>
                <a:srgbClr val="333333"/>
              </a:solidFill>
              <a:effectLst/>
              <a:latin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95" name="Rectangle 2063">
            <a:extLst>
              <a:ext uri="{FF2B5EF4-FFF2-40B4-BE49-F238E27FC236}">
                <a16:creationId xmlns:a16="http://schemas.microsoft.com/office/drawing/2014/main" id="{CEA47830-A9D5-BDE2-4A08-4F019E5322B6}"/>
              </a:ext>
            </a:extLst>
          </p:cNvPr>
          <p:cNvSpPr>
            <a:spLocks noChangeArrowheads="1"/>
          </p:cNvSpPr>
          <p:nvPr/>
        </p:nvSpPr>
        <p:spPr bwMode="auto">
          <a:xfrm>
            <a:off x="7012780" y="4361929"/>
            <a:ext cx="198002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zh-CN" altLang="en-US" sz="2800" dirty="0">
                <a:latin typeface="黑体" panose="02010609060101010101" pitchFamily="49" charset="-122"/>
              </a:rPr>
              <a:t>实验结果：</a:t>
            </a:r>
          </a:p>
        </p:txBody>
      </p:sp>
      <p:sp>
        <p:nvSpPr>
          <p:cNvPr id="97296" name="Rectangle 2064">
            <a:extLst>
              <a:ext uri="{FF2B5EF4-FFF2-40B4-BE49-F238E27FC236}">
                <a16:creationId xmlns:a16="http://schemas.microsoft.com/office/drawing/2014/main" id="{7CE760CC-A0B7-65EF-0685-27B8429DB243}"/>
              </a:ext>
            </a:extLst>
          </p:cNvPr>
          <p:cNvSpPr>
            <a:spLocks noChangeArrowheads="1"/>
          </p:cNvSpPr>
          <p:nvPr/>
        </p:nvSpPr>
        <p:spPr bwMode="auto">
          <a:xfrm>
            <a:off x="8493406" y="4373041"/>
            <a:ext cx="189026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en-US" altLang="zh-CN" sz="2800" b="1" dirty="0">
                <a:latin typeface="+mn-ea"/>
              </a:rPr>
              <a:t>   </a:t>
            </a:r>
            <a:r>
              <a:rPr lang="zh-CN" altLang="en-US" sz="2800" b="1" dirty="0">
                <a:latin typeface="+mn-ea"/>
              </a:rPr>
              <a:t>水温不变</a:t>
            </a:r>
          </a:p>
        </p:txBody>
      </p:sp>
      <p:sp>
        <p:nvSpPr>
          <p:cNvPr id="97297" name="Rectangle 2065">
            <a:extLst>
              <a:ext uri="{FF2B5EF4-FFF2-40B4-BE49-F238E27FC236}">
                <a16:creationId xmlns:a16="http://schemas.microsoft.com/office/drawing/2014/main" id="{E38F25A9-7743-D6CD-2DEE-E7EDC3454F4B}"/>
              </a:ext>
            </a:extLst>
          </p:cNvPr>
          <p:cNvSpPr>
            <a:spLocks noChangeArrowheads="1"/>
          </p:cNvSpPr>
          <p:nvPr/>
        </p:nvSpPr>
        <p:spPr bwMode="auto">
          <a:xfrm>
            <a:off x="1196292" y="1031086"/>
            <a:ext cx="39497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lang="en-US" altLang="zh-CN" sz="2800" dirty="0"/>
              <a:t>- </a:t>
            </a:r>
            <a:r>
              <a:rPr lang="zh-CN" altLang="en-US" sz="2800" dirty="0"/>
              <a:t>焦耳实验</a:t>
            </a:r>
            <a:r>
              <a:rPr lang="en-US" altLang="zh-CN" sz="2800" dirty="0">
                <a:latin typeface="宋体" panose="02010600030101010101" pitchFamily="2" charset="-122"/>
                <a:ea typeface="宋体" panose="02010600030101010101" pitchFamily="2" charset="-122"/>
              </a:rPr>
              <a:t>(</a:t>
            </a:r>
            <a:r>
              <a:rPr lang="en-US" altLang="zh-CN" sz="2800" dirty="0"/>
              <a:t>1845</a:t>
            </a:r>
            <a:r>
              <a:rPr lang="en-US" altLang="zh-CN" sz="2800" dirty="0">
                <a:latin typeface="宋体" panose="02010600030101010101" pitchFamily="2" charset="-122"/>
                <a:ea typeface="宋体" panose="02010600030101010101" pitchFamily="2" charset="-122"/>
              </a:rPr>
              <a:t>)</a:t>
            </a:r>
          </a:p>
        </p:txBody>
      </p:sp>
      <p:sp>
        <p:nvSpPr>
          <p:cNvPr id="97301" name="Rectangle 2069">
            <a:extLst>
              <a:ext uri="{FF2B5EF4-FFF2-40B4-BE49-F238E27FC236}">
                <a16:creationId xmlns:a16="http://schemas.microsoft.com/office/drawing/2014/main" id="{5DE9AF22-7217-101F-AFB4-FED1FE83B201}"/>
              </a:ext>
            </a:extLst>
          </p:cNvPr>
          <p:cNvSpPr>
            <a:spLocks noChangeArrowheads="1"/>
          </p:cNvSpPr>
          <p:nvPr/>
        </p:nvSpPr>
        <p:spPr bwMode="auto">
          <a:xfrm>
            <a:off x="6667702" y="2129016"/>
            <a:ext cx="4397375" cy="1669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5000"/>
              </a:lnSpc>
            </a:pPr>
            <a:r>
              <a:rPr lang="en-US" altLang="zh-CN" sz="2800" dirty="0"/>
              <a:t>     </a:t>
            </a:r>
            <a:r>
              <a:rPr lang="zh-CN" altLang="en-US" sz="2800" dirty="0"/>
              <a:t>打开活门</a:t>
            </a:r>
            <a:r>
              <a:rPr lang="en-US" altLang="zh-CN" sz="2800" dirty="0"/>
              <a:t>C</a:t>
            </a:r>
            <a:r>
              <a:rPr lang="zh-CN" altLang="en-US" sz="2800" dirty="0"/>
              <a:t>，让气体向真空中自由膨胀。测量膨胀前后水温的变化。</a:t>
            </a:r>
          </a:p>
        </p:txBody>
      </p:sp>
      <p:sp>
        <p:nvSpPr>
          <p:cNvPr id="97304" name="Text Box 2072">
            <a:extLst>
              <a:ext uri="{FF2B5EF4-FFF2-40B4-BE49-F238E27FC236}">
                <a16:creationId xmlns:a16="http://schemas.microsoft.com/office/drawing/2014/main" id="{A614F50A-5310-4EE2-D7EA-7634D9572D17}"/>
              </a:ext>
            </a:extLst>
          </p:cNvPr>
          <p:cNvSpPr txBox="1">
            <a:spLocks noChangeArrowheads="1"/>
          </p:cNvSpPr>
          <p:nvPr/>
        </p:nvSpPr>
        <p:spPr bwMode="auto">
          <a:xfrm>
            <a:off x="997057" y="5713852"/>
            <a:ext cx="10817817" cy="57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pPr>
            <a:r>
              <a:rPr lang="en-US" altLang="zh-CN" sz="2800" dirty="0">
                <a:latin typeface="黑体" panose="02010609060101010101" pitchFamily="49" charset="-122"/>
              </a:rPr>
              <a:t>  </a:t>
            </a:r>
            <a:r>
              <a:rPr lang="zh-CN" altLang="en-US" sz="2800" dirty="0">
                <a:latin typeface="黑体" panose="02010609060101010101" pitchFamily="49" charset="-122"/>
              </a:rPr>
              <a:t>但水的热容比气体的大得多，焦耳实验中气体温度变化不易测出。</a:t>
            </a:r>
          </a:p>
        </p:txBody>
      </p:sp>
      <p:grpSp>
        <p:nvGrpSpPr>
          <p:cNvPr id="97310" name="Group 2078">
            <a:extLst>
              <a:ext uri="{FF2B5EF4-FFF2-40B4-BE49-F238E27FC236}">
                <a16:creationId xmlns:a16="http://schemas.microsoft.com/office/drawing/2014/main" id="{4DDA8F18-6A8C-B04D-1B1A-AEC7396471C0}"/>
              </a:ext>
            </a:extLst>
          </p:cNvPr>
          <p:cNvGrpSpPr>
            <a:grpSpLocks/>
          </p:cNvGrpSpPr>
          <p:nvPr/>
        </p:nvGrpSpPr>
        <p:grpSpPr bwMode="auto">
          <a:xfrm>
            <a:off x="1578177" y="1494576"/>
            <a:ext cx="4397375" cy="3762375"/>
            <a:chOff x="2747" y="399"/>
            <a:chExt cx="2770" cy="2370"/>
          </a:xfrm>
        </p:grpSpPr>
        <p:grpSp>
          <p:nvGrpSpPr>
            <p:cNvPr id="97307" name="Group 2075">
              <a:extLst>
                <a:ext uri="{FF2B5EF4-FFF2-40B4-BE49-F238E27FC236}">
                  <a16:creationId xmlns:a16="http://schemas.microsoft.com/office/drawing/2014/main" id="{746CDBEE-6247-4BAA-FB27-751172FFA95F}"/>
                </a:ext>
              </a:extLst>
            </p:cNvPr>
            <p:cNvGrpSpPr>
              <a:grpSpLocks/>
            </p:cNvGrpSpPr>
            <p:nvPr/>
          </p:nvGrpSpPr>
          <p:grpSpPr bwMode="auto">
            <a:xfrm>
              <a:off x="2747" y="399"/>
              <a:ext cx="2770" cy="2370"/>
              <a:chOff x="2693" y="390"/>
              <a:chExt cx="2770" cy="2370"/>
            </a:xfrm>
          </p:grpSpPr>
          <p:sp>
            <p:nvSpPr>
              <p:cNvPr id="97306" name="Rectangle 2074">
                <a:extLst>
                  <a:ext uri="{FF2B5EF4-FFF2-40B4-BE49-F238E27FC236}">
                    <a16:creationId xmlns:a16="http://schemas.microsoft.com/office/drawing/2014/main" id="{ED7CCBA1-E673-37A0-CEC2-B7E19847380C}"/>
                  </a:ext>
                </a:extLst>
              </p:cNvPr>
              <p:cNvSpPr>
                <a:spLocks noChangeArrowheads="1"/>
              </p:cNvSpPr>
              <p:nvPr/>
            </p:nvSpPr>
            <p:spPr bwMode="auto">
              <a:xfrm>
                <a:off x="2693" y="913"/>
                <a:ext cx="2770" cy="1847"/>
              </a:xfrm>
              <a:prstGeom prst="rect">
                <a:avLst/>
              </a:prstGeom>
              <a:pattFill prst="wdUpDiag">
                <a:fgClr>
                  <a:schemeClr val="tx2"/>
                </a:fgClr>
                <a:bgClr>
                  <a:schemeClr val="bg1"/>
                </a:bgClr>
              </a:patt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7283" name="Rectangle 2051">
                <a:extLst>
                  <a:ext uri="{FF2B5EF4-FFF2-40B4-BE49-F238E27FC236}">
                    <a16:creationId xmlns:a16="http://schemas.microsoft.com/office/drawing/2014/main" id="{6791EF25-30E5-A5DA-D950-67CCACF6245C}"/>
                  </a:ext>
                </a:extLst>
              </p:cNvPr>
              <p:cNvSpPr>
                <a:spLocks noChangeArrowheads="1"/>
              </p:cNvSpPr>
              <p:nvPr/>
            </p:nvSpPr>
            <p:spPr bwMode="auto">
              <a:xfrm>
                <a:off x="2771" y="983"/>
                <a:ext cx="2623" cy="1701"/>
              </a:xfrm>
              <a:prstGeom prst="rect">
                <a:avLst/>
              </a:prstGeom>
              <a:pattFill prst="pct40">
                <a:fgClr>
                  <a:schemeClr val="accent1"/>
                </a:fgClr>
                <a:bgClr>
                  <a:schemeClr val="bg1"/>
                </a:bgClr>
              </a:patt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97305" name="Group 2073">
                <a:extLst>
                  <a:ext uri="{FF2B5EF4-FFF2-40B4-BE49-F238E27FC236}">
                    <a16:creationId xmlns:a16="http://schemas.microsoft.com/office/drawing/2014/main" id="{BF46EFF6-541B-559F-6C87-0C7B827CF502}"/>
                  </a:ext>
                </a:extLst>
              </p:cNvPr>
              <p:cNvGrpSpPr>
                <a:grpSpLocks/>
              </p:cNvGrpSpPr>
              <p:nvPr/>
            </p:nvGrpSpPr>
            <p:grpSpPr bwMode="auto">
              <a:xfrm>
                <a:off x="3184" y="390"/>
                <a:ext cx="2156" cy="1978"/>
                <a:chOff x="3184" y="390"/>
                <a:chExt cx="2156" cy="1978"/>
              </a:xfrm>
            </p:grpSpPr>
            <p:sp>
              <p:nvSpPr>
                <p:cNvPr id="97284" name="Freeform 2052">
                  <a:extLst>
                    <a:ext uri="{FF2B5EF4-FFF2-40B4-BE49-F238E27FC236}">
                      <a16:creationId xmlns:a16="http://schemas.microsoft.com/office/drawing/2014/main" id="{36354A09-8100-3E45-4E1F-ABECF4E54102}"/>
                    </a:ext>
                  </a:extLst>
                </p:cNvPr>
                <p:cNvSpPr>
                  <a:spLocks/>
                </p:cNvSpPr>
                <p:nvPr/>
              </p:nvSpPr>
              <p:spPr bwMode="auto">
                <a:xfrm>
                  <a:off x="3207" y="1264"/>
                  <a:ext cx="1680" cy="1104"/>
                </a:xfrm>
                <a:custGeom>
                  <a:avLst/>
                  <a:gdLst>
                    <a:gd name="T0" fmla="*/ 240 w 1680"/>
                    <a:gd name="T1" fmla="*/ 0 h 1104"/>
                    <a:gd name="T2" fmla="*/ 240 w 1680"/>
                    <a:gd name="T3" fmla="*/ 288 h 1104"/>
                    <a:gd name="T4" fmla="*/ 0 w 1680"/>
                    <a:gd name="T5" fmla="*/ 384 h 1104"/>
                    <a:gd name="T6" fmla="*/ 0 w 1680"/>
                    <a:gd name="T7" fmla="*/ 1104 h 1104"/>
                    <a:gd name="T8" fmla="*/ 624 w 1680"/>
                    <a:gd name="T9" fmla="*/ 1104 h 1104"/>
                    <a:gd name="T10" fmla="*/ 624 w 1680"/>
                    <a:gd name="T11" fmla="*/ 384 h 1104"/>
                    <a:gd name="T12" fmla="*/ 384 w 1680"/>
                    <a:gd name="T13" fmla="*/ 288 h 1104"/>
                    <a:gd name="T14" fmla="*/ 384 w 1680"/>
                    <a:gd name="T15" fmla="*/ 96 h 1104"/>
                    <a:gd name="T16" fmla="*/ 1296 w 1680"/>
                    <a:gd name="T17" fmla="*/ 96 h 1104"/>
                    <a:gd name="T18" fmla="*/ 1296 w 1680"/>
                    <a:gd name="T19" fmla="*/ 288 h 1104"/>
                    <a:gd name="T20" fmla="*/ 1008 w 1680"/>
                    <a:gd name="T21" fmla="*/ 384 h 1104"/>
                    <a:gd name="T22" fmla="*/ 1008 w 1680"/>
                    <a:gd name="T23" fmla="*/ 1104 h 1104"/>
                    <a:gd name="T24" fmla="*/ 1680 w 1680"/>
                    <a:gd name="T25" fmla="*/ 1104 h 1104"/>
                    <a:gd name="T26" fmla="*/ 1680 w 1680"/>
                    <a:gd name="T27" fmla="*/ 384 h 1104"/>
                    <a:gd name="T28" fmla="*/ 1440 w 1680"/>
                    <a:gd name="T29" fmla="*/ 288 h 1104"/>
                    <a:gd name="T30" fmla="*/ 1440 w 1680"/>
                    <a:gd name="T31" fmla="*/ 0 h 1104"/>
                    <a:gd name="T32" fmla="*/ 240 w 1680"/>
                    <a:gd name="T33" fmla="*/ 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80" h="1104">
                      <a:moveTo>
                        <a:pt x="240" y="0"/>
                      </a:moveTo>
                      <a:lnTo>
                        <a:pt x="240" y="288"/>
                      </a:lnTo>
                      <a:lnTo>
                        <a:pt x="0" y="384"/>
                      </a:lnTo>
                      <a:lnTo>
                        <a:pt x="0" y="1104"/>
                      </a:lnTo>
                      <a:lnTo>
                        <a:pt x="624" y="1104"/>
                      </a:lnTo>
                      <a:lnTo>
                        <a:pt x="624" y="384"/>
                      </a:lnTo>
                      <a:lnTo>
                        <a:pt x="384" y="288"/>
                      </a:lnTo>
                      <a:lnTo>
                        <a:pt x="384" y="96"/>
                      </a:lnTo>
                      <a:lnTo>
                        <a:pt x="1296" y="96"/>
                      </a:lnTo>
                      <a:lnTo>
                        <a:pt x="1296" y="288"/>
                      </a:lnTo>
                      <a:lnTo>
                        <a:pt x="1008" y="384"/>
                      </a:lnTo>
                      <a:lnTo>
                        <a:pt x="1008" y="1104"/>
                      </a:lnTo>
                      <a:lnTo>
                        <a:pt x="1680" y="1104"/>
                      </a:lnTo>
                      <a:lnTo>
                        <a:pt x="1680" y="384"/>
                      </a:lnTo>
                      <a:lnTo>
                        <a:pt x="1440" y="288"/>
                      </a:lnTo>
                      <a:lnTo>
                        <a:pt x="1440" y="0"/>
                      </a:lnTo>
                      <a:lnTo>
                        <a:pt x="240" y="0"/>
                      </a:lnTo>
                      <a:close/>
                    </a:path>
                  </a:pathLst>
                </a:custGeom>
                <a:solidFill>
                  <a:srgbClr val="FFFFFF"/>
                </a:solidFill>
                <a:ln w="38100"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5" name="Freeform 2053">
                  <a:extLst>
                    <a:ext uri="{FF2B5EF4-FFF2-40B4-BE49-F238E27FC236}">
                      <a16:creationId xmlns:a16="http://schemas.microsoft.com/office/drawing/2014/main" id="{8E64F06A-8C27-1C82-8ED6-F1BABF3F41E1}"/>
                    </a:ext>
                  </a:extLst>
                </p:cNvPr>
                <p:cNvSpPr>
                  <a:spLocks/>
                </p:cNvSpPr>
                <p:nvPr/>
              </p:nvSpPr>
              <p:spPr bwMode="auto">
                <a:xfrm>
                  <a:off x="3207" y="1264"/>
                  <a:ext cx="768" cy="1104"/>
                </a:xfrm>
                <a:custGeom>
                  <a:avLst/>
                  <a:gdLst>
                    <a:gd name="T0" fmla="*/ 768 w 768"/>
                    <a:gd name="T1" fmla="*/ 0 h 1104"/>
                    <a:gd name="T2" fmla="*/ 768 w 768"/>
                    <a:gd name="T3" fmla="*/ 96 h 1104"/>
                    <a:gd name="T4" fmla="*/ 384 w 768"/>
                    <a:gd name="T5" fmla="*/ 96 h 1104"/>
                    <a:gd name="T6" fmla="*/ 384 w 768"/>
                    <a:gd name="T7" fmla="*/ 288 h 1104"/>
                    <a:gd name="T8" fmla="*/ 624 w 768"/>
                    <a:gd name="T9" fmla="*/ 384 h 1104"/>
                    <a:gd name="T10" fmla="*/ 624 w 768"/>
                    <a:gd name="T11" fmla="*/ 1104 h 1104"/>
                    <a:gd name="T12" fmla="*/ 0 w 768"/>
                    <a:gd name="T13" fmla="*/ 1104 h 1104"/>
                    <a:gd name="T14" fmla="*/ 0 w 768"/>
                    <a:gd name="T15" fmla="*/ 384 h 1104"/>
                    <a:gd name="T16" fmla="*/ 240 w 768"/>
                    <a:gd name="T17" fmla="*/ 288 h 1104"/>
                    <a:gd name="T18" fmla="*/ 240 w 768"/>
                    <a:gd name="T19" fmla="*/ 0 h 1104"/>
                    <a:gd name="T20" fmla="*/ 768 w 768"/>
                    <a:gd name="T21" fmla="*/ 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8" h="1104">
                      <a:moveTo>
                        <a:pt x="768" y="0"/>
                      </a:moveTo>
                      <a:lnTo>
                        <a:pt x="768" y="96"/>
                      </a:lnTo>
                      <a:lnTo>
                        <a:pt x="384" y="96"/>
                      </a:lnTo>
                      <a:lnTo>
                        <a:pt x="384" y="288"/>
                      </a:lnTo>
                      <a:lnTo>
                        <a:pt x="624" y="384"/>
                      </a:lnTo>
                      <a:lnTo>
                        <a:pt x="624" y="1104"/>
                      </a:lnTo>
                      <a:lnTo>
                        <a:pt x="0" y="1104"/>
                      </a:lnTo>
                      <a:lnTo>
                        <a:pt x="0" y="384"/>
                      </a:lnTo>
                      <a:lnTo>
                        <a:pt x="240" y="288"/>
                      </a:lnTo>
                      <a:lnTo>
                        <a:pt x="240" y="0"/>
                      </a:lnTo>
                      <a:lnTo>
                        <a:pt x="768" y="0"/>
                      </a:lnTo>
                      <a:close/>
                    </a:path>
                  </a:pathLst>
                </a:custGeom>
                <a:pattFill prst="pct40">
                  <a:fgClr>
                    <a:schemeClr val="bg1"/>
                  </a:fgClr>
                  <a:bgClr>
                    <a:srgbClr val="969696"/>
                  </a:bgClr>
                </a:pattFill>
                <a:ln>
                  <a:noFill/>
                </a:ln>
                <a:effectLst/>
                <a:extLst>
                  <a:ext uri="{91240B29-F687-4F45-9708-019B960494DF}">
                    <a14:hiddenLine xmlns:a14="http://schemas.microsoft.com/office/drawing/2010/main" w="9525"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6" name="Freeform 2054">
                  <a:extLst>
                    <a:ext uri="{FF2B5EF4-FFF2-40B4-BE49-F238E27FC236}">
                      <a16:creationId xmlns:a16="http://schemas.microsoft.com/office/drawing/2014/main" id="{0AD843FA-D679-5D11-766E-7968D91B1A02}"/>
                    </a:ext>
                  </a:extLst>
                </p:cNvPr>
                <p:cNvSpPr>
                  <a:spLocks/>
                </p:cNvSpPr>
                <p:nvPr/>
              </p:nvSpPr>
              <p:spPr bwMode="auto">
                <a:xfrm>
                  <a:off x="3889" y="1108"/>
                  <a:ext cx="250" cy="216"/>
                </a:xfrm>
                <a:custGeom>
                  <a:avLst/>
                  <a:gdLst>
                    <a:gd name="T0" fmla="*/ 96 w 336"/>
                    <a:gd name="T1" fmla="*/ 96 h 336"/>
                    <a:gd name="T2" fmla="*/ 0 w 336"/>
                    <a:gd name="T3" fmla="*/ 96 h 336"/>
                    <a:gd name="T4" fmla="*/ 0 w 336"/>
                    <a:gd name="T5" fmla="*/ 0 h 336"/>
                    <a:gd name="T6" fmla="*/ 336 w 336"/>
                    <a:gd name="T7" fmla="*/ 0 h 336"/>
                    <a:gd name="T8" fmla="*/ 336 w 336"/>
                    <a:gd name="T9" fmla="*/ 96 h 336"/>
                    <a:gd name="T10" fmla="*/ 240 w 336"/>
                    <a:gd name="T11" fmla="*/ 96 h 336"/>
                    <a:gd name="T12" fmla="*/ 240 w 336"/>
                    <a:gd name="T13" fmla="*/ 336 h 336"/>
                    <a:gd name="T14" fmla="*/ 96 w 336"/>
                    <a:gd name="T15" fmla="*/ 336 h 336"/>
                    <a:gd name="T16" fmla="*/ 96 w 336"/>
                    <a:gd name="T17" fmla="*/ 9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336">
                      <a:moveTo>
                        <a:pt x="96" y="96"/>
                      </a:moveTo>
                      <a:lnTo>
                        <a:pt x="0" y="96"/>
                      </a:lnTo>
                      <a:lnTo>
                        <a:pt x="0" y="0"/>
                      </a:lnTo>
                      <a:lnTo>
                        <a:pt x="336" y="0"/>
                      </a:lnTo>
                      <a:lnTo>
                        <a:pt x="336" y="96"/>
                      </a:lnTo>
                      <a:lnTo>
                        <a:pt x="240" y="96"/>
                      </a:lnTo>
                      <a:lnTo>
                        <a:pt x="240" y="336"/>
                      </a:lnTo>
                      <a:lnTo>
                        <a:pt x="96" y="336"/>
                      </a:lnTo>
                      <a:lnTo>
                        <a:pt x="96" y="96"/>
                      </a:lnTo>
                      <a:close/>
                    </a:path>
                  </a:pathLst>
                </a:custGeom>
                <a:solidFill>
                  <a:srgbClr val="CCCC00"/>
                </a:solidFill>
                <a:ln w="9525"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7" name="Oval 2055">
                  <a:extLst>
                    <a:ext uri="{FF2B5EF4-FFF2-40B4-BE49-F238E27FC236}">
                      <a16:creationId xmlns:a16="http://schemas.microsoft.com/office/drawing/2014/main" id="{85C820EC-6209-1FCB-4A3B-DF2B232064D6}"/>
                    </a:ext>
                  </a:extLst>
                </p:cNvPr>
                <p:cNvSpPr>
                  <a:spLocks noChangeArrowheads="1"/>
                </p:cNvSpPr>
                <p:nvPr/>
              </p:nvSpPr>
              <p:spPr bwMode="auto">
                <a:xfrm>
                  <a:off x="3917" y="1216"/>
                  <a:ext cx="207" cy="205"/>
                </a:xfrm>
                <a:prstGeom prst="ellipse">
                  <a:avLst/>
                </a:prstGeom>
                <a:solidFill>
                  <a:srgbClr val="FFFF99"/>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88" name="Text Box 2056">
                  <a:extLst>
                    <a:ext uri="{FF2B5EF4-FFF2-40B4-BE49-F238E27FC236}">
                      <a16:creationId xmlns:a16="http://schemas.microsoft.com/office/drawing/2014/main" id="{4B6F83C6-F079-B9C6-F77A-FB7C4E2AA97D}"/>
                    </a:ext>
                  </a:extLst>
                </p:cNvPr>
                <p:cNvSpPr txBox="1">
                  <a:spLocks noChangeArrowheads="1"/>
                </p:cNvSpPr>
                <p:nvPr/>
              </p:nvSpPr>
              <p:spPr bwMode="auto">
                <a:xfrm>
                  <a:off x="3184" y="1791"/>
                  <a:ext cx="56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zh-CN" altLang="en-US" sz="2800"/>
                    <a:t>气体</a:t>
                  </a:r>
                </a:p>
              </p:txBody>
            </p:sp>
            <p:sp>
              <p:nvSpPr>
                <p:cNvPr id="97289" name="Text Box 2057">
                  <a:extLst>
                    <a:ext uri="{FF2B5EF4-FFF2-40B4-BE49-F238E27FC236}">
                      <a16:creationId xmlns:a16="http://schemas.microsoft.com/office/drawing/2014/main" id="{963C2A96-A3F7-B412-0A59-95FCADBD698F}"/>
                    </a:ext>
                  </a:extLst>
                </p:cNvPr>
                <p:cNvSpPr txBox="1">
                  <a:spLocks noChangeArrowheads="1"/>
                </p:cNvSpPr>
                <p:nvPr/>
              </p:nvSpPr>
              <p:spPr bwMode="auto">
                <a:xfrm>
                  <a:off x="4232" y="1791"/>
                  <a:ext cx="56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0"/>
                    </a:spcBef>
                  </a:pPr>
                  <a:r>
                    <a:rPr lang="zh-CN" altLang="en-US" sz="2800"/>
                    <a:t>真空</a:t>
                  </a:r>
                </a:p>
              </p:txBody>
            </p:sp>
            <p:grpSp>
              <p:nvGrpSpPr>
                <p:cNvPr id="97291" name="Group 2059">
                  <a:extLst>
                    <a:ext uri="{FF2B5EF4-FFF2-40B4-BE49-F238E27FC236}">
                      <a16:creationId xmlns:a16="http://schemas.microsoft.com/office/drawing/2014/main" id="{F6AF9109-1E3B-8170-D54B-81328BB4C74E}"/>
                    </a:ext>
                  </a:extLst>
                </p:cNvPr>
                <p:cNvGrpSpPr>
                  <a:grpSpLocks/>
                </p:cNvGrpSpPr>
                <p:nvPr/>
              </p:nvGrpSpPr>
              <p:grpSpPr bwMode="auto">
                <a:xfrm>
                  <a:off x="5064" y="390"/>
                  <a:ext cx="65" cy="1578"/>
                  <a:chOff x="5376" y="1536"/>
                  <a:chExt cx="48" cy="1776"/>
                </a:xfrm>
              </p:grpSpPr>
              <p:sp>
                <p:nvSpPr>
                  <p:cNvPr id="97292" name="Rectangle 2060">
                    <a:extLst>
                      <a:ext uri="{FF2B5EF4-FFF2-40B4-BE49-F238E27FC236}">
                        <a16:creationId xmlns:a16="http://schemas.microsoft.com/office/drawing/2014/main" id="{ACB5AF28-65BF-5C9D-F52E-57C0439093A5}"/>
                      </a:ext>
                    </a:extLst>
                  </p:cNvPr>
                  <p:cNvSpPr>
                    <a:spLocks noChangeArrowheads="1"/>
                  </p:cNvSpPr>
                  <p:nvPr/>
                </p:nvSpPr>
                <p:spPr bwMode="auto">
                  <a:xfrm>
                    <a:off x="5376" y="1536"/>
                    <a:ext cx="48" cy="1680"/>
                  </a:xfrm>
                  <a:prstGeom prst="rect">
                    <a:avLst/>
                  </a:prstGeom>
                  <a:solidFill>
                    <a:srgbClr val="99CCFF"/>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93" name="Rectangle 2061">
                    <a:extLst>
                      <a:ext uri="{FF2B5EF4-FFF2-40B4-BE49-F238E27FC236}">
                        <a16:creationId xmlns:a16="http://schemas.microsoft.com/office/drawing/2014/main" id="{B3DFA23B-6DCF-4E90-910B-22C1B9DD8F6E}"/>
                      </a:ext>
                    </a:extLst>
                  </p:cNvPr>
                  <p:cNvSpPr>
                    <a:spLocks noChangeArrowheads="1"/>
                  </p:cNvSpPr>
                  <p:nvPr/>
                </p:nvSpPr>
                <p:spPr bwMode="auto">
                  <a:xfrm>
                    <a:off x="5376" y="3216"/>
                    <a:ext cx="48" cy="96"/>
                  </a:xfrm>
                  <a:prstGeom prst="rect">
                    <a:avLst/>
                  </a:prstGeom>
                  <a:solidFill>
                    <a:schemeClr val="hlink"/>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spcBef>
                        <a:spcPct val="0"/>
                      </a:spcBef>
                    </a:pPr>
                    <a:endParaRPr lang="zh-CN" altLang="zh-CN" sz="2800"/>
                  </a:p>
                </p:txBody>
              </p:sp>
            </p:grpSp>
            <p:sp>
              <p:nvSpPr>
                <p:cNvPr id="97294" name="Line 2062">
                  <a:extLst>
                    <a:ext uri="{FF2B5EF4-FFF2-40B4-BE49-F238E27FC236}">
                      <a16:creationId xmlns:a16="http://schemas.microsoft.com/office/drawing/2014/main" id="{3C644016-9448-D423-2F89-627AAFD6F27B}"/>
                    </a:ext>
                  </a:extLst>
                </p:cNvPr>
                <p:cNvSpPr>
                  <a:spLocks noChangeShapeType="1"/>
                </p:cNvSpPr>
                <p:nvPr/>
              </p:nvSpPr>
              <p:spPr bwMode="auto">
                <a:xfrm flipV="1">
                  <a:off x="5064" y="1072"/>
                  <a:ext cx="0" cy="896"/>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7298" name="Text Box 2066">
                  <a:extLst>
                    <a:ext uri="{FF2B5EF4-FFF2-40B4-BE49-F238E27FC236}">
                      <a16:creationId xmlns:a16="http://schemas.microsoft.com/office/drawing/2014/main" id="{98EA31F5-B5DE-182F-A79A-984D563ED689}"/>
                    </a:ext>
                  </a:extLst>
                </p:cNvPr>
                <p:cNvSpPr txBox="1">
                  <a:spLocks noChangeArrowheads="1"/>
                </p:cNvSpPr>
                <p:nvPr/>
              </p:nvSpPr>
              <p:spPr bwMode="auto">
                <a:xfrm>
                  <a:off x="4910" y="1948"/>
                  <a:ext cx="4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a:latin typeface="黑体" panose="02010609060101010101" pitchFamily="49" charset="-122"/>
                    </a:rPr>
                    <a:t>水</a:t>
                  </a:r>
                </a:p>
              </p:txBody>
            </p:sp>
            <p:sp>
              <p:nvSpPr>
                <p:cNvPr id="97299" name="Text Box 2067">
                  <a:extLst>
                    <a:ext uri="{FF2B5EF4-FFF2-40B4-BE49-F238E27FC236}">
                      <a16:creationId xmlns:a16="http://schemas.microsoft.com/office/drawing/2014/main" id="{C5AEE8F5-1A97-F9E4-2383-5EE3334C9889}"/>
                    </a:ext>
                  </a:extLst>
                </p:cNvPr>
                <p:cNvSpPr txBox="1">
                  <a:spLocks noChangeArrowheads="1"/>
                </p:cNvSpPr>
                <p:nvPr/>
              </p:nvSpPr>
              <p:spPr bwMode="auto">
                <a:xfrm>
                  <a:off x="3553" y="936"/>
                  <a:ext cx="39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t>C</a:t>
                  </a:r>
                </a:p>
              </p:txBody>
            </p:sp>
          </p:grpSp>
        </p:grpSp>
        <p:sp>
          <p:nvSpPr>
            <p:cNvPr id="97308" name="Text Box 2076">
              <a:extLst>
                <a:ext uri="{FF2B5EF4-FFF2-40B4-BE49-F238E27FC236}">
                  <a16:creationId xmlns:a16="http://schemas.microsoft.com/office/drawing/2014/main" id="{DCD898BA-2E96-7D53-2398-A3EB70E87037}"/>
                </a:ext>
              </a:extLst>
            </p:cNvPr>
            <p:cNvSpPr txBox="1">
              <a:spLocks noChangeArrowheads="1"/>
            </p:cNvSpPr>
            <p:nvPr/>
          </p:nvSpPr>
          <p:spPr bwMode="auto">
            <a:xfrm>
              <a:off x="3564" y="504"/>
              <a:ext cx="121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dirty="0">
                  <a:latin typeface="黑体" panose="02010609060101010101" pitchFamily="49" charset="-122"/>
                </a:rPr>
                <a:t>绝热壁</a:t>
              </a:r>
            </a:p>
          </p:txBody>
        </p:sp>
        <p:sp>
          <p:nvSpPr>
            <p:cNvPr id="97309" name="Line 2077">
              <a:extLst>
                <a:ext uri="{FF2B5EF4-FFF2-40B4-BE49-F238E27FC236}">
                  <a16:creationId xmlns:a16="http://schemas.microsoft.com/office/drawing/2014/main" id="{484B80BD-40E7-6F65-07B1-7DB7BECC0ABF}"/>
                </a:ext>
              </a:extLst>
            </p:cNvPr>
            <p:cNvSpPr>
              <a:spLocks noChangeShapeType="1"/>
            </p:cNvSpPr>
            <p:nvPr/>
          </p:nvSpPr>
          <p:spPr bwMode="auto">
            <a:xfrm flipH="1">
              <a:off x="3946" y="739"/>
              <a:ext cx="224" cy="189"/>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2" name="Text Box 13">
            <a:hlinkClick r:id="" action="ppaction://noaction"/>
            <a:extLst>
              <a:ext uri="{FF2B5EF4-FFF2-40B4-BE49-F238E27FC236}">
                <a16:creationId xmlns:a16="http://schemas.microsoft.com/office/drawing/2014/main" id="{E06429CC-504D-34DB-0156-BFBC88EE4970}"/>
              </a:ext>
            </a:extLst>
          </p:cNvPr>
          <p:cNvSpPr txBox="1">
            <a:spLocks noChangeArrowheads="1"/>
          </p:cNvSpPr>
          <p:nvPr/>
        </p:nvSpPr>
        <p:spPr bwMode="auto">
          <a:xfrm>
            <a:off x="663928" y="329121"/>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绝热自由膨胀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73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729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9729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7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95" grpId="0" autoUpdateAnimBg="0"/>
      <p:bldP spid="97296" grpId="0" autoUpdateAnimBg="0"/>
      <p:bldP spid="97297" grpId="0" autoUpdateAnimBg="0"/>
      <p:bldP spid="97301" grpId="0" autoUpdateAnimBg="0"/>
      <p:bldP spid="97304"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4.5: The Joule-Thomson Effect - Chemistry LibreTexts">
            <a:extLst>
              <a:ext uri="{FF2B5EF4-FFF2-40B4-BE49-F238E27FC236}">
                <a16:creationId xmlns:a16="http://schemas.microsoft.com/office/drawing/2014/main" id="{6100C6DB-8C29-1BF9-879D-9533FDCA1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921" y="2384889"/>
            <a:ext cx="6096001" cy="2088222"/>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9">
            <a:extLst>
              <a:ext uri="{FF2B5EF4-FFF2-40B4-BE49-F238E27FC236}">
                <a16:creationId xmlns:a16="http://schemas.microsoft.com/office/drawing/2014/main" id="{8614E8CF-E9A7-A834-5B1F-F802CD6B3F6B}"/>
              </a:ext>
            </a:extLst>
          </p:cNvPr>
          <p:cNvSpPr txBox="1"/>
          <p:nvPr/>
        </p:nvSpPr>
        <p:spPr>
          <a:xfrm>
            <a:off x="3187700" y="1821326"/>
            <a:ext cx="7467600" cy="523220"/>
          </a:xfrm>
          <a:prstGeom prst="rect">
            <a:avLst/>
          </a:prstGeom>
          <a:noFill/>
          <a:ln w="9525">
            <a:noFill/>
          </a:ln>
        </p:spPr>
        <p:txBody>
          <a:bodyPr>
            <a:spAutoFit/>
          </a:bodyPr>
          <a:lstStyle/>
          <a:p>
            <a:pPr eaLnBrk="1" hangingPunct="1">
              <a:spcBef>
                <a:spcPct val="50000"/>
              </a:spcBef>
            </a:pPr>
            <a:r>
              <a:rPr lang="zh-CN" altLang="en-US" sz="2800" dirty="0">
                <a:solidFill>
                  <a:srgbClr val="0066FF"/>
                </a:solidFill>
                <a:latin typeface="楷体" panose="02010609060101010101" charset="-122"/>
                <a:ea typeface="楷体" panose="02010609060101010101" charset="-122"/>
              </a:rPr>
              <a:t>真实气体分子间存在相互作用的势能。</a:t>
            </a:r>
          </a:p>
        </p:txBody>
      </p:sp>
      <p:sp>
        <p:nvSpPr>
          <p:cNvPr id="14" name="Text Box 10">
            <a:extLst>
              <a:ext uri="{FF2B5EF4-FFF2-40B4-BE49-F238E27FC236}">
                <a16:creationId xmlns:a16="http://schemas.microsoft.com/office/drawing/2014/main" id="{913B7A35-E9AC-3FDD-C3D7-5757D92041DE}"/>
              </a:ext>
            </a:extLst>
          </p:cNvPr>
          <p:cNvSpPr txBox="1"/>
          <p:nvPr/>
        </p:nvSpPr>
        <p:spPr>
          <a:xfrm>
            <a:off x="1301750" y="5561955"/>
            <a:ext cx="8976179" cy="954107"/>
          </a:xfrm>
          <a:prstGeom prst="rect">
            <a:avLst/>
          </a:prstGeom>
          <a:noFill/>
          <a:ln w="9525">
            <a:noFill/>
          </a:ln>
        </p:spPr>
        <p:txBody>
          <a:bodyPr wrap="square">
            <a:spAutoFit/>
          </a:bodyPr>
          <a:lstStyle/>
          <a:p>
            <a:pPr eaLnBrk="1" hangingPunct="1">
              <a:spcBef>
                <a:spcPct val="50000"/>
              </a:spcBef>
            </a:pPr>
            <a:r>
              <a:rPr lang="zh-CN" altLang="en-US" sz="2800" dirty="0">
                <a:solidFill>
                  <a:schemeClr val="tx1"/>
                </a:solidFill>
                <a:latin typeface="Times New Roman" panose="02020603050405020304" pitchFamily="18" charset="0"/>
              </a:rPr>
              <a:t>实验的应用：干冰的制作。使高压二氧化碳从阀口的小孔喷射出来，从而使温度降低，制成干冰。</a:t>
            </a:r>
          </a:p>
        </p:txBody>
      </p:sp>
      <p:sp>
        <p:nvSpPr>
          <p:cNvPr id="15" name="Text Box 15">
            <a:extLst>
              <a:ext uri="{FF2B5EF4-FFF2-40B4-BE49-F238E27FC236}">
                <a16:creationId xmlns:a16="http://schemas.microsoft.com/office/drawing/2014/main" id="{7818D555-3330-D8CF-8649-5DA68EEEE135}"/>
              </a:ext>
            </a:extLst>
          </p:cNvPr>
          <p:cNvSpPr txBox="1"/>
          <p:nvPr/>
        </p:nvSpPr>
        <p:spPr>
          <a:xfrm>
            <a:off x="1301750" y="1194480"/>
            <a:ext cx="10623550" cy="523220"/>
          </a:xfrm>
          <a:prstGeom prst="rect">
            <a:avLst/>
          </a:prstGeom>
          <a:noFill/>
          <a:ln w="9525">
            <a:noFill/>
          </a:ln>
        </p:spPr>
        <p:txBody>
          <a:bodyPr wrap="square">
            <a:spAutoFit/>
          </a:bodyPr>
          <a:lstStyle/>
          <a:p>
            <a:pPr eaLnBrk="1" hangingPunct="1">
              <a:spcBef>
                <a:spcPct val="50000"/>
              </a:spcBef>
            </a:pPr>
            <a:r>
              <a:rPr lang="zh-CN" altLang="en-US" sz="2800" dirty="0">
                <a:solidFill>
                  <a:schemeClr val="tx1"/>
                </a:solidFill>
                <a:latin typeface="Times New Roman" panose="02020603050405020304" pitchFamily="18" charset="0"/>
              </a:rPr>
              <a:t>对真实气体，膨胀后温度发生变化</a:t>
            </a: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焦耳</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Times New Roman" panose="02020603050405020304" pitchFamily="18" charset="0"/>
              </a:rPr>
              <a:t>汤姆逊效应</a:t>
            </a:r>
          </a:p>
        </p:txBody>
      </p:sp>
      <p:sp>
        <p:nvSpPr>
          <p:cNvPr id="16" name="Text Box 13">
            <a:hlinkClick r:id="" action="ppaction://noaction"/>
            <a:extLst>
              <a:ext uri="{FF2B5EF4-FFF2-40B4-BE49-F238E27FC236}">
                <a16:creationId xmlns:a16="http://schemas.microsoft.com/office/drawing/2014/main" id="{01272835-7EBD-7910-94C9-4C2D85C057BC}"/>
              </a:ext>
            </a:extLst>
          </p:cNvPr>
          <p:cNvSpPr txBox="1">
            <a:spLocks noChangeArrowheads="1"/>
          </p:cNvSpPr>
          <p:nvPr/>
        </p:nvSpPr>
        <p:spPr bwMode="auto">
          <a:xfrm>
            <a:off x="617888" y="32923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绝热自由膨胀</a:t>
            </a:r>
          </a:p>
        </p:txBody>
      </p:sp>
      <p:sp>
        <p:nvSpPr>
          <p:cNvPr id="18" name="文本框 17">
            <a:extLst>
              <a:ext uri="{FF2B5EF4-FFF2-40B4-BE49-F238E27FC236}">
                <a16:creationId xmlns:a16="http://schemas.microsoft.com/office/drawing/2014/main" id="{5F641D4C-9E62-FC92-82BD-947B33FE89BF}"/>
              </a:ext>
            </a:extLst>
          </p:cNvPr>
          <p:cNvSpPr txBox="1"/>
          <p:nvPr/>
        </p:nvSpPr>
        <p:spPr>
          <a:xfrm>
            <a:off x="920750" y="4773619"/>
            <a:ext cx="10350500" cy="523220"/>
          </a:xfrm>
          <a:prstGeom prst="rect">
            <a:avLst/>
          </a:prstGeom>
          <a:noFill/>
        </p:spPr>
        <p:txBody>
          <a:bodyPr wrap="square">
            <a:spAutoFit/>
          </a:bodyPr>
          <a:lstStyle/>
          <a:p>
            <a:pPr eaLnBrk="1" hangingPunct="1">
              <a:spcBef>
                <a:spcPct val="50000"/>
              </a:spcBef>
            </a:pPr>
            <a:r>
              <a:rPr lang="zh-CN" altLang="en-US" sz="2800" dirty="0">
                <a:solidFill>
                  <a:schemeClr val="tx1"/>
                </a:solidFill>
                <a:latin typeface="Times New Roman" panose="02020603050405020304" pitchFamily="18" charset="0"/>
              </a:rPr>
              <a:t>节流膨胀后温度升高</a:t>
            </a:r>
            <a:r>
              <a:rPr lang="zh-CN" altLang="en-US" sz="2800" dirty="0">
                <a:latin typeface="Times New Roman" panose="02020603050405020304" pitchFamily="18" charset="0"/>
              </a:rPr>
              <a:t>或降低，取决于分子间作用力做正功或负功</a:t>
            </a:r>
            <a:endParaRPr lang="zh-CN" altLang="en-US" sz="2800" dirty="0">
              <a:solidFill>
                <a:schemeClr val="tx1"/>
              </a:solidFill>
              <a:latin typeface="Times New Roman" panose="02020603050405020304" pitchFamily="18" charset="0"/>
            </a:endParaRPr>
          </a:p>
        </p:txBody>
      </p:sp>
      <p:sp>
        <p:nvSpPr>
          <p:cNvPr id="22" name="文本框 21">
            <a:extLst>
              <a:ext uri="{FF2B5EF4-FFF2-40B4-BE49-F238E27FC236}">
                <a16:creationId xmlns:a16="http://schemas.microsoft.com/office/drawing/2014/main" id="{2ADFA489-E580-CB7A-39DF-AF1146807ED7}"/>
              </a:ext>
            </a:extLst>
          </p:cNvPr>
          <p:cNvSpPr txBox="1"/>
          <p:nvPr/>
        </p:nvSpPr>
        <p:spPr>
          <a:xfrm>
            <a:off x="6384925" y="2521059"/>
            <a:ext cx="5470525" cy="1815882"/>
          </a:xfrm>
          <a:prstGeom prst="rect">
            <a:avLst/>
          </a:prstGeom>
          <a:noFill/>
        </p:spPr>
        <p:txBody>
          <a:bodyPr wrap="square">
            <a:spAutoFit/>
          </a:bodyPr>
          <a:lstStyle/>
          <a:p>
            <a:r>
              <a:rPr lang="zh-CN" altLang="en-US" sz="2800" dirty="0"/>
              <a:t>气体在绝热条件下，从大压强空间经多孔塞缓慢迁移到小压强空间的过程称为节流过程或焦耳</a:t>
            </a:r>
            <a:r>
              <a:rPr lang="en-US" altLang="zh-CN" sz="2800" dirty="0"/>
              <a:t>---</a:t>
            </a:r>
            <a:r>
              <a:rPr lang="zh-CN" altLang="en-US" sz="2800" dirty="0"/>
              <a:t>汤姆逊过程。</a:t>
            </a:r>
          </a:p>
        </p:txBody>
      </p:sp>
    </p:spTree>
    <p:extLst>
      <p:ext uri="{BB962C8B-B14F-4D97-AF65-F5344CB8AC3E}">
        <p14:creationId xmlns:p14="http://schemas.microsoft.com/office/powerpoint/2010/main" val="397827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8" grpId="0"/>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p:nvPr/>
        </p:nvSpPr>
        <p:spPr>
          <a:xfrm>
            <a:off x="492125" y="295276"/>
            <a:ext cx="11207750" cy="1605889"/>
          </a:xfrm>
          <a:prstGeom prst="rect">
            <a:avLst/>
          </a:prstGeom>
          <a:noFill/>
          <a:ln w="9525">
            <a:noFill/>
          </a:ln>
        </p:spPr>
        <p:txBody>
          <a:bodyPr wrap="square">
            <a:spAutoFit/>
          </a:bodyPr>
          <a:lstStyle/>
          <a:p>
            <a:pPr>
              <a:lnSpc>
                <a:spcPct val="120000"/>
              </a:lnSpc>
              <a:spcBef>
                <a:spcPct val="50000"/>
              </a:spcBef>
            </a:pPr>
            <a:r>
              <a:rPr lang="en-US" altLang="zh-CN" sz="2800" dirty="0">
                <a:solidFill>
                  <a:srgbClr val="CC0000"/>
                </a:solidFill>
                <a:latin typeface="宋体" panose="02010600030101010101" pitchFamily="2" charset="-122"/>
              </a:rPr>
              <a:t>    </a:t>
            </a:r>
            <a:r>
              <a:rPr lang="zh-CN" altLang="en-US" sz="2800" dirty="0">
                <a:solidFill>
                  <a:srgbClr val="CC0000"/>
                </a:solidFill>
                <a:latin typeface="宋体" panose="02010600030101010101" pitchFamily="2" charset="-122"/>
              </a:rPr>
              <a:t>例</a:t>
            </a:r>
            <a:r>
              <a:rPr lang="en-US" altLang="zh-CN" sz="2800" dirty="0">
                <a:solidFill>
                  <a:srgbClr val="CC0000"/>
                </a:solidFill>
                <a:latin typeface="宋体" panose="02010600030101010101" pitchFamily="2" charset="-122"/>
              </a:rPr>
              <a:t>1 </a:t>
            </a:r>
            <a:r>
              <a:rPr lang="zh-CN" altLang="en-US" sz="2800" dirty="0">
                <a:solidFill>
                  <a:srgbClr val="000000"/>
                </a:solidFill>
                <a:latin typeface="宋体" panose="02010600030101010101" pitchFamily="2" charset="-122"/>
              </a:rPr>
              <a:t>氮气液化， 把氮气放在一个绝热的汽缸中</a:t>
            </a:r>
            <a:r>
              <a:rPr lang="en-US" altLang="zh-CN" sz="2800" dirty="0">
                <a:solidFill>
                  <a:srgbClr val="000000"/>
                </a:solidFill>
                <a:latin typeface="Times New Roman" panose="02020603050405020304" pitchFamily="18" charset="0"/>
              </a:rPr>
              <a:t>.</a:t>
            </a:r>
            <a:r>
              <a:rPr lang="zh-CN" altLang="en-US" sz="2800" dirty="0">
                <a:solidFill>
                  <a:srgbClr val="000000"/>
                </a:solidFill>
                <a:latin typeface="宋体" panose="02010600030101010101" pitchFamily="2" charset="-122"/>
              </a:rPr>
              <a:t>开始时</a:t>
            </a:r>
            <a:r>
              <a:rPr lang="en-US" altLang="zh-CN" sz="2800" dirty="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氮气的压强为</a:t>
            </a:r>
            <a:r>
              <a:rPr lang="en-US" altLang="zh-CN" sz="2800" dirty="0">
                <a:solidFill>
                  <a:srgbClr val="000000"/>
                </a:solidFill>
                <a:latin typeface="宋体" panose="02010600030101010101" pitchFamily="2" charset="-122"/>
              </a:rPr>
              <a:t>50</a:t>
            </a:r>
            <a:r>
              <a:rPr lang="zh-CN" altLang="en-US" sz="2800" dirty="0">
                <a:solidFill>
                  <a:srgbClr val="000000"/>
                </a:solidFill>
                <a:latin typeface="宋体" panose="02010600030101010101" pitchFamily="2" charset="-122"/>
              </a:rPr>
              <a:t>个标准大气压、温度为</a:t>
            </a:r>
            <a:r>
              <a:rPr lang="en-US" altLang="zh-CN" sz="2800" dirty="0">
                <a:solidFill>
                  <a:srgbClr val="000000"/>
                </a:solidFill>
                <a:latin typeface="宋体" panose="02010600030101010101" pitchFamily="2" charset="-122"/>
              </a:rPr>
              <a:t>300K</a:t>
            </a:r>
            <a:r>
              <a:rPr lang="zh-CN" altLang="en-US" sz="2800" dirty="0">
                <a:solidFill>
                  <a:srgbClr val="000000"/>
                </a:solidFill>
                <a:latin typeface="宋体" panose="02010600030101010101" pitchFamily="2" charset="-122"/>
              </a:rPr>
              <a:t>；经急速膨胀后，其压强降至</a:t>
            </a:r>
            <a:r>
              <a:rPr lang="en-US" altLang="zh-CN" sz="2800" dirty="0">
                <a:solidFill>
                  <a:srgbClr val="000000"/>
                </a:solidFill>
                <a:latin typeface="宋体" panose="02010600030101010101" pitchFamily="2" charset="-122"/>
              </a:rPr>
              <a:t>1</a:t>
            </a:r>
            <a:r>
              <a:rPr lang="zh-CN" altLang="en-US" sz="2800" dirty="0">
                <a:solidFill>
                  <a:srgbClr val="000000"/>
                </a:solidFill>
                <a:latin typeface="宋体" panose="02010600030101010101" pitchFamily="2" charset="-122"/>
              </a:rPr>
              <a:t>个标准大气压，从而使氮气液化</a:t>
            </a:r>
            <a:r>
              <a:rPr lang="zh-CN" altLang="en-US" sz="2800" dirty="0">
                <a:solidFill>
                  <a:srgbClr val="000000"/>
                </a:solidFill>
                <a:latin typeface="Times New Roman" panose="02020603050405020304" pitchFamily="18" charset="0"/>
              </a:rPr>
              <a:t>。</a:t>
            </a:r>
            <a:r>
              <a:rPr lang="en-US" altLang="zh-CN" sz="2800" dirty="0">
                <a:solidFill>
                  <a:srgbClr val="000000"/>
                </a:solidFill>
                <a:latin typeface="宋体" panose="02010600030101010101" pitchFamily="2" charset="-122"/>
              </a:rPr>
              <a:t> </a:t>
            </a:r>
            <a:r>
              <a:rPr lang="zh-CN" altLang="en-US" sz="2800" dirty="0">
                <a:solidFill>
                  <a:srgbClr val="000000"/>
                </a:solidFill>
                <a:latin typeface="宋体" panose="02010600030101010101" pitchFamily="2" charset="-122"/>
              </a:rPr>
              <a:t>试问此时氮的温度为多少？</a:t>
            </a:r>
          </a:p>
        </p:txBody>
      </p:sp>
      <p:sp>
        <p:nvSpPr>
          <p:cNvPr id="2" name="Text Box 2">
            <a:extLst>
              <a:ext uri="{FF2B5EF4-FFF2-40B4-BE49-F238E27FC236}">
                <a16:creationId xmlns:a16="http://schemas.microsoft.com/office/drawing/2014/main" id="{45B64403-7432-178F-4A04-F54BB9FB35B5}"/>
              </a:ext>
            </a:extLst>
          </p:cNvPr>
          <p:cNvSpPr txBox="1"/>
          <p:nvPr/>
        </p:nvSpPr>
        <p:spPr>
          <a:xfrm>
            <a:off x="733425" y="2222239"/>
            <a:ext cx="8782050" cy="576568"/>
          </a:xfrm>
          <a:prstGeom prst="rect">
            <a:avLst/>
          </a:prstGeom>
          <a:noFill/>
          <a:ln w="9525">
            <a:noFill/>
          </a:ln>
        </p:spPr>
        <p:txBody>
          <a:bodyPr wrap="square">
            <a:spAutoFit/>
          </a:bodyPr>
          <a:lstStyle/>
          <a:p>
            <a:pPr eaLnBrk="1" hangingPunct="1">
              <a:lnSpc>
                <a:spcPct val="120000"/>
              </a:lnSpc>
              <a:spcBef>
                <a:spcPct val="50000"/>
              </a:spcBef>
            </a:pPr>
            <a:r>
              <a:rPr lang="zh-CN" altLang="en-US" sz="2800" dirty="0">
                <a:solidFill>
                  <a:srgbClr val="000000"/>
                </a:solidFill>
                <a:latin typeface="+mn-ea"/>
              </a:rPr>
              <a:t>氮气可视为理想气体， 其液化过程为绝热过程</a:t>
            </a:r>
            <a:endParaRPr lang="en-US" altLang="zh-CN" sz="2800" dirty="0">
              <a:solidFill>
                <a:srgbClr val="000000"/>
              </a:solidFill>
              <a:latin typeface="+mn-ea"/>
            </a:endParaRPr>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41BBC624-97AF-6A1C-4BA5-91350A3F3466}"/>
                  </a:ext>
                </a:extLst>
              </p:cNvPr>
              <p:cNvSpPr txBox="1"/>
              <p:nvPr/>
            </p:nvSpPr>
            <p:spPr>
              <a:xfrm>
                <a:off x="2844801" y="4858075"/>
                <a:ext cx="3957636" cy="10683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𝑉</m:t>
                              </m:r>
                            </m:sub>
                          </m:sSub>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𝑝</m:t>
                              </m:r>
                            </m:sub>
                          </m:sSub>
                        </m:den>
                      </m:f>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7</m:t>
                          </m:r>
                        </m:num>
                        <m:den>
                          <m:r>
                            <a:rPr lang="en-US" sz="2800" b="0" i="1">
                              <a:solidFill>
                                <a:srgbClr val="000000"/>
                              </a:solidFill>
                              <a:latin typeface="Cambria Math" panose="02040503050406030204" pitchFamily="18" charset="0"/>
                            </a:rPr>
                            <m:t>5</m:t>
                          </m:r>
                        </m:den>
                      </m:f>
                      <m:r>
                        <a:rPr lang="en-US" sz="2800" b="0" i="1">
                          <a:solidFill>
                            <a:srgbClr val="000000"/>
                          </a:solidFill>
                          <a:latin typeface="Cambria Math" panose="02040503050406030204" pitchFamily="18" charset="0"/>
                        </a:rPr>
                        <m:t>=1.4</m:t>
                      </m:r>
                    </m:oMath>
                  </m:oMathPara>
                </a14:m>
                <a:endParaRPr lang="en-US" sz="2800" dirty="0">
                  <a:latin typeface="+mn-ea"/>
                </a:endParaRPr>
              </a:p>
            </p:txBody>
          </p:sp>
        </mc:Choice>
        <mc:Fallback xmlns="">
          <p:sp>
            <p:nvSpPr>
              <p:cNvPr id="3" name="Object 5">
                <a:extLst>
                  <a:ext uri="{FF2B5EF4-FFF2-40B4-BE49-F238E27FC236}">
                    <a16:creationId xmlns:a16="http://schemas.microsoft.com/office/drawing/2014/main" id="{41BBC624-97AF-6A1C-4BA5-91350A3F3466}"/>
                  </a:ext>
                </a:extLst>
              </p:cNvPr>
              <p:cNvSpPr txBox="1">
                <a:spLocks noRot="1" noChangeAspect="1" noMove="1" noResize="1" noEditPoints="1" noAdjustHandles="1" noChangeArrowheads="1" noChangeShapeType="1" noTextEdit="1"/>
              </p:cNvSpPr>
              <p:nvPr/>
            </p:nvSpPr>
            <p:spPr>
              <a:xfrm>
                <a:off x="2844801" y="4858075"/>
                <a:ext cx="3957636" cy="1068388"/>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6">
                <a:extLst>
                  <a:ext uri="{FF2B5EF4-FFF2-40B4-BE49-F238E27FC236}">
                    <a16:creationId xmlns:a16="http://schemas.microsoft.com/office/drawing/2014/main" id="{132F1C8D-0204-F4B6-9C8B-960EC31AEBDE}"/>
                  </a:ext>
                </a:extLst>
              </p:cNvPr>
              <p:cNvSpPr txBox="1"/>
              <p:nvPr/>
            </p:nvSpPr>
            <p:spPr>
              <a:xfrm>
                <a:off x="1172141" y="5926463"/>
                <a:ext cx="8444369" cy="10350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𝑇</m:t>
                          </m:r>
                        </m:e>
                        <m:sub>
                          <m:r>
                            <a:rPr lang="en-US" sz="2800" b="0" i="1">
                              <a:solidFill>
                                <a:srgbClr val="000000"/>
                              </a:solidFill>
                              <a:latin typeface="Cambria Math" panose="02040503050406030204" pitchFamily="18" charset="0"/>
                            </a:rPr>
                            <m:t>2</m:t>
                          </m:r>
                        </m:sub>
                      </m:sSub>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𝑇</m:t>
                          </m:r>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2</m:t>
                              </m:r>
                            </m:sub>
                          </m:sSub>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1</m:t>
                              </m:r>
                            </m:sub>
                          </m:sSub>
                        </m:den>
                      </m:f>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=98.0</m:t>
                      </m:r>
                      <m:r>
                        <m:rPr>
                          <m:sty m:val="p"/>
                        </m:rPr>
                        <a:rPr lang="en-US" sz="2800" b="0" i="0">
                          <a:solidFill>
                            <a:srgbClr val="000000"/>
                          </a:solidFill>
                          <a:latin typeface="Cambria Math" panose="02040503050406030204" pitchFamily="18" charset="0"/>
                        </a:rPr>
                        <m:t>K</m:t>
                      </m:r>
                    </m:oMath>
                  </m:oMathPara>
                </a14:m>
                <a:endParaRPr lang="en-US" sz="2800" dirty="0">
                  <a:latin typeface="+mn-ea"/>
                </a:endParaRPr>
              </a:p>
            </p:txBody>
          </p:sp>
        </mc:Choice>
        <mc:Fallback xmlns="">
          <p:sp>
            <p:nvSpPr>
              <p:cNvPr id="4" name="Object 6">
                <a:extLst>
                  <a:ext uri="{FF2B5EF4-FFF2-40B4-BE49-F238E27FC236}">
                    <a16:creationId xmlns:a16="http://schemas.microsoft.com/office/drawing/2014/main" id="{132F1C8D-0204-F4B6-9C8B-960EC31AEBDE}"/>
                  </a:ext>
                </a:extLst>
              </p:cNvPr>
              <p:cNvSpPr txBox="1">
                <a:spLocks noRot="1" noChangeAspect="1" noMove="1" noResize="1" noEditPoints="1" noAdjustHandles="1" noChangeArrowheads="1" noChangeShapeType="1" noTextEdit="1"/>
              </p:cNvSpPr>
              <p:nvPr/>
            </p:nvSpPr>
            <p:spPr>
              <a:xfrm>
                <a:off x="1172141" y="5926463"/>
                <a:ext cx="8444369" cy="1035050"/>
              </a:xfrm>
              <a:prstGeom prst="rect">
                <a:avLst/>
              </a:prstGeom>
              <a:blipFill>
                <a:blip r:embed="rId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7">
                <a:extLst>
                  <a:ext uri="{FF2B5EF4-FFF2-40B4-BE49-F238E27FC236}">
                    <a16:creationId xmlns:a16="http://schemas.microsoft.com/office/drawing/2014/main" id="{744337DC-99E8-A56A-D885-B6D3C9B4BD26}"/>
                  </a:ext>
                </a:extLst>
              </p:cNvPr>
              <p:cNvSpPr txBox="1"/>
              <p:nvPr/>
            </p:nvSpPr>
            <p:spPr>
              <a:xfrm>
                <a:off x="927523" y="3212201"/>
                <a:ext cx="4995439" cy="596900"/>
              </a:xfrm>
              <a:prstGeom prst="rect">
                <a:avLst/>
              </a:prstGeom>
              <a:noFill/>
              <a:ln w="38100">
                <a:noFill/>
                <a:miter/>
              </a:ln>
            </p:spPr>
            <p:txBody>
              <a:bodyPr>
                <a:noAutofit/>
              </a:bodyPr>
              <a:lstStyle/>
              <a:p>
                <a:r>
                  <a:rPr lang="zh-CN" altLang="en-US" sz="2800" dirty="0">
                    <a:solidFill>
                      <a:srgbClr val="000000"/>
                    </a:solidFill>
                  </a:rPr>
                  <a:t>已知</a:t>
                </a:r>
                <a14:m>
                  <m:oMath xmlns:m="http://schemas.openxmlformats.org/officeDocument/2006/math">
                    <m:r>
                      <a:rPr lang="zh-CN" altLang="en-US" sz="280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=50×1.01×1</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0</m:t>
                        </m:r>
                      </m:e>
                      <m:sup>
                        <m:r>
                          <a:rPr lang="en-US" sz="2800" b="0" i="1">
                            <a:solidFill>
                              <a:srgbClr val="000000"/>
                            </a:solidFill>
                            <a:latin typeface="Cambria Math" panose="02040503050406030204" pitchFamily="18" charset="0"/>
                          </a:rPr>
                          <m:t>5</m:t>
                        </m:r>
                      </m:sup>
                    </m:sSup>
                    <m:r>
                      <m:rPr>
                        <m:nor/>
                      </m:rPr>
                      <a:rPr lang="en-US" sz="2800" i="0">
                        <a:solidFill>
                          <a:srgbClr val="000000"/>
                        </a:solidFill>
                        <a:latin typeface="+mn-ea"/>
                      </a:rPr>
                      <m:t>Pa</m:t>
                    </m:r>
                  </m:oMath>
                </a14:m>
                <a:endParaRPr lang="en-US" sz="2800" dirty="0">
                  <a:latin typeface="+mn-ea"/>
                </a:endParaRPr>
              </a:p>
            </p:txBody>
          </p:sp>
        </mc:Choice>
        <mc:Fallback xmlns="">
          <p:sp>
            <p:nvSpPr>
              <p:cNvPr id="5" name="Object 7">
                <a:extLst>
                  <a:ext uri="{FF2B5EF4-FFF2-40B4-BE49-F238E27FC236}">
                    <a16:creationId xmlns:a16="http://schemas.microsoft.com/office/drawing/2014/main" id="{744337DC-99E8-A56A-D885-B6D3C9B4BD26}"/>
                  </a:ext>
                </a:extLst>
              </p:cNvPr>
              <p:cNvSpPr txBox="1">
                <a:spLocks noRot="1" noChangeAspect="1" noMove="1" noResize="1" noEditPoints="1" noAdjustHandles="1" noChangeArrowheads="1" noChangeShapeType="1" noTextEdit="1"/>
              </p:cNvSpPr>
              <p:nvPr/>
            </p:nvSpPr>
            <p:spPr>
              <a:xfrm>
                <a:off x="927523" y="3212201"/>
                <a:ext cx="4995439" cy="596900"/>
              </a:xfrm>
              <a:prstGeom prst="rect">
                <a:avLst/>
              </a:prstGeom>
              <a:blipFill>
                <a:blip r:embed="rId4"/>
                <a:stretch>
                  <a:fillRect l="-2439" t="-8163" b="-183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8">
                <a:extLst>
                  <a:ext uri="{FF2B5EF4-FFF2-40B4-BE49-F238E27FC236}">
                    <a16:creationId xmlns:a16="http://schemas.microsoft.com/office/drawing/2014/main" id="{1DB9017C-9C28-BAC1-B26F-E624A7E4905A}"/>
                  </a:ext>
                </a:extLst>
              </p:cNvPr>
              <p:cNvSpPr txBox="1"/>
              <p:nvPr/>
            </p:nvSpPr>
            <p:spPr>
              <a:xfrm>
                <a:off x="9378343" y="3155739"/>
                <a:ext cx="2463800" cy="4762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𝑇</m:t>
                          </m:r>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=300</m:t>
                      </m:r>
                      <m:r>
                        <m:rPr>
                          <m:sty m:val="p"/>
                        </m:rPr>
                        <a:rPr lang="en-US" sz="2800" b="0" i="0">
                          <a:solidFill>
                            <a:srgbClr val="000000"/>
                          </a:solidFill>
                          <a:latin typeface="Cambria Math" panose="02040503050406030204" pitchFamily="18" charset="0"/>
                        </a:rPr>
                        <m:t>K</m:t>
                      </m:r>
                    </m:oMath>
                  </m:oMathPara>
                </a14:m>
                <a:endParaRPr lang="en-US" sz="2800" dirty="0">
                  <a:latin typeface="+mn-ea"/>
                </a:endParaRPr>
              </a:p>
            </p:txBody>
          </p:sp>
        </mc:Choice>
        <mc:Fallback xmlns="">
          <p:sp>
            <p:nvSpPr>
              <p:cNvPr id="6" name="Object 8">
                <a:extLst>
                  <a:ext uri="{FF2B5EF4-FFF2-40B4-BE49-F238E27FC236}">
                    <a16:creationId xmlns:a16="http://schemas.microsoft.com/office/drawing/2014/main" id="{1DB9017C-9C28-BAC1-B26F-E624A7E4905A}"/>
                  </a:ext>
                </a:extLst>
              </p:cNvPr>
              <p:cNvSpPr txBox="1">
                <a:spLocks noRot="1" noChangeAspect="1" noMove="1" noResize="1" noEditPoints="1" noAdjustHandles="1" noChangeArrowheads="1" noChangeShapeType="1" noTextEdit="1"/>
              </p:cNvSpPr>
              <p:nvPr/>
            </p:nvSpPr>
            <p:spPr>
              <a:xfrm>
                <a:off x="9378343" y="3155739"/>
                <a:ext cx="2463800" cy="476250"/>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9">
                <a:extLst>
                  <a:ext uri="{FF2B5EF4-FFF2-40B4-BE49-F238E27FC236}">
                    <a16:creationId xmlns:a16="http://schemas.microsoft.com/office/drawing/2014/main" id="{3392D354-461F-B838-D4A1-EEF60DCE2FEA}"/>
                  </a:ext>
                </a:extLst>
              </p:cNvPr>
              <p:cNvSpPr txBox="1"/>
              <p:nvPr/>
            </p:nvSpPr>
            <p:spPr>
              <a:xfrm>
                <a:off x="5721351" y="3155739"/>
                <a:ext cx="4058630" cy="5873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𝑝</m:t>
                          </m:r>
                        </m:e>
                        <m:sub>
                          <m:r>
                            <a:rPr lang="en-US" sz="2800" b="0" i="1">
                              <a:solidFill>
                                <a:srgbClr val="000000"/>
                              </a:solidFill>
                              <a:latin typeface="Cambria Math" panose="02040503050406030204" pitchFamily="18" charset="0"/>
                            </a:rPr>
                            <m:t>2</m:t>
                          </m:r>
                        </m:sub>
                      </m:sSub>
                      <m:r>
                        <a:rPr lang="en-US" sz="2800" b="0" i="1">
                          <a:solidFill>
                            <a:srgbClr val="000000"/>
                          </a:solidFill>
                          <a:latin typeface="Cambria Math" panose="02040503050406030204" pitchFamily="18" charset="0"/>
                        </a:rPr>
                        <m:t>=1.01×1</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0</m:t>
                          </m:r>
                        </m:e>
                        <m:sup>
                          <m:r>
                            <a:rPr lang="en-US" sz="2800" b="0" i="1">
                              <a:solidFill>
                                <a:srgbClr val="000000"/>
                              </a:solidFill>
                              <a:latin typeface="Cambria Math" panose="02040503050406030204" pitchFamily="18" charset="0"/>
                            </a:rPr>
                            <m:t>5</m:t>
                          </m:r>
                        </m:sup>
                      </m:sSup>
                      <m:r>
                        <m:rPr>
                          <m:nor/>
                        </m:rPr>
                        <a:rPr lang="en-US" sz="2800" i="0">
                          <a:solidFill>
                            <a:srgbClr val="000000"/>
                          </a:solidFill>
                          <a:latin typeface="+mn-ea"/>
                        </a:rPr>
                        <m:t>Pa</m:t>
                      </m:r>
                    </m:oMath>
                  </m:oMathPara>
                </a14:m>
                <a:endParaRPr lang="en-US" sz="2800" dirty="0">
                  <a:latin typeface="+mn-ea"/>
                </a:endParaRPr>
              </a:p>
            </p:txBody>
          </p:sp>
        </mc:Choice>
        <mc:Fallback xmlns="">
          <p:sp>
            <p:nvSpPr>
              <p:cNvPr id="7" name="Object 9">
                <a:extLst>
                  <a:ext uri="{FF2B5EF4-FFF2-40B4-BE49-F238E27FC236}">
                    <a16:creationId xmlns:a16="http://schemas.microsoft.com/office/drawing/2014/main" id="{3392D354-461F-B838-D4A1-EEF60DCE2FEA}"/>
                  </a:ext>
                </a:extLst>
              </p:cNvPr>
              <p:cNvSpPr txBox="1">
                <a:spLocks noRot="1" noChangeAspect="1" noMove="1" noResize="1" noEditPoints="1" noAdjustHandles="1" noChangeArrowheads="1" noChangeShapeType="1" noTextEdit="1"/>
              </p:cNvSpPr>
              <p:nvPr/>
            </p:nvSpPr>
            <p:spPr>
              <a:xfrm>
                <a:off x="5721351" y="3155739"/>
                <a:ext cx="4058630" cy="587375"/>
              </a:xfrm>
              <a:prstGeom prst="rect">
                <a:avLst/>
              </a:prstGeom>
              <a:blipFill>
                <a:blip r:embed="rId6"/>
                <a:stretch>
                  <a:fillRect/>
                </a:stretch>
              </a:blipFill>
              <a:ln w="38100">
                <a:noFill/>
                <a:miter/>
              </a:ln>
            </p:spPr>
            <p:txBody>
              <a:bodyPr/>
              <a:lstStyle/>
              <a:p>
                <a:r>
                  <a:rPr lang="zh-CN" altLang="en-US">
                    <a:noFill/>
                  </a:rPr>
                  <a:t> </a:t>
                </a:r>
              </a:p>
            </p:txBody>
          </p:sp>
        </mc:Fallback>
      </mc:AlternateContent>
      <p:grpSp>
        <p:nvGrpSpPr>
          <p:cNvPr id="8" name="Group 12">
            <a:extLst>
              <a:ext uri="{FF2B5EF4-FFF2-40B4-BE49-F238E27FC236}">
                <a16:creationId xmlns:a16="http://schemas.microsoft.com/office/drawing/2014/main" id="{4B318FBA-1B60-6DB9-F0BC-782CFE1D75F2}"/>
              </a:ext>
            </a:extLst>
          </p:cNvPr>
          <p:cNvGrpSpPr/>
          <p:nvPr/>
        </p:nvGrpSpPr>
        <p:grpSpPr>
          <a:xfrm>
            <a:off x="798513" y="4174203"/>
            <a:ext cx="5638800" cy="527050"/>
            <a:chOff x="231" y="1721"/>
            <a:chExt cx="3552" cy="332"/>
          </a:xfrm>
        </p:grpSpPr>
        <p:sp>
          <p:nvSpPr>
            <p:cNvPr id="9" name="Rectangle 4">
              <a:extLst>
                <a:ext uri="{FF2B5EF4-FFF2-40B4-BE49-F238E27FC236}">
                  <a16:creationId xmlns:a16="http://schemas.microsoft.com/office/drawing/2014/main" id="{443736DD-9FFB-4AE7-8206-E7B0862185AA}"/>
                </a:ext>
              </a:extLst>
            </p:cNvPr>
            <p:cNvSpPr/>
            <p:nvPr/>
          </p:nvSpPr>
          <p:spPr>
            <a:xfrm>
              <a:off x="231" y="1723"/>
              <a:ext cx="3552" cy="330"/>
            </a:xfrm>
            <a:prstGeom prst="rect">
              <a:avLst/>
            </a:prstGeom>
            <a:noFill/>
            <a:ln w="9525">
              <a:noFill/>
            </a:ln>
          </p:spPr>
          <p:txBody>
            <a:bodyPr>
              <a:spAutoFit/>
            </a:bodyPr>
            <a:lstStyle/>
            <a:p>
              <a:pPr eaLnBrk="1" hangingPunct="1"/>
              <a:r>
                <a:rPr lang="zh-CN" altLang="en-US" sz="2800" dirty="0">
                  <a:solidFill>
                    <a:srgbClr val="000000"/>
                  </a:solidFill>
                  <a:latin typeface="+mn-ea"/>
                </a:rPr>
                <a:t>氮气为双原子气体</a:t>
              </a:r>
              <a:r>
                <a:rPr lang="en-US" altLang="zh-CN" sz="2800" dirty="0">
                  <a:solidFill>
                    <a:srgbClr val="000000"/>
                  </a:solidFill>
                  <a:latin typeface="+mn-ea"/>
                </a:rPr>
                <a:t>, </a:t>
              </a:r>
            </a:p>
          </p:txBody>
        </p:sp>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62C274C8-DA5A-7CEA-A50E-D80F3290F03B}"/>
                    </a:ext>
                  </a:extLst>
                </p:cNvPr>
                <p:cNvSpPr txBox="1"/>
                <p:nvPr/>
              </p:nvSpPr>
              <p:spPr>
                <a:xfrm>
                  <a:off x="2220" y="1721"/>
                  <a:ext cx="906" cy="30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𝑖</m:t>
                        </m:r>
                        <m:r>
                          <a:rPr lang="en-US" sz="2800" b="0" i="1">
                            <a:solidFill>
                              <a:srgbClr val="000000"/>
                            </a:solidFill>
                            <a:latin typeface="Cambria Math" panose="02040503050406030204" pitchFamily="18" charset="0"/>
                          </a:rPr>
                          <m:t>=5</m:t>
                        </m:r>
                      </m:oMath>
                    </m:oMathPara>
                  </a14:m>
                  <a:endParaRPr lang="en-US" sz="2800" dirty="0">
                    <a:latin typeface="+mn-ea"/>
                  </a:endParaRPr>
                </a:p>
              </p:txBody>
            </p:sp>
          </mc:Choice>
          <mc:Fallback xmlns="">
            <p:sp>
              <p:nvSpPr>
                <p:cNvPr id="10" name="Object 10">
                  <a:extLst>
                    <a:ext uri="{FF2B5EF4-FFF2-40B4-BE49-F238E27FC236}">
                      <a16:creationId xmlns:a16="http://schemas.microsoft.com/office/drawing/2014/main" id="{62C274C8-DA5A-7CEA-A50E-D80F3290F03B}"/>
                    </a:ext>
                  </a:extLst>
                </p:cNvPr>
                <p:cNvSpPr txBox="1">
                  <a:spLocks noRot="1" noChangeAspect="1" noMove="1" noResize="1" noEditPoints="1" noAdjustHandles="1" noChangeArrowheads="1" noChangeShapeType="1" noTextEdit="1"/>
                </p:cNvSpPr>
                <p:nvPr/>
              </p:nvSpPr>
              <p:spPr>
                <a:xfrm>
                  <a:off x="2220" y="1721"/>
                  <a:ext cx="906" cy="308"/>
                </a:xfrm>
                <a:prstGeom prst="rect">
                  <a:avLst/>
                </a:prstGeom>
                <a:blipFill>
                  <a:blip r:embed="rId7"/>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Object 11">
                <a:extLst>
                  <a:ext uri="{FF2B5EF4-FFF2-40B4-BE49-F238E27FC236}">
                    <a16:creationId xmlns:a16="http://schemas.microsoft.com/office/drawing/2014/main" id="{5C8F3E96-87AC-8333-F01E-6ECCBEC930D3}"/>
                  </a:ext>
                </a:extLst>
              </p:cNvPr>
              <p:cNvSpPr txBox="1"/>
              <p:nvPr/>
            </p:nvSpPr>
            <p:spPr>
              <a:xfrm>
                <a:off x="5573106" y="3987394"/>
                <a:ext cx="4770437" cy="93503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𝑉</m:t>
                          </m:r>
                        </m:sub>
                      </m:sSub>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𝑖</m:t>
                          </m:r>
                        </m:num>
                        <m:den>
                          <m:r>
                            <a:rPr lang="en-US" sz="2800" b="0" i="1">
                              <a:solidFill>
                                <a:srgbClr val="000000"/>
                              </a:solidFill>
                              <a:latin typeface="Cambria Math" panose="02040503050406030204" pitchFamily="18" charset="0"/>
                            </a:rPr>
                            <m:t>2</m:t>
                          </m:r>
                        </m:den>
                      </m:f>
                      <m:r>
                        <a:rPr lang="en-US" sz="2800" b="0" i="1">
                          <a:solidFill>
                            <a:srgbClr val="000000"/>
                          </a:solidFill>
                          <a:latin typeface="Cambria Math" panose="02040503050406030204" pitchFamily="18" charset="0"/>
                        </a:rPr>
                        <m:t>𝑅</m:t>
                      </m:r>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  </m:t>
                          </m:r>
                          <m:r>
                            <a:rPr lang="en-US" sz="2800" b="0" i="1">
                              <a:solidFill>
                                <a:srgbClr val="000000"/>
                              </a:solidFill>
                              <a:latin typeface="Cambria Math" panose="02040503050406030204" pitchFamily="18" charset="0"/>
                            </a:rPr>
                            <m:t>𝐶</m:t>
                          </m:r>
                        </m:e>
                        <m:sub>
                          <m:r>
                            <a:rPr lang="en-US" sz="2800" b="0" i="1">
                              <a:solidFill>
                                <a:srgbClr val="000000"/>
                              </a:solidFill>
                              <a:latin typeface="Cambria Math" panose="02040503050406030204" pitchFamily="18" charset="0"/>
                            </a:rPr>
                            <m:t>𝑝</m:t>
                          </m:r>
                        </m:sub>
                      </m:sSub>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𝑖</m:t>
                          </m:r>
                        </m:num>
                        <m:den>
                          <m:r>
                            <a:rPr lang="en-US" sz="2800" b="0" i="1">
                              <a:solidFill>
                                <a:srgbClr val="000000"/>
                              </a:solidFill>
                              <a:latin typeface="Cambria Math" panose="02040503050406030204" pitchFamily="18" charset="0"/>
                            </a:rPr>
                            <m:t>2</m:t>
                          </m:r>
                        </m:den>
                      </m:f>
                      <m:r>
                        <a:rPr lang="en-US" sz="2800" b="0" i="1">
                          <a:solidFill>
                            <a:srgbClr val="000000"/>
                          </a:solidFill>
                          <a:latin typeface="Cambria Math" panose="02040503050406030204" pitchFamily="18" charset="0"/>
                        </a:rPr>
                        <m:t>𝑅</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𝑅</m:t>
                      </m:r>
                    </m:oMath>
                  </m:oMathPara>
                </a14:m>
                <a:endParaRPr lang="en-US" sz="2800" dirty="0">
                  <a:latin typeface="+mn-ea"/>
                </a:endParaRPr>
              </a:p>
            </p:txBody>
          </p:sp>
        </mc:Choice>
        <mc:Fallback xmlns="">
          <p:sp>
            <p:nvSpPr>
              <p:cNvPr id="11" name="Object 11">
                <a:extLst>
                  <a:ext uri="{FF2B5EF4-FFF2-40B4-BE49-F238E27FC236}">
                    <a16:creationId xmlns:a16="http://schemas.microsoft.com/office/drawing/2014/main" id="{5C8F3E96-87AC-8333-F01E-6ECCBEC930D3}"/>
                  </a:ext>
                </a:extLst>
              </p:cNvPr>
              <p:cNvSpPr txBox="1">
                <a:spLocks noRot="1" noChangeAspect="1" noMove="1" noResize="1" noEditPoints="1" noAdjustHandles="1" noChangeArrowheads="1" noChangeShapeType="1" noTextEdit="1"/>
              </p:cNvSpPr>
              <p:nvPr/>
            </p:nvSpPr>
            <p:spPr>
              <a:xfrm>
                <a:off x="5573106" y="3987394"/>
                <a:ext cx="4770437" cy="935038"/>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11">
                <a:extLst>
                  <a:ext uri="{FF2B5EF4-FFF2-40B4-BE49-F238E27FC236}">
                    <a16:creationId xmlns:a16="http://schemas.microsoft.com/office/drawing/2014/main" id="{377FEA98-63E1-70B1-47CE-1CD3272F267C}"/>
                  </a:ext>
                </a:extLst>
              </p:cNvPr>
              <p:cNvSpPr txBox="1"/>
              <p:nvPr/>
            </p:nvSpPr>
            <p:spPr>
              <a:xfrm>
                <a:off x="7883805" y="2321975"/>
                <a:ext cx="2584627" cy="58948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𝑝</m:t>
                          </m:r>
                        </m:e>
                        <m:sup>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sup>
                      </m:sSup>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𝑇</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14" name="Object 11">
                <a:extLst>
                  <a:ext uri="{FF2B5EF4-FFF2-40B4-BE49-F238E27FC236}">
                    <a16:creationId xmlns:a16="http://schemas.microsoft.com/office/drawing/2014/main" id="{377FEA98-63E1-70B1-47CE-1CD3272F267C}"/>
                  </a:ext>
                </a:extLst>
              </p:cNvPr>
              <p:cNvSpPr txBox="1">
                <a:spLocks noRot="1" noChangeAspect="1" noMove="1" noResize="1" noEditPoints="1" noAdjustHandles="1" noChangeArrowheads="1" noChangeShapeType="1" noTextEdit="1"/>
              </p:cNvSpPr>
              <p:nvPr/>
            </p:nvSpPr>
            <p:spPr>
              <a:xfrm>
                <a:off x="7883805" y="2321975"/>
                <a:ext cx="2584627" cy="589484"/>
              </a:xfrm>
              <a:prstGeom prst="rect">
                <a:avLst/>
              </a:prstGeom>
              <a:blipFill>
                <a:blip r:embed="rId9"/>
                <a:stretch>
                  <a:fillRect/>
                </a:stretch>
              </a:blipFill>
              <a:ln w="38100">
                <a:noFill/>
                <a:miter/>
              </a:ln>
            </p:spPr>
            <p:txBody>
              <a:bodyPr/>
              <a:lstStyle/>
              <a:p>
                <a:r>
                  <a:rPr lang="zh-CN" altLang="en-US">
                    <a:noFill/>
                  </a:rPr>
                  <a:t> </a:t>
                </a:r>
              </a:p>
            </p:txBody>
          </p:sp>
        </mc:Fallback>
      </mc:AlternateContent>
      <p:sp>
        <p:nvSpPr>
          <p:cNvPr id="15" name="Rectangle 14">
            <a:extLst>
              <a:ext uri="{FF2B5EF4-FFF2-40B4-BE49-F238E27FC236}">
                <a16:creationId xmlns:a16="http://schemas.microsoft.com/office/drawing/2014/main" id="{A8E67028-58AE-43E4-7FE3-CB65660530E2}"/>
              </a:ext>
            </a:extLst>
          </p:cNvPr>
          <p:cNvSpPr/>
          <p:nvPr/>
        </p:nvSpPr>
        <p:spPr>
          <a:xfrm>
            <a:off x="10014249" y="2355287"/>
            <a:ext cx="1685626" cy="522860"/>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11" grpId="0"/>
      <p:bldP spid="14"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002" name="Group 2"/>
          <p:cNvGrpSpPr/>
          <p:nvPr/>
        </p:nvGrpSpPr>
        <p:grpSpPr>
          <a:xfrm>
            <a:off x="919957" y="300040"/>
            <a:ext cx="11157743" cy="1501775"/>
            <a:chOff x="249" y="482"/>
            <a:chExt cx="5262" cy="946"/>
          </a:xfrm>
        </p:grpSpPr>
        <p:sp>
          <p:nvSpPr>
            <p:cNvPr id="42022" name="Text Box 3"/>
            <p:cNvSpPr txBox="1"/>
            <p:nvPr/>
          </p:nvSpPr>
          <p:spPr>
            <a:xfrm>
              <a:off x="249" y="482"/>
              <a:ext cx="5262" cy="946"/>
            </a:xfrm>
            <a:prstGeom prst="rect">
              <a:avLst/>
            </a:prstGeom>
            <a:noFill/>
            <a:ln w="9525">
              <a:noFill/>
            </a:ln>
          </p:spPr>
          <p:txBody>
            <a:bodyPr>
              <a:spAutoFit/>
            </a:bodyPr>
            <a:lstStyle/>
            <a:p>
              <a:pPr eaLnBrk="1" hangingPunct="1">
                <a:lnSpc>
                  <a:spcPct val="120000"/>
                </a:lnSpc>
                <a:spcBef>
                  <a:spcPct val="50000"/>
                </a:spcBef>
              </a:pPr>
              <a:r>
                <a:rPr lang="en-US" altLang="zh-CN" sz="2600" dirty="0">
                  <a:solidFill>
                    <a:srgbClr val="CC0000"/>
                  </a:solidFill>
                </a:rPr>
                <a:t>         </a:t>
              </a:r>
              <a:r>
                <a:rPr lang="zh-CN" altLang="en-US" sz="2600" dirty="0">
                  <a:solidFill>
                    <a:srgbClr val="CC0000"/>
                  </a:solidFill>
                </a:rPr>
                <a:t>例</a:t>
              </a:r>
              <a:r>
                <a:rPr lang="en-US" altLang="zh-CN" sz="2600" dirty="0">
                  <a:solidFill>
                    <a:srgbClr val="CC0000"/>
                  </a:solidFill>
                </a:rPr>
                <a:t>2</a:t>
              </a:r>
              <a:r>
                <a:rPr lang="en-US" altLang="zh-CN" sz="2600" dirty="0">
                  <a:solidFill>
                    <a:srgbClr val="000000"/>
                  </a:solidFill>
                </a:rPr>
                <a:t>  </a:t>
              </a:r>
              <a:r>
                <a:rPr lang="zh-CN" altLang="en-US" sz="2600" dirty="0">
                  <a:solidFill>
                    <a:srgbClr val="000000"/>
                  </a:solidFill>
                </a:rPr>
                <a:t>设有 </a:t>
              </a:r>
              <a:r>
                <a:rPr lang="en-US" altLang="zh-CN" sz="2600" dirty="0">
                  <a:solidFill>
                    <a:srgbClr val="000000"/>
                  </a:solidFill>
                </a:rPr>
                <a:t>5 mol </a:t>
              </a:r>
              <a:r>
                <a:rPr lang="zh-CN" altLang="en-US" sz="2600" dirty="0">
                  <a:solidFill>
                    <a:srgbClr val="000000"/>
                  </a:solidFill>
                </a:rPr>
                <a:t>的氢气，最初温度        ，压强                         ，求下列过程中把氢气压缩为原体积的 </a:t>
              </a:r>
              <a:r>
                <a:rPr lang="en-US" altLang="zh-CN" sz="2600" dirty="0">
                  <a:solidFill>
                    <a:srgbClr val="000000"/>
                  </a:solidFill>
                </a:rPr>
                <a:t>1/10 </a:t>
              </a:r>
              <a:r>
                <a:rPr lang="zh-CN" altLang="en-US" sz="2600" dirty="0">
                  <a:solidFill>
                    <a:srgbClr val="000000"/>
                  </a:solidFill>
                </a:rPr>
                <a:t>需作的功</a:t>
              </a:r>
              <a:r>
                <a:rPr lang="en-US" altLang="zh-CN" sz="2600" dirty="0">
                  <a:solidFill>
                    <a:srgbClr val="000000"/>
                  </a:solidFill>
                </a:rPr>
                <a:t>:  </a:t>
              </a:r>
              <a:r>
                <a:rPr lang="zh-CN" altLang="en-US" sz="2600" dirty="0">
                  <a:solidFill>
                    <a:srgbClr val="CC0000"/>
                  </a:solidFill>
                </a:rPr>
                <a:t>（</a:t>
              </a:r>
              <a:r>
                <a:rPr lang="en-US" altLang="zh-CN" sz="2600" dirty="0">
                  <a:solidFill>
                    <a:srgbClr val="CC0000"/>
                  </a:solidFill>
                </a:rPr>
                <a:t>1</a:t>
              </a:r>
              <a:r>
                <a:rPr lang="zh-CN" altLang="en-US" sz="2600" dirty="0">
                  <a:solidFill>
                    <a:srgbClr val="CC0000"/>
                  </a:solidFill>
                </a:rPr>
                <a:t>）</a:t>
              </a:r>
              <a:r>
                <a:rPr lang="zh-CN" altLang="en-US" sz="2600" dirty="0">
                  <a:solidFill>
                    <a:srgbClr val="000000"/>
                  </a:solidFill>
                </a:rPr>
                <a:t>等温过程</a:t>
              </a:r>
              <a:r>
                <a:rPr lang="zh-CN" altLang="en-US" sz="2600" dirty="0">
                  <a:solidFill>
                    <a:srgbClr val="CC0000"/>
                  </a:solidFill>
                </a:rPr>
                <a:t>（</a:t>
              </a:r>
              <a:r>
                <a:rPr lang="en-US" altLang="zh-CN" sz="2600" dirty="0">
                  <a:solidFill>
                    <a:srgbClr val="CC0000"/>
                  </a:solidFill>
                </a:rPr>
                <a:t>2</a:t>
              </a:r>
              <a:r>
                <a:rPr lang="zh-CN" altLang="en-US" sz="2600" dirty="0">
                  <a:solidFill>
                    <a:srgbClr val="CC0000"/>
                  </a:solidFill>
                </a:rPr>
                <a:t>）</a:t>
              </a:r>
              <a:r>
                <a:rPr lang="zh-CN" altLang="en-US" sz="2600" dirty="0">
                  <a:solidFill>
                    <a:srgbClr val="000000"/>
                  </a:solidFill>
                </a:rPr>
                <a:t>绝热过程 </a:t>
              </a:r>
              <a:r>
                <a:rPr lang="zh-CN" altLang="en-US" sz="2600" dirty="0">
                  <a:solidFill>
                    <a:srgbClr val="CC0000"/>
                  </a:solidFill>
                </a:rPr>
                <a:t>（</a:t>
              </a:r>
              <a:r>
                <a:rPr lang="en-US" altLang="zh-CN" sz="2600" dirty="0">
                  <a:solidFill>
                    <a:srgbClr val="CC0000"/>
                  </a:solidFill>
                </a:rPr>
                <a:t>3</a:t>
              </a:r>
              <a:r>
                <a:rPr lang="zh-CN" altLang="en-US" sz="2600" dirty="0">
                  <a:solidFill>
                    <a:srgbClr val="CC0000"/>
                  </a:solidFill>
                </a:rPr>
                <a:t>）</a:t>
              </a:r>
              <a:r>
                <a:rPr lang="zh-CN" altLang="en-US" sz="2600" dirty="0">
                  <a:solidFill>
                    <a:srgbClr val="000000"/>
                  </a:solidFill>
                </a:rPr>
                <a:t>经这两过程后，气体的压强各为多少？</a:t>
              </a:r>
            </a:p>
          </p:txBody>
        </p:sp>
        <mc:AlternateContent xmlns:mc="http://schemas.openxmlformats.org/markup-compatibility/2006" xmlns:a14="http://schemas.microsoft.com/office/drawing/2010/main">
          <mc:Choice Requires="a14">
            <p:sp>
              <p:nvSpPr>
                <p:cNvPr id="42000" name="Object 4"/>
                <p:cNvSpPr txBox="1"/>
                <p:nvPr/>
              </p:nvSpPr>
              <p:spPr>
                <a:xfrm>
                  <a:off x="3630" y="501"/>
                  <a:ext cx="1179" cy="2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1.013×1</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5</m:t>
                            </m:r>
                          </m:sup>
                        </m:sSup>
                        <m:r>
                          <m:rPr>
                            <m:nor/>
                          </m:rPr>
                          <a:rPr lang="en-US" sz="2600" i="0">
                            <a:solidFill>
                              <a:srgbClr val="000000"/>
                            </a:solidFill>
                          </a:rPr>
                          <m:t>Pa</m:t>
                        </m:r>
                      </m:oMath>
                    </m:oMathPara>
                  </a14:m>
                  <a:endParaRPr lang="en-US" sz="2600" dirty="0"/>
                </a:p>
              </p:txBody>
            </p:sp>
          </mc:Choice>
          <mc:Fallback xmlns="">
            <p:sp>
              <p:nvSpPr>
                <p:cNvPr id="42000" name="Object 4"/>
                <p:cNvSpPr txBox="1">
                  <a:spLocks noRot="1" noChangeAspect="1" noMove="1" noResize="1" noEditPoints="1" noAdjustHandles="1" noChangeArrowheads="1" noChangeShapeType="1" noTextEdit="1"/>
                </p:cNvSpPr>
                <p:nvPr/>
              </p:nvSpPr>
              <p:spPr>
                <a:xfrm>
                  <a:off x="3630" y="501"/>
                  <a:ext cx="1179" cy="296"/>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001" name="Object 5"/>
                <p:cNvSpPr txBox="1"/>
                <p:nvPr/>
              </p:nvSpPr>
              <p:spPr>
                <a:xfrm>
                  <a:off x="2825" y="501"/>
                  <a:ext cx="562" cy="329"/>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2</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m:t>
                            </m:r>
                          </m:sup>
                        </m:sSup>
                        <m:r>
                          <m:rPr>
                            <m:sty m:val="p"/>
                          </m:rPr>
                          <a:rPr lang="en-US" sz="2600" b="0" i="0">
                            <a:solidFill>
                              <a:srgbClr val="000000"/>
                            </a:solidFill>
                            <a:latin typeface="Cambria Math" panose="02040503050406030204" pitchFamily="18" charset="0"/>
                          </a:rPr>
                          <m:t>C</m:t>
                        </m:r>
                      </m:oMath>
                    </m:oMathPara>
                  </a14:m>
                  <a:endParaRPr lang="en-US" sz="2600" dirty="0"/>
                </a:p>
              </p:txBody>
            </p:sp>
          </mc:Choice>
          <mc:Fallback xmlns="">
            <p:sp>
              <p:nvSpPr>
                <p:cNvPr id="42001" name="Object 5"/>
                <p:cNvSpPr txBox="1">
                  <a:spLocks noRot="1" noChangeAspect="1" noMove="1" noResize="1" noEditPoints="1" noAdjustHandles="1" noChangeArrowheads="1" noChangeShapeType="1" noTextEdit="1"/>
                </p:cNvSpPr>
                <p:nvPr/>
              </p:nvSpPr>
              <p:spPr>
                <a:xfrm>
                  <a:off x="2825" y="501"/>
                  <a:ext cx="562" cy="329"/>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42003" name="Group 6"/>
          <p:cNvGrpSpPr/>
          <p:nvPr/>
        </p:nvGrpSpPr>
        <p:grpSpPr>
          <a:xfrm>
            <a:off x="8323263" y="1516064"/>
            <a:ext cx="3505200" cy="3124200"/>
            <a:chOff x="3120" y="1968"/>
            <a:chExt cx="2208" cy="1968"/>
          </a:xfrm>
        </p:grpSpPr>
        <p:sp>
          <p:nvSpPr>
            <p:cNvPr id="42004" name="Rectangle 7"/>
            <p:cNvSpPr/>
            <p:nvPr/>
          </p:nvSpPr>
          <p:spPr>
            <a:xfrm>
              <a:off x="3120" y="1968"/>
              <a:ext cx="2208" cy="1968"/>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p:sp>
          <p:nvSpPr>
            <p:cNvPr id="42005" name="Rectangle 8"/>
            <p:cNvSpPr/>
            <p:nvPr/>
          </p:nvSpPr>
          <p:spPr>
            <a:xfrm>
              <a:off x="3984" y="3312"/>
              <a:ext cx="816" cy="240"/>
            </a:xfrm>
            <a:prstGeom prst="rect">
              <a:avLst/>
            </a:prstGeom>
            <a:noFill/>
            <a:ln w="9525" cap="flat" cmpd="sng">
              <a:solidFill>
                <a:srgbClr val="0000FF"/>
              </a:solid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41986" name="Object 9"/>
                <p:cNvSpPr txBox="1"/>
                <p:nvPr/>
              </p:nvSpPr>
              <p:spPr>
                <a:xfrm>
                  <a:off x="4800" y="2976"/>
                  <a:ext cx="189" cy="26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86" name="Object 9"/>
                <p:cNvSpPr txBox="1">
                  <a:spLocks noRot="1" noChangeAspect="1" noMove="1" noResize="1" noEditPoints="1" noAdjustHandles="1" noChangeArrowheads="1" noChangeShapeType="1" noTextEdit="1"/>
                </p:cNvSpPr>
                <p:nvPr/>
              </p:nvSpPr>
              <p:spPr>
                <a:xfrm>
                  <a:off x="4800" y="2976"/>
                  <a:ext cx="189" cy="264"/>
                </a:xfrm>
                <a:prstGeom prst="rect">
                  <a:avLst/>
                </a:prstGeom>
                <a:blipFill>
                  <a:blip r:embed="rId4"/>
                  <a:stretch>
                    <a:fillRect r="-2653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87" name="Object 10"/>
                <p:cNvSpPr txBox="1"/>
                <p:nvPr/>
              </p:nvSpPr>
              <p:spPr>
                <a:xfrm>
                  <a:off x="3888" y="2160"/>
                  <a:ext cx="240" cy="25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41987" name="Object 10"/>
                <p:cNvSpPr txBox="1">
                  <a:spLocks noRot="1" noChangeAspect="1" noMove="1" noResize="1" noEditPoints="1" noAdjustHandles="1" noChangeArrowheads="1" noChangeShapeType="1" noTextEdit="1"/>
                </p:cNvSpPr>
                <p:nvPr/>
              </p:nvSpPr>
              <p:spPr>
                <a:xfrm>
                  <a:off x="3888" y="2160"/>
                  <a:ext cx="240" cy="252"/>
                </a:xfrm>
                <a:prstGeom prst="rect">
                  <a:avLst/>
                </a:prstGeom>
                <a:blipFill>
                  <a:blip r:embed="rId5"/>
                  <a:stretch>
                    <a:fillRect r="-1587" b="-3077"/>
                  </a:stretch>
                </a:blipFill>
                <a:ln w="38100">
                  <a:noFill/>
                  <a:miter/>
                </a:ln>
              </p:spPr>
              <p:txBody>
                <a:bodyPr/>
                <a:lstStyle/>
                <a:p>
                  <a:r>
                    <a:rPr lang="zh-CN" altLang="en-US">
                      <a:noFill/>
                    </a:rPr>
                    <a:t> </a:t>
                  </a:r>
                </a:p>
              </p:txBody>
            </p:sp>
          </mc:Fallback>
        </mc:AlternateContent>
        <p:sp>
          <p:nvSpPr>
            <p:cNvPr id="42006" name="Line 11"/>
            <p:cNvSpPr/>
            <p:nvPr/>
          </p:nvSpPr>
          <p:spPr>
            <a:xfrm flipV="1">
              <a:off x="3456" y="3600"/>
              <a:ext cx="1728" cy="8"/>
            </a:xfrm>
            <a:prstGeom prst="line">
              <a:avLst/>
            </a:prstGeom>
            <a:ln w="19050" cap="flat" cmpd="sng">
              <a:solidFill>
                <a:schemeClr val="tx1"/>
              </a:solidFill>
              <a:prstDash val="solid"/>
              <a:headEnd type="none" w="med" len="med"/>
              <a:tailEnd type="triangle" w="sm" len="lg"/>
            </a:ln>
          </p:spPr>
        </p:sp>
        <p:sp>
          <p:nvSpPr>
            <p:cNvPr id="42007" name="Line 12"/>
            <p:cNvSpPr/>
            <p:nvPr/>
          </p:nvSpPr>
          <p:spPr>
            <a:xfrm flipH="1">
              <a:off x="3779" y="2353"/>
              <a:ext cx="14" cy="1249"/>
            </a:xfrm>
            <a:prstGeom prst="line">
              <a:avLst/>
            </a:prstGeom>
            <a:ln w="12700" cap="flat" cmpd="sng">
              <a:solidFill>
                <a:schemeClr val="tx1"/>
              </a:solidFill>
              <a:prstDash val="dash"/>
              <a:headEnd type="none" w="med" len="med"/>
              <a:tailEnd type="none" w="med" len="med"/>
            </a:ln>
          </p:spPr>
        </p:sp>
        <p:sp>
          <p:nvSpPr>
            <p:cNvPr id="42008" name="Line 13"/>
            <p:cNvSpPr/>
            <p:nvPr/>
          </p:nvSpPr>
          <p:spPr>
            <a:xfrm>
              <a:off x="4848" y="3260"/>
              <a:ext cx="0" cy="342"/>
            </a:xfrm>
            <a:prstGeom prst="line">
              <a:avLst/>
            </a:prstGeom>
            <a:ln w="12700" cap="flat" cmpd="sng">
              <a:solidFill>
                <a:schemeClr val="tx1"/>
              </a:solidFill>
              <a:prstDash val="dash"/>
              <a:headEnd type="none" w="med" len="med"/>
              <a:tailEnd type="none" w="med" len="med"/>
            </a:ln>
          </p:spPr>
        </p:sp>
        <p:sp>
          <p:nvSpPr>
            <p:cNvPr id="42009" name="Line 14"/>
            <p:cNvSpPr/>
            <p:nvPr/>
          </p:nvSpPr>
          <p:spPr>
            <a:xfrm flipH="1">
              <a:off x="3449" y="2310"/>
              <a:ext cx="330" cy="0"/>
            </a:xfrm>
            <a:prstGeom prst="line">
              <a:avLst/>
            </a:prstGeom>
            <a:ln w="12700" cap="flat" cmpd="sng">
              <a:solidFill>
                <a:schemeClr val="tx1"/>
              </a:solidFill>
              <a:prstDash val="dash"/>
              <a:headEnd type="none" w="med" len="med"/>
              <a:tailEnd type="none" w="med" len="med"/>
            </a:ln>
          </p:spPr>
        </p:sp>
        <p:sp>
          <p:nvSpPr>
            <p:cNvPr id="42010" name="Text Box 15"/>
            <p:cNvSpPr txBox="1"/>
            <p:nvPr/>
          </p:nvSpPr>
          <p:spPr>
            <a:xfrm>
              <a:off x="4848" y="3168"/>
              <a:ext cx="289" cy="252"/>
            </a:xfrm>
            <a:prstGeom prst="rect">
              <a:avLst/>
            </a:prstGeom>
            <a:noFill/>
            <a:ln w="9525">
              <a:noFill/>
            </a:ln>
          </p:spPr>
          <p:txBody>
            <a:bodyPr>
              <a:spAutoFit/>
            </a:bodyPr>
            <a:lstStyle/>
            <a:p>
              <a:pPr>
                <a:spcBef>
                  <a:spcPct val="50000"/>
                </a:spcBef>
              </a:pPr>
              <a:r>
                <a:rPr lang="en-US" altLang="zh-CN" sz="2000" b="1" dirty="0">
                  <a:solidFill>
                    <a:srgbClr val="A50021"/>
                  </a:solidFill>
                  <a:latin typeface="Times New Roman" panose="02020603050405020304" pitchFamily="18" charset="0"/>
                </a:rPr>
                <a:t>1</a:t>
              </a:r>
            </a:p>
          </p:txBody>
        </p:sp>
        <p:sp>
          <p:nvSpPr>
            <p:cNvPr id="42011" name="Text Box 16"/>
            <p:cNvSpPr txBox="1"/>
            <p:nvPr/>
          </p:nvSpPr>
          <p:spPr>
            <a:xfrm>
              <a:off x="3648" y="2016"/>
              <a:ext cx="288" cy="252"/>
            </a:xfrm>
            <a:prstGeom prst="rect">
              <a:avLst/>
            </a:prstGeom>
            <a:noFill/>
            <a:ln w="9525">
              <a:noFill/>
            </a:ln>
          </p:spPr>
          <p:txBody>
            <a:bodyPr>
              <a:spAutoFit/>
            </a:bodyPr>
            <a:lstStyle/>
            <a:p>
              <a:pPr>
                <a:spcBef>
                  <a:spcPct val="50000"/>
                </a:spcBef>
              </a:pPr>
              <a:r>
                <a:rPr lang="en-US" altLang="zh-CN" sz="2000" dirty="0">
                  <a:solidFill>
                    <a:srgbClr val="A50021"/>
                  </a:solidFill>
                  <a:latin typeface="Times New Roman" panose="02020603050405020304" pitchFamily="18" charset="0"/>
                </a:rPr>
                <a:t>2</a:t>
              </a:r>
              <a:endParaRPr lang="en-US" altLang="zh-CN" sz="20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1988" name="Object 17"/>
                <p:cNvSpPr txBox="1"/>
                <p:nvPr/>
              </p:nvSpPr>
              <p:spPr>
                <a:xfrm>
                  <a:off x="3168" y="3120"/>
                  <a:ext cx="264" cy="2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88" name="Object 17"/>
                <p:cNvSpPr txBox="1">
                  <a:spLocks noRot="1" noChangeAspect="1" noMove="1" noResize="1" noEditPoints="1" noAdjustHandles="1" noChangeArrowheads="1" noChangeShapeType="1" noTextEdit="1"/>
                </p:cNvSpPr>
                <p:nvPr/>
              </p:nvSpPr>
              <p:spPr>
                <a:xfrm>
                  <a:off x="3168" y="3120"/>
                  <a:ext cx="264" cy="256"/>
                </a:xfrm>
                <a:prstGeom prst="rect">
                  <a:avLst/>
                </a:prstGeom>
                <a:blipFill>
                  <a:blip r:embed="rId6"/>
                  <a:stretch>
                    <a:fillRect b="-757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89" name="Object 18"/>
                <p:cNvSpPr txBox="1"/>
                <p:nvPr/>
              </p:nvSpPr>
              <p:spPr>
                <a:xfrm>
                  <a:off x="3168" y="2208"/>
                  <a:ext cx="253" cy="24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41989" name="Object 18"/>
                <p:cNvSpPr txBox="1">
                  <a:spLocks noRot="1" noChangeAspect="1" noMove="1" noResize="1" noEditPoints="1" noAdjustHandles="1" noChangeArrowheads="1" noChangeShapeType="1" noTextEdit="1"/>
                </p:cNvSpPr>
                <p:nvPr/>
              </p:nvSpPr>
              <p:spPr>
                <a:xfrm>
                  <a:off x="3168" y="2208"/>
                  <a:ext cx="253" cy="246"/>
                </a:xfrm>
                <a:prstGeom prst="rect">
                  <a:avLst/>
                </a:prstGeom>
                <a:blipFill>
                  <a:blip r:embed="rId7"/>
                  <a:stretch>
                    <a:fillRect b="-125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0" name="Object 19"/>
                <p:cNvSpPr txBox="1"/>
                <p:nvPr/>
              </p:nvSpPr>
              <p:spPr>
                <a:xfrm>
                  <a:off x="4752" y="3594"/>
                  <a:ext cx="255" cy="34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90" name="Object 19"/>
                <p:cNvSpPr txBox="1">
                  <a:spLocks noRot="1" noChangeAspect="1" noMove="1" noResize="1" noEditPoints="1" noAdjustHandles="1" noChangeArrowheads="1" noChangeShapeType="1" noTextEdit="1"/>
                </p:cNvSpPr>
                <p:nvPr/>
              </p:nvSpPr>
              <p:spPr>
                <a:xfrm>
                  <a:off x="4752" y="3594"/>
                  <a:ext cx="255" cy="342"/>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1" name="Object 20"/>
                <p:cNvSpPr txBox="1"/>
                <p:nvPr/>
              </p:nvSpPr>
              <p:spPr>
                <a:xfrm>
                  <a:off x="3260" y="3616"/>
                  <a:ext cx="1687" cy="30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f>
                          <m:fPr>
                            <m:type m:val="lin"/>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10</m:t>
                            </m:r>
                          </m:den>
                        </m:f>
                      </m:oMath>
                    </m:oMathPara>
                  </a14:m>
                  <a:endParaRPr lang="en-US" sz="2000" dirty="0"/>
                </a:p>
              </p:txBody>
            </p:sp>
          </mc:Choice>
          <mc:Fallback xmlns="">
            <p:sp>
              <p:nvSpPr>
                <p:cNvPr id="41991" name="Object 20"/>
                <p:cNvSpPr txBox="1">
                  <a:spLocks noRot="1" noChangeAspect="1" noMove="1" noResize="1" noEditPoints="1" noAdjustHandles="1" noChangeArrowheads="1" noChangeShapeType="1" noTextEdit="1"/>
                </p:cNvSpPr>
                <p:nvPr/>
              </p:nvSpPr>
              <p:spPr>
                <a:xfrm>
                  <a:off x="3260" y="3616"/>
                  <a:ext cx="1687" cy="302"/>
                </a:xfrm>
                <a:prstGeom prst="rect">
                  <a:avLst/>
                </a:prstGeom>
                <a:blipFill>
                  <a:blip r:embed="rId9"/>
                  <a:stretch>
                    <a:fillRect t="-96203" r="-3189" b="-13291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2" name="Object 21"/>
                <p:cNvSpPr txBox="1"/>
                <p:nvPr/>
              </p:nvSpPr>
              <p:spPr>
                <a:xfrm>
                  <a:off x="3210" y="2054"/>
                  <a:ext cx="183" cy="22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𝑝</m:t>
                        </m:r>
                      </m:oMath>
                    </m:oMathPara>
                  </a14:m>
                  <a:endParaRPr lang="en-US" sz="2000"/>
                </a:p>
              </p:txBody>
            </p:sp>
          </mc:Choice>
          <mc:Fallback xmlns="">
            <p:sp>
              <p:nvSpPr>
                <p:cNvPr id="41992" name="Object 21"/>
                <p:cNvSpPr txBox="1">
                  <a:spLocks noRot="1" noChangeAspect="1" noMove="1" noResize="1" noEditPoints="1" noAdjustHandles="1" noChangeArrowheads="1" noChangeShapeType="1" noTextEdit="1"/>
                </p:cNvSpPr>
                <p:nvPr/>
              </p:nvSpPr>
              <p:spPr>
                <a:xfrm>
                  <a:off x="3210" y="2054"/>
                  <a:ext cx="183" cy="224"/>
                </a:xfrm>
                <a:prstGeom prst="rect">
                  <a:avLst/>
                </a:prstGeom>
                <a:blipFill>
                  <a:blip r:embed="rId10"/>
                  <a:stretch>
                    <a:fillRect r="-12766" b="-2413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3" name="Object 22"/>
                <p:cNvSpPr txBox="1"/>
                <p:nvPr/>
              </p:nvSpPr>
              <p:spPr>
                <a:xfrm>
                  <a:off x="4992" y="3648"/>
                  <a:ext cx="168" cy="1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𝑉</m:t>
                        </m:r>
                      </m:oMath>
                    </m:oMathPara>
                  </a14:m>
                  <a:endParaRPr lang="en-US" sz="2000"/>
                </a:p>
              </p:txBody>
            </p:sp>
          </mc:Choice>
          <mc:Fallback xmlns="">
            <p:sp>
              <p:nvSpPr>
                <p:cNvPr id="41993" name="Object 22"/>
                <p:cNvSpPr txBox="1">
                  <a:spLocks noRot="1" noChangeAspect="1" noMove="1" noResize="1" noEditPoints="1" noAdjustHandles="1" noChangeArrowheads="1" noChangeShapeType="1" noTextEdit="1"/>
                </p:cNvSpPr>
                <p:nvPr/>
              </p:nvSpPr>
              <p:spPr>
                <a:xfrm>
                  <a:off x="4992" y="3648"/>
                  <a:ext cx="168" cy="196"/>
                </a:xfrm>
                <a:prstGeom prst="rect">
                  <a:avLst/>
                </a:prstGeom>
                <a:blipFill>
                  <a:blip r:embed="rId11"/>
                  <a:stretch>
                    <a:fillRect r="-25000" b="-215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4" name="Object 23"/>
                <p:cNvSpPr txBox="1"/>
                <p:nvPr/>
              </p:nvSpPr>
              <p:spPr>
                <a:xfrm>
                  <a:off x="3207" y="3552"/>
                  <a:ext cx="160" cy="1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𝑜</m:t>
                        </m:r>
                      </m:oMath>
                    </m:oMathPara>
                  </a14:m>
                  <a:endParaRPr lang="en-US" sz="2000"/>
                </a:p>
              </p:txBody>
            </p:sp>
          </mc:Choice>
          <mc:Fallback xmlns="">
            <p:sp>
              <p:nvSpPr>
                <p:cNvPr id="41994" name="Object 23"/>
                <p:cNvSpPr txBox="1">
                  <a:spLocks noRot="1" noChangeAspect="1" noMove="1" noResize="1" noEditPoints="1" noAdjustHandles="1" noChangeArrowheads="1" noChangeShapeType="1" noTextEdit="1"/>
                </p:cNvSpPr>
                <p:nvPr/>
              </p:nvSpPr>
              <p:spPr>
                <a:xfrm>
                  <a:off x="3207" y="3552"/>
                  <a:ext cx="160" cy="192"/>
                </a:xfrm>
                <a:prstGeom prst="rect">
                  <a:avLst/>
                </a:prstGeom>
                <a:blipFill>
                  <a:blip r:embed="rId12"/>
                  <a:stretch>
                    <a:fillRect r="-14286" b="-16000"/>
                  </a:stretch>
                </a:blipFill>
                <a:ln w="38100">
                  <a:noFill/>
                  <a:miter/>
                </a:ln>
              </p:spPr>
              <p:txBody>
                <a:bodyPr/>
                <a:lstStyle/>
                <a:p>
                  <a:r>
                    <a:rPr lang="zh-CN" altLang="en-US">
                      <a:noFill/>
                    </a:rPr>
                    <a:t> </a:t>
                  </a:r>
                </a:p>
              </p:txBody>
            </p:sp>
          </mc:Fallback>
        </mc:AlternateContent>
        <p:sp>
          <p:nvSpPr>
            <p:cNvPr id="42012" name="Line 24"/>
            <p:cNvSpPr/>
            <p:nvPr/>
          </p:nvSpPr>
          <p:spPr>
            <a:xfrm flipV="1">
              <a:off x="3434" y="2096"/>
              <a:ext cx="0" cy="1498"/>
            </a:xfrm>
            <a:prstGeom prst="line">
              <a:avLst/>
            </a:prstGeom>
            <a:ln w="12700" cap="flat" cmpd="sng">
              <a:solidFill>
                <a:schemeClr val="tx1"/>
              </a:solidFill>
              <a:prstDash val="solid"/>
              <a:headEnd type="none" w="med" len="med"/>
              <a:tailEnd type="triangle" w="sm" len="lg"/>
            </a:ln>
          </p:spPr>
        </p:sp>
        <p:sp>
          <p:nvSpPr>
            <p:cNvPr id="42013" name="Line 25"/>
            <p:cNvSpPr/>
            <p:nvPr/>
          </p:nvSpPr>
          <p:spPr>
            <a:xfrm flipH="1" flipV="1">
              <a:off x="3449" y="3260"/>
              <a:ext cx="1399" cy="4"/>
            </a:xfrm>
            <a:prstGeom prst="line">
              <a:avLst/>
            </a:prstGeom>
            <a:ln w="12700" cap="flat" cmpd="sng">
              <a:solidFill>
                <a:schemeClr val="tx1"/>
              </a:solidFill>
              <a:prstDash val="dash"/>
              <a:headEnd type="none" w="med" len="med"/>
              <a:tailEnd type="none" w="med" len="med"/>
            </a:ln>
          </p:spPr>
        </p:sp>
        <p:sp>
          <p:nvSpPr>
            <p:cNvPr id="42014" name="Freeform 26"/>
            <p:cNvSpPr/>
            <p:nvPr/>
          </p:nvSpPr>
          <p:spPr>
            <a:xfrm>
              <a:off x="4032" y="2736"/>
              <a:ext cx="96" cy="144"/>
            </a:xfrm>
            <a:custGeom>
              <a:avLst/>
              <a:gdLst>
                <a:gd name="txL" fmla="*/ 0 w 103"/>
                <a:gd name="txT" fmla="*/ 0 h 137"/>
                <a:gd name="txR" fmla="*/ 103 w 103"/>
                <a:gd name="txB" fmla="*/ 137 h 137"/>
              </a:gdLst>
              <a:ahLst/>
              <a:cxnLst>
                <a:cxn ang="0">
                  <a:pos x="0" y="0"/>
                </a:cxn>
                <a:cxn ang="0">
                  <a:pos x="96" y="144"/>
                </a:cxn>
              </a:cxnLst>
              <a:rect l="txL" t="txT" r="txR" b="txB"/>
              <a:pathLst>
                <a:path w="103" h="137">
                  <a:moveTo>
                    <a:pt x="0" y="0"/>
                  </a:moveTo>
                  <a:lnTo>
                    <a:pt x="103" y="137"/>
                  </a:lnTo>
                </a:path>
              </a:pathLst>
            </a:custGeom>
            <a:noFill/>
            <a:ln w="38100" cap="flat" cmpd="sng">
              <a:solidFill>
                <a:srgbClr val="CC0099">
                  <a:alpha val="100000"/>
                </a:srgbClr>
              </a:solidFill>
              <a:prstDash val="solid"/>
              <a:round/>
              <a:headEnd type="triangle" w="sm" len="lg"/>
              <a:tailEnd type="none" w="med" len="lg"/>
            </a:ln>
          </p:spPr>
          <p:txBody>
            <a:bodyPr/>
            <a:lstStyle/>
            <a:p>
              <a:endParaRPr lang="zh-CN" altLang="en-US" sz="2000"/>
            </a:p>
          </p:txBody>
        </p:sp>
        <p:sp>
          <p:nvSpPr>
            <p:cNvPr id="42015" name="Freeform 27"/>
            <p:cNvSpPr/>
            <p:nvPr/>
          </p:nvSpPr>
          <p:spPr>
            <a:xfrm>
              <a:off x="3778" y="2901"/>
              <a:ext cx="1070" cy="370"/>
            </a:xfrm>
            <a:custGeom>
              <a:avLst/>
              <a:gdLst>
                <a:gd name="txL" fmla="*/ 0 w 1070"/>
                <a:gd name="txT" fmla="*/ 0 h 370"/>
                <a:gd name="txR" fmla="*/ 1070 w 1070"/>
                <a:gd name="txB" fmla="*/ 370 h 370"/>
              </a:gdLst>
              <a:ahLst/>
              <a:cxnLst>
                <a:cxn ang="0">
                  <a:pos x="1070" y="370"/>
                </a:cxn>
                <a:cxn ang="0">
                  <a:pos x="467" y="253"/>
                </a:cxn>
                <a:cxn ang="0">
                  <a:pos x="165" y="137"/>
                </a:cxn>
                <a:cxn ang="0">
                  <a:pos x="0" y="0"/>
                </a:cxn>
              </a:cxnLst>
              <a:rect l="txL" t="txT" r="txR" b="txB"/>
              <a:pathLst>
                <a:path w="1070" h="370">
                  <a:moveTo>
                    <a:pt x="1070" y="370"/>
                  </a:moveTo>
                  <a:cubicBezTo>
                    <a:pt x="970" y="351"/>
                    <a:pt x="618" y="292"/>
                    <a:pt x="467" y="253"/>
                  </a:cubicBezTo>
                  <a:cubicBezTo>
                    <a:pt x="316" y="214"/>
                    <a:pt x="243" y="179"/>
                    <a:pt x="165" y="137"/>
                  </a:cubicBezTo>
                  <a:cubicBezTo>
                    <a:pt x="87" y="95"/>
                    <a:pt x="34" y="29"/>
                    <a:pt x="0" y="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000"/>
            </a:p>
          </p:txBody>
        </p:sp>
        <p:sp>
          <p:nvSpPr>
            <p:cNvPr id="42016" name="Freeform 28"/>
            <p:cNvSpPr/>
            <p:nvPr/>
          </p:nvSpPr>
          <p:spPr>
            <a:xfrm>
              <a:off x="3792" y="2304"/>
              <a:ext cx="1056" cy="960"/>
            </a:xfrm>
            <a:custGeom>
              <a:avLst/>
              <a:gdLst>
                <a:gd name="txL" fmla="*/ 0 w 1056"/>
                <a:gd name="txT" fmla="*/ 0 h 960"/>
                <a:gd name="txR" fmla="*/ 1056 w 1056"/>
                <a:gd name="txB" fmla="*/ 960 h 960"/>
              </a:gdLst>
              <a:ahLst/>
              <a:cxnLst>
                <a:cxn ang="0">
                  <a:pos x="1056" y="960"/>
                </a:cxn>
                <a:cxn ang="0">
                  <a:pos x="631" y="795"/>
                </a:cxn>
                <a:cxn ang="0">
                  <a:pos x="377" y="610"/>
                </a:cxn>
                <a:cxn ang="0">
                  <a:pos x="192" y="363"/>
                </a:cxn>
                <a:cxn ang="0">
                  <a:pos x="0" y="0"/>
                </a:cxn>
              </a:cxnLst>
              <a:rect l="txL" t="txT" r="txR" b="txB"/>
              <a:pathLst>
                <a:path w="1056" h="960">
                  <a:moveTo>
                    <a:pt x="1056" y="960"/>
                  </a:moveTo>
                  <a:cubicBezTo>
                    <a:pt x="985" y="932"/>
                    <a:pt x="744" y="853"/>
                    <a:pt x="631" y="795"/>
                  </a:cubicBezTo>
                  <a:cubicBezTo>
                    <a:pt x="518" y="737"/>
                    <a:pt x="450" y="682"/>
                    <a:pt x="377" y="610"/>
                  </a:cubicBezTo>
                  <a:cubicBezTo>
                    <a:pt x="304" y="538"/>
                    <a:pt x="255" y="465"/>
                    <a:pt x="192" y="363"/>
                  </a:cubicBezTo>
                  <a:cubicBezTo>
                    <a:pt x="129" y="261"/>
                    <a:pt x="40" y="76"/>
                    <a:pt x="0" y="0"/>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000"/>
            </a:p>
          </p:txBody>
        </p:sp>
        <p:sp>
          <p:nvSpPr>
            <p:cNvPr id="42017" name="Freeform 29"/>
            <p:cNvSpPr/>
            <p:nvPr/>
          </p:nvSpPr>
          <p:spPr>
            <a:xfrm>
              <a:off x="4128" y="3120"/>
              <a:ext cx="192" cy="48"/>
            </a:xfrm>
            <a:custGeom>
              <a:avLst/>
              <a:gdLst>
                <a:gd name="txL" fmla="*/ 0 w 103"/>
                <a:gd name="txT" fmla="*/ 0 h 137"/>
                <a:gd name="txR" fmla="*/ 103 w 103"/>
                <a:gd name="txB" fmla="*/ 137 h 137"/>
              </a:gdLst>
              <a:ahLst/>
              <a:cxnLst>
                <a:cxn ang="0">
                  <a:pos x="0" y="0"/>
                </a:cxn>
                <a:cxn ang="0">
                  <a:pos x="192" y="48"/>
                </a:cxn>
              </a:cxnLst>
              <a:rect l="txL" t="txT" r="txR" b="txB"/>
              <a:pathLst>
                <a:path w="103" h="137">
                  <a:moveTo>
                    <a:pt x="0" y="0"/>
                  </a:moveTo>
                  <a:lnTo>
                    <a:pt x="103" y="137"/>
                  </a:lnTo>
                </a:path>
              </a:pathLst>
            </a:custGeom>
            <a:noFill/>
            <a:ln w="38100" cap="flat" cmpd="sng">
              <a:solidFill>
                <a:srgbClr val="0000FF">
                  <a:alpha val="100000"/>
                </a:srgbClr>
              </a:solidFill>
              <a:prstDash val="solid"/>
              <a:round/>
              <a:headEnd type="triangle" w="sm" len="lg"/>
              <a:tailEnd type="none" w="med" len="lg"/>
            </a:ln>
          </p:spPr>
          <p:txBody>
            <a:bodyPr/>
            <a:lstStyle/>
            <a:p>
              <a:endParaRPr lang="zh-CN" altLang="en-US" sz="2000"/>
            </a:p>
          </p:txBody>
        </p:sp>
        <p:sp>
          <p:nvSpPr>
            <p:cNvPr id="42018" name="Line 30"/>
            <p:cNvSpPr/>
            <p:nvPr/>
          </p:nvSpPr>
          <p:spPr>
            <a:xfrm flipH="1">
              <a:off x="3408" y="2928"/>
              <a:ext cx="378" cy="0"/>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41995" name="Object 31"/>
                <p:cNvSpPr txBox="1"/>
                <p:nvPr/>
              </p:nvSpPr>
              <p:spPr>
                <a:xfrm>
                  <a:off x="3168" y="2688"/>
                  <a:ext cx="253" cy="28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oMath>
                    </m:oMathPara>
                  </a14:m>
                  <a:endParaRPr lang="en-US" sz="2000"/>
                </a:p>
              </p:txBody>
            </p:sp>
          </mc:Choice>
          <mc:Fallback xmlns="">
            <p:sp>
              <p:nvSpPr>
                <p:cNvPr id="41995" name="Object 31"/>
                <p:cNvSpPr txBox="1">
                  <a:spLocks noRot="1" noChangeAspect="1" noMove="1" noResize="1" noEditPoints="1" noAdjustHandles="1" noChangeArrowheads="1" noChangeShapeType="1" noTextEdit="1"/>
                </p:cNvSpPr>
                <p:nvPr/>
              </p:nvSpPr>
              <p:spPr>
                <a:xfrm>
                  <a:off x="3168" y="2688"/>
                  <a:ext cx="253" cy="286"/>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6" name="Object 32"/>
                <p:cNvSpPr txBox="1"/>
                <p:nvPr/>
              </p:nvSpPr>
              <p:spPr>
                <a:xfrm>
                  <a:off x="4623" y="2140"/>
                  <a:ext cx="705" cy="2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dirty="0"/>
                </a:p>
              </p:txBody>
            </p:sp>
          </mc:Choice>
          <mc:Fallback xmlns="">
            <p:sp>
              <p:nvSpPr>
                <p:cNvPr id="41996" name="Object 32"/>
                <p:cNvSpPr txBox="1">
                  <a:spLocks noRot="1" noChangeAspect="1" noMove="1" noResize="1" noEditPoints="1" noAdjustHandles="1" noChangeArrowheads="1" noChangeShapeType="1" noTextEdit="1"/>
                </p:cNvSpPr>
                <p:nvPr/>
              </p:nvSpPr>
              <p:spPr>
                <a:xfrm>
                  <a:off x="4623" y="2140"/>
                  <a:ext cx="705" cy="292"/>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7" name="Object 33"/>
                <p:cNvSpPr txBox="1"/>
                <p:nvPr/>
              </p:nvSpPr>
              <p:spPr>
                <a:xfrm>
                  <a:off x="4224" y="2496"/>
                  <a:ext cx="576" cy="233"/>
                </a:xfrm>
                <a:prstGeom prst="rect">
                  <a:avLst/>
                </a:prstGeom>
                <a:noFill/>
                <a:ln w="9525" cap="flat" cmpd="sng">
                  <a:solidFill>
                    <a:srgbClr val="CC0099"/>
                  </a:solidFill>
                  <a:prstDash val="solid"/>
                  <a:miter/>
                  <a:headEnd type="none" w="med" len="med"/>
                  <a:tailEnd type="none" w="med" len="med"/>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𝑄</m:t>
                        </m:r>
                        <m:r>
                          <a:rPr lang="en-US" sz="2000" i="1">
                            <a:solidFill>
                              <a:srgbClr val="000000"/>
                            </a:solidFill>
                            <a:latin typeface="Cambria Math" panose="02040503050406030204" pitchFamily="18" charset="0"/>
                          </a:rPr>
                          <m:t>=0</m:t>
                        </m:r>
                      </m:oMath>
                    </m:oMathPara>
                  </a14:m>
                  <a:endParaRPr lang="en-US" sz="2000" dirty="0"/>
                </a:p>
              </p:txBody>
            </p:sp>
          </mc:Choice>
          <mc:Fallback xmlns="">
            <p:sp>
              <p:nvSpPr>
                <p:cNvPr id="41997" name="Object 33"/>
                <p:cNvSpPr txBox="1">
                  <a:spLocks noRot="1" noChangeAspect="1" noMove="1" noResize="1" noEditPoints="1" noAdjustHandles="1" noChangeArrowheads="1" noChangeShapeType="1" noTextEdit="1"/>
                </p:cNvSpPr>
                <p:nvPr/>
              </p:nvSpPr>
              <p:spPr>
                <a:xfrm>
                  <a:off x="4224" y="2496"/>
                  <a:ext cx="576" cy="233"/>
                </a:xfrm>
                <a:prstGeom prst="rect">
                  <a:avLst/>
                </a:prstGeom>
                <a:blipFill>
                  <a:blip r:embed="rId15"/>
                  <a:stretch>
                    <a:fillRect b="-17460"/>
                  </a:stretch>
                </a:blipFill>
                <a:ln w="9525" cap="flat" cmpd="sng">
                  <a:solidFill>
                    <a:srgbClr val="CC0099"/>
                  </a:solid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8" name="Object 34"/>
                <p:cNvSpPr txBox="1"/>
                <p:nvPr/>
              </p:nvSpPr>
              <p:spPr>
                <a:xfrm>
                  <a:off x="3889" y="3296"/>
                  <a:ext cx="519" cy="19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41998" name="Object 34"/>
                <p:cNvSpPr txBox="1">
                  <a:spLocks noRot="1" noChangeAspect="1" noMove="1" noResize="1" noEditPoints="1" noAdjustHandles="1" noChangeArrowheads="1" noChangeShapeType="1" noTextEdit="1"/>
                </p:cNvSpPr>
                <p:nvPr/>
              </p:nvSpPr>
              <p:spPr>
                <a:xfrm>
                  <a:off x="3889" y="3296"/>
                  <a:ext cx="519" cy="195"/>
                </a:xfrm>
                <a:prstGeom prst="rect">
                  <a:avLst/>
                </a:prstGeom>
                <a:blipFill>
                  <a:blip r:embed="rId16"/>
                  <a:stretch>
                    <a:fillRect b="-24000"/>
                  </a:stretch>
                </a:blipFill>
                <a:ln w="38100">
                  <a:noFill/>
                  <a:miter/>
                </a:ln>
              </p:spPr>
              <p:txBody>
                <a:bodyPr/>
                <a:lstStyle/>
                <a:p>
                  <a:r>
                    <a:rPr lang="zh-CN" altLang="en-US">
                      <a:noFill/>
                    </a:rPr>
                    <a:t> </a:t>
                  </a:r>
                </a:p>
              </p:txBody>
            </p:sp>
          </mc:Fallback>
        </mc:AlternateContent>
        <p:sp>
          <p:nvSpPr>
            <p:cNvPr id="42019" name="Line 35"/>
            <p:cNvSpPr/>
            <p:nvPr/>
          </p:nvSpPr>
          <p:spPr>
            <a:xfrm flipH="1">
              <a:off x="4224" y="2736"/>
              <a:ext cx="96" cy="240"/>
            </a:xfrm>
            <a:prstGeom prst="line">
              <a:avLst/>
            </a:prstGeom>
            <a:ln w="19050" cap="flat" cmpd="sng">
              <a:solidFill>
                <a:srgbClr val="CC0099"/>
              </a:solidFill>
              <a:prstDash val="dash"/>
              <a:headEnd type="none" w="med" len="med"/>
              <a:tailEnd type="triangle" w="sm" len="lg"/>
            </a:ln>
          </p:spPr>
        </p:sp>
        <p:sp>
          <p:nvSpPr>
            <p:cNvPr id="42020" name="Line 36"/>
            <p:cNvSpPr/>
            <p:nvPr/>
          </p:nvSpPr>
          <p:spPr>
            <a:xfrm flipV="1">
              <a:off x="4224" y="3168"/>
              <a:ext cx="144" cy="192"/>
            </a:xfrm>
            <a:prstGeom prst="line">
              <a:avLst/>
            </a:prstGeom>
            <a:ln w="19050" cap="flat" cmpd="sng">
              <a:solidFill>
                <a:srgbClr val="0000FF"/>
              </a:solidFill>
              <a:prstDash val="dash"/>
              <a:headEnd type="none" w="med" len="med"/>
              <a:tailEnd type="triangle" w="sm" len="lg"/>
            </a:ln>
          </p:spPr>
        </p:sp>
        <mc:AlternateContent xmlns:mc="http://schemas.openxmlformats.org/markup-compatibility/2006" xmlns:a14="http://schemas.microsoft.com/office/drawing/2010/main">
          <mc:Choice Requires="a14">
            <p:sp>
              <p:nvSpPr>
                <p:cNvPr id="41999" name="Object 37"/>
                <p:cNvSpPr txBox="1"/>
                <p:nvPr/>
              </p:nvSpPr>
              <p:spPr>
                <a:xfrm>
                  <a:off x="3602" y="2928"/>
                  <a:ext cx="165" cy="18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2′</m:t>
                        </m:r>
                      </m:oMath>
                    </m:oMathPara>
                  </a14:m>
                  <a:endParaRPr lang="en-US" sz="2000"/>
                </a:p>
              </p:txBody>
            </p:sp>
          </mc:Choice>
          <mc:Fallback xmlns="">
            <p:sp>
              <p:nvSpPr>
                <p:cNvPr id="41999" name="Object 37"/>
                <p:cNvSpPr txBox="1">
                  <a:spLocks noRot="1" noChangeAspect="1" noMove="1" noResize="1" noEditPoints="1" noAdjustHandles="1" noChangeArrowheads="1" noChangeShapeType="1" noTextEdit="1"/>
                </p:cNvSpPr>
                <p:nvPr/>
              </p:nvSpPr>
              <p:spPr>
                <a:xfrm>
                  <a:off x="3602" y="2928"/>
                  <a:ext cx="165" cy="185"/>
                </a:xfrm>
                <a:prstGeom prst="rect">
                  <a:avLst/>
                </a:prstGeom>
                <a:blipFill>
                  <a:blip r:embed="rId17"/>
                  <a:stretch>
                    <a:fillRect l="-4651" r="-51163" b="-33333"/>
                  </a:stretch>
                </a:blipFill>
                <a:ln w="38100">
                  <a:noFill/>
                  <a:miter/>
                </a:ln>
              </p:spPr>
              <p:txBody>
                <a:bodyPr/>
                <a:lstStyle/>
                <a:p>
                  <a:r>
                    <a:rPr lang="zh-CN" altLang="en-US">
                      <a:noFill/>
                    </a:rPr>
                    <a:t> </a:t>
                  </a:r>
                </a:p>
              </p:txBody>
            </p:sp>
          </mc:Fallback>
        </mc:AlternateContent>
        <p:sp>
          <p:nvSpPr>
            <p:cNvPr id="42021" name="Rectangle 38"/>
            <p:cNvSpPr/>
            <p:nvPr/>
          </p:nvSpPr>
          <p:spPr>
            <a:xfrm>
              <a:off x="4272" y="3280"/>
              <a:ext cx="720" cy="252"/>
            </a:xfrm>
            <a:prstGeom prst="rect">
              <a:avLst/>
            </a:prstGeom>
            <a:noFill/>
            <a:ln w="9525">
              <a:noFill/>
            </a:ln>
          </p:spPr>
          <p:txBody>
            <a:bodyPr>
              <a:spAutoFit/>
            </a:bodyPr>
            <a:lstStyle/>
            <a:p>
              <a:pPr eaLnBrk="1" hangingPunct="1"/>
              <a:r>
                <a:rPr lang="zh-CN" altLang="en-US" sz="2000" b="1" dirty="0">
                  <a:solidFill>
                    <a:srgbClr val="000000"/>
                  </a:solidFill>
                  <a:latin typeface="Times New Roman" panose="02020603050405020304" pitchFamily="18" charset="0"/>
                </a:rPr>
                <a:t>常量</a:t>
              </a:r>
            </a:p>
          </p:txBody>
        </p:sp>
      </p:grpSp>
      <p:sp>
        <p:nvSpPr>
          <p:cNvPr id="2" name="Rectangle 2">
            <a:extLst>
              <a:ext uri="{FF2B5EF4-FFF2-40B4-BE49-F238E27FC236}">
                <a16:creationId xmlns:a16="http://schemas.microsoft.com/office/drawing/2014/main" id="{B1361345-2F87-8F29-33E5-27C0D5944977}"/>
              </a:ext>
            </a:extLst>
          </p:cNvPr>
          <p:cNvSpPr/>
          <p:nvPr/>
        </p:nvSpPr>
        <p:spPr>
          <a:xfrm>
            <a:off x="1487489" y="3135317"/>
            <a:ext cx="4017962" cy="523220"/>
          </a:xfrm>
          <a:prstGeom prst="rect">
            <a:avLst/>
          </a:prstGeom>
          <a:noFill/>
          <a:ln w="9525">
            <a:noFill/>
          </a:ln>
        </p:spPr>
        <p:txBody>
          <a:bodyPr>
            <a:spAutoFit/>
          </a:bodyPr>
          <a:lstStyle/>
          <a:p>
            <a:pPr eaLnBrk="1" hangingPunct="1"/>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）等温过程</a:t>
            </a:r>
          </a:p>
        </p:txBody>
      </p:sp>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604D1EE4-A4B3-0FF3-E871-C0F70775616B}"/>
                  </a:ext>
                </a:extLst>
              </p:cNvPr>
              <p:cNvSpPr txBox="1"/>
              <p:nvPr/>
            </p:nvSpPr>
            <p:spPr>
              <a:xfrm>
                <a:off x="508794" y="3617302"/>
                <a:ext cx="7910514" cy="111252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sSup>
                            <m:sSupPr>
                              <m:ctrlPr>
                                <a:rPr lang="en-US" sz="2800" i="1">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𝐴</m:t>
                              </m:r>
                            </m:e>
                            <m:sup>
                              <m:r>
                                <a:rPr lang="en-US" sz="2800" b="0" i="1">
                                  <a:solidFill>
                                    <a:schemeClr val="tx1"/>
                                  </a:solidFill>
                                  <a:latin typeface="Cambria Math" panose="02040503050406030204" pitchFamily="18" charset="0"/>
                                </a:rPr>
                                <m:t>′</m:t>
                              </m:r>
                            </m:sup>
                          </m:sSup>
                        </m:e>
                        <m:sub>
                          <m:r>
                            <a:rPr lang="en-US" sz="2800" b="0" i="1">
                              <a:solidFill>
                                <a:schemeClr val="tx1"/>
                              </a:solidFill>
                              <a:latin typeface="Cambria Math" panose="02040503050406030204" pitchFamily="18" charset="0"/>
                            </a:rPr>
                            <m:t>12</m:t>
                          </m:r>
                        </m:sub>
                      </m:sSub>
                      <m:r>
                        <a:rPr lang="en-US" sz="2800" b="0" i="1" smtClean="0">
                          <a:solidFill>
                            <a:schemeClr val="tx1"/>
                          </a:solidFill>
                          <a:latin typeface="Cambria Math" panose="02040503050406030204" pitchFamily="18" charset="0"/>
                        </a:rPr>
                        <m:t>=</m:t>
                      </m:r>
                      <m:r>
                        <a:rPr lang="en-US" altLang="zh-CN" sz="2800" i="1">
                          <a:latin typeface="Cambria Math" panose="02040503050406030204" pitchFamily="18" charset="0"/>
                        </a:rPr>
                        <m:t>𝜈</m:t>
                      </m:r>
                      <m:r>
                        <a:rPr lang="en-US" altLang="zh-CN" sz="2800" i="1">
                          <a:latin typeface="Cambria Math" panose="02040503050406030204" pitchFamily="18" charset="0"/>
                        </a:rPr>
                        <m:t>𝑅𝑇</m:t>
                      </m:r>
                      <m:nary>
                        <m:naryPr>
                          <m:subHide m:val="on"/>
                          <m:supHide m:val="on"/>
                          <m:ctrlPr>
                            <a:rPr lang="en-US" altLang="zh-CN" sz="2800" i="1">
                              <a:solidFill>
                                <a:srgbClr val="000000"/>
                              </a:solidFill>
                              <a:latin typeface="Cambria Math" panose="02040503050406030204" pitchFamily="18" charset="0"/>
                            </a:rPr>
                          </m:ctrlPr>
                        </m:naryPr>
                        <m:sub/>
                        <m:sup/>
                        <m:e>
                          <m:f>
                            <m:fPr>
                              <m:ctrlPr>
                                <a:rPr lang="en-US" altLang="zh-CN" sz="2800" i="1">
                                  <a:solidFill>
                                    <a:srgbClr val="000000"/>
                                  </a:solidFill>
                                  <a:latin typeface="Cambria Math" panose="02040503050406030204" pitchFamily="18" charset="0"/>
                                </a:rPr>
                              </m:ctrlPr>
                            </m:fPr>
                            <m:num>
                              <m:r>
                                <m:rPr>
                                  <m:sty m:val="p"/>
                                </m:rPr>
                                <a:rPr lang="en-US" altLang="zh-CN" sz="2800">
                                  <a:solidFill>
                                    <a:srgbClr val="000000"/>
                                  </a:solidFill>
                                  <a:latin typeface="Cambria Math" panose="02040503050406030204" pitchFamily="18" charset="0"/>
                                </a:rPr>
                                <m:t>d</m:t>
                              </m:r>
                              <m:r>
                                <a:rPr lang="en-US" altLang="zh-CN" sz="2800" i="1">
                                  <a:solidFill>
                                    <a:srgbClr val="000000"/>
                                  </a:solidFill>
                                  <a:latin typeface="Cambria Math" panose="02040503050406030204" pitchFamily="18" charset="0"/>
                                </a:rPr>
                                <m:t>𝑉</m:t>
                              </m:r>
                            </m:num>
                            <m:den>
                              <m:r>
                                <a:rPr lang="en-US" altLang="zh-CN" sz="2800" i="1">
                                  <a:solidFill>
                                    <a:srgbClr val="000000"/>
                                  </a:solidFill>
                                  <a:latin typeface="Cambria Math" panose="02040503050406030204" pitchFamily="18" charset="0"/>
                                </a:rPr>
                                <m:t>𝑉</m:t>
                              </m:r>
                            </m:den>
                          </m:f>
                        </m:e>
                      </m:nary>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𝜈</m:t>
                      </m:r>
                      <m:r>
                        <a:rPr lang="en-US" sz="2800" b="0" i="1">
                          <a:solidFill>
                            <a:schemeClr val="tx1"/>
                          </a:solidFill>
                          <a:latin typeface="Cambria Math" panose="02040503050406030204" pitchFamily="18" charset="0"/>
                        </a:rPr>
                        <m:t>𝑅𝑇</m:t>
                      </m:r>
                      <m:func>
                        <m:funcPr>
                          <m:ctrlPr>
                            <a:rPr lang="en-US" sz="2800" i="1">
                              <a:solidFill>
                                <a:schemeClr val="tx1"/>
                              </a:solidFill>
                              <a:latin typeface="Cambria Math" panose="02040503050406030204" pitchFamily="18" charset="0"/>
                            </a:rPr>
                          </m:ctrlPr>
                        </m:funcPr>
                        <m:fName>
                          <m:r>
                            <m:rPr>
                              <m:sty m:val="p"/>
                            </m:rPr>
                            <a:rPr lang="en-US" sz="2800" b="0" i="0">
                              <a:solidFill>
                                <a:schemeClr val="tx1"/>
                              </a:solidFill>
                              <a:latin typeface="Cambria Math" panose="02040503050406030204" pitchFamily="18" charset="0"/>
                            </a:rPr>
                            <m:t>ln</m:t>
                          </m:r>
                        </m:fName>
                        <m:e>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𝑉</m:t>
                                      </m:r>
                                    </m:e>
                                    <m:sup>
                                      <m:r>
                                        <a:rPr lang="en-US" sz="2800" b="0" i="1">
                                          <a:solidFill>
                                            <a:schemeClr val="tx1"/>
                                          </a:solidFill>
                                          <a:latin typeface="Cambria Math" panose="02040503050406030204" pitchFamily="18" charset="0"/>
                                        </a:rPr>
                                        <m:t>′</m:t>
                                      </m:r>
                                    </m:sup>
                                  </m:sSup>
                                </m:e>
                                <m:sub>
                                  <m:r>
                                    <a:rPr lang="en-US" sz="2800" b="0" i="1">
                                      <a:solidFill>
                                        <a:schemeClr val="tx1"/>
                                      </a:solidFill>
                                      <a:latin typeface="Cambria Math" panose="02040503050406030204" pitchFamily="18" charset="0"/>
                                    </a:rPr>
                                    <m:t>2</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den>
                          </m:f>
                        </m:e>
                      </m:func>
                      <m:r>
                        <a:rPr lang="en-US" sz="2800" b="0" i="1">
                          <a:solidFill>
                            <a:schemeClr val="tx1"/>
                          </a:solidFill>
                          <a:latin typeface="Cambria Math" panose="02040503050406030204" pitchFamily="18" charset="0"/>
                        </a:rPr>
                        <m:t>=−2.80×1</m:t>
                      </m:r>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0</m:t>
                          </m:r>
                        </m:e>
                        <m:sup>
                          <m:r>
                            <a:rPr lang="en-US" sz="2800" b="0" i="1">
                              <a:solidFill>
                                <a:schemeClr val="tx1"/>
                              </a:solidFill>
                              <a:latin typeface="Cambria Math" panose="02040503050406030204" pitchFamily="18" charset="0"/>
                            </a:rPr>
                            <m:t>4</m:t>
                          </m:r>
                        </m:sup>
                      </m:sSup>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J</m:t>
                      </m:r>
                    </m:oMath>
                  </m:oMathPara>
                </a14:m>
                <a:endParaRPr lang="en-US" sz="2800" dirty="0">
                  <a:solidFill>
                    <a:schemeClr val="tx1"/>
                  </a:solidFill>
                </a:endParaRPr>
              </a:p>
            </p:txBody>
          </p:sp>
        </mc:Choice>
        <mc:Fallback xmlns="">
          <p:sp>
            <p:nvSpPr>
              <p:cNvPr id="3" name="Object 3">
                <a:extLst>
                  <a:ext uri="{FF2B5EF4-FFF2-40B4-BE49-F238E27FC236}">
                    <a16:creationId xmlns:a16="http://schemas.microsoft.com/office/drawing/2014/main" id="{604D1EE4-A4B3-0FF3-E871-C0F70775616B}"/>
                  </a:ext>
                </a:extLst>
              </p:cNvPr>
              <p:cNvSpPr txBox="1">
                <a:spLocks noRot="1" noChangeAspect="1" noMove="1" noResize="1" noEditPoints="1" noAdjustHandles="1" noChangeArrowheads="1" noChangeShapeType="1" noTextEdit="1"/>
              </p:cNvSpPr>
              <p:nvPr/>
            </p:nvSpPr>
            <p:spPr>
              <a:xfrm>
                <a:off x="508794" y="3617302"/>
                <a:ext cx="7910514" cy="1112520"/>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4" name="Rectangle 4">
            <a:extLst>
              <a:ext uri="{FF2B5EF4-FFF2-40B4-BE49-F238E27FC236}">
                <a16:creationId xmlns:a16="http://schemas.microsoft.com/office/drawing/2014/main" id="{C4953DB2-FC8A-E835-247E-F2A9B87EB71D}"/>
              </a:ext>
            </a:extLst>
          </p:cNvPr>
          <p:cNvSpPr/>
          <p:nvPr/>
        </p:nvSpPr>
        <p:spPr>
          <a:xfrm>
            <a:off x="1538290" y="4651378"/>
            <a:ext cx="6130923" cy="523220"/>
          </a:xfrm>
          <a:prstGeom prst="rect">
            <a:avLst/>
          </a:prstGeom>
          <a:noFill/>
          <a:ln w="9525">
            <a:noFill/>
          </a:ln>
        </p:spPr>
        <p:txBody>
          <a:bodyPr wrap="square">
            <a:spAutoFit/>
          </a:bodyPr>
          <a:lstStyle/>
          <a:p>
            <a:pPr eaLnBrk="1" hangingPunct="1"/>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）绝热过程：氢气为双原子气体</a:t>
            </a:r>
          </a:p>
        </p:txBody>
      </p:sp>
      <mc:AlternateContent xmlns:mc="http://schemas.openxmlformats.org/markup-compatibility/2006" xmlns:a14="http://schemas.microsoft.com/office/drawing/2010/main">
        <mc:Choice Requires="a14">
          <p:sp>
            <p:nvSpPr>
              <p:cNvPr id="7" name="Object 7">
                <a:extLst>
                  <a:ext uri="{FF2B5EF4-FFF2-40B4-BE49-F238E27FC236}">
                    <a16:creationId xmlns:a16="http://schemas.microsoft.com/office/drawing/2014/main" id="{B11F3B70-3D51-F650-03BB-A7DE28F05B24}"/>
                  </a:ext>
                </a:extLst>
              </p:cNvPr>
              <p:cNvSpPr txBox="1"/>
              <p:nvPr/>
            </p:nvSpPr>
            <p:spPr>
              <a:xfrm>
                <a:off x="7088982" y="4656791"/>
                <a:ext cx="1881188" cy="4587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𝛾</m:t>
                      </m:r>
                      <m:r>
                        <a:rPr lang="en-US" sz="2800" b="0" i="1" smtClean="0">
                          <a:solidFill>
                            <a:schemeClr val="tx1"/>
                          </a:solidFill>
                          <a:latin typeface="Cambria Math" panose="02040503050406030204" pitchFamily="18" charset="0"/>
                        </a:rPr>
                        <m:t>=1.4</m:t>
                      </m:r>
                    </m:oMath>
                  </m:oMathPara>
                </a14:m>
                <a:endParaRPr lang="en-US" sz="2800" dirty="0">
                  <a:solidFill>
                    <a:schemeClr val="tx1"/>
                  </a:solidFill>
                </a:endParaRPr>
              </a:p>
            </p:txBody>
          </p:sp>
        </mc:Choice>
        <mc:Fallback xmlns="">
          <p:sp>
            <p:nvSpPr>
              <p:cNvPr id="7" name="Object 7">
                <a:extLst>
                  <a:ext uri="{FF2B5EF4-FFF2-40B4-BE49-F238E27FC236}">
                    <a16:creationId xmlns:a16="http://schemas.microsoft.com/office/drawing/2014/main" id="{B11F3B70-3D51-F650-03BB-A7DE28F05B24}"/>
                  </a:ext>
                </a:extLst>
              </p:cNvPr>
              <p:cNvSpPr txBox="1">
                <a:spLocks noRot="1" noChangeAspect="1" noMove="1" noResize="1" noEditPoints="1" noAdjustHandles="1" noChangeArrowheads="1" noChangeShapeType="1" noTextEdit="1"/>
              </p:cNvSpPr>
              <p:nvPr/>
            </p:nvSpPr>
            <p:spPr>
              <a:xfrm>
                <a:off x="7088982" y="4656791"/>
                <a:ext cx="1881188" cy="458788"/>
              </a:xfrm>
              <a:prstGeom prst="rect">
                <a:avLst/>
              </a:prstGeom>
              <a:blipFill>
                <a:blip r:embed="rId1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8">
                <a:extLst>
                  <a:ext uri="{FF2B5EF4-FFF2-40B4-BE49-F238E27FC236}">
                    <a16:creationId xmlns:a16="http://schemas.microsoft.com/office/drawing/2014/main" id="{779B34FB-0B83-DC29-9CBA-A5DD2E1C6D94}"/>
                  </a:ext>
                </a:extLst>
              </p:cNvPr>
              <p:cNvSpPr txBox="1"/>
              <p:nvPr/>
            </p:nvSpPr>
            <p:spPr>
              <a:xfrm>
                <a:off x="2117725" y="5308604"/>
                <a:ext cx="3673475" cy="1135063"/>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𝑇</m:t>
                          </m:r>
                        </m:e>
                        <m:sub>
                          <m:r>
                            <a:rPr lang="en-US" sz="2800" b="0" i="1">
                              <a:solidFill>
                                <a:schemeClr val="tx1"/>
                              </a:solidFill>
                              <a:latin typeface="Cambria Math" panose="02040503050406030204" pitchFamily="18" charset="0"/>
                            </a:rPr>
                            <m:t>2</m:t>
                          </m:r>
                        </m:sub>
                      </m:sSub>
                      <m:r>
                        <a:rPr lang="en-US" sz="2800" b="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𝑇</m:t>
                          </m:r>
                        </m:e>
                        <m:sub>
                          <m:r>
                            <a:rPr lang="en-US" sz="2800" b="0" i="1">
                              <a:solidFill>
                                <a:schemeClr val="tx1"/>
                              </a:solidFill>
                              <a:latin typeface="Cambria Math" panose="02040503050406030204" pitchFamily="18" charset="0"/>
                            </a:rPr>
                            <m:t>1</m:t>
                          </m:r>
                        </m:sub>
                      </m:sSub>
                      <m:r>
                        <a:rPr lang="en-US" sz="2800" b="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2</m:t>
                              </m:r>
                            </m:sub>
                          </m:sSub>
                        </m:den>
                      </m:f>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m:t>
                          </m:r>
                        </m:e>
                        <m:sup>
                          <m:r>
                            <a:rPr lang="en-US" sz="2800" b="0" i="1">
                              <a:solidFill>
                                <a:schemeClr val="tx1"/>
                              </a:solidFill>
                              <a:latin typeface="Cambria Math" panose="02040503050406030204" pitchFamily="18" charset="0"/>
                            </a:rPr>
                            <m:t>𝛾</m:t>
                          </m:r>
                          <m:r>
                            <a:rPr lang="en-US" sz="2800" b="0" i="1">
                              <a:solidFill>
                                <a:schemeClr val="tx1"/>
                              </a:solidFill>
                              <a:latin typeface="Cambria Math" panose="02040503050406030204" pitchFamily="18" charset="0"/>
                            </a:rPr>
                            <m:t>−1</m:t>
                          </m:r>
                        </m:sup>
                      </m:sSup>
                      <m:r>
                        <a:rPr lang="en-US" sz="2800" b="0" i="1">
                          <a:solidFill>
                            <a:schemeClr val="tx1"/>
                          </a:solidFill>
                          <a:latin typeface="Cambria Math" panose="02040503050406030204" pitchFamily="18" charset="0"/>
                        </a:rPr>
                        <m:t>=753</m:t>
                      </m:r>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K</m:t>
                      </m:r>
                    </m:oMath>
                  </m:oMathPara>
                </a14:m>
                <a:endParaRPr lang="en-US" sz="2800" dirty="0">
                  <a:solidFill>
                    <a:schemeClr val="tx1"/>
                  </a:solidFill>
                </a:endParaRPr>
              </a:p>
            </p:txBody>
          </p:sp>
        </mc:Choice>
        <mc:Fallback xmlns="">
          <p:sp>
            <p:nvSpPr>
              <p:cNvPr id="8" name="Object 8">
                <a:extLst>
                  <a:ext uri="{FF2B5EF4-FFF2-40B4-BE49-F238E27FC236}">
                    <a16:creationId xmlns:a16="http://schemas.microsoft.com/office/drawing/2014/main" id="{779B34FB-0B83-DC29-9CBA-A5DD2E1C6D94}"/>
                  </a:ext>
                </a:extLst>
              </p:cNvPr>
              <p:cNvSpPr txBox="1">
                <a:spLocks noRot="1" noChangeAspect="1" noMove="1" noResize="1" noEditPoints="1" noAdjustHandles="1" noChangeArrowheads="1" noChangeShapeType="1" noTextEdit="1"/>
              </p:cNvSpPr>
              <p:nvPr/>
            </p:nvSpPr>
            <p:spPr>
              <a:xfrm>
                <a:off x="2117725" y="5308604"/>
                <a:ext cx="3673475" cy="1135063"/>
              </a:xfrm>
              <a:prstGeom prst="rect">
                <a:avLst/>
              </a:prstGeom>
              <a:blipFill>
                <a:blip r:embed="rId20"/>
                <a:stretch>
                  <a:fillRect/>
                </a:stretch>
              </a:blipFill>
              <a:ln w="38100">
                <a:noFill/>
                <a:miter/>
              </a:ln>
            </p:spPr>
            <p:txBody>
              <a:bodyPr/>
              <a:lstStyle/>
              <a:p>
                <a:r>
                  <a:rPr lang="zh-CN" altLang="en-US">
                    <a:noFill/>
                  </a:rPr>
                  <a:t> </a:t>
                </a:r>
              </a:p>
            </p:txBody>
          </p:sp>
        </mc:Fallback>
      </mc:AlternateContent>
      <p:sp>
        <p:nvSpPr>
          <p:cNvPr id="9" name="Text Box 9">
            <a:extLst>
              <a:ext uri="{FF2B5EF4-FFF2-40B4-BE49-F238E27FC236}">
                <a16:creationId xmlns:a16="http://schemas.microsoft.com/office/drawing/2014/main" id="{93143325-C122-B77E-4C57-6F434FBA8560}"/>
              </a:ext>
            </a:extLst>
          </p:cNvPr>
          <p:cNvSpPr txBox="1"/>
          <p:nvPr/>
        </p:nvSpPr>
        <p:spPr>
          <a:xfrm>
            <a:off x="1376363" y="1910090"/>
            <a:ext cx="1800225" cy="523220"/>
          </a:xfrm>
          <a:prstGeom prst="rect">
            <a:avLst/>
          </a:prstGeom>
          <a:noFill/>
          <a:ln w="9525">
            <a:noFill/>
          </a:ln>
        </p:spPr>
        <p:txBody>
          <a:bodyPr>
            <a:spAutoFit/>
          </a:bodyPr>
          <a:lstStyle/>
          <a:p>
            <a:pPr eaLnBrk="1" hangingPunct="1"/>
            <a:r>
              <a:rPr lang="en-US" altLang="zh-CN" sz="2800" dirty="0">
                <a:latin typeface="Arial" panose="020B0604020202020204" pitchFamily="34" charset="0"/>
              </a:rPr>
              <a:t> </a:t>
            </a:r>
            <a:r>
              <a:rPr lang="zh-CN" altLang="en-US" sz="2800" dirty="0">
                <a:latin typeface="Arial" panose="020B0604020202020204" pitchFamily="34" charset="0"/>
              </a:rPr>
              <a:t>已知： </a:t>
            </a:r>
          </a:p>
        </p:txBody>
      </p:sp>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330CA350-8C57-98EB-B9FF-3FF261A47796}"/>
                  </a:ext>
                </a:extLst>
              </p:cNvPr>
              <p:cNvSpPr txBox="1">
                <a:spLocks/>
              </p:cNvSpPr>
              <p:nvPr/>
            </p:nvSpPr>
            <p:spPr>
              <a:xfrm>
                <a:off x="2228851" y="1892959"/>
                <a:ext cx="5299075" cy="1177925"/>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𝜈</m:t>
                      </m:r>
                      <m:r>
                        <a:rPr lang="en-US" b="0" i="1" smtClean="0">
                          <a:solidFill>
                            <a:schemeClr val="tx1"/>
                          </a:solidFill>
                          <a:latin typeface="Cambria Math" panose="02040503050406030204" pitchFamily="18" charset="0"/>
                        </a:rPr>
                        <m:t>=5</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mol</m:t>
                      </m:r>
                      <m:r>
                        <m:rPr>
                          <m:nor/>
                        </m:rPr>
                        <a:rPr lang="en-US">
                          <a:solidFill>
                            <a:schemeClr val="tx1"/>
                          </a:solidFill>
                          <a:latin typeface="Cambria Math" panose="02040503050406030204" pitchFamily="18" charset="0"/>
                        </a:rPr>
                        <m:t>   </m:t>
                      </m:r>
                      <m:r>
                        <a:rPr lang="en-US" b="0" i="1">
                          <a:solidFill>
                            <a:schemeClr val="tx1"/>
                          </a:solidFill>
                          <a:latin typeface="Cambria Math" panose="02040503050406030204" pitchFamily="18" charset="0"/>
                        </a:rPr>
                        <m:t> </m:t>
                      </m:r>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1</m:t>
                          </m:r>
                        </m:sub>
                      </m:sSub>
                      <m:r>
                        <a:rPr lang="en-US" b="0" i="1">
                          <a:solidFill>
                            <a:schemeClr val="tx1"/>
                          </a:solidFill>
                          <a:latin typeface="Cambria Math" panose="02040503050406030204" pitchFamily="18" charset="0"/>
                        </a:rPr>
                        <m:t>=293</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K</m:t>
                      </m:r>
                      <m:r>
                        <m:rPr>
                          <m:nor/>
                        </m:rPr>
                        <a:rPr lang="en-US">
                          <a:solidFill>
                            <a:schemeClr val="tx1"/>
                          </a:solidFill>
                          <a:latin typeface="Cambria Math" panose="02040503050406030204" pitchFamily="18" charset="0"/>
                        </a:rPr>
                        <m:t>    </m:t>
                      </m:r>
                    </m:oMath>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𝑃</m:t>
                          </m:r>
                        </m:e>
                        <m:sub>
                          <m:r>
                            <a:rPr lang="en-US" b="0" i="1">
                              <a:solidFill>
                                <a:schemeClr val="tx1"/>
                              </a:solidFill>
                              <a:latin typeface="Cambria Math" panose="02040503050406030204" pitchFamily="18" charset="0"/>
                            </a:rPr>
                            <m:t>0</m:t>
                          </m:r>
                        </m:sub>
                      </m:sSub>
                      <m:r>
                        <a:rPr lang="en-US" b="0" i="1">
                          <a:solidFill>
                            <a:schemeClr val="tx1"/>
                          </a:solidFill>
                          <a:latin typeface="Cambria Math" panose="02040503050406030204" pitchFamily="18" charset="0"/>
                        </a:rPr>
                        <m:t>=1.013×1</m:t>
                      </m:r>
                      <m:sSup>
                        <m:sSupPr>
                          <m:ctrlPr>
                            <a:rPr lang="en-US" i="1">
                              <a:solidFill>
                                <a:schemeClr val="tx1"/>
                              </a:solidFill>
                              <a:latin typeface="Cambria Math" panose="02040503050406030204" pitchFamily="18" charset="0"/>
                            </a:rPr>
                          </m:ctrlPr>
                        </m:sSupPr>
                        <m:e>
                          <m:r>
                            <a:rPr lang="en-US" b="0" i="1">
                              <a:solidFill>
                                <a:schemeClr val="tx1"/>
                              </a:solidFill>
                              <a:latin typeface="Cambria Math" panose="02040503050406030204" pitchFamily="18" charset="0"/>
                            </a:rPr>
                            <m:t>0</m:t>
                          </m:r>
                        </m:e>
                        <m:sup>
                          <m:r>
                            <a:rPr lang="en-US" b="0" i="1">
                              <a:solidFill>
                                <a:schemeClr val="tx1"/>
                              </a:solidFill>
                              <a:latin typeface="Cambria Math" panose="02040503050406030204" pitchFamily="18" charset="0"/>
                            </a:rPr>
                            <m:t>5</m:t>
                          </m:r>
                        </m:sup>
                      </m:sSup>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Pa</m:t>
                      </m:r>
                      <m:r>
                        <m:rPr>
                          <m:nor/>
                        </m:rPr>
                        <a:rPr lang="en-US">
                          <a:solidFill>
                            <a:schemeClr val="tx1"/>
                          </a:solidFill>
                          <a:latin typeface="Cambria Math" panose="02040503050406030204" pitchFamily="18" charset="0"/>
                        </a:rPr>
                        <m:t>   </m:t>
                      </m:r>
                    </m:oMath>
                  </m:oMathPara>
                </a14:m>
                <a:endParaRPr lang="en-US" dirty="0">
                  <a:solidFill>
                    <a:schemeClr val="tx1"/>
                  </a:solidFill>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r>
                        <a:rPr lang="en-US" b="0" i="1">
                          <a:solidFill>
                            <a:schemeClr val="tx1"/>
                          </a:solidFill>
                          <a:latin typeface="Cambria Math" panose="02040503050406030204" pitchFamily="18" charset="0"/>
                        </a:rPr>
                        <m:t>=0.1</m:t>
                      </m:r>
                      <m:r>
                        <a:rPr lang="en-US" b="0">
                          <a:solidFill>
                            <a:schemeClr val="tx1"/>
                          </a:solidFill>
                          <a:latin typeface="Cambria Math" panose="02040503050406030204" pitchFamily="18" charset="0"/>
                        </a:rPr>
                        <m:t> </m:t>
                      </m:r>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10" name="Object 10">
                <a:extLst>
                  <a:ext uri="{FF2B5EF4-FFF2-40B4-BE49-F238E27FC236}">
                    <a16:creationId xmlns:a16="http://schemas.microsoft.com/office/drawing/2014/main" id="{330CA350-8C57-98EB-B9FF-3FF261A47796}"/>
                  </a:ext>
                </a:extLst>
              </p:cNvPr>
              <p:cNvSpPr txBox="1">
                <a:spLocks noRot="1" noChangeAspect="1" noMove="1" noResize="1" noEditPoints="1" noAdjustHandles="1" noChangeArrowheads="1" noChangeShapeType="1" noTextEdit="1"/>
              </p:cNvSpPr>
              <p:nvPr/>
            </p:nvSpPr>
            <p:spPr>
              <a:xfrm>
                <a:off x="2228851" y="1892959"/>
                <a:ext cx="5299075" cy="1177925"/>
              </a:xfrm>
              <a:prstGeom prst="rect">
                <a:avLst/>
              </a:prstGeom>
              <a:blipFill>
                <a:blip r:embed="rId21"/>
                <a:stretch>
                  <a:fillRect b="-8290"/>
                </a:stretch>
              </a:blipFill>
              <a:ln w="38100">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2">
                <a:extLst>
                  <a:ext uri="{FF2B5EF4-FFF2-40B4-BE49-F238E27FC236}">
                    <a16:creationId xmlns:a16="http://schemas.microsoft.com/office/drawing/2014/main" id="{7373F187-8990-5488-8B64-44E354E71E22}"/>
                  </a:ext>
                </a:extLst>
              </p:cNvPr>
              <p:cNvSpPr txBox="1"/>
              <p:nvPr/>
            </p:nvSpPr>
            <p:spPr>
              <a:xfrm>
                <a:off x="2228851" y="6240459"/>
                <a:ext cx="4534694" cy="5746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𝐴</m:t>
                          </m:r>
                        </m:e>
                        <m:sub>
                          <m:r>
                            <a:rPr lang="en-US" sz="2800" i="1">
                              <a:solidFill>
                                <a:srgbClr val="000000"/>
                              </a:solidFill>
                              <a:latin typeface="Cambria Math" panose="02040503050406030204" pitchFamily="18" charset="0"/>
                            </a:rPr>
                            <m:t>12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𝑉</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𝑚</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1" name="Object 2">
                <a:extLst>
                  <a:ext uri="{FF2B5EF4-FFF2-40B4-BE49-F238E27FC236}">
                    <a16:creationId xmlns:a16="http://schemas.microsoft.com/office/drawing/2014/main" id="{7373F187-8990-5488-8B64-44E354E71E22}"/>
                  </a:ext>
                </a:extLst>
              </p:cNvPr>
              <p:cNvSpPr txBox="1">
                <a:spLocks noRot="1" noChangeAspect="1" noMove="1" noResize="1" noEditPoints="1" noAdjustHandles="1" noChangeArrowheads="1" noChangeShapeType="1" noTextEdit="1"/>
              </p:cNvSpPr>
              <p:nvPr/>
            </p:nvSpPr>
            <p:spPr>
              <a:xfrm>
                <a:off x="2228851" y="6240459"/>
                <a:ext cx="4534694" cy="574675"/>
              </a:xfrm>
              <a:prstGeom prst="rect">
                <a:avLst/>
              </a:prstGeom>
              <a:blipFill>
                <a:blip r:embed="rId2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3">
                <a:extLst>
                  <a:ext uri="{FF2B5EF4-FFF2-40B4-BE49-F238E27FC236}">
                    <a16:creationId xmlns:a16="http://schemas.microsoft.com/office/drawing/2014/main" id="{2D6DCB5F-3D62-AEF5-B8DD-60BAEA4BFEC8}"/>
                  </a:ext>
                </a:extLst>
              </p:cNvPr>
              <p:cNvSpPr txBox="1"/>
              <p:nvPr/>
            </p:nvSpPr>
            <p:spPr>
              <a:xfrm>
                <a:off x="5997575" y="5496565"/>
                <a:ext cx="4992687" cy="59372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𝑉</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𝑚</m:t>
                          </m:r>
                        </m:sub>
                      </m:sSub>
                      <m:r>
                        <a:rPr lang="en-US" sz="2800" i="1">
                          <a:solidFill>
                            <a:srgbClr val="000000"/>
                          </a:solidFill>
                          <a:latin typeface="Cambria Math" panose="02040503050406030204" pitchFamily="18" charset="0"/>
                        </a:rPr>
                        <m:t>=20.44</m:t>
                      </m:r>
                      <m:r>
                        <m:rPr>
                          <m:nor/>
                        </m:rPr>
                        <a:rPr lang="en-US" sz="2800" i="0">
                          <a:solidFill>
                            <a:srgbClr val="000000"/>
                          </a:solidFill>
                          <a:latin typeface="Cambria Math" panose="02040503050406030204" pitchFamily="18" charset="0"/>
                        </a:rPr>
                        <m:t> </m:t>
                      </m:r>
                      <m:r>
                        <m:rPr>
                          <m:nor/>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m:t>
                      </m:r>
                      <m:r>
                        <m:rPr>
                          <m:nor/>
                        </m:rPr>
                        <a:rPr lang="en-US" sz="2800" i="0">
                          <a:solidFill>
                            <a:srgbClr val="000000"/>
                          </a:solidFill>
                          <a:latin typeface="Cambria Math" panose="02040503050406030204" pitchFamily="18" charset="0"/>
                        </a:rPr>
                        <m:t>mo</m:t>
                      </m:r>
                      <m:sSup>
                        <m:sSupPr>
                          <m:ctrlPr>
                            <a:rPr lang="en-US" sz="2800" i="1">
                              <a:solidFill>
                                <a:srgbClr val="000000"/>
                              </a:solidFill>
                              <a:latin typeface="Cambria Math" panose="02040503050406030204" pitchFamily="18" charset="0"/>
                            </a:rPr>
                          </m:ctrlPr>
                        </m:sSupPr>
                        <m:e>
                          <m:r>
                            <m:rPr>
                              <m:nor/>
                            </m:rPr>
                            <a:rPr lang="en-US" sz="2800" i="0">
                              <a:solidFill>
                                <a:srgbClr val="000000"/>
                              </a:solidFill>
                              <a:latin typeface="Cambria Math" panose="02040503050406030204" pitchFamily="18" charset="0"/>
                            </a:rPr>
                            <m:t>l</m:t>
                          </m:r>
                        </m:e>
                        <m:sup>
                          <m:r>
                            <a:rPr lang="en-US" sz="2800" i="1">
                              <a:solidFill>
                                <a:srgbClr val="000000"/>
                              </a:solidFill>
                              <a:latin typeface="Cambria Math" panose="02040503050406030204" pitchFamily="18" charset="0"/>
                            </a:rPr>
                            <m:t>−</m:t>
                          </m:r>
                          <m:r>
                            <a:rPr lang="en-US" sz="2800" i="0">
                              <a:solidFill>
                                <a:srgbClr val="000000"/>
                              </a:solidFill>
                              <a:latin typeface="Cambria Math" panose="02040503050406030204" pitchFamily="18" charset="0"/>
                            </a:rPr>
                            <m:t>1</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K</m:t>
                          </m:r>
                        </m:e>
                        <m:sup>
                          <m:r>
                            <a:rPr lang="en-US" sz="2800" i="1">
                              <a:solidFill>
                                <a:srgbClr val="000000"/>
                              </a:solidFill>
                              <a:latin typeface="Cambria Math" panose="02040503050406030204" pitchFamily="18" charset="0"/>
                            </a:rPr>
                            <m:t>−</m:t>
                          </m:r>
                          <m:r>
                            <a:rPr lang="en-US" sz="2800" i="0">
                              <a:solidFill>
                                <a:srgbClr val="000000"/>
                              </a:solidFill>
                              <a:latin typeface="Cambria Math" panose="02040503050406030204" pitchFamily="18" charset="0"/>
                            </a:rPr>
                            <m:t>1</m:t>
                          </m:r>
                        </m:sup>
                      </m:sSup>
                    </m:oMath>
                  </m:oMathPara>
                </a14:m>
                <a:endParaRPr lang="en-US" sz="2800"/>
              </a:p>
            </p:txBody>
          </p:sp>
        </mc:Choice>
        <mc:Fallback xmlns="">
          <p:sp>
            <p:nvSpPr>
              <p:cNvPr id="12" name="Object 3">
                <a:extLst>
                  <a:ext uri="{FF2B5EF4-FFF2-40B4-BE49-F238E27FC236}">
                    <a16:creationId xmlns:a16="http://schemas.microsoft.com/office/drawing/2014/main" id="{2D6DCB5F-3D62-AEF5-B8DD-60BAEA4BFEC8}"/>
                  </a:ext>
                </a:extLst>
              </p:cNvPr>
              <p:cNvSpPr txBox="1">
                <a:spLocks noRot="1" noChangeAspect="1" noMove="1" noResize="1" noEditPoints="1" noAdjustHandles="1" noChangeArrowheads="1" noChangeShapeType="1" noTextEdit="1"/>
              </p:cNvSpPr>
              <p:nvPr/>
            </p:nvSpPr>
            <p:spPr>
              <a:xfrm>
                <a:off x="5997575" y="5496565"/>
                <a:ext cx="4992687" cy="593725"/>
              </a:xfrm>
              <a:prstGeom prst="rect">
                <a:avLst/>
              </a:prstGeom>
              <a:blipFill>
                <a:blip r:embed="rId2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4">
                <a:extLst>
                  <a:ext uri="{FF2B5EF4-FFF2-40B4-BE49-F238E27FC236}">
                    <a16:creationId xmlns:a16="http://schemas.microsoft.com/office/drawing/2014/main" id="{D05BF28E-686A-E291-C1F6-88EBCB2153B5}"/>
                  </a:ext>
                </a:extLst>
              </p:cNvPr>
              <p:cNvSpPr txBox="1"/>
              <p:nvPr/>
            </p:nvSpPr>
            <p:spPr>
              <a:xfrm>
                <a:off x="6200775" y="6248877"/>
                <a:ext cx="2879725" cy="52863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=−4.70×1</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0</m:t>
                          </m:r>
                        </m:e>
                        <m:sup>
                          <m:r>
                            <a:rPr lang="en-US" sz="2800" i="1">
                              <a:solidFill>
                                <a:srgbClr val="000000"/>
                              </a:solidFill>
                              <a:latin typeface="Cambria Math" panose="02040503050406030204" pitchFamily="18" charset="0"/>
                            </a:rPr>
                            <m:t>4</m:t>
                          </m:r>
                        </m:sup>
                      </m:sSup>
                      <m:r>
                        <m:rPr>
                          <m:sty m:val="p"/>
                        </m:rPr>
                        <a:rPr lang="en-US" sz="2800" i="0">
                          <a:solidFill>
                            <a:srgbClr val="000000"/>
                          </a:solidFill>
                          <a:latin typeface="Cambria Math" panose="02040503050406030204" pitchFamily="18" charset="0"/>
                        </a:rPr>
                        <m:t>J</m:t>
                      </m:r>
                    </m:oMath>
                  </m:oMathPara>
                </a14:m>
                <a:endParaRPr lang="en-US" sz="2800" dirty="0"/>
              </a:p>
            </p:txBody>
          </p:sp>
        </mc:Choice>
        <mc:Fallback xmlns="">
          <p:sp>
            <p:nvSpPr>
              <p:cNvPr id="13" name="Object 4">
                <a:extLst>
                  <a:ext uri="{FF2B5EF4-FFF2-40B4-BE49-F238E27FC236}">
                    <a16:creationId xmlns:a16="http://schemas.microsoft.com/office/drawing/2014/main" id="{D05BF28E-686A-E291-C1F6-88EBCB2153B5}"/>
                  </a:ext>
                </a:extLst>
              </p:cNvPr>
              <p:cNvSpPr txBox="1">
                <a:spLocks noRot="1" noChangeAspect="1" noMove="1" noResize="1" noEditPoints="1" noAdjustHandles="1" noChangeArrowheads="1" noChangeShapeType="1" noTextEdit="1"/>
              </p:cNvSpPr>
              <p:nvPr/>
            </p:nvSpPr>
            <p:spPr>
              <a:xfrm>
                <a:off x="6200775" y="6248877"/>
                <a:ext cx="2879725" cy="528637"/>
              </a:xfrm>
              <a:prstGeom prst="rect">
                <a:avLst/>
              </a:prstGeom>
              <a:blipFill>
                <a:blip r:embed="rId2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472B924-0E8B-50FB-EF77-F379FD42E0DE}"/>
                  </a:ext>
                </a:extLst>
              </p:cNvPr>
              <p:cNvSpPr txBox="1"/>
              <p:nvPr/>
            </p:nvSpPr>
            <p:spPr>
              <a:xfrm>
                <a:off x="4266805" y="3112158"/>
                <a:ext cx="4215209" cy="523220"/>
              </a:xfrm>
              <a:prstGeom prst="rect">
                <a:avLst/>
              </a:prstGeom>
              <a:noFill/>
            </p:spPr>
            <p:txBody>
              <a:bodyPr wrap="square">
                <a:spAutoFit/>
              </a:bodyPr>
              <a:lstStyle/>
              <a:p>
                <a14:m>
                  <m:oMath xmlns:m="http://schemas.openxmlformats.org/officeDocument/2006/math">
                    <m:r>
                      <m:rPr>
                        <m:sty m:val="p"/>
                      </m:rPr>
                      <a:rPr lang="en-US" altLang="zh-CN" sz="2800" i="1">
                        <a:latin typeface="Cambria Math" panose="02040503050406030204" pitchFamily="18" charset="0"/>
                      </a:rPr>
                      <m:t>P</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𝜈</m:t>
                    </m:r>
                    <m:r>
                      <a:rPr lang="en-US" altLang="zh-CN" sz="2800" b="0" i="1" smtClean="0">
                        <a:solidFill>
                          <a:schemeClr val="tx1"/>
                        </a:solidFill>
                        <a:latin typeface="Cambria Math" panose="02040503050406030204" pitchFamily="18" charset="0"/>
                      </a:rPr>
                      <m:t>𝑅𝑇</m:t>
                    </m:r>
                  </m:oMath>
                </a14:m>
                <a:r>
                  <a:rPr lang="en-US" altLang="zh-CN" sz="2800" dirty="0"/>
                  <a:t>/V ;  </a:t>
                </a:r>
                <a:r>
                  <a:rPr lang="en-US" altLang="zh-CN" sz="2800" dirty="0" err="1"/>
                  <a:t>dA</a:t>
                </a:r>
                <a:r>
                  <a:rPr lang="en-US" altLang="zh-CN" sz="2800" dirty="0"/>
                  <a:t>=</a:t>
                </a:r>
                <a:r>
                  <a:rPr lang="en-US" altLang="zh-CN" sz="2800" dirty="0" err="1"/>
                  <a:t>PdV</a:t>
                </a:r>
                <a:endParaRPr lang="zh-CN" altLang="en-US" sz="2800" dirty="0"/>
              </a:p>
            </p:txBody>
          </p:sp>
        </mc:Choice>
        <mc:Fallback xmlns="">
          <p:sp>
            <p:nvSpPr>
              <p:cNvPr id="15" name="文本框 14">
                <a:extLst>
                  <a:ext uri="{FF2B5EF4-FFF2-40B4-BE49-F238E27FC236}">
                    <a16:creationId xmlns:a16="http://schemas.microsoft.com/office/drawing/2014/main" id="{A472B924-0E8B-50FB-EF77-F379FD42E0DE}"/>
                  </a:ext>
                </a:extLst>
              </p:cNvPr>
              <p:cNvSpPr txBox="1">
                <a:spLocks noRot="1" noChangeAspect="1" noMove="1" noResize="1" noEditPoints="1" noAdjustHandles="1" noChangeArrowheads="1" noChangeShapeType="1" noTextEdit="1"/>
              </p:cNvSpPr>
              <p:nvPr/>
            </p:nvSpPr>
            <p:spPr>
              <a:xfrm>
                <a:off x="4266805" y="3112158"/>
                <a:ext cx="4215209" cy="523220"/>
              </a:xfrm>
              <a:prstGeom prst="rect">
                <a:avLst/>
              </a:prstGeom>
              <a:blipFill>
                <a:blip r:embed="rId25"/>
                <a:stretch>
                  <a:fillRect t="-12941" b="-3294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P spid="8" grpId="0"/>
      <p:bldP spid="9" grpId="0"/>
      <p:bldP spid="10" grpId="0" animBg="1"/>
      <p:bldP spid="11" grpId="0"/>
      <p:bldP spid="12" grpId="0"/>
      <p:bldP spid="13" grpId="0"/>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002" name="Group 2"/>
          <p:cNvGrpSpPr/>
          <p:nvPr/>
        </p:nvGrpSpPr>
        <p:grpSpPr>
          <a:xfrm>
            <a:off x="919957" y="300040"/>
            <a:ext cx="11157743" cy="1501775"/>
            <a:chOff x="249" y="482"/>
            <a:chExt cx="5262" cy="946"/>
          </a:xfrm>
        </p:grpSpPr>
        <p:sp>
          <p:nvSpPr>
            <p:cNvPr id="42022" name="Text Box 3"/>
            <p:cNvSpPr txBox="1"/>
            <p:nvPr/>
          </p:nvSpPr>
          <p:spPr>
            <a:xfrm>
              <a:off x="249" y="482"/>
              <a:ext cx="5262" cy="946"/>
            </a:xfrm>
            <a:prstGeom prst="rect">
              <a:avLst/>
            </a:prstGeom>
            <a:noFill/>
            <a:ln w="9525">
              <a:noFill/>
            </a:ln>
          </p:spPr>
          <p:txBody>
            <a:bodyPr>
              <a:spAutoFit/>
            </a:bodyPr>
            <a:lstStyle/>
            <a:p>
              <a:pPr eaLnBrk="1" hangingPunct="1">
                <a:lnSpc>
                  <a:spcPct val="120000"/>
                </a:lnSpc>
                <a:spcBef>
                  <a:spcPct val="50000"/>
                </a:spcBef>
              </a:pPr>
              <a:r>
                <a:rPr lang="en-US" altLang="zh-CN" sz="2600" dirty="0">
                  <a:solidFill>
                    <a:srgbClr val="CC0000"/>
                  </a:solidFill>
                </a:rPr>
                <a:t>         </a:t>
              </a:r>
              <a:r>
                <a:rPr lang="zh-CN" altLang="en-US" sz="2600" dirty="0">
                  <a:solidFill>
                    <a:srgbClr val="CC0000"/>
                  </a:solidFill>
                </a:rPr>
                <a:t>例</a:t>
              </a:r>
              <a:r>
                <a:rPr lang="en-US" altLang="zh-CN" sz="2600" dirty="0">
                  <a:solidFill>
                    <a:srgbClr val="CC0000"/>
                  </a:solidFill>
                </a:rPr>
                <a:t>2</a:t>
              </a:r>
              <a:r>
                <a:rPr lang="en-US" altLang="zh-CN" sz="2600" dirty="0">
                  <a:solidFill>
                    <a:srgbClr val="000000"/>
                  </a:solidFill>
                </a:rPr>
                <a:t>  </a:t>
              </a:r>
              <a:r>
                <a:rPr lang="zh-CN" altLang="en-US" sz="2600" dirty="0">
                  <a:solidFill>
                    <a:srgbClr val="000000"/>
                  </a:solidFill>
                </a:rPr>
                <a:t>设有 </a:t>
              </a:r>
              <a:r>
                <a:rPr lang="en-US" altLang="zh-CN" sz="2600" dirty="0">
                  <a:solidFill>
                    <a:srgbClr val="000000"/>
                  </a:solidFill>
                </a:rPr>
                <a:t>5 mol </a:t>
              </a:r>
              <a:r>
                <a:rPr lang="zh-CN" altLang="en-US" sz="2600" dirty="0">
                  <a:solidFill>
                    <a:srgbClr val="000000"/>
                  </a:solidFill>
                </a:rPr>
                <a:t>的氢气，最初温度        ，压强                         ，求下列过程中把氢气压缩为原体积的 </a:t>
              </a:r>
              <a:r>
                <a:rPr lang="en-US" altLang="zh-CN" sz="2600" dirty="0">
                  <a:solidFill>
                    <a:srgbClr val="000000"/>
                  </a:solidFill>
                </a:rPr>
                <a:t>1/10 </a:t>
              </a:r>
              <a:r>
                <a:rPr lang="zh-CN" altLang="en-US" sz="2600" dirty="0">
                  <a:solidFill>
                    <a:srgbClr val="000000"/>
                  </a:solidFill>
                </a:rPr>
                <a:t>需作的功</a:t>
              </a:r>
              <a:r>
                <a:rPr lang="en-US" altLang="zh-CN" sz="2600" dirty="0">
                  <a:solidFill>
                    <a:srgbClr val="000000"/>
                  </a:solidFill>
                </a:rPr>
                <a:t>:  </a:t>
              </a:r>
              <a:r>
                <a:rPr lang="zh-CN" altLang="en-US" sz="2600" dirty="0">
                  <a:solidFill>
                    <a:srgbClr val="CC0000"/>
                  </a:solidFill>
                </a:rPr>
                <a:t>（</a:t>
              </a:r>
              <a:r>
                <a:rPr lang="en-US" altLang="zh-CN" sz="2600" dirty="0">
                  <a:solidFill>
                    <a:srgbClr val="CC0000"/>
                  </a:solidFill>
                </a:rPr>
                <a:t>1</a:t>
              </a:r>
              <a:r>
                <a:rPr lang="zh-CN" altLang="en-US" sz="2600" dirty="0">
                  <a:solidFill>
                    <a:srgbClr val="CC0000"/>
                  </a:solidFill>
                </a:rPr>
                <a:t>）</a:t>
              </a:r>
              <a:r>
                <a:rPr lang="zh-CN" altLang="en-US" sz="2600" dirty="0">
                  <a:solidFill>
                    <a:srgbClr val="000000"/>
                  </a:solidFill>
                </a:rPr>
                <a:t>等温过程</a:t>
              </a:r>
              <a:r>
                <a:rPr lang="zh-CN" altLang="en-US" sz="2600" dirty="0">
                  <a:solidFill>
                    <a:srgbClr val="CC0000"/>
                  </a:solidFill>
                </a:rPr>
                <a:t>（</a:t>
              </a:r>
              <a:r>
                <a:rPr lang="en-US" altLang="zh-CN" sz="2600" dirty="0">
                  <a:solidFill>
                    <a:srgbClr val="CC0000"/>
                  </a:solidFill>
                </a:rPr>
                <a:t>2</a:t>
              </a:r>
              <a:r>
                <a:rPr lang="zh-CN" altLang="en-US" sz="2600" dirty="0">
                  <a:solidFill>
                    <a:srgbClr val="CC0000"/>
                  </a:solidFill>
                </a:rPr>
                <a:t>）</a:t>
              </a:r>
              <a:r>
                <a:rPr lang="zh-CN" altLang="en-US" sz="2600" dirty="0">
                  <a:solidFill>
                    <a:srgbClr val="000000"/>
                  </a:solidFill>
                </a:rPr>
                <a:t>绝热过程 </a:t>
              </a:r>
              <a:r>
                <a:rPr lang="zh-CN" altLang="en-US" sz="2600" dirty="0">
                  <a:solidFill>
                    <a:srgbClr val="CC0000"/>
                  </a:solidFill>
                </a:rPr>
                <a:t>（</a:t>
              </a:r>
              <a:r>
                <a:rPr lang="en-US" altLang="zh-CN" sz="2600" dirty="0">
                  <a:solidFill>
                    <a:srgbClr val="CC0000"/>
                  </a:solidFill>
                </a:rPr>
                <a:t>3</a:t>
              </a:r>
              <a:r>
                <a:rPr lang="zh-CN" altLang="en-US" sz="2600" dirty="0">
                  <a:solidFill>
                    <a:srgbClr val="CC0000"/>
                  </a:solidFill>
                </a:rPr>
                <a:t>）</a:t>
              </a:r>
              <a:r>
                <a:rPr lang="zh-CN" altLang="en-US" sz="2600" dirty="0">
                  <a:solidFill>
                    <a:srgbClr val="000000"/>
                  </a:solidFill>
                </a:rPr>
                <a:t>经这两过程后，气体的压强各为多少？</a:t>
              </a:r>
            </a:p>
          </p:txBody>
        </p:sp>
        <mc:AlternateContent xmlns:mc="http://schemas.openxmlformats.org/markup-compatibility/2006" xmlns:a14="http://schemas.microsoft.com/office/drawing/2010/main">
          <mc:Choice Requires="a14">
            <p:sp>
              <p:nvSpPr>
                <p:cNvPr id="42000" name="Object 4"/>
                <p:cNvSpPr txBox="1"/>
                <p:nvPr/>
              </p:nvSpPr>
              <p:spPr>
                <a:xfrm>
                  <a:off x="3630" y="501"/>
                  <a:ext cx="1179" cy="2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1.013×1</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5</m:t>
                            </m:r>
                          </m:sup>
                        </m:sSup>
                        <m:r>
                          <m:rPr>
                            <m:nor/>
                          </m:rPr>
                          <a:rPr lang="en-US" sz="2600" i="0">
                            <a:solidFill>
                              <a:srgbClr val="000000"/>
                            </a:solidFill>
                          </a:rPr>
                          <m:t>Pa</m:t>
                        </m:r>
                      </m:oMath>
                    </m:oMathPara>
                  </a14:m>
                  <a:endParaRPr lang="en-US" sz="2600" dirty="0"/>
                </a:p>
              </p:txBody>
            </p:sp>
          </mc:Choice>
          <mc:Fallback xmlns="">
            <p:sp>
              <p:nvSpPr>
                <p:cNvPr id="42000" name="Object 4"/>
                <p:cNvSpPr txBox="1">
                  <a:spLocks noRot="1" noChangeAspect="1" noMove="1" noResize="1" noEditPoints="1" noAdjustHandles="1" noChangeArrowheads="1" noChangeShapeType="1" noTextEdit="1"/>
                </p:cNvSpPr>
                <p:nvPr/>
              </p:nvSpPr>
              <p:spPr>
                <a:xfrm>
                  <a:off x="3630" y="501"/>
                  <a:ext cx="1179" cy="296"/>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001" name="Object 5"/>
                <p:cNvSpPr txBox="1"/>
                <p:nvPr/>
              </p:nvSpPr>
              <p:spPr>
                <a:xfrm>
                  <a:off x="2825" y="501"/>
                  <a:ext cx="562" cy="329"/>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2</m:t>
                        </m:r>
                        <m:sSup>
                          <m:sSupPr>
                            <m:ctrlPr>
                              <a:rPr lang="en-US" sz="2600" i="1">
                                <a:solidFill>
                                  <a:srgbClr val="000000"/>
                                </a:solidFill>
                                <a:latin typeface="Cambria Math" panose="02040503050406030204" pitchFamily="18" charset="0"/>
                              </a:rPr>
                            </m:ctrlPr>
                          </m:sSupPr>
                          <m:e>
                            <m:r>
                              <a:rPr lang="en-US" sz="2600" b="0" i="1">
                                <a:solidFill>
                                  <a:srgbClr val="000000"/>
                                </a:solidFill>
                                <a:latin typeface="Cambria Math" panose="02040503050406030204" pitchFamily="18" charset="0"/>
                              </a:rPr>
                              <m:t>0</m:t>
                            </m:r>
                          </m:e>
                          <m:sup>
                            <m:r>
                              <a:rPr lang="en-US" sz="2600" b="0" i="1">
                                <a:solidFill>
                                  <a:srgbClr val="000000"/>
                                </a:solidFill>
                                <a:latin typeface="Cambria Math" panose="02040503050406030204" pitchFamily="18" charset="0"/>
                              </a:rPr>
                              <m:t>∘</m:t>
                            </m:r>
                          </m:sup>
                        </m:sSup>
                        <m:r>
                          <m:rPr>
                            <m:sty m:val="p"/>
                          </m:rPr>
                          <a:rPr lang="en-US" sz="2600" b="0" i="0">
                            <a:solidFill>
                              <a:srgbClr val="000000"/>
                            </a:solidFill>
                            <a:latin typeface="Cambria Math" panose="02040503050406030204" pitchFamily="18" charset="0"/>
                          </a:rPr>
                          <m:t>C</m:t>
                        </m:r>
                      </m:oMath>
                    </m:oMathPara>
                  </a14:m>
                  <a:endParaRPr lang="en-US" sz="2600" dirty="0"/>
                </a:p>
              </p:txBody>
            </p:sp>
          </mc:Choice>
          <mc:Fallback xmlns="">
            <p:sp>
              <p:nvSpPr>
                <p:cNvPr id="42001" name="Object 5"/>
                <p:cNvSpPr txBox="1">
                  <a:spLocks noRot="1" noChangeAspect="1" noMove="1" noResize="1" noEditPoints="1" noAdjustHandles="1" noChangeArrowheads="1" noChangeShapeType="1" noTextEdit="1"/>
                </p:cNvSpPr>
                <p:nvPr/>
              </p:nvSpPr>
              <p:spPr>
                <a:xfrm>
                  <a:off x="2825" y="501"/>
                  <a:ext cx="562" cy="329"/>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42003" name="Group 6"/>
          <p:cNvGrpSpPr/>
          <p:nvPr/>
        </p:nvGrpSpPr>
        <p:grpSpPr>
          <a:xfrm>
            <a:off x="8323263" y="1516064"/>
            <a:ext cx="3505200" cy="3124200"/>
            <a:chOff x="3120" y="1968"/>
            <a:chExt cx="2208" cy="1968"/>
          </a:xfrm>
        </p:grpSpPr>
        <p:sp>
          <p:nvSpPr>
            <p:cNvPr id="42004" name="Rectangle 7"/>
            <p:cNvSpPr/>
            <p:nvPr/>
          </p:nvSpPr>
          <p:spPr>
            <a:xfrm>
              <a:off x="3120" y="1968"/>
              <a:ext cx="2208" cy="1968"/>
            </a:xfrm>
            <a:prstGeom prst="rect">
              <a:avLst/>
            </a:prstGeom>
            <a:solidFill>
              <a:srgbClr val="FFFFFF"/>
            </a:solidFill>
            <a:ln w="9525" cap="flat" cmpd="sng">
              <a:no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p:sp>
          <p:nvSpPr>
            <p:cNvPr id="42005" name="Rectangle 8"/>
            <p:cNvSpPr/>
            <p:nvPr/>
          </p:nvSpPr>
          <p:spPr>
            <a:xfrm>
              <a:off x="3984" y="3312"/>
              <a:ext cx="816" cy="240"/>
            </a:xfrm>
            <a:prstGeom prst="rect">
              <a:avLst/>
            </a:prstGeom>
            <a:noFill/>
            <a:ln w="9525" cap="flat" cmpd="sng">
              <a:solidFill>
                <a:srgbClr val="0000FF"/>
              </a:solidFill>
              <a:prstDash val="solid"/>
              <a:miter/>
              <a:headEnd type="none" w="med" len="med"/>
              <a:tailEnd type="none" w="med" len="med"/>
            </a:ln>
          </p:spPr>
          <p:txBody>
            <a:bodyPr wrap="none" anchor="ctr" anchorCtr="0"/>
            <a:lstStyle/>
            <a:p>
              <a:endParaRPr lang="zh-CN" altLang="en-US" sz="20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41986" name="Object 9"/>
                <p:cNvSpPr txBox="1"/>
                <p:nvPr/>
              </p:nvSpPr>
              <p:spPr>
                <a:xfrm>
                  <a:off x="4800" y="2976"/>
                  <a:ext cx="189" cy="264"/>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86" name="Object 9"/>
                <p:cNvSpPr txBox="1">
                  <a:spLocks noRot="1" noChangeAspect="1" noMove="1" noResize="1" noEditPoints="1" noAdjustHandles="1" noChangeArrowheads="1" noChangeShapeType="1" noTextEdit="1"/>
                </p:cNvSpPr>
                <p:nvPr/>
              </p:nvSpPr>
              <p:spPr>
                <a:xfrm>
                  <a:off x="4800" y="2976"/>
                  <a:ext cx="189" cy="264"/>
                </a:xfrm>
                <a:prstGeom prst="rect">
                  <a:avLst/>
                </a:prstGeom>
                <a:blipFill>
                  <a:blip r:embed="rId4"/>
                  <a:stretch>
                    <a:fillRect r="-2653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87" name="Object 10"/>
                <p:cNvSpPr txBox="1"/>
                <p:nvPr/>
              </p:nvSpPr>
              <p:spPr>
                <a:xfrm>
                  <a:off x="3888" y="2160"/>
                  <a:ext cx="240" cy="25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41987" name="Object 10"/>
                <p:cNvSpPr txBox="1">
                  <a:spLocks noRot="1" noChangeAspect="1" noMove="1" noResize="1" noEditPoints="1" noAdjustHandles="1" noChangeArrowheads="1" noChangeShapeType="1" noTextEdit="1"/>
                </p:cNvSpPr>
                <p:nvPr/>
              </p:nvSpPr>
              <p:spPr>
                <a:xfrm>
                  <a:off x="3888" y="2160"/>
                  <a:ext cx="240" cy="252"/>
                </a:xfrm>
                <a:prstGeom prst="rect">
                  <a:avLst/>
                </a:prstGeom>
                <a:blipFill>
                  <a:blip r:embed="rId5"/>
                  <a:stretch>
                    <a:fillRect r="-1587" b="-3077"/>
                  </a:stretch>
                </a:blipFill>
                <a:ln w="38100">
                  <a:noFill/>
                  <a:miter/>
                </a:ln>
              </p:spPr>
              <p:txBody>
                <a:bodyPr/>
                <a:lstStyle/>
                <a:p>
                  <a:r>
                    <a:rPr lang="zh-CN" altLang="en-US">
                      <a:noFill/>
                    </a:rPr>
                    <a:t> </a:t>
                  </a:r>
                </a:p>
              </p:txBody>
            </p:sp>
          </mc:Fallback>
        </mc:AlternateContent>
        <p:sp>
          <p:nvSpPr>
            <p:cNvPr id="42006" name="Line 11"/>
            <p:cNvSpPr/>
            <p:nvPr/>
          </p:nvSpPr>
          <p:spPr>
            <a:xfrm flipV="1">
              <a:off x="3456" y="3600"/>
              <a:ext cx="1728" cy="8"/>
            </a:xfrm>
            <a:prstGeom prst="line">
              <a:avLst/>
            </a:prstGeom>
            <a:ln w="19050" cap="flat" cmpd="sng">
              <a:solidFill>
                <a:schemeClr val="tx1"/>
              </a:solidFill>
              <a:prstDash val="solid"/>
              <a:headEnd type="none" w="med" len="med"/>
              <a:tailEnd type="triangle" w="sm" len="lg"/>
            </a:ln>
          </p:spPr>
        </p:sp>
        <p:sp>
          <p:nvSpPr>
            <p:cNvPr id="42007" name="Line 12"/>
            <p:cNvSpPr/>
            <p:nvPr/>
          </p:nvSpPr>
          <p:spPr>
            <a:xfrm flipH="1">
              <a:off x="3779" y="2353"/>
              <a:ext cx="14" cy="1249"/>
            </a:xfrm>
            <a:prstGeom prst="line">
              <a:avLst/>
            </a:prstGeom>
            <a:ln w="12700" cap="flat" cmpd="sng">
              <a:solidFill>
                <a:schemeClr val="tx1"/>
              </a:solidFill>
              <a:prstDash val="dash"/>
              <a:headEnd type="none" w="med" len="med"/>
              <a:tailEnd type="none" w="med" len="med"/>
            </a:ln>
          </p:spPr>
        </p:sp>
        <p:sp>
          <p:nvSpPr>
            <p:cNvPr id="42008" name="Line 13"/>
            <p:cNvSpPr/>
            <p:nvPr/>
          </p:nvSpPr>
          <p:spPr>
            <a:xfrm>
              <a:off x="4848" y="3260"/>
              <a:ext cx="0" cy="342"/>
            </a:xfrm>
            <a:prstGeom prst="line">
              <a:avLst/>
            </a:prstGeom>
            <a:ln w="12700" cap="flat" cmpd="sng">
              <a:solidFill>
                <a:schemeClr val="tx1"/>
              </a:solidFill>
              <a:prstDash val="dash"/>
              <a:headEnd type="none" w="med" len="med"/>
              <a:tailEnd type="none" w="med" len="med"/>
            </a:ln>
          </p:spPr>
        </p:sp>
        <p:sp>
          <p:nvSpPr>
            <p:cNvPr id="42009" name="Line 14"/>
            <p:cNvSpPr/>
            <p:nvPr/>
          </p:nvSpPr>
          <p:spPr>
            <a:xfrm flipH="1">
              <a:off x="3449" y="2310"/>
              <a:ext cx="330" cy="0"/>
            </a:xfrm>
            <a:prstGeom prst="line">
              <a:avLst/>
            </a:prstGeom>
            <a:ln w="12700" cap="flat" cmpd="sng">
              <a:solidFill>
                <a:schemeClr val="tx1"/>
              </a:solidFill>
              <a:prstDash val="dash"/>
              <a:headEnd type="none" w="med" len="med"/>
              <a:tailEnd type="none" w="med" len="med"/>
            </a:ln>
          </p:spPr>
        </p:sp>
        <p:sp>
          <p:nvSpPr>
            <p:cNvPr id="42010" name="Text Box 15"/>
            <p:cNvSpPr txBox="1"/>
            <p:nvPr/>
          </p:nvSpPr>
          <p:spPr>
            <a:xfrm>
              <a:off x="4848" y="3168"/>
              <a:ext cx="289" cy="252"/>
            </a:xfrm>
            <a:prstGeom prst="rect">
              <a:avLst/>
            </a:prstGeom>
            <a:noFill/>
            <a:ln w="9525">
              <a:noFill/>
            </a:ln>
          </p:spPr>
          <p:txBody>
            <a:bodyPr>
              <a:spAutoFit/>
            </a:bodyPr>
            <a:lstStyle/>
            <a:p>
              <a:pPr>
                <a:spcBef>
                  <a:spcPct val="50000"/>
                </a:spcBef>
              </a:pPr>
              <a:r>
                <a:rPr lang="en-US" altLang="zh-CN" sz="2000" b="1" dirty="0">
                  <a:solidFill>
                    <a:srgbClr val="A50021"/>
                  </a:solidFill>
                  <a:latin typeface="Times New Roman" panose="02020603050405020304" pitchFamily="18" charset="0"/>
                </a:rPr>
                <a:t>1</a:t>
              </a:r>
            </a:p>
          </p:txBody>
        </p:sp>
        <p:sp>
          <p:nvSpPr>
            <p:cNvPr id="42011" name="Text Box 16"/>
            <p:cNvSpPr txBox="1"/>
            <p:nvPr/>
          </p:nvSpPr>
          <p:spPr>
            <a:xfrm>
              <a:off x="3648" y="2016"/>
              <a:ext cx="288" cy="252"/>
            </a:xfrm>
            <a:prstGeom prst="rect">
              <a:avLst/>
            </a:prstGeom>
            <a:noFill/>
            <a:ln w="9525">
              <a:noFill/>
            </a:ln>
          </p:spPr>
          <p:txBody>
            <a:bodyPr>
              <a:spAutoFit/>
            </a:bodyPr>
            <a:lstStyle/>
            <a:p>
              <a:pPr>
                <a:spcBef>
                  <a:spcPct val="50000"/>
                </a:spcBef>
              </a:pPr>
              <a:r>
                <a:rPr lang="en-US" altLang="zh-CN" sz="2000" dirty="0">
                  <a:solidFill>
                    <a:srgbClr val="A50021"/>
                  </a:solidFill>
                  <a:latin typeface="Times New Roman" panose="02020603050405020304" pitchFamily="18" charset="0"/>
                </a:rPr>
                <a:t>2</a:t>
              </a:r>
              <a:endParaRPr lang="en-US" altLang="zh-CN" sz="20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1988" name="Object 17"/>
                <p:cNvSpPr txBox="1"/>
                <p:nvPr/>
              </p:nvSpPr>
              <p:spPr>
                <a:xfrm>
                  <a:off x="3168" y="3120"/>
                  <a:ext cx="264" cy="25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88" name="Object 17"/>
                <p:cNvSpPr txBox="1">
                  <a:spLocks noRot="1" noChangeAspect="1" noMove="1" noResize="1" noEditPoints="1" noAdjustHandles="1" noChangeArrowheads="1" noChangeShapeType="1" noTextEdit="1"/>
                </p:cNvSpPr>
                <p:nvPr/>
              </p:nvSpPr>
              <p:spPr>
                <a:xfrm>
                  <a:off x="3168" y="3120"/>
                  <a:ext cx="264" cy="256"/>
                </a:xfrm>
                <a:prstGeom prst="rect">
                  <a:avLst/>
                </a:prstGeom>
                <a:blipFill>
                  <a:blip r:embed="rId6"/>
                  <a:stretch>
                    <a:fillRect b="-757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89" name="Object 18"/>
                <p:cNvSpPr txBox="1"/>
                <p:nvPr/>
              </p:nvSpPr>
              <p:spPr>
                <a:xfrm>
                  <a:off x="3168" y="2208"/>
                  <a:ext cx="253" cy="24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Sub>
                      </m:oMath>
                    </m:oMathPara>
                  </a14:m>
                  <a:endParaRPr lang="en-US" sz="2000"/>
                </a:p>
              </p:txBody>
            </p:sp>
          </mc:Choice>
          <mc:Fallback xmlns="">
            <p:sp>
              <p:nvSpPr>
                <p:cNvPr id="41989" name="Object 18"/>
                <p:cNvSpPr txBox="1">
                  <a:spLocks noRot="1" noChangeAspect="1" noMove="1" noResize="1" noEditPoints="1" noAdjustHandles="1" noChangeArrowheads="1" noChangeShapeType="1" noTextEdit="1"/>
                </p:cNvSpPr>
                <p:nvPr/>
              </p:nvSpPr>
              <p:spPr>
                <a:xfrm>
                  <a:off x="3168" y="2208"/>
                  <a:ext cx="253" cy="246"/>
                </a:xfrm>
                <a:prstGeom prst="rect">
                  <a:avLst/>
                </a:prstGeom>
                <a:blipFill>
                  <a:blip r:embed="rId7"/>
                  <a:stretch>
                    <a:fillRect b="-125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0" name="Object 19"/>
                <p:cNvSpPr txBox="1"/>
                <p:nvPr/>
              </p:nvSpPr>
              <p:spPr>
                <a:xfrm>
                  <a:off x="4752" y="3594"/>
                  <a:ext cx="255" cy="34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oMath>
                    </m:oMathPara>
                  </a14:m>
                  <a:endParaRPr lang="en-US" sz="2000"/>
                </a:p>
              </p:txBody>
            </p:sp>
          </mc:Choice>
          <mc:Fallback xmlns="">
            <p:sp>
              <p:nvSpPr>
                <p:cNvPr id="41990" name="Object 19"/>
                <p:cNvSpPr txBox="1">
                  <a:spLocks noRot="1" noChangeAspect="1" noMove="1" noResize="1" noEditPoints="1" noAdjustHandles="1" noChangeArrowheads="1" noChangeShapeType="1" noTextEdit="1"/>
                </p:cNvSpPr>
                <p:nvPr/>
              </p:nvSpPr>
              <p:spPr>
                <a:xfrm>
                  <a:off x="4752" y="3594"/>
                  <a:ext cx="255" cy="342"/>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1" name="Object 20"/>
                <p:cNvSpPr txBox="1"/>
                <p:nvPr/>
              </p:nvSpPr>
              <p:spPr>
                <a:xfrm>
                  <a:off x="3260" y="3616"/>
                  <a:ext cx="1687" cy="30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f>
                          <m:fPr>
                            <m:type m:val="lin"/>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𝑉</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10</m:t>
                            </m:r>
                          </m:den>
                        </m:f>
                      </m:oMath>
                    </m:oMathPara>
                  </a14:m>
                  <a:endParaRPr lang="en-US" sz="2000" dirty="0"/>
                </a:p>
              </p:txBody>
            </p:sp>
          </mc:Choice>
          <mc:Fallback xmlns="">
            <p:sp>
              <p:nvSpPr>
                <p:cNvPr id="41991" name="Object 20"/>
                <p:cNvSpPr txBox="1">
                  <a:spLocks noRot="1" noChangeAspect="1" noMove="1" noResize="1" noEditPoints="1" noAdjustHandles="1" noChangeArrowheads="1" noChangeShapeType="1" noTextEdit="1"/>
                </p:cNvSpPr>
                <p:nvPr/>
              </p:nvSpPr>
              <p:spPr>
                <a:xfrm>
                  <a:off x="3260" y="3616"/>
                  <a:ext cx="1687" cy="302"/>
                </a:xfrm>
                <a:prstGeom prst="rect">
                  <a:avLst/>
                </a:prstGeom>
                <a:blipFill>
                  <a:blip r:embed="rId9"/>
                  <a:stretch>
                    <a:fillRect t="-96203" r="-3189" b="-13291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2" name="Object 21"/>
                <p:cNvSpPr txBox="1"/>
                <p:nvPr/>
              </p:nvSpPr>
              <p:spPr>
                <a:xfrm>
                  <a:off x="3210" y="2054"/>
                  <a:ext cx="183" cy="224"/>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𝑝</m:t>
                        </m:r>
                      </m:oMath>
                    </m:oMathPara>
                  </a14:m>
                  <a:endParaRPr lang="en-US" sz="2000"/>
                </a:p>
              </p:txBody>
            </p:sp>
          </mc:Choice>
          <mc:Fallback xmlns="">
            <p:sp>
              <p:nvSpPr>
                <p:cNvPr id="41992" name="Object 21"/>
                <p:cNvSpPr txBox="1">
                  <a:spLocks noRot="1" noChangeAspect="1" noMove="1" noResize="1" noEditPoints="1" noAdjustHandles="1" noChangeArrowheads="1" noChangeShapeType="1" noTextEdit="1"/>
                </p:cNvSpPr>
                <p:nvPr/>
              </p:nvSpPr>
              <p:spPr>
                <a:xfrm>
                  <a:off x="3210" y="2054"/>
                  <a:ext cx="183" cy="224"/>
                </a:xfrm>
                <a:prstGeom prst="rect">
                  <a:avLst/>
                </a:prstGeom>
                <a:blipFill>
                  <a:blip r:embed="rId10"/>
                  <a:stretch>
                    <a:fillRect r="-12766" b="-2413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3" name="Object 22"/>
                <p:cNvSpPr txBox="1"/>
                <p:nvPr/>
              </p:nvSpPr>
              <p:spPr>
                <a:xfrm>
                  <a:off x="4992" y="3648"/>
                  <a:ext cx="168" cy="19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𝑉</m:t>
                        </m:r>
                      </m:oMath>
                    </m:oMathPara>
                  </a14:m>
                  <a:endParaRPr lang="en-US" sz="2000"/>
                </a:p>
              </p:txBody>
            </p:sp>
          </mc:Choice>
          <mc:Fallback xmlns="">
            <p:sp>
              <p:nvSpPr>
                <p:cNvPr id="41993" name="Object 22"/>
                <p:cNvSpPr txBox="1">
                  <a:spLocks noRot="1" noChangeAspect="1" noMove="1" noResize="1" noEditPoints="1" noAdjustHandles="1" noChangeArrowheads="1" noChangeShapeType="1" noTextEdit="1"/>
                </p:cNvSpPr>
                <p:nvPr/>
              </p:nvSpPr>
              <p:spPr>
                <a:xfrm>
                  <a:off x="4992" y="3648"/>
                  <a:ext cx="168" cy="196"/>
                </a:xfrm>
                <a:prstGeom prst="rect">
                  <a:avLst/>
                </a:prstGeom>
                <a:blipFill>
                  <a:blip r:embed="rId11"/>
                  <a:stretch>
                    <a:fillRect r="-25000" b="-215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4" name="Object 23"/>
                <p:cNvSpPr txBox="1"/>
                <p:nvPr/>
              </p:nvSpPr>
              <p:spPr>
                <a:xfrm>
                  <a:off x="3207" y="3552"/>
                  <a:ext cx="160" cy="1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𝑜</m:t>
                        </m:r>
                      </m:oMath>
                    </m:oMathPara>
                  </a14:m>
                  <a:endParaRPr lang="en-US" sz="2000"/>
                </a:p>
              </p:txBody>
            </p:sp>
          </mc:Choice>
          <mc:Fallback xmlns="">
            <p:sp>
              <p:nvSpPr>
                <p:cNvPr id="41994" name="Object 23"/>
                <p:cNvSpPr txBox="1">
                  <a:spLocks noRot="1" noChangeAspect="1" noMove="1" noResize="1" noEditPoints="1" noAdjustHandles="1" noChangeArrowheads="1" noChangeShapeType="1" noTextEdit="1"/>
                </p:cNvSpPr>
                <p:nvPr/>
              </p:nvSpPr>
              <p:spPr>
                <a:xfrm>
                  <a:off x="3207" y="3552"/>
                  <a:ext cx="160" cy="192"/>
                </a:xfrm>
                <a:prstGeom prst="rect">
                  <a:avLst/>
                </a:prstGeom>
                <a:blipFill>
                  <a:blip r:embed="rId12"/>
                  <a:stretch>
                    <a:fillRect r="-14286" b="-16000"/>
                  </a:stretch>
                </a:blipFill>
                <a:ln w="38100">
                  <a:noFill/>
                  <a:miter/>
                </a:ln>
              </p:spPr>
              <p:txBody>
                <a:bodyPr/>
                <a:lstStyle/>
                <a:p>
                  <a:r>
                    <a:rPr lang="zh-CN" altLang="en-US">
                      <a:noFill/>
                    </a:rPr>
                    <a:t> </a:t>
                  </a:r>
                </a:p>
              </p:txBody>
            </p:sp>
          </mc:Fallback>
        </mc:AlternateContent>
        <p:sp>
          <p:nvSpPr>
            <p:cNvPr id="42012" name="Line 24"/>
            <p:cNvSpPr/>
            <p:nvPr/>
          </p:nvSpPr>
          <p:spPr>
            <a:xfrm flipV="1">
              <a:off x="3434" y="2096"/>
              <a:ext cx="0" cy="1498"/>
            </a:xfrm>
            <a:prstGeom prst="line">
              <a:avLst/>
            </a:prstGeom>
            <a:ln w="12700" cap="flat" cmpd="sng">
              <a:solidFill>
                <a:schemeClr val="tx1"/>
              </a:solidFill>
              <a:prstDash val="solid"/>
              <a:headEnd type="none" w="med" len="med"/>
              <a:tailEnd type="triangle" w="sm" len="lg"/>
            </a:ln>
          </p:spPr>
        </p:sp>
        <p:sp>
          <p:nvSpPr>
            <p:cNvPr id="42013" name="Line 25"/>
            <p:cNvSpPr/>
            <p:nvPr/>
          </p:nvSpPr>
          <p:spPr>
            <a:xfrm flipH="1" flipV="1">
              <a:off x="3449" y="3260"/>
              <a:ext cx="1399" cy="4"/>
            </a:xfrm>
            <a:prstGeom prst="line">
              <a:avLst/>
            </a:prstGeom>
            <a:ln w="12700" cap="flat" cmpd="sng">
              <a:solidFill>
                <a:schemeClr val="tx1"/>
              </a:solidFill>
              <a:prstDash val="dash"/>
              <a:headEnd type="none" w="med" len="med"/>
              <a:tailEnd type="none" w="med" len="med"/>
            </a:ln>
          </p:spPr>
        </p:sp>
        <p:sp>
          <p:nvSpPr>
            <p:cNvPr id="42014" name="Freeform 26"/>
            <p:cNvSpPr/>
            <p:nvPr/>
          </p:nvSpPr>
          <p:spPr>
            <a:xfrm>
              <a:off x="4032" y="2736"/>
              <a:ext cx="96" cy="144"/>
            </a:xfrm>
            <a:custGeom>
              <a:avLst/>
              <a:gdLst>
                <a:gd name="txL" fmla="*/ 0 w 103"/>
                <a:gd name="txT" fmla="*/ 0 h 137"/>
                <a:gd name="txR" fmla="*/ 103 w 103"/>
                <a:gd name="txB" fmla="*/ 137 h 137"/>
              </a:gdLst>
              <a:ahLst/>
              <a:cxnLst>
                <a:cxn ang="0">
                  <a:pos x="0" y="0"/>
                </a:cxn>
                <a:cxn ang="0">
                  <a:pos x="96" y="144"/>
                </a:cxn>
              </a:cxnLst>
              <a:rect l="txL" t="txT" r="txR" b="txB"/>
              <a:pathLst>
                <a:path w="103" h="137">
                  <a:moveTo>
                    <a:pt x="0" y="0"/>
                  </a:moveTo>
                  <a:lnTo>
                    <a:pt x="103" y="137"/>
                  </a:lnTo>
                </a:path>
              </a:pathLst>
            </a:custGeom>
            <a:noFill/>
            <a:ln w="38100" cap="flat" cmpd="sng">
              <a:solidFill>
                <a:srgbClr val="CC0099">
                  <a:alpha val="100000"/>
                </a:srgbClr>
              </a:solidFill>
              <a:prstDash val="solid"/>
              <a:round/>
              <a:headEnd type="triangle" w="sm" len="lg"/>
              <a:tailEnd type="none" w="med" len="lg"/>
            </a:ln>
          </p:spPr>
          <p:txBody>
            <a:bodyPr/>
            <a:lstStyle/>
            <a:p>
              <a:endParaRPr lang="zh-CN" altLang="en-US" sz="2000"/>
            </a:p>
          </p:txBody>
        </p:sp>
        <p:sp>
          <p:nvSpPr>
            <p:cNvPr id="42015" name="Freeform 27"/>
            <p:cNvSpPr/>
            <p:nvPr/>
          </p:nvSpPr>
          <p:spPr>
            <a:xfrm>
              <a:off x="3778" y="2901"/>
              <a:ext cx="1070" cy="370"/>
            </a:xfrm>
            <a:custGeom>
              <a:avLst/>
              <a:gdLst>
                <a:gd name="txL" fmla="*/ 0 w 1070"/>
                <a:gd name="txT" fmla="*/ 0 h 370"/>
                <a:gd name="txR" fmla="*/ 1070 w 1070"/>
                <a:gd name="txB" fmla="*/ 370 h 370"/>
              </a:gdLst>
              <a:ahLst/>
              <a:cxnLst>
                <a:cxn ang="0">
                  <a:pos x="1070" y="370"/>
                </a:cxn>
                <a:cxn ang="0">
                  <a:pos x="467" y="253"/>
                </a:cxn>
                <a:cxn ang="0">
                  <a:pos x="165" y="137"/>
                </a:cxn>
                <a:cxn ang="0">
                  <a:pos x="0" y="0"/>
                </a:cxn>
              </a:cxnLst>
              <a:rect l="txL" t="txT" r="txR" b="txB"/>
              <a:pathLst>
                <a:path w="1070" h="370">
                  <a:moveTo>
                    <a:pt x="1070" y="370"/>
                  </a:moveTo>
                  <a:cubicBezTo>
                    <a:pt x="970" y="351"/>
                    <a:pt x="618" y="292"/>
                    <a:pt x="467" y="253"/>
                  </a:cubicBezTo>
                  <a:cubicBezTo>
                    <a:pt x="316" y="214"/>
                    <a:pt x="243" y="179"/>
                    <a:pt x="165" y="137"/>
                  </a:cubicBezTo>
                  <a:cubicBezTo>
                    <a:pt x="87" y="95"/>
                    <a:pt x="34" y="29"/>
                    <a:pt x="0" y="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000"/>
            </a:p>
          </p:txBody>
        </p:sp>
        <p:sp>
          <p:nvSpPr>
            <p:cNvPr id="42016" name="Freeform 28"/>
            <p:cNvSpPr/>
            <p:nvPr/>
          </p:nvSpPr>
          <p:spPr>
            <a:xfrm>
              <a:off x="3792" y="2304"/>
              <a:ext cx="1056" cy="960"/>
            </a:xfrm>
            <a:custGeom>
              <a:avLst/>
              <a:gdLst>
                <a:gd name="txL" fmla="*/ 0 w 1056"/>
                <a:gd name="txT" fmla="*/ 0 h 960"/>
                <a:gd name="txR" fmla="*/ 1056 w 1056"/>
                <a:gd name="txB" fmla="*/ 960 h 960"/>
              </a:gdLst>
              <a:ahLst/>
              <a:cxnLst>
                <a:cxn ang="0">
                  <a:pos x="1056" y="960"/>
                </a:cxn>
                <a:cxn ang="0">
                  <a:pos x="631" y="795"/>
                </a:cxn>
                <a:cxn ang="0">
                  <a:pos x="377" y="610"/>
                </a:cxn>
                <a:cxn ang="0">
                  <a:pos x="192" y="363"/>
                </a:cxn>
                <a:cxn ang="0">
                  <a:pos x="0" y="0"/>
                </a:cxn>
              </a:cxnLst>
              <a:rect l="txL" t="txT" r="txR" b="txB"/>
              <a:pathLst>
                <a:path w="1056" h="960">
                  <a:moveTo>
                    <a:pt x="1056" y="960"/>
                  </a:moveTo>
                  <a:cubicBezTo>
                    <a:pt x="985" y="932"/>
                    <a:pt x="744" y="853"/>
                    <a:pt x="631" y="795"/>
                  </a:cubicBezTo>
                  <a:cubicBezTo>
                    <a:pt x="518" y="737"/>
                    <a:pt x="450" y="682"/>
                    <a:pt x="377" y="610"/>
                  </a:cubicBezTo>
                  <a:cubicBezTo>
                    <a:pt x="304" y="538"/>
                    <a:pt x="255" y="465"/>
                    <a:pt x="192" y="363"/>
                  </a:cubicBezTo>
                  <a:cubicBezTo>
                    <a:pt x="129" y="261"/>
                    <a:pt x="40" y="76"/>
                    <a:pt x="0" y="0"/>
                  </a:cubicBezTo>
                </a:path>
              </a:pathLst>
            </a:custGeom>
            <a:noFill/>
            <a:ln w="28575" cap="flat" cmpd="sng">
              <a:solidFill>
                <a:srgbClr val="CC0099">
                  <a:alpha val="100000"/>
                </a:srgbClr>
              </a:solidFill>
              <a:prstDash val="solid"/>
              <a:round/>
              <a:headEnd type="none" w="med" len="med"/>
              <a:tailEnd type="none" w="med" len="med"/>
            </a:ln>
          </p:spPr>
          <p:txBody>
            <a:bodyPr/>
            <a:lstStyle/>
            <a:p>
              <a:endParaRPr lang="zh-CN" altLang="en-US" sz="2000"/>
            </a:p>
          </p:txBody>
        </p:sp>
        <p:sp>
          <p:nvSpPr>
            <p:cNvPr id="42017" name="Freeform 29"/>
            <p:cNvSpPr/>
            <p:nvPr/>
          </p:nvSpPr>
          <p:spPr>
            <a:xfrm>
              <a:off x="4128" y="3120"/>
              <a:ext cx="192" cy="48"/>
            </a:xfrm>
            <a:custGeom>
              <a:avLst/>
              <a:gdLst>
                <a:gd name="txL" fmla="*/ 0 w 103"/>
                <a:gd name="txT" fmla="*/ 0 h 137"/>
                <a:gd name="txR" fmla="*/ 103 w 103"/>
                <a:gd name="txB" fmla="*/ 137 h 137"/>
              </a:gdLst>
              <a:ahLst/>
              <a:cxnLst>
                <a:cxn ang="0">
                  <a:pos x="0" y="0"/>
                </a:cxn>
                <a:cxn ang="0">
                  <a:pos x="192" y="48"/>
                </a:cxn>
              </a:cxnLst>
              <a:rect l="txL" t="txT" r="txR" b="txB"/>
              <a:pathLst>
                <a:path w="103" h="137">
                  <a:moveTo>
                    <a:pt x="0" y="0"/>
                  </a:moveTo>
                  <a:lnTo>
                    <a:pt x="103" y="137"/>
                  </a:lnTo>
                </a:path>
              </a:pathLst>
            </a:custGeom>
            <a:noFill/>
            <a:ln w="38100" cap="flat" cmpd="sng">
              <a:solidFill>
                <a:srgbClr val="0000FF">
                  <a:alpha val="100000"/>
                </a:srgbClr>
              </a:solidFill>
              <a:prstDash val="solid"/>
              <a:round/>
              <a:headEnd type="triangle" w="sm" len="lg"/>
              <a:tailEnd type="none" w="med" len="lg"/>
            </a:ln>
          </p:spPr>
          <p:txBody>
            <a:bodyPr/>
            <a:lstStyle/>
            <a:p>
              <a:endParaRPr lang="zh-CN" altLang="en-US" sz="2000"/>
            </a:p>
          </p:txBody>
        </p:sp>
        <p:sp>
          <p:nvSpPr>
            <p:cNvPr id="42018" name="Line 30"/>
            <p:cNvSpPr/>
            <p:nvPr/>
          </p:nvSpPr>
          <p:spPr>
            <a:xfrm flipH="1">
              <a:off x="3408" y="2928"/>
              <a:ext cx="378" cy="0"/>
            </a:xfrm>
            <a:prstGeom prst="line">
              <a:avLst/>
            </a:prstGeom>
            <a:ln w="12700" cap="flat" cmpd="sng">
              <a:solidFill>
                <a:schemeClr val="tx1"/>
              </a:solidFill>
              <a:prstDash val="dash"/>
              <a:headEnd type="none" w="med" len="med"/>
              <a:tailEnd type="none" w="med" len="med"/>
            </a:ln>
          </p:spPr>
        </p:sp>
        <mc:AlternateContent xmlns:mc="http://schemas.openxmlformats.org/markup-compatibility/2006" xmlns:a14="http://schemas.microsoft.com/office/drawing/2010/main">
          <mc:Choice Requires="a14">
            <p:sp>
              <p:nvSpPr>
                <p:cNvPr id="41995" name="Object 31"/>
                <p:cNvSpPr txBox="1"/>
                <p:nvPr/>
              </p:nvSpPr>
              <p:spPr>
                <a:xfrm>
                  <a:off x="3168" y="2688"/>
                  <a:ext cx="253" cy="28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𝑝</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oMath>
                    </m:oMathPara>
                  </a14:m>
                  <a:endParaRPr lang="en-US" sz="2000"/>
                </a:p>
              </p:txBody>
            </p:sp>
          </mc:Choice>
          <mc:Fallback xmlns="">
            <p:sp>
              <p:nvSpPr>
                <p:cNvPr id="41995" name="Object 31"/>
                <p:cNvSpPr txBox="1">
                  <a:spLocks noRot="1" noChangeAspect="1" noMove="1" noResize="1" noEditPoints="1" noAdjustHandles="1" noChangeArrowheads="1" noChangeShapeType="1" noTextEdit="1"/>
                </p:cNvSpPr>
                <p:nvPr/>
              </p:nvSpPr>
              <p:spPr>
                <a:xfrm>
                  <a:off x="3168" y="2688"/>
                  <a:ext cx="253" cy="286"/>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6" name="Object 32"/>
                <p:cNvSpPr txBox="1"/>
                <p:nvPr/>
              </p:nvSpPr>
              <p:spPr>
                <a:xfrm>
                  <a:off x="4623" y="2140"/>
                  <a:ext cx="705" cy="29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m:t>
                            </m:r>
                          </m:sup>
                        </m:sSubSup>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oMath>
                    </m:oMathPara>
                  </a14:m>
                  <a:endParaRPr lang="en-US" sz="2000" dirty="0"/>
                </a:p>
              </p:txBody>
            </p:sp>
          </mc:Choice>
          <mc:Fallback xmlns="">
            <p:sp>
              <p:nvSpPr>
                <p:cNvPr id="41996" name="Object 32"/>
                <p:cNvSpPr txBox="1">
                  <a:spLocks noRot="1" noChangeAspect="1" noMove="1" noResize="1" noEditPoints="1" noAdjustHandles="1" noChangeArrowheads="1" noChangeShapeType="1" noTextEdit="1"/>
                </p:cNvSpPr>
                <p:nvPr/>
              </p:nvSpPr>
              <p:spPr>
                <a:xfrm>
                  <a:off x="4623" y="2140"/>
                  <a:ext cx="705" cy="292"/>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7" name="Object 33"/>
                <p:cNvSpPr txBox="1"/>
                <p:nvPr/>
              </p:nvSpPr>
              <p:spPr>
                <a:xfrm>
                  <a:off x="4224" y="2496"/>
                  <a:ext cx="576" cy="233"/>
                </a:xfrm>
                <a:prstGeom prst="rect">
                  <a:avLst/>
                </a:prstGeom>
                <a:noFill/>
                <a:ln w="9525" cap="flat" cmpd="sng">
                  <a:solidFill>
                    <a:srgbClr val="CC0099"/>
                  </a:solidFill>
                  <a:prstDash val="solid"/>
                  <a:miter/>
                  <a:headEnd type="none" w="med" len="med"/>
                  <a:tailEnd type="none" w="med" len="med"/>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𝑄</m:t>
                        </m:r>
                        <m:r>
                          <a:rPr lang="en-US" sz="2000" i="1">
                            <a:solidFill>
                              <a:srgbClr val="000000"/>
                            </a:solidFill>
                            <a:latin typeface="Cambria Math" panose="02040503050406030204" pitchFamily="18" charset="0"/>
                          </a:rPr>
                          <m:t>=0</m:t>
                        </m:r>
                      </m:oMath>
                    </m:oMathPara>
                  </a14:m>
                  <a:endParaRPr lang="en-US" sz="2000" dirty="0"/>
                </a:p>
              </p:txBody>
            </p:sp>
          </mc:Choice>
          <mc:Fallback xmlns="">
            <p:sp>
              <p:nvSpPr>
                <p:cNvPr id="41997" name="Object 33"/>
                <p:cNvSpPr txBox="1">
                  <a:spLocks noRot="1" noChangeAspect="1" noMove="1" noResize="1" noEditPoints="1" noAdjustHandles="1" noChangeArrowheads="1" noChangeShapeType="1" noTextEdit="1"/>
                </p:cNvSpPr>
                <p:nvPr/>
              </p:nvSpPr>
              <p:spPr>
                <a:xfrm>
                  <a:off x="4224" y="2496"/>
                  <a:ext cx="576" cy="233"/>
                </a:xfrm>
                <a:prstGeom prst="rect">
                  <a:avLst/>
                </a:prstGeom>
                <a:blipFill>
                  <a:blip r:embed="rId15"/>
                  <a:stretch>
                    <a:fillRect b="-17460"/>
                  </a:stretch>
                </a:blipFill>
                <a:ln w="9525" cap="flat" cmpd="sng">
                  <a:solidFill>
                    <a:srgbClr val="CC0099"/>
                  </a:solid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998" name="Object 34"/>
                <p:cNvSpPr txBox="1"/>
                <p:nvPr/>
              </p:nvSpPr>
              <p:spPr>
                <a:xfrm>
                  <a:off x="3889" y="3296"/>
                  <a:ext cx="519" cy="19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41998" name="Object 34"/>
                <p:cNvSpPr txBox="1">
                  <a:spLocks noRot="1" noChangeAspect="1" noMove="1" noResize="1" noEditPoints="1" noAdjustHandles="1" noChangeArrowheads="1" noChangeShapeType="1" noTextEdit="1"/>
                </p:cNvSpPr>
                <p:nvPr/>
              </p:nvSpPr>
              <p:spPr>
                <a:xfrm>
                  <a:off x="3889" y="3296"/>
                  <a:ext cx="519" cy="195"/>
                </a:xfrm>
                <a:prstGeom prst="rect">
                  <a:avLst/>
                </a:prstGeom>
                <a:blipFill>
                  <a:blip r:embed="rId16"/>
                  <a:stretch>
                    <a:fillRect b="-24000"/>
                  </a:stretch>
                </a:blipFill>
                <a:ln w="38100">
                  <a:noFill/>
                  <a:miter/>
                </a:ln>
              </p:spPr>
              <p:txBody>
                <a:bodyPr/>
                <a:lstStyle/>
                <a:p>
                  <a:r>
                    <a:rPr lang="zh-CN" altLang="en-US">
                      <a:noFill/>
                    </a:rPr>
                    <a:t> </a:t>
                  </a:r>
                </a:p>
              </p:txBody>
            </p:sp>
          </mc:Fallback>
        </mc:AlternateContent>
        <p:sp>
          <p:nvSpPr>
            <p:cNvPr id="42019" name="Line 35"/>
            <p:cNvSpPr/>
            <p:nvPr/>
          </p:nvSpPr>
          <p:spPr>
            <a:xfrm flipH="1">
              <a:off x="4224" y="2736"/>
              <a:ext cx="96" cy="240"/>
            </a:xfrm>
            <a:prstGeom prst="line">
              <a:avLst/>
            </a:prstGeom>
            <a:ln w="19050" cap="flat" cmpd="sng">
              <a:solidFill>
                <a:srgbClr val="CC0099"/>
              </a:solidFill>
              <a:prstDash val="dash"/>
              <a:headEnd type="none" w="med" len="med"/>
              <a:tailEnd type="triangle" w="sm" len="lg"/>
            </a:ln>
          </p:spPr>
        </p:sp>
        <p:sp>
          <p:nvSpPr>
            <p:cNvPr id="42020" name="Line 36"/>
            <p:cNvSpPr/>
            <p:nvPr/>
          </p:nvSpPr>
          <p:spPr>
            <a:xfrm flipV="1">
              <a:off x="4224" y="3168"/>
              <a:ext cx="144" cy="192"/>
            </a:xfrm>
            <a:prstGeom prst="line">
              <a:avLst/>
            </a:prstGeom>
            <a:ln w="19050" cap="flat" cmpd="sng">
              <a:solidFill>
                <a:srgbClr val="0000FF"/>
              </a:solidFill>
              <a:prstDash val="dash"/>
              <a:headEnd type="none" w="med" len="med"/>
              <a:tailEnd type="triangle" w="sm" len="lg"/>
            </a:ln>
          </p:spPr>
        </p:sp>
        <mc:AlternateContent xmlns:mc="http://schemas.openxmlformats.org/markup-compatibility/2006" xmlns:a14="http://schemas.microsoft.com/office/drawing/2010/main">
          <mc:Choice Requires="a14">
            <p:sp>
              <p:nvSpPr>
                <p:cNvPr id="41999" name="Object 37"/>
                <p:cNvSpPr txBox="1"/>
                <p:nvPr/>
              </p:nvSpPr>
              <p:spPr>
                <a:xfrm>
                  <a:off x="3602" y="2928"/>
                  <a:ext cx="165" cy="18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000" i="1">
                            <a:solidFill>
                              <a:srgbClr val="000000"/>
                            </a:solidFill>
                            <a:latin typeface="Cambria Math" panose="02040503050406030204" pitchFamily="18" charset="0"/>
                          </a:rPr>
                          <m:t>2′</m:t>
                        </m:r>
                      </m:oMath>
                    </m:oMathPara>
                  </a14:m>
                  <a:endParaRPr lang="en-US" sz="2000"/>
                </a:p>
              </p:txBody>
            </p:sp>
          </mc:Choice>
          <mc:Fallback xmlns="">
            <p:sp>
              <p:nvSpPr>
                <p:cNvPr id="41999" name="Object 37"/>
                <p:cNvSpPr txBox="1">
                  <a:spLocks noRot="1" noChangeAspect="1" noMove="1" noResize="1" noEditPoints="1" noAdjustHandles="1" noChangeArrowheads="1" noChangeShapeType="1" noTextEdit="1"/>
                </p:cNvSpPr>
                <p:nvPr/>
              </p:nvSpPr>
              <p:spPr>
                <a:xfrm>
                  <a:off x="3602" y="2928"/>
                  <a:ext cx="165" cy="185"/>
                </a:xfrm>
                <a:prstGeom prst="rect">
                  <a:avLst/>
                </a:prstGeom>
                <a:blipFill>
                  <a:blip r:embed="rId17"/>
                  <a:stretch>
                    <a:fillRect l="-4651" r="-51163" b="-33333"/>
                  </a:stretch>
                </a:blipFill>
                <a:ln w="38100">
                  <a:noFill/>
                  <a:miter/>
                </a:ln>
              </p:spPr>
              <p:txBody>
                <a:bodyPr/>
                <a:lstStyle/>
                <a:p>
                  <a:r>
                    <a:rPr lang="zh-CN" altLang="en-US">
                      <a:noFill/>
                    </a:rPr>
                    <a:t> </a:t>
                  </a:r>
                </a:p>
              </p:txBody>
            </p:sp>
          </mc:Fallback>
        </mc:AlternateContent>
        <p:sp>
          <p:nvSpPr>
            <p:cNvPr id="42021" name="Rectangle 38"/>
            <p:cNvSpPr/>
            <p:nvPr/>
          </p:nvSpPr>
          <p:spPr>
            <a:xfrm>
              <a:off x="4272" y="3280"/>
              <a:ext cx="720" cy="252"/>
            </a:xfrm>
            <a:prstGeom prst="rect">
              <a:avLst/>
            </a:prstGeom>
            <a:noFill/>
            <a:ln w="9525">
              <a:noFill/>
            </a:ln>
          </p:spPr>
          <p:txBody>
            <a:bodyPr>
              <a:spAutoFit/>
            </a:bodyPr>
            <a:lstStyle/>
            <a:p>
              <a:pPr eaLnBrk="1" hangingPunct="1"/>
              <a:r>
                <a:rPr lang="zh-CN" altLang="en-US" sz="2000" b="1" dirty="0">
                  <a:solidFill>
                    <a:srgbClr val="000000"/>
                  </a:solidFill>
                  <a:latin typeface="Times New Roman" panose="02020603050405020304" pitchFamily="18" charset="0"/>
                </a:rPr>
                <a:t>常量</a:t>
              </a:r>
            </a:p>
          </p:txBody>
        </p:sp>
      </p:grpSp>
      <p:sp>
        <p:nvSpPr>
          <p:cNvPr id="9" name="Text Box 9">
            <a:extLst>
              <a:ext uri="{FF2B5EF4-FFF2-40B4-BE49-F238E27FC236}">
                <a16:creationId xmlns:a16="http://schemas.microsoft.com/office/drawing/2014/main" id="{93143325-C122-B77E-4C57-6F434FBA8560}"/>
              </a:ext>
            </a:extLst>
          </p:cNvPr>
          <p:cNvSpPr txBox="1"/>
          <p:nvPr/>
        </p:nvSpPr>
        <p:spPr>
          <a:xfrm>
            <a:off x="1376363" y="1910090"/>
            <a:ext cx="1800225" cy="523220"/>
          </a:xfrm>
          <a:prstGeom prst="rect">
            <a:avLst/>
          </a:prstGeom>
          <a:noFill/>
          <a:ln w="9525">
            <a:noFill/>
          </a:ln>
        </p:spPr>
        <p:txBody>
          <a:bodyPr>
            <a:spAutoFit/>
          </a:bodyPr>
          <a:lstStyle/>
          <a:p>
            <a:pPr eaLnBrk="1" hangingPunct="1"/>
            <a:r>
              <a:rPr lang="en-US" altLang="zh-CN" sz="2800" dirty="0">
                <a:latin typeface="Arial" panose="020B0604020202020204" pitchFamily="34" charset="0"/>
              </a:rPr>
              <a:t> </a:t>
            </a:r>
            <a:r>
              <a:rPr lang="zh-CN" altLang="en-US" sz="2800" dirty="0">
                <a:latin typeface="Arial" panose="020B0604020202020204" pitchFamily="34" charset="0"/>
              </a:rPr>
              <a:t>已知： </a:t>
            </a:r>
          </a:p>
        </p:txBody>
      </p:sp>
      <p:sp>
        <p:nvSpPr>
          <p:cNvPr id="5" name="Text Box 5">
            <a:extLst>
              <a:ext uri="{FF2B5EF4-FFF2-40B4-BE49-F238E27FC236}">
                <a16:creationId xmlns:a16="http://schemas.microsoft.com/office/drawing/2014/main" id="{A01D0271-93F2-485C-E05B-82B3DA21A6DC}"/>
              </a:ext>
            </a:extLst>
          </p:cNvPr>
          <p:cNvSpPr txBox="1"/>
          <p:nvPr/>
        </p:nvSpPr>
        <p:spPr>
          <a:xfrm>
            <a:off x="1669653" y="3525507"/>
            <a:ext cx="3455988" cy="523220"/>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）对等温过程</a:t>
            </a:r>
          </a:p>
        </p:txBody>
      </p:sp>
      <mc:AlternateContent xmlns:mc="http://schemas.openxmlformats.org/markup-compatibility/2006" xmlns:a14="http://schemas.microsoft.com/office/drawing/2010/main">
        <mc:Choice Requires="a14">
          <p:sp>
            <p:nvSpPr>
              <p:cNvPr id="6" name="Object 6">
                <a:extLst>
                  <a:ext uri="{FF2B5EF4-FFF2-40B4-BE49-F238E27FC236}">
                    <a16:creationId xmlns:a16="http://schemas.microsoft.com/office/drawing/2014/main" id="{5BF94AB9-3177-01D4-4380-1CC92B259718}"/>
                  </a:ext>
                </a:extLst>
              </p:cNvPr>
              <p:cNvSpPr txBox="1"/>
              <p:nvPr/>
            </p:nvSpPr>
            <p:spPr>
              <a:xfrm>
                <a:off x="1007269" y="4048727"/>
                <a:ext cx="7903370" cy="153987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𝑝</m:t>
                              </m:r>
                            </m:e>
                            <m:sup>
                              <m:r>
                                <a:rPr lang="en-US" sz="2800" b="0" i="1">
                                  <a:solidFill>
                                    <a:schemeClr val="tx1"/>
                                  </a:solidFill>
                                  <a:latin typeface="Cambria Math" panose="02040503050406030204" pitchFamily="18" charset="0"/>
                                </a:rPr>
                                <m:t>′</m:t>
                              </m:r>
                            </m:sup>
                          </m:sSup>
                        </m:e>
                        <m:sub>
                          <m:r>
                            <a:rPr lang="en-US" sz="2800" b="0" i="1">
                              <a:solidFill>
                                <a:schemeClr val="tx1"/>
                              </a:solidFill>
                              <a:latin typeface="Cambria Math" panose="02040503050406030204" pitchFamily="18" charset="0"/>
                            </a:rPr>
                            <m:t>2</m:t>
                          </m:r>
                        </m:sub>
                      </m:sSub>
                      <m:r>
                        <a:rPr lang="en-US" sz="2800" b="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𝑝</m:t>
                          </m:r>
                        </m:e>
                        <m:sub>
                          <m:r>
                            <a:rPr lang="en-US" sz="2800" b="0" i="1">
                              <a:solidFill>
                                <a:schemeClr val="tx1"/>
                              </a:solidFill>
                              <a:latin typeface="Cambria Math" panose="02040503050406030204" pitchFamily="18" charset="0"/>
                            </a:rPr>
                            <m:t>1</m:t>
                          </m:r>
                        </m:sub>
                      </m:sSub>
                      <m:d>
                        <m:dPr>
                          <m:ctrlPr>
                            <a:rPr lang="en-US" sz="2800" b="0" i="1">
                              <a:solidFill>
                                <a:schemeClr val="tx1"/>
                              </a:solidFill>
                              <a:latin typeface="Cambria Math" panose="02040503050406030204" pitchFamily="18" charset="0"/>
                            </a:rPr>
                          </m:ctrlPr>
                        </m:dPr>
                        <m:e>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2</m:t>
                                  </m:r>
                                </m:sub>
                              </m:sSub>
                            </m:den>
                          </m:f>
                        </m:e>
                      </m:d>
                      <m:r>
                        <a:rPr lang="en-US" sz="2800" b="0" i="1">
                          <a:solidFill>
                            <a:schemeClr val="tx1"/>
                          </a:solidFill>
                          <a:latin typeface="Cambria Math" panose="02040503050406030204" pitchFamily="18" charset="0"/>
                        </a:rPr>
                        <m:t>=1.01×1</m:t>
                      </m:r>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0</m:t>
                          </m:r>
                        </m:e>
                        <m:sup>
                          <m:r>
                            <a:rPr lang="en-US" sz="2800" b="0" i="1">
                              <a:solidFill>
                                <a:schemeClr val="tx1"/>
                              </a:solidFill>
                              <a:latin typeface="Cambria Math" panose="02040503050406030204" pitchFamily="18" charset="0"/>
                            </a:rPr>
                            <m:t>6</m:t>
                          </m:r>
                        </m:sup>
                      </m:sSup>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Pa</m:t>
                      </m:r>
                    </m:oMath>
                  </m:oMathPara>
                </a14:m>
                <a:endParaRPr lang="en-US" sz="2800" dirty="0">
                  <a:solidFill>
                    <a:schemeClr val="tx1"/>
                  </a:solidFill>
                </a:endParaRPr>
              </a:p>
            </p:txBody>
          </p:sp>
        </mc:Choice>
        <mc:Fallback xmlns="">
          <p:sp>
            <p:nvSpPr>
              <p:cNvPr id="6" name="Object 6">
                <a:extLst>
                  <a:ext uri="{FF2B5EF4-FFF2-40B4-BE49-F238E27FC236}">
                    <a16:creationId xmlns:a16="http://schemas.microsoft.com/office/drawing/2014/main" id="{5BF94AB9-3177-01D4-4380-1CC92B259718}"/>
                  </a:ext>
                </a:extLst>
              </p:cNvPr>
              <p:cNvSpPr txBox="1">
                <a:spLocks noRot="1" noChangeAspect="1" noMove="1" noResize="1" noEditPoints="1" noAdjustHandles="1" noChangeArrowheads="1" noChangeShapeType="1" noTextEdit="1"/>
              </p:cNvSpPr>
              <p:nvPr/>
            </p:nvSpPr>
            <p:spPr>
              <a:xfrm>
                <a:off x="1007269" y="4048727"/>
                <a:ext cx="7903370" cy="1539875"/>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14" name="Rectangle 7">
            <a:extLst>
              <a:ext uri="{FF2B5EF4-FFF2-40B4-BE49-F238E27FC236}">
                <a16:creationId xmlns:a16="http://schemas.microsoft.com/office/drawing/2014/main" id="{357A07F7-8B0E-C546-DD83-3AE5254FC220}"/>
              </a:ext>
            </a:extLst>
          </p:cNvPr>
          <p:cNvSpPr/>
          <p:nvPr/>
        </p:nvSpPr>
        <p:spPr>
          <a:xfrm>
            <a:off x="2480469" y="5653092"/>
            <a:ext cx="3352800" cy="523220"/>
          </a:xfrm>
          <a:prstGeom prst="rect">
            <a:avLst/>
          </a:prstGeom>
          <a:noFill/>
          <a:ln w="9525">
            <a:noFill/>
          </a:ln>
        </p:spPr>
        <p:txBody>
          <a:bodyPr>
            <a:spAutoFit/>
          </a:bodyPr>
          <a:lstStyle/>
          <a:p>
            <a:pPr eaLnBrk="1" hangingPunct="1"/>
            <a:r>
              <a:rPr lang="zh-CN" altLang="en-US" sz="2800" dirty="0">
                <a:latin typeface="Times New Roman" panose="02020603050405020304" pitchFamily="18" charset="0"/>
              </a:rPr>
              <a:t>对绝热过程， 有</a:t>
            </a:r>
          </a:p>
        </p:txBody>
      </p:sp>
      <mc:AlternateContent xmlns:mc="http://schemas.openxmlformats.org/markup-compatibility/2006" xmlns:a14="http://schemas.microsoft.com/office/drawing/2010/main">
        <mc:Choice Requires="a14">
          <p:sp>
            <p:nvSpPr>
              <p:cNvPr id="16" name="Object 8">
                <a:extLst>
                  <a:ext uri="{FF2B5EF4-FFF2-40B4-BE49-F238E27FC236}">
                    <a16:creationId xmlns:a16="http://schemas.microsoft.com/office/drawing/2014/main" id="{EF05929F-F2BF-26D3-38CE-8EEA7F459973}"/>
                  </a:ext>
                </a:extLst>
              </p:cNvPr>
              <p:cNvSpPr txBox="1"/>
              <p:nvPr/>
            </p:nvSpPr>
            <p:spPr>
              <a:xfrm>
                <a:off x="4815416" y="5392739"/>
                <a:ext cx="6280150" cy="1630362"/>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𝑝</m:t>
                          </m:r>
                        </m:e>
                        <m:sub>
                          <m:r>
                            <a:rPr lang="en-US" sz="2800" b="0" i="1">
                              <a:solidFill>
                                <a:schemeClr val="tx1"/>
                              </a:solidFill>
                              <a:latin typeface="Cambria Math" panose="02040503050406030204" pitchFamily="18" charset="0"/>
                            </a:rPr>
                            <m:t>2</m:t>
                          </m:r>
                        </m:sub>
                      </m:sSub>
                      <m:r>
                        <a:rPr lang="en-US" sz="2800" b="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𝑝</m:t>
                          </m:r>
                        </m:e>
                        <m:sub>
                          <m:r>
                            <a:rPr lang="en-US" sz="2800" b="0" i="1">
                              <a:solidFill>
                                <a:schemeClr val="tx1"/>
                              </a:solidFill>
                              <a:latin typeface="Cambria Math" panose="02040503050406030204" pitchFamily="18" charset="0"/>
                            </a:rPr>
                            <m:t>1</m:t>
                          </m:r>
                        </m:sub>
                      </m:sSub>
                      <m:r>
                        <a:rPr lang="en-US" sz="2800" b="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1</m:t>
                              </m:r>
                            </m:sub>
                          </m:sSub>
                        </m:num>
                        <m:den>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𝑉</m:t>
                              </m:r>
                            </m:e>
                            <m:sub>
                              <m:r>
                                <a:rPr lang="en-US" sz="2800" b="0" i="1">
                                  <a:solidFill>
                                    <a:schemeClr val="tx1"/>
                                  </a:solidFill>
                                  <a:latin typeface="Cambria Math" panose="02040503050406030204" pitchFamily="18" charset="0"/>
                                </a:rPr>
                                <m:t>2</m:t>
                              </m:r>
                            </m:sub>
                          </m:sSub>
                        </m:den>
                      </m:f>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m:t>
                          </m:r>
                        </m:e>
                        <m:sup>
                          <m:r>
                            <a:rPr lang="en-US" sz="2800" b="0" i="1">
                              <a:solidFill>
                                <a:schemeClr val="tx1"/>
                              </a:solidFill>
                              <a:latin typeface="Cambria Math" panose="02040503050406030204" pitchFamily="18" charset="0"/>
                            </a:rPr>
                            <m:t>𝛾</m:t>
                          </m:r>
                        </m:sup>
                      </m:sSup>
                      <m:r>
                        <a:rPr lang="en-US" sz="2800" b="0" i="1">
                          <a:solidFill>
                            <a:schemeClr val="tx1"/>
                          </a:solidFill>
                          <a:latin typeface="Cambria Math" panose="02040503050406030204" pitchFamily="18" charset="0"/>
                        </a:rPr>
                        <m:t>=2.55×1</m:t>
                      </m:r>
                      <m:sSup>
                        <m:sSupPr>
                          <m:ctrlPr>
                            <a:rPr lang="en-US" sz="2800" i="1">
                              <a:solidFill>
                                <a:schemeClr val="tx1"/>
                              </a:solidFill>
                              <a:latin typeface="Cambria Math" panose="02040503050406030204" pitchFamily="18" charset="0"/>
                            </a:rPr>
                          </m:ctrlPr>
                        </m:sSupPr>
                        <m:e>
                          <m:r>
                            <a:rPr lang="en-US" sz="2800" b="0" i="1">
                              <a:solidFill>
                                <a:schemeClr val="tx1"/>
                              </a:solidFill>
                              <a:latin typeface="Cambria Math" panose="02040503050406030204" pitchFamily="18" charset="0"/>
                            </a:rPr>
                            <m:t>0</m:t>
                          </m:r>
                        </m:e>
                        <m:sup>
                          <m:r>
                            <a:rPr lang="en-US" sz="2800" b="0" i="1">
                              <a:solidFill>
                                <a:schemeClr val="tx1"/>
                              </a:solidFill>
                              <a:latin typeface="Cambria Math" panose="02040503050406030204" pitchFamily="18" charset="0"/>
                            </a:rPr>
                            <m:t>6</m:t>
                          </m:r>
                        </m:sup>
                      </m:sSup>
                      <m:r>
                        <m:rPr>
                          <m:nor/>
                        </m:rPr>
                        <a:rPr lang="en-US" sz="2800" i="0">
                          <a:solidFill>
                            <a:schemeClr val="tx1"/>
                          </a:solidFill>
                          <a:latin typeface="Cambria Math" panose="02040503050406030204" pitchFamily="18" charset="0"/>
                        </a:rPr>
                        <m:t> </m:t>
                      </m:r>
                      <m:r>
                        <m:rPr>
                          <m:nor/>
                        </m:rPr>
                        <a:rPr lang="en-US" sz="2800" i="0">
                          <a:solidFill>
                            <a:schemeClr val="tx1"/>
                          </a:solidFill>
                          <a:latin typeface="Cambria Math" panose="02040503050406030204" pitchFamily="18" charset="0"/>
                        </a:rPr>
                        <m:t>Pa</m:t>
                      </m:r>
                    </m:oMath>
                  </m:oMathPara>
                </a14:m>
                <a:endParaRPr lang="en-US" sz="2800" dirty="0">
                  <a:solidFill>
                    <a:schemeClr val="tx1"/>
                  </a:solidFill>
                </a:endParaRPr>
              </a:p>
            </p:txBody>
          </p:sp>
        </mc:Choice>
        <mc:Fallback xmlns="">
          <p:sp>
            <p:nvSpPr>
              <p:cNvPr id="16" name="Object 8">
                <a:extLst>
                  <a:ext uri="{FF2B5EF4-FFF2-40B4-BE49-F238E27FC236}">
                    <a16:creationId xmlns:a16="http://schemas.microsoft.com/office/drawing/2014/main" id="{EF05929F-F2BF-26D3-38CE-8EEA7F459973}"/>
                  </a:ext>
                </a:extLst>
              </p:cNvPr>
              <p:cNvSpPr txBox="1">
                <a:spLocks noRot="1" noChangeAspect="1" noMove="1" noResize="1" noEditPoints="1" noAdjustHandles="1" noChangeArrowheads="1" noChangeShapeType="1" noTextEdit="1"/>
              </p:cNvSpPr>
              <p:nvPr/>
            </p:nvSpPr>
            <p:spPr>
              <a:xfrm>
                <a:off x="4815416" y="5392739"/>
                <a:ext cx="6280150" cy="1630362"/>
              </a:xfrm>
              <a:prstGeom prst="rect">
                <a:avLst/>
              </a:prstGeom>
              <a:blipFill>
                <a:blip r:embed="rId1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Object 10">
                <a:extLst>
                  <a:ext uri="{FF2B5EF4-FFF2-40B4-BE49-F238E27FC236}">
                    <a16:creationId xmlns:a16="http://schemas.microsoft.com/office/drawing/2014/main" id="{2AD3C5B3-643B-3587-F21D-0B2904109422}"/>
                  </a:ext>
                </a:extLst>
              </p:cNvPr>
              <p:cNvSpPr txBox="1">
                <a:spLocks/>
              </p:cNvSpPr>
              <p:nvPr/>
            </p:nvSpPr>
            <p:spPr>
              <a:xfrm>
                <a:off x="2228851" y="1892959"/>
                <a:ext cx="5299075" cy="1177925"/>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𝜈</m:t>
                      </m:r>
                      <m:r>
                        <a:rPr lang="en-US" b="0" i="1" smtClean="0">
                          <a:solidFill>
                            <a:schemeClr val="tx1"/>
                          </a:solidFill>
                          <a:latin typeface="Cambria Math" panose="02040503050406030204" pitchFamily="18" charset="0"/>
                        </a:rPr>
                        <m:t>=5</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mol</m:t>
                      </m:r>
                      <m:r>
                        <m:rPr>
                          <m:nor/>
                        </m:rPr>
                        <a:rPr lang="en-US">
                          <a:solidFill>
                            <a:schemeClr val="tx1"/>
                          </a:solidFill>
                          <a:latin typeface="Cambria Math" panose="02040503050406030204" pitchFamily="18" charset="0"/>
                        </a:rPr>
                        <m:t>   </m:t>
                      </m:r>
                      <m:r>
                        <a:rPr lang="en-US" b="0" i="1">
                          <a:solidFill>
                            <a:schemeClr val="tx1"/>
                          </a:solidFill>
                          <a:latin typeface="Cambria Math" panose="02040503050406030204" pitchFamily="18" charset="0"/>
                        </a:rPr>
                        <m:t> </m:t>
                      </m:r>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1</m:t>
                          </m:r>
                        </m:sub>
                      </m:sSub>
                      <m:r>
                        <a:rPr lang="en-US" b="0" i="1">
                          <a:solidFill>
                            <a:schemeClr val="tx1"/>
                          </a:solidFill>
                          <a:latin typeface="Cambria Math" panose="02040503050406030204" pitchFamily="18" charset="0"/>
                        </a:rPr>
                        <m:t>=293</m:t>
                      </m:r>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K</m:t>
                      </m:r>
                      <m:r>
                        <m:rPr>
                          <m:nor/>
                        </m:rPr>
                        <a:rPr lang="en-US">
                          <a:solidFill>
                            <a:schemeClr val="tx1"/>
                          </a:solidFill>
                          <a:latin typeface="Cambria Math" panose="02040503050406030204" pitchFamily="18" charset="0"/>
                        </a:rPr>
                        <m:t>    </m:t>
                      </m:r>
                    </m:oMath>
                    <m:oMath xmlns:m="http://schemas.openxmlformats.org/officeDocument/2006/math">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𝑃</m:t>
                          </m:r>
                        </m:e>
                        <m:sub>
                          <m:r>
                            <a:rPr lang="en-US" b="0" i="1">
                              <a:solidFill>
                                <a:schemeClr val="tx1"/>
                              </a:solidFill>
                              <a:latin typeface="Cambria Math" panose="02040503050406030204" pitchFamily="18" charset="0"/>
                            </a:rPr>
                            <m:t>0</m:t>
                          </m:r>
                        </m:sub>
                      </m:sSub>
                      <m:r>
                        <a:rPr lang="en-US" b="0" i="1">
                          <a:solidFill>
                            <a:schemeClr val="tx1"/>
                          </a:solidFill>
                          <a:latin typeface="Cambria Math" panose="02040503050406030204" pitchFamily="18" charset="0"/>
                        </a:rPr>
                        <m:t>=1.013×1</m:t>
                      </m:r>
                      <m:sSup>
                        <m:sSupPr>
                          <m:ctrlPr>
                            <a:rPr lang="en-US" i="1">
                              <a:solidFill>
                                <a:schemeClr val="tx1"/>
                              </a:solidFill>
                              <a:latin typeface="Cambria Math" panose="02040503050406030204" pitchFamily="18" charset="0"/>
                            </a:rPr>
                          </m:ctrlPr>
                        </m:sSupPr>
                        <m:e>
                          <m:r>
                            <a:rPr lang="en-US" b="0" i="1">
                              <a:solidFill>
                                <a:schemeClr val="tx1"/>
                              </a:solidFill>
                              <a:latin typeface="Cambria Math" panose="02040503050406030204" pitchFamily="18" charset="0"/>
                            </a:rPr>
                            <m:t>0</m:t>
                          </m:r>
                        </m:e>
                        <m:sup>
                          <m:r>
                            <a:rPr lang="en-US" b="0" i="1">
                              <a:solidFill>
                                <a:schemeClr val="tx1"/>
                              </a:solidFill>
                              <a:latin typeface="Cambria Math" panose="02040503050406030204" pitchFamily="18" charset="0"/>
                            </a:rPr>
                            <m:t>5</m:t>
                          </m:r>
                        </m:sup>
                      </m:sSup>
                      <m:r>
                        <m:rPr>
                          <m:nor/>
                        </m:rPr>
                        <a:rPr lang="en-US">
                          <a:solidFill>
                            <a:schemeClr val="tx1"/>
                          </a:solidFill>
                          <a:latin typeface="Cambria Math" panose="02040503050406030204" pitchFamily="18" charset="0"/>
                        </a:rPr>
                        <m:t> </m:t>
                      </m:r>
                      <m:r>
                        <m:rPr>
                          <m:nor/>
                        </m:rPr>
                        <a:rPr lang="en-US">
                          <a:solidFill>
                            <a:schemeClr val="tx1"/>
                          </a:solidFill>
                          <a:latin typeface="Cambria Math" panose="02040503050406030204" pitchFamily="18" charset="0"/>
                        </a:rPr>
                        <m:t>Pa</m:t>
                      </m:r>
                      <m:r>
                        <m:rPr>
                          <m:nor/>
                        </m:rPr>
                        <a:rPr lang="en-US">
                          <a:solidFill>
                            <a:schemeClr val="tx1"/>
                          </a:solidFill>
                          <a:latin typeface="Cambria Math" panose="02040503050406030204" pitchFamily="18" charset="0"/>
                        </a:rPr>
                        <m:t>   </m:t>
                      </m:r>
                    </m:oMath>
                  </m:oMathPara>
                </a14:m>
                <a:endParaRPr lang="en-US" dirty="0">
                  <a:solidFill>
                    <a:schemeClr val="tx1"/>
                  </a:solidFill>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r>
                        <a:rPr lang="en-US" b="0" i="1">
                          <a:solidFill>
                            <a:schemeClr val="tx1"/>
                          </a:solidFill>
                          <a:latin typeface="Cambria Math" panose="02040503050406030204" pitchFamily="18" charset="0"/>
                        </a:rPr>
                        <m:t>=0.1</m:t>
                      </m:r>
                      <m:r>
                        <a:rPr lang="en-US" b="0">
                          <a:solidFill>
                            <a:schemeClr val="tx1"/>
                          </a:solidFill>
                          <a:latin typeface="Cambria Math" panose="02040503050406030204" pitchFamily="18" charset="0"/>
                        </a:rPr>
                        <m:t> </m:t>
                      </m:r>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17" name="Object 10">
                <a:extLst>
                  <a:ext uri="{FF2B5EF4-FFF2-40B4-BE49-F238E27FC236}">
                    <a16:creationId xmlns:a16="http://schemas.microsoft.com/office/drawing/2014/main" id="{2AD3C5B3-643B-3587-F21D-0B2904109422}"/>
                  </a:ext>
                </a:extLst>
              </p:cNvPr>
              <p:cNvSpPr txBox="1">
                <a:spLocks noRot="1" noChangeAspect="1" noMove="1" noResize="1" noEditPoints="1" noAdjustHandles="1" noChangeArrowheads="1" noChangeShapeType="1" noTextEdit="1"/>
              </p:cNvSpPr>
              <p:nvPr/>
            </p:nvSpPr>
            <p:spPr>
              <a:xfrm>
                <a:off x="2228851" y="1892959"/>
                <a:ext cx="5299075" cy="1177925"/>
              </a:xfrm>
              <a:prstGeom prst="rect">
                <a:avLst/>
              </a:prstGeom>
              <a:blipFill>
                <a:blip r:embed="rId20"/>
                <a:stretch>
                  <a:fillRect b="-8290"/>
                </a:stretch>
              </a:blipFill>
              <a:ln w="38100">
                <a:miter/>
              </a:ln>
            </p:spPr>
            <p:txBody>
              <a:bodyPr/>
              <a:lstStyle/>
              <a:p>
                <a:r>
                  <a:rPr lang="zh-CN" altLang="en-US">
                    <a:noFill/>
                  </a:rPr>
                  <a:t> </a:t>
                </a:r>
              </a:p>
            </p:txBody>
          </p:sp>
        </mc:Fallback>
      </mc:AlternateContent>
    </p:spTree>
    <p:extLst>
      <p:ext uri="{BB962C8B-B14F-4D97-AF65-F5344CB8AC3E}">
        <p14:creationId xmlns:p14="http://schemas.microsoft.com/office/powerpoint/2010/main" val="310235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7" name="Text Box 3"/>
          <p:cNvSpPr txBox="1"/>
          <p:nvPr/>
        </p:nvSpPr>
        <p:spPr>
          <a:xfrm>
            <a:off x="882650" y="423864"/>
            <a:ext cx="10674350" cy="1692771"/>
          </a:xfrm>
          <a:prstGeom prst="rect">
            <a:avLst/>
          </a:prstGeom>
          <a:noFill/>
          <a:ln w="9525">
            <a:noFill/>
          </a:ln>
        </p:spPr>
        <p:txBody>
          <a:bodyPr wrap="square">
            <a:spAutoFit/>
          </a:bodyPr>
          <a:lstStyle/>
          <a:p>
            <a:r>
              <a:rPr lang="zh-CN" altLang="en-US" sz="2600" dirty="0">
                <a:solidFill>
                  <a:srgbClr val="CC0000"/>
                </a:solidFill>
                <a:latin typeface="Times New Roman" panose="02020603050405020304" pitchFamily="18" charset="0"/>
              </a:rPr>
              <a:t>例</a:t>
            </a:r>
            <a:r>
              <a:rPr lang="en-US" altLang="zh-CN" sz="2600" dirty="0">
                <a:solidFill>
                  <a:srgbClr val="CC0000"/>
                </a:solidFill>
                <a:latin typeface="Times New Roman" panose="02020603050405020304" pitchFamily="18" charset="0"/>
              </a:rPr>
              <a:t>4 </a:t>
            </a:r>
            <a:r>
              <a:rPr lang="zh-CN" altLang="en-US" sz="2600" dirty="0">
                <a:latin typeface="Bookman Old Style" panose="02050604050505020204" pitchFamily="18" charset="0"/>
              </a:rPr>
              <a:t>空气中的声速。空气中有声波传播时，各空气质元不断地反复经历着压缩和膨胀的过程，由于这种变化过程的频率较高，压缩和膨胀进行得都较快，各质元都来不及和周围的质元发生热传递，因而过程可视为绝热的。试根据是理想气体的绝热过程这一假定，求空气中的声速。</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C87EDECC-8AA6-A4D2-94B9-8937B660E4FF}"/>
                  </a:ext>
                </a:extLst>
              </p:cNvPr>
              <p:cNvSpPr/>
              <p:nvPr/>
            </p:nvSpPr>
            <p:spPr>
              <a:xfrm>
                <a:off x="882650" y="2276147"/>
                <a:ext cx="8407021" cy="892552"/>
              </a:xfrm>
              <a:prstGeom prst="rect">
                <a:avLst/>
              </a:prstGeom>
              <a:noFill/>
              <a:ln w="9525">
                <a:noFill/>
              </a:ln>
            </p:spPr>
            <p:txBody>
              <a:bodyPr>
                <a:spAutoFit/>
              </a:bodyPr>
              <a:lstStyle/>
              <a:p>
                <a:r>
                  <a:rPr lang="zh-CN" altLang="en-US" sz="2600" dirty="0">
                    <a:latin typeface="+mn-ea"/>
                  </a:rPr>
                  <a:t>气体中的纵波波速公式                          </a:t>
                </a:r>
                <a:r>
                  <a:rPr lang="en-US" altLang="zh-CN" sz="2600" dirty="0">
                    <a:latin typeface="+mn-ea"/>
                  </a:rPr>
                  <a:t>,</a:t>
                </a:r>
                <a:r>
                  <a:rPr lang="zh-CN" altLang="en-US" sz="2600" dirty="0">
                    <a:latin typeface="+mn-ea"/>
                  </a:rPr>
                  <a:t>其中</a:t>
                </a:r>
                <a:r>
                  <a:rPr lang="en-US" altLang="zh-CN" sz="2600" b="1" i="1" dirty="0">
                    <a:latin typeface="+mn-ea"/>
                    <a:cs typeface="Times New Roman" panose="02020603050405020304" pitchFamily="18" charset="0"/>
                  </a:rPr>
                  <a:t>K</a:t>
                </a:r>
                <a:r>
                  <a:rPr lang="zh-CN" altLang="en-US" sz="2600" dirty="0">
                    <a:latin typeface="+mn-ea"/>
                  </a:rPr>
                  <a:t>为气体的体弹模量                          </a:t>
                </a:r>
                <a:r>
                  <a:rPr lang="en-US" altLang="zh-CN" sz="2600" dirty="0">
                    <a:latin typeface="+mn-ea"/>
                  </a:rPr>
                  <a:t>,</a:t>
                </a:r>
                <a:r>
                  <a:rPr lang="en-US" altLang="zh-CN" sz="2600" dirty="0">
                    <a:solidFill>
                      <a:srgbClr val="000000"/>
                    </a:solidFill>
                  </a:rPr>
                  <a:t> </a:t>
                </a:r>
                <a14:m>
                  <m:oMath xmlns:m="http://schemas.openxmlformats.org/officeDocument/2006/math">
                    <m:r>
                      <a:rPr lang="en-US" altLang="zh-CN" sz="2600" i="1">
                        <a:solidFill>
                          <a:srgbClr val="000000"/>
                        </a:solidFill>
                        <a:latin typeface="Cambria Math" panose="02040503050406030204" pitchFamily="18" charset="0"/>
                      </a:rPr>
                      <m:t>𝜌</m:t>
                    </m:r>
                  </m:oMath>
                </a14:m>
                <a:r>
                  <a:rPr lang="zh-CN" altLang="en-US" sz="2600" dirty="0">
                    <a:latin typeface="+mn-ea"/>
                  </a:rPr>
                  <a:t>为气体的密度</a:t>
                </a:r>
                <a:endParaRPr lang="en-US" altLang="zh-CN" sz="2600" dirty="0">
                  <a:latin typeface="+mn-ea"/>
                </a:endParaRPr>
              </a:p>
            </p:txBody>
          </p:sp>
        </mc:Choice>
        <mc:Fallback xmlns="">
          <p:sp>
            <p:nvSpPr>
              <p:cNvPr id="2" name="Rectangle 3">
                <a:extLst>
                  <a:ext uri="{FF2B5EF4-FFF2-40B4-BE49-F238E27FC236}">
                    <a16:creationId xmlns:a16="http://schemas.microsoft.com/office/drawing/2014/main" id="{C87EDECC-8AA6-A4D2-94B9-8937B660E4FF}"/>
                  </a:ext>
                </a:extLst>
              </p:cNvPr>
              <p:cNvSpPr>
                <a:spLocks noRot="1" noChangeAspect="1" noMove="1" noResize="1" noEditPoints="1" noAdjustHandles="1" noChangeArrowheads="1" noChangeShapeType="1" noTextEdit="1"/>
              </p:cNvSpPr>
              <p:nvPr/>
            </p:nvSpPr>
            <p:spPr>
              <a:xfrm>
                <a:off x="882650" y="2276147"/>
                <a:ext cx="8407021" cy="892552"/>
              </a:xfrm>
              <a:prstGeom prst="rect">
                <a:avLst/>
              </a:prstGeom>
              <a:blipFill>
                <a:blip r:embed="rId2"/>
                <a:stretch>
                  <a:fillRect l="-1305" t="-6122" b="-16327"/>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对象 4">
                <a:extLst>
                  <a:ext uri="{FF2B5EF4-FFF2-40B4-BE49-F238E27FC236}">
                    <a16:creationId xmlns:a16="http://schemas.microsoft.com/office/drawing/2014/main" id="{021A7F0D-77F4-7BAC-4557-663CC495BCB9}"/>
                  </a:ext>
                </a:extLst>
              </p:cNvPr>
              <p:cNvSpPr txBox="1"/>
              <p:nvPr/>
            </p:nvSpPr>
            <p:spPr>
              <a:xfrm>
                <a:off x="4306697" y="2239645"/>
                <a:ext cx="2030223" cy="73025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𝑢</m:t>
                      </m:r>
                      <m:r>
                        <a:rPr lang="en-US" sz="2600" i="1">
                          <a:solidFill>
                            <a:srgbClr val="000000"/>
                          </a:solidFill>
                          <a:latin typeface="Cambria Math" panose="02040503050406030204" pitchFamily="18" charset="0"/>
                        </a:rPr>
                        <m:t>=</m:t>
                      </m:r>
                      <m:rad>
                        <m:radPr>
                          <m:degHide m:val="on"/>
                          <m:ctrlPr>
                            <a:rPr lang="en-US" sz="2600" i="1">
                              <a:solidFill>
                                <a:srgbClr val="000000"/>
                              </a:solidFill>
                              <a:latin typeface="Cambria Math" panose="02040503050406030204" pitchFamily="18" charset="0"/>
                            </a:rPr>
                          </m:ctrlPr>
                        </m:radPr>
                        <m:deg/>
                        <m:e>
                          <m:r>
                            <a:rPr lang="en-US" sz="2600" i="1">
                              <a:solidFill>
                                <a:srgbClr val="000000"/>
                              </a:solidFill>
                              <a:latin typeface="Cambria Math" panose="02040503050406030204" pitchFamily="18" charset="0"/>
                            </a:rPr>
                            <m:t>𝐾</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𝜌</m:t>
                          </m:r>
                        </m:e>
                      </m:rad>
                    </m:oMath>
                  </m:oMathPara>
                </a14:m>
                <a:endParaRPr lang="en-US" sz="2600" dirty="0">
                  <a:latin typeface="+mn-ea"/>
                </a:endParaRPr>
              </a:p>
            </p:txBody>
          </p:sp>
        </mc:Choice>
        <mc:Fallback xmlns="">
          <p:sp>
            <p:nvSpPr>
              <p:cNvPr id="3" name="对象 4">
                <a:extLst>
                  <a:ext uri="{FF2B5EF4-FFF2-40B4-BE49-F238E27FC236}">
                    <a16:creationId xmlns:a16="http://schemas.microsoft.com/office/drawing/2014/main" id="{021A7F0D-77F4-7BAC-4557-663CC495BCB9}"/>
                  </a:ext>
                </a:extLst>
              </p:cNvPr>
              <p:cNvSpPr txBox="1">
                <a:spLocks noRot="1" noChangeAspect="1" noMove="1" noResize="1" noEditPoints="1" noAdjustHandles="1" noChangeArrowheads="1" noChangeShapeType="1" noTextEdit="1"/>
              </p:cNvSpPr>
              <p:nvPr/>
            </p:nvSpPr>
            <p:spPr>
              <a:xfrm>
                <a:off x="4306697" y="2239645"/>
                <a:ext cx="2030223" cy="73025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6">
                <a:extLst>
                  <a:ext uri="{FF2B5EF4-FFF2-40B4-BE49-F238E27FC236}">
                    <a16:creationId xmlns:a16="http://schemas.microsoft.com/office/drawing/2014/main" id="{C1426519-2E1C-CCC2-5164-BD35199822E6}"/>
                  </a:ext>
                </a:extLst>
              </p:cNvPr>
              <p:cNvSpPr txBox="1"/>
              <p:nvPr/>
            </p:nvSpPr>
            <p:spPr>
              <a:xfrm>
                <a:off x="1773174" y="2705199"/>
                <a:ext cx="2567305" cy="48323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𝐾</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𝑉</m:t>
                      </m:r>
                      <m:r>
                        <m:rPr>
                          <m:sty m:val="p"/>
                        </m:rPr>
                        <a:rPr lang="en-US" sz="2600" i="0">
                          <a:solidFill>
                            <a:srgbClr val="000000"/>
                          </a:solidFill>
                          <a:latin typeface="Cambria Math" panose="02040503050406030204" pitchFamily="18" charset="0"/>
                        </a:rPr>
                        <m:t>d</m:t>
                      </m:r>
                      <m:r>
                        <a:rPr lang="en-US" sz="2600" i="1">
                          <a:solidFill>
                            <a:srgbClr val="000000"/>
                          </a:solidFill>
                          <a:latin typeface="Cambria Math" panose="02040503050406030204" pitchFamily="18" charset="0"/>
                        </a:rPr>
                        <m:t>𝑝</m:t>
                      </m:r>
                      <m:r>
                        <a:rPr lang="en-US" sz="2600" i="1">
                          <a:solidFill>
                            <a:srgbClr val="000000"/>
                          </a:solidFill>
                          <a:latin typeface="Cambria Math" panose="02040503050406030204" pitchFamily="18" charset="0"/>
                        </a:rPr>
                        <m:t>/</m:t>
                      </m:r>
                      <m:r>
                        <m:rPr>
                          <m:sty m:val="p"/>
                        </m:rPr>
                        <a:rPr lang="en-US" sz="2600" i="0">
                          <a:solidFill>
                            <a:srgbClr val="000000"/>
                          </a:solidFill>
                          <a:latin typeface="Cambria Math" panose="02040503050406030204" pitchFamily="18" charset="0"/>
                        </a:rPr>
                        <m:t>d</m:t>
                      </m:r>
                      <m:r>
                        <a:rPr lang="en-US" sz="2600" i="1">
                          <a:solidFill>
                            <a:srgbClr val="000000"/>
                          </a:solidFill>
                          <a:latin typeface="Cambria Math" panose="02040503050406030204" pitchFamily="18" charset="0"/>
                        </a:rPr>
                        <m:t>𝑉</m:t>
                      </m:r>
                    </m:oMath>
                  </m:oMathPara>
                </a14:m>
                <a:endParaRPr lang="en-US" sz="2600" dirty="0">
                  <a:latin typeface="+mn-ea"/>
                </a:endParaRPr>
              </a:p>
            </p:txBody>
          </p:sp>
        </mc:Choice>
        <mc:Fallback xmlns="">
          <p:sp>
            <p:nvSpPr>
              <p:cNvPr id="4" name="对象 6">
                <a:extLst>
                  <a:ext uri="{FF2B5EF4-FFF2-40B4-BE49-F238E27FC236}">
                    <a16:creationId xmlns:a16="http://schemas.microsoft.com/office/drawing/2014/main" id="{C1426519-2E1C-CCC2-5164-BD35199822E6}"/>
                  </a:ext>
                </a:extLst>
              </p:cNvPr>
              <p:cNvSpPr txBox="1">
                <a:spLocks noRot="1" noChangeAspect="1" noMove="1" noResize="1" noEditPoints="1" noAdjustHandles="1" noChangeArrowheads="1" noChangeShapeType="1" noTextEdit="1"/>
              </p:cNvSpPr>
              <p:nvPr/>
            </p:nvSpPr>
            <p:spPr>
              <a:xfrm>
                <a:off x="1773174" y="2705199"/>
                <a:ext cx="2567305" cy="483235"/>
              </a:xfrm>
              <a:prstGeom prst="rect">
                <a:avLst/>
              </a:prstGeom>
              <a:blipFill>
                <a:blip r:embed="rId4"/>
                <a:stretch>
                  <a:fillRect/>
                </a:stretch>
              </a:blipFill>
            </p:spPr>
            <p:txBody>
              <a:bodyPr/>
              <a:lstStyle/>
              <a:p>
                <a:r>
                  <a:rPr lang="zh-CN" altLang="en-US">
                    <a:noFill/>
                  </a:rPr>
                  <a:t> </a:t>
                </a:r>
              </a:p>
            </p:txBody>
          </p:sp>
        </mc:Fallback>
      </mc:AlternateContent>
      <p:sp>
        <p:nvSpPr>
          <p:cNvPr id="5" name="Rectangle 5">
            <a:extLst>
              <a:ext uri="{FF2B5EF4-FFF2-40B4-BE49-F238E27FC236}">
                <a16:creationId xmlns:a16="http://schemas.microsoft.com/office/drawing/2014/main" id="{48546A5D-396B-4A4C-CC88-E783665494FC}"/>
              </a:ext>
            </a:extLst>
          </p:cNvPr>
          <p:cNvSpPr/>
          <p:nvPr/>
        </p:nvSpPr>
        <p:spPr>
          <a:xfrm>
            <a:off x="828674" y="3286608"/>
            <a:ext cx="8556625" cy="492443"/>
          </a:xfrm>
          <a:prstGeom prst="rect">
            <a:avLst/>
          </a:prstGeom>
          <a:noFill/>
          <a:ln w="9525">
            <a:noFill/>
          </a:ln>
        </p:spPr>
        <p:txBody>
          <a:bodyPr wrap="square">
            <a:spAutoFit/>
          </a:bodyPr>
          <a:lstStyle/>
          <a:p>
            <a:r>
              <a:rPr lang="zh-CN" altLang="en-US" sz="2600" dirty="0">
                <a:latin typeface="+mn-ea"/>
              </a:rPr>
              <a:t>由绝热过程的过程方程式及理想气体状态方程式可得</a:t>
            </a:r>
          </a:p>
        </p:txBody>
      </p:sp>
      <mc:AlternateContent xmlns:mc="http://schemas.openxmlformats.org/markup-compatibility/2006" xmlns:a14="http://schemas.microsoft.com/office/drawing/2010/main">
        <mc:Choice Requires="a14">
          <p:sp>
            <p:nvSpPr>
              <p:cNvPr id="6" name="对象 8">
                <a:extLst>
                  <a:ext uri="{FF2B5EF4-FFF2-40B4-BE49-F238E27FC236}">
                    <a16:creationId xmlns:a16="http://schemas.microsoft.com/office/drawing/2014/main" id="{A24ED7C9-8230-709B-6B2A-185C3578F975}"/>
                  </a:ext>
                </a:extLst>
              </p:cNvPr>
              <p:cNvSpPr txBox="1"/>
              <p:nvPr/>
            </p:nvSpPr>
            <p:spPr>
              <a:xfrm>
                <a:off x="2713356" y="3852087"/>
                <a:ext cx="2609215" cy="562610"/>
              </a:xfrm>
              <a:prstGeom prst="rect">
                <a:avLst/>
              </a:prstGeom>
            </p:spPr>
            <p:txBody>
              <a:bodyPr>
                <a:norm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𝐾</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𝛾𝜌</m:t>
                      </m:r>
                      <m:r>
                        <a:rPr lang="en-US" sz="2600" i="1">
                          <a:solidFill>
                            <a:srgbClr val="000000"/>
                          </a:solidFill>
                          <a:latin typeface="Cambria Math" panose="02040503050406030204" pitchFamily="18" charset="0"/>
                        </a:rPr>
                        <m:t>𝑅𝑇</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𝑀</m:t>
                      </m:r>
                    </m:oMath>
                  </m:oMathPara>
                </a14:m>
                <a:endParaRPr lang="en-US" sz="2600" dirty="0">
                  <a:latin typeface="+mn-ea"/>
                </a:endParaRPr>
              </a:p>
            </p:txBody>
          </p:sp>
        </mc:Choice>
        <mc:Fallback xmlns="">
          <p:sp>
            <p:nvSpPr>
              <p:cNvPr id="6" name="对象 8">
                <a:extLst>
                  <a:ext uri="{FF2B5EF4-FFF2-40B4-BE49-F238E27FC236}">
                    <a16:creationId xmlns:a16="http://schemas.microsoft.com/office/drawing/2014/main" id="{A24ED7C9-8230-709B-6B2A-185C3578F975}"/>
                  </a:ext>
                </a:extLst>
              </p:cNvPr>
              <p:cNvSpPr txBox="1">
                <a:spLocks noRot="1" noChangeAspect="1" noMove="1" noResize="1" noEditPoints="1" noAdjustHandles="1" noChangeArrowheads="1" noChangeShapeType="1" noTextEdit="1"/>
              </p:cNvSpPr>
              <p:nvPr/>
            </p:nvSpPr>
            <p:spPr>
              <a:xfrm>
                <a:off x="2713356" y="3852087"/>
                <a:ext cx="2609215" cy="562610"/>
              </a:xfrm>
              <a:prstGeom prst="rect">
                <a:avLst/>
              </a:prstGeom>
              <a:blipFill>
                <a:blip r:embed="rId5"/>
                <a:stretch>
                  <a:fillRect/>
                </a:stretch>
              </a:blipFill>
            </p:spPr>
            <p:txBody>
              <a:bodyPr/>
              <a:lstStyle/>
              <a:p>
                <a:r>
                  <a:rPr lang="zh-CN" altLang="en-US">
                    <a:noFill/>
                  </a:rPr>
                  <a:t> </a:t>
                </a:r>
              </a:p>
            </p:txBody>
          </p:sp>
        </mc:Fallback>
      </mc:AlternateContent>
      <p:sp>
        <p:nvSpPr>
          <p:cNvPr id="7" name="Rectangle 11">
            <a:extLst>
              <a:ext uri="{FF2B5EF4-FFF2-40B4-BE49-F238E27FC236}">
                <a16:creationId xmlns:a16="http://schemas.microsoft.com/office/drawing/2014/main" id="{27E1596F-B719-95BB-EBDB-230E644A5EC4}"/>
              </a:ext>
            </a:extLst>
          </p:cNvPr>
          <p:cNvSpPr/>
          <p:nvPr/>
        </p:nvSpPr>
        <p:spPr>
          <a:xfrm>
            <a:off x="765174" y="4702802"/>
            <a:ext cx="7632700" cy="492443"/>
          </a:xfrm>
          <a:prstGeom prst="rect">
            <a:avLst/>
          </a:prstGeom>
          <a:noFill/>
          <a:ln w="9525">
            <a:noFill/>
          </a:ln>
        </p:spPr>
        <p:txBody>
          <a:bodyPr>
            <a:spAutoFit/>
          </a:bodyPr>
          <a:lstStyle/>
          <a:p>
            <a:r>
              <a:rPr lang="zh-CN" altLang="en-US" sz="2600" dirty="0">
                <a:latin typeface="+mn-ea"/>
              </a:rPr>
              <a:t>得到空气中的声速为</a:t>
            </a:r>
          </a:p>
        </p:txBody>
      </p:sp>
      <mc:AlternateContent xmlns:mc="http://schemas.openxmlformats.org/markup-compatibility/2006" xmlns:a14="http://schemas.microsoft.com/office/drawing/2010/main">
        <mc:Choice Requires="a14">
          <p:sp>
            <p:nvSpPr>
              <p:cNvPr id="8" name="对象 1">
                <a:extLst>
                  <a:ext uri="{FF2B5EF4-FFF2-40B4-BE49-F238E27FC236}">
                    <a16:creationId xmlns:a16="http://schemas.microsoft.com/office/drawing/2014/main" id="{B448DB6C-5F10-01B8-DAEF-E0C9AD81A900}"/>
                  </a:ext>
                </a:extLst>
              </p:cNvPr>
              <p:cNvSpPr txBox="1"/>
              <p:nvPr/>
            </p:nvSpPr>
            <p:spPr>
              <a:xfrm>
                <a:off x="3614577" y="4289417"/>
                <a:ext cx="2857818" cy="82677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𝑢</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rad>
                        <m:radPr>
                          <m:degHide m:val="on"/>
                          <m:ctrlPr>
                            <a:rPr lang="en-US" sz="2600" i="1">
                              <a:solidFill>
                                <a:srgbClr val="000000"/>
                              </a:solidFill>
                              <a:latin typeface="Cambria Math" panose="02040503050406030204" pitchFamily="18" charset="0"/>
                            </a:rPr>
                          </m:ctrlPr>
                        </m:radPr>
                        <m:deg/>
                        <m:e>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𝛾</m:t>
                              </m:r>
                              <m:r>
                                <a:rPr lang="en-US" sz="2600" i="1">
                                  <a:solidFill>
                                    <a:srgbClr val="000000"/>
                                  </a:solidFill>
                                  <a:latin typeface="Cambria Math" panose="02040503050406030204" pitchFamily="18" charset="0"/>
                                </a:rPr>
                                <m:t>𝑅𝑇</m:t>
                              </m:r>
                            </m:num>
                            <m:den>
                              <m:r>
                                <a:rPr lang="en-US" sz="2600" i="1">
                                  <a:solidFill>
                                    <a:srgbClr val="000000"/>
                                  </a:solidFill>
                                  <a:latin typeface="Cambria Math" panose="02040503050406030204" pitchFamily="18" charset="0"/>
                                </a:rPr>
                                <m:t>𝑀</m:t>
                              </m:r>
                            </m:den>
                          </m:f>
                        </m:e>
                      </m:rad>
                    </m:oMath>
                  </m:oMathPara>
                </a14:m>
                <a:endParaRPr lang="en-US" sz="2600" dirty="0">
                  <a:latin typeface="+mn-ea"/>
                </a:endParaRPr>
              </a:p>
            </p:txBody>
          </p:sp>
        </mc:Choice>
        <mc:Fallback xmlns="">
          <p:sp>
            <p:nvSpPr>
              <p:cNvPr id="8" name="对象 1">
                <a:extLst>
                  <a:ext uri="{FF2B5EF4-FFF2-40B4-BE49-F238E27FC236}">
                    <a16:creationId xmlns:a16="http://schemas.microsoft.com/office/drawing/2014/main" id="{B448DB6C-5F10-01B8-DAEF-E0C9AD81A900}"/>
                  </a:ext>
                </a:extLst>
              </p:cNvPr>
              <p:cNvSpPr txBox="1">
                <a:spLocks noRot="1" noChangeAspect="1" noMove="1" noResize="1" noEditPoints="1" noAdjustHandles="1" noChangeArrowheads="1" noChangeShapeType="1" noTextEdit="1"/>
              </p:cNvSpPr>
              <p:nvPr/>
            </p:nvSpPr>
            <p:spPr>
              <a:xfrm>
                <a:off x="3614577" y="4289417"/>
                <a:ext cx="2857818" cy="826770"/>
              </a:xfrm>
              <a:prstGeom prst="rect">
                <a:avLst/>
              </a:prstGeom>
              <a:blipFill>
                <a:blip r:embed="rId6"/>
                <a:stretch>
                  <a:fillRect b="-48148"/>
                </a:stretch>
              </a:blipFill>
            </p:spPr>
            <p:txBody>
              <a:bodyPr/>
              <a:lstStyle/>
              <a:p>
                <a:r>
                  <a:rPr lang="zh-CN" altLang="en-US">
                    <a:noFill/>
                  </a:rPr>
                  <a:t> </a:t>
                </a:r>
              </a:p>
            </p:txBody>
          </p:sp>
        </mc:Fallback>
      </mc:AlternateContent>
      <p:sp>
        <p:nvSpPr>
          <p:cNvPr id="9" name="Rectangle 9">
            <a:extLst>
              <a:ext uri="{FF2B5EF4-FFF2-40B4-BE49-F238E27FC236}">
                <a16:creationId xmlns:a16="http://schemas.microsoft.com/office/drawing/2014/main" id="{C031033F-9CB6-61A4-F4C3-2F045BD96940}"/>
              </a:ext>
            </a:extLst>
          </p:cNvPr>
          <p:cNvSpPr/>
          <p:nvPr/>
        </p:nvSpPr>
        <p:spPr>
          <a:xfrm>
            <a:off x="870204" y="5608630"/>
            <a:ext cx="6940550" cy="892552"/>
          </a:xfrm>
          <a:prstGeom prst="rect">
            <a:avLst/>
          </a:prstGeom>
          <a:noFill/>
          <a:ln w="9525">
            <a:noFill/>
          </a:ln>
        </p:spPr>
        <p:txBody>
          <a:bodyPr wrap="square">
            <a:spAutoFit/>
          </a:bodyPr>
          <a:lstStyle/>
          <a:p>
            <a:r>
              <a:rPr lang="zh-CN" altLang="en-US" sz="2600" dirty="0"/>
              <a:t>标准状态下的空气，</a:t>
            </a:r>
            <a:r>
              <a:rPr lang="en-US" altLang="zh-CN" sz="2600" i="1" dirty="0">
                <a:cs typeface="Times New Roman" panose="02020603050405020304" pitchFamily="18" charset="0"/>
              </a:rPr>
              <a:t>γ</a:t>
            </a:r>
            <a:r>
              <a:rPr lang="en-US" altLang="zh-CN" sz="2600" dirty="0">
                <a:cs typeface="Times New Roman" panose="02020603050405020304" pitchFamily="18" charset="0"/>
              </a:rPr>
              <a:t>=1.40, </a:t>
            </a:r>
            <a:r>
              <a:rPr lang="en-US" altLang="zh-CN" sz="2600" i="1" dirty="0">
                <a:cs typeface="Times New Roman" panose="02020603050405020304" pitchFamily="18" charset="0"/>
              </a:rPr>
              <a:t>T</a:t>
            </a:r>
            <a:r>
              <a:rPr lang="en-US" altLang="zh-CN" sz="2600" dirty="0">
                <a:cs typeface="Times New Roman" panose="02020603050405020304" pitchFamily="18" charset="0"/>
              </a:rPr>
              <a:t>=273K,  </a:t>
            </a:r>
            <a:r>
              <a:rPr lang="en-US" altLang="zh-CN" sz="2600" i="1" dirty="0">
                <a:cs typeface="Times New Roman" panose="02020603050405020304" pitchFamily="18" charset="0"/>
              </a:rPr>
              <a:t>M </a:t>
            </a:r>
            <a:r>
              <a:rPr lang="en-US" altLang="zh-CN" sz="2600" dirty="0">
                <a:cs typeface="Times New Roman" panose="02020603050405020304" pitchFamily="18" charset="0"/>
              </a:rPr>
              <a:t>= 29.0×10</a:t>
            </a:r>
            <a:r>
              <a:rPr lang="en-US" altLang="zh-CN" sz="2600" baseline="30000" dirty="0">
                <a:cs typeface="Times New Roman" panose="02020603050405020304" pitchFamily="18" charset="0"/>
              </a:rPr>
              <a:t>-3</a:t>
            </a:r>
            <a:r>
              <a:rPr lang="en-US" altLang="zh-CN" sz="2600" dirty="0">
                <a:cs typeface="Times New Roman" panose="02020603050405020304" pitchFamily="18" charset="0"/>
              </a:rPr>
              <a:t>kg/mol, </a:t>
            </a:r>
            <a:r>
              <a:rPr lang="en-US" altLang="zh-CN" sz="2600" i="1" dirty="0">
                <a:cs typeface="Times New Roman" panose="02020603050405020304" pitchFamily="18" charset="0"/>
              </a:rPr>
              <a:t>R</a:t>
            </a:r>
            <a:r>
              <a:rPr lang="en-US" altLang="zh-CN" sz="2600" dirty="0">
                <a:cs typeface="Times New Roman" panose="02020603050405020304" pitchFamily="18" charset="0"/>
              </a:rPr>
              <a:t>=8.31J/(</a:t>
            </a:r>
            <a:r>
              <a:rPr lang="en-US" altLang="zh-CN" sz="2600" dirty="0" err="1">
                <a:cs typeface="Times New Roman" panose="02020603050405020304" pitchFamily="18" charset="0"/>
              </a:rPr>
              <a:t>mol</a:t>
            </a:r>
            <a:r>
              <a:rPr lang="en-US" altLang="zh-CN" sz="2600" dirty="0" err="1"/>
              <a:t>·</a:t>
            </a:r>
            <a:r>
              <a:rPr lang="en-US" altLang="zh-CN" sz="2600" dirty="0" err="1">
                <a:cs typeface="Times New Roman" panose="02020603050405020304" pitchFamily="18" charset="0"/>
              </a:rPr>
              <a:t>K</a:t>
            </a:r>
            <a:r>
              <a:rPr lang="en-US" altLang="zh-CN" sz="2600" dirty="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0" name="对象 11">
                <a:extLst>
                  <a:ext uri="{FF2B5EF4-FFF2-40B4-BE49-F238E27FC236}">
                    <a16:creationId xmlns:a16="http://schemas.microsoft.com/office/drawing/2014/main" id="{ED9DC014-0A90-B9CD-C5DB-5EC0766A64EA}"/>
                  </a:ext>
                </a:extLst>
              </p:cNvPr>
              <p:cNvSpPr txBox="1"/>
              <p:nvPr/>
            </p:nvSpPr>
            <p:spPr>
              <a:xfrm>
                <a:off x="5497830" y="4289417"/>
                <a:ext cx="5928996" cy="100330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en-US" sz="2600" i="1">
                          <a:solidFill>
                            <a:srgbClr val="000000"/>
                          </a:solidFill>
                          <a:latin typeface="Cambria Math" panose="02040503050406030204" pitchFamily="18" charset="0"/>
                        </a:rPr>
                        <m:t>=</m:t>
                      </m:r>
                      <m:rad>
                        <m:radPr>
                          <m:degHide m:val="on"/>
                          <m:ctrlPr>
                            <a:rPr lang="en-US" sz="2600" i="1">
                              <a:solidFill>
                                <a:srgbClr val="000000"/>
                              </a:solidFill>
                              <a:latin typeface="Cambria Math" panose="02040503050406030204" pitchFamily="18" charset="0"/>
                            </a:rPr>
                          </m:ctrlPr>
                        </m:radPr>
                        <m:deg/>
                        <m:e>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1.40×8.31×273</m:t>
                              </m:r>
                            </m:num>
                            <m:den>
                              <m:r>
                                <a:rPr lang="en-US" sz="2600" i="1">
                                  <a:solidFill>
                                    <a:srgbClr val="000000"/>
                                  </a:solidFill>
                                  <a:latin typeface="Cambria Math" panose="02040503050406030204" pitchFamily="18" charset="0"/>
                                </a:rPr>
                                <m:t>29.0×1</m:t>
                              </m:r>
                              <m:sSup>
                                <m:sSupPr>
                                  <m:ctrlPr>
                                    <a:rPr lang="en-US" sz="2600" i="1">
                                      <a:solidFill>
                                        <a:srgbClr val="000000"/>
                                      </a:solidFill>
                                      <a:latin typeface="Cambria Math" panose="02040503050406030204" pitchFamily="18" charset="0"/>
                                    </a:rPr>
                                  </m:ctrlPr>
                                </m:sSupPr>
                                <m:e>
                                  <m:r>
                                    <a:rPr lang="en-US" sz="2600" i="1">
                                      <a:solidFill>
                                        <a:srgbClr val="000000"/>
                                      </a:solidFill>
                                      <a:latin typeface="Cambria Math" panose="02040503050406030204" pitchFamily="18" charset="0"/>
                                    </a:rPr>
                                    <m:t>0</m:t>
                                  </m:r>
                                </m:e>
                                <m:sup>
                                  <m:r>
                                    <a:rPr lang="en-US" sz="2600" i="1">
                                      <a:solidFill>
                                        <a:srgbClr val="000000"/>
                                      </a:solidFill>
                                      <a:latin typeface="Cambria Math" panose="02040503050406030204" pitchFamily="18" charset="0"/>
                                    </a:rPr>
                                    <m:t>−3</m:t>
                                  </m:r>
                                </m:sup>
                              </m:sSup>
                            </m:den>
                          </m:f>
                        </m:e>
                      </m:rad>
                      <m:r>
                        <a:rPr lang="en-US" sz="2600" i="1">
                          <a:solidFill>
                            <a:srgbClr val="000000"/>
                          </a:solidFill>
                          <a:latin typeface="Cambria Math" panose="02040503050406030204" pitchFamily="18" charset="0"/>
                        </a:rPr>
                        <m:t>=331</m:t>
                      </m:r>
                      <m:r>
                        <m:rPr>
                          <m:sty m:val="p"/>
                        </m:rPr>
                        <a:rPr lang="en-US" sz="2600" i="0">
                          <a:solidFill>
                            <a:srgbClr val="000000"/>
                          </a:solidFill>
                          <a:latin typeface="Cambria Math" panose="02040503050406030204" pitchFamily="18" charset="0"/>
                        </a:rPr>
                        <m:t>m</m:t>
                      </m:r>
                      <m:r>
                        <a:rPr lang="en-US" sz="2600" i="1">
                          <a:solidFill>
                            <a:srgbClr val="000000"/>
                          </a:solidFill>
                          <a:latin typeface="Cambria Math" panose="02040503050406030204" pitchFamily="18" charset="0"/>
                        </a:rPr>
                        <m:t>/</m:t>
                      </m:r>
                      <m:r>
                        <m:rPr>
                          <m:sty m:val="p"/>
                        </m:rPr>
                        <a:rPr lang="en-US" sz="2600" i="0">
                          <a:solidFill>
                            <a:srgbClr val="000000"/>
                          </a:solidFill>
                          <a:latin typeface="Cambria Math" panose="02040503050406030204" pitchFamily="18" charset="0"/>
                        </a:rPr>
                        <m:t>s</m:t>
                      </m:r>
                    </m:oMath>
                  </m:oMathPara>
                </a14:m>
                <a:endParaRPr lang="en-US" sz="2600" dirty="0">
                  <a:latin typeface="+mn-ea"/>
                </a:endParaRPr>
              </a:p>
            </p:txBody>
          </p:sp>
        </mc:Choice>
        <mc:Fallback xmlns="">
          <p:sp>
            <p:nvSpPr>
              <p:cNvPr id="10" name="对象 11">
                <a:extLst>
                  <a:ext uri="{FF2B5EF4-FFF2-40B4-BE49-F238E27FC236}">
                    <a16:creationId xmlns:a16="http://schemas.microsoft.com/office/drawing/2014/main" id="{ED9DC014-0A90-B9CD-C5DB-5EC0766A64EA}"/>
                  </a:ext>
                </a:extLst>
              </p:cNvPr>
              <p:cNvSpPr txBox="1">
                <a:spLocks noRot="1" noChangeAspect="1" noMove="1" noResize="1" noEditPoints="1" noAdjustHandles="1" noChangeArrowheads="1" noChangeShapeType="1" noTextEdit="1"/>
              </p:cNvSpPr>
              <p:nvPr/>
            </p:nvSpPr>
            <p:spPr>
              <a:xfrm>
                <a:off x="5497830" y="4289417"/>
                <a:ext cx="5928996" cy="1003300"/>
              </a:xfrm>
              <a:prstGeom prst="rect">
                <a:avLst/>
              </a:prstGeom>
              <a:blipFill>
                <a:blip r:embed="rId7"/>
                <a:stretch>
                  <a:fillRect b="-21951"/>
                </a:stretch>
              </a:blipFill>
            </p:spPr>
            <p:txBody>
              <a:bodyPr/>
              <a:lstStyle/>
              <a:p>
                <a:r>
                  <a:rPr lang="zh-CN" altLang="en-US">
                    <a:noFill/>
                  </a:rPr>
                  <a:t> </a:t>
                </a:r>
              </a:p>
            </p:txBody>
          </p:sp>
        </mc:Fallback>
      </mc:AlternateContent>
      <p:sp>
        <p:nvSpPr>
          <p:cNvPr id="11" name="Rectangle 12">
            <a:extLst>
              <a:ext uri="{FF2B5EF4-FFF2-40B4-BE49-F238E27FC236}">
                <a16:creationId xmlns:a16="http://schemas.microsoft.com/office/drawing/2014/main" id="{6C08FCD6-843C-B8CC-1C5B-54FC57A73EF6}"/>
              </a:ext>
            </a:extLst>
          </p:cNvPr>
          <p:cNvSpPr/>
          <p:nvPr/>
        </p:nvSpPr>
        <p:spPr>
          <a:xfrm>
            <a:off x="7623174" y="5541584"/>
            <a:ext cx="3933826" cy="892552"/>
          </a:xfrm>
          <a:prstGeom prst="rect">
            <a:avLst/>
          </a:prstGeom>
          <a:noFill/>
          <a:ln w="9525">
            <a:noFill/>
          </a:ln>
        </p:spPr>
        <p:txBody>
          <a:bodyPr wrap="square">
            <a:spAutoFit/>
          </a:bodyPr>
          <a:lstStyle/>
          <a:p>
            <a:r>
              <a:rPr lang="zh-CN" altLang="en-US" sz="2600" dirty="0">
                <a:latin typeface="+mn-ea"/>
              </a:rPr>
              <a:t>此结果经实验证实，表明声波传播为绝热过程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3913</TotalTime>
  <Words>3163</Words>
  <Application>Microsoft Office PowerPoint</Application>
  <PresentationFormat>宽屏</PresentationFormat>
  <Paragraphs>722</Paragraphs>
  <Slides>41</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8" baseType="lpstr">
      <vt:lpstr>Helvetica Neue</vt:lpstr>
      <vt:lpstr>Microsoft Yahei</vt:lpstr>
      <vt:lpstr>等线</vt:lpstr>
      <vt:lpstr>黑体</vt:lpstr>
      <vt:lpstr>华文楷体</vt:lpstr>
      <vt:lpstr>楷体</vt:lpstr>
      <vt:lpstr>楷体_GB2312</vt:lpstr>
      <vt:lpstr>宋体</vt:lpstr>
      <vt:lpstr>Arial</vt:lpstr>
      <vt:lpstr>Arial</vt:lpstr>
      <vt:lpstr>Bookman Old Style</vt:lpstr>
      <vt:lpstr>Calibri</vt:lpstr>
      <vt:lpstr>Cambria Math</vt:lpstr>
      <vt:lpstr>Times New Roman</vt:lpstr>
      <vt:lpstr>Wingdings</vt:lpstr>
      <vt:lpstr>Office 主题​​</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77</cp:revision>
  <dcterms:created xsi:type="dcterms:W3CDTF">2023-02-17T03:39:54Z</dcterms:created>
  <dcterms:modified xsi:type="dcterms:W3CDTF">2024-02-28T06:25:20Z</dcterms:modified>
</cp:coreProperties>
</file>